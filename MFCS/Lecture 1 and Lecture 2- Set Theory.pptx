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0"/>
  </p:notesMasterIdLst>
  <p:sldIdLst>
    <p:sldId id="256" r:id="rId3"/>
    <p:sldId id="484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481" r:id="rId16"/>
    <p:sldId id="482" r:id="rId17"/>
    <p:sldId id="477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51" r:id="rId47"/>
    <p:sldId id="452" r:id="rId48"/>
    <p:sldId id="453" r:id="rId49"/>
    <p:sldId id="454" r:id="rId50"/>
    <p:sldId id="485" r:id="rId51"/>
    <p:sldId id="486" r:id="rId52"/>
    <p:sldId id="487" r:id="rId53"/>
    <p:sldId id="259" r:id="rId54"/>
    <p:sldId id="260" r:id="rId55"/>
    <p:sldId id="488" r:id="rId56"/>
    <p:sldId id="489" r:id="rId57"/>
    <p:sldId id="269" r:id="rId58"/>
    <p:sldId id="490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93C5C-2968-4281-84F3-D0AAC4D5828F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10759-4A0C-45FC-9FB3-4369AE0C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52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D6F1B-26ED-417A-B5D8-8AED7AD379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7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D6F1B-26ED-417A-B5D8-8AED7AD379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251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D6F1B-26ED-417A-B5D8-8AED7AD379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182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D6F1B-26ED-417A-B5D8-8AED7AD379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438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04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3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24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8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6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39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6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509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2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62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64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09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82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8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10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75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580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24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67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BEB36D4-C0E6-4EF7-A8A0-BFFAFC5E5EB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238A140-AD46-4ADB-BFEC-637DF48257F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27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D15220D-0BB5-4C71-B862-812B075D02FE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55351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7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22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21.png"/><Relationship Id="rId2" Type="http://schemas.openxmlformats.org/officeDocument/2006/relationships/tags" Target="../tags/tag14.xml"/><Relationship Id="rId16" Type="http://schemas.openxmlformats.org/officeDocument/2006/relationships/image" Target="../media/image25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20.png"/><Relationship Id="rId5" Type="http://schemas.openxmlformats.org/officeDocument/2006/relationships/tags" Target="../tags/tag17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tags" Target="../tags/tag16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30.png"/><Relationship Id="rId3" Type="http://schemas.openxmlformats.org/officeDocument/2006/relationships/tags" Target="../tags/tag22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29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28.png"/><Relationship Id="rId5" Type="http://schemas.openxmlformats.org/officeDocument/2006/relationships/tags" Target="../tags/tag24.xml"/><Relationship Id="rId10" Type="http://schemas.openxmlformats.org/officeDocument/2006/relationships/image" Target="../media/image27.png"/><Relationship Id="rId4" Type="http://schemas.openxmlformats.org/officeDocument/2006/relationships/tags" Target="../tags/tag23.xml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36.png"/><Relationship Id="rId3" Type="http://schemas.openxmlformats.org/officeDocument/2006/relationships/tags" Target="../tags/tag28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35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34.png"/><Relationship Id="rId5" Type="http://schemas.openxmlformats.org/officeDocument/2006/relationships/tags" Target="../tags/tag30.xml"/><Relationship Id="rId10" Type="http://schemas.openxmlformats.org/officeDocument/2006/relationships/image" Target="../media/image33.png"/><Relationship Id="rId4" Type="http://schemas.openxmlformats.org/officeDocument/2006/relationships/tags" Target="../tags/tag29.xml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39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38.png"/><Relationship Id="rId5" Type="http://schemas.openxmlformats.org/officeDocument/2006/relationships/image" Target="../media/image33.png"/><Relationship Id="rId4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31.png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47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46.png"/><Relationship Id="rId5" Type="http://schemas.openxmlformats.org/officeDocument/2006/relationships/tags" Target="../tags/tag44.xml"/><Relationship Id="rId10" Type="http://schemas.openxmlformats.org/officeDocument/2006/relationships/image" Target="../media/image45.png"/><Relationship Id="rId4" Type="http://schemas.openxmlformats.org/officeDocument/2006/relationships/tags" Target="../tags/tag43.xml"/><Relationship Id="rId9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628562" cy="14630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INTRODUCTION TO Mathematical FOUNDATIONS FOR COMPUTER SCIENCE </a:t>
            </a:r>
            <a:r>
              <a:rPr lang="en-US"/>
              <a:t>(2CS802CC25)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</a:t>
            </a:r>
          </a:p>
          <a:p>
            <a:r>
              <a:rPr lang="en-US" dirty="0"/>
              <a:t>Prof. Chandan Trivedi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72505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FBA6-8AB2-4B6F-B24C-585BDA43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FROM THE CLASS….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5914E-2A32-4FD8-B250-11A1F6D32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83391"/>
            <a:ext cx="9720073" cy="4023360"/>
          </a:xfrm>
        </p:spPr>
        <p:txBody>
          <a:bodyPr>
            <a:normAutofit/>
          </a:bodyPr>
          <a:lstStyle/>
          <a:p>
            <a:r>
              <a:rPr lang="en-US" sz="2400" b="1" dirty="0"/>
              <a:t>Attendance</a:t>
            </a:r>
            <a:r>
              <a:rPr lang="en-US" sz="2400" dirty="0">
                <a:sym typeface="Wingdings" panose="05000000000000000000" pitchFamily="2" charset="2"/>
              </a:rPr>
              <a:t> Less attendance will impact marks. 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Punctuality in Class</a:t>
            </a:r>
            <a:r>
              <a:rPr lang="en-US" sz="2400" dirty="0">
                <a:sym typeface="Wingdings" panose="05000000000000000000" pitchFamily="2" charset="2"/>
              </a:rPr>
              <a:t> Late comers will be marked.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Interactive Sessions</a:t>
            </a:r>
            <a:r>
              <a:rPr lang="en-US" sz="2400" dirty="0">
                <a:sym typeface="Wingdings" panose="05000000000000000000" pitchFamily="2" charset="2"/>
              </a:rPr>
              <a:t> Learning together.  </a:t>
            </a:r>
            <a:endParaRPr lang="en-US" sz="2400" dirty="0"/>
          </a:p>
          <a:p>
            <a:r>
              <a:rPr lang="en-US" sz="2400" b="1" dirty="0"/>
              <a:t>Participation in Class is Mandatory</a:t>
            </a:r>
            <a:r>
              <a:rPr lang="en-US" sz="2400" dirty="0">
                <a:sym typeface="Wingdings" panose="05000000000000000000" pitchFamily="2" charset="2"/>
              </a:rPr>
              <a:t> Weightage in Marks.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Enjoy the joy of learning</a:t>
            </a:r>
            <a:r>
              <a:rPr lang="en-US" sz="2400" dirty="0">
                <a:sym typeface="Wingdings" panose="05000000000000000000" pitchFamily="2" charset="2"/>
              </a:rPr>
              <a:t> Peer-Learning.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Feel free to interrupt and ask questions</a:t>
            </a:r>
            <a:r>
              <a:rPr lang="en-US" sz="2400" dirty="0">
                <a:sym typeface="Wingdings" panose="05000000000000000000" pitchFamily="2" charset="2"/>
              </a:rPr>
              <a:t> Doubt Clarity.</a:t>
            </a:r>
            <a:endParaRPr lang="en-US" sz="2400" dirty="0"/>
          </a:p>
          <a:p>
            <a:r>
              <a:rPr lang="en-US" sz="2400" b="1" dirty="0"/>
              <a:t>Be an observer</a:t>
            </a:r>
            <a:r>
              <a:rPr lang="en-US" sz="2400" dirty="0">
                <a:sym typeface="Wingdings" panose="05000000000000000000" pitchFamily="2" charset="2"/>
              </a:rPr>
              <a:t> Critical Thinking</a:t>
            </a:r>
          </a:p>
          <a:p>
            <a:r>
              <a:rPr lang="en-US" sz="2400" dirty="0">
                <a:sym typeface="Wingdings" panose="05000000000000000000" pitchFamily="2" charset="2"/>
              </a:rPr>
              <a:t>And above all……. (a smiling face)</a:t>
            </a:r>
            <a:endParaRPr lang="en-US" sz="2400" dirty="0"/>
          </a:p>
          <a:p>
            <a:endParaRPr lang="en-IN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D5592023-40A7-4F37-962A-148847E55414}"/>
              </a:ext>
            </a:extLst>
          </p:cNvPr>
          <p:cNvSpPr/>
          <p:nvPr/>
        </p:nvSpPr>
        <p:spPr>
          <a:xfrm>
            <a:off x="5638800" y="5347501"/>
            <a:ext cx="914400" cy="805218"/>
          </a:xfrm>
          <a:prstGeom prst="smileyFace">
            <a:avLst>
              <a:gd name="adj" fmla="val 465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85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MFCS/discrete mathematics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6123647" cy="40233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Questions ---??</a:t>
            </a:r>
          </a:p>
          <a:p>
            <a:endParaRPr lang="en-US" dirty="0"/>
          </a:p>
          <a:p>
            <a:pPr algn="just"/>
            <a:r>
              <a:rPr lang="en-US" dirty="0"/>
              <a:t>1. MATHS-NOT AGAIN…I have a fear of maths </a:t>
            </a:r>
          </a:p>
          <a:p>
            <a:pPr algn="just"/>
            <a:r>
              <a:rPr lang="en-US" dirty="0"/>
              <a:t>2. HAVE WE NOT STUDIED ENOUGH MATHEMATICS ALREADY…HOW IS THIS DIFFERENT …??</a:t>
            </a:r>
          </a:p>
          <a:p>
            <a:pPr algn="just"/>
            <a:r>
              <a:rPr lang="en-US" dirty="0"/>
              <a:t>3. WHAT TYPE OF MATHEMATICS WE HAVE STUDIED IN FIRST YEAR..</a:t>
            </a:r>
          </a:p>
          <a:p>
            <a:pPr algn="just"/>
            <a:r>
              <a:rPr lang="en-US" dirty="0"/>
              <a:t>4. WHAT THIS “DISCRETE WORD” MEANS…</a:t>
            </a:r>
          </a:p>
          <a:p>
            <a:pPr algn="just"/>
            <a:r>
              <a:rPr lang="en-US" dirty="0"/>
              <a:t>5. HOW IS IT RELATED EVEN TO COMPUTER SCIENCE…</a:t>
            </a:r>
          </a:p>
        </p:txBody>
      </p:sp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745" y="2286000"/>
            <a:ext cx="4158847" cy="4158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2991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 OF THE LECTURE…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WHAT HAVE WE STUDIED IN MATHEMATICS TILL NOW  </a:t>
            </a:r>
          </a:p>
          <a:p>
            <a:r>
              <a:rPr lang="en-US" dirty="0"/>
              <a:t>2. WHAT IS DISCRETE MATHEMATICS AND RELATIONS TO COMPUTER SCIENCES</a:t>
            </a:r>
          </a:p>
          <a:p>
            <a:r>
              <a:rPr lang="en-US" dirty="0"/>
              <a:t>3. THE BIG DIFFERENCE</a:t>
            </a:r>
          </a:p>
          <a:p>
            <a:r>
              <a:rPr lang="en-US" dirty="0"/>
              <a:t>4. WHAT IS COMPUTING </a:t>
            </a:r>
          </a:p>
          <a:p>
            <a:r>
              <a:rPr lang="en-US" dirty="0"/>
              <a:t>5. SOME REAL LIFE PROBLEMS</a:t>
            </a:r>
          </a:p>
          <a:p>
            <a:r>
              <a:rPr lang="en-US" dirty="0"/>
              <a:t>6. APPLICATION AREAS IN COMPUTER SCIENCE.</a:t>
            </a:r>
          </a:p>
        </p:txBody>
      </p:sp>
    </p:spTree>
    <p:extLst>
      <p:ext uri="{BB962C8B-B14F-4D97-AF65-F5344CB8AC3E}">
        <p14:creationId xmlns:p14="http://schemas.microsoft.com/office/powerpoint/2010/main" val="66924226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HAVE WE STUDIED IN MATHEMATICS TILL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Most middle and high school math curricula follow a well-defined path:</a:t>
            </a:r>
          </a:p>
          <a:p>
            <a:pPr algn="just"/>
            <a:r>
              <a:rPr lang="en-US" dirty="0"/>
              <a:t>Pre-algebra → Algebra 1 → Geometry → Algebra 2 → Trig / </a:t>
            </a:r>
            <a:r>
              <a:rPr lang="en-US" dirty="0" err="1"/>
              <a:t>Precalculus</a:t>
            </a:r>
            <a:r>
              <a:rPr lang="en-US" dirty="0"/>
              <a:t> → Calculus</a:t>
            </a:r>
          </a:p>
          <a:p>
            <a:pPr algn="just"/>
            <a:r>
              <a:rPr lang="en-US" b="1" dirty="0"/>
              <a:t>SOME PROBLEMS</a:t>
            </a:r>
          </a:p>
          <a:p>
            <a:pPr algn="just"/>
            <a:r>
              <a:rPr lang="en-US" dirty="0"/>
              <a:t>How many eight-digit numbers are there that contain a five and a six?</a:t>
            </a:r>
          </a:p>
          <a:p>
            <a:pPr algn="just"/>
            <a:r>
              <a:rPr lang="en-US" dirty="0"/>
              <a:t>What's the smallest number of NAND gates you need to implement a logic circuit with the output response of a given truth table?</a:t>
            </a:r>
          </a:p>
          <a:p>
            <a:pPr algn="just"/>
            <a:r>
              <a:rPr lang="en-US" dirty="0"/>
              <a:t>Draw a 5×5 grid graph. How many edges does the </a:t>
            </a:r>
            <a:r>
              <a:rPr lang="en-US" dirty="0" err="1"/>
              <a:t>n×n</a:t>
            </a:r>
            <a:r>
              <a:rPr lang="en-US" dirty="0"/>
              <a:t> grid graph have?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8217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103" y="84485"/>
            <a:ext cx="9720072" cy="1499616"/>
          </a:xfrm>
        </p:spPr>
        <p:txBody>
          <a:bodyPr/>
          <a:lstStyle/>
          <a:p>
            <a:r>
              <a:rPr lang="en-US" dirty="0"/>
              <a:t>WHAT IS DISCRETE MATHEMATICS..??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584101"/>
            <a:ext cx="10309280" cy="472525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QUESTIONS WERE HARD TO SOLVE BECAUSE WE ARE NOT FOCUSSING ON A FUNDAMENTAL FEATURE--- </a:t>
            </a:r>
          </a:p>
          <a:p>
            <a:pPr algn="just"/>
            <a:r>
              <a:rPr lang="en-US" sz="2800" b="1" dirty="0"/>
              <a:t>TREATING OBEJCTS AS INDEPENDENT ENTITIES..(AS INTEGERS)</a:t>
            </a:r>
          </a:p>
          <a:p>
            <a:pPr algn="just"/>
            <a:r>
              <a:rPr lang="en-US" sz="2400" b="1" dirty="0"/>
              <a:t>Discrete mathematics </a:t>
            </a:r>
            <a:r>
              <a:rPr lang="en-US" sz="2400" dirty="0"/>
              <a:t>is the study of mathematical structures that are fundamentally </a:t>
            </a:r>
            <a:r>
              <a:rPr lang="en-US" sz="2400" b="1" dirty="0"/>
              <a:t>discrete </a:t>
            </a:r>
            <a:r>
              <a:rPr lang="en-US" sz="2400" dirty="0"/>
              <a:t>rather than </a:t>
            </a:r>
            <a:r>
              <a:rPr lang="en-US" sz="2400" b="1" dirty="0"/>
              <a:t>continuous</a:t>
            </a:r>
            <a:r>
              <a:rPr lang="en-US" sz="2400" dirty="0"/>
              <a:t>…</a:t>
            </a:r>
          </a:p>
          <a:p>
            <a:pPr lvl="1" algn="just">
              <a:spcBef>
                <a:spcPct val="50000"/>
              </a:spcBef>
              <a:buNone/>
            </a:pPr>
            <a:r>
              <a:rPr lang="en-US" sz="2400" b="1" dirty="0"/>
              <a:t>Continuous Mathematics(WHAT WE HAVE LEARNT IN SCHOOLS)</a:t>
            </a:r>
          </a:p>
          <a:p>
            <a:pPr lvl="1" algn="just">
              <a:spcBef>
                <a:spcPct val="50000"/>
              </a:spcBef>
              <a:buNone/>
            </a:pPr>
            <a:r>
              <a:rPr lang="en-US" sz="3000" dirty="0"/>
              <a:t>It  considers objects that vary </a:t>
            </a:r>
            <a:r>
              <a:rPr lang="en-US" sz="3000" dirty="0">
                <a:solidFill>
                  <a:srgbClr val="FF0000"/>
                </a:solidFill>
              </a:rPr>
              <a:t>continuously</a:t>
            </a:r>
            <a:r>
              <a:rPr lang="en-US" sz="3000" i="1" dirty="0">
                <a:solidFill>
                  <a:srgbClr val="FF0000"/>
                </a:solidFill>
              </a:rPr>
              <a:t>;</a:t>
            </a:r>
            <a:r>
              <a:rPr lang="en-US" sz="3000" i="1" dirty="0"/>
              <a:t> </a:t>
            </a:r>
            <a:r>
              <a:rPr lang="en-US" sz="3000" dirty="0"/>
              <a:t> </a:t>
            </a:r>
          </a:p>
          <a:p>
            <a:pPr lvl="1" algn="just">
              <a:spcBef>
                <a:spcPct val="50000"/>
              </a:spcBef>
              <a:buNone/>
            </a:pPr>
            <a:r>
              <a:rPr lang="en-US" sz="1900" b="1" dirty="0"/>
              <a:t>Example:   </a:t>
            </a:r>
            <a:r>
              <a:rPr lang="en-US" sz="2400" dirty="0">
                <a:solidFill>
                  <a:srgbClr val="FF0000"/>
                </a:solidFill>
              </a:rPr>
              <a:t>analog wristwatch</a:t>
            </a:r>
            <a:r>
              <a:rPr lang="en-US" sz="2400" dirty="0"/>
              <a:t> (separate hour, minute, and second hands). </a:t>
            </a:r>
          </a:p>
          <a:p>
            <a:pPr lvl="1" algn="just">
              <a:spcBef>
                <a:spcPct val="50000"/>
              </a:spcBef>
              <a:buNone/>
            </a:pPr>
            <a:r>
              <a:rPr lang="en-US" sz="2400" dirty="0">
                <a:solidFill>
                  <a:srgbClr val="FF0000"/>
                </a:solidFill>
              </a:rPr>
              <a:t>              Real-number system</a:t>
            </a:r>
            <a:r>
              <a:rPr lang="en-US" sz="2400" dirty="0"/>
              <a:t>  ---  core of continuous mathematics.</a:t>
            </a:r>
          </a:p>
          <a:p>
            <a:pPr lvl="1" algn="just">
              <a:spcBef>
                <a:spcPct val="50000"/>
              </a:spcBef>
              <a:buNone/>
            </a:pPr>
            <a:r>
              <a:rPr lang="en-US" sz="2400" dirty="0"/>
              <a:t>             Models and tools for analyzing real-world phenomena that change smoothly </a:t>
            </a:r>
          </a:p>
          <a:p>
            <a:pPr lvl="1" algn="just">
              <a:spcBef>
                <a:spcPct val="50000"/>
              </a:spcBef>
              <a:buNone/>
            </a:pPr>
            <a:r>
              <a:rPr lang="en-US" sz="2400" dirty="0"/>
              <a:t>             over time. (</a:t>
            </a:r>
            <a:r>
              <a:rPr lang="en-US" sz="2400" dirty="0">
                <a:solidFill>
                  <a:srgbClr val="FF0000"/>
                </a:solidFill>
              </a:rPr>
              <a:t>Differential equations etc</a:t>
            </a:r>
            <a:r>
              <a:rPr lang="en-US" sz="2400" dirty="0"/>
              <a:t>.)</a:t>
            </a:r>
          </a:p>
          <a:p>
            <a:pPr lvl="1">
              <a:spcBef>
                <a:spcPct val="50000"/>
              </a:spcBef>
              <a:buNone/>
            </a:pPr>
            <a:endParaRPr lang="en-US" sz="2400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0970555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9" y="303426"/>
            <a:ext cx="9720072" cy="1499616"/>
          </a:xfrm>
        </p:spPr>
        <p:txBody>
          <a:bodyPr/>
          <a:lstStyle/>
          <a:p>
            <a:r>
              <a:rPr lang="en-US" dirty="0"/>
              <a:t>The big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03042"/>
            <a:ext cx="9720073" cy="4506318"/>
          </a:xfrm>
        </p:spPr>
        <p:txBody>
          <a:bodyPr>
            <a:normAutofit fontScale="92500" lnSpcReduction="10000"/>
          </a:bodyPr>
          <a:lstStyle/>
          <a:p>
            <a:pPr lvl="1"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sz="2800" dirty="0"/>
              <a:t> COMPUTERS ARE DIGITAL</a:t>
            </a:r>
            <a:r>
              <a:rPr lang="en-US" sz="2800" dirty="0">
                <a:sym typeface="Wingdings" panose="05000000000000000000" pitchFamily="2" charset="2"/>
              </a:rPr>
              <a:t> UNDERSTAND STRINGS OF 0’S AND 1’SNUMBERS AS FINITE BIT STRINGS TO SOLVE REAL LIFE PROBLEMS OF COMPUTER SCIENCE </a:t>
            </a:r>
            <a:r>
              <a:rPr lang="en-US" sz="2800" dirty="0">
                <a:solidFill>
                  <a:srgbClr val="FF0000"/>
                </a:solidFill>
              </a:rPr>
              <a:t>DISCRETE  MATHEMATICS</a:t>
            </a:r>
            <a:r>
              <a:rPr 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FF0000"/>
                </a:solidFill>
              </a:rPr>
              <a:t> MODELS AND TOOLS FOR ANALYZING REAL-WORLD PHENOMENA THAT CHANGE DISCRETELY OVER TIME.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sz="2800" dirty="0">
                <a:solidFill>
                  <a:srgbClr val="FF0000"/>
                </a:solidFill>
              </a:rPr>
              <a:t>Ex: digital wristwatch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sz="2800" b="1" dirty="0"/>
              <a:t>Discrete math is essential to college-level mathematics and beyond.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sz="2800" b="1" dirty="0"/>
              <a:t>Discrete math is the mathematics of computing.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sz="2800" b="1" dirty="0"/>
              <a:t>Discrete math is very much "real world" mathematics.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sz="2800" b="1" dirty="0"/>
              <a:t>Discrete math teaches mathematical reasoning and proof techniques.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None/>
            </a:pP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30531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03" y="111379"/>
            <a:ext cx="9720072" cy="1499616"/>
          </a:xfrm>
        </p:spPr>
        <p:txBody>
          <a:bodyPr/>
          <a:lstStyle/>
          <a:p>
            <a:r>
              <a:rPr lang="en-US" dirty="0"/>
              <a:t>WHAT IS COMPUTING??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803" y="1610994"/>
            <a:ext cx="11112793" cy="5081353"/>
          </a:xfrm>
        </p:spPr>
        <p:txBody>
          <a:bodyPr/>
          <a:lstStyle/>
          <a:p>
            <a:pPr algn="just"/>
            <a:r>
              <a:rPr lang="en-US" dirty="0"/>
              <a:t>WHAT is the value of 16*16=256(easy for humans)</a:t>
            </a:r>
          </a:p>
          <a:p>
            <a:pPr algn="just"/>
            <a:r>
              <a:rPr lang="en-US" dirty="0"/>
              <a:t>WHAT is the value of 1255678888</a:t>
            </a:r>
            <a:r>
              <a:rPr lang="en-US" baseline="30000" dirty="0"/>
              <a:t>456</a:t>
            </a:r>
            <a:r>
              <a:rPr lang="en-US" dirty="0"/>
              <a:t> –very difficult for humans—but easy for computers.</a:t>
            </a:r>
          </a:p>
          <a:p>
            <a:pPr algn="just"/>
            <a:r>
              <a:rPr lang="en-US" dirty="0"/>
              <a:t>Is solving hard arithmetic problems called computing</a:t>
            </a:r>
            <a:r>
              <a:rPr lang="en-US" dirty="0">
                <a:sym typeface="Wingdings" panose="05000000000000000000" pitchFamily="2" charset="2"/>
              </a:rPr>
              <a:t>ANSWER IS NO.</a:t>
            </a:r>
          </a:p>
          <a:p>
            <a:pPr algn="just"/>
            <a:r>
              <a:rPr lang="en-US" sz="2400" b="1" dirty="0">
                <a:sym typeface="Wingdings" panose="05000000000000000000" pitchFamily="2" charset="2"/>
              </a:rPr>
              <a:t>WHAT IS A COMPUTATIONAL PROBLEM?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89" y="3801100"/>
            <a:ext cx="4267200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855" y="3887139"/>
            <a:ext cx="3952875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7752522" y="4158346"/>
            <a:ext cx="40900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How to color this map so that no two adjacent regions have the same color?</a:t>
            </a:r>
          </a:p>
        </p:txBody>
      </p:sp>
    </p:spTree>
    <p:extLst>
      <p:ext uri="{BB962C8B-B14F-4D97-AF65-F5344CB8AC3E}">
        <p14:creationId xmlns:p14="http://schemas.microsoft.com/office/powerpoint/2010/main" val="17839029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833" y="108697"/>
            <a:ext cx="9720072" cy="1499616"/>
          </a:xfrm>
        </p:spPr>
        <p:txBody>
          <a:bodyPr/>
          <a:lstStyle/>
          <a:p>
            <a:r>
              <a:rPr lang="en-US" dirty="0"/>
              <a:t>MAPPING OF THE previous PROBLEM to other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2" y="1782417"/>
            <a:ext cx="10239847" cy="4669898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q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the final exams at Nirma University be scheduled so that no student has two exams at the same time? </a:t>
            </a:r>
          </a:p>
          <a:p>
            <a:pPr algn="just">
              <a:buFont typeface="Wingdings" panose="05000000000000000000" pitchFamily="2" charset="2"/>
              <a:buChar char="q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T.V. channels 2 through 13 are assigned to stations in Ahmedabad so that no  two stations  within 150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kms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operate on  the same channel. How can the assignment of channels be modeled as a graph coloring?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efficient compilers the execution of loops can be speeded up by storing frequently used variables temporarily in registers in the central processing unit, instead of the regular memory. For a given loop, how many index registers are needed?</a:t>
            </a:r>
          </a:p>
          <a:p>
            <a:pPr marL="0" indent="0" algn="just">
              <a:buNone/>
              <a:defRPr/>
            </a:pP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912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502" y="112063"/>
            <a:ext cx="9720072" cy="1499616"/>
          </a:xfrm>
        </p:spPr>
        <p:txBody>
          <a:bodyPr/>
          <a:lstStyle/>
          <a:p>
            <a:r>
              <a:rPr lang="en-US" dirty="0"/>
              <a:t>SOME REAL LIFE PROBLEMS</a:t>
            </a:r>
          </a:p>
        </p:txBody>
      </p:sp>
      <p:pic>
        <p:nvPicPr>
          <p:cNvPr id="2050" name="Picture 2" descr="Image result for map of in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888" y="3243930"/>
            <a:ext cx="44386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16168" y="1611679"/>
            <a:ext cx="101786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TRAVELLING SALESMAN PROBLEM:</a:t>
            </a:r>
          </a:p>
          <a:p>
            <a:endParaRPr lang="en-US" dirty="0"/>
          </a:p>
          <a:p>
            <a:r>
              <a:rPr lang="en-US" sz="2400" dirty="0"/>
              <a:t>Given a list of cities and the distances between each pair of cities, what is the shortest possible route that visits each city and returns to the origin city?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90197" y="3606085"/>
            <a:ext cx="3271234" cy="1223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THE PROBLEM AS A GRAPH- A DISCRETE MATHEMATICAL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2951074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ANCIENT BARBER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4164" y="2631584"/>
            <a:ext cx="4860036" cy="360179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 ancient Sicilian legend says that the barber in a remote town who can be reached only by traveling a dangerous mountain road shaves those people, and only those people, who do not shave themselves. Can there be such a barber?</a:t>
            </a:r>
          </a:p>
          <a:p>
            <a:endParaRPr lang="en-US" dirty="0"/>
          </a:p>
        </p:txBody>
      </p:sp>
      <p:pic>
        <p:nvPicPr>
          <p:cNvPr id="4098" name="Picture 2" descr="Image result for ancient barber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2631584"/>
            <a:ext cx="4661124" cy="310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77318" y="4829578"/>
            <a:ext cx="3271234" cy="1223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THE PROBLEM AS  LOGIC- A DISCRETE MATHEMATICAL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55992298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DNA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THERE ARE TWO SPECIES …what is the longest strand of DNA matching….the more the MATCH…the more they are similar.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07" y="3142703"/>
            <a:ext cx="4730839" cy="35481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4476" y="3357522"/>
            <a:ext cx="3000778" cy="1880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THE PROBLEM AS AN RECURSIVE FORMULA….THEN BUILD THE ALGORITHM…REQUIRES KNOWLEDGE OF RECURSION</a:t>
            </a:r>
          </a:p>
        </p:txBody>
      </p:sp>
    </p:spTree>
    <p:extLst>
      <p:ext uri="{BB962C8B-B14F-4D97-AF65-F5344CB8AC3E}">
        <p14:creationId xmlns:p14="http://schemas.microsoft.com/office/powerpoint/2010/main" val="46314438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1499616"/>
          </a:xfrm>
        </p:spPr>
        <p:txBody>
          <a:bodyPr/>
          <a:lstStyle/>
          <a:p>
            <a:r>
              <a:rPr lang="en-US" dirty="0"/>
              <a:t>APPLICATION AREAS OF DISCRETE MATHEMATICS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229933"/>
            <a:ext cx="9720073" cy="460419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Web searches-efficient use of keywords</a:t>
            </a:r>
          </a:p>
          <a:p>
            <a:pPr algn="just"/>
            <a:r>
              <a:rPr lang="en-US" dirty="0"/>
              <a:t>Google Maps-shortest path or route</a:t>
            </a:r>
          </a:p>
          <a:p>
            <a:pPr algn="just"/>
            <a:r>
              <a:rPr lang="en-US" dirty="0"/>
              <a:t>Artificial Intelligence- designing of intelligent neural networks</a:t>
            </a:r>
          </a:p>
          <a:p>
            <a:pPr algn="just"/>
            <a:r>
              <a:rPr lang="en-US" dirty="0"/>
              <a:t>Network Security- designing of cryptographically secure systems.</a:t>
            </a:r>
          </a:p>
          <a:p>
            <a:pPr algn="just"/>
            <a:r>
              <a:rPr lang="en-US" dirty="0"/>
              <a:t>Computer Graphics and animation- working on pixels as an object.</a:t>
            </a:r>
          </a:p>
          <a:p>
            <a:pPr algn="just"/>
            <a:r>
              <a:rPr lang="en-US" dirty="0"/>
              <a:t>Mobile Communications- frequency allocation problem</a:t>
            </a:r>
          </a:p>
          <a:p>
            <a:pPr algn="just"/>
            <a:r>
              <a:rPr lang="en-US" dirty="0"/>
              <a:t>Data Compression- algorithms for compressing a file</a:t>
            </a:r>
          </a:p>
          <a:p>
            <a:pPr algn="just"/>
            <a:r>
              <a:rPr lang="en-US" dirty="0"/>
              <a:t>Database Management Systems- using relations</a:t>
            </a:r>
          </a:p>
          <a:p>
            <a:pPr algn="just"/>
            <a:r>
              <a:rPr lang="en-US" dirty="0"/>
              <a:t>Social Network Analysis- predicting sentiment analysis, viral spread of information </a:t>
            </a:r>
          </a:p>
          <a:p>
            <a:pPr algn="just"/>
            <a:r>
              <a:rPr lang="en-US" dirty="0"/>
              <a:t>Designing of Radars and Satellite Communication system</a:t>
            </a:r>
          </a:p>
          <a:p>
            <a:pPr algn="just"/>
            <a:r>
              <a:rPr lang="en-US" dirty="0"/>
              <a:t>Performance and measuring correctness of an algorithm…..and many more….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24128" y="5834130"/>
            <a:ext cx="9974430" cy="843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 WHAT HAVE WE LEARNT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DISCRETE MATHEMATICS GIVES US THE MATEMATICAL MODELLING AND UNDERSTANDING TO MAP A REAL LIFE PROBLEM TO A DISCRETE STRUCTUREHENCE RIGHTLY IT IS CALLED THE FOUNDATION MATHEMATICAL PRINCIPLES THAT BUILD UP COMPUTER SCIENCE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146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2FE9A3-ACDD-4FD6-A5E7-301A013156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UNIT-1 </a:t>
            </a:r>
            <a:r>
              <a:rPr lang="en-IN" sz="2400" b="1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Sets, Relation and Function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6716B-F73B-178F-7E73-16DD114717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98749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29AD-7872-4EDE-AA34-E697B0BD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 OF UNIT-1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BA626-DD8F-4907-99BD-3FB26AF57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Operations and laws of sets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products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inary relation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artial ordering relation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quivalence relation, 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mage of a set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 and product of functions, 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ijective functions 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nverse and composite function. </a:t>
            </a:r>
          </a:p>
          <a:p>
            <a:pPr marL="34290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counting techniques: inclusion and exclusion, pigeon-hole principle.</a:t>
            </a:r>
            <a:endParaRPr lang="en-US" sz="3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93186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Definition of sets</a:t>
            </a:r>
          </a:p>
          <a:p>
            <a:r>
              <a:rPr lang="en-US" dirty="0"/>
              <a:t>Describing Sets</a:t>
            </a:r>
          </a:p>
          <a:p>
            <a:pPr lvl="1"/>
            <a:r>
              <a:rPr lang="en-US" dirty="0"/>
              <a:t>Roster Method</a:t>
            </a:r>
          </a:p>
          <a:p>
            <a:pPr lvl="1"/>
            <a:r>
              <a:rPr lang="en-US" dirty="0"/>
              <a:t>Set-Builder Notation</a:t>
            </a:r>
          </a:p>
          <a:p>
            <a:r>
              <a:rPr lang="en-US" dirty="0"/>
              <a:t>Some Important Sets in Mathematics</a:t>
            </a:r>
          </a:p>
          <a:p>
            <a:r>
              <a:rPr lang="en-US" dirty="0"/>
              <a:t>Empty Set and Universal Set</a:t>
            </a:r>
          </a:p>
          <a:p>
            <a:r>
              <a:rPr lang="en-US" dirty="0"/>
              <a:t>Subsets and Set Equality</a:t>
            </a:r>
          </a:p>
          <a:p>
            <a:r>
              <a:rPr lang="en-US" dirty="0"/>
              <a:t>Cardinality of Sets</a:t>
            </a:r>
          </a:p>
          <a:p>
            <a:r>
              <a:rPr lang="en-US" dirty="0" err="1"/>
              <a:t>Tuples</a:t>
            </a:r>
            <a:endParaRPr lang="en-US" dirty="0"/>
          </a:p>
          <a:p>
            <a:r>
              <a:rPr lang="en-US" dirty="0"/>
              <a:t>Cartesian Product</a:t>
            </a:r>
          </a:p>
        </p:txBody>
      </p:sp>
    </p:spTree>
    <p:extLst>
      <p:ext uri="{BB962C8B-B14F-4D97-AF65-F5344CB8AC3E}">
        <p14:creationId xmlns:p14="http://schemas.microsoft.com/office/powerpoint/2010/main" val="401625210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Sets are one of the basic building blocks for the types of objects considered in discrete mathematics.</a:t>
            </a:r>
          </a:p>
          <a:p>
            <a:pPr lvl="1" algn="just"/>
            <a:r>
              <a:rPr lang="en-US" dirty="0"/>
              <a:t>Important for </a:t>
            </a:r>
            <a:r>
              <a:rPr lang="en-US" b="1" dirty="0"/>
              <a:t>counting.</a:t>
            </a:r>
          </a:p>
          <a:p>
            <a:pPr lvl="1" algn="just"/>
            <a:r>
              <a:rPr lang="en-US" b="1" dirty="0"/>
              <a:t>Programming languages </a:t>
            </a:r>
            <a:r>
              <a:rPr lang="en-US" dirty="0"/>
              <a:t>have set operations.</a:t>
            </a:r>
          </a:p>
          <a:p>
            <a:pPr algn="just"/>
            <a:r>
              <a:rPr lang="en-US" dirty="0"/>
              <a:t>Set theory is an important branch of mathematics.</a:t>
            </a:r>
          </a:p>
          <a:p>
            <a:pPr lvl="1" algn="just"/>
            <a:r>
              <a:rPr lang="en-US" dirty="0"/>
              <a:t>Many different systems of axioms have been used to develop set theory.</a:t>
            </a:r>
          </a:p>
          <a:p>
            <a:pPr lvl="1" algn="just"/>
            <a:r>
              <a:rPr lang="en-US" dirty="0"/>
              <a:t>Here we are not concerned with a formal set of axioms for set theory. Instead, we will use what is called </a:t>
            </a:r>
            <a:r>
              <a:rPr lang="en-US" b="1" dirty="0"/>
              <a:t>naïve set theory.</a:t>
            </a:r>
          </a:p>
        </p:txBody>
      </p:sp>
    </p:spTree>
    <p:extLst>
      <p:ext uri="{BB962C8B-B14F-4D97-AF65-F5344CB8AC3E}">
        <p14:creationId xmlns:p14="http://schemas.microsoft.com/office/powerpoint/2010/main" val="263251698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Sets-Membership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set</a:t>
            </a:r>
            <a:r>
              <a:rPr lang="en-US" dirty="0"/>
              <a:t> is an unordered collection of objects.</a:t>
            </a:r>
          </a:p>
          <a:p>
            <a:pPr lvl="1"/>
            <a:r>
              <a:rPr lang="en-US" dirty="0"/>
              <a:t> the students in this class</a:t>
            </a:r>
          </a:p>
          <a:p>
            <a:pPr lvl="1"/>
            <a:r>
              <a:rPr lang="en-US" dirty="0"/>
              <a:t> the chairs in this room</a:t>
            </a:r>
          </a:p>
          <a:p>
            <a:r>
              <a:rPr lang="en-US" dirty="0"/>
              <a:t>The </a:t>
            </a:r>
            <a:r>
              <a:rPr lang="en-US" b="1" dirty="0"/>
              <a:t>objects</a:t>
            </a:r>
            <a:r>
              <a:rPr lang="en-US" dirty="0"/>
              <a:t> in a set are called the </a:t>
            </a:r>
            <a:r>
              <a:rPr lang="en-US" b="1" i="1" dirty="0"/>
              <a:t>elements</a:t>
            </a:r>
            <a:r>
              <a:rPr lang="en-US" dirty="0"/>
              <a:t>, or </a:t>
            </a:r>
            <a:r>
              <a:rPr lang="en-US" b="1" i="1" dirty="0"/>
              <a:t>members</a:t>
            </a:r>
            <a:r>
              <a:rPr lang="en-US" dirty="0"/>
              <a:t> of the set. A set is said to </a:t>
            </a:r>
            <a:r>
              <a:rPr lang="en-US" b="1" i="1" dirty="0"/>
              <a:t>contain</a:t>
            </a:r>
            <a:r>
              <a:rPr lang="en-US" dirty="0"/>
              <a:t> its elements.</a:t>
            </a:r>
          </a:p>
          <a:p>
            <a:r>
              <a:rPr lang="en-US" dirty="0"/>
              <a:t>The notation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/>
              <a:t>denotes that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/>
              <a:t> is an element of the set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/>
              <a:t>.</a:t>
            </a:r>
          </a:p>
          <a:p>
            <a:r>
              <a:rPr lang="en-US" dirty="0"/>
              <a:t>If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/>
              <a:t> is not a member of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/>
              <a:t>, write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∉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8370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Describing 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a,b,c,d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r>
              <a:rPr lang="en-US" dirty="0"/>
              <a:t>Order not important </a:t>
            </a:r>
          </a:p>
          <a:p>
            <a:pPr>
              <a:buNone/>
            </a:pPr>
            <a:r>
              <a:rPr lang="en-US" dirty="0"/>
              <a:t>    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a,b,c,d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 = {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b,c,a,d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r>
              <a:rPr lang="en-US" dirty="0"/>
              <a:t>Each distinct object is either a member or not; listing more than once does not change the set.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{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a,b,c,d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 = {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a,b,c,b,c,d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r>
              <a:rPr lang="en-US" dirty="0" err="1">
                <a:latin typeface="Cambria Math" pitchFamily="18" charset="0"/>
                <a:ea typeface="Cambria Math" pitchFamily="18" charset="0"/>
              </a:rPr>
              <a:t>Elipses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(…) may be used to describe a set without listing all of the members when the pattern is clear.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{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a,b,c,d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, ……,z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09286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</a:t>
            </a:r>
            <a:r>
              <a:rPr lang="en-US" dirty="0" err="1"/>
              <a:t>Representation:Roster</a:t>
            </a:r>
            <a:r>
              <a:rPr lang="en-US" dirty="0"/>
              <a:t>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of all vowels in the English alphabet:</a:t>
            </a:r>
          </a:p>
          <a:p>
            <a:pPr>
              <a:buNone/>
            </a:pPr>
            <a:r>
              <a:rPr lang="en-US" dirty="0"/>
              <a:t>         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V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dirty="0" err="1">
                <a:latin typeface="Cambria Math" pitchFamily="18" charset="0"/>
                <a:ea typeface="Cambria Math" pitchFamily="18" charset="0"/>
              </a:rPr>
              <a:t>a,e,i,o,u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r>
              <a:rPr lang="en-US" dirty="0"/>
              <a:t>Set of all  odd positive integers less than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    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{1,3,5,7,9}</a:t>
            </a:r>
          </a:p>
          <a:p>
            <a:r>
              <a:rPr lang="en-US" dirty="0"/>
              <a:t>Set of all positive integers less than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100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     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{1,2,3,……..,99}</a:t>
            </a:r>
          </a:p>
          <a:p>
            <a:pPr marL="514350" indent="-514350"/>
            <a:r>
              <a:rPr lang="en-US" dirty="0">
                <a:latin typeface="Cambria Math" pitchFamily="18" charset="0"/>
                <a:ea typeface="Cambria Math" pitchFamily="18" charset="0"/>
              </a:rPr>
              <a:t>Set of all integers less than 0: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  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{…., -3,-2,-1}</a:t>
            </a:r>
          </a:p>
        </p:txBody>
      </p:sp>
    </p:spTree>
    <p:extLst>
      <p:ext uri="{BB962C8B-B14F-4D97-AF65-F5344CB8AC3E}">
        <p14:creationId xmlns:p14="http://schemas.microsoft.com/office/powerpoint/2010/main" val="70570418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Important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/>
              <a:t> = </a:t>
            </a:r>
            <a:r>
              <a:rPr lang="en-US" i="1" dirty="0"/>
              <a:t>natural numbers </a:t>
            </a:r>
            <a:r>
              <a:rPr lang="en-US" dirty="0"/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{0,1,2,3….}</a:t>
            </a: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dirty="0"/>
              <a:t> = </a:t>
            </a:r>
            <a:r>
              <a:rPr lang="en-US" i="1" dirty="0"/>
              <a:t>integers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{…,-3,-2,-1,0,1,2,3,…}</a:t>
            </a: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Z⁺</a:t>
            </a:r>
            <a:r>
              <a:rPr lang="en-US" dirty="0"/>
              <a:t> = </a:t>
            </a:r>
            <a:r>
              <a:rPr lang="en-US" i="1" dirty="0"/>
              <a:t>positive integers </a:t>
            </a:r>
            <a:r>
              <a:rPr lang="en-US" dirty="0"/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{1,2,3,…..}</a:t>
            </a: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dirty="0"/>
              <a:t> = set of </a:t>
            </a:r>
            <a:r>
              <a:rPr lang="en-US" i="1" dirty="0"/>
              <a:t>real numbers</a:t>
            </a: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b="1" baseline="30000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dirty="0"/>
              <a:t> = set of </a:t>
            </a:r>
            <a:r>
              <a:rPr lang="en-US" i="1" dirty="0"/>
              <a:t>positive real numbers</a:t>
            </a: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dirty="0"/>
              <a:t> =  set of </a:t>
            </a:r>
            <a:r>
              <a:rPr lang="en-US" i="1" dirty="0"/>
              <a:t>complex numbers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Q</a:t>
            </a:r>
            <a:r>
              <a:rPr lang="en-US" dirty="0"/>
              <a:t> = set of rational numbers</a:t>
            </a:r>
          </a:p>
          <a:p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60634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</a:t>
            </a:r>
            <a:r>
              <a:rPr lang="en-US" dirty="0" err="1"/>
              <a:t>Representation:Set-Builder</a:t>
            </a:r>
            <a:r>
              <a:rPr lang="en-US" dirty="0"/>
              <a:t>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Specify the property or properties that all members must satisfy: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|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is a positive integer less than 100}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is an odd positive integer less than 10}</a:t>
            </a: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Z⁺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is odd and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&lt; 10}</a:t>
            </a:r>
          </a:p>
          <a:p>
            <a:r>
              <a:rPr lang="en-US" dirty="0"/>
              <a:t>A predicate may be used: </a:t>
            </a:r>
          </a:p>
          <a:p>
            <a:pPr>
              <a:buNone/>
            </a:pPr>
            <a:r>
              <a:rPr lang="en-US" dirty="0"/>
              <a:t>                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| P(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)}</a:t>
            </a:r>
          </a:p>
          <a:p>
            <a:r>
              <a:rPr lang="en-US" dirty="0"/>
              <a:t>Example: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|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Prime(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)}</a:t>
            </a:r>
          </a:p>
          <a:p>
            <a:r>
              <a:rPr lang="en-US" dirty="0">
                <a:ea typeface="Cambria Math" pitchFamily="18" charset="0"/>
              </a:rPr>
              <a:t>Positive rational numbers</a:t>
            </a:r>
            <a:r>
              <a:rPr lang="en-US" i="1" dirty="0">
                <a:ea typeface="Cambria Math" pitchFamily="18" charset="0"/>
              </a:rPr>
              <a:t>:</a:t>
            </a:r>
          </a:p>
          <a:p>
            <a:pPr>
              <a:buNone/>
            </a:pPr>
            <a:r>
              <a:rPr lang="en-US" i="1" dirty="0">
                <a:ea typeface="Cambria Math" pitchFamily="18" charset="0"/>
              </a:rPr>
              <a:t>       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baseline="30000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baseline="30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b="1" dirty="0">
                <a:ea typeface="Cambria Math" pitchFamily="18" charset="0"/>
              </a:rPr>
              <a:t>R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/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for some positive integers 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 err="1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532561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Set and Empty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universal set</a:t>
            </a:r>
            <a:r>
              <a:rPr lang="en-US" dirty="0"/>
              <a:t> </a:t>
            </a:r>
            <a:r>
              <a:rPr lang="en-US" i="1" dirty="0"/>
              <a:t>U </a:t>
            </a:r>
            <a:r>
              <a:rPr lang="en-US" dirty="0"/>
              <a:t>is the set containing everything currently under consideration. </a:t>
            </a:r>
            <a:endParaRPr lang="en-US" i="1" dirty="0"/>
          </a:p>
          <a:p>
            <a:pPr lvl="1"/>
            <a:r>
              <a:rPr lang="en-US" dirty="0"/>
              <a:t>Sometimes implicit</a:t>
            </a:r>
          </a:p>
          <a:p>
            <a:pPr lvl="1"/>
            <a:r>
              <a:rPr lang="en-US" dirty="0"/>
              <a:t>Sometimes explicitly stated.</a:t>
            </a:r>
          </a:p>
          <a:p>
            <a:pPr lvl="1"/>
            <a:r>
              <a:rPr lang="en-US" dirty="0"/>
              <a:t>Contents depend on the context.</a:t>
            </a:r>
          </a:p>
          <a:p>
            <a:r>
              <a:rPr lang="en-US" dirty="0"/>
              <a:t>The empty set is the set with no</a:t>
            </a:r>
          </a:p>
          <a:p>
            <a:pPr>
              <a:buNone/>
            </a:pPr>
            <a:r>
              <a:rPr lang="en-US" dirty="0"/>
              <a:t>      elements. Symbolized </a:t>
            </a:r>
            <a:r>
              <a:rPr lang="en-US" dirty="0">
                <a:latin typeface="Cambria Math"/>
                <a:ea typeface="Cambria Math"/>
              </a:rPr>
              <a:t>∅, but</a:t>
            </a:r>
          </a:p>
          <a:p>
            <a:pPr>
              <a:buNone/>
            </a:pPr>
            <a:r>
              <a:rPr lang="en-US" dirty="0">
                <a:latin typeface="Cambria Math"/>
                <a:ea typeface="Cambria Math"/>
              </a:rPr>
              <a:t>       </a:t>
            </a:r>
            <a:r>
              <a:rPr lang="en-US" dirty="0"/>
              <a:t>{} also used.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62800" y="3581400"/>
            <a:ext cx="2590800" cy="1676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onstantia"/>
            </a:endParaRPr>
          </a:p>
        </p:txBody>
      </p:sp>
      <p:sp>
        <p:nvSpPr>
          <p:cNvPr id="5" name="Oval 4"/>
          <p:cNvSpPr/>
          <p:nvPr/>
        </p:nvSpPr>
        <p:spPr>
          <a:xfrm>
            <a:off x="8229600" y="4267200"/>
            <a:ext cx="7620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onstant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20200" y="3657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8956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Venn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3583" y="4267201"/>
            <a:ext cx="216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   a e </a:t>
            </a:r>
            <a:r>
              <a:rPr lang="en-US" dirty="0" err="1">
                <a:solidFill>
                  <a:prstClr val="black"/>
                </a:solidFill>
                <a:latin typeface="Constantia"/>
              </a:rPr>
              <a:t>i</a:t>
            </a:r>
            <a:endParaRPr lang="en-US" dirty="0">
              <a:solidFill>
                <a:prstClr val="black"/>
              </a:solidFill>
              <a:latin typeface="Constantia"/>
            </a:endParaRPr>
          </a:p>
          <a:p>
            <a:r>
              <a:rPr lang="en-US" dirty="0">
                <a:solidFill>
                  <a:prstClr val="black"/>
                </a:solidFill>
                <a:latin typeface="Constantia"/>
              </a:rPr>
              <a:t>    o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42672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V</a:t>
            </a:r>
          </a:p>
        </p:txBody>
      </p:sp>
      <p:pic>
        <p:nvPicPr>
          <p:cNvPr id="13" name="Picture 12" descr="020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24600" y="5486400"/>
            <a:ext cx="893064" cy="1036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67600" y="5638801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John Venn (1834-1923)</a:t>
            </a:r>
          </a:p>
          <a:p>
            <a:r>
              <a:rPr lang="en-US" dirty="0">
                <a:solidFill>
                  <a:prstClr val="black"/>
                </a:solidFill>
                <a:latin typeface="Constantia"/>
              </a:rPr>
              <a:t>Cambridge, UK</a:t>
            </a:r>
          </a:p>
        </p:txBody>
      </p:sp>
    </p:spTree>
    <p:extLst>
      <p:ext uri="{BB962C8B-B14F-4D97-AF65-F5344CB8AC3E}">
        <p14:creationId xmlns:p14="http://schemas.microsoft.com/office/powerpoint/2010/main" val="312081459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things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can be elements of sets.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A= {{1,2,3},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{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b,c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}}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B=  {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r>
              <a:rPr lang="en-US" dirty="0"/>
              <a:t>The empty set is different from a set containing the empty set.</a:t>
            </a:r>
          </a:p>
          <a:p>
            <a:pPr>
              <a:buNone/>
            </a:pPr>
            <a:r>
              <a:rPr lang="en-US" dirty="0"/>
              <a:t>       </a:t>
            </a:r>
            <a:r>
              <a:rPr lang="en-US" dirty="0">
                <a:latin typeface="Cambria Math"/>
                <a:ea typeface="Cambria Math"/>
              </a:rPr>
              <a:t>∅</a:t>
            </a:r>
            <a:r>
              <a:rPr lang="en-US" dirty="0"/>
              <a:t>  </a:t>
            </a:r>
            <a:r>
              <a:rPr lang="en-US" dirty="0">
                <a:latin typeface="Cambria Math"/>
                <a:ea typeface="Cambria Math"/>
              </a:rPr>
              <a:t>≠ { ∅ } ({∅} is the set containing the empty element, singleton set)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46134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   Definition</a:t>
            </a:r>
            <a:r>
              <a:rPr lang="en-US" dirty="0"/>
              <a:t>:  The set </a:t>
            </a:r>
            <a:r>
              <a:rPr lang="en-US" i="1" dirty="0"/>
              <a:t>A</a:t>
            </a:r>
            <a:r>
              <a:rPr lang="en-US" dirty="0"/>
              <a:t> is a </a:t>
            </a:r>
            <a:r>
              <a:rPr lang="en-US" i="1" dirty="0"/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every element of </a:t>
            </a:r>
            <a:r>
              <a:rPr lang="en-US" i="1" dirty="0"/>
              <a:t>A</a:t>
            </a:r>
            <a:r>
              <a:rPr lang="en-US" dirty="0"/>
              <a:t> is also an element of </a:t>
            </a:r>
            <a:r>
              <a:rPr lang="en-US" i="1" dirty="0"/>
              <a:t>B</a:t>
            </a:r>
            <a:r>
              <a:rPr lang="en-US" dirty="0"/>
              <a:t>.  </a:t>
            </a:r>
          </a:p>
          <a:p>
            <a:pPr lvl="1"/>
            <a:r>
              <a:rPr lang="en-US" dirty="0"/>
              <a:t>The notation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is used </a:t>
            </a:r>
            <a:r>
              <a:rPr lang="en-US" dirty="0">
                <a:latin typeface="Cambria Math"/>
                <a:ea typeface="Cambria Math"/>
              </a:rPr>
              <a:t>to indicate that </a:t>
            </a:r>
            <a:r>
              <a:rPr lang="en-US" i="1" dirty="0">
                <a:latin typeface="Cambria Math"/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is a subset of the set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. </a:t>
            </a:r>
          </a:p>
          <a:p>
            <a:pPr lvl="1"/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 holds if and only if                                            </a:t>
            </a:r>
            <a:r>
              <a:rPr lang="en-US" dirty="0"/>
              <a:t>is true</a:t>
            </a:r>
            <a:r>
              <a:rPr lang="en-US"/>
              <a:t>. </a:t>
            </a:r>
            <a:endParaRPr lang="en-US" dirty="0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775907" y="3295960"/>
            <a:ext cx="2693194" cy="31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4452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Showing a Set is or is not a Subset of Another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Cambria Math" pitchFamily="18" charset="0"/>
              </a:rPr>
              <a:t>Showing  that A is a Subset of B</a:t>
            </a:r>
            <a:r>
              <a:rPr lang="en-US" dirty="0">
                <a:ea typeface="Cambria Math" pitchFamily="18" charset="0"/>
              </a:rPr>
              <a:t>: To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show that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show that if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belongs to </a:t>
            </a:r>
            <a:r>
              <a:rPr lang="en-US" i="1" dirty="0">
                <a:ea typeface="Cambria Math" pitchFamily="18" charset="0"/>
              </a:rPr>
              <a:t>A,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then </a:t>
            </a:r>
            <a:r>
              <a:rPr lang="en-US" dirty="0">
                <a:ea typeface="Cambria Math" pitchFamily="18" charset="0"/>
              </a:rPr>
              <a:t>x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also belongs to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</a:t>
            </a:r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r>
              <a:rPr lang="en-US" b="1" dirty="0">
                <a:ea typeface="Cambria Math" pitchFamily="18" charset="0"/>
              </a:rPr>
              <a:t>Showing that A is not a Subset of 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dirty="0"/>
              <a:t>To show that </a:t>
            </a:r>
            <a:r>
              <a:rPr lang="en-US" i="1" dirty="0"/>
              <a:t>A</a:t>
            </a:r>
            <a:r>
              <a:rPr lang="en-US" dirty="0"/>
              <a:t> is not a subset of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⊈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dirty="0"/>
              <a:t>  find an element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with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∉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.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ea typeface="Cambria Math" pitchFamily="18" charset="0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Such an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is a counterexample to the claim that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implies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.)</a:t>
            </a: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    </a:t>
            </a:r>
            <a:r>
              <a:rPr lang="en-US" b="1" dirty="0">
                <a:ea typeface="Cambria Math" pitchFamily="18" charset="0"/>
              </a:rPr>
              <a:t>Examples</a:t>
            </a:r>
            <a:r>
              <a:rPr lang="en-US" dirty="0">
                <a:ea typeface="Cambria Math" pitchFamily="18" charset="0"/>
              </a:rPr>
              <a:t>:</a:t>
            </a:r>
            <a:r>
              <a:rPr lang="en-US" b="1" dirty="0">
                <a:ea typeface="Cambria Math" pitchFamily="18" charset="0"/>
              </a:rPr>
              <a:t> 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The set of all computer science majors at your school is a subset of all students at your school.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The set of integers with squares less than 100 is not a subset of the set of nonnegative integers.</a:t>
            </a:r>
          </a:p>
          <a:p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603711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  Definition</a:t>
            </a:r>
            <a:r>
              <a:rPr lang="en-US" dirty="0"/>
              <a:t>: Two sets are </a:t>
            </a:r>
            <a:r>
              <a:rPr lang="en-US" i="1" dirty="0"/>
              <a:t>equal</a:t>
            </a:r>
            <a:r>
              <a:rPr lang="en-US" dirty="0"/>
              <a:t> if and only if they have the same elements. 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⊆B and B ⊆A.</a:t>
            </a:r>
            <a:endParaRPr lang="en-US" dirty="0"/>
          </a:p>
          <a:p>
            <a:pPr lvl="1"/>
            <a:r>
              <a:rPr lang="en-US" dirty="0"/>
              <a:t>Therefore if A and B are sets, then A and B are equal if and only if                                         . </a:t>
            </a:r>
          </a:p>
          <a:p>
            <a:pPr lvl="1"/>
            <a:r>
              <a:rPr lang="en-US" dirty="0"/>
              <a:t>We write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B</a:t>
            </a:r>
            <a:r>
              <a:rPr lang="en-US" dirty="0"/>
              <a:t> if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equal sets.</a:t>
            </a:r>
          </a:p>
          <a:p>
            <a:pPr>
              <a:buNone/>
            </a:pPr>
            <a:r>
              <a:rPr lang="en-US" dirty="0"/>
              <a:t>              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{1,3,5}   = {3, 5, 1}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          {1,5,5,5,3,3,1} = {1,3,5}</a:t>
            </a:r>
          </a:p>
        </p:txBody>
      </p:sp>
      <p:pic>
        <p:nvPicPr>
          <p:cNvPr id="4" name="Picture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43401" y="3200401"/>
            <a:ext cx="3231833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40812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look at Equality of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two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</a:t>
            </a:r>
            <a:r>
              <a:rPr lang="en-US" i="1" dirty="0"/>
              <a:t>equal</a:t>
            </a:r>
            <a:r>
              <a:rPr lang="en-US" dirty="0"/>
              <a:t>, denoted by        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dirty="0" err="1"/>
              <a:t>iff</a:t>
            </a: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Using logical equivalences we have that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iff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 This is equivalent to</a:t>
            </a:r>
          </a:p>
          <a:p>
            <a:pPr>
              <a:buNone/>
            </a:pPr>
            <a:r>
              <a:rPr lang="en-US" dirty="0"/>
              <a:t>                    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/>
              <a:t>        and      </a:t>
            </a:r>
            <a:r>
              <a:rPr lang="en-US" i="1" dirty="0">
                <a:ea typeface="Cambria Math" pitchFamily="18" charset="0"/>
              </a:rPr>
              <a:t>B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⊆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endParaRPr lang="en-US" dirty="0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292626" y="3747135"/>
            <a:ext cx="6700838" cy="382905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3886201" y="2667001"/>
            <a:ext cx="3231833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55711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 Subsets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 Definition</a:t>
            </a:r>
            <a:r>
              <a:rPr lang="en-US" dirty="0"/>
              <a:t>: If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/>
              <a:t>, but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/>
                <a:ea typeface="Cambria Math"/>
              </a:rPr>
              <a:t>≠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/>
              <a:t>, then we say </a:t>
            </a:r>
            <a:r>
              <a:rPr lang="en-US" i="1" dirty="0"/>
              <a:t>A</a:t>
            </a:r>
            <a:r>
              <a:rPr lang="en-US" dirty="0"/>
              <a:t> is a </a:t>
            </a:r>
            <a:r>
              <a:rPr lang="en-US" i="1" dirty="0"/>
              <a:t>proper subset </a:t>
            </a:r>
            <a:r>
              <a:rPr lang="en-US" dirty="0"/>
              <a:t>of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⊂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 If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⊂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 then</a:t>
            </a:r>
          </a:p>
          <a:p>
            <a:pPr>
              <a:buNone/>
            </a:pPr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  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is true. </a:t>
            </a:r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    Venn Diagram</a:t>
            </a:r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667000" y="3200401"/>
            <a:ext cx="6755130" cy="3829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48200" y="4495800"/>
            <a:ext cx="396240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onstant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1000" y="44958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U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4648200"/>
            <a:ext cx="12192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onstanti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553200" y="5105400"/>
            <a:ext cx="4572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onstant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3200" y="4724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5105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74252774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Cardinality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   Definition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If there are exactly n distinct elements in </a:t>
            </a:r>
            <a:r>
              <a:rPr lang="en-US" i="1" dirty="0"/>
              <a:t>S </a:t>
            </a:r>
            <a:r>
              <a:rPr lang="en-US" dirty="0"/>
              <a:t>where </a:t>
            </a:r>
            <a:r>
              <a:rPr lang="en-US" i="1" dirty="0"/>
              <a:t>n</a:t>
            </a:r>
            <a:r>
              <a:rPr lang="en-US" dirty="0"/>
              <a:t> is a nonnegative integer, we say that </a:t>
            </a:r>
            <a:r>
              <a:rPr lang="en-US" i="1" dirty="0"/>
              <a:t>S</a:t>
            </a:r>
            <a:r>
              <a:rPr lang="en-US" dirty="0"/>
              <a:t> is </a:t>
            </a:r>
            <a:r>
              <a:rPr lang="en-US" i="1" dirty="0"/>
              <a:t>finite</a:t>
            </a:r>
            <a:r>
              <a:rPr lang="en-US" dirty="0"/>
              <a:t>. Otherwise it is </a:t>
            </a:r>
            <a:r>
              <a:rPr lang="en-US" i="1" dirty="0"/>
              <a:t>infinite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b="1" dirty="0"/>
              <a:t>   Definition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The  </a:t>
            </a:r>
            <a:r>
              <a:rPr lang="en-US" i="1" dirty="0"/>
              <a:t>cardinality</a:t>
            </a:r>
            <a:r>
              <a:rPr lang="en-US" dirty="0"/>
              <a:t> of  a finite set </a:t>
            </a:r>
            <a:r>
              <a:rPr lang="en-US" i="1" dirty="0"/>
              <a:t>A, </a:t>
            </a:r>
            <a:r>
              <a:rPr lang="en-US" dirty="0"/>
              <a:t>denoted by |</a:t>
            </a:r>
            <a:r>
              <a:rPr lang="en-US" i="1" dirty="0"/>
              <a:t>A</a:t>
            </a:r>
            <a:r>
              <a:rPr lang="en-US" dirty="0"/>
              <a:t>|,  is the number of (distinct) elements of </a:t>
            </a:r>
            <a:r>
              <a:rPr lang="en-US" i="1" dirty="0"/>
              <a:t>A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|ø|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Let S be the letters of the English alphabet. Then |</a:t>
            </a:r>
            <a:r>
              <a:rPr lang="en-US" i="1" dirty="0"/>
              <a:t>S</a:t>
            </a:r>
            <a:r>
              <a:rPr lang="en-US" dirty="0"/>
              <a:t>|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26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|{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dirty="0"/>
              <a:t>}|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|{ø}|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set of integers is infinite.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58585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   Definition</a:t>
            </a:r>
            <a:r>
              <a:rPr lang="en-US" dirty="0"/>
              <a:t>: The set of all subsets 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dirty="0">
                <a:latin typeface="Brush Script MT" pitchFamily="66" charset="0"/>
              </a:rPr>
              <a:t>P</a:t>
            </a:r>
            <a:r>
              <a:rPr lang="en-US" b="1" dirty="0"/>
              <a:t>(</a:t>
            </a:r>
            <a:r>
              <a:rPr lang="en-US" i="1" dirty="0"/>
              <a:t>A</a:t>
            </a:r>
            <a:r>
              <a:rPr lang="en-US" b="1" dirty="0"/>
              <a:t>)</a:t>
            </a:r>
            <a:r>
              <a:rPr lang="en-US" dirty="0"/>
              <a:t>, is called the </a:t>
            </a:r>
            <a:r>
              <a:rPr lang="en-US" i="1" dirty="0"/>
              <a:t>power set </a:t>
            </a:r>
            <a:r>
              <a:rPr lang="en-US" dirty="0"/>
              <a:t>of </a:t>
            </a:r>
            <a:r>
              <a:rPr lang="en-US" i="1" dirty="0"/>
              <a:t>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b="1" dirty="0"/>
              <a:t>Example</a:t>
            </a:r>
            <a:r>
              <a:rPr lang="en-US" dirty="0"/>
              <a:t>: If </a:t>
            </a:r>
            <a:r>
              <a:rPr lang="en-US" i="1" dirty="0"/>
              <a:t>A</a:t>
            </a:r>
            <a:r>
              <a:rPr lang="en-US" dirty="0"/>
              <a:t> = {</a:t>
            </a:r>
            <a:r>
              <a:rPr lang="en-US" dirty="0" err="1"/>
              <a:t>a,b</a:t>
            </a:r>
            <a:r>
              <a:rPr lang="en-US" dirty="0"/>
              <a:t>} then </a:t>
            </a:r>
          </a:p>
          <a:p>
            <a:pPr>
              <a:buNone/>
            </a:pPr>
            <a:r>
              <a:rPr lang="en-US" dirty="0"/>
              <a:t>              </a:t>
            </a:r>
            <a:r>
              <a:rPr lang="en-US" dirty="0">
                <a:latin typeface="Brush Script MT" pitchFamily="66" charset="0"/>
              </a:rPr>
              <a:t>P</a:t>
            </a:r>
            <a:r>
              <a:rPr lang="en-US" dirty="0"/>
              <a:t>(A) = {ø, {a},{b},{</a:t>
            </a:r>
            <a:r>
              <a:rPr lang="en-US" dirty="0" err="1"/>
              <a:t>a,b</a:t>
            </a:r>
            <a:r>
              <a:rPr lang="en-US" dirty="0"/>
              <a:t>}}</a:t>
            </a:r>
          </a:p>
          <a:p>
            <a:pPr>
              <a:buNone/>
            </a:pPr>
            <a:r>
              <a:rPr lang="en-US" dirty="0"/>
              <a:t>              </a:t>
            </a:r>
            <a:r>
              <a:rPr lang="en-US" dirty="0">
                <a:latin typeface="Brush Script MT" pitchFamily="66" charset="0"/>
              </a:rPr>
              <a:t>P(</a:t>
            </a:r>
            <a:r>
              <a:rPr lang="en-US" dirty="0"/>
              <a:t>ø)={ø}</a:t>
            </a:r>
          </a:p>
          <a:p>
            <a:pPr>
              <a:buNone/>
            </a:pPr>
            <a:r>
              <a:rPr lang="en-US" dirty="0"/>
              <a:t>              P({ø})={ø,{ø}}</a:t>
            </a:r>
          </a:p>
          <a:p>
            <a:pPr>
              <a:buNone/>
            </a:pPr>
            <a:r>
              <a:rPr lang="en-US" dirty="0"/>
              <a:t>              P({ø,{ø}})={ø,{ø},{{ø}},{ø,{ø}}} and so on…</a:t>
            </a:r>
          </a:p>
          <a:p>
            <a:r>
              <a:rPr lang="en-US" dirty="0"/>
              <a:t>If a set has </a:t>
            </a:r>
            <a:r>
              <a:rPr lang="en-US" i="1" dirty="0"/>
              <a:t>n</a:t>
            </a:r>
            <a:r>
              <a:rPr lang="en-US" dirty="0"/>
              <a:t> elements, then the cardinality of the power set is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dirty="0"/>
              <a:t>ⁿ</a:t>
            </a:r>
            <a:r>
              <a:rPr lang="en-US" dirty="0"/>
              <a:t>. </a:t>
            </a:r>
            <a:r>
              <a:rPr lang="en-US" b="1" i="1" dirty="0"/>
              <a:t>How to prove</a:t>
            </a:r>
          </a:p>
        </p:txBody>
      </p:sp>
    </p:spTree>
    <p:extLst>
      <p:ext uri="{BB962C8B-B14F-4D97-AF65-F5344CB8AC3E}">
        <p14:creationId xmlns:p14="http://schemas.microsoft.com/office/powerpoint/2010/main" val="3675351579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</p:spTree>
    <p:extLst>
      <p:ext uri="{BB962C8B-B14F-4D97-AF65-F5344CB8AC3E}">
        <p14:creationId xmlns:p14="http://schemas.microsoft.com/office/powerpoint/2010/main" val="3552353223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Operations</a:t>
            </a:r>
          </a:p>
          <a:p>
            <a:pPr lvl="1"/>
            <a:r>
              <a:rPr lang="en-US" dirty="0"/>
              <a:t>Union</a:t>
            </a:r>
          </a:p>
          <a:p>
            <a:pPr lvl="1"/>
            <a:r>
              <a:rPr lang="en-US" dirty="0"/>
              <a:t>Intersection</a:t>
            </a:r>
          </a:p>
          <a:p>
            <a:pPr lvl="1"/>
            <a:r>
              <a:rPr lang="en-US" dirty="0"/>
              <a:t>Complementation</a:t>
            </a:r>
          </a:p>
          <a:p>
            <a:pPr lvl="1"/>
            <a:r>
              <a:rPr lang="en-US" dirty="0"/>
              <a:t>Difference</a:t>
            </a:r>
          </a:p>
          <a:p>
            <a:r>
              <a:rPr lang="en-US" dirty="0"/>
              <a:t>More on Set Cardinality</a:t>
            </a:r>
          </a:p>
          <a:p>
            <a:r>
              <a:rPr lang="en-US" dirty="0"/>
              <a:t>Set Identities</a:t>
            </a:r>
          </a:p>
          <a:p>
            <a:r>
              <a:rPr lang="en-US" dirty="0"/>
              <a:t>Proving Identities</a:t>
            </a:r>
          </a:p>
          <a:p>
            <a:r>
              <a:rPr lang="en-US" dirty="0"/>
              <a:t>Membership Tables</a:t>
            </a:r>
          </a:p>
        </p:txBody>
      </p:sp>
    </p:spTree>
    <p:extLst>
      <p:ext uri="{BB962C8B-B14F-4D97-AF65-F5344CB8AC3E}">
        <p14:creationId xmlns:p14="http://schemas.microsoft.com/office/powerpoint/2010/main" val="1280049465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i="1" dirty="0"/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∪ </a:t>
            </a:r>
            <a:r>
              <a:rPr lang="en-US" i="1" dirty="0">
                <a:ea typeface="Cambria Math"/>
              </a:rPr>
              <a:t>B,</a:t>
            </a:r>
            <a:r>
              <a:rPr lang="en-US" i="1" dirty="0"/>
              <a:t> </a:t>
            </a:r>
            <a:r>
              <a:rPr lang="en-US" dirty="0"/>
              <a:t> is the set: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 What is  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1,2,3} 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∪ {3, 4, 5}</a:t>
            </a:r>
            <a:r>
              <a:rPr lang="en-US" dirty="0"/>
              <a:t>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</a:t>
            </a:r>
            <a:r>
              <a:rPr lang="en-US" b="1" dirty="0"/>
              <a:t>Solution</a:t>
            </a:r>
            <a:r>
              <a:rPr lang="en-US" dirty="0"/>
              <a:t>: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1,2,3,4,5}</a:t>
            </a:r>
            <a:endParaRPr lang="en-US" dirty="0"/>
          </a:p>
          <a:p>
            <a:pPr>
              <a:buNone/>
            </a:pPr>
            <a:r>
              <a:rPr lang="en-US" dirty="0"/>
              <a:t>             </a:t>
            </a:r>
            <a:r>
              <a:rPr lang="en-US" sz="2400" dirty="0"/>
              <a:t>                                   </a:t>
            </a:r>
            <a:endParaRPr lang="en-US" dirty="0"/>
          </a:p>
          <a:p>
            <a:pPr>
              <a:buNone/>
            </a:pPr>
            <a:r>
              <a:rPr lang="en-US" dirty="0"/>
              <a:t>   </a:t>
            </a: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886201" y="2971801"/>
            <a:ext cx="3026093" cy="382905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7086600" y="4724400"/>
            <a:ext cx="3429000" cy="1447800"/>
            <a:chOff x="5562600" y="4724400"/>
            <a:chExt cx="3429000" cy="1447800"/>
          </a:xfrm>
        </p:grpSpPr>
        <p:sp>
          <p:nvSpPr>
            <p:cNvPr id="11" name="TextBox 10"/>
            <p:cNvSpPr txBox="1"/>
            <p:nvPr/>
          </p:nvSpPr>
          <p:spPr>
            <a:xfrm>
              <a:off x="8153400" y="48006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prstClr val="black"/>
                  </a:solidFill>
                  <a:latin typeface="Constantia"/>
                </a:rPr>
                <a:t>U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5562600" y="4724400"/>
              <a:ext cx="2971800" cy="1447800"/>
              <a:chOff x="5562600" y="4724400"/>
              <a:chExt cx="2971800" cy="144780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5562600" y="4724400"/>
                <a:ext cx="2971800" cy="1447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onstantia"/>
                </a:endParaRPr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6096000" y="5029200"/>
                <a:ext cx="1905000" cy="990600"/>
                <a:chOff x="6096000" y="5029200"/>
                <a:chExt cx="1905000" cy="990600"/>
              </a:xfrm>
              <a:gradFill>
                <a:gsLst>
                  <a:gs pos="0">
                    <a:schemeClr val="accent1">
                      <a:tint val="66000"/>
                      <a:satMod val="160000"/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grpSpPr>
            <p:sp>
              <p:nvSpPr>
                <p:cNvPr id="13" name="Oval 12"/>
                <p:cNvSpPr/>
                <p:nvPr/>
              </p:nvSpPr>
              <p:spPr>
                <a:xfrm>
                  <a:off x="6096000" y="5029200"/>
                  <a:ext cx="1219200" cy="990600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  <a:latin typeface="Constantia"/>
                  </a:endParaRPr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>
                  <a:off x="6781800" y="5029200"/>
                  <a:ext cx="1219200" cy="990600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  <a:latin typeface="Constantia"/>
                  </a:endParaRPr>
                </a:p>
              </p:txBody>
            </p:sp>
          </p:grpSp>
        </p:grpSp>
        <p:sp>
          <p:nvSpPr>
            <p:cNvPr id="17" name="TextBox 16"/>
            <p:cNvSpPr txBox="1"/>
            <p:nvPr/>
          </p:nvSpPr>
          <p:spPr>
            <a:xfrm>
              <a:off x="6248400" y="51816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prstClr val="black"/>
                  </a:solidFill>
                  <a:latin typeface="Constantia"/>
                </a:rPr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67600" y="52578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prstClr val="black"/>
                  </a:solidFill>
                  <a:latin typeface="Constantia"/>
                </a:rPr>
                <a:t>B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239000" y="42672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Venn Diagram for </a:t>
            </a:r>
            <a:r>
              <a:rPr lang="en-US" i="1" dirty="0">
                <a:solidFill>
                  <a:prstClr val="black"/>
                </a:solidFill>
                <a:latin typeface="Constantia"/>
              </a:rPr>
              <a:t>A</a:t>
            </a:r>
            <a:r>
              <a:rPr lang="en-US" dirty="0">
                <a:solidFill>
                  <a:prstClr val="black"/>
                </a:solidFill>
                <a:latin typeface="Cambria Math"/>
                <a:ea typeface="Cambria Math"/>
              </a:rPr>
              <a:t> ∪ </a:t>
            </a:r>
            <a:r>
              <a:rPr lang="en-US" i="1" dirty="0">
                <a:solidFill>
                  <a:prstClr val="black"/>
                </a:solidFill>
                <a:latin typeface="Cambria Math"/>
                <a:ea typeface="Cambria Math"/>
              </a:rPr>
              <a:t>B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730754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 The </a:t>
            </a:r>
            <a:r>
              <a:rPr lang="en-US" i="1" dirty="0"/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  </a:t>
            </a:r>
            <a:r>
              <a:rPr lang="en-US" i="1" dirty="0">
                <a:ea typeface="Cambria Math" pitchFamily="18" charset="0"/>
              </a:rPr>
              <a:t>A </a:t>
            </a:r>
            <a:r>
              <a:rPr lang="en-US" dirty="0">
                <a:latin typeface="Cambria Math"/>
                <a:ea typeface="Cambria Math"/>
              </a:rPr>
              <a:t>∩ </a:t>
            </a:r>
            <a:r>
              <a:rPr lang="en-US" i="1" dirty="0">
                <a:ea typeface="Cambria Math"/>
              </a:rPr>
              <a:t>B,</a:t>
            </a:r>
            <a:r>
              <a:rPr lang="en-US" dirty="0"/>
              <a:t>  is</a:t>
            </a:r>
          </a:p>
          <a:p>
            <a:endParaRPr lang="en-US" dirty="0"/>
          </a:p>
          <a:p>
            <a:r>
              <a:rPr lang="en-US" dirty="0"/>
              <a:t>Note if the intersection is empty, then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i="1" dirty="0"/>
              <a:t>B</a:t>
            </a:r>
            <a:r>
              <a:rPr lang="en-US" dirty="0"/>
              <a:t> are said to be </a:t>
            </a:r>
            <a:r>
              <a:rPr lang="en-US" i="1" dirty="0"/>
              <a:t>disjoint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  <a:r>
              <a:rPr lang="en-US" dirty="0"/>
              <a:t>: What is?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{1,2,3} ∩ {3,4,5} ? 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    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Solution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  {3}</a:t>
            </a:r>
          </a:p>
          <a:p>
            <a:r>
              <a:rPr lang="en-US" b="1" dirty="0"/>
              <a:t>Example: </a:t>
            </a:r>
            <a:r>
              <a:rPr lang="en-US" dirty="0"/>
              <a:t>What is?  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        {1,2,3} ∩ {4,5,6} ?    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Solution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dirty="0">
                <a:latin typeface="Cambria Math"/>
                <a:ea typeface="Cambria Math"/>
              </a:rPr>
              <a:t>∅</a:t>
            </a: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025349" y="2527853"/>
            <a:ext cx="3026093" cy="382905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7239000" y="4724400"/>
            <a:ext cx="3429000" cy="1447800"/>
            <a:chOff x="5715000" y="4724400"/>
            <a:chExt cx="3429000" cy="1447800"/>
          </a:xfrm>
        </p:grpSpPr>
        <p:sp>
          <p:nvSpPr>
            <p:cNvPr id="23" name="Oval 22"/>
            <p:cNvSpPr/>
            <p:nvPr/>
          </p:nvSpPr>
          <p:spPr>
            <a:xfrm>
              <a:off x="6934200" y="5105400"/>
              <a:ext cx="533400" cy="83820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  <p:grpSp>
          <p:nvGrpSpPr>
            <p:cNvPr id="27" name="Group 20"/>
            <p:cNvGrpSpPr/>
            <p:nvPr/>
          </p:nvGrpSpPr>
          <p:grpSpPr>
            <a:xfrm>
              <a:off x="5715000" y="4724400"/>
              <a:ext cx="2971800" cy="1447800"/>
              <a:chOff x="5715000" y="4724400"/>
              <a:chExt cx="2971800" cy="1447800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5715000" y="4724400"/>
                <a:ext cx="2971800" cy="1447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onstantia"/>
                </a:endParaRPr>
              </a:p>
            </p:txBody>
          </p:sp>
          <p:grpSp>
            <p:nvGrpSpPr>
              <p:cNvPr id="33" name="Group 19"/>
              <p:cNvGrpSpPr/>
              <p:nvPr/>
            </p:nvGrpSpPr>
            <p:grpSpPr>
              <a:xfrm>
                <a:off x="6248400" y="5029200"/>
                <a:ext cx="1905000" cy="990600"/>
                <a:chOff x="6248400" y="5029200"/>
                <a:chExt cx="1905000" cy="990600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6248400" y="5029200"/>
                  <a:ext cx="1219200" cy="9906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  <a:latin typeface="Constantia"/>
                  </a:endParaRPr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6934200" y="5029200"/>
                  <a:ext cx="1219200" cy="9906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  <a:latin typeface="Constantia"/>
                  </a:endParaRPr>
                </a:p>
              </p:txBody>
            </p:sp>
          </p:grpSp>
        </p:grpSp>
        <p:grpSp>
          <p:nvGrpSpPr>
            <p:cNvPr id="28" name="Group 21"/>
            <p:cNvGrpSpPr/>
            <p:nvPr/>
          </p:nvGrpSpPr>
          <p:grpSpPr>
            <a:xfrm>
              <a:off x="6400800" y="4800600"/>
              <a:ext cx="2743200" cy="826532"/>
              <a:chOff x="6400800" y="4800600"/>
              <a:chExt cx="2743200" cy="826532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8305800" y="4800600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prstClr val="black"/>
                    </a:solidFill>
                    <a:latin typeface="Constantia"/>
                  </a:rPr>
                  <a:t>U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400800" y="51816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prstClr val="black"/>
                    </a:solidFill>
                    <a:latin typeface="Constantia"/>
                  </a:rPr>
                  <a:t>A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7620000" y="52578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prstClr val="black"/>
                    </a:solidFill>
                    <a:latin typeface="Constantia"/>
                  </a:rPr>
                  <a:t>B</a:t>
                </a:r>
              </a:p>
            </p:txBody>
          </p:sp>
        </p:grpSp>
      </p:grpSp>
      <p:sp>
        <p:nvSpPr>
          <p:cNvPr id="16" name="TextBox 15"/>
          <p:cNvSpPr txBox="1"/>
          <p:nvPr/>
        </p:nvSpPr>
        <p:spPr>
          <a:xfrm>
            <a:off x="7696200" y="42672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Venn Diagram</a:t>
            </a:r>
            <a:r>
              <a:rPr lang="en-US" dirty="0">
                <a:solidFill>
                  <a:prstClr val="black"/>
                </a:solidFill>
                <a:latin typeface="Cambria Math"/>
                <a:ea typeface="Cambria Math"/>
              </a:rPr>
              <a:t>  for </a:t>
            </a:r>
            <a:r>
              <a:rPr lang="en-US" i="1" dirty="0">
                <a:solidFill>
                  <a:prstClr val="black"/>
                </a:solidFill>
                <a:latin typeface="Constantia"/>
                <a:ea typeface="Cambria Math"/>
              </a:rPr>
              <a:t>A</a:t>
            </a:r>
            <a:r>
              <a:rPr lang="en-US" i="1" dirty="0">
                <a:solidFill>
                  <a:prstClr val="black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solidFill>
                  <a:prstClr val="black"/>
                </a:solidFill>
                <a:latin typeface="Cambria Math"/>
                <a:ea typeface="Cambria Math"/>
              </a:rPr>
              <a:t>∩</a:t>
            </a:r>
            <a:r>
              <a:rPr lang="en-US" i="1" dirty="0">
                <a:solidFill>
                  <a:prstClr val="black"/>
                </a:solidFill>
                <a:latin typeface="Constantia"/>
                <a:ea typeface="Cambria Math"/>
              </a:rPr>
              <a:t>B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624248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 Definition</a:t>
            </a:r>
            <a:r>
              <a:rPr lang="en-US" dirty="0"/>
              <a:t>: If </a:t>
            </a:r>
            <a:r>
              <a:rPr lang="en-US" i="1" dirty="0"/>
              <a:t>A</a:t>
            </a:r>
            <a:r>
              <a:rPr lang="en-US" dirty="0"/>
              <a:t> is a set, then the complement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i="1" dirty="0"/>
              <a:t>Ā</a:t>
            </a:r>
            <a:r>
              <a:rPr lang="en-US" dirty="0"/>
              <a:t> is the set 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i="1" dirty="0">
                <a:ea typeface="Cambria Math" pitchFamily="18" charset="0"/>
              </a:rPr>
              <a:t>A</a:t>
            </a:r>
          </a:p>
          <a:p>
            <a:pPr>
              <a:buNone/>
            </a:pPr>
            <a:r>
              <a:rPr lang="en-US" dirty="0"/>
              <a:t>                       </a:t>
            </a:r>
            <a:r>
              <a:rPr lang="en-US" i="1" dirty="0">
                <a:ea typeface="Cambria Math" pitchFamily="18" charset="0"/>
              </a:rPr>
              <a:t>Ā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∈ </a:t>
            </a:r>
            <a:r>
              <a:rPr lang="en-US" i="1" dirty="0">
                <a:ea typeface="Cambria Math"/>
              </a:rPr>
              <a:t>U</a:t>
            </a:r>
            <a:r>
              <a:rPr lang="en-US" dirty="0">
                <a:latin typeface="Cambria Math"/>
                <a:ea typeface="Cambria Math"/>
              </a:rPr>
              <a:t> |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∉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}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dirty="0"/>
              <a:t>  (The complement of A is sometimes denoted by </a:t>
            </a:r>
            <a:r>
              <a:rPr lang="en-US" i="1" dirty="0"/>
              <a:t>A</a:t>
            </a:r>
            <a:r>
              <a:rPr lang="en-US" i="1" baseline="30000" dirty="0"/>
              <a:t>c </a:t>
            </a:r>
            <a:r>
              <a:rPr lang="en-US" i="1" dirty="0"/>
              <a:t>.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b="1" dirty="0"/>
              <a:t>  Example</a:t>
            </a:r>
            <a:r>
              <a:rPr lang="en-US" dirty="0"/>
              <a:t>: If </a:t>
            </a:r>
            <a:r>
              <a:rPr lang="en-US" i="1" dirty="0"/>
              <a:t>U</a:t>
            </a:r>
            <a:r>
              <a:rPr lang="en-US" dirty="0"/>
              <a:t> is the positive integers less than 100, what is the complement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/>
                <a:ea typeface="Cambria Math"/>
              </a:rPr>
              <a:t> |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&gt; 70} </a:t>
            </a:r>
          </a:p>
          <a:p>
            <a:pPr>
              <a:buNone/>
            </a:pPr>
            <a:r>
              <a:rPr lang="en-US" dirty="0">
                <a:latin typeface="Cambria Math"/>
                <a:ea typeface="Cambria Math"/>
              </a:rPr>
              <a:t>            Solution: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|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≤ 70} 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086600" y="5029200"/>
            <a:ext cx="3733800" cy="1676400"/>
            <a:chOff x="5562600" y="4495800"/>
            <a:chExt cx="3733800" cy="1676400"/>
          </a:xfrm>
        </p:grpSpPr>
        <p:grpSp>
          <p:nvGrpSpPr>
            <p:cNvPr id="27" name="Group 19"/>
            <p:cNvGrpSpPr/>
            <p:nvPr/>
          </p:nvGrpSpPr>
          <p:grpSpPr>
            <a:xfrm>
              <a:off x="5562600" y="4724400"/>
              <a:ext cx="2971800" cy="1447800"/>
              <a:chOff x="5562600" y="4724400"/>
              <a:chExt cx="2971800" cy="144780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5562600" y="4724400"/>
                <a:ext cx="2971800" cy="14478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onstantia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096000" y="5029200"/>
                <a:ext cx="1219200" cy="9906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onstantia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6248400" y="51816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prstClr val="black"/>
                  </a:solidFill>
                  <a:latin typeface="Constantia"/>
                </a:rPr>
                <a:t>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458200" y="44958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prstClr val="black"/>
                  </a:solidFill>
                  <a:latin typeface="Constantia"/>
                </a:rPr>
                <a:t>U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781800" y="47244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Venn Diagram for Complement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2800" y="5410200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  <a:ea typeface="Cambria Math" pitchFamily="18" charset="0"/>
              </a:rPr>
              <a:t>Ā</a:t>
            </a:r>
            <a:endParaRPr lang="en-US" dirty="0">
              <a:solidFill>
                <a:prstClr val="black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3794915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Let 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i="1" dirty="0"/>
              <a:t>difference</a:t>
            </a:r>
            <a:r>
              <a:rPr lang="en-US" dirty="0"/>
              <a:t> of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i="1" dirty="0"/>
              <a:t>A</a:t>
            </a:r>
            <a:r>
              <a:rPr lang="en-US" dirty="0"/>
              <a:t> – </a:t>
            </a:r>
            <a:r>
              <a:rPr lang="en-US" i="1" dirty="0"/>
              <a:t>B</a:t>
            </a:r>
            <a:r>
              <a:rPr lang="en-US" dirty="0"/>
              <a:t>, is the set containing the elements of </a:t>
            </a:r>
            <a:r>
              <a:rPr lang="en-US" i="1" dirty="0"/>
              <a:t>A</a:t>
            </a:r>
            <a:r>
              <a:rPr lang="en-US" dirty="0"/>
              <a:t> that are not in </a:t>
            </a:r>
            <a:r>
              <a:rPr lang="en-US" i="1" dirty="0"/>
              <a:t>B</a:t>
            </a:r>
            <a:r>
              <a:rPr lang="en-US" dirty="0"/>
              <a:t>. The difference of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is also called the complement of </a:t>
            </a:r>
            <a:r>
              <a:rPr lang="en-US" i="1" dirty="0"/>
              <a:t>B</a:t>
            </a:r>
            <a:r>
              <a:rPr lang="en-US" dirty="0"/>
              <a:t> with respect to </a:t>
            </a:r>
            <a:r>
              <a:rPr lang="en-US" i="1" dirty="0"/>
              <a:t>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               </a:t>
            </a:r>
            <a:r>
              <a:rPr lang="en-US" i="1" dirty="0"/>
              <a:t>A</a:t>
            </a:r>
            <a:r>
              <a:rPr lang="en-US" dirty="0"/>
              <a:t> – </a:t>
            </a:r>
            <a:r>
              <a:rPr lang="en-US" i="1" dirty="0"/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| </a:t>
            </a:r>
            <a:r>
              <a:rPr lang="en-US" i="1" dirty="0">
                <a:ea typeface="Cambria Math"/>
              </a:rPr>
              <a:t>x</a:t>
            </a:r>
            <a:r>
              <a:rPr lang="en-US" dirty="0">
                <a:latin typeface="Cambria Math"/>
                <a:ea typeface="Cambria Math"/>
              </a:rPr>
              <a:t> ∈ A </a:t>
            </a:r>
            <a:r>
              <a:rPr lang="en-US" dirty="0">
                <a:latin typeface="Cambria Math"/>
                <a:ea typeface="Cambria Math"/>
                <a:sym typeface="Symbol"/>
              </a:rPr>
              <a:t>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∉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  =  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∩</a:t>
            </a:r>
            <a:r>
              <a:rPr lang="en-US" b="1" dirty="0">
                <a:latin typeface="Cambria Math" pitchFamily="18" charset="0"/>
                <a:ea typeface="Cambria Math" pitchFamily="18" charset="0"/>
                <a:sym typeface="Symbol"/>
              </a:rPr>
              <a:t></a:t>
            </a:r>
            <a:r>
              <a:rPr lang="en-US" i="1" dirty="0">
                <a:ea typeface="Cambria Math" pitchFamily="18" charset="0"/>
                <a:sym typeface="Symbol"/>
              </a:rPr>
              <a:t>B</a:t>
            </a:r>
            <a:endParaRPr lang="en-US" i="1" dirty="0">
              <a:ea typeface="Cambria Math" pitchFamily="18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3429000" y="4953000"/>
            <a:ext cx="3429000" cy="1447800"/>
            <a:chOff x="5410200" y="4876800"/>
            <a:chExt cx="3429000" cy="1447800"/>
          </a:xfrm>
        </p:grpSpPr>
        <p:sp>
          <p:nvSpPr>
            <p:cNvPr id="29" name="Rectangle 28"/>
            <p:cNvSpPr/>
            <p:nvPr/>
          </p:nvSpPr>
          <p:spPr>
            <a:xfrm>
              <a:off x="5410200" y="4876800"/>
              <a:ext cx="2971800" cy="1447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943600" y="5181600"/>
              <a:ext cx="1219200" cy="9906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6629400" y="5181600"/>
              <a:ext cx="1219200" cy="990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01000" y="49530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nstantia"/>
                </a:rPr>
                <a:t>U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15000" y="51816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nstantia"/>
                </a:rPr>
                <a:t>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15200" y="54102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nstantia"/>
                </a:rPr>
                <a:t>B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629400" y="5257800"/>
              <a:ext cx="533400" cy="838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05600" y="495300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Venn Diagram</a:t>
            </a:r>
            <a:r>
              <a:rPr lang="en-US" dirty="0">
                <a:solidFill>
                  <a:prstClr val="black"/>
                </a:solidFill>
                <a:latin typeface="Cambria Math"/>
                <a:ea typeface="Cambria Math"/>
              </a:rPr>
              <a:t>  for </a:t>
            </a:r>
            <a:r>
              <a:rPr lang="en-US" i="1" dirty="0">
                <a:solidFill>
                  <a:prstClr val="black"/>
                </a:solidFill>
                <a:latin typeface="Cambria Math"/>
                <a:ea typeface="Cambria Math"/>
              </a:rPr>
              <a:t>A</a:t>
            </a:r>
            <a:r>
              <a:rPr lang="en-US" dirty="0">
                <a:solidFill>
                  <a:prstClr val="black"/>
                </a:solidFill>
                <a:latin typeface="Cambria Math"/>
                <a:ea typeface="Cambria Math"/>
              </a:rPr>
              <a:t> − </a:t>
            </a:r>
            <a:r>
              <a:rPr lang="en-US" i="1" dirty="0">
                <a:solidFill>
                  <a:prstClr val="black"/>
                </a:solidFill>
                <a:latin typeface="Cambria Math"/>
                <a:ea typeface="Cambria Math"/>
              </a:rPr>
              <a:t>B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539603258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Difference (</a:t>
            </a:r>
            <a:r>
              <a:rPr lang="en-US" i="1" dirty="0"/>
              <a:t>optional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Definition</a:t>
            </a:r>
            <a:r>
              <a:rPr lang="en-US" dirty="0"/>
              <a:t>: The </a:t>
            </a:r>
            <a:r>
              <a:rPr lang="en-US" i="1" dirty="0"/>
              <a:t>symmetric difference </a:t>
            </a:r>
            <a:r>
              <a:rPr lang="en-US" dirty="0"/>
              <a:t>of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, denoted by                   is the set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 Example</a:t>
            </a:r>
            <a:r>
              <a:rPr lang="en-US" dirty="0"/>
              <a:t>:</a:t>
            </a:r>
          </a:p>
          <a:p>
            <a:pPr lvl="1">
              <a:buNone/>
            </a:pPr>
            <a:r>
              <a:rPr lang="en-US" i="1" dirty="0">
                <a:ea typeface="Cambria Math" pitchFamily="18" charset="0"/>
              </a:rPr>
              <a:t>U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{0,1,2,3,4,5,6,7,8,9,10}  </a:t>
            </a:r>
          </a:p>
          <a:p>
            <a:pPr lvl="1">
              <a:buNone/>
            </a:pP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{1,2,3,4,5}  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={4,5,6,7,8}</a:t>
            </a:r>
          </a:p>
          <a:p>
            <a:pPr lvl="1">
              <a:buNone/>
            </a:pPr>
            <a:r>
              <a:rPr lang="en-US" dirty="0"/>
              <a:t>What is             :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 lvl="1"/>
            <a:r>
              <a:rPr lang="en-US" b="1" dirty="0">
                <a:ea typeface="Cambria Math" pitchFamily="18" charset="0"/>
              </a:rPr>
              <a:t>Solution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{1,2,3,6,7,8}</a:t>
            </a:r>
            <a:endParaRPr lang="en-US" dirty="0"/>
          </a:p>
          <a:p>
            <a:pPr lvl="1"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810000" y="3048001"/>
            <a:ext cx="3051810" cy="382905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114801" y="2438400"/>
            <a:ext cx="1025843" cy="30861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696201" y="3657601"/>
            <a:ext cx="854869" cy="257175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6477000" y="3581400"/>
            <a:ext cx="3493476" cy="2057400"/>
            <a:chOff x="4953000" y="3581400"/>
            <a:chExt cx="3493476" cy="2057400"/>
          </a:xfrm>
        </p:grpSpPr>
        <p:sp>
          <p:nvSpPr>
            <p:cNvPr id="10" name="Rectangle 9"/>
            <p:cNvSpPr/>
            <p:nvPr/>
          </p:nvSpPr>
          <p:spPr>
            <a:xfrm>
              <a:off x="4953000" y="3581400"/>
              <a:ext cx="3352800" cy="2057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486399" y="4191001"/>
              <a:ext cx="1312985" cy="130342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6172199" y="4191001"/>
              <a:ext cx="1312985" cy="130342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543799" y="4210725"/>
              <a:ext cx="902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nstantia"/>
                </a:rPr>
                <a:t>U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62600" y="4643862"/>
              <a:ext cx="410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nstantia"/>
                </a:rPr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58000" y="4643862"/>
              <a:ext cx="410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nstantia"/>
                </a:rPr>
                <a:t>B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6172199" y="4319336"/>
              <a:ext cx="574431" cy="110289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onstantia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162800" y="59436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Venn Diagram</a:t>
            </a:r>
          </a:p>
        </p:txBody>
      </p:sp>
      <p:cxnSp>
        <p:nvCxnSpPr>
          <p:cNvPr id="32" name="Straight Arrow Connector 31"/>
          <p:cNvCxnSpPr>
            <a:stCxn id="9" idx="2"/>
          </p:cNvCxnSpPr>
          <p:nvPr/>
        </p:nvCxnSpPr>
        <p:spPr>
          <a:xfrm rot="16200000" flipH="1">
            <a:off x="8114706" y="3923705"/>
            <a:ext cx="276225" cy="258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2"/>
          </p:cNvCxnSpPr>
          <p:nvPr/>
        </p:nvCxnSpPr>
        <p:spPr>
          <a:xfrm rot="5400000">
            <a:off x="7809907" y="3877271"/>
            <a:ext cx="276225" cy="3512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3618445" y="4742196"/>
            <a:ext cx="854869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130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/>
              <a:t>Example</a:t>
            </a:r>
            <a:r>
              <a:rPr lang="en-US" sz="2000" dirty="0"/>
              <a:t>: </a:t>
            </a:r>
            <a:r>
              <a:rPr lang="en-US" sz="2000" i="1" dirty="0"/>
              <a:t>U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0,1,2,3,4,5</a:t>
            </a:r>
            <a:r>
              <a:rPr lang="en-US" sz="2000" dirty="0"/>
              <a:t>,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6,7,8,9,10</a:t>
            </a:r>
            <a:r>
              <a:rPr lang="en-US" sz="2000" dirty="0"/>
              <a:t>} 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1,2,3,4,5</a:t>
            </a:r>
            <a:r>
              <a:rPr lang="en-US" sz="2000" dirty="0"/>
              <a:t>},    </a:t>
            </a:r>
            <a:r>
              <a:rPr lang="en-US" sz="2000" i="1" dirty="0"/>
              <a:t>B</a:t>
            </a:r>
            <a:r>
              <a:rPr lang="en-US" sz="2000" dirty="0"/>
              <a:t> ={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4,5,6,7,8</a:t>
            </a:r>
            <a:r>
              <a:rPr lang="en-US" sz="2000" dirty="0"/>
              <a:t>}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A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∪ </a:t>
            </a:r>
            <a:r>
              <a:rPr lang="en-US" sz="1600" i="1" dirty="0">
                <a:ea typeface="Cambria Math"/>
              </a:rPr>
              <a:t>B</a:t>
            </a:r>
            <a:r>
              <a:rPr lang="en-US" sz="1600" b="1" dirty="0">
                <a:latin typeface="Cambria Math"/>
                <a:ea typeface="Cambria Math"/>
              </a:rPr>
              <a:t>             </a:t>
            </a:r>
          </a:p>
          <a:p>
            <a:pPr marL="1010412" lvl="2" indent="-342900">
              <a:buNone/>
            </a:pP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b="1" dirty="0">
                <a:ea typeface="Cambria Math"/>
              </a:rPr>
              <a:t>Solution: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1,2,3,4,5</a:t>
            </a:r>
            <a:r>
              <a:rPr lang="en-US" sz="1600" dirty="0"/>
              <a:t>,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6,7,8</a:t>
            </a:r>
            <a:r>
              <a:rPr lang="en-US" sz="1600" dirty="0"/>
              <a:t>}</a:t>
            </a:r>
            <a:r>
              <a:rPr lang="en-US" sz="1600" b="1" dirty="0">
                <a:latin typeface="Cambria Math"/>
                <a:ea typeface="Cambria Math"/>
              </a:rPr>
              <a:t>    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A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∩ </a:t>
            </a:r>
            <a:r>
              <a:rPr lang="en-US" sz="1600" i="1" dirty="0">
                <a:ea typeface="Cambria Math"/>
              </a:rPr>
              <a:t>B</a:t>
            </a:r>
            <a:r>
              <a:rPr lang="en-US" sz="1600" b="1" dirty="0">
                <a:ea typeface="Cambria Math"/>
              </a:rPr>
              <a:t>            </a:t>
            </a:r>
          </a:p>
          <a:p>
            <a:pPr marL="1010412" lvl="2" indent="-342900">
              <a:buNone/>
            </a:pPr>
            <a:r>
              <a:rPr lang="en-US" sz="1600" b="1" dirty="0">
                <a:ea typeface="Cambria Math"/>
              </a:rPr>
              <a:t> Solution: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4,5</a:t>
            </a:r>
            <a:r>
              <a:rPr lang="en-US" sz="1600" dirty="0"/>
              <a:t>}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Ā</a:t>
            </a:r>
            <a:r>
              <a:rPr lang="en-US" sz="1600" b="1" dirty="0">
                <a:ea typeface="Cambria Math"/>
              </a:rPr>
              <a:t>                  </a:t>
            </a:r>
          </a:p>
          <a:p>
            <a:pPr marL="1010412" lvl="2" indent="-342900">
              <a:buNone/>
            </a:pPr>
            <a:r>
              <a:rPr lang="en-US" sz="1600" b="1" dirty="0">
                <a:ea typeface="Cambria Math"/>
              </a:rPr>
              <a:t>  Solution: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0,6,7,8,9,10</a:t>
            </a:r>
            <a:r>
              <a:rPr lang="en-US" sz="1600" dirty="0"/>
              <a:t>}</a:t>
            </a:r>
            <a:endParaRPr lang="en-US" sz="1600" b="1" dirty="0">
              <a:latin typeface="Cambria Math" pitchFamily="18" charset="0"/>
              <a:ea typeface="Cambria Math" pitchFamily="18" charset="0"/>
            </a:endParaRPr>
          </a:p>
          <a:p>
            <a:pPr marL="736092" lvl="1" indent="-342900">
              <a:buFont typeface="+mj-lt"/>
              <a:buAutoNum type="arabicPeriod"/>
            </a:pPr>
            <a:r>
              <a:rPr lang="en-US" sz="1600" dirty="0">
                <a:latin typeface="Cambria Math" pitchFamily="18" charset="0"/>
                <a:ea typeface="Cambria Math" pitchFamily="18" charset="0"/>
                <a:sym typeface="Symbol"/>
              </a:rPr>
              <a:t>                        </a:t>
            </a:r>
          </a:p>
          <a:p>
            <a:pPr marL="1010412" lvl="2" indent="-342900">
              <a:buNone/>
            </a:pPr>
            <a:r>
              <a:rPr lang="en-US" sz="1600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sz="1600" b="1" dirty="0">
                <a:ea typeface="Cambria Math"/>
              </a:rPr>
              <a:t>Solution:</a:t>
            </a:r>
            <a:r>
              <a:rPr lang="en-US" sz="1600" dirty="0"/>
              <a:t> 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0,1,2,3,9,10</a:t>
            </a:r>
            <a:r>
              <a:rPr lang="en-US" sz="1600" dirty="0"/>
              <a:t>}</a:t>
            </a:r>
            <a:endParaRPr lang="en-US" sz="1600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A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– </a:t>
            </a:r>
            <a:r>
              <a:rPr lang="en-US" sz="1600" i="1" dirty="0">
                <a:ea typeface="Cambria Math" pitchFamily="18" charset="0"/>
              </a:rPr>
              <a:t>B</a:t>
            </a:r>
            <a:r>
              <a:rPr lang="en-US" sz="1600" b="1" dirty="0">
                <a:ea typeface="Cambria Math"/>
              </a:rPr>
              <a:t>            </a:t>
            </a:r>
          </a:p>
          <a:p>
            <a:pPr marL="1010412" lvl="2" indent="-342900">
              <a:buNone/>
            </a:pPr>
            <a:r>
              <a:rPr lang="en-US" sz="1600" b="1" dirty="0">
                <a:ea typeface="Cambria Math"/>
              </a:rPr>
              <a:t>  Solution: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sz="1600" dirty="0"/>
              <a:t>} </a:t>
            </a:r>
            <a:endParaRPr lang="en-US" sz="1600" b="1" dirty="0">
              <a:latin typeface="Cambria Math" pitchFamily="18" charset="0"/>
              <a:ea typeface="Cambria Math" pitchFamily="18" charset="0"/>
            </a:endParaRP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B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– </a:t>
            </a:r>
            <a:r>
              <a:rPr lang="en-US" sz="1600" i="1" dirty="0">
                <a:ea typeface="Cambria Math" pitchFamily="18" charset="0"/>
              </a:rPr>
              <a:t>A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              </a:t>
            </a:r>
          </a:p>
          <a:p>
            <a:pPr marL="1010412" lvl="2" indent="-342900">
              <a:buNone/>
            </a:pPr>
            <a:r>
              <a:rPr lang="en-US" sz="1600" b="1" dirty="0">
                <a:ea typeface="Cambria Math"/>
              </a:rPr>
              <a:t>Solution: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6,7,8</a:t>
            </a:r>
            <a:r>
              <a:rPr lang="en-US" sz="1600" dirty="0"/>
              <a:t>} 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			</a:t>
            </a:r>
          </a:p>
          <a:p>
            <a:pPr lvl="1"/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pPr lvl="1"/>
            <a:endParaRPr lang="en-US" b="1" dirty="0">
              <a:latin typeface="Cambria Math"/>
              <a:ea typeface="Cambria Math"/>
            </a:endParaRPr>
          </a:p>
          <a:p>
            <a:pPr lvl="1"/>
            <a:endParaRPr lang="en-US" b="1" dirty="0">
              <a:latin typeface="Cambria Math"/>
              <a:ea typeface="Cambria Math"/>
            </a:endParaRP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819400" y="4114800"/>
            <a:ext cx="128016" cy="15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824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Domination laws</a:t>
            </a:r>
          </a:p>
          <a:p>
            <a:pPr>
              <a:buNone/>
            </a:pPr>
            <a:r>
              <a:rPr lang="en-US" dirty="0"/>
              <a:t>                                            </a:t>
            </a:r>
          </a:p>
          <a:p>
            <a:r>
              <a:rPr lang="en-US" dirty="0"/>
              <a:t>Idempotent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Complementation law</a:t>
            </a:r>
          </a:p>
        </p:txBody>
      </p:sp>
      <p:pic>
        <p:nvPicPr>
          <p:cNvPr id="4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3352801" y="2514600"/>
            <a:ext cx="1665923" cy="320040"/>
          </a:xfrm>
          <a:prstGeom prst="rect">
            <a:avLst/>
          </a:prstGeom>
        </p:spPr>
      </p:pic>
      <p:pic>
        <p:nvPicPr>
          <p:cNvPr id="5" name="Picture 4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5715001" y="2514600"/>
            <a:ext cx="1777365" cy="27432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3352801" y="3505200"/>
            <a:ext cx="1791653" cy="274320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5715001" y="3429000"/>
            <a:ext cx="1563053" cy="320040"/>
          </a:xfrm>
          <a:prstGeom prst="rect">
            <a:avLst/>
          </a:prstGeom>
        </p:spPr>
      </p:pic>
      <p:pic>
        <p:nvPicPr>
          <p:cNvPr id="8" name="Content Placeholder 3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3352800" y="4495800"/>
            <a:ext cx="1760220" cy="27432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5791200" y="4495800"/>
            <a:ext cx="1760220" cy="274320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/>
          <a:stretch>
            <a:fillRect/>
          </a:stretch>
        </p:blipFill>
        <p:spPr>
          <a:xfrm>
            <a:off x="4419600" y="5562600"/>
            <a:ext cx="1360170" cy="4943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91200" y="6172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Continued on next slide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 </a:t>
            </a:r>
            <a:r>
              <a:rPr lang="en-US" dirty="0">
                <a:solidFill>
                  <a:prstClr val="black"/>
                </a:solidFill>
                <a:latin typeface="Constantia"/>
                <a:sym typeface="Wingdings" pitchFamily="2" charset="2"/>
              </a:rPr>
              <a:t></a:t>
            </a:r>
            <a:endParaRPr lang="en-US" dirty="0">
              <a:solidFill>
                <a:prstClr val="black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2202989365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Commutative laws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</a:p>
          <a:p>
            <a:r>
              <a:rPr lang="en-US" dirty="0"/>
              <a:t>Associative laws</a:t>
            </a:r>
          </a:p>
          <a:p>
            <a:pPr>
              <a:buNone/>
            </a:pPr>
            <a:r>
              <a:rPr lang="en-US" dirty="0"/>
              <a:t>    </a:t>
            </a:r>
          </a:p>
          <a:p>
            <a:pPr>
              <a:buNone/>
            </a:pPr>
            <a:r>
              <a:rPr lang="en-US" dirty="0"/>
              <a:t>                                                                         </a:t>
            </a:r>
          </a:p>
          <a:p>
            <a:r>
              <a:rPr lang="en-US" dirty="0"/>
              <a:t>Distributive laws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1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3352801" y="2590800"/>
            <a:ext cx="2511743" cy="27432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6705601" y="2590800"/>
            <a:ext cx="2511743" cy="274320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2438401" y="3429001"/>
            <a:ext cx="4543425" cy="382905"/>
          </a:xfrm>
          <a:prstGeom prst="rect">
            <a:avLst/>
          </a:prstGeom>
        </p:spPr>
      </p:pic>
      <p:pic>
        <p:nvPicPr>
          <p:cNvPr id="14" name="Content Placeholder 3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2438401" y="3886201"/>
            <a:ext cx="4543425" cy="382905"/>
          </a:xfrm>
          <a:prstGeom prst="rect">
            <a:avLst/>
          </a:prstGeom>
        </p:spPr>
      </p:pic>
      <p:pic>
        <p:nvPicPr>
          <p:cNvPr id="15" name="Content Placeholder 3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2362200" y="4953001"/>
            <a:ext cx="5520690" cy="382905"/>
          </a:xfrm>
          <a:prstGeom prst="rect">
            <a:avLst/>
          </a:prstGeom>
        </p:spPr>
      </p:pic>
      <p:pic>
        <p:nvPicPr>
          <p:cNvPr id="16" name="Picture 15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2438400" y="5562601"/>
            <a:ext cx="5520690" cy="3829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6172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Continued on next slide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 </a:t>
            </a:r>
            <a:r>
              <a:rPr lang="en-US" dirty="0">
                <a:solidFill>
                  <a:prstClr val="black"/>
                </a:solidFill>
                <a:latin typeface="Constantia"/>
                <a:sym typeface="Wingdings" pitchFamily="2" charset="2"/>
              </a:rPr>
              <a:t></a:t>
            </a:r>
            <a:endParaRPr lang="en-US" dirty="0">
              <a:solidFill>
                <a:prstClr val="black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3091350780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 Morgan’s laws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                                 </a:t>
            </a:r>
          </a:p>
          <a:p>
            <a:r>
              <a:rPr lang="en-US" dirty="0"/>
              <a:t>Absorption laws</a:t>
            </a:r>
          </a:p>
          <a:p>
            <a:pPr>
              <a:buNone/>
            </a:pPr>
            <a:r>
              <a:rPr lang="en-US" dirty="0"/>
              <a:t>    </a:t>
            </a:r>
          </a:p>
          <a:p>
            <a:pPr>
              <a:buNone/>
            </a:pPr>
            <a:r>
              <a:rPr lang="en-US" dirty="0"/>
              <a:t>                                                                         </a:t>
            </a:r>
          </a:p>
          <a:p>
            <a:r>
              <a:rPr lang="en-US" dirty="0"/>
              <a:t>Complement laws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0" name="Content Placeholder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819401" y="2514601"/>
            <a:ext cx="2534603" cy="328613"/>
          </a:xfrm>
          <a:prstGeom prst="rect">
            <a:avLst/>
          </a:prstGeom>
        </p:spPr>
      </p:pic>
      <p:pic>
        <p:nvPicPr>
          <p:cNvPr id="17" name="Picture 1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6096001" y="2514601"/>
            <a:ext cx="2534603" cy="328613"/>
          </a:xfrm>
          <a:prstGeom prst="rect">
            <a:avLst/>
          </a:prstGeom>
        </p:spPr>
      </p:pic>
      <p:pic>
        <p:nvPicPr>
          <p:cNvPr id="18" name="Content Placeholder 3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2514601" y="4038601"/>
            <a:ext cx="2786063" cy="382905"/>
          </a:xfrm>
          <a:prstGeom prst="rect">
            <a:avLst/>
          </a:prstGeom>
        </p:spPr>
      </p:pic>
      <p:pic>
        <p:nvPicPr>
          <p:cNvPr id="19" name="Picture 18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5791201" y="4038601"/>
            <a:ext cx="2786063" cy="382905"/>
          </a:xfrm>
          <a:prstGeom prst="rect">
            <a:avLst/>
          </a:prstGeom>
        </p:spPr>
      </p:pic>
      <p:pic>
        <p:nvPicPr>
          <p:cNvPr id="20" name="Picture 19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2819400" y="5562601"/>
            <a:ext cx="1774508" cy="328613"/>
          </a:xfrm>
          <a:prstGeom prst="rect">
            <a:avLst/>
          </a:prstGeom>
        </p:spPr>
      </p:pic>
      <p:pic>
        <p:nvPicPr>
          <p:cNvPr id="21" name="Picture 20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6019800" y="5562601"/>
            <a:ext cx="1657350" cy="35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64465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Set Identities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dirty="0"/>
              <a:t>Different ways to prove set identities: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Prove that each set (side of the identity) is a subset of the other.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Use set builder notation and propositional logic.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dirty="0"/>
              <a:t>Membership Tables: Verify that elements in the same combination of sets always either belong or do not belong to the same side of the identity.  Use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to indicate it is in the set and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to indicate that it is not.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67085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Proof of Second De Morgan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Prove that</a:t>
            </a:r>
          </a:p>
          <a:p>
            <a:pPr>
              <a:buNone/>
            </a:pPr>
            <a:r>
              <a:rPr lang="en-US" b="1" dirty="0"/>
              <a:t>Solution</a:t>
            </a:r>
            <a:r>
              <a:rPr lang="en-US" dirty="0"/>
              <a:t>:   We prove this identity by showing that:</a:t>
            </a:r>
          </a:p>
          <a:p>
            <a:pPr marL="514350" indent="-514350">
              <a:buNone/>
            </a:pPr>
            <a:r>
              <a:rPr lang="en-US" dirty="0"/>
              <a:t>  </a:t>
            </a:r>
          </a:p>
          <a:p>
            <a:pPr marL="514350" indent="-514350">
              <a:buNone/>
            </a:pPr>
            <a:r>
              <a:rPr lang="en-US" dirty="0"/>
              <a:t>        1)                                          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r>
              <a:rPr lang="en-US" dirty="0"/>
              <a:t> and</a:t>
            </a:r>
          </a:p>
          <a:p>
            <a:pPr marL="514350" indent="-514350">
              <a:buNone/>
            </a:pPr>
            <a:r>
              <a:rPr lang="en-US" dirty="0"/>
              <a:t>       2)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9" name="Picture 8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5486401" y="2057401"/>
            <a:ext cx="2534603" cy="32861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429001" y="4876800"/>
            <a:ext cx="2534603" cy="377190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315818" y="3442812"/>
            <a:ext cx="2534603" cy="377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38600" y="6172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Continued on next slide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 </a:t>
            </a:r>
            <a:r>
              <a:rPr lang="en-US" dirty="0">
                <a:solidFill>
                  <a:prstClr val="black"/>
                </a:solidFill>
                <a:latin typeface="Constantia"/>
                <a:sym typeface="Wingdings" pitchFamily="2" charset="2"/>
              </a:rPr>
              <a:t></a:t>
            </a:r>
            <a:endParaRPr lang="en-US" dirty="0">
              <a:solidFill>
                <a:prstClr val="black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4204690336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Proof of Second De Morgan Law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   These steps show that:                                      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9" name="Picture 8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5867401" y="2057400"/>
            <a:ext cx="2534603" cy="377190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150165" y="2736574"/>
            <a:ext cx="6518910" cy="2070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38600" y="6172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Constantia"/>
              </a:rPr>
              <a:t>Continued on next slide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 </a:t>
            </a:r>
            <a:r>
              <a:rPr lang="en-US" dirty="0">
                <a:solidFill>
                  <a:prstClr val="black"/>
                </a:solidFill>
                <a:latin typeface="Constantia"/>
                <a:sym typeface="Wingdings" pitchFamily="2" charset="2"/>
              </a:rPr>
              <a:t></a:t>
            </a:r>
            <a:endParaRPr lang="en-US" dirty="0">
              <a:solidFill>
                <a:prstClr val="black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435937350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Proof of Second De Morgan Law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  These steps show that:                                      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2" name="Picture 11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276600" y="2590801"/>
            <a:ext cx="6869430" cy="2108835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096001" y="2057400"/>
            <a:ext cx="2534603" cy="377190"/>
          </a:xfrm>
          <a:prstGeom prst="rect">
            <a:avLst/>
          </a:prstGeom>
        </p:spPr>
      </p:pic>
      <p:sp>
        <p:nvSpPr>
          <p:cNvPr id="9" name="Isosceles Triangle 8"/>
          <p:cNvSpPr/>
          <p:nvPr/>
        </p:nvSpPr>
        <p:spPr>
          <a:xfrm rot="5400000" flipV="1">
            <a:off x="9829800" y="5562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833980757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Set-Builder Notation: Second De Morgan Law</a:t>
            </a:r>
          </a:p>
        </p:txBody>
      </p:sp>
      <p:pic>
        <p:nvPicPr>
          <p:cNvPr id="7" name="Content Placeholder 6" descr="addin_tmp.png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828800" y="1981200"/>
            <a:ext cx="8465820" cy="2731770"/>
          </a:xfrm>
        </p:spPr>
      </p:pic>
      <p:sp>
        <p:nvSpPr>
          <p:cNvPr id="4" name="Isosceles Triangle 3"/>
          <p:cNvSpPr/>
          <p:nvPr/>
        </p:nvSpPr>
        <p:spPr>
          <a:xfrm rot="5400000" flipV="1">
            <a:off x="9829800" y="5562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3053132610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Membership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057400" y="3200400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3200401" y="3276601"/>
            <a:ext cx="668655" cy="180975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114800" y="3276600"/>
            <a:ext cx="1322070" cy="255270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5638800" y="3276600"/>
            <a:ext cx="655320" cy="18288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6477000" y="3276600"/>
            <a:ext cx="655320" cy="182880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467601" y="3276600"/>
            <a:ext cx="1971675" cy="255270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3505200" y="2362201"/>
            <a:ext cx="5520690" cy="3829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81200" y="17526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Constantia"/>
              </a:rPr>
              <a:t>Example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200" y="2743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Constantia"/>
              </a:rPr>
              <a:t>Solution</a:t>
            </a:r>
            <a:r>
              <a:rPr lang="en-US" dirty="0">
                <a:solidFill>
                  <a:prstClr val="black"/>
                </a:solidFill>
                <a:latin typeface="Constantia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752601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nstantia"/>
              </a:rPr>
              <a:t>Construct a membership table to show that the distributive law holds.</a:t>
            </a:r>
          </a:p>
        </p:txBody>
      </p:sp>
    </p:spTree>
    <p:extLst>
      <p:ext uri="{BB962C8B-B14F-4D97-AF65-F5344CB8AC3E}">
        <p14:creationId xmlns:p14="http://schemas.microsoft.com/office/powerpoint/2010/main" val="1011684954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Oval 10">
            <a:extLst>
              <a:ext uri="{FF2B5EF4-FFF2-40B4-BE49-F238E27FC236}">
                <a16:creationId xmlns:a16="http://schemas.microsoft.com/office/drawing/2014/main" id="{895142B7-3F8B-4662-B769-82B4BB744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2220913"/>
            <a:ext cx="1612900" cy="286385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9" name="Oval 11">
            <a:extLst>
              <a:ext uri="{FF2B5EF4-FFF2-40B4-BE49-F238E27FC236}">
                <a16:creationId xmlns:a16="http://schemas.microsoft.com/office/drawing/2014/main" id="{31F0F768-A901-4585-A491-6026685D752A}"/>
              </a:ext>
            </a:extLst>
          </p:cNvPr>
          <p:cNvSpPr>
            <a:spLocks noChangeArrowheads="1"/>
          </p:cNvSpPr>
          <p:nvPr/>
        </p:nvSpPr>
        <p:spPr bwMode="auto">
          <a:xfrm rot="2504122">
            <a:off x="4367214" y="2509838"/>
            <a:ext cx="2046287" cy="1638300"/>
          </a:xfrm>
          <a:prstGeom prst="ellipse">
            <a:avLst/>
          </a:prstGeom>
          <a:solidFill>
            <a:srgbClr val="33CCFF">
              <a:alpha val="50000"/>
            </a:srgbClr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60" name="Oval 12">
            <a:extLst>
              <a:ext uri="{FF2B5EF4-FFF2-40B4-BE49-F238E27FC236}">
                <a16:creationId xmlns:a16="http://schemas.microsoft.com/office/drawing/2014/main" id="{73231A22-3E18-4B27-8ABB-D5F1E13E5DDA}"/>
              </a:ext>
            </a:extLst>
          </p:cNvPr>
          <p:cNvSpPr>
            <a:spLocks noChangeArrowheads="1"/>
          </p:cNvSpPr>
          <p:nvPr/>
        </p:nvSpPr>
        <p:spPr bwMode="auto">
          <a:xfrm rot="20144157">
            <a:off x="5519738" y="2581275"/>
            <a:ext cx="2305050" cy="1638300"/>
          </a:xfrm>
          <a:prstGeom prst="ellipse">
            <a:avLst/>
          </a:prstGeom>
          <a:solidFill>
            <a:srgbClr val="CC0000">
              <a:alpha val="50000"/>
            </a:srgbClr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89597363-5968-4A95-BC2E-5A51435DC5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74825" y="549275"/>
            <a:ext cx="8534400" cy="914400"/>
          </a:xfrm>
          <a:noFill/>
          <a:ln/>
        </p:spPr>
        <p:txBody>
          <a:bodyPr anchor="ctr"/>
          <a:lstStyle/>
          <a:p>
            <a:r>
              <a:rPr lang="en-US" altLang="zh-TW" sz="4400">
                <a:latin typeface="Gill Sans MT" panose="020B0502020104020203" pitchFamily="34" charset="0"/>
              </a:rPr>
              <a:t>Inclusion-Exclusion Principle</a:t>
            </a:r>
          </a:p>
        </p:txBody>
      </p:sp>
      <p:sp>
        <p:nvSpPr>
          <p:cNvPr id="2062" name="Oval 14">
            <a:extLst>
              <a:ext uri="{FF2B5EF4-FFF2-40B4-BE49-F238E27FC236}">
                <a16:creationId xmlns:a16="http://schemas.microsoft.com/office/drawing/2014/main" id="{FABF517F-B1B3-4234-9FA6-04710D48E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3228975"/>
            <a:ext cx="1944688" cy="1512888"/>
          </a:xfrm>
          <a:prstGeom prst="ellipse">
            <a:avLst/>
          </a:prstGeom>
          <a:pattFill prst="pct5">
            <a:fgClr>
              <a:schemeClr val="folHlink">
                <a:alpha val="50000"/>
              </a:schemeClr>
            </a:fgClr>
            <a:bgClr>
              <a:schemeClr val="folHlink">
                <a:alpha val="50000"/>
              </a:schemeClr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63" name="Oval 15">
            <a:extLst>
              <a:ext uri="{FF2B5EF4-FFF2-40B4-BE49-F238E27FC236}">
                <a16:creationId xmlns:a16="http://schemas.microsoft.com/office/drawing/2014/main" id="{006A3FCD-5DB4-4EA1-A8A9-2142F7DA444E}"/>
              </a:ext>
            </a:extLst>
          </p:cNvPr>
          <p:cNvSpPr>
            <a:spLocks noChangeArrowheads="1"/>
          </p:cNvSpPr>
          <p:nvPr/>
        </p:nvSpPr>
        <p:spPr bwMode="auto">
          <a:xfrm rot="595632">
            <a:off x="5803900" y="3171825"/>
            <a:ext cx="2159000" cy="1582738"/>
          </a:xfrm>
          <a:prstGeom prst="ellipse">
            <a:avLst/>
          </a:prstGeom>
          <a:pattFill prst="pct5">
            <a:fgClr>
              <a:srgbClr val="660066">
                <a:alpha val="50000"/>
              </a:srgbClr>
            </a:fgClr>
            <a:bgClr>
              <a:srgbClr val="660066">
                <a:alpha val="50000"/>
              </a:srgbClr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64" name="Oval 16">
            <a:extLst>
              <a:ext uri="{FF2B5EF4-FFF2-40B4-BE49-F238E27FC236}">
                <a16:creationId xmlns:a16="http://schemas.microsoft.com/office/drawing/2014/main" id="{C7949E1A-5D96-4502-8527-5201CAB40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141664"/>
            <a:ext cx="5329237" cy="865187"/>
          </a:xfrm>
          <a:prstGeom prst="ellipse">
            <a:avLst/>
          </a:prstGeom>
          <a:gradFill rotWithShape="1">
            <a:gsLst>
              <a:gs pos="0">
                <a:srgbClr val="003366">
                  <a:alpha val="30000"/>
                </a:srgbClr>
              </a:gs>
              <a:gs pos="100000">
                <a:srgbClr val="003366">
                  <a:gamma/>
                  <a:shade val="46275"/>
                  <a:invGamma/>
                  <a:alpha val="30000"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9" name="Oval 11">
            <a:extLst>
              <a:ext uri="{FF2B5EF4-FFF2-40B4-BE49-F238E27FC236}">
                <a16:creationId xmlns:a16="http://schemas.microsoft.com/office/drawing/2014/main" id="{59FE7A55-1B03-4CCA-B4B5-F27504A2A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3416300"/>
            <a:ext cx="1612900" cy="1638300"/>
          </a:xfrm>
          <a:prstGeom prst="ellipse">
            <a:avLst/>
          </a:prstGeom>
          <a:solidFill>
            <a:srgbClr val="0066FF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32780" name="Rectangle 12">
            <a:extLst>
              <a:ext uri="{FF2B5EF4-FFF2-40B4-BE49-F238E27FC236}">
                <a16:creationId xmlns:a16="http://schemas.microsoft.com/office/drawing/2014/main" id="{7FFFA744-C0C7-44DF-94A1-ED1A50E7C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6" y="1524000"/>
            <a:ext cx="7191375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If sets </a:t>
            </a:r>
            <a:r>
              <a:rPr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and </a:t>
            </a:r>
            <a:r>
              <a:rPr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are disjoint, then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|</a:t>
            </a:r>
            <a:r>
              <a:rPr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 = |</a:t>
            </a:r>
            <a:r>
              <a:rPr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 + |</a:t>
            </a:r>
            <a:r>
              <a:rPr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</a:t>
            </a:r>
          </a:p>
        </p:txBody>
      </p:sp>
      <p:sp>
        <p:nvSpPr>
          <p:cNvPr id="32781" name="Oval 13">
            <a:extLst>
              <a:ext uri="{FF2B5EF4-FFF2-40B4-BE49-F238E27FC236}">
                <a16:creationId xmlns:a16="http://schemas.microsoft.com/office/drawing/2014/main" id="{7F97719A-B625-4DC5-A364-A74C5D9FF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3416300"/>
            <a:ext cx="1612900" cy="1638300"/>
          </a:xfrm>
          <a:prstGeom prst="ellipse">
            <a:avLst/>
          </a:prstGeom>
          <a:solidFill>
            <a:srgbClr val="CC0000">
              <a:alpha val="50000"/>
            </a:srgbClr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32782" name="Text Box 14">
            <a:extLst>
              <a:ext uri="{FF2B5EF4-FFF2-40B4-BE49-F238E27FC236}">
                <a16:creationId xmlns:a16="http://schemas.microsoft.com/office/drawing/2014/main" id="{E022151D-B338-4215-8995-FEAE1B5AD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2976564"/>
            <a:ext cx="388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32783" name="Text Box 15">
            <a:extLst>
              <a:ext uri="{FF2B5EF4-FFF2-40B4-BE49-F238E27FC236}">
                <a16:creationId xmlns:a16="http://schemas.microsoft.com/office/drawing/2014/main" id="{FB1CE35B-49BE-48D1-A73D-2CF6B5BB8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3575" y="2976564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2784" name="Text Box 16">
            <a:extLst>
              <a:ext uri="{FF2B5EF4-FFF2-40B4-BE49-F238E27FC236}">
                <a16:creationId xmlns:a16="http://schemas.microsoft.com/office/drawing/2014/main" id="{23A38605-33DA-43B5-9726-4B73E26BF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5516563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</a:pPr>
            <a:r>
              <a:rPr lang="en-US" altLang="en-US" sz="2400">
                <a:solidFill>
                  <a:srgbClr val="000000"/>
                </a:solidFill>
              </a:rPr>
              <a:t>What if</a:t>
            </a:r>
            <a:r>
              <a:rPr lang="en-US" altLang="en-US" sz="2400" i="1">
                <a:solidFill>
                  <a:srgbClr val="000000"/>
                </a:solidFill>
              </a:rPr>
              <a:t> A</a:t>
            </a:r>
            <a:r>
              <a:rPr lang="en-US" altLang="en-US" sz="2400">
                <a:solidFill>
                  <a:srgbClr val="000000"/>
                </a:solidFill>
              </a:rPr>
              <a:t> and </a:t>
            </a:r>
            <a:r>
              <a:rPr lang="en-US" altLang="en-US" sz="2400" i="1">
                <a:solidFill>
                  <a:srgbClr val="000000"/>
                </a:solidFill>
              </a:rPr>
              <a:t>B</a:t>
            </a:r>
            <a:r>
              <a:rPr lang="en-US" altLang="en-US" sz="2400">
                <a:solidFill>
                  <a:srgbClr val="000000"/>
                </a:solidFill>
              </a:rPr>
              <a:t> are </a:t>
            </a:r>
            <a:r>
              <a:rPr lang="en-US" altLang="en-US" sz="2400">
                <a:solidFill>
                  <a:srgbClr val="CC0000"/>
                </a:solidFill>
              </a:rPr>
              <a:t>not disjoint</a:t>
            </a:r>
            <a:r>
              <a:rPr lang="en-US" altLang="en-US" sz="2400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32785" name="Text Box 17">
            <a:extLst>
              <a:ext uri="{FF2B5EF4-FFF2-40B4-BE49-F238E27FC236}">
                <a16:creationId xmlns:a16="http://schemas.microsoft.com/office/drawing/2014/main" id="{B886595D-1A75-45ED-B973-3E96062ED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825" y="476250"/>
            <a:ext cx="1557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Sum Rule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3" name="Rectangle 11">
            <a:extLst>
              <a:ext uri="{FF2B5EF4-FFF2-40B4-BE49-F238E27FC236}">
                <a16:creationId xmlns:a16="http://schemas.microsoft.com/office/drawing/2014/main" id="{C11D238D-991E-47BB-823B-70CA5CB5E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950" y="1790700"/>
            <a:ext cx="5676900" cy="453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9pPr>
          </a:lstStyle>
          <a:p>
            <a:pPr algn="ctr"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</a:rPr>
              <a:t>For two arbitrary sets </a:t>
            </a:r>
            <a:r>
              <a:rPr lang="en-US" altLang="en-US" sz="2400" i="1">
                <a:solidFill>
                  <a:srgbClr val="000000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</a:rPr>
              <a:t> and </a:t>
            </a:r>
            <a:r>
              <a:rPr lang="en-US" altLang="en-US" sz="2400" i="1">
                <a:solidFill>
                  <a:srgbClr val="000000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endParaRPr lang="en-US" altLang="en-US" sz="2400" i="1">
              <a:solidFill>
                <a:srgbClr val="000000"/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33804" name="Object 12">
            <a:extLst>
              <a:ext uri="{FF2B5EF4-FFF2-40B4-BE49-F238E27FC236}">
                <a16:creationId xmlns:a16="http://schemas.microsoft.com/office/drawing/2014/main" id="{E981BA61-8281-40AD-8DB6-DB287951B9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2492376"/>
          <a:ext cx="67452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203040" progId="Equation.3">
                  <p:embed/>
                </p:oleObj>
              </mc:Choice>
              <mc:Fallback>
                <p:oleObj name="Equation" r:id="rId2" imgW="1854000" imgH="203040" progId="Equation.3">
                  <p:embed/>
                  <p:pic>
                    <p:nvPicPr>
                      <p:cNvPr id="33804" name="Object 12">
                        <a:extLst>
                          <a:ext uri="{FF2B5EF4-FFF2-40B4-BE49-F238E27FC236}">
                            <a16:creationId xmlns:a16="http://schemas.microsoft.com/office/drawing/2014/main" id="{E981BA61-8281-40AD-8DB6-DB287951B9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492376"/>
                        <a:ext cx="674528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Rectangle 13">
            <a:extLst>
              <a:ext uri="{FF2B5EF4-FFF2-40B4-BE49-F238E27FC236}">
                <a16:creationId xmlns:a16="http://schemas.microsoft.com/office/drawing/2014/main" id="{DAF914C6-7D8E-406E-AB58-CBAEF9AA8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758950"/>
            <a:ext cx="6858000" cy="15367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6" name="Text Box 14">
            <a:extLst>
              <a:ext uri="{FF2B5EF4-FFF2-40B4-BE49-F238E27FC236}">
                <a16:creationId xmlns:a16="http://schemas.microsoft.com/office/drawing/2014/main" id="{F84D652F-A119-441A-A68C-944D9B0AB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548064"/>
            <a:ext cx="388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33807" name="Text Box 15">
            <a:extLst>
              <a:ext uri="{FF2B5EF4-FFF2-40B4-BE49-F238E27FC236}">
                <a16:creationId xmlns:a16="http://schemas.microsoft.com/office/drawing/2014/main" id="{303B93A4-948C-4D50-8D93-41FD4C439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550" y="3548064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B</a:t>
            </a:r>
          </a:p>
        </p:txBody>
      </p:sp>
      <p:grpSp>
        <p:nvGrpSpPr>
          <p:cNvPr id="33808" name="Group 16">
            <a:extLst>
              <a:ext uri="{FF2B5EF4-FFF2-40B4-BE49-F238E27FC236}">
                <a16:creationId xmlns:a16="http://schemas.microsoft.com/office/drawing/2014/main" id="{3563B25F-F0CC-435D-A7D6-5DE63580B978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025900"/>
            <a:ext cx="2603500" cy="1638300"/>
            <a:chOff x="2040" y="2288"/>
            <a:chExt cx="1640" cy="1032"/>
          </a:xfrm>
        </p:grpSpPr>
        <p:sp>
          <p:nvSpPr>
            <p:cNvPr id="33809" name="Oval 17">
              <a:extLst>
                <a:ext uri="{FF2B5EF4-FFF2-40B4-BE49-F238E27FC236}">
                  <a16:creationId xmlns:a16="http://schemas.microsoft.com/office/drawing/2014/main" id="{DCB570E7-1D23-4DF2-9BCB-6713ED93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0" y="2288"/>
              <a:ext cx="1016" cy="1032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solidFill>
                  <a:schemeClr val="accent2"/>
                </a:solidFill>
              </a:endParaRPr>
            </a:p>
          </p:txBody>
        </p:sp>
        <p:sp>
          <p:nvSpPr>
            <p:cNvPr id="33810" name="Oval 18">
              <a:extLst>
                <a:ext uri="{FF2B5EF4-FFF2-40B4-BE49-F238E27FC236}">
                  <a16:creationId xmlns:a16="http://schemas.microsoft.com/office/drawing/2014/main" id="{68CF9657-D364-4E1C-B566-EE49DD989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2288"/>
              <a:ext cx="1016" cy="1032"/>
            </a:xfrm>
            <a:prstGeom prst="ellipse">
              <a:avLst/>
            </a:prstGeom>
            <a:solidFill>
              <a:srgbClr val="CC0000">
                <a:alpha val="50000"/>
              </a:srgbClr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solidFill>
                  <a:schemeClr val="accent2"/>
                </a:solidFill>
              </a:endParaRPr>
            </a:p>
          </p:txBody>
        </p:sp>
      </p:grpSp>
      <p:sp>
        <p:nvSpPr>
          <p:cNvPr id="33811" name="Text Box 19">
            <a:extLst>
              <a:ext uri="{FF2B5EF4-FFF2-40B4-BE49-F238E27FC236}">
                <a16:creationId xmlns:a16="http://schemas.microsoft.com/office/drawing/2014/main" id="{9813E44A-8B68-400C-9143-CCD4DA970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2576" y="476251"/>
            <a:ext cx="41771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Inclusion-Exclusion (2 sets)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E2973767-86D1-4D75-B9F9-5A969FDA1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6" y="476251"/>
            <a:ext cx="41771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Inclusion-Exclusion (2 sets)</a:t>
            </a: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EC4E9EAE-E167-44E9-B570-88B25B09F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1268413"/>
            <a:ext cx="87573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Let S be the set of integers from 1 through 1000 that are multiples of 3 or multiples of 5.</a:t>
            </a: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8AF01D09-A227-47B4-95A7-C7161BE00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1844675"/>
            <a:ext cx="65131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Let A be the set of integers from 1 to 1000 that are multiples of 3.</a:t>
            </a:r>
          </a:p>
        </p:txBody>
      </p:sp>
      <p:sp>
        <p:nvSpPr>
          <p:cNvPr id="34823" name="Text Box 7">
            <a:extLst>
              <a:ext uri="{FF2B5EF4-FFF2-40B4-BE49-F238E27FC236}">
                <a16:creationId xmlns:a16="http://schemas.microsoft.com/office/drawing/2014/main" id="{B2142BF9-EDE3-4C8A-A2F3-B9766B7C2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2420938"/>
            <a:ext cx="65055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Let B be the set of integers from 1 to 1000 that are multiples of 5.</a:t>
            </a: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95851690-CB45-47DC-9FE8-E4A98A041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3527426"/>
            <a:ext cx="388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34825" name="Text Box 9">
            <a:extLst>
              <a:ext uri="{FF2B5EF4-FFF2-40B4-BE49-F238E27FC236}">
                <a16:creationId xmlns:a16="http://schemas.microsoft.com/office/drawing/2014/main" id="{200D8CE8-F3E4-44EA-ABB0-5A525F54B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8600" y="3575051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B</a:t>
            </a:r>
          </a:p>
        </p:txBody>
      </p:sp>
      <p:grpSp>
        <p:nvGrpSpPr>
          <p:cNvPr id="34826" name="Group 10">
            <a:extLst>
              <a:ext uri="{FF2B5EF4-FFF2-40B4-BE49-F238E27FC236}">
                <a16:creationId xmlns:a16="http://schemas.microsoft.com/office/drawing/2014/main" id="{D40CEFC2-1B49-4C96-AB50-38BC7BA311E9}"/>
              </a:ext>
            </a:extLst>
          </p:cNvPr>
          <p:cNvGrpSpPr>
            <a:grpSpLocks/>
          </p:cNvGrpSpPr>
          <p:nvPr/>
        </p:nvGrpSpPr>
        <p:grpSpPr bwMode="auto">
          <a:xfrm>
            <a:off x="7194551" y="3213100"/>
            <a:ext cx="1871663" cy="1131888"/>
            <a:chOff x="2040" y="2288"/>
            <a:chExt cx="1640" cy="1032"/>
          </a:xfrm>
        </p:grpSpPr>
        <p:sp>
          <p:nvSpPr>
            <p:cNvPr id="34827" name="Oval 11">
              <a:extLst>
                <a:ext uri="{FF2B5EF4-FFF2-40B4-BE49-F238E27FC236}">
                  <a16:creationId xmlns:a16="http://schemas.microsoft.com/office/drawing/2014/main" id="{83A326AE-01F0-45E0-859D-A8051856C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0" y="2288"/>
              <a:ext cx="1016" cy="1032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solidFill>
                  <a:schemeClr val="accent2"/>
                </a:solidFill>
              </a:endParaRPr>
            </a:p>
          </p:txBody>
        </p:sp>
        <p:sp>
          <p:nvSpPr>
            <p:cNvPr id="34828" name="Oval 12">
              <a:extLst>
                <a:ext uri="{FF2B5EF4-FFF2-40B4-BE49-F238E27FC236}">
                  <a16:creationId xmlns:a16="http://schemas.microsoft.com/office/drawing/2014/main" id="{86E6DF21-A608-4D1F-88C9-0D95EC40A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2288"/>
              <a:ext cx="1016" cy="1032"/>
            </a:xfrm>
            <a:prstGeom prst="ellipse">
              <a:avLst/>
            </a:prstGeom>
            <a:solidFill>
              <a:srgbClr val="CC0000">
                <a:alpha val="50000"/>
              </a:srgbClr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solidFill>
                  <a:schemeClr val="accent2"/>
                </a:solidFill>
              </a:endParaRPr>
            </a:p>
          </p:txBody>
        </p:sp>
      </p:grpSp>
      <p:sp>
        <p:nvSpPr>
          <p:cNvPr id="34829" name="Text Box 13">
            <a:extLst>
              <a:ext uri="{FF2B5EF4-FFF2-40B4-BE49-F238E27FC236}">
                <a16:creationId xmlns:a16="http://schemas.microsoft.com/office/drawing/2014/main" id="{4889342B-4B9D-4695-97C5-C2FAC3A79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3429000"/>
            <a:ext cx="4094839" cy="741870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It is clear that S is the union of A and B,</a:t>
            </a:r>
          </a:p>
          <a:p>
            <a:pPr>
              <a:lnSpc>
                <a:spcPct val="150000"/>
              </a:lnSpc>
            </a:pPr>
            <a:r>
              <a:rPr lang="en-US" altLang="zh-TW"/>
              <a:t>but notice that A and B are not disjoint.</a:t>
            </a:r>
          </a:p>
        </p:txBody>
      </p:sp>
      <p:sp>
        <p:nvSpPr>
          <p:cNvPr id="34830" name="Text Box 14">
            <a:extLst>
              <a:ext uri="{FF2B5EF4-FFF2-40B4-BE49-F238E27FC236}">
                <a16:creationId xmlns:a16="http://schemas.microsoft.com/office/drawing/2014/main" id="{67BB27B5-FD13-4E85-8302-164618C75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581526"/>
            <a:ext cx="1952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|A| = 1000/3 = 333</a:t>
            </a:r>
          </a:p>
        </p:txBody>
      </p:sp>
      <p:sp>
        <p:nvSpPr>
          <p:cNvPr id="34831" name="Text Box 15">
            <a:extLst>
              <a:ext uri="{FF2B5EF4-FFF2-40B4-BE49-F238E27FC236}">
                <a16:creationId xmlns:a16="http://schemas.microsoft.com/office/drawing/2014/main" id="{70BB1DD0-E7BC-4822-A22C-A5FC4C574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6" y="4581525"/>
            <a:ext cx="20361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|B| = 1000/5 = 200 </a:t>
            </a:r>
          </a:p>
        </p:txBody>
      </p:sp>
      <p:sp>
        <p:nvSpPr>
          <p:cNvPr id="34832" name="Text Box 16">
            <a:extLst>
              <a:ext uri="{FF2B5EF4-FFF2-40B4-BE49-F238E27FC236}">
                <a16:creationId xmlns:a16="http://schemas.microsoft.com/office/drawing/2014/main" id="{AA5E1745-2B36-4717-B039-ECC5E02CE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5157788"/>
            <a:ext cx="80992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dirty="0"/>
              <a:t>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zh-TW" dirty="0"/>
              <a:t> B is the set of integers that are multiples of 15, and so |A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zh-TW" dirty="0"/>
              <a:t> B| = 1000/15 = 66 </a:t>
            </a:r>
          </a:p>
        </p:txBody>
      </p:sp>
      <p:sp>
        <p:nvSpPr>
          <p:cNvPr id="34833" name="Text Box 17">
            <a:extLst>
              <a:ext uri="{FF2B5EF4-FFF2-40B4-BE49-F238E27FC236}">
                <a16:creationId xmlns:a16="http://schemas.microsoft.com/office/drawing/2014/main" id="{AAEA7160-9A47-418A-B96F-B002F5D6F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5805488"/>
            <a:ext cx="79843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dirty="0"/>
              <a:t>So, by the inclusion-exclusion principle, we have |S| = |A| + |B| - |A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zh-TW" dirty="0"/>
              <a:t> B| = 467.</a:t>
            </a:r>
          </a:p>
        </p:txBody>
      </p:sp>
      <p:sp>
        <p:nvSpPr>
          <p:cNvPr id="34834" name="Line 18">
            <a:extLst>
              <a:ext uri="{FF2B5EF4-FFF2-40B4-BE49-F238E27FC236}">
                <a16:creationId xmlns:a16="http://schemas.microsoft.com/office/drawing/2014/main" id="{D6529A0E-02EC-45BA-9AFB-9EA7336CEB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2263" y="3933825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  <p:bldP spid="34823" grpId="0"/>
      <p:bldP spid="34824" grpId="0"/>
      <p:bldP spid="34825" grpId="0"/>
      <p:bldP spid="34829" grpId="0" animBg="1"/>
      <p:bldP spid="34830" grpId="0"/>
      <p:bldP spid="34831" grpId="0"/>
      <p:bldP spid="34832" grpId="0"/>
      <p:bldP spid="3483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2" name="Text Box 12">
            <a:extLst>
              <a:ext uri="{FF2B5EF4-FFF2-40B4-BE49-F238E27FC236}">
                <a16:creationId xmlns:a16="http://schemas.microsoft.com/office/drawing/2014/main" id="{7599546D-A5C0-4DD1-A423-1CADF8AFF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050" y="4208464"/>
            <a:ext cx="388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35853" name="Text Box 13">
            <a:extLst>
              <a:ext uri="{FF2B5EF4-FFF2-40B4-BE49-F238E27FC236}">
                <a16:creationId xmlns:a16="http://schemas.microsoft.com/office/drawing/2014/main" id="{7C9213E3-C1A1-4A5C-A05F-ECE6119BD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4208464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5854" name="Text Box 14">
            <a:extLst>
              <a:ext uri="{FF2B5EF4-FFF2-40B4-BE49-F238E27FC236}">
                <a16:creationId xmlns:a16="http://schemas.microsoft.com/office/drawing/2014/main" id="{06E9F1F4-9B8F-43B0-9EA7-78EBE46E2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700" y="6240464"/>
            <a:ext cx="383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5855" name="Text Box 15">
            <a:extLst>
              <a:ext uri="{FF2B5EF4-FFF2-40B4-BE49-F238E27FC236}">
                <a16:creationId xmlns:a16="http://schemas.microsoft.com/office/drawing/2014/main" id="{15AB0B2E-533E-4CF5-8D75-2A5F06C85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541463"/>
            <a:ext cx="5673348" cy="1510735"/>
          </a:xfrm>
          <a:prstGeom prst="rect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1pPr>
            <a:lvl2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2pPr>
            <a:lvl3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3pPr>
            <a:lvl4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4pPr>
            <a:lvl5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9pPr>
          </a:lstStyle>
          <a:p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A 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B </a:t>
            </a:r>
            <a:r>
              <a:rPr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C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 = |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A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 + |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B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 + |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C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</a:t>
            </a:r>
          </a:p>
          <a:p>
            <a:pPr>
              <a:lnSpc>
                <a:spcPct val="150000"/>
              </a:lnSpc>
            </a:pP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                       – |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A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B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 – |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A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C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 – |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B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C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</a:t>
            </a:r>
          </a:p>
          <a:p>
            <a:pPr>
              <a:lnSpc>
                <a:spcPct val="150000"/>
              </a:lnSpc>
            </a:pP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                       + |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A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B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kumimoji="0" lang="en-US" altLang="en-US" sz="2400" i="1" dirty="0">
                <a:solidFill>
                  <a:srgbClr val="000000"/>
                </a:solidFill>
                <a:latin typeface="Gill Sans MT" panose="020B0502020104020203" pitchFamily="34" charset="0"/>
              </a:rPr>
              <a:t>C</a:t>
            </a:r>
            <a:r>
              <a:rPr kumimoji="0" lang="en-US" alt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|</a:t>
            </a:r>
          </a:p>
        </p:txBody>
      </p:sp>
      <p:grpSp>
        <p:nvGrpSpPr>
          <p:cNvPr id="35856" name="Group 16">
            <a:extLst>
              <a:ext uri="{FF2B5EF4-FFF2-40B4-BE49-F238E27FC236}">
                <a16:creationId xmlns:a16="http://schemas.microsoft.com/office/drawing/2014/main" id="{22E4941C-578A-4178-A9F6-34E1DCED93EC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543300"/>
            <a:ext cx="2590800" cy="2552700"/>
            <a:chOff x="1984" y="2232"/>
            <a:chExt cx="1632" cy="1608"/>
          </a:xfrm>
        </p:grpSpPr>
        <p:sp>
          <p:nvSpPr>
            <p:cNvPr id="35857" name="Oval 17">
              <a:extLst>
                <a:ext uri="{FF2B5EF4-FFF2-40B4-BE49-F238E27FC236}">
                  <a16:creationId xmlns:a16="http://schemas.microsoft.com/office/drawing/2014/main" id="{BFFBB3C9-D029-4656-A03A-3C0097717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" y="2240"/>
              <a:ext cx="1016" cy="1032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solidFill>
                  <a:schemeClr val="accent2"/>
                </a:solidFill>
              </a:endParaRPr>
            </a:p>
          </p:txBody>
        </p:sp>
        <p:sp>
          <p:nvSpPr>
            <p:cNvPr id="35858" name="Oval 18">
              <a:extLst>
                <a:ext uri="{FF2B5EF4-FFF2-40B4-BE49-F238E27FC236}">
                  <a16:creationId xmlns:a16="http://schemas.microsoft.com/office/drawing/2014/main" id="{92626850-FEF9-43F4-8B95-BA979FDEA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" y="2808"/>
              <a:ext cx="1016" cy="103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59" name="Oval 19">
              <a:extLst>
                <a:ext uri="{FF2B5EF4-FFF2-40B4-BE49-F238E27FC236}">
                  <a16:creationId xmlns:a16="http://schemas.microsoft.com/office/drawing/2014/main" id="{A7C47E3A-8548-43CC-AE90-3BC9A9BF9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" y="2248"/>
              <a:ext cx="1016" cy="1032"/>
            </a:xfrm>
            <a:prstGeom prst="ellipse">
              <a:avLst/>
            </a:prstGeom>
            <a:solidFill>
              <a:srgbClr val="33CCFF">
                <a:alpha val="50000"/>
              </a:srgbClr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solidFill>
                  <a:schemeClr val="accent2"/>
                </a:solidFill>
              </a:endParaRPr>
            </a:p>
          </p:txBody>
        </p:sp>
        <p:sp>
          <p:nvSpPr>
            <p:cNvPr id="35860" name="Oval 20">
              <a:extLst>
                <a:ext uri="{FF2B5EF4-FFF2-40B4-BE49-F238E27FC236}">
                  <a16:creationId xmlns:a16="http://schemas.microsoft.com/office/drawing/2014/main" id="{FFAB1200-A5AE-43FF-BFF7-8D33CABF4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2232"/>
              <a:ext cx="1016" cy="1032"/>
            </a:xfrm>
            <a:prstGeom prst="ellipse">
              <a:avLst/>
            </a:prstGeom>
            <a:solidFill>
              <a:srgbClr val="CC0000">
                <a:alpha val="50000"/>
              </a:srgbClr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solidFill>
                  <a:schemeClr val="accent2"/>
                </a:solidFill>
              </a:endParaRPr>
            </a:p>
          </p:txBody>
        </p:sp>
      </p:grpSp>
      <p:sp>
        <p:nvSpPr>
          <p:cNvPr id="35861" name="Text Box 21">
            <a:extLst>
              <a:ext uri="{FF2B5EF4-FFF2-40B4-BE49-F238E27FC236}">
                <a16:creationId xmlns:a16="http://schemas.microsoft.com/office/drawing/2014/main" id="{CB8FA82F-1937-433B-800A-F423091EC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6" y="476251"/>
            <a:ext cx="41691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Inclusion-Exclusion (3 sets)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4101F5CA-2DDB-47A6-B0ED-58302FD6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6" y="450851"/>
            <a:ext cx="41691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Inclusion-Exclusion (3 sets)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84518358-3BFD-4E0C-A50B-44A608123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925" y="1368425"/>
            <a:ext cx="2900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From a total of 50 students: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C33B9522-7D92-4D6F-974F-206BA8FCB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6" y="1268413"/>
            <a:ext cx="3188309" cy="28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30 know Java </a:t>
            </a:r>
          </a:p>
          <a:p>
            <a:pPr>
              <a:lnSpc>
                <a:spcPct val="150000"/>
              </a:lnSpc>
            </a:pPr>
            <a:r>
              <a:rPr lang="en-US" altLang="zh-TW"/>
              <a:t>18 know C++</a:t>
            </a:r>
          </a:p>
          <a:p>
            <a:pPr>
              <a:lnSpc>
                <a:spcPct val="150000"/>
              </a:lnSpc>
            </a:pPr>
            <a:r>
              <a:rPr lang="en-US" altLang="zh-TW"/>
              <a:t>26 know C#</a:t>
            </a:r>
          </a:p>
          <a:p>
            <a:pPr>
              <a:lnSpc>
                <a:spcPct val="150000"/>
              </a:lnSpc>
            </a:pPr>
            <a:r>
              <a:rPr lang="en-US" altLang="zh-TW"/>
              <a:t>9 know both Java and C++</a:t>
            </a:r>
          </a:p>
          <a:p>
            <a:pPr>
              <a:lnSpc>
                <a:spcPct val="150000"/>
              </a:lnSpc>
            </a:pPr>
            <a:r>
              <a:rPr lang="en-US" altLang="zh-TW"/>
              <a:t>16 know both Java and C#</a:t>
            </a:r>
          </a:p>
          <a:p>
            <a:pPr>
              <a:lnSpc>
                <a:spcPct val="150000"/>
              </a:lnSpc>
            </a:pPr>
            <a:r>
              <a:rPr lang="en-US" altLang="zh-TW"/>
              <a:t>8 know both C++ and C#</a:t>
            </a:r>
          </a:p>
          <a:p>
            <a:pPr>
              <a:lnSpc>
                <a:spcPct val="150000"/>
              </a:lnSpc>
            </a:pPr>
            <a:r>
              <a:rPr lang="en-US" altLang="zh-TW"/>
              <a:t>47 know at least one language.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982D3D67-9722-4245-B5CD-7D7DAE32C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813" y="2492375"/>
            <a:ext cx="2515432" cy="923330"/>
          </a:xfrm>
          <a:prstGeom prst="rect">
            <a:avLst/>
          </a:prstGeom>
          <a:solidFill>
            <a:srgbClr val="FFFF66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How many know none?</a:t>
            </a:r>
          </a:p>
          <a:p>
            <a:endParaRPr lang="en-US" altLang="zh-TW"/>
          </a:p>
          <a:p>
            <a:r>
              <a:rPr lang="en-US" altLang="zh-TW"/>
              <a:t>How many know all?</a:t>
            </a:r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F5970025-C9A6-4BBE-A6C6-EB1277FBF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4630739"/>
            <a:ext cx="8925492" cy="369332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 = 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| + |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| + |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0000"/>
                </a:solidFill>
              </a:rPr>
              <a:t>– 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| – 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 – |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 + 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</a:p>
        </p:txBody>
      </p:sp>
      <p:sp>
        <p:nvSpPr>
          <p:cNvPr id="36873" name="Rectangle 9">
            <a:extLst>
              <a:ext uri="{FF2B5EF4-FFF2-40B4-BE49-F238E27FC236}">
                <a16:creationId xmlns:a16="http://schemas.microsoft.com/office/drawing/2014/main" id="{38996A26-7A8E-4471-B2B6-9304950B5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62063"/>
            <a:ext cx="4972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|</a:t>
            </a:r>
            <a:r>
              <a:rPr lang="en-US" altLang="en-US" i="1">
                <a:solidFill>
                  <a:srgbClr val="000000"/>
                </a:solidFill>
              </a:rPr>
              <a:t>A</a:t>
            </a:r>
            <a:r>
              <a:rPr lang="en-US" altLang="en-US">
                <a:solidFill>
                  <a:srgbClr val="000000"/>
                </a:solidFill>
              </a:rPr>
              <a:t>|</a:t>
            </a: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6874" name="Rectangle 10">
            <a:extLst>
              <a:ext uri="{FF2B5EF4-FFF2-40B4-BE49-F238E27FC236}">
                <a16:creationId xmlns:a16="http://schemas.microsoft.com/office/drawing/2014/main" id="{748F0A38-B7AE-4445-BC55-4EFF73895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622425"/>
            <a:ext cx="4812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|</a:t>
            </a:r>
            <a:r>
              <a:rPr lang="en-US" altLang="en-US" i="1">
                <a:solidFill>
                  <a:srgbClr val="000000"/>
                </a:solidFill>
              </a:rPr>
              <a:t>B</a:t>
            </a:r>
            <a:r>
              <a:rPr lang="en-US" altLang="en-US">
                <a:solidFill>
                  <a:srgbClr val="000000"/>
                </a:solidFill>
              </a:rPr>
              <a:t>|</a:t>
            </a: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6875" name="Rectangle 11">
            <a:extLst>
              <a:ext uri="{FF2B5EF4-FFF2-40B4-BE49-F238E27FC236}">
                <a16:creationId xmlns:a16="http://schemas.microsoft.com/office/drawing/2014/main" id="{11CE1E13-EC04-46B2-A5D4-48D60E857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89138"/>
            <a:ext cx="494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|</a:t>
            </a:r>
            <a:r>
              <a:rPr lang="en-US" altLang="en-US" i="1">
                <a:solidFill>
                  <a:srgbClr val="000000"/>
                </a:solidFill>
              </a:rPr>
              <a:t>C</a:t>
            </a:r>
            <a:r>
              <a:rPr lang="en-US" altLang="en-US">
                <a:solidFill>
                  <a:srgbClr val="000000"/>
                </a:solidFill>
              </a:rPr>
              <a:t>|</a:t>
            </a: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6878" name="Rectangle 14">
            <a:extLst>
              <a:ext uri="{FF2B5EF4-FFF2-40B4-BE49-F238E27FC236}">
                <a16:creationId xmlns:a16="http://schemas.microsoft.com/office/drawing/2014/main" id="{69A7CBD0-CF3F-46BC-A634-308BF3158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6" y="2414588"/>
            <a:ext cx="9060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6880" name="Rectangle 16">
            <a:extLst>
              <a:ext uri="{FF2B5EF4-FFF2-40B4-BE49-F238E27FC236}">
                <a16:creationId xmlns:a16="http://schemas.microsoft.com/office/drawing/2014/main" id="{7E3D524A-3AC2-45E8-8C04-D684B5E8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6" y="2846388"/>
            <a:ext cx="9188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6882" name="Rectangle 18">
            <a:extLst>
              <a:ext uri="{FF2B5EF4-FFF2-40B4-BE49-F238E27FC236}">
                <a16:creationId xmlns:a16="http://schemas.microsoft.com/office/drawing/2014/main" id="{B6E85BF9-42A7-4AC0-9C5C-D7A880EC3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6" y="3284538"/>
            <a:ext cx="902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6884" name="Rectangle 20">
            <a:extLst>
              <a:ext uri="{FF2B5EF4-FFF2-40B4-BE49-F238E27FC236}">
                <a16:creationId xmlns:a16="http://schemas.microsoft.com/office/drawing/2014/main" id="{5EAAB8BB-3CA6-4338-B471-135CB47C4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4" y="3709988"/>
            <a:ext cx="13692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6886" name="Rectangle 22">
            <a:extLst>
              <a:ext uri="{FF2B5EF4-FFF2-40B4-BE49-F238E27FC236}">
                <a16:creationId xmlns:a16="http://schemas.microsoft.com/office/drawing/2014/main" id="{FD2CD45E-1CB3-4BA1-9AB7-CA6334158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438" y="3644900"/>
            <a:ext cx="13276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</a:p>
        </p:txBody>
      </p:sp>
      <p:sp>
        <p:nvSpPr>
          <p:cNvPr id="36887" name="Line 23">
            <a:extLst>
              <a:ext uri="{FF2B5EF4-FFF2-40B4-BE49-F238E27FC236}">
                <a16:creationId xmlns:a16="http://schemas.microsoft.com/office/drawing/2014/main" id="{1680DF09-D8FB-414F-913E-A5F34FEFC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4" y="1484313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8" name="Line 24">
            <a:extLst>
              <a:ext uri="{FF2B5EF4-FFF2-40B4-BE49-F238E27FC236}">
                <a16:creationId xmlns:a16="http://schemas.microsoft.com/office/drawing/2014/main" id="{D930716F-FE99-4732-B2E5-9626A176B9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4" y="1844675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9" name="Line 25">
            <a:extLst>
              <a:ext uri="{FF2B5EF4-FFF2-40B4-BE49-F238E27FC236}">
                <a16:creationId xmlns:a16="http://schemas.microsoft.com/office/drawing/2014/main" id="{BCD99662-7E12-4B26-B1D3-8C08C7D1A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4" y="2205038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0" name="Line 26">
            <a:extLst>
              <a:ext uri="{FF2B5EF4-FFF2-40B4-BE49-F238E27FC236}">
                <a16:creationId xmlns:a16="http://schemas.microsoft.com/office/drawing/2014/main" id="{A617D1D8-6B50-4E42-844F-FF7EE700B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4" y="2636838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1" name="Line 27">
            <a:extLst>
              <a:ext uri="{FF2B5EF4-FFF2-40B4-BE49-F238E27FC236}">
                <a16:creationId xmlns:a16="http://schemas.microsoft.com/office/drawing/2014/main" id="{AC2B4C56-4035-4EC9-9C0B-5F708EBE8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4" y="3068638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2" name="Line 28">
            <a:extLst>
              <a:ext uri="{FF2B5EF4-FFF2-40B4-BE49-F238E27FC236}">
                <a16:creationId xmlns:a16="http://schemas.microsoft.com/office/drawing/2014/main" id="{2299F89A-4F03-47A6-A45A-D73313299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4" y="3500438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3" name="Line 29">
            <a:extLst>
              <a:ext uri="{FF2B5EF4-FFF2-40B4-BE49-F238E27FC236}">
                <a16:creationId xmlns:a16="http://schemas.microsoft.com/office/drawing/2014/main" id="{EAA6CD42-56C4-4056-AB2C-0C23DBFC04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667" y="3933825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4" name="Line 30">
            <a:extLst>
              <a:ext uri="{FF2B5EF4-FFF2-40B4-BE49-F238E27FC236}">
                <a16:creationId xmlns:a16="http://schemas.microsoft.com/office/drawing/2014/main" id="{498AA895-4225-4BDD-BF91-DAFA591EC4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2588" y="3357564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5" name="Text Box 31">
            <a:extLst>
              <a:ext uri="{FF2B5EF4-FFF2-40B4-BE49-F238E27FC236}">
                <a16:creationId xmlns:a16="http://schemas.microsoft.com/office/drawing/2014/main" id="{753D0245-410A-4337-B84A-1AB772C42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5300663"/>
            <a:ext cx="43035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dirty="0"/>
              <a:t>47 = 30 + 18 + 26 – 9 – 16 – 8 + 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6897" name="Rectangle 33">
            <a:extLst>
              <a:ext uri="{FF2B5EF4-FFF2-40B4-BE49-F238E27FC236}">
                <a16:creationId xmlns:a16="http://schemas.microsoft.com/office/drawing/2014/main" id="{2EEA544A-64C8-48F4-8BC3-E8D3EAA75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5799138"/>
            <a:ext cx="16946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|</a:t>
            </a:r>
            <a:r>
              <a:rPr lang="en-US" altLang="en-US" i="1" dirty="0">
                <a:solidFill>
                  <a:srgbClr val="000000"/>
                </a:solidFill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i="1" dirty="0">
                <a:solidFill>
                  <a:srgbClr val="000000"/>
                </a:solidFill>
              </a:rPr>
              <a:t>C</a:t>
            </a:r>
            <a:r>
              <a:rPr lang="en-US" altLang="en-US" dirty="0">
                <a:solidFill>
                  <a:srgbClr val="000000"/>
                </a:solidFill>
              </a:rPr>
              <a:t>| = 6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animBg="1"/>
      <p:bldP spid="36872" grpId="0" animBg="1"/>
      <p:bldP spid="36873" grpId="0"/>
      <p:bldP spid="36874" grpId="0"/>
      <p:bldP spid="36875" grpId="0"/>
      <p:bldP spid="36878" grpId="0"/>
      <p:bldP spid="36880" grpId="0"/>
      <p:bldP spid="36882" grpId="0"/>
      <p:bldP spid="36884" grpId="0"/>
      <p:bldP spid="36886" grpId="0"/>
      <p:bldP spid="36895" grpId="0"/>
      <p:bldP spid="3689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86FDBAE1-F005-4320-B9AE-F0E3DFFE6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4052889"/>
            <a:ext cx="388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74F89084-C24E-40AD-BDBB-52EF58CDF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5063" y="4052889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AC480EF8-314A-4F8D-89B4-02E173BB1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5708651"/>
            <a:ext cx="383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CB430900-1C7E-4813-BEB6-6BD410D2D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541464"/>
            <a:ext cx="8208962" cy="1797543"/>
          </a:xfrm>
          <a:prstGeom prst="rect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1pPr>
            <a:lvl2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2pPr>
            <a:lvl3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3pPr>
            <a:lvl4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4pPr>
            <a:lvl5pPr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9pPr>
          </a:lstStyle>
          <a:p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|A </a:t>
            </a:r>
            <a:r>
              <a:rPr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B </a:t>
            </a:r>
            <a:r>
              <a:rPr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C </a:t>
            </a:r>
            <a:r>
              <a:rPr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  <a:sym typeface="Symbol" panose="05050102010706020507" pitchFamily="18" charset="2"/>
              </a:rPr>
              <a:t>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D| = |A| + |B| + |C| + |D|</a:t>
            </a:r>
          </a:p>
          <a:p>
            <a:pPr>
              <a:lnSpc>
                <a:spcPct val="150000"/>
              </a:lnSpc>
            </a:pP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                       – |A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B| – |A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C| – |A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D| </a:t>
            </a:r>
            <a:r>
              <a:rPr kumimoji="0" lang="en-US" alt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–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|B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C| </a:t>
            </a:r>
            <a:r>
              <a:rPr kumimoji="0" lang="en-US" alt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–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|B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D| </a:t>
            </a:r>
            <a:r>
              <a:rPr kumimoji="0" lang="en-US" alt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–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|C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D|</a:t>
            </a:r>
          </a:p>
          <a:p>
            <a:pPr>
              <a:lnSpc>
                <a:spcPct val="150000"/>
              </a:lnSpc>
            </a:pP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                       + |A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B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C| + |A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B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D| + |A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C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D| + |B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C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D|</a:t>
            </a:r>
          </a:p>
          <a:p>
            <a:pPr>
              <a:lnSpc>
                <a:spcPct val="150000"/>
              </a:lnSpc>
            </a:pP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                       – |A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B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C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∩</a:t>
            </a:r>
            <a:r>
              <a:rPr kumimoji="0" lang="en-US" altLang="en-US" sz="2000" dirty="0">
                <a:solidFill>
                  <a:srgbClr val="000000"/>
                </a:solidFill>
                <a:latin typeface="Gill Sans MT" panose="020B0502020104020203" pitchFamily="34" charset="0"/>
              </a:rPr>
              <a:t> D |</a:t>
            </a:r>
          </a:p>
        </p:txBody>
      </p:sp>
      <p:sp>
        <p:nvSpPr>
          <p:cNvPr id="39943" name="Oval 7">
            <a:extLst>
              <a:ext uri="{FF2B5EF4-FFF2-40B4-BE49-F238E27FC236}">
                <a16:creationId xmlns:a16="http://schemas.microsoft.com/office/drawing/2014/main" id="{BECEE1E5-A634-4BD2-B7EB-181AD654A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925" y="3908425"/>
            <a:ext cx="1612900" cy="1638300"/>
          </a:xfrm>
          <a:prstGeom prst="ellipse">
            <a:avLst/>
          </a:prstGeom>
          <a:solidFill>
            <a:srgbClr val="0066FF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39944" name="Oval 8">
            <a:extLst>
              <a:ext uri="{FF2B5EF4-FFF2-40B4-BE49-F238E27FC236}">
                <a16:creationId xmlns:a16="http://schemas.microsoft.com/office/drawing/2014/main" id="{A8C67671-5F77-431B-98B8-2AF0F33FB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4502150"/>
            <a:ext cx="1612900" cy="1638300"/>
          </a:xfrm>
          <a:prstGeom prst="ellipse">
            <a:avLst/>
          </a:prstGeom>
          <a:gradFill rotWithShape="1">
            <a:gsLst>
              <a:gs pos="0">
                <a:srgbClr val="FFFF00">
                  <a:alpha val="50000"/>
                </a:srgbClr>
              </a:gs>
              <a:gs pos="100000">
                <a:srgbClr val="FFFF00">
                  <a:gamma/>
                  <a:tint val="98431"/>
                  <a:invGamma/>
                </a:srgbClr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9945" name="Oval 9">
            <a:extLst>
              <a:ext uri="{FF2B5EF4-FFF2-40B4-BE49-F238E27FC236}">
                <a16:creationId xmlns:a16="http://schemas.microsoft.com/office/drawing/2014/main" id="{EA4DCA63-B14B-4797-AE3D-4330963E7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0" y="4484688"/>
            <a:ext cx="1612900" cy="1638300"/>
          </a:xfrm>
          <a:prstGeom prst="ellipse">
            <a:avLst/>
          </a:prstGeom>
          <a:solidFill>
            <a:srgbClr val="00FF00">
              <a:alpha val="50000"/>
            </a:srgbClr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39946" name="Oval 10">
            <a:extLst>
              <a:ext uri="{FF2B5EF4-FFF2-40B4-BE49-F238E27FC236}">
                <a16:creationId xmlns:a16="http://schemas.microsoft.com/office/drawing/2014/main" id="{76278103-6DA5-4299-AD8A-4BCA71EDD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3925888"/>
            <a:ext cx="1612900" cy="1638300"/>
          </a:xfrm>
          <a:prstGeom prst="ellipse">
            <a:avLst/>
          </a:prstGeom>
          <a:solidFill>
            <a:srgbClr val="CC0000">
              <a:alpha val="50000"/>
            </a:srgbClr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39947" name="Text Box 11">
            <a:extLst>
              <a:ext uri="{FF2B5EF4-FFF2-40B4-BE49-F238E27FC236}">
                <a16:creationId xmlns:a16="http://schemas.microsoft.com/office/drawing/2014/main" id="{523DCF05-9FC9-44E9-BB49-4ABD3759F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6" y="476251"/>
            <a:ext cx="41899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Inclusion-Exclusion (4 sets)</a:t>
            </a:r>
          </a:p>
        </p:txBody>
      </p:sp>
      <p:sp>
        <p:nvSpPr>
          <p:cNvPr id="39948" name="Text Box 12">
            <a:extLst>
              <a:ext uri="{FF2B5EF4-FFF2-40B4-BE49-F238E27FC236}">
                <a16:creationId xmlns:a16="http://schemas.microsoft.com/office/drawing/2014/main" id="{9EBE295B-5FB5-4FA3-B119-5D794A81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425" y="5708651"/>
            <a:ext cx="415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>
                <a:solidFill>
                  <a:srgbClr val="000000"/>
                </a:solidFill>
              </a:rPr>
              <a:t>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6" name="Text Box 10">
            <a:extLst>
              <a:ext uri="{FF2B5EF4-FFF2-40B4-BE49-F238E27FC236}">
                <a16:creationId xmlns:a16="http://schemas.microsoft.com/office/drawing/2014/main" id="{8E9BB040-C386-43CA-AED5-CEEFBB07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6" y="476251"/>
            <a:ext cx="42205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Inclusion-Exclusion (n sets)</a:t>
            </a:r>
          </a:p>
        </p:txBody>
      </p:sp>
      <p:sp>
        <p:nvSpPr>
          <p:cNvPr id="45068" name="Oval 12">
            <a:extLst>
              <a:ext uri="{FF2B5EF4-FFF2-40B4-BE49-F238E27FC236}">
                <a16:creationId xmlns:a16="http://schemas.microsoft.com/office/drawing/2014/main" id="{E23B289B-4C2C-4ECC-B3E6-4EA6A11EB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3013075"/>
            <a:ext cx="1612900" cy="286385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9" name="Oval 13">
            <a:extLst>
              <a:ext uri="{FF2B5EF4-FFF2-40B4-BE49-F238E27FC236}">
                <a16:creationId xmlns:a16="http://schemas.microsoft.com/office/drawing/2014/main" id="{8EBC6BD3-83F0-4684-A900-45FEFAD18FBC}"/>
              </a:ext>
            </a:extLst>
          </p:cNvPr>
          <p:cNvSpPr>
            <a:spLocks noChangeArrowheads="1"/>
          </p:cNvSpPr>
          <p:nvPr/>
        </p:nvSpPr>
        <p:spPr bwMode="auto">
          <a:xfrm rot="2504122">
            <a:off x="4367214" y="3302000"/>
            <a:ext cx="2046287" cy="1638300"/>
          </a:xfrm>
          <a:prstGeom prst="ellipse">
            <a:avLst/>
          </a:prstGeom>
          <a:solidFill>
            <a:srgbClr val="33CCFF">
              <a:alpha val="50000"/>
            </a:srgbClr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0" name="Oval 14">
            <a:extLst>
              <a:ext uri="{FF2B5EF4-FFF2-40B4-BE49-F238E27FC236}">
                <a16:creationId xmlns:a16="http://schemas.microsoft.com/office/drawing/2014/main" id="{79B0BAF3-2AA3-4CCC-A2E6-EF3D1FA1A966}"/>
              </a:ext>
            </a:extLst>
          </p:cNvPr>
          <p:cNvSpPr>
            <a:spLocks noChangeArrowheads="1"/>
          </p:cNvSpPr>
          <p:nvPr/>
        </p:nvSpPr>
        <p:spPr bwMode="auto">
          <a:xfrm rot="20144157">
            <a:off x="5519738" y="3373438"/>
            <a:ext cx="2305050" cy="1638300"/>
          </a:xfrm>
          <a:prstGeom prst="ellipse">
            <a:avLst/>
          </a:prstGeom>
          <a:solidFill>
            <a:srgbClr val="CC0000">
              <a:alpha val="50000"/>
            </a:srgbClr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1" name="Oval 15">
            <a:extLst>
              <a:ext uri="{FF2B5EF4-FFF2-40B4-BE49-F238E27FC236}">
                <a16:creationId xmlns:a16="http://schemas.microsoft.com/office/drawing/2014/main" id="{E6E081BF-6D89-4C64-8B40-DCB71F80A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4021139"/>
            <a:ext cx="1944688" cy="1512887"/>
          </a:xfrm>
          <a:prstGeom prst="ellipse">
            <a:avLst/>
          </a:prstGeom>
          <a:pattFill prst="pct5">
            <a:fgClr>
              <a:schemeClr val="folHlink">
                <a:alpha val="50000"/>
              </a:schemeClr>
            </a:fgClr>
            <a:bgClr>
              <a:schemeClr val="folHlink">
                <a:alpha val="50000"/>
              </a:schemeClr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72" name="Oval 16">
            <a:extLst>
              <a:ext uri="{FF2B5EF4-FFF2-40B4-BE49-F238E27FC236}">
                <a16:creationId xmlns:a16="http://schemas.microsoft.com/office/drawing/2014/main" id="{43A93E31-075D-44C5-9509-C3418BBDCA1D}"/>
              </a:ext>
            </a:extLst>
          </p:cNvPr>
          <p:cNvSpPr>
            <a:spLocks noChangeArrowheads="1"/>
          </p:cNvSpPr>
          <p:nvPr/>
        </p:nvSpPr>
        <p:spPr bwMode="auto">
          <a:xfrm rot="595632">
            <a:off x="5803900" y="3963989"/>
            <a:ext cx="2159000" cy="1582737"/>
          </a:xfrm>
          <a:prstGeom prst="ellipse">
            <a:avLst/>
          </a:prstGeom>
          <a:pattFill prst="pct5">
            <a:fgClr>
              <a:srgbClr val="660066">
                <a:alpha val="50000"/>
              </a:srgbClr>
            </a:fgClr>
            <a:bgClr>
              <a:srgbClr val="660066">
                <a:alpha val="50000"/>
              </a:srgbClr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73" name="Oval 17">
            <a:extLst>
              <a:ext uri="{FF2B5EF4-FFF2-40B4-BE49-F238E27FC236}">
                <a16:creationId xmlns:a16="http://schemas.microsoft.com/office/drawing/2014/main" id="{CFB9BCF5-533E-4AD6-8C20-5621BA8E8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933825"/>
            <a:ext cx="5329237" cy="865188"/>
          </a:xfrm>
          <a:prstGeom prst="ellipse">
            <a:avLst/>
          </a:prstGeom>
          <a:gradFill rotWithShape="1">
            <a:gsLst>
              <a:gs pos="0">
                <a:srgbClr val="003366">
                  <a:alpha val="30000"/>
                </a:srgbClr>
              </a:gs>
              <a:gs pos="100000">
                <a:srgbClr val="003366">
                  <a:gamma/>
                  <a:shade val="46275"/>
                  <a:invGamma/>
                  <a:alpha val="30000"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74" name="Text Box 18">
            <a:extLst>
              <a:ext uri="{FF2B5EF4-FFF2-40B4-BE49-F238E27FC236}">
                <a16:creationId xmlns:a16="http://schemas.microsoft.com/office/drawing/2014/main" id="{2FF6B81E-8D1D-45F7-A407-F7374100B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1628775"/>
            <a:ext cx="6487802" cy="36933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What is the inclusion-exclusion formula for the union of n sets?</a:t>
            </a:r>
          </a:p>
        </p:txBody>
      </p:sp>
    </p:spTree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5A14A69C-D3A7-40FB-A195-3F096B2CC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981200"/>
            <a:ext cx="80772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1pPr>
            <a:lvl2pPr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2pPr>
            <a:lvl3pPr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3pPr>
            <a:lvl4pPr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4pPr>
            <a:lvl5pPr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01638" algn="l"/>
                <a:tab pos="73977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B0604030504040204" pitchFamily="18" charset="-120"/>
              </a:defRPr>
            </a:lvl9pPr>
          </a:lstStyle>
          <a:p>
            <a:r>
              <a:rPr kumimoji="0" lang="en-US" altLang="en-US" sz="2400">
                <a:latin typeface="Gill Sans MT" panose="020B0502020104020203" pitchFamily="34" charset="0"/>
              </a:rPr>
              <a:t>       sum of sizes of all single sets</a:t>
            </a:r>
          </a:p>
          <a:p>
            <a:r>
              <a:rPr kumimoji="0" lang="en-US" altLang="en-US" sz="2400">
                <a:latin typeface="Gill Sans MT" panose="020B0502020104020203" pitchFamily="34" charset="0"/>
              </a:rPr>
              <a:t>	–	sum of sizes of all 2-set intersections</a:t>
            </a:r>
          </a:p>
          <a:p>
            <a:r>
              <a:rPr kumimoji="0" lang="en-US" altLang="en-US" sz="2400">
                <a:latin typeface="Gill Sans MT" panose="020B0502020104020203" pitchFamily="34" charset="0"/>
              </a:rPr>
              <a:t>	+	sum of sizes of all 3-set intersections</a:t>
            </a:r>
          </a:p>
          <a:p>
            <a:r>
              <a:rPr kumimoji="0" lang="en-US" altLang="en-US" sz="2400">
                <a:latin typeface="Gill Sans MT" panose="020B0502020104020203" pitchFamily="34" charset="0"/>
              </a:rPr>
              <a:t>	–	sum of sizes of all 4-set intersections</a:t>
            </a:r>
          </a:p>
          <a:p>
            <a:r>
              <a:rPr kumimoji="0" lang="en-US" altLang="en-US" sz="2400">
                <a:latin typeface="Gill Sans MT" panose="020B0502020104020203" pitchFamily="34" charset="0"/>
              </a:rPr>
              <a:t>	…</a:t>
            </a:r>
          </a:p>
          <a:p>
            <a:r>
              <a:rPr kumimoji="0" lang="en-US" altLang="en-US" sz="2400">
                <a:latin typeface="Gill Sans MT" panose="020B0502020104020203" pitchFamily="34" charset="0"/>
              </a:rPr>
              <a:t>	+	(–1)</a:t>
            </a:r>
            <a:r>
              <a:rPr kumimoji="0" lang="en-US" altLang="en-US" sz="2400" i="1" baseline="30000">
                <a:latin typeface="Gill Sans MT" panose="020B0502020104020203" pitchFamily="34" charset="0"/>
              </a:rPr>
              <a:t>n</a:t>
            </a:r>
            <a:r>
              <a:rPr kumimoji="0" lang="en-US" altLang="en-US" sz="2400" baseline="30000">
                <a:latin typeface="Gill Sans MT" panose="020B0502020104020203" pitchFamily="34" charset="0"/>
              </a:rPr>
              <a:t>+1 </a:t>
            </a:r>
            <a:r>
              <a:rPr kumimoji="0" lang="en-US" altLang="en-US" sz="2400">
                <a:latin typeface="Gill Sans MT" panose="020B0502020104020203" pitchFamily="34" charset="0"/>
              </a:rPr>
              <a:t>× sum of sizes of intersections of all </a:t>
            </a:r>
            <a:r>
              <a:rPr kumimoji="0" lang="en-US" altLang="en-US" sz="2400" i="1">
                <a:latin typeface="Gill Sans MT" panose="020B0502020104020203" pitchFamily="34" charset="0"/>
              </a:rPr>
              <a:t>n</a:t>
            </a:r>
            <a:r>
              <a:rPr kumimoji="0" lang="en-US" altLang="en-US" sz="2400">
                <a:latin typeface="Gill Sans MT" panose="020B0502020104020203" pitchFamily="34" charset="0"/>
              </a:rPr>
              <a:t> sets</a:t>
            </a:r>
          </a:p>
        </p:txBody>
      </p:sp>
      <p:graphicFrame>
        <p:nvGraphicFramePr>
          <p:cNvPr id="37891" name="Object 3">
            <a:extLst>
              <a:ext uri="{FF2B5EF4-FFF2-40B4-BE49-F238E27FC236}">
                <a16:creationId xmlns:a16="http://schemas.microsoft.com/office/drawing/2014/main" id="{9F621C01-D3F6-40C3-8D79-7B21DE660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152526"/>
          <a:ext cx="41910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253800" progId="Equation.DSMT4">
                  <p:embed/>
                </p:oleObj>
              </mc:Choice>
              <mc:Fallback>
                <p:oleObj name="Equation" r:id="rId2" imgW="1282680" imgH="253800" progId="Equation.DSMT4">
                  <p:embed/>
                  <p:pic>
                    <p:nvPicPr>
                      <p:cNvPr id="37891" name="Object 3">
                        <a:extLst>
                          <a:ext uri="{FF2B5EF4-FFF2-40B4-BE49-F238E27FC236}">
                            <a16:creationId xmlns:a16="http://schemas.microsoft.com/office/drawing/2014/main" id="{9F621C01-D3F6-40C3-8D79-7B21DE660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152526"/>
                        <a:ext cx="41910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7F268878-0394-4FA1-8D61-CEC3D3B33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3613" y="4652964"/>
          <a:ext cx="4876800" cy="176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596880" progId="Equation.DSMT4">
                  <p:embed/>
                </p:oleObj>
              </mc:Choice>
              <mc:Fallback>
                <p:oleObj name="Equation" r:id="rId4" imgW="1650960" imgH="596880" progId="Equation.DSMT4">
                  <p:embed/>
                  <p:pic>
                    <p:nvPicPr>
                      <p:cNvPr id="37892" name="Object 4">
                        <a:extLst>
                          <a:ext uri="{FF2B5EF4-FFF2-40B4-BE49-F238E27FC236}">
                            <a16:creationId xmlns:a16="http://schemas.microsoft.com/office/drawing/2014/main" id="{7F268878-0394-4FA1-8D61-CEC3D3B33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4652964"/>
                        <a:ext cx="4876800" cy="176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>
            <a:extLst>
              <a:ext uri="{FF2B5EF4-FFF2-40B4-BE49-F238E27FC236}">
                <a16:creationId xmlns:a16="http://schemas.microsoft.com/office/drawing/2014/main" id="{DA931419-7F7B-437A-9461-EB01AE885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1" y="454026"/>
            <a:ext cx="42205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Inclusion-Exclusion (n sets)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forall x (x \in A \rightarrow x \in B)$&#10;&#10;\end{document}"/>
  <p:tag name="IGUANATEXSIZE" val="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&#10;&#10;$\forall x ( x \in A \leftrightarrow x \in B)$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forall x [ (x\in A \rightarrow  x \in B) \wedge (x \in B \rightarrow x \in A)]$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&#10;&#10;$\forall x ( x \in A \leftrightarrow x \in B)$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forall x (x \in A \rightarrow x \in  B) \wedge \exists x (x \in B \wedge x \not\in A)$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 x |  x\in A \vee x \in B\}$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 x |  x\in A \wedge x \in B\}$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(A - B) \cup (B - A)$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oplus B$&#10;&#10;\end{document}"/>
  <p:tag name="IGUANATEXSIZ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oplus B$&#10;&#10;\end{document}"/>
  <p:tag name="IGUANATEXSIZE" val="2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oplus B$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{ \bar{B}} $&#10;&#10;\end{document}"/>
  <p:tag name="IGUANATEXSIZE" val="1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emptyset = A$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U = A$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U = U$&#10;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\emptyset = \emptyset$&#10;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A = A$&#10;&#10;&#10;\end{document}"/>
  <p:tag name="IGUANATEXSIZE" val="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A = A$&#10;&#10;&#10;\end{document}"/>
  <p:tag name="IGUANATEXSIZE" val="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(\overline{A})} = A$&#10;&#10;&#10;\end{document}"/>
  <p:tag name="IGUANATEXSIZE" val="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B = B \cup A$&#10;&#10;&#10;\end{document}"/>
  <p:tag name="IGUANATEXSIZE" val="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B = B \cap A$&#10;&#10;&#10;\end{document}"/>
  <p:tag name="IGUANATEXSIZE" val="3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up C) = (A \cup B) \cup C$&#10;&#10;&#10;\end{document}"/>
  <p:tag name="IGUANATEXSIZE" val="3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B \cap C) = (A \cap B) \cap C$&#10;&#10;&#10;\end{document}"/>
  <p:tag name="IGUANATEXSIZE" val="3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B \cup C) = (A \cap B) \cup (A \cap C)$&#10;&#10;&#10;\end{document}"/>
  <p:tag name="IGUANATEXSIZE" val="3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up B} = \overline{A} \cap \overline{B}$&#10;&#10;&#10;\end{document}"/>
  <p:tag name="IGUANATEXSIZE" val="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A \cap B} = \overline{A} \cup \overline{B}$&#10;&#10;&#10;\end{document}"/>
  <p:tag name="IGUANATEXSIZE" val="3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A \cap B) = A$&#10;&#10;&#10;\end{document}"/>
  <p:tag name="IGUANATEXSIZE" val="3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(A \cup B) = A$&#10;&#10;&#10;\end{document}"/>
  <p:tag name="IGUANATEXSIZE" val="3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\overline{A} = U$&#10;&#10;&#10;\end{document}"/>
  <p:tag name="IGUANATEXSIZE" val="3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ap \overline{A} = \emptyset$&#10;&#10;&#10;\end{document}"/>
  <p:tag name="IGUANATEXSIZE" val="3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= \overline{A} \cup \overline{B}$&#10;&#10;\end{document}"/>
  <p:tag name="IGUANATEXSIZE" val="3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\subseteq \overline{A} \cup \overline{B}$&#10;&#10;\end{document}"/>
  <p:tag name="IGUANATEXSIZE" val="3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 \cap B} \subseteq \overline{A} \cup \overline{B}$&#10;&#10;\end{document}"/>
  <p:tag name="IGUANATEXSIZE" val="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 \cap B}$ &amp; by assumption\\&#10;$x \not\in A \cap B$&amp; defn. of complement\\&#10;$\neg((x \in A) \wedge (x \in B))$&amp; defn. of intersection\\&#10;$\neg (x \in A) \vee \neg (x \in B)$ &amp; 1st De Morgan Law for Prop Logic\\&#10;$x \not\in A \vee x \not\in B$ &amp; defn. of negation\\&#10;$x \in \overline{A} \vee x \in \overline{B}$&amp; defn. of complement\\&#10;$x \in \overline{A} \cup \overline{B}$&amp; defn. of union\\&#10;\end{tabular}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\begin{tabular}{ll}&#10;$x \in \overline{A} \cup \overline{B}$ &amp; by assumption\\&#10;$(x \in \overline{A}) \vee (x \in \overline{B})$&amp; defn. of union\\&#10;$(x \not\in A) \vee (x \not\in B)$ &amp; defn. of complement\\&#10;$\neg(x \in A) \vee \neg(x \in B)$ &amp; defn. of negation\\&#10;$\neg(( x \in A) \wedge (x \in B))$&amp; by 1st De Morgan Law for Prop Logic\\&#10;$\neg (x \in A \cap B)$&amp; defn. of intersection\\&#10;$x \in \overline{A \cap B}$ &amp;defn. of complement&#10;\end{tabular}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overline{A} \cup \overline{B} \subseteq \overline{A \cap B}$&#10;&#10;\end{document}"/>
  <p:tag name="IGUANATEXSIZE" val="3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\begin{tabular}{llll}&#10;$\overline{A \cap B}$ &amp; = &amp; $\{x| x \not\in A \cap B \}$ &amp; by defn. of complement\\&#10;&amp;=&amp; $\{ x | \neg (x \in (A \cap B))\}$&amp; by defn. of does not belong symbol\\&#10;&amp;=&amp; $\{x | \neg (x \in A \wedge x \in B\}$ &amp; by defn. of intersection\\&#10;&amp;=&amp; $\{x | \neg(x \in A) \vee \neg(x \in B)\}$ &amp;by 1st De Morgan law\\&#10;&amp;&amp;&amp; for Prop Logic\\&#10;&amp;=&amp; $\{x | x \not\in A \vee x \not\in B\}$ &amp; by defn. of not belong symbol\\&#10;&amp;=&amp; $\{x | x \in \overline{A} \vee x \in \overline{B}\}$&amp; by defn. of complement\\&#10;&amp;=&amp; $\{x | x \in \overline{A} \cup \overline{B}\}$&amp; by defn. of union\\&#10;&amp;=&amp; $\overline{A} \cup \overline{B}$&amp; by meaning of notation&#10;\end{tabular}&#10;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B \cap C$&#10;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(B \cap C)$&#10;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B$&#10;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cup C$&#10;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(A \cup B )\cap (A \cup C)$&#10;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 \cup (B \cap C) = (A \cup B) \cap (A \cup C)$&#10;&#10;&#10;\end{document}"/>
  <p:tag name="IGUANATEXSIZE" val="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750</TotalTime>
  <Words>3683</Words>
  <Application>Microsoft Office PowerPoint</Application>
  <PresentationFormat>Widescreen</PresentationFormat>
  <Paragraphs>505</Paragraphs>
  <Slides>57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1" baseType="lpstr">
      <vt:lpstr>Brush Script MT</vt:lpstr>
      <vt:lpstr>Calibri</vt:lpstr>
      <vt:lpstr>Cambria Math</vt:lpstr>
      <vt:lpstr>Constantia</vt:lpstr>
      <vt:lpstr>Gill Sans MT</vt:lpstr>
      <vt:lpstr>Times New Roman</vt:lpstr>
      <vt:lpstr>Tw Cen MT</vt:lpstr>
      <vt:lpstr>Tw Cen MT Condensed</vt:lpstr>
      <vt:lpstr>Wingdings</vt:lpstr>
      <vt:lpstr>Wingdings 2</vt:lpstr>
      <vt:lpstr>Wingdings 3</vt:lpstr>
      <vt:lpstr>Integral</vt:lpstr>
      <vt:lpstr>Flow</vt:lpstr>
      <vt:lpstr>Equation</vt:lpstr>
      <vt:lpstr>INTRODUCTION TO Mathematical FOUNDATIONS FOR COMPUTER SCIENCE (2CS802CC25)</vt:lpstr>
      <vt:lpstr>Expectations FROM THE CLASS….</vt:lpstr>
      <vt:lpstr>MFCS/discrete mathematics</vt:lpstr>
      <vt:lpstr>OUTLINE OF THE LECTURE…</vt:lpstr>
      <vt:lpstr>WHAT HAVE WE STUDIED IN MATHEMATICS TILL NOW</vt:lpstr>
      <vt:lpstr>WHAT IS DISCRETE MATHEMATICS..??</vt:lpstr>
      <vt:lpstr>The big difference</vt:lpstr>
      <vt:lpstr>WHAT IS COMPUTING??</vt:lpstr>
      <vt:lpstr>MAPPING OF THE previous PROBLEM to other problems</vt:lpstr>
      <vt:lpstr>SOME REAL LIFE PROBLEMS</vt:lpstr>
      <vt:lpstr>THE ANCIENT BARBER PROBLEM</vt:lpstr>
      <vt:lpstr>THE DNA PROBLEM</vt:lpstr>
      <vt:lpstr>APPLICATION AREAS OF DISCRETE MATHEMATICS</vt:lpstr>
      <vt:lpstr>UNIT-1 Sets, Relation and Function</vt:lpstr>
      <vt:lpstr>SYLLABUS OF UNIT-1</vt:lpstr>
      <vt:lpstr>Set Theory</vt:lpstr>
      <vt:lpstr>Introduction</vt:lpstr>
      <vt:lpstr>Sets-Membership</vt:lpstr>
      <vt:lpstr>Describing a Set</vt:lpstr>
      <vt:lpstr>Set Representation:Roster Method</vt:lpstr>
      <vt:lpstr>Some Important Sets</vt:lpstr>
      <vt:lpstr>Set Representation:Set-Builder Notation</vt:lpstr>
      <vt:lpstr>Universal Set and Empty Set</vt:lpstr>
      <vt:lpstr>Some things to remember</vt:lpstr>
      <vt:lpstr>Subsets</vt:lpstr>
      <vt:lpstr>Showing a Set is or is not a Subset of Another Set</vt:lpstr>
      <vt:lpstr>Set Equality</vt:lpstr>
      <vt:lpstr>Another look at Equality of Sets</vt:lpstr>
      <vt:lpstr>Proper Subsets</vt:lpstr>
      <vt:lpstr>Set Cardinality</vt:lpstr>
      <vt:lpstr>Power Sets</vt:lpstr>
      <vt:lpstr>Set Operations</vt:lpstr>
      <vt:lpstr>Section Summary</vt:lpstr>
      <vt:lpstr>Union</vt:lpstr>
      <vt:lpstr>Intersection</vt:lpstr>
      <vt:lpstr>Complement</vt:lpstr>
      <vt:lpstr>Difference</vt:lpstr>
      <vt:lpstr>Symmetric Difference (optional)</vt:lpstr>
      <vt:lpstr>Review Questions</vt:lpstr>
      <vt:lpstr>Set Identities</vt:lpstr>
      <vt:lpstr>Set Identities</vt:lpstr>
      <vt:lpstr>Set Identities</vt:lpstr>
      <vt:lpstr>Proving Set Identities</vt:lpstr>
      <vt:lpstr>Proof of Second De Morgan Law</vt:lpstr>
      <vt:lpstr>Proof of Second De Morgan Law </vt:lpstr>
      <vt:lpstr>Proof of Second De Morgan Law </vt:lpstr>
      <vt:lpstr>Set-Builder Notation: Second De Morgan Law</vt:lpstr>
      <vt:lpstr>Membership Table</vt:lpstr>
      <vt:lpstr>Inclusion-Exclusion Principle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mathematical foundations of computer science(ce303)</dc:title>
  <dc:creator>Administrator</dc:creator>
  <cp:lastModifiedBy>Chandan Trivedi</cp:lastModifiedBy>
  <cp:revision>50</cp:revision>
  <dcterms:created xsi:type="dcterms:W3CDTF">2018-06-20T04:02:52Z</dcterms:created>
  <dcterms:modified xsi:type="dcterms:W3CDTF">2025-07-15T06:58:27Z</dcterms:modified>
</cp:coreProperties>
</file>