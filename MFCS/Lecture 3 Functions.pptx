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8F089-E167-4138-B1C9-3B0BC85B9CB6}" type="datetimeFigureOut">
              <a:rPr lang="en-IN" smtClean="0"/>
              <a:t>24-01-2023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1F11B-2790-4C16-ACEC-1FC0D4789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1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E1F11B-2790-4C16-ACEC-1FC0D478928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719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6F975-B448-3046-48BD-588A30D35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4EB79-3FDC-6833-1CCE-5DA4CD037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DB73D-EA2D-E51C-55C0-7E0331F6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6C78F-A66B-0829-0CB2-8113D8ABD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E1590-FFB7-19D2-819F-3E34AD18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2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D336-1FFC-1D57-7D97-81B0A668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09E00-6F39-2254-7B77-3155470A5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24AFA-3814-641F-8E04-50BC7379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C257C-0A16-E80A-D956-C9F22C6E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F288D-3FBC-E279-DED8-BB55AB6A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02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C9327-EE4A-F7E0-E53F-982441B63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BF850-1848-1D87-FDE4-0CF3ACF51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BE17A-AFD7-60F3-580E-EFBB964A7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984F5-1DA3-3BF6-B9C8-425428F8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F4C61-5EA2-69D6-5485-9B98DFE1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1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D00F-BBB3-E12C-6A7C-7EF3B166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65BD6-81FB-72BB-8FA4-64F922438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2C535-32E8-E0FC-97C9-CFEB2FBFA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44910-3044-91FB-0FD2-374011A0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D6BD5-08FD-1C2F-0B4D-B978A4FF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F1819-EE01-2E84-83DD-11C8250E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11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D331C-0241-A6FB-0CDC-A8D58295F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EFC53-D1C9-1170-1EB0-34E17BB89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6D712-B306-ABC7-9947-3672493AC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B8E1D5-F89F-0689-CA61-F68246A50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BCEAE-6595-26ED-CD5E-3EE93E617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8EAABC-5A18-F793-D85E-066FFEB2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61338-7EE4-4A34-7AB9-74690DBA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72282E-3B95-ECB6-F25D-B8BA8B002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3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A10AE-4540-C928-41A3-27764FEC9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5852D-5634-A4C3-4540-28B4DEEEB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44CCE-4D64-DD14-9023-C9ABE119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D1427-6318-8359-3252-7EE229FF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4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084DD4-919F-0BB3-8327-6641479FD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21B0CB-8A9C-5CD9-83D1-51CFA169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760ED-B570-E096-212C-6BDDD2AF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64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F723-C6C3-4C50-ACDC-9F6429239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0CCFF-B2B3-2AFC-C0F2-03466EE2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2864D-B352-7E02-C89C-009C7F3BF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7C63C-1772-0444-8DF9-778509441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11C1-54A6-FBD3-5FF5-0E449204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6095A-90AF-F1FD-2C06-A27701B1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2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D56B-0480-6DAB-D8C8-FC711C40D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187347-9177-B4BA-1AF5-E185162F3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1AD8E-A556-FEFE-CB03-F49AD0E8E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242EF-AA54-770B-0959-C298A312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DF76D-4205-974D-2895-021BF6BA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6D764-82EB-45BF-CE00-B8863C903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87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6721-149B-BBB8-B924-5144AC0C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74A2F-D332-4F19-C9AB-D59A0DB2F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EE51E-2195-FAC2-171F-254CFA81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3941F-24B7-320E-9434-010F8C3D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ED75-8FE1-8B95-5C32-8A9E1C87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2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D207E-F7E4-4024-7C0B-749077C46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FA0EB-D2CA-F49A-4FF4-88428B27B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F9611-0B6A-E687-C527-91D5BBD8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Spring 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A0863-492A-E9F6-A3F0-356D502F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2CS305 - Discrete Mathematics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AB-6072-8782-A4FD-CA080862C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35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960194-7018-3799-8FE5-CD5F09866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08A35-A316-643E-DC13-5914B4706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38838-CABA-3334-CF6D-099E677B7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Spring 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61036-F376-B9C8-99DF-5B3C72589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2CS305 - Discrete Mathematics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EDE8E-14CF-3EE8-DD58-D7C1E4277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9FCE0-587F-4D56-8737-68F0E3CEF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5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2438400" y="2133600"/>
            <a:ext cx="7467600" cy="2286000"/>
          </a:xfrm>
        </p:spPr>
        <p:txBody>
          <a:bodyPr/>
          <a:lstStyle/>
          <a:p>
            <a:pPr marL="0" indent="0">
              <a:lnSpc>
                <a:spcPct val="55000"/>
              </a:lnSpc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 algn="ctr">
              <a:spcBef>
                <a:spcPct val="0"/>
              </a:spcBef>
              <a:buNone/>
              <a:defRPr/>
            </a:pPr>
            <a:r>
              <a:rPr lang="en-US" altLang="en-US" sz="8000" dirty="0">
                <a:sym typeface="Symbol" panose="05050102010706020507" pitchFamily="18" charset="2"/>
              </a:rPr>
              <a:t>Functions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BB5CD7D1-0042-49CE-93AC-A28EFC12BCB6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42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91" y="377616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</a:t>
            </a:r>
            <a:endParaRPr lang="en-CA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1"/>
          </p:nvPr>
        </p:nvSpPr>
        <p:spPr>
          <a:xfrm>
            <a:off x="1206357" y="1288551"/>
            <a:ext cx="10372618" cy="51054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function</a:t>
            </a:r>
            <a:r>
              <a:rPr lang="en-US" altLang="en-US" dirty="0">
                <a:sym typeface="Symbol" panose="05050102010706020507" pitchFamily="18" charset="2"/>
              </a:rPr>
              <a:t> f from a set A to a set B is an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assignment</a:t>
            </a:r>
            <a:r>
              <a:rPr lang="en-US" altLang="en-US" dirty="0">
                <a:sym typeface="Symbol" panose="05050102010706020507" pitchFamily="18" charset="2"/>
              </a:rPr>
              <a:t> of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exactly one </a:t>
            </a:r>
            <a:r>
              <a:rPr lang="en-US" altLang="en-US" dirty="0">
                <a:sym typeface="Symbol" panose="05050102010706020507" pitchFamily="18" charset="2"/>
              </a:rPr>
              <a:t>element of B to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each</a:t>
            </a:r>
            <a:r>
              <a:rPr lang="en-US" altLang="en-US" dirty="0">
                <a:sym typeface="Symbol" panose="05050102010706020507" pitchFamily="18" charset="2"/>
              </a:rPr>
              <a:t> element of A.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We write : f(a) = b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if b is the unique element of B assigned by the function f to the element a of A.</a:t>
            </a:r>
            <a:endParaRPr lang="en-US" altLang="en-US" sz="8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If f is a function from A to B, we write f: AB</a:t>
            </a:r>
          </a:p>
          <a:p>
            <a:pPr marL="0" indent="0">
              <a:buNone/>
              <a:defRPr/>
            </a:pPr>
            <a:r>
              <a:rPr lang="en-US" altLang="en-US" dirty="0">
                <a:solidFill>
                  <a:srgbClr val="FFC000"/>
                </a:solidFill>
                <a:sym typeface="Symbol" panose="05050102010706020507" pitchFamily="18" charset="2"/>
              </a:rPr>
              <a:t>(note:  Here, ““ has nothing to do with if… then)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859E4359-C924-469B-AC07-E819281D71E8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35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8546" y="439613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Functions</a:t>
            </a:r>
            <a:endParaRPr lang="en-CA" altLang="en-US" sz="3600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idx="1"/>
          </p:nvPr>
        </p:nvSpPr>
        <p:spPr>
          <a:xfrm>
            <a:off x="1038546" y="1286839"/>
            <a:ext cx="10315254" cy="45720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If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:AB, we say that A is the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domain</a:t>
            </a:r>
            <a:r>
              <a:rPr lang="en-US" altLang="en-US" dirty="0">
                <a:sym typeface="Symbol" panose="05050102010706020507" pitchFamily="18" charset="2"/>
              </a:rPr>
              <a:t> of f and B is the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codomain</a:t>
            </a:r>
            <a:r>
              <a:rPr lang="en-US" altLang="en-US" dirty="0">
                <a:sym typeface="Symbol" panose="05050102010706020507" pitchFamily="18" charset="2"/>
              </a:rPr>
              <a:t> of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If f(a) = b, we say that b is the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image</a:t>
            </a:r>
            <a:r>
              <a:rPr lang="en-US" altLang="en-US" dirty="0">
                <a:sym typeface="Symbol" panose="05050102010706020507" pitchFamily="18" charset="2"/>
              </a:rPr>
              <a:t> of a and a is the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pre-image</a:t>
            </a:r>
            <a:r>
              <a:rPr lang="en-US" altLang="en-US" dirty="0">
                <a:sym typeface="Symbol" panose="05050102010706020507" pitchFamily="18" charset="2"/>
              </a:rPr>
              <a:t> of b.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The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range</a:t>
            </a:r>
            <a:r>
              <a:rPr lang="en-US" altLang="en-US" dirty="0">
                <a:sym typeface="Symbol" panose="05050102010706020507" pitchFamily="18" charset="2"/>
              </a:rPr>
              <a:t> of f:AB is the set of all images of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all</a:t>
            </a:r>
            <a:r>
              <a:rPr lang="en-US" altLang="en-US" dirty="0">
                <a:sym typeface="Symbol" panose="05050102010706020507" pitchFamily="18" charset="2"/>
              </a:rPr>
              <a:t> elements of A.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We say that f:AB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maps</a:t>
            </a:r>
            <a:r>
              <a:rPr lang="en-US" altLang="en-US" dirty="0">
                <a:sym typeface="Symbol" panose="05050102010706020507" pitchFamily="18" charset="2"/>
              </a:rPr>
              <a:t> A to B.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3EFC9B96-E5B7-4171-B96D-1A7E434353D0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11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2385" y="5334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Functions</a:t>
            </a:r>
            <a:endParaRPr lang="en-CA" altLang="en-US" sz="3600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1182384" y="1501775"/>
            <a:ext cx="10171415" cy="4572000"/>
          </a:xfrm>
        </p:spPr>
        <p:txBody>
          <a:bodyPr>
            <a:normAutofit lnSpcReduction="10000"/>
          </a:bodyPr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Let us take a look at the function f:PC with 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P = {Vijay, Arvind, Praveen, Bhushan} 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C = {GJ, Delhi, MP, AP}</a:t>
            </a:r>
          </a:p>
          <a:p>
            <a:pPr marL="0" indent="0">
              <a:defRPr/>
            </a:pPr>
            <a:endParaRPr lang="en-US" altLang="en-US" sz="1600" dirty="0">
              <a:solidFill>
                <a:srgbClr val="00FFFF"/>
              </a:solidFill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f(Vijay) = GJ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f(Arvind) = Delhi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f(Praveen) = MP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f(Bhushan) = AP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Here, the range of f is C.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12BA9DF0-39DB-413B-954E-67CF006D2555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84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67319" y="449887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Functions</a:t>
            </a:r>
            <a:endParaRPr lang="en-CA" altLang="en-US" sz="3600" b="1" dirty="0"/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1586501" y="1295400"/>
            <a:ext cx="8305800" cy="3733800"/>
          </a:xfrm>
        </p:spPr>
        <p:txBody>
          <a:bodyPr>
            <a:normAutofit/>
          </a:bodyPr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Let us re-specify f as follows:</a:t>
            </a:r>
            <a:endParaRPr lang="en-US" altLang="en-US" dirty="0">
              <a:solidFill>
                <a:srgbClr val="00FFFF"/>
              </a:solidFill>
              <a:sym typeface="Symbol" panose="05050102010706020507" pitchFamily="18" charset="2"/>
            </a:endParaRPr>
          </a:p>
          <a:p>
            <a:pPr marL="0" indent="0">
              <a:defRPr/>
            </a:pPr>
            <a:endParaRPr lang="en-US" altLang="en-US" sz="1600" dirty="0">
              <a:solidFill>
                <a:srgbClr val="00FFFF"/>
              </a:solidFill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f(Vijay) = GJ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f(Arvind) = AP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f(Praveen) = MP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f(Bhushan) = AP</a:t>
            </a:r>
          </a:p>
          <a:p>
            <a:pPr marL="0" indent="0">
              <a:defRPr/>
            </a:pPr>
            <a:endParaRPr lang="en-US" altLang="en-US" sz="16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Is f still a function?</a:t>
            </a:r>
          </a:p>
          <a:p>
            <a:pPr marL="0" indent="0">
              <a:defRPr/>
            </a:pPr>
            <a:endParaRPr lang="en-US" altLang="en-US" sz="800" dirty="0">
              <a:solidFill>
                <a:srgbClr val="00FFFF"/>
              </a:solidFill>
              <a:sym typeface="Symbol" panose="05050102010706020507" pitchFamily="18" charset="2"/>
            </a:endParaRPr>
          </a:p>
          <a:p>
            <a:pPr marL="0" indent="0">
              <a:defRPr/>
            </a:pPr>
            <a:endParaRPr lang="en-US" altLang="en-US" dirty="0">
              <a:solidFill>
                <a:srgbClr val="00FFFF"/>
              </a:solidFill>
              <a:sym typeface="Symbol" panose="05050102010706020507" pitchFamily="18" charset="2"/>
            </a:endParaRP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318605B0-EEC5-4991-A7CD-034BBD7AAD26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4605819" y="4551569"/>
            <a:ext cx="1295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3429000" y="5029200"/>
            <a:ext cx="5029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{GJ, AP, MP}</a:t>
            </a:r>
          </a:p>
        </p:txBody>
      </p:sp>
      <p:sp>
        <p:nvSpPr>
          <p:cNvPr id="152582" name="Text Box 6"/>
          <p:cNvSpPr txBox="1">
            <a:spLocks noChangeArrowheads="1"/>
          </p:cNvSpPr>
          <p:nvPr/>
        </p:nvSpPr>
        <p:spPr bwMode="auto">
          <a:xfrm>
            <a:off x="1676400" y="5029200"/>
            <a:ext cx="3505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solidFill>
                  <a:srgbClr val="FF0000"/>
                </a:solidFill>
              </a:rPr>
              <a:t>What is its range?</a:t>
            </a:r>
          </a:p>
        </p:txBody>
      </p:sp>
    </p:spTree>
    <p:extLst>
      <p:ext uri="{BB962C8B-B14F-4D97-AF65-F5344CB8AC3E}">
        <p14:creationId xmlns:p14="http://schemas.microsoft.com/office/powerpoint/2010/main" val="259568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 autoUpdateAnimBg="0"/>
      <p:bldP spid="152580" grpId="0" autoUpdateAnimBg="0"/>
      <p:bldP spid="152581" grpId="0" autoUpdateAnimBg="0"/>
      <p:bldP spid="15258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15949" y="3429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Functions</a:t>
            </a:r>
            <a:endParaRPr lang="en-CA" altLang="en-US" sz="3600" b="1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>
          <a:xfrm>
            <a:off x="1315949" y="1131888"/>
            <a:ext cx="8534400" cy="609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Other ways to represent f:</a:t>
            </a:r>
          </a:p>
          <a:p>
            <a:pPr marL="0" indent="0">
              <a:defRPr/>
            </a:pPr>
            <a:endParaRPr lang="en-US" altLang="en-US" dirty="0">
              <a:solidFill>
                <a:srgbClr val="00FFFF"/>
              </a:solidFill>
              <a:sym typeface="Symbol" panose="05050102010706020507" pitchFamily="18" charset="2"/>
            </a:endParaRP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AA40ACC3-E823-4070-A03B-D753CC149505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3604" name="Group 4"/>
          <p:cNvGrpSpPr>
            <a:grpSpLocks/>
          </p:cNvGrpSpPr>
          <p:nvPr/>
        </p:nvGrpSpPr>
        <p:grpSpPr bwMode="auto">
          <a:xfrm>
            <a:off x="2438400" y="2057400"/>
            <a:ext cx="3200400" cy="3581400"/>
            <a:chOff x="576" y="1104"/>
            <a:chExt cx="1920" cy="2434"/>
          </a:xfrm>
        </p:grpSpPr>
        <p:sp>
          <p:nvSpPr>
            <p:cNvPr id="153605" name="Rectangle 5"/>
            <p:cNvSpPr>
              <a:spLocks noChangeArrowheads="1"/>
            </p:cNvSpPr>
            <p:nvPr/>
          </p:nvSpPr>
          <p:spPr bwMode="auto">
            <a:xfrm>
              <a:off x="1536" y="3174"/>
              <a:ext cx="960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defRPr/>
              </a:pPr>
              <a:r>
                <a:rPr lang="en-US" altLang="en-US" sz="2800" dirty="0">
                  <a:solidFill>
                    <a:srgbClr val="FF0000"/>
                  </a:solidFill>
                  <a:effectLst/>
                </a:rPr>
                <a:t>AP</a:t>
              </a:r>
            </a:p>
          </p:txBody>
        </p:sp>
        <p:sp>
          <p:nvSpPr>
            <p:cNvPr id="153606" name="Rectangle 6"/>
            <p:cNvSpPr>
              <a:spLocks noChangeArrowheads="1"/>
            </p:cNvSpPr>
            <p:nvPr/>
          </p:nvSpPr>
          <p:spPr bwMode="auto">
            <a:xfrm>
              <a:off x="576" y="3174"/>
              <a:ext cx="960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defRPr/>
              </a:pPr>
              <a:r>
                <a:rPr lang="en-US" altLang="en-US" sz="2800" dirty="0" err="1">
                  <a:solidFill>
                    <a:srgbClr val="FF0000"/>
                  </a:solidFill>
                  <a:effectLst/>
                </a:rPr>
                <a:t>Bhushan</a:t>
              </a:r>
              <a:endParaRPr lang="en-US" altLang="en-US" sz="2800" dirty="0">
                <a:solidFill>
                  <a:srgbClr val="FF0000"/>
                </a:solidFill>
                <a:effectLst/>
              </a:endParaRPr>
            </a:p>
          </p:txBody>
        </p:sp>
        <p:sp>
          <p:nvSpPr>
            <p:cNvPr id="153607" name="Rectangle 7"/>
            <p:cNvSpPr>
              <a:spLocks noChangeArrowheads="1"/>
            </p:cNvSpPr>
            <p:nvPr/>
          </p:nvSpPr>
          <p:spPr bwMode="auto">
            <a:xfrm>
              <a:off x="1536" y="2503"/>
              <a:ext cx="960" cy="6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defRPr/>
              </a:pPr>
              <a:r>
                <a:rPr lang="en-US" altLang="en-US" sz="2800" dirty="0">
                  <a:solidFill>
                    <a:srgbClr val="FF0000"/>
                  </a:solidFill>
                  <a:effectLst/>
                </a:rPr>
                <a:t>MP</a:t>
              </a:r>
            </a:p>
          </p:txBody>
        </p:sp>
        <p:sp>
          <p:nvSpPr>
            <p:cNvPr id="153608" name="Rectangle 8"/>
            <p:cNvSpPr>
              <a:spLocks noChangeArrowheads="1"/>
            </p:cNvSpPr>
            <p:nvPr/>
          </p:nvSpPr>
          <p:spPr bwMode="auto">
            <a:xfrm>
              <a:off x="576" y="2503"/>
              <a:ext cx="960" cy="6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defRPr/>
              </a:pPr>
              <a:r>
                <a:rPr lang="en-US" altLang="en-US" sz="2800" dirty="0">
                  <a:solidFill>
                    <a:srgbClr val="FF0000"/>
                  </a:solidFill>
                  <a:effectLst/>
                </a:rPr>
                <a:t>Praveen</a:t>
              </a:r>
            </a:p>
          </p:txBody>
        </p:sp>
        <p:sp>
          <p:nvSpPr>
            <p:cNvPr id="153609" name="Rectangle 9"/>
            <p:cNvSpPr>
              <a:spLocks noChangeArrowheads="1"/>
            </p:cNvSpPr>
            <p:nvPr/>
          </p:nvSpPr>
          <p:spPr bwMode="auto">
            <a:xfrm>
              <a:off x="1536" y="2139"/>
              <a:ext cx="96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defRPr/>
              </a:pPr>
              <a:r>
                <a:rPr lang="en-US" altLang="en-US" sz="2800" dirty="0">
                  <a:solidFill>
                    <a:srgbClr val="FF0000"/>
                  </a:solidFill>
                  <a:effectLst/>
                </a:rPr>
                <a:t>AP</a:t>
              </a:r>
            </a:p>
          </p:txBody>
        </p:sp>
        <p:sp>
          <p:nvSpPr>
            <p:cNvPr id="153610" name="Rectangle 10"/>
            <p:cNvSpPr>
              <a:spLocks noChangeArrowheads="1"/>
            </p:cNvSpPr>
            <p:nvPr/>
          </p:nvSpPr>
          <p:spPr bwMode="auto">
            <a:xfrm>
              <a:off x="576" y="2139"/>
              <a:ext cx="96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defRPr/>
              </a:pPr>
              <a:r>
                <a:rPr lang="en-US" altLang="en-US" sz="2800" dirty="0">
                  <a:solidFill>
                    <a:srgbClr val="FF0000"/>
                  </a:solidFill>
                  <a:effectLst/>
                </a:rPr>
                <a:t>Arvind</a:t>
              </a:r>
            </a:p>
          </p:txBody>
        </p:sp>
        <p:sp>
          <p:nvSpPr>
            <p:cNvPr id="153611" name="Rectangle 11"/>
            <p:cNvSpPr>
              <a:spLocks noChangeArrowheads="1"/>
            </p:cNvSpPr>
            <p:nvPr/>
          </p:nvSpPr>
          <p:spPr bwMode="auto">
            <a:xfrm>
              <a:off x="1536" y="1468"/>
              <a:ext cx="960" cy="6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defRPr/>
              </a:pPr>
              <a:r>
                <a:rPr lang="en-US" altLang="en-US" sz="2800" dirty="0">
                  <a:solidFill>
                    <a:srgbClr val="FF0000"/>
                  </a:solidFill>
                  <a:effectLst/>
                </a:rPr>
                <a:t>GJ</a:t>
              </a:r>
            </a:p>
          </p:txBody>
        </p:sp>
        <p:sp>
          <p:nvSpPr>
            <p:cNvPr id="153612" name="Rectangle 12"/>
            <p:cNvSpPr>
              <a:spLocks noChangeArrowheads="1"/>
            </p:cNvSpPr>
            <p:nvPr/>
          </p:nvSpPr>
          <p:spPr bwMode="auto">
            <a:xfrm>
              <a:off x="576" y="1468"/>
              <a:ext cx="960" cy="6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defRPr/>
              </a:pPr>
              <a:r>
                <a:rPr lang="en-US" altLang="en-US" sz="2800" dirty="0">
                  <a:solidFill>
                    <a:srgbClr val="FF0000"/>
                  </a:solidFill>
                  <a:effectLst/>
                </a:rPr>
                <a:t>Vijay</a:t>
              </a:r>
            </a:p>
          </p:txBody>
        </p:sp>
        <p:sp>
          <p:nvSpPr>
            <p:cNvPr id="153613" name="Rectangle 13"/>
            <p:cNvSpPr>
              <a:spLocks noChangeArrowheads="1"/>
            </p:cNvSpPr>
            <p:nvPr/>
          </p:nvSpPr>
          <p:spPr bwMode="auto">
            <a:xfrm>
              <a:off x="1536" y="1104"/>
              <a:ext cx="960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defRPr/>
              </a:pPr>
              <a:r>
                <a:rPr lang="en-US" altLang="en-US" sz="2800">
                  <a:solidFill>
                    <a:srgbClr val="FF0000"/>
                  </a:solidFill>
                  <a:effectLst/>
                </a:rPr>
                <a:t>f(x)</a:t>
              </a:r>
            </a:p>
          </p:txBody>
        </p:sp>
        <p:sp>
          <p:nvSpPr>
            <p:cNvPr id="153614" name="Rectangle 14"/>
            <p:cNvSpPr>
              <a:spLocks noChangeArrowheads="1"/>
            </p:cNvSpPr>
            <p:nvPr/>
          </p:nvSpPr>
          <p:spPr bwMode="auto">
            <a:xfrm>
              <a:off x="576" y="1104"/>
              <a:ext cx="960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32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1pPr>
              <a:lvl2pPr>
                <a:buChar char="–"/>
                <a:defRPr sz="24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2pPr>
              <a:lvl3pPr>
                <a:buChar char="•"/>
                <a:defRPr sz="2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3pPr>
              <a:lvl4pPr>
                <a:buChar char="–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4pPr>
              <a:lvl5pPr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defRPr/>
              </a:pPr>
              <a:r>
                <a:rPr lang="en-US" altLang="en-US" sz="2800">
                  <a:solidFill>
                    <a:srgbClr val="FF0000"/>
                  </a:solidFill>
                  <a:effectLst/>
                </a:rPr>
                <a:t>x</a:t>
              </a:r>
            </a:p>
          </p:txBody>
        </p:sp>
        <p:sp>
          <p:nvSpPr>
            <p:cNvPr id="31775" name="Line 15"/>
            <p:cNvSpPr>
              <a:spLocks noChangeShapeType="1"/>
            </p:cNvSpPr>
            <p:nvPr/>
          </p:nvSpPr>
          <p:spPr bwMode="auto">
            <a:xfrm>
              <a:off x="576" y="1104"/>
              <a:ext cx="1920" cy="0"/>
            </a:xfrm>
            <a:prstGeom prst="line">
              <a:avLst/>
            </a:prstGeom>
            <a:noFill/>
            <a:ln w="28575" cap="sq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1776" name="Line 16"/>
            <p:cNvSpPr>
              <a:spLocks noChangeShapeType="1"/>
            </p:cNvSpPr>
            <p:nvPr/>
          </p:nvSpPr>
          <p:spPr bwMode="auto">
            <a:xfrm>
              <a:off x="576" y="2139"/>
              <a:ext cx="1920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1777" name="Line 17"/>
            <p:cNvSpPr>
              <a:spLocks noChangeShapeType="1"/>
            </p:cNvSpPr>
            <p:nvPr/>
          </p:nvSpPr>
          <p:spPr bwMode="auto">
            <a:xfrm>
              <a:off x="576" y="2605"/>
              <a:ext cx="1920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1778" name="Line 18"/>
            <p:cNvSpPr>
              <a:spLocks noChangeShapeType="1"/>
            </p:cNvSpPr>
            <p:nvPr/>
          </p:nvSpPr>
          <p:spPr bwMode="auto">
            <a:xfrm>
              <a:off x="576" y="3072"/>
              <a:ext cx="1920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1779" name="Line 19"/>
            <p:cNvSpPr>
              <a:spLocks noChangeShapeType="1"/>
            </p:cNvSpPr>
            <p:nvPr/>
          </p:nvSpPr>
          <p:spPr bwMode="auto">
            <a:xfrm>
              <a:off x="576" y="3538"/>
              <a:ext cx="1920" cy="0"/>
            </a:xfrm>
            <a:prstGeom prst="line">
              <a:avLst/>
            </a:prstGeom>
            <a:noFill/>
            <a:ln w="28575" cap="sq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1780" name="Line 20"/>
            <p:cNvSpPr>
              <a:spLocks noChangeShapeType="1"/>
            </p:cNvSpPr>
            <p:nvPr/>
          </p:nvSpPr>
          <p:spPr bwMode="auto">
            <a:xfrm>
              <a:off x="576" y="1104"/>
              <a:ext cx="0" cy="2434"/>
            </a:xfrm>
            <a:prstGeom prst="line">
              <a:avLst/>
            </a:prstGeom>
            <a:noFill/>
            <a:ln w="28575" cap="sq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1781" name="Line 21"/>
            <p:cNvSpPr>
              <a:spLocks noChangeShapeType="1"/>
            </p:cNvSpPr>
            <p:nvPr/>
          </p:nvSpPr>
          <p:spPr bwMode="auto">
            <a:xfrm>
              <a:off x="2496" y="1104"/>
              <a:ext cx="0" cy="2434"/>
            </a:xfrm>
            <a:prstGeom prst="line">
              <a:avLst/>
            </a:prstGeom>
            <a:noFill/>
            <a:ln w="28575" cap="sq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1782" name="Line 22"/>
            <p:cNvSpPr>
              <a:spLocks noChangeShapeType="1"/>
            </p:cNvSpPr>
            <p:nvPr/>
          </p:nvSpPr>
          <p:spPr bwMode="auto">
            <a:xfrm>
              <a:off x="1536" y="1104"/>
              <a:ext cx="0" cy="2434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31783" name="Line 23"/>
            <p:cNvSpPr>
              <a:spLocks noChangeShapeType="1"/>
            </p:cNvSpPr>
            <p:nvPr/>
          </p:nvSpPr>
          <p:spPr bwMode="auto">
            <a:xfrm>
              <a:off x="576" y="1518"/>
              <a:ext cx="1920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53624" name="Group 24"/>
          <p:cNvGrpSpPr>
            <a:grpSpLocks/>
          </p:cNvGrpSpPr>
          <p:nvPr/>
        </p:nvGrpSpPr>
        <p:grpSpPr bwMode="auto">
          <a:xfrm>
            <a:off x="6172200" y="2133600"/>
            <a:ext cx="4343400" cy="3189288"/>
            <a:chOff x="2928" y="1344"/>
            <a:chExt cx="2736" cy="2009"/>
          </a:xfrm>
        </p:grpSpPr>
        <p:sp>
          <p:nvSpPr>
            <p:cNvPr id="153625" name="Text Box 25"/>
            <p:cNvSpPr txBox="1">
              <a:spLocks noChangeArrowheads="1"/>
            </p:cNvSpPr>
            <p:nvPr/>
          </p:nvSpPr>
          <p:spPr bwMode="auto">
            <a:xfrm>
              <a:off x="2928" y="1344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Vijay</a:t>
              </a:r>
            </a:p>
          </p:txBody>
        </p:sp>
        <p:sp>
          <p:nvSpPr>
            <p:cNvPr id="153626" name="Text Box 26"/>
            <p:cNvSpPr txBox="1">
              <a:spLocks noChangeArrowheads="1"/>
            </p:cNvSpPr>
            <p:nvPr/>
          </p:nvSpPr>
          <p:spPr bwMode="auto">
            <a:xfrm>
              <a:off x="2928" y="19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Arvind</a:t>
              </a:r>
            </a:p>
          </p:txBody>
        </p:sp>
        <p:sp>
          <p:nvSpPr>
            <p:cNvPr id="153627" name="Text Box 27"/>
            <p:cNvSpPr txBox="1">
              <a:spLocks noChangeArrowheads="1"/>
            </p:cNvSpPr>
            <p:nvPr/>
          </p:nvSpPr>
          <p:spPr bwMode="auto">
            <a:xfrm>
              <a:off x="2928" y="2496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Praveen</a:t>
              </a:r>
            </a:p>
          </p:txBody>
        </p:sp>
        <p:sp>
          <p:nvSpPr>
            <p:cNvPr id="153628" name="Text Box 28"/>
            <p:cNvSpPr txBox="1">
              <a:spLocks noChangeArrowheads="1"/>
            </p:cNvSpPr>
            <p:nvPr/>
          </p:nvSpPr>
          <p:spPr bwMode="auto">
            <a:xfrm>
              <a:off x="2928" y="31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Bhushan</a:t>
              </a:r>
              <a:endPara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53629" name="Text Box 29"/>
            <p:cNvSpPr txBox="1">
              <a:spLocks noChangeArrowheads="1"/>
            </p:cNvSpPr>
            <p:nvPr/>
          </p:nvSpPr>
          <p:spPr bwMode="auto">
            <a:xfrm>
              <a:off x="4416" y="1344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AP</a:t>
              </a:r>
            </a:p>
          </p:txBody>
        </p:sp>
        <p:sp>
          <p:nvSpPr>
            <p:cNvPr id="153630" name="Text Box 30"/>
            <p:cNvSpPr txBox="1">
              <a:spLocks noChangeArrowheads="1"/>
            </p:cNvSpPr>
            <p:nvPr/>
          </p:nvSpPr>
          <p:spPr bwMode="auto">
            <a:xfrm>
              <a:off x="4368" y="19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UP</a:t>
              </a:r>
            </a:p>
          </p:txBody>
        </p:sp>
        <p:sp>
          <p:nvSpPr>
            <p:cNvPr id="153631" name="Text Box 31"/>
            <p:cNvSpPr txBox="1">
              <a:spLocks noChangeArrowheads="1"/>
            </p:cNvSpPr>
            <p:nvPr/>
          </p:nvSpPr>
          <p:spPr bwMode="auto">
            <a:xfrm>
              <a:off x="4368" y="2496"/>
              <a:ext cx="12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MP</a:t>
              </a:r>
            </a:p>
          </p:txBody>
        </p:sp>
        <p:sp>
          <p:nvSpPr>
            <p:cNvPr id="153632" name="Text Box 32"/>
            <p:cNvSpPr txBox="1">
              <a:spLocks noChangeArrowheads="1"/>
            </p:cNvSpPr>
            <p:nvPr/>
          </p:nvSpPr>
          <p:spPr bwMode="auto">
            <a:xfrm>
              <a:off x="4368" y="31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GJ</a:t>
              </a:r>
            </a:p>
          </p:txBody>
        </p:sp>
      </p:grpSp>
      <p:sp>
        <p:nvSpPr>
          <p:cNvPr id="153633" name="Line 33"/>
          <p:cNvSpPr>
            <a:spLocks noChangeShapeType="1"/>
          </p:cNvSpPr>
          <p:nvPr/>
        </p:nvSpPr>
        <p:spPr bwMode="auto">
          <a:xfrm>
            <a:off x="7315200" y="2438400"/>
            <a:ext cx="990600" cy="26670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4" name="Line 34"/>
          <p:cNvSpPr>
            <a:spLocks noChangeShapeType="1"/>
          </p:cNvSpPr>
          <p:nvPr/>
        </p:nvSpPr>
        <p:spPr bwMode="auto">
          <a:xfrm flipV="1">
            <a:off x="7391400" y="2438400"/>
            <a:ext cx="990600" cy="838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5" name="Line 35"/>
          <p:cNvSpPr>
            <a:spLocks noChangeShapeType="1"/>
          </p:cNvSpPr>
          <p:nvPr/>
        </p:nvSpPr>
        <p:spPr bwMode="auto">
          <a:xfrm>
            <a:off x="7391400" y="4191000"/>
            <a:ext cx="9906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6" name="Line 36"/>
          <p:cNvSpPr>
            <a:spLocks noChangeShapeType="1"/>
          </p:cNvSpPr>
          <p:nvPr/>
        </p:nvSpPr>
        <p:spPr bwMode="auto">
          <a:xfrm flipV="1">
            <a:off x="7391400" y="2667000"/>
            <a:ext cx="1066800" cy="2362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8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3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3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3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3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3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3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3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3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3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3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3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3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3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3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3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3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 build="p" autoUpdateAnimBg="0"/>
      <p:bldP spid="153633" grpId="0" animBg="1"/>
      <p:bldP spid="153634" grpId="0" animBg="1"/>
      <p:bldP spid="153635" grpId="0" animBg="1"/>
      <p:bldP spid="1536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191" y="430195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Functions</a:t>
            </a:r>
            <a:endParaRPr lang="en-CA" altLang="en-US" sz="3600" b="1" dirty="0"/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1285126" y="1313380"/>
            <a:ext cx="8534400" cy="4648200"/>
          </a:xfrm>
        </p:spPr>
        <p:txBody>
          <a:bodyPr>
            <a:normAutofit/>
          </a:bodyPr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If the domain of our function f is large, it is convenient to specify f with 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formula</a:t>
            </a:r>
            <a:r>
              <a:rPr lang="en-US" altLang="en-US" dirty="0">
                <a:sym typeface="Symbol" panose="05050102010706020507" pitchFamily="18" charset="2"/>
              </a:rPr>
              <a:t>, e.g.:</a:t>
            </a:r>
          </a:p>
          <a:p>
            <a:pPr marL="0" indent="0">
              <a:defRPr/>
            </a:pPr>
            <a:endParaRPr lang="en-US" altLang="en-US" sz="800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 f: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, f(x) = 2x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This leads to: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f(1) = 2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f(3) = 6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f(-3) = -6</a:t>
            </a:r>
          </a:p>
          <a:p>
            <a:pPr marL="0" indent="0">
              <a:buNone/>
              <a:defRPr/>
            </a:pPr>
            <a:endParaRPr lang="en-US" altLang="en-US" dirty="0">
              <a:solidFill>
                <a:srgbClr val="00FFFF"/>
              </a:solidFill>
              <a:sym typeface="Symbol" panose="05050102010706020507" pitchFamily="18" charset="2"/>
            </a:endParaRP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FF821F59-E7C4-4A1C-BAE9-FD6175701E72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41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528" y="6096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Functions</a:t>
            </a:r>
            <a:endParaRPr lang="en-CA" altLang="en-US" sz="3600" b="1" dirty="0"/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xfrm>
            <a:off x="1181528" y="1654993"/>
            <a:ext cx="10172272" cy="48006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We already know that the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range</a:t>
            </a:r>
            <a:r>
              <a:rPr lang="en-US" altLang="en-US" dirty="0">
                <a:sym typeface="Symbol" panose="05050102010706020507" pitchFamily="18" charset="2"/>
              </a:rPr>
              <a:t> of a function f:AB is the set of all images of elements </a:t>
            </a:r>
            <a:r>
              <a:rPr lang="en-US" altLang="en-US" dirty="0" err="1">
                <a:sym typeface="Symbol" panose="05050102010706020507" pitchFamily="18" charset="2"/>
              </a:rPr>
              <a:t>aA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If we only regard 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subset</a:t>
            </a:r>
            <a:r>
              <a:rPr lang="en-US" altLang="en-US" dirty="0">
                <a:sym typeface="Symbol" panose="05050102010706020507" pitchFamily="18" charset="2"/>
              </a:rPr>
              <a:t> SA, the set of all images of elements </a:t>
            </a:r>
            <a:r>
              <a:rPr lang="en-US" altLang="en-US" dirty="0" err="1">
                <a:sym typeface="Symbol" panose="05050102010706020507" pitchFamily="18" charset="2"/>
              </a:rPr>
              <a:t>sS</a:t>
            </a:r>
            <a:r>
              <a:rPr lang="en-US" altLang="en-US" dirty="0">
                <a:sym typeface="Symbol" panose="05050102010706020507" pitchFamily="18" charset="2"/>
              </a:rPr>
              <a:t> is called the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image</a:t>
            </a:r>
            <a:r>
              <a:rPr lang="en-US" altLang="en-US" dirty="0">
                <a:sym typeface="Symbol" panose="05050102010706020507" pitchFamily="18" charset="2"/>
              </a:rPr>
              <a:t> of S.</a:t>
            </a:r>
          </a:p>
          <a:p>
            <a:pPr marL="0" indent="0"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We denote the image of S by f(S): [i.e., f(S) = {f(s) | </a:t>
            </a:r>
            <a:r>
              <a:rPr lang="en-US" altLang="en-US" dirty="0" err="1">
                <a:sym typeface="Symbol" panose="05050102010706020507" pitchFamily="18" charset="2"/>
              </a:rPr>
              <a:t>sS</a:t>
            </a:r>
            <a:r>
              <a:rPr lang="en-US" altLang="en-US" dirty="0">
                <a:sym typeface="Symbol" panose="05050102010706020507" pitchFamily="18" charset="2"/>
              </a:rPr>
              <a:t>} ]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B4749687-E12A-4A8C-BAD2-B281E94458DB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13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92659" y="3810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Functions</a:t>
            </a:r>
            <a:endParaRPr lang="en-CA" altLang="en-US" sz="3600" b="1" dirty="0"/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1066800"/>
            <a:ext cx="8534400" cy="5029200"/>
          </a:xfrm>
        </p:spPr>
        <p:txBody>
          <a:bodyPr>
            <a:normAutofit lnSpcReduction="10000"/>
          </a:bodyPr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Let us look at the following well-known function: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f(Vijay) = GJ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f(Arvind) = AP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f(Praveen) = MP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f(Bhushan) = AP</a:t>
            </a:r>
          </a:p>
          <a:p>
            <a:pPr marL="0" indent="0">
              <a:defRPr/>
            </a:pPr>
            <a:endParaRPr lang="en-US" altLang="en-US" sz="9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What is the image of S = {Vijay, Arvind} ?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f(S) = {GJ, AP}</a:t>
            </a:r>
          </a:p>
          <a:p>
            <a:pPr marL="0" indent="0">
              <a:defRPr/>
            </a:pPr>
            <a:endParaRPr lang="en-US" altLang="en-US" sz="8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What is the image of S = {Arvind, Bhushan} ?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f(S) = {AP}</a:t>
            </a:r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B970A7B-6B20-480E-866D-C606A1463DA6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5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7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7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7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7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7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7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92659" y="64556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Properties of Functions</a:t>
            </a:r>
            <a:endParaRPr lang="en-CA" altLang="en-US" sz="3600" b="1" dirty="0"/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xfrm>
            <a:off x="1278276" y="1634055"/>
            <a:ext cx="9848636" cy="44196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A function f:AB is said to be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one-to-one </a:t>
            </a:r>
            <a:r>
              <a:rPr lang="en-US" altLang="en-US" dirty="0">
                <a:sym typeface="Symbol" panose="05050102010706020507" pitchFamily="18" charset="2"/>
              </a:rPr>
              <a:t>(or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injective</a:t>
            </a:r>
            <a:r>
              <a:rPr lang="en-US" altLang="en-US" dirty="0">
                <a:sym typeface="Symbol" panose="05050102010706020507" pitchFamily="18" charset="2"/>
              </a:rPr>
              <a:t>), if and only if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x, </a:t>
            </a:r>
            <a:r>
              <a:rPr lang="en-US" altLang="en-US" dirty="0" err="1">
                <a:sym typeface="Symbol" panose="05050102010706020507" pitchFamily="18" charset="2"/>
              </a:rPr>
              <a:t>yA</a:t>
            </a:r>
            <a:r>
              <a:rPr lang="en-US" altLang="en-US" dirty="0">
                <a:sym typeface="Symbol" panose="05050102010706020507" pitchFamily="18" charset="2"/>
              </a:rPr>
              <a:t> (f(x) = f(y)  x = y)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olidFill>
                  <a:srgbClr val="66FF33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In other words </a:t>
            </a:r>
            <a:r>
              <a:rPr lang="en-US" altLang="en-US" dirty="0">
                <a:sym typeface="Symbol" panose="05050102010706020507" pitchFamily="18" charset="2"/>
              </a:rPr>
              <a:t>f is one-to-one if and only if it does not map two distinct elements of A onto the same element of B.</a:t>
            </a:r>
          </a:p>
          <a:p>
            <a:pPr marL="0" indent="0"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95AB3599-5B38-4FDC-9D21-51429F8FF1B4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3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67319" y="353138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Properties of Functions</a:t>
            </a:r>
            <a:endParaRPr lang="en-CA" altLang="en-US" sz="3600" b="1" dirty="0"/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1367319" y="1068048"/>
            <a:ext cx="3962400" cy="50292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and again…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f(Vijay) = GJ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f(Arvind) = AP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f(Praveen) = MP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f(Bhushan) = AP</a:t>
            </a:r>
            <a:endParaRPr lang="en-US" altLang="en-US" sz="900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endParaRPr lang="en-US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Is f one-to-one?</a:t>
            </a:r>
          </a:p>
          <a:p>
            <a:pPr marL="0" indent="0">
              <a:buNone/>
              <a:defRPr/>
            </a:pP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- No, some are mapped onto the same element of the image.</a:t>
            </a:r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38F8D203-0062-4F86-A354-2F69C1C67E14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9748" name="Rectangle 4"/>
          <p:cNvSpPr>
            <a:spLocks noChangeArrowheads="1"/>
          </p:cNvSpPr>
          <p:nvPr/>
        </p:nvSpPr>
        <p:spPr bwMode="auto">
          <a:xfrm>
            <a:off x="6248400" y="1066800"/>
            <a:ext cx="39624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en-US" altLang="en-US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US" altLang="en-US" sz="2800" dirty="0">
                <a:sym typeface="Symbol" panose="05050102010706020507" pitchFamily="18" charset="2"/>
              </a:rPr>
              <a:t>g(Vijay) = GJ</a:t>
            </a:r>
          </a:p>
          <a:p>
            <a:pPr>
              <a:defRPr/>
            </a:pPr>
            <a:r>
              <a:rPr lang="en-US" altLang="en-US" sz="2800" dirty="0">
                <a:sym typeface="Symbol" panose="05050102010706020507" pitchFamily="18" charset="2"/>
              </a:rPr>
              <a:t>g(Arvind) = UP</a:t>
            </a:r>
          </a:p>
          <a:p>
            <a:pPr>
              <a:defRPr/>
            </a:pPr>
            <a:r>
              <a:rPr lang="en-US" altLang="en-US" sz="2800" dirty="0">
                <a:sym typeface="Symbol" panose="05050102010706020507" pitchFamily="18" charset="2"/>
              </a:rPr>
              <a:t>g(Praveen) = MP</a:t>
            </a:r>
          </a:p>
          <a:p>
            <a:pPr>
              <a:defRPr/>
            </a:pPr>
            <a:r>
              <a:rPr lang="en-US" altLang="en-US" sz="2800" dirty="0">
                <a:sym typeface="Symbol" panose="05050102010706020507" pitchFamily="18" charset="2"/>
              </a:rPr>
              <a:t>g(</a:t>
            </a:r>
            <a:r>
              <a:rPr lang="en-US" altLang="en-US" sz="2800" dirty="0" err="1">
                <a:sym typeface="Symbol" panose="05050102010706020507" pitchFamily="18" charset="2"/>
              </a:rPr>
              <a:t>Bhushan</a:t>
            </a:r>
            <a:r>
              <a:rPr lang="en-US" altLang="en-US" sz="2800" dirty="0">
                <a:sym typeface="Symbol" panose="05050102010706020507" pitchFamily="18" charset="2"/>
              </a:rPr>
              <a:t>) = AP</a:t>
            </a:r>
            <a:endParaRPr lang="en-US" altLang="en-US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anose="030F0702030302020204" pitchFamily="66" charset="0"/>
            </a:endParaRPr>
          </a:p>
          <a:p>
            <a:pPr eaLnBrk="1" hangingPunct="1">
              <a:spcBef>
                <a:spcPct val="20000"/>
              </a:spcBef>
              <a:defRPr/>
            </a:pPr>
            <a:endParaRPr lang="en-US" altLang="en-US" sz="9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panose="030F0702030302020204" pitchFamily="66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Is g one-to-one?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- </a:t>
            </a:r>
            <a:r>
              <a:rPr lang="en-US" alt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Yes, each element is assigned a unique element of the image</a:t>
            </a:r>
            <a:r>
              <a:rPr lang="en-US" altLang="en-US" sz="28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011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9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9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9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9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9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9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9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9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9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9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9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9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 autoUpdateAnimBg="0"/>
      <p:bldP spid="15974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408415" y="3810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Properties of Functions</a:t>
            </a:r>
            <a:endParaRPr lang="en-CA" altLang="en-US" sz="3600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1196975"/>
            <a:ext cx="8534400" cy="50292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How can we prove that a function f is one-to-one?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Whenever you want to prove something, first take a look at the relevant definition(s):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x, </a:t>
            </a:r>
            <a:r>
              <a:rPr lang="en-US" altLang="en-US" dirty="0" err="1">
                <a:sym typeface="Symbol" panose="05050102010706020507" pitchFamily="18" charset="2"/>
              </a:rPr>
              <a:t>yA</a:t>
            </a:r>
            <a:r>
              <a:rPr lang="en-US" altLang="en-US" dirty="0">
                <a:sym typeface="Symbol" panose="05050102010706020507" pitchFamily="18" charset="2"/>
              </a:rPr>
              <a:t> (f(x) = f(y)  x = y)</a:t>
            </a:r>
          </a:p>
          <a:p>
            <a:pPr marL="0" indent="0">
              <a:defRPr/>
            </a:pPr>
            <a:endParaRPr lang="en-US" altLang="en-US" sz="800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Example: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f: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f(x) = x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</a:p>
          <a:p>
            <a:pPr marL="0" indent="0">
              <a:defRPr/>
            </a:pPr>
            <a:endParaRPr lang="en-US" altLang="en-US" sz="800" baseline="30000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Disproof by counterexample: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f(3) = f(-3), but 3  -3, so f is not one-to-one.</a:t>
            </a:r>
          </a:p>
        </p:txBody>
      </p:sp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FD0ED3AB-C8F9-42A0-A600-1ED49C8E09A8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93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0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0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387867" y="450351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Properties of Functions</a:t>
            </a:r>
            <a:endParaRPr lang="en-CA" altLang="en-US" sz="3600" b="1" dirty="0"/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>
          <a:xfrm>
            <a:off x="1510301" y="1136151"/>
            <a:ext cx="8839200" cy="53340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… and yet another example:</a:t>
            </a:r>
          </a:p>
          <a:p>
            <a:pPr marL="0" indent="0">
              <a:defRPr/>
            </a:pPr>
            <a:endParaRPr lang="en-US" altLang="en-US" sz="800" dirty="0">
              <a:solidFill>
                <a:srgbClr val="00FFFF"/>
              </a:solidFill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f: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f(x) = 3x</a:t>
            </a:r>
          </a:p>
          <a:p>
            <a:pPr marL="0" indent="0">
              <a:defRPr/>
            </a:pPr>
            <a:endParaRPr lang="en-US" altLang="en-US" sz="8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One-to-one: x, </a:t>
            </a:r>
            <a:r>
              <a:rPr lang="en-US" altLang="en-US" dirty="0" err="1">
                <a:sym typeface="Symbol" panose="05050102010706020507" pitchFamily="18" charset="2"/>
              </a:rPr>
              <a:t>yA</a:t>
            </a:r>
            <a:r>
              <a:rPr lang="en-US" altLang="en-US" dirty="0">
                <a:sym typeface="Symbol" panose="05050102010706020507" pitchFamily="18" charset="2"/>
              </a:rPr>
              <a:t> (f(x) = f(y)  x = y)</a:t>
            </a:r>
          </a:p>
          <a:p>
            <a:pPr marL="0" indent="0">
              <a:buNone/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To show: </a:t>
            </a:r>
            <a:r>
              <a:rPr lang="en-US" altLang="en-US" dirty="0">
                <a:sym typeface="Symbol" panose="05050102010706020507" pitchFamily="18" charset="2"/>
              </a:rPr>
              <a:t>f(x)  f(y) whenever x  y (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indirect proof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 marL="0" indent="0">
              <a:defRPr/>
            </a:pPr>
            <a:endParaRPr lang="en-US" altLang="en-US" sz="9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x  y</a:t>
            </a:r>
          </a:p>
          <a:p>
            <a:pPr marL="0" indent="0">
              <a:buFont typeface="Symbol" panose="05050102010706020507" pitchFamily="18" charset="2"/>
              <a:buChar char="Û"/>
              <a:defRPr/>
            </a:pPr>
            <a:r>
              <a:rPr lang="en-US" altLang="en-US" dirty="0">
                <a:sym typeface="Symbol" panose="05050102010706020507" pitchFamily="18" charset="2"/>
              </a:rPr>
              <a:t> 3x  3y</a:t>
            </a:r>
          </a:p>
          <a:p>
            <a:pPr marL="0" indent="0">
              <a:buFont typeface="Symbol" panose="05050102010706020507" pitchFamily="18" charset="2"/>
              <a:buChar char="Û"/>
              <a:defRPr/>
            </a:pPr>
            <a:r>
              <a:rPr lang="en-US" altLang="en-US" dirty="0">
                <a:sym typeface="Symbol" panose="05050102010706020507" pitchFamily="18" charset="2"/>
              </a:rPr>
              <a:t> f(x)  f(y), </a:t>
            </a:r>
          </a:p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so if x  y, then f(x)  f(y), that is, f is one-to-one.</a:t>
            </a:r>
          </a:p>
        </p:txBody>
      </p:sp>
      <p:sp>
        <p:nvSpPr>
          <p:cNvPr id="399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51E28847-7B1D-4CD3-AEA8-739DED8A8B76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56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1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1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1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1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95901" y="50165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Properties of Functions</a:t>
            </a:r>
            <a:endParaRPr lang="en-CA" altLang="en-US" sz="3600" b="1" dirty="0"/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595901" y="1250950"/>
            <a:ext cx="11332396" cy="51054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A function f:AB with A,B  R is called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strictly increasing</a:t>
            </a:r>
            <a:r>
              <a:rPr lang="en-US" altLang="en-US" dirty="0">
                <a:sym typeface="Symbol" panose="05050102010706020507" pitchFamily="18" charset="2"/>
              </a:rPr>
              <a:t>, if </a:t>
            </a:r>
          </a:p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dirty="0" err="1">
                <a:sym typeface="Symbol" panose="05050102010706020507" pitchFamily="18" charset="2"/>
              </a:rPr>
              <a:t>x,yA</a:t>
            </a:r>
            <a:r>
              <a:rPr lang="en-US" altLang="en-US" dirty="0">
                <a:sym typeface="Symbol" panose="05050102010706020507" pitchFamily="18" charset="2"/>
              </a:rPr>
              <a:t> (x &lt; y  f(x) &lt; f(y)), and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strictly decreasin</a:t>
            </a: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g</a:t>
            </a:r>
            <a:r>
              <a:rPr lang="en-US" altLang="en-US" dirty="0">
                <a:sym typeface="Symbol" panose="05050102010706020507" pitchFamily="18" charset="2"/>
              </a:rPr>
              <a:t>, if </a:t>
            </a:r>
            <a:r>
              <a:rPr lang="en-US" altLang="en-US" dirty="0" err="1">
                <a:sym typeface="Symbol" panose="05050102010706020507" pitchFamily="18" charset="2"/>
              </a:rPr>
              <a:t>x,yA</a:t>
            </a:r>
            <a:r>
              <a:rPr lang="en-US" altLang="en-US" dirty="0">
                <a:sym typeface="Symbol" panose="05050102010706020507" pitchFamily="18" charset="2"/>
              </a:rPr>
              <a:t> (x &lt; y  f(x) &gt; f(y)).</a:t>
            </a:r>
          </a:p>
          <a:p>
            <a:pPr marL="0" indent="0"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Obviously, a function that is either strictly increasing or strictly decreasing is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one-to-one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409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60A6C271-CD36-4194-A098-D400757F7B21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87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2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1562" y="3810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Properties of Functions</a:t>
            </a:r>
            <a:endParaRPr lang="en-CA" altLang="en-US" sz="3600" dirty="0"/>
          </a:p>
        </p:txBody>
      </p:sp>
      <p:sp>
        <p:nvSpPr>
          <p:cNvPr id="163843" name="Rectangle 3"/>
          <p:cNvSpPr>
            <a:spLocks noGrp="1" noChangeArrowheads="1"/>
          </p:cNvSpPr>
          <p:nvPr>
            <p:ph idx="1"/>
          </p:nvPr>
        </p:nvSpPr>
        <p:spPr>
          <a:xfrm>
            <a:off x="1151562" y="1157163"/>
            <a:ext cx="10499332" cy="51054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A function f:AB is called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onto</a:t>
            </a:r>
            <a:r>
              <a:rPr lang="en-US" altLang="en-US" dirty="0">
                <a:sym typeface="Symbol" panose="05050102010706020507" pitchFamily="18" charset="2"/>
              </a:rPr>
              <a:t>, or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surjective</a:t>
            </a:r>
            <a:r>
              <a:rPr lang="en-US" altLang="en-US" dirty="0">
                <a:sym typeface="Symbol" panose="05050102010706020507" pitchFamily="18" charset="2"/>
              </a:rPr>
              <a:t>, if and only if for every element </a:t>
            </a:r>
            <a:r>
              <a:rPr lang="en-US" altLang="en-US" dirty="0" err="1">
                <a:sym typeface="Symbol" panose="05050102010706020507" pitchFamily="18" charset="2"/>
              </a:rPr>
              <a:t>bB</a:t>
            </a:r>
            <a:r>
              <a:rPr lang="en-US" altLang="en-US" dirty="0">
                <a:sym typeface="Symbol" panose="05050102010706020507" pitchFamily="18" charset="2"/>
              </a:rPr>
              <a:t> there is an element </a:t>
            </a:r>
            <a:r>
              <a:rPr lang="en-US" altLang="en-US" dirty="0" err="1">
                <a:sym typeface="Symbol" panose="05050102010706020507" pitchFamily="18" charset="2"/>
              </a:rPr>
              <a:t>aA</a:t>
            </a:r>
            <a:r>
              <a:rPr lang="en-US" altLang="en-US" dirty="0">
                <a:sym typeface="Symbol" panose="05050102010706020507" pitchFamily="18" charset="2"/>
              </a:rPr>
              <a:t> with f(a) = b.</a:t>
            </a:r>
          </a:p>
          <a:p>
            <a:pPr marL="0" indent="0">
              <a:defRPr/>
            </a:pPr>
            <a:endParaRPr lang="en-US" altLang="en-US" sz="8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In other words, f is onto if and only if its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range</a:t>
            </a:r>
            <a:r>
              <a:rPr lang="en-US" altLang="en-US" dirty="0">
                <a:sym typeface="Symbol" panose="05050102010706020507" pitchFamily="18" charset="2"/>
              </a:rPr>
              <a:t> is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its entire codomain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A function f: AB is 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one-to-one correspondence</a:t>
            </a:r>
            <a:r>
              <a:rPr lang="en-US" altLang="en-US" dirty="0">
                <a:sym typeface="Symbol" panose="05050102010706020507" pitchFamily="18" charset="2"/>
              </a:rPr>
              <a:t>, or a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bijection</a:t>
            </a:r>
            <a:r>
              <a:rPr lang="en-US" altLang="en-US" dirty="0">
                <a:sym typeface="Symbol" panose="05050102010706020507" pitchFamily="18" charset="2"/>
              </a:rPr>
              <a:t>, if and only if it is both one-to-one and onto.</a:t>
            </a:r>
          </a:p>
          <a:p>
            <a:pPr marL="0" indent="0">
              <a:defRPr/>
            </a:pPr>
            <a:endParaRPr lang="en-US" altLang="en-US" sz="8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Obviously, if f is a bijection and A and B are finite sets, then |A| = |B|.</a:t>
            </a: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ADF9A928-6350-48E2-8D41-7EC354C4CCDE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41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74852" y="65405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Properties of Functions</a:t>
            </a:r>
            <a:endParaRPr lang="en-CA" altLang="en-US" sz="3600" b="1" dirty="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1274851" y="1569449"/>
            <a:ext cx="9903431" cy="46482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Examples:</a:t>
            </a:r>
          </a:p>
          <a:p>
            <a:pPr marL="0" indent="0" algn="just">
              <a:defRPr/>
            </a:pPr>
            <a:endParaRPr lang="en-US" altLang="en-US" sz="800" dirty="0">
              <a:solidFill>
                <a:srgbClr val="00FFFF"/>
              </a:solidFill>
              <a:sym typeface="Symbol" panose="05050102010706020507" pitchFamily="18" charset="2"/>
            </a:endParaRPr>
          </a:p>
          <a:p>
            <a:pPr marL="0" indent="0" algn="just">
              <a:defRPr/>
            </a:pPr>
            <a:r>
              <a:rPr lang="en-US" altLang="en-US" dirty="0">
                <a:sym typeface="Symbol" panose="05050102010706020507" pitchFamily="18" charset="2"/>
              </a:rPr>
              <a:t> In the following examples, we use the arrow representation to illustrate functions f:AB. </a:t>
            </a:r>
          </a:p>
          <a:p>
            <a:pPr marL="0" indent="0" algn="just">
              <a:defRPr/>
            </a:pPr>
            <a:endParaRPr lang="en-US" altLang="en-US" sz="1600" dirty="0">
              <a:solidFill>
                <a:srgbClr val="00FFFF"/>
              </a:solidFill>
              <a:sym typeface="Symbol" panose="05050102010706020507" pitchFamily="18" charset="2"/>
            </a:endParaRPr>
          </a:p>
          <a:p>
            <a:pPr marL="0" indent="0" algn="just">
              <a:defRPr/>
            </a:pPr>
            <a:r>
              <a:rPr lang="en-US" altLang="en-US" dirty="0">
                <a:sym typeface="Symbol" panose="05050102010706020507" pitchFamily="18" charset="2"/>
              </a:rPr>
              <a:t> In each example, the complete sets A and B are shown.</a:t>
            </a:r>
          </a:p>
          <a:p>
            <a:pPr marL="0" indent="0" algn="just"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 algn="just"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430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6E45F6A3-B5EC-4FA6-8E7B-BBF255F9F502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16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11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472157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Properties of Functions</a:t>
            </a:r>
            <a:endParaRPr lang="en-CA" altLang="en-US" sz="3600" dirty="0"/>
          </a:p>
        </p:txBody>
      </p:sp>
      <p:sp>
        <p:nvSpPr>
          <p:cNvPr id="165891" name="Rectangle 3"/>
          <p:cNvSpPr>
            <a:spLocks noGrp="1" noChangeArrowheads="1"/>
          </p:cNvSpPr>
          <p:nvPr>
            <p:ph idx="1"/>
          </p:nvPr>
        </p:nvSpPr>
        <p:spPr>
          <a:xfrm>
            <a:off x="6934200" y="1371600"/>
            <a:ext cx="3352800" cy="43434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injective?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No.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surjective?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No.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bijective?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No.</a:t>
            </a:r>
          </a:p>
          <a:p>
            <a:pPr marL="0" indent="0">
              <a:defRPr/>
            </a:pPr>
            <a:endParaRPr lang="en-US" altLang="en-US" dirty="0">
              <a:solidFill>
                <a:srgbClr val="00FFFF"/>
              </a:solidFill>
              <a:sym typeface="Symbol" panose="05050102010706020507" pitchFamily="18" charset="2"/>
            </a:endParaRPr>
          </a:p>
        </p:txBody>
      </p:sp>
      <p:sp>
        <p:nvSpPr>
          <p:cNvPr id="440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F81CC789-8CFA-4677-B774-FBB578C5420B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17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65892" name="Group 4"/>
          <p:cNvGrpSpPr>
            <a:grpSpLocks/>
          </p:cNvGrpSpPr>
          <p:nvPr/>
        </p:nvGrpSpPr>
        <p:grpSpPr bwMode="auto">
          <a:xfrm>
            <a:off x="2171700" y="1262856"/>
            <a:ext cx="4343400" cy="3189288"/>
            <a:chOff x="2928" y="1344"/>
            <a:chExt cx="2736" cy="2009"/>
          </a:xfrm>
        </p:grpSpPr>
        <p:sp>
          <p:nvSpPr>
            <p:cNvPr id="165893" name="Text Box 5"/>
            <p:cNvSpPr txBox="1">
              <a:spLocks noChangeArrowheads="1"/>
            </p:cNvSpPr>
            <p:nvPr/>
          </p:nvSpPr>
          <p:spPr bwMode="auto">
            <a:xfrm>
              <a:off x="2928" y="1344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</a:p>
          </p:txBody>
        </p:sp>
        <p:sp>
          <p:nvSpPr>
            <p:cNvPr id="165894" name="Text Box 6"/>
            <p:cNvSpPr txBox="1">
              <a:spLocks noChangeArrowheads="1"/>
            </p:cNvSpPr>
            <p:nvPr/>
          </p:nvSpPr>
          <p:spPr bwMode="auto">
            <a:xfrm>
              <a:off x="2928" y="19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</a:p>
          </p:txBody>
        </p:sp>
        <p:sp>
          <p:nvSpPr>
            <p:cNvPr id="165895" name="Text Box 7"/>
            <p:cNvSpPr txBox="1">
              <a:spLocks noChangeArrowheads="1"/>
            </p:cNvSpPr>
            <p:nvPr/>
          </p:nvSpPr>
          <p:spPr bwMode="auto">
            <a:xfrm>
              <a:off x="2928" y="2496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</a:t>
              </a:r>
            </a:p>
          </p:txBody>
        </p:sp>
        <p:sp>
          <p:nvSpPr>
            <p:cNvPr id="165896" name="Text Box 8"/>
            <p:cNvSpPr txBox="1">
              <a:spLocks noChangeArrowheads="1"/>
            </p:cNvSpPr>
            <p:nvPr/>
          </p:nvSpPr>
          <p:spPr bwMode="auto">
            <a:xfrm>
              <a:off x="2928" y="31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</a:t>
              </a:r>
            </a:p>
          </p:txBody>
        </p:sp>
        <p:sp>
          <p:nvSpPr>
            <p:cNvPr id="165897" name="Text Box 9"/>
            <p:cNvSpPr txBox="1">
              <a:spLocks noChangeArrowheads="1"/>
            </p:cNvSpPr>
            <p:nvPr/>
          </p:nvSpPr>
          <p:spPr bwMode="auto">
            <a:xfrm>
              <a:off x="4416" y="1344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165898" name="Text Box 10"/>
            <p:cNvSpPr txBox="1">
              <a:spLocks noChangeArrowheads="1"/>
            </p:cNvSpPr>
            <p:nvPr/>
          </p:nvSpPr>
          <p:spPr bwMode="auto">
            <a:xfrm>
              <a:off x="4368" y="19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65899" name="Text Box 11"/>
            <p:cNvSpPr txBox="1">
              <a:spLocks noChangeArrowheads="1"/>
            </p:cNvSpPr>
            <p:nvPr/>
          </p:nvSpPr>
          <p:spPr bwMode="auto">
            <a:xfrm>
              <a:off x="4368" y="2496"/>
              <a:ext cx="12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</a:p>
          </p:txBody>
        </p:sp>
        <p:sp>
          <p:nvSpPr>
            <p:cNvPr id="165900" name="Text Box 12"/>
            <p:cNvSpPr txBox="1">
              <a:spLocks noChangeArrowheads="1"/>
            </p:cNvSpPr>
            <p:nvPr/>
          </p:nvSpPr>
          <p:spPr bwMode="auto">
            <a:xfrm>
              <a:off x="4368" y="31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</a:t>
              </a:r>
            </a:p>
          </p:txBody>
        </p:sp>
      </p:grpSp>
      <p:sp>
        <p:nvSpPr>
          <p:cNvPr id="165901" name="Line 13"/>
          <p:cNvSpPr>
            <a:spLocks noChangeShapeType="1"/>
          </p:cNvSpPr>
          <p:nvPr/>
        </p:nvSpPr>
        <p:spPr bwMode="auto">
          <a:xfrm>
            <a:off x="3352800" y="1524000"/>
            <a:ext cx="990600" cy="26670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2" name="Line 14"/>
          <p:cNvSpPr>
            <a:spLocks noChangeShapeType="1"/>
          </p:cNvSpPr>
          <p:nvPr/>
        </p:nvSpPr>
        <p:spPr bwMode="auto">
          <a:xfrm flipV="1">
            <a:off x="3429000" y="1524000"/>
            <a:ext cx="990600" cy="838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3" name="Line 15"/>
          <p:cNvSpPr>
            <a:spLocks noChangeShapeType="1"/>
          </p:cNvSpPr>
          <p:nvPr/>
        </p:nvSpPr>
        <p:spPr bwMode="auto">
          <a:xfrm>
            <a:off x="3429000" y="3276600"/>
            <a:ext cx="9906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4" name="Line 16"/>
          <p:cNvSpPr>
            <a:spLocks noChangeShapeType="1"/>
          </p:cNvSpPr>
          <p:nvPr/>
        </p:nvSpPr>
        <p:spPr bwMode="auto">
          <a:xfrm flipV="1">
            <a:off x="3429000" y="1752600"/>
            <a:ext cx="1066800" cy="2362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7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 autoUpdateAnimBg="0"/>
      <p:bldP spid="165901" grpId="0" animBg="1"/>
      <p:bldP spid="165902" grpId="0" animBg="1"/>
      <p:bldP spid="165903" grpId="0" animBg="1"/>
      <p:bldP spid="16590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68011" y="4191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Properties of Functions</a:t>
            </a:r>
            <a:endParaRPr lang="en-CA" altLang="en-US" sz="3600" dirty="0"/>
          </a:p>
        </p:txBody>
      </p:sp>
      <p:sp>
        <p:nvSpPr>
          <p:cNvPr id="166915" name="Rectangle 3"/>
          <p:cNvSpPr>
            <a:spLocks noGrp="1" noChangeArrowheads="1"/>
          </p:cNvSpPr>
          <p:nvPr>
            <p:ph idx="1"/>
          </p:nvPr>
        </p:nvSpPr>
        <p:spPr>
          <a:xfrm>
            <a:off x="6934200" y="1371600"/>
            <a:ext cx="3352800" cy="43434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injective?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No.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surjective?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66FF33"/>
                </a:solidFill>
                <a:sym typeface="Symbol" panose="05050102010706020507" pitchFamily="18" charset="2"/>
              </a:rPr>
              <a:t>Yes.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bijective?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No.</a:t>
            </a:r>
          </a:p>
          <a:p>
            <a:pPr marL="0" indent="0">
              <a:defRPr/>
            </a:pPr>
            <a:endParaRPr lang="en-US" altLang="en-US" dirty="0">
              <a:solidFill>
                <a:srgbClr val="00FFFF"/>
              </a:solidFill>
              <a:sym typeface="Symbol" panose="05050102010706020507" pitchFamily="18" charset="2"/>
            </a:endParaRPr>
          </a:p>
        </p:txBody>
      </p:sp>
      <p:sp>
        <p:nvSpPr>
          <p:cNvPr id="450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D3D34DBA-F459-4B25-A6AF-80505BF2034B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18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5063" name="Group 4"/>
          <p:cNvGrpSpPr>
            <a:grpSpLocks/>
          </p:cNvGrpSpPr>
          <p:nvPr/>
        </p:nvGrpSpPr>
        <p:grpSpPr bwMode="auto">
          <a:xfrm>
            <a:off x="2209800" y="1143000"/>
            <a:ext cx="4343400" cy="3189288"/>
            <a:chOff x="432" y="720"/>
            <a:chExt cx="2736" cy="2009"/>
          </a:xfrm>
        </p:grpSpPr>
        <p:sp>
          <p:nvSpPr>
            <p:cNvPr id="166917" name="Text Box 5"/>
            <p:cNvSpPr txBox="1">
              <a:spLocks noChangeArrowheads="1"/>
            </p:cNvSpPr>
            <p:nvPr/>
          </p:nvSpPr>
          <p:spPr bwMode="auto">
            <a:xfrm>
              <a:off x="432" y="7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</a:p>
          </p:txBody>
        </p:sp>
        <p:sp>
          <p:nvSpPr>
            <p:cNvPr id="166918" name="Text Box 6"/>
            <p:cNvSpPr txBox="1">
              <a:spLocks noChangeArrowheads="1"/>
            </p:cNvSpPr>
            <p:nvPr/>
          </p:nvSpPr>
          <p:spPr bwMode="auto">
            <a:xfrm>
              <a:off x="432" y="1296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</a:p>
          </p:txBody>
        </p:sp>
        <p:sp>
          <p:nvSpPr>
            <p:cNvPr id="166919" name="Text Box 7"/>
            <p:cNvSpPr txBox="1">
              <a:spLocks noChangeArrowheads="1"/>
            </p:cNvSpPr>
            <p:nvPr/>
          </p:nvSpPr>
          <p:spPr bwMode="auto">
            <a:xfrm>
              <a:off x="432" y="1872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</a:t>
              </a:r>
            </a:p>
          </p:txBody>
        </p:sp>
        <p:sp>
          <p:nvSpPr>
            <p:cNvPr id="166920" name="Text Box 8"/>
            <p:cNvSpPr txBox="1">
              <a:spLocks noChangeArrowheads="1"/>
            </p:cNvSpPr>
            <p:nvPr/>
          </p:nvSpPr>
          <p:spPr bwMode="auto">
            <a:xfrm>
              <a:off x="432" y="2496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</a:t>
              </a:r>
            </a:p>
          </p:txBody>
        </p:sp>
        <p:sp>
          <p:nvSpPr>
            <p:cNvPr id="166921" name="Text Box 9"/>
            <p:cNvSpPr txBox="1">
              <a:spLocks noChangeArrowheads="1"/>
            </p:cNvSpPr>
            <p:nvPr/>
          </p:nvSpPr>
          <p:spPr bwMode="auto">
            <a:xfrm>
              <a:off x="1920" y="7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166922" name="Text Box 10"/>
            <p:cNvSpPr txBox="1">
              <a:spLocks noChangeArrowheads="1"/>
            </p:cNvSpPr>
            <p:nvPr/>
          </p:nvSpPr>
          <p:spPr bwMode="auto">
            <a:xfrm>
              <a:off x="1872" y="1296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</a:p>
          </p:txBody>
        </p:sp>
        <p:sp>
          <p:nvSpPr>
            <p:cNvPr id="166923" name="Text Box 11"/>
            <p:cNvSpPr txBox="1">
              <a:spLocks noChangeArrowheads="1"/>
            </p:cNvSpPr>
            <p:nvPr/>
          </p:nvSpPr>
          <p:spPr bwMode="auto">
            <a:xfrm>
              <a:off x="1872" y="1872"/>
              <a:ext cx="129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</a:t>
              </a:r>
            </a:p>
          </p:txBody>
        </p:sp>
        <p:sp>
          <p:nvSpPr>
            <p:cNvPr id="166924" name="Text Box 12"/>
            <p:cNvSpPr txBox="1">
              <a:spLocks noChangeArrowheads="1"/>
            </p:cNvSpPr>
            <p:nvPr/>
          </p:nvSpPr>
          <p:spPr bwMode="auto">
            <a:xfrm>
              <a:off x="1872" y="2496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4</a:t>
              </a:r>
            </a:p>
          </p:txBody>
        </p:sp>
      </p:grpSp>
      <p:sp>
        <p:nvSpPr>
          <p:cNvPr id="166925" name="Line 13"/>
          <p:cNvSpPr>
            <a:spLocks noChangeShapeType="1"/>
          </p:cNvSpPr>
          <p:nvPr/>
        </p:nvSpPr>
        <p:spPr bwMode="auto">
          <a:xfrm>
            <a:off x="3352800" y="1524000"/>
            <a:ext cx="990600" cy="26670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926" name="Line 14"/>
          <p:cNvSpPr>
            <a:spLocks noChangeShapeType="1"/>
          </p:cNvSpPr>
          <p:nvPr/>
        </p:nvSpPr>
        <p:spPr bwMode="auto">
          <a:xfrm flipV="1">
            <a:off x="3429000" y="1524000"/>
            <a:ext cx="990600" cy="838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927" name="Line 15"/>
          <p:cNvSpPr>
            <a:spLocks noChangeShapeType="1"/>
          </p:cNvSpPr>
          <p:nvPr/>
        </p:nvSpPr>
        <p:spPr bwMode="auto">
          <a:xfrm>
            <a:off x="3429000" y="3276600"/>
            <a:ext cx="9906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928" name="Line 16"/>
          <p:cNvSpPr>
            <a:spLocks noChangeShapeType="1"/>
          </p:cNvSpPr>
          <p:nvPr/>
        </p:nvSpPr>
        <p:spPr bwMode="auto">
          <a:xfrm flipV="1">
            <a:off x="3429000" y="1752600"/>
            <a:ext cx="1066800" cy="2362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929" name="Text Box 17"/>
          <p:cNvSpPr txBox="1">
            <a:spLocks noChangeArrowheads="1"/>
          </p:cNvSpPr>
          <p:nvPr/>
        </p:nvSpPr>
        <p:spPr bwMode="auto">
          <a:xfrm>
            <a:off x="2209800" y="48768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166930" name="Line 18"/>
          <p:cNvSpPr>
            <a:spLocks noChangeShapeType="1"/>
          </p:cNvSpPr>
          <p:nvPr/>
        </p:nvSpPr>
        <p:spPr bwMode="auto">
          <a:xfrm flipV="1">
            <a:off x="3352800" y="2590800"/>
            <a:ext cx="1143000" cy="2362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6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6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6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6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6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6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6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build="p" autoUpdateAnimBg="0"/>
      <p:bldP spid="166925" grpId="0" animBg="1"/>
      <p:bldP spid="166926" grpId="0" animBg="1"/>
      <p:bldP spid="166927" grpId="0" animBg="1"/>
      <p:bldP spid="166928" grpId="0" animBg="1"/>
      <p:bldP spid="1669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638300" y="375444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Properties of Functions</a:t>
            </a:r>
            <a:endParaRPr lang="en-CA" altLang="en-US" sz="3600" dirty="0"/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6934200" y="1371600"/>
            <a:ext cx="3352800" cy="43434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injective?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66FF33"/>
                </a:solidFill>
                <a:sym typeface="Symbol" panose="05050102010706020507" pitchFamily="18" charset="2"/>
              </a:rPr>
              <a:t>Yes.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surjective?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No.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bijective?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No.</a:t>
            </a:r>
          </a:p>
          <a:p>
            <a:pPr marL="0" indent="0">
              <a:defRPr/>
            </a:pPr>
            <a:endParaRPr lang="en-US" altLang="en-US" dirty="0">
              <a:solidFill>
                <a:srgbClr val="00FFFF"/>
              </a:solidFill>
              <a:sym typeface="Symbol" panose="05050102010706020507" pitchFamily="18" charset="2"/>
            </a:endParaRPr>
          </a:p>
        </p:txBody>
      </p:sp>
      <p:sp>
        <p:nvSpPr>
          <p:cNvPr id="460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39E8D10-7C95-405C-A54C-2A88F6D5616C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19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7940" name="Line 4"/>
          <p:cNvSpPr>
            <a:spLocks noChangeShapeType="1"/>
          </p:cNvSpPr>
          <p:nvPr/>
        </p:nvSpPr>
        <p:spPr bwMode="auto">
          <a:xfrm>
            <a:off x="3352800" y="1524000"/>
            <a:ext cx="990600" cy="26670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941" name="Line 5"/>
          <p:cNvSpPr>
            <a:spLocks noChangeShapeType="1"/>
          </p:cNvSpPr>
          <p:nvPr/>
        </p:nvSpPr>
        <p:spPr bwMode="auto">
          <a:xfrm flipV="1">
            <a:off x="3429000" y="1524000"/>
            <a:ext cx="990600" cy="838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942" name="Line 6"/>
          <p:cNvSpPr>
            <a:spLocks noChangeShapeType="1"/>
          </p:cNvSpPr>
          <p:nvPr/>
        </p:nvSpPr>
        <p:spPr bwMode="auto">
          <a:xfrm>
            <a:off x="3429000" y="3276600"/>
            <a:ext cx="9906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943" name="Line 7"/>
          <p:cNvSpPr>
            <a:spLocks noChangeShapeType="1"/>
          </p:cNvSpPr>
          <p:nvPr/>
        </p:nvSpPr>
        <p:spPr bwMode="auto">
          <a:xfrm>
            <a:off x="3429000" y="4114800"/>
            <a:ext cx="914400" cy="9144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91" name="Group 8"/>
          <p:cNvGrpSpPr>
            <a:grpSpLocks/>
          </p:cNvGrpSpPr>
          <p:nvPr/>
        </p:nvGrpSpPr>
        <p:grpSpPr bwMode="auto">
          <a:xfrm>
            <a:off x="2209800" y="1143000"/>
            <a:ext cx="4343400" cy="4179888"/>
            <a:chOff x="432" y="720"/>
            <a:chExt cx="2736" cy="2633"/>
          </a:xfrm>
        </p:grpSpPr>
        <p:grpSp>
          <p:nvGrpSpPr>
            <p:cNvPr id="46092" name="Group 9"/>
            <p:cNvGrpSpPr>
              <a:grpSpLocks/>
            </p:cNvGrpSpPr>
            <p:nvPr/>
          </p:nvGrpSpPr>
          <p:grpSpPr bwMode="auto">
            <a:xfrm>
              <a:off x="432" y="720"/>
              <a:ext cx="2736" cy="2009"/>
              <a:chOff x="432" y="720"/>
              <a:chExt cx="2736" cy="2009"/>
            </a:xfrm>
          </p:grpSpPr>
          <p:sp>
            <p:nvSpPr>
              <p:cNvPr id="167946" name="Text Box 10"/>
              <p:cNvSpPr txBox="1">
                <a:spLocks noChangeArrowheads="1"/>
              </p:cNvSpPr>
              <p:nvPr/>
            </p:nvSpPr>
            <p:spPr bwMode="auto">
              <a:xfrm>
                <a:off x="432" y="720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  <p:sp>
            <p:nvSpPr>
              <p:cNvPr id="167947" name="Text Box 11"/>
              <p:cNvSpPr txBox="1">
                <a:spLocks noChangeArrowheads="1"/>
              </p:cNvSpPr>
              <p:nvPr/>
            </p:nvSpPr>
            <p:spPr bwMode="auto">
              <a:xfrm>
                <a:off x="432" y="1296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  <p:sp>
            <p:nvSpPr>
              <p:cNvPr id="167948" name="Text Box 12"/>
              <p:cNvSpPr txBox="1">
                <a:spLocks noChangeArrowheads="1"/>
              </p:cNvSpPr>
              <p:nvPr/>
            </p:nvSpPr>
            <p:spPr bwMode="auto">
              <a:xfrm>
                <a:off x="432" y="1872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  <p:sp>
            <p:nvSpPr>
              <p:cNvPr id="167949" name="Text Box 13"/>
              <p:cNvSpPr txBox="1">
                <a:spLocks noChangeArrowheads="1"/>
              </p:cNvSpPr>
              <p:nvPr/>
            </p:nvSpPr>
            <p:spPr bwMode="auto">
              <a:xfrm>
                <a:off x="432" y="2496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d</a:t>
                </a:r>
              </a:p>
            </p:txBody>
          </p:sp>
          <p:sp>
            <p:nvSpPr>
              <p:cNvPr id="167950" name="Text Box 14"/>
              <p:cNvSpPr txBox="1">
                <a:spLocks noChangeArrowheads="1"/>
              </p:cNvSpPr>
              <p:nvPr/>
            </p:nvSpPr>
            <p:spPr bwMode="auto">
              <a:xfrm>
                <a:off x="1920" y="720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167951" name="Text Box 15"/>
              <p:cNvSpPr txBox="1">
                <a:spLocks noChangeArrowheads="1"/>
              </p:cNvSpPr>
              <p:nvPr/>
            </p:nvSpPr>
            <p:spPr bwMode="auto">
              <a:xfrm>
                <a:off x="1872" y="1296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2</a:t>
                </a:r>
              </a:p>
            </p:txBody>
          </p:sp>
          <p:sp>
            <p:nvSpPr>
              <p:cNvPr id="167952" name="Text Box 16"/>
              <p:cNvSpPr txBox="1">
                <a:spLocks noChangeArrowheads="1"/>
              </p:cNvSpPr>
              <p:nvPr/>
            </p:nvSpPr>
            <p:spPr bwMode="auto">
              <a:xfrm>
                <a:off x="1872" y="1872"/>
                <a:ext cx="129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3</a:t>
                </a:r>
              </a:p>
            </p:txBody>
          </p:sp>
          <p:sp>
            <p:nvSpPr>
              <p:cNvPr id="167953" name="Text Box 17"/>
              <p:cNvSpPr txBox="1">
                <a:spLocks noChangeArrowheads="1"/>
              </p:cNvSpPr>
              <p:nvPr/>
            </p:nvSpPr>
            <p:spPr bwMode="auto">
              <a:xfrm>
                <a:off x="1872" y="2496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</a:t>
                </a:r>
              </a:p>
            </p:txBody>
          </p:sp>
        </p:grpSp>
        <p:sp>
          <p:nvSpPr>
            <p:cNvPr id="167954" name="Text Box 18"/>
            <p:cNvSpPr txBox="1">
              <a:spLocks noChangeArrowheads="1"/>
            </p:cNvSpPr>
            <p:nvPr/>
          </p:nvSpPr>
          <p:spPr bwMode="auto">
            <a:xfrm>
              <a:off x="1872" y="31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752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 autoUpdateAnimBg="0"/>
      <p:bldP spid="167940" grpId="0" animBg="1"/>
      <p:bldP spid="167941" grpId="0" animBg="1"/>
      <p:bldP spid="167942" grpId="0" animBg="1"/>
      <p:bldP spid="16794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50205" y="392112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Properties of Functions</a:t>
            </a:r>
            <a:endParaRPr lang="en-CA" altLang="en-US" sz="3600" dirty="0"/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xfrm>
            <a:off x="6934200" y="1371600"/>
            <a:ext cx="3352800" cy="43434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injective?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No! f is not even</a:t>
            </a:r>
            <a:b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</a:b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a function!</a:t>
            </a:r>
          </a:p>
          <a:p>
            <a:pPr marL="0" indent="0">
              <a:defRPr/>
            </a:pPr>
            <a:endParaRPr lang="en-US" altLang="en-US" dirty="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sp>
        <p:nvSpPr>
          <p:cNvPr id="471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217095AC-D3C7-4F35-AEBB-68B19EAB476E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20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64" name="Line 4"/>
          <p:cNvSpPr>
            <a:spLocks noChangeShapeType="1"/>
          </p:cNvSpPr>
          <p:nvPr/>
        </p:nvSpPr>
        <p:spPr bwMode="auto">
          <a:xfrm>
            <a:off x="3352800" y="1524000"/>
            <a:ext cx="990600" cy="26670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965" name="Line 5"/>
          <p:cNvSpPr>
            <a:spLocks noChangeShapeType="1"/>
          </p:cNvSpPr>
          <p:nvPr/>
        </p:nvSpPr>
        <p:spPr bwMode="auto">
          <a:xfrm flipV="1">
            <a:off x="3429000" y="1524000"/>
            <a:ext cx="990600" cy="838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966" name="Line 6"/>
          <p:cNvSpPr>
            <a:spLocks noChangeShapeType="1"/>
          </p:cNvSpPr>
          <p:nvPr/>
        </p:nvSpPr>
        <p:spPr bwMode="auto">
          <a:xfrm>
            <a:off x="3429000" y="3276600"/>
            <a:ext cx="9906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967" name="Line 7"/>
          <p:cNvSpPr>
            <a:spLocks noChangeShapeType="1"/>
          </p:cNvSpPr>
          <p:nvPr/>
        </p:nvSpPr>
        <p:spPr bwMode="auto">
          <a:xfrm>
            <a:off x="3429000" y="4267200"/>
            <a:ext cx="914400" cy="6858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7115" name="Group 8"/>
          <p:cNvGrpSpPr>
            <a:grpSpLocks/>
          </p:cNvGrpSpPr>
          <p:nvPr/>
        </p:nvGrpSpPr>
        <p:grpSpPr bwMode="auto">
          <a:xfrm>
            <a:off x="2209800" y="1143000"/>
            <a:ext cx="4343400" cy="4179888"/>
            <a:chOff x="432" y="720"/>
            <a:chExt cx="2736" cy="2633"/>
          </a:xfrm>
        </p:grpSpPr>
        <p:grpSp>
          <p:nvGrpSpPr>
            <p:cNvPr id="47117" name="Group 9"/>
            <p:cNvGrpSpPr>
              <a:grpSpLocks/>
            </p:cNvGrpSpPr>
            <p:nvPr/>
          </p:nvGrpSpPr>
          <p:grpSpPr bwMode="auto">
            <a:xfrm>
              <a:off x="432" y="720"/>
              <a:ext cx="2736" cy="2009"/>
              <a:chOff x="432" y="720"/>
              <a:chExt cx="2736" cy="2009"/>
            </a:xfrm>
          </p:grpSpPr>
          <p:sp>
            <p:nvSpPr>
              <p:cNvPr id="168970" name="Text Box 10"/>
              <p:cNvSpPr txBox="1">
                <a:spLocks noChangeArrowheads="1"/>
              </p:cNvSpPr>
              <p:nvPr/>
            </p:nvSpPr>
            <p:spPr bwMode="auto">
              <a:xfrm>
                <a:off x="432" y="720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a</a:t>
                </a:r>
              </a:p>
            </p:txBody>
          </p:sp>
          <p:sp>
            <p:nvSpPr>
              <p:cNvPr id="168971" name="Text Box 11"/>
              <p:cNvSpPr txBox="1">
                <a:spLocks noChangeArrowheads="1"/>
              </p:cNvSpPr>
              <p:nvPr/>
            </p:nvSpPr>
            <p:spPr bwMode="auto">
              <a:xfrm>
                <a:off x="432" y="1296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b</a:t>
                </a:r>
              </a:p>
            </p:txBody>
          </p:sp>
          <p:sp>
            <p:nvSpPr>
              <p:cNvPr id="168972" name="Text Box 12"/>
              <p:cNvSpPr txBox="1">
                <a:spLocks noChangeArrowheads="1"/>
              </p:cNvSpPr>
              <p:nvPr/>
            </p:nvSpPr>
            <p:spPr bwMode="auto">
              <a:xfrm>
                <a:off x="432" y="1872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</a:t>
                </a:r>
              </a:p>
            </p:txBody>
          </p:sp>
          <p:sp>
            <p:nvSpPr>
              <p:cNvPr id="168973" name="Text Box 13"/>
              <p:cNvSpPr txBox="1">
                <a:spLocks noChangeArrowheads="1"/>
              </p:cNvSpPr>
              <p:nvPr/>
            </p:nvSpPr>
            <p:spPr bwMode="auto">
              <a:xfrm>
                <a:off x="432" y="2496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d</a:t>
                </a:r>
              </a:p>
            </p:txBody>
          </p:sp>
          <p:sp>
            <p:nvSpPr>
              <p:cNvPr id="168974" name="Text Box 14"/>
              <p:cNvSpPr txBox="1">
                <a:spLocks noChangeArrowheads="1"/>
              </p:cNvSpPr>
              <p:nvPr/>
            </p:nvSpPr>
            <p:spPr bwMode="auto">
              <a:xfrm>
                <a:off x="1920" y="720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168975" name="Text Box 15"/>
              <p:cNvSpPr txBox="1">
                <a:spLocks noChangeArrowheads="1"/>
              </p:cNvSpPr>
              <p:nvPr/>
            </p:nvSpPr>
            <p:spPr bwMode="auto">
              <a:xfrm>
                <a:off x="1872" y="1296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2</a:t>
                </a:r>
              </a:p>
            </p:txBody>
          </p:sp>
          <p:sp>
            <p:nvSpPr>
              <p:cNvPr id="168976" name="Text Box 16"/>
              <p:cNvSpPr txBox="1">
                <a:spLocks noChangeArrowheads="1"/>
              </p:cNvSpPr>
              <p:nvPr/>
            </p:nvSpPr>
            <p:spPr bwMode="auto">
              <a:xfrm>
                <a:off x="1872" y="1872"/>
                <a:ext cx="129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3</a:t>
                </a:r>
              </a:p>
            </p:txBody>
          </p:sp>
          <p:sp>
            <p:nvSpPr>
              <p:cNvPr id="168977" name="Text Box 17"/>
              <p:cNvSpPr txBox="1">
                <a:spLocks noChangeArrowheads="1"/>
              </p:cNvSpPr>
              <p:nvPr/>
            </p:nvSpPr>
            <p:spPr bwMode="auto">
              <a:xfrm>
                <a:off x="1872" y="2496"/>
                <a:ext cx="115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FF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en-US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4</a:t>
                </a:r>
              </a:p>
            </p:txBody>
          </p:sp>
        </p:grpSp>
        <p:sp>
          <p:nvSpPr>
            <p:cNvPr id="168978" name="Text Box 18"/>
            <p:cNvSpPr txBox="1">
              <a:spLocks noChangeArrowheads="1"/>
            </p:cNvSpPr>
            <p:nvPr/>
          </p:nvSpPr>
          <p:spPr bwMode="auto">
            <a:xfrm>
              <a:off x="1872" y="3120"/>
              <a:ext cx="115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I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5</a:t>
              </a:r>
              <a:endPara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68979" name="Line 19"/>
          <p:cNvSpPr>
            <a:spLocks noChangeShapeType="1"/>
          </p:cNvSpPr>
          <p:nvPr/>
        </p:nvSpPr>
        <p:spPr bwMode="auto">
          <a:xfrm flipV="1">
            <a:off x="3429000" y="2514600"/>
            <a:ext cx="990600" cy="1600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 autoUpdateAnimBg="0"/>
      <p:bldP spid="168964" grpId="0" animBg="1"/>
      <p:bldP spid="168965" grpId="0" animBg="1"/>
      <p:bldP spid="168966" grpId="0" animBg="1"/>
      <p:bldP spid="168967" grpId="0" animBg="1"/>
      <p:bldP spid="16897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881027" y="365125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Properties of Functions</a:t>
            </a:r>
            <a:endParaRPr lang="en-CA" altLang="en-US" sz="3600" dirty="0"/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6934200" y="1371600"/>
            <a:ext cx="3352800" cy="4343400"/>
          </a:xfrm>
          <a:solidFill>
            <a:schemeClr val="tx2"/>
          </a:solidFill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injective?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66FF33"/>
                </a:solidFill>
                <a:sym typeface="Symbol" panose="05050102010706020507" pitchFamily="18" charset="2"/>
              </a:rPr>
              <a:t>Yes.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surjective?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66FF33"/>
                </a:solidFill>
                <a:sym typeface="Symbol" panose="05050102010706020507" pitchFamily="18" charset="2"/>
              </a:rPr>
              <a:t>Yes.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Is f bijective?</a:t>
            </a:r>
          </a:p>
          <a:p>
            <a:pPr marL="0" indent="0">
              <a:defRPr/>
            </a:pPr>
            <a:r>
              <a:rPr lang="en-US" altLang="en-US" dirty="0">
                <a:solidFill>
                  <a:srgbClr val="66FF33"/>
                </a:solidFill>
                <a:sym typeface="Symbol" panose="05050102010706020507" pitchFamily="18" charset="2"/>
              </a:rPr>
              <a:t>Yes.</a:t>
            </a:r>
          </a:p>
          <a:p>
            <a:pPr marL="0" indent="0">
              <a:defRPr/>
            </a:pPr>
            <a:endParaRPr lang="en-US" altLang="en-US" dirty="0">
              <a:solidFill>
                <a:srgbClr val="00FFFF"/>
              </a:solidFill>
              <a:sym typeface="Symbol" panose="05050102010706020507" pitchFamily="18" charset="2"/>
            </a:endParaRPr>
          </a:p>
        </p:txBody>
      </p:sp>
      <p:sp>
        <p:nvSpPr>
          <p:cNvPr id="481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413FE734-86DE-4B04-9C58-F10E64D83F7C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21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2209800" y="11430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2209800" y="2057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69990" name="Text Box 6"/>
          <p:cNvSpPr txBox="1">
            <a:spLocks noChangeArrowheads="1"/>
          </p:cNvSpPr>
          <p:nvPr/>
        </p:nvSpPr>
        <p:spPr bwMode="auto">
          <a:xfrm>
            <a:off x="2209800" y="29718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169991" name="Text Box 7"/>
          <p:cNvSpPr txBox="1">
            <a:spLocks noChangeArrowheads="1"/>
          </p:cNvSpPr>
          <p:nvPr/>
        </p:nvSpPr>
        <p:spPr bwMode="auto">
          <a:xfrm>
            <a:off x="2209800" y="3962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</a:p>
        </p:txBody>
      </p:sp>
      <p:sp>
        <p:nvSpPr>
          <p:cNvPr id="169992" name="Text Box 8"/>
          <p:cNvSpPr txBox="1">
            <a:spLocks noChangeArrowheads="1"/>
          </p:cNvSpPr>
          <p:nvPr/>
        </p:nvSpPr>
        <p:spPr bwMode="auto">
          <a:xfrm>
            <a:off x="4572000" y="11430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169993" name="Text Box 9"/>
          <p:cNvSpPr txBox="1">
            <a:spLocks noChangeArrowheads="1"/>
          </p:cNvSpPr>
          <p:nvPr/>
        </p:nvSpPr>
        <p:spPr bwMode="auto">
          <a:xfrm>
            <a:off x="4495800" y="2057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169994" name="Text Box 10"/>
          <p:cNvSpPr txBox="1">
            <a:spLocks noChangeArrowheads="1"/>
          </p:cNvSpPr>
          <p:nvPr/>
        </p:nvSpPr>
        <p:spPr bwMode="auto">
          <a:xfrm>
            <a:off x="4495800" y="2971800"/>
            <a:ext cx="2057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sp>
        <p:nvSpPr>
          <p:cNvPr id="169995" name="Text Box 11"/>
          <p:cNvSpPr txBox="1">
            <a:spLocks noChangeArrowheads="1"/>
          </p:cNvSpPr>
          <p:nvPr/>
        </p:nvSpPr>
        <p:spPr bwMode="auto">
          <a:xfrm>
            <a:off x="4495800" y="3962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</a:p>
        </p:txBody>
      </p:sp>
      <p:sp>
        <p:nvSpPr>
          <p:cNvPr id="169996" name="Line 12"/>
          <p:cNvSpPr>
            <a:spLocks noChangeShapeType="1"/>
          </p:cNvSpPr>
          <p:nvPr/>
        </p:nvSpPr>
        <p:spPr bwMode="auto">
          <a:xfrm>
            <a:off x="3352800" y="1524000"/>
            <a:ext cx="990600" cy="26670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997" name="Line 13"/>
          <p:cNvSpPr>
            <a:spLocks noChangeShapeType="1"/>
          </p:cNvSpPr>
          <p:nvPr/>
        </p:nvSpPr>
        <p:spPr bwMode="auto">
          <a:xfrm flipV="1">
            <a:off x="3429000" y="1524000"/>
            <a:ext cx="990600" cy="838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998" name="Line 14"/>
          <p:cNvSpPr>
            <a:spLocks noChangeShapeType="1"/>
          </p:cNvSpPr>
          <p:nvPr/>
        </p:nvSpPr>
        <p:spPr bwMode="auto">
          <a:xfrm>
            <a:off x="3429000" y="3276600"/>
            <a:ext cx="9906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999" name="Line 15"/>
          <p:cNvSpPr>
            <a:spLocks noChangeShapeType="1"/>
          </p:cNvSpPr>
          <p:nvPr/>
        </p:nvSpPr>
        <p:spPr bwMode="auto">
          <a:xfrm>
            <a:off x="3429000" y="4114800"/>
            <a:ext cx="914400" cy="9144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0000" name="Text Box 16"/>
          <p:cNvSpPr txBox="1">
            <a:spLocks noChangeArrowheads="1"/>
          </p:cNvSpPr>
          <p:nvPr/>
        </p:nvSpPr>
        <p:spPr bwMode="auto">
          <a:xfrm>
            <a:off x="4495800" y="49530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I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  <a:endParaRPr lang="en-US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70001" name="Text Box 17"/>
          <p:cNvSpPr txBox="1">
            <a:spLocks noChangeArrowheads="1"/>
          </p:cNvSpPr>
          <p:nvPr/>
        </p:nvSpPr>
        <p:spPr bwMode="auto">
          <a:xfrm>
            <a:off x="2209800" y="49530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170002" name="Line 18"/>
          <p:cNvSpPr>
            <a:spLocks noChangeShapeType="1"/>
          </p:cNvSpPr>
          <p:nvPr/>
        </p:nvSpPr>
        <p:spPr bwMode="auto">
          <a:xfrm flipV="1">
            <a:off x="3505200" y="2438400"/>
            <a:ext cx="914400" cy="25908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2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uild="p" autoUpdateAnimBg="0"/>
      <p:bldP spid="169996" grpId="0" animBg="1"/>
      <p:bldP spid="169997" grpId="0" animBg="1"/>
      <p:bldP spid="169998" grpId="0" animBg="1"/>
      <p:bldP spid="169999" grpId="0" animBg="1"/>
      <p:bldP spid="17000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9402" y="593725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Inversion</a:t>
            </a:r>
            <a:endParaRPr lang="en-CA" altLang="en-US" sz="3600" b="1" dirty="0"/>
          </a:p>
        </p:txBody>
      </p:sp>
      <p:sp>
        <p:nvSpPr>
          <p:cNvPr id="171011" name="Rectangle 3"/>
          <p:cNvSpPr>
            <a:spLocks noGrp="1" noChangeArrowheads="1"/>
          </p:cNvSpPr>
          <p:nvPr>
            <p:ph idx="1"/>
          </p:nvPr>
        </p:nvSpPr>
        <p:spPr>
          <a:xfrm>
            <a:off x="1039402" y="1447800"/>
            <a:ext cx="10314398" cy="45720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An interesting property of bijections is that they have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an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inverse function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.</a:t>
            </a: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The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inverse function</a:t>
            </a:r>
            <a:r>
              <a:rPr lang="en-US" altLang="en-US" dirty="0">
                <a:sym typeface="Symbol" panose="05050102010706020507" pitchFamily="18" charset="2"/>
              </a:rPr>
              <a:t> of the bijection f:AB is the function f</a:t>
            </a:r>
            <a:r>
              <a:rPr lang="en-US" altLang="en-US" baseline="30000" dirty="0">
                <a:sym typeface="Symbol" panose="05050102010706020507" pitchFamily="18" charset="2"/>
              </a:rPr>
              <a:t>-1</a:t>
            </a:r>
            <a:r>
              <a:rPr lang="en-US" altLang="en-US" dirty="0">
                <a:sym typeface="Symbol" panose="05050102010706020507" pitchFamily="18" charset="2"/>
              </a:rPr>
              <a:t>:BA with  f</a:t>
            </a:r>
            <a:r>
              <a:rPr lang="en-US" altLang="en-US" baseline="30000" dirty="0">
                <a:sym typeface="Symbol" panose="05050102010706020507" pitchFamily="18" charset="2"/>
              </a:rPr>
              <a:t>-1</a:t>
            </a:r>
            <a:r>
              <a:rPr lang="en-US" altLang="en-US" dirty="0">
                <a:sym typeface="Symbol" panose="05050102010706020507" pitchFamily="18" charset="2"/>
              </a:rPr>
              <a:t>(b) = a whenever f(a) = b. </a:t>
            </a:r>
          </a:p>
          <a:p>
            <a:pPr marL="0" indent="0"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491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0DAC270B-DD76-4DE5-852B-FA3E08F4D820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22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11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496602" y="3429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/>
              <a:t>Inversion</a:t>
            </a:r>
            <a:endParaRPr lang="en-CA" altLang="en-US" sz="3600" dirty="0"/>
          </a:p>
        </p:txBody>
      </p:sp>
      <p:sp>
        <p:nvSpPr>
          <p:cNvPr id="501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EECDCEA2-2419-4E30-9C9C-87DC015FAA96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23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1496602" y="1250950"/>
            <a:ext cx="3886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Example:</a:t>
            </a:r>
          </a:p>
          <a:p>
            <a:pPr eaLnBrk="1" hangingPunct="1">
              <a:spcBef>
                <a:spcPct val="20000"/>
              </a:spcBef>
              <a:defRPr/>
            </a:pPr>
            <a:endParaRPr lang="en-US" altLang="en-US" sz="1600" dirty="0">
              <a:latin typeface="Comic Sans MS" panose="030F0702030302020204" pitchFamily="66" charset="0"/>
            </a:endParaRPr>
          </a:p>
          <a:p>
            <a:pPr eaLnBrk="1" hangingPunct="1">
              <a:spcBef>
                <a:spcPct val="20000"/>
              </a:spcBef>
              <a:defRPr/>
            </a:pPr>
            <a:endParaRPr lang="en-US" altLang="en-US" sz="1600" dirty="0">
              <a:latin typeface="Comic Sans MS" panose="030F0702030302020204" pitchFamily="66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f(a) = 1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f(b) = 2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f(c) = 3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f(d) = </a:t>
            </a:r>
            <a:r>
              <a:rPr lang="en-IN" altLang="en-US" sz="2800" dirty="0">
                <a:latin typeface="Comic Sans MS" panose="030F0702030302020204" pitchFamily="66" charset="0"/>
              </a:rPr>
              <a:t>4</a:t>
            </a:r>
            <a:endParaRPr lang="en-US" altLang="en-US" sz="2800" dirty="0">
              <a:latin typeface="Comic Sans MS" panose="030F0702030302020204" pitchFamily="66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f(e) = 5</a:t>
            </a:r>
          </a:p>
          <a:p>
            <a:pPr eaLnBrk="1" hangingPunct="1">
              <a:spcBef>
                <a:spcPct val="20000"/>
              </a:spcBef>
              <a:defRPr/>
            </a:pPr>
            <a:endParaRPr lang="en-US" altLang="en-US" sz="900" dirty="0">
              <a:latin typeface="Comic Sans MS" panose="030F0702030302020204" pitchFamily="66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Clearly, f is bijective.</a:t>
            </a:r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6400800" y="1066800"/>
            <a:ext cx="4038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The inverse function  f</a:t>
            </a:r>
            <a:r>
              <a:rPr lang="en-US" altLang="en-US" sz="2800" baseline="30000" dirty="0">
                <a:latin typeface="Comic Sans MS" panose="030F0702030302020204" pitchFamily="66" charset="0"/>
              </a:rPr>
              <a:t>-1</a:t>
            </a:r>
            <a:r>
              <a:rPr lang="en-US" altLang="en-US" sz="2800" dirty="0">
                <a:latin typeface="Comic Sans MS" panose="030F0702030302020204" pitchFamily="66" charset="0"/>
              </a:rPr>
              <a:t> is given by:</a:t>
            </a:r>
          </a:p>
          <a:p>
            <a:pPr eaLnBrk="1" hangingPunct="1">
              <a:spcBef>
                <a:spcPct val="20000"/>
              </a:spcBef>
              <a:defRPr/>
            </a:pPr>
            <a:endParaRPr lang="en-US" altLang="en-US" sz="800" dirty="0">
              <a:latin typeface="Comic Sans MS" panose="030F0702030302020204" pitchFamily="66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f</a:t>
            </a:r>
            <a:r>
              <a:rPr lang="en-US" altLang="en-US" sz="2800" baseline="30000" dirty="0">
                <a:latin typeface="Comic Sans MS" panose="030F0702030302020204" pitchFamily="66" charset="0"/>
              </a:rPr>
              <a:t>-1</a:t>
            </a:r>
            <a:r>
              <a:rPr lang="en-US" altLang="en-US" sz="2800" dirty="0">
                <a:latin typeface="Comic Sans MS" panose="030F0702030302020204" pitchFamily="66" charset="0"/>
              </a:rPr>
              <a:t>(1) = a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f</a:t>
            </a:r>
            <a:r>
              <a:rPr lang="en-US" altLang="en-US" sz="2800" baseline="30000" dirty="0">
                <a:latin typeface="Comic Sans MS" panose="030F0702030302020204" pitchFamily="66" charset="0"/>
              </a:rPr>
              <a:t>-1</a:t>
            </a:r>
            <a:r>
              <a:rPr lang="en-US" altLang="en-US" sz="2800" dirty="0">
                <a:latin typeface="Comic Sans MS" panose="030F0702030302020204" pitchFamily="66" charset="0"/>
              </a:rPr>
              <a:t>(2) = b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f</a:t>
            </a:r>
            <a:r>
              <a:rPr lang="en-US" altLang="en-US" sz="2800" baseline="30000" dirty="0">
                <a:latin typeface="Comic Sans MS" panose="030F0702030302020204" pitchFamily="66" charset="0"/>
              </a:rPr>
              <a:t>-1</a:t>
            </a:r>
            <a:r>
              <a:rPr lang="en-US" altLang="en-US" sz="2800" dirty="0">
                <a:latin typeface="Comic Sans MS" panose="030F0702030302020204" pitchFamily="66" charset="0"/>
              </a:rPr>
              <a:t>(3) = c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f</a:t>
            </a:r>
            <a:r>
              <a:rPr lang="en-US" altLang="en-US" sz="2800" baseline="30000" dirty="0">
                <a:latin typeface="Comic Sans MS" panose="030F0702030302020204" pitchFamily="66" charset="0"/>
              </a:rPr>
              <a:t>-1</a:t>
            </a:r>
            <a:r>
              <a:rPr lang="en-US" altLang="en-US" sz="2800" dirty="0">
                <a:latin typeface="Comic Sans MS" panose="030F0702030302020204" pitchFamily="66" charset="0"/>
              </a:rPr>
              <a:t>(</a:t>
            </a:r>
            <a:r>
              <a:rPr lang="en-IN" altLang="en-US" sz="2800" dirty="0">
                <a:latin typeface="Comic Sans MS" panose="030F0702030302020204" pitchFamily="66" charset="0"/>
              </a:rPr>
              <a:t>4</a:t>
            </a:r>
            <a:r>
              <a:rPr lang="en-US" altLang="en-US" sz="2800" dirty="0">
                <a:latin typeface="Comic Sans MS" panose="030F0702030302020204" pitchFamily="66" charset="0"/>
              </a:rPr>
              <a:t>) = d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f</a:t>
            </a:r>
            <a:r>
              <a:rPr lang="en-US" altLang="en-US" sz="2800" baseline="30000" dirty="0">
                <a:latin typeface="Comic Sans MS" panose="030F0702030302020204" pitchFamily="66" charset="0"/>
              </a:rPr>
              <a:t>-1</a:t>
            </a:r>
            <a:r>
              <a:rPr lang="en-US" altLang="en-US" sz="2800" dirty="0">
                <a:latin typeface="Comic Sans MS" panose="030F0702030302020204" pitchFamily="66" charset="0"/>
              </a:rPr>
              <a:t>(5) = e</a:t>
            </a:r>
          </a:p>
          <a:p>
            <a:pPr eaLnBrk="1" hangingPunct="1">
              <a:spcBef>
                <a:spcPct val="20000"/>
              </a:spcBef>
              <a:defRPr/>
            </a:pPr>
            <a:endParaRPr lang="en-US" altLang="en-US" sz="900" dirty="0">
              <a:latin typeface="Comic Sans MS" panose="030F0702030302020204" pitchFamily="66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2800" dirty="0">
                <a:latin typeface="Comic Sans MS" panose="030F0702030302020204" pitchFamily="66" charset="0"/>
              </a:rPr>
              <a:t>Inversion is only possible for bijections</a:t>
            </a:r>
            <a:br>
              <a:rPr lang="en-US" altLang="en-US" sz="2800" dirty="0">
                <a:latin typeface="Comic Sans MS" panose="030F0702030302020204" pitchFamily="66" charset="0"/>
              </a:rPr>
            </a:br>
            <a:r>
              <a:rPr lang="en-US" altLang="en-US" sz="2800" dirty="0">
                <a:latin typeface="Comic Sans MS" panose="030F0702030302020204" pitchFamily="66" charset="0"/>
              </a:rPr>
              <a:t>(= invertible functions)</a:t>
            </a:r>
          </a:p>
        </p:txBody>
      </p:sp>
    </p:spTree>
    <p:extLst>
      <p:ext uri="{BB962C8B-B14F-4D97-AF65-F5344CB8AC3E}">
        <p14:creationId xmlns:p14="http://schemas.microsoft.com/office/powerpoint/2010/main" val="149909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2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2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2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2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2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2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2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2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2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2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2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2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2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2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 autoUpdateAnimBg="0"/>
      <p:bldP spid="172036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/>
              <a:t>Inversion</a:t>
            </a:r>
            <a:endParaRPr lang="en-CA" altLang="en-US" sz="3600"/>
          </a:p>
        </p:txBody>
      </p:sp>
      <p:sp>
        <p:nvSpPr>
          <p:cNvPr id="173086" name="Rectangle 30"/>
          <p:cNvSpPr>
            <a:spLocks noGrp="1" noChangeArrowheads="1"/>
          </p:cNvSpPr>
          <p:nvPr>
            <p:ph idx="1"/>
          </p:nvPr>
        </p:nvSpPr>
        <p:spPr>
          <a:xfrm>
            <a:off x="7166224" y="2895602"/>
            <a:ext cx="3276600" cy="33528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f</a:t>
            </a:r>
            <a:r>
              <a:rPr lang="en-US" altLang="en-US" baseline="30000" dirty="0">
                <a:solidFill>
                  <a:srgbClr val="FF0000"/>
                </a:solidFill>
                <a:sym typeface="Symbol" panose="05050102010706020507" pitchFamily="18" charset="2"/>
              </a:rPr>
              <a:t>-1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:CP is no function, because it is not defined for all elements of C and assigns two images to the pre-image 2.</a:t>
            </a:r>
          </a:p>
          <a:p>
            <a:pPr marL="0" indent="0">
              <a:defRPr/>
            </a:pPr>
            <a:endParaRPr lang="en-US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512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21A91E90-72D2-4561-A8C6-504612ED2BB7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24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2209800" y="11430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2209800" y="2057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73061" name="Text Box 5"/>
          <p:cNvSpPr txBox="1">
            <a:spLocks noChangeArrowheads="1"/>
          </p:cNvSpPr>
          <p:nvPr/>
        </p:nvSpPr>
        <p:spPr bwMode="auto">
          <a:xfrm>
            <a:off x="2209800" y="29718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</a:p>
        </p:txBody>
      </p:sp>
      <p:sp>
        <p:nvSpPr>
          <p:cNvPr id="173062" name="Text Box 6"/>
          <p:cNvSpPr txBox="1">
            <a:spLocks noChangeArrowheads="1"/>
          </p:cNvSpPr>
          <p:nvPr/>
        </p:nvSpPr>
        <p:spPr bwMode="auto">
          <a:xfrm>
            <a:off x="2209800" y="3962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</a:p>
        </p:txBody>
      </p:sp>
      <p:sp>
        <p:nvSpPr>
          <p:cNvPr id="173063" name="Text Box 7"/>
          <p:cNvSpPr txBox="1">
            <a:spLocks noChangeArrowheads="1"/>
          </p:cNvSpPr>
          <p:nvPr/>
        </p:nvSpPr>
        <p:spPr bwMode="auto">
          <a:xfrm>
            <a:off x="4572000" y="11430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</a:p>
        </p:txBody>
      </p:sp>
      <p:sp>
        <p:nvSpPr>
          <p:cNvPr id="173064" name="Text Box 8"/>
          <p:cNvSpPr txBox="1">
            <a:spLocks noChangeArrowheads="1"/>
          </p:cNvSpPr>
          <p:nvPr/>
        </p:nvSpPr>
        <p:spPr bwMode="auto">
          <a:xfrm>
            <a:off x="4495800" y="2057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173065" name="Text Box 9"/>
          <p:cNvSpPr txBox="1">
            <a:spLocks noChangeArrowheads="1"/>
          </p:cNvSpPr>
          <p:nvPr/>
        </p:nvSpPr>
        <p:spPr bwMode="auto">
          <a:xfrm>
            <a:off x="4495800" y="2971800"/>
            <a:ext cx="2057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sp>
        <p:nvSpPr>
          <p:cNvPr id="173066" name="Text Box 10"/>
          <p:cNvSpPr txBox="1">
            <a:spLocks noChangeArrowheads="1"/>
          </p:cNvSpPr>
          <p:nvPr/>
        </p:nvSpPr>
        <p:spPr bwMode="auto">
          <a:xfrm>
            <a:off x="4495800" y="3962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173067" name="Text Box 11"/>
          <p:cNvSpPr txBox="1">
            <a:spLocks noChangeArrowheads="1"/>
          </p:cNvSpPr>
          <p:nvPr/>
        </p:nvSpPr>
        <p:spPr bwMode="auto">
          <a:xfrm>
            <a:off x="4495800" y="49530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IN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endParaRPr lang="en-US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73068" name="Text Box 12"/>
          <p:cNvSpPr txBox="1">
            <a:spLocks noChangeArrowheads="1"/>
          </p:cNvSpPr>
          <p:nvPr/>
        </p:nvSpPr>
        <p:spPr bwMode="auto">
          <a:xfrm>
            <a:off x="2209800" y="49530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grpSp>
        <p:nvGrpSpPr>
          <p:cNvPr id="51216" name="Group 13"/>
          <p:cNvGrpSpPr>
            <a:grpSpLocks/>
          </p:cNvGrpSpPr>
          <p:nvPr/>
        </p:nvGrpSpPr>
        <p:grpSpPr bwMode="auto">
          <a:xfrm>
            <a:off x="3352800" y="1524000"/>
            <a:ext cx="1066800" cy="3505200"/>
            <a:chOff x="1152" y="960"/>
            <a:chExt cx="672" cy="2208"/>
          </a:xfrm>
        </p:grpSpPr>
        <p:sp>
          <p:nvSpPr>
            <p:cNvPr id="51229" name="Line 14"/>
            <p:cNvSpPr>
              <a:spLocks noChangeShapeType="1"/>
            </p:cNvSpPr>
            <p:nvPr/>
          </p:nvSpPr>
          <p:spPr bwMode="auto">
            <a:xfrm>
              <a:off x="1152" y="960"/>
              <a:ext cx="624" cy="168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30" name="Line 15"/>
            <p:cNvSpPr>
              <a:spLocks noChangeShapeType="1"/>
            </p:cNvSpPr>
            <p:nvPr/>
          </p:nvSpPr>
          <p:spPr bwMode="auto">
            <a:xfrm flipV="1">
              <a:off x="1200" y="1488"/>
              <a:ext cx="624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31" name="Line 16"/>
            <p:cNvSpPr>
              <a:spLocks noChangeShapeType="1"/>
            </p:cNvSpPr>
            <p:nvPr/>
          </p:nvSpPr>
          <p:spPr bwMode="auto">
            <a:xfrm>
              <a:off x="1200" y="2064"/>
              <a:ext cx="624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32" name="Line 17"/>
            <p:cNvSpPr>
              <a:spLocks noChangeShapeType="1"/>
            </p:cNvSpPr>
            <p:nvPr/>
          </p:nvSpPr>
          <p:spPr bwMode="auto">
            <a:xfrm>
              <a:off x="1200" y="2592"/>
              <a:ext cx="576" cy="576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33" name="Line 18"/>
            <p:cNvSpPr>
              <a:spLocks noChangeShapeType="1"/>
            </p:cNvSpPr>
            <p:nvPr/>
          </p:nvSpPr>
          <p:spPr bwMode="auto">
            <a:xfrm flipV="1">
              <a:off x="1248" y="1536"/>
              <a:ext cx="576" cy="1632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3075" name="Group 19"/>
          <p:cNvGrpSpPr>
            <a:grpSpLocks/>
          </p:cNvGrpSpPr>
          <p:nvPr/>
        </p:nvGrpSpPr>
        <p:grpSpPr bwMode="auto">
          <a:xfrm>
            <a:off x="7620000" y="1219200"/>
            <a:ext cx="1752600" cy="369888"/>
            <a:chOff x="3840" y="768"/>
            <a:chExt cx="1104" cy="233"/>
          </a:xfrm>
        </p:grpSpPr>
        <p:sp>
          <p:nvSpPr>
            <p:cNvPr id="51227" name="Line 20"/>
            <p:cNvSpPr>
              <a:spLocks noChangeShapeType="1"/>
            </p:cNvSpPr>
            <p:nvPr/>
          </p:nvSpPr>
          <p:spPr bwMode="auto">
            <a:xfrm flipV="1">
              <a:off x="4320" y="912"/>
              <a:ext cx="624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077" name="Text Box 21"/>
            <p:cNvSpPr txBox="1">
              <a:spLocks noChangeArrowheads="1"/>
            </p:cNvSpPr>
            <p:nvPr/>
          </p:nvSpPr>
          <p:spPr bwMode="auto">
            <a:xfrm>
              <a:off x="3840" y="768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</a:t>
              </a:r>
            </a:p>
          </p:txBody>
        </p:sp>
      </p:grpSp>
      <p:grpSp>
        <p:nvGrpSpPr>
          <p:cNvPr id="173078" name="Group 22"/>
          <p:cNvGrpSpPr>
            <a:grpSpLocks/>
          </p:cNvGrpSpPr>
          <p:nvPr/>
        </p:nvGrpSpPr>
        <p:grpSpPr bwMode="auto">
          <a:xfrm>
            <a:off x="7620000" y="2057401"/>
            <a:ext cx="1752600" cy="369888"/>
            <a:chOff x="3840" y="1296"/>
            <a:chExt cx="1104" cy="233"/>
          </a:xfrm>
        </p:grpSpPr>
        <p:sp>
          <p:nvSpPr>
            <p:cNvPr id="51225" name="Line 23"/>
            <p:cNvSpPr>
              <a:spLocks noChangeShapeType="1"/>
            </p:cNvSpPr>
            <p:nvPr/>
          </p:nvSpPr>
          <p:spPr bwMode="auto">
            <a:xfrm flipV="1">
              <a:off x="4320" y="1440"/>
              <a:ext cx="62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080" name="Text Box 24"/>
            <p:cNvSpPr txBox="1">
              <a:spLocks noChangeArrowheads="1"/>
            </p:cNvSpPr>
            <p:nvPr/>
          </p:nvSpPr>
          <p:spPr bwMode="auto">
            <a:xfrm>
              <a:off x="3840" y="1296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en-US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</a:t>
              </a:r>
              <a:r>
                <a:rPr lang="en-US" altLang="en-US" baseline="3000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-1</a:t>
              </a:r>
            </a:p>
          </p:txBody>
        </p:sp>
      </p:grpSp>
      <p:sp>
        <p:nvSpPr>
          <p:cNvPr id="173081" name="Line 25"/>
          <p:cNvSpPr>
            <a:spLocks noChangeShapeType="1"/>
          </p:cNvSpPr>
          <p:nvPr/>
        </p:nvSpPr>
        <p:spPr bwMode="auto">
          <a:xfrm flipH="1">
            <a:off x="3429000" y="2209800"/>
            <a:ext cx="990600" cy="0"/>
          </a:xfrm>
          <a:prstGeom prst="line">
            <a:avLst/>
          </a:prstGeom>
          <a:noFill/>
          <a:ln w="19050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82" name="Line 26"/>
          <p:cNvSpPr>
            <a:spLocks noChangeShapeType="1"/>
          </p:cNvSpPr>
          <p:nvPr/>
        </p:nvSpPr>
        <p:spPr bwMode="auto">
          <a:xfrm flipH="1">
            <a:off x="3429000" y="2286000"/>
            <a:ext cx="914400" cy="2590800"/>
          </a:xfrm>
          <a:prstGeom prst="line">
            <a:avLst/>
          </a:prstGeom>
          <a:noFill/>
          <a:ln w="19050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83" name="Line 27"/>
          <p:cNvSpPr>
            <a:spLocks noChangeShapeType="1"/>
          </p:cNvSpPr>
          <p:nvPr/>
        </p:nvSpPr>
        <p:spPr bwMode="auto">
          <a:xfrm flipH="1">
            <a:off x="3429000" y="3124200"/>
            <a:ext cx="990600" cy="0"/>
          </a:xfrm>
          <a:prstGeom prst="line">
            <a:avLst/>
          </a:prstGeom>
          <a:noFill/>
          <a:ln w="19050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84" name="Line 28"/>
          <p:cNvSpPr>
            <a:spLocks noChangeShapeType="1"/>
          </p:cNvSpPr>
          <p:nvPr/>
        </p:nvSpPr>
        <p:spPr bwMode="auto">
          <a:xfrm flipH="1" flipV="1">
            <a:off x="3429000" y="1295400"/>
            <a:ext cx="990600" cy="2667000"/>
          </a:xfrm>
          <a:prstGeom prst="line">
            <a:avLst/>
          </a:prstGeom>
          <a:noFill/>
          <a:ln w="19050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85" name="Line 29"/>
          <p:cNvSpPr>
            <a:spLocks noChangeShapeType="1"/>
          </p:cNvSpPr>
          <p:nvPr/>
        </p:nvSpPr>
        <p:spPr bwMode="auto">
          <a:xfrm rot="10800000">
            <a:off x="3429000" y="4343400"/>
            <a:ext cx="914400" cy="914400"/>
          </a:xfrm>
          <a:prstGeom prst="line">
            <a:avLst/>
          </a:prstGeom>
          <a:noFill/>
          <a:ln w="19050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0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3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3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86" grpId="0" build="p" autoUpdateAnimBg="0"/>
      <p:bldP spid="173081" grpId="0" animBg="1"/>
      <p:bldP spid="173082" grpId="0" animBg="1"/>
      <p:bldP spid="173083" grpId="0" animBg="1"/>
      <p:bldP spid="173084" grpId="0" animBg="1"/>
      <p:bldP spid="17308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483" y="501650"/>
            <a:ext cx="77724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Composition</a:t>
            </a:r>
            <a:endParaRPr lang="en-CA" altLang="en-US" sz="3600" b="1" dirty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1"/>
          </p:nvPr>
        </p:nvSpPr>
        <p:spPr>
          <a:xfrm>
            <a:off x="1348482" y="1250950"/>
            <a:ext cx="9768155" cy="5105400"/>
          </a:xfrm>
        </p:spPr>
        <p:txBody>
          <a:bodyPr/>
          <a:lstStyle/>
          <a:p>
            <a:pPr marL="0" indent="0" algn="just">
              <a:defRPr/>
            </a:pPr>
            <a:r>
              <a:rPr lang="en-US" altLang="en-US" dirty="0">
                <a:sym typeface="Symbol" panose="05050102010706020507" pitchFamily="18" charset="2"/>
              </a:rPr>
              <a:t> The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composition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of two functions g:AB and  f:BC, denoted by  </a:t>
            </a:r>
            <a:r>
              <a:rPr lang="en-US" altLang="en-US" dirty="0" err="1">
                <a:sym typeface="Symbol" panose="05050102010706020507" pitchFamily="18" charset="2"/>
              </a:rPr>
              <a:t>fg</a:t>
            </a:r>
            <a:r>
              <a:rPr lang="en-US" altLang="en-US" dirty="0">
                <a:sym typeface="Symbol" panose="05050102010706020507" pitchFamily="18" charset="2"/>
              </a:rPr>
              <a:t>, is defined by (f  g)(a) = f(g(a))</a:t>
            </a:r>
          </a:p>
          <a:p>
            <a:pPr marL="0" indent="0" algn="just">
              <a:defRPr/>
            </a:pPr>
            <a:endParaRPr lang="en-US" altLang="en-US" sz="900" dirty="0">
              <a:sym typeface="Symbol" panose="05050102010706020507" pitchFamily="18" charset="2"/>
            </a:endParaRPr>
          </a:p>
          <a:p>
            <a:pPr marL="0" indent="0" algn="just">
              <a:defRPr/>
            </a:pPr>
            <a:r>
              <a:rPr lang="en-US" altLang="en-US" dirty="0">
                <a:sym typeface="Symbol" panose="05050102010706020507" pitchFamily="18" charset="2"/>
              </a:rPr>
              <a:t> This means that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first</a:t>
            </a:r>
            <a:r>
              <a:rPr lang="en-US" altLang="en-US" dirty="0">
                <a:sym typeface="Symbol" panose="05050102010706020507" pitchFamily="18" charset="2"/>
              </a:rPr>
              <a:t>, function g is applied to element </a:t>
            </a:r>
            <a:r>
              <a:rPr lang="en-US" altLang="en-US" dirty="0" err="1">
                <a:sym typeface="Symbol" panose="05050102010706020507" pitchFamily="18" charset="2"/>
              </a:rPr>
              <a:t>aA</a:t>
            </a:r>
            <a:r>
              <a:rPr lang="en-US" altLang="en-US" dirty="0">
                <a:sym typeface="Symbol" panose="05050102010706020507" pitchFamily="18" charset="2"/>
              </a:rPr>
              <a:t>, mapping it onto an element of B,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then</a:t>
            </a:r>
            <a:r>
              <a:rPr lang="en-US" altLang="en-US" dirty="0">
                <a:sym typeface="Symbol" panose="05050102010706020507" pitchFamily="18" charset="2"/>
              </a:rPr>
              <a:t>, function f is applied to this element of B, mapping it onto an element of C.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Therefore</a:t>
            </a:r>
            <a:r>
              <a:rPr lang="en-US" altLang="en-US" dirty="0">
                <a:sym typeface="Symbol" panose="05050102010706020507" pitchFamily="18" charset="2"/>
              </a:rPr>
              <a:t>, the composite function maps from A to C.</a:t>
            </a:r>
          </a:p>
          <a:p>
            <a:pPr marL="0" indent="0" algn="just"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F20C7388-6167-4363-873B-5A14C7B6F8A6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25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13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571" y="594581"/>
            <a:ext cx="77724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Composition</a:t>
            </a:r>
            <a:endParaRPr lang="en-CA" altLang="en-US" sz="3600" b="1" dirty="0"/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xfrm>
            <a:off x="1194371" y="1389580"/>
            <a:ext cx="7924800" cy="48768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Example:</a:t>
            </a:r>
          </a:p>
          <a:p>
            <a:pPr marL="0" indent="0">
              <a:defRPr/>
            </a:pPr>
            <a:endParaRPr lang="en-US" altLang="en-US" sz="1600" dirty="0">
              <a:solidFill>
                <a:srgbClr val="00FFFF"/>
              </a:solidFill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f(x) = 7x – 4, g(x) = 3x,</a:t>
            </a: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f: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, g: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dirty="0" err="1">
                <a:sym typeface="Symbol" panose="05050102010706020507" pitchFamily="18" charset="2"/>
              </a:rPr>
              <a:t>fg</a:t>
            </a:r>
            <a:r>
              <a:rPr lang="en-US" altLang="en-US" dirty="0">
                <a:sym typeface="Symbol" panose="05050102010706020507" pitchFamily="18" charset="2"/>
              </a:rPr>
              <a:t>)(5) = f(g(5)) = f(15) = 105 – 4 = 101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dirty="0" err="1">
                <a:sym typeface="Symbol" panose="05050102010706020507" pitchFamily="18" charset="2"/>
              </a:rPr>
              <a:t>fg</a:t>
            </a:r>
            <a:r>
              <a:rPr lang="en-US" altLang="en-US" dirty="0">
                <a:sym typeface="Symbol" panose="05050102010706020507" pitchFamily="18" charset="2"/>
              </a:rPr>
              <a:t>)(x) = f(g(x)) = f(3x) = 21x - 4</a:t>
            </a:r>
          </a:p>
          <a:p>
            <a:pPr marL="0" indent="0"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532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5C276272-F656-4E55-8771-188C9BCB1C79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26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95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5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5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61836" y="725185"/>
            <a:ext cx="77724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Composition</a:t>
            </a:r>
            <a:endParaRPr lang="en-CA" altLang="en-US" sz="3600" b="1" dirty="0"/>
          </a:p>
        </p:txBody>
      </p:sp>
      <p:sp>
        <p:nvSpPr>
          <p:cNvPr id="176131" name="Rectangle 1027"/>
          <p:cNvSpPr>
            <a:spLocks noGrp="1" noChangeArrowheads="1"/>
          </p:cNvSpPr>
          <p:nvPr>
            <p:ph idx="1"/>
          </p:nvPr>
        </p:nvSpPr>
        <p:spPr>
          <a:xfrm>
            <a:off x="1256015" y="1484615"/>
            <a:ext cx="10312685" cy="46482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Composition of a function and its inverse:</a:t>
            </a:r>
            <a:endParaRPr lang="en-US" altLang="en-US" b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(f</a:t>
            </a:r>
            <a:r>
              <a:rPr lang="en-US" altLang="en-US" baseline="30000" dirty="0">
                <a:sym typeface="Symbol" panose="05050102010706020507" pitchFamily="18" charset="2"/>
              </a:rPr>
              <a:t>-1</a:t>
            </a:r>
            <a:r>
              <a:rPr lang="en-US" altLang="en-US" dirty="0">
                <a:sym typeface="Symbol" panose="05050102010706020507" pitchFamily="18" charset="2"/>
              </a:rPr>
              <a:t>f)(x) = f</a:t>
            </a:r>
            <a:r>
              <a:rPr lang="en-US" altLang="en-US" baseline="30000" dirty="0">
                <a:sym typeface="Symbol" panose="05050102010706020507" pitchFamily="18" charset="2"/>
              </a:rPr>
              <a:t>-1</a:t>
            </a:r>
            <a:r>
              <a:rPr lang="en-US" altLang="en-US" dirty="0">
                <a:sym typeface="Symbol" panose="05050102010706020507" pitchFamily="18" charset="2"/>
              </a:rPr>
              <a:t>(f(x)) = x</a:t>
            </a:r>
          </a:p>
          <a:p>
            <a:pPr marL="0" indent="0"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The composition of a function and its inverse is the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identity function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(x) = x.</a:t>
            </a:r>
          </a:p>
        </p:txBody>
      </p:sp>
      <p:sp>
        <p:nvSpPr>
          <p:cNvPr id="542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E7660C0A-A293-465B-99C7-3199EF85D70E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27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18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6770" y="533400"/>
            <a:ext cx="77724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Graphs</a:t>
            </a:r>
            <a:endParaRPr lang="en-CA" altLang="en-US" sz="3600" b="1" dirty="0"/>
          </a:p>
        </p:txBody>
      </p:sp>
      <p:sp>
        <p:nvSpPr>
          <p:cNvPr id="177155" name="Rectangle 3"/>
          <p:cNvSpPr>
            <a:spLocks noGrp="1" noChangeArrowheads="1"/>
          </p:cNvSpPr>
          <p:nvPr>
            <p:ph idx="1"/>
          </p:nvPr>
        </p:nvSpPr>
        <p:spPr>
          <a:xfrm>
            <a:off x="1270570" y="1425575"/>
            <a:ext cx="9712504" cy="46482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The</a:t>
            </a: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graph</a:t>
            </a: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of a function</a:t>
            </a:r>
            <a:r>
              <a:rPr lang="en-US" altLang="en-US" dirty="0">
                <a:solidFill>
                  <a:srgbClr val="00FF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f:AB is the set of ordered pairs </a:t>
            </a:r>
          </a:p>
          <a:p>
            <a:pPr marL="0" indent="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{(a, b) | </a:t>
            </a:r>
            <a:r>
              <a:rPr lang="en-US" altLang="en-US" dirty="0" err="1">
                <a:sym typeface="Symbol" panose="05050102010706020507" pitchFamily="18" charset="2"/>
              </a:rPr>
              <a:t>aA</a:t>
            </a:r>
            <a:r>
              <a:rPr lang="en-US" altLang="en-US" dirty="0">
                <a:sym typeface="Symbol" panose="05050102010706020507" pitchFamily="18" charset="2"/>
              </a:rPr>
              <a:t> and f(a) = b}.</a:t>
            </a:r>
          </a:p>
          <a:p>
            <a:pPr marL="0" indent="0"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The graph is a subset of AB that can be used to visualize f in a two-dimensional coordinate system.</a:t>
            </a:r>
          </a:p>
          <a:p>
            <a:pPr marL="0" indent="0"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553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35C71973-11A5-403F-BBA0-F47BD9676A02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28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97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35805" y="469579"/>
            <a:ext cx="77724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b="1" dirty="0"/>
              <a:t>Floor and Ceiling Functions</a:t>
            </a:r>
            <a:endParaRPr lang="en-CA" altLang="en-US" sz="3600" b="1" dirty="0"/>
          </a:p>
        </p:txBody>
      </p:sp>
      <p:sp>
        <p:nvSpPr>
          <p:cNvPr id="178179" name="Rectangle 3"/>
          <p:cNvSpPr>
            <a:spLocks noGrp="1" noChangeArrowheads="1"/>
          </p:cNvSpPr>
          <p:nvPr>
            <p:ph idx="1"/>
          </p:nvPr>
        </p:nvSpPr>
        <p:spPr>
          <a:xfrm>
            <a:off x="1091629" y="1390436"/>
            <a:ext cx="9788704" cy="4953000"/>
          </a:xfrm>
        </p:spPr>
        <p:txBody>
          <a:bodyPr/>
          <a:lstStyle/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The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floor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ceiling</a:t>
            </a:r>
            <a:r>
              <a:rPr lang="en-US" altLang="en-US" dirty="0">
                <a:sym typeface="Symbol" panose="05050102010706020507" pitchFamily="18" charset="2"/>
              </a:rPr>
              <a:t> functions map the real numbers onto the integers (</a:t>
            </a:r>
            <a:r>
              <a:rPr lang="en-US" altLang="en-US" b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b="1" dirty="0">
                <a:sym typeface="Symbol" panose="05050102010706020507" pitchFamily="18" charset="2"/>
              </a:rPr>
              <a:t>Z</a:t>
            </a:r>
            <a:r>
              <a:rPr lang="en-US" altLang="en-US" dirty="0">
                <a:sym typeface="Symbol" panose="05050102010706020507" pitchFamily="18" charset="2"/>
              </a:rPr>
              <a:t>).</a:t>
            </a:r>
          </a:p>
          <a:p>
            <a:pPr marL="0" indent="0">
              <a:defRPr/>
            </a:pPr>
            <a:endParaRPr lang="en-US" altLang="en-US" sz="9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The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floor</a:t>
            </a:r>
            <a:r>
              <a:rPr lang="en-US" altLang="en-US" dirty="0">
                <a:sym typeface="Symbol" panose="05050102010706020507" pitchFamily="18" charset="2"/>
              </a:rPr>
              <a:t> function assigns to </a:t>
            </a:r>
            <a:r>
              <a:rPr lang="en-US" altLang="en-US" dirty="0" err="1">
                <a:sym typeface="Symbol" panose="05050102010706020507" pitchFamily="18" charset="2"/>
              </a:rPr>
              <a:t>r</a:t>
            </a:r>
            <a:r>
              <a:rPr lang="en-US" altLang="en-US" b="1" dirty="0" err="1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the largest </a:t>
            </a:r>
            <a:r>
              <a:rPr lang="en-US" altLang="en-US" dirty="0" err="1">
                <a:sym typeface="Symbol" panose="05050102010706020507" pitchFamily="18" charset="2"/>
              </a:rPr>
              <a:t>z</a:t>
            </a:r>
            <a:r>
              <a:rPr lang="en-US" altLang="en-US" b="1" dirty="0" err="1">
                <a:sym typeface="Symbol" panose="05050102010706020507" pitchFamily="18" charset="2"/>
              </a:rPr>
              <a:t>Z</a:t>
            </a:r>
            <a:r>
              <a:rPr lang="en-US" altLang="en-US" dirty="0">
                <a:sym typeface="Symbol" panose="05050102010706020507" pitchFamily="18" charset="2"/>
              </a:rPr>
              <a:t> with z  r, denoted by r.</a:t>
            </a:r>
          </a:p>
          <a:p>
            <a:pPr marL="0" indent="0">
              <a:defRPr/>
            </a:pPr>
            <a:endParaRPr lang="en-US" altLang="en-US" sz="900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Examples: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2.3 = 2, 2 = 2, 0.5 = 0, -3.5 = -4</a:t>
            </a:r>
          </a:p>
          <a:p>
            <a:pPr marL="0" indent="0">
              <a:defRPr/>
            </a:pPr>
            <a:endParaRPr lang="en-US" altLang="en-US" sz="900" dirty="0">
              <a:sym typeface="Symbol" panose="05050102010706020507" pitchFamily="18" charset="2"/>
            </a:endParaRPr>
          </a:p>
          <a:p>
            <a:pPr marL="0" indent="0">
              <a:defRPr/>
            </a:pPr>
            <a:r>
              <a:rPr lang="en-US" altLang="en-US" dirty="0">
                <a:sym typeface="Symbol" panose="05050102010706020507" pitchFamily="18" charset="2"/>
              </a:rPr>
              <a:t> The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ceiling</a:t>
            </a:r>
            <a:r>
              <a:rPr lang="en-US" altLang="en-US" dirty="0">
                <a:sym typeface="Symbol" panose="05050102010706020507" pitchFamily="18" charset="2"/>
              </a:rPr>
              <a:t> function assigns to </a:t>
            </a:r>
            <a:r>
              <a:rPr lang="en-US" altLang="en-US" dirty="0" err="1">
                <a:sym typeface="Symbol" panose="05050102010706020507" pitchFamily="18" charset="2"/>
              </a:rPr>
              <a:t>r</a:t>
            </a:r>
            <a:r>
              <a:rPr lang="en-US" altLang="en-US" b="1" dirty="0" err="1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the smallest </a:t>
            </a:r>
            <a:r>
              <a:rPr lang="en-US" altLang="en-US" dirty="0" err="1">
                <a:sym typeface="Symbol" panose="05050102010706020507" pitchFamily="18" charset="2"/>
              </a:rPr>
              <a:t>z</a:t>
            </a:r>
            <a:r>
              <a:rPr lang="en-US" altLang="en-US" b="1" dirty="0" err="1">
                <a:sym typeface="Symbol" panose="05050102010706020507" pitchFamily="18" charset="2"/>
              </a:rPr>
              <a:t>Z</a:t>
            </a:r>
            <a:r>
              <a:rPr lang="en-US" altLang="en-US" dirty="0">
                <a:sym typeface="Symbol" panose="05050102010706020507" pitchFamily="18" charset="2"/>
              </a:rPr>
              <a:t> with z  r, denoted by r.</a:t>
            </a:r>
          </a:p>
          <a:p>
            <a:pPr marL="0" indent="0">
              <a:defRPr/>
            </a:pPr>
            <a:endParaRPr lang="en-US" altLang="en-US" sz="900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Examples:</a:t>
            </a:r>
            <a:r>
              <a:rPr lang="en-US" altLang="en-US" dirty="0">
                <a:sym typeface="Symbol" panose="05050102010706020507" pitchFamily="18" charset="2"/>
              </a:rPr>
              <a:t> 2.3 = 3, 2 = 2, 0.5 = 1, -3.5 = -3 </a:t>
            </a:r>
          </a:p>
        </p:txBody>
      </p:sp>
      <p:sp>
        <p:nvSpPr>
          <p:cNvPr id="563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600">
                <a:solidFill>
                  <a:srgbClr val="FFFF00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FFFF00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FFFF00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FFFF00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6C95373E-2EDE-47B0-AD08-14F7F5EC19E6}" type="slidenum">
              <a:rPr lang="en-CA" altLang="en-US" sz="1400">
                <a:solidFill>
                  <a:srgbClr val="00CC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29</a:t>
            </a:fld>
            <a:endParaRPr lang="en-CA" altLang="en-US" sz="1400">
              <a:solidFill>
                <a:srgbClr val="00CC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8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8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8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8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1948</Words>
  <Application>Microsoft Office PowerPoint</Application>
  <PresentationFormat>Widescreen</PresentationFormat>
  <Paragraphs>330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Comic Sans MS</vt:lpstr>
      <vt:lpstr>Symbol</vt:lpstr>
      <vt:lpstr>Times New Roman</vt:lpstr>
      <vt:lpstr>Office Theme</vt:lpstr>
      <vt:lpstr>PowerPoint Presentation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Properties of Functions</vt:lpstr>
      <vt:lpstr>Properties of Functions</vt:lpstr>
      <vt:lpstr>Properties of Functions</vt:lpstr>
      <vt:lpstr>Properties of Functions</vt:lpstr>
      <vt:lpstr>Properties of Functions</vt:lpstr>
      <vt:lpstr>Properties of Functions</vt:lpstr>
      <vt:lpstr>Properties of Functions</vt:lpstr>
      <vt:lpstr>Properties of Functions</vt:lpstr>
      <vt:lpstr>Properties of Functions</vt:lpstr>
      <vt:lpstr>Properties of Functions</vt:lpstr>
      <vt:lpstr>Properties of Functions</vt:lpstr>
      <vt:lpstr>Properties of Functions</vt:lpstr>
      <vt:lpstr>Inversion</vt:lpstr>
      <vt:lpstr>Inversion</vt:lpstr>
      <vt:lpstr>Inversion</vt:lpstr>
      <vt:lpstr>Composition</vt:lpstr>
      <vt:lpstr>Composition</vt:lpstr>
      <vt:lpstr>Composition</vt:lpstr>
      <vt:lpstr>Graphs</vt:lpstr>
      <vt:lpstr>Floor and Ceiling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</dc:creator>
  <cp:lastModifiedBy>Chandan Trivedi</cp:lastModifiedBy>
  <cp:revision>22</cp:revision>
  <dcterms:created xsi:type="dcterms:W3CDTF">2020-06-21T13:42:17Z</dcterms:created>
  <dcterms:modified xsi:type="dcterms:W3CDTF">2023-01-24T08:06:27Z</dcterms:modified>
</cp:coreProperties>
</file>