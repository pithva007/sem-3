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69" r:id="rId5"/>
    <p:sldId id="270" r:id="rId6"/>
    <p:sldId id="291" r:id="rId7"/>
    <p:sldId id="271" r:id="rId8"/>
    <p:sldId id="272" r:id="rId9"/>
    <p:sldId id="273" r:id="rId10"/>
    <p:sldId id="275" r:id="rId11"/>
    <p:sldId id="289" r:id="rId12"/>
    <p:sldId id="274" r:id="rId13"/>
    <p:sldId id="276" r:id="rId14"/>
    <p:sldId id="277" r:id="rId15"/>
    <p:sldId id="278" r:id="rId16"/>
    <p:sldId id="279" r:id="rId17"/>
    <p:sldId id="280" r:id="rId18"/>
    <p:sldId id="316" r:id="rId19"/>
    <p:sldId id="317" r:id="rId20"/>
    <p:sldId id="281" r:id="rId21"/>
    <p:sldId id="282" r:id="rId22"/>
    <p:sldId id="286" r:id="rId23"/>
    <p:sldId id="318" r:id="rId24"/>
    <p:sldId id="283" r:id="rId25"/>
    <p:sldId id="284" r:id="rId26"/>
    <p:sldId id="285" r:id="rId27"/>
    <p:sldId id="287" r:id="rId28"/>
    <p:sldId id="28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16" autoAdjust="0"/>
    <p:restoredTop sz="94660"/>
  </p:normalViewPr>
  <p:slideViewPr>
    <p:cSldViewPr snapToGrid="0">
      <p:cViewPr>
        <p:scale>
          <a:sx n="162" d="100"/>
          <a:sy n="162" d="100"/>
        </p:scale>
        <p:origin x="-1400" y="-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851A0-732F-4BC4-A4A9-4A3CECE6842C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F53E4-D9BD-45E5-981F-9BB779AA9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279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541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36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315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550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569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764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695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72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062F564-2F94-4DC9-A66D-9AA723C932EC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01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75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28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62F564-2F94-4DC9-A66D-9AA723C932EC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59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0D30E-48FB-4C04-9FE7-C13436748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UNIT-II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F75A6-E66E-4B2A-A9F5-E3B994581A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Propositional Logic</a:t>
            </a:r>
            <a:endParaRPr lang="en-IN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191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3216-F5A1-4416-A0AD-3E054814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UNIT-II Syllabus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DABEC-07C0-43D4-B0EC-A3B052D96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65150" indent="-342900" algn="just">
              <a:lnSpc>
                <a:spcPct val="102000"/>
              </a:lnSpc>
              <a:spcAft>
                <a:spcPts val="170"/>
              </a:spcAft>
              <a:buFont typeface="+mj-lt"/>
              <a:buAutoNum type="arabicPeriod"/>
            </a:pP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Propositional Logic</a:t>
            </a:r>
            <a:r>
              <a:rPr lang="en-IN" sz="3200" b="1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 </a:t>
            </a: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syntax, semantics, validity and satisfiability</a:t>
            </a:r>
          </a:p>
          <a:p>
            <a:pPr marL="565150" indent="-342900" algn="just">
              <a:lnSpc>
                <a:spcPct val="102000"/>
              </a:lnSpc>
              <a:spcAft>
                <a:spcPts val="170"/>
              </a:spcAft>
              <a:buFont typeface="+mj-lt"/>
              <a:buAutoNum type="arabicPeriod"/>
            </a:pP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basic connectives and truth tables. </a:t>
            </a:r>
          </a:p>
          <a:p>
            <a:pPr marL="565150" indent="-342900" algn="just">
              <a:lnSpc>
                <a:spcPct val="102000"/>
              </a:lnSpc>
              <a:spcAft>
                <a:spcPts val="170"/>
              </a:spcAft>
              <a:buFont typeface="+mj-lt"/>
              <a:buAutoNum type="arabicPeriod"/>
            </a:pP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logical equivalence: the laws of logic, </a:t>
            </a:r>
          </a:p>
          <a:p>
            <a:pPr marL="565150" indent="-342900" algn="just">
              <a:lnSpc>
                <a:spcPct val="102000"/>
              </a:lnSpc>
              <a:spcAft>
                <a:spcPts val="170"/>
              </a:spcAft>
              <a:buFont typeface="+mj-lt"/>
              <a:buAutoNum type="arabicPeriod"/>
            </a:pP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logical implication, </a:t>
            </a:r>
          </a:p>
          <a:p>
            <a:pPr marL="565150" indent="-342900" algn="just">
              <a:lnSpc>
                <a:spcPct val="102000"/>
              </a:lnSpc>
              <a:spcAft>
                <a:spcPts val="170"/>
              </a:spcAft>
              <a:buFont typeface="+mj-lt"/>
              <a:buAutoNum type="arabicPeriod"/>
            </a:pP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rules of inference, </a:t>
            </a:r>
          </a:p>
          <a:p>
            <a:pPr marL="565150" indent="-342900" algn="just">
              <a:lnSpc>
                <a:spcPct val="102000"/>
              </a:lnSpc>
              <a:spcAft>
                <a:spcPts val="170"/>
              </a:spcAft>
              <a:buFont typeface="+mj-lt"/>
              <a:buAutoNum type="arabicPeriod"/>
            </a:pP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the use of quantifiers.</a:t>
            </a:r>
            <a:endParaRPr lang="en-IN" sz="320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377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593B8-A293-4FEA-9EAF-AF70631BB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- 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567CB-DA5B-446E-976F-26EA7D746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Propositional Logic</a:t>
            </a:r>
            <a:r>
              <a:rPr lang="en-IN" sz="2800" b="1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 </a:t>
            </a:r>
            <a:r>
              <a:rPr lang="en-IN" sz="28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syntax, semantics, validity and satisfiability</a:t>
            </a:r>
          </a:p>
          <a:p>
            <a:r>
              <a:rPr lang="en-IN" sz="28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Basic connectives and truth tables. </a:t>
            </a:r>
          </a:p>
          <a:p>
            <a:endParaRPr lang="en-IN" sz="2800" dirty="0">
              <a:solidFill>
                <a:srgbClr val="222222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3493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C648048-0347-47E5-A8E2-E8A163DD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Introduction: Logic?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F6EC24D6-EC36-46A1-8ABB-E345E5AF8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We will study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Propositional Logic (PL)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First-Order Logic (FOL)</a:t>
            </a:r>
          </a:p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Logic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 is the study of the logic </a:t>
            </a:r>
            <a:r>
              <a:rPr lang="en-US" altLang="en-US" sz="2000" u="sng" dirty="0">
                <a:ea typeface="ＭＳ Ｐゴシック" panose="020B0600070205080204" pitchFamily="34" charset="-128"/>
              </a:rPr>
              <a:t>relationships</a:t>
            </a:r>
            <a:r>
              <a:rPr lang="en-US" altLang="en-US" sz="2000" dirty="0">
                <a:ea typeface="ＭＳ Ｐゴシック" panose="020B0600070205080204" pitchFamily="34" charset="-128"/>
              </a:rPr>
              <a:t> between </a:t>
            </a:r>
            <a:r>
              <a:rPr lang="en-US" altLang="en-US" sz="2000" u="sng" dirty="0">
                <a:ea typeface="ＭＳ Ｐゴシック" panose="020B0600070205080204" pitchFamily="34" charset="-128"/>
              </a:rPr>
              <a:t>objects</a:t>
            </a:r>
            <a:r>
              <a:rPr lang="en-US" altLang="en-US" sz="2000" dirty="0">
                <a:ea typeface="ＭＳ Ｐゴシック" panose="020B0600070205080204" pitchFamily="34" charset="-128"/>
              </a:rPr>
              <a:t> and 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forms the basis of all mathematical reasoning and all automated reasoning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78A109F5-8E48-449A-B2DF-C02D8350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Introduction: PL?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EA6FCD2-F47D-4AB2-B8B3-5892BF726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Propositional Logic (PL) = Propositional Calculus = Sentential Logic </a:t>
            </a:r>
          </a:p>
          <a:p>
            <a:pPr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In Propositional Logic, the objects are called </a:t>
            </a:r>
            <a:r>
              <a:rPr lang="en-US" altLang="en-US" sz="2000" u="sng" dirty="0">
                <a:ea typeface="ＭＳ Ｐゴシック" panose="020B0600070205080204" pitchFamily="34" charset="-128"/>
              </a:rPr>
              <a:t>propositions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000" b="1" dirty="0">
                <a:ea typeface="ＭＳ Ｐゴシック" panose="020B0600070205080204" pitchFamily="34" charset="-128"/>
              </a:rPr>
              <a:t>Definition</a:t>
            </a:r>
            <a:r>
              <a:rPr lang="en-US" altLang="en-US" sz="2000" dirty="0">
                <a:ea typeface="ＭＳ Ｐゴシック" panose="020B0600070205080204" pitchFamily="34" charset="-128"/>
              </a:rPr>
              <a:t>:  A proposition is a </a:t>
            </a:r>
            <a:r>
              <a:rPr lang="en-US" altLang="en-US" sz="2000" u="sng" dirty="0">
                <a:ea typeface="ＭＳ Ｐゴシック" panose="020B0600070205080204" pitchFamily="34" charset="-128"/>
              </a:rPr>
              <a:t>statement</a:t>
            </a:r>
            <a:r>
              <a:rPr lang="en-US" altLang="en-US" sz="2000" dirty="0">
                <a:ea typeface="ＭＳ Ｐゴシック" panose="020B0600070205080204" pitchFamily="34" charset="-128"/>
              </a:rPr>
              <a:t> that is either </a:t>
            </a:r>
            <a:r>
              <a:rPr lang="en-US" altLang="en-US" sz="2000" u="sng" dirty="0">
                <a:ea typeface="ＭＳ Ｐゴシック" panose="020B0600070205080204" pitchFamily="34" charset="-128"/>
              </a:rPr>
              <a:t>true</a:t>
            </a:r>
            <a:r>
              <a:rPr lang="en-US" altLang="en-US" sz="2000" dirty="0">
                <a:ea typeface="ＭＳ Ｐゴシック" panose="020B0600070205080204" pitchFamily="34" charset="-128"/>
              </a:rPr>
              <a:t> or </a:t>
            </a:r>
            <a:r>
              <a:rPr lang="en-US" altLang="en-US" sz="2000" u="sng" dirty="0">
                <a:ea typeface="ＭＳ Ｐゴシック" panose="020B0600070205080204" pitchFamily="34" charset="-128"/>
              </a:rPr>
              <a:t>false</a:t>
            </a:r>
            <a:r>
              <a:rPr lang="en-US" altLang="en-US" sz="2000" dirty="0">
                <a:ea typeface="ＭＳ Ｐゴシック" panose="020B0600070205080204" pitchFamily="34" charset="-128"/>
              </a:rPr>
              <a:t>, but not both</a:t>
            </a:r>
          </a:p>
          <a:p>
            <a:pPr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We usually denote a proposition by a letter: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p</a:t>
            </a:r>
            <a:r>
              <a:rPr lang="en-US" altLang="en-US" sz="2000" dirty="0">
                <a:ea typeface="ＭＳ Ｐゴシック" panose="020B0600070205080204" pitchFamily="34" charset="-128"/>
              </a:rPr>
              <a:t>,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q</a:t>
            </a:r>
            <a:r>
              <a:rPr lang="en-US" altLang="en-US" sz="2000" dirty="0">
                <a:ea typeface="ＭＳ Ｐゴシック" panose="020B0600070205080204" pitchFamily="34" charset="-128"/>
              </a:rPr>
              <a:t>,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2000" dirty="0">
                <a:ea typeface="ＭＳ Ｐゴシック" panose="020B0600070205080204" pitchFamily="34" charset="-128"/>
              </a:rPr>
              <a:t>,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s</a:t>
            </a:r>
            <a:r>
              <a:rPr lang="en-US" altLang="en-US" sz="2000" dirty="0">
                <a:ea typeface="ＭＳ Ｐゴシック" panose="020B0600070205080204" pitchFamily="34" charset="-128"/>
              </a:rPr>
              <a:t>, …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FF862E80-5CB9-4C14-92EC-3E70AFFA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Outline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FF85EF88-817F-4255-8170-560C61C75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3326" y="2319992"/>
            <a:ext cx="8781421" cy="3762756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ea typeface="ＭＳ Ｐゴシック" panose="020B0600070205080204" pitchFamily="34" charset="-128"/>
              </a:rPr>
              <a:t>Defining Propositional Logic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Propositions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Connectives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Precedence of Logical Operators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Truth tables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ea typeface="ＭＳ Ｐゴシック" panose="020B0600070205080204" pitchFamily="34" charset="-128"/>
              </a:rPr>
              <a:t>Usefulness of Logic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Bitwise operations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Logic in Theoretical Computer Science (SAT)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Logic in Programming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ea typeface="ＭＳ Ｐゴシック" panose="020B0600070205080204" pitchFamily="34" charset="-128"/>
              </a:rPr>
              <a:t>Logical Equivalences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Terminology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Truth tables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Equivalence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B40B914A-10B2-441D-B18E-530CD028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Introduction: Proposition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753241E6-99E4-4532-B9B5-64484B322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Definition</a:t>
            </a:r>
            <a:r>
              <a:rPr lang="en-US" altLang="en-US">
                <a:ea typeface="ＭＳ Ｐゴシック" panose="020B0600070205080204" pitchFamily="34" charset="-128"/>
              </a:rPr>
              <a:t>:  The value of a proposition is called its </a:t>
            </a:r>
            <a:r>
              <a:rPr lang="en-US" altLang="en-US" u="sng">
                <a:ea typeface="ＭＳ Ｐゴシック" panose="020B0600070205080204" pitchFamily="34" charset="-128"/>
              </a:rPr>
              <a:t>truth value</a:t>
            </a:r>
            <a:r>
              <a:rPr lang="en-US" altLang="en-US">
                <a:ea typeface="ＭＳ Ｐゴシック" panose="020B0600070205080204" pitchFamily="34" charset="-128"/>
              </a:rPr>
              <a:t>; denoted by 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</a:rPr>
              <a:t>T</a:t>
            </a:r>
            <a:r>
              <a:rPr lang="en-US" altLang="en-US">
                <a:ea typeface="ＭＳ Ｐゴシック" panose="020B0600070205080204" pitchFamily="34" charset="-128"/>
              </a:rPr>
              <a:t> or 1 if it is true or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</a:rPr>
              <a:t>F</a:t>
            </a:r>
            <a:r>
              <a:rPr lang="en-US" altLang="en-US">
                <a:ea typeface="ＭＳ Ｐゴシック" panose="020B0600070205080204" pitchFamily="34" charset="-128"/>
              </a:rPr>
              <a:t> or 0 if it is false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Opinions, interrogative, and imperative are not propositions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Truth table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55D345-05C0-432A-B6ED-E9040A681951}"/>
              </a:ext>
            </a:extLst>
          </p:cNvPr>
          <p:cNvGraphicFramePr>
            <a:graphicFrameLocks noGrp="1"/>
          </p:cNvGraphicFramePr>
          <p:nvPr/>
        </p:nvGraphicFramePr>
        <p:xfrm>
          <a:off x="5867400" y="5075238"/>
          <a:ext cx="381000" cy="109714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307335097"/>
                    </a:ext>
                  </a:extLst>
                </a:gridCol>
              </a:tblGrid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222203"/>
                  </a:ext>
                </a:extLst>
              </a:tr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505016"/>
                  </a:ext>
                </a:extLst>
              </a:tr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6414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3F7AC1FE-A050-4845-839E-ADF61AF5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Propositions: Examples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B7010C89-79EA-4A42-94C7-6A5D9FD2A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 following are propositions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Today is Monday	                                                  </a:t>
            </a:r>
            <a:r>
              <a:rPr lang="en-US" altLang="en-US" i="1" dirty="0">
                <a:ea typeface="ＭＳ Ｐゴシック" panose="020B0600070205080204" pitchFamily="34" charset="-128"/>
              </a:rPr>
              <a:t>M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The grass is wet	                                                  </a:t>
            </a:r>
            <a:r>
              <a:rPr lang="en-US" altLang="en-US" i="1" dirty="0">
                <a:ea typeface="ＭＳ Ｐゴシック" panose="020B0600070205080204" pitchFamily="34" charset="-128"/>
              </a:rPr>
              <a:t>W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It is raining	                                                   </a:t>
            </a:r>
            <a:r>
              <a:rPr lang="en-US" altLang="en-US" i="1" dirty="0">
                <a:ea typeface="ＭＳ Ｐゴシック" panose="020B0600070205080204" pitchFamily="34" charset="-128"/>
              </a:rPr>
              <a:t>R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 following are not propositions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C++ is the best language                                 </a:t>
            </a:r>
            <a:r>
              <a:rPr lang="en-US" altLang="en-US" i="1" dirty="0">
                <a:ea typeface="ＭＳ Ｐゴシック" panose="020B0600070205080204" pitchFamily="34" charset="-128"/>
              </a:rPr>
              <a:t>Opinion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When is the pretest?	                             </a:t>
            </a:r>
            <a:r>
              <a:rPr lang="en-US" altLang="en-US" i="1" dirty="0">
                <a:ea typeface="ＭＳ Ｐゴシック" panose="020B0600070205080204" pitchFamily="34" charset="-128"/>
              </a:rPr>
              <a:t>Interrogative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Do your homework	                             </a:t>
            </a:r>
            <a:r>
              <a:rPr lang="en-US" altLang="en-US" i="1" dirty="0">
                <a:ea typeface="ＭＳ Ｐゴシック" panose="020B0600070205080204" pitchFamily="34" charset="-128"/>
              </a:rPr>
              <a:t>Imperative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2BE7D48C-61A1-49AF-B35F-1D844DB9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Are these propositions?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9B46E95B-8377-4292-99B5-0FABD4DEC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2+2=5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Every integer is divisible by 12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Microsoft is an excellent company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7092EEA-51A4-4906-A462-15C5225A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997CFA67-EE01-4508-BF02-D0E0B224B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700" dirty="0">
                <a:ea typeface="ＭＳ Ｐゴシック" panose="020B0600070205080204" pitchFamily="34" charset="-128"/>
              </a:rPr>
              <a:t>Connectives are used to create a compound proposition from two or more propositions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Negation (e.g., 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a or !a or ā)	</a:t>
            </a:r>
            <a:endParaRPr lang="en-US" altLang="en-US" dirty="0">
              <a:solidFill>
                <a:srgbClr val="A6A6A6"/>
              </a:solidFill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And or logical conjunction (denoted ) 	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OR </a:t>
            </a:r>
            <a:r>
              <a:rPr lang="en-US" altLang="en-US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or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 logical disjunction (denoted ) 	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XOR or exclusive or (denoted )	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Implication (denoted  or )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Biconditional (denoted  or )</a:t>
            </a:r>
            <a:endParaRPr lang="en-US" altLang="en-US" dirty="0">
              <a:solidFill>
                <a:srgbClr val="A6A6A6"/>
              </a:solidFill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700" dirty="0">
                <a:ea typeface="ＭＳ Ｐゴシック" panose="020B0600070205080204" pitchFamily="34" charset="-128"/>
                <a:sym typeface="Symbol" panose="05050102010706020507" pitchFamily="18" charset="2"/>
              </a:rPr>
              <a:t>We define the meaning (semantics) of the logical connectives using </a:t>
            </a:r>
            <a:r>
              <a:rPr lang="en-US" altLang="en-US" sz="2700" u="sng" dirty="0">
                <a:ea typeface="ＭＳ Ｐゴシック" panose="020B0600070205080204" pitchFamily="34" charset="-128"/>
                <a:sym typeface="Symbol" panose="05050102010706020507" pitchFamily="18" charset="2"/>
              </a:rPr>
              <a:t>truth tables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2A7F515-BB53-4EE2-A02B-BDF2C3E1B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Precedence of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2FF16-CDBA-4328-A170-3EF7D3169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62500" lnSpcReduction="20000"/>
          </a:bodyPr>
          <a:lstStyle/>
          <a:p>
            <a:pPr>
              <a:defRPr/>
            </a:pPr>
            <a:r>
              <a:rPr lang="en-US" sz="2400" dirty="0"/>
              <a:t>As in arithmetic, an ordering is imposed on the use of logical operators in compound propositions</a:t>
            </a:r>
          </a:p>
          <a:p>
            <a:pPr>
              <a:defRPr/>
            </a:pPr>
            <a:r>
              <a:rPr lang="en-US" sz="2400" dirty="0"/>
              <a:t>However, it is preferable to use parentheses to disambiguate operators and facilitate readability</a:t>
            </a:r>
          </a:p>
          <a:p>
            <a:pPr algn="ctr">
              <a:buNone/>
              <a:defRPr/>
            </a:pPr>
            <a:r>
              <a:rPr lang="en-US" sz="2400" dirty="0">
                <a:sym typeface="Symbol"/>
              </a:rPr>
              <a:t> </a:t>
            </a:r>
            <a:r>
              <a:rPr lang="en-US" sz="2400" i="1" dirty="0"/>
              <a:t>p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 </a:t>
            </a:r>
            <a:r>
              <a:rPr lang="en-US" sz="2400" i="1" dirty="0"/>
              <a:t>q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  </a:t>
            </a:r>
            <a:r>
              <a:rPr lang="en-US" sz="2400" i="1" dirty="0"/>
              <a:t>r</a:t>
            </a:r>
            <a:r>
              <a:rPr lang="en-US" sz="2400" dirty="0"/>
              <a:t>   </a:t>
            </a:r>
            <a:r>
              <a:rPr lang="en-US" sz="2400" dirty="0">
                <a:sym typeface="Symbol"/>
              </a:rPr>
              <a:t>   (</a:t>
            </a:r>
            <a:r>
              <a:rPr lang="en-US" sz="2400" i="1" dirty="0"/>
              <a:t>p</a:t>
            </a:r>
            <a:r>
              <a:rPr lang="en-US" sz="2400" dirty="0"/>
              <a:t>) </a:t>
            </a:r>
            <a:r>
              <a:rPr lang="en-US" sz="2400" dirty="0">
                <a:sym typeface="Symbol"/>
              </a:rPr>
              <a:t> </a:t>
            </a:r>
            <a:r>
              <a:rPr lang="en-US" sz="2400" dirty="0"/>
              <a:t>(</a:t>
            </a:r>
            <a:r>
              <a:rPr lang="en-US" sz="2400" i="1" dirty="0"/>
              <a:t>q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 </a:t>
            </a:r>
            <a:r>
              <a:rPr lang="en-US" sz="2400" dirty="0"/>
              <a:t>(</a:t>
            </a:r>
            <a:r>
              <a:rPr lang="en-US" sz="2400" dirty="0">
                <a:sym typeface="Symbol"/>
              </a:rPr>
              <a:t></a:t>
            </a:r>
            <a:r>
              <a:rPr lang="en-US" sz="2400" i="1" dirty="0"/>
              <a:t>r</a:t>
            </a:r>
            <a:r>
              <a:rPr lang="en-US" sz="2400" dirty="0"/>
              <a:t>))</a:t>
            </a:r>
          </a:p>
          <a:p>
            <a:pPr>
              <a:defRPr/>
            </a:pPr>
            <a:r>
              <a:rPr lang="en-US" sz="2400" dirty="0"/>
              <a:t>To avoid unnecessary parenthesis, the following </a:t>
            </a:r>
            <a:r>
              <a:rPr lang="en-US" sz="2400" dirty="0" err="1"/>
              <a:t>precedences</a:t>
            </a:r>
            <a:r>
              <a:rPr lang="en-US" sz="2400" dirty="0"/>
              <a:t> hold: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dirty="0"/>
              <a:t>Negation (</a:t>
            </a:r>
            <a:r>
              <a:rPr lang="en-US" sz="2000" dirty="0">
                <a:sym typeface="Symbol"/>
              </a:rPr>
              <a:t>)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dirty="0"/>
              <a:t>Conjunction (</a:t>
            </a:r>
            <a:r>
              <a:rPr lang="en-US" sz="2000" dirty="0">
                <a:sym typeface="Symbol"/>
              </a:rPr>
              <a:t></a:t>
            </a:r>
            <a:r>
              <a:rPr lang="en-US" sz="2000" dirty="0"/>
              <a:t>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dirty="0"/>
              <a:t>Disjunction (</a:t>
            </a:r>
            <a:r>
              <a:rPr lang="en-US" sz="2000" dirty="0">
                <a:sym typeface="Symbol"/>
              </a:rPr>
              <a:t></a:t>
            </a:r>
            <a:r>
              <a:rPr lang="en-US" sz="2000" dirty="0"/>
              <a:t>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dirty="0"/>
              <a:t>Implication (</a:t>
            </a:r>
            <a:r>
              <a:rPr lang="en-US" sz="2000" dirty="0">
                <a:sym typeface="Symbol"/>
              </a:rPr>
              <a:t></a:t>
            </a:r>
            <a:r>
              <a:rPr lang="en-US" sz="2000" dirty="0"/>
              <a:t>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dirty="0" err="1"/>
              <a:t>Biconditional</a:t>
            </a:r>
            <a:r>
              <a:rPr lang="en-US" dirty="0"/>
              <a:t> (</a:t>
            </a:r>
            <a:r>
              <a:rPr lang="en-US" dirty="0">
                <a:sym typeface="Symbol"/>
              </a:rPr>
              <a:t>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D8395794-B87F-4C0E-B13D-709FEB57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Connective: Negation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C758D6D0-A47F-4A8B-9081-1513D2570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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, t</a:t>
            </a:r>
            <a:r>
              <a:rPr lang="en-US" altLang="en-US">
                <a:ea typeface="ＭＳ Ｐゴシック" panose="020B0600070205080204" pitchFamily="34" charset="-128"/>
              </a:rPr>
              <a:t>he negation  of a proposition </a:t>
            </a:r>
            <a:r>
              <a:rPr lang="en-US" altLang="en-US" i="1">
                <a:ea typeface="ＭＳ Ｐゴシック" panose="020B0600070205080204" pitchFamily="34" charset="-128"/>
              </a:rPr>
              <a:t>p</a:t>
            </a:r>
            <a:r>
              <a:rPr lang="en-US" altLang="en-US">
                <a:ea typeface="ＭＳ Ｐゴシック" panose="020B0600070205080204" pitchFamily="34" charset="-128"/>
              </a:rPr>
              <a:t>, is also a proposition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Examples: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Today is not Monday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It is not the case that today is Monday, etc.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Truth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8E9702-EF3B-4D04-8E67-3D6D0C1373B2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4800600"/>
          <a:ext cx="990600" cy="1219200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395841437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98117702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466269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481820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1966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0B21AF8F-830E-4CC6-BFC8-1CD3A6A4D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Connective: Logical And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954BB2D3-DC22-4141-8642-97DE56614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The logical connective And is true only when both of the propositions are true.  It is also called a </a:t>
            </a:r>
            <a:r>
              <a:rPr lang="en-US" altLang="en-US" sz="2400" u="sng" dirty="0">
                <a:highlight>
                  <a:srgbClr val="FFFF00"/>
                </a:highlight>
                <a:ea typeface="ＭＳ Ｐゴシック" panose="020B0600070205080204" pitchFamily="34" charset="-128"/>
              </a:rPr>
              <a:t>conjunction</a:t>
            </a:r>
          </a:p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Examples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It is raining and it is warm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(2+3=5) and (1&lt;2)</a:t>
            </a:r>
          </a:p>
          <a:p>
            <a:pPr lvl="1" eaLnBrk="1" hangingPunct="1"/>
            <a:r>
              <a:rPr lang="en-US" altLang="en-US" sz="2000" dirty="0" err="1">
                <a:ea typeface="ＭＳ Ｐゴシック" panose="020B0600070205080204" pitchFamily="34" charset="-128"/>
              </a:rPr>
              <a:t>Schroedinger’s</a:t>
            </a:r>
            <a:r>
              <a:rPr lang="en-US" altLang="en-US" sz="2000" dirty="0">
                <a:ea typeface="ＭＳ Ｐゴシック" panose="020B0600070205080204" pitchFamily="34" charset="-128"/>
              </a:rPr>
              <a:t> cat is dead and 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Schroedinger’s</a:t>
            </a:r>
            <a:r>
              <a:rPr lang="en-US" altLang="en-US" sz="2000" dirty="0">
                <a:ea typeface="ＭＳ Ｐゴシック" panose="020B0600070205080204" pitchFamily="34" charset="-128"/>
              </a:rPr>
              <a:t> cat is not dead.</a:t>
            </a:r>
          </a:p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Truth table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25DA42-1364-4164-88F6-3FDC6817D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847309"/>
              </p:ext>
            </p:extLst>
          </p:nvPr>
        </p:nvGraphicFramePr>
        <p:xfrm>
          <a:off x="9250017" y="3988308"/>
          <a:ext cx="2514600" cy="19050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12235699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87985388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60598524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953572"/>
                  </a:ext>
                </a:extLst>
              </a:tr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072132"/>
                  </a:ext>
                </a:extLst>
              </a:tr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912640"/>
                  </a:ext>
                </a:extLst>
              </a:tr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04353"/>
                  </a:ext>
                </a:extLst>
              </a:tr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9645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6911A895-3713-4154-8F04-C54EB44FC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Connective: Logical OR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0C6E632F-72F1-4A96-B4F5-ACF32FB34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 logical </a:t>
            </a:r>
            <a:r>
              <a:rPr lang="en-US" altLang="en-US" u="sng" dirty="0">
                <a:highlight>
                  <a:srgbClr val="FFFF00"/>
                </a:highlight>
                <a:ea typeface="ＭＳ Ｐゴシック" panose="020B0600070205080204" pitchFamily="34" charset="-128"/>
              </a:rPr>
              <a:t>disjunction</a:t>
            </a:r>
            <a:r>
              <a:rPr lang="en-US" altLang="en-US" dirty="0">
                <a:ea typeface="ＭＳ Ｐゴシック" panose="020B0600070205080204" pitchFamily="34" charset="-128"/>
              </a:rPr>
              <a:t>, or logical OR, is true if one or both of the propositions are true.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Examples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It is raining or it is the second lecture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(2+2=5) 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 (1&lt;2)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You may have cake or ice cream</a:t>
            </a:r>
          </a:p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Truth table</a:t>
            </a:r>
            <a:endParaRPr lang="en-US" altLang="en-US" b="1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534C3F-F306-4EA5-AA53-4E43DA249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432499"/>
              </p:ext>
            </p:extLst>
          </p:nvPr>
        </p:nvGraphicFramePr>
        <p:xfrm>
          <a:off x="6347791" y="3796748"/>
          <a:ext cx="3200400" cy="18288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317873083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16621027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11483165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20075746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529661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7626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336627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611803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7367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0F652DE-107F-4157-8FF2-982AB7EA7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Logical Connective: Exclusive Or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BD25B3BE-91F1-4010-A342-F8DB09BAF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The </a:t>
            </a:r>
            <a:r>
              <a:rPr lang="en-US" altLang="en-US" sz="2400" dirty="0">
                <a:highlight>
                  <a:srgbClr val="FFFF00"/>
                </a:highlight>
                <a:ea typeface="ＭＳ Ｐゴシック" panose="020B0600070205080204" pitchFamily="34" charset="-128"/>
              </a:rPr>
              <a:t>exclusive OR</a:t>
            </a:r>
            <a:r>
              <a:rPr lang="en-US" altLang="en-US" sz="2400" dirty="0">
                <a:ea typeface="ＭＳ Ｐゴシック" panose="020B0600070205080204" pitchFamily="34" charset="-128"/>
              </a:rPr>
              <a:t>, or XOR, of two propositions is true when exactly one of the propositions is true and the other one is false</a:t>
            </a:r>
          </a:p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Example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The circuit is either ON or OFF but not both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Let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ab</a:t>
            </a:r>
            <a:r>
              <a:rPr lang="en-US" altLang="en-US" sz="2000" dirty="0">
                <a:ea typeface="ＭＳ Ｐゴシック" panose="020B0600070205080204" pitchFamily="34" charset="-128"/>
              </a:rPr>
              <a:t>&lt;0, then either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2000" dirty="0">
                <a:ea typeface="ＭＳ Ｐゴシック" panose="020B0600070205080204" pitchFamily="34" charset="-128"/>
              </a:rPr>
              <a:t>&lt;0 or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b</a:t>
            </a:r>
            <a:r>
              <a:rPr lang="en-US" altLang="en-US" sz="2000" dirty="0">
                <a:ea typeface="ＭＳ Ｐゴシック" panose="020B0600070205080204" pitchFamily="34" charset="-128"/>
              </a:rPr>
              <a:t>&lt;0 but not both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You may have cake or ice cream, but not both</a:t>
            </a:r>
          </a:p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Truth table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23A997-D3CA-4FEF-98FC-6FA9B4316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576785"/>
              </p:ext>
            </p:extLst>
          </p:nvPr>
        </p:nvGraphicFramePr>
        <p:xfrm>
          <a:off x="7712765" y="3790189"/>
          <a:ext cx="4038600" cy="1828800"/>
        </p:xfrm>
        <a:graphic>
          <a:graphicData uri="http://schemas.openxmlformats.org/drawingml/2006/table">
            <a:tbl>
              <a:tblPr/>
              <a:tblGrid>
                <a:gridCol w="808038">
                  <a:extLst>
                    <a:ext uri="{9D8B030D-6E8A-4147-A177-3AD203B41FA5}">
                      <a16:colId xmlns:a16="http://schemas.microsoft.com/office/drawing/2014/main" val="3038026449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4259353197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355794222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997565118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1461458301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88490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432637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67390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82829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0584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C8E27B8-F8B1-49D9-B17B-F6369CEC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Connective: Implication (1)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8A32E94E-F7AB-4FE6-BFD7-8C7F71457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Definition: </a:t>
            </a:r>
            <a:r>
              <a:rPr lang="en-US" altLang="en-US">
                <a:ea typeface="ＭＳ Ｐゴシック" panose="020B0600070205080204" pitchFamily="34" charset="-128"/>
              </a:rPr>
              <a:t>Let </a:t>
            </a:r>
            <a:r>
              <a:rPr lang="en-US" altLang="en-US" i="1">
                <a:ea typeface="ＭＳ Ｐゴシック" panose="020B0600070205080204" pitchFamily="34" charset="-128"/>
              </a:rPr>
              <a:t>p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 i="1">
                <a:ea typeface="ＭＳ Ｐゴシック" panose="020B0600070205080204" pitchFamily="34" charset="-128"/>
              </a:rPr>
              <a:t>q</a:t>
            </a:r>
            <a:r>
              <a:rPr lang="en-US" altLang="en-US">
                <a:ea typeface="ＭＳ Ｐゴシック" panose="020B0600070205080204" pitchFamily="34" charset="-128"/>
              </a:rPr>
              <a:t> be two propositions.  The implication </a:t>
            </a:r>
            <a:r>
              <a:rPr lang="en-US" altLang="en-US" i="1">
                <a:ea typeface="ＭＳ Ｐゴシック" panose="020B0600070205080204" pitchFamily="34" charset="-128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the proposition that is false when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true and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false and true otherwise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called the hypothesis, antecedent, premise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called the conclusion, consequence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  <a:sym typeface="Symbol" panose="05050102010706020507" pitchFamily="18" charset="2"/>
              </a:rPr>
              <a:t>Truth table</a:t>
            </a:r>
            <a:endParaRPr lang="en-US" altLang="en-US" b="1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0E8F8F-24F6-468C-B38E-2D1F495D4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914798"/>
              </p:ext>
            </p:extLst>
          </p:nvPr>
        </p:nvGraphicFramePr>
        <p:xfrm>
          <a:off x="4000500" y="4189035"/>
          <a:ext cx="4191000" cy="1828800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307749143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352678332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23341755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180231326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741078749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3400637238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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644815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108797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213820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797118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8993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032E9BAA-4F5B-42DF-BBB5-DF45455C5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Connective: Implication (2)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111D74B9-B343-4FC0-9560-C6E4EBC44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3000">
                <a:ea typeface="ＭＳ Ｐゴシック" panose="020B0600070205080204" pitchFamily="34" charset="-128"/>
              </a:rPr>
              <a:t>The implication of </a:t>
            </a:r>
            <a:r>
              <a:rPr lang="en-US" altLang="en-US" sz="3000" i="1">
                <a:ea typeface="ＭＳ Ｐゴシック" panose="020B0600070205080204" pitchFamily="34" charset="-128"/>
              </a:rPr>
              <a:t>p</a:t>
            </a:r>
            <a:r>
              <a:rPr lang="en-US" altLang="en-US" sz="3000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en-US" sz="3000" i="1">
                <a:ea typeface="ＭＳ Ｐゴシック" panose="020B0600070205080204" pitchFamily="34" charset="-128"/>
                <a:sym typeface="Symbol" panose="05050102010706020507" pitchFamily="18" charset="2"/>
              </a:rPr>
              <a:t>q </a:t>
            </a:r>
            <a:r>
              <a:rPr lang="en-US" altLang="en-US" sz="3000">
                <a:ea typeface="ＭＳ Ｐゴシック" panose="020B0600070205080204" pitchFamily="34" charset="-128"/>
              </a:rPr>
              <a:t>can be also read as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If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</a:rPr>
              <a:t> then </a:t>
            </a:r>
            <a:r>
              <a:rPr lang="en-US" altLang="en-US" sz="2600" i="1">
                <a:ea typeface="ＭＳ Ｐゴシック" panose="020B0600070205080204" pitchFamily="34" charset="-128"/>
              </a:rPr>
              <a:t>q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</a:rPr>
              <a:t> implies </a:t>
            </a:r>
            <a:r>
              <a:rPr lang="en-US" altLang="en-US" sz="2600" i="1">
                <a:ea typeface="ＭＳ Ｐゴシック" panose="020B0600070205080204" pitchFamily="34" charset="-128"/>
              </a:rPr>
              <a:t>q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If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</a:rPr>
              <a:t>, </a:t>
            </a:r>
            <a:r>
              <a:rPr lang="en-US" altLang="en-US" sz="2600" i="1">
                <a:ea typeface="ＭＳ Ｐゴシック" panose="020B0600070205080204" pitchFamily="34" charset="-128"/>
              </a:rPr>
              <a:t>q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</a:rPr>
              <a:t> </a:t>
            </a:r>
            <a:r>
              <a:rPr lang="en-US" altLang="en-US" sz="2600">
                <a:solidFill>
                  <a:srgbClr val="FF0000"/>
                </a:solidFill>
                <a:ea typeface="ＭＳ Ｐゴシック" panose="020B0600070205080204" pitchFamily="34" charset="-128"/>
              </a:rPr>
              <a:t>only </a:t>
            </a:r>
            <a:r>
              <a:rPr lang="en-US" altLang="en-US" sz="2600">
                <a:ea typeface="ＭＳ Ｐゴシック" panose="020B0600070205080204" pitchFamily="34" charset="-128"/>
              </a:rPr>
              <a:t>if </a:t>
            </a:r>
            <a:r>
              <a:rPr lang="en-US" altLang="en-US" sz="2600" i="1">
                <a:ea typeface="ＭＳ Ｐゴシック" panose="020B0600070205080204" pitchFamily="34" charset="-128"/>
              </a:rPr>
              <a:t>q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if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</a:rPr>
              <a:t> </a:t>
            </a:r>
            <a:endParaRPr lang="en-US" altLang="en-US" sz="2600" i="1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when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whenever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follows from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p </a:t>
            </a:r>
            <a:r>
              <a:rPr lang="en-US" altLang="en-US" sz="2600">
                <a:ea typeface="ＭＳ Ｐゴシック" panose="020B0600070205080204" pitchFamily="34" charset="-128"/>
              </a:rPr>
              <a:t>is a </a:t>
            </a:r>
            <a:r>
              <a:rPr lang="en-US" altLang="en-US" sz="2600">
                <a:solidFill>
                  <a:srgbClr val="FF0000"/>
                </a:solidFill>
                <a:ea typeface="ＭＳ Ｐゴシック" panose="020B0600070205080204" pitchFamily="34" charset="-128"/>
              </a:rPr>
              <a:t>sufficient </a:t>
            </a:r>
            <a:r>
              <a:rPr lang="en-US" altLang="en-US" sz="2600">
                <a:ea typeface="ＭＳ Ｐゴシック" panose="020B0600070205080204" pitchFamily="34" charset="-128"/>
              </a:rPr>
              <a:t>condition for </a:t>
            </a: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(</a:t>
            </a:r>
            <a:r>
              <a:rPr lang="en-US" altLang="en-US" sz="2600" i="1">
                <a:ea typeface="ＭＳ Ｐゴシック" panose="020B0600070205080204" pitchFamily="34" charset="-128"/>
              </a:rPr>
              <a:t>p </a:t>
            </a:r>
            <a:r>
              <a:rPr lang="en-US" altLang="en-US" sz="2600">
                <a:ea typeface="ＭＳ Ｐゴシック" panose="020B0600070205080204" pitchFamily="34" charset="-128"/>
              </a:rPr>
              <a:t>is sufficient for </a:t>
            </a:r>
            <a:r>
              <a:rPr lang="en-US" altLang="en-US" sz="2600" i="1">
                <a:ea typeface="ＭＳ Ｐゴシック" panose="020B0600070205080204" pitchFamily="34" charset="-128"/>
              </a:rPr>
              <a:t>q</a:t>
            </a:r>
            <a:r>
              <a:rPr lang="en-US" altLang="en-US" sz="2600">
                <a:ea typeface="ＭＳ Ｐゴシック" panose="020B0600070205080204" pitchFamily="34" charset="-128"/>
              </a:rPr>
              <a:t>)</a:t>
            </a:r>
            <a:r>
              <a:rPr lang="en-US" altLang="en-US" sz="2600" i="1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is a </a:t>
            </a:r>
            <a:r>
              <a:rPr lang="en-US" altLang="en-US" sz="2600">
                <a:solidFill>
                  <a:srgbClr val="FF0000"/>
                </a:solidFill>
                <a:ea typeface="ＭＳ Ｐゴシック" panose="020B0600070205080204" pitchFamily="34" charset="-128"/>
              </a:rPr>
              <a:t>necessary </a:t>
            </a:r>
            <a:r>
              <a:rPr lang="en-US" altLang="en-US" sz="2600">
                <a:ea typeface="ＭＳ Ｐゴシック" panose="020B0600070205080204" pitchFamily="34" charset="-128"/>
              </a:rPr>
              <a:t>condition for </a:t>
            </a:r>
            <a:r>
              <a:rPr lang="en-US" altLang="en-US" sz="2600" i="1">
                <a:ea typeface="ＭＳ Ｐゴシック" panose="020B0600070205080204" pitchFamily="34" charset="-128"/>
              </a:rPr>
              <a:t>p </a:t>
            </a:r>
            <a:r>
              <a:rPr lang="en-US" altLang="en-US" sz="2600">
                <a:ea typeface="ＭＳ Ｐゴシック" panose="020B0600070205080204" pitchFamily="34" charset="-128"/>
              </a:rPr>
              <a:t>(</a:t>
            </a: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is necessary for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</a:rPr>
              <a:t>)</a:t>
            </a:r>
            <a:r>
              <a:rPr lang="en-US" altLang="en-US" sz="2600" i="1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600" i="1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en-US" sz="2600" i="1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en-US" sz="2600" i="1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0E3438B9-BB2A-4227-B980-45096B50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Write each of these statements in the form</a:t>
            </a:r>
            <a:endParaRPr lang="en-IN" altLang="en-US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CE16C-AA15-4746-A369-B861AD1B4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“if </a:t>
            </a:r>
            <a:r>
              <a:rPr lang="en-US" i="1" dirty="0"/>
              <a:t>p</a:t>
            </a:r>
            <a:r>
              <a:rPr lang="en-US" dirty="0"/>
              <a:t>, then </a:t>
            </a:r>
            <a:r>
              <a:rPr lang="en-US" i="1" dirty="0"/>
              <a:t>q</a:t>
            </a:r>
            <a:r>
              <a:rPr lang="en-US" dirty="0"/>
              <a:t>” in English. </a:t>
            </a:r>
            <a:br>
              <a:rPr lang="en-US" dirty="0"/>
            </a:br>
            <a:r>
              <a:rPr lang="en-US" b="1" dirty="0"/>
              <a:t>a) </a:t>
            </a:r>
            <a:r>
              <a:rPr lang="en-US" dirty="0"/>
              <a:t>It is necessary to wash the boss’s car to get promoted.</a:t>
            </a:r>
          </a:p>
          <a:p>
            <a:pPr marL="0" indent="0">
              <a:buNone/>
              <a:defRPr/>
            </a:pPr>
            <a:r>
              <a:rPr lang="en-US" b="1" dirty="0"/>
              <a:t>  b) </a:t>
            </a:r>
            <a:r>
              <a:rPr lang="en-US" dirty="0"/>
              <a:t>Winds from the south imply a spring thaw.</a:t>
            </a:r>
          </a:p>
          <a:p>
            <a:pPr marL="0" indent="0">
              <a:buNone/>
              <a:defRPr/>
            </a:pPr>
            <a:r>
              <a:rPr lang="en-US" b="1" dirty="0"/>
              <a:t>  c) </a:t>
            </a:r>
            <a:r>
              <a:rPr lang="en-US" dirty="0"/>
              <a:t>A sufficient condition for the warranty to be good is that you bought the computer less than a year ago.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57595CAA-4D25-401D-956D-C2E0A561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EXAMPLES</a:t>
            </a:r>
            <a:endParaRPr lang="en-IN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E4897-1001-46DD-9BBF-22EC66A6D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b="1" dirty="0"/>
              <a:t>d) </a:t>
            </a:r>
            <a:r>
              <a:rPr lang="en-US" dirty="0"/>
              <a:t>Willy gets caught whenever he cheats.</a:t>
            </a:r>
          </a:p>
          <a:p>
            <a:pPr marL="0" indent="0">
              <a:buNone/>
              <a:defRPr/>
            </a:pPr>
            <a:r>
              <a:rPr lang="en-US" b="1" dirty="0"/>
              <a:t>e) </a:t>
            </a:r>
            <a:r>
              <a:rPr lang="en-US" dirty="0"/>
              <a:t>You can access the website only if you pay a subscription </a:t>
            </a:r>
            <a:r>
              <a:rPr lang="en-IN" dirty="0"/>
              <a:t>fee.</a:t>
            </a:r>
          </a:p>
          <a:p>
            <a:pPr marL="0" indent="0">
              <a:buNone/>
              <a:defRPr/>
            </a:pPr>
            <a:r>
              <a:rPr lang="en-US" b="1" dirty="0"/>
              <a:t>f ) </a:t>
            </a:r>
            <a:r>
              <a:rPr lang="en-US" dirty="0"/>
              <a:t>Getting elected follows from knowing the right people.</a:t>
            </a:r>
          </a:p>
          <a:p>
            <a:pPr marL="0" indent="0">
              <a:buNone/>
              <a:defRPr/>
            </a:pPr>
            <a:r>
              <a:rPr lang="en-US" b="1" dirty="0"/>
              <a:t>g) </a:t>
            </a:r>
            <a:r>
              <a:rPr lang="en-US" dirty="0"/>
              <a:t>Carol gets seasick whenever she is on a boat.</a:t>
            </a:r>
            <a:endParaRPr lang="en-IN" dirty="0"/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245F33F1-1A4A-4454-A0B0-A9FF05CF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Connective: Implication (3)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52CBA77C-DE27-4B1A-8440-BBD3F9097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you buy you air ticket in advance, it is cheaper.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>
                <a:ea typeface="ＭＳ Ｐゴシック" panose="020B0600070205080204" pitchFamily="34" charset="-128"/>
              </a:rPr>
              <a:t> is an integer, then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baseline="30000">
                <a:ea typeface="ＭＳ Ｐゴシック" panose="020B0600070205080204" pitchFamily="34" charset="-128"/>
              </a:rPr>
              <a:t>2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 0.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If it rains, the grass gets wet.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If the sprinklers operate, the grass gets wet.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If 2+2=5, then all unicorns are pink.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3FFA07EA-DD7F-427F-BBD9-09E3196C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600">
                <a:ea typeface="ＭＳ Ｐゴシック" panose="020B0600070205080204" pitchFamily="34" charset="-128"/>
              </a:rPr>
              <a:t>Exercise: </a:t>
            </a:r>
            <a:r>
              <a:rPr lang="en-US" altLang="en-US" sz="2800">
                <a:ea typeface="ＭＳ Ｐゴシック" panose="020B0600070205080204" pitchFamily="34" charset="-128"/>
              </a:rPr>
              <a:t>Which of the following implications is true?</a:t>
            </a:r>
            <a:endParaRPr lang="en-US" altLang="en-US" sz="4000">
              <a:ea typeface="ＭＳ Ｐゴシック" panose="020B0600070205080204" pitchFamily="34" charset="-128"/>
            </a:endParaRP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EB99F282-5B06-41EA-AC1A-09030484B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0072" y="2841626"/>
            <a:ext cx="7729728" cy="3101983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If -1 is a positive number, then 2+2=5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If -1 is a positive number, then 2+2=4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If </a:t>
            </a:r>
            <a:r>
              <a:rPr lang="en-US" altLang="en-US" i="1" dirty="0">
                <a:ea typeface="ＭＳ Ｐゴシック" panose="020B0600070205080204" pitchFamily="34" charset="-128"/>
              </a:rPr>
              <a:t>sin x</a:t>
            </a:r>
            <a:r>
              <a:rPr lang="en-US" altLang="en-US" dirty="0">
                <a:ea typeface="ＭＳ Ｐゴシック" panose="020B0600070205080204" pitchFamily="34" charset="-128"/>
              </a:rPr>
              <a:t> = 0, then </a:t>
            </a:r>
            <a:r>
              <a:rPr lang="en-US" altLang="en-US" i="1" dirty="0">
                <a:ea typeface="ＭＳ Ｐゴシック" panose="020B0600070205080204" pitchFamily="34" charset="-128"/>
              </a:rPr>
              <a:t>x</a:t>
            </a:r>
            <a:r>
              <a:rPr lang="en-US" altLang="en-US" dirty="0">
                <a:ea typeface="ＭＳ Ｐゴシック" panose="020B0600070205080204" pitchFamily="34" charset="-128"/>
              </a:rPr>
              <a:t> =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D9FE18-0910-407A-8784-D31AE7D2B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133601"/>
            <a:ext cx="6553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True.  The premise is obviously false, thus no matter what the conclusion is, the implication holds.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02793-446E-403C-8355-0A10D845C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940748"/>
            <a:ext cx="6553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True.  Same as above.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1EDEA-F00C-40C8-A6C7-DA785BC86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1136" y="4893283"/>
            <a:ext cx="7162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False.  </a:t>
            </a:r>
            <a:r>
              <a:rPr lang="en-US" altLang="en-US" sz="2000" i="1" dirty="0"/>
              <a:t>x</a:t>
            </a:r>
            <a:r>
              <a:rPr lang="en-US" altLang="en-US" sz="2000" dirty="0"/>
              <a:t> can be a multiple of </a:t>
            </a:r>
            <a:r>
              <a:rPr lang="en-US" altLang="en-US" sz="2000" dirty="0">
                <a:sym typeface="Symbol" panose="05050102010706020507" pitchFamily="18" charset="2"/>
              </a:rPr>
              <a:t></a:t>
            </a:r>
            <a:r>
              <a:rPr lang="en-US" altLang="en-US" sz="2000" dirty="0"/>
              <a:t>.  If we let </a:t>
            </a:r>
            <a:r>
              <a:rPr lang="en-US" altLang="en-US" sz="2000" i="1" dirty="0"/>
              <a:t>x</a:t>
            </a:r>
            <a:r>
              <a:rPr lang="en-US" altLang="en-US" sz="2000" dirty="0"/>
              <a:t>=2</a:t>
            </a:r>
            <a:r>
              <a:rPr lang="en-US" altLang="en-US" sz="2000" dirty="0">
                <a:sym typeface="Symbol" panose="05050102010706020507" pitchFamily="18" charset="2"/>
              </a:rPr>
              <a:t></a:t>
            </a:r>
            <a:r>
              <a:rPr lang="en-US" altLang="en-US" sz="2000" dirty="0"/>
              <a:t>, then </a:t>
            </a:r>
            <a:r>
              <a:rPr lang="en-US" altLang="en-US" sz="2000" i="1" dirty="0"/>
              <a:t>sin x</a:t>
            </a:r>
            <a:r>
              <a:rPr lang="en-US" altLang="en-US" sz="2000" dirty="0"/>
              <a:t>=0 but </a:t>
            </a:r>
            <a:r>
              <a:rPr lang="en-US" altLang="en-US" sz="2000" i="1" dirty="0"/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</a:t>
            </a:r>
            <a:r>
              <a:rPr lang="en-US" altLang="en-US" sz="2000" dirty="0"/>
              <a:t>0.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The implication “if </a:t>
            </a:r>
            <a:r>
              <a:rPr lang="en-US" altLang="en-US" sz="2000" i="1" dirty="0"/>
              <a:t>sin x</a:t>
            </a:r>
            <a:r>
              <a:rPr lang="en-US" altLang="en-US" sz="2000" dirty="0"/>
              <a:t> = 0, then </a:t>
            </a:r>
            <a:r>
              <a:rPr lang="en-US" altLang="en-US" sz="2000" i="1" dirty="0"/>
              <a:t>x</a:t>
            </a:r>
            <a:r>
              <a:rPr lang="en-US" altLang="en-US" sz="2000" dirty="0"/>
              <a:t> = </a:t>
            </a:r>
            <a:r>
              <a:rPr lang="en-US" altLang="en-US" sz="2000" i="1" dirty="0"/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</a:t>
            </a:r>
            <a:r>
              <a:rPr lang="en-US" altLang="en-US" sz="2000" dirty="0"/>
              <a:t>, for some </a:t>
            </a:r>
            <a:r>
              <a:rPr lang="en-US" altLang="en-US" sz="2000" i="1" dirty="0"/>
              <a:t>k</a:t>
            </a:r>
            <a:r>
              <a:rPr lang="en-US" altLang="en-US" sz="2000" dirty="0"/>
              <a:t>” is true.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B724BF79-4BE8-46CB-9B92-DB01CF7D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Converse, Inverse, Contrapositive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9C44B06F-443A-43AD-8673-254DD35E7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Consider the proposition </a:t>
            </a:r>
            <a:r>
              <a:rPr lang="en-US" altLang="en-US" i="1">
                <a:ea typeface="ＭＳ Ｐゴシック" panose="020B0600070205080204" pitchFamily="34" charset="-128"/>
              </a:rPr>
              <a:t>p 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Its </a:t>
            </a:r>
            <a:r>
              <a:rPr lang="en-US" altLang="en-US" u="sng">
                <a:ea typeface="ＭＳ Ｐゴシック" panose="020B0600070205080204" pitchFamily="34" charset="-128"/>
                <a:sym typeface="Symbol" panose="05050102010706020507" pitchFamily="18" charset="2"/>
              </a:rPr>
              <a:t>converse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the proposition </a:t>
            </a:r>
            <a:r>
              <a:rPr lang="en-US" altLang="en-US" i="1">
                <a:ea typeface="ＭＳ Ｐゴシック" panose="020B0600070205080204" pitchFamily="34" charset="-128"/>
              </a:rPr>
              <a:t>q 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Its </a:t>
            </a:r>
            <a:r>
              <a:rPr lang="en-US" altLang="en-US" u="sng">
                <a:ea typeface="ＭＳ Ｐゴシック" panose="020B0600070205080204" pitchFamily="34" charset="-128"/>
                <a:sym typeface="Symbol" panose="05050102010706020507" pitchFamily="18" charset="2"/>
              </a:rPr>
              <a:t>inverse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the proposition </a:t>
            </a:r>
            <a:r>
              <a:rPr lang="en-US" altLang="en-US" i="1">
                <a:ea typeface="ＭＳ Ｐゴシック" panose="020B0600070205080204" pitchFamily="34" charset="-128"/>
              </a:rPr>
              <a:t>p 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 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Its </a:t>
            </a:r>
            <a:r>
              <a:rPr lang="en-US" altLang="en-US" u="sng">
                <a:ea typeface="ＭＳ Ｐゴシック" panose="020B0600070205080204" pitchFamily="34" charset="-128"/>
                <a:sym typeface="Symbol" panose="05050102010706020507" pitchFamily="18" charset="2"/>
              </a:rPr>
              <a:t>contrapositive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the proposition </a:t>
            </a:r>
            <a:r>
              <a:rPr lang="en-US" altLang="en-US" i="1">
                <a:ea typeface="ＭＳ Ｐゴシック" panose="020B0600070205080204" pitchFamily="34" charset="-128"/>
              </a:rPr>
              <a:t>q 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 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472A4EB5-6650-4A91-9834-1B9275ED4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035" y="951439"/>
            <a:ext cx="9178986" cy="1188720"/>
          </a:xfrm>
        </p:spPr>
        <p:txBody>
          <a:bodyPr>
            <a:normAutofit fontScale="90000"/>
          </a:bodyPr>
          <a:lstStyle/>
          <a:p>
            <a:r>
              <a:rPr lang="en-US" altLang="en-US" sz="3200" dirty="0">
                <a:ea typeface="ＭＳ Ｐゴシック" panose="020B0600070205080204" pitchFamily="34" charset="-128"/>
              </a:rPr>
              <a:t>State the converse, contrapositive, and inverse of each of </a:t>
            </a:r>
            <a:r>
              <a:rPr lang="en-IN" altLang="en-US" sz="3200" dirty="0">
                <a:ea typeface="ＭＳ Ｐゴシック" panose="020B0600070205080204" pitchFamily="34" charset="-128"/>
              </a:rPr>
              <a:t>these conditional statements.</a:t>
            </a:r>
            <a:endParaRPr lang="en-IN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E314A294-4D9E-498C-9D09-12300FE75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>
                <a:ea typeface="ＭＳ Ｐゴシック" panose="020B0600070205080204" pitchFamily="34" charset="-128"/>
              </a:rPr>
              <a:t>a) </a:t>
            </a:r>
            <a:r>
              <a:rPr lang="en-US" altLang="en-US">
                <a:ea typeface="ＭＳ Ｐゴシック" panose="020B0600070205080204" pitchFamily="34" charset="-128"/>
              </a:rPr>
              <a:t>If it snows today, I will go tomorrow.</a:t>
            </a:r>
          </a:p>
          <a:p>
            <a:pPr marL="0" indent="0">
              <a:buNone/>
            </a:pPr>
            <a:r>
              <a:rPr lang="en-US" altLang="en-US" b="1" dirty="0">
                <a:ea typeface="ＭＳ Ｐゴシック" panose="020B0600070205080204" pitchFamily="34" charset="-128"/>
              </a:rPr>
              <a:t>b) </a:t>
            </a:r>
            <a:r>
              <a:rPr lang="en-US" altLang="en-US" dirty="0">
                <a:ea typeface="ＭＳ Ｐゴシック" panose="020B0600070205080204" pitchFamily="34" charset="-128"/>
              </a:rPr>
              <a:t>I come to class whenever there is going to be a quiz.</a:t>
            </a:r>
          </a:p>
          <a:p>
            <a:pPr marL="0" indent="0">
              <a:buNone/>
            </a:pPr>
            <a:r>
              <a:rPr lang="en-US" altLang="en-US" b="1" dirty="0">
                <a:ea typeface="ＭＳ Ｐゴシック" panose="020B0600070205080204" pitchFamily="34" charset="-128"/>
              </a:rPr>
              <a:t>c) </a:t>
            </a:r>
            <a:r>
              <a:rPr lang="en-US" altLang="en-US" dirty="0">
                <a:ea typeface="ＭＳ Ｐゴシック" panose="020B0600070205080204" pitchFamily="34" charset="-128"/>
              </a:rPr>
              <a:t>A positive integer is a prime only if it has no divisors other than 1 and itself.</a:t>
            </a:r>
            <a:endParaRPr lang="en-IN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24074DC5-AEB2-4452-A74E-8772CB3A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Logical Connective: Biconditional (1)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DD5DE1C0-60CE-4D51-A9FA-B25AE11C6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Definition: </a:t>
            </a:r>
            <a:r>
              <a:rPr lang="en-US" altLang="en-US">
                <a:ea typeface="ＭＳ Ｐゴシック" panose="020B0600070205080204" pitchFamily="34" charset="-128"/>
              </a:rPr>
              <a:t> The biconditional </a:t>
            </a:r>
            <a:r>
              <a:rPr lang="en-US" altLang="en-US" i="1">
                <a:ea typeface="ＭＳ Ｐゴシック" panose="020B0600070205080204" pitchFamily="34" charset="-128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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the proposition that is true when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and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have the same truth values.  It is false otherwise.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Note that it is equivalent to (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)(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  <a:sym typeface="Symbol" panose="05050102010706020507" pitchFamily="18" charset="2"/>
              </a:rPr>
              <a:t>Truth table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B44799-4B11-42AC-9DD2-2AF14FD35449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4038601"/>
          <a:ext cx="5257800" cy="1927227"/>
        </p:xfrm>
        <a:graphic>
          <a:graphicData uri="http://schemas.openxmlformats.org/drawingml/2006/table">
            <a:tbl>
              <a:tblPr/>
              <a:tblGrid>
                <a:gridCol w="750888">
                  <a:extLst>
                    <a:ext uri="{9D8B030D-6E8A-4147-A177-3AD203B41FA5}">
                      <a16:colId xmlns:a16="http://schemas.microsoft.com/office/drawing/2014/main" val="2362942933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1538373539"/>
                    </a:ext>
                  </a:extLst>
                </a:gridCol>
                <a:gridCol w="750888">
                  <a:extLst>
                    <a:ext uri="{9D8B030D-6E8A-4147-A177-3AD203B41FA5}">
                      <a16:colId xmlns:a16="http://schemas.microsoft.com/office/drawing/2014/main" val="742587578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1806390633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1403659606"/>
                    </a:ext>
                  </a:extLst>
                </a:gridCol>
                <a:gridCol w="750888">
                  <a:extLst>
                    <a:ext uri="{9D8B030D-6E8A-4147-A177-3AD203B41FA5}">
                      <a16:colId xmlns:a16="http://schemas.microsoft.com/office/drawing/2014/main" val="3980035981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1633915546"/>
                    </a:ext>
                  </a:extLst>
                </a:gridCol>
              </a:tblGrid>
              <a:tr h="4637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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q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473224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391723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7787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23563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0923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EF480A6B-54C1-430D-BC71-51F29E00C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Logical Connective: Biconditional (2)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B23CA945-8DD1-4645-A4A0-4BD94CE37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000">
                <a:ea typeface="ＭＳ Ｐゴシック" panose="020B0600070205080204" pitchFamily="34" charset="-128"/>
              </a:rPr>
              <a:t>The biconditional </a:t>
            </a:r>
            <a:r>
              <a:rPr lang="en-US" altLang="en-US" sz="3000" i="1">
                <a:ea typeface="ＭＳ Ｐゴシック" panose="020B0600070205080204" pitchFamily="34" charset="-128"/>
              </a:rPr>
              <a:t>p</a:t>
            </a:r>
            <a:r>
              <a:rPr lang="en-US" altLang="en-US" sz="3000">
                <a:ea typeface="ＭＳ Ｐゴシック" panose="020B0600070205080204" pitchFamily="34" charset="-128"/>
                <a:sym typeface="Symbol" panose="05050102010706020507" pitchFamily="18" charset="2"/>
              </a:rPr>
              <a:t></a:t>
            </a:r>
            <a:r>
              <a:rPr lang="en-US" altLang="en-US" sz="3000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 sz="3000">
                <a:ea typeface="ＭＳ Ｐゴシック" panose="020B0600070205080204" pitchFamily="34" charset="-128"/>
                <a:sym typeface="Symbol" panose="05050102010706020507" pitchFamily="18" charset="2"/>
              </a:rPr>
              <a:t> can be equivalently read as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if </a:t>
            </a:r>
            <a:r>
              <a:rPr lang="en-US" altLang="en-US" sz="2600">
                <a:solidFill>
                  <a:srgbClr val="FF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and only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if </a:t>
            </a: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is a </a:t>
            </a:r>
            <a:r>
              <a:rPr lang="en-US" altLang="en-US" sz="2600">
                <a:solidFill>
                  <a:srgbClr val="FF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necessary and sufficient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condition for </a:t>
            </a: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if </a:t>
            </a: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then </a:t>
            </a: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, and </a:t>
            </a:r>
            <a:r>
              <a:rPr lang="en-US" altLang="en-US" sz="2600">
                <a:solidFill>
                  <a:srgbClr val="FF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conversely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iff </a:t>
            </a: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(Note typo in textbook, page 9, line 3)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>
                <a:ea typeface="ＭＳ Ｐゴシック" panose="020B0600070205080204" pitchFamily="34" charset="-128"/>
                <a:sym typeface="Symbol" panose="05050102010706020507" pitchFamily="18" charset="2"/>
              </a:rPr>
              <a:t>Examples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&gt;0 if and only if </a:t>
            </a: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2600" baseline="3000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is positive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The alarm goes off iff a burglar breaks 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You may have pudding iff you eat your meat</a:t>
            </a:r>
            <a:endParaRPr lang="en-US" altLang="en-US" sz="26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C95E195B-35BB-4540-9C77-F35C4716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3100">
                <a:ea typeface="ＭＳ Ｐゴシック" panose="020B0600070205080204" pitchFamily="34" charset="-128"/>
              </a:rPr>
              <a:t>Exercise</a:t>
            </a:r>
            <a:r>
              <a:rPr lang="en-US" altLang="en-US">
                <a:ea typeface="ＭＳ Ｐゴシック" panose="020B0600070205080204" pitchFamily="34" charset="-128"/>
              </a:rPr>
              <a:t>:</a:t>
            </a:r>
            <a:r>
              <a:rPr lang="en-US" altLang="en-US" sz="2600">
                <a:ea typeface="ＭＳ Ｐゴシック" panose="020B0600070205080204" pitchFamily="34" charset="-128"/>
              </a:rPr>
              <a:t> Which of the following biconditionals is true?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3F8B85B7-D1BD-4C48-B9BB-0FCB3C54D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i="1" dirty="0">
                <a:ea typeface="ＭＳ Ｐゴシック" panose="020B0600070205080204" pitchFamily="34" charset="-128"/>
              </a:rPr>
              <a:t>x</a:t>
            </a:r>
            <a:r>
              <a:rPr lang="en-US" altLang="en-US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 + </a:t>
            </a:r>
            <a:r>
              <a:rPr lang="en-US" altLang="en-US" i="1" dirty="0">
                <a:ea typeface="ＭＳ Ｐゴシック" panose="020B0600070205080204" pitchFamily="34" charset="-128"/>
              </a:rPr>
              <a:t>y</a:t>
            </a:r>
            <a:r>
              <a:rPr lang="en-US" altLang="en-US" baseline="30000" dirty="0">
                <a:ea typeface="ＭＳ Ｐゴシック" panose="020B0600070205080204" pitchFamily="34" charset="-128"/>
              </a:rPr>
              <a:t>2 </a:t>
            </a:r>
            <a:r>
              <a:rPr lang="en-US" altLang="en-US" dirty="0">
                <a:ea typeface="ＭＳ Ｐゴシック" panose="020B0600070205080204" pitchFamily="34" charset="-128"/>
              </a:rPr>
              <a:t>= 0 if and only if </a:t>
            </a:r>
            <a:r>
              <a:rPr lang="en-US" altLang="en-US" i="1" dirty="0">
                <a:ea typeface="ＭＳ Ｐゴシック" panose="020B0600070205080204" pitchFamily="34" charset="-128"/>
              </a:rPr>
              <a:t>x</a:t>
            </a:r>
            <a:r>
              <a:rPr lang="en-US" altLang="en-US" dirty="0">
                <a:ea typeface="ＭＳ Ｐゴシック" panose="020B0600070205080204" pitchFamily="34" charset="-128"/>
              </a:rPr>
              <a:t>=0 and </a:t>
            </a:r>
            <a:r>
              <a:rPr lang="en-US" altLang="en-US" i="1" dirty="0">
                <a:ea typeface="ＭＳ Ｐゴシック" panose="020B0600070205080204" pitchFamily="34" charset="-128"/>
              </a:rPr>
              <a:t>y</a:t>
            </a:r>
            <a:r>
              <a:rPr lang="en-US" altLang="en-US" dirty="0">
                <a:ea typeface="ＭＳ Ｐゴシック" panose="020B0600070205080204" pitchFamily="34" charset="-128"/>
              </a:rPr>
              <a:t>=0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2 + 2 = 4 if and only if 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2</a:t>
            </a:r>
            <a:r>
              <a:rPr lang="en-US" altLang="en-US" dirty="0">
                <a:ea typeface="ＭＳ Ｐゴシック" panose="020B0600070205080204" pitchFamily="34" charset="-128"/>
              </a:rPr>
              <a:t>&lt;2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i="1" dirty="0">
                <a:ea typeface="ＭＳ Ｐゴシック" panose="020B0600070205080204" pitchFamily="34" charset="-128"/>
              </a:rPr>
              <a:t>x</a:t>
            </a:r>
            <a:r>
              <a:rPr lang="en-US" altLang="en-US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 0 if and only if </a:t>
            </a:r>
            <a:r>
              <a:rPr lang="en-US" altLang="en-US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  0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CB8DE-00FC-4573-B8D5-BE5E143A4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133600"/>
            <a:ext cx="6553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True.  Both implications hold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04910F-75DE-41CD-BD30-2BA014397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783585"/>
            <a:ext cx="6553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True.  Both implications hold.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F2093-8674-4CBD-86E4-6BC9840F6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625976"/>
            <a:ext cx="849133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False.  The implication “if x</a:t>
            </a:r>
            <a:r>
              <a:rPr lang="en-US" altLang="en-US" sz="2000" dirty="0">
                <a:sym typeface="Symbol" panose="05050102010706020507" pitchFamily="18" charset="2"/>
              </a:rPr>
              <a:t>  0 then x</a:t>
            </a:r>
            <a:r>
              <a:rPr lang="en-US" altLang="en-US" sz="2000" baseline="30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  0” holds.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However, the implication </a:t>
            </a:r>
            <a:r>
              <a:rPr lang="en-US" altLang="en-US" sz="2000" dirty="0"/>
              <a:t>“if x</a:t>
            </a:r>
            <a:r>
              <a:rPr lang="en-US" altLang="en-US" sz="2000" baseline="30000" dirty="0"/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  0 then x  0” is false.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Consider x=-1.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The hypothesis (-1)</a:t>
            </a:r>
            <a:r>
              <a:rPr lang="en-US" altLang="en-US" sz="2000" baseline="30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=1  0 but the conclusion fails.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42891A20-A833-4226-8325-262F49CB5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Truth Tables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24C626DB-193C-4368-BDAF-1181B67C0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Truth tables are used to show/define the relationships between the truth values of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the individual propositions and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the compound propositions based on them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41F85C-183E-4B7E-9518-9DC9108A9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273263"/>
              </p:ext>
            </p:extLst>
          </p:nvPr>
        </p:nvGraphicFramePr>
        <p:xfrm>
          <a:off x="2726635" y="4297432"/>
          <a:ext cx="5257800" cy="1927227"/>
        </p:xfrm>
        <a:graphic>
          <a:graphicData uri="http://schemas.openxmlformats.org/drawingml/2006/table">
            <a:tbl>
              <a:tblPr/>
              <a:tblGrid>
                <a:gridCol w="750888">
                  <a:extLst>
                    <a:ext uri="{9D8B030D-6E8A-4147-A177-3AD203B41FA5}">
                      <a16:colId xmlns:a16="http://schemas.microsoft.com/office/drawing/2014/main" val="2278863427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4107109822"/>
                    </a:ext>
                  </a:extLst>
                </a:gridCol>
                <a:gridCol w="750888">
                  <a:extLst>
                    <a:ext uri="{9D8B030D-6E8A-4147-A177-3AD203B41FA5}">
                      <a16:colId xmlns:a16="http://schemas.microsoft.com/office/drawing/2014/main" val="3987954664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547030458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885146025"/>
                    </a:ext>
                  </a:extLst>
                </a:gridCol>
                <a:gridCol w="750888">
                  <a:extLst>
                    <a:ext uri="{9D8B030D-6E8A-4147-A177-3AD203B41FA5}">
                      <a16:colId xmlns:a16="http://schemas.microsoft.com/office/drawing/2014/main" val="3576248359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3435451190"/>
                    </a:ext>
                  </a:extLst>
                </a:gridCol>
              </a:tblGrid>
              <a:tr h="4637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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q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248866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36555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883338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342234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5713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13DD4C5E-8D24-4863-A37F-4621F95FC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Constructing Truth Tables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DF817EC5-AA64-4178-A79A-6C10EEE1B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Construct the truth table for the following compound proposition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(( </a:t>
            </a:r>
            <a:r>
              <a:rPr lang="en-US" altLang="en-US" i="1">
                <a:ea typeface="ＭＳ Ｐゴシック" panose="020B0600070205080204" pitchFamily="34" charset="-128"/>
              </a:rPr>
              <a:t>p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) 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)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835574-9D6C-43AE-8101-7A02E40F51EF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3657601"/>
          <a:ext cx="3962400" cy="1927227"/>
        </p:xfrm>
        <a:graphic>
          <a:graphicData uri="http://schemas.openxmlformats.org/drawingml/2006/table">
            <a:tbl>
              <a:tblPr/>
              <a:tblGrid>
                <a:gridCol w="417513">
                  <a:extLst>
                    <a:ext uri="{9D8B030D-6E8A-4147-A177-3AD203B41FA5}">
                      <a16:colId xmlns:a16="http://schemas.microsoft.com/office/drawing/2014/main" val="2695211203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4169923361"/>
                    </a:ext>
                  </a:extLst>
                </a:gridCol>
                <a:gridCol w="665162">
                  <a:extLst>
                    <a:ext uri="{9D8B030D-6E8A-4147-A177-3AD203B41FA5}">
                      <a16:colId xmlns:a16="http://schemas.microsoft.com/office/drawing/2014/main" val="408575061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02839359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872659641"/>
                    </a:ext>
                  </a:extLst>
                </a:gridCol>
              </a:tblGrid>
              <a:tr h="4637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(( 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 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 ) 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 )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789003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35407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448834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725848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12297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134</TotalTime>
  <Words>1734</Words>
  <Application>Microsoft Macintosh PowerPoint</Application>
  <PresentationFormat>Widescreen</PresentationFormat>
  <Paragraphs>363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ＭＳ Ｐゴシック</vt:lpstr>
      <vt:lpstr>Arial</vt:lpstr>
      <vt:lpstr>Calibri</vt:lpstr>
      <vt:lpstr>Cambria</vt:lpstr>
      <vt:lpstr>Gill Sans MT</vt:lpstr>
      <vt:lpstr>Symbol</vt:lpstr>
      <vt:lpstr>Parcel</vt:lpstr>
      <vt:lpstr>UNIT-II</vt:lpstr>
      <vt:lpstr>UNIT-II Syllabus</vt:lpstr>
      <vt:lpstr>Lecture - Contents</vt:lpstr>
      <vt:lpstr>Introduction: Logic?</vt:lpstr>
      <vt:lpstr>Introduction: PL?</vt:lpstr>
      <vt:lpstr>Outline</vt:lpstr>
      <vt:lpstr>Introduction: Proposition</vt:lpstr>
      <vt:lpstr>Propositions: Examples</vt:lpstr>
      <vt:lpstr>Are these propositions?</vt:lpstr>
      <vt:lpstr>Logical connectives</vt:lpstr>
      <vt:lpstr>Precedence of Logical Operators</vt:lpstr>
      <vt:lpstr>Logical Connective: Negation</vt:lpstr>
      <vt:lpstr>Logical Connective: Logical And</vt:lpstr>
      <vt:lpstr>Logical Connective: Logical OR</vt:lpstr>
      <vt:lpstr>Logical Connective: Exclusive Or</vt:lpstr>
      <vt:lpstr>Logical Connective: Implication (1)</vt:lpstr>
      <vt:lpstr>Logical Connective: Implication (2)</vt:lpstr>
      <vt:lpstr>Write each of these statements in the form</vt:lpstr>
      <vt:lpstr>EXAMPLES</vt:lpstr>
      <vt:lpstr>Logical Connective: Implication (3)</vt:lpstr>
      <vt:lpstr>Exercise: Which of the following implications is true?</vt:lpstr>
      <vt:lpstr>Converse, Inverse, Contrapositive</vt:lpstr>
      <vt:lpstr>State the converse, contrapositive, and inverse of each of these conditional statements.</vt:lpstr>
      <vt:lpstr>Logical Connective: Biconditional (1)</vt:lpstr>
      <vt:lpstr>Logical Connective: Biconditional (2)</vt:lpstr>
      <vt:lpstr>Exercise: Which of the following biconditionals is true?</vt:lpstr>
      <vt:lpstr>Truth Tables</vt:lpstr>
      <vt:lpstr>Constructing Truth Tables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UNIT-III</dc:title>
  <dc:creator>PRONAYA</dc:creator>
  <cp:lastModifiedBy>khushpithva@gmail.com</cp:lastModifiedBy>
  <cp:revision>10</cp:revision>
  <dcterms:created xsi:type="dcterms:W3CDTF">2021-08-26T12:33:38Z</dcterms:created>
  <dcterms:modified xsi:type="dcterms:W3CDTF">2025-08-26T11:05:18Z</dcterms:modified>
</cp:coreProperties>
</file>