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6"/>
  </p:notesMasterIdLst>
  <p:sldIdLst>
    <p:sldId id="329" r:id="rId2"/>
    <p:sldId id="350" r:id="rId3"/>
    <p:sldId id="313" r:id="rId4"/>
    <p:sldId id="314" r:id="rId5"/>
    <p:sldId id="315" r:id="rId6"/>
    <p:sldId id="316" r:id="rId7"/>
    <p:sldId id="317" r:id="rId8"/>
    <p:sldId id="318" r:id="rId9"/>
    <p:sldId id="321" r:id="rId10"/>
    <p:sldId id="332" r:id="rId11"/>
    <p:sldId id="333" r:id="rId12"/>
    <p:sldId id="296" r:id="rId13"/>
    <p:sldId id="334" r:id="rId14"/>
    <p:sldId id="320" r:id="rId15"/>
    <p:sldId id="322" r:id="rId16"/>
    <p:sldId id="323" r:id="rId17"/>
    <p:sldId id="324" r:id="rId18"/>
    <p:sldId id="325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327" r:id="rId31"/>
    <p:sldId id="328" r:id="rId32"/>
    <p:sldId id="276" r:id="rId33"/>
    <p:sldId id="283" r:id="rId34"/>
    <p:sldId id="277" r:id="rId35"/>
    <p:sldId id="278" r:id="rId36"/>
    <p:sldId id="279" r:id="rId37"/>
    <p:sldId id="281" r:id="rId38"/>
    <p:sldId id="284" r:id="rId39"/>
    <p:sldId id="285" r:id="rId40"/>
    <p:sldId id="286" r:id="rId41"/>
    <p:sldId id="287" r:id="rId42"/>
    <p:sldId id="288" r:id="rId43"/>
    <p:sldId id="330" r:id="rId44"/>
    <p:sldId id="289" r:id="rId45"/>
    <p:sldId id="290" r:id="rId46"/>
    <p:sldId id="291" r:id="rId47"/>
    <p:sldId id="292" r:id="rId48"/>
    <p:sldId id="293" r:id="rId49"/>
    <p:sldId id="297" r:id="rId50"/>
    <p:sldId id="298" r:id="rId51"/>
    <p:sldId id="299" r:id="rId52"/>
    <p:sldId id="300" r:id="rId53"/>
    <p:sldId id="301" r:id="rId54"/>
    <p:sldId id="302" r:id="rId5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0066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67"/>
  </p:normalViewPr>
  <p:slideViewPr>
    <p:cSldViewPr>
      <p:cViewPr>
        <p:scale>
          <a:sx n="115" d="100"/>
          <a:sy n="115" d="100"/>
        </p:scale>
        <p:origin x="1584" y="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D6EF44-082A-4407-965B-7E9B71B581BB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77C88E-5688-4606-8636-D36DCDBC74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0019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AD3BFC3-0CB3-4717-980F-27227E64CC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241920C-AB1F-49F2-9D1B-6C10DB988E1A}" type="slidenum">
              <a:rPr kumimoji="0" lang="ar-SA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1138" name="Rectangle 2">
            <a:extLst>
              <a:ext uri="{FF2B5EF4-FFF2-40B4-BE49-F238E27FC236}">
                <a16:creationId xmlns:a16="http://schemas.microsoft.com/office/drawing/2014/main" id="{4CB3EE8A-0193-4D14-9141-93929C53FD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37F5A397-95BA-4F8B-A3DA-3471574D8E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5919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7C88E-5688-4606-8636-D36DCDBC744C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4827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7C88E-5688-4606-8636-D36DCDBC744C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48271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7C88E-5688-4606-8636-D36DCDBC744C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48271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7C88E-5688-4606-8636-D36DCDBC744C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48271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7C88E-5688-4606-8636-D36DCDBC744C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48271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7C88E-5688-4606-8636-D36DCDBC744C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48271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7C88E-5688-4606-8636-D36DCDBC744C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48271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7C88E-5688-4606-8636-D36DCDBC744C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48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B4C71EC6-210F-42DE-9C53-41977AD35B3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7213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3151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3114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216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624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6737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02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1634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6178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4248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0299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4C71EC6-210F-42DE-9C53-41977AD35B3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8972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6202C-E65A-4CA5-8DB7-7A9612C9DC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Unit-V- </a:t>
            </a:r>
            <a:r>
              <a:rPr lang="en-US" dirty="0"/>
              <a:t>Recurrence Relations</a:t>
            </a:r>
            <a:endParaRPr lang="en-I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BFA8C5F-2A82-24E4-9C0F-6CC4D7A0EC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947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2F417-97B5-49A3-AEA3-0FBB98BA8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DISCLAIMER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35BA4-C142-4C37-B706-E55812C0C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600" dirty="0"/>
              <a:t>The slides are adapted from Kenneth H. Rosen, C. L. Liu, and Presentation Slides of discrete mathematics at IIT, Kanpur.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923199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E980BC86-A129-4553-9297-6F25CE6A0C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066800"/>
          </a:xfrm>
        </p:spPr>
        <p:txBody>
          <a:bodyPr/>
          <a:lstStyle/>
          <a:p>
            <a:r>
              <a:rPr lang="en-US" altLang="en-US" sz="3600"/>
              <a:t>Recurrence Relations</a:t>
            </a:r>
            <a:endParaRPr lang="en-CA" altLang="en-US" sz="3600"/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B5FFA005-E27A-4C03-A78F-EE32D78624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2344" y="1292252"/>
            <a:ext cx="8534400" cy="4953000"/>
          </a:xfrm>
        </p:spPr>
        <p:txBody>
          <a:bodyPr/>
          <a:lstStyle/>
          <a:p>
            <a:pPr marL="0" indent="0"/>
            <a:r>
              <a:rPr lang="en-US" altLang="en-US" sz="2800" dirty="0">
                <a:sym typeface="Symbol" panose="05050102010706020507" pitchFamily="18" charset="2"/>
              </a:rPr>
              <a:t>A </a:t>
            </a:r>
            <a:r>
              <a:rPr lang="en-US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recurrence relation</a:t>
            </a:r>
            <a:r>
              <a:rPr lang="en-US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dirty="0">
                <a:sym typeface="Symbol" panose="05050102010706020507" pitchFamily="18" charset="2"/>
              </a:rPr>
              <a:t>for the </a:t>
            </a:r>
            <a:r>
              <a:rPr lang="en-US" altLang="en-US" sz="2800" b="1" dirty="0">
                <a:sym typeface="Symbol" panose="05050102010706020507" pitchFamily="18" charset="2"/>
              </a:rPr>
              <a:t>sequence {a</a:t>
            </a:r>
            <a:r>
              <a:rPr lang="en-US" altLang="en-US" sz="2800" b="1" baseline="-25000" dirty="0">
                <a:sym typeface="Symbol" panose="05050102010706020507" pitchFamily="18" charset="2"/>
              </a:rPr>
              <a:t>n</a:t>
            </a:r>
            <a:r>
              <a:rPr lang="en-US" altLang="en-US" sz="2800" b="1" dirty="0">
                <a:sym typeface="Symbol" panose="05050102010706020507" pitchFamily="18" charset="2"/>
              </a:rPr>
              <a:t>} </a:t>
            </a:r>
            <a:r>
              <a:rPr lang="en-US" altLang="en-US" sz="2800" dirty="0">
                <a:sym typeface="Symbol" panose="05050102010706020507" pitchFamily="18" charset="2"/>
              </a:rPr>
              <a:t>is an equation that expresses </a:t>
            </a:r>
            <a:r>
              <a:rPr lang="en-US" altLang="en-US" sz="2800" b="1" dirty="0">
                <a:sym typeface="Symbol" panose="05050102010706020507" pitchFamily="18" charset="2"/>
              </a:rPr>
              <a:t>a</a:t>
            </a:r>
            <a:r>
              <a:rPr lang="en-US" altLang="en-US" sz="2800" b="1" baseline="-25000" dirty="0">
                <a:sym typeface="Symbol" panose="05050102010706020507" pitchFamily="18" charset="2"/>
              </a:rPr>
              <a:t>n</a:t>
            </a:r>
            <a:r>
              <a:rPr lang="en-US" altLang="en-US" sz="2800" b="1" dirty="0">
                <a:sym typeface="Symbol" panose="05050102010706020507" pitchFamily="18" charset="2"/>
              </a:rPr>
              <a:t> is terms of one or more of the previous terms of the sequence</a:t>
            </a:r>
            <a:r>
              <a:rPr lang="en-US" altLang="en-US" sz="2800" dirty="0">
                <a:sym typeface="Symbol" panose="05050102010706020507" pitchFamily="18" charset="2"/>
              </a:rPr>
              <a:t>, namely, a</a:t>
            </a:r>
            <a:r>
              <a:rPr lang="en-US" altLang="en-US" sz="2800" baseline="-25000" dirty="0">
                <a:sym typeface="Symbol" panose="05050102010706020507" pitchFamily="18" charset="2"/>
              </a:rPr>
              <a:t>0</a:t>
            </a:r>
            <a:r>
              <a:rPr lang="en-US" altLang="en-US" sz="2800" dirty="0">
                <a:sym typeface="Symbol" panose="05050102010706020507" pitchFamily="18" charset="2"/>
              </a:rPr>
              <a:t>, a</a:t>
            </a:r>
            <a:r>
              <a:rPr lang="en-US" altLang="en-US" sz="2800" baseline="-25000" dirty="0">
                <a:sym typeface="Symbol" panose="05050102010706020507" pitchFamily="18" charset="2"/>
              </a:rPr>
              <a:t>1</a:t>
            </a:r>
            <a:r>
              <a:rPr lang="en-US" altLang="en-US" sz="2800" dirty="0">
                <a:sym typeface="Symbol" panose="05050102010706020507" pitchFamily="18" charset="2"/>
              </a:rPr>
              <a:t>, …, a</a:t>
            </a:r>
            <a:r>
              <a:rPr lang="en-US" altLang="en-US" sz="2800" baseline="-25000" dirty="0">
                <a:sym typeface="Symbol" panose="05050102010706020507" pitchFamily="18" charset="2"/>
              </a:rPr>
              <a:t>n-1</a:t>
            </a:r>
            <a:r>
              <a:rPr lang="en-US" altLang="en-US" sz="2800" dirty="0">
                <a:sym typeface="Symbol" panose="05050102010706020507" pitchFamily="18" charset="2"/>
              </a:rPr>
              <a:t>, for all integers n with  n  n</a:t>
            </a:r>
            <a:r>
              <a:rPr lang="en-US" altLang="en-US" sz="2800" baseline="-25000" dirty="0">
                <a:sym typeface="Symbol" panose="05050102010706020507" pitchFamily="18" charset="2"/>
              </a:rPr>
              <a:t>0</a:t>
            </a:r>
            <a:r>
              <a:rPr lang="en-US" altLang="en-US" sz="2800" dirty="0">
                <a:sym typeface="Symbol" panose="05050102010706020507" pitchFamily="18" charset="2"/>
              </a:rPr>
              <a:t>, where n</a:t>
            </a:r>
            <a:r>
              <a:rPr lang="en-US" altLang="en-US" sz="2800" baseline="-25000" dirty="0">
                <a:sym typeface="Symbol" panose="05050102010706020507" pitchFamily="18" charset="2"/>
              </a:rPr>
              <a:t>0</a:t>
            </a:r>
            <a:r>
              <a:rPr lang="en-US" altLang="en-US" sz="2800" dirty="0">
                <a:sym typeface="Symbol" panose="05050102010706020507" pitchFamily="18" charset="2"/>
              </a:rPr>
              <a:t> is a nonnegative integer.</a:t>
            </a:r>
          </a:p>
          <a:p>
            <a:pPr marL="0" indent="0"/>
            <a:endParaRPr lang="en-US" altLang="en-US" sz="2800" dirty="0">
              <a:sym typeface="Symbol" panose="05050102010706020507" pitchFamily="18" charset="2"/>
            </a:endParaRPr>
          </a:p>
          <a:p>
            <a:pPr marL="0" indent="0"/>
            <a:r>
              <a:rPr lang="en-US" altLang="en-US" sz="2800" dirty="0">
                <a:sym typeface="Symbol" panose="05050102010706020507" pitchFamily="18" charset="2"/>
              </a:rPr>
              <a:t>A sequence is called a </a:t>
            </a:r>
            <a:r>
              <a:rPr lang="en-US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solution</a:t>
            </a:r>
            <a:r>
              <a:rPr lang="en-US" altLang="en-US" sz="2800" dirty="0">
                <a:sym typeface="Symbol" panose="05050102010706020507" pitchFamily="18" charset="2"/>
              </a:rPr>
              <a:t> of a recurrence relation if it terms satisfy the recurrence relation.</a:t>
            </a:r>
          </a:p>
          <a:p>
            <a:pPr marL="0" indent="0"/>
            <a:endParaRPr lang="en-US" altLang="en-US" sz="2800" dirty="0">
              <a:sym typeface="Symbol" panose="05050102010706020507" pitchFamily="18" charset="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84FC6-7944-45B0-BA53-6EFB66912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C2D01-7064-4BA3-BB7A-0F089CC30B7A}" type="slidenum">
              <a:rPr lang="en-CA" altLang="en-US"/>
              <a:pPr/>
              <a:t>3</a:t>
            </a:fld>
            <a:endParaRPr lang="en-CA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3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7A5E5613-716D-45AA-9EFC-A77B9649D6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066800"/>
          </a:xfrm>
        </p:spPr>
        <p:txBody>
          <a:bodyPr/>
          <a:lstStyle/>
          <a:p>
            <a:r>
              <a:rPr lang="en-US" altLang="en-US" sz="3600"/>
              <a:t>Recurrence Relations</a:t>
            </a:r>
            <a:endParaRPr lang="en-CA" altLang="en-US" sz="3600"/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DCAA1F75-6BD1-477C-8375-3FC24886CD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371600"/>
            <a:ext cx="8534400" cy="457200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</a:pPr>
            <a:r>
              <a:rPr lang="en-US" altLang="en-US" sz="2800" dirty="0">
                <a:sym typeface="Symbol" panose="05050102010706020507" pitchFamily="18" charset="2"/>
              </a:rPr>
              <a:t>In other words, a recurrence relation is like a recursively defined sequence, but </a:t>
            </a:r>
            <a:r>
              <a:rPr lang="en-US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without specifying any initial values (initial conditions)</a:t>
            </a:r>
            <a:r>
              <a:rPr lang="en-US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.</a:t>
            </a:r>
          </a:p>
          <a:p>
            <a:pPr marL="0" indent="0">
              <a:lnSpc>
                <a:spcPct val="90000"/>
              </a:lnSpc>
            </a:pPr>
            <a:endParaRPr lang="en-US" altLang="en-US" sz="2800" dirty="0">
              <a:sym typeface="Symbol" panose="05050102010706020507" pitchFamily="18" charset="2"/>
            </a:endParaRPr>
          </a:p>
          <a:p>
            <a:pPr marL="0" indent="0">
              <a:lnSpc>
                <a:spcPct val="90000"/>
              </a:lnSpc>
            </a:pPr>
            <a:r>
              <a:rPr lang="en-US" altLang="en-US" sz="2800" dirty="0">
                <a:sym typeface="Symbol" panose="05050102010706020507" pitchFamily="18" charset="2"/>
              </a:rPr>
              <a:t>Therefore, the same recurrence relation can have (and usually has) </a:t>
            </a:r>
            <a:r>
              <a:rPr lang="en-US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multiple solutions.</a:t>
            </a:r>
          </a:p>
          <a:p>
            <a:pPr marL="0" indent="0">
              <a:lnSpc>
                <a:spcPct val="90000"/>
              </a:lnSpc>
            </a:pPr>
            <a:endParaRPr lang="en-US" altLang="en-US" sz="2800" dirty="0">
              <a:sym typeface="Symbol" panose="05050102010706020507" pitchFamily="18" charset="2"/>
            </a:endParaRPr>
          </a:p>
          <a:p>
            <a:pPr marL="0" indent="0">
              <a:lnSpc>
                <a:spcPct val="90000"/>
              </a:lnSpc>
            </a:pPr>
            <a:r>
              <a:rPr lang="en-US" altLang="en-US" sz="2800" dirty="0">
                <a:sym typeface="Symbol" panose="05050102010706020507" pitchFamily="18" charset="2"/>
              </a:rPr>
              <a:t>If </a:t>
            </a:r>
            <a:r>
              <a:rPr lang="en-US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both</a:t>
            </a:r>
            <a:r>
              <a:rPr lang="en-US" altLang="en-US" sz="2800" dirty="0">
                <a:sym typeface="Symbol" panose="05050102010706020507" pitchFamily="18" charset="2"/>
              </a:rPr>
              <a:t> the initial conditions and the recurrence relation are specified, then the sequence is </a:t>
            </a:r>
            <a:r>
              <a:rPr lang="en-US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uniquely </a:t>
            </a:r>
            <a:r>
              <a:rPr lang="en-US" altLang="en-US" sz="2800" dirty="0">
                <a:sym typeface="Symbol" panose="05050102010706020507" pitchFamily="18" charset="2"/>
              </a:rPr>
              <a:t>determined.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F8D9F-C26B-4081-95D8-ED21789FE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C7099-B693-4B14-8997-E6CF70C2220F}" type="slidenum">
              <a:rPr lang="en-CA" altLang="en-US"/>
              <a:pPr/>
              <a:t>4</a:t>
            </a:fld>
            <a:endParaRPr lang="en-CA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9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9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9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9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7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78AB5742-D31D-4730-96F3-182DC25923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066800"/>
          </a:xfrm>
        </p:spPr>
        <p:txBody>
          <a:bodyPr/>
          <a:lstStyle/>
          <a:p>
            <a:r>
              <a:rPr lang="en-US" altLang="en-US" sz="3600"/>
              <a:t>Recurrence Relations</a:t>
            </a:r>
            <a:endParaRPr lang="en-CA" altLang="en-US" sz="3600"/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31D81B17-2862-49F8-B725-A67DDD6C65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066800"/>
            <a:ext cx="8534400" cy="5105400"/>
          </a:xfrm>
        </p:spPr>
        <p:txBody>
          <a:bodyPr>
            <a:normAutofit/>
          </a:bodyPr>
          <a:lstStyle/>
          <a:p>
            <a:pPr marL="0" indent="0"/>
            <a:r>
              <a:rPr lang="en-US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Example:</a:t>
            </a:r>
            <a:r>
              <a:rPr lang="en-US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br>
              <a:rPr lang="en-US" altLang="en-US" sz="2800" dirty="0">
                <a:sym typeface="Symbol" panose="05050102010706020507" pitchFamily="18" charset="2"/>
              </a:rPr>
            </a:br>
            <a:r>
              <a:rPr lang="en-US" altLang="en-US" sz="2800" dirty="0">
                <a:sym typeface="Symbol" panose="05050102010706020507" pitchFamily="18" charset="2"/>
              </a:rPr>
              <a:t>Consider the recurrence relation </a:t>
            </a:r>
            <a:br>
              <a:rPr lang="en-US" altLang="en-US" sz="2800" dirty="0">
                <a:sym typeface="Symbol" panose="05050102010706020507" pitchFamily="18" charset="2"/>
              </a:rPr>
            </a:br>
            <a:r>
              <a:rPr lang="en-US" altLang="en-US" sz="2800" dirty="0">
                <a:sym typeface="Symbol" panose="05050102010706020507" pitchFamily="18" charset="2"/>
              </a:rPr>
              <a:t>a</a:t>
            </a:r>
            <a:r>
              <a:rPr lang="en-US" altLang="en-US" sz="2800" baseline="-25000" dirty="0">
                <a:sym typeface="Symbol" panose="05050102010706020507" pitchFamily="18" charset="2"/>
              </a:rPr>
              <a:t>n</a:t>
            </a:r>
            <a:r>
              <a:rPr lang="en-US" altLang="en-US" sz="2800" dirty="0">
                <a:sym typeface="Symbol" panose="05050102010706020507" pitchFamily="18" charset="2"/>
              </a:rPr>
              <a:t> = 2a</a:t>
            </a:r>
            <a:r>
              <a:rPr lang="en-US" altLang="en-US" sz="2800" baseline="-25000" dirty="0">
                <a:sym typeface="Symbol" panose="05050102010706020507" pitchFamily="18" charset="2"/>
              </a:rPr>
              <a:t>n-1</a:t>
            </a:r>
            <a:r>
              <a:rPr lang="en-US" altLang="en-US" sz="2800" dirty="0">
                <a:sym typeface="Symbol" panose="05050102010706020507" pitchFamily="18" charset="2"/>
              </a:rPr>
              <a:t> – a</a:t>
            </a:r>
            <a:r>
              <a:rPr lang="en-US" altLang="en-US" sz="2800" baseline="-25000" dirty="0">
                <a:sym typeface="Symbol" panose="05050102010706020507" pitchFamily="18" charset="2"/>
              </a:rPr>
              <a:t>n-2</a:t>
            </a:r>
            <a:r>
              <a:rPr lang="en-US" altLang="en-US" sz="2800" dirty="0">
                <a:sym typeface="Symbol" panose="05050102010706020507" pitchFamily="18" charset="2"/>
              </a:rPr>
              <a:t> for n = 2, 3, 4, …</a:t>
            </a:r>
          </a:p>
          <a:p>
            <a:pPr marL="0" indent="0"/>
            <a:endParaRPr lang="en-US" altLang="en-US" sz="1600" dirty="0">
              <a:sym typeface="Symbol" panose="05050102010706020507" pitchFamily="18" charset="2"/>
            </a:endParaRPr>
          </a:p>
          <a:p>
            <a:pPr marL="0" indent="0"/>
            <a:r>
              <a:rPr lang="en-US" altLang="en-US" sz="2800" dirty="0">
                <a:sym typeface="Symbol" panose="05050102010706020507" pitchFamily="18" charset="2"/>
              </a:rPr>
              <a:t>Is the sequence {a</a:t>
            </a:r>
            <a:r>
              <a:rPr lang="en-US" altLang="en-US" sz="2800" baseline="-25000" dirty="0">
                <a:sym typeface="Symbol" panose="05050102010706020507" pitchFamily="18" charset="2"/>
              </a:rPr>
              <a:t>n</a:t>
            </a:r>
            <a:r>
              <a:rPr lang="en-US" altLang="en-US" sz="2800" dirty="0">
                <a:sym typeface="Symbol" panose="05050102010706020507" pitchFamily="18" charset="2"/>
              </a:rPr>
              <a:t>} with a</a:t>
            </a:r>
            <a:r>
              <a:rPr lang="en-US" altLang="en-US" sz="2800" baseline="-25000" dirty="0">
                <a:sym typeface="Symbol" panose="05050102010706020507" pitchFamily="18" charset="2"/>
              </a:rPr>
              <a:t>n</a:t>
            </a:r>
            <a:r>
              <a:rPr lang="en-US" altLang="en-US" sz="2800" dirty="0">
                <a:sym typeface="Symbol" panose="05050102010706020507" pitchFamily="18" charset="2"/>
              </a:rPr>
              <a:t>=3n a solution of this recurrence relation?</a:t>
            </a:r>
          </a:p>
          <a:p>
            <a:pPr marL="0" indent="0"/>
            <a:r>
              <a:rPr lang="en-US" altLang="en-US" sz="2800" dirty="0">
                <a:sym typeface="Symbol" panose="05050102010706020507" pitchFamily="18" charset="2"/>
              </a:rPr>
              <a:t>For n  2 we see that </a:t>
            </a:r>
            <a:br>
              <a:rPr lang="en-US" altLang="en-US" sz="2800" dirty="0">
                <a:sym typeface="Symbol" panose="05050102010706020507" pitchFamily="18" charset="2"/>
              </a:rPr>
            </a:br>
            <a:r>
              <a:rPr lang="en-US" altLang="en-US" sz="2800" dirty="0">
                <a:sym typeface="Symbol" panose="05050102010706020507" pitchFamily="18" charset="2"/>
              </a:rPr>
              <a:t>2a</a:t>
            </a:r>
            <a:r>
              <a:rPr lang="en-US" altLang="en-US" sz="2800" baseline="-25000" dirty="0">
                <a:sym typeface="Symbol" panose="05050102010706020507" pitchFamily="18" charset="2"/>
              </a:rPr>
              <a:t>n-1</a:t>
            </a:r>
            <a:r>
              <a:rPr lang="en-US" altLang="en-US" sz="2800" dirty="0">
                <a:sym typeface="Symbol" panose="05050102010706020507" pitchFamily="18" charset="2"/>
              </a:rPr>
              <a:t> – a</a:t>
            </a:r>
            <a:r>
              <a:rPr lang="en-US" altLang="en-US" sz="2800" baseline="-25000" dirty="0">
                <a:sym typeface="Symbol" panose="05050102010706020507" pitchFamily="18" charset="2"/>
              </a:rPr>
              <a:t>n-2</a:t>
            </a:r>
            <a:r>
              <a:rPr lang="en-US" altLang="en-US" sz="2800" dirty="0">
                <a:sym typeface="Symbol" panose="05050102010706020507" pitchFamily="18" charset="2"/>
              </a:rPr>
              <a:t> = 2(3(n – 1)) – 3(n – 2) = 3n = a</a:t>
            </a:r>
            <a:r>
              <a:rPr lang="en-US" altLang="en-US" sz="2800" baseline="-25000" dirty="0">
                <a:sym typeface="Symbol" panose="05050102010706020507" pitchFamily="18" charset="2"/>
              </a:rPr>
              <a:t>n</a:t>
            </a:r>
            <a:r>
              <a:rPr lang="en-US" altLang="en-US" sz="2800" dirty="0">
                <a:sym typeface="Symbol" panose="05050102010706020507" pitchFamily="18" charset="2"/>
              </a:rPr>
              <a:t>.</a:t>
            </a:r>
          </a:p>
          <a:p>
            <a:pPr marL="0" indent="0"/>
            <a:r>
              <a:rPr lang="en-US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Therefore, {a</a:t>
            </a:r>
            <a:r>
              <a:rPr lang="en-US" altLang="en-US" sz="2800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n</a:t>
            </a:r>
            <a:r>
              <a:rPr lang="en-US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} with a</a:t>
            </a:r>
            <a:r>
              <a:rPr lang="en-US" altLang="en-US" sz="2800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n</a:t>
            </a:r>
            <a:r>
              <a:rPr lang="en-US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=3n is a solution of the recurrence relation.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4EE3A-4228-402A-B414-C0AD216BF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B3C31-BB39-4955-8D3B-59B59AB27504}" type="slidenum">
              <a:rPr lang="en-CA" altLang="en-US"/>
              <a:pPr/>
              <a:t>5</a:t>
            </a:fld>
            <a:endParaRPr lang="en-CA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0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0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1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35BF4C15-1CFE-464C-B0B4-0677C31603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066800"/>
          </a:xfrm>
        </p:spPr>
        <p:txBody>
          <a:bodyPr/>
          <a:lstStyle/>
          <a:p>
            <a:r>
              <a:rPr lang="en-US" altLang="en-US" sz="3600"/>
              <a:t>Recurrence Relations</a:t>
            </a:r>
            <a:endParaRPr lang="en-CA" altLang="en-US" sz="3600"/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B5521A41-0F9B-443F-AA3E-B8E69C88F6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371600"/>
            <a:ext cx="8534400" cy="4800600"/>
          </a:xfrm>
        </p:spPr>
        <p:txBody>
          <a:bodyPr/>
          <a:lstStyle/>
          <a:p>
            <a:pPr marL="0" indent="0"/>
            <a:r>
              <a:rPr lang="en-US" altLang="en-US" sz="2800" dirty="0">
                <a:sym typeface="Symbol" panose="05050102010706020507" pitchFamily="18" charset="2"/>
              </a:rPr>
              <a:t>Is the sequence {a</a:t>
            </a:r>
            <a:r>
              <a:rPr lang="en-US" altLang="en-US" sz="2800" baseline="-25000" dirty="0">
                <a:sym typeface="Symbol" panose="05050102010706020507" pitchFamily="18" charset="2"/>
              </a:rPr>
              <a:t>n</a:t>
            </a:r>
            <a:r>
              <a:rPr lang="en-US" altLang="en-US" sz="2800" dirty="0">
                <a:sym typeface="Symbol" panose="05050102010706020507" pitchFamily="18" charset="2"/>
              </a:rPr>
              <a:t>} with a</a:t>
            </a:r>
            <a:r>
              <a:rPr lang="en-US" altLang="en-US" sz="2800" baseline="-25000" dirty="0">
                <a:sym typeface="Symbol" panose="05050102010706020507" pitchFamily="18" charset="2"/>
              </a:rPr>
              <a:t>n</a:t>
            </a:r>
            <a:r>
              <a:rPr lang="en-US" altLang="en-US" sz="2800" dirty="0">
                <a:sym typeface="Symbol" panose="05050102010706020507" pitchFamily="18" charset="2"/>
              </a:rPr>
              <a:t>=5 a solution of the same recurrence relation?</a:t>
            </a:r>
          </a:p>
          <a:p>
            <a:pPr marL="0" indent="0"/>
            <a:r>
              <a:rPr lang="en-US" altLang="en-US" sz="2800" dirty="0">
                <a:sym typeface="Symbol" panose="05050102010706020507" pitchFamily="18" charset="2"/>
              </a:rPr>
              <a:t>For n  2 we see that </a:t>
            </a:r>
            <a:br>
              <a:rPr lang="en-US" altLang="en-US" sz="2800" dirty="0">
                <a:sym typeface="Symbol" panose="05050102010706020507" pitchFamily="18" charset="2"/>
              </a:rPr>
            </a:br>
            <a:r>
              <a:rPr lang="en-US" altLang="en-US" sz="2800" dirty="0">
                <a:sym typeface="Symbol" panose="05050102010706020507" pitchFamily="18" charset="2"/>
              </a:rPr>
              <a:t>2a</a:t>
            </a:r>
            <a:r>
              <a:rPr lang="en-US" altLang="en-US" sz="2800" baseline="-25000" dirty="0">
                <a:sym typeface="Symbol" panose="05050102010706020507" pitchFamily="18" charset="2"/>
              </a:rPr>
              <a:t>n-1</a:t>
            </a:r>
            <a:r>
              <a:rPr lang="en-US" altLang="en-US" sz="2800" dirty="0">
                <a:sym typeface="Symbol" panose="05050102010706020507" pitchFamily="18" charset="2"/>
              </a:rPr>
              <a:t> – a</a:t>
            </a:r>
            <a:r>
              <a:rPr lang="en-US" altLang="en-US" sz="2800" baseline="-25000" dirty="0">
                <a:sym typeface="Symbol" panose="05050102010706020507" pitchFamily="18" charset="2"/>
              </a:rPr>
              <a:t>n-2</a:t>
            </a:r>
            <a:r>
              <a:rPr lang="en-US" altLang="en-US" sz="2800" dirty="0">
                <a:sym typeface="Symbol" panose="05050102010706020507" pitchFamily="18" charset="2"/>
              </a:rPr>
              <a:t> = 25 - 5 = 5 = a</a:t>
            </a:r>
            <a:r>
              <a:rPr lang="en-US" altLang="en-US" sz="2800" baseline="-25000" dirty="0">
                <a:sym typeface="Symbol" panose="05050102010706020507" pitchFamily="18" charset="2"/>
              </a:rPr>
              <a:t>n</a:t>
            </a:r>
            <a:r>
              <a:rPr lang="en-US" altLang="en-US" sz="2800" dirty="0">
                <a:sym typeface="Symbol" panose="05050102010706020507" pitchFamily="18" charset="2"/>
              </a:rPr>
              <a:t>.</a:t>
            </a:r>
          </a:p>
          <a:p>
            <a:pPr marL="0" indent="0"/>
            <a:endParaRPr lang="en-US" altLang="en-US" sz="800" dirty="0">
              <a:sym typeface="Symbol" panose="05050102010706020507" pitchFamily="18" charset="2"/>
            </a:endParaRPr>
          </a:p>
          <a:p>
            <a:pPr marL="0" indent="0"/>
            <a:r>
              <a:rPr lang="en-US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Therefore, {a</a:t>
            </a:r>
            <a:r>
              <a:rPr lang="en-US" altLang="en-US" sz="2800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n</a:t>
            </a:r>
            <a:r>
              <a:rPr lang="en-US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} with a</a:t>
            </a:r>
            <a:r>
              <a:rPr lang="en-US" altLang="en-US" sz="2800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n</a:t>
            </a:r>
            <a:r>
              <a:rPr lang="en-US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=5 is also a solution of the recurrence relation.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18153-6F91-42AE-B0C8-FDFBF120E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08042-919B-4624-A006-E23174EB0FCA}" type="slidenum">
              <a:rPr lang="en-CA" altLang="en-US"/>
              <a:pPr/>
              <a:t>6</a:t>
            </a:fld>
            <a:endParaRPr lang="en-CA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5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3227669C-D89D-4162-9F70-FF766D8DAD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153400" cy="1066800"/>
          </a:xfrm>
        </p:spPr>
        <p:txBody>
          <a:bodyPr>
            <a:normAutofit/>
          </a:bodyPr>
          <a:lstStyle/>
          <a:p>
            <a:r>
              <a:rPr lang="en-US" altLang="en-US" sz="3600"/>
              <a:t>Modeling with Recurrence Relations</a:t>
            </a:r>
            <a:endParaRPr lang="en-CA" altLang="en-US" sz="3600"/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FE1CE696-F691-433B-9992-713A6AA4C5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143000"/>
            <a:ext cx="8534400" cy="5029200"/>
          </a:xfrm>
        </p:spPr>
        <p:txBody>
          <a:bodyPr>
            <a:normAutofit/>
          </a:bodyPr>
          <a:lstStyle/>
          <a:p>
            <a:pPr marL="0" indent="0"/>
            <a:r>
              <a:rPr lang="en-US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Example:</a:t>
            </a:r>
            <a:r>
              <a:rPr lang="en-US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</a:p>
          <a:p>
            <a:pPr marL="0" indent="0"/>
            <a:r>
              <a:rPr lang="en-US" altLang="en-US" sz="2800" dirty="0">
                <a:sym typeface="Symbol" panose="05050102010706020507" pitchFamily="18" charset="2"/>
              </a:rPr>
              <a:t>Someone deposits $10,000 in a savings account at a bank yielding 5% per year with interest compounded annually. How much money will be in the account after 30 years?</a:t>
            </a:r>
          </a:p>
          <a:p>
            <a:pPr marL="0" indent="0"/>
            <a:endParaRPr lang="en-US" altLang="en-US" sz="800" dirty="0">
              <a:sym typeface="Symbol" panose="05050102010706020507" pitchFamily="18" charset="2"/>
            </a:endParaRPr>
          </a:p>
          <a:p>
            <a:pPr marL="0" indent="0"/>
            <a:r>
              <a:rPr lang="en-US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Solution:</a:t>
            </a:r>
          </a:p>
          <a:p>
            <a:pPr marL="0" indent="0"/>
            <a:r>
              <a:rPr lang="en-US" altLang="en-US" sz="2800" dirty="0">
                <a:sym typeface="Symbol" panose="05050102010706020507" pitchFamily="18" charset="2"/>
              </a:rPr>
              <a:t>Let </a:t>
            </a:r>
            <a:r>
              <a:rPr lang="en-US" altLang="en-US" sz="2800" dirty="0" err="1">
                <a:sym typeface="Symbol" panose="05050102010706020507" pitchFamily="18" charset="2"/>
              </a:rPr>
              <a:t>P</a:t>
            </a:r>
            <a:r>
              <a:rPr lang="en-US" altLang="en-US" sz="2800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2800" dirty="0">
                <a:sym typeface="Symbol" panose="05050102010706020507" pitchFamily="18" charset="2"/>
              </a:rPr>
              <a:t> denote the amount in the account after n years.</a:t>
            </a:r>
          </a:p>
          <a:p>
            <a:pPr marL="0" indent="0"/>
            <a:r>
              <a:rPr lang="en-US" altLang="en-US" sz="2800" dirty="0">
                <a:sym typeface="Symbol" panose="05050102010706020507" pitchFamily="18" charset="2"/>
              </a:rPr>
              <a:t>How can we determine </a:t>
            </a:r>
            <a:r>
              <a:rPr lang="en-US" altLang="en-US" sz="2800" dirty="0" err="1">
                <a:sym typeface="Symbol" panose="05050102010706020507" pitchFamily="18" charset="2"/>
              </a:rPr>
              <a:t>P</a:t>
            </a:r>
            <a:r>
              <a:rPr lang="en-US" altLang="en-US" sz="2800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2800" dirty="0">
                <a:sym typeface="Symbol" panose="05050102010706020507" pitchFamily="18" charset="2"/>
              </a:rPr>
              <a:t> on the basis of P</a:t>
            </a:r>
            <a:r>
              <a:rPr lang="en-US" altLang="en-US" sz="2800" baseline="-25000" dirty="0">
                <a:sym typeface="Symbol" panose="05050102010706020507" pitchFamily="18" charset="2"/>
              </a:rPr>
              <a:t>n-1</a:t>
            </a:r>
            <a:r>
              <a:rPr lang="en-US" altLang="en-US" sz="2800" dirty="0">
                <a:sym typeface="Symbol" panose="05050102010706020507" pitchFamily="18" charset="2"/>
              </a:rPr>
              <a:t>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71AEE-7BBC-4DB3-832B-65B87E126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B7084-A7C6-48BF-8AC3-8AF637C40411}" type="slidenum">
              <a:rPr lang="en-CA" altLang="en-US"/>
              <a:pPr/>
              <a:t>7</a:t>
            </a:fld>
            <a:endParaRPr lang="en-CA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99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F815BCC4-9F7B-47A0-B2D6-F0AC08690D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153400" cy="914400"/>
          </a:xfrm>
        </p:spPr>
        <p:txBody>
          <a:bodyPr>
            <a:normAutofit/>
          </a:bodyPr>
          <a:lstStyle/>
          <a:p>
            <a:r>
              <a:rPr lang="en-US" altLang="en-US" sz="3600"/>
              <a:t>Modeling with Recurrence Relations</a:t>
            </a:r>
            <a:endParaRPr lang="en-CA" altLang="en-US" sz="3600"/>
          </a:p>
        </p:txBody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03027882-7E20-4779-BDE5-004D6FBC7D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838200"/>
            <a:ext cx="8534400" cy="541020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90000"/>
              </a:lnSpc>
            </a:pPr>
            <a:r>
              <a:rPr lang="en-US" altLang="en-US" sz="2800" dirty="0">
                <a:sym typeface="Symbol" panose="05050102010706020507" pitchFamily="18" charset="2"/>
              </a:rPr>
              <a:t>We can derive the following </a:t>
            </a:r>
            <a:r>
              <a:rPr lang="en-US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recurrence relation</a:t>
            </a:r>
            <a:r>
              <a:rPr lang="en-US" altLang="en-US" sz="2800" dirty="0">
                <a:sym typeface="Symbol" panose="05050102010706020507" pitchFamily="18" charset="2"/>
              </a:rPr>
              <a:t>:</a:t>
            </a:r>
          </a:p>
          <a:p>
            <a:pPr marL="0" indent="0">
              <a:lnSpc>
                <a:spcPct val="90000"/>
              </a:lnSpc>
            </a:pPr>
            <a:r>
              <a:rPr lang="en-US" altLang="en-US" sz="2800" dirty="0" err="1">
                <a:sym typeface="Symbol" panose="05050102010706020507" pitchFamily="18" charset="2"/>
              </a:rPr>
              <a:t>P</a:t>
            </a:r>
            <a:r>
              <a:rPr lang="en-US" altLang="en-US" sz="2800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2800" dirty="0">
                <a:sym typeface="Symbol" panose="05050102010706020507" pitchFamily="18" charset="2"/>
              </a:rPr>
              <a:t> = P</a:t>
            </a:r>
            <a:r>
              <a:rPr lang="en-US" altLang="en-US" sz="2800" baseline="-25000" dirty="0">
                <a:sym typeface="Symbol" panose="05050102010706020507" pitchFamily="18" charset="2"/>
              </a:rPr>
              <a:t>n-1</a:t>
            </a:r>
            <a:r>
              <a:rPr lang="en-US" altLang="en-US" sz="2800" dirty="0">
                <a:sym typeface="Symbol" panose="05050102010706020507" pitchFamily="18" charset="2"/>
              </a:rPr>
              <a:t> + 0.05P</a:t>
            </a:r>
            <a:r>
              <a:rPr lang="en-US" altLang="en-US" sz="2800" baseline="-25000" dirty="0">
                <a:sym typeface="Symbol" panose="05050102010706020507" pitchFamily="18" charset="2"/>
              </a:rPr>
              <a:t>n-1</a:t>
            </a:r>
            <a:r>
              <a:rPr lang="en-US" altLang="en-US" sz="2800" dirty="0">
                <a:sym typeface="Symbol" panose="05050102010706020507" pitchFamily="18" charset="2"/>
              </a:rPr>
              <a:t> = 1.05P</a:t>
            </a:r>
            <a:r>
              <a:rPr lang="en-US" altLang="en-US" sz="2800" baseline="-25000" dirty="0">
                <a:sym typeface="Symbol" panose="05050102010706020507" pitchFamily="18" charset="2"/>
              </a:rPr>
              <a:t>n-1</a:t>
            </a:r>
            <a:r>
              <a:rPr lang="en-US" altLang="en-US" sz="2800" dirty="0">
                <a:sym typeface="Symbol" panose="05050102010706020507" pitchFamily="18" charset="2"/>
              </a:rPr>
              <a:t>.</a:t>
            </a:r>
          </a:p>
          <a:p>
            <a:pPr marL="0" indent="0">
              <a:lnSpc>
                <a:spcPct val="90000"/>
              </a:lnSpc>
            </a:pPr>
            <a:r>
              <a:rPr lang="en-US" altLang="en-US" sz="2800" dirty="0">
                <a:sym typeface="Symbol" panose="05050102010706020507" pitchFamily="18" charset="2"/>
              </a:rPr>
              <a:t>The initial condition is P</a:t>
            </a:r>
            <a:r>
              <a:rPr lang="en-US" altLang="en-US" sz="2800" baseline="-25000" dirty="0">
                <a:sym typeface="Symbol" panose="05050102010706020507" pitchFamily="18" charset="2"/>
              </a:rPr>
              <a:t>0</a:t>
            </a:r>
            <a:r>
              <a:rPr lang="en-US" altLang="en-US" sz="2800" dirty="0">
                <a:sym typeface="Symbol" panose="05050102010706020507" pitchFamily="18" charset="2"/>
              </a:rPr>
              <a:t> = 10,000.</a:t>
            </a:r>
          </a:p>
          <a:p>
            <a:pPr marL="0" indent="0">
              <a:lnSpc>
                <a:spcPct val="90000"/>
              </a:lnSpc>
            </a:pPr>
            <a:r>
              <a:rPr lang="en-US" altLang="en-US" sz="2800" dirty="0">
                <a:sym typeface="Symbol" panose="05050102010706020507" pitchFamily="18" charset="2"/>
              </a:rPr>
              <a:t>Then we have:</a:t>
            </a:r>
          </a:p>
          <a:p>
            <a:pPr marL="0" indent="0">
              <a:lnSpc>
                <a:spcPct val="90000"/>
              </a:lnSpc>
            </a:pPr>
            <a:r>
              <a:rPr lang="en-US" altLang="en-US" sz="2800" dirty="0">
                <a:sym typeface="Symbol" panose="05050102010706020507" pitchFamily="18" charset="2"/>
              </a:rPr>
              <a:t>P</a:t>
            </a:r>
            <a:r>
              <a:rPr lang="en-US" altLang="en-US" sz="2800" baseline="-25000" dirty="0">
                <a:sym typeface="Symbol" panose="05050102010706020507" pitchFamily="18" charset="2"/>
              </a:rPr>
              <a:t>1</a:t>
            </a:r>
            <a:r>
              <a:rPr lang="en-US" altLang="en-US" sz="2800" dirty="0">
                <a:sym typeface="Symbol" panose="05050102010706020507" pitchFamily="18" charset="2"/>
              </a:rPr>
              <a:t> = 1.05P</a:t>
            </a:r>
            <a:r>
              <a:rPr lang="en-US" altLang="en-US" sz="2800" baseline="-25000" dirty="0">
                <a:sym typeface="Symbol" panose="05050102010706020507" pitchFamily="18" charset="2"/>
              </a:rPr>
              <a:t>0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</a:p>
          <a:p>
            <a:pPr marL="0" indent="0">
              <a:lnSpc>
                <a:spcPct val="90000"/>
              </a:lnSpc>
            </a:pPr>
            <a:r>
              <a:rPr lang="en-US" altLang="en-US" sz="2800" dirty="0">
                <a:sym typeface="Symbol" panose="05050102010706020507" pitchFamily="18" charset="2"/>
              </a:rPr>
              <a:t>P</a:t>
            </a:r>
            <a:r>
              <a:rPr lang="en-US" altLang="en-US" sz="2800" baseline="-25000" dirty="0"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sym typeface="Symbol" panose="05050102010706020507" pitchFamily="18" charset="2"/>
              </a:rPr>
              <a:t> = 1.05P</a:t>
            </a:r>
            <a:r>
              <a:rPr lang="en-US" altLang="en-US" sz="2800" baseline="-25000" dirty="0">
                <a:sym typeface="Symbol" panose="05050102010706020507" pitchFamily="18" charset="2"/>
              </a:rPr>
              <a:t>1</a:t>
            </a:r>
            <a:r>
              <a:rPr lang="en-US" altLang="en-US" sz="2800" dirty="0">
                <a:sym typeface="Symbol" panose="05050102010706020507" pitchFamily="18" charset="2"/>
              </a:rPr>
              <a:t> = (1.05)</a:t>
            </a:r>
            <a:r>
              <a:rPr lang="en-US" altLang="en-US" sz="2800" baseline="30000" dirty="0"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sym typeface="Symbol" panose="05050102010706020507" pitchFamily="18" charset="2"/>
              </a:rPr>
              <a:t>P</a:t>
            </a:r>
            <a:r>
              <a:rPr lang="en-US" altLang="en-US" sz="2800" baseline="-25000" dirty="0">
                <a:sym typeface="Symbol" panose="05050102010706020507" pitchFamily="18" charset="2"/>
              </a:rPr>
              <a:t>0</a:t>
            </a:r>
          </a:p>
          <a:p>
            <a:pPr marL="0" indent="0">
              <a:lnSpc>
                <a:spcPct val="90000"/>
              </a:lnSpc>
            </a:pPr>
            <a:r>
              <a:rPr lang="en-US" altLang="en-US" sz="2800" dirty="0">
                <a:sym typeface="Symbol" panose="05050102010706020507" pitchFamily="18" charset="2"/>
              </a:rPr>
              <a:t>P</a:t>
            </a:r>
            <a:r>
              <a:rPr lang="en-US" altLang="en-US" sz="2800" baseline="-25000" dirty="0">
                <a:sym typeface="Symbol" panose="05050102010706020507" pitchFamily="18" charset="2"/>
              </a:rPr>
              <a:t>3</a:t>
            </a:r>
            <a:r>
              <a:rPr lang="en-US" altLang="en-US" sz="2800" dirty="0">
                <a:sym typeface="Symbol" panose="05050102010706020507" pitchFamily="18" charset="2"/>
              </a:rPr>
              <a:t> = 1.05P</a:t>
            </a:r>
            <a:r>
              <a:rPr lang="en-US" altLang="en-US" sz="2800" baseline="-25000" dirty="0"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sym typeface="Symbol" panose="05050102010706020507" pitchFamily="18" charset="2"/>
              </a:rPr>
              <a:t> = (1.05)</a:t>
            </a:r>
            <a:r>
              <a:rPr lang="en-US" altLang="en-US" sz="2800" baseline="30000" dirty="0">
                <a:sym typeface="Symbol" panose="05050102010706020507" pitchFamily="18" charset="2"/>
              </a:rPr>
              <a:t>3</a:t>
            </a:r>
            <a:r>
              <a:rPr lang="en-US" altLang="en-US" sz="2800" dirty="0">
                <a:sym typeface="Symbol" panose="05050102010706020507" pitchFamily="18" charset="2"/>
              </a:rPr>
              <a:t>P</a:t>
            </a:r>
            <a:r>
              <a:rPr lang="en-US" altLang="en-US" sz="2800" baseline="-25000" dirty="0">
                <a:sym typeface="Symbol" panose="05050102010706020507" pitchFamily="18" charset="2"/>
              </a:rPr>
              <a:t>0</a:t>
            </a:r>
          </a:p>
          <a:p>
            <a:pPr marL="0" indent="0">
              <a:lnSpc>
                <a:spcPct val="90000"/>
              </a:lnSpc>
            </a:pPr>
            <a:r>
              <a:rPr lang="en-US" altLang="en-US" sz="2800" dirty="0">
                <a:sym typeface="Symbol" panose="05050102010706020507" pitchFamily="18" charset="2"/>
              </a:rPr>
              <a:t>…</a:t>
            </a:r>
          </a:p>
          <a:p>
            <a:pPr marL="0" indent="0">
              <a:lnSpc>
                <a:spcPct val="90000"/>
              </a:lnSpc>
            </a:pPr>
            <a:r>
              <a:rPr lang="en-US" altLang="en-US" sz="2800" dirty="0" err="1">
                <a:sym typeface="Symbol" panose="05050102010706020507" pitchFamily="18" charset="2"/>
              </a:rPr>
              <a:t>P</a:t>
            </a:r>
            <a:r>
              <a:rPr lang="en-US" altLang="en-US" sz="2800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2800" dirty="0">
                <a:sym typeface="Symbol" panose="05050102010706020507" pitchFamily="18" charset="2"/>
              </a:rPr>
              <a:t> = 1.05P</a:t>
            </a:r>
            <a:r>
              <a:rPr lang="en-US" altLang="en-US" sz="2800" baseline="-25000" dirty="0">
                <a:sym typeface="Symbol" panose="05050102010706020507" pitchFamily="18" charset="2"/>
              </a:rPr>
              <a:t>n-1</a:t>
            </a:r>
            <a:r>
              <a:rPr lang="en-US" altLang="en-US" sz="2800" dirty="0">
                <a:sym typeface="Symbol" panose="05050102010706020507" pitchFamily="18" charset="2"/>
              </a:rPr>
              <a:t> = (1.05)</a:t>
            </a:r>
            <a:r>
              <a:rPr lang="en-US" altLang="en-US" sz="2800" baseline="30000" dirty="0">
                <a:sym typeface="Symbol" panose="05050102010706020507" pitchFamily="18" charset="2"/>
              </a:rPr>
              <a:t>n</a:t>
            </a:r>
            <a:r>
              <a:rPr lang="en-US" altLang="en-US" sz="2800" dirty="0">
                <a:sym typeface="Symbol" panose="05050102010706020507" pitchFamily="18" charset="2"/>
              </a:rPr>
              <a:t>P</a:t>
            </a:r>
            <a:r>
              <a:rPr lang="en-US" altLang="en-US" sz="2800" baseline="-25000" dirty="0">
                <a:sym typeface="Symbol" panose="05050102010706020507" pitchFamily="18" charset="2"/>
              </a:rPr>
              <a:t>0</a:t>
            </a:r>
            <a:br>
              <a:rPr lang="en-US" altLang="en-US" sz="2800" baseline="-25000" dirty="0">
                <a:sym typeface="Symbol" panose="05050102010706020507" pitchFamily="18" charset="2"/>
              </a:rPr>
            </a:br>
            <a:endParaRPr lang="en-US" altLang="en-US" sz="2800" baseline="-25000" dirty="0">
              <a:sym typeface="Symbol" panose="05050102010706020507" pitchFamily="18" charset="2"/>
            </a:endParaRPr>
          </a:p>
          <a:p>
            <a:pPr marL="0" indent="0">
              <a:lnSpc>
                <a:spcPct val="90000"/>
              </a:lnSpc>
            </a:pPr>
            <a:r>
              <a:rPr lang="en-US" altLang="en-US" sz="2800" dirty="0">
                <a:sym typeface="Symbol" panose="05050102010706020507" pitchFamily="18" charset="2"/>
              </a:rPr>
              <a:t>We now have a </a:t>
            </a:r>
            <a:r>
              <a:rPr lang="en-US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formula</a:t>
            </a:r>
            <a:r>
              <a:rPr lang="en-US" altLang="en-US" sz="2800" dirty="0">
                <a:sym typeface="Symbol" panose="05050102010706020507" pitchFamily="18" charset="2"/>
              </a:rPr>
              <a:t> to calculate </a:t>
            </a:r>
            <a:r>
              <a:rPr lang="en-US" altLang="en-US" sz="2800" dirty="0" err="1">
                <a:sym typeface="Symbol" panose="05050102010706020507" pitchFamily="18" charset="2"/>
              </a:rPr>
              <a:t>P</a:t>
            </a:r>
            <a:r>
              <a:rPr lang="en-US" altLang="en-US" sz="2800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2800" dirty="0">
                <a:sym typeface="Symbol" panose="05050102010706020507" pitchFamily="18" charset="2"/>
              </a:rPr>
              <a:t> for any natural number n and can avoid the iteration.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4F553-9C03-487B-86F5-50E5846C8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7C489-A3F7-4533-8E40-E89E6E981A16}" type="slidenum">
              <a:rPr lang="en-CA" altLang="en-US"/>
              <a:pPr/>
              <a:t>8</a:t>
            </a:fld>
            <a:endParaRPr lang="en-CA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3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3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3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3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3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3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3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3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3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3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3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>
            <a:extLst>
              <a:ext uri="{FF2B5EF4-FFF2-40B4-BE49-F238E27FC236}">
                <a16:creationId xmlns:a16="http://schemas.microsoft.com/office/drawing/2014/main" id="{4DBA56C0-19F6-4B14-AB7C-2A44A47616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153400" cy="914400"/>
          </a:xfrm>
        </p:spPr>
        <p:txBody>
          <a:bodyPr>
            <a:normAutofit/>
          </a:bodyPr>
          <a:lstStyle/>
          <a:p>
            <a:r>
              <a:rPr lang="en-US" altLang="en-US" sz="3600"/>
              <a:t>Modeling with Recurrence Relations</a:t>
            </a:r>
            <a:endParaRPr lang="en-CA" altLang="en-US" sz="3600"/>
          </a:p>
        </p:txBody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A1F38626-3AAD-47BE-B940-49289A46AA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600200"/>
            <a:ext cx="8534400" cy="4648200"/>
          </a:xfrm>
        </p:spPr>
        <p:txBody>
          <a:bodyPr/>
          <a:lstStyle/>
          <a:p>
            <a:pPr marL="0" indent="0"/>
            <a:r>
              <a:rPr lang="en-US" altLang="en-US" sz="2800">
                <a:sym typeface="Symbol" panose="05050102010706020507" pitchFamily="18" charset="2"/>
              </a:rPr>
              <a:t>Let us use this formula to find P</a:t>
            </a:r>
            <a:r>
              <a:rPr lang="en-US" altLang="en-US" sz="2800" baseline="-25000">
                <a:sym typeface="Symbol" panose="05050102010706020507" pitchFamily="18" charset="2"/>
              </a:rPr>
              <a:t>30</a:t>
            </a:r>
            <a:r>
              <a:rPr lang="en-US" altLang="en-US" sz="2800">
                <a:sym typeface="Symbol" panose="05050102010706020507" pitchFamily="18" charset="2"/>
              </a:rPr>
              <a:t> under the</a:t>
            </a:r>
          </a:p>
          <a:p>
            <a:pPr marL="0" indent="0"/>
            <a:r>
              <a:rPr lang="en-US" altLang="en-US" sz="2800">
                <a:sym typeface="Symbol" panose="05050102010706020507" pitchFamily="18" charset="2"/>
              </a:rPr>
              <a:t>initial condition P</a:t>
            </a:r>
            <a:r>
              <a:rPr lang="en-US" altLang="en-US" sz="2800" baseline="-25000">
                <a:sym typeface="Symbol" panose="05050102010706020507" pitchFamily="18" charset="2"/>
              </a:rPr>
              <a:t>0</a:t>
            </a:r>
            <a:r>
              <a:rPr lang="en-US" altLang="en-US" sz="2800">
                <a:sym typeface="Symbol" panose="05050102010706020507" pitchFamily="18" charset="2"/>
              </a:rPr>
              <a:t> = 10,000:</a:t>
            </a:r>
          </a:p>
          <a:p>
            <a:pPr marL="0" indent="0"/>
            <a:endParaRPr lang="en-US" altLang="en-US" sz="2800">
              <a:sym typeface="Symbol" panose="05050102010706020507" pitchFamily="18" charset="2"/>
            </a:endParaRPr>
          </a:p>
          <a:p>
            <a:pPr marL="0" indent="0"/>
            <a:r>
              <a:rPr lang="en-US" altLang="en-US" sz="2800">
                <a:sym typeface="Symbol" panose="05050102010706020507" pitchFamily="18" charset="2"/>
              </a:rPr>
              <a:t>P</a:t>
            </a:r>
            <a:r>
              <a:rPr lang="en-US" altLang="en-US" sz="2800" baseline="-25000">
                <a:sym typeface="Symbol" panose="05050102010706020507" pitchFamily="18" charset="2"/>
              </a:rPr>
              <a:t>30</a:t>
            </a:r>
            <a:r>
              <a:rPr lang="en-US" altLang="en-US" sz="2800">
                <a:sym typeface="Symbol" panose="05050102010706020507" pitchFamily="18" charset="2"/>
              </a:rPr>
              <a:t> = (1.05)</a:t>
            </a:r>
            <a:r>
              <a:rPr lang="en-US" altLang="en-US" sz="2800" baseline="30000">
                <a:sym typeface="Symbol" panose="05050102010706020507" pitchFamily="18" charset="2"/>
              </a:rPr>
              <a:t>30</a:t>
            </a:r>
            <a:r>
              <a:rPr lang="en-US" altLang="en-US" sz="2800">
                <a:sym typeface="Symbol" panose="05050102010706020507" pitchFamily="18" charset="2"/>
              </a:rPr>
              <a:t>10,000 = 43,219.42</a:t>
            </a:r>
          </a:p>
          <a:p>
            <a:pPr marL="0" indent="0"/>
            <a:endParaRPr lang="en-US" altLang="en-US" sz="2800" baseline="-25000">
              <a:sym typeface="Symbol" panose="05050102010706020507" pitchFamily="18" charset="2"/>
            </a:endParaRPr>
          </a:p>
          <a:p>
            <a:pPr marL="0" indent="0"/>
            <a:br>
              <a:rPr lang="en-US" altLang="en-US" sz="2800" baseline="-25000">
                <a:sym typeface="Symbol" panose="05050102010706020507" pitchFamily="18" charset="2"/>
              </a:rPr>
            </a:br>
            <a:r>
              <a:rPr lang="en-US" altLang="en-US" sz="2800">
                <a:sym typeface="Symbol" panose="05050102010706020507" pitchFamily="18" charset="2"/>
              </a:rPr>
              <a:t>After 30 years, the account contains $43,219.42.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E8B80-EB12-4EF3-8DFC-DC99863E1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CA85D-58C5-4C1F-B9B3-CC3B81585753}" type="slidenum">
              <a:rPr lang="en-CA" altLang="en-US"/>
              <a:pPr/>
              <a:t>9</a:t>
            </a:fld>
            <a:endParaRPr lang="en-CA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6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6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6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6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6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6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6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6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5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D18EBFEA-7D20-4F15-8F2F-61F0B0AE5F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90500"/>
            <a:ext cx="8382000" cy="1181100"/>
          </a:xfrm>
        </p:spPr>
        <p:txBody>
          <a:bodyPr/>
          <a:lstStyle/>
          <a:p>
            <a:pPr algn="ctr"/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Towers of Hanoi</a:t>
            </a:r>
          </a:p>
        </p:txBody>
      </p:sp>
      <p:sp>
        <p:nvSpPr>
          <p:cNvPr id="103429" name="Rectangle 5">
            <a:extLst>
              <a:ext uri="{FF2B5EF4-FFF2-40B4-BE49-F238E27FC236}">
                <a16:creationId xmlns:a16="http://schemas.microsoft.com/office/drawing/2014/main" id="{741A5EAB-E8CB-4A6E-80BD-BE068B1BFA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752600"/>
            <a:ext cx="7848600" cy="47244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Start with three pegs numbered 1, 2 and 3 mounted on a board, n disks of different sizes with holes in their centers, placed in order of increasing size from top to bottom.</a:t>
            </a:r>
          </a:p>
          <a:p>
            <a:pPr>
              <a:lnSpc>
                <a:spcPct val="80000"/>
              </a:lnSpc>
            </a:pPr>
            <a:r>
              <a:rPr lang="en-US" altLang="en-US">
                <a:latin typeface="Arial" panose="020B0604020202020204" pitchFamily="34" charset="0"/>
              </a:rPr>
              <a:t>Object of the game: find the minimum number of moves needed to have all n disks stacked in the same order in peg number 3.</a:t>
            </a:r>
          </a:p>
        </p:txBody>
      </p:sp>
      <p:pic>
        <p:nvPicPr>
          <p:cNvPr id="103430" name="Picture 6">
            <a:extLst>
              <a:ext uri="{FF2B5EF4-FFF2-40B4-BE49-F238E27FC236}">
                <a16:creationId xmlns:a16="http://schemas.microsoft.com/office/drawing/2014/main" id="{24123FD5-FCEF-4A5D-A6AE-BC2D51FECE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4572000"/>
            <a:ext cx="2895600" cy="1852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>
            <a:extLst>
              <a:ext uri="{FF2B5EF4-FFF2-40B4-BE49-F238E27FC236}">
                <a16:creationId xmlns:a16="http://schemas.microsoft.com/office/drawing/2014/main" id="{E4FB1803-7B45-4990-9A57-42DE38387E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4000">
                <a:solidFill>
                  <a:schemeClr val="tx1"/>
                </a:solidFill>
                <a:latin typeface="Arial" panose="020B0604020202020204" pitchFamily="34" charset="0"/>
              </a:rPr>
              <a:t>Rules of the game: Hanoi towers</a:t>
            </a:r>
          </a:p>
        </p:txBody>
      </p:sp>
      <p:sp>
        <p:nvSpPr>
          <p:cNvPr id="311299" name="Rectangle 3">
            <a:extLst>
              <a:ext uri="{FF2B5EF4-FFF2-40B4-BE49-F238E27FC236}">
                <a16:creationId xmlns:a16="http://schemas.microsoft.com/office/drawing/2014/main" id="{AFEED9B4-9A03-47CE-B8EB-628241B112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667000"/>
            <a:ext cx="8229600" cy="34639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Start with all disks stacked in peg 1 with the smallest at the top and the largest at the bottom</a:t>
            </a:r>
          </a:p>
          <a:p>
            <a:pPr lvl="1"/>
            <a:r>
              <a:rPr lang="en-US" altLang="en-US" sz="2800">
                <a:latin typeface="Arial" panose="020B0604020202020204" pitchFamily="34" charset="0"/>
              </a:rPr>
              <a:t>Use peg number 2 for intermediate steps</a:t>
            </a:r>
          </a:p>
          <a:p>
            <a:pPr lvl="1"/>
            <a:r>
              <a:rPr lang="en-US" altLang="en-US" sz="2800">
                <a:latin typeface="Arial" panose="020B0604020202020204" pitchFamily="34" charset="0"/>
              </a:rPr>
              <a:t>Only a disk of smaller diameter can be placed on top of another disk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D9CFD7A1-2842-4DA0-A96A-3EA300643E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0"/>
            <a:ext cx="8686800" cy="417513"/>
          </a:xfrm>
        </p:spPr>
        <p:txBody>
          <a:bodyPr/>
          <a:lstStyle/>
          <a:p>
            <a:r>
              <a:rPr lang="en-US" altLang="en-US" sz="2400"/>
              <a:t>Analysis Of Recursive Towers of Hanoi Algorithm</a:t>
            </a: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14816F6F-50A1-4289-B31D-1FF4B9D01C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81075"/>
            <a:ext cx="8785225" cy="5545138"/>
          </a:xfrm>
        </p:spPr>
        <p:txBody>
          <a:bodyPr/>
          <a:lstStyle/>
          <a:p>
            <a:pPr marL="381000" indent="-381000"/>
            <a:endParaRPr lang="en-US" altLang="en-US" sz="2400"/>
          </a:p>
          <a:p>
            <a:pPr marL="381000" indent="-381000"/>
            <a:endParaRPr lang="en-US" altLang="en-US" sz="2400"/>
          </a:p>
          <a:p>
            <a:pPr marL="381000" indent="-381000"/>
            <a:endParaRPr lang="en-US" altLang="en-US" sz="2400"/>
          </a:p>
          <a:p>
            <a:pPr marL="381000" indent="-381000"/>
            <a:endParaRPr lang="en-US" altLang="en-US" sz="2400"/>
          </a:p>
          <a:p>
            <a:pPr marL="381000" indent="-381000"/>
            <a:endParaRPr lang="en-US" altLang="en-US" sz="2400"/>
          </a:p>
          <a:p>
            <a:pPr marL="381000" indent="-381000"/>
            <a:endParaRPr lang="en-US" altLang="en-US" sz="2400"/>
          </a:p>
          <a:p>
            <a:pPr marL="381000" indent="-381000"/>
            <a:endParaRPr lang="en-US" altLang="en-US" sz="2400"/>
          </a:p>
          <a:p>
            <a:pPr marL="381000" indent="-381000"/>
            <a:endParaRPr lang="en-US" altLang="en-US" sz="2400"/>
          </a:p>
          <a:p>
            <a:pPr marL="381000" indent="-381000"/>
            <a:r>
              <a:rPr lang="en-US" altLang="en-US" sz="2400"/>
              <a:t>The recurrence relation for the running time of the method </a:t>
            </a:r>
            <a:r>
              <a:rPr lang="en-US" altLang="en-US" sz="2400" b="1"/>
              <a:t>hanoi</a:t>
            </a:r>
            <a:r>
              <a:rPr lang="en-US" altLang="en-US" sz="2400"/>
              <a:t> is:</a:t>
            </a:r>
          </a:p>
          <a:p>
            <a:pPr marL="838200" lvl="1" indent="-381000">
              <a:buFontTx/>
              <a:buNone/>
            </a:pPr>
            <a:r>
              <a:rPr lang="en-US" altLang="en-US" sz="2400"/>
              <a:t>	T(n)  = a	  		 if n = 1</a:t>
            </a:r>
          </a:p>
          <a:p>
            <a:pPr marL="838200" lvl="1" indent="-381000">
              <a:buFontTx/>
              <a:buNone/>
            </a:pPr>
            <a:r>
              <a:rPr lang="en-US" altLang="en-US" sz="2400"/>
              <a:t>	T(n)  =  2T(n - 1) +  b	 if n &gt; 1</a:t>
            </a:r>
          </a:p>
        </p:txBody>
      </p:sp>
      <p:sp>
        <p:nvSpPr>
          <p:cNvPr id="90117" name="Rectangle 5">
            <a:extLst>
              <a:ext uri="{FF2B5EF4-FFF2-40B4-BE49-F238E27FC236}">
                <a16:creationId xmlns:a16="http://schemas.microsoft.com/office/drawing/2014/main" id="{9B37D6F5-3832-4BAC-8BF7-2B0B5D9E7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379538"/>
            <a:ext cx="8785225" cy="256381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rtl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 rtl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rtl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rtl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rtl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public static void hanoi(int n, char from, char to, char temp){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if (n == 1)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System.out.println(from + " --------&gt; " + to);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else{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hanoi(n - 1, from, temp, to);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System.out.println(from + " --------&gt; " + to);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hanoi(n - 1, temp, to, from);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		</a:t>
            </a:r>
          </a:p>
        </p:txBody>
      </p:sp>
    </p:spTree>
    <p:extLst>
      <p:ext uri="{BB962C8B-B14F-4D97-AF65-F5344CB8AC3E}">
        <p14:creationId xmlns:p14="http://schemas.microsoft.com/office/powerpoint/2010/main" val="3345215315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>
            <a:extLst>
              <a:ext uri="{FF2B5EF4-FFF2-40B4-BE49-F238E27FC236}">
                <a16:creationId xmlns:a16="http://schemas.microsoft.com/office/drawing/2014/main" id="{477E85CD-EFA0-4982-B7A9-E5618B845C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6973" y="46504"/>
            <a:ext cx="7290054" cy="1004271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End of game: Hanoi towers</a:t>
            </a:r>
          </a:p>
        </p:txBody>
      </p:sp>
      <p:sp>
        <p:nvSpPr>
          <p:cNvPr id="315395" name="Rectangle 3">
            <a:extLst>
              <a:ext uri="{FF2B5EF4-FFF2-40B4-BE49-F238E27FC236}">
                <a16:creationId xmlns:a16="http://schemas.microsoft.com/office/drawing/2014/main" id="{FF2C12F3-0317-4CA5-9E38-B5ECCA3F61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en-US" sz="2000" dirty="0">
                <a:latin typeface="Arial" panose="020B0604020202020204" pitchFamily="34" charset="0"/>
              </a:rPr>
              <a:t>Game ends when all disks are stacked in peg number 3 in the same order they were stored at the start in peg number 1.</a:t>
            </a:r>
          </a:p>
          <a:p>
            <a:pPr lvl="1"/>
            <a:r>
              <a:rPr lang="en-US" altLang="en-US" sz="2000" dirty="0">
                <a:latin typeface="Arial" panose="020B0604020202020204" pitchFamily="34" charset="0"/>
              </a:rPr>
              <a:t>Verify that the minimum number of moves needed is the Catalan number C</a:t>
            </a:r>
            <a:r>
              <a:rPr lang="en-US" altLang="en-US" sz="2000" baseline="-25000" dirty="0">
                <a:latin typeface="Arial" panose="020B0604020202020204" pitchFamily="34" charset="0"/>
              </a:rPr>
              <a:t>3</a:t>
            </a:r>
            <a:r>
              <a:rPr lang="en-US" altLang="en-US" sz="2000" dirty="0">
                <a:latin typeface="Arial" panose="020B0604020202020204" pitchFamily="34" charset="0"/>
              </a:rPr>
              <a:t> = 5.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800" dirty="0">
                <a:latin typeface="Arial" panose="020B0604020202020204" pitchFamily="34" charset="0"/>
              </a:rPr>
              <a:t>Start                                                        End</a:t>
            </a:r>
          </a:p>
          <a:p>
            <a:endParaRPr lang="en-US" altLang="en-US" dirty="0"/>
          </a:p>
        </p:txBody>
      </p:sp>
      <p:pic>
        <p:nvPicPr>
          <p:cNvPr id="315396" name="Picture 4">
            <a:extLst>
              <a:ext uri="{FF2B5EF4-FFF2-40B4-BE49-F238E27FC236}">
                <a16:creationId xmlns:a16="http://schemas.microsoft.com/office/drawing/2014/main" id="{5071E6BF-51B1-4F67-8574-5AF185EC48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4574" y="4913929"/>
            <a:ext cx="2819400" cy="193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397" name="Picture 5">
            <a:extLst>
              <a:ext uri="{FF2B5EF4-FFF2-40B4-BE49-F238E27FC236}">
                <a16:creationId xmlns:a16="http://schemas.microsoft.com/office/drawing/2014/main" id="{C0EABB29-7453-49F6-9C7C-81D0377B22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69" y="4860138"/>
            <a:ext cx="3200400" cy="1852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8335F2F-4E3B-4173-A4F8-7D9AC139597B}"/>
              </a:ext>
            </a:extLst>
          </p:cNvPr>
          <p:cNvSpPr/>
          <p:nvPr/>
        </p:nvSpPr>
        <p:spPr>
          <a:xfrm>
            <a:off x="539552" y="1050775"/>
            <a:ext cx="6278198" cy="1004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What is the recurrence?? </a:t>
            </a:r>
          </a:p>
          <a:p>
            <a:pPr algn="ctr"/>
            <a:r>
              <a:rPr lang="en-US" sz="3200" dirty="0"/>
              <a:t>What are the boundary conditions??</a:t>
            </a:r>
            <a:endParaRPr lang="en-IN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F8C5C4-52EF-44AB-9690-D1B79AEF73F4}"/>
              </a:ext>
            </a:extLst>
          </p:cNvPr>
          <p:cNvSpPr/>
          <p:nvPr/>
        </p:nvSpPr>
        <p:spPr>
          <a:xfrm>
            <a:off x="926973" y="3922734"/>
            <a:ext cx="3200400" cy="82192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T(1) = 1</a:t>
            </a:r>
          </a:p>
          <a:p>
            <a:pPr algn="ctr"/>
            <a:r>
              <a:rPr lang="en-US" dirty="0"/>
              <a:t>T(n)= 2T(n-1)+1, n&gt;=2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887E4C-24DD-4B4F-8EE3-A4EA95D15B5E}"/>
              </a:ext>
            </a:extLst>
          </p:cNvPr>
          <p:cNvSpPr/>
          <p:nvPr/>
        </p:nvSpPr>
        <p:spPr>
          <a:xfrm>
            <a:off x="4286250" y="3922734"/>
            <a:ext cx="4678238" cy="8219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Solution- T(n)=2</a:t>
            </a:r>
            <a:r>
              <a:rPr lang="en-US" sz="2400" baseline="30000" dirty="0"/>
              <a:t>n</a:t>
            </a:r>
            <a:r>
              <a:rPr lang="en-US" sz="2400" dirty="0"/>
              <a:t>-1. How to prove it?? Use Mathematical Induction</a:t>
            </a: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AED6228C-DAA6-4851-9A6E-A76230C249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153400" cy="914400"/>
          </a:xfrm>
        </p:spPr>
        <p:txBody>
          <a:bodyPr>
            <a:normAutofit/>
          </a:bodyPr>
          <a:lstStyle/>
          <a:p>
            <a:r>
              <a:rPr lang="en-US" altLang="en-US" sz="3600"/>
              <a:t>Modeling with Recurrence Relations</a:t>
            </a:r>
            <a:endParaRPr lang="en-CA" altLang="en-US" sz="3600"/>
          </a:p>
        </p:txBody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A4D6CD4B-00BF-4AB3-BBED-CC0AA0DB11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066800"/>
            <a:ext cx="8534400" cy="5410200"/>
          </a:xfrm>
        </p:spPr>
        <p:txBody>
          <a:bodyPr>
            <a:normAutofit/>
          </a:bodyPr>
          <a:lstStyle/>
          <a:p>
            <a:pPr marL="0" indent="0"/>
            <a:r>
              <a:rPr lang="en-US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Another example:</a:t>
            </a:r>
            <a:r>
              <a:rPr lang="en-US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</a:p>
          <a:p>
            <a:pPr marL="0" indent="0"/>
            <a:r>
              <a:rPr lang="en-US" altLang="en-US" sz="2800" dirty="0">
                <a:sym typeface="Symbol" panose="05050102010706020507" pitchFamily="18" charset="2"/>
              </a:rPr>
              <a:t>Let a</a:t>
            </a:r>
            <a:r>
              <a:rPr lang="en-US" altLang="en-US" sz="2800" baseline="-25000" dirty="0">
                <a:sym typeface="Symbol" panose="05050102010706020507" pitchFamily="18" charset="2"/>
              </a:rPr>
              <a:t>n</a:t>
            </a:r>
            <a:r>
              <a:rPr lang="en-US" altLang="en-US" sz="2800" dirty="0">
                <a:sym typeface="Symbol" panose="05050102010706020507" pitchFamily="18" charset="2"/>
              </a:rPr>
              <a:t> denote the number of bit strings of length n that do not have two consecutive 0s (“valid strings”). Find a recurrence relation and give initial conditions for the sequence {a</a:t>
            </a:r>
            <a:r>
              <a:rPr lang="en-US" altLang="en-US" sz="2800" baseline="-25000" dirty="0">
                <a:sym typeface="Symbol" panose="05050102010706020507" pitchFamily="18" charset="2"/>
              </a:rPr>
              <a:t>n</a:t>
            </a:r>
            <a:r>
              <a:rPr lang="en-US" altLang="en-US" sz="2800" dirty="0">
                <a:sym typeface="Symbol" panose="05050102010706020507" pitchFamily="18" charset="2"/>
              </a:rPr>
              <a:t>}.</a:t>
            </a:r>
          </a:p>
          <a:p>
            <a:pPr marL="0" indent="0"/>
            <a:endParaRPr lang="en-US" altLang="en-US" sz="1600" dirty="0">
              <a:sym typeface="Symbol" panose="05050102010706020507" pitchFamily="18" charset="2"/>
            </a:endParaRPr>
          </a:p>
          <a:p>
            <a:pPr marL="0" indent="0"/>
            <a:r>
              <a:rPr lang="en-US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Solution:</a:t>
            </a:r>
          </a:p>
          <a:p>
            <a:pPr marL="0" indent="0"/>
            <a:r>
              <a:rPr lang="en-US" altLang="en-US" sz="2800" dirty="0">
                <a:sym typeface="Symbol" panose="05050102010706020507" pitchFamily="18" charset="2"/>
              </a:rPr>
              <a:t>Idea: The number of valid strings equals the number of valid strings ending with a 0 plus the number of valid strings ending with a 1.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B95D7-962C-4509-98B6-FE5AED3B2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AABEE-58A0-44B1-88AA-6F9E56BB2702}" type="slidenum">
              <a:rPr lang="en-CA" altLang="en-US"/>
              <a:pPr/>
              <a:t>14</a:t>
            </a:fld>
            <a:endParaRPr lang="en-CA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5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5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5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5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5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5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1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91C4DD28-257A-42A4-8406-5C7634824C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153400" cy="914400"/>
          </a:xfrm>
        </p:spPr>
        <p:txBody>
          <a:bodyPr>
            <a:normAutofit/>
          </a:bodyPr>
          <a:lstStyle/>
          <a:p>
            <a:r>
              <a:rPr lang="en-US" altLang="en-US" sz="3600"/>
              <a:t>Modeling with Recurrence Relations</a:t>
            </a:r>
            <a:endParaRPr lang="en-CA" altLang="en-US" sz="3600"/>
          </a:p>
        </p:txBody>
      </p:sp>
      <p:sp>
        <p:nvSpPr>
          <p:cNvPr id="137219" name="Rectangle 3">
            <a:extLst>
              <a:ext uri="{FF2B5EF4-FFF2-40B4-BE49-F238E27FC236}">
                <a16:creationId xmlns:a16="http://schemas.microsoft.com/office/drawing/2014/main" id="{717EE054-DCB9-4828-B913-D72CB46BE4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914400"/>
            <a:ext cx="8534400" cy="5334000"/>
          </a:xfrm>
        </p:spPr>
        <p:txBody>
          <a:bodyPr>
            <a:normAutofit/>
          </a:bodyPr>
          <a:lstStyle/>
          <a:p>
            <a:pPr marL="0" indent="0"/>
            <a:r>
              <a:rPr lang="en-US" altLang="en-US" sz="2800">
                <a:sym typeface="Symbol" panose="05050102010706020507" pitchFamily="18" charset="2"/>
              </a:rPr>
              <a:t>Let us assume that n  3, so that the string contains at least 3 bits.</a:t>
            </a:r>
          </a:p>
          <a:p>
            <a:pPr marL="0" indent="0"/>
            <a:r>
              <a:rPr lang="en-US" altLang="en-US" sz="2800">
                <a:sym typeface="Symbol" panose="05050102010706020507" pitchFamily="18" charset="2"/>
              </a:rPr>
              <a:t>Let us further assume that we know the number a</a:t>
            </a:r>
            <a:r>
              <a:rPr lang="en-US" altLang="en-US" sz="2800" baseline="-25000">
                <a:sym typeface="Symbol" panose="05050102010706020507" pitchFamily="18" charset="2"/>
              </a:rPr>
              <a:t>n-1</a:t>
            </a:r>
            <a:r>
              <a:rPr lang="en-US" altLang="en-US" sz="2800">
                <a:sym typeface="Symbol" panose="05050102010706020507" pitchFamily="18" charset="2"/>
              </a:rPr>
              <a:t> of valid strings of length (n – 1). </a:t>
            </a:r>
          </a:p>
          <a:p>
            <a:pPr marL="0" indent="0"/>
            <a:r>
              <a:rPr lang="en-US" altLang="en-US" sz="2800">
                <a:sym typeface="Symbol" panose="05050102010706020507" pitchFamily="18" charset="2"/>
              </a:rPr>
              <a:t>Then how many valid strings of length n are there, if the string ends with a 1?</a:t>
            </a:r>
          </a:p>
          <a:p>
            <a:pPr marL="0" indent="0"/>
            <a:r>
              <a:rPr lang="en-US" altLang="en-US" sz="2800">
                <a:sym typeface="Symbol" panose="05050102010706020507" pitchFamily="18" charset="2"/>
              </a:rPr>
              <a:t>There are a</a:t>
            </a:r>
            <a:r>
              <a:rPr lang="en-US" altLang="en-US" sz="2800" baseline="-25000">
                <a:sym typeface="Symbol" panose="05050102010706020507" pitchFamily="18" charset="2"/>
              </a:rPr>
              <a:t>n-1</a:t>
            </a:r>
            <a:r>
              <a:rPr lang="en-US" altLang="en-US" sz="2800">
                <a:sym typeface="Symbol" panose="05050102010706020507" pitchFamily="18" charset="2"/>
              </a:rPr>
              <a:t> such strings, namely the set of valid strings of length (n – 1) with a 1 appended to them.</a:t>
            </a:r>
          </a:p>
          <a:p>
            <a:pPr marL="0" indent="0"/>
            <a:r>
              <a:rPr lang="en-US" altLang="en-US" sz="2800" b="1">
                <a:solidFill>
                  <a:srgbClr val="FF3300"/>
                </a:solidFill>
                <a:sym typeface="Symbol" panose="05050102010706020507" pitchFamily="18" charset="2"/>
              </a:rPr>
              <a:t>Note:</a:t>
            </a:r>
            <a:r>
              <a:rPr lang="en-US" altLang="en-US" sz="2800">
                <a:sym typeface="Symbol" panose="05050102010706020507" pitchFamily="18" charset="2"/>
              </a:rPr>
              <a:t> Whenever we append a 1 to a valid string, that string remains valid.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7E629-A240-4CEC-B2E5-10A62025F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DF50C-D677-4FA4-BB90-1339A7178D28}" type="slidenum">
              <a:rPr lang="en-CA" altLang="en-US"/>
              <a:pPr/>
              <a:t>15</a:t>
            </a:fld>
            <a:endParaRPr lang="en-CA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7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7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7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7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19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>
            <a:extLst>
              <a:ext uri="{FF2B5EF4-FFF2-40B4-BE49-F238E27FC236}">
                <a16:creationId xmlns:a16="http://schemas.microsoft.com/office/drawing/2014/main" id="{FF31202D-6023-4AA2-B77A-63C98292C8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153400" cy="914400"/>
          </a:xfrm>
        </p:spPr>
        <p:txBody>
          <a:bodyPr>
            <a:normAutofit/>
          </a:bodyPr>
          <a:lstStyle/>
          <a:p>
            <a:r>
              <a:rPr lang="en-US" altLang="en-US" sz="3600"/>
              <a:t>Modeling with Recurrence Relations</a:t>
            </a:r>
            <a:endParaRPr lang="en-CA" altLang="en-US" sz="3600"/>
          </a:p>
        </p:txBody>
      </p:sp>
      <p:sp>
        <p:nvSpPr>
          <p:cNvPr id="138243" name="Rectangle 3">
            <a:extLst>
              <a:ext uri="{FF2B5EF4-FFF2-40B4-BE49-F238E27FC236}">
                <a16:creationId xmlns:a16="http://schemas.microsoft.com/office/drawing/2014/main" id="{1D1F29D4-7D47-4BC7-8894-A8051E429B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990600"/>
            <a:ext cx="8534400" cy="5410200"/>
          </a:xfrm>
        </p:spPr>
        <p:txBody>
          <a:bodyPr>
            <a:normAutofit/>
          </a:bodyPr>
          <a:lstStyle/>
          <a:p>
            <a:pPr marL="0" indent="0"/>
            <a:r>
              <a:rPr lang="en-US" altLang="en-US" sz="2800" dirty="0">
                <a:sym typeface="Symbol" panose="05050102010706020507" pitchFamily="18" charset="2"/>
              </a:rPr>
              <a:t>Now we need to know: How many valid strings of length n are there, if the string ends with a </a:t>
            </a:r>
            <a:r>
              <a:rPr lang="en-US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0</a:t>
            </a:r>
            <a:r>
              <a:rPr lang="en-US" altLang="en-US" sz="2800" dirty="0">
                <a:sym typeface="Symbol" panose="05050102010706020507" pitchFamily="18" charset="2"/>
              </a:rPr>
              <a:t>?</a:t>
            </a:r>
          </a:p>
          <a:p>
            <a:pPr marL="0" indent="0"/>
            <a:r>
              <a:rPr lang="en-US" altLang="en-US" sz="2800" dirty="0">
                <a:sym typeface="Symbol" panose="05050102010706020507" pitchFamily="18" charset="2"/>
              </a:rPr>
              <a:t>Valid strings of length n ending with a 0 </a:t>
            </a:r>
            <a:r>
              <a:rPr lang="en-US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must have a 1 as their (n – 1)</a:t>
            </a:r>
            <a:r>
              <a:rPr lang="en-US" altLang="en-US" sz="2800" b="1" dirty="0" err="1">
                <a:solidFill>
                  <a:srgbClr val="FF0000"/>
                </a:solidFill>
                <a:sym typeface="Symbol" panose="05050102010706020507" pitchFamily="18" charset="2"/>
              </a:rPr>
              <a:t>st</a:t>
            </a:r>
            <a:r>
              <a:rPr lang="en-US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 bit</a:t>
            </a:r>
            <a:r>
              <a:rPr lang="en-US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dirty="0">
                <a:sym typeface="Symbol" panose="05050102010706020507" pitchFamily="18" charset="2"/>
              </a:rPr>
              <a:t>(otherwise they would end with 00 and would not be valid).</a:t>
            </a:r>
          </a:p>
          <a:p>
            <a:pPr marL="0" indent="0"/>
            <a:r>
              <a:rPr lang="en-US" altLang="en-US" sz="2800" dirty="0">
                <a:sym typeface="Symbol" panose="05050102010706020507" pitchFamily="18" charset="2"/>
              </a:rPr>
              <a:t>And what is the number of valid strings of length (n – 1) that end with a 1?</a:t>
            </a:r>
          </a:p>
          <a:p>
            <a:pPr marL="0" indent="0"/>
            <a:r>
              <a:rPr lang="en-US" altLang="en-US" sz="2800" dirty="0">
                <a:sym typeface="Symbol" panose="05050102010706020507" pitchFamily="18" charset="2"/>
              </a:rPr>
              <a:t>We already know that there are a</a:t>
            </a:r>
            <a:r>
              <a:rPr lang="en-US" altLang="en-US" sz="2800" baseline="-25000" dirty="0">
                <a:sym typeface="Symbol" panose="05050102010706020507" pitchFamily="18" charset="2"/>
              </a:rPr>
              <a:t>n-1</a:t>
            </a:r>
            <a:r>
              <a:rPr lang="en-US" altLang="en-US" sz="2800" dirty="0">
                <a:sym typeface="Symbol" panose="05050102010706020507" pitchFamily="18" charset="2"/>
              </a:rPr>
              <a:t> strings of length n that end with a 1.</a:t>
            </a:r>
          </a:p>
          <a:p>
            <a:pPr marL="0" indent="0"/>
            <a:r>
              <a:rPr lang="en-US" altLang="en-US" sz="2800" dirty="0">
                <a:sym typeface="Symbol" panose="05050102010706020507" pitchFamily="18" charset="2"/>
              </a:rPr>
              <a:t>Therefore, there are a</a:t>
            </a:r>
            <a:r>
              <a:rPr lang="en-US" altLang="en-US" sz="2800" baseline="-25000" dirty="0">
                <a:sym typeface="Symbol" panose="05050102010706020507" pitchFamily="18" charset="2"/>
              </a:rPr>
              <a:t>n-2</a:t>
            </a:r>
            <a:r>
              <a:rPr lang="en-US" altLang="en-US" sz="2800" dirty="0">
                <a:sym typeface="Symbol" panose="05050102010706020507" pitchFamily="18" charset="2"/>
              </a:rPr>
              <a:t> strings of length (n – 1) that end with a 1.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FB63F-3280-48A2-A6BF-B7AB3A1A3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7C231-2BD0-44A8-B956-F00BC55C3933}" type="slidenum">
              <a:rPr lang="en-CA" altLang="en-US"/>
              <a:pPr/>
              <a:t>16</a:t>
            </a:fld>
            <a:endParaRPr lang="en-CA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8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8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8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8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8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8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8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8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3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>
            <a:extLst>
              <a:ext uri="{FF2B5EF4-FFF2-40B4-BE49-F238E27FC236}">
                <a16:creationId xmlns:a16="http://schemas.microsoft.com/office/drawing/2014/main" id="{974B46D5-6110-4D83-A2C5-26F6F43CDA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153400" cy="914400"/>
          </a:xfrm>
        </p:spPr>
        <p:txBody>
          <a:bodyPr>
            <a:normAutofit/>
          </a:bodyPr>
          <a:lstStyle/>
          <a:p>
            <a:r>
              <a:rPr lang="en-US" altLang="en-US" sz="3600"/>
              <a:t>Modeling with Recurrence Relations</a:t>
            </a:r>
            <a:endParaRPr lang="en-CA" altLang="en-US" sz="3600"/>
          </a:p>
        </p:txBody>
      </p:sp>
      <p:sp>
        <p:nvSpPr>
          <p:cNvPr id="139267" name="Rectangle 3">
            <a:extLst>
              <a:ext uri="{FF2B5EF4-FFF2-40B4-BE49-F238E27FC236}">
                <a16:creationId xmlns:a16="http://schemas.microsoft.com/office/drawing/2014/main" id="{626CE759-AC90-4AC7-96BD-E0C6E5DEAE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219200"/>
            <a:ext cx="8534400" cy="5257800"/>
          </a:xfrm>
        </p:spPr>
        <p:txBody>
          <a:bodyPr>
            <a:normAutofit/>
          </a:bodyPr>
          <a:lstStyle/>
          <a:p>
            <a:pPr marL="0" indent="0"/>
            <a:r>
              <a:rPr lang="en-US" altLang="en-US" sz="2800" dirty="0">
                <a:sym typeface="Symbol" panose="05050102010706020507" pitchFamily="18" charset="2"/>
              </a:rPr>
              <a:t>So there are a</a:t>
            </a:r>
            <a:r>
              <a:rPr lang="en-US" altLang="en-US" sz="2800" baseline="-25000" dirty="0">
                <a:sym typeface="Symbol" panose="05050102010706020507" pitchFamily="18" charset="2"/>
              </a:rPr>
              <a:t>n-2</a:t>
            </a:r>
            <a:r>
              <a:rPr lang="en-US" altLang="en-US" sz="2800" dirty="0">
                <a:sym typeface="Symbol" panose="05050102010706020507" pitchFamily="18" charset="2"/>
              </a:rPr>
              <a:t> valid strings of length n that end with a 0 (all valid strings of length (n – 2) with 10 appended to them).</a:t>
            </a:r>
          </a:p>
          <a:p>
            <a:pPr marL="0" indent="0"/>
            <a:endParaRPr lang="en-US" altLang="en-US" sz="1600" dirty="0">
              <a:sym typeface="Symbol" panose="05050102010706020507" pitchFamily="18" charset="2"/>
            </a:endParaRPr>
          </a:p>
          <a:p>
            <a:pPr marL="0" indent="0"/>
            <a:r>
              <a:rPr lang="en-US" altLang="en-US" sz="2800" dirty="0">
                <a:sym typeface="Symbol" panose="05050102010706020507" pitchFamily="18" charset="2"/>
              </a:rPr>
              <a:t>As we said before, the number of valid strings is the number of valid strings ending with a 0 plus the number of valid strings ending with a 1.</a:t>
            </a:r>
          </a:p>
          <a:p>
            <a:pPr marL="0" indent="0"/>
            <a:endParaRPr lang="en-US" altLang="en-US" sz="1600" dirty="0">
              <a:sym typeface="Symbol" panose="05050102010706020507" pitchFamily="18" charset="2"/>
            </a:endParaRPr>
          </a:p>
          <a:p>
            <a:pPr marL="0" indent="0"/>
            <a:r>
              <a:rPr lang="en-US" altLang="en-US" sz="2800" dirty="0">
                <a:sym typeface="Symbol" panose="05050102010706020507" pitchFamily="18" charset="2"/>
              </a:rPr>
              <a:t>That gives us the following </a:t>
            </a:r>
            <a:r>
              <a:rPr lang="en-US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recurrence relation</a:t>
            </a:r>
            <a:r>
              <a:rPr lang="en-US" altLang="en-US" sz="2800" dirty="0">
                <a:sym typeface="Symbol" panose="05050102010706020507" pitchFamily="18" charset="2"/>
              </a:rPr>
              <a:t>:</a:t>
            </a:r>
          </a:p>
          <a:p>
            <a:pPr marL="0" indent="0"/>
            <a:r>
              <a:rPr lang="en-US" altLang="en-US" sz="2800" dirty="0">
                <a:sym typeface="Symbol" panose="05050102010706020507" pitchFamily="18" charset="2"/>
              </a:rPr>
              <a:t>a</a:t>
            </a:r>
            <a:r>
              <a:rPr lang="en-US" altLang="en-US" sz="2800" baseline="-25000" dirty="0">
                <a:sym typeface="Symbol" panose="05050102010706020507" pitchFamily="18" charset="2"/>
              </a:rPr>
              <a:t>n</a:t>
            </a:r>
            <a:r>
              <a:rPr lang="en-US" altLang="en-US" sz="2800" dirty="0">
                <a:sym typeface="Symbol" panose="05050102010706020507" pitchFamily="18" charset="2"/>
              </a:rPr>
              <a:t> = a</a:t>
            </a:r>
            <a:r>
              <a:rPr lang="en-US" altLang="en-US" sz="2800" baseline="-25000" dirty="0">
                <a:sym typeface="Symbol" panose="05050102010706020507" pitchFamily="18" charset="2"/>
              </a:rPr>
              <a:t>n-1</a:t>
            </a:r>
            <a:r>
              <a:rPr lang="en-US" altLang="en-US" sz="2800" dirty="0">
                <a:sym typeface="Symbol" panose="05050102010706020507" pitchFamily="18" charset="2"/>
              </a:rPr>
              <a:t> + a</a:t>
            </a:r>
            <a:r>
              <a:rPr lang="en-US" altLang="en-US" sz="2800" baseline="-25000" dirty="0">
                <a:sym typeface="Symbol" panose="05050102010706020507" pitchFamily="18" charset="2"/>
              </a:rPr>
              <a:t>n-2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B3A5A-6B7F-4515-9D90-CB541925F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A4212-F36E-4BCB-8146-B483B28284E4}" type="slidenum">
              <a:rPr lang="en-CA" altLang="en-US"/>
              <a:pPr/>
              <a:t>17</a:t>
            </a:fld>
            <a:endParaRPr lang="en-CA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7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>
            <a:extLst>
              <a:ext uri="{FF2B5EF4-FFF2-40B4-BE49-F238E27FC236}">
                <a16:creationId xmlns:a16="http://schemas.microsoft.com/office/drawing/2014/main" id="{704DBEC9-6D88-47B3-A6FE-ACA992500A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153400" cy="914400"/>
          </a:xfrm>
        </p:spPr>
        <p:txBody>
          <a:bodyPr>
            <a:normAutofit/>
          </a:bodyPr>
          <a:lstStyle/>
          <a:p>
            <a:r>
              <a:rPr lang="en-US" altLang="en-US" sz="3600"/>
              <a:t>Modeling with Recurrence Relations</a:t>
            </a:r>
            <a:endParaRPr lang="en-CA" altLang="en-US" sz="3600"/>
          </a:p>
        </p:txBody>
      </p:sp>
      <p:sp>
        <p:nvSpPr>
          <p:cNvPr id="140291" name="Rectangle 3">
            <a:extLst>
              <a:ext uri="{FF2B5EF4-FFF2-40B4-BE49-F238E27FC236}">
                <a16:creationId xmlns:a16="http://schemas.microsoft.com/office/drawing/2014/main" id="{F8E55ED4-8EA2-4155-9162-70B3ED2A5B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838200"/>
            <a:ext cx="8534400" cy="5562600"/>
          </a:xfrm>
        </p:spPr>
        <p:txBody>
          <a:bodyPr>
            <a:normAutofit lnSpcReduction="10000"/>
          </a:bodyPr>
          <a:lstStyle/>
          <a:p>
            <a:pPr marL="0" indent="0"/>
            <a:r>
              <a:rPr lang="en-US" altLang="en-US" sz="2800" dirty="0">
                <a:sym typeface="Symbol" panose="05050102010706020507" pitchFamily="18" charset="2"/>
              </a:rPr>
              <a:t>What are the </a:t>
            </a:r>
            <a:r>
              <a:rPr lang="en-US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initial conditions</a:t>
            </a:r>
            <a:r>
              <a:rPr lang="en-US" altLang="en-US" sz="2800" dirty="0">
                <a:sym typeface="Symbol" panose="05050102010706020507" pitchFamily="18" charset="2"/>
              </a:rPr>
              <a:t>?</a:t>
            </a:r>
          </a:p>
          <a:p>
            <a:pPr marL="0" indent="0"/>
            <a:endParaRPr lang="en-US" altLang="en-US" sz="800" dirty="0">
              <a:sym typeface="Symbol" panose="05050102010706020507" pitchFamily="18" charset="2"/>
            </a:endParaRPr>
          </a:p>
          <a:p>
            <a:pPr marL="0" indent="0"/>
            <a:r>
              <a:rPr lang="en-US" altLang="en-US" sz="2800" dirty="0">
                <a:sym typeface="Symbol" panose="05050102010706020507" pitchFamily="18" charset="2"/>
              </a:rPr>
              <a:t>a</a:t>
            </a:r>
            <a:r>
              <a:rPr lang="en-US" altLang="en-US" sz="2800" baseline="-25000" dirty="0">
                <a:sym typeface="Symbol" panose="05050102010706020507" pitchFamily="18" charset="2"/>
              </a:rPr>
              <a:t>1</a:t>
            </a:r>
            <a:r>
              <a:rPr lang="en-US" altLang="en-US" sz="2800" dirty="0">
                <a:sym typeface="Symbol" panose="05050102010706020507" pitchFamily="18" charset="2"/>
              </a:rPr>
              <a:t> = 2 (0 and 1)</a:t>
            </a:r>
          </a:p>
          <a:p>
            <a:pPr marL="0" indent="0"/>
            <a:r>
              <a:rPr lang="en-US" altLang="en-US" sz="2800" dirty="0">
                <a:sym typeface="Symbol" panose="05050102010706020507" pitchFamily="18" charset="2"/>
              </a:rPr>
              <a:t>a</a:t>
            </a:r>
            <a:r>
              <a:rPr lang="en-US" altLang="en-US" sz="2800" baseline="-25000" dirty="0"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sym typeface="Symbol" panose="05050102010706020507" pitchFamily="18" charset="2"/>
              </a:rPr>
              <a:t> = 3 (01, 10, and 11)</a:t>
            </a:r>
          </a:p>
          <a:p>
            <a:pPr marL="0" indent="0"/>
            <a:r>
              <a:rPr lang="en-US" altLang="en-US" sz="2800" dirty="0">
                <a:sym typeface="Symbol" panose="05050102010706020507" pitchFamily="18" charset="2"/>
              </a:rPr>
              <a:t>a</a:t>
            </a:r>
            <a:r>
              <a:rPr lang="en-US" altLang="en-US" sz="2800" baseline="-25000" dirty="0">
                <a:sym typeface="Symbol" panose="05050102010706020507" pitchFamily="18" charset="2"/>
              </a:rPr>
              <a:t>3</a:t>
            </a:r>
            <a:r>
              <a:rPr lang="en-US" altLang="en-US" sz="2800" dirty="0">
                <a:sym typeface="Symbol" panose="05050102010706020507" pitchFamily="18" charset="2"/>
              </a:rPr>
              <a:t> = a</a:t>
            </a:r>
            <a:r>
              <a:rPr lang="en-US" altLang="en-US" sz="2800" baseline="-25000" dirty="0"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sym typeface="Symbol" panose="05050102010706020507" pitchFamily="18" charset="2"/>
              </a:rPr>
              <a:t> + a</a:t>
            </a:r>
            <a:r>
              <a:rPr lang="en-US" altLang="en-US" sz="2800" baseline="-25000" dirty="0">
                <a:sym typeface="Symbol" panose="05050102010706020507" pitchFamily="18" charset="2"/>
              </a:rPr>
              <a:t>1</a:t>
            </a:r>
            <a:r>
              <a:rPr lang="en-US" altLang="en-US" sz="2800" dirty="0">
                <a:sym typeface="Symbol" panose="05050102010706020507" pitchFamily="18" charset="2"/>
              </a:rPr>
              <a:t> = 3 + 2 = 5</a:t>
            </a:r>
          </a:p>
          <a:p>
            <a:pPr marL="0" indent="0"/>
            <a:r>
              <a:rPr lang="en-US" altLang="en-US" sz="2800" dirty="0">
                <a:sym typeface="Symbol" panose="05050102010706020507" pitchFamily="18" charset="2"/>
              </a:rPr>
              <a:t>a</a:t>
            </a:r>
            <a:r>
              <a:rPr lang="en-US" altLang="en-US" sz="2800" baseline="-25000" dirty="0">
                <a:sym typeface="Symbol" panose="05050102010706020507" pitchFamily="18" charset="2"/>
              </a:rPr>
              <a:t>4</a:t>
            </a:r>
            <a:r>
              <a:rPr lang="en-US" altLang="en-US" sz="2800" dirty="0">
                <a:sym typeface="Symbol" panose="05050102010706020507" pitchFamily="18" charset="2"/>
              </a:rPr>
              <a:t> = a</a:t>
            </a:r>
            <a:r>
              <a:rPr lang="en-US" altLang="en-US" sz="2800" baseline="-25000" dirty="0">
                <a:sym typeface="Symbol" panose="05050102010706020507" pitchFamily="18" charset="2"/>
              </a:rPr>
              <a:t>3</a:t>
            </a:r>
            <a:r>
              <a:rPr lang="en-US" altLang="en-US" sz="2800" dirty="0">
                <a:sym typeface="Symbol" panose="05050102010706020507" pitchFamily="18" charset="2"/>
              </a:rPr>
              <a:t> + a</a:t>
            </a:r>
            <a:r>
              <a:rPr lang="en-US" altLang="en-US" sz="2800" baseline="-25000" dirty="0"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sym typeface="Symbol" panose="05050102010706020507" pitchFamily="18" charset="2"/>
              </a:rPr>
              <a:t> = 5 + 3 = 8</a:t>
            </a:r>
          </a:p>
          <a:p>
            <a:pPr marL="0" indent="0"/>
            <a:r>
              <a:rPr lang="en-US" altLang="en-US" sz="2800" dirty="0">
                <a:sym typeface="Symbol" panose="05050102010706020507" pitchFamily="18" charset="2"/>
              </a:rPr>
              <a:t>a</a:t>
            </a:r>
            <a:r>
              <a:rPr lang="en-US" altLang="en-US" sz="2800" baseline="-25000" dirty="0">
                <a:sym typeface="Symbol" panose="05050102010706020507" pitchFamily="18" charset="2"/>
              </a:rPr>
              <a:t>5</a:t>
            </a:r>
            <a:r>
              <a:rPr lang="en-US" altLang="en-US" sz="2800" dirty="0">
                <a:sym typeface="Symbol" panose="05050102010706020507" pitchFamily="18" charset="2"/>
              </a:rPr>
              <a:t> = a</a:t>
            </a:r>
            <a:r>
              <a:rPr lang="en-US" altLang="en-US" sz="2800" baseline="-25000" dirty="0">
                <a:sym typeface="Symbol" panose="05050102010706020507" pitchFamily="18" charset="2"/>
              </a:rPr>
              <a:t>4</a:t>
            </a:r>
            <a:r>
              <a:rPr lang="en-US" altLang="en-US" sz="2800" dirty="0">
                <a:sym typeface="Symbol" panose="05050102010706020507" pitchFamily="18" charset="2"/>
              </a:rPr>
              <a:t> + a</a:t>
            </a:r>
            <a:r>
              <a:rPr lang="en-US" altLang="en-US" sz="2800" baseline="-25000" dirty="0">
                <a:sym typeface="Symbol" panose="05050102010706020507" pitchFamily="18" charset="2"/>
              </a:rPr>
              <a:t>3</a:t>
            </a:r>
            <a:r>
              <a:rPr lang="en-US" altLang="en-US" sz="2800" dirty="0">
                <a:sym typeface="Symbol" panose="05050102010706020507" pitchFamily="18" charset="2"/>
              </a:rPr>
              <a:t> = 8 + 5 = 13</a:t>
            </a:r>
          </a:p>
          <a:p>
            <a:pPr marL="0" indent="0"/>
            <a:r>
              <a:rPr lang="en-US" altLang="en-US" sz="2800" dirty="0">
                <a:sym typeface="Symbol" panose="05050102010706020507" pitchFamily="18" charset="2"/>
              </a:rPr>
              <a:t>…</a:t>
            </a:r>
          </a:p>
          <a:p>
            <a:pPr marL="0" indent="0"/>
            <a:endParaRPr lang="en-US" altLang="en-US" sz="800" dirty="0">
              <a:sym typeface="Symbol" panose="05050102010706020507" pitchFamily="18" charset="2"/>
            </a:endParaRPr>
          </a:p>
          <a:p>
            <a:pPr marL="0" indent="0"/>
            <a:r>
              <a:rPr lang="en-US" altLang="en-US" sz="2800" dirty="0">
                <a:sym typeface="Symbol" panose="05050102010706020507" pitchFamily="18" charset="2"/>
              </a:rPr>
              <a:t>This sequence satisfies the same recurrence relation as  the </a:t>
            </a:r>
            <a:r>
              <a:rPr lang="en-US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Fibonacci sequence</a:t>
            </a:r>
            <a:r>
              <a:rPr lang="en-US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.</a:t>
            </a:r>
          </a:p>
          <a:p>
            <a:pPr marL="0" indent="0"/>
            <a:r>
              <a:rPr lang="en-US" altLang="en-US" sz="2800" dirty="0">
                <a:sym typeface="Symbol" panose="05050102010706020507" pitchFamily="18" charset="2"/>
              </a:rPr>
              <a:t>Since a</a:t>
            </a:r>
            <a:r>
              <a:rPr lang="en-US" altLang="en-US" sz="2800" baseline="-25000" dirty="0">
                <a:sym typeface="Symbol" panose="05050102010706020507" pitchFamily="18" charset="2"/>
              </a:rPr>
              <a:t>1</a:t>
            </a:r>
            <a:r>
              <a:rPr lang="en-US" altLang="en-US" sz="2800" dirty="0">
                <a:sym typeface="Symbol" panose="05050102010706020507" pitchFamily="18" charset="2"/>
              </a:rPr>
              <a:t> = f</a:t>
            </a:r>
            <a:r>
              <a:rPr lang="en-US" altLang="en-US" sz="2800" baseline="-25000" dirty="0">
                <a:sym typeface="Symbol" panose="05050102010706020507" pitchFamily="18" charset="2"/>
              </a:rPr>
              <a:t>3</a:t>
            </a:r>
            <a:r>
              <a:rPr lang="en-US" altLang="en-US" sz="2800" dirty="0">
                <a:sym typeface="Symbol" panose="05050102010706020507" pitchFamily="18" charset="2"/>
              </a:rPr>
              <a:t> and a</a:t>
            </a:r>
            <a:r>
              <a:rPr lang="en-US" altLang="en-US" sz="2800" baseline="-25000" dirty="0"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sym typeface="Symbol" panose="05050102010706020507" pitchFamily="18" charset="2"/>
              </a:rPr>
              <a:t> = f</a:t>
            </a:r>
            <a:r>
              <a:rPr lang="en-US" altLang="en-US" sz="2800" baseline="-25000" dirty="0">
                <a:sym typeface="Symbol" panose="05050102010706020507" pitchFamily="18" charset="2"/>
              </a:rPr>
              <a:t>4</a:t>
            </a:r>
            <a:r>
              <a:rPr lang="en-US" altLang="en-US" sz="2800" dirty="0">
                <a:sym typeface="Symbol" panose="05050102010706020507" pitchFamily="18" charset="2"/>
              </a:rPr>
              <a:t>, we have a</a:t>
            </a:r>
            <a:r>
              <a:rPr lang="en-US" altLang="en-US" sz="2800" baseline="-25000" dirty="0">
                <a:sym typeface="Symbol" panose="05050102010706020507" pitchFamily="18" charset="2"/>
              </a:rPr>
              <a:t>n</a:t>
            </a:r>
            <a:r>
              <a:rPr lang="en-US" altLang="en-US" sz="2800" dirty="0">
                <a:sym typeface="Symbol" panose="05050102010706020507" pitchFamily="18" charset="2"/>
              </a:rPr>
              <a:t> = f</a:t>
            </a:r>
            <a:r>
              <a:rPr lang="en-US" altLang="en-US" sz="2800" baseline="-25000" dirty="0">
                <a:sym typeface="Symbol" panose="05050102010706020507" pitchFamily="18" charset="2"/>
              </a:rPr>
              <a:t>n+2</a:t>
            </a:r>
            <a:r>
              <a:rPr lang="en-US" altLang="en-US" sz="2800" dirty="0">
                <a:sym typeface="Symbol" panose="05050102010706020507" pitchFamily="18" charset="2"/>
              </a:rPr>
              <a:t>.</a:t>
            </a:r>
          </a:p>
          <a:p>
            <a:pPr marL="0" indent="0"/>
            <a:endParaRPr lang="en-US" altLang="en-US" sz="2800" baseline="-25000" dirty="0">
              <a:sym typeface="Symbol" panose="05050102010706020507" pitchFamily="18" charset="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9A2BB-D129-4A66-AB03-E1A0510C6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DD79D-F3C1-44D9-A604-22D79CA1F5C7}" type="slidenum">
              <a:rPr lang="en-CA" altLang="en-US"/>
              <a:pPr/>
              <a:t>18</a:t>
            </a:fld>
            <a:endParaRPr lang="en-CA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0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0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1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800" dirty="0"/>
              <a:t>Linear homogeneous recurrence relations</a:t>
            </a:r>
            <a:br>
              <a:rPr lang="en-US" sz="2800" dirty="0"/>
            </a:br>
            <a:r>
              <a:rPr lang="en-US" sz="2800" dirty="0"/>
              <a:t>with constant coefficients</a:t>
            </a:r>
            <a:endParaRPr lang="ru-R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2204864"/>
                <a:ext cx="8229600" cy="485313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u="sng" dirty="0"/>
                  <a:t>Definition</a:t>
                </a:r>
                <a:r>
                  <a:rPr lang="ru-RU" sz="2800" u="sng" dirty="0"/>
                  <a:t> 1</a:t>
                </a:r>
              </a:p>
              <a:p>
                <a:pPr marL="0" indent="0">
                  <a:buNone/>
                </a:pPr>
                <a:r>
                  <a:rPr lang="en-US" sz="2800" dirty="0"/>
                  <a:t>A</a:t>
                </a:r>
                <a:r>
                  <a:rPr lang="en-US" sz="2800" b="1" dirty="0">
                    <a:solidFill>
                      <a:srgbClr val="C00000"/>
                    </a:solidFill>
                  </a:rPr>
                  <a:t> linear homogeneous recurrence relation of degree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C0000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2800" b="1" dirty="0">
                    <a:solidFill>
                      <a:srgbClr val="C00000"/>
                    </a:solidFill>
                  </a:rPr>
                  <a:t> with constant coefficients </a:t>
                </a:r>
                <a:r>
                  <a:rPr lang="en-US" sz="2800" dirty="0"/>
                  <a:t>is a recurrence relation of the form</a:t>
                </a:r>
                <a:r>
                  <a:rPr lang="ru-RU" sz="2800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−2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</m:t>
                      </m:r>
                      <m:r>
                        <a:rPr lang="en-US" sz="2800" b="0" i="1" smtClean="0">
                          <a:latin typeface="Cambria Math"/>
                        </a:rPr>
                        <m:t>…+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,</m:t>
                      </m:r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:r>
                  <a:rPr lang="en-US" sz="2800" dirty="0"/>
                  <a:t>where</a:t>
                </a:r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/>
                      </a:rPr>
                      <m:t>,…,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800" dirty="0"/>
                  <a:t> are real numbers,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ru-RU" sz="2800" i="1" smtClean="0"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0</m:t>
                    </m:r>
                  </m:oMath>
                </a14:m>
                <a:r>
                  <a:rPr lang="ru-RU" sz="2800" dirty="0"/>
                  <a:t>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204864"/>
                <a:ext cx="8229600" cy="4853136"/>
              </a:xfrm>
              <a:blipFill>
                <a:blip r:embed="rId2"/>
                <a:stretch>
                  <a:fillRect l="-2074" t="-2261" r="-1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8618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800" dirty="0"/>
              <a:t>Linear homogeneous recurrence relations</a:t>
            </a:r>
            <a:br>
              <a:rPr lang="en-US" sz="2800" dirty="0"/>
            </a:br>
            <a:r>
              <a:rPr lang="en-US" sz="2800" dirty="0"/>
              <a:t>with constant coefficients</a:t>
            </a:r>
            <a:endParaRPr lang="ru-R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−2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</m:t>
                      </m:r>
                      <m:r>
                        <a:rPr lang="en-US" sz="2800" b="0" i="1" smtClean="0">
                          <a:latin typeface="Cambria Math"/>
                        </a:rPr>
                        <m:t>…+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:endParaRPr lang="ru-RU" sz="2800" dirty="0"/>
              </a:p>
              <a:p>
                <a:pPr marL="0" indent="0">
                  <a:buNone/>
                </a:pPr>
                <a:r>
                  <a:rPr lang="en-US" sz="2800" dirty="0"/>
                  <a:t>A sequence satisfying the recurrence relation in the definition is uniquely determined by this recurrence relation and the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sz="2800" dirty="0"/>
                  <a:t> initial conditions</a:t>
                </a:r>
                <a:r>
                  <a:rPr lang="ru-RU" sz="2800" dirty="0"/>
                  <a:t>: </a:t>
                </a:r>
                <a:endParaRPr lang="en-US" sz="28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sz="2800" b="1" i="1" smtClean="0">
                        <a:solidFill>
                          <a:srgbClr val="C00000"/>
                        </a:solidFill>
                        <a:latin typeface="Cambria Math"/>
                      </a:rPr>
                      <m:t>=</m:t>
                    </m:r>
                  </m:oMath>
                </a14:m>
                <a:r>
                  <a:rPr lang="ru-RU" sz="2800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𝑪</m:t>
                        </m:r>
                      </m:e>
                      <m:sub>
                        <m:r>
                          <a:rPr lang="en-US" sz="2800" b="1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sz="2800" b="1" i="1" smtClean="0">
                        <a:solidFill>
                          <a:srgbClr val="C0000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ru-RU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2800" b="1" i="1">
                        <a:solidFill>
                          <a:srgbClr val="C00000"/>
                        </a:solidFill>
                        <a:latin typeface="Cambria Math"/>
                      </a:rPr>
                      <m:t>=</m:t>
                    </m:r>
                    <m:r>
                      <m:rPr>
                        <m:nor/>
                      </m:rPr>
                      <a:rPr lang="ru-RU" sz="2800" b="1" dirty="0">
                        <a:solidFill>
                          <a:srgbClr val="C00000"/>
                        </a:solidFill>
                      </a:rPr>
                      <m:t> </m:t>
                    </m:r>
                    <m:sSub>
                      <m:sSubPr>
                        <m:ctrlPr>
                          <a:rPr lang="ru-RU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𝑪</m:t>
                        </m:r>
                      </m:e>
                      <m:sub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2800" b="1" i="1" smtClean="0">
                        <a:solidFill>
                          <a:srgbClr val="C00000"/>
                        </a:solidFill>
                        <a:latin typeface="Cambria Math"/>
                      </a:rPr>
                      <m:t>, …,</m:t>
                    </m:r>
                    <m:sSub>
                      <m:sSubPr>
                        <m:ctrlPr>
                          <a:rPr lang="ru-RU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2800" b="1" i="1">
                        <a:solidFill>
                          <a:srgbClr val="C00000"/>
                        </a:solidFill>
                        <a:latin typeface="Cambria Math"/>
                      </a:rPr>
                      <m:t>=</m:t>
                    </m:r>
                    <m:r>
                      <m:rPr>
                        <m:nor/>
                      </m:rPr>
                      <a:rPr lang="ru-RU" sz="2800" b="1" dirty="0">
                        <a:solidFill>
                          <a:srgbClr val="C00000"/>
                        </a:solidFill>
                      </a:rPr>
                      <m:t> </m:t>
                    </m:r>
                    <m:sSub>
                      <m:sSubPr>
                        <m:ctrlPr>
                          <a:rPr lang="ru-RU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𝑪</m:t>
                        </m:r>
                      </m:e>
                      <m:sub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2800" b="0" i="1" smtClean="0">
                        <a:latin typeface="Cambria Math"/>
                      </a:rPr>
                      <m:t>.</m:t>
                    </m:r>
                  </m:oMath>
                </a14:m>
                <a:endParaRPr lang="ru-RU" sz="2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Прямая соединительная линия 4"/>
          <p:cNvCxnSpPr/>
          <p:nvPr/>
        </p:nvCxnSpPr>
        <p:spPr>
          <a:xfrm>
            <a:off x="467544" y="2348880"/>
            <a:ext cx="828092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7172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800" dirty="0"/>
              <a:t>Linear homogeneous recurrence relations</a:t>
            </a:r>
            <a:br>
              <a:rPr lang="en-US" sz="2800" dirty="0"/>
            </a:br>
            <a:r>
              <a:rPr lang="en-US" sz="2800" dirty="0"/>
              <a:t>with constant coefficients</a:t>
            </a:r>
            <a:endParaRPr lang="ru-R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u="sng" dirty="0"/>
                  <a:t>Example</a:t>
                </a:r>
                <a:r>
                  <a:rPr lang="ru-RU" sz="2800" u="sng" dirty="0"/>
                  <a:t> 1</a:t>
                </a:r>
              </a:p>
              <a:p>
                <a:pPr marL="0" indent="0">
                  <a:buNone/>
                </a:pPr>
                <a:r>
                  <a:rPr lang="en-US" sz="2800" dirty="0"/>
                  <a:t>The recurrence relation</a:t>
                </a:r>
                <a:endParaRPr lang="en-US" sz="28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=(1.11)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:r>
                  <a:rPr lang="en-US" sz="2800" dirty="0"/>
                  <a:t>is a linear homogeneous recurrence relation of degree</a:t>
                </a:r>
              </a:p>
              <a:p>
                <a:pPr marL="0" indent="0">
                  <a:buNone/>
                </a:pPr>
                <a:r>
                  <a:rPr lang="en-US" sz="2800" dirty="0"/>
                  <a:t>one.</a:t>
                </a:r>
                <a:endParaRPr lang="ru-RU" sz="2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1" t="-12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7376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800" dirty="0"/>
              <a:t>Linear homogeneous recurrence relations</a:t>
            </a:r>
            <a:br>
              <a:rPr lang="en-US" sz="2800" dirty="0"/>
            </a:br>
            <a:r>
              <a:rPr lang="en-US" sz="2800" dirty="0"/>
              <a:t>with constant coefficients</a:t>
            </a:r>
            <a:endParaRPr lang="ru-R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u="sng" dirty="0"/>
                  <a:t>Example</a:t>
                </a:r>
                <a:r>
                  <a:rPr lang="ru-RU" sz="2800" u="sng" dirty="0"/>
                  <a:t> 2</a:t>
                </a:r>
              </a:p>
              <a:p>
                <a:pPr marL="0" indent="0">
                  <a:buNone/>
                </a:pPr>
                <a:r>
                  <a:rPr lang="en-US" sz="2800" dirty="0"/>
                  <a:t>The recurrence relation</a:t>
                </a:r>
                <a:endParaRPr lang="en-US" sz="28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:r>
                  <a:rPr lang="en-US" sz="2800" dirty="0"/>
                  <a:t>is a linear homogeneous recurrence relation of degree two.</a:t>
                </a:r>
              </a:p>
              <a:p>
                <a:pPr marL="0" indent="0">
                  <a:buNone/>
                </a:pPr>
                <a:r>
                  <a:rPr lang="en-US" sz="2800" dirty="0"/>
                  <a:t>The sequence of </a:t>
                </a:r>
                <a:r>
                  <a:rPr lang="en-US" sz="2800" b="1" dirty="0">
                    <a:solidFill>
                      <a:srgbClr val="C00000"/>
                    </a:solidFill>
                  </a:rPr>
                  <a:t>Fibonacci numbers</a:t>
                </a:r>
                <a:r>
                  <a:rPr lang="en-US" sz="2800" dirty="0"/>
                  <a:t> satisfies this recurrence 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  <m:r>
                          <a:rPr lang="en-US" sz="2800" i="1"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  <m:r>
                          <a:rPr lang="en-US" sz="2800" i="1">
                            <a:latin typeface="Cambria Math"/>
                          </a:rPr>
                          <m:t>−2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2800" dirty="0"/>
                  <a:t>and also satisfies the initial conditions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 sz="2800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r>
                      <a:rPr lang="ru-RU" sz="2800" b="0" i="1" smtClean="0">
                        <a:latin typeface="Cambria Math"/>
                      </a:rPr>
                      <m:t>0,</m:t>
                    </m:r>
                    <m:r>
                      <a:rPr lang="en-US" sz="2800" i="1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 sz="28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r>
                      <a:rPr lang="ru-RU" sz="2800" b="0" i="1" smtClean="0">
                        <a:latin typeface="Cambria Math"/>
                      </a:rPr>
                      <m:t>1</m:t>
                    </m:r>
                  </m:oMath>
                </a14:m>
                <a:r>
                  <a:rPr lang="ru-RU" sz="2800" dirty="0"/>
                  <a:t>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1" t="-1213" r="-5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881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800" dirty="0"/>
              <a:t>Linear homogeneous recurrence relations</a:t>
            </a:r>
            <a:br>
              <a:rPr lang="en-US" sz="2800" dirty="0"/>
            </a:br>
            <a:r>
              <a:rPr lang="en-US" sz="2800" dirty="0"/>
              <a:t>with constant coefficients</a:t>
            </a:r>
            <a:endParaRPr lang="ru-R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u="sng" dirty="0"/>
                  <a:t>Example</a:t>
                </a:r>
                <a:r>
                  <a:rPr lang="ru-RU" sz="2800" u="sng" dirty="0"/>
                  <a:t> 3</a:t>
                </a:r>
              </a:p>
              <a:p>
                <a:pPr marL="0" indent="0">
                  <a:buNone/>
                </a:pPr>
                <a:r>
                  <a:rPr lang="en-US" sz="2800" dirty="0"/>
                  <a:t>The recurrence relation</a:t>
                </a:r>
                <a:endParaRPr lang="en-US" sz="28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ru-RU" sz="2800" b="0" i="1" smtClean="0">
                              <a:latin typeface="Cambria Math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:r>
                  <a:rPr lang="en-US" sz="2800" dirty="0"/>
                  <a:t>is a linear homogeneous recurrence relation of degree five.</a:t>
                </a:r>
                <a:endParaRPr lang="ru-RU" sz="2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1" t="-12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9854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800" dirty="0"/>
              <a:t>Linear homogeneous recurrence relations</a:t>
            </a:r>
            <a:br>
              <a:rPr lang="en-US" sz="2800" dirty="0"/>
            </a:br>
            <a:r>
              <a:rPr lang="en-US" sz="2800" dirty="0"/>
              <a:t>with constant coefficients</a:t>
            </a:r>
            <a:endParaRPr lang="ru-R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u="sng" dirty="0"/>
                  <a:t>Example</a:t>
                </a:r>
                <a:r>
                  <a:rPr lang="ru-RU" sz="2800" u="sng" dirty="0"/>
                  <a:t> </a:t>
                </a:r>
                <a:r>
                  <a:rPr lang="en-US" sz="2800" u="sng" dirty="0"/>
                  <a:t>4</a:t>
                </a:r>
                <a:endParaRPr lang="ru-RU" sz="2800" u="sng" dirty="0"/>
              </a:p>
              <a:p>
                <a:pPr marL="0" indent="0">
                  <a:buNone/>
                </a:pPr>
                <a:r>
                  <a:rPr lang="en-US" sz="2800" dirty="0"/>
                  <a:t>The recurrence relation</a:t>
                </a:r>
                <a:endParaRPr lang="en-US" sz="28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+</m:t>
                      </m:r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−2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:r>
                  <a:rPr lang="en-US" sz="2800" dirty="0"/>
                  <a:t>is not linear. </a:t>
                </a:r>
                <a:endParaRPr lang="ru-RU" sz="2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1" t="-12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4851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800" dirty="0"/>
              <a:t>Linear homogeneous recurrence relations</a:t>
            </a:r>
            <a:br>
              <a:rPr lang="en-US" sz="2800" dirty="0"/>
            </a:br>
            <a:r>
              <a:rPr lang="en-US" sz="2800" dirty="0"/>
              <a:t>with constant coefficients</a:t>
            </a:r>
            <a:endParaRPr lang="ru-R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u="sng" dirty="0"/>
                  <a:t>Example</a:t>
                </a:r>
                <a:r>
                  <a:rPr lang="ru-RU" sz="2800" u="sng" dirty="0"/>
                  <a:t> 5</a:t>
                </a:r>
              </a:p>
              <a:p>
                <a:pPr marL="0" indent="0">
                  <a:buNone/>
                </a:pPr>
                <a:r>
                  <a:rPr lang="en-US" sz="2800" dirty="0"/>
                  <a:t>The recurrence relation</a:t>
                </a:r>
                <a:endParaRPr lang="en-US" sz="28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:r>
                  <a:rPr lang="en-US" sz="2800" dirty="0"/>
                  <a:t>is not homogeneous.</a:t>
                </a:r>
                <a:endParaRPr lang="ru-RU" sz="2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1" t="-12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5410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800" dirty="0"/>
              <a:t>Linear homogeneous recurrence relations</a:t>
            </a:r>
            <a:br>
              <a:rPr lang="en-US" sz="2800" dirty="0"/>
            </a:br>
            <a:r>
              <a:rPr lang="en-US" sz="2800" dirty="0"/>
              <a:t>with constant coefficients</a:t>
            </a:r>
            <a:endParaRPr lang="ru-R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u="sng" dirty="0"/>
                  <a:t>Example</a:t>
                </a:r>
                <a:r>
                  <a:rPr lang="ru-RU" sz="2800" u="sng" dirty="0"/>
                  <a:t> 6</a:t>
                </a:r>
              </a:p>
              <a:p>
                <a:pPr marL="0" indent="0">
                  <a:buNone/>
                </a:pPr>
                <a:r>
                  <a:rPr lang="en-US" sz="2800" dirty="0"/>
                  <a:t>The recurrence relation</a:t>
                </a:r>
                <a:endParaRPr lang="en-US" sz="28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𝑛𝐵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:r>
                  <a:rPr lang="en-US" sz="2800" dirty="0"/>
                  <a:t>does not have constant coefficients.</a:t>
                </a:r>
                <a:endParaRPr lang="ru-RU" sz="2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1" t="-12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4987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800" dirty="0"/>
              <a:t>Solving linear homogeneous recurrence relations</a:t>
            </a:r>
            <a:br>
              <a:rPr lang="en-US" sz="2800" dirty="0"/>
            </a:br>
            <a:r>
              <a:rPr lang="en-US" sz="2800" dirty="0"/>
              <a:t>with constant coefficients</a:t>
            </a:r>
            <a:endParaRPr lang="ru-R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/>
                  <a:t>The basic approach for solving linear homogeneous recurrence relations </a:t>
                </a:r>
                <a:endParaRPr lang="en-US" sz="28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−2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+…+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</m:t>
                          </m:r>
                          <m:r>
                            <a:rPr lang="en-US" sz="2800" i="1">
                              <a:latin typeface="Cambria Math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is to look for solutions of the form </a:t>
                </a:r>
                <a:endParaRPr lang="en-US" sz="2800" b="1" i="1" dirty="0">
                  <a:solidFill>
                    <a:srgbClr val="C00000"/>
                  </a:solidFill>
                  <a:latin typeface="Cambria Math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ru-RU" sz="2800" b="1" i="1" smtClean="0">
                        <a:solidFill>
                          <a:srgbClr val="C00000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ru-RU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𝒓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𝒏</m:t>
                        </m:r>
                      </m:sup>
                    </m:sSup>
                    <m:r>
                      <a:rPr lang="en-US" sz="2800" b="0" i="0" smtClean="0">
                        <a:latin typeface="Cambria Math"/>
                      </a:rPr>
                      <m:t>,</m:t>
                    </m:r>
                  </m:oMath>
                </a14:m>
                <a:r>
                  <a:rPr lang="en-US" sz="2800" dirty="0"/>
                  <a:t> </a:t>
                </a:r>
              </a:p>
              <a:p>
                <a:pPr marL="0" indent="0">
                  <a:buNone/>
                </a:pPr>
                <a:r>
                  <a:rPr lang="en-US" sz="2800" dirty="0"/>
                  <a:t>where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𝑟</m:t>
                    </m:r>
                  </m:oMath>
                </a14:m>
                <a:r>
                  <a:rPr lang="en-US" sz="2800" dirty="0"/>
                  <a:t> is a constant.</a:t>
                </a:r>
                <a:endParaRPr lang="ru-RU" sz="2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481" t="-12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6034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800" dirty="0"/>
              <a:t>Solving linear homogeneous recurrence relations</a:t>
            </a:r>
            <a:br>
              <a:rPr lang="en-US" sz="2800" dirty="0"/>
            </a:br>
            <a:r>
              <a:rPr lang="en-US" sz="2800" dirty="0"/>
              <a:t>with constant coefficients</a:t>
            </a:r>
            <a:endParaRPr lang="ru-R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/>
                  <a:t>Note that</a:t>
                </a:r>
                <a:r>
                  <a:rPr lang="ru-RU" sz="2800" dirty="0">
                    <a:solidFill>
                      <a:schemeClr val="tx1"/>
                    </a:solidFill>
                  </a:rPr>
                  <a:t> </a:t>
                </a:r>
                <a:endParaRPr lang="en-US" sz="2800" i="1" dirty="0">
                  <a:solidFill>
                    <a:schemeClr val="tx1"/>
                  </a:solidFill>
                  <a:latin typeface="Cambria Math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ru-RU" sz="2800" b="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ru-RU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US" sz="2800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ru-RU" sz="2800" dirty="0"/>
                  <a:t> </a:t>
                </a:r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is a solution of the recurrence relation</a:t>
                </a:r>
                <a:endParaRPr lang="en-US" sz="28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−2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+…+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</m:t>
                          </m:r>
                          <m:r>
                            <a:rPr lang="en-US" sz="2800" i="1">
                              <a:latin typeface="Cambria Math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if and only if</a:t>
                </a:r>
                <a:endParaRPr lang="en-US" sz="28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−1</m:t>
                          </m:r>
                        </m:sup>
                      </m:sSup>
                      <m:r>
                        <a:rPr lang="en-US" sz="28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−2</m:t>
                          </m:r>
                        </m:sup>
                      </m:sSup>
                      <m:r>
                        <a:rPr lang="en-US" sz="2800" b="0" i="1" smtClean="0">
                          <a:latin typeface="Cambria Math"/>
                        </a:rPr>
                        <m:t>+…+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𝑘</m:t>
                          </m:r>
                        </m:sup>
                      </m:sSup>
                      <m:r>
                        <a:rPr lang="en-US" sz="2800" b="0" i="1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481" t="-12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8466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800" dirty="0"/>
              <a:t>Solving linear homogeneous recurrence relations</a:t>
            </a:r>
            <a:br>
              <a:rPr lang="en-US" sz="2800" dirty="0"/>
            </a:br>
            <a:r>
              <a:rPr lang="en-US" sz="2800" dirty="0"/>
              <a:t>with constant coefficients</a:t>
            </a:r>
            <a:endParaRPr lang="ru-R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−1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−2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+…+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</m:t>
                          </m:r>
                          <m:r>
                            <a:rPr lang="en-US" sz="2800" i="1">
                              <a:latin typeface="Cambria Math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When both sides of this equation are divided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US" sz="2800" b="0" i="1" smtClean="0">
                            <a:latin typeface="Cambria Math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2800" dirty="0"/>
                  <a:t>, we obtain the equation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𝑘</m:t>
                          </m:r>
                        </m:sup>
                      </m:sSup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𝑘</m:t>
                          </m:r>
                          <m:r>
                            <a:rPr lang="en-US" sz="2800" i="1">
                              <a:latin typeface="Cambria Math"/>
                            </a:rPr>
                            <m:t>−1</m:t>
                          </m:r>
                        </m:sup>
                      </m:sSup>
                      <m:r>
                        <a:rPr lang="en-US" sz="28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𝑘</m:t>
                          </m:r>
                          <m:r>
                            <a:rPr lang="en-US" sz="2800" i="1">
                              <a:latin typeface="Cambria Math"/>
                            </a:rPr>
                            <m:t>−2</m:t>
                          </m:r>
                        </m:sup>
                      </m:sSup>
                      <m:r>
                        <a:rPr lang="en-US" sz="2800" b="0" i="1" smtClean="0">
                          <a:latin typeface="Cambria Math"/>
                        </a:rPr>
                        <m:t>+</m:t>
                      </m:r>
                      <m:r>
                        <a:rPr lang="en-US" sz="2800" i="1">
                          <a:latin typeface="Cambria Math"/>
                        </a:rPr>
                        <m:t>…</m:t>
                      </m:r>
                      <m:r>
                        <a:rPr lang="en-US" sz="28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𝑘</m:t>
                          </m:r>
                          <m:r>
                            <a:rPr lang="en-US" sz="2800" i="1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𝑟</m:t>
                      </m:r>
                      <m:r>
                        <a:rPr lang="en-US" sz="28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When the right-hand side is subtracted from the left we obtain the equation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𝑘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𝑘</m:t>
                          </m:r>
                          <m:r>
                            <a:rPr lang="en-US" sz="2800" i="1">
                              <a:latin typeface="Cambria Math"/>
                            </a:rPr>
                            <m:t>−1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𝑘</m:t>
                          </m:r>
                          <m:r>
                            <a:rPr lang="en-US" sz="2800" i="1">
                              <a:latin typeface="Cambria Math"/>
                            </a:rPr>
                            <m:t>−2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−…−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𝑘</m:t>
                          </m:r>
                          <m:r>
                            <a:rPr lang="en-US" sz="2800" i="1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𝑟</m:t>
                      </m:r>
                      <m:r>
                        <a:rPr lang="en-US" sz="28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=0</m:t>
                      </m:r>
                      <m:r>
                        <a:rPr lang="en-US" sz="2800" b="0" i="1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481" r="-22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Прямая соединительная линия 4"/>
          <p:cNvCxnSpPr/>
          <p:nvPr/>
        </p:nvCxnSpPr>
        <p:spPr>
          <a:xfrm>
            <a:off x="395536" y="2132856"/>
            <a:ext cx="828092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4845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46856" y="0"/>
            <a:ext cx="7290054" cy="1499616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800" dirty="0"/>
              <a:t>Solving linear homogeneous recurrence relations</a:t>
            </a:r>
            <a:br>
              <a:rPr lang="en-US" sz="2800" dirty="0"/>
            </a:br>
            <a:r>
              <a:rPr lang="en-US" sz="2800" dirty="0"/>
              <a:t>with constant coefficients</a:t>
            </a:r>
            <a:endParaRPr lang="ru-R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467544" y="1484784"/>
                <a:ext cx="8229600" cy="511256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/>
                  <a:t>Consequently, the sequence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u-RU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800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800" dirty="0"/>
                  <a:t> </a:t>
                </a:r>
                <a:r>
                  <a:rPr lang="en-US" sz="2800" dirty="0"/>
                  <a:t>with</a:t>
                </a:r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ru-RU" sz="28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ru-RU" sz="2800" dirty="0"/>
                  <a:t> </a:t>
                </a:r>
                <a:r>
                  <a:rPr lang="en-US" sz="2800" dirty="0"/>
                  <a:t>is a solution of linear homogeneous recurrence relations</a:t>
                </a:r>
                <a:br>
                  <a:rPr lang="en-US" sz="2800" dirty="0"/>
                </a:br>
                <a:r>
                  <a:rPr lang="en-US" sz="2800" dirty="0"/>
                  <a:t>with constant coefficients</a:t>
                </a:r>
                <a:endParaRPr lang="en-US" sz="28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−2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+…+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</m:t>
                          </m:r>
                          <m:r>
                            <a:rPr lang="en-US" sz="2800" i="1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    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/>
                              <a:ea typeface="Cambria Math"/>
                            </a:rPr>
                            <m:t>∗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is a solution </a:t>
                </a:r>
                <a:r>
                  <a:rPr lang="en-US" sz="2800" b="1" dirty="0">
                    <a:solidFill>
                      <a:srgbClr val="00CC00"/>
                    </a:solidFill>
                  </a:rPr>
                  <a:t>if and only if</a:t>
                </a:r>
                <a:r>
                  <a:rPr lang="ru-RU" sz="2800" b="1" dirty="0">
                    <a:solidFill>
                      <a:srgbClr val="00CC00"/>
                    </a:solidFill>
                  </a:rPr>
                  <a:t> </a:t>
                </a:r>
                <a:endParaRPr lang="en-US" sz="2800" b="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𝑟</m:t>
                    </m:r>
                  </m:oMath>
                </a14:m>
                <a:r>
                  <a:rPr lang="en-US" sz="2800" dirty="0"/>
                  <a:t> is a solution of this last equation </a:t>
                </a:r>
                <a:endParaRPr lang="en-US" sz="2800" b="1" i="1" dirty="0">
                  <a:solidFill>
                    <a:srgbClr val="C0000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𝒓</m:t>
                          </m:r>
                        </m:e>
                        <m:sup>
                          <m: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𝒌</m:t>
                          </m:r>
                        </m:sup>
                      </m:sSup>
                      <m:r>
                        <a:rPr lang="en-US" sz="2800" b="1" i="1">
                          <a:solidFill>
                            <a:srgbClr val="C00000"/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𝒄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ru-RU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𝒓</m:t>
                          </m:r>
                        </m:e>
                        <m:sup>
                          <m: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𝒌</m:t>
                          </m:r>
                          <m: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𝟏</m:t>
                          </m:r>
                        </m:sup>
                      </m:sSup>
                      <m:r>
                        <a:rPr lang="en-US" sz="2800" b="1" i="1">
                          <a:solidFill>
                            <a:srgbClr val="C00000"/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𝒄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𝟐</m:t>
                          </m:r>
                        </m:sub>
                      </m:sSub>
                      <m:sSup>
                        <m:sSupPr>
                          <m:ctrlPr>
                            <a:rPr lang="ru-RU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𝒓</m:t>
                          </m:r>
                        </m:e>
                        <m:sup>
                          <m: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𝒌</m:t>
                          </m:r>
                          <m: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sz="2800" b="1" i="1">
                          <a:solidFill>
                            <a:srgbClr val="C00000"/>
                          </a:solidFill>
                          <a:latin typeface="Cambria Math"/>
                        </a:rPr>
                        <m:t>−…−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𝒄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𝒌</m:t>
                          </m:r>
                          <m: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  <m:r>
                        <a:rPr lang="en-US" sz="2800" b="1" i="1">
                          <a:solidFill>
                            <a:srgbClr val="C00000"/>
                          </a:solidFill>
                          <a:latin typeface="Cambria Math"/>
                        </a:rPr>
                        <m:t>𝒓</m:t>
                      </m:r>
                      <m:r>
                        <a:rPr lang="en-US" sz="2800" b="1" i="1">
                          <a:solidFill>
                            <a:srgbClr val="C00000"/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𝒄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𝒌</m:t>
                          </m:r>
                        </m:sub>
                      </m:sSub>
                      <m:r>
                        <a:rPr lang="en-US" sz="2800" b="1" i="1">
                          <a:solidFill>
                            <a:srgbClr val="C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b="1" i="1">
                          <a:solidFill>
                            <a:srgbClr val="C00000"/>
                          </a:solidFill>
                          <a:latin typeface="Cambria Math"/>
                        </a:rPr>
                        <m:t>𝟎</m:t>
                      </m:r>
                      <m:r>
                        <a:rPr lang="ru-RU" sz="2800" b="0" i="1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:r>
                  <a:rPr lang="en-US" sz="2800" dirty="0"/>
                  <a:t>We call this the </a:t>
                </a:r>
                <a:r>
                  <a:rPr lang="en-US" sz="2800" b="1" dirty="0">
                    <a:solidFill>
                      <a:srgbClr val="C00000"/>
                    </a:solidFill>
                  </a:rPr>
                  <a:t>characteristic equation</a:t>
                </a:r>
                <a:r>
                  <a:rPr lang="en-US" sz="2800" dirty="0"/>
                  <a:t> of the recurrence relation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∗</m:t>
                        </m:r>
                      </m:e>
                    </m:d>
                  </m:oMath>
                </a14:m>
                <a:r>
                  <a:rPr lang="en-US" sz="2800" dirty="0"/>
                  <a:t>. </a:t>
                </a:r>
              </a:p>
              <a:p>
                <a:pPr marL="0" indent="0">
                  <a:buNone/>
                </a:pPr>
                <a:r>
                  <a:rPr lang="en-US" sz="2800" dirty="0"/>
                  <a:t>The solutions of this equation are called the </a:t>
                </a:r>
                <a:r>
                  <a:rPr lang="en-US" sz="2800" b="1" dirty="0">
                    <a:solidFill>
                      <a:srgbClr val="C00000"/>
                    </a:solidFill>
                  </a:rPr>
                  <a:t>characteristic roots </a:t>
                </a:r>
                <a:r>
                  <a:rPr lang="en-US" sz="2800" dirty="0"/>
                  <a:t>of the recurrence relation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∗</m:t>
                        </m:r>
                      </m:e>
                    </m:d>
                  </m:oMath>
                </a14:m>
                <a:r>
                  <a:rPr lang="en-US" sz="2800" dirty="0"/>
                  <a:t>. </a:t>
                </a:r>
                <a:endParaRPr lang="ru-RU" sz="2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7544" y="1484784"/>
                <a:ext cx="8229600" cy="5112568"/>
              </a:xfrm>
              <a:blipFill>
                <a:blip r:embed="rId4"/>
                <a:stretch>
                  <a:fillRect l="-2074" t="-2148" r="-3037" b="-29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3031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800" dirty="0"/>
              <a:t>Solving linear homogeneous recurrence relations</a:t>
            </a:r>
            <a:br>
              <a:rPr lang="en-US" sz="2800" dirty="0"/>
            </a:br>
            <a:r>
              <a:rPr lang="en-US" sz="2800" dirty="0"/>
              <a:t>with constant coefficients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As we will see, these characteristic roots can be used to give an explicit formula for all the solutions of the recurrence relation</a:t>
            </a:r>
            <a:r>
              <a:rPr lang="ru-RU" sz="2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833004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800" dirty="0"/>
              <a:t>Solving linear homogeneous recurrence relations with constant coefficients </a:t>
            </a:r>
            <a:r>
              <a:rPr lang="en-US" sz="2800" spc="-150" dirty="0"/>
              <a:t>of </a:t>
            </a:r>
            <a:r>
              <a:rPr lang="en-US" sz="2800" b="1" spc="-150" dirty="0">
                <a:solidFill>
                  <a:srgbClr val="C00000"/>
                </a:solidFill>
              </a:rPr>
              <a:t>degree two</a:t>
            </a:r>
            <a:endParaRPr lang="ru-R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sz="3000" u="sng" dirty="0"/>
                  <a:t>Example</a:t>
                </a:r>
                <a:r>
                  <a:rPr lang="ru-RU" sz="3000" u="sng" dirty="0"/>
                  <a:t> 7</a:t>
                </a:r>
              </a:p>
              <a:p>
                <a:pPr marL="0" indent="0">
                  <a:buNone/>
                </a:pPr>
                <a:r>
                  <a:rPr lang="en-US" sz="3000" dirty="0"/>
                  <a:t>What is the solution of the recurrence relation</a:t>
                </a:r>
                <a:endParaRPr lang="en-US" sz="30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3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3000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30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ru-RU" sz="3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3000" i="1">
                              <a:latin typeface="Cambria Math"/>
                            </a:rPr>
                            <m:t>𝑛</m:t>
                          </m:r>
                          <m:r>
                            <a:rPr lang="en-US" sz="3000" i="1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3000" i="1">
                          <a:latin typeface="Cambria Math"/>
                        </a:rPr>
                        <m:t>+</m:t>
                      </m:r>
                      <m:r>
                        <a:rPr lang="en-US" sz="3000" b="0" i="1" smtClean="0">
                          <a:latin typeface="Cambria Math"/>
                        </a:rPr>
                        <m:t>2</m:t>
                      </m:r>
                      <m:sSub>
                        <m:sSubPr>
                          <m:ctrlPr>
                            <a:rPr lang="ru-RU" sz="3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3000" i="1">
                              <a:latin typeface="Cambria Math"/>
                            </a:rPr>
                            <m:t>𝑛</m:t>
                          </m:r>
                          <m:r>
                            <a:rPr lang="en-US" sz="3000" i="1">
                              <a:latin typeface="Cambria Math"/>
                            </a:rPr>
                            <m:t>−2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3000" dirty="0"/>
                        <m:t> </m:t>
                      </m:r>
                    </m:oMath>
                  </m:oMathPara>
                </a14:m>
                <a:endParaRPr lang="ru-RU" sz="3000" dirty="0"/>
              </a:p>
              <a:p>
                <a:pPr marL="0" indent="0">
                  <a:buNone/>
                </a:pPr>
                <a:r>
                  <a:rPr lang="en-US" sz="3000" dirty="0"/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3000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3000" i="1">
                        <a:latin typeface="Cambria Math"/>
                      </a:rPr>
                      <m:t>=</m:t>
                    </m:r>
                  </m:oMath>
                </a14:m>
                <a:r>
                  <a:rPr lang="ru-RU" sz="3000" dirty="0"/>
                  <a:t>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/>
                      </a:rPr>
                      <m:t>2</m:t>
                    </m:r>
                  </m:oMath>
                </a14:m>
                <a:r>
                  <a:rPr lang="en-US" sz="3000" dirty="0"/>
                  <a:t>  and</a:t>
                </a:r>
                <a:r>
                  <a:rPr lang="ru-RU" sz="3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30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3000" i="1">
                        <a:latin typeface="Cambria Math"/>
                      </a:rPr>
                      <m:t>=</m:t>
                    </m:r>
                    <m:r>
                      <a:rPr lang="en-US" sz="3000" b="0" i="1" smtClean="0">
                        <a:latin typeface="Cambria Math"/>
                      </a:rPr>
                      <m:t>7</m:t>
                    </m:r>
                  </m:oMath>
                </a14:m>
                <a:r>
                  <a:rPr lang="en-US" sz="3000" dirty="0"/>
                  <a:t>?</a:t>
                </a:r>
                <a:endParaRPr lang="ru-RU" sz="3000" dirty="0"/>
              </a:p>
              <a:p>
                <a:pPr marL="0" indent="0">
                  <a:buNone/>
                </a:pPr>
                <a:r>
                  <a:rPr lang="en-US" sz="3000" u="sng" dirty="0"/>
                  <a:t>Solution</a:t>
                </a:r>
                <a:endParaRPr lang="ru-RU" sz="3000" u="sng" dirty="0"/>
              </a:p>
              <a:p>
                <a:pPr marL="0" indent="0" algn="ctr">
                  <a:buNone/>
                </a:pPr>
                <a:r>
                  <a:rPr lang="en-US" sz="3000" dirty="0"/>
                  <a:t>The characteristic equation of the recurrence relation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30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3000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US" sz="30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3000" i="1">
                        <a:latin typeface="Cambria Math"/>
                      </a:rPr>
                      <m:t>−</m:t>
                    </m:r>
                    <m:r>
                      <a:rPr lang="en-US" sz="3000" i="1">
                        <a:latin typeface="Cambria Math"/>
                      </a:rPr>
                      <m:t>𝑟</m:t>
                    </m:r>
                    <m:r>
                      <a:rPr lang="en-US" sz="3000" i="1">
                        <a:latin typeface="Cambria Math"/>
                      </a:rPr>
                      <m:t>−2=0.</m:t>
                    </m:r>
                  </m:oMath>
                </a14:m>
                <a:endParaRPr lang="ru-RU" sz="3000" dirty="0"/>
              </a:p>
              <a:p>
                <a:pPr marL="0" indent="0">
                  <a:buNone/>
                </a:pPr>
                <a:r>
                  <a:rPr lang="en-US" sz="3000" dirty="0"/>
                  <a:t>Its roots are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/>
                      </a:rPr>
                      <m:t>𝑟</m:t>
                    </m:r>
                    <m:r>
                      <a:rPr lang="en-US" sz="3000" i="1">
                        <a:latin typeface="Cambria Math"/>
                      </a:rPr>
                      <m:t>=</m:t>
                    </m:r>
                  </m:oMath>
                </a14:m>
                <a:r>
                  <a:rPr lang="ru-RU" sz="3000" dirty="0"/>
                  <a:t>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/>
                      </a:rPr>
                      <m:t>2</m:t>
                    </m:r>
                  </m:oMath>
                </a14:m>
                <a:r>
                  <a:rPr lang="en-US" sz="3000" dirty="0"/>
                  <a:t> and</a:t>
                </a:r>
                <a:r>
                  <a:rPr lang="ru-RU" sz="3000" dirty="0"/>
                  <a:t>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/>
                      </a:rPr>
                      <m:t>𝑟</m:t>
                    </m:r>
                    <m:r>
                      <a:rPr lang="en-US" sz="3000" i="1">
                        <a:latin typeface="Cambria Math"/>
                      </a:rPr>
                      <m:t>=</m:t>
                    </m:r>
                    <m:r>
                      <a:rPr lang="en-US" sz="3000" b="0" i="1" smtClean="0">
                        <a:latin typeface="Cambria Math"/>
                      </a:rPr>
                      <m:t>−1</m:t>
                    </m:r>
                  </m:oMath>
                </a14:m>
                <a:r>
                  <a:rPr lang="ru-RU" sz="3000" dirty="0"/>
                  <a:t>.</a:t>
                </a:r>
                <a:endParaRPr lang="en-US" sz="3000" dirty="0"/>
              </a:p>
              <a:p>
                <a:pPr marL="0" indent="0">
                  <a:buNone/>
                </a:pPr>
                <a:r>
                  <a:rPr lang="en-US" sz="3000" dirty="0"/>
                  <a:t>By theorem 1,</a:t>
                </a:r>
                <a:r>
                  <a:rPr lang="ru-RU" sz="3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3000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30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 smtClean="0"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b>
                        <m:r>
                          <a:rPr lang="en-US" sz="3000" i="1">
                            <a:latin typeface="Cambria Math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sz="3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3000" b="0" i="1" smtClean="0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sz="30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 smtClean="0"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b>
                        <m:r>
                          <a:rPr lang="en-US" sz="3000" i="1">
                            <a:latin typeface="Cambria Math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sz="3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b="0" i="1" smtClean="0">
                                <a:latin typeface="Cambria Math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sz="3000" b="0" i="1" smtClean="0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3000" dirty="0"/>
                  <a:t>.</a:t>
                </a:r>
                <a:endParaRPr lang="ru-RU" sz="3000" dirty="0"/>
              </a:p>
              <a:p>
                <a:pPr marL="0" indent="0">
                  <a:buNone/>
                </a:pPr>
                <a:endParaRPr lang="ru-RU" sz="2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39" t="-3485" b="-1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4856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800" dirty="0"/>
              <a:t>Solving linear homogeneous recurrence relations </a:t>
            </a:r>
            <a:r>
              <a:rPr lang="en-US" sz="2800"/>
              <a:t>with constant </a:t>
            </a:r>
            <a:r>
              <a:rPr lang="en-US" sz="2800" dirty="0"/>
              <a:t>coefficients </a:t>
            </a:r>
            <a:r>
              <a:rPr lang="en-US" sz="2800" spc="-150" dirty="0"/>
              <a:t>of </a:t>
            </a:r>
            <a:r>
              <a:rPr lang="en-US" sz="2800" b="1" spc="-150" dirty="0">
                <a:solidFill>
                  <a:srgbClr val="C00000"/>
                </a:solidFill>
              </a:rPr>
              <a:t>degree two</a:t>
            </a:r>
            <a:endParaRPr lang="ru-R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sz="2800" u="sng" dirty="0"/>
                  <a:t>Example</a:t>
                </a:r>
                <a:r>
                  <a:rPr lang="ru-RU" sz="2800" u="sng" dirty="0"/>
                  <a:t> 7</a:t>
                </a:r>
              </a:p>
              <a:p>
                <a:pPr marL="0" indent="0">
                  <a:buNone/>
                </a:pPr>
                <a:r>
                  <a:rPr lang="en-US" sz="2800" dirty="0"/>
                  <a:t>What is the solution of the recurrence relation</a:t>
                </a:r>
                <a:endParaRPr lang="en-US" sz="28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+2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−2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800" dirty="0"/>
                        <m:t> </m:t>
                      </m:r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:r>
                  <a:rPr lang="en-US" sz="2800" dirty="0"/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</m:oMath>
                </a14:m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2</m:t>
                    </m:r>
                  </m:oMath>
                </a14:m>
                <a:r>
                  <a:rPr lang="en-US" sz="2800" dirty="0"/>
                  <a:t>  and</a:t>
                </a:r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=7</m:t>
                    </m:r>
                  </m:oMath>
                </a14:m>
                <a:r>
                  <a:rPr lang="en-US" sz="2800" dirty="0"/>
                  <a:t>?</a:t>
                </a:r>
                <a:endParaRPr lang="ru-RU" sz="2800" dirty="0"/>
              </a:p>
              <a:p>
                <a:pPr marL="0" indent="0">
                  <a:buNone/>
                </a:pPr>
                <a:r>
                  <a:rPr lang="en-US" sz="2800" u="sng" dirty="0"/>
                  <a:t>Solution</a:t>
                </a:r>
                <a:endParaRPr lang="ru-RU" sz="2800" u="sn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r>
                        <m:rPr>
                          <m:nor/>
                        </m:rPr>
                        <a:rPr lang="ru-RU" sz="2800" dirty="0"/>
                        <m:t> </m:t>
                      </m:r>
                      <m:r>
                        <a:rPr lang="en-US" sz="2800" i="1">
                          <a:latin typeface="Cambria Math"/>
                        </a:rPr>
                        <m:t>2=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,</m:t>
                      </m:r>
                    </m:oMath>
                  </m:oMathPara>
                </a14:m>
                <a:endParaRPr lang="ru-RU" sz="28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r>
                      <m:rPr>
                        <m:nor/>
                      </m:rPr>
                      <a:rPr lang="ru-RU" sz="2800" dirty="0"/>
                      <m:t> </m:t>
                    </m:r>
                    <m:r>
                      <a:rPr lang="en-US" sz="2800" i="1">
                        <a:latin typeface="Cambria Math"/>
                      </a:rPr>
                      <m:t>7=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/>
                        <a:ea typeface="Cambria Math"/>
                      </a:rPr>
                      <m:t>∙2</m:t>
                    </m:r>
                    <m:r>
                      <a:rPr lang="en-US" sz="28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  <a:ea typeface="Cambria Math"/>
                      </a:rPr>
                      <m:t>∙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−1</m:t>
                        </m:r>
                      </m:e>
                    </m:d>
                    <m:r>
                      <a:rPr lang="en-US" sz="2800" i="1">
                        <a:latin typeface="Cambria Math"/>
                      </a:rPr>
                      <m:t>,</m:t>
                    </m:r>
                  </m:oMath>
                </a14:m>
                <a:r>
                  <a:rPr lang="ru-RU" sz="2800" dirty="0">
                    <a:sym typeface="Symbol"/>
                  </a:rPr>
                  <a:t> 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ru-RU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3</m:t>
                      </m:r>
                      <m:r>
                        <a:rPr lang="ru-RU" sz="2800" i="1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ru-RU" sz="2800" i="1">
                          <a:latin typeface="Cambria Math"/>
                        </a:rPr>
                        <m:t>=−</m:t>
                      </m:r>
                      <m:r>
                        <a:rPr lang="en-US" sz="2800" i="1">
                          <a:latin typeface="Cambria Math"/>
                        </a:rPr>
                        <m:t>1</m:t>
                      </m:r>
                      <m:r>
                        <a:rPr lang="ru-RU" sz="2800" i="1">
                          <a:latin typeface="Cambria Math"/>
                        </a:rPr>
                        <m:t>, </m:t>
                      </m:r>
                      <m:r>
                        <a:rPr lang="ru-RU" sz="2800" i="1">
                          <a:latin typeface="Cambria Math"/>
                          <a:sym typeface="Symbol"/>
                        </a:rPr>
                        <m:t></m:t>
                      </m:r>
                    </m:oMath>
                  </m:oMathPara>
                </a14:m>
                <a:endParaRPr lang="ru-RU" sz="2800" dirty="0">
                  <a:sym typeface="Symbol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b="0" i="1" smtClean="0">
                          <a:latin typeface="Cambria Math"/>
                        </a:rPr>
                        <m:t>3</m:t>
                      </m:r>
                      <m:r>
                        <a:rPr lang="en-US" sz="2800" b="0" i="1" smtClean="0">
                          <a:latin typeface="Cambria Math"/>
                          <a:ea typeface="Cambria Math"/>
                        </a:rPr>
                        <m:t>∙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sz="2800" b="0" i="1" smtClean="0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sz="2800" b="0" i="1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923" t="-34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Прямая соединительная линия 4"/>
          <p:cNvCxnSpPr/>
          <p:nvPr/>
        </p:nvCxnSpPr>
        <p:spPr>
          <a:xfrm>
            <a:off x="467544" y="4221088"/>
            <a:ext cx="8208912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755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9282" y="132409"/>
            <a:ext cx="7290054" cy="1136351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800" dirty="0"/>
              <a:t>Solving linear homogeneous recurrence relations with constant coefficients </a:t>
            </a:r>
            <a:r>
              <a:rPr lang="en-US" sz="2800" spc="-150" dirty="0"/>
              <a:t>of </a:t>
            </a:r>
            <a:r>
              <a:rPr lang="en-US" sz="2800" b="1" spc="-150" dirty="0">
                <a:solidFill>
                  <a:srgbClr val="C00000"/>
                </a:solidFill>
              </a:rPr>
              <a:t>degree two</a:t>
            </a:r>
            <a:endParaRPr lang="ru-R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84784"/>
                <a:ext cx="8229600" cy="5256584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sz="2800" u="sng" dirty="0"/>
                  <a:t>Example</a:t>
                </a:r>
                <a:r>
                  <a:rPr lang="ru-RU" sz="2800" u="sng" dirty="0"/>
                  <a:t> 8</a:t>
                </a:r>
                <a:r>
                  <a:rPr lang="en-US" sz="2800" dirty="0"/>
                  <a:t> (Fibonacci numbers)</a:t>
                </a:r>
                <a:endParaRPr lang="ru-RU" sz="2800" u="sng" dirty="0"/>
              </a:p>
              <a:p>
                <a:pPr marL="0" indent="0">
                  <a:buNone/>
                </a:pPr>
                <a:r>
                  <a:rPr lang="en-US" sz="2800" dirty="0"/>
                  <a:t>What is the solution of the recurrence relation</a:t>
                </a:r>
                <a:endParaRPr lang="en-US" sz="28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−2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800" dirty="0"/>
                        <m:t> </m:t>
                      </m:r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:r>
                  <a:rPr lang="en-US" sz="2800" dirty="0"/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</m:oMath>
                </a14:m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0</m:t>
                    </m:r>
                  </m:oMath>
                </a14:m>
                <a:r>
                  <a:rPr lang="en-US" sz="2800" dirty="0"/>
                  <a:t>  and</a:t>
                </a:r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=1</m:t>
                    </m:r>
                  </m:oMath>
                </a14:m>
                <a:r>
                  <a:rPr lang="en-US" sz="2800" dirty="0"/>
                  <a:t>?</a:t>
                </a:r>
                <a:endParaRPr lang="ru-RU" sz="2800" dirty="0"/>
              </a:p>
              <a:p>
                <a:pPr marL="0" indent="0">
                  <a:buNone/>
                </a:pPr>
                <a:r>
                  <a:rPr lang="en-US" sz="2800" u="sng" dirty="0"/>
                  <a:t>Solution</a:t>
                </a:r>
                <a:endParaRPr lang="ru-RU" sz="2800" u="sng" dirty="0"/>
              </a:p>
              <a:p>
                <a:pPr marL="0" indent="0" algn="ctr">
                  <a:buNone/>
                </a:pPr>
                <a:r>
                  <a:rPr lang="en-US" sz="2800" dirty="0"/>
                  <a:t>The characteristic equation of the recurrence relation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−</m:t>
                    </m:r>
                    <m:r>
                      <a:rPr lang="en-US" sz="2800" i="1">
                        <a:latin typeface="Cambria Math"/>
                      </a:rPr>
                      <m:t>𝑟</m:t>
                    </m:r>
                    <m:r>
                      <a:rPr lang="en-US" sz="2800" i="1">
                        <a:latin typeface="Cambria Math"/>
                      </a:rPr>
                      <m:t>−1=0.</m:t>
                    </m:r>
                  </m:oMath>
                </a14:m>
                <a:endParaRPr lang="ru-RU" sz="2800" dirty="0"/>
              </a:p>
              <a:p>
                <a:pPr marL="0" indent="0">
                  <a:buNone/>
                </a:pPr>
                <a:r>
                  <a:rPr lang="en-US" sz="2800" dirty="0"/>
                  <a:t>Its roots are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𝑟</m:t>
                    </m:r>
                    <m:r>
                      <a:rPr lang="en-US" sz="2800" i="1">
                        <a:latin typeface="Cambria Math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/>
                              </a:rPr>
                              <m:t>1+</m:t>
                            </m:r>
                            <m:rad>
                              <m:radPr>
                                <m:degHide m:val="on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800" i="1">
                                    <a:latin typeface="Cambria Math"/>
                                  </a:rPr>
                                  <m:t>5</m:t>
                                </m:r>
                              </m:e>
                            </m:rad>
                          </m:e>
                        </m:d>
                      </m:num>
                      <m:den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ru-RU" sz="2800" dirty="0"/>
                  <a:t> </a:t>
                </a:r>
                <a:r>
                  <a:rPr lang="en-US" sz="2800" dirty="0"/>
                  <a:t>and</a:t>
                </a:r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𝑟</m:t>
                    </m:r>
                    <m:r>
                      <a:rPr lang="en-US" sz="2800" i="1">
                        <a:latin typeface="Cambria Math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/>
                              </a:rPr>
                              <m:t>1−</m:t>
                            </m:r>
                            <m:rad>
                              <m:radPr>
                                <m:degHide m:val="on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800" i="1">
                                    <a:latin typeface="Cambria Math"/>
                                  </a:rPr>
                                  <m:t>5</m:t>
                                </m:r>
                              </m:e>
                            </m:rad>
                          </m:e>
                        </m:d>
                      </m:num>
                      <m:den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ru-RU" sz="2800" dirty="0"/>
                  <a:t>.</a:t>
                </a:r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By theorem 1,</a:t>
                </a:r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i="1">
                                        <a:latin typeface="Cambria Math"/>
                                      </a:rPr>
                                      <m:t>1+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2800" i="1">
                                            <a:latin typeface="Cambria Math"/>
                                          </a:rPr>
                                          <m:t>5</m:t>
                                        </m:r>
                                      </m:e>
                                    </m:rad>
                                  </m:e>
                                </m:d>
                              </m:num>
                              <m:den>
                                <m:r>
                                  <a:rPr lang="en-US" sz="2800" i="1">
                                    <a:latin typeface="Cambria Math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i="1">
                                        <a:latin typeface="Cambria Math"/>
                                      </a:rPr>
                                      <m:t>1−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2800" i="1">
                                            <a:latin typeface="Cambria Math"/>
                                          </a:rPr>
                                          <m:t>5</m:t>
                                        </m:r>
                                      </m:e>
                                    </m:rad>
                                  </m:e>
                                </m:d>
                              </m:num>
                              <m:den>
                                <m:r>
                                  <a:rPr lang="en-US" sz="2800" i="1">
                                    <a:latin typeface="Cambria Math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sz="2800" b="0" i="1" smtClean="0">
                        <a:latin typeface="Cambria Math"/>
                      </a:rPr>
                      <m:t>.</m:t>
                    </m:r>
                  </m:oMath>
                </a14:m>
                <a:endParaRPr lang="ru-RU" sz="2800" dirty="0"/>
              </a:p>
              <a:p>
                <a:pPr marL="0" indent="0">
                  <a:buNone/>
                </a:pPr>
                <a:endParaRPr lang="ru-RU" sz="2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84784"/>
                <a:ext cx="8229600" cy="5256584"/>
              </a:xfrm>
              <a:blipFill>
                <a:blip r:embed="rId2"/>
                <a:stretch>
                  <a:fillRect l="-1852" t="-19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9506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800" dirty="0"/>
              <a:t>Solving linear homogeneous recurrence relations with constant coefficients </a:t>
            </a:r>
            <a:r>
              <a:rPr lang="en-US" sz="2800" spc="-150" dirty="0"/>
              <a:t>of </a:t>
            </a:r>
            <a:r>
              <a:rPr lang="en-US" sz="2800" b="1" spc="-150" dirty="0">
                <a:solidFill>
                  <a:srgbClr val="C00000"/>
                </a:solidFill>
              </a:rPr>
              <a:t>degree two</a:t>
            </a:r>
            <a:endParaRPr lang="ru-RU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95536" y="1484784"/>
                <a:ext cx="8568952" cy="511256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800" u="sng" dirty="0"/>
                  <a:t>Example</a:t>
                </a:r>
                <a:r>
                  <a:rPr lang="ru-RU" sz="2800" u="sng" dirty="0"/>
                  <a:t> 8</a:t>
                </a:r>
                <a:r>
                  <a:rPr lang="en-US" sz="2800" dirty="0"/>
                  <a:t> (Fibonacci numbers)</a:t>
                </a:r>
                <a:endParaRPr lang="ru-RU" sz="2800" u="sng" dirty="0"/>
              </a:p>
              <a:p>
                <a:pPr marL="0" indent="0">
                  <a:buNone/>
                </a:pPr>
                <a:r>
                  <a:rPr lang="en-US" sz="2800" dirty="0"/>
                  <a:t>What is the solution of the recurrence relation</a:t>
                </a:r>
                <a:endParaRPr lang="en-US" sz="28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−2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800" dirty="0"/>
                        <m:t> </m:t>
                      </m:r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:r>
                  <a:rPr lang="en-US" sz="2800" dirty="0"/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</m:oMath>
                </a14:m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0</m:t>
                    </m:r>
                  </m:oMath>
                </a14:m>
                <a:r>
                  <a:rPr lang="en-US" sz="2800" dirty="0"/>
                  <a:t>  and</a:t>
                </a:r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=1</m:t>
                    </m:r>
                  </m:oMath>
                </a14:m>
                <a:r>
                  <a:rPr lang="en-US" sz="2800" dirty="0"/>
                  <a:t>?</a:t>
                </a:r>
                <a:endParaRPr lang="ru-RU" sz="2800" dirty="0"/>
              </a:p>
              <a:p>
                <a:pPr marL="0" indent="0">
                  <a:buNone/>
                </a:pPr>
                <a:r>
                  <a:rPr lang="en-US" sz="2800" u="sng" dirty="0"/>
                  <a:t>Solution</a:t>
                </a:r>
                <a:endParaRPr lang="ru-RU" sz="2800" u="sn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i="1">
                                          <a:latin typeface="Cambria Math"/>
                                        </a:rPr>
                                        <m:t>1+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2800" i="1">
                                              <a:latin typeface="Cambria Math"/>
                                            </a:rPr>
                                            <m:t>5</m:t>
                                          </m:r>
                                        </m:e>
                                      </m:rad>
                                    </m:e>
                                  </m:d>
                                </m:num>
                                <m:den>
                                  <m:r>
                                    <a:rPr lang="en-US" sz="28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i="1">
                                          <a:latin typeface="Cambria Math"/>
                                        </a:rPr>
                                        <m:t>1−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2800" i="1">
                                              <a:latin typeface="Cambria Math"/>
                                            </a:rPr>
                                            <m:t>5</m:t>
                                          </m:r>
                                        </m:e>
                                      </m:rad>
                                    </m:e>
                                  </m:d>
                                </m:num>
                                <m:den>
                                  <m:r>
                                    <a:rPr lang="en-US" sz="28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r>
                        <m:rPr>
                          <m:nor/>
                        </m:rPr>
                        <a:rPr lang="ru-RU" sz="2800" dirty="0"/>
                        <m:t> </m:t>
                      </m:r>
                      <m:r>
                        <a:rPr lang="en-US" sz="2800" b="0" i="1" smtClean="0">
                          <a:latin typeface="Cambria Math"/>
                        </a:rPr>
                        <m:t>0</m:t>
                      </m:r>
                      <m:r>
                        <a:rPr lang="en-U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,</m:t>
                      </m:r>
                    </m:oMath>
                  </m:oMathPara>
                </a14:m>
                <a:endParaRPr lang="ru-RU" sz="28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r>
                      <m:rPr>
                        <m:nor/>
                      </m:rPr>
                      <a:rPr lang="ru-RU" sz="2800" dirty="0"/>
                      <m:t> </m:t>
                    </m:r>
                    <m:r>
                      <a:rPr lang="en-US" sz="2800" b="0" i="1" smtClean="0">
                        <a:latin typeface="Cambria Math"/>
                      </a:rPr>
                      <m:t>1</m:t>
                    </m:r>
                    <m:r>
                      <a:rPr lang="en-US" sz="28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latin typeface="Cambria Math"/>
                                  </a:rPr>
                                  <m:t>1+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800" i="1">
                                        <a:latin typeface="Cambria Math"/>
                                      </a:rPr>
                                      <m:t>5</m:t>
                                    </m:r>
                                  </m:e>
                                </m:rad>
                              </m:e>
                            </m:d>
                          </m:num>
                          <m:den>
                            <m:r>
                              <a:rPr lang="en-US" sz="2800" i="1">
                                <a:latin typeface="Cambria Math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8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latin typeface="Cambria Math"/>
                                  </a:rPr>
                                  <m:t>1−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800" i="1">
                                        <a:latin typeface="Cambria Math"/>
                                      </a:rPr>
                                      <m:t>5</m:t>
                                    </m:r>
                                  </m:e>
                                </m:rad>
                              </m:e>
                            </m:d>
                          </m:num>
                          <m:den>
                            <m:r>
                              <a:rPr lang="en-US" sz="2800" i="1">
                                <a:latin typeface="Cambria Math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800" i="1">
                        <a:latin typeface="Cambria Math"/>
                      </a:rPr>
                      <m:t>,</m:t>
                    </m:r>
                  </m:oMath>
                </a14:m>
                <a:r>
                  <a:rPr lang="ru-RU" sz="2800" dirty="0">
                    <a:sym typeface="Symbol"/>
                  </a:rPr>
                  <a:t> 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ru-RU" sz="2800" i="1"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ru-R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ru-RU" sz="28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800" b="0" i="1" smtClean="0">
                                  <a:latin typeface="Cambria Math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ru-RU" sz="2800" i="1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ru-RU" sz="2800" i="1">
                          <a:latin typeface="Cambria Math"/>
                        </a:rPr>
                        <m:t>=−</m:t>
                      </m:r>
                      <m:f>
                        <m:fPr>
                          <m:type m:val="lin"/>
                          <m:ctrlPr>
                            <a:rPr lang="ru-R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ru-RU" sz="28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800" b="0" i="1" smtClean="0">
                                  <a:latin typeface="Cambria Math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ru-RU" sz="2800" i="1">
                          <a:latin typeface="Cambria Math"/>
                        </a:rPr>
                        <m:t>, </m:t>
                      </m:r>
                      <m:r>
                        <a:rPr lang="ru-RU" sz="2800" i="1">
                          <a:latin typeface="Cambria Math"/>
                          <a:sym typeface="Symbol"/>
                        </a:rPr>
                        <m:t></m:t>
                      </m:r>
                    </m:oMath>
                  </m:oMathPara>
                </a14:m>
                <a:endParaRPr lang="ru-RU" sz="2800" dirty="0">
                  <a:sym typeface="Symbol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i="1">
                                          <a:latin typeface="Cambria Math"/>
                                        </a:rPr>
                                        <m:t>1+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2800" i="1">
                                              <a:latin typeface="Cambria Math"/>
                                            </a:rPr>
                                            <m:t>5</m:t>
                                          </m:r>
                                        </m:e>
                                      </m:rad>
                                    </m:e>
                                  </m:d>
                                </m:num>
                                <m:den>
                                  <m:r>
                                    <a:rPr lang="en-US" sz="28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800" i="1"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type m:val="lin"/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800" i="1">
                                      <a:latin typeface="Cambria Math"/>
                                    </a:rPr>
                                    <m:t>5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i="1">
                                          <a:latin typeface="Cambria Math"/>
                                        </a:rPr>
                                        <m:t>1−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2800" i="1">
                                              <a:latin typeface="Cambria Math"/>
                                            </a:rPr>
                                            <m:t>5</m:t>
                                          </m:r>
                                        </m:e>
                                      </m:rad>
                                    </m:e>
                                  </m:d>
                                </m:num>
                                <m:den>
                                  <m:r>
                                    <a:rPr lang="en-US" sz="28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ru-RU" sz="2800" i="1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:endParaRPr lang="ru-RU" sz="2800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5536" y="1484784"/>
                <a:ext cx="8568952" cy="5112568"/>
              </a:xfrm>
              <a:blipFill>
                <a:blip r:embed="rId2"/>
                <a:stretch>
                  <a:fillRect l="-2071" t="-2978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Прямая соединительная линия 5"/>
          <p:cNvCxnSpPr/>
          <p:nvPr/>
        </p:nvCxnSpPr>
        <p:spPr>
          <a:xfrm>
            <a:off x="395536" y="4375966"/>
            <a:ext cx="8208912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2674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800" dirty="0"/>
              <a:t>Solving linear homogeneous recurrence relations with constant coefficients </a:t>
            </a:r>
            <a:r>
              <a:rPr lang="en-US" sz="2800" spc="-150" dirty="0"/>
              <a:t>of </a:t>
            </a:r>
            <a:r>
              <a:rPr lang="en-US" sz="2800" b="1" spc="-150" dirty="0">
                <a:solidFill>
                  <a:srgbClr val="C00000"/>
                </a:solidFill>
              </a:rPr>
              <a:t>degree two</a:t>
            </a:r>
            <a:endParaRPr lang="ru-RU" sz="2800" b="1" spc="-15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768096" y="2360901"/>
                <a:ext cx="8229600" cy="482453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u="sng" dirty="0"/>
                  <a:t>Theorem</a:t>
                </a:r>
                <a:r>
                  <a:rPr lang="ru-RU" sz="2800" u="sng" dirty="0"/>
                  <a:t> </a:t>
                </a:r>
                <a:r>
                  <a:rPr lang="en-US" sz="2800" u="sng" dirty="0"/>
                  <a:t>2</a:t>
                </a:r>
                <a:endParaRPr lang="ru-RU" sz="2800" u="sng" dirty="0"/>
              </a:p>
              <a:p>
                <a:pPr marL="0" indent="0">
                  <a:buNone/>
                </a:pPr>
                <a:r>
                  <a:rPr lang="en-US" sz="2800" dirty="0"/>
                  <a:t>Let</a:t>
                </a:r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2800" dirty="0"/>
                  <a:t> </a:t>
                </a:r>
                <a:r>
                  <a:rPr lang="en-US" sz="2800" dirty="0"/>
                  <a:t>and</a:t>
                </a:r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2800" dirty="0"/>
                  <a:t> </a:t>
                </a:r>
                <a:r>
                  <a:rPr lang="en-US" sz="2800" dirty="0"/>
                  <a:t>be real numbers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 smtClean="0">
                        <a:latin typeface="Cambria Math"/>
                        <a:ea typeface="Cambria Math"/>
                      </a:rPr>
                      <m:t>≠</m:t>
                    </m:r>
                    <m:r>
                      <a:rPr lang="ru-RU" sz="2800" b="0" i="1" smtClean="0">
                        <a:latin typeface="Cambria Math"/>
                        <a:ea typeface="Cambria Math"/>
                      </a:rPr>
                      <m:t>0</m:t>
                    </m:r>
                  </m:oMath>
                </a14:m>
                <a:r>
                  <a:rPr lang="ru-RU" sz="2800" dirty="0"/>
                  <a:t>. </a:t>
                </a:r>
                <a:r>
                  <a:rPr lang="en-US" sz="2800" dirty="0"/>
                  <a:t>Suppose that</a:t>
                </a:r>
                <a:endParaRPr lang="ru-RU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𝑟</m:t>
                      </m:r>
                      <m:r>
                        <a:rPr lang="en-US" sz="28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has only one root</a:t>
                </a:r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ru-RU" sz="2800" b="0" i="1" smtClean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800" dirty="0"/>
                  <a:t>. </a:t>
                </a:r>
              </a:p>
              <a:p>
                <a:pPr marL="0" indent="0">
                  <a:buNone/>
                </a:pPr>
                <a:r>
                  <a:rPr lang="en-US" sz="2800" dirty="0"/>
                  <a:t>A sequence</a:t>
                </a:r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800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800" dirty="0"/>
                  <a:t> </a:t>
                </a:r>
                <a:r>
                  <a:rPr lang="en-US" sz="2800" dirty="0"/>
                  <a:t>is a solution of the recurrence relation</a:t>
                </a:r>
                <a:r>
                  <a:rPr lang="ru-RU" sz="2800" dirty="0"/>
                  <a:t>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  <m:r>
                          <a:rPr lang="en-US" sz="2800" i="1"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  <m:r>
                          <a:rPr lang="en-US" sz="2800" i="1">
                            <a:latin typeface="Cambria Math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endParaRPr lang="ru-RU" sz="2800" dirty="0"/>
              </a:p>
              <a:p>
                <a:pPr marL="0" indent="0">
                  <a:buNone/>
                </a:pPr>
                <a:r>
                  <a:rPr lang="en-US" sz="2800" dirty="0"/>
                  <a:t>if and only if</a:t>
                </a:r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sz="2800" b="1" i="1" smtClean="0">
                        <a:solidFill>
                          <a:srgbClr val="C0000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𝜶</m:t>
                        </m:r>
                      </m:e>
                      <m:sub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sSubSup>
                      <m:sSubSupPr>
                        <m:ctrlP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𝒓</m:t>
                        </m:r>
                      </m:e>
                      <m:sub>
                        <m:r>
                          <a:rPr lang="ru-RU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𝟎</m:t>
                        </m:r>
                      </m:sub>
                      <m:sup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𝒏</m:t>
                        </m:r>
                      </m:sup>
                    </m:sSubSup>
                    <m:r>
                      <a:rPr lang="en-US" sz="2800" b="1" i="1" smtClean="0">
                        <a:solidFill>
                          <a:srgbClr val="C00000"/>
                        </a:solidFill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𝜶</m:t>
                        </m:r>
                      </m:e>
                      <m:sub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  <m:sSubSup>
                      <m:sSubSupPr>
                        <m:ctrlPr>
                          <a:rPr lang="en-US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en-US" sz="2800" b="1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𝒓</m:t>
                        </m:r>
                      </m:e>
                      <m:sub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𝟎</m:t>
                        </m:r>
                      </m:sub>
                      <m:sup>
                        <m:r>
                          <a:rPr lang="en-US" sz="2800" b="1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𝒏</m:t>
                        </m:r>
                      </m:sup>
                    </m:sSubSup>
                    <m:r>
                      <a:rPr lang="ru-RU" sz="2800" b="1" i="1" smtClean="0">
                        <a:solidFill>
                          <a:srgbClr val="C0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800" dirty="0"/>
                  <a:t> for</a:t>
                </a:r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𝑛</m:t>
                    </m:r>
                    <m:r>
                      <a:rPr lang="en-US" sz="2800" b="0" i="1" smtClean="0">
                        <a:latin typeface="Cambria Math"/>
                      </a:rPr>
                      <m:t>=0, 1, 2,… </m:t>
                    </m:r>
                  </m:oMath>
                </a14:m>
                <a:r>
                  <a:rPr lang="ru-RU" sz="2800" dirty="0"/>
                  <a:t>, </a:t>
                </a:r>
                <a:r>
                  <a:rPr lang="en-US" sz="2800" dirty="0"/>
                  <a:t>where</a:t>
                </a:r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smtClean="0"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2800" dirty="0"/>
                  <a:t> </a:t>
                </a:r>
                <a:r>
                  <a:rPr lang="en-US" sz="2800" dirty="0"/>
                  <a:t>and</a:t>
                </a:r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smtClean="0"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2800" dirty="0"/>
                  <a:t> </a:t>
                </a:r>
                <a:r>
                  <a:rPr lang="en-US" sz="2800" dirty="0"/>
                  <a:t>are constants.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8096" y="2360901"/>
                <a:ext cx="8229600" cy="4824536"/>
              </a:xfrm>
              <a:blipFill>
                <a:blip r:embed="rId3"/>
                <a:stretch>
                  <a:fillRect l="-2074" t="-2146" r="-1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4203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800" dirty="0"/>
              <a:t>Solving linear homogeneous recurrence relations with constant coefficients </a:t>
            </a:r>
            <a:r>
              <a:rPr lang="en-US" sz="2800" spc="-150" dirty="0"/>
              <a:t>of </a:t>
            </a:r>
            <a:r>
              <a:rPr lang="en-US" sz="2800" b="1" spc="-150" dirty="0">
                <a:solidFill>
                  <a:srgbClr val="C00000"/>
                </a:solidFill>
              </a:rPr>
              <a:t>degree two</a:t>
            </a:r>
            <a:endParaRPr lang="ru-R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768096" y="2286000"/>
                <a:ext cx="7980368" cy="4023360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sz="3000" u="sng" dirty="0"/>
                  <a:t>Example </a:t>
                </a:r>
                <a:r>
                  <a:rPr lang="ru-RU" sz="3000" u="sng" dirty="0"/>
                  <a:t>9</a:t>
                </a:r>
              </a:p>
              <a:p>
                <a:pPr marL="0" indent="0">
                  <a:buNone/>
                </a:pPr>
                <a:r>
                  <a:rPr lang="en-US" sz="3000" dirty="0"/>
                  <a:t>What is the solution of the recurrence relation</a:t>
                </a:r>
                <a:endParaRPr lang="en-US" sz="30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3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3000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30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ru-RU" sz="3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3000" b="0" i="1" smtClean="0">
                              <a:latin typeface="Cambria Math"/>
                            </a:rPr>
                            <m:t>6</m:t>
                          </m:r>
                          <m:r>
                            <a:rPr lang="en-US" sz="30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3000" i="1">
                              <a:latin typeface="Cambria Math"/>
                            </a:rPr>
                            <m:t>𝑛</m:t>
                          </m:r>
                          <m:r>
                            <a:rPr lang="en-US" sz="3000" i="1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ru-RU" sz="3000" b="0" i="1" smtClean="0">
                          <a:latin typeface="Cambria Math"/>
                        </a:rPr>
                        <m:t>−9</m:t>
                      </m:r>
                      <m:sSub>
                        <m:sSubPr>
                          <m:ctrlPr>
                            <a:rPr lang="ru-RU" sz="3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3000" i="1">
                              <a:latin typeface="Cambria Math"/>
                            </a:rPr>
                            <m:t>𝑛</m:t>
                          </m:r>
                          <m:r>
                            <a:rPr lang="en-US" sz="3000" i="1">
                              <a:latin typeface="Cambria Math"/>
                            </a:rPr>
                            <m:t>−2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3000" dirty="0"/>
                        <m:t> </m:t>
                      </m:r>
                    </m:oMath>
                  </m:oMathPara>
                </a14:m>
                <a:endParaRPr lang="ru-RU" sz="3000" dirty="0"/>
              </a:p>
              <a:p>
                <a:pPr marL="0" indent="0">
                  <a:buNone/>
                </a:pPr>
                <a:r>
                  <a:rPr lang="en-US" sz="3000" dirty="0"/>
                  <a:t>with</a:t>
                </a:r>
                <a:r>
                  <a:rPr lang="ru-RU" sz="3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3000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3000" i="1">
                        <a:latin typeface="Cambria Math"/>
                      </a:rPr>
                      <m:t>=</m:t>
                    </m:r>
                  </m:oMath>
                </a14:m>
                <a:r>
                  <a:rPr lang="ru-RU" sz="3000" dirty="0"/>
                  <a:t> </a:t>
                </a:r>
                <a14:m>
                  <m:oMath xmlns:m="http://schemas.openxmlformats.org/officeDocument/2006/math">
                    <m:r>
                      <a:rPr lang="ru-RU" sz="3000" b="0" i="1" smtClean="0">
                        <a:latin typeface="Cambria Math"/>
                      </a:rPr>
                      <m:t>1</m:t>
                    </m:r>
                  </m:oMath>
                </a14:m>
                <a:r>
                  <a:rPr lang="en-US" sz="3000" dirty="0"/>
                  <a:t>  and</a:t>
                </a:r>
                <a:r>
                  <a:rPr lang="ru-RU" sz="3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30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3000" i="1">
                        <a:latin typeface="Cambria Math"/>
                      </a:rPr>
                      <m:t>=</m:t>
                    </m:r>
                    <m:r>
                      <a:rPr lang="ru-RU" sz="3000" b="0" i="1" smtClean="0">
                        <a:latin typeface="Cambria Math"/>
                      </a:rPr>
                      <m:t>6</m:t>
                    </m:r>
                  </m:oMath>
                </a14:m>
                <a:r>
                  <a:rPr lang="en-US" sz="3000" dirty="0"/>
                  <a:t>?</a:t>
                </a:r>
                <a:endParaRPr lang="ru-RU" sz="3000" dirty="0"/>
              </a:p>
              <a:p>
                <a:pPr marL="0" indent="0">
                  <a:buNone/>
                </a:pPr>
                <a:r>
                  <a:rPr lang="en-US" sz="3000" u="sng" dirty="0"/>
                  <a:t>Solution</a:t>
                </a:r>
                <a:endParaRPr lang="ru-RU" sz="3000" u="sng" dirty="0"/>
              </a:p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en-US" sz="3000" dirty="0"/>
                  <a:t>The characteristic equation of the recurrence relation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US" sz="30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3000" i="1">
                        <a:latin typeface="Cambria Math"/>
                      </a:rPr>
                      <m:t>−</m:t>
                    </m:r>
                    <m:r>
                      <a:rPr lang="ru-RU" sz="3000" b="0" i="1" smtClean="0">
                        <a:latin typeface="Cambria Math"/>
                      </a:rPr>
                      <m:t>6</m:t>
                    </m:r>
                    <m:r>
                      <a:rPr lang="en-US" sz="3000" i="1">
                        <a:latin typeface="Cambria Math"/>
                      </a:rPr>
                      <m:t>𝑟</m:t>
                    </m:r>
                    <m:r>
                      <a:rPr lang="ru-RU" sz="3000" i="1" smtClean="0">
                        <a:latin typeface="Cambria Math"/>
                      </a:rPr>
                      <m:t>+</m:t>
                    </m:r>
                    <m:r>
                      <a:rPr lang="ru-RU" sz="3000" b="0" i="1" smtClean="0">
                        <a:latin typeface="Cambria Math"/>
                      </a:rPr>
                      <m:t>9</m:t>
                    </m:r>
                    <m:r>
                      <a:rPr lang="en-US" sz="3000" i="1">
                        <a:latin typeface="Cambria Math"/>
                      </a:rPr>
                      <m:t>=</m:t>
                    </m:r>
                    <m:r>
                      <a:rPr lang="en-US" sz="3000" i="1" smtClean="0">
                        <a:latin typeface="Cambria Math"/>
                      </a:rPr>
                      <m:t>0</m:t>
                    </m:r>
                    <m:r>
                      <a:rPr lang="en-US" sz="3000" b="0" i="1" smtClean="0">
                        <a:latin typeface="Cambria Math"/>
                      </a:rPr>
                      <m:t>.</m:t>
                    </m:r>
                  </m:oMath>
                </a14:m>
                <a:endParaRPr lang="ru-RU" sz="3000" dirty="0"/>
              </a:p>
              <a:p>
                <a:pPr marL="0" indent="0">
                  <a:buNone/>
                </a:pPr>
                <a:r>
                  <a:rPr lang="en-US" sz="3000" dirty="0"/>
                  <a:t>Its root is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/>
                      </a:rPr>
                      <m:t>𝑟</m:t>
                    </m:r>
                    <m:r>
                      <a:rPr lang="en-US" sz="3000" i="1">
                        <a:latin typeface="Cambria Math"/>
                      </a:rPr>
                      <m:t>=</m:t>
                    </m:r>
                  </m:oMath>
                </a14:m>
                <a:r>
                  <a:rPr lang="ru-RU" sz="3000" dirty="0"/>
                  <a:t> </a:t>
                </a:r>
                <a14:m>
                  <m:oMath xmlns:m="http://schemas.openxmlformats.org/officeDocument/2006/math">
                    <m:r>
                      <a:rPr lang="ru-RU" sz="3000" b="0" i="1" smtClean="0">
                        <a:latin typeface="Cambria Math"/>
                      </a:rPr>
                      <m:t>3</m:t>
                    </m:r>
                  </m:oMath>
                </a14:m>
                <a:r>
                  <a:rPr lang="ru-RU" sz="3000" dirty="0"/>
                  <a:t>.</a:t>
                </a:r>
                <a:endParaRPr lang="en-US" sz="3000" dirty="0"/>
              </a:p>
              <a:p>
                <a:pPr marL="0" indent="0">
                  <a:buNone/>
                </a:pPr>
                <a:r>
                  <a:rPr lang="en-US" sz="3000" dirty="0"/>
                  <a:t>By theorem 2,</a:t>
                </a:r>
                <a:r>
                  <a:rPr lang="ru-RU" sz="3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3000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30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 smtClean="0"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b>
                        <m:r>
                          <a:rPr lang="en-US" sz="3000" i="1">
                            <a:latin typeface="Cambria Math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sz="3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3000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US" sz="3000" b="0" i="1" smtClean="0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sz="30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 smtClean="0"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b>
                        <m:r>
                          <a:rPr lang="en-US" sz="30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3000" b="0" i="1" smtClean="0">
                        <a:latin typeface="Cambria Math"/>
                      </a:rPr>
                      <m:t>𝑛</m:t>
                    </m:r>
                    <m:sSup>
                      <m:sSup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3000" i="1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US" sz="3000" i="1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sz="3000" b="0" i="1" smtClean="0">
                        <a:latin typeface="Cambria Math"/>
                      </a:rPr>
                      <m:t>.</m:t>
                    </m:r>
                  </m:oMath>
                </a14:m>
                <a:endParaRPr lang="ru-RU" sz="3000" dirty="0"/>
              </a:p>
              <a:p>
                <a:pPr marL="0" indent="0">
                  <a:buNone/>
                </a:pPr>
                <a:endParaRPr lang="ru-RU" sz="2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8096" y="2286000"/>
                <a:ext cx="7980368" cy="4023360"/>
              </a:xfrm>
              <a:blipFill>
                <a:blip r:embed="rId2"/>
                <a:stretch>
                  <a:fillRect l="-1451" t="-30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8300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800" dirty="0"/>
              <a:t>Solving linear homogeneous recurrence relations with constant coefficients </a:t>
            </a:r>
            <a:r>
              <a:rPr lang="en-US" sz="2800" spc="-150" dirty="0"/>
              <a:t>of </a:t>
            </a:r>
            <a:r>
              <a:rPr lang="en-US" sz="2800" b="1" spc="-150" dirty="0">
                <a:solidFill>
                  <a:srgbClr val="C00000"/>
                </a:solidFill>
              </a:rPr>
              <a:t>degree two</a:t>
            </a:r>
            <a:endParaRPr lang="ru-RU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611560" y="2118556"/>
                <a:ext cx="8229600" cy="478112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800" u="sng" dirty="0"/>
                  <a:t>Example</a:t>
                </a:r>
                <a:r>
                  <a:rPr lang="ru-RU" sz="2800" u="sng" dirty="0"/>
                  <a:t> 9</a:t>
                </a:r>
              </a:p>
              <a:p>
                <a:pPr marL="0" indent="0">
                  <a:buNone/>
                </a:pPr>
                <a:r>
                  <a:rPr lang="en-US" sz="2800" dirty="0"/>
                  <a:t>What is the solution of the recurrence relation</a:t>
                </a:r>
                <a:endParaRPr lang="en-US" sz="28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800" i="1">
                              <a:latin typeface="Cambria Math"/>
                            </a:rPr>
                            <m:t>6</m:t>
                          </m:r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ru-RU" sz="2800" i="1">
                          <a:latin typeface="Cambria Math"/>
                        </a:rPr>
                        <m:t>−9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−2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800" dirty="0"/>
                        <m:t> </m:t>
                      </m:r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:r>
                  <a:rPr lang="en-US" sz="2800" dirty="0"/>
                  <a:t>with</a:t>
                </a:r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</m:oMath>
                </a14:m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r>
                      <a:rPr lang="ru-RU" sz="2800" i="1">
                        <a:latin typeface="Cambria Math"/>
                      </a:rPr>
                      <m:t>1</m:t>
                    </m:r>
                  </m:oMath>
                </a14:m>
                <a:r>
                  <a:rPr lang="en-US" sz="2800" dirty="0"/>
                  <a:t>  and</a:t>
                </a:r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r>
                      <a:rPr lang="ru-RU" sz="2800" i="1">
                        <a:latin typeface="Cambria Math"/>
                      </a:rPr>
                      <m:t>6</m:t>
                    </m:r>
                  </m:oMath>
                </a14:m>
                <a:r>
                  <a:rPr lang="en-US" sz="2800" dirty="0"/>
                  <a:t>?</a:t>
                </a:r>
                <a:endParaRPr lang="ru-RU" sz="2800" dirty="0"/>
              </a:p>
              <a:p>
                <a:pPr marL="0" indent="0">
                  <a:buNone/>
                </a:pPr>
                <a:r>
                  <a:rPr lang="en-US" sz="2800" u="sng" dirty="0"/>
                  <a:t>Solution</a:t>
                </a:r>
                <a:endParaRPr lang="ru-RU" sz="2800" u="sn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800" b="0" i="1" smtClean="0"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𝑛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800" i="1"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r>
                        <m:rPr>
                          <m:nor/>
                        </m:rPr>
                        <a:rPr lang="ru-RU" sz="2800" dirty="0"/>
                        <m:t> </m:t>
                      </m:r>
                      <m:r>
                        <a:rPr lang="en-US" sz="2800" b="0" i="1" smtClean="0">
                          <a:latin typeface="Cambria Math"/>
                        </a:rPr>
                        <m:t>1</m:t>
                      </m:r>
                      <m:r>
                        <a:rPr lang="en-U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,</m:t>
                      </m:r>
                    </m:oMath>
                  </m:oMathPara>
                </a14:m>
                <a:endParaRPr lang="ru-RU" sz="28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r>
                      <m:rPr>
                        <m:nor/>
                      </m:rPr>
                      <a:rPr lang="ru-RU" sz="2800" dirty="0"/>
                      <m:t> </m:t>
                    </m:r>
                    <m:r>
                      <a:rPr lang="en-US" sz="2800" b="0" i="1" smtClean="0">
                        <a:latin typeface="Cambria Math"/>
                      </a:rPr>
                      <m:t>6</m:t>
                    </m:r>
                    <m:r>
                      <a:rPr lang="en-US" sz="28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/>
                        <a:ea typeface="Cambria Math"/>
                      </a:rPr>
                      <m:t>∙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3</m:t>
                    </m:r>
                    <m:r>
                      <a:rPr lang="en-US" sz="28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  <a:ea typeface="Cambria Math"/>
                      </a:rPr>
                      <m:t>∙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3</m:t>
                    </m:r>
                    <m:r>
                      <a:rPr lang="en-US" sz="2800" i="1">
                        <a:latin typeface="Cambria Math"/>
                      </a:rPr>
                      <m:t>,</m:t>
                    </m:r>
                  </m:oMath>
                </a14:m>
                <a:r>
                  <a:rPr lang="ru-RU" sz="2800" dirty="0">
                    <a:sym typeface="Symbol"/>
                  </a:rPr>
                  <a:t> 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ru-RU" sz="2800" i="1">
                          <a:latin typeface="Cambria Math"/>
                        </a:rPr>
                        <m:t>=</m:t>
                      </m:r>
                      <m:r>
                        <a:rPr lang="en-US" sz="2800" b="0" i="1" smtClean="0">
                          <a:latin typeface="Cambria Math"/>
                        </a:rPr>
                        <m:t>1</m:t>
                      </m:r>
                      <m:r>
                        <a:rPr lang="ru-RU" sz="2800" i="1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ru-RU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1</m:t>
                      </m:r>
                      <m:r>
                        <a:rPr lang="ru-RU" sz="2800" i="1">
                          <a:latin typeface="Cambria Math"/>
                        </a:rPr>
                        <m:t>, </m:t>
                      </m:r>
                      <m:r>
                        <a:rPr lang="ru-RU" sz="2800" i="1">
                          <a:latin typeface="Cambria Math"/>
                          <a:sym typeface="Symbol"/>
                        </a:rPr>
                        <m:t></m:t>
                      </m:r>
                    </m:oMath>
                  </m:oMathPara>
                </a14:m>
                <a:endParaRPr lang="ru-RU" sz="2800" dirty="0">
                  <a:sym typeface="Symbol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sz="2800" b="0" i="1" smtClean="0">
                          <a:latin typeface="Cambria Math"/>
                        </a:rPr>
                        <m:t>+</m:t>
                      </m:r>
                      <m:r>
                        <a:rPr lang="en-US" sz="2800" b="0" i="1" smtClean="0">
                          <a:latin typeface="Cambria Math"/>
                        </a:rPr>
                        <m:t>𝑛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:endParaRPr lang="ru-RU" sz="2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1560" y="2118556"/>
                <a:ext cx="8229600" cy="4781128"/>
              </a:xfrm>
              <a:blipFill>
                <a:blip r:embed="rId2"/>
                <a:stretch>
                  <a:fillRect l="-2074" t="-30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Прямая соединительная линия 4"/>
          <p:cNvCxnSpPr/>
          <p:nvPr/>
        </p:nvCxnSpPr>
        <p:spPr>
          <a:xfrm>
            <a:off x="467544" y="4509120"/>
            <a:ext cx="8208912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2603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800" dirty="0"/>
              <a:t>Solving linear homogeneous recurrence relations with constant coefficients </a:t>
            </a:r>
            <a:r>
              <a:rPr lang="en-US" sz="2800" spc="-150" dirty="0"/>
              <a:t>of </a:t>
            </a:r>
            <a:r>
              <a:rPr lang="en-US" sz="2800" b="1" spc="-150" dirty="0">
                <a:solidFill>
                  <a:srgbClr val="C00000"/>
                </a:solidFill>
              </a:rPr>
              <a:t>degree three</a:t>
            </a:r>
            <a:endParaRPr lang="ru-RU" sz="2800" b="1" spc="-15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539552" y="2084832"/>
                <a:ext cx="8229600" cy="511256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u="sng" dirty="0"/>
                  <a:t>Theorem</a:t>
                </a:r>
                <a:r>
                  <a:rPr lang="ru-RU" sz="2800" u="sng" dirty="0"/>
                  <a:t> </a:t>
                </a:r>
                <a:r>
                  <a:rPr lang="en-US" sz="2800" u="sng" dirty="0"/>
                  <a:t>3</a:t>
                </a:r>
                <a:endParaRPr lang="ru-RU" sz="2800" u="sng" dirty="0"/>
              </a:p>
              <a:p>
                <a:pPr marL="0" indent="0">
                  <a:buNone/>
                </a:pPr>
                <a:r>
                  <a:rPr lang="en-US" sz="2800" dirty="0"/>
                  <a:t>Let</a:t>
                </a:r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/>
                      </a:rPr>
                      <m:t>, …,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2800" dirty="0"/>
                  <a:t> </a:t>
                </a:r>
                <a:r>
                  <a:rPr lang="en-US" sz="2800" dirty="0"/>
                  <a:t>be real numbers</a:t>
                </a:r>
                <a:r>
                  <a:rPr lang="ru-RU" sz="2800" dirty="0"/>
                  <a:t>. </a:t>
                </a:r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Suppose that  the characteristic equation</a:t>
                </a:r>
                <a:endParaRPr lang="en-US" sz="28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𝑘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𝑘</m:t>
                          </m:r>
                          <m:r>
                            <a:rPr lang="en-US" sz="2800" i="1">
                              <a:latin typeface="Cambria Math"/>
                            </a:rPr>
                            <m:t>−1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𝑘</m:t>
                          </m:r>
                          <m:r>
                            <a:rPr lang="en-US" sz="2800" i="1">
                              <a:latin typeface="Cambria Math"/>
                            </a:rPr>
                            <m:t>−2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−…−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𝑘</m:t>
                          </m:r>
                          <m:r>
                            <a:rPr lang="en-US" sz="2800" i="1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𝑟</m:t>
                      </m:r>
                      <m:r>
                        <a:rPr lang="en-US" sz="28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has</a:t>
                </a:r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sz="2800" dirty="0"/>
                  <a:t> distinct roots</a:t>
                </a:r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, …,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2800" dirty="0"/>
                  <a:t>. </a:t>
                </a:r>
              </a:p>
              <a:p>
                <a:pPr marL="0" indent="0">
                  <a:buNone/>
                </a:pPr>
                <a:r>
                  <a:rPr lang="en-US" sz="2800" dirty="0"/>
                  <a:t>A sequence</a:t>
                </a:r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800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800" dirty="0"/>
                  <a:t> </a:t>
                </a:r>
                <a:r>
                  <a:rPr lang="en-US" sz="2800" dirty="0"/>
                  <a:t>is a solution of the recurrence relation</a:t>
                </a:r>
                <a:r>
                  <a:rPr lang="ru-RU" sz="2800" dirty="0"/>
                  <a:t>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−2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+…+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</m:t>
                          </m:r>
                          <m:r>
                            <a:rPr lang="en-US" sz="2800" i="1">
                              <a:latin typeface="Cambria Math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:r>
                  <a:rPr lang="en-US" sz="2800" dirty="0"/>
                  <a:t>if and only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sz="2800" b="1" i="1" smtClean="0">
                        <a:solidFill>
                          <a:srgbClr val="C0000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𝜶</m:t>
                        </m:r>
                      </m:e>
                      <m:sub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sSubSup>
                      <m:sSubSupPr>
                        <m:ctrlP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𝒓</m:t>
                        </m:r>
                      </m:e>
                      <m:sub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𝒏</m:t>
                        </m:r>
                      </m:sup>
                    </m:sSubSup>
                    <m:r>
                      <a:rPr lang="en-US" sz="2800" b="1" i="1" smtClean="0">
                        <a:solidFill>
                          <a:srgbClr val="C00000"/>
                        </a:solidFill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𝜶</m:t>
                        </m:r>
                      </m:e>
                      <m:sub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  <m:sSubSup>
                      <m:sSubSupPr>
                        <m:ctrlPr>
                          <a:rPr lang="en-US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1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𝒓</m:t>
                        </m:r>
                      </m:e>
                      <m:sub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𝟐</m:t>
                        </m:r>
                      </m:sub>
                      <m:sup>
                        <m:r>
                          <a:rPr lang="en-US" sz="2800" b="1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𝒏</m:t>
                        </m:r>
                      </m:sup>
                    </m:sSubSup>
                    <m:r>
                      <a:rPr lang="en-US" sz="2800" b="1" i="1" smtClean="0">
                        <a:solidFill>
                          <a:srgbClr val="C00000"/>
                        </a:solidFill>
                        <a:latin typeface="Cambria Math"/>
                      </a:rPr>
                      <m:t>+…+</m:t>
                    </m:r>
                    <m:sSub>
                      <m:sSubPr>
                        <m:ctrlPr>
                          <a:rPr lang="en-US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𝜶</m:t>
                        </m:r>
                      </m:e>
                      <m:sub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  <m:sSubSup>
                      <m:sSubSupPr>
                        <m:ctrlPr>
                          <a:rPr lang="en-US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1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𝒓</m:t>
                        </m:r>
                      </m:e>
                      <m:sub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𝒌</m:t>
                        </m:r>
                      </m:sub>
                      <m:sup>
                        <m:r>
                          <a:rPr lang="en-US" sz="2800" b="1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𝒏</m:t>
                        </m:r>
                      </m:sup>
                    </m:sSubSup>
                  </m:oMath>
                </a14:m>
                <a:r>
                  <a:rPr lang="en-US" sz="2800" dirty="0"/>
                  <a:t>  </a:t>
                </a:r>
              </a:p>
              <a:p>
                <a:pPr marL="0" indent="0">
                  <a:buNone/>
                </a:pPr>
                <a:r>
                  <a:rPr lang="en-US" sz="2800" dirty="0"/>
                  <a:t>for</a:t>
                </a:r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𝑛</m:t>
                    </m:r>
                    <m:r>
                      <a:rPr lang="en-US" sz="2800" b="0" i="1" smtClean="0">
                        <a:latin typeface="Cambria Math"/>
                      </a:rPr>
                      <m:t>=0, 1, 2,… </m:t>
                    </m:r>
                  </m:oMath>
                </a14:m>
                <a:r>
                  <a:rPr lang="ru-RU" sz="2800" dirty="0"/>
                  <a:t>, </a:t>
                </a:r>
                <a:r>
                  <a:rPr lang="en-US" sz="2800" dirty="0"/>
                  <a:t>where</a:t>
                </a:r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, …,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2800" dirty="0"/>
                  <a:t> </a:t>
                </a:r>
                <a:r>
                  <a:rPr lang="en-US" sz="2800" dirty="0"/>
                  <a:t>are constants.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552" y="2084832"/>
                <a:ext cx="8229600" cy="5112568"/>
              </a:xfrm>
              <a:blipFill>
                <a:blip r:embed="rId3"/>
                <a:stretch>
                  <a:fillRect l="-2074" t="-20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9091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800" dirty="0"/>
              <a:t>Solving linear homogeneous recurrence relations with constant coefficients </a:t>
            </a:r>
            <a:r>
              <a:rPr lang="en-US" sz="2800" spc="-150" dirty="0"/>
              <a:t>of </a:t>
            </a:r>
            <a:r>
              <a:rPr lang="en-US" sz="2800" b="1" spc="-150" dirty="0">
                <a:solidFill>
                  <a:srgbClr val="C00000"/>
                </a:solidFill>
              </a:rPr>
              <a:t>degree three</a:t>
            </a:r>
            <a:endParaRPr lang="ru-R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sz="3000" u="sng" dirty="0"/>
                  <a:t>Example 10</a:t>
                </a:r>
                <a:endParaRPr lang="ru-RU" sz="3000" u="sng" dirty="0"/>
              </a:p>
              <a:p>
                <a:pPr marL="0" indent="0">
                  <a:buNone/>
                </a:pPr>
                <a:r>
                  <a:rPr lang="en-US" sz="2800" dirty="0"/>
                  <a:t>What is the solution of the recurrence relation</a:t>
                </a:r>
                <a:endParaRPr lang="en-US" sz="28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3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3000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30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ru-RU" sz="3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3000" b="0" i="1" smtClean="0">
                              <a:latin typeface="Cambria Math"/>
                            </a:rPr>
                            <m:t>6</m:t>
                          </m:r>
                          <m:r>
                            <a:rPr lang="en-US" sz="30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3000" i="1">
                              <a:latin typeface="Cambria Math"/>
                            </a:rPr>
                            <m:t>𝑛</m:t>
                          </m:r>
                          <m:r>
                            <a:rPr lang="en-US" sz="3000" i="1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ru-RU" sz="3000" b="0" i="1" smtClean="0">
                          <a:latin typeface="Cambria Math"/>
                        </a:rPr>
                        <m:t>−</m:t>
                      </m:r>
                      <m:r>
                        <a:rPr lang="en-US" sz="3000" b="0" i="1" smtClean="0">
                          <a:latin typeface="Cambria Math"/>
                        </a:rPr>
                        <m:t>11</m:t>
                      </m:r>
                      <m:sSub>
                        <m:sSubPr>
                          <m:ctrlPr>
                            <a:rPr lang="ru-RU" sz="3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3000" i="1">
                              <a:latin typeface="Cambria Math"/>
                            </a:rPr>
                            <m:t>𝑛</m:t>
                          </m:r>
                          <m:r>
                            <a:rPr lang="en-US" sz="3000" i="1">
                              <a:latin typeface="Cambria Math"/>
                            </a:rPr>
                            <m:t>−2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3000" b="0" i="0" smtClean="0">
                          <a:latin typeface="Cambria Math"/>
                        </a:rPr>
                        <m:t>+6</m:t>
                      </m:r>
                      <m:sSub>
                        <m:sSub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3000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US" sz="3000" b="0" i="1" smtClean="0">
                              <a:latin typeface="Cambria Math"/>
                            </a:rPr>
                            <m:t>−3</m:t>
                          </m:r>
                        </m:sub>
                      </m:sSub>
                    </m:oMath>
                  </m:oMathPara>
                </a14:m>
                <a:endParaRPr lang="ru-RU" sz="3000" dirty="0"/>
              </a:p>
              <a:p>
                <a:pPr marL="0" indent="0">
                  <a:buNone/>
                </a:pPr>
                <a:r>
                  <a:rPr lang="en-US" sz="2800" dirty="0"/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3000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3000" i="1">
                        <a:latin typeface="Cambria Math"/>
                      </a:rPr>
                      <m:t>=</m:t>
                    </m:r>
                  </m:oMath>
                </a14:m>
                <a:r>
                  <a:rPr lang="ru-RU" sz="3000" dirty="0"/>
                  <a:t>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/>
                      </a:rPr>
                      <m:t>2,</m:t>
                    </m:r>
                    <m:sSub>
                      <m:sSubPr>
                        <m:ctrlPr>
                          <a:rPr lang="ru-RU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30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3000" i="1">
                        <a:latin typeface="Cambria Math"/>
                      </a:rPr>
                      <m:t>=5, </m:t>
                    </m:r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30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3000" i="1" smtClean="0">
                        <a:latin typeface="Cambria Math"/>
                      </a:rPr>
                      <m:t>=</m:t>
                    </m:r>
                    <m:r>
                      <a:rPr lang="en-US" sz="3000" i="1">
                        <a:latin typeface="Cambria Math"/>
                      </a:rPr>
                      <m:t>15</m:t>
                    </m:r>
                    <m:r>
                      <a:rPr lang="en-US" sz="3000" b="0" i="1" smtClean="0">
                        <a:latin typeface="Cambria Math"/>
                      </a:rPr>
                      <m:t>.</m:t>
                    </m:r>
                  </m:oMath>
                </a14:m>
                <a:endParaRPr lang="ru-RU" sz="3000" dirty="0"/>
              </a:p>
              <a:p>
                <a:pPr marL="0" indent="0">
                  <a:buNone/>
                </a:pPr>
                <a:r>
                  <a:rPr lang="en-US" sz="3000" u="sng" dirty="0"/>
                  <a:t>Solution</a:t>
                </a:r>
                <a:endParaRPr lang="ru-RU" sz="3000" u="sng" dirty="0"/>
              </a:p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en-US" sz="3000" dirty="0"/>
                  <a:t>The characteristic equation of the recurrence relation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ru-RU" sz="3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000" b="0" i="1" smtClean="0">
                                <a:latin typeface="Cambria Math"/>
                              </a:rPr>
                              <m:t>𝑟</m:t>
                            </m:r>
                          </m:e>
                          <m:sup>
                            <m:r>
                              <a:rPr lang="en-US" sz="3000" b="0" i="1" smtClean="0">
                                <a:latin typeface="Cambria Math"/>
                              </a:rPr>
                              <m:t>3</m:t>
                            </m:r>
                          </m:sup>
                        </m:sSup>
                        <m:r>
                          <a:rPr lang="en-US" sz="3000" b="0" i="1" smtClean="0">
                            <a:latin typeface="Cambria Math"/>
                          </a:rPr>
                          <m:t>−6</m:t>
                        </m:r>
                        <m:r>
                          <a:rPr lang="en-US" sz="3000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US" sz="30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3000" i="1" smtClean="0">
                        <a:latin typeface="Cambria Math"/>
                      </a:rPr>
                      <m:t>+</m:t>
                    </m:r>
                    <m:r>
                      <a:rPr lang="en-US" sz="3000" b="0" i="1" smtClean="0">
                        <a:latin typeface="Cambria Math"/>
                      </a:rPr>
                      <m:t>11</m:t>
                    </m:r>
                    <m:r>
                      <a:rPr lang="en-US" sz="3000" i="1">
                        <a:latin typeface="Cambria Math"/>
                      </a:rPr>
                      <m:t>𝑟</m:t>
                    </m:r>
                    <m:r>
                      <a:rPr lang="en-US" sz="3000" i="1" smtClean="0">
                        <a:latin typeface="Cambria Math"/>
                      </a:rPr>
                      <m:t>−</m:t>
                    </m:r>
                    <m:r>
                      <a:rPr lang="en-US" sz="3000" b="0" i="1" smtClean="0">
                        <a:latin typeface="Cambria Math"/>
                      </a:rPr>
                      <m:t>6</m:t>
                    </m:r>
                    <m:r>
                      <a:rPr lang="en-US" sz="3000" i="1">
                        <a:latin typeface="Cambria Math"/>
                      </a:rPr>
                      <m:t>=</m:t>
                    </m:r>
                    <m:r>
                      <a:rPr lang="en-US" sz="3000" i="1" smtClean="0">
                        <a:latin typeface="Cambria Math"/>
                      </a:rPr>
                      <m:t>0</m:t>
                    </m:r>
                    <m:r>
                      <a:rPr lang="en-US" sz="3000" b="0" i="1" smtClean="0">
                        <a:latin typeface="Cambria Math"/>
                      </a:rPr>
                      <m:t>.</m:t>
                    </m:r>
                  </m:oMath>
                </a14:m>
                <a:endParaRPr lang="ru-RU" sz="3000" dirty="0"/>
              </a:p>
              <a:p>
                <a:pPr marL="0" indent="0">
                  <a:buNone/>
                </a:pPr>
                <a:r>
                  <a:rPr lang="en-US" sz="3000" dirty="0"/>
                  <a:t>Its roots are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sz="30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300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ru-RU" sz="3000" dirty="0"/>
                  <a:t>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/>
                      </a:rPr>
                      <m:t>1,</m:t>
                    </m:r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sz="30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3000" i="1">
                        <a:latin typeface="Cambria Math"/>
                      </a:rPr>
                      <m:t>=</m:t>
                    </m:r>
                    <m:r>
                      <m:rPr>
                        <m:nor/>
                      </m:rPr>
                      <a:rPr lang="ru-RU" sz="3000" dirty="0"/>
                      <m:t> </m:t>
                    </m:r>
                    <m:r>
                      <a:rPr lang="en-US" sz="3000" b="0" i="1" smtClean="0">
                        <a:latin typeface="Cambria Math"/>
                      </a:rPr>
                      <m:t>2,</m:t>
                    </m:r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ru-RU" sz="3000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sz="3000" i="1">
                        <a:latin typeface="Cambria Math"/>
                      </a:rPr>
                      <m:t>=</m:t>
                    </m:r>
                    <m:r>
                      <m:rPr>
                        <m:nor/>
                      </m:rPr>
                      <a:rPr lang="ru-RU" sz="3000" dirty="0"/>
                      <m:t> </m:t>
                    </m:r>
                    <m:r>
                      <a:rPr lang="ru-RU" sz="3000" i="1">
                        <a:latin typeface="Cambria Math"/>
                      </a:rPr>
                      <m:t>3</m:t>
                    </m:r>
                  </m:oMath>
                </a14:m>
                <a:r>
                  <a:rPr lang="ru-RU" sz="3000" dirty="0"/>
                  <a:t>.</a:t>
                </a:r>
                <a:endParaRPr lang="en-US" sz="3000" dirty="0"/>
              </a:p>
              <a:p>
                <a:pPr marL="0" indent="0">
                  <a:buNone/>
                </a:pPr>
                <a:r>
                  <a:rPr lang="en-US" sz="3000" dirty="0"/>
                  <a:t>By theorem 3,</a:t>
                </a:r>
                <a:r>
                  <a:rPr lang="ru-RU" sz="3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3000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30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 smtClean="0"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b>
                        <m:r>
                          <a:rPr lang="en-US" sz="30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3000" i="1" smtClean="0">
                        <a:latin typeface="Cambria Math"/>
                        <a:ea typeface="Cambria Math"/>
                      </a:rPr>
                      <m:t>∙</m:t>
                    </m:r>
                    <m:sSup>
                      <m:sSupPr>
                        <m:ctrlPr>
                          <a:rPr lang="en-US" sz="3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3000" b="0" i="1" smtClean="0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US" sz="3000" b="0" i="1" smtClean="0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sz="30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 smtClean="0"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b>
                        <m:r>
                          <a:rPr lang="en-US" sz="3000" i="1">
                            <a:latin typeface="Cambria Math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i="1" smtClean="0">
                            <a:latin typeface="Cambria Math"/>
                            <a:ea typeface="Cambria Math"/>
                          </a:rPr>
                          <m:t>∙</m:t>
                        </m:r>
                        <m:r>
                          <a:rPr lang="ru-RU" sz="3000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3000" i="1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sz="3000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b>
                        <m:r>
                          <a:rPr lang="ru-RU" sz="3000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sSup>
                      <m:sSup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i="1" smtClean="0">
                            <a:latin typeface="Cambria Math"/>
                            <a:ea typeface="Cambria Math"/>
                          </a:rPr>
                          <m:t>∙</m:t>
                        </m:r>
                        <m:r>
                          <a:rPr lang="ru-RU" sz="3000" i="1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US" sz="3000" i="1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sz="3000" b="0" i="1" smtClean="0">
                        <a:latin typeface="Cambria Math"/>
                      </a:rPr>
                      <m:t>.</m:t>
                    </m:r>
                  </m:oMath>
                </a14:m>
                <a:endParaRPr lang="ru-RU" sz="3000" dirty="0"/>
              </a:p>
              <a:p>
                <a:pPr marL="0" indent="0">
                  <a:buNone/>
                </a:pPr>
                <a:endParaRPr lang="ru-RU" sz="2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89" t="-3030" r="-1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8795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7290054" cy="1499616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800" dirty="0"/>
              <a:t>Solving linear homogeneous recurrence relations with constant coefficients </a:t>
            </a:r>
            <a:r>
              <a:rPr lang="en-US" sz="2800" spc="-150" dirty="0"/>
              <a:t>of </a:t>
            </a:r>
            <a:r>
              <a:rPr lang="en-US" sz="2800" b="1" spc="-150" dirty="0">
                <a:solidFill>
                  <a:srgbClr val="C00000"/>
                </a:solidFill>
              </a:rPr>
              <a:t>degree three</a:t>
            </a:r>
            <a:endParaRPr lang="ru-R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446856" y="1484784"/>
                <a:ext cx="8229600" cy="506916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800" u="sng" dirty="0"/>
                  <a:t>Example 10</a:t>
                </a:r>
                <a:endParaRPr lang="ru-RU" sz="2800" u="sng" dirty="0"/>
              </a:p>
              <a:p>
                <a:pPr marL="0" indent="0">
                  <a:buNone/>
                </a:pPr>
                <a:r>
                  <a:rPr lang="en-US" sz="2800" dirty="0"/>
                  <a:t>What is the solution of the recurrence relation</a:t>
                </a:r>
                <a:endParaRPr lang="en-US" sz="28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800" i="1">
                              <a:latin typeface="Cambria Math"/>
                            </a:rPr>
                            <m:t>6</m:t>
                          </m:r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ru-RU" sz="2800" i="1">
                          <a:latin typeface="Cambria Math"/>
                        </a:rPr>
                        <m:t>−</m:t>
                      </m:r>
                      <m:r>
                        <a:rPr lang="en-US" sz="2800" i="1">
                          <a:latin typeface="Cambria Math"/>
                        </a:rPr>
                        <m:t>11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−2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800">
                          <a:latin typeface="Cambria Math"/>
                        </a:rPr>
                        <m:t>+6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−3</m:t>
                          </m:r>
                        </m:sub>
                      </m:sSub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:r>
                  <a:rPr lang="en-US" sz="2800" dirty="0"/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</m:oMath>
                </a14:m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2,</m:t>
                    </m:r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=5,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=15.</m:t>
                    </m:r>
                  </m:oMath>
                </a14:m>
                <a:endParaRPr lang="ru-RU" sz="2800" dirty="0"/>
              </a:p>
              <a:p>
                <a:pPr marL="0" indent="0">
                  <a:buNone/>
                </a:pPr>
                <a:r>
                  <a:rPr lang="en-US" sz="2800" u="sng" dirty="0"/>
                  <a:t>Solution</a:t>
                </a:r>
                <a:endParaRPr lang="ru-RU" sz="2800" u="sn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latin typeface="Cambria Math"/>
                          <a:ea typeface="Cambria Math"/>
                        </a:rPr>
                        <m:t>∙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800" i="1">
                              <a:latin typeface="Cambria Math"/>
                            </a:rPr>
                            <m:t>1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ru-RU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ru-RU" sz="2800" i="1">
                              <a:latin typeface="Cambria Math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ru-RU" sz="2800" i="1"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ru-RU" sz="28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ru-RU" sz="2800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ru-RU" sz="2800" b="0" i="1" smtClean="0">
                          <a:latin typeface="Cambria Math"/>
                        </a:rPr>
                        <m:t>2=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ru-RU" sz="2800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ru-RU" sz="2800" b="0" i="1" smtClean="0">
                          <a:latin typeface="Cambria Math"/>
                        </a:rPr>
                        <m:t>,</m:t>
                      </m:r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ru-RU" sz="28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ru-RU" sz="2800" b="0" i="1" smtClean="0">
                          <a:latin typeface="Cambria Math"/>
                        </a:rPr>
                        <m:t>5=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800" i="1" smtClean="0">
                          <a:latin typeface="Cambria Math"/>
                          <a:ea typeface="Cambria Math"/>
                        </a:rPr>
                        <m:t>∙</m:t>
                      </m:r>
                      <m:r>
                        <a:rPr lang="ru-RU" sz="2800" b="0" i="1" smtClean="0">
                          <a:latin typeface="Cambria Math"/>
                          <a:ea typeface="Cambria Math"/>
                        </a:rPr>
                        <m:t>2</m:t>
                      </m:r>
                      <m:r>
                        <a:rPr lang="en-US" sz="2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ru-RU" sz="2800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ru-RU" sz="2800" i="1" smtClean="0">
                          <a:latin typeface="Cambria Math"/>
                          <a:ea typeface="Cambria Math"/>
                        </a:rPr>
                        <m:t>∙</m:t>
                      </m:r>
                      <m:r>
                        <a:rPr lang="ru-RU" sz="2800" b="0" i="1" smtClean="0">
                          <a:latin typeface="Cambria Math"/>
                          <a:ea typeface="Cambria Math"/>
                        </a:rPr>
                        <m:t>3,</m:t>
                      </m:r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ru-RU" sz="28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ru-RU" sz="2800" b="0" i="1" smtClean="0">
                          <a:latin typeface="Cambria Math"/>
                        </a:rPr>
                        <m:t>15=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latin typeface="Cambria Math"/>
                          <a:ea typeface="Cambria Math"/>
                        </a:rPr>
                        <m:t>∙</m:t>
                      </m:r>
                      <m:r>
                        <a:rPr lang="ru-RU" sz="2800" b="0" i="1" smtClean="0">
                          <a:latin typeface="Cambria Math"/>
                          <a:ea typeface="Cambria Math"/>
                        </a:rPr>
                        <m:t>4</m:t>
                      </m:r>
                      <m:r>
                        <a:rPr lang="en-US" sz="2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ru-RU" sz="2800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ru-RU" sz="2800" i="1">
                          <a:latin typeface="Cambria Math"/>
                          <a:ea typeface="Cambria Math"/>
                        </a:rPr>
                        <m:t>∙</m:t>
                      </m:r>
                      <m:r>
                        <a:rPr lang="ru-RU" sz="2800" b="0" i="1" smtClean="0">
                          <a:latin typeface="Cambria Math"/>
                          <a:ea typeface="Cambria Math"/>
                        </a:rPr>
                        <m:t>9, </m:t>
                      </m:r>
                      <m:r>
                        <a:rPr lang="ru-RU" sz="2800" b="0" i="1" smtClean="0">
                          <a:latin typeface="Cambria Math"/>
                          <a:ea typeface="Cambria Math"/>
                          <a:sym typeface="Symbol"/>
                        </a:rPr>
                        <m:t></m:t>
                      </m:r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ru-RU" sz="2800" b="0" i="1" smtClean="0">
                          <a:latin typeface="Cambria Math"/>
                        </a:rPr>
                        <m:t>=1, 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ru-RU" sz="2800" b="0" i="1" smtClean="0">
                          <a:latin typeface="Cambria Math"/>
                        </a:rPr>
                        <m:t>=−1, 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ru-RU" sz="2800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ru-RU" sz="2800" b="0" i="1" smtClean="0">
                          <a:latin typeface="Cambria Math"/>
                        </a:rPr>
                        <m:t>=2, </m:t>
                      </m:r>
                      <m:r>
                        <a:rPr lang="ru-RU" sz="2800" b="0" i="1" smtClean="0">
                          <a:latin typeface="Cambria Math"/>
                          <a:sym typeface="Symbol"/>
                        </a:rPr>
                        <m:t></m:t>
                      </m:r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r>
                      <a:rPr lang="ru-RU" sz="2800" b="0" i="1" smtClean="0">
                        <a:latin typeface="Cambria Math"/>
                      </a:rPr>
                      <m:t>1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800" b="0" i="1" smtClean="0">
                            <a:latin typeface="Cambria Math"/>
                          </a:rPr>
                          <m:t>−</m:t>
                        </m:r>
                        <m:r>
                          <a:rPr lang="ru-RU" sz="28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+</m:t>
                    </m:r>
                    <m:r>
                      <a:rPr lang="ru-RU" sz="2800" b="0" i="1" smtClean="0">
                        <a:latin typeface="Cambria Math"/>
                      </a:rPr>
                      <m:t>2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smtClean="0">
                            <a:latin typeface="Cambria Math"/>
                            <a:ea typeface="Cambria Math"/>
                          </a:rPr>
                          <m:t>∙</m:t>
                        </m:r>
                        <m:r>
                          <a:rPr lang="ru-RU" sz="2800" i="1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ru-RU" sz="2800" dirty="0"/>
                  <a:t>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6856" y="1484784"/>
                <a:ext cx="8229600" cy="5069160"/>
              </a:xfrm>
              <a:blipFill rotWithShape="1">
                <a:blip r:embed="rId2"/>
                <a:stretch>
                  <a:fillRect l="-1481" t="-1925" b="-4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Прямая соединительная линия 4"/>
          <p:cNvCxnSpPr/>
          <p:nvPr/>
        </p:nvCxnSpPr>
        <p:spPr>
          <a:xfrm>
            <a:off x="467544" y="4293096"/>
            <a:ext cx="8208912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7868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46856" y="8441"/>
            <a:ext cx="7290054" cy="1499616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800" dirty="0"/>
              <a:t>Linear nonhomogeneous recurrence relations</a:t>
            </a:r>
            <a:br>
              <a:rPr lang="en-US" sz="2800" dirty="0"/>
            </a:br>
            <a:r>
              <a:rPr lang="en-US" sz="2800" dirty="0"/>
              <a:t>with constant coefficients</a:t>
            </a:r>
            <a:endParaRPr lang="ru-R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467544" y="1412776"/>
                <a:ext cx="8229600" cy="5184576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None/>
                </a:pPr>
                <a:r>
                  <a:rPr lang="en-US" sz="2800" u="sng" dirty="0"/>
                  <a:t>Definition</a:t>
                </a:r>
                <a:r>
                  <a:rPr lang="ru-RU" sz="2800" u="sng" dirty="0"/>
                  <a:t> 2</a:t>
                </a:r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None/>
                </a:pPr>
                <a:r>
                  <a:rPr lang="en-US" sz="2800" b="1" dirty="0">
                    <a:solidFill>
                      <a:srgbClr val="C00000"/>
                    </a:solidFill>
                  </a:rPr>
                  <a:t>A linear nonhomogeneous recurrence relation with constant coefficients </a:t>
                </a:r>
                <a:r>
                  <a:rPr lang="en-US" sz="2800" dirty="0"/>
                  <a:t>is a recurrence relation of the form</a:t>
                </a:r>
                <a:endParaRPr lang="ru-RU" sz="2800" dirty="0"/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−2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</m:t>
                      </m:r>
                      <m:r>
                        <a:rPr lang="en-US" sz="2800" b="0" i="1" smtClean="0">
                          <a:latin typeface="Cambria Math"/>
                        </a:rPr>
                        <m:t>…+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ru-RU" sz="2800" b="0" i="1" smtClean="0">
                          <a:latin typeface="Cambria Math"/>
                        </a:rPr>
                        <m:t>+</m:t>
                      </m:r>
                      <m:r>
                        <a:rPr lang="en-US" sz="2800" b="0" i="1" smtClean="0">
                          <a:latin typeface="Cambria Math"/>
                        </a:rPr>
                        <m:t>𝐹</m:t>
                      </m:r>
                      <m:r>
                        <a:rPr lang="en-US" sz="2800" b="0" i="1" smtClean="0">
                          <a:latin typeface="Cambria Math"/>
                        </a:rPr>
                        <m:t>(</m:t>
                      </m:r>
                      <m:r>
                        <a:rPr lang="en-US" sz="2800" b="0" i="1" smtClean="0">
                          <a:latin typeface="Cambria Math"/>
                        </a:rPr>
                        <m:t>𝑛</m:t>
                      </m:r>
                      <m:r>
                        <a:rPr lang="en-US" sz="2800" b="0" i="1" smtClean="0">
                          <a:latin typeface="Cambria Math"/>
                        </a:rPr>
                        <m:t>),</m:t>
                      </m:r>
                    </m:oMath>
                  </m:oMathPara>
                </a14:m>
                <a:endParaRPr lang="ru-RU" sz="2800" dirty="0"/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None/>
                </a:pPr>
                <a:r>
                  <a:rPr lang="en-US" sz="2800" dirty="0"/>
                  <a:t>where</a:t>
                </a:r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/>
                      </a:rPr>
                      <m:t>,…,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800" dirty="0"/>
                  <a:t> are real numbers,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ru-RU" sz="2800" i="1" smtClean="0"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0</m:t>
                    </m:r>
                    <m:r>
                      <a:rPr lang="ru-RU" sz="2800" b="0" i="1" smtClean="0">
                        <a:latin typeface="Cambria Math"/>
                        <a:ea typeface="Cambria Math"/>
                      </a:rPr>
                      <m:t>;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𝐹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ru-RU" sz="2800" dirty="0"/>
                  <a:t> </a:t>
                </a:r>
                <a:r>
                  <a:rPr lang="en-US" sz="2800" dirty="0"/>
                  <a:t>is a function not identically zero depending only on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sz="2800" dirty="0"/>
                  <a:t>.</a:t>
                </a:r>
                <a:endParaRPr lang="ru-RU" sz="2800" dirty="0"/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None/>
                </a:pPr>
                <a:r>
                  <a:rPr lang="en-US" sz="2800" dirty="0"/>
                  <a:t>The recurrence relation</a:t>
                </a:r>
                <a:endParaRPr lang="en-US" sz="2800" i="1" dirty="0">
                  <a:latin typeface="Cambria Math"/>
                </a:endParaRPr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−2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+…+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</m:t>
                          </m:r>
                          <m:r>
                            <a:rPr lang="en-US" sz="2800" i="1">
                              <a:latin typeface="Cambria Math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ru-RU" sz="2800" dirty="0"/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None/>
                </a:pPr>
                <a:r>
                  <a:rPr lang="en-US" sz="2800" dirty="0"/>
                  <a:t>is called the </a:t>
                </a:r>
                <a:r>
                  <a:rPr lang="en-US" sz="2800" b="1" dirty="0">
                    <a:solidFill>
                      <a:srgbClr val="C00000"/>
                    </a:solidFill>
                  </a:rPr>
                  <a:t>associated homogeneous recurrence relation</a:t>
                </a:r>
                <a:r>
                  <a:rPr lang="en-US" sz="2800" dirty="0"/>
                  <a:t>.</a:t>
                </a:r>
              </a:p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None/>
                </a:pPr>
                <a:r>
                  <a:rPr lang="en-US" sz="2800" dirty="0"/>
                  <a:t>It plays an important role in the solution of the nonhomogeneous recurrence relation.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7544" y="1412776"/>
                <a:ext cx="8229600" cy="5184576"/>
              </a:xfrm>
              <a:blipFill rotWithShape="1">
                <a:blip r:embed="rId2"/>
                <a:stretch>
                  <a:fillRect l="-1556" t="-1882" b="-15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5562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7DE7A-E593-4725-8EEC-87A0D14EB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552" y="0"/>
            <a:ext cx="7290054" cy="836712"/>
          </a:xfrm>
        </p:spPr>
        <p:txBody>
          <a:bodyPr/>
          <a:lstStyle/>
          <a:p>
            <a:r>
              <a:rPr lang="en-US" dirty="0"/>
              <a:t>PARTICULAR Solution Forms</a:t>
            </a:r>
            <a:endParaRPr lang="en-IN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B6D176A4-07B7-4F2F-AB2A-034D3366DE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2689319"/>
              </p:ext>
            </p:extLst>
          </p:nvPr>
        </p:nvGraphicFramePr>
        <p:xfrm>
          <a:off x="742806" y="836712"/>
          <a:ext cx="7289800" cy="576072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644900">
                  <a:extLst>
                    <a:ext uri="{9D8B030D-6E8A-4147-A177-3AD203B41FA5}">
                      <a16:colId xmlns:a16="http://schemas.microsoft.com/office/drawing/2014/main" val="2568781641"/>
                    </a:ext>
                  </a:extLst>
                </a:gridCol>
                <a:gridCol w="3644900">
                  <a:extLst>
                    <a:ext uri="{9D8B030D-6E8A-4147-A177-3AD203B41FA5}">
                      <a16:colId xmlns:a16="http://schemas.microsoft.com/office/drawing/2014/main" val="5085570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F(n)</a:t>
                      </a:r>
                      <a:endParaRPr lang="en-IN" sz="2400" dirty="0"/>
                    </a:p>
                  </a:txBody>
                  <a:tcPr marL="80998" marR="80998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n</a:t>
                      </a:r>
                      <a:r>
                        <a:rPr lang="en-US" sz="2400" baseline="30000" dirty="0"/>
                        <a:t>(P)</a:t>
                      </a:r>
                      <a:endParaRPr lang="en-IN" sz="2400" baseline="30000" dirty="0"/>
                    </a:p>
                  </a:txBody>
                  <a:tcPr marL="80998" marR="80998"/>
                </a:tc>
                <a:extLst>
                  <a:ext uri="{0D108BD9-81ED-4DB2-BD59-A6C34878D82A}">
                    <a16:rowId xmlns:a16="http://schemas.microsoft.com/office/drawing/2014/main" val="146052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c</a:t>
                      </a:r>
                      <a:endParaRPr lang="en-IN" sz="2400" dirty="0"/>
                    </a:p>
                  </a:txBody>
                  <a:tcPr marL="80998" marR="80998"/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A, a constant</a:t>
                      </a:r>
                      <a:endParaRPr lang="en-IN" sz="2400" baseline="0" dirty="0"/>
                    </a:p>
                  </a:txBody>
                  <a:tcPr marL="80998" marR="80998"/>
                </a:tc>
                <a:extLst>
                  <a:ext uri="{0D108BD9-81ED-4DB2-BD59-A6C34878D82A}">
                    <a16:rowId xmlns:a16="http://schemas.microsoft.com/office/drawing/2014/main" val="1299777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n</a:t>
                      </a:r>
                      <a:endParaRPr lang="en-IN" sz="2400" dirty="0"/>
                    </a:p>
                  </a:txBody>
                  <a:tcPr marL="80998" marR="80998"/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A</a:t>
                      </a:r>
                      <a:r>
                        <a:rPr lang="en-US" sz="2400" baseline="-25000" dirty="0"/>
                        <a:t>1</a:t>
                      </a:r>
                      <a:r>
                        <a:rPr lang="en-US" sz="2400" baseline="0" dirty="0"/>
                        <a:t>n+A</a:t>
                      </a:r>
                      <a:r>
                        <a:rPr lang="en-US" sz="2400" baseline="-25000" dirty="0"/>
                        <a:t>0</a:t>
                      </a:r>
                      <a:endParaRPr lang="en-IN" sz="2400" baseline="-25000" dirty="0"/>
                    </a:p>
                  </a:txBody>
                  <a:tcPr marL="80998" marR="80998"/>
                </a:tc>
                <a:extLst>
                  <a:ext uri="{0D108BD9-81ED-4DB2-BD59-A6C34878D82A}">
                    <a16:rowId xmlns:a16="http://schemas.microsoft.com/office/drawing/2014/main" val="3917068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n</a:t>
                      </a:r>
                      <a:r>
                        <a:rPr lang="en-US" sz="2400" baseline="30000" dirty="0"/>
                        <a:t>2</a:t>
                      </a:r>
                      <a:endParaRPr lang="en-IN" sz="2400" baseline="30000" dirty="0"/>
                    </a:p>
                  </a:txBody>
                  <a:tcPr marL="80998" marR="8099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aseline="300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  <a:r>
                        <a:rPr lang="en-US" sz="2400" baseline="30000" dirty="0"/>
                        <a:t> </a:t>
                      </a:r>
                      <a:r>
                        <a:rPr lang="en-US" sz="2400" baseline="0" dirty="0"/>
                        <a:t>n</a:t>
                      </a:r>
                      <a:r>
                        <a:rPr lang="en-US" sz="2400" baseline="30000" dirty="0"/>
                        <a:t>2+A</a:t>
                      </a:r>
                      <a:r>
                        <a:rPr lang="en-US" sz="2400" baseline="-25000" dirty="0"/>
                        <a:t>1</a:t>
                      </a:r>
                      <a:r>
                        <a:rPr lang="en-US" sz="2400" baseline="0" dirty="0"/>
                        <a:t>n+A</a:t>
                      </a:r>
                      <a:r>
                        <a:rPr lang="en-US" sz="2400" baseline="-25000" dirty="0"/>
                        <a:t>0</a:t>
                      </a:r>
                      <a:endParaRPr lang="en-IN" sz="2400" baseline="-25000" dirty="0"/>
                    </a:p>
                  </a:txBody>
                  <a:tcPr marL="80998" marR="80998"/>
                </a:tc>
                <a:extLst>
                  <a:ext uri="{0D108BD9-81ED-4DB2-BD59-A6C34878D82A}">
                    <a16:rowId xmlns:a16="http://schemas.microsoft.com/office/drawing/2014/main" val="3474095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aseline="0" dirty="0" err="1"/>
                        <a:t>n</a:t>
                      </a:r>
                      <a:r>
                        <a:rPr lang="en-US" sz="2400" baseline="30000" dirty="0" err="1"/>
                        <a:t>t</a:t>
                      </a:r>
                      <a:r>
                        <a:rPr lang="en-US" sz="2400" baseline="30000" dirty="0"/>
                        <a:t>  </a:t>
                      </a:r>
                      <a:r>
                        <a:rPr lang="en-US" sz="2400" baseline="0" dirty="0"/>
                        <a:t>, t </a:t>
                      </a:r>
                      <a:r>
                        <a:rPr lang="el-GR" sz="2400" baseline="0" dirty="0"/>
                        <a:t>ε</a:t>
                      </a:r>
                      <a:r>
                        <a:rPr lang="en-US" sz="2400" baseline="0" dirty="0"/>
                        <a:t> Z</a:t>
                      </a:r>
                      <a:endParaRPr lang="en-IN" sz="2400" baseline="30000" dirty="0"/>
                    </a:p>
                  </a:txBody>
                  <a:tcPr marL="80998" marR="8099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aseline="30000" dirty="0"/>
                        <a:t>A</a:t>
                      </a:r>
                      <a:r>
                        <a:rPr lang="en-US" sz="2400" baseline="-25000" dirty="0"/>
                        <a:t>t</a:t>
                      </a:r>
                      <a:r>
                        <a:rPr lang="en-US" sz="2400" baseline="30000" dirty="0"/>
                        <a:t> </a:t>
                      </a:r>
                      <a:r>
                        <a:rPr lang="en-US" sz="2400" baseline="0" dirty="0" err="1"/>
                        <a:t>n</a:t>
                      </a:r>
                      <a:r>
                        <a:rPr lang="en-US" sz="2400" baseline="30000" dirty="0" err="1"/>
                        <a:t>t</a:t>
                      </a:r>
                      <a:r>
                        <a:rPr lang="en-US" sz="2400" baseline="30000" dirty="0"/>
                        <a:t> </a:t>
                      </a:r>
                      <a:r>
                        <a:rPr lang="en-US" sz="2400" baseline="0" dirty="0"/>
                        <a:t>+ A</a:t>
                      </a:r>
                      <a:r>
                        <a:rPr lang="en-US" sz="2400" baseline="-25000" dirty="0"/>
                        <a:t>t-1 </a:t>
                      </a:r>
                      <a:r>
                        <a:rPr lang="en-US" sz="2400" baseline="0" dirty="0"/>
                        <a:t>n</a:t>
                      </a:r>
                      <a:r>
                        <a:rPr lang="en-US" sz="2400" baseline="30000" dirty="0"/>
                        <a:t>t-1</a:t>
                      </a:r>
                      <a:r>
                        <a:rPr lang="en-US" sz="2400" baseline="0" dirty="0"/>
                        <a:t> + ….+ </a:t>
                      </a:r>
                      <a:r>
                        <a:rPr lang="en-US" sz="2400" baseline="300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  <a:r>
                        <a:rPr lang="en-US" sz="2400" baseline="0" dirty="0"/>
                        <a:t>n+A</a:t>
                      </a:r>
                      <a:r>
                        <a:rPr lang="en-US" sz="2400" baseline="-25000" dirty="0"/>
                        <a:t>0</a:t>
                      </a:r>
                      <a:endParaRPr lang="en-IN" sz="2400" baseline="30000" dirty="0"/>
                    </a:p>
                  </a:txBody>
                  <a:tcPr marL="80998" marR="80998"/>
                </a:tc>
                <a:extLst>
                  <a:ext uri="{0D108BD9-81ED-4DB2-BD59-A6C34878D82A}">
                    <a16:rowId xmlns:a16="http://schemas.microsoft.com/office/drawing/2014/main" val="2015776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aseline="0" dirty="0" err="1"/>
                        <a:t>r</a:t>
                      </a:r>
                      <a:r>
                        <a:rPr lang="en-US" sz="2400" baseline="30000" dirty="0" err="1"/>
                        <a:t>n</a:t>
                      </a:r>
                      <a:r>
                        <a:rPr lang="en-US" sz="2400" baseline="30000" dirty="0"/>
                        <a:t> </a:t>
                      </a:r>
                      <a:r>
                        <a:rPr lang="en-US" sz="2400" baseline="0" dirty="0"/>
                        <a:t> , r  </a:t>
                      </a:r>
                      <a:r>
                        <a:rPr lang="el-GR" sz="2400" baseline="0" dirty="0"/>
                        <a:t>ε</a:t>
                      </a:r>
                      <a:r>
                        <a:rPr lang="en-US" sz="2400" baseline="0" dirty="0"/>
                        <a:t> R</a:t>
                      </a:r>
                      <a:endParaRPr lang="en-IN" sz="2400" baseline="30000" dirty="0"/>
                    </a:p>
                  </a:txBody>
                  <a:tcPr marL="80998" marR="8099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aseline="0" dirty="0" err="1"/>
                        <a:t>A.r</a:t>
                      </a:r>
                      <a:r>
                        <a:rPr lang="en-US" sz="2400" baseline="30000" dirty="0" err="1"/>
                        <a:t>n</a:t>
                      </a:r>
                      <a:endParaRPr lang="en-IN" sz="2400" baseline="30000" dirty="0"/>
                    </a:p>
                  </a:txBody>
                  <a:tcPr marL="80998" marR="80998"/>
                </a:tc>
                <a:extLst>
                  <a:ext uri="{0D108BD9-81ED-4DB2-BD59-A6C34878D82A}">
                    <a16:rowId xmlns:a16="http://schemas.microsoft.com/office/drawing/2014/main" val="1781311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sin</a:t>
                      </a:r>
                      <a:r>
                        <a:rPr lang="el-GR" sz="2400" baseline="0" dirty="0"/>
                        <a:t>θ</a:t>
                      </a:r>
                      <a:r>
                        <a:rPr lang="en-US" sz="2400" baseline="0" dirty="0"/>
                        <a:t>n</a:t>
                      </a:r>
                      <a:endParaRPr lang="en-IN" sz="2400" baseline="0" dirty="0"/>
                    </a:p>
                  </a:txBody>
                  <a:tcPr marL="80998" marR="8099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aseline="0" dirty="0"/>
                        <a:t>A sin</a:t>
                      </a:r>
                      <a:r>
                        <a:rPr lang="el-GR" sz="2400" baseline="0" dirty="0"/>
                        <a:t>θ</a:t>
                      </a:r>
                      <a:r>
                        <a:rPr lang="en-US" sz="2400" baseline="0" dirty="0"/>
                        <a:t>n + B cos </a:t>
                      </a:r>
                      <a:r>
                        <a:rPr lang="el-GR" sz="2400" baseline="0" dirty="0"/>
                        <a:t>θ</a:t>
                      </a:r>
                      <a:r>
                        <a:rPr lang="en-US" sz="2400" baseline="0" dirty="0"/>
                        <a:t>n</a:t>
                      </a:r>
                      <a:endParaRPr lang="en-IN" sz="2400" baseline="0" dirty="0"/>
                    </a:p>
                  </a:txBody>
                  <a:tcPr marL="80998" marR="80998"/>
                </a:tc>
                <a:extLst>
                  <a:ext uri="{0D108BD9-81ED-4DB2-BD59-A6C34878D82A}">
                    <a16:rowId xmlns:a16="http://schemas.microsoft.com/office/drawing/2014/main" val="921017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cos </a:t>
                      </a:r>
                      <a:r>
                        <a:rPr lang="el-GR" sz="2400" baseline="0" dirty="0"/>
                        <a:t>θ</a:t>
                      </a:r>
                      <a:r>
                        <a:rPr lang="en-US" sz="2400" baseline="0" dirty="0"/>
                        <a:t>n</a:t>
                      </a:r>
                      <a:endParaRPr lang="en-IN" sz="2400" baseline="0" dirty="0"/>
                    </a:p>
                  </a:txBody>
                  <a:tcPr marL="80998" marR="8099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aseline="0" dirty="0"/>
                        <a:t>A sin</a:t>
                      </a:r>
                      <a:r>
                        <a:rPr lang="el-GR" sz="2400" baseline="0" dirty="0"/>
                        <a:t>θ</a:t>
                      </a:r>
                      <a:r>
                        <a:rPr lang="en-US" sz="2400" baseline="0" dirty="0"/>
                        <a:t>n + B cos </a:t>
                      </a:r>
                      <a:r>
                        <a:rPr lang="el-GR" sz="2400" baseline="0" dirty="0"/>
                        <a:t>θ</a:t>
                      </a:r>
                      <a:r>
                        <a:rPr lang="en-US" sz="2400" baseline="0" dirty="0"/>
                        <a:t>n</a:t>
                      </a:r>
                      <a:endParaRPr lang="en-IN" sz="2400" baseline="0" dirty="0"/>
                    </a:p>
                  </a:txBody>
                  <a:tcPr marL="80998" marR="80998"/>
                </a:tc>
                <a:extLst>
                  <a:ext uri="{0D108BD9-81ED-4DB2-BD59-A6C34878D82A}">
                    <a16:rowId xmlns:a16="http://schemas.microsoft.com/office/drawing/2014/main" val="1222769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aseline="0" dirty="0" err="1"/>
                        <a:t>n</a:t>
                      </a:r>
                      <a:r>
                        <a:rPr lang="en-US" sz="2400" baseline="30000" dirty="0" err="1"/>
                        <a:t>t</a:t>
                      </a:r>
                      <a:r>
                        <a:rPr lang="en-US" sz="2400" baseline="30000" dirty="0"/>
                        <a:t> </a:t>
                      </a:r>
                      <a:r>
                        <a:rPr lang="en-US" sz="2400" baseline="0" dirty="0" err="1"/>
                        <a:t>r</a:t>
                      </a:r>
                      <a:r>
                        <a:rPr lang="en-US" sz="2400" baseline="30000" dirty="0" err="1"/>
                        <a:t>n</a:t>
                      </a:r>
                      <a:r>
                        <a:rPr lang="en-US" sz="2400" baseline="30000" dirty="0"/>
                        <a:t> </a:t>
                      </a:r>
                      <a:endParaRPr lang="en-IN" sz="2400" baseline="0" dirty="0"/>
                    </a:p>
                  </a:txBody>
                  <a:tcPr marL="80998" marR="8099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aseline="0" dirty="0" err="1"/>
                        <a:t>r</a:t>
                      </a:r>
                      <a:r>
                        <a:rPr lang="en-US" sz="2400" baseline="30000" dirty="0" err="1"/>
                        <a:t>n</a:t>
                      </a:r>
                      <a:r>
                        <a:rPr lang="en-US" sz="2400" baseline="30000" dirty="0"/>
                        <a:t> </a:t>
                      </a:r>
                      <a:r>
                        <a:rPr lang="en-US" sz="2400" baseline="0" dirty="0"/>
                        <a:t>(</a:t>
                      </a:r>
                      <a:r>
                        <a:rPr lang="en-US" sz="2400" baseline="30000" dirty="0"/>
                        <a:t>A</a:t>
                      </a:r>
                      <a:r>
                        <a:rPr lang="en-US" sz="2400" baseline="-25000" dirty="0"/>
                        <a:t>t</a:t>
                      </a:r>
                      <a:r>
                        <a:rPr lang="en-US" sz="2400" baseline="30000" dirty="0"/>
                        <a:t> </a:t>
                      </a:r>
                      <a:r>
                        <a:rPr lang="en-US" sz="2400" baseline="0" dirty="0" err="1"/>
                        <a:t>n</a:t>
                      </a:r>
                      <a:r>
                        <a:rPr lang="en-US" sz="2400" baseline="30000" dirty="0" err="1"/>
                        <a:t>t</a:t>
                      </a:r>
                      <a:r>
                        <a:rPr lang="en-US" sz="2400" baseline="30000" dirty="0"/>
                        <a:t> </a:t>
                      </a:r>
                      <a:r>
                        <a:rPr lang="en-US" sz="2400" baseline="0" dirty="0"/>
                        <a:t>+ A</a:t>
                      </a:r>
                      <a:r>
                        <a:rPr lang="en-US" sz="2400" baseline="-25000" dirty="0"/>
                        <a:t>t-1 </a:t>
                      </a:r>
                      <a:r>
                        <a:rPr lang="en-US" sz="2400" baseline="0" dirty="0"/>
                        <a:t>n</a:t>
                      </a:r>
                      <a:r>
                        <a:rPr lang="en-US" sz="2400" baseline="30000" dirty="0"/>
                        <a:t>t-1</a:t>
                      </a:r>
                      <a:r>
                        <a:rPr lang="en-US" sz="2400" baseline="0" dirty="0"/>
                        <a:t> + ….+ </a:t>
                      </a:r>
                      <a:r>
                        <a:rPr lang="en-US" sz="2400" baseline="300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  <a:r>
                        <a:rPr lang="en-US" sz="2400" baseline="0" dirty="0"/>
                        <a:t>n+A</a:t>
                      </a:r>
                      <a:r>
                        <a:rPr lang="en-US" sz="2400" baseline="-25000" dirty="0"/>
                        <a:t>0</a:t>
                      </a:r>
                      <a:r>
                        <a:rPr lang="en-IN" sz="2400" baseline="0" dirty="0"/>
                        <a:t>)</a:t>
                      </a:r>
                      <a:endParaRPr lang="en-IN" sz="2400" baseline="30000" dirty="0"/>
                    </a:p>
                  </a:txBody>
                  <a:tcPr marL="80998" marR="80998"/>
                </a:tc>
                <a:extLst>
                  <a:ext uri="{0D108BD9-81ED-4DB2-BD59-A6C34878D82A}">
                    <a16:rowId xmlns:a16="http://schemas.microsoft.com/office/drawing/2014/main" val="3854965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aseline="0" dirty="0" err="1"/>
                        <a:t>r</a:t>
                      </a:r>
                      <a:r>
                        <a:rPr lang="en-US" sz="2400" baseline="30000" dirty="0" err="1"/>
                        <a:t>n</a:t>
                      </a:r>
                      <a:r>
                        <a:rPr lang="en-US" sz="2400" baseline="30000" dirty="0"/>
                        <a:t> </a:t>
                      </a:r>
                      <a:r>
                        <a:rPr lang="en-US" sz="2400" baseline="0" dirty="0"/>
                        <a:t>sin</a:t>
                      </a:r>
                      <a:r>
                        <a:rPr lang="el-GR" sz="2400" baseline="0" dirty="0"/>
                        <a:t>θ</a:t>
                      </a:r>
                      <a:r>
                        <a:rPr lang="en-US" sz="2400" baseline="0" dirty="0"/>
                        <a:t>n</a:t>
                      </a:r>
                      <a:endParaRPr lang="en-IN" sz="2400" baseline="0" dirty="0"/>
                    </a:p>
                  </a:txBody>
                  <a:tcPr marL="80998" marR="8099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aseline="0" dirty="0"/>
                        <a:t>A </a:t>
                      </a:r>
                      <a:r>
                        <a:rPr lang="en-US" sz="2400" baseline="0" dirty="0" err="1"/>
                        <a:t>r</a:t>
                      </a:r>
                      <a:r>
                        <a:rPr lang="en-US" sz="2400" baseline="30000" dirty="0" err="1"/>
                        <a:t>n</a:t>
                      </a:r>
                      <a:r>
                        <a:rPr lang="en-US" sz="2400" baseline="30000" dirty="0"/>
                        <a:t> </a:t>
                      </a:r>
                      <a:r>
                        <a:rPr lang="en-US" sz="2400" baseline="0" dirty="0"/>
                        <a:t>sin</a:t>
                      </a:r>
                      <a:r>
                        <a:rPr lang="el-GR" sz="2400" baseline="0" dirty="0"/>
                        <a:t>θ</a:t>
                      </a:r>
                      <a:r>
                        <a:rPr lang="en-US" sz="2400" baseline="0" dirty="0"/>
                        <a:t>n + B </a:t>
                      </a:r>
                      <a:r>
                        <a:rPr lang="en-US" sz="2400" baseline="0" dirty="0" err="1"/>
                        <a:t>r</a:t>
                      </a:r>
                      <a:r>
                        <a:rPr lang="en-US" sz="2400" baseline="30000" dirty="0" err="1"/>
                        <a:t>n</a:t>
                      </a:r>
                      <a:r>
                        <a:rPr lang="en-US" sz="2400" baseline="30000" dirty="0"/>
                        <a:t> </a:t>
                      </a:r>
                      <a:r>
                        <a:rPr lang="en-US" sz="2400" baseline="0" dirty="0"/>
                        <a:t>cos </a:t>
                      </a:r>
                      <a:r>
                        <a:rPr lang="el-GR" sz="2400" baseline="0" dirty="0"/>
                        <a:t>θ</a:t>
                      </a:r>
                      <a:r>
                        <a:rPr lang="en-US" sz="2400" baseline="0" dirty="0"/>
                        <a:t>n</a:t>
                      </a:r>
                      <a:endParaRPr lang="en-IN" sz="2400" baseline="0" dirty="0"/>
                    </a:p>
                  </a:txBody>
                  <a:tcPr marL="80998" marR="80998"/>
                </a:tc>
                <a:extLst>
                  <a:ext uri="{0D108BD9-81ED-4DB2-BD59-A6C34878D82A}">
                    <a16:rowId xmlns:a16="http://schemas.microsoft.com/office/drawing/2014/main" val="1144234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aseline="0" dirty="0" err="1"/>
                        <a:t>r</a:t>
                      </a:r>
                      <a:r>
                        <a:rPr lang="en-US" sz="2400" baseline="30000" dirty="0" err="1"/>
                        <a:t>n</a:t>
                      </a:r>
                      <a:r>
                        <a:rPr lang="en-US" sz="2400" baseline="30000" dirty="0"/>
                        <a:t> </a:t>
                      </a:r>
                      <a:r>
                        <a:rPr lang="en-US" sz="2400" baseline="0" dirty="0"/>
                        <a:t>cos</a:t>
                      </a:r>
                      <a:r>
                        <a:rPr lang="el-GR" sz="2400" baseline="0" dirty="0"/>
                        <a:t>θ</a:t>
                      </a:r>
                      <a:r>
                        <a:rPr lang="en-US" sz="2400" baseline="0" dirty="0"/>
                        <a:t>n</a:t>
                      </a:r>
                      <a:endParaRPr lang="en-IN" sz="2400" baseline="0" dirty="0"/>
                    </a:p>
                  </a:txBody>
                  <a:tcPr marL="80998" marR="8099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aseline="0" dirty="0"/>
                        <a:t>A </a:t>
                      </a:r>
                      <a:r>
                        <a:rPr lang="en-US" sz="2400" baseline="0" dirty="0" err="1"/>
                        <a:t>r</a:t>
                      </a:r>
                      <a:r>
                        <a:rPr lang="en-US" sz="2400" baseline="30000" dirty="0" err="1"/>
                        <a:t>n</a:t>
                      </a:r>
                      <a:r>
                        <a:rPr lang="en-US" sz="2400" baseline="30000" dirty="0"/>
                        <a:t> </a:t>
                      </a:r>
                      <a:r>
                        <a:rPr lang="en-US" sz="2400" baseline="0" dirty="0"/>
                        <a:t>sin</a:t>
                      </a:r>
                      <a:r>
                        <a:rPr lang="el-GR" sz="2400" baseline="0" dirty="0"/>
                        <a:t>θ</a:t>
                      </a:r>
                      <a:r>
                        <a:rPr lang="en-US" sz="2400" baseline="0" dirty="0"/>
                        <a:t>n + B </a:t>
                      </a:r>
                      <a:r>
                        <a:rPr lang="en-US" sz="2400" baseline="0" dirty="0" err="1"/>
                        <a:t>r</a:t>
                      </a:r>
                      <a:r>
                        <a:rPr lang="en-US" sz="2400" baseline="30000" dirty="0" err="1"/>
                        <a:t>n</a:t>
                      </a:r>
                      <a:r>
                        <a:rPr lang="en-US" sz="2400" baseline="30000" dirty="0"/>
                        <a:t> </a:t>
                      </a:r>
                      <a:r>
                        <a:rPr lang="en-US" sz="2400" baseline="0" dirty="0"/>
                        <a:t>cos </a:t>
                      </a:r>
                      <a:r>
                        <a:rPr lang="el-GR" sz="2400" baseline="0" dirty="0"/>
                        <a:t>θ</a:t>
                      </a:r>
                      <a:r>
                        <a:rPr lang="en-US" sz="2400" baseline="0" dirty="0"/>
                        <a:t>n</a:t>
                      </a:r>
                      <a:endParaRPr lang="en-IN" sz="2400" baseline="0" dirty="0"/>
                    </a:p>
                  </a:txBody>
                  <a:tcPr marL="80998" marR="80998"/>
                </a:tc>
                <a:extLst>
                  <a:ext uri="{0D108BD9-81ED-4DB2-BD59-A6C34878D82A}">
                    <a16:rowId xmlns:a16="http://schemas.microsoft.com/office/drawing/2014/main" val="952133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59998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800" dirty="0"/>
              <a:t>Linear nonhomogeneous recurrence relations</a:t>
            </a:r>
            <a:br>
              <a:rPr lang="en-US" sz="2800" dirty="0"/>
            </a:br>
            <a:r>
              <a:rPr lang="en-US" sz="2800" dirty="0"/>
              <a:t>with constant coefficients</a:t>
            </a:r>
            <a:endParaRPr lang="ru-R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800" u="sng" dirty="0"/>
                  <a:t>Example</a:t>
                </a:r>
                <a:r>
                  <a:rPr lang="ru-RU" sz="2800" u="sng" dirty="0"/>
                  <a:t> 11</a:t>
                </a:r>
              </a:p>
              <a:p>
                <a:pPr marL="0" indent="0">
                  <a:buNone/>
                </a:pPr>
                <a:r>
                  <a:rPr lang="en-US" sz="2800" dirty="0"/>
                  <a:t>The recurrence relation</a:t>
                </a:r>
                <a:endParaRPr lang="en-US" sz="2800" i="1" dirty="0">
                  <a:latin typeface="Cambria Math"/>
                </a:endParaRPr>
              </a:p>
              <a:p>
                <a:pPr marL="0" indent="0" algn="ctr">
                  <a:buNone/>
                </a:pP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8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en-US" sz="2800" b="0" i="1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ru-RU" sz="2800" dirty="0"/>
                  <a:t> </a:t>
                </a:r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is a linear nonhomogeneous recurrence relation with constant coefficients.</a:t>
                </a:r>
              </a:p>
              <a:p>
                <a:pPr marL="0" indent="0">
                  <a:buNone/>
                </a:pPr>
                <a:r>
                  <a:rPr lang="en-US" sz="2800" dirty="0"/>
                  <a:t>The associated linear homogeneous recurrence relation is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  <m:r>
                          <a:rPr lang="en-US" sz="2800" i="1">
                            <a:latin typeface="Cambria Math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sz="2800" dirty="0"/>
                  <a:t>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341" t="-34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1083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800" dirty="0"/>
              <a:t>Linear nonhomogeneous recurrence relations</a:t>
            </a:r>
            <a:br>
              <a:rPr lang="en-US" sz="2800" dirty="0"/>
            </a:br>
            <a:r>
              <a:rPr lang="en-US" sz="2800" dirty="0"/>
              <a:t>with constant coefficients</a:t>
            </a:r>
            <a:endParaRPr lang="ru-R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800" u="sng" dirty="0"/>
                  <a:t>Example</a:t>
                </a:r>
                <a:r>
                  <a:rPr lang="ru-RU" sz="2800" u="sng" dirty="0"/>
                  <a:t> 12</a:t>
                </a:r>
              </a:p>
              <a:p>
                <a:pPr marL="0" indent="0">
                  <a:buNone/>
                </a:pPr>
                <a:r>
                  <a:rPr lang="en-US" sz="2800" dirty="0"/>
                  <a:t>The recurrence relation</a:t>
                </a:r>
                <a:endParaRPr lang="en-US" sz="2800" i="1" dirty="0">
                  <a:latin typeface="Cambria Math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8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en-US" sz="2800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/>
                          </a:rPr>
                          <m:t>−2</m:t>
                        </m:r>
                      </m:sub>
                    </m:sSub>
                    <m:r>
                      <a:rPr lang="en-US" sz="2800" b="0" i="1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/>
                      </a:rPr>
                      <m:t>+</m:t>
                    </m:r>
                    <m:r>
                      <a:rPr lang="en-US" sz="2800" b="0" i="1" smtClean="0">
                        <a:latin typeface="Cambria Math"/>
                      </a:rPr>
                      <m:t>𝑛</m:t>
                    </m:r>
                    <m:r>
                      <a:rPr lang="en-US" sz="2800" b="0" i="1" smtClean="0">
                        <a:latin typeface="Cambria Math"/>
                      </a:rPr>
                      <m:t>+1</m:t>
                    </m:r>
                  </m:oMath>
                </a14:m>
                <a:r>
                  <a:rPr lang="ru-RU" sz="2800" dirty="0"/>
                  <a:t> </a:t>
                </a:r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is a linear nonhomogeneous recurrence relation with constant coefficients.</a:t>
                </a:r>
              </a:p>
              <a:p>
                <a:pPr marL="0" indent="0">
                  <a:buNone/>
                </a:pPr>
                <a:r>
                  <a:rPr lang="en-US" sz="2800" dirty="0"/>
                  <a:t>The associated linear homogeneous recurrence relation is </a:t>
                </a:r>
                <a:endParaRPr lang="en-US" sz="2800" i="1" dirty="0">
                  <a:latin typeface="Cambria Math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  <m:r>
                          <a:rPr lang="en-US" sz="2800" i="1"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  <m:r>
                          <a:rPr lang="en-US" sz="2800" i="1">
                            <a:latin typeface="Cambria Math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ru-RU" sz="2800" dirty="0"/>
                  <a:t>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341" t="-34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6305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800" dirty="0"/>
              <a:t>Linear nonhomogeneous recurrence relations</a:t>
            </a:r>
            <a:br>
              <a:rPr lang="en-US" sz="2800" dirty="0"/>
            </a:br>
            <a:r>
              <a:rPr lang="en-US" sz="2800" dirty="0"/>
              <a:t>with constant coefficients</a:t>
            </a:r>
            <a:endParaRPr lang="ru-R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u="sng" dirty="0"/>
                  <a:t>Example</a:t>
                </a:r>
                <a:r>
                  <a:rPr lang="ru-RU" sz="2800" u="sng" dirty="0"/>
                  <a:t> 1</a:t>
                </a:r>
                <a:r>
                  <a:rPr lang="en-US" sz="2800" u="sng" dirty="0"/>
                  <a:t>3</a:t>
                </a:r>
                <a:endParaRPr lang="ru-RU" sz="2800" u="sng" dirty="0"/>
              </a:p>
              <a:p>
                <a:pPr marL="0" indent="0">
                  <a:buNone/>
                </a:pPr>
                <a:r>
                  <a:rPr lang="en-US" sz="2800" dirty="0"/>
                  <a:t>The recurrence relation</a:t>
                </a:r>
                <a:endParaRPr lang="en-US" sz="28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3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+</m:t>
                      </m:r>
                      <m:r>
                        <a:rPr lang="en-US" sz="2800" b="0" i="1" smtClean="0">
                          <a:latin typeface="Cambria Math"/>
                        </a:rPr>
                        <m:t>𝑛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is a linear nonhomogeneous recurrence relation with constant coefficients.</a:t>
                </a:r>
              </a:p>
              <a:p>
                <a:pPr marL="0" indent="0">
                  <a:buNone/>
                </a:pPr>
                <a:r>
                  <a:rPr lang="en-US" sz="2800" dirty="0"/>
                  <a:t>The associated linear homogeneous recurrence relation is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3</m:t>
                        </m:r>
                        <m:r>
                          <a:rPr lang="en-US" sz="2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  <m:r>
                          <a:rPr lang="en-US" sz="2800" i="1">
                            <a:latin typeface="Cambria Math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sz="2800" dirty="0"/>
                  <a:t>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1" t="-1213" r="-21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9544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800" dirty="0"/>
              <a:t>Linear nonhomogeneous recurrence relations</a:t>
            </a:r>
            <a:br>
              <a:rPr lang="en-US" sz="2800" dirty="0"/>
            </a:br>
            <a:r>
              <a:rPr lang="en-US" sz="2800" dirty="0"/>
              <a:t>with constant coefficients</a:t>
            </a:r>
            <a:endParaRPr lang="ru-R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800" u="sng" dirty="0"/>
                  <a:t>Example</a:t>
                </a:r>
                <a:r>
                  <a:rPr lang="ru-RU" sz="2800" u="sng" dirty="0"/>
                  <a:t> 1</a:t>
                </a:r>
                <a:r>
                  <a:rPr lang="en-US" sz="2800" u="sng" dirty="0"/>
                  <a:t>4</a:t>
                </a:r>
                <a:endParaRPr lang="ru-RU" sz="2800" u="sng" dirty="0"/>
              </a:p>
              <a:p>
                <a:pPr marL="0" indent="0">
                  <a:buNone/>
                </a:pPr>
                <a:r>
                  <a:rPr lang="en-US" sz="2800" dirty="0"/>
                  <a:t>The recurrence relation</a:t>
                </a:r>
                <a:endParaRPr lang="en-US" sz="28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8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en-US" sz="2800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  <m:r>
                          <a:rPr lang="en-US" sz="2800" i="1">
                            <a:latin typeface="Cambria Math"/>
                          </a:rPr>
                          <m:t>−2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+</m:t>
                        </m:r>
                        <m:r>
                          <a:rPr lang="en-US" sz="2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  <m:r>
                          <a:rPr lang="en-US" sz="2800" i="1">
                            <a:latin typeface="Cambria Math"/>
                          </a:rPr>
                          <m:t>−3</m:t>
                        </m:r>
                      </m:sub>
                    </m:sSub>
                    <m:r>
                      <a:rPr lang="en-US" sz="2800" b="0" i="1" smtClean="0">
                        <a:latin typeface="Cambria Math"/>
                      </a:rPr>
                      <m:t>+</m:t>
                    </m:r>
                    <m:r>
                      <a:rPr lang="en-US" sz="2800" b="0" i="1" smtClean="0">
                        <a:latin typeface="Cambria Math"/>
                      </a:rPr>
                      <m:t>𝑛</m:t>
                    </m:r>
                    <m:r>
                      <a:rPr lang="en-US" sz="2800" b="0" i="1" smtClean="0">
                        <a:latin typeface="Cambria Math"/>
                      </a:rPr>
                      <m:t>!</m:t>
                    </m:r>
                  </m:oMath>
                </a14:m>
                <a:r>
                  <a:rPr lang="en-US" sz="2800" dirty="0"/>
                  <a:t> </a:t>
                </a:r>
              </a:p>
              <a:p>
                <a:pPr marL="0" indent="0">
                  <a:buNone/>
                </a:pPr>
                <a:r>
                  <a:rPr lang="en-US" sz="2800" dirty="0"/>
                  <a:t>is a linear nonhomogeneous recurrence relation with constant coefficients.</a:t>
                </a:r>
              </a:p>
              <a:p>
                <a:pPr marL="0" indent="0">
                  <a:buNone/>
                </a:pPr>
                <a:r>
                  <a:rPr lang="en-US" sz="2800" dirty="0"/>
                  <a:t>The associated linear homogeneous recurrence relation is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  <m:r>
                          <a:rPr lang="en-US" sz="2800" i="1"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  <m:r>
                          <a:rPr lang="en-US" sz="2800" i="1">
                            <a:latin typeface="Cambria Math"/>
                          </a:rPr>
                          <m:t>−2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+</m:t>
                        </m:r>
                        <m:r>
                          <a:rPr lang="en-US" sz="2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  <m:r>
                          <a:rPr lang="en-US" sz="2800" i="1">
                            <a:latin typeface="Cambria Math"/>
                          </a:rPr>
                          <m:t>−3</m:t>
                        </m:r>
                      </m:sub>
                    </m:sSub>
                  </m:oMath>
                </a14:m>
                <a:r>
                  <a:rPr lang="ru-RU" sz="2800" dirty="0"/>
                  <a:t>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341" t="-34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2040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5576" y="-14832"/>
            <a:ext cx="7290054" cy="1499616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800" dirty="0"/>
              <a:t>Linear nonhomogeneous recurrence relations</a:t>
            </a:r>
            <a:br>
              <a:rPr lang="en-US" sz="2800" dirty="0"/>
            </a:br>
            <a:r>
              <a:rPr lang="en-US" sz="2800" dirty="0"/>
              <a:t>with constant coefficients</a:t>
            </a:r>
            <a:endParaRPr lang="ru-RU" sz="2800" b="1" spc="-15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467544" y="1484784"/>
                <a:ext cx="8229600" cy="511256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800" u="sng" dirty="0"/>
                  <a:t>Theorem</a:t>
                </a:r>
                <a:r>
                  <a:rPr lang="ru-RU" sz="2800" u="sng" dirty="0"/>
                  <a:t> </a:t>
                </a:r>
                <a:r>
                  <a:rPr lang="en-US" sz="2800" u="sng" dirty="0"/>
                  <a:t>4</a:t>
                </a:r>
                <a:endParaRPr lang="ru-RU" sz="2800" u="sng" dirty="0"/>
              </a:p>
              <a:p>
                <a:pPr marL="0" indent="0">
                  <a:buNone/>
                </a:pPr>
                <a:r>
                  <a:rPr lang="en-US" sz="2800" dirty="0"/>
                  <a:t>If</a:t>
                </a:r>
                <a:r>
                  <a:rPr lang="ru-RU" sz="2800" i="1" dirty="0">
                    <a:latin typeface="Cambria Math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u-RU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ru-RU" sz="28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2800" b="0" i="1" smtClean="0">
                                <a:latin typeface="Cambria Math"/>
                              </a:rPr>
                              <m:t>(</m:t>
                            </m:r>
                            <m:r>
                              <a:rPr lang="en-US" sz="2800" b="0" i="1" smtClean="0">
                                <a:latin typeface="Cambria Math"/>
                              </a:rPr>
                              <m:t>𝑝</m:t>
                            </m:r>
                            <m:r>
                              <a:rPr lang="en-US" sz="2800" b="0" i="1" smtClean="0">
                                <a:latin typeface="Cambria Math"/>
                              </a:rPr>
                              <m:t>)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sz="2800" dirty="0"/>
                  <a:t> is a particular solution of the nonhomogeneous linear recurrence relation with</a:t>
                </a:r>
              </a:p>
              <a:p>
                <a:pPr marL="0" indent="0">
                  <a:buNone/>
                </a:pPr>
                <a:r>
                  <a:rPr lang="en-US" sz="2800" dirty="0"/>
                  <a:t>constant coefficients</a:t>
                </a:r>
                <a:endParaRPr lang="en-US" sz="28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  <m:r>
                          <a:rPr lang="en-US" sz="2800" i="1"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  <m:r>
                          <a:rPr lang="en-US" sz="2800" i="1">
                            <a:latin typeface="Cambria Math"/>
                          </a:rPr>
                          <m:t>−2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+…+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  <m:r>
                          <a:rPr lang="en-US" sz="2800" i="1">
                            <a:latin typeface="Cambria Math"/>
                          </a:rPr>
                          <m:t>−</m:t>
                        </m:r>
                        <m:r>
                          <a:rPr lang="en-US" sz="2800" i="1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ru-RU" sz="2800" i="1">
                        <a:latin typeface="Cambria Math"/>
                      </a:rPr>
                      <m:t>+</m:t>
                    </m:r>
                    <m:r>
                      <a:rPr lang="en-US" sz="2800" i="1">
                        <a:latin typeface="Cambria Math"/>
                      </a:rPr>
                      <m:t>𝐹</m:t>
                    </m:r>
                    <m:r>
                      <a:rPr lang="en-US" sz="2800" i="1">
                        <a:latin typeface="Cambria Math"/>
                      </a:rPr>
                      <m:t>(</m:t>
                    </m:r>
                    <m:r>
                      <a:rPr lang="en-US" sz="2800" i="1">
                        <a:latin typeface="Cambria Math"/>
                      </a:rPr>
                      <m:t>𝑛</m:t>
                    </m:r>
                    <m:r>
                      <a:rPr lang="en-US" sz="2800" i="1">
                        <a:latin typeface="Cambria Math"/>
                      </a:rPr>
                      <m:t>)</m:t>
                    </m:r>
                  </m:oMath>
                </a14:m>
                <a:r>
                  <a:rPr lang="ru-RU" sz="2800" dirty="0"/>
                  <a:t>, </a:t>
                </a:r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then every solution is of the form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i="1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800" i="1">
                                <a:latin typeface="Cambria Math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2800" i="1">
                                <a:latin typeface="Cambria Math"/>
                              </a:rPr>
                              <m:t>(</m:t>
                            </m:r>
                            <m:r>
                              <a:rPr lang="en-US" sz="2800" i="1">
                                <a:latin typeface="Cambria Math"/>
                              </a:rPr>
                              <m:t>𝑝</m:t>
                            </m:r>
                            <m:r>
                              <a:rPr lang="en-US" sz="2800" i="1">
                                <a:latin typeface="Cambria Math"/>
                              </a:rPr>
                              <m:t>)</m:t>
                            </m:r>
                          </m:sup>
                        </m:sSubSup>
                        <m:r>
                          <a:rPr lang="en-US" sz="2800" b="0" i="1" smtClean="0">
                            <a:latin typeface="Cambria Math"/>
                          </a:rPr>
                          <m:t>+</m:t>
                        </m:r>
                        <m:sSubSup>
                          <m:sSubSupPr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i="1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800" i="1">
                                <a:latin typeface="Cambria Math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2800" i="1">
                                <a:latin typeface="Cambria Math"/>
                              </a:rPr>
                              <m:t>(</m:t>
                            </m:r>
                            <m:r>
                              <a:rPr lang="en-US" sz="2800" b="0" i="1" smtClean="0">
                                <a:latin typeface="Cambria Math"/>
                              </a:rPr>
                              <m:t>h</m:t>
                            </m:r>
                            <m:r>
                              <a:rPr lang="en-US" sz="2800" i="1">
                                <a:latin typeface="Cambria Math"/>
                              </a:rPr>
                              <m:t>)</m:t>
                            </m:r>
                          </m:sup>
                        </m:sSubSup>
                      </m:e>
                    </m:d>
                  </m:oMath>
                </a14:m>
                <a:r>
                  <a:rPr lang="ru-RU" sz="2800" dirty="0"/>
                  <a:t>, </a:t>
                </a:r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where</a:t>
                </a:r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i="1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800" i="1">
                                <a:latin typeface="Cambria Math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2800" i="1">
                                <a:latin typeface="Cambria Math"/>
                              </a:rPr>
                              <m:t>(</m:t>
                            </m:r>
                            <m:r>
                              <a:rPr lang="en-US" sz="2800" i="1">
                                <a:latin typeface="Cambria Math"/>
                              </a:rPr>
                              <m:t>h</m:t>
                            </m:r>
                            <m:r>
                              <a:rPr lang="en-US" sz="2800" i="1">
                                <a:latin typeface="Cambria Math"/>
                              </a:rPr>
                              <m:t>)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sz="2800" dirty="0"/>
                  <a:t> is a solution of the associated</a:t>
                </a:r>
              </a:p>
              <a:p>
                <a:pPr marL="0" indent="0">
                  <a:buNone/>
                </a:pPr>
                <a:r>
                  <a:rPr lang="en-US" sz="2800" dirty="0"/>
                  <a:t>homogeneous recurrence relation</a:t>
                </a:r>
                <a:endParaRPr lang="en-US" sz="28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−2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+…+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</m:t>
                          </m:r>
                          <m:r>
                            <a:rPr lang="en-US" sz="2800" i="1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ru-RU" sz="2800" b="0" i="1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7544" y="1484784"/>
                <a:ext cx="8229600" cy="5112568"/>
              </a:xfrm>
              <a:blipFill rotWithShape="1">
                <a:blip r:embed="rId3"/>
                <a:stretch>
                  <a:fillRect l="-1556" t="-190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4480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800" dirty="0"/>
              <a:t>Linear nonhomogeneous recurrence relations</a:t>
            </a:r>
            <a:br>
              <a:rPr lang="en-US" sz="2800" dirty="0"/>
            </a:br>
            <a:r>
              <a:rPr lang="en-US" sz="2800" dirty="0"/>
              <a:t>with constant coefficients</a:t>
            </a:r>
            <a:endParaRPr lang="ru-R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sz="2800" u="sng" dirty="0"/>
                  <a:t>Example</a:t>
                </a:r>
                <a:r>
                  <a:rPr lang="ru-RU" sz="2800" u="sng" dirty="0"/>
                  <a:t> 15</a:t>
                </a:r>
              </a:p>
              <a:p>
                <a:pPr marL="0" indent="0">
                  <a:buNone/>
                </a:pPr>
                <a:r>
                  <a:rPr lang="en-US" sz="2800" dirty="0"/>
                  <a:t>Find all solutions of the recurrence relation</a:t>
                </a:r>
                <a:endParaRPr lang="en-US" sz="28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800" b="0" i="1" smtClean="0">
                              <a:latin typeface="Cambria Math"/>
                            </a:rPr>
                            <m:t>3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+</m:t>
                      </m:r>
                      <m:r>
                        <a:rPr lang="ru-RU" sz="2800" i="1" smtClean="0">
                          <a:latin typeface="Cambria Math"/>
                        </a:rPr>
                        <m:t>2</m:t>
                      </m:r>
                      <m:r>
                        <a:rPr lang="en-US" sz="2800" b="0" i="1" smtClean="0">
                          <a:latin typeface="Cambria Math"/>
                        </a:rPr>
                        <m:t>𝑛</m:t>
                      </m:r>
                      <m:r>
                        <a:rPr lang="ru-RU" sz="2800" b="0" i="1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:r>
                  <a:rPr lang="en-US" sz="2800" u="sng" dirty="0"/>
                  <a:t>Solution</a:t>
                </a:r>
                <a:endParaRPr lang="ru-RU" sz="2800" u="sng" dirty="0"/>
              </a:p>
              <a:p>
                <a:pPr marL="0" indent="0">
                  <a:buNone/>
                </a:pPr>
                <a:r>
                  <a:rPr lang="en-US" sz="2800" dirty="0"/>
                  <a:t>This is a linear nonhomogeneous recurrence relation. </a:t>
                </a:r>
              </a:p>
              <a:p>
                <a:pPr marL="0" indent="0">
                  <a:buNone/>
                </a:pPr>
                <a:r>
                  <a:rPr lang="en-US" sz="2800" dirty="0"/>
                  <a:t>The solutions of its associated homogeneous recurrence relation</a:t>
                </a:r>
                <a:endParaRPr lang="ru-RU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800" i="1">
                              <a:latin typeface="Cambria Math"/>
                            </a:rPr>
                            <m:t>3</m:t>
                          </m:r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:r>
                  <a:rPr lang="en-US" sz="2800" dirty="0"/>
                  <a:t>are</a:t>
                </a:r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</m:sub>
                      <m:sup>
                        <m:r>
                          <a:rPr lang="en-US" sz="2800" i="1">
                            <a:latin typeface="Cambria Math"/>
                          </a:rPr>
                          <m:t>(</m:t>
                        </m:r>
                        <m:r>
                          <a:rPr lang="en-US" sz="2800" i="1">
                            <a:latin typeface="Cambria Math"/>
                          </a:rPr>
                          <m:t>h</m:t>
                        </m:r>
                        <m:r>
                          <a:rPr lang="en-US" sz="2800" i="1">
                            <a:latin typeface="Cambria Math"/>
                          </a:rPr>
                          <m:t>)</m:t>
                        </m:r>
                      </m:sup>
                    </m:sSubSup>
                    <m:r>
                      <a:rPr lang="ru-RU" sz="2800" b="0" i="1" smtClean="0">
                        <a:latin typeface="Cambria Math"/>
                      </a:rPr>
                      <m:t>=</m:t>
                    </m:r>
                    <m:r>
                      <a:rPr lang="ru-RU" sz="2800" b="0" i="1" smtClean="0">
                        <a:latin typeface="Cambria Math"/>
                        <a:ea typeface="Cambria Math"/>
                      </a:rPr>
                      <m:t>𝛼</m:t>
                    </m:r>
                    <m:r>
                      <a:rPr lang="ru-RU" sz="2800" b="0" i="1" smtClean="0">
                        <a:latin typeface="Cambria Math"/>
                        <a:ea typeface="Cambria Math"/>
                      </a:rPr>
                      <m:t>∙</m:t>
                    </m:r>
                    <m:sSup>
                      <m:sSupPr>
                        <m:ctrlPr>
                          <a:rPr lang="ru-RU" sz="28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ru-RU" sz="2800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p>
                    </m:sSup>
                    <m:r>
                      <a:rPr lang="en-US" sz="2800" b="0" i="1" smtClean="0">
                        <a:latin typeface="Cambria Math"/>
                        <a:ea typeface="Cambria Math"/>
                      </a:rPr>
                      <m:t>.</m:t>
                    </m:r>
                  </m:oMath>
                </a14:m>
                <a:endParaRPr lang="ru-RU" sz="2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090" t="-3939" r="-25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5870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800" dirty="0"/>
              <a:t>Linear nonhomogeneous recurrence relations</a:t>
            </a:r>
            <a:br>
              <a:rPr lang="en-US" sz="2800" dirty="0"/>
            </a:br>
            <a:r>
              <a:rPr lang="en-US" sz="2800" dirty="0"/>
              <a:t>with constant coefficients</a:t>
            </a:r>
            <a:endParaRPr lang="ru-R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sz="2800" u="sng" dirty="0"/>
                  <a:t>Example</a:t>
                </a:r>
                <a:r>
                  <a:rPr lang="ru-RU" sz="2800" u="sng" dirty="0"/>
                  <a:t> 15</a:t>
                </a:r>
              </a:p>
              <a:p>
                <a:pPr marL="0" indent="0">
                  <a:buNone/>
                </a:pPr>
                <a:r>
                  <a:rPr lang="en-US" sz="2800" dirty="0"/>
                  <a:t>Find all solutions of the recurrence relation</a:t>
                </a:r>
                <a:endParaRPr lang="en-US" sz="28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800" b="0" i="1" smtClean="0">
                              <a:latin typeface="Cambria Math"/>
                            </a:rPr>
                            <m:t>3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+</m:t>
                      </m:r>
                      <m:r>
                        <a:rPr lang="ru-RU" sz="2800" b="1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𝟐</m:t>
                      </m:r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𝒏</m:t>
                      </m:r>
                      <m:r>
                        <a:rPr lang="ru-RU" sz="2800" b="0" i="1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:r>
                  <a:rPr lang="en-US" sz="2800" u="sng" dirty="0"/>
                  <a:t>Solution</a:t>
                </a:r>
                <a:endParaRPr lang="ru-RU" sz="2800" u="sng" dirty="0"/>
              </a:p>
              <a:p>
                <a:pPr marL="0" indent="0">
                  <a:buNone/>
                </a:pPr>
                <a:r>
                  <a:rPr lang="en-US" sz="2800" dirty="0"/>
                  <a:t>We now find a particular solution.</a:t>
                </a:r>
              </a:p>
              <a:p>
                <a:pPr marL="0" indent="0">
                  <a:buNone/>
                </a:pPr>
                <a:r>
                  <a:rPr lang="en-US" sz="2800" dirty="0"/>
                  <a:t>Suppose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b="1" i="1">
                        <a:solidFill>
                          <a:srgbClr val="C00000"/>
                        </a:solidFill>
                        <a:latin typeface="Cambria Math"/>
                      </a:rPr>
                      <m:t>𝒄𝒏</m:t>
                    </m:r>
                    <m:r>
                      <a:rPr lang="en-US" sz="2800" b="1" i="1">
                        <a:solidFill>
                          <a:srgbClr val="C00000"/>
                        </a:solidFill>
                        <a:latin typeface="Cambria Math"/>
                      </a:rPr>
                      <m:t>+</m:t>
                    </m:r>
                    <m:r>
                      <a:rPr lang="en-US" sz="2800" b="1" i="1">
                        <a:solidFill>
                          <a:srgbClr val="C00000"/>
                        </a:solidFill>
                        <a:latin typeface="Cambria Math"/>
                      </a:rPr>
                      <m:t>𝒅</m:t>
                    </m:r>
                    <m:r>
                      <a:rPr lang="en-US" sz="2800" i="1">
                        <a:latin typeface="Cambria Math"/>
                      </a:rPr>
                      <m:t>,</m:t>
                    </m:r>
                  </m:oMath>
                </a14:m>
                <a:r>
                  <a:rPr lang="en-US" sz="2800" dirty="0"/>
                  <a:t> where</a:t>
                </a:r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𝑐</m:t>
                    </m:r>
                  </m:oMath>
                </a14:m>
                <a:r>
                  <a:rPr lang="en-US" sz="2800" dirty="0"/>
                  <a:t> and</a:t>
                </a:r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𝑑</m:t>
                    </m:r>
                  </m:oMath>
                </a14:m>
                <a:r>
                  <a:rPr lang="en-US" sz="2800" dirty="0"/>
                  <a:t> are constants,</a:t>
                </a:r>
                <a:r>
                  <a:rPr lang="ru-RU" sz="2800" dirty="0"/>
                  <a:t> </a:t>
                </a:r>
                <a:r>
                  <a:rPr lang="en-US" sz="2800" dirty="0"/>
                  <a:t>such a solution.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𝑐𝑛</m:t>
                      </m:r>
                      <m:r>
                        <a:rPr lang="en-US" sz="2800" i="1">
                          <a:latin typeface="Cambria Math"/>
                        </a:rPr>
                        <m:t>+</m:t>
                      </m:r>
                      <m:r>
                        <a:rPr lang="en-US" sz="2800" i="1">
                          <a:latin typeface="Cambria Math"/>
                        </a:rPr>
                        <m:t>𝑑</m:t>
                      </m:r>
                      <m:r>
                        <a:rPr lang="en-US" sz="2800" b="0" i="0" smtClean="0">
                          <a:latin typeface="Cambria Math"/>
                        </a:rPr>
                        <m:t>=</m:t>
                      </m:r>
                      <m:r>
                        <a:rPr lang="en-US" sz="2800" b="0" i="1" smtClean="0">
                          <a:latin typeface="Cambria Math"/>
                        </a:rPr>
                        <m:t>3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800" b="0" i="1" smtClean="0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  <m:r>
                            <a:rPr lang="en-US" sz="2800" i="1">
                              <a:latin typeface="Cambria Math"/>
                            </a:rPr>
                            <m:t>+</m:t>
                          </m:r>
                          <m:r>
                            <a:rPr lang="en-US" sz="2800" i="1">
                              <a:latin typeface="Cambria Math"/>
                            </a:rPr>
                            <m:t>𝑑</m:t>
                          </m:r>
                        </m:e>
                      </m:d>
                      <m:r>
                        <a:rPr lang="en-US" sz="2800" b="0" i="0" smtClean="0">
                          <a:latin typeface="Cambria Math"/>
                        </a:rPr>
                        <m:t>+2</m:t>
                      </m:r>
                      <m:r>
                        <a:rPr lang="en-US" sz="2800" b="0" i="1" smtClean="0">
                          <a:latin typeface="Cambria Math"/>
                        </a:rPr>
                        <m:t>𝑛</m:t>
                      </m:r>
                      <m:r>
                        <a:rPr lang="en-US" sz="2800" b="0" i="1" smtClean="0">
                          <a:latin typeface="Cambria Math"/>
                        </a:rPr>
                        <m:t>,</m:t>
                      </m:r>
                    </m:oMath>
                  </m:oMathPara>
                </a14:m>
                <a:endParaRPr lang="en-US" sz="28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2+2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𝑐</m:t>
                          </m:r>
                        </m:e>
                      </m:d>
                      <m:r>
                        <a:rPr lang="en-US" sz="2800" b="0" i="1" smtClean="0">
                          <a:latin typeface="Cambria Math"/>
                        </a:rPr>
                        <m:t>𝑛</m:t>
                      </m:r>
                      <m:r>
                        <a:rPr lang="en-US" sz="2800" b="0" i="1" smtClean="0"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𝑑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−3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𝑐</m:t>
                          </m:r>
                        </m:e>
                      </m:d>
                      <m:r>
                        <a:rPr lang="en-US" sz="2800" b="0" i="1" smtClean="0">
                          <a:latin typeface="Cambria Math"/>
                        </a:rPr>
                        <m:t>=0.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090" t="-31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6234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88226"/>
            <a:ext cx="7290054" cy="1499616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800" dirty="0"/>
              <a:t>Linear nonhomogeneous recurrence relations</a:t>
            </a:r>
            <a:br>
              <a:rPr lang="en-US" sz="2800" dirty="0"/>
            </a:br>
            <a:r>
              <a:rPr lang="en-US" sz="2800" dirty="0"/>
              <a:t>with constant coefficients</a:t>
            </a:r>
            <a:endParaRPr lang="ru-R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925144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sz="2800" u="sng" dirty="0"/>
                  <a:t>Example </a:t>
                </a:r>
                <a:r>
                  <a:rPr lang="ru-RU" sz="2800" u="sng" dirty="0"/>
                  <a:t>15</a:t>
                </a:r>
              </a:p>
              <a:p>
                <a:pPr marL="0" indent="0">
                  <a:buNone/>
                </a:pPr>
                <a:r>
                  <a:rPr lang="en-US" sz="2800" dirty="0"/>
                  <a:t>Find all solutions of the recurrence relation</a:t>
                </a:r>
                <a:endParaRPr lang="en-US" sz="28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800" b="0" i="1" smtClean="0">
                              <a:latin typeface="Cambria Math"/>
                            </a:rPr>
                            <m:t>3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+</m:t>
                      </m:r>
                      <m:r>
                        <a:rPr lang="ru-RU" sz="2800" b="1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𝟐</m:t>
                      </m:r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𝒏</m:t>
                      </m:r>
                      <m:r>
                        <a:rPr lang="ru-RU" sz="2800" b="0" i="1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:r>
                  <a:rPr lang="en-US" sz="2800" u="sng" dirty="0"/>
                  <a:t>Solution</a:t>
                </a:r>
                <a:endParaRPr lang="ru-RU" sz="2800" u="sn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2+2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𝑐</m:t>
                          </m:r>
                        </m:e>
                      </m:d>
                      <m:r>
                        <a:rPr lang="en-US" sz="2800" b="0" i="1" smtClean="0">
                          <a:latin typeface="Cambria Math"/>
                        </a:rPr>
                        <m:t>𝑛</m:t>
                      </m:r>
                      <m:r>
                        <a:rPr lang="en-US" sz="2800" b="0" i="1" smtClean="0"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𝑑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−3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𝑐</m:t>
                          </m:r>
                        </m:e>
                      </m:d>
                      <m:r>
                        <a:rPr lang="en-US" sz="2800" b="0" i="1" smtClean="0">
                          <a:latin typeface="Cambria Math"/>
                        </a:rPr>
                        <m:t>=0,</m:t>
                      </m:r>
                    </m:oMath>
                  </m:oMathPara>
                </a14:m>
                <a:endParaRPr lang="en-US" sz="28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28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smtClean="0">
                                  <a:latin typeface="Cambria Math"/>
                                </a:rPr>
                                <m:t>2+2</m:t>
                              </m:r>
                              <m:r>
                                <a:rPr lang="en-US" sz="2800" b="0" i="1" smtClean="0">
                                  <a:latin typeface="Cambria Math"/>
                                </a:rPr>
                                <m:t>𝑐</m:t>
                              </m:r>
                              <m:r>
                                <a:rPr lang="en-US" sz="2800" b="0" i="1" smtClean="0">
                                  <a:latin typeface="Cambria Math"/>
                                </a:rPr>
                                <m:t>=0,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sz="2800" b="0" i="1" smtClean="0">
                                  <a:latin typeface="Cambria Math"/>
                                </a:rPr>
                                <m:t>𝑑</m:t>
                              </m:r>
                              <m:r>
                                <a:rPr lang="en-US" sz="2800" b="0" i="1" smtClean="0">
                                  <a:latin typeface="Cambria Math"/>
                                </a:rPr>
                                <m:t>−3</m:t>
                              </m:r>
                              <m:r>
                                <a:rPr lang="en-US" sz="2800" b="0" i="1" smtClean="0">
                                  <a:latin typeface="Cambria Math"/>
                                </a:rPr>
                                <m:t>𝑐</m:t>
                              </m:r>
                              <m:r>
                                <a:rPr lang="en-US" sz="2800" b="0" i="1" smtClean="0">
                                  <a:latin typeface="Cambria Math"/>
                                </a:rPr>
                                <m:t>=0,</m:t>
                              </m:r>
                            </m:e>
                          </m:eqArr>
                        </m:e>
                      </m:d>
                      <m:r>
                        <a:rPr lang="ru-RU" sz="2800" i="1" smtClean="0">
                          <a:latin typeface="Cambria Math"/>
                          <a:sym typeface="Symbol"/>
                        </a:rPr>
                        <m:t></m:t>
                      </m:r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</a:rPr>
                        <m:t>𝑐</m:t>
                      </m:r>
                      <m:r>
                        <a:rPr lang="en-US" sz="2800" b="0" i="1" smtClean="0">
                          <a:latin typeface="Cambria Math"/>
                        </a:rPr>
                        <m:t>=−1, </m:t>
                      </m:r>
                      <m:r>
                        <a:rPr lang="en-US" sz="2800" b="0" i="1" smtClean="0">
                          <a:latin typeface="Cambria Math"/>
                        </a:rPr>
                        <m:t>𝑑</m:t>
                      </m:r>
                      <m:r>
                        <a:rPr lang="en-US" sz="2800" b="0" i="1" smtClean="0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US" sz="2800" b="0" i="1" smtClean="0">
                          <a:latin typeface="Cambria Math"/>
                        </a:rPr>
                        <m:t>, </m:t>
                      </m:r>
                      <m:r>
                        <a:rPr lang="en-US" sz="2800" b="0" i="1" smtClean="0">
                          <a:latin typeface="Cambria Math"/>
                          <a:sym typeface="Symbol"/>
                        </a:rPr>
                        <m:t></m:t>
                      </m:r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800" i="1">
                              <a:latin typeface="Cambria Math"/>
                            </a:rPr>
                            <m:t>(</m:t>
                          </m:r>
                          <m:r>
                            <a:rPr lang="en-US" sz="2800" i="1">
                              <a:latin typeface="Cambria Math"/>
                            </a:rPr>
                            <m:t>𝑝</m:t>
                          </m:r>
                          <m:r>
                            <a:rPr lang="en-US" sz="2800" i="1">
                              <a:latin typeface="Cambria Math"/>
                            </a:rPr>
                            <m:t>)</m:t>
                          </m:r>
                        </m:sup>
                      </m:sSubSup>
                      <m:r>
                        <a:rPr lang="en-US" sz="2800" b="0" i="1" smtClean="0">
                          <a:latin typeface="Cambria Math"/>
                        </a:rPr>
                        <m:t>=−</m:t>
                      </m:r>
                      <m:r>
                        <a:rPr lang="en-US" sz="2800" b="0" i="1" smtClean="0">
                          <a:latin typeface="Cambria Math"/>
                        </a:rPr>
                        <m:t>𝑛</m:t>
                      </m:r>
                      <m:r>
                        <a:rPr lang="en-US" sz="2800" b="0" i="1" smtClean="0">
                          <a:latin typeface="Cambria Math"/>
                        </a:rPr>
                        <m:t>−</m:t>
                      </m:r>
                      <m:f>
                        <m:fPr>
                          <m:type m:val="li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/>
                            </a:rPr>
                            <m:t>2, 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800" b="0" i="1" smtClean="0"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</m:sub>
                      <m:sup>
                        <m:r>
                          <a:rPr lang="en-US" sz="2800" i="1">
                            <a:latin typeface="Cambria Math"/>
                          </a:rPr>
                          <m:t>(</m:t>
                        </m:r>
                        <m:r>
                          <a:rPr lang="en-US" sz="2800" i="1">
                            <a:latin typeface="Cambria Math"/>
                          </a:rPr>
                          <m:t>𝑝</m:t>
                        </m:r>
                        <m:r>
                          <a:rPr lang="en-US" sz="2800" i="1">
                            <a:latin typeface="Cambria Math"/>
                          </a:rPr>
                          <m:t>)</m:t>
                        </m:r>
                      </m:sup>
                    </m:sSubSup>
                    <m:r>
                      <a:rPr lang="en-US" sz="2800" b="0" i="1" smtClean="0">
                        <a:latin typeface="Cambria Math"/>
                      </a:rPr>
                      <m:t>+</m:t>
                    </m:r>
                    <m:sSubSup>
                      <m:sSubSup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</m:sub>
                      <m:sup>
                        <m:r>
                          <a:rPr lang="en-US" sz="2800" i="1">
                            <a:latin typeface="Cambria Math"/>
                          </a:rPr>
                          <m:t>(</m:t>
                        </m:r>
                        <m:r>
                          <a:rPr lang="en-US" sz="2800" b="0" i="1" smtClean="0">
                            <a:latin typeface="Cambria Math"/>
                          </a:rPr>
                          <m:t>h</m:t>
                        </m:r>
                        <m:r>
                          <a:rPr lang="en-US" sz="2800" i="1">
                            <a:latin typeface="Cambria Math"/>
                          </a:rPr>
                          <m:t>)</m:t>
                        </m:r>
                      </m:sup>
                    </m:sSubSup>
                    <m:r>
                      <a:rPr lang="en-US" sz="2800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−</m:t>
                    </m:r>
                    <m:r>
                      <a:rPr lang="en-US" sz="2800" i="1">
                        <a:latin typeface="Cambria Math"/>
                      </a:rPr>
                      <m:t>𝑛</m:t>
                    </m:r>
                    <m:r>
                      <a:rPr lang="en-US" sz="2800" i="1">
                        <a:latin typeface="Cambria Math"/>
                      </a:rPr>
                      <m:t>−</m:t>
                    </m:r>
                    <m:f>
                      <m:fPr>
                        <m:type m:val="li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sz="2800" b="0" i="1" smtClean="0">
                        <a:latin typeface="Cambria Math"/>
                        <a:sym typeface="Symbol"/>
                      </a:rPr>
                      <m:t>+</m:t>
                    </m:r>
                    <m:r>
                      <a:rPr lang="ru-RU" sz="2800" i="1">
                        <a:latin typeface="Cambria Math"/>
                        <a:ea typeface="Cambria Math"/>
                      </a:rPr>
                      <m:t>𝛼</m:t>
                    </m:r>
                    <m:r>
                      <a:rPr lang="ru-RU" sz="2800" i="1">
                        <a:latin typeface="Cambria Math"/>
                        <a:ea typeface="Cambria Math"/>
                      </a:rPr>
                      <m:t>∙</m:t>
                    </m:r>
                    <m:sSup>
                      <m:sSupPr>
                        <m:ctrlPr>
                          <a:rPr lang="ru-R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ru-RU" sz="2800" i="1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𝑛</m:t>
                        </m:r>
                      </m:sup>
                    </m:sSup>
                    <m:r>
                      <a:rPr lang="en-US" sz="2800" i="1">
                        <a:latin typeface="Cambria Math"/>
                        <a:ea typeface="Cambria Math"/>
                      </a:rPr>
                      <m:t>.</m:t>
                    </m:r>
                  </m:oMath>
                </a14:m>
                <a:endParaRPr lang="ru-RU" sz="2800" dirty="0"/>
              </a:p>
              <a:p>
                <a:pPr marL="0" indent="0" algn="ctr">
                  <a:buNone/>
                </a:pPr>
                <a:endParaRPr lang="ru-RU" sz="2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925144"/>
              </a:xfrm>
              <a:blipFill>
                <a:blip r:embed="rId2"/>
                <a:stretch>
                  <a:fillRect l="-1852" t="-21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Прямая соединительная линия 4"/>
          <p:cNvCxnSpPr/>
          <p:nvPr/>
        </p:nvCxnSpPr>
        <p:spPr>
          <a:xfrm flipV="1">
            <a:off x="452736" y="3804737"/>
            <a:ext cx="4335288" cy="3600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2182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800" dirty="0"/>
              <a:t>Linear nonhomogeneous recurrence relations</a:t>
            </a:r>
            <a:br>
              <a:rPr lang="en-US" sz="2800" dirty="0"/>
            </a:br>
            <a:r>
              <a:rPr lang="en-US" sz="2800" dirty="0"/>
              <a:t>with constant coefficients</a:t>
            </a:r>
            <a:endParaRPr lang="ru-R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sz="2800" u="sng" dirty="0"/>
                  <a:t>Example</a:t>
                </a:r>
                <a:r>
                  <a:rPr lang="ru-RU" sz="2800" u="sng" dirty="0"/>
                  <a:t> 1</a:t>
                </a:r>
                <a:r>
                  <a:rPr lang="en-US" sz="2800" u="sng" dirty="0"/>
                  <a:t>6</a:t>
                </a:r>
                <a:endParaRPr lang="ru-RU" sz="2800" u="sng" dirty="0"/>
              </a:p>
              <a:p>
                <a:pPr marL="0" indent="0">
                  <a:buNone/>
                </a:pPr>
                <a:r>
                  <a:rPr lang="en-US" sz="2800" dirty="0"/>
                  <a:t>Find all solutions of the recurrence relation</a:t>
                </a:r>
                <a:endParaRPr lang="en-US" sz="28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5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−6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−2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7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ru-RU" sz="2800" b="0" i="1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:r>
                  <a:rPr lang="en-US" sz="2800" u="sng" dirty="0"/>
                  <a:t>Solution</a:t>
                </a:r>
                <a:endParaRPr lang="ru-RU" sz="2800" u="sng" dirty="0"/>
              </a:p>
              <a:p>
                <a:pPr marL="0" indent="0">
                  <a:buNone/>
                </a:pPr>
                <a:r>
                  <a:rPr lang="en-US" sz="2800" dirty="0"/>
                  <a:t>This is a linear nonhomogeneous recurrence relation. </a:t>
                </a:r>
              </a:p>
              <a:p>
                <a:pPr marL="0" indent="0">
                  <a:buNone/>
                </a:pPr>
                <a:r>
                  <a:rPr lang="en-US" sz="2800" dirty="0"/>
                  <a:t>The solutions of its associated homogeneous recurrence relation</a:t>
                </a:r>
                <a:endParaRPr lang="ru-RU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5</m:t>
                          </m:r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−6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−2</m:t>
                          </m:r>
                        </m:sub>
                      </m:sSub>
                      <m:r>
                        <a:rPr lang="ru-RU" sz="2800" b="0" i="1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:r>
                  <a:rPr lang="en-US" sz="2800" dirty="0"/>
                  <a:t>are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</m:sub>
                      <m:sup>
                        <m:r>
                          <a:rPr lang="en-US" sz="2800" i="1">
                            <a:latin typeface="Cambria Math"/>
                          </a:rPr>
                          <m:t>(</m:t>
                        </m:r>
                        <m:r>
                          <a:rPr lang="en-US" sz="2800" i="1">
                            <a:latin typeface="Cambria Math"/>
                          </a:rPr>
                          <m:t>h</m:t>
                        </m:r>
                        <m:r>
                          <a:rPr lang="en-US" sz="2800" i="1">
                            <a:latin typeface="Cambria Math"/>
                          </a:rPr>
                          <m:t>)</m:t>
                        </m:r>
                      </m:sup>
                    </m:sSubSup>
                    <m:r>
                      <a:rPr lang="ru-RU" sz="2800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800" i="1"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ru-RU" sz="2800" i="1">
                        <a:latin typeface="Cambria Math"/>
                        <a:ea typeface="Cambria Math"/>
                      </a:rPr>
                      <m:t>∙</m:t>
                    </m:r>
                    <m:sSup>
                      <m:sSupPr>
                        <m:ctrlPr>
                          <a:rPr lang="ru-R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ru-RU" sz="2800" i="1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𝑛</m:t>
                        </m:r>
                      </m:sup>
                    </m:sSup>
                    <m:r>
                      <a:rPr lang="en-US" sz="2800" b="0" i="0" smtClean="0">
                        <a:latin typeface="Cambria Math"/>
                        <a:ea typeface="Cambria Math"/>
                      </a:rPr>
                      <m:t>+</m:t>
                    </m:r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800" i="1">
                            <a:latin typeface="Cambria Math"/>
                            <a:ea typeface="Cambria Math"/>
                          </a:rPr>
                          <m:t>𝛼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ru-RU" sz="2800" i="1">
                        <a:latin typeface="Cambria Math"/>
                        <a:ea typeface="Cambria Math"/>
                      </a:rPr>
                      <m:t>∙</m:t>
                    </m:r>
                    <m:sSup>
                      <m:sSupPr>
                        <m:ctrlPr>
                          <a:rPr lang="ru-R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800" dirty="0"/>
                  <a:t>.</a:t>
                </a:r>
                <a:endParaRPr lang="ru-RU" sz="2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090" t="-3939" r="-25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8165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800" dirty="0"/>
              <a:t>Linear nonhomogeneous recurrence relations</a:t>
            </a:r>
            <a:br>
              <a:rPr lang="en-US" sz="2800" dirty="0"/>
            </a:br>
            <a:r>
              <a:rPr lang="en-US" sz="2800" dirty="0"/>
              <a:t>with constant coefficients</a:t>
            </a:r>
            <a:endParaRPr lang="ru-R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sz="2800" u="sng" dirty="0"/>
                  <a:t>Example</a:t>
                </a:r>
                <a:r>
                  <a:rPr lang="ru-RU" sz="2800" u="sng" dirty="0"/>
                  <a:t> 1</a:t>
                </a:r>
                <a:r>
                  <a:rPr lang="en-US" sz="2800" u="sng" dirty="0"/>
                  <a:t>6</a:t>
                </a:r>
                <a:endParaRPr lang="ru-RU" sz="2800" u="sng" dirty="0"/>
              </a:p>
              <a:p>
                <a:pPr marL="0" indent="0">
                  <a:buNone/>
                </a:pPr>
                <a:r>
                  <a:rPr lang="en-US" sz="2800" dirty="0"/>
                  <a:t>Find all solutions of the recurrence relation</a:t>
                </a:r>
                <a:endParaRPr lang="en-US" sz="28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5</m:t>
                          </m:r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−6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−2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𝟕</m:t>
                          </m:r>
                        </m:e>
                        <m:sup>
                          <m: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𝒏</m:t>
                          </m:r>
                        </m:sup>
                      </m:sSup>
                      <m:r>
                        <a:rPr lang="ru-RU" sz="2800" i="1">
                          <a:latin typeface="Cambria Math"/>
                        </a:rPr>
                        <m:t>. </m:t>
                      </m:r>
                    </m:oMath>
                  </m:oMathPara>
                </a14:m>
                <a:endParaRPr lang="en-US" sz="2800" u="sng" dirty="0"/>
              </a:p>
              <a:p>
                <a:pPr marL="0" indent="0">
                  <a:buNone/>
                </a:pPr>
                <a:r>
                  <a:rPr lang="en-US" sz="2800" u="sng" dirty="0"/>
                  <a:t>Solution</a:t>
                </a:r>
                <a:endParaRPr lang="ru-RU" sz="2800" u="sng" dirty="0"/>
              </a:p>
              <a:p>
                <a:pPr marL="0" indent="0">
                  <a:buNone/>
                </a:pPr>
                <a:r>
                  <a:rPr lang="en-US" sz="2800" dirty="0"/>
                  <a:t>We now find a particular solution.</a:t>
                </a:r>
                <a:r>
                  <a:rPr lang="ru-RU" sz="2800" dirty="0"/>
                  <a:t> </a:t>
                </a:r>
              </a:p>
              <a:p>
                <a:pPr marL="0" indent="0">
                  <a:buNone/>
                </a:pPr>
                <a:r>
                  <a:rPr lang="en-US" sz="2800" dirty="0"/>
                  <a:t>Suppose that</a:t>
                </a:r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/>
                      </a:rPr>
                      <m:t>𝐹</m:t>
                    </m:r>
                    <m:d>
                      <m:d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sz="2800" b="0" i="1" smtClean="0">
                        <a:latin typeface="Cambria Math"/>
                      </a:rPr>
                      <m:t>=</m:t>
                    </m:r>
                    <m:r>
                      <a:rPr lang="en-US" sz="2800" b="1" i="1" smtClean="0">
                        <a:solidFill>
                          <a:srgbClr val="C00000"/>
                        </a:solidFill>
                        <a:latin typeface="Cambria Math"/>
                      </a:rPr>
                      <m:t>𝑪</m:t>
                    </m:r>
                    <m:r>
                      <a:rPr lang="en-US" sz="2800" b="1" i="1" smtClean="0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∙</m:t>
                    </m:r>
                    <m:sSup>
                      <m:sSupPr>
                        <m:ctrlP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𝟕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𝒏</m:t>
                        </m:r>
                      </m:sup>
                    </m:sSup>
                    <m:r>
                      <m:rPr>
                        <m:nor/>
                      </m:rPr>
                      <a:rPr lang="en-US" sz="2800" b="0" i="0" smtClean="0">
                        <a:solidFill>
                          <a:srgbClr val="C00000"/>
                        </a:solidFill>
                        <a:latin typeface="Cambria Math"/>
                      </a:rPr>
                      <m:t>, </m:t>
                    </m:r>
                    <m:r>
                      <m:rPr>
                        <m:nor/>
                      </m:rPr>
                      <a:rPr lang="en-US" sz="2800" dirty="0"/>
                      <m:t>where</m:t>
                    </m:r>
                    <m:r>
                      <m:rPr>
                        <m:nor/>
                      </m:rPr>
                      <a:rPr lang="ru-RU" sz="2800" dirty="0"/>
                      <m:t> </m:t>
                    </m:r>
                    <m:r>
                      <a:rPr lang="en-US" sz="2800" b="0" i="1" smtClean="0">
                        <a:latin typeface="Cambria Math"/>
                      </a:rPr>
                      <m:t>𝐶</m:t>
                    </m:r>
                    <m:r>
                      <m:rPr>
                        <m:nor/>
                      </m:rPr>
                      <a:rPr lang="en-US" sz="2800" dirty="0"/>
                      <m:t> </m:t>
                    </m:r>
                  </m:oMath>
                </a14:m>
                <a:r>
                  <a:rPr lang="en-US" sz="2800" b="0" i="0" dirty="0">
                    <a:latin typeface="+mj-lt"/>
                  </a:rPr>
                  <a:t>is a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2800" dirty="0"/>
                      <m:t>constant</m:t>
                    </m:r>
                    <m:r>
                      <m:rPr>
                        <m:nor/>
                      </m:rPr>
                      <a:rPr lang="en-US" sz="2800" dirty="0"/>
                      <m:t>,</m:t>
                    </m:r>
                    <m:r>
                      <m:rPr>
                        <m:nor/>
                      </m:rPr>
                      <a:rPr lang="ru-RU" sz="2800" dirty="0"/>
                      <m:t> </m:t>
                    </m:r>
                    <m:r>
                      <m:rPr>
                        <m:nor/>
                      </m:rPr>
                      <a:rPr lang="en-US" sz="2800" dirty="0"/>
                      <m:t>such</m:t>
                    </m:r>
                    <m:r>
                      <m:rPr>
                        <m:nor/>
                      </m:rPr>
                      <a:rPr lang="en-US" sz="2800" dirty="0"/>
                      <m:t> </m:t>
                    </m:r>
                    <m:r>
                      <m:rPr>
                        <m:nor/>
                      </m:rPr>
                      <a:rPr lang="en-US" sz="2800" dirty="0"/>
                      <m:t>a</m:t>
                    </m:r>
                    <m:r>
                      <m:rPr>
                        <m:nor/>
                      </m:rPr>
                      <a:rPr lang="en-US" sz="2800" dirty="0"/>
                      <m:t> </m:t>
                    </m:r>
                    <m:r>
                      <m:rPr>
                        <m:nor/>
                      </m:rPr>
                      <a:rPr lang="en-US" sz="2800" dirty="0"/>
                      <m:t>solution</m:t>
                    </m:r>
                    <m:r>
                      <m:rPr>
                        <m:nor/>
                      </m:rPr>
                      <a:rPr lang="en-US" sz="2800" dirty="0"/>
                      <m:t>.</m:t>
                    </m:r>
                  </m:oMath>
                </a14:m>
                <a:r>
                  <a:rPr lang="en-US" sz="2800" dirty="0"/>
                  <a:t> </a:t>
                </a:r>
                <a:endParaRPr lang="en-US" sz="28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𝐶</m:t>
                      </m:r>
                      <m:r>
                        <a:rPr lang="en-US" sz="2800" i="1">
                          <a:latin typeface="Cambria Math"/>
                          <a:ea typeface="Cambria Math"/>
                        </a:rPr>
                        <m:t>∙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7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sz="2800" b="0" i="0" smtClean="0">
                          <a:latin typeface="Cambria Math"/>
                        </a:rPr>
                        <m:t>=</m:t>
                      </m:r>
                      <m:r>
                        <a:rPr lang="en-US" sz="2800" b="0" i="1" smtClean="0">
                          <a:latin typeface="Cambria Math"/>
                        </a:rPr>
                        <m:t>5</m:t>
                      </m:r>
                      <m:r>
                        <a:rPr lang="en-US" sz="2800" i="1">
                          <a:latin typeface="Cambria Math"/>
                        </a:rPr>
                        <m:t>𝐶</m:t>
                      </m:r>
                      <m:r>
                        <a:rPr lang="en-US" sz="2800" i="1">
                          <a:latin typeface="Cambria Math"/>
                          <a:ea typeface="Cambria Math"/>
                        </a:rPr>
                        <m:t>∙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7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−1</m:t>
                          </m:r>
                        </m:sup>
                      </m:sSup>
                      <m:r>
                        <a:rPr lang="en-US" sz="2800" b="0" i="1" smtClean="0">
                          <a:latin typeface="Cambria Math"/>
                        </a:rPr>
                        <m:t>−6</m:t>
                      </m:r>
                      <m:r>
                        <a:rPr lang="en-US" sz="2800" b="0" i="1" smtClean="0">
                          <a:latin typeface="Cambria Math"/>
                        </a:rPr>
                        <m:t>𝐶</m:t>
                      </m:r>
                      <m:r>
                        <a:rPr lang="en-US" sz="2800" b="0" i="1" smtClean="0">
                          <a:latin typeface="Cambria Math"/>
                          <a:ea typeface="Cambria Math"/>
                        </a:rPr>
                        <m:t>∙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7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−2</m:t>
                          </m:r>
                        </m:sup>
                      </m:sSup>
                      <m:r>
                        <a:rPr lang="en-US" sz="2800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7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sz="2800" b="0" i="1" smtClean="0">
                          <a:latin typeface="Cambria Math"/>
                        </a:rPr>
                        <m:t>,</m:t>
                      </m:r>
                    </m:oMath>
                  </m:oMathPara>
                </a14:m>
                <a:endParaRPr lang="en-US" sz="28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</a:rPr>
                        <m:t>49</m:t>
                      </m:r>
                      <m:r>
                        <a:rPr lang="en-US" sz="2800" b="0" i="1" smtClean="0">
                          <a:latin typeface="Cambria Math"/>
                        </a:rPr>
                        <m:t>𝐶</m:t>
                      </m:r>
                      <m:r>
                        <a:rPr lang="en-US" sz="2800" b="0" i="1" smtClean="0">
                          <a:latin typeface="Cambria Math"/>
                        </a:rPr>
                        <m:t>=35</m:t>
                      </m:r>
                      <m:r>
                        <a:rPr lang="en-US" sz="2800" b="0" i="1" smtClean="0">
                          <a:latin typeface="Cambria Math"/>
                        </a:rPr>
                        <m:t>𝐶</m:t>
                      </m:r>
                      <m:r>
                        <a:rPr lang="en-US" sz="2800" b="0" i="1" smtClean="0">
                          <a:latin typeface="Cambria Math"/>
                        </a:rPr>
                        <m:t>−6</m:t>
                      </m:r>
                      <m:r>
                        <a:rPr lang="en-US" sz="2800" b="0" i="1" smtClean="0">
                          <a:latin typeface="Cambria Math"/>
                        </a:rPr>
                        <m:t>𝐶</m:t>
                      </m:r>
                      <m:r>
                        <a:rPr lang="en-US" sz="2800" b="0" i="1" smtClean="0">
                          <a:latin typeface="Cambria Math"/>
                        </a:rPr>
                        <m:t>+49,</m:t>
                      </m:r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</a:rPr>
                        <m:t>𝐶</m:t>
                      </m:r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/>
                            </a:rPr>
                            <m:t>49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/>
                            </a:rPr>
                            <m:t>20.</m:t>
                          </m:r>
                        </m:den>
                      </m:f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090" t="-3939" b="-222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1140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800" dirty="0"/>
              <a:t>Linear nonhomogeneous recurrence relations</a:t>
            </a:r>
            <a:br>
              <a:rPr lang="en-US" sz="2800" dirty="0"/>
            </a:br>
            <a:r>
              <a:rPr lang="en-US" sz="2800" dirty="0"/>
              <a:t>with constant coefficients</a:t>
            </a:r>
            <a:endParaRPr lang="ru-R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611560" y="2310597"/>
                <a:ext cx="8229600" cy="492514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u="sng" dirty="0"/>
                  <a:t>Example</a:t>
                </a:r>
                <a:r>
                  <a:rPr lang="ru-RU" sz="2800" u="sng" dirty="0"/>
                  <a:t> 1</a:t>
                </a:r>
                <a:r>
                  <a:rPr lang="en-US" sz="2800" u="sng" dirty="0"/>
                  <a:t>6</a:t>
                </a:r>
                <a:endParaRPr lang="ru-RU" sz="2800" u="sng" dirty="0"/>
              </a:p>
              <a:p>
                <a:pPr marL="0" indent="0">
                  <a:buNone/>
                </a:pPr>
                <a:r>
                  <a:rPr lang="en-US" sz="2800" dirty="0"/>
                  <a:t>Find all solutions of the recurrence relation</a:t>
                </a:r>
                <a:endParaRPr lang="en-US" sz="28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5</m:t>
                          </m:r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−6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latin typeface="Cambria Math"/>
                            </a:rPr>
                            <m:t>−2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𝟕</m:t>
                          </m:r>
                        </m:e>
                        <m:sup>
                          <m: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𝒏</m:t>
                          </m:r>
                        </m:sup>
                      </m:sSup>
                      <m:r>
                        <a:rPr lang="ru-RU" sz="2800" i="1">
                          <a:latin typeface="Cambria Math"/>
                        </a:rPr>
                        <m:t>. </m:t>
                      </m:r>
                    </m:oMath>
                  </m:oMathPara>
                </a14:m>
                <a:endParaRPr lang="en-US" sz="2800" u="sng" dirty="0"/>
              </a:p>
              <a:p>
                <a:pPr marL="0" indent="0">
                  <a:buNone/>
                </a:pPr>
                <a:r>
                  <a:rPr lang="en-US" sz="2800" u="sng" dirty="0"/>
                  <a:t>Solution</a:t>
                </a:r>
                <a:endParaRPr lang="ru-RU" sz="2800" u="sn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800" i="1">
                              <a:latin typeface="Cambria Math"/>
                            </a:rPr>
                            <m:t>(</m:t>
                          </m:r>
                          <m:r>
                            <a:rPr lang="en-US" sz="2800" i="1">
                              <a:latin typeface="Cambria Math"/>
                            </a:rPr>
                            <m:t>𝑝</m:t>
                          </m:r>
                          <m:r>
                            <a:rPr lang="en-US" sz="2800" i="1">
                              <a:latin typeface="Cambria Math"/>
                            </a:rPr>
                            <m:t>)</m:t>
                          </m:r>
                        </m:sup>
                      </m:sSubSup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latin typeface="Cambria Math"/>
                                </a:rPr>
                                <m:t>49</m:t>
                              </m:r>
                            </m:num>
                            <m:den>
                              <m:r>
                                <a:rPr lang="en-US" sz="2800" i="1">
                                  <a:latin typeface="Cambria Math"/>
                                </a:rPr>
                                <m:t>20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7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sz="2800" b="0" i="1" smtClean="0">
                          <a:latin typeface="Cambria Math"/>
                        </a:rPr>
                        <m:t>,</m:t>
                      </m:r>
                      <m:r>
                        <a:rPr lang="en-US" sz="2800" b="0" i="1" smtClean="0">
                          <a:latin typeface="Cambria Math"/>
                          <a:sym typeface="Symbol"/>
                        </a:rPr>
                        <m:t></m:t>
                      </m:r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800" i="1">
                              <a:latin typeface="Cambria Math"/>
                            </a:rPr>
                            <m:t>(</m:t>
                          </m:r>
                          <m:r>
                            <a:rPr lang="en-US" sz="2800" i="1">
                              <a:latin typeface="Cambria Math"/>
                            </a:rPr>
                            <m:t>𝑝</m:t>
                          </m:r>
                          <m:r>
                            <a:rPr lang="en-US" sz="2800" i="1">
                              <a:latin typeface="Cambria Math"/>
                            </a:rPr>
                            <m:t>)</m:t>
                          </m:r>
                        </m:sup>
                      </m:sSubSup>
                      <m:r>
                        <a:rPr lang="en-US" sz="2800" b="0" i="1" smtClean="0">
                          <a:latin typeface="Cambria Math"/>
                        </a:rPr>
                        <m:t>+</m:t>
                      </m:r>
                      <m:sSubSup>
                        <m:sSubSup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800" i="1">
                              <a:latin typeface="Cambria Math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h</m:t>
                          </m:r>
                          <m:r>
                            <a:rPr lang="en-US" sz="2800" i="1">
                              <a:latin typeface="Cambria Math"/>
                            </a:rPr>
                            <m:t>)</m:t>
                          </m:r>
                        </m:sup>
                      </m:sSubSup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800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ru-RU" sz="2800" i="1">
                          <a:latin typeface="Cambria Math"/>
                          <a:ea typeface="Cambria Math"/>
                        </a:rPr>
                        <m:t>∙</m:t>
                      </m:r>
                      <m:sSup>
                        <m:sSupPr>
                          <m:ctrlPr>
                            <a:rPr lang="ru-RU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ru-RU" sz="2800" i="1">
                              <a:latin typeface="Cambria Math"/>
                              <a:ea typeface="Cambria Math"/>
                            </a:rPr>
                            <m:t>3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US" sz="2800">
                          <a:latin typeface="Cambria Math"/>
                          <a:ea typeface="Cambria Math"/>
                        </a:rPr>
                        <m:t>+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800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ru-RU" sz="2800" i="1">
                          <a:latin typeface="Cambria Math"/>
                          <a:ea typeface="Cambria Math"/>
                        </a:rPr>
                        <m:t>∙</m:t>
                      </m:r>
                      <m:sSup>
                        <m:sSupPr>
                          <m:ctrlPr>
                            <a:rPr lang="ru-RU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US" sz="2800" b="0" i="1" smtClean="0">
                          <a:latin typeface="Cambria Math"/>
                          <a:ea typeface="Cambria Math"/>
                        </a:rPr>
                        <m:t>+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latin typeface="Cambria Math"/>
                                </a:rPr>
                                <m:t>49</m:t>
                              </m:r>
                            </m:num>
                            <m:den>
                              <m:r>
                                <a:rPr lang="en-US" sz="2800" i="1">
                                  <a:latin typeface="Cambria Math"/>
                                </a:rPr>
                                <m:t>20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7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sz="2800" i="1">
                          <a:latin typeface="Cambria Math"/>
                          <a:ea typeface="Cambria Math"/>
                        </a:rPr>
                        <m:t>.</m:t>
                      </m:r>
                    </m:oMath>
                  </m:oMathPara>
                </a14:m>
                <a:endParaRPr lang="ru-RU" sz="2800" dirty="0"/>
              </a:p>
              <a:p>
                <a:pPr marL="0" indent="0" algn="ctr">
                  <a:buNone/>
                </a:pPr>
                <a:endParaRPr lang="ru-RU" sz="2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1560" y="2310597"/>
                <a:ext cx="8229600" cy="4925144"/>
              </a:xfrm>
              <a:blipFill>
                <a:blip r:embed="rId2"/>
                <a:stretch>
                  <a:fillRect l="-2074" t="-21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7697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1423</TotalTime>
  <Words>3650</Words>
  <Application>Microsoft Macintosh PowerPoint</Application>
  <PresentationFormat>On-screen Show (4:3)</PresentationFormat>
  <Paragraphs>441</Paragraphs>
  <Slides>54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4" baseType="lpstr">
      <vt:lpstr>Arial</vt:lpstr>
      <vt:lpstr>Calibri</vt:lpstr>
      <vt:lpstr>Cambria Math</vt:lpstr>
      <vt:lpstr>Courier New</vt:lpstr>
      <vt:lpstr>Symbol</vt:lpstr>
      <vt:lpstr>Tw Cen MT</vt:lpstr>
      <vt:lpstr>Tw Cen MT Condensed</vt:lpstr>
      <vt:lpstr>Wingdings</vt:lpstr>
      <vt:lpstr>Wingdings 3</vt:lpstr>
      <vt:lpstr>Integral</vt:lpstr>
      <vt:lpstr>Unit-V- Recurrence Relations</vt:lpstr>
      <vt:lpstr>DISCLAIMER</vt:lpstr>
      <vt:lpstr>Recurrence Relations</vt:lpstr>
      <vt:lpstr>Recurrence Relations</vt:lpstr>
      <vt:lpstr>Recurrence Relations</vt:lpstr>
      <vt:lpstr>Recurrence Relations</vt:lpstr>
      <vt:lpstr>Modeling with Recurrence Relations</vt:lpstr>
      <vt:lpstr>Modeling with Recurrence Relations</vt:lpstr>
      <vt:lpstr>Modeling with Recurrence Relations</vt:lpstr>
      <vt:lpstr>Towers of Hanoi</vt:lpstr>
      <vt:lpstr>Rules of the game: Hanoi towers</vt:lpstr>
      <vt:lpstr>Analysis Of Recursive Towers of Hanoi Algorithm</vt:lpstr>
      <vt:lpstr>End of game: Hanoi towers</vt:lpstr>
      <vt:lpstr>Modeling with Recurrence Relations</vt:lpstr>
      <vt:lpstr>Modeling with Recurrence Relations</vt:lpstr>
      <vt:lpstr>Modeling with Recurrence Relations</vt:lpstr>
      <vt:lpstr>Modeling with Recurrence Relations</vt:lpstr>
      <vt:lpstr>Modeling with Recurrence Relations</vt:lpstr>
      <vt:lpstr>Linear homogeneous recurrence relations with constant coefficients</vt:lpstr>
      <vt:lpstr>Linear homogeneous recurrence relations with constant coefficients</vt:lpstr>
      <vt:lpstr>Linear homogeneous recurrence relations with constant coefficients</vt:lpstr>
      <vt:lpstr>Linear homogeneous recurrence relations with constant coefficients</vt:lpstr>
      <vt:lpstr>Linear homogeneous recurrence relations with constant coefficients</vt:lpstr>
      <vt:lpstr>Linear homogeneous recurrence relations with constant coefficients</vt:lpstr>
      <vt:lpstr>Linear homogeneous recurrence relations with constant coefficients</vt:lpstr>
      <vt:lpstr>Linear homogeneous recurrence relations with constant coefficients</vt:lpstr>
      <vt:lpstr>Solving linear homogeneous recurrence relations with constant coefficients</vt:lpstr>
      <vt:lpstr>Solving linear homogeneous recurrence relations with constant coefficients</vt:lpstr>
      <vt:lpstr>Solving linear homogeneous recurrence relations with constant coefficients</vt:lpstr>
      <vt:lpstr>Solving linear homogeneous recurrence relations with constant coefficients</vt:lpstr>
      <vt:lpstr>Solving linear homogeneous recurrence relations with constant coefficients</vt:lpstr>
      <vt:lpstr>Solving linear homogeneous recurrence relations with constant coefficients of degree two</vt:lpstr>
      <vt:lpstr>Solving linear homogeneous recurrence relations with constant coefficients of degree two</vt:lpstr>
      <vt:lpstr>Solving linear homogeneous recurrence relations with constant coefficients of degree two</vt:lpstr>
      <vt:lpstr>Solving linear homogeneous recurrence relations with constant coefficients of degree two</vt:lpstr>
      <vt:lpstr>Solving linear homogeneous recurrence relations with constant coefficients of degree two</vt:lpstr>
      <vt:lpstr>Solving linear homogeneous recurrence relations with constant coefficients of degree two</vt:lpstr>
      <vt:lpstr>Solving linear homogeneous recurrence relations with constant coefficients of degree two</vt:lpstr>
      <vt:lpstr>Solving linear homogeneous recurrence relations with constant coefficients of degree three</vt:lpstr>
      <vt:lpstr>Solving linear homogeneous recurrence relations with constant coefficients of degree three</vt:lpstr>
      <vt:lpstr>Solving linear homogeneous recurrence relations with constant coefficients of degree three</vt:lpstr>
      <vt:lpstr>Linear nonhomogeneous recurrence relations with constant coefficients</vt:lpstr>
      <vt:lpstr>PARTICULAR Solution Forms</vt:lpstr>
      <vt:lpstr>Linear nonhomogeneous recurrence relations with constant coefficients</vt:lpstr>
      <vt:lpstr>Linear nonhomogeneous recurrence relations with constant coefficients</vt:lpstr>
      <vt:lpstr>Linear nonhomogeneous recurrence relations with constant coefficients</vt:lpstr>
      <vt:lpstr>Linear nonhomogeneous recurrence relations with constant coefficients</vt:lpstr>
      <vt:lpstr>Linear nonhomogeneous recurrence relations with constant coefficients</vt:lpstr>
      <vt:lpstr>Linear nonhomogeneous recurrence relations with constant coefficients</vt:lpstr>
      <vt:lpstr>Linear nonhomogeneous recurrence relations with constant coefficients</vt:lpstr>
      <vt:lpstr>Linear nonhomogeneous recurrence relations with constant coefficients</vt:lpstr>
      <vt:lpstr>Linear nonhomogeneous recurrence relations with constant coefficients</vt:lpstr>
      <vt:lpstr>Linear nonhomogeneous recurrence relations with constant coefficients</vt:lpstr>
      <vt:lpstr>Linear nonhomogeneous recurrence relations with constant coefficients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Линейные рекуррентные соотношения и методы их решения</dc:title>
  <dc:creator>user</dc:creator>
  <cp:lastModifiedBy>khushpithva@gmail.com</cp:lastModifiedBy>
  <cp:revision>155</cp:revision>
  <dcterms:created xsi:type="dcterms:W3CDTF">2014-04-17T01:58:48Z</dcterms:created>
  <dcterms:modified xsi:type="dcterms:W3CDTF">2025-11-16T09:14:45Z</dcterms:modified>
</cp:coreProperties>
</file>