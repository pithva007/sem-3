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4" r:id="rId19"/>
    <p:sldId id="275" r:id="rId20"/>
    <p:sldId id="276" r:id="rId21"/>
    <p:sldId id="278" r:id="rId22"/>
    <p:sldId id="279" r:id="rId23"/>
    <p:sldId id="280" r:id="rId24"/>
    <p:sldId id="281" r:id="rId25"/>
    <p:sldId id="282" r:id="rId26"/>
    <p:sldId id="273"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48" autoAdjust="0"/>
    <p:restoredTop sz="94660"/>
  </p:normalViewPr>
  <p:slideViewPr>
    <p:cSldViewPr snapToGrid="0">
      <p:cViewPr>
        <p:scale>
          <a:sx n="126" d="100"/>
          <a:sy n="126" d="100"/>
        </p:scale>
        <p:origin x="88"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656AF7F-FEA1-46A0-854E-8A86C9020452}" type="datetimeFigureOut">
              <a:rPr lang="en-IN" smtClean="0"/>
              <a:t>14/11/25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2474568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56AF7F-FEA1-46A0-854E-8A86C9020452}" type="datetimeFigureOut">
              <a:rPr lang="en-IN" smtClean="0"/>
              <a:t>14/11/25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3688701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656AF7F-FEA1-46A0-854E-8A86C9020452}" type="datetimeFigureOut">
              <a:rPr lang="en-IN" smtClean="0"/>
              <a:t>14/11/25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10693698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656AF7F-FEA1-46A0-854E-8A86C9020452}" type="datetimeFigureOut">
              <a:rPr lang="en-IN" smtClean="0"/>
              <a:t>14/11/25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554136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656AF7F-FEA1-46A0-854E-8A86C9020452}" type="datetimeFigureOut">
              <a:rPr lang="en-IN" smtClean="0"/>
              <a:t>14/11/25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C22551-D97A-4481-9101-7EBAA0DEFF44}"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45847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56AF7F-FEA1-46A0-854E-8A86C9020452}" type="datetimeFigureOut">
              <a:rPr lang="en-IN" smtClean="0"/>
              <a:t>14/11/25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3835240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56AF7F-FEA1-46A0-854E-8A86C9020452}" type="datetimeFigureOut">
              <a:rPr lang="en-IN" smtClean="0"/>
              <a:t>14/11/25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4106428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656AF7F-FEA1-46A0-854E-8A86C9020452}" type="datetimeFigureOut">
              <a:rPr lang="en-IN" smtClean="0"/>
              <a:t>14/11/25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1704189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656AF7F-FEA1-46A0-854E-8A86C9020452}" type="datetimeFigureOut">
              <a:rPr lang="en-IN" smtClean="0"/>
              <a:t>14/11/25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3178223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56AF7F-FEA1-46A0-854E-8A86C9020452}" type="datetimeFigureOut">
              <a:rPr lang="en-IN" smtClean="0"/>
              <a:t>14/11/25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2864699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56AF7F-FEA1-46A0-854E-8A86C9020452}" type="datetimeFigureOut">
              <a:rPr lang="en-IN" smtClean="0"/>
              <a:t>14/11/25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22551-D97A-4481-9101-7EBAA0DEFF44}" type="slidenum">
              <a:rPr lang="en-IN" smtClean="0"/>
              <a:t>‹#›</a:t>
            </a:fld>
            <a:endParaRPr lang="en-IN"/>
          </a:p>
        </p:txBody>
      </p:sp>
    </p:spTree>
    <p:extLst>
      <p:ext uri="{BB962C8B-B14F-4D97-AF65-F5344CB8AC3E}">
        <p14:creationId xmlns:p14="http://schemas.microsoft.com/office/powerpoint/2010/main" val="818309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B656AF7F-FEA1-46A0-854E-8A86C9020452}" type="datetimeFigureOut">
              <a:rPr lang="en-IN" smtClean="0"/>
              <a:t>14/11/25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FC22551-D97A-4481-9101-7EBAA0DEFF44}" type="slidenum">
              <a:rPr lang="en-IN" smtClean="0"/>
              <a:t>‹#›</a:t>
            </a:fld>
            <a:endParaRPr lang="en-IN"/>
          </a:p>
        </p:txBody>
      </p:sp>
    </p:spTree>
    <p:extLst>
      <p:ext uri="{BB962C8B-B14F-4D97-AF65-F5344CB8AC3E}">
        <p14:creationId xmlns:p14="http://schemas.microsoft.com/office/powerpoint/2010/main" val="49121072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B155-EAAD-4F32-9373-2661A4BC01CC}"/>
              </a:ext>
            </a:extLst>
          </p:cNvPr>
          <p:cNvSpPr>
            <a:spLocks noGrp="1"/>
          </p:cNvSpPr>
          <p:nvPr>
            <p:ph type="ctrTitle"/>
          </p:nvPr>
        </p:nvSpPr>
        <p:spPr>
          <a:xfrm>
            <a:off x="1600200" y="2014330"/>
            <a:ext cx="8991600" cy="2018334"/>
          </a:xfrm>
        </p:spPr>
        <p:txBody>
          <a:bodyPr>
            <a:normAutofit fontScale="90000"/>
          </a:bodyPr>
          <a:lstStyle/>
          <a:p>
            <a:r>
              <a:rPr lang="en-US" dirty="0"/>
              <a:t>UNIT-II, </a:t>
            </a:r>
            <a:br>
              <a:rPr lang="en-US" dirty="0"/>
            </a:br>
            <a:r>
              <a:rPr lang="en-US" dirty="0"/>
              <a:t>CNF and DNF, Well Formed Formulas and Inference Rules of Propositional Logic</a:t>
            </a:r>
            <a:endParaRPr lang="en-IN" dirty="0"/>
          </a:p>
        </p:txBody>
      </p:sp>
      <p:sp>
        <p:nvSpPr>
          <p:cNvPr id="5" name="Subtitle 4">
            <a:extLst>
              <a:ext uri="{FF2B5EF4-FFF2-40B4-BE49-F238E27FC236}">
                <a16:creationId xmlns:a16="http://schemas.microsoft.com/office/drawing/2014/main" id="{1E41727D-DF07-F3C1-AA4B-0C08CE84284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0864503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8FE06A-A8E2-44BA-B334-F30406401B0A}"/>
              </a:ext>
            </a:extLst>
          </p:cNvPr>
          <p:cNvSpPr>
            <a:spLocks noGrp="1"/>
          </p:cNvSpPr>
          <p:nvPr>
            <p:ph type="ctrTitle"/>
          </p:nvPr>
        </p:nvSpPr>
        <p:spPr/>
        <p:txBody>
          <a:bodyPr/>
          <a:lstStyle/>
          <a:p>
            <a:r>
              <a:rPr lang="en-US" dirty="0"/>
              <a:t>CNF and DNF</a:t>
            </a:r>
            <a:endParaRPr lang="en-IN" dirty="0"/>
          </a:p>
        </p:txBody>
      </p:sp>
      <p:sp>
        <p:nvSpPr>
          <p:cNvPr id="5" name="Subtitle 4">
            <a:extLst>
              <a:ext uri="{FF2B5EF4-FFF2-40B4-BE49-F238E27FC236}">
                <a16:creationId xmlns:a16="http://schemas.microsoft.com/office/drawing/2014/main" id="{03A58683-AF20-4CFA-9616-479F3241F36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9574929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6CEC-5839-4BA8-AB7B-E99BB8299217}"/>
              </a:ext>
            </a:extLst>
          </p:cNvPr>
          <p:cNvSpPr>
            <a:spLocks noGrp="1"/>
          </p:cNvSpPr>
          <p:nvPr>
            <p:ph type="title"/>
          </p:nvPr>
        </p:nvSpPr>
        <p:spPr>
          <a:xfrm>
            <a:off x="2403414" y="235823"/>
            <a:ext cx="7729728" cy="1188720"/>
          </a:xfrm>
        </p:spPr>
        <p:txBody>
          <a:bodyPr/>
          <a:lstStyle/>
          <a:p>
            <a:r>
              <a:rPr lang="en-US" dirty="0"/>
              <a:t>Why we require Normal Forms?</a:t>
            </a:r>
            <a:endParaRPr lang="en-IN" dirty="0"/>
          </a:p>
        </p:txBody>
      </p:sp>
      <p:sp>
        <p:nvSpPr>
          <p:cNvPr id="3" name="Content Placeholder 2">
            <a:extLst>
              <a:ext uri="{FF2B5EF4-FFF2-40B4-BE49-F238E27FC236}">
                <a16:creationId xmlns:a16="http://schemas.microsoft.com/office/drawing/2014/main" id="{9FC1BBEA-44D0-435E-B096-9067918A4C8E}"/>
              </a:ext>
            </a:extLst>
          </p:cNvPr>
          <p:cNvSpPr>
            <a:spLocks noGrp="1"/>
          </p:cNvSpPr>
          <p:nvPr>
            <p:ph idx="1"/>
          </p:nvPr>
        </p:nvSpPr>
        <p:spPr>
          <a:xfrm>
            <a:off x="838200" y="1825624"/>
            <a:ext cx="10515600" cy="5032375"/>
          </a:xfrm>
        </p:spPr>
        <p:txBody>
          <a:bodyPr>
            <a:normAutofit fontScale="92500" lnSpcReduction="20000"/>
          </a:bodyPr>
          <a:lstStyle/>
          <a:p>
            <a:pPr algn="just"/>
            <a:r>
              <a:rPr lang="en-US" sz="2400" b="0" i="0" u="none" strike="noStrike" baseline="0" dirty="0">
                <a:latin typeface="Times New Roman" panose="02020603050405020304" pitchFamily="18" charset="0"/>
              </a:rPr>
              <a:t>If a given statement formula </a:t>
            </a:r>
            <a:r>
              <a:rPr lang="en-US" sz="2400" b="1" i="1" u="none" strike="noStrike" baseline="0" dirty="0">
                <a:latin typeface="Times New Roman" panose="02020603050405020304" pitchFamily="18" charset="0"/>
              </a:rPr>
              <a:t>A</a:t>
            </a:r>
            <a:r>
              <a:rPr lang="en-US" sz="2400" b="1" i="0" u="none" strike="noStrike" baseline="0" dirty="0">
                <a:latin typeface="Times New Roman" panose="02020603050405020304" pitchFamily="18" charset="0"/>
              </a:rPr>
              <a:t>(</a:t>
            </a:r>
            <a:r>
              <a:rPr lang="en-US" sz="2400" b="1" i="1" u="none" strike="noStrike" baseline="0" dirty="0">
                <a:latin typeface="Times New Roman" panose="02020603050405020304" pitchFamily="18" charset="0"/>
              </a:rPr>
              <a:t>p</a:t>
            </a:r>
            <a:r>
              <a:rPr lang="en-US" sz="2400" b="1" i="0" u="none" strike="noStrike" baseline="0" dirty="0">
                <a:latin typeface="Times New Roman" panose="02020603050405020304" pitchFamily="18" charset="0"/>
              </a:rPr>
              <a:t>1</a:t>
            </a:r>
            <a:r>
              <a:rPr lang="en-US" sz="2400" b="1" i="1" u="none" strike="noStrike" baseline="0" dirty="0">
                <a:latin typeface="Times New Roman" panose="02020603050405020304" pitchFamily="18" charset="0"/>
              </a:rPr>
              <a:t>, p</a:t>
            </a:r>
            <a:r>
              <a:rPr lang="en-US" sz="2400" b="1" i="0" u="none" strike="noStrike" baseline="0" dirty="0">
                <a:latin typeface="Times New Roman" panose="02020603050405020304" pitchFamily="18" charset="0"/>
              </a:rPr>
              <a:t>2</a:t>
            </a:r>
            <a:r>
              <a:rPr lang="en-US" sz="2400" b="1" i="1" u="none" strike="noStrike" baseline="0" dirty="0">
                <a:latin typeface="Times New Roman" panose="02020603050405020304" pitchFamily="18" charset="0"/>
              </a:rPr>
              <a:t>, ...</a:t>
            </a:r>
            <a:r>
              <a:rPr lang="en-US" sz="2400" b="1" i="1" u="none" strike="noStrike" baseline="0" dirty="0" err="1">
                <a:latin typeface="Times New Roman" panose="02020603050405020304" pitchFamily="18" charset="0"/>
              </a:rPr>
              <a:t>pn</a:t>
            </a:r>
            <a:r>
              <a:rPr lang="en-US" sz="2400" b="1" i="0" u="none" strike="noStrike" baseline="0" dirty="0">
                <a:latin typeface="Times New Roman" panose="02020603050405020304" pitchFamily="18" charset="0"/>
              </a:rPr>
              <a:t>)</a:t>
            </a:r>
            <a:r>
              <a:rPr lang="en-US" sz="2400" b="0" i="0" u="none" strike="noStrike" baseline="0" dirty="0">
                <a:latin typeface="Times New Roman" panose="02020603050405020304" pitchFamily="18" charset="0"/>
              </a:rPr>
              <a:t> involves </a:t>
            </a:r>
            <a:r>
              <a:rPr lang="en-US" sz="2400" b="1" i="1" u="none" strike="noStrike" baseline="0" dirty="0">
                <a:latin typeface="Times New Roman" panose="02020603050405020304" pitchFamily="18" charset="0"/>
              </a:rPr>
              <a:t>n</a:t>
            </a:r>
            <a:r>
              <a:rPr lang="en-US" sz="2400" b="0" i="1" u="none" strike="noStrike" baseline="0" dirty="0">
                <a:latin typeface="Times New Roman" panose="02020603050405020304" pitchFamily="18" charset="0"/>
              </a:rPr>
              <a:t> </a:t>
            </a:r>
            <a:r>
              <a:rPr lang="en-US" sz="2400" b="0" i="0" u="none" strike="noStrike" baseline="0" dirty="0">
                <a:latin typeface="Times New Roman" panose="02020603050405020304" pitchFamily="18" charset="0"/>
              </a:rPr>
              <a:t>atomic variables, we have </a:t>
            </a:r>
            <a:r>
              <a:rPr lang="en-US" sz="2400" b="1" i="0" u="none" strike="noStrike" baseline="0" dirty="0">
                <a:latin typeface="Times New Roman" panose="02020603050405020304" pitchFamily="18" charset="0"/>
              </a:rPr>
              <a:t>2</a:t>
            </a:r>
            <a:r>
              <a:rPr lang="en-IN" sz="2400" b="1" i="1" u="none" strike="noStrike" baseline="30000" dirty="0">
                <a:latin typeface="Times New Roman" panose="02020603050405020304" pitchFamily="18" charset="0"/>
              </a:rPr>
              <a:t>n</a:t>
            </a:r>
            <a:r>
              <a:rPr lang="en-IN" sz="2400" b="0" i="1" u="none" strike="noStrike" baseline="0" dirty="0">
                <a:latin typeface="Times New Roman" panose="02020603050405020304" pitchFamily="18" charset="0"/>
              </a:rPr>
              <a:t> </a:t>
            </a:r>
            <a:r>
              <a:rPr lang="en-US" sz="2400" b="0" i="0" u="none" strike="noStrike" baseline="0" dirty="0">
                <a:latin typeface="Times New Roman" panose="02020603050405020304" pitchFamily="18" charset="0"/>
              </a:rPr>
              <a:t>possible combinations of truth values of statements replacing the variables.</a:t>
            </a:r>
          </a:p>
          <a:p>
            <a:pPr algn="just"/>
            <a:r>
              <a:rPr lang="en-US" sz="2400" b="0" i="0" u="none" strike="noStrike" baseline="0" dirty="0">
                <a:latin typeface="Times New Roman" panose="02020603050405020304" pitchFamily="18" charset="0"/>
              </a:rPr>
              <a:t>The formula </a:t>
            </a:r>
            <a:r>
              <a:rPr lang="en-US" sz="2400" b="1" i="1"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is a tautology </a:t>
            </a:r>
            <a:r>
              <a:rPr lang="en-US" sz="2400" b="0" i="0" u="none" strike="noStrike" baseline="0" dirty="0">
                <a:latin typeface="Times New Roman" panose="02020603050405020304" pitchFamily="18" charset="0"/>
              </a:rPr>
              <a:t>if </a:t>
            </a:r>
            <a:r>
              <a:rPr lang="en-US" sz="2400" b="1" i="1"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has the truth value </a:t>
            </a:r>
            <a:r>
              <a:rPr lang="en-US" sz="2400" b="1" i="1" u="none" strike="noStrike" baseline="0" dirty="0">
                <a:latin typeface="Times New Roman" panose="02020603050405020304" pitchFamily="18" charset="0"/>
              </a:rPr>
              <a:t>T </a:t>
            </a:r>
            <a:r>
              <a:rPr lang="en-US" sz="2400" b="0" i="0" u="none" strike="noStrike" baseline="0" dirty="0">
                <a:latin typeface="Times New Roman" panose="02020603050405020304" pitchFamily="18" charset="0"/>
              </a:rPr>
              <a:t>for all possible assignments of the truth values to the variables </a:t>
            </a:r>
            <a:r>
              <a:rPr lang="en-US" sz="2400" b="0" i="1" u="none" strike="noStrike" baseline="0" dirty="0">
                <a:latin typeface="Times New Roman" panose="02020603050405020304" pitchFamily="18" charset="0"/>
              </a:rPr>
              <a:t>p</a:t>
            </a:r>
            <a:r>
              <a:rPr lang="en-US" sz="2400" b="0" i="0" u="none" strike="noStrike" baseline="0" dirty="0">
                <a:latin typeface="Times New Roman" panose="02020603050405020304" pitchFamily="18" charset="0"/>
              </a:rPr>
              <a:t>1</a:t>
            </a:r>
            <a:r>
              <a:rPr lang="en-US" sz="2400" b="0" i="1" u="none" strike="noStrike" baseline="0" dirty="0">
                <a:latin typeface="Times New Roman" panose="02020603050405020304" pitchFamily="18" charset="0"/>
              </a:rPr>
              <a:t>, p</a:t>
            </a:r>
            <a:r>
              <a:rPr lang="en-US" sz="2400" b="0" i="0" u="none" strike="noStrike" baseline="0" dirty="0">
                <a:latin typeface="Times New Roman" panose="02020603050405020304" pitchFamily="18" charset="0"/>
              </a:rPr>
              <a:t>2</a:t>
            </a:r>
            <a:r>
              <a:rPr lang="en-US" sz="2400" b="0" i="1" u="none" strike="noStrike" baseline="0" dirty="0">
                <a:latin typeface="Times New Roman" panose="02020603050405020304" pitchFamily="18" charset="0"/>
              </a:rPr>
              <a:t>, ...</a:t>
            </a:r>
            <a:r>
              <a:rPr lang="en-US" sz="2400" b="0" i="1" u="none" strike="noStrike" baseline="0" dirty="0" err="1">
                <a:latin typeface="Times New Roman" panose="02020603050405020304" pitchFamily="18" charset="0"/>
              </a:rPr>
              <a:t>pn</a:t>
            </a:r>
            <a:r>
              <a:rPr lang="en-US" sz="2400" b="0" i="1" u="none" strike="noStrike" baseline="0" dirty="0">
                <a:latin typeface="Times New Roman" panose="02020603050405020304" pitchFamily="18" charset="0"/>
              </a:rPr>
              <a:t> </a:t>
            </a:r>
            <a:r>
              <a:rPr lang="en-US" sz="2400" b="0" i="0" u="none" strike="noStrike" baseline="0" dirty="0">
                <a:latin typeface="Times New Roman" panose="02020603050405020304" pitchFamily="18" charset="0"/>
              </a:rPr>
              <a:t>and </a:t>
            </a:r>
            <a:r>
              <a:rPr lang="en-US" sz="2400" b="1" i="1"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is called a contradiction </a:t>
            </a:r>
            <a:r>
              <a:rPr lang="en-US" sz="2400" b="0" i="0" u="none" strike="noStrike" baseline="0" dirty="0">
                <a:latin typeface="Times New Roman" panose="02020603050405020304" pitchFamily="18" charset="0"/>
              </a:rPr>
              <a:t>if </a:t>
            </a:r>
            <a:r>
              <a:rPr lang="en-US" sz="2400" b="1" i="1"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has the truth value </a:t>
            </a:r>
            <a:r>
              <a:rPr lang="en-US" sz="2400" b="1" i="1" u="none" strike="noStrike" baseline="0" dirty="0">
                <a:latin typeface="Times New Roman" panose="02020603050405020304" pitchFamily="18" charset="0"/>
              </a:rPr>
              <a:t>F </a:t>
            </a:r>
            <a:r>
              <a:rPr lang="en-US" sz="2400" b="0" i="0" u="none" strike="noStrike" baseline="0" dirty="0">
                <a:latin typeface="Times New Roman" panose="02020603050405020304" pitchFamily="18" charset="0"/>
              </a:rPr>
              <a:t>for all possible assignments of the truth values of the </a:t>
            </a:r>
            <a:r>
              <a:rPr lang="en-US" sz="2400" b="0" i="1" u="none" strike="noStrike" baseline="0" dirty="0">
                <a:latin typeface="Times New Roman" panose="02020603050405020304" pitchFamily="18" charset="0"/>
              </a:rPr>
              <a:t>n </a:t>
            </a:r>
            <a:r>
              <a:rPr lang="en-US" sz="2400" b="0" i="0" u="none" strike="noStrike" baseline="0" dirty="0">
                <a:latin typeface="Times New Roman" panose="02020603050405020304" pitchFamily="18" charset="0"/>
              </a:rPr>
              <a:t>variables. </a:t>
            </a:r>
            <a:r>
              <a:rPr lang="en-US" sz="2400" b="1" i="1"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is said to be </a:t>
            </a:r>
            <a:r>
              <a:rPr lang="en-US" sz="2400" b="1" i="1" u="none" strike="noStrike" baseline="0" dirty="0" err="1">
                <a:latin typeface="Times New Roman" panose="02020603050405020304" pitchFamily="18" charset="0"/>
              </a:rPr>
              <a:t>satisable</a:t>
            </a:r>
            <a:r>
              <a:rPr lang="en-US" sz="2400" b="1" i="1" u="none" strike="noStrike" baseline="0" dirty="0">
                <a:latin typeface="Times New Roman" panose="02020603050405020304" pitchFamily="18" charset="0"/>
              </a:rPr>
              <a:t> </a:t>
            </a:r>
            <a:r>
              <a:rPr lang="en-US" sz="2400" b="0" i="0" u="none" strike="noStrike" baseline="0" dirty="0">
                <a:latin typeface="Times New Roman" panose="02020603050405020304" pitchFamily="18" charset="0"/>
              </a:rPr>
              <a:t>if </a:t>
            </a:r>
            <a:r>
              <a:rPr lang="en-US" sz="2400" b="0" i="1" u="none" strike="noStrike" baseline="0" dirty="0">
                <a:latin typeface="Times New Roman" panose="02020603050405020304" pitchFamily="18" charset="0"/>
              </a:rPr>
              <a:t>A </a:t>
            </a:r>
            <a:r>
              <a:rPr lang="en-US" sz="2400" b="0" i="0" u="none" strike="noStrike" baseline="0" dirty="0">
                <a:latin typeface="Times New Roman" panose="02020603050405020304" pitchFamily="18" charset="0"/>
              </a:rPr>
              <a:t>has the truth value </a:t>
            </a:r>
            <a:r>
              <a:rPr lang="en-US" sz="2400" b="1" i="1" u="none" strike="noStrike" baseline="0" dirty="0">
                <a:latin typeface="Times New Roman" panose="02020603050405020304" pitchFamily="18" charset="0"/>
              </a:rPr>
              <a:t>T </a:t>
            </a:r>
            <a:r>
              <a:rPr lang="en-US" sz="2400" b="1" i="0" u="none" strike="noStrike" baseline="0" dirty="0">
                <a:latin typeface="Times New Roman" panose="02020603050405020304" pitchFamily="18" charset="0"/>
              </a:rPr>
              <a:t>for </a:t>
            </a:r>
            <a:r>
              <a:rPr lang="en-US" sz="2400" b="1" i="0" u="none" strike="noStrike" baseline="0" dirty="0" err="1">
                <a:latin typeface="Times New Roman" panose="02020603050405020304" pitchFamily="18" charset="0"/>
              </a:rPr>
              <a:t>atleast</a:t>
            </a:r>
            <a:r>
              <a:rPr lang="en-US" sz="2400" b="1" i="0" u="none" strike="noStrike" baseline="0" dirty="0">
                <a:latin typeface="Times New Roman" panose="02020603050405020304" pitchFamily="18" charset="0"/>
              </a:rPr>
              <a:t> one combination of truth values assigned to </a:t>
            </a:r>
            <a:r>
              <a:rPr lang="en-US" sz="2400" b="1" i="1" u="none" strike="noStrike" baseline="0" dirty="0">
                <a:latin typeface="Times New Roman" panose="02020603050405020304" pitchFamily="18" charset="0"/>
              </a:rPr>
              <a:t>p</a:t>
            </a:r>
            <a:r>
              <a:rPr lang="en-US" sz="2400" b="1" i="0" u="none" strike="noStrike" baseline="0" dirty="0">
                <a:latin typeface="Times New Roman" panose="02020603050405020304" pitchFamily="18" charset="0"/>
              </a:rPr>
              <a:t>1</a:t>
            </a:r>
            <a:r>
              <a:rPr lang="en-US" sz="2400" b="1" i="1" u="none" strike="noStrike" baseline="0" dirty="0">
                <a:latin typeface="Times New Roman" panose="02020603050405020304" pitchFamily="18" charset="0"/>
              </a:rPr>
              <a:t>, p</a:t>
            </a:r>
            <a:r>
              <a:rPr lang="en-US" sz="2400" b="1" i="0" u="none" strike="noStrike" baseline="0" dirty="0">
                <a:latin typeface="Times New Roman" panose="02020603050405020304" pitchFamily="18" charset="0"/>
              </a:rPr>
              <a:t>2</a:t>
            </a:r>
            <a:r>
              <a:rPr lang="en-US" sz="2400" b="1" i="1"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a:t>
            </a:r>
            <a:r>
              <a:rPr lang="en-IN" sz="2400" b="1" i="1" u="none" strike="noStrike" baseline="0" dirty="0" err="1">
                <a:latin typeface="Times New Roman" panose="02020603050405020304" pitchFamily="18" charset="0"/>
              </a:rPr>
              <a:t>pn</a:t>
            </a:r>
            <a:r>
              <a:rPr lang="en-IN" sz="2400" b="1" i="0" u="none" strike="noStrike" baseline="0" dirty="0">
                <a:latin typeface="Times New Roman" panose="02020603050405020304" pitchFamily="18" charset="0"/>
              </a:rPr>
              <a:t>.</a:t>
            </a:r>
          </a:p>
          <a:p>
            <a:pPr algn="just"/>
            <a:r>
              <a:rPr lang="en-US" sz="2400" b="0" i="0" u="none" strike="noStrike" baseline="0" dirty="0">
                <a:latin typeface="Times New Roman" panose="02020603050405020304" pitchFamily="18" charset="0"/>
              </a:rPr>
              <a:t>The problem of determining whether a given statement formula is a </a:t>
            </a:r>
            <a:r>
              <a:rPr lang="en-US" sz="2400" b="1" i="0" u="none" strike="noStrike" baseline="0" dirty="0">
                <a:latin typeface="Times New Roman" panose="02020603050405020304" pitchFamily="18" charset="0"/>
              </a:rPr>
              <a:t>Tautology, or a Contradiction is called a decision problem.</a:t>
            </a:r>
          </a:p>
          <a:p>
            <a:pPr algn="just"/>
            <a:r>
              <a:rPr lang="en-US" sz="2400" b="0" i="0" u="none" strike="noStrike" baseline="0" dirty="0">
                <a:latin typeface="Times New Roman" panose="02020603050405020304" pitchFamily="18" charset="0"/>
              </a:rPr>
              <a:t>The construction of truth table involves a </a:t>
            </a:r>
            <a:r>
              <a:rPr lang="en-US" sz="2400" b="1" i="0" u="none" strike="noStrike" baseline="0" dirty="0">
                <a:latin typeface="Times New Roman" panose="02020603050405020304" pitchFamily="18" charset="0"/>
              </a:rPr>
              <a:t>finite number of steps</a:t>
            </a:r>
            <a:r>
              <a:rPr lang="en-US" sz="2400" b="0" i="0" u="none" strike="noStrike" baseline="0" dirty="0">
                <a:latin typeface="Times New Roman" panose="02020603050405020304" pitchFamily="18" charset="0"/>
              </a:rPr>
              <a:t>, but the construction may not be practical. We therefore </a:t>
            </a:r>
            <a:r>
              <a:rPr lang="en-US" sz="2400" b="1" i="0" u="none" strike="noStrike" baseline="0" dirty="0">
                <a:latin typeface="Times New Roman" panose="02020603050405020304" pitchFamily="18" charset="0"/>
              </a:rPr>
              <a:t>reduce the given statement formula to normal form </a:t>
            </a:r>
            <a:r>
              <a:rPr lang="en-US" sz="2400" b="0" i="0" u="none" strike="noStrike" baseline="0" dirty="0">
                <a:latin typeface="Times New Roman" panose="02020603050405020304" pitchFamily="18" charset="0"/>
              </a:rPr>
              <a:t>and find whether a given statement formula is a Tautology or Contradiction or at least satisfiable.</a:t>
            </a:r>
          </a:p>
          <a:p>
            <a:pPr algn="just"/>
            <a:r>
              <a:rPr lang="en-US" sz="2400" b="0" i="0" u="none" strike="noStrike" baseline="0" dirty="0">
                <a:latin typeface="Times New Roman" panose="02020603050405020304" pitchFamily="18" charset="0"/>
              </a:rPr>
              <a:t>It will be convenient to use the word </a:t>
            </a:r>
            <a:r>
              <a:rPr lang="en-US" sz="2400" b="1" i="0" u="none" strike="noStrike" baseline="0" dirty="0">
                <a:latin typeface="Times New Roman" panose="02020603050405020304" pitchFamily="18" charset="0"/>
              </a:rPr>
              <a:t>product in place of conjunction </a:t>
            </a:r>
            <a:r>
              <a:rPr lang="en-US" sz="2400" b="0" i="0" u="none" strike="noStrike" baseline="0" dirty="0">
                <a:latin typeface="Times New Roman" panose="02020603050405020304" pitchFamily="18" charset="0"/>
              </a:rPr>
              <a:t>and </a:t>
            </a:r>
            <a:r>
              <a:rPr lang="en-US" sz="2400" b="1" i="0" u="none" strike="noStrike" baseline="0" dirty="0">
                <a:latin typeface="Times New Roman" panose="02020603050405020304" pitchFamily="18" charset="0"/>
              </a:rPr>
              <a:t>sum in place of disjunction </a:t>
            </a:r>
            <a:r>
              <a:rPr lang="en-US" sz="2400" b="0" i="0" u="none" strike="noStrike" baseline="0" dirty="0">
                <a:latin typeface="Times New Roman" panose="02020603050405020304" pitchFamily="18" charset="0"/>
              </a:rPr>
              <a:t>in our current discussion.</a:t>
            </a:r>
            <a:endParaRPr lang="en-IN" sz="3600" dirty="0"/>
          </a:p>
        </p:txBody>
      </p:sp>
    </p:spTree>
    <p:extLst>
      <p:ext uri="{BB962C8B-B14F-4D97-AF65-F5344CB8AC3E}">
        <p14:creationId xmlns:p14="http://schemas.microsoft.com/office/powerpoint/2010/main" val="358073026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01DB-BA47-402C-8AD6-CA322BD7B5F8}"/>
              </a:ext>
            </a:extLst>
          </p:cNvPr>
          <p:cNvSpPr>
            <a:spLocks noGrp="1"/>
          </p:cNvSpPr>
          <p:nvPr>
            <p:ph type="title"/>
          </p:nvPr>
        </p:nvSpPr>
        <p:spPr>
          <a:xfrm>
            <a:off x="2482928" y="275578"/>
            <a:ext cx="7729728" cy="1188720"/>
          </a:xfrm>
        </p:spPr>
        <p:txBody>
          <a:bodyPr/>
          <a:lstStyle/>
          <a:p>
            <a:r>
              <a:rPr lang="en-US" dirty="0"/>
              <a:t>Some key terminologies</a:t>
            </a:r>
            <a:endParaRPr lang="en-IN" dirty="0"/>
          </a:p>
        </p:txBody>
      </p:sp>
      <p:sp>
        <p:nvSpPr>
          <p:cNvPr id="3" name="Content Placeholder 2">
            <a:extLst>
              <a:ext uri="{FF2B5EF4-FFF2-40B4-BE49-F238E27FC236}">
                <a16:creationId xmlns:a16="http://schemas.microsoft.com/office/drawing/2014/main" id="{00D34901-141F-4863-BC8B-668A0E153AF5}"/>
              </a:ext>
            </a:extLst>
          </p:cNvPr>
          <p:cNvSpPr>
            <a:spLocks noGrp="1"/>
          </p:cNvSpPr>
          <p:nvPr>
            <p:ph idx="1"/>
          </p:nvPr>
        </p:nvSpPr>
        <p:spPr>
          <a:xfrm>
            <a:off x="1064944" y="1975435"/>
            <a:ext cx="10809003" cy="4606987"/>
          </a:xfrm>
        </p:spPr>
        <p:txBody>
          <a:bodyPr>
            <a:normAutofit lnSpcReduction="10000"/>
          </a:bodyPr>
          <a:lstStyle/>
          <a:p>
            <a:pPr algn="l"/>
            <a:r>
              <a:rPr lang="en-US" sz="2400" b="0" i="0" u="none" strike="noStrike" baseline="0" dirty="0">
                <a:latin typeface="Times New Roman" panose="02020603050405020304" pitchFamily="18" charset="0"/>
              </a:rPr>
              <a:t>A product of the variables and their negations in a formula is called an </a:t>
            </a:r>
            <a:r>
              <a:rPr lang="en-US" sz="2400" b="1" i="1" u="none" strike="noStrike" baseline="0" dirty="0">
                <a:latin typeface="Times New Roman" panose="02020603050405020304" pitchFamily="18" charset="0"/>
              </a:rPr>
              <a:t>elementary product</a:t>
            </a:r>
            <a:r>
              <a:rPr lang="en-US" sz="2400" b="1" i="0" u="none" strike="noStrike" baseline="0" dirty="0">
                <a:latin typeface="Times New Roman" panose="02020603050405020304" pitchFamily="18" charset="0"/>
              </a:rPr>
              <a:t>. </a:t>
            </a:r>
          </a:p>
          <a:p>
            <a:pPr algn="l"/>
            <a:r>
              <a:rPr lang="en-US" sz="2400" b="0" i="0" u="none" strike="noStrike" baseline="0" dirty="0">
                <a:latin typeface="Times New Roman" panose="02020603050405020304" pitchFamily="18" charset="0"/>
              </a:rPr>
              <a:t>Similarly, a sum of the variables and their negations in a formula is called an </a:t>
            </a:r>
            <a:r>
              <a:rPr lang="en-IN" sz="2400" b="1" i="1" u="none" strike="noStrike" baseline="0" dirty="0">
                <a:latin typeface="Times New Roman" panose="02020603050405020304" pitchFamily="18" charset="0"/>
              </a:rPr>
              <a:t>elementary sum</a:t>
            </a:r>
            <a:r>
              <a:rPr lang="en-IN" sz="2400" b="0" i="0" u="none" strike="noStrike" baseline="0" dirty="0">
                <a:latin typeface="Times New Roman" panose="02020603050405020304" pitchFamily="18" charset="0"/>
              </a:rPr>
              <a:t>.</a:t>
            </a:r>
          </a:p>
          <a:p>
            <a:pPr algn="l"/>
            <a:r>
              <a:rPr lang="en-US" sz="2400" b="0" i="0" u="none" strike="noStrike" baseline="0" dirty="0">
                <a:latin typeface="Times New Roman" panose="02020603050405020304" pitchFamily="18" charset="0"/>
              </a:rPr>
              <a:t>Let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and </a:t>
            </a:r>
            <a:r>
              <a:rPr lang="en-US" sz="2400" b="0" i="1" u="none" strike="noStrike" baseline="0" dirty="0">
                <a:latin typeface="Times New Roman" panose="02020603050405020304" pitchFamily="18" charset="0"/>
              </a:rPr>
              <a:t>Q </a:t>
            </a:r>
            <a:r>
              <a:rPr lang="en-US" sz="2400" b="0" i="0" u="none" strike="noStrike" baseline="0" dirty="0">
                <a:latin typeface="Times New Roman" panose="02020603050405020304" pitchFamily="18" charset="0"/>
              </a:rPr>
              <a:t>be any atomic variables. Then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¬P </a:t>
            </a:r>
            <a:r>
              <a:rPr lang="en-US" sz="2400" b="0" i="0" u="none" strike="noStrike" baseline="0" dirty="0">
                <a:latin typeface="Arial Unicode MS"/>
              </a:rPr>
              <a:t>∧</a:t>
            </a:r>
            <a:r>
              <a:rPr lang="en-US" sz="2400" b="0" i="1" u="none" strike="noStrike" baseline="0" dirty="0">
                <a:latin typeface="Times New Roman" panose="02020603050405020304" pitchFamily="18" charset="0"/>
              </a:rPr>
              <a:t>Q</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¬Q</a:t>
            </a:r>
            <a:r>
              <a:rPr lang="en-US" sz="2400" b="0" i="0" u="none" strike="noStrike" baseline="0" dirty="0">
                <a:latin typeface="Arial Unicode MS"/>
              </a:rPr>
              <a:t>∧</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and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are some examples of elementary products. </a:t>
            </a:r>
          </a:p>
          <a:p>
            <a:pPr algn="l"/>
            <a:r>
              <a:rPr lang="en-US" sz="2400" b="0" i="0" u="none" strike="noStrike" baseline="0" dirty="0">
                <a:latin typeface="Times New Roman" panose="02020603050405020304" pitchFamily="18" charset="0"/>
              </a:rPr>
              <a:t>On the other hand,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¬P </a:t>
            </a:r>
            <a:r>
              <a:rPr lang="en-US" sz="2400" b="0" i="0" u="none" strike="noStrike" baseline="0" dirty="0">
                <a:latin typeface="Arial Unicode MS"/>
              </a:rPr>
              <a:t>∨ </a:t>
            </a:r>
            <a:r>
              <a:rPr lang="en-US" sz="2400" b="0" i="1" u="none" strike="noStrike" baseline="0" dirty="0">
                <a:latin typeface="Times New Roman" panose="02020603050405020304" pitchFamily="18" charset="0"/>
              </a:rPr>
              <a:t>Q</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t>
            </a:r>
            <a:r>
              <a:rPr lang="en-US" sz="2400" b="0" i="1" u="none" strike="noStrike" baseline="0" dirty="0">
                <a:latin typeface="Times New Roman" panose="02020603050405020304" pitchFamily="18" charset="0"/>
              </a:rPr>
              <a:t>P</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and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are some examples of elementary sums.</a:t>
            </a:r>
          </a:p>
          <a:p>
            <a:pPr algn="l"/>
            <a:r>
              <a:rPr lang="en-US" sz="2400" b="0" i="0" u="none" strike="noStrike" baseline="0" dirty="0">
                <a:latin typeface="Times New Roman" panose="02020603050405020304" pitchFamily="18" charset="0"/>
              </a:rPr>
              <a:t>Any part of an elementary sum or product which is itself an elementary sum or product is called a </a:t>
            </a:r>
            <a:r>
              <a:rPr lang="en-US" sz="2400" b="1" i="1" u="none" strike="noStrike" baseline="0" dirty="0">
                <a:latin typeface="Times New Roman" panose="02020603050405020304" pitchFamily="18" charset="0"/>
              </a:rPr>
              <a:t>factor </a:t>
            </a:r>
            <a:r>
              <a:rPr lang="en-US" sz="2400" b="1" i="0" u="none" strike="noStrike" baseline="0" dirty="0">
                <a:latin typeface="Times New Roman" panose="02020603050405020304" pitchFamily="18" charset="0"/>
              </a:rPr>
              <a:t>of the original </a:t>
            </a:r>
            <a:r>
              <a:rPr lang="en-US" sz="2400" b="0" i="0" u="none" strike="noStrike" baseline="0" dirty="0">
                <a:latin typeface="Times New Roman" panose="02020603050405020304" pitchFamily="18" charset="0"/>
              </a:rPr>
              <a:t>elementary sum or product. </a:t>
            </a:r>
          </a:p>
          <a:p>
            <a:pPr algn="l"/>
            <a:r>
              <a:rPr lang="en-US" sz="2400" b="0" i="0" u="none" strike="noStrike" baseline="0" dirty="0">
                <a:latin typeface="Times New Roman" panose="02020603050405020304" pitchFamily="18" charset="0"/>
              </a:rPr>
              <a:t>Thus </a:t>
            </a:r>
            <a:r>
              <a:rPr lang="en-US" sz="2400" b="0" i="1" u="none" strike="noStrike" baseline="0" dirty="0">
                <a:latin typeface="Times New Roman" panose="02020603050405020304" pitchFamily="18" charset="0"/>
              </a:rPr>
              <a:t>¬Q</a:t>
            </a:r>
            <a:r>
              <a:rPr lang="en-US" sz="2400" b="0" i="0" u="none" strike="noStrike" baseline="0" dirty="0">
                <a:latin typeface="Times New Roman" panose="02020603050405020304" pitchFamily="18" charset="0"/>
              </a:rPr>
              <a:t>,</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 and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are some of the factors of </a:t>
            </a:r>
            <a:r>
              <a:rPr lang="en-US" sz="2400" b="0" i="1" u="none" strike="noStrike" baseline="0" dirty="0">
                <a:latin typeface="Times New Roman" panose="02020603050405020304" pitchFamily="18" charset="0"/>
              </a:rPr>
              <a:t>¬Q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Arial Unicode MS"/>
              </a:rPr>
              <a:t>∧ </a:t>
            </a:r>
            <a:r>
              <a:rPr lang="en-US" sz="2400" b="0" i="1" u="none" strike="noStrike" baseline="0" dirty="0">
                <a:latin typeface="Times New Roman" panose="02020603050405020304" pitchFamily="18" charset="0"/>
              </a:rPr>
              <a:t>¬P </a:t>
            </a:r>
            <a:r>
              <a:rPr lang="en-US" sz="2400" b="0" i="0" u="none" strike="noStrike" baseline="0" dirty="0">
                <a:latin typeface="Times New Roman" panose="02020603050405020304" pitchFamily="18" charset="0"/>
              </a:rPr>
              <a:t>.</a:t>
            </a:r>
            <a:endParaRPr lang="en-IN" sz="3600" dirty="0"/>
          </a:p>
        </p:txBody>
      </p:sp>
    </p:spTree>
    <p:extLst>
      <p:ext uri="{BB962C8B-B14F-4D97-AF65-F5344CB8AC3E}">
        <p14:creationId xmlns:p14="http://schemas.microsoft.com/office/powerpoint/2010/main" val="260436960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DE1A-800E-4E2F-AA54-BCDF781B474C}"/>
              </a:ext>
            </a:extLst>
          </p:cNvPr>
          <p:cNvSpPr>
            <a:spLocks noGrp="1"/>
          </p:cNvSpPr>
          <p:nvPr>
            <p:ph type="title"/>
          </p:nvPr>
        </p:nvSpPr>
        <p:spPr>
          <a:xfrm>
            <a:off x="2416667" y="302084"/>
            <a:ext cx="7729728" cy="1188720"/>
          </a:xfrm>
        </p:spPr>
        <p:txBody>
          <a:bodyPr/>
          <a:lstStyle/>
          <a:p>
            <a:r>
              <a:rPr lang="en-US" dirty="0"/>
              <a:t>Disjunctive Normal Forms (DNF)</a:t>
            </a:r>
            <a:endParaRPr lang="en-IN" dirty="0"/>
          </a:p>
        </p:txBody>
      </p:sp>
      <p:sp>
        <p:nvSpPr>
          <p:cNvPr id="3" name="Content Placeholder 2">
            <a:extLst>
              <a:ext uri="{FF2B5EF4-FFF2-40B4-BE49-F238E27FC236}">
                <a16:creationId xmlns:a16="http://schemas.microsoft.com/office/drawing/2014/main" id="{68DF9999-53B7-441A-BE2F-FD673C569E2F}"/>
              </a:ext>
            </a:extLst>
          </p:cNvPr>
          <p:cNvSpPr>
            <a:spLocks noGrp="1"/>
          </p:cNvSpPr>
          <p:nvPr>
            <p:ph idx="1"/>
          </p:nvPr>
        </p:nvSpPr>
        <p:spPr>
          <a:xfrm>
            <a:off x="838200" y="1825624"/>
            <a:ext cx="10515600" cy="5032375"/>
          </a:xfrm>
        </p:spPr>
        <p:txBody>
          <a:bodyPr>
            <a:normAutofit lnSpcReduction="10000"/>
          </a:bodyPr>
          <a:lstStyle/>
          <a:p>
            <a:pPr algn="l"/>
            <a:r>
              <a:rPr lang="en-US" sz="1800" b="0" i="0" u="none" strike="noStrike" baseline="0" dirty="0">
                <a:latin typeface="Times New Roman" panose="02020603050405020304" pitchFamily="18" charset="0"/>
              </a:rPr>
              <a:t>A formula which is equivalent to a given formula and which consists of a </a:t>
            </a:r>
            <a:r>
              <a:rPr lang="en-US" sz="1800" b="1" i="0" u="none" strike="noStrike" baseline="0" dirty="0">
                <a:latin typeface="Times New Roman" panose="02020603050405020304" pitchFamily="18" charset="0"/>
              </a:rPr>
              <a:t>sum of elementary products </a:t>
            </a:r>
            <a:r>
              <a:rPr lang="en-US" sz="1800" b="0" i="0" u="none" strike="noStrike" baseline="0" dirty="0">
                <a:latin typeface="Times New Roman" panose="02020603050405020304" pitchFamily="18" charset="0"/>
              </a:rPr>
              <a:t>is called a </a:t>
            </a:r>
            <a:r>
              <a:rPr lang="en-US" sz="1800" b="1" i="1" u="none" strike="noStrike" baseline="0" dirty="0">
                <a:latin typeface="Times New Roman" panose="02020603050405020304" pitchFamily="18" charset="0"/>
              </a:rPr>
              <a:t>disjunctive normal form </a:t>
            </a:r>
            <a:r>
              <a:rPr lang="en-US" sz="1800" b="0" i="0" u="none" strike="noStrike" baseline="0" dirty="0">
                <a:latin typeface="Times New Roman" panose="02020603050405020304" pitchFamily="18" charset="0"/>
              </a:rPr>
              <a:t>of the given formula.</a:t>
            </a:r>
          </a:p>
          <a:p>
            <a:pPr algn="l"/>
            <a:r>
              <a:rPr lang="en-US" sz="1800" b="0" i="0" u="none" strike="noStrike" baseline="0" dirty="0">
                <a:latin typeface="Times New Roman" panose="02020603050405020304" pitchFamily="18" charset="0"/>
              </a:rPr>
              <a:t>Example: Obtain disjunctive normal forms of</a:t>
            </a:r>
          </a:p>
          <a:p>
            <a:pPr algn="l"/>
            <a:r>
              <a:rPr lang="en-IN" sz="1800" b="0" i="0" u="none" strike="noStrike" baseline="0" dirty="0">
                <a:latin typeface="Times New Roman" panose="02020603050405020304" pitchFamily="18" charset="0"/>
              </a:rPr>
              <a:t>(a)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1" u="none" strike="noStrike" baseline="0" dirty="0">
                <a:latin typeface="Times New Roman,Italic"/>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(b) </a:t>
            </a: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1" u="none" strike="noStrike" baseline="0" dirty="0">
                <a:latin typeface="Times New Roman,Italic"/>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algn="l"/>
            <a:r>
              <a:rPr lang="en-IN" sz="1800" b="0" i="0" u="none" strike="noStrike" baseline="0" dirty="0">
                <a:latin typeface="Times New Roman" panose="02020603050405020304" pitchFamily="18" charset="0"/>
              </a:rPr>
              <a:t>Solution: (a) We have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Italic"/>
              </a:rPr>
              <a:t>P → 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IN" sz="1800" b="0" i="0" u="none" strike="noStrike" baseline="0" dirty="0">
                <a:latin typeface="Arial Unicode MS"/>
              </a:rPr>
              <a:t>                                                    ⇔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algn="l"/>
            <a:r>
              <a:rPr lang="en-IN" sz="1800" b="0" i="0" u="none" strike="noStrike" baseline="0" dirty="0">
                <a:latin typeface="Times New Roman" panose="02020603050405020304" pitchFamily="18" charset="0"/>
              </a:rPr>
              <a:t>(b) </a:t>
            </a: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1" u="none" strike="noStrike" baseline="0" dirty="0">
                <a:latin typeface="Times New Roman,Italic"/>
              </a:rPr>
              <a:t>↔</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IN" sz="1800" b="0" i="0" u="none" strike="noStrike" baseline="0" dirty="0">
                <a:latin typeface="Arial Unicode MS"/>
              </a:rPr>
              <a:t>         ⇔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[using </a:t>
            </a:r>
            <a:r>
              <a:rPr lang="pt-BR" sz="1800" b="0" i="1" u="none" strike="noStrike" baseline="0" dirty="0">
                <a:latin typeface="Times New Roman" panose="02020603050405020304" pitchFamily="18" charset="0"/>
              </a:rPr>
              <a:t>R</a:t>
            </a:r>
            <a:r>
              <a:rPr lang="pt-BR" sz="1800" b="0" i="1" u="none" strike="noStrike" baseline="0" dirty="0">
                <a:latin typeface="Times New Roman,Italic"/>
              </a:rPr>
              <a:t>↔ </a:t>
            </a:r>
            <a:r>
              <a:rPr lang="pt-BR" sz="1800" b="0" i="1" u="none" strike="noStrike" baseline="0" dirty="0">
                <a:latin typeface="Times New Roman" panose="02020603050405020304" pitchFamily="18" charset="0"/>
              </a:rPr>
              <a:t>S </a:t>
            </a:r>
            <a:r>
              <a:rPr lang="pt-BR" sz="1800" b="0" i="0" u="none" strike="noStrike" baseline="0" dirty="0">
                <a:latin typeface="Arial Unicode MS"/>
              </a:rPr>
              <a:t>⇔ </a:t>
            </a:r>
            <a:r>
              <a:rPr lang="pt-BR" sz="1800" b="0" i="0" u="none" strike="noStrike" baseline="0" dirty="0">
                <a:latin typeface="Times New Roman" panose="02020603050405020304" pitchFamily="18" charset="0"/>
              </a:rPr>
              <a:t>(</a:t>
            </a:r>
            <a:r>
              <a:rPr lang="pt-BR" sz="1800" b="0" i="1" u="none" strike="noStrike" baseline="0" dirty="0">
                <a:latin typeface="Times New Roman" panose="02020603050405020304" pitchFamily="18" charset="0"/>
              </a:rPr>
              <a:t>R </a:t>
            </a:r>
            <a:r>
              <a:rPr lang="pt-BR" sz="1800" b="0" i="0" u="none" strike="noStrike" baseline="0" dirty="0">
                <a:latin typeface="Arial Unicode MS"/>
              </a:rPr>
              <a:t>∧ </a:t>
            </a:r>
            <a:r>
              <a:rPr lang="pt-BR" sz="1800" b="0" i="1" u="none" strike="noStrike" baseline="0" dirty="0">
                <a:latin typeface="Times New Roman" panose="02020603050405020304" pitchFamily="18" charset="0"/>
              </a:rPr>
              <a:t>S</a:t>
            </a:r>
            <a:r>
              <a:rPr lang="pt-BR" sz="1800" b="0" i="0" u="none" strike="noStrike" baseline="0" dirty="0">
                <a:latin typeface="Times New Roman" panose="02020603050405020304" pitchFamily="18" charset="0"/>
              </a:rPr>
              <a:t>) </a:t>
            </a:r>
            <a:r>
              <a:rPr lang="pt-BR" sz="1800" b="0" i="0" u="none" strike="noStrike" baseline="0" dirty="0">
                <a:latin typeface="Arial Unicode MS"/>
              </a:rPr>
              <a:t>∨ </a:t>
            </a:r>
            <a:r>
              <a:rPr lang="pt-BR" sz="1800" b="0" i="0" u="none" strike="noStrike" baseline="0" dirty="0">
                <a:latin typeface="Times New Roman" panose="02020603050405020304" pitchFamily="18" charset="0"/>
              </a:rPr>
              <a:t>(</a:t>
            </a:r>
            <a:r>
              <a:rPr lang="pt-BR" sz="1800" b="0" i="1" u="none" strike="noStrike" baseline="0" dirty="0">
                <a:latin typeface="Times New Roman" panose="02020603050405020304" pitchFamily="18" charset="0"/>
              </a:rPr>
              <a:t>¬R </a:t>
            </a:r>
            <a:r>
              <a:rPr lang="pt-BR" sz="1800" b="0" i="0" u="none" strike="noStrike" baseline="0" dirty="0">
                <a:latin typeface="Arial Unicode MS"/>
              </a:rPr>
              <a:t>∧ </a:t>
            </a:r>
            <a:r>
              <a:rPr lang="pt-BR" sz="1800" b="0" i="1" u="none" strike="noStrike" baseline="0" dirty="0">
                <a:latin typeface="Times New Roman" panose="02020603050405020304" pitchFamily="18" charset="0"/>
              </a:rPr>
              <a:t>¬S</a:t>
            </a:r>
            <a:r>
              <a:rPr lang="pt-BR" sz="1800" b="0" i="0" u="none" strike="noStrike" baseline="0" dirty="0">
                <a:latin typeface="Times New Roman" panose="02020603050405020304" pitchFamily="18" charset="0"/>
              </a:rPr>
              <a:t>)]</a:t>
            </a:r>
          </a:p>
          <a:p>
            <a:pPr marL="0" indent="0" algn="l">
              <a:buNone/>
            </a:pPr>
            <a:r>
              <a:rPr lang="en-IN" sz="1800" b="0" i="0" u="none" strike="noStrike" baseline="0" dirty="0">
                <a:latin typeface="Arial Unicode MS"/>
              </a:rPr>
              <a:t>         ⇔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IN" sz="1800" b="0" i="0" u="none" strike="noStrike" baseline="0" dirty="0">
                <a:latin typeface="Arial Unicode MS"/>
              </a:rPr>
              <a:t>         ⇔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IN" sz="1800" b="0" i="0" u="none" strike="noStrike" baseline="0" dirty="0">
                <a:latin typeface="Arial Unicode MS"/>
              </a:rPr>
              <a:t>         ⇔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US" sz="1800" b="0" i="0" u="none" strike="noStrike" baseline="0" dirty="0">
                <a:latin typeface="Times New Roman" panose="02020603050405020304" pitchFamily="18" charset="0"/>
              </a:rPr>
              <a:t>which is the required disjunctive normal form.</a:t>
            </a:r>
          </a:p>
          <a:p>
            <a:pPr marL="0" indent="0" algn="l">
              <a:buNone/>
            </a:pPr>
            <a:r>
              <a:rPr lang="en-US" sz="1800" b="1" i="1" u="none" strike="noStrike" baseline="0" dirty="0">
                <a:latin typeface="Times New Roman" panose="02020603050405020304" pitchFamily="18" charset="0"/>
              </a:rPr>
              <a:t>Note: The DNF of a given formula is not unique.</a:t>
            </a:r>
            <a:endParaRPr lang="en-IN" b="1" i="1" dirty="0"/>
          </a:p>
        </p:txBody>
      </p:sp>
    </p:spTree>
    <p:extLst>
      <p:ext uri="{BB962C8B-B14F-4D97-AF65-F5344CB8AC3E}">
        <p14:creationId xmlns:p14="http://schemas.microsoft.com/office/powerpoint/2010/main" val="377562572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E7E2-41AF-4D09-9A11-132879DA4EF0}"/>
              </a:ext>
            </a:extLst>
          </p:cNvPr>
          <p:cNvSpPr>
            <a:spLocks noGrp="1"/>
          </p:cNvSpPr>
          <p:nvPr>
            <p:ph type="title"/>
          </p:nvPr>
        </p:nvSpPr>
        <p:spPr>
          <a:xfrm>
            <a:off x="2429919" y="275579"/>
            <a:ext cx="7729728" cy="1188720"/>
          </a:xfrm>
        </p:spPr>
        <p:txBody>
          <a:bodyPr/>
          <a:lstStyle/>
          <a:p>
            <a:r>
              <a:rPr lang="en-IN" dirty="0"/>
              <a:t>Conjunctive Normal Form (CNF)</a:t>
            </a:r>
          </a:p>
        </p:txBody>
      </p:sp>
      <p:sp>
        <p:nvSpPr>
          <p:cNvPr id="3" name="Content Placeholder 2">
            <a:extLst>
              <a:ext uri="{FF2B5EF4-FFF2-40B4-BE49-F238E27FC236}">
                <a16:creationId xmlns:a16="http://schemas.microsoft.com/office/drawing/2014/main" id="{705FF30F-1C9B-461D-BA11-99DB2A866B31}"/>
              </a:ext>
            </a:extLst>
          </p:cNvPr>
          <p:cNvSpPr>
            <a:spLocks noGrp="1"/>
          </p:cNvSpPr>
          <p:nvPr>
            <p:ph idx="1"/>
          </p:nvPr>
        </p:nvSpPr>
        <p:spPr>
          <a:xfrm>
            <a:off x="838200" y="1825624"/>
            <a:ext cx="10515600" cy="5032375"/>
          </a:xfrm>
        </p:spPr>
        <p:txBody>
          <a:bodyPr>
            <a:normAutofit/>
          </a:bodyPr>
          <a:lstStyle/>
          <a:p>
            <a:pPr marL="0" indent="0" algn="l">
              <a:buNone/>
            </a:pPr>
            <a:r>
              <a:rPr lang="en-US" b="0" i="0" u="none" strike="noStrike" baseline="0" dirty="0">
                <a:latin typeface="Times New Roman" panose="02020603050405020304" pitchFamily="18" charset="0"/>
              </a:rPr>
              <a:t>A formula which is equivalent to a given formula and which consists of a </a:t>
            </a:r>
            <a:r>
              <a:rPr lang="en-US" b="1" i="1" u="none" strike="noStrike" baseline="0" dirty="0">
                <a:latin typeface="Times New Roman" panose="02020603050405020304" pitchFamily="18" charset="0"/>
              </a:rPr>
              <a:t>product of elementary sums</a:t>
            </a:r>
            <a:r>
              <a:rPr lang="en-US" b="0" i="0" u="none" strike="noStrike" baseline="0" dirty="0">
                <a:latin typeface="Times New Roman" panose="02020603050405020304" pitchFamily="18" charset="0"/>
              </a:rPr>
              <a:t> is called a </a:t>
            </a:r>
            <a:r>
              <a:rPr lang="en-US" b="0" i="1" u="none" strike="noStrike" baseline="0" dirty="0">
                <a:latin typeface="Times New Roman" panose="02020603050405020304" pitchFamily="18" charset="0"/>
              </a:rPr>
              <a:t>conjunctive normal form </a:t>
            </a:r>
            <a:r>
              <a:rPr lang="en-US" b="0" i="0" u="none" strike="noStrike" baseline="0" dirty="0">
                <a:latin typeface="Times New Roman" panose="02020603050405020304" pitchFamily="18" charset="0"/>
              </a:rPr>
              <a:t>of the given formula.</a:t>
            </a:r>
          </a:p>
          <a:p>
            <a:pPr marL="0" indent="0" algn="l">
              <a:buNone/>
            </a:pPr>
            <a:r>
              <a:rPr lang="en-US" b="0" i="0" u="none" strike="noStrike" baseline="0" dirty="0">
                <a:latin typeface="Times New Roman" panose="02020603050405020304" pitchFamily="18" charset="0"/>
              </a:rPr>
              <a:t>Example: Obtain conjunctive normal forms of</a:t>
            </a:r>
          </a:p>
          <a:p>
            <a:pPr algn="l"/>
            <a:r>
              <a:rPr lang="en-IN" b="0" i="0" u="none" strike="noStrike" baseline="0" dirty="0">
                <a:latin typeface="Times New Roman" panose="02020603050405020304" pitchFamily="18" charset="0"/>
              </a:rPr>
              <a:t>(a) </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1" u="none" strike="noStrike" baseline="0" dirty="0">
                <a:latin typeface="Times New Roman,Italic"/>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(b) </a:t>
            </a:r>
            <a:r>
              <a:rPr lang="en-IN" b="0" i="1" u="none" strike="noStrike" baseline="0" dirty="0">
                <a:latin typeface="Times New Roman" panose="02020603050405020304" pitchFamily="18" charset="0"/>
              </a:rPr>
              <a:t>¬</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r>
              <a:rPr lang="en-IN" b="0" i="1" u="none" strike="noStrike" baseline="0" dirty="0">
                <a:latin typeface="Times New Roman,Italic"/>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Times New Roman" panose="02020603050405020304" pitchFamily="18" charset="0"/>
              </a:rPr>
              <a:t> Solution: (a). </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1" u="none" strike="noStrike" baseline="0" dirty="0">
                <a:latin typeface="Times New Roman,Italic"/>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Times New Roman" panose="02020603050405020304" pitchFamily="18" charset="0"/>
              </a:rPr>
              <a:t>(b).</a:t>
            </a:r>
            <a:r>
              <a:rPr lang="en-IN" b="0" i="1" u="none" strike="noStrike" baseline="0" dirty="0">
                <a:latin typeface="Times New Roman" panose="02020603050405020304" pitchFamily="18" charset="0"/>
              </a:rPr>
              <a:t>¬</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r>
              <a:rPr lang="en-IN" b="0" i="1" u="none" strike="noStrike" baseline="0" dirty="0">
                <a:latin typeface="Times New Roman,Italic"/>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1" u="none" strike="noStrike" baseline="0" dirty="0">
                <a:latin typeface="Times New Roman,Italic"/>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1" u="none" strike="noStrike" baseline="0" dirty="0">
                <a:latin typeface="Times New Roman,Italic"/>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1" u="none" strike="noStrike" baseline="0" dirty="0">
                <a:latin typeface="Times New Roman" panose="02020603050405020304" pitchFamily="18" charset="0"/>
              </a:rPr>
              <a:t>¬</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endParaRPr lang="en-IN" sz="4000" dirty="0"/>
          </a:p>
        </p:txBody>
      </p:sp>
    </p:spTree>
    <p:extLst>
      <p:ext uri="{BB962C8B-B14F-4D97-AF65-F5344CB8AC3E}">
        <p14:creationId xmlns:p14="http://schemas.microsoft.com/office/powerpoint/2010/main" val="382957653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426D-4D38-49DE-B164-EC9480804884}"/>
              </a:ext>
            </a:extLst>
          </p:cNvPr>
          <p:cNvSpPr>
            <a:spLocks noGrp="1"/>
          </p:cNvSpPr>
          <p:nvPr>
            <p:ph type="title"/>
          </p:nvPr>
        </p:nvSpPr>
        <p:spPr>
          <a:xfrm>
            <a:off x="2231136" y="523613"/>
            <a:ext cx="7729728" cy="1188720"/>
          </a:xfrm>
        </p:spPr>
        <p:txBody>
          <a:bodyPr/>
          <a:lstStyle/>
          <a:p>
            <a:r>
              <a:rPr lang="en-US" dirty="0"/>
              <a:t>Key Trick (to prove a formula a tautology)</a:t>
            </a:r>
            <a:endParaRPr lang="en-IN" dirty="0"/>
          </a:p>
        </p:txBody>
      </p:sp>
      <p:sp>
        <p:nvSpPr>
          <p:cNvPr id="3" name="Content Placeholder 2">
            <a:extLst>
              <a:ext uri="{FF2B5EF4-FFF2-40B4-BE49-F238E27FC236}">
                <a16:creationId xmlns:a16="http://schemas.microsoft.com/office/drawing/2014/main" id="{28969AE8-8F57-42AD-B79A-B043FB957CB8}"/>
              </a:ext>
            </a:extLst>
          </p:cNvPr>
          <p:cNvSpPr>
            <a:spLocks noGrp="1"/>
          </p:cNvSpPr>
          <p:nvPr>
            <p:ph idx="1"/>
          </p:nvPr>
        </p:nvSpPr>
        <p:spPr/>
        <p:txBody>
          <a:bodyPr>
            <a:normAutofit lnSpcReduction="10000"/>
          </a:bodyPr>
          <a:lstStyle/>
          <a:p>
            <a:pPr marL="0" indent="0" algn="l">
              <a:buNone/>
            </a:pPr>
            <a:r>
              <a:rPr lang="en-US" b="1" i="0" u="none" strike="noStrike" baseline="0" dirty="0">
                <a:latin typeface="Times New Roman" panose="02020603050405020304" pitchFamily="18" charset="0"/>
              </a:rPr>
              <a:t>Note: A given formula is tautology if every elementary sum in CNF is tautology</a:t>
            </a:r>
            <a:r>
              <a:rPr lang="en-US" b="0" i="0" u="none" strike="noStrike" baseline="0" dirty="0">
                <a:latin typeface="Times New Roman" panose="02020603050405020304" pitchFamily="18" charset="0"/>
              </a:rPr>
              <a:t>.</a:t>
            </a:r>
          </a:p>
          <a:p>
            <a:pPr marL="0" indent="0" algn="l">
              <a:buNone/>
            </a:pPr>
            <a:r>
              <a:rPr lang="en-US" b="0" i="0" u="none" strike="noStrike" baseline="0" dirty="0">
                <a:latin typeface="Times New Roman" panose="02020603050405020304" pitchFamily="18" charset="0"/>
              </a:rPr>
              <a:t>Example: Show that the formula </a:t>
            </a:r>
            <a:r>
              <a:rPr lang="en-US" b="0" i="1" u="none" strike="noStrike" baseline="0" dirty="0">
                <a:latin typeface="Times New Roman" panose="02020603050405020304" pitchFamily="18" charset="0"/>
              </a:rPr>
              <a:t>Q</a:t>
            </a:r>
            <a:r>
              <a:rPr lang="en-US" b="0" i="0" u="none" strike="noStrike" baseline="0" dirty="0">
                <a:latin typeface="Arial Unicode MS"/>
              </a:rPr>
              <a:t>∨ </a:t>
            </a:r>
            <a:r>
              <a:rPr lang="en-US" b="0" i="0" u="none" strike="noStrike" baseline="0" dirty="0">
                <a:latin typeface="Times New Roman" panose="02020603050405020304" pitchFamily="18" charset="0"/>
              </a:rPr>
              <a:t>(</a:t>
            </a:r>
            <a:r>
              <a:rPr lang="en-US" b="0" i="1" u="none" strike="noStrike" baseline="0" dirty="0">
                <a:latin typeface="Times New Roman" panose="02020603050405020304" pitchFamily="18" charset="0"/>
              </a:rPr>
              <a:t>P </a:t>
            </a:r>
            <a:r>
              <a:rPr lang="en-US" b="0" i="0" u="none" strike="noStrike" baseline="0" dirty="0">
                <a:latin typeface="Arial Unicode MS"/>
              </a:rPr>
              <a:t>∧ </a:t>
            </a:r>
            <a:r>
              <a:rPr lang="en-US" b="0" i="1" u="none" strike="noStrike" baseline="0" dirty="0">
                <a:latin typeface="Times New Roman" panose="02020603050405020304" pitchFamily="18" charset="0"/>
              </a:rPr>
              <a:t>¬Q</a:t>
            </a:r>
            <a:r>
              <a:rPr lang="en-US" b="0" i="0" u="none" strike="noStrike" baseline="0" dirty="0">
                <a:latin typeface="Times New Roman" panose="02020603050405020304" pitchFamily="18" charset="0"/>
              </a:rPr>
              <a:t>) </a:t>
            </a:r>
            <a:r>
              <a:rPr lang="en-US" b="0" i="0" u="none" strike="noStrike" baseline="0" dirty="0">
                <a:latin typeface="Arial Unicode MS"/>
              </a:rPr>
              <a:t>∨ </a:t>
            </a:r>
            <a:r>
              <a:rPr lang="en-US" b="0" i="0" u="none" strike="noStrike" baseline="0" dirty="0">
                <a:latin typeface="Times New Roman" panose="02020603050405020304" pitchFamily="18" charset="0"/>
              </a:rPr>
              <a:t>(</a:t>
            </a:r>
            <a:r>
              <a:rPr lang="en-US" b="0" i="1" u="none" strike="noStrike" baseline="0" dirty="0">
                <a:latin typeface="Times New Roman" panose="02020603050405020304" pitchFamily="18" charset="0"/>
              </a:rPr>
              <a:t>¬P </a:t>
            </a:r>
            <a:r>
              <a:rPr lang="en-US" b="0" i="0" u="none" strike="noStrike" baseline="0" dirty="0">
                <a:latin typeface="Arial Unicode MS"/>
              </a:rPr>
              <a:t>∧ </a:t>
            </a:r>
            <a:r>
              <a:rPr lang="en-US" b="0" i="1" u="none" strike="noStrike" baseline="0" dirty="0">
                <a:latin typeface="Times New Roman" panose="02020603050405020304" pitchFamily="18" charset="0"/>
              </a:rPr>
              <a:t>¬Q</a:t>
            </a:r>
            <a:r>
              <a:rPr lang="en-US" b="0" i="0" u="none" strike="noStrike" baseline="0" dirty="0">
                <a:latin typeface="Times New Roman" panose="02020603050405020304" pitchFamily="18" charset="0"/>
              </a:rPr>
              <a:t>) is a tautology.</a:t>
            </a:r>
          </a:p>
          <a:p>
            <a:pPr marL="0" indent="0" algn="l">
              <a:buNone/>
            </a:pPr>
            <a:r>
              <a:rPr lang="en-US" b="0" i="0" u="none" strike="noStrike" baseline="0" dirty="0">
                <a:latin typeface="Times New Roman" panose="02020603050405020304" pitchFamily="18" charset="0"/>
              </a:rPr>
              <a:t>Solution: First we obtain a CNF of the given formula.</a:t>
            </a:r>
          </a:p>
          <a:p>
            <a:pPr marL="0" indent="0" algn="l">
              <a:buNone/>
            </a:pP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Q</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Q </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Q</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Arial Unicode MS"/>
              </a:rPr>
              <a:t>∨ </a:t>
            </a:r>
            <a:r>
              <a:rPr lang="en-IN" b="0" i="1" u="none" strike="noStrike" baseline="0" dirty="0">
                <a:latin typeface="Times New Roman" panose="02020603050405020304" pitchFamily="18" charset="0"/>
              </a:rPr>
              <a:t>¬P </a:t>
            </a:r>
            <a:r>
              <a:rPr lang="en-IN" b="0" i="0" u="none" strike="noStrike" baseline="0" dirty="0">
                <a:latin typeface="Times New Roman" panose="02020603050405020304" pitchFamily="18" charset="0"/>
              </a:rPr>
              <a:t>) </a:t>
            </a:r>
            <a:r>
              <a:rPr lang="en-IN" b="0" i="0" u="none" strike="noStrike" baseline="0" dirty="0">
                <a:latin typeface="Arial Unicode MS"/>
              </a:rPr>
              <a:t>∧ </a:t>
            </a:r>
            <a:r>
              <a:rPr lang="en-IN" b="0" i="0" u="none" strike="noStrike" baseline="0" dirty="0">
                <a:latin typeface="Times New Roman" panose="02020603050405020304" pitchFamily="18" charset="0"/>
              </a:rPr>
              <a:t>(</a:t>
            </a:r>
            <a:r>
              <a:rPr lang="en-IN" b="0" i="1" u="none" strike="noStrike" baseline="0" dirty="0">
                <a:latin typeface="Times New Roman" panose="02020603050405020304" pitchFamily="18" charset="0"/>
              </a:rPr>
              <a:t>Q</a:t>
            </a:r>
            <a:r>
              <a:rPr lang="en-IN" b="0" i="0" u="none" strike="noStrike" baseline="0" dirty="0">
                <a:latin typeface="Arial Unicode MS"/>
              </a:rPr>
              <a:t>∨ </a:t>
            </a:r>
            <a:r>
              <a:rPr lang="en-IN" b="0" i="1" u="none" strike="noStrike" baseline="0" dirty="0">
                <a:latin typeface="Times New Roman" panose="02020603050405020304" pitchFamily="18" charset="0"/>
              </a:rPr>
              <a:t>¬Q</a:t>
            </a:r>
            <a:r>
              <a:rPr lang="en-IN" b="0" i="0" u="none" strike="noStrike" baseline="0" dirty="0">
                <a:latin typeface="Times New Roman" panose="02020603050405020304" pitchFamily="18" charset="0"/>
              </a:rPr>
              <a:t>)</a:t>
            </a:r>
          </a:p>
          <a:p>
            <a:pPr marL="0" indent="0" algn="l">
              <a:buNone/>
            </a:pPr>
            <a:r>
              <a:rPr lang="en-US" b="0" i="0" u="none" strike="noStrike" baseline="0" dirty="0">
                <a:latin typeface="Times New Roman" panose="02020603050405020304" pitchFamily="18" charset="0"/>
              </a:rPr>
              <a:t>Since each of the elementary sum is a tautology, hence the given formula is tautology.</a:t>
            </a:r>
            <a:endParaRPr lang="en-IN" sz="4000" dirty="0"/>
          </a:p>
        </p:txBody>
      </p:sp>
    </p:spTree>
    <p:extLst>
      <p:ext uri="{BB962C8B-B14F-4D97-AF65-F5344CB8AC3E}">
        <p14:creationId xmlns:p14="http://schemas.microsoft.com/office/powerpoint/2010/main" val="258096298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11977-87C3-4933-BCE3-C3795B4CA5C7}"/>
              </a:ext>
            </a:extLst>
          </p:cNvPr>
          <p:cNvSpPr>
            <a:spLocks noGrp="1"/>
          </p:cNvSpPr>
          <p:nvPr>
            <p:ph type="title"/>
          </p:nvPr>
        </p:nvSpPr>
        <p:spPr>
          <a:xfrm>
            <a:off x="692427" y="0"/>
            <a:ext cx="10515600" cy="1325563"/>
          </a:xfrm>
        </p:spPr>
        <p:txBody>
          <a:bodyPr/>
          <a:lstStyle/>
          <a:p>
            <a:r>
              <a:rPr lang="en-IN" dirty="0"/>
              <a:t>Principal Disjunctive Normal Form (PDNF)</a:t>
            </a:r>
          </a:p>
        </p:txBody>
      </p:sp>
      <p:sp>
        <p:nvSpPr>
          <p:cNvPr id="3" name="Content Placeholder 2">
            <a:extLst>
              <a:ext uri="{FF2B5EF4-FFF2-40B4-BE49-F238E27FC236}">
                <a16:creationId xmlns:a16="http://schemas.microsoft.com/office/drawing/2014/main" id="{F3190CF8-0682-4E8F-BD62-F3FB05A59E37}"/>
              </a:ext>
            </a:extLst>
          </p:cNvPr>
          <p:cNvSpPr>
            <a:spLocks noGrp="1"/>
          </p:cNvSpPr>
          <p:nvPr>
            <p:ph idx="1"/>
          </p:nvPr>
        </p:nvSpPr>
        <p:spPr>
          <a:xfrm>
            <a:off x="692427" y="1419709"/>
            <a:ext cx="10515600" cy="4840218"/>
          </a:xfrm>
        </p:spPr>
        <p:txBody>
          <a:bodyPr/>
          <a:lstStyle/>
          <a:p>
            <a:pPr marL="0" indent="0">
              <a:buNone/>
            </a:pPr>
            <a:r>
              <a:rPr lang="en-US" dirty="0"/>
              <a:t>Some key terminologies</a:t>
            </a:r>
          </a:p>
          <a:p>
            <a:pPr marL="0" indent="0" algn="just">
              <a:buNone/>
            </a:pPr>
            <a:r>
              <a:rPr lang="en-US" sz="1800" b="1" i="0" u="none" strike="noStrike" baseline="0" dirty="0" err="1">
                <a:latin typeface="Times New Roman" panose="02020603050405020304" pitchFamily="18" charset="0"/>
              </a:rPr>
              <a:t>Minterm</a:t>
            </a:r>
            <a:r>
              <a:rPr lang="en-US" sz="1800" b="0" i="0" u="none" strike="noStrike" baseline="0" dirty="0">
                <a:latin typeface="Times New Roman" panose="02020603050405020304" pitchFamily="18" charset="0"/>
              </a:rPr>
              <a:t>: For a given number of variables, the </a:t>
            </a:r>
            <a:r>
              <a:rPr lang="en-US" sz="1800" b="0" i="0" u="none" strike="noStrike" baseline="0" dirty="0" err="1">
                <a:latin typeface="Times New Roman" panose="02020603050405020304" pitchFamily="18" charset="0"/>
              </a:rPr>
              <a:t>minterm</a:t>
            </a:r>
            <a:r>
              <a:rPr lang="en-US" sz="1800" b="0" i="0" u="none" strike="noStrike" baseline="0" dirty="0">
                <a:latin typeface="Times New Roman" panose="02020603050405020304" pitchFamily="18" charset="0"/>
              </a:rPr>
              <a:t> consists of conjunctions in which each statement variable or its negation, but not both, appears only once.</a:t>
            </a:r>
          </a:p>
          <a:p>
            <a:pPr marL="0" indent="0" algn="just">
              <a:buNone/>
            </a:pPr>
            <a:r>
              <a:rPr lang="en-US" sz="1800" b="0" i="0" u="none" strike="noStrike" baseline="0" dirty="0">
                <a:latin typeface="Times New Roman" panose="02020603050405020304" pitchFamily="18" charset="0"/>
              </a:rPr>
              <a:t>Let </a:t>
            </a:r>
            <a:r>
              <a:rPr lang="en-US" sz="1800" b="0" i="1" u="none" strike="noStrike" baseline="0" dirty="0">
                <a:latin typeface="Times New Roman" panose="02020603050405020304" pitchFamily="18" charset="0"/>
              </a:rPr>
              <a:t>P </a:t>
            </a:r>
            <a:r>
              <a:rPr lang="en-US" sz="1800" b="0" i="0" u="none" strike="noStrike" baseline="0" dirty="0">
                <a:latin typeface="Times New Roman" panose="02020603050405020304" pitchFamily="18" charset="0"/>
              </a:rPr>
              <a:t>and </a:t>
            </a:r>
            <a:r>
              <a:rPr lang="en-US" sz="1800" b="0" i="1" u="none" strike="noStrike" baseline="0" dirty="0">
                <a:latin typeface="Times New Roman" panose="02020603050405020304" pitchFamily="18" charset="0"/>
              </a:rPr>
              <a:t>Q </a:t>
            </a:r>
            <a:r>
              <a:rPr lang="en-US" sz="1800" b="0" i="0" u="none" strike="noStrike" baseline="0" dirty="0">
                <a:latin typeface="Times New Roman" panose="02020603050405020304" pitchFamily="18" charset="0"/>
              </a:rPr>
              <a:t>be the two statement variables. Then there are 2</a:t>
            </a:r>
            <a:r>
              <a:rPr lang="en-IN" sz="1800" b="0" i="0" u="none" strike="noStrike" baseline="30000" dirty="0">
                <a:latin typeface="Times New Roman" panose="02020603050405020304" pitchFamily="18" charset="0"/>
              </a:rPr>
              <a:t>2</a:t>
            </a:r>
            <a:r>
              <a:rPr lang="en-IN" sz="1800" b="0" i="0" u="none" strike="noStrike" baseline="0" dirty="0">
                <a:latin typeface="Times New Roman" panose="02020603050405020304" pitchFamily="18" charset="0"/>
              </a:rPr>
              <a:t> </a:t>
            </a:r>
            <a:r>
              <a:rPr lang="en-US" sz="1800" b="0" i="0" u="none" strike="noStrike" baseline="0" dirty="0" err="1">
                <a:latin typeface="Times New Roman" panose="02020603050405020304" pitchFamily="18" charset="0"/>
              </a:rPr>
              <a:t>minterms</a:t>
            </a:r>
            <a:r>
              <a:rPr lang="en-US" sz="1800" b="0" i="0" u="none" strike="noStrike" baseline="0" dirty="0">
                <a:latin typeface="Times New Roman" panose="02020603050405020304" pitchFamily="18" charset="0"/>
              </a:rPr>
              <a:t> given by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 and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a:t>
            </a:r>
          </a:p>
          <a:p>
            <a:pPr marL="0" indent="0" algn="just">
              <a:buNone/>
            </a:pPr>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i</a:t>
            </a:r>
            <a:r>
              <a:rPr lang="en-US" sz="1800" b="0" i="0" u="none" strike="noStrike" baseline="0" dirty="0">
                <a:latin typeface="Times New Roman" panose="02020603050405020304" pitchFamily="18" charset="0"/>
              </a:rPr>
              <a:t>). no two </a:t>
            </a:r>
            <a:r>
              <a:rPr lang="en-US" sz="1800" b="0" i="0" u="none" strike="noStrike" baseline="0" dirty="0" err="1">
                <a:latin typeface="Times New Roman" panose="02020603050405020304" pitchFamily="18" charset="0"/>
              </a:rPr>
              <a:t>minterms</a:t>
            </a:r>
            <a:r>
              <a:rPr lang="en-US" sz="1800" b="0" i="0" u="none" strike="noStrike" baseline="0" dirty="0">
                <a:latin typeface="Times New Roman" panose="02020603050405020304" pitchFamily="18" charset="0"/>
              </a:rPr>
              <a:t> are equivalent</a:t>
            </a:r>
          </a:p>
          <a:p>
            <a:pPr marL="0" indent="0" algn="just">
              <a:buNone/>
            </a:pPr>
            <a:r>
              <a:rPr lang="en-US" sz="1800" b="0" i="0" u="none" strike="noStrike" baseline="0" dirty="0">
                <a:latin typeface="Times New Roman" panose="02020603050405020304" pitchFamily="18" charset="0"/>
              </a:rPr>
              <a:t>(ii). Each </a:t>
            </a:r>
            <a:r>
              <a:rPr lang="en-US" sz="1800" b="0" i="0" u="none" strike="noStrike" baseline="0" dirty="0" err="1">
                <a:latin typeface="Times New Roman" panose="02020603050405020304" pitchFamily="18" charset="0"/>
              </a:rPr>
              <a:t>minterm</a:t>
            </a:r>
            <a:r>
              <a:rPr lang="en-US" sz="1800" b="0" i="0" u="none" strike="noStrike" baseline="0" dirty="0">
                <a:latin typeface="Times New Roman" panose="02020603050405020304" pitchFamily="18" charset="0"/>
              </a:rPr>
              <a:t> has the truth value </a:t>
            </a:r>
            <a:r>
              <a:rPr lang="en-US" sz="1800" b="0" i="1" u="none" strike="noStrike" baseline="0" dirty="0">
                <a:latin typeface="Times New Roman" panose="02020603050405020304" pitchFamily="18" charset="0"/>
              </a:rPr>
              <a:t>T </a:t>
            </a:r>
            <a:r>
              <a:rPr lang="en-US" sz="1800" b="0" i="0" u="none" strike="noStrike" baseline="0" dirty="0">
                <a:latin typeface="Times New Roman" panose="02020603050405020304" pitchFamily="18" charset="0"/>
              </a:rPr>
              <a:t>for exactly one combination of the truth values of the </a:t>
            </a:r>
            <a:r>
              <a:rPr lang="en-IN" sz="1800" b="0" i="0" u="none" strike="noStrike" baseline="0" dirty="0">
                <a:latin typeface="Times New Roman" panose="02020603050405020304" pitchFamily="18" charset="0"/>
              </a:rPr>
              <a:t>variables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and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a:t>
            </a:r>
          </a:p>
          <a:p>
            <a:pPr marL="0" indent="0" algn="l">
              <a:buNone/>
            </a:pPr>
            <a:r>
              <a:rPr lang="en-US" sz="1800" b="1" i="0" u="none" strike="noStrike" baseline="0" dirty="0">
                <a:latin typeface="Times New Roman" panose="02020603050405020304" pitchFamily="18" charset="0"/>
              </a:rPr>
              <a:t>Definition of PDNF</a:t>
            </a:r>
            <a:r>
              <a:rPr lang="en-US" sz="1800" b="0" i="0" u="none" strike="noStrike" baseline="0" dirty="0">
                <a:latin typeface="Times New Roman" panose="02020603050405020304" pitchFamily="18" charset="0"/>
              </a:rPr>
              <a:t>: For a given formula, an equivalent formula consisting of </a:t>
            </a:r>
            <a:r>
              <a:rPr lang="en-US" sz="1800" b="1" i="0" u="none" strike="noStrike" baseline="0" dirty="0">
                <a:latin typeface="Times New Roman" panose="02020603050405020304" pitchFamily="18" charset="0"/>
              </a:rPr>
              <a:t>disjunctions of </a:t>
            </a:r>
            <a:r>
              <a:rPr lang="en-US" sz="1800" b="1" i="0" u="none" strike="noStrike" baseline="0" dirty="0" err="1">
                <a:latin typeface="Times New Roman" panose="02020603050405020304" pitchFamily="18" charset="0"/>
              </a:rPr>
              <a:t>minterms</a:t>
            </a:r>
            <a:r>
              <a:rPr lang="en-US" sz="1800" b="1" i="0"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only is called the </a:t>
            </a:r>
            <a:r>
              <a:rPr lang="en-US" sz="1800" b="1" i="0" u="none" strike="noStrike" baseline="0" dirty="0">
                <a:latin typeface="Times New Roman" panose="02020603050405020304" pitchFamily="18" charset="0"/>
              </a:rPr>
              <a:t>Principal disjunctive normal form </a:t>
            </a:r>
            <a:r>
              <a:rPr lang="en-US" sz="1800" b="0" i="0" u="none" strike="noStrike" baseline="0" dirty="0">
                <a:latin typeface="Times New Roman" panose="02020603050405020304" pitchFamily="18" charset="0"/>
              </a:rPr>
              <a:t>of the formula. The principle disjunctive normal formula is also called the </a:t>
            </a:r>
            <a:r>
              <a:rPr lang="en-US" sz="1800" b="1" i="0" u="none" strike="noStrike" baseline="0" dirty="0">
                <a:latin typeface="Times New Roman" panose="02020603050405020304" pitchFamily="18" charset="0"/>
              </a:rPr>
              <a:t>sum-of-products </a:t>
            </a:r>
            <a:r>
              <a:rPr lang="en-US" sz="1800" b="0" i="0" u="none" strike="noStrike" baseline="0" dirty="0">
                <a:latin typeface="Times New Roman" panose="02020603050405020304" pitchFamily="18" charset="0"/>
              </a:rPr>
              <a:t>canonical form.</a:t>
            </a:r>
          </a:p>
          <a:p>
            <a:pPr marL="0" indent="0" algn="l">
              <a:buNone/>
            </a:pPr>
            <a:endParaRPr lang="en-IN" dirty="0"/>
          </a:p>
        </p:txBody>
      </p:sp>
      <p:pic>
        <p:nvPicPr>
          <p:cNvPr id="5" name="Picture 4">
            <a:extLst>
              <a:ext uri="{FF2B5EF4-FFF2-40B4-BE49-F238E27FC236}">
                <a16:creationId xmlns:a16="http://schemas.microsoft.com/office/drawing/2014/main" id="{A0A2093F-FD1F-4084-9F83-365F642B21D6}"/>
              </a:ext>
            </a:extLst>
          </p:cNvPr>
          <p:cNvPicPr>
            <a:picLocks noChangeAspect="1"/>
          </p:cNvPicPr>
          <p:nvPr/>
        </p:nvPicPr>
        <p:blipFill>
          <a:blip r:embed="rId3"/>
          <a:stretch>
            <a:fillRect/>
          </a:stretch>
        </p:blipFill>
        <p:spPr>
          <a:xfrm>
            <a:off x="6379678" y="4698862"/>
            <a:ext cx="4972050" cy="2019300"/>
          </a:xfrm>
          <a:prstGeom prst="rect">
            <a:avLst/>
          </a:prstGeom>
        </p:spPr>
      </p:pic>
    </p:spTree>
    <p:extLst>
      <p:ext uri="{BB962C8B-B14F-4D97-AF65-F5344CB8AC3E}">
        <p14:creationId xmlns:p14="http://schemas.microsoft.com/office/powerpoint/2010/main" val="3843402093"/>
      </p:ext>
    </p:extLst>
  </p:cSld>
  <p:clrMapOvr>
    <a:overrideClrMapping bg1="lt1" tx1="dk1" bg2="lt2" tx2="dk2" accent1="accent1" accent2="accent2" accent3="accent3" accent4="accent4" accent5="accent5" accent6="accent6" hlink="hlink" folHlink="folHlink"/>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578C1-D293-4B97-861A-431E47355958}"/>
              </a:ext>
            </a:extLst>
          </p:cNvPr>
          <p:cNvSpPr>
            <a:spLocks noGrp="1"/>
          </p:cNvSpPr>
          <p:nvPr>
            <p:ph type="title"/>
          </p:nvPr>
        </p:nvSpPr>
        <p:spPr>
          <a:xfrm>
            <a:off x="2231136" y="229197"/>
            <a:ext cx="7729728" cy="1188720"/>
          </a:xfrm>
        </p:spPr>
        <p:txBody>
          <a:bodyPr/>
          <a:lstStyle/>
          <a:p>
            <a:r>
              <a:rPr lang="en-IN" dirty="0"/>
              <a:t>Principal Conjunctive Normal Form (PCNF)</a:t>
            </a:r>
          </a:p>
        </p:txBody>
      </p:sp>
      <p:sp>
        <p:nvSpPr>
          <p:cNvPr id="3" name="Content Placeholder 2">
            <a:extLst>
              <a:ext uri="{FF2B5EF4-FFF2-40B4-BE49-F238E27FC236}">
                <a16:creationId xmlns:a16="http://schemas.microsoft.com/office/drawing/2014/main" id="{B24E4466-96A4-4819-B63D-7377C097EA07}"/>
              </a:ext>
            </a:extLst>
          </p:cNvPr>
          <p:cNvSpPr>
            <a:spLocks noGrp="1"/>
          </p:cNvSpPr>
          <p:nvPr>
            <p:ph idx="1"/>
          </p:nvPr>
        </p:nvSpPr>
        <p:spPr>
          <a:xfrm>
            <a:off x="838200" y="1825625"/>
            <a:ext cx="10515600" cy="4840218"/>
          </a:xfrm>
        </p:spPr>
        <p:txBody>
          <a:bodyPr>
            <a:normAutofit lnSpcReduction="10000"/>
          </a:bodyPr>
          <a:lstStyle/>
          <a:p>
            <a:pPr marL="0" indent="0">
              <a:buNone/>
            </a:pPr>
            <a:r>
              <a:rPr lang="en-US" dirty="0"/>
              <a:t>Some key terminologies</a:t>
            </a:r>
          </a:p>
          <a:p>
            <a:pPr marL="0" indent="0" algn="l">
              <a:buNone/>
            </a:pPr>
            <a:r>
              <a:rPr lang="en-US" sz="1800" dirty="0">
                <a:latin typeface="Times New Roman" panose="02020603050405020304" pitchFamily="18" charset="0"/>
              </a:rPr>
              <a:t>Maxterm: </a:t>
            </a:r>
            <a:r>
              <a:rPr lang="en-US" sz="1800" b="0" i="0" u="none" strike="noStrike" baseline="0" dirty="0">
                <a:latin typeface="Times New Roman" panose="02020603050405020304" pitchFamily="18" charset="0"/>
              </a:rPr>
              <a:t>The dual of a </a:t>
            </a:r>
            <a:r>
              <a:rPr lang="en-US" sz="1800" b="0" i="0" u="none" strike="noStrike" baseline="0" dirty="0" err="1">
                <a:latin typeface="Times New Roman" panose="02020603050405020304" pitchFamily="18" charset="0"/>
              </a:rPr>
              <a:t>minterm</a:t>
            </a:r>
            <a:r>
              <a:rPr lang="en-US" sz="1800" b="0" i="0" u="none" strike="noStrike" baseline="0" dirty="0">
                <a:latin typeface="Times New Roman" panose="02020603050405020304" pitchFamily="18" charset="0"/>
              </a:rPr>
              <a:t> is called a Maxterm. For a given number of variables, the </a:t>
            </a:r>
            <a:r>
              <a:rPr lang="en-US" sz="1800" b="0" i="1" u="none" strike="noStrike" baseline="0" dirty="0">
                <a:latin typeface="Times New Roman" panose="02020603050405020304" pitchFamily="18" charset="0"/>
              </a:rPr>
              <a:t>maxterm </a:t>
            </a:r>
            <a:r>
              <a:rPr lang="en-US" sz="1800" b="0" i="0" u="none" strike="noStrike" baseline="0" dirty="0">
                <a:latin typeface="Times New Roman" panose="02020603050405020304" pitchFamily="18" charset="0"/>
              </a:rPr>
              <a:t>consists of disjunctions in which each variable or its negation, but not both, appears only once.</a:t>
            </a:r>
          </a:p>
          <a:p>
            <a:pPr algn="l"/>
            <a:r>
              <a:rPr lang="en-US" sz="1800" b="0" i="0" u="none" strike="noStrike" baseline="0" dirty="0">
                <a:latin typeface="Times New Roman" panose="02020603050405020304" pitchFamily="18" charset="0"/>
              </a:rPr>
              <a:t>For a given formula, an equivalent formula consisting of conjunctions of the max-terms only is known as its </a:t>
            </a:r>
            <a:r>
              <a:rPr lang="en-US" sz="1800" b="1" i="1" u="none" strike="noStrike" baseline="0" dirty="0">
                <a:latin typeface="Times New Roman" panose="02020603050405020304" pitchFamily="18" charset="0"/>
              </a:rPr>
              <a:t>principle conjunctive normal form</a:t>
            </a:r>
            <a:r>
              <a:rPr lang="en-US" sz="1800" b="0" i="0" u="none" strike="noStrike" baseline="0" dirty="0">
                <a:latin typeface="Times New Roman" panose="02020603050405020304" pitchFamily="18" charset="0"/>
              </a:rPr>
              <a:t>. This normal form is also called the </a:t>
            </a:r>
            <a:r>
              <a:rPr lang="en-US" sz="1800" b="1" i="1" u="none" strike="noStrike" baseline="0" dirty="0">
                <a:latin typeface="Times New Roman" panose="02020603050405020304" pitchFamily="18" charset="0"/>
              </a:rPr>
              <a:t>product-of-sums </a:t>
            </a:r>
            <a:r>
              <a:rPr lang="en-IN" sz="1800" b="1" i="1" u="none" strike="noStrike" baseline="0" dirty="0">
                <a:latin typeface="Times New Roman" panose="02020603050405020304" pitchFamily="18" charset="0"/>
              </a:rPr>
              <a:t>canonical form</a:t>
            </a:r>
          </a:p>
          <a:p>
            <a:pPr algn="l"/>
            <a:endParaRPr lang="en-IN" sz="1800" b="1" i="1" dirty="0">
              <a:latin typeface="Times New Roman" panose="02020603050405020304" pitchFamily="18" charset="0"/>
            </a:endParaRPr>
          </a:p>
          <a:p>
            <a:pPr marL="0" indent="0" algn="l">
              <a:buNone/>
            </a:pPr>
            <a:r>
              <a:rPr lang="en-IN" sz="1800" b="1" i="1" dirty="0">
                <a:latin typeface="Times New Roman" panose="02020603050405020304" pitchFamily="18" charset="0"/>
              </a:rPr>
              <a:t>How to obtain PCNF and PDNF?</a:t>
            </a:r>
          </a:p>
          <a:p>
            <a:pPr marL="0" indent="0" algn="l">
              <a:buNone/>
            </a:pPr>
            <a:endParaRPr lang="en-IN" sz="1800" b="1" i="1" dirty="0">
              <a:latin typeface="Times New Roman" panose="02020603050405020304" pitchFamily="18" charset="0"/>
            </a:endParaRPr>
          </a:p>
          <a:p>
            <a:pPr marL="0" indent="0" algn="l">
              <a:buNone/>
            </a:pPr>
            <a:r>
              <a:rPr lang="fr-FR" sz="1800" b="1" i="1" u="none" strike="noStrike" baseline="0" dirty="0" err="1">
                <a:latin typeface="Times New Roman" panose="02020603050405020304" pitchFamily="18" charset="0"/>
              </a:rPr>
              <a:t>Obtain</a:t>
            </a:r>
            <a:r>
              <a:rPr lang="fr-FR" sz="1800" b="1" i="1" u="none" strike="noStrike" baseline="0" dirty="0">
                <a:latin typeface="Times New Roman" panose="02020603050405020304" pitchFamily="18" charset="0"/>
              </a:rPr>
              <a:t> PDNF of ¬P </a:t>
            </a:r>
            <a:r>
              <a:rPr lang="fr-FR" sz="1800" b="1" i="0" u="none" strike="noStrike" baseline="0" dirty="0">
                <a:latin typeface="Arial Unicode MS"/>
              </a:rPr>
              <a:t>∨ </a:t>
            </a:r>
            <a:r>
              <a:rPr lang="fr-FR" sz="1800" b="1" i="1" u="none" strike="noStrike" baseline="0" dirty="0">
                <a:latin typeface="Times New Roman" panose="02020603050405020304" pitchFamily="18" charset="0"/>
              </a:rPr>
              <a:t>Q </a:t>
            </a:r>
          </a:p>
          <a:p>
            <a:pPr marL="0" indent="0">
              <a:buNone/>
            </a:pPr>
            <a:r>
              <a:rPr lang="fr-FR" sz="1800" b="0" i="0" u="none" strike="noStrike" baseline="0" dirty="0">
                <a:latin typeface="Times New Roman" panose="02020603050405020304" pitchFamily="18" charset="0"/>
              </a:rPr>
              <a:t>(</a:t>
            </a:r>
            <a:r>
              <a:rPr lang="fr-FR" sz="1800" b="0" i="1" u="none" strike="noStrike" baseline="0" dirty="0">
                <a:latin typeface="Times New Roman" panose="02020603050405020304" pitchFamily="18" charset="0"/>
              </a:rPr>
              <a:t>¬P </a:t>
            </a:r>
            <a:r>
              <a:rPr lang="fr-FR" sz="1800" b="0" i="0" u="none" strike="noStrike" baseline="0" dirty="0">
                <a:latin typeface="Arial Unicode MS"/>
              </a:rPr>
              <a:t>∧ </a:t>
            </a:r>
            <a:r>
              <a:rPr lang="fr-FR" sz="1800" b="0" i="1" u="none" strike="noStrike" baseline="0" dirty="0">
                <a:latin typeface="Times New Roman" panose="02020603050405020304" pitchFamily="18" charset="0"/>
              </a:rPr>
              <a:t>T </a:t>
            </a:r>
            <a:r>
              <a:rPr lang="fr-FR" sz="1800" b="0" i="0" u="none" strike="noStrike" baseline="0" dirty="0">
                <a:latin typeface="Times New Roman" panose="02020603050405020304" pitchFamily="18" charset="0"/>
              </a:rPr>
              <a:t>) </a:t>
            </a:r>
            <a:r>
              <a:rPr lang="fr-FR" sz="1800" b="0" i="0" u="none" strike="noStrike" baseline="0" dirty="0">
                <a:latin typeface="Arial Unicode MS"/>
              </a:rPr>
              <a:t>∨ </a:t>
            </a:r>
            <a:r>
              <a:rPr lang="fr-FR" sz="1800" b="0" i="0" u="none" strike="noStrike" baseline="0" dirty="0">
                <a:latin typeface="Times New Roman" panose="02020603050405020304" pitchFamily="18" charset="0"/>
              </a:rPr>
              <a:t>(</a:t>
            </a:r>
            <a:r>
              <a:rPr lang="fr-FR" sz="1800" b="0" i="1" u="none" strike="noStrike" baseline="0" dirty="0">
                <a:latin typeface="Times New Roman" panose="02020603050405020304" pitchFamily="18" charset="0"/>
              </a:rPr>
              <a:t>Q </a:t>
            </a:r>
            <a:r>
              <a:rPr lang="fr-FR" sz="1800" b="0" i="0" u="none" strike="noStrike" baseline="0" dirty="0">
                <a:latin typeface="Arial Unicode MS"/>
              </a:rPr>
              <a:t>∧ </a:t>
            </a:r>
            <a:r>
              <a:rPr lang="fr-FR" sz="1800" b="0" i="1" u="none" strike="noStrike" baseline="0" dirty="0">
                <a:latin typeface="Times New Roman" panose="02020603050405020304" pitchFamily="18" charset="0"/>
              </a:rPr>
              <a:t>T </a:t>
            </a:r>
            <a:r>
              <a:rPr lang="fr-FR" sz="1800" b="0" i="0" u="none" strike="noStrike" baseline="0" dirty="0">
                <a:latin typeface="Times New Roman" panose="02020603050405020304" pitchFamily="18" charset="0"/>
              </a:rPr>
              <a:t>) [</a:t>
            </a:r>
            <a:r>
              <a:rPr lang="fr-FR" sz="1800" b="0" i="0" u="none" strike="noStrike" baseline="0" dirty="0">
                <a:latin typeface="Arial Unicode MS"/>
              </a:rPr>
              <a:t>∵ </a:t>
            </a:r>
            <a:r>
              <a:rPr lang="fr-FR" sz="1800" b="0" i="1" u="none" strike="noStrike" baseline="0" dirty="0">
                <a:latin typeface="Times New Roman" panose="02020603050405020304" pitchFamily="18" charset="0"/>
              </a:rPr>
              <a:t>A </a:t>
            </a:r>
            <a:r>
              <a:rPr lang="fr-FR" sz="1800" b="0" i="0" u="none" strike="noStrike" baseline="0" dirty="0">
                <a:latin typeface="Arial Unicode MS"/>
              </a:rPr>
              <a:t>∧ </a:t>
            </a:r>
            <a:r>
              <a:rPr lang="fr-FR" sz="1800" b="0" i="1" u="none" strike="noStrike" baseline="0" dirty="0">
                <a:latin typeface="Times New Roman" panose="02020603050405020304" pitchFamily="18" charset="0"/>
              </a:rPr>
              <a:t>T </a:t>
            </a:r>
            <a:r>
              <a:rPr lang="fr-FR" sz="1800" b="0" i="0" u="none" strike="noStrike" baseline="0" dirty="0">
                <a:latin typeface="Arial Unicode MS"/>
              </a:rPr>
              <a:t>⇔ </a:t>
            </a:r>
            <a:r>
              <a:rPr lang="fr-FR" sz="1800" b="0" i="1" u="none" strike="noStrike" baseline="0" dirty="0">
                <a:latin typeface="Times New Roman" panose="02020603050405020304" pitchFamily="18" charset="0"/>
              </a:rPr>
              <a:t>A</a:t>
            </a:r>
            <a:r>
              <a:rPr lang="fr-FR" sz="1800" b="0" i="0" u="none" strike="noStrike" baseline="0" dirty="0">
                <a:latin typeface="Times New Roman" panose="02020603050405020304" pitchFamily="18" charset="0"/>
              </a:rPr>
              <a:t>]</a:t>
            </a:r>
          </a:p>
          <a:p>
            <a:pPr marL="0" indent="0">
              <a:buNone/>
            </a:pP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T </a:t>
            </a:r>
            <a:r>
              <a:rPr lang="en-IN" sz="1800" b="0" i="0" u="none" strike="noStrike" baseline="0" dirty="0">
                <a:latin typeface="Times New Roman" panose="02020603050405020304" pitchFamily="18" charset="0"/>
              </a:rPr>
              <a:t>]</a:t>
            </a:r>
          </a:p>
          <a:p>
            <a:pPr marL="0" indent="0">
              <a:buNone/>
            </a:pP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Q</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 </a:t>
            </a:r>
            <a:r>
              <a:rPr lang="pt-BR" sz="1800" b="0" i="0" u="none" strike="noStrike" baseline="0" dirty="0">
                <a:latin typeface="Times New Roman" panose="02020603050405020304" pitchFamily="18" charset="0"/>
              </a:rPr>
              <a:t>[</a:t>
            </a:r>
            <a:r>
              <a:rPr lang="pt-BR" sz="1800" b="0" i="0" u="none" strike="noStrike" baseline="0" dirty="0">
                <a:latin typeface="Arial Unicode MS"/>
              </a:rPr>
              <a:t>∵ </a:t>
            </a:r>
            <a:r>
              <a:rPr lang="pt-BR" sz="1800" b="0" i="1" u="none" strike="noStrike" baseline="0" dirty="0">
                <a:latin typeface="Times New Roman" panose="02020603050405020304" pitchFamily="18" charset="0"/>
              </a:rPr>
              <a:t>P </a:t>
            </a:r>
            <a:r>
              <a:rPr lang="pt-BR" sz="1800" b="0" i="0" u="none" strike="noStrike" baseline="0" dirty="0">
                <a:latin typeface="Arial Unicode MS"/>
              </a:rPr>
              <a:t>∧ </a:t>
            </a:r>
            <a:r>
              <a:rPr lang="pt-BR" sz="1800" b="0" i="0" u="none" strike="noStrike" baseline="0" dirty="0">
                <a:latin typeface="Times New Roman" panose="02020603050405020304" pitchFamily="18" charset="0"/>
              </a:rPr>
              <a:t>(</a:t>
            </a:r>
            <a:r>
              <a:rPr lang="pt-BR" sz="1800" b="0" i="1" u="none" strike="noStrike" baseline="0" dirty="0">
                <a:latin typeface="Times New Roman" panose="02020603050405020304" pitchFamily="18" charset="0"/>
              </a:rPr>
              <a:t>Q</a:t>
            </a:r>
            <a:r>
              <a:rPr lang="pt-BR" sz="1800" b="0" i="0" u="none" strike="noStrike" baseline="0" dirty="0">
                <a:latin typeface="Arial Unicode MS"/>
              </a:rPr>
              <a:t>∨ </a:t>
            </a:r>
            <a:r>
              <a:rPr lang="pt-BR" sz="1800" b="0" i="1" u="none" strike="noStrike" baseline="0" dirty="0">
                <a:latin typeface="Times New Roman" panose="02020603050405020304" pitchFamily="18" charset="0"/>
              </a:rPr>
              <a:t>R</a:t>
            </a:r>
            <a:r>
              <a:rPr lang="pt-BR" sz="1800" b="0" i="0" u="none" strike="noStrike" baseline="0" dirty="0">
                <a:latin typeface="Times New Roman" panose="02020603050405020304" pitchFamily="18" charset="0"/>
              </a:rPr>
              <a:t>) </a:t>
            </a:r>
            <a:r>
              <a:rPr lang="pt-BR" sz="1800" b="0" i="0" u="none" strike="noStrike" baseline="0" dirty="0">
                <a:latin typeface="Arial Unicode MS"/>
              </a:rPr>
              <a:t>⇔ </a:t>
            </a:r>
            <a:r>
              <a:rPr lang="pt-BR" sz="1800" b="0" i="0" u="none" strike="noStrike" baseline="0" dirty="0">
                <a:latin typeface="Times New Roman" panose="02020603050405020304" pitchFamily="18" charset="0"/>
              </a:rPr>
              <a:t>(</a:t>
            </a:r>
            <a:r>
              <a:rPr lang="pt-BR" sz="1800" b="0" i="1" u="none" strike="noStrike" baseline="0" dirty="0">
                <a:latin typeface="Times New Roman" panose="02020603050405020304" pitchFamily="18" charset="0"/>
              </a:rPr>
              <a:t>P </a:t>
            </a:r>
            <a:r>
              <a:rPr lang="pt-BR" sz="1800" b="0" i="0" u="none" strike="noStrike" baseline="0" dirty="0">
                <a:latin typeface="Arial Unicode MS"/>
              </a:rPr>
              <a:t>∧ </a:t>
            </a:r>
            <a:r>
              <a:rPr lang="pt-BR" sz="1800" b="0" i="1" u="none" strike="noStrike" baseline="0" dirty="0">
                <a:latin typeface="Times New Roman" panose="02020603050405020304" pitchFamily="18" charset="0"/>
              </a:rPr>
              <a:t>Q</a:t>
            </a:r>
            <a:r>
              <a:rPr lang="pt-BR" sz="1800" b="0" i="0" u="none" strike="noStrike" baseline="0" dirty="0">
                <a:latin typeface="Times New Roman" panose="02020603050405020304" pitchFamily="18" charset="0"/>
              </a:rPr>
              <a:t>) </a:t>
            </a:r>
            <a:r>
              <a:rPr lang="pt-BR" sz="1800" b="0" i="0" u="none" strike="noStrike" baseline="0" dirty="0">
                <a:latin typeface="Arial Unicode MS"/>
              </a:rPr>
              <a:t>∨ </a:t>
            </a:r>
            <a:r>
              <a:rPr lang="pt-BR" sz="1800" b="0" i="0" u="none" strike="noStrike" baseline="0" dirty="0">
                <a:latin typeface="Times New Roman" panose="02020603050405020304" pitchFamily="18" charset="0"/>
              </a:rPr>
              <a:t>(</a:t>
            </a:r>
            <a:r>
              <a:rPr lang="pt-BR" sz="1800" b="0" i="1" u="none" strike="noStrike" baseline="0" dirty="0">
                <a:latin typeface="Times New Roman" panose="02020603050405020304" pitchFamily="18" charset="0"/>
              </a:rPr>
              <a:t>P </a:t>
            </a:r>
            <a:r>
              <a:rPr lang="pt-BR" sz="1800" b="0" i="0" u="none" strike="noStrike" baseline="0" dirty="0">
                <a:latin typeface="Arial Unicode MS"/>
              </a:rPr>
              <a:t>∧ </a:t>
            </a:r>
            <a:r>
              <a:rPr lang="pt-BR" sz="1800" b="0" i="1" u="none" strike="noStrike" baseline="0" dirty="0">
                <a:latin typeface="Times New Roman" panose="02020603050405020304" pitchFamily="18" charset="0"/>
              </a:rPr>
              <a:t>R</a:t>
            </a:r>
            <a:r>
              <a:rPr lang="pt-BR" sz="1800" b="0" i="0" u="none" strike="noStrike" baseline="0" dirty="0">
                <a:latin typeface="Times New Roman" panose="02020603050405020304" pitchFamily="18" charset="0"/>
              </a:rPr>
              <a:t>)</a:t>
            </a:r>
          </a:p>
          <a:p>
            <a:pPr marL="0" indent="0">
              <a:buNone/>
            </a:pP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0" u="none" strike="noStrike" baseline="0" dirty="0">
                <a:latin typeface="Times New Roman" panose="02020603050405020304" pitchFamily="18" charset="0"/>
              </a:rPr>
              <a:t>(</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r>
              <a:rPr lang="en-IN" sz="1800" b="0" i="0" u="none" strike="noStrike" baseline="0" dirty="0">
                <a:latin typeface="Times New Roman" panose="02020603050405020304" pitchFamily="18" charset="0"/>
              </a:rPr>
              <a:t>)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a:t>
            </a:r>
            <a:endParaRPr lang="en-IN" b="1" dirty="0"/>
          </a:p>
        </p:txBody>
      </p:sp>
    </p:spTree>
    <p:extLst>
      <p:ext uri="{BB962C8B-B14F-4D97-AF65-F5344CB8AC3E}">
        <p14:creationId xmlns:p14="http://schemas.microsoft.com/office/powerpoint/2010/main" val="127573343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60DB-631B-426E-9A94-F8635BB2ECBB}"/>
              </a:ext>
            </a:extLst>
          </p:cNvPr>
          <p:cNvSpPr>
            <a:spLocks noGrp="1"/>
          </p:cNvSpPr>
          <p:nvPr>
            <p:ph type="title"/>
          </p:nvPr>
        </p:nvSpPr>
        <p:spPr>
          <a:xfrm>
            <a:off x="2734719" y="162936"/>
            <a:ext cx="7729728" cy="1188720"/>
          </a:xfrm>
        </p:spPr>
        <p:txBody>
          <a:bodyPr/>
          <a:lstStyle/>
          <a:p>
            <a:r>
              <a:rPr lang="en-US" dirty="0"/>
              <a:t>Example of PDNF </a:t>
            </a:r>
            <a:endParaRPr lang="en-IN" dirty="0"/>
          </a:p>
        </p:txBody>
      </p:sp>
      <p:sp>
        <p:nvSpPr>
          <p:cNvPr id="3" name="Content Placeholder 2">
            <a:extLst>
              <a:ext uri="{FF2B5EF4-FFF2-40B4-BE49-F238E27FC236}">
                <a16:creationId xmlns:a16="http://schemas.microsoft.com/office/drawing/2014/main" id="{71C3D066-7AB3-41C3-B44A-85240185A57E}"/>
              </a:ext>
            </a:extLst>
          </p:cNvPr>
          <p:cNvSpPr>
            <a:spLocks noGrp="1"/>
          </p:cNvSpPr>
          <p:nvPr>
            <p:ph idx="1"/>
          </p:nvPr>
        </p:nvSpPr>
        <p:spPr>
          <a:xfrm>
            <a:off x="838200" y="1364974"/>
            <a:ext cx="10515600" cy="5327373"/>
          </a:xfrm>
        </p:spPr>
        <p:txBody>
          <a:bodyPr>
            <a:normAutofit/>
          </a:bodyPr>
          <a:lstStyle/>
          <a:p>
            <a:pPr marL="0" indent="0" algn="just">
              <a:buNone/>
            </a:pPr>
            <a:r>
              <a:rPr lang="en-US" dirty="0"/>
              <a:t>Ex.1 Obtain PDNF of the following expression</a:t>
            </a:r>
          </a:p>
          <a:p>
            <a:pPr marL="0" indent="0" algn="just">
              <a:buNone/>
            </a:pPr>
            <a:r>
              <a:rPr lang="en-IN" b="0" i="1" u="none" strike="noStrike" baseline="0" dirty="0"/>
              <a:t>P → </a:t>
            </a:r>
            <a:r>
              <a:rPr lang="en-IN" b="0" i="0" u="none" strike="noStrike" baseline="0" dirty="0"/>
              <a:t>((</a:t>
            </a:r>
            <a:r>
              <a:rPr lang="en-IN" b="0" i="1" u="none" strike="noStrike" baseline="0" dirty="0"/>
              <a:t>P → Q</a:t>
            </a:r>
            <a:r>
              <a:rPr lang="en-IN" b="0" i="0" u="none" strike="noStrike" baseline="0" dirty="0"/>
              <a:t>) ∧ </a:t>
            </a:r>
            <a:r>
              <a:rPr lang="en-IN" b="0" i="1" u="none" strike="noStrike" baseline="0" dirty="0"/>
              <a:t>¬</a:t>
            </a:r>
            <a:r>
              <a:rPr lang="en-IN" b="0" i="0" u="none" strike="noStrike" baseline="0" dirty="0"/>
              <a:t>(</a:t>
            </a:r>
            <a:r>
              <a:rPr lang="en-IN" b="0" i="1" u="none" strike="noStrike" baseline="0" dirty="0"/>
              <a:t>¬Q </a:t>
            </a:r>
            <a:r>
              <a:rPr lang="en-IN" b="0" i="0" u="none" strike="noStrike" baseline="0" dirty="0"/>
              <a:t>∨ </a:t>
            </a:r>
            <a:r>
              <a:rPr lang="en-IN" b="0" i="1" u="none" strike="noStrike" baseline="0" dirty="0"/>
              <a:t>¬P </a:t>
            </a:r>
            <a:r>
              <a:rPr lang="en-IN" b="0" i="0" u="none" strike="noStrike" baseline="0" dirty="0"/>
              <a:t>)). </a:t>
            </a:r>
          </a:p>
          <a:p>
            <a:pPr marL="0" indent="0" algn="just">
              <a:buNone/>
            </a:pPr>
            <a:endParaRPr lang="en-IN" b="0" i="0" u="none" strike="noStrike" baseline="0" dirty="0"/>
          </a:p>
          <a:p>
            <a:pPr marL="0" indent="0" algn="just">
              <a:buNone/>
            </a:pPr>
            <a:r>
              <a:rPr lang="en-US" b="0" i="0" u="none" strike="noStrike" baseline="0" dirty="0"/>
              <a:t>Solution: Using </a:t>
            </a:r>
            <a:r>
              <a:rPr lang="en-US" b="0" i="1" u="none" strike="noStrike" baseline="0" dirty="0"/>
              <a:t>P → Q</a:t>
            </a:r>
            <a:r>
              <a:rPr lang="en-US" b="0" i="0" u="none" strike="noStrike" baseline="0" dirty="0"/>
              <a:t>⇔ </a:t>
            </a:r>
            <a:r>
              <a:rPr lang="en-US" b="0" i="1" u="none" strike="noStrike" baseline="0" dirty="0"/>
              <a:t>¬P </a:t>
            </a:r>
            <a:r>
              <a:rPr lang="en-US" b="0" i="0" u="none" strike="noStrike" baseline="0" dirty="0"/>
              <a:t>∨ </a:t>
            </a:r>
            <a:r>
              <a:rPr lang="en-US" b="0" i="1" u="none" strike="noStrike" baseline="0" dirty="0"/>
              <a:t>Q </a:t>
            </a:r>
            <a:r>
              <a:rPr lang="en-US" b="0" i="0" u="none" strike="noStrike" baseline="0" dirty="0"/>
              <a:t>and De Morgan‘s law, we obtain</a:t>
            </a:r>
          </a:p>
          <a:p>
            <a:pPr marL="0" indent="0" algn="just">
              <a:buNone/>
            </a:pPr>
            <a:r>
              <a:rPr lang="en-IN" b="0" i="1" u="none" strike="noStrike" baseline="0" dirty="0"/>
              <a:t>P→ </a:t>
            </a:r>
            <a:r>
              <a:rPr lang="en-IN" b="0" i="0" u="none" strike="noStrike" baseline="0" dirty="0"/>
              <a:t>((</a:t>
            </a:r>
            <a:r>
              <a:rPr lang="en-IN" b="0" i="1" u="none" strike="noStrike" baseline="0" dirty="0"/>
              <a:t>P → Q</a:t>
            </a:r>
            <a:r>
              <a:rPr lang="en-IN" b="0" i="0" u="none" strike="noStrike" baseline="0" dirty="0"/>
              <a:t>) ∧ </a:t>
            </a:r>
            <a:r>
              <a:rPr lang="en-IN" b="0" i="1" u="none" strike="noStrike" baseline="0" dirty="0"/>
              <a:t>¬</a:t>
            </a:r>
            <a:r>
              <a:rPr lang="en-IN" b="0" i="0" u="none" strike="noStrike" baseline="0" dirty="0"/>
              <a:t>(</a:t>
            </a:r>
            <a:r>
              <a:rPr lang="en-IN" b="0" i="1" u="none" strike="noStrike" baseline="0" dirty="0"/>
              <a:t>¬Q </a:t>
            </a:r>
            <a:r>
              <a:rPr lang="en-IN" b="0" i="0" u="none" strike="noStrike" baseline="0" dirty="0"/>
              <a:t>∨ </a:t>
            </a:r>
            <a:r>
              <a:rPr lang="en-IN" b="0" i="1" u="none" strike="noStrike" baseline="0" dirty="0"/>
              <a:t>¬P </a:t>
            </a:r>
            <a:r>
              <a:rPr lang="en-IN" b="0" i="0" u="none" strike="noStrike" baseline="0" dirty="0"/>
              <a:t>)) </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 ∧ (</a:t>
            </a:r>
            <a:r>
              <a:rPr lang="en-IN" b="0" i="1" u="none" strike="noStrike" baseline="0" dirty="0"/>
              <a:t>Q </a:t>
            </a:r>
            <a:r>
              <a:rPr lang="en-IN" b="0" i="0" u="none" strike="noStrike" baseline="0" dirty="0"/>
              <a:t>∧ </a:t>
            </a:r>
            <a:r>
              <a:rPr lang="en-IN" b="0" i="1" u="none" strike="noStrike" baseline="0" dirty="0"/>
              <a:t>P </a:t>
            </a:r>
            <a:r>
              <a:rPr lang="en-IN" b="0" i="0" u="none" strike="noStrike" baseline="0" dirty="0"/>
              <a:t>))</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¬P </a:t>
            </a:r>
            <a:r>
              <a:rPr lang="en-IN" b="0" i="0" u="none" strike="noStrike" baseline="0" dirty="0"/>
              <a:t>∧ </a:t>
            </a:r>
            <a:r>
              <a:rPr lang="en-IN" b="0" i="1" u="none" strike="noStrike" baseline="0" dirty="0"/>
              <a:t>Q </a:t>
            </a:r>
            <a:r>
              <a:rPr lang="en-IN" b="0" i="0" u="none" strike="noStrike" baseline="0" dirty="0"/>
              <a:t>∧ </a:t>
            </a:r>
            <a:r>
              <a:rPr lang="en-IN" b="0" i="1" u="none" strike="noStrike" baseline="0" dirty="0"/>
              <a:t>P </a:t>
            </a:r>
            <a:r>
              <a:rPr lang="en-IN" b="0" i="0" u="none" strike="noStrike" baseline="0" dirty="0"/>
              <a:t>) ∨ (</a:t>
            </a:r>
            <a:r>
              <a:rPr lang="en-IN" b="0" i="1" u="none" strike="noStrike" baseline="0" dirty="0"/>
              <a:t>Q </a:t>
            </a:r>
            <a:r>
              <a:rPr lang="en-IN" b="0" i="0" u="none" strike="noStrike" baseline="0" dirty="0"/>
              <a:t>∧ </a:t>
            </a:r>
            <a:r>
              <a:rPr lang="en-IN" b="0" i="1" u="none" strike="noStrike" baseline="0" dirty="0"/>
              <a:t>Q </a:t>
            </a:r>
            <a:r>
              <a:rPr lang="en-IN" b="0" i="0" u="none" strike="noStrike" baseline="0" dirty="0"/>
              <a:t>∧ </a:t>
            </a:r>
            <a:r>
              <a:rPr lang="en-IN" b="0" i="1" u="none" strike="noStrike" baseline="0" dirty="0"/>
              <a:t>P </a:t>
            </a:r>
            <a:r>
              <a:rPr lang="en-IN" b="0" i="0" u="none" strike="noStrike" baseline="0" dirty="0"/>
              <a:t>)) </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F </a:t>
            </a:r>
            <a:r>
              <a:rPr lang="en-IN" b="0" i="0" u="none" strike="noStrike" baseline="0" dirty="0"/>
              <a:t>∨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T </a:t>
            </a:r>
            <a:r>
              <a:rPr lang="en-IN" b="0" i="0" u="none" strike="noStrike" baseline="0" dirty="0"/>
              <a:t>) ∨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 </a:t>
            </a:r>
            <a:r>
              <a:rPr lang="en-IN" b="0" i="1" u="none" strike="noStrike" baseline="0" dirty="0"/>
              <a:t>¬Q</a:t>
            </a:r>
            <a:r>
              <a:rPr lang="en-IN" b="0" i="0" u="none" strike="noStrike" baseline="0" dirty="0"/>
              <a:t>)) ∨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a:t>
            </a:r>
          </a:p>
          <a:p>
            <a:pPr marL="0" indent="0" algn="just">
              <a:buNone/>
            </a:pPr>
            <a:r>
              <a:rPr lang="en-IN" b="0" i="0" u="none" strike="noStrike" baseline="0" dirty="0"/>
              <a:t>⇔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 ∨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 ∨ (</a:t>
            </a:r>
            <a:r>
              <a:rPr lang="en-IN" b="0" i="1" u="none" strike="noStrike" baseline="0" dirty="0"/>
              <a:t>P </a:t>
            </a:r>
            <a:r>
              <a:rPr lang="en-IN" b="0" i="0" u="none" strike="noStrike" baseline="0" dirty="0"/>
              <a:t>∧ </a:t>
            </a:r>
            <a:r>
              <a:rPr lang="en-IN" b="0" i="1" u="none" strike="noStrike" baseline="0" dirty="0"/>
              <a:t>Q</a:t>
            </a:r>
            <a:r>
              <a:rPr lang="en-IN" b="0" i="0" u="none" strike="noStrike" baseline="0" dirty="0"/>
              <a:t>)</a:t>
            </a:r>
          </a:p>
          <a:p>
            <a:pPr marL="0" indent="0" algn="just">
              <a:buNone/>
            </a:pPr>
            <a:r>
              <a:rPr lang="en-US" b="0" i="0" u="none" strike="noStrike" baseline="0" dirty="0"/>
              <a:t>Hence (</a:t>
            </a:r>
            <a:r>
              <a:rPr lang="en-US" b="0" i="1" u="none" strike="noStrike" baseline="0" dirty="0"/>
              <a:t>P </a:t>
            </a:r>
            <a:r>
              <a:rPr lang="en-US" b="0" i="0" u="none" strike="noStrike" baseline="0" dirty="0"/>
              <a:t>∧ </a:t>
            </a:r>
            <a:r>
              <a:rPr lang="en-US" b="0" i="1" u="none" strike="noStrike" baseline="0" dirty="0"/>
              <a:t>Q</a:t>
            </a:r>
            <a:r>
              <a:rPr lang="en-US" b="0" i="0" u="none" strike="noStrike" baseline="0" dirty="0"/>
              <a:t>) ∨ (</a:t>
            </a:r>
            <a:r>
              <a:rPr lang="en-US" b="0" i="1" u="none" strike="noStrike" baseline="0" dirty="0"/>
              <a:t>¬P </a:t>
            </a:r>
            <a:r>
              <a:rPr lang="en-US" b="0" i="0" u="none" strike="noStrike" baseline="0" dirty="0"/>
              <a:t>∧ </a:t>
            </a:r>
            <a:r>
              <a:rPr lang="en-US" b="0" i="1" u="none" strike="noStrike" baseline="0" dirty="0"/>
              <a:t>Q</a:t>
            </a:r>
            <a:r>
              <a:rPr lang="en-US" b="0" i="0" u="none" strike="noStrike" baseline="0" dirty="0"/>
              <a:t>) ∨ (</a:t>
            </a:r>
            <a:r>
              <a:rPr lang="en-US" b="0" i="1" u="none" strike="noStrike" baseline="0" dirty="0"/>
              <a:t>¬P </a:t>
            </a:r>
            <a:r>
              <a:rPr lang="en-US" b="0" i="0" u="none" strike="noStrike" baseline="0" dirty="0"/>
              <a:t>∧ </a:t>
            </a:r>
            <a:r>
              <a:rPr lang="en-US" b="0" i="1" u="none" strike="noStrike" baseline="0" dirty="0"/>
              <a:t>¬Q</a:t>
            </a:r>
            <a:r>
              <a:rPr lang="en-US" b="0" i="0" u="none" strike="noStrike" baseline="0" dirty="0"/>
              <a:t>) is the required PDNF.</a:t>
            </a:r>
            <a:endParaRPr lang="en-IN" sz="1600" dirty="0"/>
          </a:p>
        </p:txBody>
      </p:sp>
    </p:spTree>
    <p:extLst>
      <p:ext uri="{BB962C8B-B14F-4D97-AF65-F5344CB8AC3E}">
        <p14:creationId xmlns:p14="http://schemas.microsoft.com/office/powerpoint/2010/main" val="278512957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8E50C-2082-4CA9-9229-57E803F7AF2E}"/>
              </a:ext>
            </a:extLst>
          </p:cNvPr>
          <p:cNvSpPr>
            <a:spLocks noGrp="1"/>
          </p:cNvSpPr>
          <p:nvPr>
            <p:ph type="title"/>
          </p:nvPr>
        </p:nvSpPr>
        <p:spPr>
          <a:xfrm>
            <a:off x="2231136" y="242448"/>
            <a:ext cx="7729728" cy="1188720"/>
          </a:xfrm>
        </p:spPr>
        <p:txBody>
          <a:bodyPr/>
          <a:lstStyle/>
          <a:p>
            <a:r>
              <a:rPr lang="en-US" dirty="0"/>
              <a:t>Example of PCNF</a:t>
            </a:r>
            <a:endParaRPr lang="en-IN" dirty="0"/>
          </a:p>
        </p:txBody>
      </p:sp>
      <p:sp>
        <p:nvSpPr>
          <p:cNvPr id="3" name="Content Placeholder 2">
            <a:extLst>
              <a:ext uri="{FF2B5EF4-FFF2-40B4-BE49-F238E27FC236}">
                <a16:creationId xmlns:a16="http://schemas.microsoft.com/office/drawing/2014/main" id="{76844225-4500-4329-BE29-0387F4A3B649}"/>
              </a:ext>
            </a:extLst>
          </p:cNvPr>
          <p:cNvSpPr>
            <a:spLocks noGrp="1"/>
          </p:cNvSpPr>
          <p:nvPr>
            <p:ph idx="1"/>
          </p:nvPr>
        </p:nvSpPr>
        <p:spPr>
          <a:xfrm>
            <a:off x="838200" y="1825625"/>
            <a:ext cx="10515600" cy="4773958"/>
          </a:xfrm>
        </p:spPr>
        <p:txBody>
          <a:bodyPr>
            <a:normAutofit fontScale="92500" lnSpcReduction="10000"/>
          </a:bodyPr>
          <a:lstStyle/>
          <a:p>
            <a:pPr marL="0" indent="0" algn="l">
              <a:buNone/>
            </a:pPr>
            <a:r>
              <a:rPr lang="en-US" sz="2400" b="0" i="0" u="none" strike="noStrike" baseline="0" dirty="0">
                <a:latin typeface="Times New Roman" panose="02020603050405020304" pitchFamily="18" charset="0"/>
              </a:rPr>
              <a:t>Example: Obtain the principal conjunctive normal form of the formula (¬P→R)</a:t>
            </a:r>
            <a:r>
              <a:rPr lang="en-US" sz="2400" b="0" i="0" u="none" strike="noStrike" baseline="0" dirty="0">
                <a:latin typeface="Cambria Math" panose="02040503050406030204" pitchFamily="18" charset="0"/>
              </a:rPr>
              <a:t>∧</a:t>
            </a:r>
            <a:r>
              <a:rPr lang="en-US" sz="2400" b="0" i="0" u="none" strike="noStrike" baseline="0" dirty="0">
                <a:latin typeface="Times New Roman" panose="02020603050405020304" pitchFamily="18" charset="0"/>
              </a:rPr>
              <a:t>(Q↔P)</a:t>
            </a:r>
          </a:p>
          <a:p>
            <a:pPr marL="0" indent="0" algn="l">
              <a:buNone/>
            </a:pPr>
            <a:r>
              <a:rPr lang="en-IN" sz="2400" b="0" i="0" u="none" strike="noStrike" baseline="0" dirty="0">
                <a:latin typeface="Times New Roman" panose="02020603050405020304" pitchFamily="18" charset="0"/>
              </a:rPr>
              <a:t>Solution:</a:t>
            </a:r>
          </a:p>
          <a:p>
            <a:pPr marL="0" indent="0" algn="l">
              <a:buNone/>
            </a:pP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1" u="none" strike="noStrike" baseline="0" dirty="0">
                <a:latin typeface="Times New Roman,Italic"/>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Q </a:t>
            </a:r>
            <a:r>
              <a:rPr lang="en-IN" sz="2400" b="0" i="1" u="none" strike="noStrike" baseline="0" dirty="0">
                <a:latin typeface="Times New Roman,Italic"/>
              </a:rPr>
              <a:t>↔ </a:t>
            </a:r>
            <a:r>
              <a:rPr lang="en-IN" sz="2400" b="0" i="1" u="none" strike="noStrike" baseline="0" dirty="0">
                <a:latin typeface="Times New Roman" panose="02020603050405020304" pitchFamily="18" charset="0"/>
              </a:rPr>
              <a:t>P </a:t>
            </a:r>
            <a:r>
              <a:rPr lang="en-IN" sz="2400" b="0" i="0" u="none" strike="noStrike" baseline="0" dirty="0">
                <a:latin typeface="Times New Roman" panose="02020603050405020304" pitchFamily="18" charset="0"/>
              </a:rPr>
              <a:t>)</a:t>
            </a:r>
          </a:p>
          <a:p>
            <a:pPr marL="0" indent="0" algn="l">
              <a:buNone/>
            </a:pP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Q </a:t>
            </a:r>
            <a:r>
              <a:rPr lang="en-IN" sz="2400" b="0" i="1" u="none" strike="noStrike" baseline="0" dirty="0">
                <a:latin typeface="Times New Roman,Italic"/>
              </a:rPr>
              <a:t>→ </a:t>
            </a:r>
            <a:r>
              <a:rPr lang="en-IN" sz="2400" b="0" i="1" u="none" strike="noStrike" baseline="0" dirty="0">
                <a:latin typeface="Times New Roman" panose="02020603050405020304" pitchFamily="18" charset="0"/>
              </a:rPr>
              <a:t>P </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1" u="none" strike="noStrike" baseline="0" dirty="0">
                <a:latin typeface="Times New Roman,Italic"/>
              </a:rPr>
              <a:t>→ </a:t>
            </a:r>
            <a:r>
              <a:rPr lang="en-IN" sz="2400" b="0" i="1" u="none" strike="noStrike" baseline="0" dirty="0">
                <a:latin typeface="Times New Roman" panose="02020603050405020304" pitchFamily="18" charset="0"/>
              </a:rPr>
              <a:t>Q</a:t>
            </a:r>
            <a:r>
              <a:rPr lang="en-IN" sz="2400" b="0" i="0" u="none" strike="noStrike" baseline="0" dirty="0">
                <a:latin typeface="Times New Roman" panose="02020603050405020304" pitchFamily="18" charset="0"/>
              </a:rPr>
              <a:t>)]</a:t>
            </a:r>
          </a:p>
          <a:p>
            <a:pPr marL="0" indent="0" algn="l">
              <a:buNone/>
            </a:pP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Times New Roman" panose="02020603050405020304" pitchFamily="18" charset="0"/>
              </a:rPr>
              <a:t>)]</a:t>
            </a:r>
          </a:p>
          <a:p>
            <a:pPr marL="0" indent="0" algn="l">
              <a:buNone/>
            </a:pP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R </a:t>
            </a:r>
            <a:r>
              <a:rPr lang="en-IN" sz="2400" b="0" i="0" u="none" strike="noStrike" baseline="0" dirty="0">
                <a:latin typeface="Arial Unicode MS"/>
              </a:rPr>
              <a:t>∨ </a:t>
            </a:r>
            <a:r>
              <a:rPr lang="en-IN" sz="2400" b="0" i="1" u="none" strike="noStrike" baseline="0" dirty="0">
                <a:latin typeface="Times New Roman" panose="02020603050405020304" pitchFamily="18" charset="0"/>
              </a:rPr>
              <a:t>F </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F </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Arial Unicode MS"/>
              </a:rPr>
              <a:t>∨ </a:t>
            </a:r>
            <a:r>
              <a:rPr lang="en-IN" sz="2400" b="0" i="1" u="none" strike="noStrike" baseline="0" dirty="0">
                <a:latin typeface="Times New Roman" panose="02020603050405020304" pitchFamily="18" charset="0"/>
              </a:rPr>
              <a:t>F </a:t>
            </a:r>
            <a:r>
              <a:rPr lang="en-IN" sz="2400" b="0" i="0" u="none" strike="noStrike" baseline="0" dirty="0">
                <a:latin typeface="Times New Roman" panose="02020603050405020304" pitchFamily="18" charset="0"/>
              </a:rPr>
              <a:t>)]</a:t>
            </a:r>
          </a:p>
          <a:p>
            <a:pPr marL="0" indent="0" algn="l">
              <a:buNone/>
            </a:pP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P </a:t>
            </a:r>
            <a:r>
              <a:rPr lang="pt-BR" sz="2400" b="0" i="0" u="none" strike="noStrike" baseline="0" dirty="0">
                <a:latin typeface="Arial Unicode MS"/>
              </a:rPr>
              <a:t>∨ </a:t>
            </a:r>
            <a:r>
              <a:rPr lang="pt-BR" sz="2400" b="0" i="1" u="none" strike="noStrike" baseline="0" dirty="0">
                <a:latin typeface="Times New Roman" panose="02020603050405020304" pitchFamily="18" charset="0"/>
              </a:rPr>
              <a:t>R</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Q</a:t>
            </a:r>
            <a:r>
              <a:rPr lang="pt-BR" sz="2400" b="0" i="0" u="none" strike="noStrike" baseline="0" dirty="0">
                <a:latin typeface="Arial Unicode MS"/>
              </a:rPr>
              <a:t>∧ </a:t>
            </a:r>
            <a:r>
              <a:rPr lang="pt-BR" sz="2400" b="0" i="1" u="none" strike="noStrike" baseline="0" dirty="0">
                <a:latin typeface="Times New Roman" panose="02020603050405020304" pitchFamily="18" charset="0"/>
              </a:rPr>
              <a:t>¬Q</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¬Q </a:t>
            </a:r>
            <a:r>
              <a:rPr lang="pt-BR" sz="2400" b="0" i="0" u="none" strike="noStrike" baseline="0" dirty="0">
                <a:latin typeface="Arial Unicode MS"/>
              </a:rPr>
              <a:t>∨ </a:t>
            </a:r>
            <a:r>
              <a:rPr lang="pt-BR" sz="2400" b="0" i="1" u="none" strike="noStrike" baseline="0" dirty="0">
                <a:latin typeface="Times New Roman" panose="02020603050405020304" pitchFamily="18" charset="0"/>
              </a:rPr>
              <a:t>P </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R </a:t>
            </a:r>
            <a:r>
              <a:rPr lang="pt-BR" sz="2400" b="0" i="0" u="none" strike="noStrike" baseline="0" dirty="0">
                <a:latin typeface="Arial Unicode MS"/>
              </a:rPr>
              <a:t>∧ </a:t>
            </a:r>
            <a:r>
              <a:rPr lang="pt-BR" sz="2400" b="0" i="1" u="none" strike="noStrike" baseline="0" dirty="0">
                <a:latin typeface="Times New Roman" panose="02020603050405020304" pitchFamily="18" charset="0"/>
              </a:rPr>
              <a:t>¬R</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¬P </a:t>
            </a:r>
            <a:r>
              <a:rPr lang="pt-BR" sz="2400" b="0" i="0" u="none" strike="noStrike" baseline="0" dirty="0">
                <a:latin typeface="Arial Unicode MS"/>
              </a:rPr>
              <a:t>∨ </a:t>
            </a:r>
            <a:r>
              <a:rPr lang="pt-BR" sz="2400" b="0" i="1" u="none" strike="noStrike" baseline="0" dirty="0">
                <a:latin typeface="Times New Roman" panose="02020603050405020304" pitchFamily="18" charset="0"/>
              </a:rPr>
              <a:t>Q</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R </a:t>
            </a:r>
            <a:r>
              <a:rPr lang="pt-BR" sz="2400" b="0" i="0" u="none" strike="noStrike" baseline="0" dirty="0">
                <a:latin typeface="Arial Unicode MS"/>
              </a:rPr>
              <a:t>∧ </a:t>
            </a:r>
            <a:r>
              <a:rPr lang="pt-BR" sz="2400" b="0" i="1" u="none" strike="noStrike" baseline="0" dirty="0">
                <a:latin typeface="Times New Roman" panose="02020603050405020304" pitchFamily="18" charset="0"/>
              </a:rPr>
              <a:t>¬R</a:t>
            </a:r>
            <a:r>
              <a:rPr lang="pt-BR" sz="2400" b="0" i="0" u="none" strike="noStrike" baseline="0" dirty="0">
                <a:latin typeface="Times New Roman" panose="02020603050405020304" pitchFamily="18" charset="0"/>
              </a:rPr>
              <a:t>)]</a:t>
            </a:r>
          </a:p>
          <a:p>
            <a:pPr marL="0" indent="0" algn="l">
              <a:buNone/>
            </a:pP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R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R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¬P </a:t>
            </a:r>
            <a:r>
              <a:rPr lang="pt-BR" sz="2400" b="0" i="0" u="none" strike="noStrike" baseline="0" dirty="0">
                <a:latin typeface="Arial Unicode MS"/>
              </a:rPr>
              <a:t>∨ </a:t>
            </a:r>
            <a:r>
              <a:rPr lang="pt-BR" sz="2400" b="0" i="1" u="none" strike="noStrike" baseline="0" dirty="0">
                <a:latin typeface="Times New Roman" panose="02020603050405020304" pitchFamily="18" charset="0"/>
              </a:rPr>
              <a:t>Q</a:t>
            </a:r>
            <a:r>
              <a:rPr lang="pt-BR" sz="2400" b="0" i="0" u="none" strike="noStrike" baseline="0" dirty="0">
                <a:latin typeface="Arial Unicode MS"/>
              </a:rPr>
              <a:t>∨ </a:t>
            </a:r>
            <a:r>
              <a:rPr lang="pt-BR" sz="2400" b="0" i="1" u="none" strike="noStrike" baseline="0" dirty="0">
                <a:latin typeface="Times New Roman" panose="02020603050405020304" pitchFamily="18" charset="0"/>
              </a:rPr>
              <a:t>R</a:t>
            </a:r>
            <a:r>
              <a:rPr lang="pt-BR" sz="2400" b="0" i="0" u="none" strike="noStrike" baseline="0" dirty="0">
                <a:latin typeface="Times New Roman" panose="02020603050405020304" pitchFamily="18" charset="0"/>
              </a:rPr>
              <a:t>) </a:t>
            </a:r>
            <a:r>
              <a:rPr lang="pt-BR" sz="2400" b="0" i="0" u="none" strike="noStrike" baseline="0" dirty="0">
                <a:latin typeface="Arial Unicode MS"/>
              </a:rPr>
              <a:t>∧ </a:t>
            </a:r>
            <a:r>
              <a:rPr lang="pt-BR" sz="2400" b="0" i="0" u="none" strike="noStrike" baseline="0" dirty="0">
                <a:latin typeface="Times New Roman" panose="02020603050405020304" pitchFamily="18" charset="0"/>
              </a:rPr>
              <a:t>(</a:t>
            </a:r>
            <a:r>
              <a:rPr lang="pt-BR" sz="2400" b="0" i="1" u="none" strike="noStrike" baseline="0" dirty="0">
                <a:latin typeface="Times New Roman" panose="02020603050405020304" pitchFamily="18" charset="0"/>
              </a:rPr>
              <a:t>¬P </a:t>
            </a:r>
            <a:r>
              <a:rPr lang="pt-BR" sz="2400" b="0" i="0" u="none" strike="noStrike" baseline="0" dirty="0">
                <a:latin typeface="Arial Unicode MS"/>
              </a:rPr>
              <a:t>∨ </a:t>
            </a:r>
            <a:r>
              <a:rPr lang="pt-BR" sz="2400" b="0" i="1" u="none" strike="noStrike" baseline="0" dirty="0">
                <a:latin typeface="Times New Roman" panose="02020603050405020304" pitchFamily="18" charset="0"/>
              </a:rPr>
              <a:t>Q</a:t>
            </a:r>
            <a:r>
              <a:rPr lang="pt-BR" sz="2400" b="0" i="0" u="none" strike="noStrike" baseline="0" dirty="0">
                <a:latin typeface="Arial Unicode MS"/>
              </a:rPr>
              <a:t>∨ </a:t>
            </a:r>
            <a:r>
              <a:rPr lang="pt-BR" sz="2400" b="0" i="1" u="none" strike="noStrike" baseline="0" dirty="0">
                <a:latin typeface="Times New Roman" panose="02020603050405020304" pitchFamily="18" charset="0"/>
              </a:rPr>
              <a:t>¬R</a:t>
            </a:r>
            <a:r>
              <a:rPr lang="pt-BR" sz="2400" b="0" i="0" u="none" strike="noStrike" baseline="0" dirty="0">
                <a:latin typeface="Times New Roman" panose="02020603050405020304" pitchFamily="18" charset="0"/>
              </a:rPr>
              <a:t>)</a:t>
            </a:r>
          </a:p>
          <a:p>
            <a:pPr marL="0" indent="0" algn="l">
              <a:buNone/>
            </a:pP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0" u="none" strike="noStrike" baseline="0" dirty="0">
                <a:latin typeface="Times New Roman" panose="02020603050405020304" pitchFamily="18" charset="0"/>
              </a:rPr>
              <a:t>(</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a:t>
            </a:r>
            <a:r>
              <a:rPr lang="en-IN" sz="2400" b="0" i="0" u="none" strike="noStrike" baseline="0" dirty="0">
                <a:latin typeface="Arial Unicode MS"/>
              </a:rPr>
              <a:t>∨ </a:t>
            </a:r>
            <a:r>
              <a:rPr lang="en-IN" sz="2400" b="0" i="1" u="none" strike="noStrike" baseline="0" dirty="0">
                <a:latin typeface="Times New Roman" panose="02020603050405020304" pitchFamily="18" charset="0"/>
              </a:rPr>
              <a:t>¬R</a:t>
            </a:r>
            <a:r>
              <a:rPr lang="en-IN" sz="2400" b="0" i="0" u="none" strike="noStrike" baseline="0" dirty="0">
                <a:latin typeface="Times New Roman" panose="02020603050405020304" pitchFamily="18" charset="0"/>
              </a:rPr>
              <a:t>)</a:t>
            </a:r>
          </a:p>
          <a:p>
            <a:pPr marL="0" indent="0" algn="l">
              <a:buNone/>
            </a:pPr>
            <a:r>
              <a:rPr lang="en-US" sz="2400" b="0" i="0" u="none" strike="noStrike" baseline="0" dirty="0">
                <a:latin typeface="Times New Roman" panose="02020603050405020304" pitchFamily="18" charset="0"/>
              </a:rPr>
              <a:t>which is required principal conjunctive normal form.</a:t>
            </a:r>
            <a:endParaRPr lang="en-IN" sz="3600" dirty="0"/>
          </a:p>
        </p:txBody>
      </p:sp>
    </p:spTree>
    <p:extLst>
      <p:ext uri="{BB962C8B-B14F-4D97-AF65-F5344CB8AC3E}">
        <p14:creationId xmlns:p14="http://schemas.microsoft.com/office/powerpoint/2010/main" val="160860002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E13B-841C-40A7-ADA8-A8AA1D12AD69}"/>
              </a:ext>
            </a:extLst>
          </p:cNvPr>
          <p:cNvSpPr>
            <a:spLocks noGrp="1"/>
          </p:cNvSpPr>
          <p:nvPr>
            <p:ph type="title"/>
          </p:nvPr>
        </p:nvSpPr>
        <p:spPr/>
        <p:txBody>
          <a:bodyPr/>
          <a:lstStyle/>
          <a:p>
            <a:r>
              <a:rPr lang="en-US" dirty="0"/>
              <a:t>Very important trick for conversions</a:t>
            </a:r>
            <a:endParaRPr lang="en-IN" dirty="0"/>
          </a:p>
        </p:txBody>
      </p:sp>
      <p:sp>
        <p:nvSpPr>
          <p:cNvPr id="3" name="Content Placeholder 2">
            <a:extLst>
              <a:ext uri="{FF2B5EF4-FFF2-40B4-BE49-F238E27FC236}">
                <a16:creationId xmlns:a16="http://schemas.microsoft.com/office/drawing/2014/main" id="{34F6544F-2E1D-42DD-B0D1-1984FE0E2476}"/>
              </a:ext>
            </a:extLst>
          </p:cNvPr>
          <p:cNvSpPr>
            <a:spLocks noGrp="1"/>
          </p:cNvSpPr>
          <p:nvPr>
            <p:ph idx="1"/>
          </p:nvPr>
        </p:nvSpPr>
        <p:spPr/>
        <p:txBody>
          <a:bodyPr>
            <a:normAutofit fontScale="70000" lnSpcReduction="20000"/>
          </a:bodyPr>
          <a:lstStyle/>
          <a:p>
            <a:pPr algn="just"/>
            <a:r>
              <a:rPr lang="en-US" sz="3200" b="1" i="1" u="none" strike="noStrike" baseline="0" dirty="0">
                <a:latin typeface="Times New Roman" panose="02020603050405020304" pitchFamily="18" charset="0"/>
              </a:rPr>
              <a:t>Note</a:t>
            </a:r>
            <a:r>
              <a:rPr lang="en-US" sz="3200" b="0" i="0" u="none" strike="noStrike" baseline="0" dirty="0">
                <a:latin typeface="Times New Roman" panose="02020603050405020304" pitchFamily="18" charset="0"/>
              </a:rPr>
              <a:t>: If the </a:t>
            </a:r>
            <a:r>
              <a:rPr lang="en-US" sz="3200" b="1" i="0" u="none" strike="noStrike" baseline="0" dirty="0">
                <a:latin typeface="Times New Roman" panose="02020603050405020304" pitchFamily="18" charset="0"/>
              </a:rPr>
              <a:t>principal disjunctive (conjunctive) normal form </a:t>
            </a:r>
            <a:r>
              <a:rPr lang="en-US" sz="3200" b="0" i="0" u="none" strike="noStrike" baseline="0" dirty="0">
                <a:latin typeface="Times New Roman" panose="02020603050405020304" pitchFamily="18" charset="0"/>
              </a:rPr>
              <a:t>of a given formula </a:t>
            </a:r>
            <a:r>
              <a:rPr lang="en-US" sz="3200" b="1" i="1" u="none" strike="noStrike" baseline="0" dirty="0">
                <a:latin typeface="Times New Roman" panose="02020603050405020304" pitchFamily="18" charset="0"/>
              </a:rPr>
              <a:t>A </a:t>
            </a:r>
            <a:r>
              <a:rPr lang="en-US" sz="3200" b="1" i="0" u="none" strike="noStrike" baseline="0" dirty="0">
                <a:latin typeface="Times New Roman" panose="02020603050405020304" pitchFamily="18" charset="0"/>
              </a:rPr>
              <a:t>containing </a:t>
            </a:r>
            <a:r>
              <a:rPr lang="en-US" sz="3200" b="1" i="1" u="none" strike="noStrike" baseline="0" dirty="0">
                <a:latin typeface="Times New Roman" panose="02020603050405020304" pitchFamily="18" charset="0"/>
              </a:rPr>
              <a:t>n </a:t>
            </a:r>
            <a:r>
              <a:rPr lang="en-US" sz="3200" b="1" i="0" u="none" strike="noStrike" baseline="0" dirty="0">
                <a:latin typeface="Times New Roman" panose="02020603050405020304" pitchFamily="18" charset="0"/>
              </a:rPr>
              <a:t>variables </a:t>
            </a:r>
            <a:r>
              <a:rPr lang="en-US" sz="3200" b="0" i="0" u="none" strike="noStrike" baseline="0" dirty="0">
                <a:latin typeface="Times New Roman" panose="02020603050405020304" pitchFamily="18" charset="0"/>
              </a:rPr>
              <a:t>is known, then the </a:t>
            </a:r>
            <a:r>
              <a:rPr lang="en-US" sz="3200" b="1" i="0" u="none" strike="noStrike" baseline="0" dirty="0">
                <a:latin typeface="Times New Roman" panose="02020603050405020304" pitchFamily="18" charset="0"/>
              </a:rPr>
              <a:t>principal disjunctive (conjunctive) normal form of </a:t>
            </a:r>
            <a:r>
              <a:rPr lang="en-US" sz="3200" b="1" i="1" u="none" strike="noStrike" baseline="0" dirty="0">
                <a:latin typeface="Times New Roman" panose="02020603050405020304" pitchFamily="18" charset="0"/>
              </a:rPr>
              <a:t>¬A </a:t>
            </a:r>
            <a:r>
              <a:rPr lang="en-US" sz="3200" b="0" i="0" u="none" strike="noStrike" baseline="0" dirty="0">
                <a:latin typeface="Times New Roman" panose="02020603050405020304" pitchFamily="18" charset="0"/>
              </a:rPr>
              <a:t>will consist of </a:t>
            </a:r>
            <a:r>
              <a:rPr lang="en-US" sz="3200" dirty="0">
                <a:latin typeface="Times New Roman" panose="02020603050405020304" pitchFamily="18" charset="0"/>
              </a:rPr>
              <a:t>t</a:t>
            </a:r>
            <a:r>
              <a:rPr lang="en-US" sz="3200" b="0" i="0" u="none" strike="noStrike" baseline="0" dirty="0">
                <a:latin typeface="Times New Roman" panose="02020603050405020304" pitchFamily="18" charset="0"/>
              </a:rPr>
              <a:t>he </a:t>
            </a:r>
            <a:r>
              <a:rPr lang="en-US" sz="3200" b="1" i="0" u="none" strike="noStrike" baseline="0" dirty="0">
                <a:latin typeface="Times New Roman" panose="02020603050405020304" pitchFamily="18" charset="0"/>
              </a:rPr>
              <a:t>disjunction (conjunction) of the remaining </a:t>
            </a:r>
            <a:r>
              <a:rPr lang="en-US" sz="3200" b="1" i="0" u="none" strike="noStrike" baseline="0" dirty="0" err="1">
                <a:latin typeface="Times New Roman" panose="02020603050405020304" pitchFamily="18" charset="0"/>
              </a:rPr>
              <a:t>minterms</a:t>
            </a:r>
            <a:r>
              <a:rPr lang="en-US" sz="3200" b="1" i="0" u="none" strike="noStrike" baseline="0" dirty="0">
                <a:latin typeface="Times New Roman" panose="02020603050405020304" pitchFamily="18" charset="0"/>
              </a:rPr>
              <a:t> (maxterms) </a:t>
            </a:r>
            <a:r>
              <a:rPr lang="en-US" sz="3200" b="0" i="0" u="none" strike="noStrike" baseline="0" dirty="0">
                <a:latin typeface="Times New Roman" panose="02020603050405020304" pitchFamily="18" charset="0"/>
              </a:rPr>
              <a:t>which do not appear in the principal disjunctive (conjunctive) normal form of </a:t>
            </a:r>
            <a:r>
              <a:rPr lang="en-US" sz="3200" b="0" i="1" u="none" strike="noStrike" baseline="0" dirty="0">
                <a:latin typeface="Times New Roman" panose="02020603050405020304" pitchFamily="18" charset="0"/>
              </a:rPr>
              <a:t>A</a:t>
            </a:r>
            <a:r>
              <a:rPr lang="en-US" sz="3200" b="0" i="0" u="none" strike="noStrike" baseline="0" dirty="0">
                <a:latin typeface="Times New Roman" panose="02020603050405020304" pitchFamily="18" charset="0"/>
              </a:rPr>
              <a:t>. </a:t>
            </a:r>
          </a:p>
          <a:p>
            <a:pPr algn="just"/>
            <a:r>
              <a:rPr lang="en-US" sz="3200" b="0" i="0" u="none" strike="noStrike" baseline="0" dirty="0">
                <a:latin typeface="Times New Roman" panose="02020603050405020304" pitchFamily="18" charset="0"/>
              </a:rPr>
              <a:t>From </a:t>
            </a:r>
            <a:r>
              <a:rPr lang="en-US" sz="3200" b="1" i="1" u="none" strike="noStrike" baseline="0" dirty="0">
                <a:latin typeface="Times New Roman" panose="02020603050405020304" pitchFamily="18" charset="0"/>
              </a:rPr>
              <a:t>A </a:t>
            </a:r>
            <a:r>
              <a:rPr lang="en-US" sz="3200" b="1" i="0" u="none" strike="noStrike" baseline="0" dirty="0">
                <a:latin typeface="Arial Unicode MS"/>
              </a:rPr>
              <a:t>⇔ </a:t>
            </a:r>
            <a:r>
              <a:rPr lang="en-US" sz="3200" b="1" i="1" u="none" strike="noStrike" baseline="0" dirty="0">
                <a:latin typeface="Times New Roman" panose="02020603050405020304" pitchFamily="18" charset="0"/>
              </a:rPr>
              <a:t>¬¬A</a:t>
            </a:r>
            <a:r>
              <a:rPr lang="en-US" sz="3200" b="0" i="1" u="none" strike="noStrike" baseline="0" dirty="0">
                <a:latin typeface="Times New Roman" panose="02020603050405020304" pitchFamily="18" charset="0"/>
              </a:rPr>
              <a:t> </a:t>
            </a:r>
            <a:r>
              <a:rPr lang="en-US" sz="3200" b="0" i="0" u="none" strike="noStrike" baseline="0" dirty="0">
                <a:latin typeface="Times New Roman" panose="02020603050405020304" pitchFamily="18" charset="0"/>
              </a:rPr>
              <a:t>one can obtain the principal conjunctive (disjunctive) normal form of </a:t>
            </a:r>
            <a:r>
              <a:rPr lang="en-US" sz="3200" b="0" i="1" u="none" strike="noStrike" baseline="0" dirty="0">
                <a:latin typeface="Times New Roman" panose="02020603050405020304" pitchFamily="18" charset="0"/>
              </a:rPr>
              <a:t>A </a:t>
            </a:r>
            <a:r>
              <a:rPr lang="en-US" sz="3200" b="0" i="0" u="none" strike="noStrike" baseline="0" dirty="0">
                <a:latin typeface="Times New Roman" panose="02020603050405020304" pitchFamily="18" charset="0"/>
              </a:rPr>
              <a:t>by repeated applications of De Morgan‘s laws to the principal disjunctive (conjunctive) normal form of </a:t>
            </a:r>
            <a:r>
              <a:rPr lang="en-US" sz="3200" b="0" i="1" u="none" strike="noStrike" baseline="0" dirty="0">
                <a:latin typeface="Times New Roman" panose="02020603050405020304" pitchFamily="18" charset="0"/>
              </a:rPr>
              <a:t>¬A</a:t>
            </a:r>
            <a:r>
              <a:rPr lang="en-US" sz="3200" b="0" i="0" u="none" strike="noStrike" baseline="0" dirty="0">
                <a:latin typeface="Times New Roman" panose="02020603050405020304" pitchFamily="18" charset="0"/>
              </a:rPr>
              <a:t>.</a:t>
            </a:r>
            <a:endParaRPr lang="en-IN" sz="4400" dirty="0"/>
          </a:p>
        </p:txBody>
      </p:sp>
    </p:spTree>
    <p:extLst>
      <p:ext uri="{BB962C8B-B14F-4D97-AF65-F5344CB8AC3E}">
        <p14:creationId xmlns:p14="http://schemas.microsoft.com/office/powerpoint/2010/main" val="2305108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59F86-E163-4BA5-8552-A7E2BAEE915D}"/>
              </a:ext>
            </a:extLst>
          </p:cNvPr>
          <p:cNvSpPr>
            <a:spLocks noGrp="1"/>
          </p:cNvSpPr>
          <p:nvPr>
            <p:ph type="title"/>
          </p:nvPr>
        </p:nvSpPr>
        <p:spPr>
          <a:xfrm>
            <a:off x="838200" y="1"/>
            <a:ext cx="10515600" cy="795130"/>
          </a:xfrm>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48F405A6-62D5-42B4-832F-6FB369D08A4A}"/>
              </a:ext>
            </a:extLst>
          </p:cNvPr>
          <p:cNvSpPr>
            <a:spLocks noGrp="1"/>
          </p:cNvSpPr>
          <p:nvPr>
            <p:ph idx="1"/>
          </p:nvPr>
        </p:nvSpPr>
        <p:spPr>
          <a:xfrm>
            <a:off x="838200" y="887896"/>
            <a:ext cx="10515600" cy="5970104"/>
          </a:xfrm>
        </p:spPr>
        <p:txBody>
          <a:bodyPr>
            <a:normAutofit lnSpcReduction="10000"/>
          </a:bodyPr>
          <a:lstStyle/>
          <a:p>
            <a:pPr marL="0" indent="0" algn="l">
              <a:buNone/>
            </a:pPr>
            <a:r>
              <a:rPr lang="en-US" sz="2000" b="0" i="0" u="none" strike="noStrike" baseline="0" dirty="0"/>
              <a:t>Find the PDNF form PCNF of </a:t>
            </a:r>
            <a:r>
              <a:rPr lang="en-US" sz="2000" b="0" i="1" u="none" strike="noStrike" baseline="0" dirty="0"/>
              <a:t>S </a:t>
            </a:r>
            <a:r>
              <a:rPr lang="en-US" sz="2000" b="0" i="0" u="none" strike="noStrike" baseline="0" dirty="0"/>
              <a:t>: </a:t>
            </a:r>
            <a:r>
              <a:rPr lang="en-US" sz="2000" b="0" i="1" u="none" strike="noStrike" baseline="0" dirty="0"/>
              <a:t>P </a:t>
            </a:r>
            <a:r>
              <a:rPr lang="en-US" sz="2000" b="0" i="0" u="none" strike="noStrike" baseline="0" dirty="0"/>
              <a:t>∨ (</a:t>
            </a:r>
            <a:r>
              <a:rPr lang="en-US" sz="2000" b="0" i="1" u="none" strike="noStrike" baseline="0" dirty="0"/>
              <a:t>¬P → </a:t>
            </a:r>
            <a:r>
              <a:rPr lang="en-US" sz="2000" b="0" i="0" u="none" strike="noStrike" baseline="0" dirty="0"/>
              <a:t>(</a:t>
            </a:r>
            <a:r>
              <a:rPr lang="en-US" sz="2000" b="0" i="1" u="none" strike="noStrike" baseline="0" dirty="0"/>
              <a:t>Q</a:t>
            </a:r>
            <a:r>
              <a:rPr lang="en-US" sz="2000" b="0" i="0" u="none" strike="noStrike" baseline="0" dirty="0"/>
              <a:t>∨ (</a:t>
            </a:r>
            <a:r>
              <a:rPr lang="en-US" sz="2000" b="0" i="1" u="none" strike="noStrike" baseline="0" dirty="0"/>
              <a:t>¬Q → R</a:t>
            </a:r>
            <a:r>
              <a:rPr lang="en-US" sz="2000" b="0" i="0" u="none" strike="noStrike" baseline="0" dirty="0"/>
              <a:t>)))</a:t>
            </a:r>
            <a:r>
              <a:rPr lang="en-US" sz="2000" b="0" i="1" u="none" strike="noStrike" baseline="0" dirty="0"/>
              <a:t>.</a:t>
            </a:r>
          </a:p>
          <a:p>
            <a:pPr marL="0" indent="0" algn="l">
              <a:buNone/>
            </a:pPr>
            <a:r>
              <a:rPr lang="en-IN" sz="2000" b="0" i="0" u="none" strike="noStrike" baseline="0" dirty="0"/>
              <a:t>Solution:</a:t>
            </a:r>
          </a:p>
          <a:p>
            <a:pPr marL="0" indent="0" algn="l">
              <a:buNone/>
            </a:pP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¬P → </a:t>
            </a:r>
            <a:r>
              <a:rPr lang="en-IN" sz="2000" b="0" i="0" u="none" strike="noStrike" baseline="0" dirty="0"/>
              <a:t>(</a:t>
            </a:r>
            <a:r>
              <a:rPr lang="en-IN" sz="2000" b="0" i="1" u="none" strike="noStrike" baseline="0" dirty="0"/>
              <a:t>Q </a:t>
            </a:r>
            <a:r>
              <a:rPr lang="en-IN" sz="2000" b="0" i="0" u="none" strike="noStrike" baseline="0" dirty="0"/>
              <a:t>∨ (</a:t>
            </a:r>
            <a:r>
              <a:rPr lang="en-IN" sz="2000" b="0" i="1" u="none" strike="noStrike" baseline="0" dirty="0"/>
              <a:t>¬Q → R</a:t>
            </a:r>
            <a:r>
              <a:rPr lang="en-IN" sz="2000" b="0" i="0" u="none" strike="noStrike" baseline="0" dirty="0"/>
              <a:t>)))</a:t>
            </a:r>
          </a:p>
          <a:p>
            <a:pPr marL="0" indent="0" algn="l">
              <a:buNone/>
            </a:pP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a:t>
            </a:r>
            <a:r>
              <a:rPr lang="en-IN" sz="2000" b="0" i="0" u="none" strike="noStrike" baseline="0" dirty="0"/>
              <a:t>(</a:t>
            </a:r>
            <a:r>
              <a:rPr lang="en-IN" sz="2000" b="0" i="1" u="none" strike="noStrike" baseline="0" dirty="0"/>
              <a:t>¬P </a:t>
            </a:r>
            <a:r>
              <a:rPr lang="en-IN" sz="2000" b="0" i="0" u="none" strike="noStrike" baseline="0" dirty="0"/>
              <a:t>) ∨ (</a:t>
            </a:r>
            <a:r>
              <a:rPr lang="en-IN" sz="2000" b="0" i="1" u="none" strike="noStrike" baseline="0" dirty="0"/>
              <a:t>Q </a:t>
            </a:r>
            <a:r>
              <a:rPr lang="en-IN" sz="2000" b="0" i="0" u="none" strike="noStrike" baseline="0" dirty="0"/>
              <a:t>∨ (</a:t>
            </a:r>
            <a:r>
              <a:rPr lang="en-IN" sz="2000" b="0" i="1" u="none" strike="noStrike" baseline="0" dirty="0"/>
              <a:t>¬</a:t>
            </a:r>
            <a:r>
              <a:rPr lang="en-IN" sz="2000" b="0" i="0" u="none" strike="noStrike" baseline="0" dirty="0"/>
              <a:t>(</a:t>
            </a:r>
            <a:r>
              <a:rPr lang="en-IN" sz="2000" b="0" i="1" u="none" strike="noStrike" baseline="0" dirty="0"/>
              <a:t>¬Q</a:t>
            </a:r>
            <a:r>
              <a:rPr lang="en-IN" sz="2000" b="0" i="0" u="none" strike="noStrike" baseline="0" dirty="0"/>
              <a:t>) ∨ </a:t>
            </a:r>
            <a:r>
              <a:rPr lang="en-IN" sz="2000" b="0" i="1" u="none" strike="noStrike" baseline="0" dirty="0"/>
              <a:t>R</a:t>
            </a:r>
            <a:r>
              <a:rPr lang="en-IN" sz="2000" b="0" i="0" u="none" strike="noStrike" baseline="0" dirty="0"/>
              <a:t>))</a:t>
            </a:r>
          </a:p>
          <a:p>
            <a:pPr marL="0" indent="0" algn="l">
              <a:buNone/>
            </a:pP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a:t>
            </a:r>
          </a:p>
          <a:p>
            <a:pPr marL="0" indent="0" algn="l">
              <a:buNone/>
            </a:pP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a:t>
            </a:r>
          </a:p>
          <a:p>
            <a:pPr marL="0" indent="0" algn="l">
              <a:buNone/>
            </a:pP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p>
          <a:p>
            <a:pPr marL="0" indent="0" algn="l">
              <a:buNone/>
            </a:pPr>
            <a:r>
              <a:rPr lang="en-IN" sz="2000" b="0" i="0" u="none" strike="noStrike" baseline="0" dirty="0"/>
              <a:t>which is the </a:t>
            </a:r>
            <a:r>
              <a:rPr lang="en-IN" sz="2000" b="1" i="0" u="none" strike="noStrike" baseline="0" dirty="0"/>
              <a:t>PCNF.</a:t>
            </a:r>
          </a:p>
          <a:p>
            <a:pPr algn="l"/>
            <a:endParaRPr lang="en-US" sz="2000" b="0" i="0" u="none" strike="noStrike" baseline="0" dirty="0"/>
          </a:p>
          <a:p>
            <a:pPr marL="0" indent="0" algn="l">
              <a:buNone/>
            </a:pPr>
            <a:r>
              <a:rPr lang="en-US" sz="2000" b="0" i="0" u="none" strike="noStrike" baseline="0" dirty="0"/>
              <a:t>Now </a:t>
            </a:r>
            <a:r>
              <a:rPr lang="en-US" sz="2000" b="1" i="0" u="none" strike="noStrike" baseline="0" dirty="0"/>
              <a:t>PCNF of </a:t>
            </a:r>
            <a:r>
              <a:rPr lang="en-US" sz="2000" b="1" i="1" u="none" strike="noStrike" baseline="0" dirty="0"/>
              <a:t>¬S </a:t>
            </a:r>
            <a:r>
              <a:rPr lang="en-US" sz="2000" b="0" i="0" u="none" strike="noStrike" baseline="0" dirty="0"/>
              <a:t>is the conjunction of remaining maxterms, so</a:t>
            </a:r>
          </a:p>
          <a:p>
            <a:pPr marL="0" indent="0" algn="l">
              <a:buNone/>
            </a:pPr>
            <a:r>
              <a:rPr lang="en-IN" sz="2000" b="0" i="0" u="none" strike="noStrike" baseline="0" dirty="0"/>
              <a:t>PCNF of </a:t>
            </a:r>
            <a:r>
              <a:rPr lang="en-IN" sz="2000" b="0" i="1" u="none" strike="noStrike" baseline="0" dirty="0"/>
              <a:t>¬S </a:t>
            </a: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a:t>
            </a:r>
            <a:r>
              <a:rPr lang="pt-BR" sz="2000" b="0" i="0" u="none" strike="noStrike" baseline="0" dirty="0"/>
              <a:t>∧ (</a:t>
            </a:r>
            <a:r>
              <a:rPr lang="pt-BR" sz="2000" b="0" i="1" u="none" strike="noStrike" baseline="0" dirty="0"/>
              <a:t>¬P </a:t>
            </a:r>
            <a:r>
              <a:rPr lang="pt-BR" sz="2000" b="0" i="0" u="none" strike="noStrike" baseline="0" dirty="0"/>
              <a:t>∨ </a:t>
            </a:r>
            <a:r>
              <a:rPr lang="pt-BR" sz="2000" b="0" i="1" u="none" strike="noStrike" baseline="0" dirty="0"/>
              <a:t>Q</a:t>
            </a:r>
            <a:r>
              <a:rPr lang="pt-BR" sz="2000" b="0" i="0" u="none" strike="noStrike" baseline="0" dirty="0"/>
              <a:t>∨ </a:t>
            </a:r>
            <a:r>
              <a:rPr lang="pt-BR" sz="2000" b="0" i="1" u="none" strike="noStrike" baseline="0" dirty="0"/>
              <a:t>¬R</a:t>
            </a:r>
            <a:r>
              <a:rPr lang="pt-BR" sz="2000" b="0" i="0" u="none" strike="noStrike" baseline="0" dirty="0"/>
              <a:t>) ∧ (</a:t>
            </a:r>
            <a:r>
              <a:rPr lang="pt-BR" sz="2000" b="0" i="1" u="none" strike="noStrike" baseline="0" dirty="0"/>
              <a:t>¬P </a:t>
            </a:r>
            <a:r>
              <a:rPr lang="pt-BR" sz="2000" b="0" i="0" u="none" strike="noStrike" baseline="0" dirty="0"/>
              <a:t>∨ </a:t>
            </a:r>
            <a:r>
              <a:rPr lang="pt-BR" sz="2000" b="0" i="1" u="none" strike="noStrike" baseline="0" dirty="0"/>
              <a:t>¬Q </a:t>
            </a:r>
            <a:r>
              <a:rPr lang="pt-BR" sz="2000" b="0" i="0" u="none" strike="noStrike" baseline="0" dirty="0"/>
              <a:t>∨ </a:t>
            </a:r>
            <a:r>
              <a:rPr lang="pt-BR" sz="2000" b="0" i="1" u="none" strike="noStrike" baseline="0" dirty="0"/>
              <a:t>R</a:t>
            </a:r>
            <a:r>
              <a:rPr lang="pt-BR" sz="2000" b="0" i="0" u="none" strike="noStrike" baseline="0" dirty="0"/>
              <a:t>) ∧ (</a:t>
            </a:r>
            <a:r>
              <a:rPr lang="pt-BR" sz="2000" b="0" i="1" u="none" strike="noStrike" baseline="0" dirty="0"/>
              <a:t>¬P </a:t>
            </a:r>
            <a:r>
              <a:rPr lang="pt-BR" sz="2000" b="0" i="0" u="none" strike="noStrike" baseline="0" dirty="0"/>
              <a:t>∨ </a:t>
            </a:r>
            <a:r>
              <a:rPr lang="pt-BR" sz="2000" b="0" i="1" u="none" strike="noStrike" baseline="0" dirty="0"/>
              <a:t>¬Q </a:t>
            </a:r>
            <a:r>
              <a:rPr lang="pt-BR" sz="2000" b="0" i="0" u="none" strike="noStrike" baseline="0" dirty="0"/>
              <a:t>∨ </a:t>
            </a:r>
            <a:r>
              <a:rPr lang="pt-BR" sz="2000" b="0" i="1" u="none" strike="noStrike" baseline="0" dirty="0"/>
              <a:t>¬R</a:t>
            </a:r>
            <a:r>
              <a:rPr lang="pt-BR" sz="2000" b="0" i="0" u="none" strike="noStrike" baseline="0" dirty="0"/>
              <a:t>)</a:t>
            </a:r>
          </a:p>
          <a:p>
            <a:pPr marL="0" indent="0" algn="l">
              <a:buNone/>
            </a:pPr>
            <a:r>
              <a:rPr lang="en-US" sz="2000" b="1" i="0" u="none" strike="noStrike" baseline="0" dirty="0"/>
              <a:t>Hence the PDNF of </a:t>
            </a:r>
            <a:r>
              <a:rPr lang="en-US" sz="2000" b="1" i="1" u="none" strike="noStrike" baseline="0" dirty="0"/>
              <a:t>S </a:t>
            </a:r>
            <a:r>
              <a:rPr lang="en-US" sz="2000" b="1" i="0" u="none" strike="noStrike" baseline="0" dirty="0"/>
              <a:t>is</a:t>
            </a:r>
          </a:p>
          <a:p>
            <a:pPr marL="0" indent="0" algn="l">
              <a:buNone/>
            </a:pPr>
            <a:r>
              <a:rPr lang="en-IN" sz="2000" b="1" i="1" u="none" strike="noStrike" baseline="0" dirty="0"/>
              <a:t>¬</a:t>
            </a:r>
            <a:r>
              <a:rPr lang="en-IN" sz="2000" b="1" i="0" u="none" strike="noStrike" baseline="0" dirty="0"/>
              <a:t>(PCNF of </a:t>
            </a:r>
            <a:r>
              <a:rPr lang="en-IN" sz="2000" b="1" i="1" u="none" strike="noStrike" baseline="0" dirty="0"/>
              <a:t>¬S</a:t>
            </a:r>
            <a:r>
              <a:rPr lang="en-IN" sz="2000" b="1" i="0" u="none" strike="noStrike" baseline="0" dirty="0"/>
              <a:t>) </a:t>
            </a:r>
            <a:r>
              <a:rPr lang="en-IN" sz="2000" b="0" i="0" u="none" strike="noStrike" baseline="0" dirty="0"/>
              <a:t>: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 (</a:t>
            </a:r>
            <a:r>
              <a:rPr lang="en-IN" sz="2000" b="0" i="1" u="none" strike="noStrike" baseline="0" dirty="0"/>
              <a:t>P </a:t>
            </a:r>
            <a:r>
              <a:rPr lang="en-IN" sz="2000" b="0" i="0" u="none" strike="noStrike" baseline="0" dirty="0"/>
              <a:t>∧ </a:t>
            </a:r>
            <a:r>
              <a:rPr lang="en-IN" sz="2000" b="0" i="1" u="none" strike="noStrike" baseline="0" dirty="0"/>
              <a:t>¬Q </a:t>
            </a:r>
            <a:r>
              <a:rPr lang="en-IN" sz="2000" b="0" i="0" u="none" strike="noStrike" baseline="0" dirty="0"/>
              <a:t>∧ </a:t>
            </a:r>
            <a:r>
              <a:rPr lang="en-IN" sz="2000" b="0" i="1" u="none" strike="noStrike" baseline="0" dirty="0"/>
              <a:t>¬R</a:t>
            </a:r>
            <a:r>
              <a:rPr lang="en-IN" sz="2000" b="0" i="0" u="none" strike="noStrike" baseline="0" dirty="0"/>
              <a:t>) </a:t>
            </a:r>
            <a:r>
              <a:rPr lang="pt-BR" sz="2000" b="0" i="0" u="none" strike="noStrike" baseline="0" dirty="0"/>
              <a:t>∨ ( </a:t>
            </a:r>
            <a:r>
              <a:rPr lang="pt-BR" sz="2000" b="0" i="1" u="none" strike="noStrike" baseline="0" dirty="0"/>
              <a:t>P </a:t>
            </a:r>
            <a:r>
              <a:rPr lang="pt-BR" sz="2000" b="0" i="0" u="none" strike="noStrike" baseline="0" dirty="0"/>
              <a:t>∧ </a:t>
            </a:r>
            <a:r>
              <a:rPr lang="pt-BR" sz="2000" b="0" i="1" u="none" strike="noStrike" baseline="0" dirty="0"/>
              <a:t>¬Q </a:t>
            </a:r>
            <a:r>
              <a:rPr lang="pt-BR" sz="2000" b="0" i="0" u="none" strike="noStrike" baseline="0" dirty="0"/>
              <a:t>∧ </a:t>
            </a:r>
            <a:r>
              <a:rPr lang="pt-BR" sz="2000" b="0" i="1" u="none" strike="noStrike" baseline="0" dirty="0"/>
              <a:t>R</a:t>
            </a:r>
            <a:r>
              <a:rPr lang="pt-BR" sz="2000" b="0" i="0" u="none" strike="noStrike" baseline="0" dirty="0"/>
              <a:t>) ∨ (</a:t>
            </a:r>
            <a:r>
              <a:rPr lang="pt-BR" sz="2000" b="0" i="1" u="none" strike="noStrike" baseline="0" dirty="0"/>
              <a:t>P </a:t>
            </a:r>
            <a:r>
              <a:rPr lang="pt-BR" sz="2000" b="0" i="0" u="none" strike="noStrike" baseline="0" dirty="0"/>
              <a:t>∧ </a:t>
            </a:r>
            <a:r>
              <a:rPr lang="pt-BR" sz="2000" b="0" i="1" u="none" strike="noStrike" baseline="0" dirty="0"/>
              <a:t>Q</a:t>
            </a:r>
            <a:r>
              <a:rPr lang="pt-BR" sz="2000" b="0" i="0" u="none" strike="noStrike" baseline="0" dirty="0"/>
              <a:t>∧ </a:t>
            </a:r>
            <a:r>
              <a:rPr lang="pt-BR" sz="2000" b="0" i="1" u="none" strike="noStrike" baseline="0" dirty="0"/>
              <a:t>¬R</a:t>
            </a:r>
            <a:r>
              <a:rPr lang="pt-BR" sz="2000" b="0" i="0" u="none" strike="noStrike" baseline="0" dirty="0"/>
              <a:t>) ∨ (</a:t>
            </a:r>
            <a:r>
              <a:rPr lang="pt-BR" sz="2000" b="0" i="1" u="none" strike="noStrike" baseline="0" dirty="0"/>
              <a:t>P </a:t>
            </a:r>
            <a:r>
              <a:rPr lang="pt-BR" sz="2000" b="0" i="0" u="none" strike="noStrike" baseline="0" dirty="0"/>
              <a:t>∧ </a:t>
            </a:r>
            <a:r>
              <a:rPr lang="pt-BR" sz="2000" b="0" i="1" u="none" strike="noStrike" baseline="0" dirty="0"/>
              <a:t>Q</a:t>
            </a:r>
            <a:r>
              <a:rPr lang="pt-BR" sz="2000" b="0" i="0" u="none" strike="noStrike" baseline="0" dirty="0"/>
              <a:t>∧ </a:t>
            </a:r>
            <a:r>
              <a:rPr lang="pt-BR" sz="2000" b="0" i="1" u="none" strike="noStrike" baseline="0" dirty="0"/>
              <a:t>R</a:t>
            </a:r>
            <a:r>
              <a:rPr lang="pt-BR" sz="2000" b="0" i="0" u="none" strike="noStrike" baseline="0" dirty="0"/>
              <a:t>)</a:t>
            </a:r>
            <a:endParaRPr lang="en-IN" sz="2000" dirty="0"/>
          </a:p>
        </p:txBody>
      </p:sp>
    </p:spTree>
    <p:extLst>
      <p:ext uri="{BB962C8B-B14F-4D97-AF65-F5344CB8AC3E}">
        <p14:creationId xmlns:p14="http://schemas.microsoft.com/office/powerpoint/2010/main" val="164845231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3508-3C25-41F0-92A3-7C428699804B}"/>
              </a:ext>
            </a:extLst>
          </p:cNvPr>
          <p:cNvSpPr>
            <a:spLocks noGrp="1"/>
          </p:cNvSpPr>
          <p:nvPr>
            <p:ph type="ctrTitle"/>
          </p:nvPr>
        </p:nvSpPr>
        <p:spPr/>
        <p:txBody>
          <a:bodyPr/>
          <a:lstStyle/>
          <a:p>
            <a:r>
              <a:rPr lang="en-US" dirty="0"/>
              <a:t>Well Formed Formulas</a:t>
            </a:r>
            <a:endParaRPr lang="en-IN" dirty="0"/>
          </a:p>
        </p:txBody>
      </p:sp>
      <p:sp>
        <p:nvSpPr>
          <p:cNvPr id="3" name="Subtitle 2">
            <a:extLst>
              <a:ext uri="{FF2B5EF4-FFF2-40B4-BE49-F238E27FC236}">
                <a16:creationId xmlns:a16="http://schemas.microsoft.com/office/drawing/2014/main" id="{34E4639C-F406-4D05-A707-3ABDD571A13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6907518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DB45-9294-4EEC-A6E6-665C79B1C0D3}"/>
              </a:ext>
            </a:extLst>
          </p:cNvPr>
          <p:cNvSpPr>
            <a:spLocks noGrp="1"/>
          </p:cNvSpPr>
          <p:nvPr>
            <p:ph type="title"/>
          </p:nvPr>
        </p:nvSpPr>
        <p:spPr/>
        <p:txBody>
          <a:bodyPr/>
          <a:lstStyle/>
          <a:p>
            <a:r>
              <a:rPr lang="en-US" dirty="0"/>
              <a:t>Well Formed Formulas</a:t>
            </a:r>
            <a:endParaRPr lang="en-IN" dirty="0"/>
          </a:p>
        </p:txBody>
      </p:sp>
      <p:sp>
        <p:nvSpPr>
          <p:cNvPr id="3" name="Content Placeholder 2">
            <a:extLst>
              <a:ext uri="{FF2B5EF4-FFF2-40B4-BE49-F238E27FC236}">
                <a16:creationId xmlns:a16="http://schemas.microsoft.com/office/drawing/2014/main" id="{9D21A197-2077-43E8-B24E-20D8F7457F85}"/>
              </a:ext>
            </a:extLst>
          </p:cNvPr>
          <p:cNvSpPr>
            <a:spLocks noGrp="1"/>
          </p:cNvSpPr>
          <p:nvPr>
            <p:ph idx="1"/>
          </p:nvPr>
        </p:nvSpPr>
        <p:spPr>
          <a:xfrm>
            <a:off x="614370" y="2386253"/>
            <a:ext cx="10954777" cy="4133817"/>
          </a:xfrm>
        </p:spPr>
        <p:txBody>
          <a:bodyPr>
            <a:normAutofit lnSpcReduction="10000"/>
          </a:bodyPr>
          <a:lstStyle/>
          <a:p>
            <a:pPr marL="0" indent="0">
              <a:buNone/>
            </a:pPr>
            <a:r>
              <a:rPr lang="en-IN" dirty="0"/>
              <a:t>1. A sentence letter by itself is a WFF: </a:t>
            </a:r>
          </a:p>
          <a:p>
            <a:pPr marL="0" indent="0">
              <a:buNone/>
            </a:pPr>
            <a:r>
              <a:rPr lang="en-IN" dirty="0"/>
              <a:t>                   </a:t>
            </a:r>
            <a:r>
              <a:rPr lang="en-IN" b="1" i="1" dirty="0"/>
              <a:t>Ex: A,B,Z</a:t>
            </a:r>
            <a:r>
              <a:rPr lang="en-IN" dirty="0"/>
              <a:t> </a:t>
            </a:r>
          </a:p>
          <a:p>
            <a:pPr marL="0" indent="0">
              <a:buNone/>
            </a:pPr>
            <a:r>
              <a:rPr lang="en-IN" dirty="0"/>
              <a:t>2. The result of putting </a:t>
            </a:r>
            <a:r>
              <a:rPr lang="en-IN" sz="2800" b="0" i="1" u="none" strike="noStrike" baseline="0" dirty="0">
                <a:latin typeface="Times New Roman" panose="02020603050405020304" pitchFamily="18" charset="0"/>
              </a:rPr>
              <a:t>¬</a:t>
            </a:r>
            <a:r>
              <a:rPr lang="en-IN" dirty="0"/>
              <a:t> immediately in front of a WFF is a WFF-</a:t>
            </a:r>
          </a:p>
          <a:p>
            <a:pPr marL="0" indent="0">
              <a:buNone/>
            </a:pPr>
            <a:r>
              <a:rPr lang="en-IN" sz="2800" b="1" u="none" strike="noStrike" baseline="0" dirty="0">
                <a:latin typeface="Times New Roman" panose="02020603050405020304" pitchFamily="18" charset="0"/>
              </a:rPr>
              <a:t>             </a:t>
            </a:r>
            <a:r>
              <a:rPr lang="en-IN" sz="2800" b="1" i="1" u="none" strike="noStrike" baseline="0" dirty="0">
                <a:latin typeface="Times New Roman" panose="02020603050405020304" pitchFamily="18" charset="0"/>
              </a:rPr>
              <a:t>Ex: ¬</a:t>
            </a:r>
            <a:r>
              <a:rPr lang="en-IN" b="1" i="1" dirty="0"/>
              <a:t> A,</a:t>
            </a:r>
            <a:r>
              <a:rPr lang="en-IN" sz="2800" b="1" i="1" u="none" strike="noStrike" baseline="0" dirty="0">
                <a:latin typeface="Times New Roman" panose="02020603050405020304" pitchFamily="18" charset="0"/>
              </a:rPr>
              <a:t>¬</a:t>
            </a:r>
            <a:r>
              <a:rPr lang="en-IN" b="1" i="1" dirty="0"/>
              <a:t> B,</a:t>
            </a:r>
            <a:r>
              <a:rPr lang="en-IN" sz="2800" b="1" i="1" u="none" strike="noStrike" baseline="0" dirty="0">
                <a:latin typeface="Times New Roman" panose="02020603050405020304" pitchFamily="18" charset="0"/>
              </a:rPr>
              <a:t>¬</a:t>
            </a:r>
            <a:r>
              <a:rPr lang="en-IN" b="1" i="1" dirty="0"/>
              <a:t> </a:t>
            </a:r>
            <a:r>
              <a:rPr lang="en-IN" sz="2800" b="1" i="1" u="none" strike="noStrike" baseline="0" dirty="0">
                <a:latin typeface="Times New Roman" panose="02020603050405020304" pitchFamily="18" charset="0"/>
              </a:rPr>
              <a:t>¬</a:t>
            </a:r>
            <a:r>
              <a:rPr lang="en-IN" b="1" i="1" dirty="0"/>
              <a:t> B,</a:t>
            </a:r>
            <a:r>
              <a:rPr lang="en-IN" sz="2800" b="1" i="1" u="none" strike="noStrike" baseline="0" dirty="0">
                <a:latin typeface="Times New Roman" panose="02020603050405020304" pitchFamily="18" charset="0"/>
              </a:rPr>
              <a:t>¬</a:t>
            </a:r>
            <a:r>
              <a:rPr lang="en-IN" b="1" i="1" dirty="0"/>
              <a:t> </a:t>
            </a:r>
            <a:r>
              <a:rPr lang="en-IN" sz="2800" b="1" i="1" u="none" strike="noStrike" baseline="0" dirty="0">
                <a:latin typeface="Times New Roman" panose="02020603050405020304" pitchFamily="18" charset="0"/>
              </a:rPr>
              <a:t>¬</a:t>
            </a:r>
            <a:r>
              <a:rPr lang="en-IN" b="1" i="1" dirty="0"/>
              <a:t> </a:t>
            </a:r>
            <a:r>
              <a:rPr lang="en-IN" sz="2800" b="1" i="1" u="none" strike="noStrike" baseline="0" dirty="0">
                <a:latin typeface="Times New Roman" panose="02020603050405020304" pitchFamily="18" charset="0"/>
              </a:rPr>
              <a:t>¬</a:t>
            </a:r>
            <a:r>
              <a:rPr lang="en-IN" b="1" i="1" dirty="0"/>
              <a:t> B,</a:t>
            </a:r>
            <a:r>
              <a:rPr lang="en-IN" sz="2800" b="1" i="1" u="none" strike="noStrike" baseline="0" dirty="0">
                <a:latin typeface="Times New Roman" panose="02020603050405020304" pitchFamily="18" charset="0"/>
              </a:rPr>
              <a:t>¬</a:t>
            </a:r>
            <a:r>
              <a:rPr lang="en-IN" b="1" i="1" dirty="0"/>
              <a:t> (A ∨ B),</a:t>
            </a:r>
            <a:r>
              <a:rPr lang="en-IN" sz="2800" b="1" i="1" u="none" strike="noStrike" baseline="0" dirty="0">
                <a:latin typeface="Times New Roman" panose="02020603050405020304" pitchFamily="18" charset="0"/>
              </a:rPr>
              <a:t>¬</a:t>
            </a:r>
            <a:r>
              <a:rPr lang="en-IN" b="1" i="1" dirty="0"/>
              <a:t> (</a:t>
            </a:r>
            <a:r>
              <a:rPr lang="en-IN" sz="2800" b="1" i="1" u="none" strike="noStrike" baseline="0" dirty="0">
                <a:latin typeface="Times New Roman" panose="02020603050405020304" pitchFamily="18" charset="0"/>
              </a:rPr>
              <a:t>¬</a:t>
            </a:r>
            <a:r>
              <a:rPr lang="en-IN" b="1" i="1" dirty="0"/>
              <a:t> C V D) </a:t>
            </a:r>
          </a:p>
          <a:p>
            <a:pPr marL="0" indent="0">
              <a:buNone/>
            </a:pPr>
            <a:r>
              <a:rPr lang="en-IN" dirty="0"/>
              <a:t>3. The result of putting </a:t>
            </a:r>
            <a:r>
              <a:rPr lang="en-IN" sz="2800" b="0" i="0" u="none" strike="noStrike" baseline="0" dirty="0">
                <a:latin typeface="Arial Unicode MS"/>
              </a:rPr>
              <a:t>∧</a:t>
            </a:r>
            <a:r>
              <a:rPr lang="en-IN" dirty="0"/>
              <a:t>, ∨ , </a:t>
            </a:r>
            <a:r>
              <a:rPr lang="en-IN" sz="2800" b="0" i="1" u="none" strike="noStrike" baseline="0" dirty="0">
                <a:latin typeface="Times New Roman,Italic"/>
              </a:rPr>
              <a:t>→</a:t>
            </a:r>
            <a:r>
              <a:rPr lang="en-IN" dirty="0"/>
              <a:t> , or </a:t>
            </a:r>
            <a:r>
              <a:rPr lang="en-IN" sz="2800" b="0" i="1" u="none" strike="noStrike" baseline="0" dirty="0">
                <a:latin typeface="Times New Roman,Italic"/>
              </a:rPr>
              <a:t>↔</a:t>
            </a:r>
            <a:r>
              <a:rPr lang="en-IN" dirty="0"/>
              <a:t> between two WFFs and surrounding the whole thing with parentheses is a WFF</a:t>
            </a:r>
          </a:p>
          <a:p>
            <a:pPr marL="0" indent="0">
              <a:buNone/>
            </a:pPr>
            <a:r>
              <a:rPr lang="en-IN" dirty="0"/>
              <a:t>    </a:t>
            </a:r>
            <a:r>
              <a:rPr lang="en-IN" b="1" dirty="0"/>
              <a:t>Ex: (A </a:t>
            </a:r>
            <a:r>
              <a:rPr lang="en-IN" sz="2800" b="1" i="1" u="none" strike="noStrike" baseline="0" dirty="0">
                <a:latin typeface="Times New Roman,Italic"/>
              </a:rPr>
              <a:t>→</a:t>
            </a:r>
            <a:r>
              <a:rPr lang="en-IN" b="1" dirty="0"/>
              <a:t> B), (</a:t>
            </a:r>
            <a:r>
              <a:rPr lang="en-IN" sz="2800" b="1" i="1" u="none" strike="noStrike" baseline="0" dirty="0">
                <a:latin typeface="Times New Roman" panose="02020603050405020304" pitchFamily="18" charset="0"/>
              </a:rPr>
              <a:t>¬ ¬ </a:t>
            </a:r>
            <a:r>
              <a:rPr lang="en-IN" b="1" dirty="0"/>
              <a:t>C ∨ D), ((</a:t>
            </a:r>
            <a:r>
              <a:rPr lang="en-IN" sz="2800" b="1" i="1" u="none" strike="noStrike" baseline="0" dirty="0">
                <a:latin typeface="Times New Roman" panose="02020603050405020304" pitchFamily="18" charset="0"/>
              </a:rPr>
              <a:t>¬ ¬</a:t>
            </a:r>
            <a:r>
              <a:rPr lang="en-IN" b="1" dirty="0"/>
              <a:t> C ∨ D)</a:t>
            </a:r>
            <a:r>
              <a:rPr lang="en-IN" sz="2800" b="1" i="1" u="none" strike="noStrike" baseline="0" dirty="0">
                <a:latin typeface="Times New Roman,Italic"/>
              </a:rPr>
              <a:t> →</a:t>
            </a:r>
            <a:r>
              <a:rPr lang="en-IN" b="1" dirty="0"/>
              <a:t>  (E </a:t>
            </a:r>
            <a:r>
              <a:rPr lang="en-IN" sz="2800" b="1" i="0" u="none" strike="noStrike" baseline="0" dirty="0">
                <a:latin typeface="Arial Unicode MS"/>
              </a:rPr>
              <a:t>∧</a:t>
            </a:r>
            <a:r>
              <a:rPr lang="en-IN" b="1" dirty="0"/>
              <a:t> (F </a:t>
            </a:r>
            <a:r>
              <a:rPr lang="en-IN" sz="2800" b="1" i="1" u="none" strike="noStrike" baseline="0" dirty="0">
                <a:latin typeface="Times New Roman,Italic"/>
              </a:rPr>
              <a:t>↔</a:t>
            </a:r>
            <a:r>
              <a:rPr lang="en-IN" b="1" dirty="0"/>
              <a:t> </a:t>
            </a:r>
            <a:r>
              <a:rPr lang="en-IN" sz="2800" b="1" i="1" u="none" strike="noStrike" baseline="0" dirty="0">
                <a:latin typeface="Times New Roman" panose="02020603050405020304" pitchFamily="18" charset="0"/>
              </a:rPr>
              <a:t>¬</a:t>
            </a:r>
            <a:r>
              <a:rPr lang="en-IN" b="1" dirty="0"/>
              <a:t> G))) </a:t>
            </a:r>
          </a:p>
          <a:p>
            <a:pPr marL="0" indent="0">
              <a:buNone/>
            </a:pPr>
            <a:r>
              <a:rPr lang="en-IN" dirty="0"/>
              <a:t>4. Outside parentheses may be dropped</a:t>
            </a:r>
          </a:p>
          <a:p>
            <a:pPr marL="0" indent="0">
              <a:buNone/>
            </a:pPr>
            <a:r>
              <a:rPr lang="en-IN" dirty="0"/>
              <a:t>    </a:t>
            </a:r>
            <a:r>
              <a:rPr lang="en-IN" b="1" i="1" dirty="0"/>
              <a:t>Ex: A </a:t>
            </a:r>
            <a:r>
              <a:rPr lang="en-IN" sz="2800" b="1" i="1" u="none" strike="noStrike" baseline="0" dirty="0">
                <a:latin typeface="Times New Roman,Italic"/>
              </a:rPr>
              <a:t>→ </a:t>
            </a:r>
            <a:r>
              <a:rPr lang="en-IN" b="1" i="1" dirty="0"/>
              <a:t>B </a:t>
            </a:r>
            <a:r>
              <a:rPr lang="en-IN" sz="2800" b="1" i="1" u="none" strike="noStrike" baseline="0" dirty="0">
                <a:latin typeface="Times New Roman" panose="02020603050405020304" pitchFamily="18" charset="0"/>
              </a:rPr>
              <a:t>¬ ¬</a:t>
            </a:r>
            <a:r>
              <a:rPr lang="en-IN" b="1" i="1" dirty="0"/>
              <a:t> C ∨ D ((</a:t>
            </a:r>
            <a:r>
              <a:rPr lang="en-IN" sz="2800" b="1" i="1" u="none" strike="noStrike" baseline="0" dirty="0">
                <a:latin typeface="Times New Roman" panose="02020603050405020304" pitchFamily="18" charset="0"/>
              </a:rPr>
              <a:t>¬ ¬</a:t>
            </a:r>
            <a:r>
              <a:rPr lang="en-IN" b="1" i="1" dirty="0"/>
              <a:t> C ∨ D) </a:t>
            </a:r>
            <a:r>
              <a:rPr lang="en-IN" sz="2800" b="1" i="1" u="none" strike="noStrike" baseline="0" dirty="0">
                <a:latin typeface="Times New Roman,Italic"/>
              </a:rPr>
              <a:t>→</a:t>
            </a:r>
            <a:r>
              <a:rPr lang="en-IN" b="1" i="1" dirty="0"/>
              <a:t> (E </a:t>
            </a:r>
            <a:r>
              <a:rPr lang="en-IN" sz="2800" b="1" i="1" u="none" strike="noStrike" baseline="0" dirty="0">
                <a:latin typeface="Arial Unicode MS"/>
              </a:rPr>
              <a:t>∧</a:t>
            </a:r>
            <a:r>
              <a:rPr lang="en-IN" b="1" i="1" dirty="0"/>
              <a:t> (F </a:t>
            </a:r>
            <a:r>
              <a:rPr lang="en-IN" sz="2800" b="1" i="1" u="none" strike="noStrike" baseline="0" dirty="0">
                <a:latin typeface="Times New Roman,Italic"/>
              </a:rPr>
              <a:t>↔ </a:t>
            </a:r>
            <a:r>
              <a:rPr lang="en-IN" sz="2800" b="1" i="1" u="none" strike="noStrike" baseline="0" dirty="0">
                <a:latin typeface="Times New Roman" panose="02020603050405020304" pitchFamily="18" charset="0"/>
              </a:rPr>
              <a:t>¬</a:t>
            </a:r>
            <a:r>
              <a:rPr lang="en-IN" b="1" i="1" dirty="0"/>
              <a:t>G))</a:t>
            </a:r>
            <a:r>
              <a:rPr lang="en-IN" dirty="0"/>
              <a:t> </a:t>
            </a:r>
          </a:p>
        </p:txBody>
      </p:sp>
    </p:spTree>
    <p:extLst>
      <p:ext uri="{BB962C8B-B14F-4D97-AF65-F5344CB8AC3E}">
        <p14:creationId xmlns:p14="http://schemas.microsoft.com/office/powerpoint/2010/main" val="145105167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8D49-7DD6-41D8-A7F5-985D596094F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0A8F2837-1DD8-4610-89EE-1FD63C285F66}"/>
              </a:ext>
            </a:extLst>
          </p:cNvPr>
          <p:cNvSpPr>
            <a:spLocks noGrp="1"/>
          </p:cNvSpPr>
          <p:nvPr>
            <p:ph idx="1"/>
          </p:nvPr>
        </p:nvSpPr>
        <p:spPr/>
        <p:txBody>
          <a:bodyPr>
            <a:normAutofit fontScale="92500" lnSpcReduction="20000"/>
          </a:bodyPr>
          <a:lstStyle/>
          <a:p>
            <a:pPr marL="0" indent="0">
              <a:buNone/>
            </a:pPr>
            <a:r>
              <a:rPr lang="en-US" dirty="0"/>
              <a:t>Which of the following formulas is well-formed</a:t>
            </a:r>
          </a:p>
          <a:p>
            <a:pPr marL="742950" indent="-742950">
              <a:buAutoNum type="arabicPeriod"/>
            </a:pPr>
            <a:r>
              <a:rPr lang="en-IN" sz="3600" dirty="0">
                <a:effectLst/>
                <a:latin typeface="Cambria Math" panose="02040503050406030204" pitchFamily="18" charset="0"/>
                <a:ea typeface="Calibri" panose="020F0502020204030204" pitchFamily="34" charset="0"/>
                <a:cs typeface="Cambria Math" panose="02040503050406030204" pitchFamily="18" charset="0"/>
              </a:rPr>
              <a:t>∨</a:t>
            </a:r>
            <a:r>
              <a:rPr lang="en-IN" sz="3600" dirty="0" err="1">
                <a:effectLst/>
                <a:latin typeface="Times New Roman" panose="02020603050405020304" pitchFamily="18" charset="0"/>
                <a:ea typeface="Calibri" panose="020F0502020204030204" pitchFamily="34" charset="0"/>
                <a:cs typeface="Times New Roman" panose="02020603050405020304" pitchFamily="18" charset="0"/>
              </a:rPr>
              <a:t>pq</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742950" indent="-742950">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(¬(p → (q </a:t>
            </a:r>
            <a:r>
              <a:rPr lang="en-IN" sz="3600" dirty="0">
                <a:effectLst/>
                <a:latin typeface="Cambria Math" panose="02040503050406030204" pitchFamily="18" charset="0"/>
                <a:ea typeface="Calibri" panose="020F0502020204030204" pitchFamily="34" charset="0"/>
                <a:cs typeface="Cambria Math" panose="02040503050406030204" pitchFamily="18" charset="0"/>
              </a:rPr>
              <a:t>∧</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p))) </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742950" indent="-742950">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(¬(p → (q = p))) </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742950" indent="-742950">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(p </a:t>
            </a:r>
            <a:r>
              <a:rPr lang="en-IN" sz="3600" dirty="0">
                <a:effectLst/>
                <a:latin typeface="Cambria Math" panose="02040503050406030204" pitchFamily="18" charset="0"/>
                <a:ea typeface="Calibri" panose="020F0502020204030204" pitchFamily="34" charset="0"/>
                <a:cs typeface="Cambria Math" panose="02040503050406030204" pitchFamily="18" charset="0"/>
              </a:rPr>
              <a:t>∧</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¬q) </a:t>
            </a:r>
            <a:r>
              <a:rPr lang="en-IN" sz="3600" dirty="0">
                <a:effectLst/>
                <a:latin typeface="Cambria Math" panose="02040503050406030204" pitchFamily="18" charset="0"/>
                <a:ea typeface="Calibri" panose="020F0502020204030204" pitchFamily="34" charset="0"/>
                <a:cs typeface="Cambria Math" panose="02040503050406030204" pitchFamily="18" charset="0"/>
              </a:rPr>
              <a:t>∨</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(q → r) </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742950" indent="-742950">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3600" dirty="0" err="1">
                <a:effectLst/>
                <a:latin typeface="Times New Roman" panose="02020603050405020304" pitchFamily="18" charset="0"/>
                <a:ea typeface="Calibri" panose="020F0502020204030204" pitchFamily="34" charset="0"/>
                <a:cs typeface="Times New Roman" panose="02020603050405020304" pitchFamily="18" charset="0"/>
              </a:rPr>
              <a:t>p¬r</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75163598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3508-3C25-41F0-92A3-7C428699804B}"/>
              </a:ext>
            </a:extLst>
          </p:cNvPr>
          <p:cNvSpPr>
            <a:spLocks noGrp="1"/>
          </p:cNvSpPr>
          <p:nvPr>
            <p:ph type="ctrTitle"/>
          </p:nvPr>
        </p:nvSpPr>
        <p:spPr/>
        <p:txBody>
          <a:bodyPr/>
          <a:lstStyle/>
          <a:p>
            <a:r>
              <a:rPr lang="en-US" dirty="0"/>
              <a:t>Inference Theory (Propositional Logic)</a:t>
            </a:r>
            <a:endParaRPr lang="en-IN" dirty="0"/>
          </a:p>
        </p:txBody>
      </p:sp>
      <p:sp>
        <p:nvSpPr>
          <p:cNvPr id="3" name="Subtitle 2">
            <a:extLst>
              <a:ext uri="{FF2B5EF4-FFF2-40B4-BE49-F238E27FC236}">
                <a16:creationId xmlns:a16="http://schemas.microsoft.com/office/drawing/2014/main" id="{34E4639C-F406-4D05-A707-3ABDD571A13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33644074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40885" y="461900"/>
            <a:ext cx="4110354" cy="696595"/>
          </a:xfrm>
          <a:prstGeom prst="rect">
            <a:avLst/>
          </a:prstGeom>
        </p:spPr>
        <p:txBody>
          <a:bodyPr vert="horz" wrap="square" lIns="0" tIns="13335" rIns="0" bIns="0" rtlCol="0">
            <a:spAutoFit/>
          </a:bodyPr>
          <a:lstStyle/>
          <a:p>
            <a:pPr marL="12700">
              <a:spcBef>
                <a:spcPts val="105"/>
              </a:spcBef>
            </a:pPr>
            <a:r>
              <a:rPr dirty="0">
                <a:latin typeface="Carlito"/>
                <a:cs typeface="Carlito"/>
              </a:rPr>
              <a:t>Rules </a:t>
            </a:r>
            <a:r>
              <a:rPr spc="-5" dirty="0">
                <a:latin typeface="Carlito"/>
                <a:cs typeface="Carlito"/>
              </a:rPr>
              <a:t>of</a:t>
            </a:r>
            <a:r>
              <a:rPr spc="-85" dirty="0">
                <a:latin typeface="Carlito"/>
                <a:cs typeface="Carlito"/>
              </a:rPr>
              <a:t> </a:t>
            </a:r>
            <a:r>
              <a:rPr spc="-20" dirty="0">
                <a:latin typeface="Carlito"/>
                <a:cs typeface="Carlito"/>
              </a:rPr>
              <a:t>Inference</a:t>
            </a:r>
          </a:p>
        </p:txBody>
      </p:sp>
      <p:sp>
        <p:nvSpPr>
          <p:cNvPr id="3" name="object 3"/>
          <p:cNvSpPr txBox="1"/>
          <p:nvPr/>
        </p:nvSpPr>
        <p:spPr>
          <a:xfrm>
            <a:off x="2059941" y="1624026"/>
            <a:ext cx="8074025" cy="1246505"/>
          </a:xfrm>
          <a:prstGeom prst="rect">
            <a:avLst/>
          </a:prstGeom>
        </p:spPr>
        <p:txBody>
          <a:bodyPr vert="horz" wrap="square" lIns="0" tIns="13335" rIns="0" bIns="0" rtlCol="0">
            <a:spAutoFit/>
          </a:bodyPr>
          <a:lstStyle/>
          <a:p>
            <a:pPr marL="355600" marR="5080" indent="-343535" algn="just">
              <a:spcBef>
                <a:spcPts val="105"/>
              </a:spcBef>
              <a:buFont typeface="Arial"/>
              <a:buChar char="•"/>
              <a:tabLst>
                <a:tab pos="356235" algn="l"/>
              </a:tabLst>
            </a:pPr>
            <a:r>
              <a:rPr sz="2000" spc="-5" dirty="0">
                <a:solidFill>
                  <a:prstClr val="black"/>
                </a:solidFill>
                <a:latin typeface="Times New Roman"/>
                <a:cs typeface="Times New Roman"/>
              </a:rPr>
              <a:t>By </a:t>
            </a:r>
            <a:r>
              <a:rPr sz="2000" dirty="0">
                <a:solidFill>
                  <a:prstClr val="black"/>
                </a:solidFill>
                <a:latin typeface="Times New Roman"/>
                <a:cs typeface="Times New Roman"/>
              </a:rPr>
              <a:t>an </a:t>
            </a:r>
            <a:r>
              <a:rPr sz="2000" spc="-10" dirty="0">
                <a:solidFill>
                  <a:prstClr val="black"/>
                </a:solidFill>
                <a:latin typeface="Times New Roman"/>
                <a:cs typeface="Times New Roman"/>
              </a:rPr>
              <a:t>argument, </a:t>
            </a:r>
            <a:r>
              <a:rPr sz="2000" dirty="0">
                <a:solidFill>
                  <a:prstClr val="black"/>
                </a:solidFill>
                <a:latin typeface="Times New Roman"/>
                <a:cs typeface="Times New Roman"/>
              </a:rPr>
              <a:t>we </a:t>
            </a:r>
            <a:r>
              <a:rPr sz="2000" spc="-5" dirty="0">
                <a:solidFill>
                  <a:prstClr val="black"/>
                </a:solidFill>
                <a:latin typeface="Times New Roman"/>
                <a:cs typeface="Times New Roman"/>
              </a:rPr>
              <a:t>mean </a:t>
            </a:r>
            <a:r>
              <a:rPr sz="2000" dirty="0">
                <a:solidFill>
                  <a:prstClr val="black"/>
                </a:solidFill>
                <a:latin typeface="Times New Roman"/>
                <a:cs typeface="Times New Roman"/>
              </a:rPr>
              <a:t>a sequence of </a:t>
            </a:r>
            <a:r>
              <a:rPr sz="2000" spc="-5" dirty="0">
                <a:solidFill>
                  <a:prstClr val="black"/>
                </a:solidFill>
                <a:latin typeface="Times New Roman"/>
                <a:cs typeface="Times New Roman"/>
              </a:rPr>
              <a:t>statements </a:t>
            </a:r>
            <a:r>
              <a:rPr sz="2000" dirty="0">
                <a:solidFill>
                  <a:prstClr val="black"/>
                </a:solidFill>
                <a:latin typeface="Times New Roman"/>
                <a:cs typeface="Times New Roman"/>
              </a:rPr>
              <a:t>that </a:t>
            </a:r>
            <a:r>
              <a:rPr sz="2000" spc="-5" dirty="0">
                <a:solidFill>
                  <a:prstClr val="black"/>
                </a:solidFill>
                <a:latin typeface="Times New Roman"/>
                <a:cs typeface="Times New Roman"/>
              </a:rPr>
              <a:t>end with </a:t>
            </a:r>
            <a:r>
              <a:rPr sz="2000" dirty="0">
                <a:solidFill>
                  <a:prstClr val="black"/>
                </a:solidFill>
                <a:latin typeface="Times New Roman"/>
                <a:cs typeface="Times New Roman"/>
              </a:rPr>
              <a:t>a  </a:t>
            </a:r>
            <a:r>
              <a:rPr sz="2000" b="1" spc="-5" dirty="0">
                <a:solidFill>
                  <a:prstClr val="black"/>
                </a:solidFill>
                <a:latin typeface="Times New Roman"/>
                <a:cs typeface="Times New Roman"/>
              </a:rPr>
              <a:t>conclusion</a:t>
            </a:r>
            <a:r>
              <a:rPr sz="2000" spc="-5" dirty="0">
                <a:solidFill>
                  <a:prstClr val="black"/>
                </a:solidFill>
                <a:latin typeface="Times New Roman"/>
                <a:cs typeface="Times New Roman"/>
              </a:rPr>
              <a:t>. </a:t>
            </a:r>
            <a:r>
              <a:rPr sz="2000" spc="-10" dirty="0">
                <a:solidFill>
                  <a:prstClr val="black"/>
                </a:solidFill>
                <a:latin typeface="Times New Roman"/>
                <a:cs typeface="Times New Roman"/>
              </a:rPr>
              <a:t>By </a:t>
            </a:r>
            <a:r>
              <a:rPr sz="2000" b="1" spc="-5" dirty="0">
                <a:solidFill>
                  <a:prstClr val="black"/>
                </a:solidFill>
                <a:latin typeface="Times New Roman"/>
                <a:cs typeface="Times New Roman"/>
              </a:rPr>
              <a:t>valid</a:t>
            </a:r>
            <a:r>
              <a:rPr sz="2000" spc="-5" dirty="0">
                <a:solidFill>
                  <a:prstClr val="black"/>
                </a:solidFill>
                <a:latin typeface="Times New Roman"/>
                <a:cs typeface="Times New Roman"/>
              </a:rPr>
              <a:t>, we mean </a:t>
            </a:r>
            <a:r>
              <a:rPr sz="2000" dirty="0">
                <a:solidFill>
                  <a:prstClr val="black"/>
                </a:solidFill>
                <a:latin typeface="Times New Roman"/>
                <a:cs typeface="Times New Roman"/>
              </a:rPr>
              <a:t>that </a:t>
            </a:r>
            <a:r>
              <a:rPr sz="2000" spc="-5" dirty="0">
                <a:solidFill>
                  <a:prstClr val="black"/>
                </a:solidFill>
                <a:latin typeface="Times New Roman"/>
                <a:cs typeface="Times New Roman"/>
              </a:rPr>
              <a:t>the conclusion, or </a:t>
            </a:r>
            <a:r>
              <a:rPr sz="2000" dirty="0">
                <a:solidFill>
                  <a:prstClr val="black"/>
                </a:solidFill>
                <a:latin typeface="Times New Roman"/>
                <a:cs typeface="Times New Roman"/>
              </a:rPr>
              <a:t>ﬁnal </a:t>
            </a:r>
            <a:r>
              <a:rPr sz="2000" spc="-5" dirty="0">
                <a:solidFill>
                  <a:prstClr val="black"/>
                </a:solidFill>
                <a:latin typeface="Times New Roman"/>
                <a:cs typeface="Times New Roman"/>
              </a:rPr>
              <a:t>statement </a:t>
            </a:r>
            <a:r>
              <a:rPr sz="2000" spc="-10" dirty="0">
                <a:solidFill>
                  <a:prstClr val="black"/>
                </a:solidFill>
                <a:latin typeface="Times New Roman"/>
                <a:cs typeface="Times New Roman"/>
              </a:rPr>
              <a:t>of  </a:t>
            </a:r>
            <a:r>
              <a:rPr sz="2000" dirty="0">
                <a:solidFill>
                  <a:prstClr val="black"/>
                </a:solidFill>
                <a:latin typeface="Times New Roman"/>
                <a:cs typeface="Times New Roman"/>
              </a:rPr>
              <a:t>the </a:t>
            </a:r>
            <a:r>
              <a:rPr sz="2000" spc="-10" dirty="0">
                <a:solidFill>
                  <a:prstClr val="black"/>
                </a:solidFill>
                <a:latin typeface="Times New Roman"/>
                <a:cs typeface="Times New Roman"/>
              </a:rPr>
              <a:t>argument, </a:t>
            </a:r>
            <a:r>
              <a:rPr sz="2000" spc="-5" dirty="0">
                <a:solidFill>
                  <a:prstClr val="black"/>
                </a:solidFill>
                <a:latin typeface="Times New Roman"/>
                <a:cs typeface="Times New Roman"/>
              </a:rPr>
              <a:t>must follow </a:t>
            </a:r>
            <a:r>
              <a:rPr sz="2000" dirty="0">
                <a:solidFill>
                  <a:prstClr val="black"/>
                </a:solidFill>
                <a:latin typeface="Times New Roman"/>
                <a:cs typeface="Times New Roman"/>
              </a:rPr>
              <a:t>from the </a:t>
            </a:r>
            <a:r>
              <a:rPr sz="2000" spc="-5" dirty="0">
                <a:solidFill>
                  <a:prstClr val="black"/>
                </a:solidFill>
                <a:latin typeface="Times New Roman"/>
                <a:cs typeface="Times New Roman"/>
              </a:rPr>
              <a:t>truth </a:t>
            </a:r>
            <a:r>
              <a:rPr sz="2000" dirty="0">
                <a:solidFill>
                  <a:prstClr val="black"/>
                </a:solidFill>
                <a:latin typeface="Times New Roman"/>
                <a:cs typeface="Times New Roman"/>
              </a:rPr>
              <a:t>of the </a:t>
            </a:r>
            <a:r>
              <a:rPr sz="2000" spc="-5" dirty="0">
                <a:solidFill>
                  <a:prstClr val="black"/>
                </a:solidFill>
                <a:latin typeface="Times New Roman"/>
                <a:cs typeface="Times New Roman"/>
              </a:rPr>
              <a:t>preceding statements, </a:t>
            </a:r>
            <a:r>
              <a:rPr sz="2000" spc="5" dirty="0">
                <a:solidFill>
                  <a:prstClr val="black"/>
                </a:solidFill>
                <a:latin typeface="Times New Roman"/>
                <a:cs typeface="Times New Roman"/>
              </a:rPr>
              <a:t>or  </a:t>
            </a:r>
            <a:r>
              <a:rPr sz="2000" b="1" spc="-5" dirty="0">
                <a:solidFill>
                  <a:prstClr val="black"/>
                </a:solidFill>
                <a:latin typeface="Times New Roman"/>
                <a:cs typeface="Times New Roman"/>
              </a:rPr>
              <a:t>premises</a:t>
            </a:r>
            <a:r>
              <a:rPr sz="2000" spc="-5" dirty="0">
                <a:solidFill>
                  <a:prstClr val="black"/>
                </a:solidFill>
                <a:latin typeface="Times New Roman"/>
                <a:cs typeface="Times New Roman"/>
              </a:rPr>
              <a:t>, </a:t>
            </a:r>
            <a:r>
              <a:rPr sz="2000" dirty="0">
                <a:solidFill>
                  <a:prstClr val="black"/>
                </a:solidFill>
                <a:latin typeface="Times New Roman"/>
                <a:cs typeface="Times New Roman"/>
              </a:rPr>
              <a:t>of the</a:t>
            </a:r>
            <a:r>
              <a:rPr sz="2000" spc="-55" dirty="0">
                <a:solidFill>
                  <a:prstClr val="black"/>
                </a:solidFill>
                <a:latin typeface="Times New Roman"/>
                <a:cs typeface="Times New Roman"/>
              </a:rPr>
              <a:t> </a:t>
            </a:r>
            <a:r>
              <a:rPr sz="2000" spc="-5" dirty="0">
                <a:solidFill>
                  <a:prstClr val="black"/>
                </a:solidFill>
                <a:latin typeface="Times New Roman"/>
                <a:cs typeface="Times New Roman"/>
              </a:rPr>
              <a:t>argument.</a:t>
            </a:r>
            <a:endParaRPr sz="2000" dirty="0">
              <a:solidFill>
                <a:prstClr val="black"/>
              </a:solidFill>
              <a:latin typeface="Times New Roman"/>
              <a:cs typeface="Times New Roman"/>
            </a:endParaRP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156C2B-B57D-42A2-8703-BE54BF655A90}"/>
              </a:ext>
            </a:extLst>
          </p:cNvPr>
          <p:cNvSpPr txBox="1"/>
          <p:nvPr/>
        </p:nvSpPr>
        <p:spPr>
          <a:xfrm>
            <a:off x="781876" y="506963"/>
            <a:ext cx="11317358" cy="6247864"/>
          </a:xfrm>
          <a:prstGeom prst="rect">
            <a:avLst/>
          </a:prstGeom>
          <a:noFill/>
        </p:spPr>
        <p:txBody>
          <a:bodyPr wrap="square">
            <a:spAutoFit/>
          </a:bodyPr>
          <a:lstStyle/>
          <a:p>
            <a:pPr algn="l"/>
            <a:r>
              <a:rPr lang="en-IN" sz="2400" b="1" i="0" u="none" strike="noStrike" baseline="0" dirty="0">
                <a:latin typeface="Times New Roman" panose="02020603050405020304" pitchFamily="18" charset="0"/>
              </a:rPr>
              <a:t>Implication Formulas</a:t>
            </a:r>
          </a:p>
          <a:p>
            <a:pPr algn="l"/>
            <a:r>
              <a:rPr lang="fr-FR" sz="2400" b="1" i="1" u="none" strike="noStrike" baseline="0" dirty="0">
                <a:latin typeface="Times New Roman" panose="02020603050405020304" pitchFamily="18" charset="0"/>
              </a:rPr>
              <a:t>I</a:t>
            </a:r>
            <a:r>
              <a:rPr lang="fr-FR" sz="1600" b="1" i="0" u="none" strike="noStrike" baseline="0" dirty="0">
                <a:latin typeface="Times New Roman" panose="02020603050405020304" pitchFamily="18" charset="0"/>
              </a:rPr>
              <a:t>1</a:t>
            </a:r>
            <a:r>
              <a:rPr lang="fr-FR" sz="1600" b="0" i="0" u="none" strike="noStrike" baseline="0" dirty="0">
                <a:latin typeface="Times New Roman" panose="02020603050405020304" pitchFamily="18" charset="0"/>
              </a:rPr>
              <a:t> </a:t>
            </a:r>
            <a:r>
              <a:rPr lang="fr-FR" sz="2400" b="0" i="0" u="none" strike="noStrike" baseline="0" dirty="0">
                <a:latin typeface="Times New Roman" panose="02020603050405020304" pitchFamily="18" charset="0"/>
              </a:rPr>
              <a:t>: </a:t>
            </a:r>
            <a:r>
              <a:rPr lang="fr-FR" sz="2400" b="0" i="1" u="none" strike="noStrike" baseline="0" dirty="0">
                <a:latin typeface="Times New Roman" panose="02020603050405020304" pitchFamily="18" charset="0"/>
              </a:rPr>
              <a:t>P </a:t>
            </a:r>
            <a:r>
              <a:rPr lang="fr-FR" sz="2400" b="0" i="0" u="none" strike="noStrike" baseline="0" dirty="0">
                <a:latin typeface="Arial Unicode MS"/>
              </a:rPr>
              <a:t>∧ </a:t>
            </a:r>
            <a:r>
              <a:rPr lang="fr-FR" sz="2400" b="0" i="1" u="none" strike="noStrike" baseline="0" dirty="0">
                <a:latin typeface="Times New Roman" panose="02020603050405020304" pitchFamily="18" charset="0"/>
              </a:rPr>
              <a:t>Q </a:t>
            </a:r>
            <a:r>
              <a:rPr lang="fr-FR" sz="2400" b="0" i="0" u="none" strike="noStrike" baseline="0" dirty="0">
                <a:latin typeface="Arial Unicode MS"/>
              </a:rPr>
              <a:t>⇒ </a:t>
            </a:r>
            <a:r>
              <a:rPr lang="fr-FR" sz="2400" b="0" i="1" u="none" strike="noStrike" baseline="0" dirty="0">
                <a:latin typeface="Times New Roman" panose="02020603050405020304" pitchFamily="18" charset="0"/>
              </a:rPr>
              <a:t>P </a:t>
            </a:r>
            <a:r>
              <a:rPr lang="fr-FR" sz="2400" b="0" i="0" u="none" strike="noStrike" baseline="0" dirty="0">
                <a:latin typeface="Times New Roman" panose="02020603050405020304" pitchFamily="18" charset="0"/>
              </a:rPr>
              <a:t>(</a:t>
            </a:r>
            <a:r>
              <a:rPr lang="fr-FR" sz="2400" b="1" i="1" u="none" strike="noStrike" baseline="0" dirty="0">
                <a:latin typeface="Times New Roman" panose="02020603050405020304" pitchFamily="18" charset="0"/>
              </a:rPr>
              <a:t>simplification</a:t>
            </a:r>
            <a:r>
              <a:rPr lang="fr-FR" sz="2400" b="0" i="0" u="none" strike="noStrike" baseline="0" dirty="0">
                <a:latin typeface="Times New Roman" panose="02020603050405020304" pitchFamily="18" charset="0"/>
              </a:rPr>
              <a:t>)</a:t>
            </a:r>
          </a:p>
          <a:p>
            <a:pPr algn="l"/>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2</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fr-FR" sz="2400" b="0" i="0" u="none" strike="noStrike" baseline="0" dirty="0">
                <a:latin typeface="Times New Roman" panose="02020603050405020304" pitchFamily="18" charset="0"/>
              </a:rPr>
              <a:t>(</a:t>
            </a:r>
            <a:r>
              <a:rPr lang="fr-FR" sz="2400" b="1" i="1" u="none" strike="noStrike" baseline="0" dirty="0">
                <a:latin typeface="Times New Roman" panose="02020603050405020304" pitchFamily="18" charset="0"/>
              </a:rPr>
              <a:t>simplification</a:t>
            </a:r>
            <a:r>
              <a:rPr lang="fr-FR" sz="2400" b="0" i="0" u="none" strike="noStrike" baseline="0" dirty="0">
                <a:latin typeface="Times New Roman" panose="02020603050405020304" pitchFamily="18" charset="0"/>
              </a:rPr>
              <a:t>)</a:t>
            </a:r>
            <a:endParaRPr lang="en-IN" sz="2400" b="0" i="1" u="none" strike="noStrike" baseline="0" dirty="0">
              <a:latin typeface="Times New Roman" panose="02020603050405020304" pitchFamily="18" charset="0"/>
            </a:endParaRPr>
          </a:p>
          <a:p>
            <a:pPr algn="l"/>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3</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1" i="1" u="none" strike="noStrike" baseline="0" dirty="0">
                <a:latin typeface="Times New Roman" panose="02020603050405020304" pitchFamily="18" charset="0"/>
              </a:rPr>
              <a:t>expansion</a:t>
            </a:r>
            <a:r>
              <a:rPr lang="en-IN" sz="2400" b="0" i="1" u="none" strike="noStrike" baseline="0" dirty="0">
                <a:latin typeface="Times New Roman" panose="02020603050405020304" pitchFamily="18" charset="0"/>
              </a:rPr>
              <a:t>)</a:t>
            </a:r>
          </a:p>
          <a:p>
            <a:pPr algn="l"/>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4</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1" i="1" u="none" strike="noStrike" baseline="0" dirty="0">
                <a:latin typeface="Times New Roman" panose="02020603050405020304" pitchFamily="18" charset="0"/>
              </a:rPr>
              <a:t>expansion</a:t>
            </a:r>
            <a:r>
              <a:rPr lang="en-IN" sz="2400" b="0" i="1" u="none" strike="noStrike" baseline="0" dirty="0">
                <a:latin typeface="Times New Roman" panose="02020603050405020304" pitchFamily="18" charset="0"/>
              </a:rPr>
              <a:t>)</a:t>
            </a:r>
          </a:p>
          <a:p>
            <a:pPr algn="l"/>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5</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¬P </a:t>
            </a:r>
            <a:r>
              <a:rPr lang="en-IN" sz="2400" b="0" i="0" u="none" strike="noStrike" baseline="0" dirty="0">
                <a:latin typeface="Arial Unicode MS"/>
              </a:rPr>
              <a:t>⇒ </a:t>
            </a:r>
            <a:r>
              <a:rPr lang="en-IN" sz="2400" b="0" i="1" u="none" strike="noStrike" baseline="0" dirty="0">
                <a:latin typeface="Times New Roman,Italic"/>
              </a:rPr>
              <a:t>P → Q </a:t>
            </a:r>
            <a:r>
              <a:rPr lang="en-IN" sz="2400" b="0" i="1"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expansion</a:t>
            </a:r>
            <a:r>
              <a:rPr lang="en-IN" sz="2400" b="0" i="1" u="none" strike="noStrike" baseline="0" dirty="0">
                <a:latin typeface="Times New Roman" panose="02020603050405020304" pitchFamily="18" charset="0"/>
              </a:rPr>
              <a:t>)</a:t>
            </a:r>
            <a:endParaRPr lang="en-IN" sz="2400" b="0" i="1" u="none" strike="noStrike" baseline="0" dirty="0">
              <a:latin typeface="Times New Roman,Italic"/>
            </a:endParaRPr>
          </a:p>
          <a:p>
            <a:pPr algn="l"/>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6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Italic"/>
              </a:rPr>
              <a:t>P → Q </a:t>
            </a:r>
            <a:r>
              <a:rPr lang="en-IN" sz="2400" b="0" i="1"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expansion</a:t>
            </a:r>
            <a:r>
              <a:rPr lang="en-IN" sz="2400" b="0" i="1" u="none" strike="noStrike" baseline="0" dirty="0">
                <a:latin typeface="Times New Roman" panose="02020603050405020304" pitchFamily="18" charset="0"/>
              </a:rPr>
              <a:t>)</a:t>
            </a:r>
            <a:endParaRPr lang="en-IN" sz="2400" b="0" i="1" u="none" strike="noStrike" baseline="0" dirty="0">
              <a:latin typeface="Times New Roman,Italic"/>
            </a:endParaRPr>
          </a:p>
          <a:p>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7</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a:t>
            </a:r>
            <a:r>
              <a:rPr lang="en-IN" sz="2400" b="0" i="0" u="none" strike="noStrike" baseline="0" dirty="0">
                <a:latin typeface="Times New Roman" panose="02020603050405020304" pitchFamily="18" charset="0"/>
              </a:rPr>
              <a:t>(</a:t>
            </a:r>
            <a:r>
              <a:rPr lang="en-IN" sz="2400" b="0" i="1" u="none" strike="noStrike" baseline="0" dirty="0">
                <a:latin typeface="Times New Roman,Italic"/>
              </a:rPr>
              <a:t>P → Q</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fr-FR" sz="2400" b="0" i="0" u="none" strike="noStrike" baseline="0" dirty="0">
                <a:latin typeface="Times New Roman" panose="02020603050405020304" pitchFamily="18" charset="0"/>
              </a:rPr>
              <a:t>(</a:t>
            </a:r>
            <a:r>
              <a:rPr lang="fr-FR" sz="2400" b="1" i="1" u="none" strike="noStrike" baseline="0" dirty="0">
                <a:latin typeface="Times New Roman" panose="02020603050405020304" pitchFamily="18" charset="0"/>
              </a:rPr>
              <a:t>simplification</a:t>
            </a:r>
            <a:r>
              <a:rPr lang="fr-FR" sz="2400" b="0" i="0" u="none" strike="noStrike" baseline="0" dirty="0">
                <a:latin typeface="Times New Roman" panose="02020603050405020304" pitchFamily="18" charset="0"/>
              </a:rPr>
              <a:t>)</a:t>
            </a:r>
            <a:endParaRPr lang="en-IN" sz="2400" b="0" i="1" u="none" strike="noStrike" baseline="0" dirty="0">
              <a:latin typeface="Times New Roman" panose="02020603050405020304" pitchFamily="18" charset="0"/>
            </a:endParaRPr>
          </a:p>
          <a:p>
            <a:r>
              <a:rPr lang="en-IN" sz="2400" b="1" i="1" u="none" strike="noStrike" baseline="0" dirty="0">
                <a:latin typeface="Times New Roman" panose="02020603050405020304" pitchFamily="18" charset="0"/>
              </a:rPr>
              <a:t>I</a:t>
            </a:r>
            <a:r>
              <a:rPr lang="en-IN" sz="1600" b="1" i="0" u="none" strike="noStrike" baseline="0" dirty="0">
                <a:latin typeface="Times New Roman" panose="02020603050405020304" pitchFamily="18" charset="0"/>
              </a:rPr>
              <a:t>8</a:t>
            </a:r>
            <a:r>
              <a:rPr lang="en-IN" sz="16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 panose="02020603050405020304" pitchFamily="18" charset="0"/>
              </a:rPr>
              <a:t>¬</a:t>
            </a:r>
            <a:r>
              <a:rPr lang="en-IN" sz="2400" b="0" i="0" u="none" strike="noStrike" baseline="0" dirty="0">
                <a:latin typeface="Times New Roman" panose="02020603050405020304" pitchFamily="18" charset="0"/>
              </a:rPr>
              <a:t>(</a:t>
            </a:r>
            <a:r>
              <a:rPr lang="en-IN" sz="2400" b="0" i="1" u="none" strike="noStrike" baseline="0" dirty="0">
                <a:latin typeface="Times New Roman,Italic"/>
              </a:rPr>
              <a:t>P → Q</a:t>
            </a:r>
            <a:r>
              <a:rPr lang="en-IN" sz="2400" b="0" i="0" u="none" strike="noStrike" baseline="0" dirty="0">
                <a:latin typeface="Times New Roman" panose="02020603050405020304" pitchFamily="18" charset="0"/>
              </a:rPr>
              <a:t>)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fr-FR" sz="2400" b="0" i="0" u="none" strike="noStrike" baseline="0" dirty="0">
                <a:latin typeface="Times New Roman" panose="02020603050405020304" pitchFamily="18" charset="0"/>
              </a:rPr>
              <a:t>(</a:t>
            </a:r>
            <a:r>
              <a:rPr lang="fr-FR" sz="2400" b="1" i="1" u="none" strike="noStrike" baseline="0" dirty="0">
                <a:latin typeface="Times New Roman" panose="02020603050405020304" pitchFamily="18" charset="0"/>
              </a:rPr>
              <a:t>simplification</a:t>
            </a:r>
            <a:r>
              <a:rPr lang="fr-FR" sz="2400" b="0" i="0" u="none" strike="noStrike" baseline="0" dirty="0">
                <a:latin typeface="Times New Roman" panose="02020603050405020304" pitchFamily="18" charset="0"/>
              </a:rPr>
              <a:t>)</a:t>
            </a:r>
            <a:endParaRPr lang="en-IN" sz="2400" b="0" i="1" u="none" strike="noStrike" baseline="0" dirty="0">
              <a:latin typeface="Times New Roman" panose="02020603050405020304" pitchFamily="18" charset="0"/>
            </a:endParaRPr>
          </a:p>
          <a:p>
            <a:pPr algn="l"/>
            <a:r>
              <a:rPr lang="nn-NO" sz="2400" b="1" i="1" u="none" strike="noStrike" baseline="0" dirty="0">
                <a:latin typeface="Times New Roman" panose="02020603050405020304" pitchFamily="18" charset="0"/>
              </a:rPr>
              <a:t>I</a:t>
            </a:r>
            <a:r>
              <a:rPr lang="nn-NO" sz="1600" b="1" i="0" u="none" strike="noStrike" baseline="0" dirty="0">
                <a:latin typeface="Times New Roman" panose="02020603050405020304" pitchFamily="18" charset="0"/>
              </a:rPr>
              <a:t>9</a:t>
            </a:r>
            <a:r>
              <a:rPr lang="nn-NO" sz="1600" b="0" i="0" u="none" strike="noStrike" baseline="0" dirty="0">
                <a:latin typeface="Times New Roman" panose="02020603050405020304" pitchFamily="18" charset="0"/>
              </a:rPr>
              <a:t> </a:t>
            </a:r>
            <a:r>
              <a:rPr lang="nn-NO" sz="2400" b="0" i="0" u="none" strike="noStrike" baseline="0" dirty="0">
                <a:latin typeface="Times New Roman" panose="02020603050405020304" pitchFamily="18" charset="0"/>
              </a:rPr>
              <a:t>: </a:t>
            </a:r>
            <a:r>
              <a:rPr lang="nn-NO" sz="2400" b="0" i="1" u="none" strike="noStrike" baseline="0" dirty="0">
                <a:latin typeface="Times New Roman" panose="02020603050405020304" pitchFamily="18" charset="0"/>
              </a:rPr>
              <a:t>P, Q </a:t>
            </a:r>
            <a:r>
              <a:rPr lang="nn-NO" sz="2400" b="0" i="0" u="none" strike="noStrike" baseline="0" dirty="0">
                <a:latin typeface="Arial Unicode MS"/>
              </a:rPr>
              <a:t>⇒ </a:t>
            </a:r>
            <a:r>
              <a:rPr lang="nn-NO" sz="2400" b="0" i="1" u="none" strike="noStrike" baseline="0" dirty="0">
                <a:latin typeface="Times New Roman" panose="02020603050405020304" pitchFamily="18" charset="0"/>
              </a:rPr>
              <a:t>P </a:t>
            </a:r>
            <a:r>
              <a:rPr lang="nn-NO" sz="2400" b="0" i="0" u="none" strike="noStrike" baseline="0" dirty="0">
                <a:latin typeface="Arial Unicode MS"/>
              </a:rPr>
              <a:t>∧ </a:t>
            </a:r>
            <a:r>
              <a:rPr lang="nn-NO" sz="2400" b="0" i="1" u="none" strike="noStrike" baseline="0" dirty="0">
                <a:latin typeface="Times New Roman" panose="02020603050405020304" pitchFamily="18" charset="0"/>
              </a:rPr>
              <a:t>Q  </a:t>
            </a:r>
            <a:r>
              <a:rPr lang="nn-NO" sz="2400" b="1" i="1" u="none" strike="noStrike" baseline="0" dirty="0">
                <a:latin typeface="Times New Roman" panose="02020603050405020304" pitchFamily="18" charset="0"/>
              </a:rPr>
              <a:t>(addition)</a:t>
            </a:r>
          </a:p>
          <a:p>
            <a:pPr algn="l"/>
            <a:r>
              <a:rPr lang="en-IN" sz="3200" b="1" i="1" u="none" strike="noStrike" baseline="0" dirty="0">
                <a:latin typeface="Times New Roman" panose="02020603050405020304" pitchFamily="18" charset="0"/>
              </a:rPr>
              <a:t>I</a:t>
            </a:r>
            <a:r>
              <a:rPr lang="en-IN" sz="1200" b="1" i="0" u="none" strike="noStrike" baseline="0" dirty="0">
                <a:latin typeface="Times New Roman" panose="02020603050405020304" pitchFamily="18" charset="0"/>
              </a:rPr>
              <a:t>10</a:t>
            </a:r>
            <a:r>
              <a:rPr lang="en-IN" sz="3200" b="0" i="0" u="none" strike="noStrike" baseline="0" dirty="0">
                <a:latin typeface="Times New Roman" panose="02020603050405020304" pitchFamily="18" charset="0"/>
              </a:rPr>
              <a:t>:</a:t>
            </a:r>
            <a:r>
              <a:rPr lang="en-IN" sz="3200" dirty="0">
                <a:latin typeface="Times New Roman" panose="02020603050405020304" pitchFamily="18" charset="0"/>
              </a:rPr>
              <a:t> </a:t>
            </a:r>
            <a:r>
              <a:rPr lang="en-IN" sz="2400" b="0" i="1" u="none" strike="noStrike" baseline="0" dirty="0">
                <a:latin typeface="Times New Roman" panose="02020603050405020304" pitchFamily="18" charset="0"/>
              </a:rPr>
              <a:t>¬P, P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disjunctive syllogism</a:t>
            </a:r>
            <a:r>
              <a:rPr lang="en-IN" sz="2400" b="0" i="0" u="none" strike="noStrike" baseline="0" dirty="0">
                <a:latin typeface="Times New Roman" panose="02020603050405020304" pitchFamily="18" charset="0"/>
              </a:rPr>
              <a:t>)</a:t>
            </a:r>
          </a:p>
          <a:p>
            <a:pPr algn="l"/>
            <a:r>
              <a:rPr lang="en-IN" sz="3200" b="1" i="1" u="none" strike="noStrike" baseline="0" dirty="0">
                <a:latin typeface="Times New Roman" panose="02020603050405020304" pitchFamily="18" charset="0"/>
              </a:rPr>
              <a:t>I</a:t>
            </a:r>
            <a:r>
              <a:rPr lang="en-IN" sz="1200" b="1" i="0" u="none" strike="noStrike" baseline="0" dirty="0">
                <a:latin typeface="Times New Roman" panose="02020603050405020304" pitchFamily="18" charset="0"/>
              </a:rPr>
              <a:t>11</a:t>
            </a:r>
            <a:r>
              <a:rPr lang="en-IN" sz="12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Italic"/>
              </a:rPr>
              <a:t>P, P → Q </a:t>
            </a:r>
            <a:r>
              <a:rPr lang="en-IN" sz="2400" b="0" i="0" u="none" strike="noStrike" baseline="0" dirty="0">
                <a:latin typeface="Arial Unicode MS"/>
              </a:rPr>
              <a:t>⇒ </a:t>
            </a:r>
            <a:r>
              <a:rPr lang="en-IN" sz="2400" b="0" i="1" u="none" strike="noStrike" baseline="0" dirty="0">
                <a:latin typeface="Times New Roman" panose="02020603050405020304" pitchFamily="18" charset="0"/>
              </a:rPr>
              <a:t>Q </a:t>
            </a:r>
            <a:r>
              <a:rPr lang="en-IN" sz="2400" b="0" i="0"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modus ponens</a:t>
            </a:r>
            <a:r>
              <a:rPr lang="en-IN" sz="2400" b="0" i="0" u="none" strike="noStrike" baseline="0" dirty="0">
                <a:latin typeface="Times New Roman" panose="02020603050405020304" pitchFamily="18" charset="0"/>
              </a:rPr>
              <a:t>)</a:t>
            </a:r>
          </a:p>
          <a:p>
            <a:pPr algn="l"/>
            <a:r>
              <a:rPr lang="en-IN" sz="3200" b="1" i="1" u="none" strike="noStrike" baseline="0" dirty="0">
                <a:latin typeface="Times New Roman" panose="02020603050405020304" pitchFamily="18" charset="0"/>
              </a:rPr>
              <a:t>I</a:t>
            </a:r>
            <a:r>
              <a:rPr lang="en-IN" sz="1200" b="1" i="0" u="none" strike="noStrike" baseline="0" dirty="0">
                <a:latin typeface="Times New Roman" panose="02020603050405020304" pitchFamily="18" charset="0"/>
              </a:rPr>
              <a:t>12</a:t>
            </a:r>
            <a:r>
              <a:rPr lang="en-IN" sz="12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Italic"/>
              </a:rPr>
              <a:t>¬Q, P → Q </a:t>
            </a:r>
            <a:r>
              <a:rPr lang="en-IN" sz="2400" b="0" i="0" u="none" strike="noStrike" baseline="0" dirty="0">
                <a:latin typeface="Arial Unicode MS"/>
              </a:rPr>
              <a:t>⇒ </a:t>
            </a:r>
            <a:r>
              <a:rPr lang="en-IN" sz="2400" b="0" i="1" u="none" strike="noStrike" baseline="0" dirty="0">
                <a:latin typeface="Times New Roman" panose="02020603050405020304" pitchFamily="18" charset="0"/>
              </a:rPr>
              <a:t>¬P </a:t>
            </a:r>
            <a:r>
              <a:rPr lang="en-IN" sz="2400" b="0" i="0"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modus tollens</a:t>
            </a:r>
            <a:r>
              <a:rPr lang="en-IN" sz="2400" b="0" i="0" u="none" strike="noStrike" baseline="0" dirty="0">
                <a:latin typeface="Times New Roman" panose="02020603050405020304" pitchFamily="18" charset="0"/>
              </a:rPr>
              <a:t>)</a:t>
            </a:r>
          </a:p>
          <a:p>
            <a:pPr algn="l"/>
            <a:r>
              <a:rPr lang="en-IN" sz="3200" b="1" i="1" u="none" strike="noStrike" baseline="0" dirty="0">
                <a:latin typeface="Times New Roman" panose="02020603050405020304" pitchFamily="18" charset="0"/>
              </a:rPr>
              <a:t>I</a:t>
            </a:r>
            <a:r>
              <a:rPr lang="en-IN" sz="1200" b="1" i="0" u="none" strike="noStrike" baseline="0" dirty="0">
                <a:latin typeface="Times New Roman" panose="02020603050405020304" pitchFamily="18" charset="0"/>
              </a:rPr>
              <a:t>13</a:t>
            </a:r>
            <a:r>
              <a:rPr lang="en-IN" sz="1200" b="0" i="0" u="none" strike="noStrike" baseline="0" dirty="0">
                <a:latin typeface="Times New Roman" panose="02020603050405020304" pitchFamily="18" charset="0"/>
              </a:rPr>
              <a:t> </a:t>
            </a:r>
            <a:r>
              <a:rPr lang="en-IN" sz="2400" b="0" i="0" u="none" strike="noStrike" baseline="0" dirty="0">
                <a:latin typeface="Times New Roman" panose="02020603050405020304" pitchFamily="18" charset="0"/>
              </a:rPr>
              <a:t>: </a:t>
            </a:r>
            <a:r>
              <a:rPr lang="en-IN" sz="2400" b="0" i="1" u="none" strike="noStrike" baseline="0" dirty="0">
                <a:latin typeface="Times New Roman,Italic"/>
              </a:rPr>
              <a:t>P → Q, Q → R </a:t>
            </a:r>
            <a:r>
              <a:rPr lang="en-IN" sz="2400" b="0" i="0" u="none" strike="noStrike" baseline="0" dirty="0">
                <a:latin typeface="Arial Unicode MS"/>
              </a:rPr>
              <a:t>⇒ </a:t>
            </a:r>
            <a:r>
              <a:rPr lang="en-IN" sz="2400" b="0" i="1" u="none" strike="noStrike" baseline="0" dirty="0">
                <a:latin typeface="Times New Roman,Italic"/>
              </a:rPr>
              <a:t>P → R </a:t>
            </a:r>
            <a:r>
              <a:rPr lang="en-IN" sz="2400" b="0" i="0" u="none" strike="noStrike" baseline="0" dirty="0">
                <a:latin typeface="Times New Roman" panose="02020603050405020304" pitchFamily="18" charset="0"/>
              </a:rPr>
              <a:t>(</a:t>
            </a:r>
            <a:r>
              <a:rPr lang="en-IN" sz="2400" b="1" i="1" u="none" strike="noStrike" baseline="0" dirty="0">
                <a:latin typeface="Times New Roman" panose="02020603050405020304" pitchFamily="18" charset="0"/>
              </a:rPr>
              <a:t>hypothetical syllogism</a:t>
            </a:r>
            <a:r>
              <a:rPr lang="en-IN" sz="2400" b="0" i="0" u="none" strike="noStrike" baseline="0" dirty="0">
                <a:latin typeface="Times New Roman" panose="02020603050405020304" pitchFamily="18" charset="0"/>
              </a:rPr>
              <a:t>)</a:t>
            </a:r>
          </a:p>
          <a:p>
            <a:pPr algn="l"/>
            <a:r>
              <a:rPr lang="en-IN" sz="3200" b="1" i="1" u="none" strike="noStrike" baseline="0" dirty="0">
                <a:latin typeface="Times New Roman" panose="02020603050405020304" pitchFamily="18" charset="0"/>
              </a:rPr>
              <a:t>I</a:t>
            </a:r>
            <a:r>
              <a:rPr lang="pt-BR" sz="1200" b="1" i="0" u="none" strike="noStrike" baseline="0" dirty="0">
                <a:latin typeface="Times New Roman" panose="02020603050405020304" pitchFamily="18" charset="0"/>
              </a:rPr>
              <a:t>14 </a:t>
            </a:r>
            <a:r>
              <a:rPr lang="pt-BR" sz="2400" b="0" i="0" u="none" strike="noStrike" baseline="0" dirty="0">
                <a:latin typeface="Times New Roman" panose="02020603050405020304" pitchFamily="18" charset="0"/>
              </a:rPr>
              <a:t>: </a:t>
            </a:r>
            <a:r>
              <a:rPr lang="pt-BR" sz="2400" b="0" i="1" u="none" strike="noStrike" baseline="0" dirty="0">
                <a:latin typeface="Times New Roman" panose="02020603050405020304" pitchFamily="18" charset="0"/>
              </a:rPr>
              <a:t>P </a:t>
            </a:r>
            <a:r>
              <a:rPr lang="pt-BR" sz="2400" b="0" i="0" u="none" strike="noStrike" baseline="0" dirty="0">
                <a:latin typeface="Arial Unicode MS"/>
              </a:rPr>
              <a:t>∨ </a:t>
            </a:r>
            <a:r>
              <a:rPr lang="pt-BR" sz="2400" b="0" i="1" u="none" strike="noStrike" baseline="0" dirty="0">
                <a:latin typeface="Times New Roman,Italic"/>
              </a:rPr>
              <a:t>Q, P → R, Q → R </a:t>
            </a:r>
            <a:r>
              <a:rPr lang="pt-BR" sz="2400" b="0" i="0" u="none" strike="noStrike" baseline="0" dirty="0">
                <a:latin typeface="Arial Unicode MS"/>
              </a:rPr>
              <a:t>⇒ </a:t>
            </a:r>
            <a:r>
              <a:rPr lang="pt-BR" sz="2400" b="0" i="1" u="none" strike="noStrike" baseline="0" dirty="0">
                <a:latin typeface="Times New Roman" panose="02020603050405020304" pitchFamily="18" charset="0"/>
              </a:rPr>
              <a:t>R </a:t>
            </a:r>
            <a:r>
              <a:rPr lang="pt-BR" sz="2400" b="0" i="0" u="none" strike="noStrike" baseline="0" dirty="0">
                <a:latin typeface="Times New Roman" panose="02020603050405020304" pitchFamily="18" charset="0"/>
              </a:rPr>
              <a:t>(</a:t>
            </a:r>
            <a:r>
              <a:rPr lang="pt-BR" sz="2400" b="1" i="1" u="none" strike="noStrike" baseline="0" dirty="0">
                <a:latin typeface="Times New Roman" panose="02020603050405020304" pitchFamily="18" charset="0"/>
              </a:rPr>
              <a:t>dilemma</a:t>
            </a:r>
            <a:r>
              <a:rPr lang="pt-BR" sz="2400" b="0" i="0" u="none" strike="noStrike" baseline="0" dirty="0">
                <a:latin typeface="Times New Roman" panose="02020603050405020304" pitchFamily="18" charset="0"/>
              </a:rPr>
              <a:t>)</a:t>
            </a:r>
            <a:endParaRPr lang="en-IN" dirty="0"/>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3741" y="324866"/>
            <a:ext cx="8616775" cy="1120178"/>
          </a:xfrm>
          <a:prstGeom prst="rect">
            <a:avLst/>
          </a:prstGeom>
        </p:spPr>
        <p:txBody>
          <a:bodyPr vert="horz" wrap="square" lIns="0" tIns="12065" rIns="0" bIns="0" rtlCol="0">
            <a:spAutoFit/>
          </a:bodyPr>
          <a:lstStyle/>
          <a:p>
            <a:pPr marL="12700">
              <a:spcBef>
                <a:spcPts val="95"/>
              </a:spcBef>
            </a:pPr>
            <a:r>
              <a:rPr sz="4000" spc="-50" dirty="0">
                <a:latin typeface="Carlito"/>
                <a:cs typeface="Carlito"/>
              </a:rPr>
              <a:t>Valid </a:t>
            </a:r>
            <a:r>
              <a:rPr sz="4000" spc="-15" dirty="0">
                <a:latin typeface="Carlito"/>
                <a:cs typeface="Carlito"/>
              </a:rPr>
              <a:t>Arguments </a:t>
            </a:r>
            <a:r>
              <a:rPr sz="4000" spc="-5" dirty="0">
                <a:latin typeface="Carlito"/>
                <a:cs typeface="Carlito"/>
              </a:rPr>
              <a:t>in </a:t>
            </a:r>
            <a:r>
              <a:rPr sz="4000" spc="-15" dirty="0">
                <a:latin typeface="Carlito"/>
                <a:cs typeface="Carlito"/>
              </a:rPr>
              <a:t>Propositional</a:t>
            </a:r>
            <a:r>
              <a:rPr sz="4000" spc="70" dirty="0">
                <a:latin typeface="Carlito"/>
                <a:cs typeface="Carlito"/>
              </a:rPr>
              <a:t> </a:t>
            </a:r>
            <a:r>
              <a:rPr sz="4000" spc="-10" dirty="0">
                <a:latin typeface="Carlito"/>
                <a:cs typeface="Carlito"/>
              </a:rPr>
              <a:t>Logic</a:t>
            </a:r>
            <a:endParaRPr sz="4000" dirty="0">
              <a:latin typeface="Carlito"/>
              <a:cs typeface="Carlito"/>
            </a:endParaRPr>
          </a:p>
        </p:txBody>
      </p:sp>
      <p:sp>
        <p:nvSpPr>
          <p:cNvPr id="3" name="object 3"/>
          <p:cNvSpPr txBox="1"/>
          <p:nvPr/>
        </p:nvSpPr>
        <p:spPr>
          <a:xfrm>
            <a:off x="1983741" y="1593850"/>
            <a:ext cx="8075295" cy="2099310"/>
          </a:xfrm>
          <a:prstGeom prst="rect">
            <a:avLst/>
          </a:prstGeom>
        </p:spPr>
        <p:txBody>
          <a:bodyPr vert="horz" wrap="square" lIns="0" tIns="43180" rIns="0" bIns="0" rtlCol="0">
            <a:spAutoFit/>
          </a:bodyPr>
          <a:lstStyle/>
          <a:p>
            <a:pPr marL="355600" marR="5080" indent="-343535" algn="just">
              <a:lnSpc>
                <a:spcPct val="90100"/>
              </a:lnSpc>
              <a:spcBef>
                <a:spcPts val="340"/>
              </a:spcBef>
              <a:buFont typeface="Arial"/>
              <a:buChar char="•"/>
              <a:tabLst>
                <a:tab pos="356235" algn="l"/>
              </a:tabLst>
            </a:pPr>
            <a:r>
              <a:rPr sz="2000" spc="-5" dirty="0">
                <a:solidFill>
                  <a:prstClr val="black"/>
                </a:solidFill>
                <a:latin typeface="Times New Roman"/>
                <a:cs typeface="Times New Roman"/>
              </a:rPr>
              <a:t>Consider the following </a:t>
            </a:r>
            <a:r>
              <a:rPr sz="2000" spc="-10" dirty="0">
                <a:solidFill>
                  <a:prstClr val="black"/>
                </a:solidFill>
                <a:latin typeface="Times New Roman"/>
                <a:cs typeface="Times New Roman"/>
              </a:rPr>
              <a:t>argument </a:t>
            </a:r>
            <a:r>
              <a:rPr sz="2000" spc="-5" dirty="0">
                <a:solidFill>
                  <a:prstClr val="black"/>
                </a:solidFill>
                <a:latin typeface="Times New Roman"/>
                <a:cs typeface="Times New Roman"/>
              </a:rPr>
              <a:t>involving propositions (which, </a:t>
            </a:r>
            <a:r>
              <a:rPr sz="2000" spc="5" dirty="0">
                <a:solidFill>
                  <a:prstClr val="black"/>
                </a:solidFill>
                <a:latin typeface="Times New Roman"/>
                <a:cs typeface="Times New Roman"/>
              </a:rPr>
              <a:t>by  </a:t>
            </a:r>
            <a:r>
              <a:rPr sz="2000" spc="-5" dirty="0">
                <a:solidFill>
                  <a:prstClr val="black"/>
                </a:solidFill>
                <a:latin typeface="Times New Roman"/>
                <a:cs typeface="Times New Roman"/>
              </a:rPr>
              <a:t>dentition, </a:t>
            </a:r>
            <a:r>
              <a:rPr sz="2000" spc="-10" dirty="0">
                <a:solidFill>
                  <a:prstClr val="black"/>
                </a:solidFill>
                <a:latin typeface="Times New Roman"/>
                <a:cs typeface="Times New Roman"/>
              </a:rPr>
              <a:t>is </a:t>
            </a:r>
            <a:r>
              <a:rPr sz="2000" dirty="0">
                <a:solidFill>
                  <a:prstClr val="black"/>
                </a:solidFill>
                <a:latin typeface="Times New Roman"/>
                <a:cs typeface="Times New Roman"/>
              </a:rPr>
              <a:t>a sequence of </a:t>
            </a:r>
            <a:r>
              <a:rPr sz="2000" spc="-5" dirty="0">
                <a:solidFill>
                  <a:prstClr val="black"/>
                </a:solidFill>
                <a:latin typeface="Times New Roman"/>
                <a:cs typeface="Times New Roman"/>
              </a:rPr>
              <a:t>propositions): </a:t>
            </a:r>
            <a:r>
              <a:rPr sz="2000" spc="-10" dirty="0">
                <a:solidFill>
                  <a:prstClr val="black"/>
                </a:solidFill>
                <a:latin typeface="Times New Roman"/>
                <a:cs typeface="Times New Roman"/>
              </a:rPr>
              <a:t>“If </a:t>
            </a:r>
            <a:r>
              <a:rPr sz="2000" spc="-5" dirty="0">
                <a:solidFill>
                  <a:prstClr val="black"/>
                </a:solidFill>
                <a:latin typeface="Times New Roman"/>
                <a:cs typeface="Times New Roman"/>
              </a:rPr>
              <a:t>you </a:t>
            </a:r>
            <a:r>
              <a:rPr sz="2000" dirty="0">
                <a:solidFill>
                  <a:prstClr val="black"/>
                </a:solidFill>
                <a:latin typeface="Times New Roman"/>
                <a:cs typeface="Times New Roman"/>
              </a:rPr>
              <a:t>have a </a:t>
            </a:r>
            <a:r>
              <a:rPr sz="2000" spc="-5" dirty="0">
                <a:solidFill>
                  <a:prstClr val="black"/>
                </a:solidFill>
                <a:latin typeface="Times New Roman"/>
                <a:cs typeface="Times New Roman"/>
              </a:rPr>
              <a:t>current password,  </a:t>
            </a:r>
            <a:r>
              <a:rPr sz="2000" dirty="0">
                <a:solidFill>
                  <a:prstClr val="black"/>
                </a:solidFill>
                <a:latin typeface="Times New Roman"/>
                <a:cs typeface="Times New Roman"/>
              </a:rPr>
              <a:t>then you </a:t>
            </a:r>
            <a:r>
              <a:rPr sz="2000" spc="-5" dirty="0">
                <a:solidFill>
                  <a:prstClr val="black"/>
                </a:solidFill>
                <a:latin typeface="Times New Roman"/>
                <a:cs typeface="Times New Roman"/>
              </a:rPr>
              <a:t>can </a:t>
            </a:r>
            <a:r>
              <a:rPr sz="2000" dirty="0">
                <a:solidFill>
                  <a:prstClr val="black"/>
                </a:solidFill>
                <a:latin typeface="Times New Roman"/>
                <a:cs typeface="Times New Roman"/>
              </a:rPr>
              <a:t>log onto the network.” </a:t>
            </a:r>
            <a:r>
              <a:rPr sz="2000" spc="-50" dirty="0">
                <a:solidFill>
                  <a:prstClr val="black"/>
                </a:solidFill>
                <a:latin typeface="Times New Roman"/>
                <a:cs typeface="Times New Roman"/>
              </a:rPr>
              <a:t>“You </a:t>
            </a:r>
            <a:r>
              <a:rPr sz="2000" dirty="0">
                <a:solidFill>
                  <a:prstClr val="black"/>
                </a:solidFill>
                <a:latin typeface="Times New Roman"/>
                <a:cs typeface="Times New Roman"/>
              </a:rPr>
              <a:t>have a current</a:t>
            </a:r>
            <a:r>
              <a:rPr sz="2000" spc="-120" dirty="0">
                <a:solidFill>
                  <a:prstClr val="black"/>
                </a:solidFill>
                <a:latin typeface="Times New Roman"/>
                <a:cs typeface="Times New Roman"/>
              </a:rPr>
              <a:t> </a:t>
            </a:r>
            <a:r>
              <a:rPr sz="2000" dirty="0">
                <a:solidFill>
                  <a:prstClr val="black"/>
                </a:solidFill>
                <a:latin typeface="Times New Roman"/>
                <a:cs typeface="Times New Roman"/>
              </a:rPr>
              <a:t>password.”</a:t>
            </a:r>
          </a:p>
          <a:p>
            <a:pPr marL="355600" indent="-343535" algn="just">
              <a:spcBef>
                <a:spcPts val="240"/>
              </a:spcBef>
              <a:buFont typeface="Arial"/>
              <a:buChar char="•"/>
              <a:tabLst>
                <a:tab pos="356235" algn="l"/>
              </a:tabLst>
            </a:pPr>
            <a:r>
              <a:rPr sz="2000" dirty="0">
                <a:solidFill>
                  <a:prstClr val="black"/>
                </a:solidFill>
                <a:latin typeface="Times New Roman"/>
                <a:cs typeface="Times New Roman"/>
              </a:rPr>
              <a:t>Therefore, </a:t>
            </a:r>
            <a:r>
              <a:rPr sz="2000" spc="-50" dirty="0">
                <a:solidFill>
                  <a:prstClr val="black"/>
                </a:solidFill>
                <a:latin typeface="Times New Roman"/>
                <a:cs typeface="Times New Roman"/>
              </a:rPr>
              <a:t>“You </a:t>
            </a:r>
            <a:r>
              <a:rPr sz="2000" dirty="0">
                <a:solidFill>
                  <a:prstClr val="black"/>
                </a:solidFill>
                <a:latin typeface="Times New Roman"/>
                <a:cs typeface="Times New Roman"/>
              </a:rPr>
              <a:t>can log onto the</a:t>
            </a:r>
            <a:r>
              <a:rPr sz="2000" spc="-60" dirty="0">
                <a:solidFill>
                  <a:prstClr val="black"/>
                </a:solidFill>
                <a:latin typeface="Times New Roman"/>
                <a:cs typeface="Times New Roman"/>
              </a:rPr>
              <a:t> </a:t>
            </a:r>
            <a:r>
              <a:rPr sz="2000" dirty="0">
                <a:solidFill>
                  <a:prstClr val="black"/>
                </a:solidFill>
                <a:latin typeface="Times New Roman"/>
                <a:cs typeface="Times New Roman"/>
              </a:rPr>
              <a:t>network.”</a:t>
            </a:r>
          </a:p>
          <a:p>
            <a:pPr marL="355600" marR="5715" indent="-343535" algn="just">
              <a:lnSpc>
                <a:spcPts val="2160"/>
              </a:lnSpc>
              <a:spcBef>
                <a:spcPts val="509"/>
              </a:spcBef>
              <a:buFont typeface="Arial"/>
              <a:buChar char="•"/>
              <a:tabLst>
                <a:tab pos="356235" algn="l"/>
              </a:tabLst>
            </a:pPr>
            <a:r>
              <a:rPr sz="2000" dirty="0">
                <a:solidFill>
                  <a:prstClr val="black"/>
                </a:solidFill>
                <a:latin typeface="Times New Roman"/>
                <a:cs typeface="Times New Roman"/>
              </a:rPr>
              <a:t>Before we </a:t>
            </a:r>
            <a:r>
              <a:rPr sz="2000" spc="-5" dirty="0">
                <a:solidFill>
                  <a:prstClr val="black"/>
                </a:solidFill>
                <a:latin typeface="Times New Roman"/>
                <a:cs typeface="Times New Roman"/>
              </a:rPr>
              <a:t>discuss the validity of this particular </a:t>
            </a:r>
            <a:r>
              <a:rPr sz="2000" spc="-10" dirty="0">
                <a:solidFill>
                  <a:prstClr val="black"/>
                </a:solidFill>
                <a:latin typeface="Times New Roman"/>
                <a:cs typeface="Times New Roman"/>
              </a:rPr>
              <a:t>argument, </a:t>
            </a:r>
            <a:r>
              <a:rPr sz="2000" dirty="0">
                <a:solidFill>
                  <a:prstClr val="black"/>
                </a:solidFill>
                <a:latin typeface="Times New Roman"/>
                <a:cs typeface="Times New Roman"/>
              </a:rPr>
              <a:t>we will </a:t>
            </a:r>
            <a:r>
              <a:rPr sz="2000" spc="-5" dirty="0">
                <a:solidFill>
                  <a:prstClr val="black"/>
                </a:solidFill>
                <a:latin typeface="Times New Roman"/>
                <a:cs typeface="Times New Roman"/>
              </a:rPr>
              <a:t>look at  its </a:t>
            </a:r>
            <a:r>
              <a:rPr sz="2000" spc="-10" dirty="0">
                <a:solidFill>
                  <a:prstClr val="black"/>
                </a:solidFill>
                <a:latin typeface="Times New Roman"/>
                <a:cs typeface="Times New Roman"/>
              </a:rPr>
              <a:t>form. </a:t>
            </a:r>
            <a:r>
              <a:rPr sz="2000" dirty="0">
                <a:solidFill>
                  <a:prstClr val="black"/>
                </a:solidFill>
                <a:latin typeface="Times New Roman"/>
                <a:cs typeface="Times New Roman"/>
              </a:rPr>
              <a:t>Use p </a:t>
            </a:r>
            <a:r>
              <a:rPr sz="2000" spc="-10" dirty="0">
                <a:solidFill>
                  <a:prstClr val="black"/>
                </a:solidFill>
                <a:latin typeface="Times New Roman"/>
                <a:cs typeface="Times New Roman"/>
              </a:rPr>
              <a:t>to </a:t>
            </a:r>
            <a:r>
              <a:rPr sz="2000" spc="-5" dirty="0">
                <a:solidFill>
                  <a:prstClr val="black"/>
                </a:solidFill>
                <a:latin typeface="Times New Roman"/>
                <a:cs typeface="Times New Roman"/>
              </a:rPr>
              <a:t>represent </a:t>
            </a:r>
            <a:r>
              <a:rPr sz="2000" dirty="0">
                <a:solidFill>
                  <a:prstClr val="black"/>
                </a:solidFill>
                <a:latin typeface="Times New Roman"/>
                <a:cs typeface="Times New Roman"/>
              </a:rPr>
              <a:t>“ </a:t>
            </a:r>
            <a:r>
              <a:rPr sz="2000" spc="-65" dirty="0">
                <a:solidFill>
                  <a:prstClr val="black"/>
                </a:solidFill>
                <a:latin typeface="Times New Roman"/>
                <a:cs typeface="Times New Roman"/>
              </a:rPr>
              <a:t>You </a:t>
            </a:r>
            <a:r>
              <a:rPr sz="2000" dirty="0">
                <a:solidFill>
                  <a:prstClr val="black"/>
                </a:solidFill>
                <a:latin typeface="Times New Roman"/>
                <a:cs typeface="Times New Roman"/>
              </a:rPr>
              <a:t>have a </a:t>
            </a:r>
            <a:r>
              <a:rPr sz="2000" spc="-5" dirty="0">
                <a:solidFill>
                  <a:prstClr val="black"/>
                </a:solidFill>
                <a:latin typeface="Times New Roman"/>
                <a:cs typeface="Times New Roman"/>
              </a:rPr>
              <a:t>current password </a:t>
            </a:r>
            <a:r>
              <a:rPr sz="2000" dirty="0">
                <a:solidFill>
                  <a:prstClr val="black"/>
                </a:solidFill>
                <a:latin typeface="Times New Roman"/>
                <a:cs typeface="Times New Roman"/>
              </a:rPr>
              <a:t>” </a:t>
            </a:r>
            <a:r>
              <a:rPr sz="2000" spc="-5" dirty="0">
                <a:solidFill>
                  <a:prstClr val="black"/>
                </a:solidFill>
                <a:latin typeface="Times New Roman"/>
                <a:cs typeface="Times New Roman"/>
              </a:rPr>
              <a:t>and </a:t>
            </a:r>
            <a:r>
              <a:rPr sz="2000" dirty="0">
                <a:solidFill>
                  <a:prstClr val="black"/>
                </a:solidFill>
                <a:latin typeface="Times New Roman"/>
                <a:cs typeface="Times New Roman"/>
              </a:rPr>
              <a:t>q </a:t>
            </a:r>
            <a:r>
              <a:rPr sz="2000" spc="-20" dirty="0">
                <a:solidFill>
                  <a:prstClr val="black"/>
                </a:solidFill>
                <a:latin typeface="Times New Roman"/>
                <a:cs typeface="Times New Roman"/>
              </a:rPr>
              <a:t>to  </a:t>
            </a:r>
            <a:r>
              <a:rPr sz="2000" dirty="0">
                <a:solidFill>
                  <a:prstClr val="black"/>
                </a:solidFill>
                <a:latin typeface="Times New Roman"/>
                <a:cs typeface="Times New Roman"/>
              </a:rPr>
              <a:t>represent “ </a:t>
            </a:r>
            <a:r>
              <a:rPr sz="2000" spc="-65" dirty="0">
                <a:solidFill>
                  <a:prstClr val="black"/>
                </a:solidFill>
                <a:latin typeface="Times New Roman"/>
                <a:cs typeface="Times New Roman"/>
              </a:rPr>
              <a:t>You </a:t>
            </a:r>
            <a:r>
              <a:rPr sz="2000" dirty="0">
                <a:solidFill>
                  <a:prstClr val="black"/>
                </a:solidFill>
                <a:latin typeface="Times New Roman"/>
                <a:cs typeface="Times New Roman"/>
              </a:rPr>
              <a:t>can logon </a:t>
            </a:r>
            <a:r>
              <a:rPr sz="2000" spc="-5" dirty="0">
                <a:solidFill>
                  <a:prstClr val="black"/>
                </a:solidFill>
                <a:latin typeface="Times New Roman"/>
                <a:cs typeface="Times New Roman"/>
              </a:rPr>
              <a:t>to </a:t>
            </a:r>
            <a:r>
              <a:rPr sz="2000" dirty="0">
                <a:solidFill>
                  <a:prstClr val="black"/>
                </a:solidFill>
                <a:latin typeface="Times New Roman"/>
                <a:cs typeface="Times New Roman"/>
              </a:rPr>
              <a:t>the</a:t>
            </a:r>
            <a:r>
              <a:rPr sz="2000" spc="-120" dirty="0">
                <a:solidFill>
                  <a:prstClr val="black"/>
                </a:solidFill>
                <a:latin typeface="Times New Roman"/>
                <a:cs typeface="Times New Roman"/>
              </a:rPr>
              <a:t> </a:t>
            </a:r>
            <a:r>
              <a:rPr sz="2000" dirty="0">
                <a:solidFill>
                  <a:prstClr val="black"/>
                </a:solidFill>
                <a:latin typeface="Times New Roman"/>
                <a:cs typeface="Times New Roman"/>
              </a:rPr>
              <a:t>network.”</a:t>
            </a:r>
          </a:p>
        </p:txBody>
      </p:sp>
      <p:sp>
        <p:nvSpPr>
          <p:cNvPr id="4" name="object 4"/>
          <p:cNvSpPr txBox="1"/>
          <p:nvPr/>
        </p:nvSpPr>
        <p:spPr>
          <a:xfrm>
            <a:off x="1983741" y="4904994"/>
            <a:ext cx="8074025" cy="894476"/>
          </a:xfrm>
          <a:prstGeom prst="rect">
            <a:avLst/>
          </a:prstGeom>
        </p:spPr>
        <p:txBody>
          <a:bodyPr vert="horz" wrap="square" lIns="0" tIns="47625" rIns="0" bIns="0" rtlCol="0">
            <a:spAutoFit/>
          </a:bodyPr>
          <a:lstStyle/>
          <a:p>
            <a:pPr marL="355600" marR="5080" indent="-343535" algn="just">
              <a:lnSpc>
                <a:spcPts val="2160"/>
              </a:lnSpc>
              <a:spcBef>
                <a:spcPts val="375"/>
              </a:spcBef>
              <a:buFont typeface="Arial"/>
              <a:buChar char="•"/>
              <a:tabLst>
                <a:tab pos="356235" algn="l"/>
              </a:tabLst>
            </a:pPr>
            <a:r>
              <a:rPr sz="2000" spc="-75" dirty="0">
                <a:solidFill>
                  <a:prstClr val="black"/>
                </a:solidFill>
                <a:latin typeface="Times New Roman"/>
                <a:cs typeface="Times New Roman"/>
              </a:rPr>
              <a:t>We </a:t>
            </a:r>
            <a:r>
              <a:rPr sz="2000" dirty="0">
                <a:solidFill>
                  <a:prstClr val="black"/>
                </a:solidFill>
                <a:latin typeface="Times New Roman"/>
                <a:cs typeface="Times New Roman"/>
              </a:rPr>
              <a:t>say </a:t>
            </a:r>
            <a:r>
              <a:rPr sz="2000" spc="-5" dirty="0">
                <a:solidFill>
                  <a:prstClr val="black"/>
                </a:solidFill>
                <a:latin typeface="Times New Roman"/>
                <a:cs typeface="Times New Roman"/>
              </a:rPr>
              <a:t>this form </a:t>
            </a:r>
            <a:r>
              <a:rPr sz="2000" dirty="0">
                <a:solidFill>
                  <a:prstClr val="black"/>
                </a:solidFill>
                <a:latin typeface="Times New Roman"/>
                <a:cs typeface="Times New Roman"/>
              </a:rPr>
              <a:t>of </a:t>
            </a:r>
            <a:r>
              <a:rPr sz="2000" spc="-10" dirty="0">
                <a:solidFill>
                  <a:prstClr val="black"/>
                </a:solidFill>
                <a:latin typeface="Times New Roman"/>
                <a:cs typeface="Times New Roman"/>
              </a:rPr>
              <a:t>argument </a:t>
            </a:r>
            <a:r>
              <a:rPr sz="2000" spc="-5" dirty="0">
                <a:solidFill>
                  <a:prstClr val="black"/>
                </a:solidFill>
                <a:latin typeface="Times New Roman"/>
                <a:cs typeface="Times New Roman"/>
              </a:rPr>
              <a:t>is valid </a:t>
            </a:r>
            <a:r>
              <a:rPr sz="2000" dirty="0">
                <a:solidFill>
                  <a:prstClr val="black"/>
                </a:solidFill>
                <a:latin typeface="Times New Roman"/>
                <a:cs typeface="Times New Roman"/>
              </a:rPr>
              <a:t>because </a:t>
            </a:r>
            <a:r>
              <a:rPr sz="2000" spc="-5" dirty="0">
                <a:solidFill>
                  <a:prstClr val="black"/>
                </a:solidFill>
                <a:latin typeface="Times New Roman"/>
                <a:cs typeface="Times New Roman"/>
              </a:rPr>
              <a:t>whenever all its premises  </a:t>
            </a:r>
            <a:r>
              <a:rPr sz="2000" dirty="0">
                <a:solidFill>
                  <a:prstClr val="black"/>
                </a:solidFill>
                <a:latin typeface="Times New Roman"/>
                <a:cs typeface="Times New Roman"/>
              </a:rPr>
              <a:t>(all </a:t>
            </a:r>
            <a:r>
              <a:rPr sz="2000" spc="-5" dirty="0">
                <a:solidFill>
                  <a:prstClr val="black"/>
                </a:solidFill>
                <a:latin typeface="Times New Roman"/>
                <a:cs typeface="Times New Roman"/>
              </a:rPr>
              <a:t>statements in the </a:t>
            </a:r>
            <a:r>
              <a:rPr sz="2000" spc="-10" dirty="0">
                <a:solidFill>
                  <a:prstClr val="black"/>
                </a:solidFill>
                <a:latin typeface="Times New Roman"/>
                <a:cs typeface="Times New Roman"/>
              </a:rPr>
              <a:t>argument </a:t>
            </a:r>
            <a:r>
              <a:rPr sz="2000" spc="-5" dirty="0">
                <a:solidFill>
                  <a:prstClr val="black"/>
                </a:solidFill>
                <a:latin typeface="Times New Roman"/>
                <a:cs typeface="Times New Roman"/>
              </a:rPr>
              <a:t>other than the ﬁnal </a:t>
            </a:r>
            <a:r>
              <a:rPr sz="2000" dirty="0">
                <a:solidFill>
                  <a:prstClr val="black"/>
                </a:solidFill>
                <a:latin typeface="Times New Roman"/>
                <a:cs typeface="Times New Roman"/>
              </a:rPr>
              <a:t>one, </a:t>
            </a:r>
            <a:r>
              <a:rPr sz="2000" spc="-5" dirty="0">
                <a:solidFill>
                  <a:prstClr val="black"/>
                </a:solidFill>
                <a:latin typeface="Times New Roman"/>
                <a:cs typeface="Times New Roman"/>
              </a:rPr>
              <a:t>the conclusion) </a:t>
            </a:r>
            <a:r>
              <a:rPr sz="2000" spc="-10" dirty="0">
                <a:solidFill>
                  <a:prstClr val="black"/>
                </a:solidFill>
                <a:latin typeface="Times New Roman"/>
                <a:cs typeface="Times New Roman"/>
              </a:rPr>
              <a:t>are  </a:t>
            </a:r>
            <a:r>
              <a:rPr sz="2000" dirty="0">
                <a:solidFill>
                  <a:prstClr val="black"/>
                </a:solidFill>
                <a:latin typeface="Times New Roman"/>
                <a:cs typeface="Times New Roman"/>
              </a:rPr>
              <a:t>true, the conclusion </a:t>
            </a:r>
            <a:r>
              <a:rPr sz="2000" spc="-5" dirty="0">
                <a:solidFill>
                  <a:prstClr val="black"/>
                </a:solidFill>
                <a:latin typeface="Times New Roman"/>
                <a:cs typeface="Times New Roman"/>
              </a:rPr>
              <a:t>must also </a:t>
            </a:r>
            <a:r>
              <a:rPr sz="2000" dirty="0">
                <a:solidFill>
                  <a:prstClr val="black"/>
                </a:solidFill>
                <a:latin typeface="Times New Roman"/>
                <a:cs typeface="Times New Roman"/>
              </a:rPr>
              <a:t>be</a:t>
            </a:r>
            <a:r>
              <a:rPr sz="2000" spc="-95" dirty="0">
                <a:solidFill>
                  <a:prstClr val="black"/>
                </a:solidFill>
                <a:latin typeface="Times New Roman"/>
                <a:cs typeface="Times New Roman"/>
              </a:rPr>
              <a:t> </a:t>
            </a:r>
            <a:r>
              <a:rPr sz="2000" dirty="0">
                <a:solidFill>
                  <a:prstClr val="black"/>
                </a:solidFill>
                <a:latin typeface="Times New Roman"/>
                <a:cs typeface="Times New Roman"/>
              </a:rPr>
              <a:t>true.</a:t>
            </a:r>
          </a:p>
        </p:txBody>
      </p:sp>
      <p:sp>
        <p:nvSpPr>
          <p:cNvPr id="5" name="object 5"/>
          <p:cNvSpPr/>
          <p:nvPr/>
        </p:nvSpPr>
        <p:spPr>
          <a:xfrm>
            <a:off x="6781800" y="3505200"/>
            <a:ext cx="3323844" cy="1456944"/>
          </a:xfrm>
          <a:prstGeom prst="rect">
            <a:avLst/>
          </a:prstGeom>
          <a:blipFill>
            <a:blip r:embed="rId2" cstate="print"/>
            <a:stretch>
              <a:fillRect/>
            </a:stretch>
          </a:blipFill>
        </p:spPr>
        <p:txBody>
          <a:bodyPr wrap="square" lIns="0" tIns="0" rIns="0" bIns="0" rtlCol="0"/>
          <a:lstStyle/>
          <a:p>
            <a:endParaRPr>
              <a:solidFill>
                <a:prstClr val="black"/>
              </a:solidFill>
              <a:latin typeface="Calibri"/>
            </a:endParaRP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1136" y="235822"/>
            <a:ext cx="7729728" cy="1188720"/>
          </a:xfrm>
          <a:prstGeom prst="rect">
            <a:avLst/>
          </a:prstGeom>
        </p:spPr>
        <p:txBody>
          <a:bodyPr vert="horz" wrap="square" lIns="0" tIns="13335" rIns="0" bIns="0" rtlCol="0">
            <a:spAutoFit/>
          </a:bodyPr>
          <a:lstStyle/>
          <a:p>
            <a:pPr marL="12700">
              <a:spcBef>
                <a:spcPts val="105"/>
              </a:spcBef>
            </a:pPr>
            <a:r>
              <a:rPr dirty="0"/>
              <a:t>EXAMPLE</a:t>
            </a:r>
            <a:r>
              <a:rPr spc="-100" dirty="0"/>
              <a:t> </a:t>
            </a:r>
            <a:r>
              <a:rPr dirty="0"/>
              <a:t>1</a:t>
            </a:r>
          </a:p>
        </p:txBody>
      </p:sp>
      <p:sp>
        <p:nvSpPr>
          <p:cNvPr id="3" name="object 3"/>
          <p:cNvSpPr txBox="1"/>
          <p:nvPr/>
        </p:nvSpPr>
        <p:spPr>
          <a:xfrm>
            <a:off x="2059941" y="1624025"/>
            <a:ext cx="8074025" cy="3219471"/>
          </a:xfrm>
          <a:prstGeom prst="rect">
            <a:avLst/>
          </a:prstGeom>
        </p:spPr>
        <p:txBody>
          <a:bodyPr vert="horz" wrap="square" lIns="0" tIns="13335" rIns="0" bIns="0" rtlCol="0">
            <a:spAutoFit/>
          </a:bodyPr>
          <a:lstStyle/>
          <a:p>
            <a:pPr marL="355600" marR="5080" indent="-343535" algn="just">
              <a:spcBef>
                <a:spcPts val="105"/>
              </a:spcBef>
              <a:buFont typeface="Arial"/>
              <a:buChar char="•"/>
              <a:tabLst>
                <a:tab pos="356235" algn="l"/>
              </a:tabLst>
            </a:pPr>
            <a:r>
              <a:rPr sz="2000" dirty="0">
                <a:solidFill>
                  <a:prstClr val="black"/>
                </a:solidFill>
                <a:latin typeface="Times New Roman"/>
                <a:cs typeface="Times New Roman"/>
              </a:rPr>
              <a:t>Show </a:t>
            </a:r>
            <a:r>
              <a:rPr sz="2000" spc="-5" dirty="0">
                <a:solidFill>
                  <a:prstClr val="black"/>
                </a:solidFill>
                <a:latin typeface="Times New Roman"/>
                <a:cs typeface="Times New Roman"/>
              </a:rPr>
              <a:t>that the premises </a:t>
            </a:r>
            <a:r>
              <a:rPr sz="2000" dirty="0">
                <a:solidFill>
                  <a:prstClr val="black"/>
                </a:solidFill>
                <a:latin typeface="Times New Roman"/>
                <a:cs typeface="Times New Roman"/>
              </a:rPr>
              <a:t>“It </a:t>
            </a:r>
            <a:r>
              <a:rPr sz="2000" spc="-5" dirty="0">
                <a:solidFill>
                  <a:prstClr val="black"/>
                </a:solidFill>
                <a:latin typeface="Times New Roman"/>
                <a:cs typeface="Times New Roman"/>
              </a:rPr>
              <a:t>is </a:t>
            </a:r>
            <a:r>
              <a:rPr sz="2000" dirty="0">
                <a:solidFill>
                  <a:prstClr val="black"/>
                </a:solidFill>
                <a:latin typeface="Times New Roman"/>
                <a:cs typeface="Times New Roman"/>
              </a:rPr>
              <a:t>not sunny </a:t>
            </a:r>
            <a:r>
              <a:rPr sz="2000" spc="-5" dirty="0">
                <a:solidFill>
                  <a:prstClr val="black"/>
                </a:solidFill>
                <a:latin typeface="Times New Roman"/>
                <a:cs typeface="Times New Roman"/>
              </a:rPr>
              <a:t>this afternoon and it is colder than  </a:t>
            </a:r>
            <a:r>
              <a:rPr sz="2000" spc="-15" dirty="0">
                <a:solidFill>
                  <a:prstClr val="black"/>
                </a:solidFill>
                <a:latin typeface="Times New Roman"/>
                <a:cs typeface="Times New Roman"/>
              </a:rPr>
              <a:t>yesterday,” </a:t>
            </a:r>
            <a:r>
              <a:rPr sz="2000" dirty="0">
                <a:solidFill>
                  <a:prstClr val="black"/>
                </a:solidFill>
                <a:latin typeface="Times New Roman"/>
                <a:cs typeface="Times New Roman"/>
              </a:rPr>
              <a:t>“ </a:t>
            </a:r>
            <a:r>
              <a:rPr sz="2000" spc="-75" dirty="0">
                <a:solidFill>
                  <a:prstClr val="black"/>
                </a:solidFill>
                <a:latin typeface="Times New Roman"/>
                <a:cs typeface="Times New Roman"/>
              </a:rPr>
              <a:t>We </a:t>
            </a:r>
            <a:r>
              <a:rPr sz="2000" dirty="0">
                <a:solidFill>
                  <a:prstClr val="black"/>
                </a:solidFill>
                <a:latin typeface="Times New Roman"/>
                <a:cs typeface="Times New Roman"/>
              </a:rPr>
              <a:t>will </a:t>
            </a:r>
            <a:r>
              <a:rPr sz="2000" spc="-5" dirty="0">
                <a:solidFill>
                  <a:prstClr val="black"/>
                </a:solidFill>
                <a:latin typeface="Times New Roman"/>
                <a:cs typeface="Times New Roman"/>
              </a:rPr>
              <a:t>go swimming </a:t>
            </a:r>
            <a:r>
              <a:rPr sz="2000" dirty="0">
                <a:solidFill>
                  <a:prstClr val="black"/>
                </a:solidFill>
                <a:latin typeface="Times New Roman"/>
                <a:cs typeface="Times New Roman"/>
              </a:rPr>
              <a:t>only </a:t>
            </a:r>
            <a:r>
              <a:rPr sz="2000" spc="-10" dirty="0">
                <a:solidFill>
                  <a:prstClr val="black"/>
                </a:solidFill>
                <a:latin typeface="Times New Roman"/>
                <a:cs typeface="Times New Roman"/>
              </a:rPr>
              <a:t>if </a:t>
            </a:r>
            <a:r>
              <a:rPr sz="2000" spc="-5" dirty="0">
                <a:solidFill>
                  <a:prstClr val="black"/>
                </a:solidFill>
                <a:latin typeface="Times New Roman"/>
                <a:cs typeface="Times New Roman"/>
              </a:rPr>
              <a:t>it is </a:t>
            </a:r>
            <a:r>
              <a:rPr sz="2000" spc="-20" dirty="0">
                <a:solidFill>
                  <a:prstClr val="black"/>
                </a:solidFill>
                <a:latin typeface="Times New Roman"/>
                <a:cs typeface="Times New Roman"/>
              </a:rPr>
              <a:t>sunny,” </a:t>
            </a:r>
            <a:r>
              <a:rPr sz="2000" spc="-5" dirty="0">
                <a:solidFill>
                  <a:prstClr val="black"/>
                </a:solidFill>
                <a:latin typeface="Times New Roman"/>
                <a:cs typeface="Times New Roman"/>
              </a:rPr>
              <a:t>“If </a:t>
            </a:r>
            <a:r>
              <a:rPr sz="2000" dirty="0">
                <a:solidFill>
                  <a:prstClr val="black"/>
                </a:solidFill>
                <a:latin typeface="Times New Roman"/>
                <a:cs typeface="Times New Roman"/>
              </a:rPr>
              <a:t>we </a:t>
            </a:r>
            <a:r>
              <a:rPr sz="2000" spc="-5" dirty="0">
                <a:solidFill>
                  <a:prstClr val="black"/>
                </a:solidFill>
                <a:latin typeface="Times New Roman"/>
                <a:cs typeface="Times New Roman"/>
              </a:rPr>
              <a:t>do </a:t>
            </a:r>
            <a:r>
              <a:rPr sz="2000" spc="5" dirty="0">
                <a:solidFill>
                  <a:prstClr val="black"/>
                </a:solidFill>
                <a:latin typeface="Times New Roman"/>
                <a:cs typeface="Times New Roman"/>
              </a:rPr>
              <a:t>not </a:t>
            </a:r>
            <a:r>
              <a:rPr sz="2000" spc="-10" dirty="0">
                <a:solidFill>
                  <a:prstClr val="black"/>
                </a:solidFill>
                <a:latin typeface="Times New Roman"/>
                <a:cs typeface="Times New Roman"/>
              </a:rPr>
              <a:t>go  </a:t>
            </a:r>
            <a:r>
              <a:rPr sz="2000" spc="-5" dirty="0">
                <a:solidFill>
                  <a:prstClr val="black"/>
                </a:solidFill>
                <a:latin typeface="Times New Roman"/>
                <a:cs typeface="Times New Roman"/>
              </a:rPr>
              <a:t>swimming, </a:t>
            </a:r>
            <a:r>
              <a:rPr sz="2000" spc="-10" dirty="0">
                <a:solidFill>
                  <a:prstClr val="black"/>
                </a:solidFill>
                <a:latin typeface="Times New Roman"/>
                <a:cs typeface="Times New Roman"/>
              </a:rPr>
              <a:t>then </a:t>
            </a:r>
            <a:r>
              <a:rPr sz="2000" dirty="0">
                <a:solidFill>
                  <a:prstClr val="black"/>
                </a:solidFill>
                <a:latin typeface="Times New Roman"/>
                <a:cs typeface="Times New Roman"/>
              </a:rPr>
              <a:t>we </a:t>
            </a:r>
            <a:r>
              <a:rPr sz="2000" spc="-5" dirty="0">
                <a:solidFill>
                  <a:prstClr val="black"/>
                </a:solidFill>
                <a:latin typeface="Times New Roman"/>
                <a:cs typeface="Times New Roman"/>
              </a:rPr>
              <a:t>will take </a:t>
            </a:r>
            <a:r>
              <a:rPr sz="2000" dirty="0">
                <a:solidFill>
                  <a:prstClr val="black"/>
                </a:solidFill>
                <a:latin typeface="Times New Roman"/>
                <a:cs typeface="Times New Roman"/>
              </a:rPr>
              <a:t>a canoe </a:t>
            </a:r>
            <a:r>
              <a:rPr sz="2000" spc="-5" dirty="0">
                <a:solidFill>
                  <a:prstClr val="black"/>
                </a:solidFill>
                <a:latin typeface="Times New Roman"/>
                <a:cs typeface="Times New Roman"/>
              </a:rPr>
              <a:t>trip,” </a:t>
            </a:r>
            <a:r>
              <a:rPr sz="2000" dirty="0">
                <a:solidFill>
                  <a:prstClr val="black"/>
                </a:solidFill>
                <a:latin typeface="Times New Roman"/>
                <a:cs typeface="Times New Roman"/>
              </a:rPr>
              <a:t>and </a:t>
            </a:r>
            <a:r>
              <a:rPr sz="2000" spc="-10" dirty="0">
                <a:solidFill>
                  <a:prstClr val="black"/>
                </a:solidFill>
                <a:latin typeface="Times New Roman"/>
                <a:cs typeface="Times New Roman"/>
              </a:rPr>
              <a:t>“If </a:t>
            </a:r>
            <a:r>
              <a:rPr sz="2000" dirty="0">
                <a:solidFill>
                  <a:prstClr val="black"/>
                </a:solidFill>
                <a:latin typeface="Times New Roman"/>
                <a:cs typeface="Times New Roman"/>
              </a:rPr>
              <a:t>we </a:t>
            </a:r>
            <a:r>
              <a:rPr sz="2000" spc="-5" dirty="0">
                <a:solidFill>
                  <a:prstClr val="black"/>
                </a:solidFill>
                <a:latin typeface="Times New Roman"/>
                <a:cs typeface="Times New Roman"/>
              </a:rPr>
              <a:t>take </a:t>
            </a:r>
            <a:r>
              <a:rPr sz="2000" dirty="0">
                <a:solidFill>
                  <a:prstClr val="black"/>
                </a:solidFill>
                <a:latin typeface="Times New Roman"/>
                <a:cs typeface="Times New Roman"/>
              </a:rPr>
              <a:t>a </a:t>
            </a:r>
            <a:r>
              <a:rPr sz="2000" spc="-5" dirty="0">
                <a:solidFill>
                  <a:prstClr val="black"/>
                </a:solidFill>
                <a:latin typeface="Times New Roman"/>
                <a:cs typeface="Times New Roman"/>
              </a:rPr>
              <a:t>canoe </a:t>
            </a:r>
            <a:r>
              <a:rPr sz="2000" spc="-10" dirty="0">
                <a:solidFill>
                  <a:prstClr val="black"/>
                </a:solidFill>
                <a:latin typeface="Times New Roman"/>
                <a:cs typeface="Times New Roman"/>
              </a:rPr>
              <a:t>trip,  </a:t>
            </a:r>
            <a:r>
              <a:rPr sz="2000" spc="-5" dirty="0">
                <a:solidFill>
                  <a:prstClr val="black"/>
                </a:solidFill>
                <a:latin typeface="Times New Roman"/>
                <a:cs typeface="Times New Roman"/>
              </a:rPr>
              <a:t>then </a:t>
            </a:r>
            <a:r>
              <a:rPr sz="2000" dirty="0">
                <a:solidFill>
                  <a:prstClr val="black"/>
                </a:solidFill>
                <a:latin typeface="Times New Roman"/>
                <a:cs typeface="Times New Roman"/>
              </a:rPr>
              <a:t>we will </a:t>
            </a:r>
            <a:r>
              <a:rPr sz="2000" spc="-5" dirty="0">
                <a:solidFill>
                  <a:prstClr val="black"/>
                </a:solidFill>
                <a:latin typeface="Times New Roman"/>
                <a:cs typeface="Times New Roman"/>
              </a:rPr>
              <a:t>be home </a:t>
            </a:r>
            <a:r>
              <a:rPr sz="2000" dirty="0">
                <a:solidFill>
                  <a:prstClr val="black"/>
                </a:solidFill>
                <a:latin typeface="Times New Roman"/>
                <a:cs typeface="Times New Roman"/>
              </a:rPr>
              <a:t>by </a:t>
            </a:r>
            <a:r>
              <a:rPr sz="2000" spc="-5" dirty="0">
                <a:solidFill>
                  <a:prstClr val="black"/>
                </a:solidFill>
                <a:latin typeface="Times New Roman"/>
                <a:cs typeface="Times New Roman"/>
              </a:rPr>
              <a:t>sunset” lead </a:t>
            </a:r>
            <a:r>
              <a:rPr sz="2000" spc="-10" dirty="0">
                <a:solidFill>
                  <a:prstClr val="black"/>
                </a:solidFill>
                <a:latin typeface="Times New Roman"/>
                <a:cs typeface="Times New Roman"/>
              </a:rPr>
              <a:t>to </a:t>
            </a:r>
            <a:r>
              <a:rPr sz="2000" spc="-5" dirty="0">
                <a:solidFill>
                  <a:prstClr val="black"/>
                </a:solidFill>
                <a:latin typeface="Times New Roman"/>
                <a:cs typeface="Times New Roman"/>
              </a:rPr>
              <a:t>the conclusion </a:t>
            </a:r>
            <a:r>
              <a:rPr sz="2000" spc="-55" dirty="0">
                <a:solidFill>
                  <a:prstClr val="black"/>
                </a:solidFill>
                <a:latin typeface="Times New Roman"/>
                <a:cs typeface="Times New Roman"/>
              </a:rPr>
              <a:t>“We </a:t>
            </a:r>
            <a:r>
              <a:rPr sz="2000" dirty="0">
                <a:solidFill>
                  <a:prstClr val="black"/>
                </a:solidFill>
                <a:latin typeface="Times New Roman"/>
                <a:cs typeface="Times New Roman"/>
              </a:rPr>
              <a:t>will be </a:t>
            </a:r>
            <a:r>
              <a:rPr sz="2000" spc="-10" dirty="0">
                <a:solidFill>
                  <a:prstClr val="black"/>
                </a:solidFill>
                <a:latin typeface="Times New Roman"/>
                <a:cs typeface="Times New Roman"/>
              </a:rPr>
              <a:t>home  </a:t>
            </a:r>
            <a:r>
              <a:rPr sz="2000" dirty="0">
                <a:solidFill>
                  <a:prstClr val="black"/>
                </a:solidFill>
                <a:latin typeface="Times New Roman"/>
                <a:cs typeface="Times New Roman"/>
              </a:rPr>
              <a:t>by</a:t>
            </a:r>
            <a:r>
              <a:rPr sz="2000" spc="-20" dirty="0">
                <a:solidFill>
                  <a:prstClr val="black"/>
                </a:solidFill>
                <a:latin typeface="Times New Roman"/>
                <a:cs typeface="Times New Roman"/>
              </a:rPr>
              <a:t> </a:t>
            </a:r>
            <a:r>
              <a:rPr sz="2000" dirty="0">
                <a:solidFill>
                  <a:prstClr val="black"/>
                </a:solidFill>
                <a:latin typeface="Times New Roman"/>
                <a:cs typeface="Times New Roman"/>
              </a:rPr>
              <a:t>sunset.”</a:t>
            </a:r>
          </a:p>
          <a:p>
            <a:pPr marL="355600" indent="-343535" algn="just">
              <a:spcBef>
                <a:spcPts val="484"/>
              </a:spcBef>
              <a:buFont typeface="Arial"/>
              <a:buChar char="•"/>
              <a:tabLst>
                <a:tab pos="356235" algn="l"/>
              </a:tabLst>
            </a:pPr>
            <a:r>
              <a:rPr sz="2000" spc="-5" dirty="0">
                <a:solidFill>
                  <a:prstClr val="black"/>
                </a:solidFill>
                <a:latin typeface="Times New Roman"/>
                <a:cs typeface="Times New Roman"/>
              </a:rPr>
              <a:t>Solution:</a:t>
            </a:r>
            <a:r>
              <a:rPr sz="2000" spc="70" dirty="0">
                <a:solidFill>
                  <a:prstClr val="black"/>
                </a:solidFill>
                <a:latin typeface="Times New Roman"/>
                <a:cs typeface="Times New Roman"/>
              </a:rPr>
              <a:t> </a:t>
            </a:r>
            <a:r>
              <a:rPr sz="2000" spc="-5" dirty="0">
                <a:solidFill>
                  <a:prstClr val="black"/>
                </a:solidFill>
                <a:latin typeface="Times New Roman"/>
                <a:cs typeface="Times New Roman"/>
              </a:rPr>
              <a:t>Let</a:t>
            </a:r>
            <a:r>
              <a:rPr sz="2000" spc="45" dirty="0">
                <a:solidFill>
                  <a:prstClr val="black"/>
                </a:solidFill>
                <a:latin typeface="Times New Roman"/>
                <a:cs typeface="Times New Roman"/>
              </a:rPr>
              <a:t> </a:t>
            </a:r>
            <a:r>
              <a:rPr sz="2000" dirty="0">
                <a:solidFill>
                  <a:prstClr val="black"/>
                </a:solidFill>
                <a:latin typeface="Times New Roman"/>
                <a:cs typeface="Times New Roman"/>
              </a:rPr>
              <a:t>p</a:t>
            </a:r>
            <a:r>
              <a:rPr sz="2000" spc="65" dirty="0">
                <a:solidFill>
                  <a:prstClr val="black"/>
                </a:solidFill>
                <a:latin typeface="Times New Roman"/>
                <a:cs typeface="Times New Roman"/>
              </a:rPr>
              <a:t> </a:t>
            </a:r>
            <a:r>
              <a:rPr sz="2000" dirty="0">
                <a:solidFill>
                  <a:prstClr val="black"/>
                </a:solidFill>
                <a:latin typeface="Times New Roman"/>
                <a:cs typeface="Times New Roman"/>
              </a:rPr>
              <a:t>be</a:t>
            </a:r>
            <a:r>
              <a:rPr sz="2000" spc="55" dirty="0">
                <a:solidFill>
                  <a:prstClr val="black"/>
                </a:solidFill>
                <a:latin typeface="Times New Roman"/>
                <a:cs typeface="Times New Roman"/>
              </a:rPr>
              <a:t> </a:t>
            </a:r>
            <a:r>
              <a:rPr sz="2000" spc="-5" dirty="0">
                <a:solidFill>
                  <a:prstClr val="black"/>
                </a:solidFill>
                <a:latin typeface="Times New Roman"/>
                <a:cs typeface="Times New Roman"/>
              </a:rPr>
              <a:t>the</a:t>
            </a:r>
            <a:r>
              <a:rPr sz="2000" spc="65" dirty="0">
                <a:solidFill>
                  <a:prstClr val="black"/>
                </a:solidFill>
                <a:latin typeface="Times New Roman"/>
                <a:cs typeface="Times New Roman"/>
              </a:rPr>
              <a:t> </a:t>
            </a:r>
            <a:r>
              <a:rPr sz="2000" spc="-5" dirty="0">
                <a:solidFill>
                  <a:prstClr val="black"/>
                </a:solidFill>
                <a:latin typeface="Times New Roman"/>
                <a:cs typeface="Times New Roman"/>
              </a:rPr>
              <a:t>proposition</a:t>
            </a:r>
            <a:r>
              <a:rPr sz="2000" spc="70" dirty="0">
                <a:solidFill>
                  <a:prstClr val="black"/>
                </a:solidFill>
                <a:latin typeface="Times New Roman"/>
                <a:cs typeface="Times New Roman"/>
              </a:rPr>
              <a:t> </a:t>
            </a:r>
            <a:r>
              <a:rPr sz="2000" spc="-5" dirty="0">
                <a:solidFill>
                  <a:prstClr val="black"/>
                </a:solidFill>
                <a:latin typeface="Times New Roman"/>
                <a:cs typeface="Times New Roman"/>
              </a:rPr>
              <a:t>“It</a:t>
            </a:r>
            <a:r>
              <a:rPr sz="2000" spc="55" dirty="0">
                <a:solidFill>
                  <a:prstClr val="black"/>
                </a:solidFill>
                <a:latin typeface="Times New Roman"/>
                <a:cs typeface="Times New Roman"/>
              </a:rPr>
              <a:t> </a:t>
            </a:r>
            <a:r>
              <a:rPr sz="2000" spc="-5" dirty="0">
                <a:solidFill>
                  <a:prstClr val="black"/>
                </a:solidFill>
                <a:latin typeface="Times New Roman"/>
                <a:cs typeface="Times New Roman"/>
              </a:rPr>
              <a:t>is</a:t>
            </a:r>
            <a:r>
              <a:rPr sz="2000" spc="50" dirty="0">
                <a:solidFill>
                  <a:prstClr val="black"/>
                </a:solidFill>
                <a:latin typeface="Times New Roman"/>
                <a:cs typeface="Times New Roman"/>
              </a:rPr>
              <a:t> </a:t>
            </a:r>
            <a:r>
              <a:rPr sz="2000" dirty="0">
                <a:solidFill>
                  <a:prstClr val="black"/>
                </a:solidFill>
                <a:latin typeface="Times New Roman"/>
                <a:cs typeface="Times New Roman"/>
              </a:rPr>
              <a:t>sunny</a:t>
            </a:r>
            <a:r>
              <a:rPr sz="2000" spc="55" dirty="0">
                <a:solidFill>
                  <a:prstClr val="black"/>
                </a:solidFill>
                <a:latin typeface="Times New Roman"/>
                <a:cs typeface="Times New Roman"/>
              </a:rPr>
              <a:t> </a:t>
            </a:r>
            <a:r>
              <a:rPr sz="2000" spc="-5" dirty="0">
                <a:solidFill>
                  <a:prstClr val="black"/>
                </a:solidFill>
                <a:latin typeface="Times New Roman"/>
                <a:cs typeface="Times New Roman"/>
              </a:rPr>
              <a:t>this</a:t>
            </a:r>
            <a:r>
              <a:rPr sz="2000" spc="65" dirty="0">
                <a:solidFill>
                  <a:prstClr val="black"/>
                </a:solidFill>
                <a:latin typeface="Times New Roman"/>
                <a:cs typeface="Times New Roman"/>
              </a:rPr>
              <a:t> </a:t>
            </a:r>
            <a:r>
              <a:rPr sz="2000" spc="-5" dirty="0">
                <a:solidFill>
                  <a:prstClr val="black"/>
                </a:solidFill>
                <a:latin typeface="Times New Roman"/>
                <a:cs typeface="Times New Roman"/>
              </a:rPr>
              <a:t>afternoon,”</a:t>
            </a:r>
            <a:r>
              <a:rPr sz="2000" spc="65" dirty="0">
                <a:solidFill>
                  <a:prstClr val="black"/>
                </a:solidFill>
                <a:latin typeface="Times New Roman"/>
                <a:cs typeface="Times New Roman"/>
              </a:rPr>
              <a:t> </a:t>
            </a:r>
            <a:r>
              <a:rPr sz="2000" dirty="0">
                <a:solidFill>
                  <a:prstClr val="black"/>
                </a:solidFill>
                <a:latin typeface="Times New Roman"/>
                <a:cs typeface="Times New Roman"/>
              </a:rPr>
              <a:t>q</a:t>
            </a:r>
            <a:r>
              <a:rPr sz="2000" spc="65" dirty="0">
                <a:solidFill>
                  <a:prstClr val="black"/>
                </a:solidFill>
                <a:latin typeface="Times New Roman"/>
                <a:cs typeface="Times New Roman"/>
              </a:rPr>
              <a:t> </a:t>
            </a:r>
            <a:r>
              <a:rPr sz="2000" spc="-10" dirty="0">
                <a:solidFill>
                  <a:prstClr val="black"/>
                </a:solidFill>
                <a:latin typeface="Times New Roman"/>
                <a:cs typeface="Times New Roman"/>
              </a:rPr>
              <a:t>the</a:t>
            </a:r>
            <a:endParaRPr sz="2000" dirty="0">
              <a:solidFill>
                <a:prstClr val="black"/>
              </a:solidFill>
              <a:latin typeface="Times New Roman"/>
              <a:cs typeface="Times New Roman"/>
            </a:endParaRPr>
          </a:p>
          <a:p>
            <a:pPr marL="355600" algn="just"/>
            <a:r>
              <a:rPr sz="2000" dirty="0">
                <a:solidFill>
                  <a:prstClr val="black"/>
                </a:solidFill>
                <a:latin typeface="Times New Roman"/>
                <a:cs typeface="Times New Roman"/>
              </a:rPr>
              <a:t>proposition “It </a:t>
            </a:r>
            <a:r>
              <a:rPr sz="2000" spc="-5" dirty="0">
                <a:solidFill>
                  <a:prstClr val="black"/>
                </a:solidFill>
                <a:latin typeface="Times New Roman"/>
                <a:cs typeface="Times New Roman"/>
              </a:rPr>
              <a:t>is</a:t>
            </a:r>
            <a:r>
              <a:rPr sz="2000" spc="-70" dirty="0">
                <a:solidFill>
                  <a:prstClr val="black"/>
                </a:solidFill>
                <a:latin typeface="Times New Roman"/>
                <a:cs typeface="Times New Roman"/>
              </a:rPr>
              <a:t> </a:t>
            </a:r>
            <a:r>
              <a:rPr sz="2000" dirty="0">
                <a:solidFill>
                  <a:prstClr val="black"/>
                </a:solidFill>
                <a:latin typeface="Times New Roman"/>
                <a:cs typeface="Times New Roman"/>
              </a:rPr>
              <a:t>colder</a:t>
            </a:r>
            <a:r>
              <a:rPr lang="en-IN" sz="2000" dirty="0">
                <a:solidFill>
                  <a:prstClr val="black"/>
                </a:solidFill>
                <a:latin typeface="Times New Roman"/>
                <a:cs typeface="Times New Roman"/>
              </a:rPr>
              <a:t> </a:t>
            </a:r>
            <a:r>
              <a:rPr sz="2000" spc="-5" dirty="0">
                <a:solidFill>
                  <a:prstClr val="black"/>
                </a:solidFill>
                <a:latin typeface="Times New Roman"/>
                <a:cs typeface="Times New Roman"/>
              </a:rPr>
              <a:t>than </a:t>
            </a:r>
            <a:r>
              <a:rPr sz="2000" spc="-20" dirty="0">
                <a:solidFill>
                  <a:prstClr val="black"/>
                </a:solidFill>
                <a:latin typeface="Times New Roman"/>
                <a:cs typeface="Times New Roman"/>
              </a:rPr>
              <a:t>yesterday,” </a:t>
            </a:r>
            <a:r>
              <a:rPr sz="2000" dirty="0">
                <a:solidFill>
                  <a:prstClr val="black"/>
                </a:solidFill>
                <a:latin typeface="Times New Roman"/>
                <a:cs typeface="Times New Roman"/>
              </a:rPr>
              <a:t>r </a:t>
            </a:r>
            <a:r>
              <a:rPr sz="2000" spc="-5" dirty="0">
                <a:solidFill>
                  <a:prstClr val="black"/>
                </a:solidFill>
                <a:latin typeface="Times New Roman"/>
                <a:cs typeface="Times New Roman"/>
              </a:rPr>
              <a:t>the proposition </a:t>
            </a:r>
            <a:r>
              <a:rPr sz="2000" spc="-60" dirty="0">
                <a:solidFill>
                  <a:prstClr val="black"/>
                </a:solidFill>
                <a:latin typeface="Times New Roman"/>
                <a:cs typeface="Times New Roman"/>
              </a:rPr>
              <a:t>“We </a:t>
            </a:r>
            <a:r>
              <a:rPr sz="2000" dirty="0">
                <a:solidFill>
                  <a:prstClr val="black"/>
                </a:solidFill>
                <a:latin typeface="Times New Roman"/>
                <a:cs typeface="Times New Roman"/>
              </a:rPr>
              <a:t>will </a:t>
            </a:r>
            <a:r>
              <a:rPr sz="2000" spc="-5" dirty="0">
                <a:solidFill>
                  <a:prstClr val="black"/>
                </a:solidFill>
                <a:latin typeface="Times New Roman"/>
                <a:cs typeface="Times New Roman"/>
              </a:rPr>
              <a:t>go swimming,” </a:t>
            </a:r>
            <a:r>
              <a:rPr sz="2000" dirty="0">
                <a:solidFill>
                  <a:prstClr val="black"/>
                </a:solidFill>
                <a:latin typeface="Times New Roman"/>
                <a:cs typeface="Times New Roman"/>
              </a:rPr>
              <a:t>s the  proposition </a:t>
            </a:r>
            <a:r>
              <a:rPr sz="2000" spc="-50" dirty="0">
                <a:solidFill>
                  <a:prstClr val="black"/>
                </a:solidFill>
                <a:latin typeface="Times New Roman"/>
                <a:cs typeface="Times New Roman"/>
              </a:rPr>
              <a:t>“We </a:t>
            </a:r>
            <a:r>
              <a:rPr sz="2000" dirty="0">
                <a:solidFill>
                  <a:prstClr val="black"/>
                </a:solidFill>
                <a:latin typeface="Times New Roman"/>
                <a:cs typeface="Times New Roman"/>
              </a:rPr>
              <a:t>will </a:t>
            </a:r>
            <a:r>
              <a:rPr sz="2000" spc="-5" dirty="0">
                <a:solidFill>
                  <a:prstClr val="black"/>
                </a:solidFill>
                <a:latin typeface="Times New Roman"/>
                <a:cs typeface="Times New Roman"/>
              </a:rPr>
              <a:t>take</a:t>
            </a:r>
            <a:r>
              <a:rPr sz="2000" spc="-55" dirty="0">
                <a:solidFill>
                  <a:prstClr val="black"/>
                </a:solidFill>
                <a:latin typeface="Times New Roman"/>
                <a:cs typeface="Times New Roman"/>
              </a:rPr>
              <a:t> </a:t>
            </a:r>
            <a:r>
              <a:rPr sz="2000" dirty="0">
                <a:solidFill>
                  <a:prstClr val="black"/>
                </a:solidFill>
                <a:latin typeface="Times New Roman"/>
                <a:cs typeface="Times New Roman"/>
              </a:rPr>
              <a:t>a</a:t>
            </a:r>
            <a:r>
              <a:rPr lang="en-IN" sz="2000" dirty="0">
                <a:solidFill>
                  <a:prstClr val="black"/>
                </a:solidFill>
                <a:latin typeface="Times New Roman"/>
                <a:cs typeface="Times New Roman"/>
              </a:rPr>
              <a:t> </a:t>
            </a:r>
            <a:r>
              <a:rPr sz="2000" dirty="0">
                <a:solidFill>
                  <a:prstClr val="black"/>
                </a:solidFill>
                <a:latin typeface="Times New Roman"/>
                <a:cs typeface="Times New Roman"/>
              </a:rPr>
              <a:t>canoe</a:t>
            </a:r>
            <a:r>
              <a:rPr sz="2000" spc="185" dirty="0">
                <a:solidFill>
                  <a:prstClr val="black"/>
                </a:solidFill>
                <a:latin typeface="Times New Roman"/>
                <a:cs typeface="Times New Roman"/>
              </a:rPr>
              <a:t> </a:t>
            </a:r>
            <a:r>
              <a:rPr sz="2000" spc="-5" dirty="0">
                <a:solidFill>
                  <a:prstClr val="black"/>
                </a:solidFill>
                <a:latin typeface="Times New Roman"/>
                <a:cs typeface="Times New Roman"/>
              </a:rPr>
              <a:t>trip,”</a:t>
            </a:r>
            <a:r>
              <a:rPr sz="2000" spc="200" dirty="0">
                <a:solidFill>
                  <a:prstClr val="black"/>
                </a:solidFill>
                <a:latin typeface="Times New Roman"/>
                <a:cs typeface="Times New Roman"/>
              </a:rPr>
              <a:t> </a:t>
            </a:r>
            <a:r>
              <a:rPr sz="2000" spc="-10" dirty="0">
                <a:solidFill>
                  <a:prstClr val="black"/>
                </a:solidFill>
                <a:latin typeface="Times New Roman"/>
                <a:cs typeface="Times New Roman"/>
              </a:rPr>
              <a:t>and</a:t>
            </a:r>
            <a:r>
              <a:rPr sz="2000" spc="204" dirty="0">
                <a:solidFill>
                  <a:prstClr val="black"/>
                </a:solidFill>
                <a:latin typeface="Times New Roman"/>
                <a:cs typeface="Times New Roman"/>
              </a:rPr>
              <a:t> </a:t>
            </a:r>
            <a:r>
              <a:rPr sz="2000" dirty="0">
                <a:solidFill>
                  <a:prstClr val="black"/>
                </a:solidFill>
                <a:latin typeface="Times New Roman"/>
                <a:cs typeface="Times New Roman"/>
              </a:rPr>
              <a:t>t</a:t>
            </a:r>
            <a:r>
              <a:rPr sz="2000" spc="190" dirty="0">
                <a:solidFill>
                  <a:prstClr val="black"/>
                </a:solidFill>
                <a:latin typeface="Times New Roman"/>
                <a:cs typeface="Times New Roman"/>
              </a:rPr>
              <a:t> </a:t>
            </a:r>
            <a:r>
              <a:rPr sz="2000" spc="-5" dirty="0">
                <a:solidFill>
                  <a:prstClr val="black"/>
                </a:solidFill>
                <a:latin typeface="Times New Roman"/>
                <a:cs typeface="Times New Roman"/>
              </a:rPr>
              <a:t>the</a:t>
            </a:r>
            <a:r>
              <a:rPr sz="2000" spc="190" dirty="0">
                <a:solidFill>
                  <a:prstClr val="black"/>
                </a:solidFill>
                <a:latin typeface="Times New Roman"/>
                <a:cs typeface="Times New Roman"/>
              </a:rPr>
              <a:t> </a:t>
            </a:r>
            <a:r>
              <a:rPr sz="2000" spc="-5" dirty="0">
                <a:solidFill>
                  <a:prstClr val="black"/>
                </a:solidFill>
                <a:latin typeface="Times New Roman"/>
                <a:cs typeface="Times New Roman"/>
              </a:rPr>
              <a:t>proposition</a:t>
            </a:r>
            <a:r>
              <a:rPr sz="2000" spc="210" dirty="0">
                <a:solidFill>
                  <a:prstClr val="black"/>
                </a:solidFill>
                <a:latin typeface="Times New Roman"/>
                <a:cs typeface="Times New Roman"/>
              </a:rPr>
              <a:t> </a:t>
            </a:r>
            <a:r>
              <a:rPr sz="2000" spc="-55" dirty="0">
                <a:solidFill>
                  <a:prstClr val="black"/>
                </a:solidFill>
                <a:latin typeface="Times New Roman"/>
                <a:cs typeface="Times New Roman"/>
              </a:rPr>
              <a:t>“We</a:t>
            </a:r>
            <a:r>
              <a:rPr sz="2000" spc="190" dirty="0">
                <a:solidFill>
                  <a:prstClr val="black"/>
                </a:solidFill>
                <a:latin typeface="Times New Roman"/>
                <a:cs typeface="Times New Roman"/>
              </a:rPr>
              <a:t> </a:t>
            </a:r>
            <a:r>
              <a:rPr sz="2000" spc="-5" dirty="0">
                <a:solidFill>
                  <a:prstClr val="black"/>
                </a:solidFill>
                <a:latin typeface="Times New Roman"/>
                <a:cs typeface="Times New Roman"/>
              </a:rPr>
              <a:t>will</a:t>
            </a:r>
            <a:r>
              <a:rPr sz="2000" spc="175" dirty="0">
                <a:solidFill>
                  <a:prstClr val="black"/>
                </a:solidFill>
                <a:latin typeface="Times New Roman"/>
                <a:cs typeface="Times New Roman"/>
              </a:rPr>
              <a:t> </a:t>
            </a:r>
            <a:r>
              <a:rPr sz="2000" dirty="0">
                <a:solidFill>
                  <a:prstClr val="black"/>
                </a:solidFill>
                <a:latin typeface="Times New Roman"/>
                <a:cs typeface="Times New Roman"/>
              </a:rPr>
              <a:t>be</a:t>
            </a:r>
            <a:r>
              <a:rPr sz="2000" spc="185" dirty="0">
                <a:solidFill>
                  <a:prstClr val="black"/>
                </a:solidFill>
                <a:latin typeface="Times New Roman"/>
                <a:cs typeface="Times New Roman"/>
              </a:rPr>
              <a:t> </a:t>
            </a:r>
            <a:r>
              <a:rPr sz="2000" spc="-5" dirty="0">
                <a:solidFill>
                  <a:prstClr val="black"/>
                </a:solidFill>
                <a:latin typeface="Times New Roman"/>
                <a:cs typeface="Times New Roman"/>
              </a:rPr>
              <a:t>home</a:t>
            </a:r>
            <a:r>
              <a:rPr sz="2000" spc="195" dirty="0">
                <a:solidFill>
                  <a:prstClr val="black"/>
                </a:solidFill>
                <a:latin typeface="Times New Roman"/>
                <a:cs typeface="Times New Roman"/>
              </a:rPr>
              <a:t> </a:t>
            </a:r>
            <a:r>
              <a:rPr sz="2000" dirty="0">
                <a:solidFill>
                  <a:prstClr val="black"/>
                </a:solidFill>
                <a:latin typeface="Times New Roman"/>
                <a:cs typeface="Times New Roman"/>
              </a:rPr>
              <a:t>by</a:t>
            </a:r>
            <a:r>
              <a:rPr sz="2000" spc="190" dirty="0">
                <a:solidFill>
                  <a:prstClr val="black"/>
                </a:solidFill>
                <a:latin typeface="Times New Roman"/>
                <a:cs typeface="Times New Roman"/>
              </a:rPr>
              <a:t> </a:t>
            </a:r>
            <a:r>
              <a:rPr sz="2000" spc="-5" dirty="0">
                <a:solidFill>
                  <a:prstClr val="black"/>
                </a:solidFill>
                <a:latin typeface="Times New Roman"/>
                <a:cs typeface="Times New Roman"/>
              </a:rPr>
              <a:t>sunset.”</a:t>
            </a:r>
            <a:r>
              <a:rPr sz="2000" spc="195" dirty="0">
                <a:solidFill>
                  <a:prstClr val="black"/>
                </a:solidFill>
                <a:latin typeface="Times New Roman"/>
                <a:cs typeface="Times New Roman"/>
              </a:rPr>
              <a:t> </a:t>
            </a:r>
            <a:r>
              <a:rPr sz="2000" dirty="0">
                <a:solidFill>
                  <a:prstClr val="black"/>
                </a:solidFill>
                <a:latin typeface="Times New Roman"/>
                <a:cs typeface="Times New Roman"/>
              </a:rPr>
              <a:t>Then</a:t>
            </a:r>
            <a:r>
              <a:rPr sz="2000" spc="195" dirty="0">
                <a:solidFill>
                  <a:prstClr val="black"/>
                </a:solidFill>
                <a:latin typeface="Times New Roman"/>
                <a:cs typeface="Times New Roman"/>
              </a:rPr>
              <a:t> </a:t>
            </a:r>
            <a:r>
              <a:rPr sz="2000" spc="-10" dirty="0">
                <a:solidFill>
                  <a:prstClr val="black"/>
                </a:solidFill>
                <a:latin typeface="Times New Roman"/>
                <a:cs typeface="Times New Roman"/>
              </a:rPr>
              <a:t>the</a:t>
            </a:r>
            <a:r>
              <a:rPr lang="en-IN" sz="2000" dirty="0">
                <a:solidFill>
                  <a:prstClr val="black"/>
                </a:solidFill>
                <a:latin typeface="Times New Roman"/>
                <a:cs typeface="Times New Roman"/>
              </a:rPr>
              <a:t> </a:t>
            </a:r>
            <a:r>
              <a:rPr sz="2000" b="1" spc="-5" dirty="0">
                <a:solidFill>
                  <a:prstClr val="black"/>
                </a:solidFill>
                <a:latin typeface="Times New Roman"/>
                <a:cs typeface="Times New Roman"/>
              </a:rPr>
              <a:t>premises </a:t>
            </a:r>
            <a:r>
              <a:rPr sz="2000" spc="-5" dirty="0">
                <a:solidFill>
                  <a:prstClr val="black"/>
                </a:solidFill>
                <a:latin typeface="Times New Roman"/>
                <a:cs typeface="Times New Roman"/>
              </a:rPr>
              <a:t>become ¬p </a:t>
            </a:r>
            <a:r>
              <a:rPr sz="2000" spc="-285" dirty="0">
                <a:solidFill>
                  <a:prstClr val="black"/>
                </a:solidFill>
                <a:latin typeface="DejaVu Sans"/>
                <a:cs typeface="DejaVu Sans"/>
              </a:rPr>
              <a:t>∧ </a:t>
            </a:r>
            <a:r>
              <a:rPr sz="2000" dirty="0">
                <a:solidFill>
                  <a:prstClr val="black"/>
                </a:solidFill>
                <a:latin typeface="Times New Roman"/>
                <a:cs typeface="Times New Roman"/>
              </a:rPr>
              <a:t>q , r → p , ¬ r → s , and s →</a:t>
            </a:r>
            <a:r>
              <a:rPr sz="2000" spc="-320" dirty="0">
                <a:solidFill>
                  <a:prstClr val="black"/>
                </a:solidFill>
                <a:latin typeface="Times New Roman"/>
                <a:cs typeface="Times New Roman"/>
              </a:rPr>
              <a:t> </a:t>
            </a:r>
            <a:r>
              <a:rPr sz="2000" spc="-5" dirty="0">
                <a:solidFill>
                  <a:prstClr val="black"/>
                </a:solidFill>
                <a:latin typeface="Times New Roman"/>
                <a:cs typeface="Times New Roman"/>
              </a:rPr>
              <a:t>t.</a:t>
            </a:r>
            <a:endParaRPr sz="2000" dirty="0">
              <a:solidFill>
                <a:prstClr val="black"/>
              </a:solidFill>
              <a:latin typeface="Times New Roman"/>
              <a:cs typeface="Times New Roman"/>
            </a:endParaRP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6391" y="461900"/>
            <a:ext cx="1379855" cy="696595"/>
          </a:xfrm>
          <a:prstGeom prst="rect">
            <a:avLst/>
          </a:prstGeom>
        </p:spPr>
        <p:txBody>
          <a:bodyPr vert="horz" wrap="square" lIns="0" tIns="13335" rIns="0" bIns="0" rtlCol="0">
            <a:spAutoFit/>
          </a:bodyPr>
          <a:lstStyle/>
          <a:p>
            <a:pPr marL="12700">
              <a:spcBef>
                <a:spcPts val="105"/>
              </a:spcBef>
            </a:pPr>
            <a:r>
              <a:rPr spc="-5" dirty="0">
                <a:latin typeface="Carlito"/>
                <a:cs typeface="Carlito"/>
              </a:rPr>
              <a:t>C</a:t>
            </a:r>
            <a:r>
              <a:rPr spc="10" dirty="0">
                <a:latin typeface="Carlito"/>
                <a:cs typeface="Carlito"/>
              </a:rPr>
              <a:t>o</a:t>
            </a:r>
            <a:r>
              <a:rPr spc="-35" dirty="0">
                <a:latin typeface="Carlito"/>
                <a:cs typeface="Carlito"/>
              </a:rPr>
              <a:t>n</a:t>
            </a:r>
            <a:r>
              <a:rPr dirty="0">
                <a:latin typeface="Carlito"/>
                <a:cs typeface="Carlito"/>
              </a:rPr>
              <a:t>t..</a:t>
            </a:r>
          </a:p>
        </p:txBody>
      </p:sp>
      <p:sp>
        <p:nvSpPr>
          <p:cNvPr id="3" name="object 3"/>
          <p:cNvSpPr txBox="1"/>
          <p:nvPr/>
        </p:nvSpPr>
        <p:spPr>
          <a:xfrm>
            <a:off x="2059941" y="1563283"/>
            <a:ext cx="7598409" cy="4781437"/>
          </a:xfrm>
          <a:prstGeom prst="rect">
            <a:avLst/>
          </a:prstGeom>
        </p:spPr>
        <p:txBody>
          <a:bodyPr vert="horz" wrap="square" lIns="0" tIns="74295" rIns="0" bIns="0" rtlCol="0">
            <a:spAutoFit/>
          </a:bodyPr>
          <a:lstStyle/>
          <a:p>
            <a:pPr marL="355600" indent="-343535">
              <a:spcBef>
                <a:spcPts val="585"/>
              </a:spcBef>
              <a:buFont typeface="Arial"/>
              <a:buChar char="•"/>
              <a:tabLst>
                <a:tab pos="355600" algn="l"/>
                <a:tab pos="356235" algn="l"/>
              </a:tabLst>
            </a:pPr>
            <a:r>
              <a:rPr sz="2000" dirty="0">
                <a:solidFill>
                  <a:prstClr val="black"/>
                </a:solidFill>
                <a:latin typeface="Times New Roman"/>
                <a:cs typeface="Times New Roman"/>
              </a:rPr>
              <a:t>¬ p </a:t>
            </a:r>
            <a:r>
              <a:rPr sz="2000" spc="-285" dirty="0">
                <a:solidFill>
                  <a:prstClr val="black"/>
                </a:solidFill>
                <a:latin typeface="DejaVu Sans"/>
                <a:cs typeface="DejaVu Sans"/>
              </a:rPr>
              <a:t>∧ </a:t>
            </a:r>
            <a:r>
              <a:rPr sz="2000" dirty="0">
                <a:solidFill>
                  <a:prstClr val="black"/>
                </a:solidFill>
                <a:latin typeface="Times New Roman"/>
                <a:cs typeface="Times New Roman"/>
              </a:rPr>
              <a:t>q, r </a:t>
            </a:r>
            <a:r>
              <a:rPr sz="2000" spc="5" dirty="0">
                <a:solidFill>
                  <a:prstClr val="black"/>
                </a:solidFill>
                <a:latin typeface="Times New Roman"/>
                <a:cs typeface="Times New Roman"/>
              </a:rPr>
              <a:t>→ </a:t>
            </a:r>
            <a:r>
              <a:rPr sz="2000" dirty="0">
                <a:solidFill>
                  <a:prstClr val="black"/>
                </a:solidFill>
                <a:latin typeface="Times New Roman"/>
                <a:cs typeface="Times New Roman"/>
              </a:rPr>
              <a:t>p, ¬ r </a:t>
            </a:r>
            <a:r>
              <a:rPr sz="2000" spc="5" dirty="0">
                <a:solidFill>
                  <a:prstClr val="black"/>
                </a:solidFill>
                <a:latin typeface="Times New Roman"/>
                <a:cs typeface="Times New Roman"/>
              </a:rPr>
              <a:t>→ </a:t>
            </a:r>
            <a:r>
              <a:rPr sz="2000" spc="-5" dirty="0">
                <a:solidFill>
                  <a:prstClr val="black"/>
                </a:solidFill>
                <a:latin typeface="Times New Roman"/>
                <a:cs typeface="Times New Roman"/>
              </a:rPr>
              <a:t>s, </a:t>
            </a:r>
            <a:r>
              <a:rPr sz="2000" dirty="0">
                <a:solidFill>
                  <a:prstClr val="black"/>
                </a:solidFill>
                <a:latin typeface="Times New Roman"/>
                <a:cs typeface="Times New Roman"/>
              </a:rPr>
              <a:t>and s </a:t>
            </a:r>
            <a:r>
              <a:rPr sz="2000" spc="5" dirty="0">
                <a:solidFill>
                  <a:prstClr val="black"/>
                </a:solidFill>
                <a:latin typeface="Times New Roman"/>
                <a:cs typeface="Times New Roman"/>
              </a:rPr>
              <a:t>→ </a:t>
            </a:r>
            <a:r>
              <a:rPr sz="2000" dirty="0">
                <a:solidFill>
                  <a:prstClr val="black"/>
                </a:solidFill>
                <a:latin typeface="Times New Roman"/>
                <a:cs typeface="Times New Roman"/>
              </a:rPr>
              <a:t>t and</a:t>
            </a:r>
            <a:r>
              <a:rPr sz="2000" spc="-20" dirty="0">
                <a:solidFill>
                  <a:prstClr val="black"/>
                </a:solidFill>
                <a:latin typeface="Times New Roman"/>
                <a:cs typeface="Times New Roman"/>
              </a:rPr>
              <a:t> </a:t>
            </a:r>
            <a:r>
              <a:rPr sz="2000" dirty="0">
                <a:solidFill>
                  <a:prstClr val="black"/>
                </a:solidFill>
                <a:latin typeface="Times New Roman"/>
                <a:cs typeface="Times New Roman"/>
              </a:rPr>
              <a:t>conclusion.</a:t>
            </a:r>
            <a:endParaRPr sz="2000">
              <a:solidFill>
                <a:prstClr val="black"/>
              </a:solidFill>
              <a:latin typeface="Times New Roman"/>
              <a:cs typeface="Times New Roman"/>
            </a:endParaRPr>
          </a:p>
          <a:p>
            <a:pPr marL="355600" marR="5080" indent="-343535">
              <a:spcBef>
                <a:spcPts val="480"/>
              </a:spcBef>
              <a:buFont typeface="Arial"/>
              <a:buChar char="•"/>
              <a:tabLst>
                <a:tab pos="355600" algn="l"/>
                <a:tab pos="356235" algn="l"/>
              </a:tabLst>
            </a:pPr>
            <a:r>
              <a:rPr sz="2000" spc="-70" dirty="0">
                <a:solidFill>
                  <a:prstClr val="black"/>
                </a:solidFill>
                <a:latin typeface="Times New Roman"/>
                <a:cs typeface="Times New Roman"/>
              </a:rPr>
              <a:t>We </a:t>
            </a:r>
            <a:r>
              <a:rPr sz="2000" dirty="0">
                <a:solidFill>
                  <a:prstClr val="black"/>
                </a:solidFill>
                <a:latin typeface="Times New Roman"/>
                <a:cs typeface="Times New Roman"/>
              </a:rPr>
              <a:t>construct an </a:t>
            </a:r>
            <a:r>
              <a:rPr sz="2000" spc="-10" dirty="0">
                <a:solidFill>
                  <a:prstClr val="black"/>
                </a:solidFill>
                <a:latin typeface="Times New Roman"/>
                <a:cs typeface="Times New Roman"/>
              </a:rPr>
              <a:t>argument </a:t>
            </a:r>
            <a:r>
              <a:rPr sz="2000" dirty="0">
                <a:solidFill>
                  <a:prstClr val="black"/>
                </a:solidFill>
                <a:latin typeface="Times New Roman"/>
                <a:cs typeface="Times New Roman"/>
              </a:rPr>
              <a:t>to show that </a:t>
            </a:r>
            <a:r>
              <a:rPr sz="2000" spc="5" dirty="0">
                <a:solidFill>
                  <a:prstClr val="black"/>
                </a:solidFill>
                <a:latin typeface="Times New Roman"/>
                <a:cs typeface="Times New Roman"/>
              </a:rPr>
              <a:t>our </a:t>
            </a:r>
            <a:r>
              <a:rPr sz="2000" spc="-5" dirty="0">
                <a:solidFill>
                  <a:prstClr val="black"/>
                </a:solidFill>
                <a:latin typeface="Times New Roman"/>
                <a:cs typeface="Times New Roman"/>
              </a:rPr>
              <a:t>premises lead to the </a:t>
            </a:r>
            <a:r>
              <a:rPr sz="2000" dirty="0">
                <a:solidFill>
                  <a:prstClr val="black"/>
                </a:solidFill>
                <a:latin typeface="Times New Roman"/>
                <a:cs typeface="Times New Roman"/>
              </a:rPr>
              <a:t>desired  </a:t>
            </a:r>
            <a:r>
              <a:rPr sz="2000" spc="-5" dirty="0">
                <a:solidFill>
                  <a:prstClr val="black"/>
                </a:solidFill>
                <a:latin typeface="Times New Roman"/>
                <a:cs typeface="Times New Roman"/>
              </a:rPr>
              <a:t>conclusion</a:t>
            </a:r>
            <a:r>
              <a:rPr sz="2000" spc="-45" dirty="0">
                <a:solidFill>
                  <a:prstClr val="black"/>
                </a:solidFill>
                <a:latin typeface="Times New Roman"/>
                <a:cs typeface="Times New Roman"/>
              </a:rPr>
              <a:t> </a:t>
            </a:r>
            <a:r>
              <a:rPr sz="2000" dirty="0">
                <a:solidFill>
                  <a:prstClr val="black"/>
                </a:solidFill>
                <a:latin typeface="Times New Roman"/>
                <a:cs typeface="Times New Roman"/>
              </a:rPr>
              <a:t>as</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follows.</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Step</a:t>
            </a:r>
            <a:r>
              <a:rPr sz="2000" spc="-25" dirty="0">
                <a:solidFill>
                  <a:prstClr val="black"/>
                </a:solidFill>
                <a:latin typeface="Times New Roman"/>
                <a:cs typeface="Times New Roman"/>
              </a:rPr>
              <a:t> </a:t>
            </a:r>
            <a:r>
              <a:rPr sz="2000" dirty="0">
                <a:solidFill>
                  <a:prstClr val="black"/>
                </a:solidFill>
                <a:latin typeface="Times New Roman"/>
                <a:cs typeface="Times New Roman"/>
              </a:rPr>
              <a:t>Reason</a:t>
            </a:r>
            <a:endParaRPr sz="2000">
              <a:solidFill>
                <a:prstClr val="black"/>
              </a:solidFill>
              <a:latin typeface="Times New Roman"/>
              <a:cs typeface="Times New Roman"/>
            </a:endParaRPr>
          </a:p>
          <a:p>
            <a:pPr marL="355600" indent="-343535">
              <a:spcBef>
                <a:spcPts val="484"/>
              </a:spcBef>
              <a:buFont typeface="Arial"/>
              <a:buChar char="•"/>
              <a:tabLst>
                <a:tab pos="355600" algn="l"/>
                <a:tab pos="356235" algn="l"/>
              </a:tabLst>
            </a:pPr>
            <a:r>
              <a:rPr sz="2000" dirty="0">
                <a:solidFill>
                  <a:prstClr val="black"/>
                </a:solidFill>
                <a:latin typeface="Times New Roman"/>
                <a:cs typeface="Times New Roman"/>
              </a:rPr>
              <a:t>1.¬ p </a:t>
            </a:r>
            <a:r>
              <a:rPr sz="2000" spc="-285" dirty="0">
                <a:solidFill>
                  <a:prstClr val="black"/>
                </a:solidFill>
                <a:latin typeface="DejaVu Sans"/>
                <a:cs typeface="DejaVu Sans"/>
              </a:rPr>
              <a:t>∧</a:t>
            </a:r>
            <a:r>
              <a:rPr sz="2000" spc="-170" dirty="0">
                <a:solidFill>
                  <a:prstClr val="black"/>
                </a:solidFill>
                <a:latin typeface="DejaVu Sans"/>
                <a:cs typeface="DejaVu Sans"/>
              </a:rPr>
              <a:t> </a:t>
            </a:r>
            <a:r>
              <a:rPr sz="2000" dirty="0">
                <a:solidFill>
                  <a:prstClr val="black"/>
                </a:solidFill>
                <a:latin typeface="Times New Roman"/>
                <a:cs typeface="Times New Roman"/>
              </a:rPr>
              <a:t>q</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2.¬</a:t>
            </a:r>
            <a:r>
              <a:rPr sz="2000" spc="-30" dirty="0">
                <a:solidFill>
                  <a:prstClr val="black"/>
                </a:solidFill>
                <a:latin typeface="Times New Roman"/>
                <a:cs typeface="Times New Roman"/>
              </a:rPr>
              <a:t> </a:t>
            </a:r>
            <a:r>
              <a:rPr sz="2000" dirty="0">
                <a:solidFill>
                  <a:prstClr val="black"/>
                </a:solidFill>
                <a:latin typeface="Times New Roman"/>
                <a:cs typeface="Times New Roman"/>
              </a:rPr>
              <a:t>p</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3. r →</a:t>
            </a:r>
            <a:r>
              <a:rPr sz="2000" spc="-25" dirty="0">
                <a:solidFill>
                  <a:prstClr val="black"/>
                </a:solidFill>
                <a:latin typeface="Times New Roman"/>
                <a:cs typeface="Times New Roman"/>
              </a:rPr>
              <a:t> </a:t>
            </a:r>
            <a:r>
              <a:rPr sz="2000" dirty="0">
                <a:solidFill>
                  <a:prstClr val="black"/>
                </a:solidFill>
                <a:latin typeface="Times New Roman"/>
                <a:cs typeface="Times New Roman"/>
              </a:rPr>
              <a:t>p</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4.¬</a:t>
            </a:r>
            <a:r>
              <a:rPr sz="2000" spc="-30" dirty="0">
                <a:solidFill>
                  <a:prstClr val="black"/>
                </a:solidFill>
                <a:latin typeface="Times New Roman"/>
                <a:cs typeface="Times New Roman"/>
              </a:rPr>
              <a:t> </a:t>
            </a:r>
            <a:r>
              <a:rPr sz="2000" dirty="0">
                <a:solidFill>
                  <a:prstClr val="black"/>
                </a:solidFill>
                <a:latin typeface="Times New Roman"/>
                <a:cs typeface="Times New Roman"/>
              </a:rPr>
              <a:t>r</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5.¬ r →</a:t>
            </a:r>
            <a:r>
              <a:rPr sz="2000" spc="-30" dirty="0">
                <a:solidFill>
                  <a:prstClr val="black"/>
                </a:solidFill>
                <a:latin typeface="Times New Roman"/>
                <a:cs typeface="Times New Roman"/>
              </a:rPr>
              <a:t> </a:t>
            </a:r>
            <a:r>
              <a:rPr sz="2000" dirty="0">
                <a:solidFill>
                  <a:prstClr val="black"/>
                </a:solidFill>
                <a:latin typeface="Times New Roman"/>
                <a:cs typeface="Times New Roman"/>
              </a:rPr>
              <a:t>s</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6.</a:t>
            </a:r>
            <a:r>
              <a:rPr sz="2000" spc="-10" dirty="0">
                <a:solidFill>
                  <a:prstClr val="black"/>
                </a:solidFill>
                <a:latin typeface="Times New Roman"/>
                <a:cs typeface="Times New Roman"/>
              </a:rPr>
              <a:t> </a:t>
            </a:r>
            <a:r>
              <a:rPr sz="2000" dirty="0">
                <a:solidFill>
                  <a:prstClr val="black"/>
                </a:solidFill>
                <a:latin typeface="Times New Roman"/>
                <a:cs typeface="Times New Roman"/>
              </a:rPr>
              <a:t>s</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7. s →</a:t>
            </a:r>
            <a:r>
              <a:rPr sz="2000" spc="-30" dirty="0">
                <a:solidFill>
                  <a:prstClr val="black"/>
                </a:solidFill>
                <a:latin typeface="Times New Roman"/>
                <a:cs typeface="Times New Roman"/>
              </a:rPr>
              <a:t> </a:t>
            </a:r>
            <a:r>
              <a:rPr sz="2000" dirty="0">
                <a:solidFill>
                  <a:prstClr val="black"/>
                </a:solidFill>
                <a:latin typeface="Times New Roman"/>
                <a:cs typeface="Times New Roman"/>
              </a:rPr>
              <a:t>t</a:t>
            </a:r>
            <a:endParaRPr sz="2000">
              <a:solidFill>
                <a:prstClr val="black"/>
              </a:solidFill>
              <a:latin typeface="Times New Roman"/>
              <a:cs typeface="Times New Roman"/>
            </a:endParaRPr>
          </a:p>
          <a:p>
            <a:pPr marL="355600" indent="-343535">
              <a:spcBef>
                <a:spcPts val="480"/>
              </a:spcBef>
              <a:buFont typeface="Arial"/>
              <a:buChar char="•"/>
              <a:tabLst>
                <a:tab pos="355600" algn="l"/>
                <a:tab pos="356235" algn="l"/>
              </a:tabLst>
            </a:pPr>
            <a:r>
              <a:rPr sz="2000" dirty="0">
                <a:solidFill>
                  <a:prstClr val="black"/>
                </a:solidFill>
                <a:latin typeface="Times New Roman"/>
                <a:cs typeface="Times New Roman"/>
              </a:rPr>
              <a:t>8.</a:t>
            </a:r>
            <a:r>
              <a:rPr sz="2000" spc="-10" dirty="0">
                <a:solidFill>
                  <a:prstClr val="black"/>
                </a:solidFill>
                <a:latin typeface="Times New Roman"/>
                <a:cs typeface="Times New Roman"/>
              </a:rPr>
              <a:t> </a:t>
            </a:r>
            <a:r>
              <a:rPr sz="2000" dirty="0">
                <a:solidFill>
                  <a:prstClr val="black"/>
                </a:solidFill>
                <a:latin typeface="Times New Roman"/>
                <a:cs typeface="Times New Roman"/>
              </a:rPr>
              <a:t>t</a:t>
            </a:r>
            <a:endParaRPr sz="2000">
              <a:solidFill>
                <a:prstClr val="black"/>
              </a:solidFill>
              <a:latin typeface="Times New Roman"/>
              <a:cs typeface="Times New Roman"/>
            </a:endParaRPr>
          </a:p>
        </p:txBody>
      </p:sp>
      <p:sp>
        <p:nvSpPr>
          <p:cNvPr id="4" name="object 4"/>
          <p:cNvSpPr txBox="1"/>
          <p:nvPr/>
        </p:nvSpPr>
        <p:spPr>
          <a:xfrm>
            <a:off x="3888995" y="3332455"/>
            <a:ext cx="3275329" cy="2952115"/>
          </a:xfrm>
          <a:prstGeom prst="rect">
            <a:avLst/>
          </a:prstGeom>
        </p:spPr>
        <p:txBody>
          <a:bodyPr vert="horz" wrap="square" lIns="0" tIns="73660" rIns="0" bIns="0" rtlCol="0">
            <a:spAutoFit/>
          </a:bodyPr>
          <a:lstStyle/>
          <a:p>
            <a:pPr marL="12700">
              <a:spcBef>
                <a:spcPts val="580"/>
              </a:spcBef>
            </a:pPr>
            <a:r>
              <a:rPr sz="2000" spc="-5" dirty="0">
                <a:solidFill>
                  <a:prstClr val="black"/>
                </a:solidFill>
                <a:latin typeface="Times New Roman"/>
                <a:cs typeface="Times New Roman"/>
              </a:rPr>
              <a:t>Premise</a:t>
            </a:r>
            <a:endParaRPr sz="2000">
              <a:solidFill>
                <a:prstClr val="black"/>
              </a:solidFill>
              <a:latin typeface="Times New Roman"/>
              <a:cs typeface="Times New Roman"/>
            </a:endParaRPr>
          </a:p>
          <a:p>
            <a:pPr marL="12700" marR="845819">
              <a:lnSpc>
                <a:spcPct val="120000"/>
              </a:lnSpc>
            </a:pPr>
            <a:r>
              <a:rPr sz="2000" spc="-5" dirty="0">
                <a:solidFill>
                  <a:prstClr val="black"/>
                </a:solidFill>
                <a:latin typeface="Times New Roman"/>
                <a:cs typeface="Times New Roman"/>
              </a:rPr>
              <a:t>Simpliﬁcation </a:t>
            </a:r>
            <a:r>
              <a:rPr sz="2000" dirty="0">
                <a:solidFill>
                  <a:prstClr val="black"/>
                </a:solidFill>
                <a:latin typeface="Times New Roman"/>
                <a:cs typeface="Times New Roman"/>
              </a:rPr>
              <a:t>using</a:t>
            </a:r>
            <a:r>
              <a:rPr sz="2000" spc="-95" dirty="0">
                <a:solidFill>
                  <a:prstClr val="black"/>
                </a:solidFill>
                <a:latin typeface="Times New Roman"/>
                <a:cs typeface="Times New Roman"/>
              </a:rPr>
              <a:t> </a:t>
            </a:r>
            <a:r>
              <a:rPr sz="2000" dirty="0">
                <a:solidFill>
                  <a:prstClr val="black"/>
                </a:solidFill>
                <a:latin typeface="Times New Roman"/>
                <a:cs typeface="Times New Roman"/>
              </a:rPr>
              <a:t>(1)  </a:t>
            </a:r>
            <a:r>
              <a:rPr sz="2000" spc="-5" dirty="0">
                <a:solidFill>
                  <a:prstClr val="black"/>
                </a:solidFill>
                <a:latin typeface="Times New Roman"/>
                <a:cs typeface="Times New Roman"/>
              </a:rPr>
              <a:t>Premise</a:t>
            </a:r>
            <a:endParaRPr sz="2000">
              <a:solidFill>
                <a:prstClr val="black"/>
              </a:solidFill>
              <a:latin typeface="Times New Roman"/>
              <a:cs typeface="Times New Roman"/>
            </a:endParaRPr>
          </a:p>
          <a:p>
            <a:pPr marL="12700" marR="49530">
              <a:lnSpc>
                <a:spcPts val="2880"/>
              </a:lnSpc>
              <a:spcBef>
                <a:spcPts val="175"/>
              </a:spcBef>
            </a:pPr>
            <a:r>
              <a:rPr sz="2000" dirty="0">
                <a:solidFill>
                  <a:prstClr val="black"/>
                </a:solidFill>
                <a:latin typeface="Times New Roman"/>
                <a:cs typeface="Times New Roman"/>
              </a:rPr>
              <a:t>Modus tollens using (2) and</a:t>
            </a:r>
            <a:r>
              <a:rPr sz="2000" spc="-165" dirty="0">
                <a:solidFill>
                  <a:prstClr val="black"/>
                </a:solidFill>
                <a:latin typeface="Times New Roman"/>
                <a:cs typeface="Times New Roman"/>
              </a:rPr>
              <a:t> </a:t>
            </a:r>
            <a:r>
              <a:rPr sz="2000" dirty="0">
                <a:solidFill>
                  <a:prstClr val="black"/>
                </a:solidFill>
                <a:latin typeface="Times New Roman"/>
                <a:cs typeface="Times New Roman"/>
              </a:rPr>
              <a:t>(3)  </a:t>
            </a:r>
            <a:r>
              <a:rPr sz="2000" spc="-5" dirty="0">
                <a:solidFill>
                  <a:prstClr val="black"/>
                </a:solidFill>
                <a:latin typeface="Times New Roman"/>
                <a:cs typeface="Times New Roman"/>
              </a:rPr>
              <a:t>Premises</a:t>
            </a:r>
            <a:endParaRPr sz="2000">
              <a:solidFill>
                <a:prstClr val="black"/>
              </a:solidFill>
              <a:latin typeface="Times New Roman"/>
              <a:cs typeface="Times New Roman"/>
            </a:endParaRPr>
          </a:p>
          <a:p>
            <a:pPr marL="12700" marR="5080">
              <a:lnSpc>
                <a:spcPts val="2880"/>
              </a:lnSpc>
            </a:pPr>
            <a:r>
              <a:rPr sz="2000" dirty="0">
                <a:solidFill>
                  <a:prstClr val="black"/>
                </a:solidFill>
                <a:latin typeface="Times New Roman"/>
                <a:cs typeface="Times New Roman"/>
              </a:rPr>
              <a:t>Modus ponens using (4) and</a:t>
            </a:r>
            <a:r>
              <a:rPr sz="2000" spc="-150" dirty="0">
                <a:solidFill>
                  <a:prstClr val="black"/>
                </a:solidFill>
                <a:latin typeface="Times New Roman"/>
                <a:cs typeface="Times New Roman"/>
              </a:rPr>
              <a:t> </a:t>
            </a:r>
            <a:r>
              <a:rPr sz="2000" dirty="0">
                <a:solidFill>
                  <a:prstClr val="black"/>
                </a:solidFill>
                <a:latin typeface="Times New Roman"/>
                <a:cs typeface="Times New Roman"/>
              </a:rPr>
              <a:t>(5)  </a:t>
            </a:r>
            <a:r>
              <a:rPr sz="2000" spc="-5" dirty="0">
                <a:solidFill>
                  <a:prstClr val="black"/>
                </a:solidFill>
                <a:latin typeface="Times New Roman"/>
                <a:cs typeface="Times New Roman"/>
              </a:rPr>
              <a:t>Premise</a:t>
            </a:r>
            <a:endParaRPr sz="2000">
              <a:solidFill>
                <a:prstClr val="black"/>
              </a:solidFill>
              <a:latin typeface="Times New Roman"/>
              <a:cs typeface="Times New Roman"/>
            </a:endParaRPr>
          </a:p>
          <a:p>
            <a:pPr marL="12700">
              <a:spcBef>
                <a:spcPts val="305"/>
              </a:spcBef>
            </a:pPr>
            <a:r>
              <a:rPr sz="2000" dirty="0">
                <a:solidFill>
                  <a:prstClr val="black"/>
                </a:solidFill>
                <a:latin typeface="Times New Roman"/>
                <a:cs typeface="Times New Roman"/>
              </a:rPr>
              <a:t>Modus ponens using (6) and</a:t>
            </a:r>
            <a:r>
              <a:rPr sz="2000" spc="-150" dirty="0">
                <a:solidFill>
                  <a:prstClr val="black"/>
                </a:solidFill>
                <a:latin typeface="Times New Roman"/>
                <a:cs typeface="Times New Roman"/>
              </a:rPr>
              <a:t> </a:t>
            </a:r>
            <a:r>
              <a:rPr sz="2000" dirty="0">
                <a:solidFill>
                  <a:prstClr val="black"/>
                </a:solidFill>
                <a:latin typeface="Times New Roman"/>
                <a:cs typeface="Times New Roman"/>
              </a:rPr>
              <a:t>(7)</a:t>
            </a:r>
            <a:endParaRPr sz="2000">
              <a:solidFill>
                <a:prstClr val="black"/>
              </a:solidFill>
              <a:latin typeface="Times New Roman"/>
              <a:cs typeface="Times New Roman"/>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1136" y="408101"/>
            <a:ext cx="7729728" cy="1188720"/>
          </a:xfrm>
          <a:prstGeom prst="rect">
            <a:avLst/>
          </a:prstGeom>
        </p:spPr>
        <p:txBody>
          <a:bodyPr vert="horz" wrap="square" lIns="0" tIns="13335" rIns="0" bIns="0" rtlCol="0">
            <a:spAutoFit/>
          </a:bodyPr>
          <a:lstStyle/>
          <a:p>
            <a:pPr marL="12700">
              <a:spcBef>
                <a:spcPts val="105"/>
              </a:spcBef>
            </a:pPr>
            <a:r>
              <a:rPr dirty="0"/>
              <a:t>EXAMPLE</a:t>
            </a:r>
            <a:r>
              <a:rPr spc="-100" dirty="0"/>
              <a:t> </a:t>
            </a:r>
            <a:r>
              <a:rPr dirty="0"/>
              <a:t>2</a:t>
            </a:r>
          </a:p>
        </p:txBody>
      </p:sp>
      <p:sp>
        <p:nvSpPr>
          <p:cNvPr id="3" name="object 3"/>
          <p:cNvSpPr txBox="1">
            <a:spLocks noGrp="1"/>
          </p:cNvSpPr>
          <p:nvPr>
            <p:ph idx="1"/>
          </p:nvPr>
        </p:nvSpPr>
        <p:spPr>
          <a:xfrm>
            <a:off x="803965" y="1946521"/>
            <a:ext cx="10769600" cy="2241639"/>
          </a:xfrm>
          <a:prstGeom prst="rect">
            <a:avLst/>
          </a:prstGeom>
        </p:spPr>
        <p:txBody>
          <a:bodyPr vert="horz" wrap="square" lIns="0" tIns="86360" rIns="0" bIns="0" rtlCol="0">
            <a:spAutoFit/>
          </a:bodyPr>
          <a:lstStyle/>
          <a:p>
            <a:pPr marL="358140" indent="-343535">
              <a:spcBef>
                <a:spcPts val="680"/>
              </a:spcBef>
              <a:buFont typeface="Arial"/>
              <a:buChar char="•"/>
              <a:tabLst>
                <a:tab pos="358140" algn="l"/>
                <a:tab pos="358775" algn="l"/>
              </a:tabLst>
            </a:pPr>
            <a:r>
              <a:rPr dirty="0"/>
              <a:t>Show that the</a:t>
            </a:r>
            <a:r>
              <a:rPr spc="-30" dirty="0"/>
              <a:t> </a:t>
            </a:r>
            <a:r>
              <a:rPr spc="-5" dirty="0"/>
              <a:t>premises</a:t>
            </a:r>
          </a:p>
          <a:p>
            <a:pPr marL="358140" marR="5715" indent="-343535">
              <a:spcBef>
                <a:spcPts val="580"/>
              </a:spcBef>
              <a:buFont typeface="Arial"/>
              <a:buChar char="•"/>
              <a:tabLst>
                <a:tab pos="358140" algn="l"/>
                <a:tab pos="358775" algn="l"/>
              </a:tabLst>
            </a:pPr>
            <a:r>
              <a:rPr dirty="0"/>
              <a:t>“</a:t>
            </a:r>
            <a:r>
              <a:rPr dirty="0">
                <a:solidFill>
                  <a:srgbClr val="FF0000"/>
                </a:solidFill>
              </a:rPr>
              <a:t>If you </a:t>
            </a:r>
            <a:r>
              <a:rPr spc="-5" dirty="0">
                <a:solidFill>
                  <a:srgbClr val="FF0000"/>
                </a:solidFill>
              </a:rPr>
              <a:t>send </a:t>
            </a:r>
            <a:r>
              <a:rPr spc="-10" dirty="0">
                <a:solidFill>
                  <a:srgbClr val="FF0000"/>
                </a:solidFill>
              </a:rPr>
              <a:t>me </a:t>
            </a:r>
            <a:r>
              <a:rPr dirty="0">
                <a:solidFill>
                  <a:srgbClr val="FF0000"/>
                </a:solidFill>
              </a:rPr>
              <a:t>an </a:t>
            </a:r>
            <a:r>
              <a:rPr spc="-5" dirty="0">
                <a:solidFill>
                  <a:srgbClr val="FF0000"/>
                </a:solidFill>
              </a:rPr>
              <a:t>e-mail message, </a:t>
            </a:r>
            <a:r>
              <a:rPr dirty="0">
                <a:solidFill>
                  <a:srgbClr val="FF0000"/>
                </a:solidFill>
              </a:rPr>
              <a:t>then I </a:t>
            </a:r>
            <a:r>
              <a:rPr spc="-5" dirty="0">
                <a:solidFill>
                  <a:srgbClr val="FF0000"/>
                </a:solidFill>
              </a:rPr>
              <a:t>will ﬁnish writing  </a:t>
            </a:r>
            <a:r>
              <a:rPr dirty="0">
                <a:solidFill>
                  <a:srgbClr val="FF0000"/>
                </a:solidFill>
              </a:rPr>
              <a:t>the</a:t>
            </a:r>
            <a:r>
              <a:rPr spc="-10" dirty="0">
                <a:solidFill>
                  <a:srgbClr val="FF0000"/>
                </a:solidFill>
              </a:rPr>
              <a:t> </a:t>
            </a:r>
            <a:r>
              <a:rPr spc="-5" dirty="0">
                <a:solidFill>
                  <a:srgbClr val="FF0000"/>
                </a:solidFill>
              </a:rPr>
              <a:t>program</a:t>
            </a:r>
            <a:r>
              <a:rPr spc="-5" dirty="0"/>
              <a:t>,”</a:t>
            </a:r>
          </a:p>
          <a:p>
            <a:pPr marL="358140" marR="5080" indent="-343535">
              <a:spcBef>
                <a:spcPts val="575"/>
              </a:spcBef>
              <a:buFont typeface="Arial"/>
              <a:buChar char="•"/>
              <a:tabLst>
                <a:tab pos="358140" algn="l"/>
                <a:tab pos="358775" algn="l"/>
              </a:tabLst>
            </a:pPr>
            <a:r>
              <a:rPr dirty="0"/>
              <a:t>“</a:t>
            </a:r>
            <a:r>
              <a:rPr dirty="0">
                <a:solidFill>
                  <a:srgbClr val="006FC0"/>
                </a:solidFill>
              </a:rPr>
              <a:t>If you do not send </a:t>
            </a:r>
            <a:r>
              <a:rPr spc="-10" dirty="0">
                <a:solidFill>
                  <a:srgbClr val="006FC0"/>
                </a:solidFill>
              </a:rPr>
              <a:t>me </a:t>
            </a:r>
            <a:r>
              <a:rPr dirty="0">
                <a:solidFill>
                  <a:srgbClr val="006FC0"/>
                </a:solidFill>
              </a:rPr>
              <a:t>an </a:t>
            </a:r>
            <a:r>
              <a:rPr spc="-5" dirty="0">
                <a:solidFill>
                  <a:srgbClr val="006FC0"/>
                </a:solidFill>
              </a:rPr>
              <a:t>e-mail message, </a:t>
            </a:r>
            <a:r>
              <a:rPr dirty="0">
                <a:solidFill>
                  <a:srgbClr val="006FC0"/>
                </a:solidFill>
              </a:rPr>
              <a:t>then I </a:t>
            </a:r>
            <a:r>
              <a:rPr spc="-5" dirty="0">
                <a:solidFill>
                  <a:srgbClr val="006FC0"/>
                </a:solidFill>
              </a:rPr>
              <a:t>will </a:t>
            </a:r>
            <a:r>
              <a:rPr dirty="0">
                <a:solidFill>
                  <a:srgbClr val="006FC0"/>
                </a:solidFill>
              </a:rPr>
              <a:t>go </a:t>
            </a:r>
            <a:r>
              <a:rPr spc="5" dirty="0">
                <a:solidFill>
                  <a:srgbClr val="006FC0"/>
                </a:solidFill>
              </a:rPr>
              <a:t>to  </a:t>
            </a:r>
            <a:r>
              <a:rPr dirty="0">
                <a:solidFill>
                  <a:srgbClr val="006FC0"/>
                </a:solidFill>
              </a:rPr>
              <a:t>sleep </a:t>
            </a:r>
            <a:r>
              <a:rPr spc="-25" dirty="0">
                <a:solidFill>
                  <a:srgbClr val="006FC0"/>
                </a:solidFill>
              </a:rPr>
              <a:t>early</a:t>
            </a:r>
            <a:r>
              <a:rPr spc="-25" dirty="0"/>
              <a:t>,”</a:t>
            </a:r>
            <a:r>
              <a:rPr spc="-55" dirty="0"/>
              <a:t> </a:t>
            </a:r>
            <a:r>
              <a:rPr dirty="0"/>
              <a:t>and</a:t>
            </a:r>
          </a:p>
          <a:p>
            <a:pPr marL="358140" marR="6985" indent="-343535">
              <a:spcBef>
                <a:spcPts val="580"/>
              </a:spcBef>
              <a:buFont typeface="Arial"/>
              <a:buChar char="•"/>
              <a:tabLst>
                <a:tab pos="358140" algn="l"/>
                <a:tab pos="358775" algn="l"/>
              </a:tabLst>
            </a:pPr>
            <a:r>
              <a:rPr dirty="0"/>
              <a:t>“</a:t>
            </a:r>
            <a:r>
              <a:rPr dirty="0">
                <a:solidFill>
                  <a:srgbClr val="6F2F9F"/>
                </a:solidFill>
              </a:rPr>
              <a:t>If I go to </a:t>
            </a:r>
            <a:r>
              <a:rPr spc="-5" dirty="0">
                <a:solidFill>
                  <a:srgbClr val="6F2F9F"/>
                </a:solidFill>
              </a:rPr>
              <a:t>sleep </a:t>
            </a:r>
            <a:r>
              <a:rPr spc="-30" dirty="0">
                <a:solidFill>
                  <a:srgbClr val="6F2F9F"/>
                </a:solidFill>
              </a:rPr>
              <a:t>early, </a:t>
            </a:r>
            <a:r>
              <a:rPr spc="-5" dirty="0">
                <a:solidFill>
                  <a:srgbClr val="6F2F9F"/>
                </a:solidFill>
              </a:rPr>
              <a:t>then </a:t>
            </a:r>
            <a:r>
              <a:rPr dirty="0">
                <a:solidFill>
                  <a:srgbClr val="6F2F9F"/>
                </a:solidFill>
              </a:rPr>
              <a:t>I </a:t>
            </a:r>
            <a:r>
              <a:rPr spc="-5" dirty="0">
                <a:solidFill>
                  <a:srgbClr val="6F2F9F"/>
                </a:solidFill>
              </a:rPr>
              <a:t>will </a:t>
            </a:r>
            <a:r>
              <a:rPr dirty="0">
                <a:solidFill>
                  <a:srgbClr val="6F2F9F"/>
                </a:solidFill>
              </a:rPr>
              <a:t>wake up </a:t>
            </a:r>
            <a:r>
              <a:rPr spc="-5" dirty="0">
                <a:solidFill>
                  <a:srgbClr val="6F2F9F"/>
                </a:solidFill>
              </a:rPr>
              <a:t>feeling refreshed</a:t>
            </a:r>
            <a:r>
              <a:rPr spc="-5" dirty="0"/>
              <a:t>”  </a:t>
            </a:r>
            <a:r>
              <a:rPr dirty="0"/>
              <a:t>lead to the</a:t>
            </a:r>
            <a:r>
              <a:rPr spc="-50" dirty="0"/>
              <a:t> </a:t>
            </a:r>
            <a:r>
              <a:rPr dirty="0"/>
              <a:t>conclusion</a:t>
            </a:r>
          </a:p>
          <a:p>
            <a:pPr marL="358140" indent="-343535">
              <a:spcBef>
                <a:spcPts val="575"/>
              </a:spcBef>
              <a:buFont typeface="Arial"/>
              <a:buChar char="•"/>
              <a:tabLst>
                <a:tab pos="358140" algn="l"/>
                <a:tab pos="358775" algn="l"/>
              </a:tabLst>
            </a:pPr>
            <a:r>
              <a:rPr dirty="0"/>
              <a:t>“</a:t>
            </a:r>
            <a:r>
              <a:rPr dirty="0">
                <a:solidFill>
                  <a:srgbClr val="C00000"/>
                </a:solidFill>
              </a:rPr>
              <a:t>If I </a:t>
            </a:r>
            <a:r>
              <a:rPr spc="-5" dirty="0">
                <a:solidFill>
                  <a:srgbClr val="C00000"/>
                </a:solidFill>
              </a:rPr>
              <a:t>do not ﬁnish writing </a:t>
            </a:r>
            <a:r>
              <a:rPr dirty="0">
                <a:solidFill>
                  <a:srgbClr val="C00000"/>
                </a:solidFill>
              </a:rPr>
              <a:t>the </a:t>
            </a:r>
            <a:r>
              <a:rPr spc="-5" dirty="0">
                <a:solidFill>
                  <a:srgbClr val="C00000"/>
                </a:solidFill>
              </a:rPr>
              <a:t>program, </a:t>
            </a:r>
            <a:r>
              <a:rPr dirty="0">
                <a:solidFill>
                  <a:srgbClr val="C00000"/>
                </a:solidFill>
              </a:rPr>
              <a:t>then I </a:t>
            </a:r>
            <a:r>
              <a:rPr spc="-5" dirty="0">
                <a:solidFill>
                  <a:srgbClr val="C00000"/>
                </a:solidFill>
              </a:rPr>
              <a:t>will </a:t>
            </a:r>
            <a:r>
              <a:rPr dirty="0">
                <a:solidFill>
                  <a:srgbClr val="C00000"/>
                </a:solidFill>
              </a:rPr>
              <a:t>wake</a:t>
            </a:r>
            <a:r>
              <a:rPr spc="-305" dirty="0">
                <a:solidFill>
                  <a:srgbClr val="C00000"/>
                </a:solidFill>
              </a:rPr>
              <a:t> </a:t>
            </a:r>
            <a:r>
              <a:rPr spc="-5" dirty="0">
                <a:solidFill>
                  <a:srgbClr val="C00000"/>
                </a:solidFill>
              </a:rPr>
              <a:t>up</a:t>
            </a:r>
            <a:r>
              <a:rPr lang="en-US" spc="-5" dirty="0">
                <a:solidFill>
                  <a:srgbClr val="C00000"/>
                </a:solidFill>
              </a:rPr>
              <a:t> </a:t>
            </a:r>
            <a:r>
              <a:rPr dirty="0">
                <a:solidFill>
                  <a:srgbClr val="C00000"/>
                </a:solidFill>
              </a:rPr>
              <a:t>feeling</a:t>
            </a:r>
            <a:r>
              <a:rPr spc="-25" dirty="0">
                <a:solidFill>
                  <a:srgbClr val="C00000"/>
                </a:solidFill>
              </a:rPr>
              <a:t> </a:t>
            </a:r>
            <a:r>
              <a:rPr dirty="0">
                <a:solidFill>
                  <a:srgbClr val="C00000"/>
                </a:solidFill>
              </a:rPr>
              <a:t>refreshed</a:t>
            </a:r>
            <a:r>
              <a:rPr dirty="0"/>
              <a:t>.”</a:t>
            </a:r>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2739" y="461900"/>
            <a:ext cx="1906905" cy="696595"/>
          </a:xfrm>
          <a:prstGeom prst="rect">
            <a:avLst/>
          </a:prstGeom>
        </p:spPr>
        <p:txBody>
          <a:bodyPr vert="horz" wrap="square" lIns="0" tIns="13335" rIns="0" bIns="0" rtlCol="0">
            <a:spAutoFit/>
          </a:bodyPr>
          <a:lstStyle/>
          <a:p>
            <a:pPr marL="12700">
              <a:spcBef>
                <a:spcPts val="105"/>
              </a:spcBef>
            </a:pPr>
            <a:r>
              <a:rPr spc="-5" dirty="0">
                <a:latin typeface="Carlito"/>
                <a:cs typeface="Carlito"/>
              </a:rPr>
              <a:t>S</a:t>
            </a:r>
            <a:r>
              <a:rPr spc="5" dirty="0">
                <a:latin typeface="Carlito"/>
                <a:cs typeface="Carlito"/>
              </a:rPr>
              <a:t>o</a:t>
            </a:r>
            <a:r>
              <a:rPr dirty="0">
                <a:latin typeface="Carlito"/>
                <a:cs typeface="Carlito"/>
              </a:rPr>
              <a:t>lution</a:t>
            </a:r>
          </a:p>
        </p:txBody>
      </p:sp>
      <p:sp>
        <p:nvSpPr>
          <p:cNvPr id="3" name="object 3"/>
          <p:cNvSpPr txBox="1"/>
          <p:nvPr/>
        </p:nvSpPr>
        <p:spPr>
          <a:xfrm>
            <a:off x="2059941" y="1622501"/>
            <a:ext cx="8074025" cy="3977004"/>
          </a:xfrm>
          <a:prstGeom prst="rect">
            <a:avLst/>
          </a:prstGeom>
        </p:spPr>
        <p:txBody>
          <a:bodyPr vert="horz" wrap="square" lIns="0" tIns="12700" rIns="0" bIns="0" rtlCol="0">
            <a:spAutoFit/>
          </a:bodyPr>
          <a:lstStyle/>
          <a:p>
            <a:pPr marL="355600" marR="5080" indent="-343535" algn="just">
              <a:spcBef>
                <a:spcPts val="100"/>
              </a:spcBef>
              <a:buFont typeface="Arial"/>
              <a:buChar char="•"/>
              <a:tabLst>
                <a:tab pos="356235" algn="l"/>
              </a:tabLst>
            </a:pPr>
            <a:r>
              <a:rPr sz="2400" dirty="0">
                <a:solidFill>
                  <a:prstClr val="black"/>
                </a:solidFill>
                <a:latin typeface="Times New Roman"/>
                <a:cs typeface="Times New Roman"/>
              </a:rPr>
              <a:t>Let p </a:t>
            </a:r>
            <a:r>
              <a:rPr sz="2400" spc="-5" dirty="0">
                <a:solidFill>
                  <a:prstClr val="black"/>
                </a:solidFill>
                <a:latin typeface="Times New Roman"/>
                <a:cs typeface="Times New Roman"/>
              </a:rPr>
              <a:t>be the </a:t>
            </a:r>
            <a:r>
              <a:rPr sz="2400" dirty="0">
                <a:solidFill>
                  <a:prstClr val="black"/>
                </a:solidFill>
                <a:latin typeface="Times New Roman"/>
                <a:cs typeface="Times New Roman"/>
              </a:rPr>
              <a:t>proposition </a:t>
            </a:r>
            <a:r>
              <a:rPr sz="2400" spc="-60" dirty="0">
                <a:solidFill>
                  <a:prstClr val="black"/>
                </a:solidFill>
                <a:latin typeface="Times New Roman"/>
                <a:cs typeface="Times New Roman"/>
              </a:rPr>
              <a:t>“You </a:t>
            </a:r>
            <a:r>
              <a:rPr sz="2400" dirty="0">
                <a:solidFill>
                  <a:prstClr val="black"/>
                </a:solidFill>
                <a:latin typeface="Times New Roman"/>
                <a:cs typeface="Times New Roman"/>
              </a:rPr>
              <a:t>send </a:t>
            </a:r>
            <a:r>
              <a:rPr sz="2400" spc="-15" dirty="0">
                <a:solidFill>
                  <a:prstClr val="black"/>
                </a:solidFill>
                <a:latin typeface="Times New Roman"/>
                <a:cs typeface="Times New Roman"/>
              </a:rPr>
              <a:t>me </a:t>
            </a:r>
            <a:r>
              <a:rPr sz="2400" dirty="0">
                <a:solidFill>
                  <a:prstClr val="black"/>
                </a:solidFill>
                <a:latin typeface="Times New Roman"/>
                <a:cs typeface="Times New Roman"/>
              </a:rPr>
              <a:t>an </a:t>
            </a:r>
            <a:r>
              <a:rPr sz="2400" spc="-5" dirty="0">
                <a:solidFill>
                  <a:prstClr val="black"/>
                </a:solidFill>
                <a:latin typeface="Times New Roman"/>
                <a:cs typeface="Times New Roman"/>
              </a:rPr>
              <a:t>e-mail message, </a:t>
            </a:r>
            <a:r>
              <a:rPr sz="2400" dirty="0">
                <a:solidFill>
                  <a:prstClr val="black"/>
                </a:solidFill>
                <a:latin typeface="Times New Roman"/>
                <a:cs typeface="Times New Roman"/>
              </a:rPr>
              <a:t>” q  the </a:t>
            </a:r>
            <a:r>
              <a:rPr sz="2400" spc="-5" dirty="0">
                <a:solidFill>
                  <a:prstClr val="black"/>
                </a:solidFill>
                <a:latin typeface="Times New Roman"/>
                <a:cs typeface="Times New Roman"/>
              </a:rPr>
              <a:t>proposition </a:t>
            </a:r>
            <a:r>
              <a:rPr sz="2400" dirty="0">
                <a:solidFill>
                  <a:prstClr val="black"/>
                </a:solidFill>
                <a:latin typeface="Times New Roman"/>
                <a:cs typeface="Times New Roman"/>
              </a:rPr>
              <a:t>“I </a:t>
            </a:r>
            <a:r>
              <a:rPr sz="2400" spc="-5" dirty="0">
                <a:solidFill>
                  <a:prstClr val="black"/>
                </a:solidFill>
                <a:latin typeface="Times New Roman"/>
                <a:cs typeface="Times New Roman"/>
              </a:rPr>
              <a:t>will ﬁnish </a:t>
            </a:r>
            <a:r>
              <a:rPr sz="2400" dirty="0">
                <a:solidFill>
                  <a:prstClr val="black"/>
                </a:solidFill>
                <a:latin typeface="Times New Roman"/>
                <a:cs typeface="Times New Roman"/>
              </a:rPr>
              <a:t>writing </a:t>
            </a:r>
            <a:r>
              <a:rPr sz="2400" spc="-5" dirty="0">
                <a:solidFill>
                  <a:prstClr val="black"/>
                </a:solidFill>
                <a:latin typeface="Times New Roman"/>
                <a:cs typeface="Times New Roman"/>
              </a:rPr>
              <a:t>the program, </a:t>
            </a:r>
            <a:r>
              <a:rPr sz="2400" dirty="0">
                <a:solidFill>
                  <a:prstClr val="black"/>
                </a:solidFill>
                <a:latin typeface="Times New Roman"/>
                <a:cs typeface="Times New Roman"/>
              </a:rPr>
              <a:t>” r the  </a:t>
            </a:r>
            <a:r>
              <a:rPr sz="2400" spc="-5" dirty="0">
                <a:solidFill>
                  <a:prstClr val="black"/>
                </a:solidFill>
                <a:latin typeface="Times New Roman"/>
                <a:cs typeface="Times New Roman"/>
              </a:rPr>
              <a:t>proposition </a:t>
            </a:r>
            <a:r>
              <a:rPr sz="2400" dirty="0">
                <a:solidFill>
                  <a:prstClr val="black"/>
                </a:solidFill>
                <a:latin typeface="Times New Roman"/>
                <a:cs typeface="Times New Roman"/>
              </a:rPr>
              <a:t>“I </a:t>
            </a:r>
            <a:r>
              <a:rPr sz="2400" spc="-5" dirty="0">
                <a:solidFill>
                  <a:prstClr val="black"/>
                </a:solidFill>
                <a:latin typeface="Times New Roman"/>
                <a:cs typeface="Times New Roman"/>
              </a:rPr>
              <a:t>will </a:t>
            </a:r>
            <a:r>
              <a:rPr sz="2400" dirty="0">
                <a:solidFill>
                  <a:prstClr val="black"/>
                </a:solidFill>
                <a:latin typeface="Times New Roman"/>
                <a:cs typeface="Times New Roman"/>
              </a:rPr>
              <a:t>go to sleep </a:t>
            </a:r>
            <a:r>
              <a:rPr sz="2400" spc="-25" dirty="0">
                <a:solidFill>
                  <a:prstClr val="black"/>
                </a:solidFill>
                <a:latin typeface="Times New Roman"/>
                <a:cs typeface="Times New Roman"/>
              </a:rPr>
              <a:t>early,” </a:t>
            </a:r>
            <a:r>
              <a:rPr sz="2400" dirty="0">
                <a:solidFill>
                  <a:prstClr val="black"/>
                </a:solidFill>
                <a:latin typeface="Times New Roman"/>
                <a:cs typeface="Times New Roman"/>
              </a:rPr>
              <a:t>and </a:t>
            </a:r>
            <a:r>
              <a:rPr sz="2400" spc="-5" dirty="0">
                <a:solidFill>
                  <a:prstClr val="black"/>
                </a:solidFill>
                <a:latin typeface="Times New Roman"/>
                <a:cs typeface="Times New Roman"/>
              </a:rPr>
              <a:t>s the proposition </a:t>
            </a:r>
            <a:r>
              <a:rPr sz="2400" dirty="0">
                <a:solidFill>
                  <a:prstClr val="black"/>
                </a:solidFill>
                <a:latin typeface="Times New Roman"/>
                <a:cs typeface="Times New Roman"/>
              </a:rPr>
              <a:t>“I  </a:t>
            </a:r>
            <a:r>
              <a:rPr sz="2400" spc="-5" dirty="0">
                <a:solidFill>
                  <a:prstClr val="black"/>
                </a:solidFill>
                <a:latin typeface="Times New Roman"/>
                <a:cs typeface="Times New Roman"/>
              </a:rPr>
              <a:t>will </a:t>
            </a:r>
            <a:r>
              <a:rPr sz="2400" dirty="0">
                <a:solidFill>
                  <a:prstClr val="black"/>
                </a:solidFill>
                <a:latin typeface="Times New Roman"/>
                <a:cs typeface="Times New Roman"/>
              </a:rPr>
              <a:t>wake up feeling</a:t>
            </a:r>
            <a:r>
              <a:rPr sz="2400" spc="-45" dirty="0">
                <a:solidFill>
                  <a:prstClr val="black"/>
                </a:solidFill>
                <a:latin typeface="Times New Roman"/>
                <a:cs typeface="Times New Roman"/>
              </a:rPr>
              <a:t> </a:t>
            </a:r>
            <a:r>
              <a:rPr sz="2400" dirty="0">
                <a:solidFill>
                  <a:prstClr val="black"/>
                </a:solidFill>
                <a:latin typeface="Times New Roman"/>
                <a:cs typeface="Times New Roman"/>
              </a:rPr>
              <a:t>refreshed.”</a:t>
            </a:r>
          </a:p>
          <a:p>
            <a:pPr marL="355600" indent="-343535" algn="just">
              <a:spcBef>
                <a:spcPts val="580"/>
              </a:spcBef>
              <a:buFont typeface="Arial"/>
              <a:buChar char="•"/>
              <a:tabLst>
                <a:tab pos="356235" algn="l"/>
              </a:tabLst>
            </a:pPr>
            <a:r>
              <a:rPr sz="2400" dirty="0">
                <a:solidFill>
                  <a:prstClr val="black"/>
                </a:solidFill>
                <a:latin typeface="Times New Roman"/>
                <a:cs typeface="Times New Roman"/>
              </a:rPr>
              <a:t>Then the </a:t>
            </a:r>
            <a:r>
              <a:rPr sz="2400" spc="-5" dirty="0">
                <a:solidFill>
                  <a:prstClr val="black"/>
                </a:solidFill>
                <a:latin typeface="Times New Roman"/>
                <a:cs typeface="Times New Roman"/>
              </a:rPr>
              <a:t>premises </a:t>
            </a:r>
            <a:r>
              <a:rPr sz="2400" dirty="0">
                <a:solidFill>
                  <a:prstClr val="black"/>
                </a:solidFill>
                <a:latin typeface="Times New Roman"/>
                <a:cs typeface="Times New Roman"/>
              </a:rPr>
              <a:t>are p → q ,¬p </a:t>
            </a:r>
            <a:r>
              <a:rPr sz="2400" spc="-35" dirty="0">
                <a:solidFill>
                  <a:prstClr val="black"/>
                </a:solidFill>
                <a:latin typeface="Times New Roman"/>
                <a:cs typeface="Times New Roman"/>
              </a:rPr>
              <a:t>→r, </a:t>
            </a:r>
            <a:r>
              <a:rPr sz="2400" dirty="0">
                <a:solidFill>
                  <a:prstClr val="black"/>
                </a:solidFill>
                <a:latin typeface="Times New Roman"/>
                <a:cs typeface="Times New Roman"/>
              </a:rPr>
              <a:t>and r →</a:t>
            </a:r>
            <a:r>
              <a:rPr sz="2400" spc="-55" dirty="0">
                <a:solidFill>
                  <a:prstClr val="black"/>
                </a:solidFill>
                <a:latin typeface="Times New Roman"/>
                <a:cs typeface="Times New Roman"/>
              </a:rPr>
              <a:t> </a:t>
            </a:r>
            <a:r>
              <a:rPr sz="2400" dirty="0">
                <a:solidFill>
                  <a:prstClr val="black"/>
                </a:solidFill>
                <a:latin typeface="Times New Roman"/>
                <a:cs typeface="Times New Roman"/>
              </a:rPr>
              <a:t>s.</a:t>
            </a:r>
          </a:p>
          <a:p>
            <a:pPr marL="355600" indent="-343535" algn="just">
              <a:spcBef>
                <a:spcPts val="580"/>
              </a:spcBef>
              <a:buFont typeface="Arial"/>
              <a:buChar char="•"/>
              <a:tabLst>
                <a:tab pos="356235" algn="l"/>
              </a:tabLst>
            </a:pPr>
            <a:r>
              <a:rPr sz="2400" dirty="0">
                <a:solidFill>
                  <a:prstClr val="black"/>
                </a:solidFill>
                <a:latin typeface="Times New Roman"/>
                <a:cs typeface="Times New Roman"/>
              </a:rPr>
              <a:t>The desired conclusion is ¬q →</a:t>
            </a:r>
            <a:r>
              <a:rPr sz="2400" spc="-70" dirty="0">
                <a:solidFill>
                  <a:prstClr val="black"/>
                </a:solidFill>
                <a:latin typeface="Times New Roman"/>
                <a:cs typeface="Times New Roman"/>
              </a:rPr>
              <a:t> </a:t>
            </a:r>
            <a:r>
              <a:rPr sz="2400" spc="-5" dirty="0">
                <a:solidFill>
                  <a:prstClr val="black"/>
                </a:solidFill>
                <a:latin typeface="Times New Roman"/>
                <a:cs typeface="Times New Roman"/>
              </a:rPr>
              <a:t>s.</a:t>
            </a:r>
            <a:endParaRPr sz="2400" dirty="0">
              <a:solidFill>
                <a:prstClr val="black"/>
              </a:solidFill>
              <a:latin typeface="Times New Roman"/>
              <a:cs typeface="Times New Roman"/>
            </a:endParaRPr>
          </a:p>
          <a:p>
            <a:pPr marL="355600" marR="6350" indent="-343535" algn="just">
              <a:spcBef>
                <a:spcPts val="575"/>
              </a:spcBef>
              <a:buFont typeface="Arial"/>
              <a:buChar char="•"/>
              <a:tabLst>
                <a:tab pos="356235" algn="l"/>
              </a:tabLst>
            </a:pPr>
            <a:r>
              <a:rPr sz="2400" spc="-110" dirty="0">
                <a:solidFill>
                  <a:prstClr val="black"/>
                </a:solidFill>
                <a:latin typeface="Times New Roman"/>
                <a:cs typeface="Times New Roman"/>
              </a:rPr>
              <a:t>We </a:t>
            </a:r>
            <a:r>
              <a:rPr sz="2400" dirty="0">
                <a:solidFill>
                  <a:prstClr val="black"/>
                </a:solidFill>
                <a:latin typeface="Times New Roman"/>
                <a:cs typeface="Times New Roman"/>
              </a:rPr>
              <a:t>need to give a </a:t>
            </a:r>
            <a:r>
              <a:rPr sz="2400" spc="-5" dirty="0">
                <a:solidFill>
                  <a:prstClr val="black"/>
                </a:solidFill>
                <a:latin typeface="Times New Roman"/>
                <a:cs typeface="Times New Roman"/>
              </a:rPr>
              <a:t>valid </a:t>
            </a:r>
            <a:r>
              <a:rPr sz="2400" spc="-10" dirty="0">
                <a:solidFill>
                  <a:prstClr val="black"/>
                </a:solidFill>
                <a:latin typeface="Times New Roman"/>
                <a:cs typeface="Times New Roman"/>
              </a:rPr>
              <a:t>argument </a:t>
            </a:r>
            <a:r>
              <a:rPr sz="2400" spc="-5" dirty="0">
                <a:solidFill>
                  <a:prstClr val="black"/>
                </a:solidFill>
                <a:latin typeface="Times New Roman"/>
                <a:cs typeface="Times New Roman"/>
              </a:rPr>
              <a:t>with premises </a:t>
            </a:r>
            <a:r>
              <a:rPr sz="2400" dirty="0">
                <a:solidFill>
                  <a:prstClr val="black"/>
                </a:solidFill>
                <a:latin typeface="Times New Roman"/>
                <a:cs typeface="Times New Roman"/>
              </a:rPr>
              <a:t>p → q, ¬p →  </a:t>
            </a:r>
            <a:r>
              <a:rPr sz="2400" spc="-50" dirty="0">
                <a:solidFill>
                  <a:prstClr val="black"/>
                </a:solidFill>
                <a:latin typeface="Times New Roman"/>
                <a:cs typeface="Times New Roman"/>
              </a:rPr>
              <a:t>r, </a:t>
            </a:r>
            <a:r>
              <a:rPr sz="2400" dirty="0">
                <a:solidFill>
                  <a:prstClr val="black"/>
                </a:solidFill>
                <a:latin typeface="Times New Roman"/>
                <a:cs typeface="Times New Roman"/>
              </a:rPr>
              <a:t>and r → </a:t>
            </a:r>
            <a:r>
              <a:rPr sz="2400" spc="-5" dirty="0">
                <a:solidFill>
                  <a:prstClr val="black"/>
                </a:solidFill>
                <a:latin typeface="Times New Roman"/>
                <a:cs typeface="Times New Roman"/>
              </a:rPr>
              <a:t>s </a:t>
            </a:r>
            <a:r>
              <a:rPr sz="2400" dirty="0">
                <a:solidFill>
                  <a:prstClr val="black"/>
                </a:solidFill>
                <a:latin typeface="Times New Roman"/>
                <a:cs typeface="Times New Roman"/>
              </a:rPr>
              <a:t>and conclusion ¬q →</a:t>
            </a:r>
            <a:r>
              <a:rPr sz="2400" spc="10" dirty="0">
                <a:solidFill>
                  <a:prstClr val="black"/>
                </a:solidFill>
                <a:latin typeface="Times New Roman"/>
                <a:cs typeface="Times New Roman"/>
              </a:rPr>
              <a:t> </a:t>
            </a:r>
            <a:r>
              <a:rPr sz="2400" spc="-5" dirty="0">
                <a:solidFill>
                  <a:prstClr val="black"/>
                </a:solidFill>
                <a:latin typeface="Times New Roman"/>
                <a:cs typeface="Times New Roman"/>
              </a:rPr>
              <a:t>s.</a:t>
            </a:r>
            <a:endParaRPr sz="2400" dirty="0">
              <a:solidFill>
                <a:prstClr val="black"/>
              </a:solidFill>
              <a:latin typeface="Times New Roman"/>
              <a:cs typeface="Times New Roman"/>
            </a:endParaRPr>
          </a:p>
          <a:p>
            <a:pPr marL="355600" marR="6985" indent="-343535" algn="just">
              <a:spcBef>
                <a:spcPts val="580"/>
              </a:spcBef>
              <a:buFont typeface="Arial"/>
              <a:buChar char="•"/>
              <a:tabLst>
                <a:tab pos="356235" algn="l"/>
              </a:tabLst>
            </a:pPr>
            <a:r>
              <a:rPr sz="2400" dirty="0">
                <a:solidFill>
                  <a:prstClr val="black"/>
                </a:solidFill>
                <a:latin typeface="Times New Roman"/>
                <a:cs typeface="Times New Roman"/>
              </a:rPr>
              <a:t>This </a:t>
            </a:r>
            <a:r>
              <a:rPr sz="2400" spc="-10" dirty="0">
                <a:solidFill>
                  <a:prstClr val="black"/>
                </a:solidFill>
                <a:latin typeface="Times New Roman"/>
                <a:cs typeface="Times New Roman"/>
              </a:rPr>
              <a:t>argument </a:t>
            </a:r>
            <a:r>
              <a:rPr sz="2400" dirty="0">
                <a:solidFill>
                  <a:prstClr val="black"/>
                </a:solidFill>
                <a:latin typeface="Times New Roman"/>
                <a:cs typeface="Times New Roman"/>
              </a:rPr>
              <a:t>form shows that </a:t>
            </a:r>
            <a:r>
              <a:rPr sz="2400" spc="-5" dirty="0">
                <a:solidFill>
                  <a:prstClr val="black"/>
                </a:solidFill>
                <a:latin typeface="Times New Roman"/>
                <a:cs typeface="Times New Roman"/>
              </a:rPr>
              <a:t>the premises </a:t>
            </a:r>
            <a:r>
              <a:rPr sz="2400" dirty="0">
                <a:solidFill>
                  <a:prstClr val="black"/>
                </a:solidFill>
                <a:latin typeface="Times New Roman"/>
                <a:cs typeface="Times New Roman"/>
              </a:rPr>
              <a:t>lead to </a:t>
            </a:r>
            <a:r>
              <a:rPr sz="2400" spc="-5" dirty="0">
                <a:solidFill>
                  <a:prstClr val="black"/>
                </a:solidFill>
                <a:latin typeface="Times New Roman"/>
                <a:cs typeface="Times New Roman"/>
              </a:rPr>
              <a:t>the  </a:t>
            </a:r>
            <a:r>
              <a:rPr sz="2400" dirty="0">
                <a:solidFill>
                  <a:prstClr val="black"/>
                </a:solidFill>
                <a:latin typeface="Times New Roman"/>
                <a:cs typeface="Times New Roman"/>
              </a:rPr>
              <a:t>desired</a:t>
            </a:r>
            <a:r>
              <a:rPr sz="2400" spc="-20" dirty="0">
                <a:solidFill>
                  <a:prstClr val="black"/>
                </a:solidFill>
                <a:latin typeface="Times New Roman"/>
                <a:cs typeface="Times New Roman"/>
              </a:rPr>
              <a:t> </a:t>
            </a:r>
            <a:r>
              <a:rPr sz="2400" dirty="0">
                <a:solidFill>
                  <a:prstClr val="black"/>
                </a:solidFill>
                <a:latin typeface="Times New Roman"/>
                <a:cs typeface="Times New Roman"/>
              </a:rPr>
              <a:t>conclusion</a:t>
            </a:r>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059941" y="1622501"/>
            <a:ext cx="7120255" cy="758190"/>
          </a:xfrm>
          <a:prstGeom prst="rect">
            <a:avLst/>
          </a:prstGeom>
        </p:spPr>
        <p:txBody>
          <a:bodyPr vert="horz" wrap="square" lIns="0" tIns="12700" rIns="0" bIns="0" rtlCol="0">
            <a:spAutoFit/>
          </a:bodyPr>
          <a:lstStyle/>
          <a:p>
            <a:pPr marL="355600" indent="-343535">
              <a:spcBef>
                <a:spcPts val="100"/>
              </a:spcBef>
              <a:buFont typeface="Arial"/>
              <a:buChar char="•"/>
              <a:tabLst>
                <a:tab pos="355600" algn="l"/>
                <a:tab pos="356235" algn="l"/>
              </a:tabLst>
            </a:pPr>
            <a:r>
              <a:rPr sz="2400" dirty="0">
                <a:solidFill>
                  <a:prstClr val="black"/>
                </a:solidFill>
                <a:latin typeface="Times New Roman"/>
                <a:cs typeface="Times New Roman"/>
              </a:rPr>
              <a:t>This </a:t>
            </a:r>
            <a:r>
              <a:rPr sz="2400" spc="-10" dirty="0">
                <a:solidFill>
                  <a:prstClr val="black"/>
                </a:solidFill>
                <a:latin typeface="Times New Roman"/>
                <a:cs typeface="Times New Roman"/>
              </a:rPr>
              <a:t>argument </a:t>
            </a:r>
            <a:r>
              <a:rPr sz="2400" dirty="0">
                <a:solidFill>
                  <a:prstClr val="black"/>
                </a:solidFill>
                <a:latin typeface="Times New Roman"/>
                <a:cs typeface="Times New Roman"/>
              </a:rPr>
              <a:t>form </a:t>
            </a:r>
            <a:r>
              <a:rPr sz="2400" spc="-5" dirty="0">
                <a:solidFill>
                  <a:prstClr val="black"/>
                </a:solidFill>
                <a:latin typeface="Times New Roman"/>
                <a:cs typeface="Times New Roman"/>
              </a:rPr>
              <a:t>shows </a:t>
            </a:r>
            <a:r>
              <a:rPr sz="2400" dirty="0">
                <a:solidFill>
                  <a:prstClr val="black"/>
                </a:solidFill>
                <a:latin typeface="Times New Roman"/>
                <a:cs typeface="Times New Roman"/>
              </a:rPr>
              <a:t>that the </a:t>
            </a:r>
            <a:r>
              <a:rPr sz="2400" spc="-5" dirty="0">
                <a:solidFill>
                  <a:prstClr val="black"/>
                </a:solidFill>
                <a:latin typeface="Times New Roman"/>
                <a:cs typeface="Times New Roman"/>
              </a:rPr>
              <a:t>premises </a:t>
            </a:r>
            <a:r>
              <a:rPr sz="2400" dirty="0">
                <a:solidFill>
                  <a:prstClr val="black"/>
                </a:solidFill>
                <a:latin typeface="Times New Roman"/>
                <a:cs typeface="Times New Roman"/>
              </a:rPr>
              <a:t>lead to</a:t>
            </a:r>
            <a:r>
              <a:rPr sz="2400" spc="-70" dirty="0">
                <a:solidFill>
                  <a:prstClr val="black"/>
                </a:solidFill>
                <a:latin typeface="Times New Roman"/>
                <a:cs typeface="Times New Roman"/>
              </a:rPr>
              <a:t> </a:t>
            </a:r>
            <a:r>
              <a:rPr sz="2400" dirty="0">
                <a:solidFill>
                  <a:prstClr val="black"/>
                </a:solidFill>
                <a:latin typeface="Times New Roman"/>
                <a:cs typeface="Times New Roman"/>
              </a:rPr>
              <a:t>the</a:t>
            </a:r>
            <a:endParaRPr sz="2400">
              <a:solidFill>
                <a:prstClr val="black"/>
              </a:solidFill>
              <a:latin typeface="Times New Roman"/>
              <a:cs typeface="Times New Roman"/>
            </a:endParaRPr>
          </a:p>
          <a:p>
            <a:pPr marL="355600">
              <a:spcBef>
                <a:spcPts val="5"/>
              </a:spcBef>
            </a:pPr>
            <a:r>
              <a:rPr sz="2400" dirty="0">
                <a:solidFill>
                  <a:prstClr val="black"/>
                </a:solidFill>
                <a:latin typeface="Times New Roman"/>
                <a:cs typeface="Times New Roman"/>
              </a:rPr>
              <a:t>desired</a:t>
            </a:r>
            <a:r>
              <a:rPr sz="2400" spc="-25" dirty="0">
                <a:solidFill>
                  <a:prstClr val="black"/>
                </a:solidFill>
                <a:latin typeface="Times New Roman"/>
                <a:cs typeface="Times New Roman"/>
              </a:rPr>
              <a:t> </a:t>
            </a:r>
            <a:r>
              <a:rPr sz="2400" dirty="0">
                <a:solidFill>
                  <a:prstClr val="black"/>
                </a:solidFill>
                <a:latin typeface="Times New Roman"/>
                <a:cs typeface="Times New Roman"/>
              </a:rPr>
              <a:t>conclusion.</a:t>
            </a:r>
            <a:endParaRPr sz="2400">
              <a:solidFill>
                <a:prstClr val="black"/>
              </a:solidFill>
              <a:latin typeface="Times New Roman"/>
              <a:cs typeface="Times New Roman"/>
            </a:endParaRPr>
          </a:p>
        </p:txBody>
      </p:sp>
      <p:sp>
        <p:nvSpPr>
          <p:cNvPr id="3" name="object 3"/>
          <p:cNvSpPr txBox="1"/>
          <p:nvPr/>
        </p:nvSpPr>
        <p:spPr>
          <a:xfrm>
            <a:off x="2059941" y="2354707"/>
            <a:ext cx="1702435" cy="3133550"/>
          </a:xfrm>
          <a:prstGeom prst="rect">
            <a:avLst/>
          </a:prstGeom>
        </p:spPr>
        <p:txBody>
          <a:bodyPr vert="horz" wrap="square" lIns="0" tIns="85725" rIns="0" bIns="0" rtlCol="0">
            <a:spAutoFit/>
          </a:bodyPr>
          <a:lstStyle/>
          <a:p>
            <a:pPr marL="355600" indent="-343535">
              <a:spcBef>
                <a:spcPts val="675"/>
              </a:spcBef>
              <a:buFont typeface="Arial"/>
              <a:buChar char="•"/>
              <a:tabLst>
                <a:tab pos="355600" algn="l"/>
                <a:tab pos="356235" algn="l"/>
              </a:tabLst>
            </a:pPr>
            <a:r>
              <a:rPr sz="2400" dirty="0">
                <a:solidFill>
                  <a:prstClr val="black"/>
                </a:solidFill>
                <a:latin typeface="Times New Roman"/>
                <a:cs typeface="Times New Roman"/>
              </a:rPr>
              <a:t>Step</a:t>
            </a:r>
            <a:endParaRPr sz="2400">
              <a:solidFill>
                <a:prstClr val="black"/>
              </a:solidFill>
              <a:latin typeface="Times New Roman"/>
              <a:cs typeface="Times New Roman"/>
            </a:endParaRPr>
          </a:p>
          <a:p>
            <a:pPr marL="355600" indent="-343535">
              <a:spcBef>
                <a:spcPts val="575"/>
              </a:spcBef>
              <a:buFont typeface="Arial"/>
              <a:buChar char="•"/>
              <a:tabLst>
                <a:tab pos="355600" algn="l"/>
                <a:tab pos="356235" algn="l"/>
              </a:tabLst>
            </a:pPr>
            <a:r>
              <a:rPr sz="2400" dirty="0">
                <a:solidFill>
                  <a:prstClr val="black"/>
                </a:solidFill>
                <a:latin typeface="Times New Roman"/>
                <a:cs typeface="Times New Roman"/>
              </a:rPr>
              <a:t>1. p</a:t>
            </a:r>
            <a:r>
              <a:rPr sz="2400" spc="-30" dirty="0">
                <a:solidFill>
                  <a:prstClr val="black"/>
                </a:solidFill>
                <a:latin typeface="Times New Roman"/>
                <a:cs typeface="Times New Roman"/>
              </a:rPr>
              <a:t> </a:t>
            </a:r>
            <a:r>
              <a:rPr sz="2400" dirty="0">
                <a:solidFill>
                  <a:prstClr val="black"/>
                </a:solidFill>
                <a:latin typeface="Times New Roman"/>
                <a:cs typeface="Times New Roman"/>
              </a:rPr>
              <a:t>→q</a:t>
            </a:r>
            <a:endParaRPr sz="2400">
              <a:solidFill>
                <a:prstClr val="black"/>
              </a:solidFill>
              <a:latin typeface="Times New Roman"/>
              <a:cs typeface="Times New Roman"/>
            </a:endParaRPr>
          </a:p>
          <a:p>
            <a:pPr marL="355600" indent="-343535">
              <a:spcBef>
                <a:spcPts val="580"/>
              </a:spcBef>
              <a:buFont typeface="Arial"/>
              <a:buChar char="•"/>
              <a:tabLst>
                <a:tab pos="355600" algn="l"/>
                <a:tab pos="356235" algn="l"/>
              </a:tabLst>
            </a:pPr>
            <a:r>
              <a:rPr sz="2400" dirty="0">
                <a:solidFill>
                  <a:prstClr val="black"/>
                </a:solidFill>
                <a:latin typeface="Times New Roman"/>
                <a:cs typeface="Times New Roman"/>
              </a:rPr>
              <a:t>2. ¬q</a:t>
            </a:r>
            <a:r>
              <a:rPr sz="2400" spc="-105" dirty="0">
                <a:solidFill>
                  <a:prstClr val="black"/>
                </a:solidFill>
                <a:latin typeface="Times New Roman"/>
                <a:cs typeface="Times New Roman"/>
              </a:rPr>
              <a:t> </a:t>
            </a:r>
            <a:r>
              <a:rPr sz="2400" dirty="0">
                <a:solidFill>
                  <a:prstClr val="black"/>
                </a:solidFill>
                <a:latin typeface="Times New Roman"/>
                <a:cs typeface="Times New Roman"/>
              </a:rPr>
              <a:t>→¬p</a:t>
            </a:r>
            <a:endParaRPr sz="2400">
              <a:solidFill>
                <a:prstClr val="black"/>
              </a:solidFill>
              <a:latin typeface="Times New Roman"/>
              <a:cs typeface="Times New Roman"/>
            </a:endParaRPr>
          </a:p>
          <a:p>
            <a:pPr marL="355600" indent="-343535">
              <a:spcBef>
                <a:spcPts val="575"/>
              </a:spcBef>
              <a:buFont typeface="Arial"/>
              <a:buChar char="•"/>
              <a:tabLst>
                <a:tab pos="355600" algn="l"/>
                <a:tab pos="356235" algn="l"/>
              </a:tabLst>
            </a:pPr>
            <a:r>
              <a:rPr sz="2400" dirty="0">
                <a:solidFill>
                  <a:prstClr val="black"/>
                </a:solidFill>
                <a:latin typeface="Times New Roman"/>
                <a:cs typeface="Times New Roman"/>
              </a:rPr>
              <a:t>3. ¬p</a:t>
            </a:r>
            <a:r>
              <a:rPr sz="2400" spc="-110" dirty="0">
                <a:solidFill>
                  <a:prstClr val="black"/>
                </a:solidFill>
                <a:latin typeface="Times New Roman"/>
                <a:cs typeface="Times New Roman"/>
              </a:rPr>
              <a:t> </a:t>
            </a:r>
            <a:r>
              <a:rPr sz="2400" dirty="0">
                <a:solidFill>
                  <a:prstClr val="black"/>
                </a:solidFill>
                <a:latin typeface="Times New Roman"/>
                <a:cs typeface="Times New Roman"/>
              </a:rPr>
              <a:t>→r</a:t>
            </a:r>
            <a:endParaRPr sz="2400">
              <a:solidFill>
                <a:prstClr val="black"/>
              </a:solidFill>
              <a:latin typeface="Times New Roman"/>
              <a:cs typeface="Times New Roman"/>
            </a:endParaRPr>
          </a:p>
          <a:p>
            <a:pPr marL="355600" indent="-343535">
              <a:spcBef>
                <a:spcPts val="575"/>
              </a:spcBef>
              <a:buFont typeface="Arial"/>
              <a:buChar char="•"/>
              <a:tabLst>
                <a:tab pos="355600" algn="l"/>
                <a:tab pos="356235" algn="l"/>
              </a:tabLst>
            </a:pPr>
            <a:r>
              <a:rPr sz="2400" dirty="0">
                <a:solidFill>
                  <a:prstClr val="black"/>
                </a:solidFill>
                <a:latin typeface="Times New Roman"/>
                <a:cs typeface="Times New Roman"/>
              </a:rPr>
              <a:t>4. ¬q</a:t>
            </a:r>
            <a:r>
              <a:rPr sz="2400" spc="-110" dirty="0">
                <a:solidFill>
                  <a:prstClr val="black"/>
                </a:solidFill>
                <a:latin typeface="Times New Roman"/>
                <a:cs typeface="Times New Roman"/>
              </a:rPr>
              <a:t> </a:t>
            </a:r>
            <a:r>
              <a:rPr sz="2400" dirty="0">
                <a:solidFill>
                  <a:prstClr val="black"/>
                </a:solidFill>
                <a:latin typeface="Times New Roman"/>
                <a:cs typeface="Times New Roman"/>
              </a:rPr>
              <a:t>→r</a:t>
            </a:r>
            <a:endParaRPr sz="2400">
              <a:solidFill>
                <a:prstClr val="black"/>
              </a:solidFill>
              <a:latin typeface="Times New Roman"/>
              <a:cs typeface="Times New Roman"/>
            </a:endParaRPr>
          </a:p>
          <a:p>
            <a:pPr marL="355600" indent="-343535">
              <a:spcBef>
                <a:spcPts val="575"/>
              </a:spcBef>
              <a:buFont typeface="Arial"/>
              <a:buChar char="•"/>
              <a:tabLst>
                <a:tab pos="355600" algn="l"/>
                <a:tab pos="356235" algn="l"/>
                <a:tab pos="736600" algn="l"/>
              </a:tabLst>
            </a:pPr>
            <a:r>
              <a:rPr sz="2400" dirty="0">
                <a:solidFill>
                  <a:prstClr val="black"/>
                </a:solidFill>
                <a:latin typeface="Times New Roman"/>
                <a:cs typeface="Times New Roman"/>
              </a:rPr>
              <a:t>5.	r</a:t>
            </a:r>
            <a:r>
              <a:rPr sz="2400" spc="-20" dirty="0">
                <a:solidFill>
                  <a:prstClr val="black"/>
                </a:solidFill>
                <a:latin typeface="Times New Roman"/>
                <a:cs typeface="Times New Roman"/>
              </a:rPr>
              <a:t> </a:t>
            </a:r>
            <a:r>
              <a:rPr sz="2400" dirty="0">
                <a:solidFill>
                  <a:prstClr val="black"/>
                </a:solidFill>
                <a:latin typeface="Times New Roman"/>
                <a:cs typeface="Times New Roman"/>
              </a:rPr>
              <a:t>→s</a:t>
            </a:r>
            <a:endParaRPr sz="2400">
              <a:solidFill>
                <a:prstClr val="black"/>
              </a:solidFill>
              <a:latin typeface="Times New Roman"/>
              <a:cs typeface="Times New Roman"/>
            </a:endParaRPr>
          </a:p>
          <a:p>
            <a:pPr marL="355600" indent="-343535">
              <a:spcBef>
                <a:spcPts val="580"/>
              </a:spcBef>
              <a:buFont typeface="Arial"/>
              <a:buChar char="•"/>
              <a:tabLst>
                <a:tab pos="355600" algn="l"/>
                <a:tab pos="356235" algn="l"/>
              </a:tabLst>
            </a:pPr>
            <a:r>
              <a:rPr sz="2400" dirty="0">
                <a:solidFill>
                  <a:prstClr val="black"/>
                </a:solidFill>
                <a:latin typeface="Times New Roman"/>
                <a:cs typeface="Times New Roman"/>
              </a:rPr>
              <a:t>6. ¬q</a:t>
            </a:r>
            <a:r>
              <a:rPr sz="2400" spc="-55" dirty="0">
                <a:solidFill>
                  <a:prstClr val="black"/>
                </a:solidFill>
                <a:latin typeface="Times New Roman"/>
                <a:cs typeface="Times New Roman"/>
              </a:rPr>
              <a:t> </a:t>
            </a:r>
            <a:r>
              <a:rPr sz="2400" dirty="0">
                <a:solidFill>
                  <a:prstClr val="black"/>
                </a:solidFill>
                <a:latin typeface="Times New Roman"/>
                <a:cs typeface="Times New Roman"/>
              </a:rPr>
              <a:t>→s</a:t>
            </a:r>
            <a:endParaRPr sz="2400">
              <a:solidFill>
                <a:prstClr val="black"/>
              </a:solidFill>
              <a:latin typeface="Times New Roman"/>
              <a:cs typeface="Times New Roman"/>
            </a:endParaRPr>
          </a:p>
        </p:txBody>
      </p:sp>
      <p:sp>
        <p:nvSpPr>
          <p:cNvPr id="4" name="object 4"/>
          <p:cNvSpPr txBox="1"/>
          <p:nvPr/>
        </p:nvSpPr>
        <p:spPr>
          <a:xfrm>
            <a:off x="4803775" y="2354707"/>
            <a:ext cx="4973320" cy="3098800"/>
          </a:xfrm>
          <a:prstGeom prst="rect">
            <a:avLst/>
          </a:prstGeom>
        </p:spPr>
        <p:txBody>
          <a:bodyPr vert="horz" wrap="square" lIns="0" tIns="12700" rIns="0" bIns="0" rtlCol="0">
            <a:spAutoFit/>
          </a:bodyPr>
          <a:lstStyle/>
          <a:p>
            <a:pPr marL="12700" marR="3971925">
              <a:lnSpc>
                <a:spcPct val="120000"/>
              </a:lnSpc>
              <a:spcBef>
                <a:spcPts val="100"/>
              </a:spcBef>
            </a:pPr>
            <a:r>
              <a:rPr sz="2400" spc="-5" dirty="0">
                <a:solidFill>
                  <a:prstClr val="black"/>
                </a:solidFill>
                <a:latin typeface="Times New Roman"/>
                <a:cs typeface="Times New Roman"/>
              </a:rPr>
              <a:t>Reason  Pre</a:t>
            </a:r>
            <a:r>
              <a:rPr sz="2400" spc="-20" dirty="0">
                <a:solidFill>
                  <a:prstClr val="black"/>
                </a:solidFill>
                <a:latin typeface="Times New Roman"/>
                <a:cs typeface="Times New Roman"/>
              </a:rPr>
              <a:t>m</a:t>
            </a:r>
            <a:r>
              <a:rPr sz="2400" dirty="0">
                <a:solidFill>
                  <a:prstClr val="black"/>
                </a:solidFill>
                <a:latin typeface="Times New Roman"/>
                <a:cs typeface="Times New Roman"/>
              </a:rPr>
              <a:t>ise</a:t>
            </a:r>
            <a:endParaRPr sz="2400">
              <a:solidFill>
                <a:prstClr val="black"/>
              </a:solidFill>
              <a:latin typeface="Times New Roman"/>
              <a:cs typeface="Times New Roman"/>
            </a:endParaRPr>
          </a:p>
          <a:p>
            <a:pPr marL="12700" marR="2320925">
              <a:lnSpc>
                <a:spcPct val="120000"/>
              </a:lnSpc>
            </a:pPr>
            <a:r>
              <a:rPr sz="2400" dirty="0">
                <a:solidFill>
                  <a:prstClr val="black"/>
                </a:solidFill>
                <a:latin typeface="Times New Roman"/>
                <a:cs typeface="Times New Roman"/>
              </a:rPr>
              <a:t>Contra positive of</a:t>
            </a:r>
            <a:r>
              <a:rPr sz="2400" spc="-120" dirty="0">
                <a:solidFill>
                  <a:prstClr val="black"/>
                </a:solidFill>
                <a:latin typeface="Times New Roman"/>
                <a:cs typeface="Times New Roman"/>
              </a:rPr>
              <a:t> </a:t>
            </a:r>
            <a:r>
              <a:rPr sz="2400" dirty="0">
                <a:solidFill>
                  <a:prstClr val="black"/>
                </a:solidFill>
                <a:latin typeface="Times New Roman"/>
                <a:cs typeface="Times New Roman"/>
              </a:rPr>
              <a:t>(1)  </a:t>
            </a:r>
            <a:r>
              <a:rPr sz="2400" spc="-5" dirty="0">
                <a:solidFill>
                  <a:prstClr val="black"/>
                </a:solidFill>
                <a:latin typeface="Times New Roman"/>
                <a:cs typeface="Times New Roman"/>
              </a:rPr>
              <a:t>Premise</a:t>
            </a:r>
            <a:endParaRPr sz="2400">
              <a:solidFill>
                <a:prstClr val="black"/>
              </a:solidFill>
              <a:latin typeface="Times New Roman"/>
              <a:cs typeface="Times New Roman"/>
            </a:endParaRPr>
          </a:p>
          <a:p>
            <a:pPr marL="12700" marR="5080">
              <a:lnSpc>
                <a:spcPct val="120000"/>
              </a:lnSpc>
            </a:pPr>
            <a:r>
              <a:rPr sz="2400" dirty="0">
                <a:solidFill>
                  <a:prstClr val="black"/>
                </a:solidFill>
                <a:latin typeface="Times New Roman"/>
                <a:cs typeface="Times New Roman"/>
              </a:rPr>
              <a:t>Hypothetical syllogism using (2) and</a:t>
            </a:r>
            <a:r>
              <a:rPr sz="2400" spc="-165" dirty="0">
                <a:solidFill>
                  <a:prstClr val="black"/>
                </a:solidFill>
                <a:latin typeface="Times New Roman"/>
                <a:cs typeface="Times New Roman"/>
              </a:rPr>
              <a:t> </a:t>
            </a:r>
            <a:r>
              <a:rPr sz="2400" dirty="0">
                <a:solidFill>
                  <a:prstClr val="black"/>
                </a:solidFill>
                <a:latin typeface="Times New Roman"/>
                <a:cs typeface="Times New Roman"/>
              </a:rPr>
              <a:t>(3)  </a:t>
            </a:r>
            <a:r>
              <a:rPr sz="2400" spc="-5" dirty="0">
                <a:solidFill>
                  <a:prstClr val="black"/>
                </a:solidFill>
                <a:latin typeface="Times New Roman"/>
                <a:cs typeface="Times New Roman"/>
              </a:rPr>
              <a:t>Premise</a:t>
            </a:r>
            <a:endParaRPr sz="2400">
              <a:solidFill>
                <a:prstClr val="black"/>
              </a:solidFill>
              <a:latin typeface="Times New Roman"/>
              <a:cs typeface="Times New Roman"/>
            </a:endParaRPr>
          </a:p>
          <a:p>
            <a:pPr marL="12700">
              <a:spcBef>
                <a:spcPts val="580"/>
              </a:spcBef>
            </a:pPr>
            <a:r>
              <a:rPr sz="2400" dirty="0">
                <a:solidFill>
                  <a:prstClr val="black"/>
                </a:solidFill>
                <a:latin typeface="Times New Roman"/>
                <a:cs typeface="Times New Roman"/>
              </a:rPr>
              <a:t>Hypothetical syllogism using (4) and</a:t>
            </a:r>
            <a:r>
              <a:rPr sz="2400" spc="-160" dirty="0">
                <a:solidFill>
                  <a:prstClr val="black"/>
                </a:solidFill>
                <a:latin typeface="Times New Roman"/>
                <a:cs typeface="Times New Roman"/>
              </a:rPr>
              <a:t> </a:t>
            </a:r>
            <a:r>
              <a:rPr sz="2400" dirty="0">
                <a:solidFill>
                  <a:prstClr val="black"/>
                </a:solidFill>
                <a:latin typeface="Times New Roman"/>
                <a:cs typeface="Times New Roman"/>
              </a:rPr>
              <a:t>(5)</a:t>
            </a:r>
            <a:endParaRPr sz="2400">
              <a:solidFill>
                <a:prstClr val="black"/>
              </a:solidFill>
              <a:latin typeface="Times New Roman"/>
              <a:cs typeface="Times New Roman"/>
            </a:endParaRP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0A6CA-A85B-4B7F-9474-F271989C3F51}"/>
              </a:ext>
            </a:extLst>
          </p:cNvPr>
          <p:cNvSpPr>
            <a:spLocks noGrp="1"/>
          </p:cNvSpPr>
          <p:nvPr>
            <p:ph type="title"/>
          </p:nvPr>
        </p:nvSpPr>
        <p:spPr>
          <a:xfrm>
            <a:off x="513124" y="129872"/>
            <a:ext cx="7729728" cy="1188720"/>
          </a:xfrm>
        </p:spPr>
        <p:txBody>
          <a:bodyPr/>
          <a:lstStyle/>
          <a:p>
            <a:r>
              <a:rPr lang="en-US" dirty="0"/>
              <a:t>Example </a:t>
            </a:r>
            <a:endParaRPr lang="en-IN" dirty="0"/>
          </a:p>
        </p:txBody>
      </p:sp>
      <p:sp>
        <p:nvSpPr>
          <p:cNvPr id="3" name="Content Placeholder 2">
            <a:extLst>
              <a:ext uri="{FF2B5EF4-FFF2-40B4-BE49-F238E27FC236}">
                <a16:creationId xmlns:a16="http://schemas.microsoft.com/office/drawing/2014/main" id="{79CB002A-2BDC-4650-A103-522D3A447484}"/>
              </a:ext>
            </a:extLst>
          </p:cNvPr>
          <p:cNvSpPr>
            <a:spLocks noGrp="1"/>
          </p:cNvSpPr>
          <p:nvPr>
            <p:ph idx="1"/>
          </p:nvPr>
        </p:nvSpPr>
        <p:spPr>
          <a:xfrm>
            <a:off x="402336" y="1700273"/>
            <a:ext cx="7032134" cy="4912562"/>
          </a:xfrm>
        </p:spPr>
        <p:txBody>
          <a:bodyPr>
            <a:normAutofit/>
          </a:bodyPr>
          <a:lstStyle/>
          <a:p>
            <a:pPr marL="0" indent="0">
              <a:buNone/>
            </a:pPr>
            <a:r>
              <a:rPr lang="en-US" sz="1800" b="0" i="0" u="none" strike="noStrike" baseline="0" dirty="0">
                <a:latin typeface="Times New Roman" panose="02020603050405020304" pitchFamily="18" charset="0"/>
              </a:rPr>
              <a:t>Example: Show that </a:t>
            </a:r>
            <a:r>
              <a:rPr lang="en-US" sz="1800" b="0" i="1" u="none" strike="noStrike" baseline="0" dirty="0">
                <a:latin typeface="Times New Roman" panose="02020603050405020304" pitchFamily="18" charset="0"/>
              </a:rPr>
              <a:t>S </a:t>
            </a:r>
            <a:r>
              <a:rPr lang="en-US" sz="1800" b="0" i="0" u="none" strike="noStrike" baseline="0" dirty="0">
                <a:latin typeface="Arial Unicode MS"/>
              </a:rPr>
              <a:t>∨</a:t>
            </a:r>
            <a:r>
              <a:rPr lang="en-US" sz="1800" b="0" i="1" u="none" strike="noStrike" baseline="0" dirty="0">
                <a:latin typeface="Times New Roman" panose="02020603050405020304" pitchFamily="18" charset="0"/>
              </a:rPr>
              <a:t>R </a:t>
            </a:r>
            <a:r>
              <a:rPr lang="en-US" sz="1800" b="0" i="0" u="none" strike="noStrike" baseline="0" dirty="0">
                <a:latin typeface="Times New Roman" panose="02020603050405020304" pitchFamily="18" charset="0"/>
              </a:rPr>
              <a:t>is tautologically implied by (</a:t>
            </a:r>
            <a:r>
              <a:rPr lang="en-US" sz="1800" b="0" i="1" u="none" strike="noStrike" baseline="0" dirty="0">
                <a:latin typeface="Times New Roman" panose="02020603050405020304" pitchFamily="18" charset="0"/>
              </a:rPr>
              <a:t>P </a:t>
            </a:r>
            <a:r>
              <a:rPr lang="en-US" sz="1800" b="0" i="0" u="none" strike="noStrike" baseline="0" dirty="0">
                <a:latin typeface="Arial Unicode MS"/>
              </a:rPr>
              <a:t>∨</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a:t>
            </a:r>
            <a:r>
              <a:rPr lang="en-US" sz="1800" b="0" i="0" u="none" strike="noStrike" baseline="0" dirty="0">
                <a:latin typeface="Arial Unicode MS"/>
              </a:rPr>
              <a:t>∧</a:t>
            </a:r>
            <a:r>
              <a:rPr lang="en-US" sz="1800" b="0" i="0" u="none" strike="noStrike" baseline="0" dirty="0">
                <a:latin typeface="Times New Roman" panose="02020603050405020304" pitchFamily="18" charset="0"/>
              </a:rPr>
              <a:t>(</a:t>
            </a:r>
            <a:r>
              <a:rPr lang="en-US" sz="1800" b="0" i="1" u="none" strike="noStrike" baseline="0" dirty="0">
                <a:latin typeface="Times New Roman" panose="02020603050405020304" pitchFamily="18" charset="0"/>
              </a:rPr>
              <a:t>P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R</a:t>
            </a:r>
            <a:r>
              <a:rPr lang="en-US" sz="1800" b="0" i="0" u="none" strike="noStrike" baseline="0" dirty="0">
                <a:latin typeface="Times New Roman" panose="02020603050405020304" pitchFamily="18" charset="0"/>
              </a:rPr>
              <a:t>)</a:t>
            </a:r>
            <a:r>
              <a:rPr lang="en-US" sz="1800" b="0" i="0" u="none" strike="noStrike" baseline="0" dirty="0">
                <a:latin typeface="Arial Unicode MS"/>
              </a:rPr>
              <a:t>∧</a:t>
            </a:r>
            <a:r>
              <a:rPr lang="en-US" sz="1800" b="0" i="0" u="none" strike="noStrike" baseline="0" dirty="0">
                <a:latin typeface="Times New Roman" panose="02020603050405020304" pitchFamily="18" charset="0"/>
              </a:rPr>
              <a:t>(</a:t>
            </a:r>
            <a:r>
              <a:rPr lang="en-US" sz="1800" b="0" i="1" u="none" strike="noStrike" baseline="0" dirty="0">
                <a:latin typeface="Times New Roman" panose="02020603050405020304" pitchFamily="18" charset="0"/>
              </a:rPr>
              <a:t>Q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S</a:t>
            </a:r>
            <a:r>
              <a:rPr lang="en-US" sz="1800" b="0" i="0" u="none" strike="noStrike" baseline="0" dirty="0">
                <a:latin typeface="Times New Roman" panose="02020603050405020304" pitchFamily="18" charset="0"/>
              </a:rPr>
              <a:t>) (Constructive Dilemma)</a:t>
            </a:r>
          </a:p>
          <a:p>
            <a:pPr marL="0" indent="0" algn="l">
              <a:buNone/>
            </a:pPr>
            <a:r>
              <a:rPr lang="en-IN" sz="1800" b="0" i="0" u="none" strike="noStrike" baseline="0" dirty="0">
                <a:latin typeface="Times New Roman" panose="02020603050405020304" pitchFamily="18" charset="0"/>
              </a:rPr>
              <a:t>Solution:</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(1)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                      </a:t>
            </a:r>
            <a:r>
              <a:rPr lang="en-US" sz="1800" b="0" i="0" u="none" strike="noStrike" baseline="0" dirty="0">
                <a:latin typeface="Times New Roman" panose="02020603050405020304" pitchFamily="18" charset="0"/>
              </a:rPr>
              <a:t>Rule P</a:t>
            </a:r>
          </a:p>
          <a:p>
            <a:pPr marL="0" indent="0" algn="l">
              <a:buNone/>
            </a:pP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1</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(2) </a:t>
            </a:r>
            <a:r>
              <a:rPr lang="en-IN" sz="1800" b="0" i="1" u="none" strike="noStrike" baseline="0" dirty="0">
                <a:latin typeface="Times New Roman,Italic"/>
              </a:rPr>
              <a:t>¬P → Q                  </a:t>
            </a:r>
            <a:r>
              <a:rPr lang="en-IN" sz="1800" b="0" i="0" u="none" strike="noStrike" baseline="0" dirty="0">
                <a:latin typeface="Times New Roman" panose="02020603050405020304" pitchFamily="18" charset="0"/>
              </a:rPr>
              <a:t>Rule T, (1) </a:t>
            </a:r>
            <a:r>
              <a:rPr lang="en-IN" sz="1800" b="0" i="1" u="none" strike="noStrike" baseline="0" dirty="0">
                <a:latin typeface="Times New Roman" panose="02020603050405020304" pitchFamily="18" charset="0"/>
              </a:rPr>
              <a:t>P </a:t>
            </a:r>
            <a:r>
              <a:rPr lang="en-IN" sz="1800" b="0" i="1" u="none" strike="noStrike" baseline="0" dirty="0">
                <a:latin typeface="Times New Roman,Italic"/>
              </a:rPr>
              <a:t>→ </a:t>
            </a:r>
            <a:r>
              <a:rPr lang="en-IN" sz="1800" b="0" i="1" u="none" strike="noStrike" baseline="0" dirty="0">
                <a:latin typeface="Times New Roman" panose="02020603050405020304" pitchFamily="18" charset="0"/>
              </a:rPr>
              <a:t>Q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Arial Unicode MS"/>
              </a:rPr>
              <a:t>∨ </a:t>
            </a:r>
            <a:r>
              <a:rPr lang="en-IN" sz="1800" b="0" i="1" u="none" strike="noStrike" baseline="0" dirty="0">
                <a:latin typeface="Times New Roman" panose="02020603050405020304" pitchFamily="18" charset="0"/>
              </a:rPr>
              <a:t>Q</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3</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(3) </a:t>
            </a:r>
            <a:r>
              <a:rPr lang="en-US" sz="1800" b="0" i="1" u="none" strike="noStrike" baseline="0" dirty="0">
                <a:latin typeface="Times New Roman,Italic"/>
              </a:rPr>
              <a:t>Q → S                     </a:t>
            </a:r>
            <a:r>
              <a:rPr lang="en-US" sz="1800" b="0" i="0" u="none" strike="noStrike" baseline="0" dirty="0">
                <a:latin typeface="Times New Roman" panose="02020603050405020304" pitchFamily="18" charset="0"/>
              </a:rPr>
              <a:t>Rule P</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3</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(4) </a:t>
            </a:r>
            <a:r>
              <a:rPr lang="en-US" sz="1800" b="0" i="1" u="none" strike="noStrike" baseline="0" dirty="0">
                <a:latin typeface="Times New Roman,Italic"/>
              </a:rPr>
              <a:t>¬P → S               </a:t>
            </a:r>
            <a:r>
              <a:rPr lang="en-US" sz="1800" b="0" i="0" u="none" strike="noStrike" baseline="0" dirty="0">
                <a:latin typeface="Times New Roman" panose="02020603050405020304" pitchFamily="18" charset="0"/>
              </a:rPr>
              <a:t>Rule T, (2), (3), and </a:t>
            </a:r>
            <a:r>
              <a:rPr lang="en-US" sz="1800" b="0" i="1" u="none" strike="noStrike" baseline="0" dirty="0">
                <a:latin typeface="Times New Roman" panose="02020603050405020304" pitchFamily="18" charset="0"/>
              </a:rPr>
              <a:t>I</a:t>
            </a:r>
            <a:r>
              <a:rPr lang="en-US" sz="1800" b="0" i="0" u="none" strike="noStrike" baseline="0" dirty="0">
                <a:latin typeface="Times New Roman" panose="02020603050405020304" pitchFamily="18" charset="0"/>
              </a:rPr>
              <a:t>13</a:t>
            </a:r>
          </a:p>
          <a:p>
            <a:pPr marL="0" indent="0" algn="l">
              <a:buNone/>
            </a:pP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1</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3</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(5) </a:t>
            </a:r>
            <a:r>
              <a:rPr lang="en-IN" sz="1800" b="0" i="1" u="none" strike="noStrike" baseline="0" dirty="0">
                <a:latin typeface="Times New Roman,Italic"/>
              </a:rPr>
              <a:t>¬S → P               </a:t>
            </a:r>
            <a:r>
              <a:rPr lang="en-IN" sz="1800" b="0" i="0" u="none" strike="noStrike" baseline="0" dirty="0">
                <a:latin typeface="Times New Roman" panose="02020603050405020304" pitchFamily="18" charset="0"/>
              </a:rPr>
              <a:t>Rule T, (4), </a:t>
            </a:r>
            <a:r>
              <a:rPr lang="en-IN" sz="1800" b="0" i="1" u="none" strike="noStrike" baseline="0" dirty="0">
                <a:latin typeface="Times New Roman" panose="02020603050405020304" pitchFamily="18" charset="0"/>
              </a:rPr>
              <a:t>P </a:t>
            </a:r>
            <a:r>
              <a:rPr lang="en-IN" sz="1800" b="0" i="1" u="none" strike="noStrike" baseline="0" dirty="0">
                <a:latin typeface="Times New Roman,Italic"/>
              </a:rPr>
              <a:t>→ </a:t>
            </a:r>
            <a:r>
              <a:rPr lang="en-IN" sz="1800" b="0" i="1" u="none" strike="noStrike" baseline="0" dirty="0">
                <a:latin typeface="Times New Roman" panose="02020603050405020304" pitchFamily="18" charset="0"/>
              </a:rPr>
              <a:t>Q </a:t>
            </a:r>
            <a:r>
              <a:rPr lang="en-IN" sz="1800" b="0" i="0" u="none" strike="noStrike" baseline="0" dirty="0">
                <a:latin typeface="Arial Unicode MS"/>
              </a:rPr>
              <a:t>⇔ </a:t>
            </a:r>
            <a:r>
              <a:rPr lang="en-IN" sz="1800" b="0" i="1" u="none" strike="noStrike" baseline="0" dirty="0">
                <a:latin typeface="Times New Roman" panose="02020603050405020304" pitchFamily="18" charset="0"/>
              </a:rPr>
              <a:t>¬Q </a:t>
            </a:r>
            <a:r>
              <a:rPr lang="en-IN" sz="1800" b="0" i="1" u="none" strike="noStrike" baseline="0" dirty="0">
                <a:latin typeface="Times New Roman,Italic"/>
              </a:rPr>
              <a:t>→ ¬P</a:t>
            </a:r>
          </a:p>
          <a:p>
            <a:pPr marL="0" indent="0" algn="l">
              <a:buNone/>
            </a:pP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6</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(6) </a:t>
            </a:r>
            <a:r>
              <a:rPr lang="en-IN" sz="1800" b="0" i="1" u="none" strike="noStrike" baseline="0" dirty="0">
                <a:latin typeface="Times New Roman,Italic"/>
              </a:rPr>
              <a:t>P → R                     </a:t>
            </a:r>
            <a:r>
              <a:rPr lang="en-IN" sz="1800" b="0" i="0" u="none" strike="noStrike" baseline="0" dirty="0">
                <a:latin typeface="Times New Roman" panose="02020603050405020304" pitchFamily="18" charset="0"/>
              </a:rPr>
              <a:t>Rule P</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3</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6</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(7) </a:t>
            </a:r>
            <a:r>
              <a:rPr lang="en-US" sz="1800" b="0" i="1" u="none" strike="noStrike" baseline="0" dirty="0">
                <a:latin typeface="Times New Roman,Italic"/>
              </a:rPr>
              <a:t>¬S → R          </a:t>
            </a:r>
            <a:r>
              <a:rPr lang="en-US" sz="1800" b="0" i="0" u="none" strike="noStrike" baseline="0" dirty="0">
                <a:latin typeface="Times New Roman" panose="02020603050405020304" pitchFamily="18" charset="0"/>
              </a:rPr>
              <a:t>Rule T, (5), (6), and </a:t>
            </a:r>
            <a:r>
              <a:rPr lang="en-US" sz="1800" b="0" i="1" u="none" strike="noStrike" baseline="0" dirty="0">
                <a:latin typeface="Times New Roman" panose="02020603050405020304" pitchFamily="18" charset="0"/>
              </a:rPr>
              <a:t>I</a:t>
            </a:r>
            <a:r>
              <a:rPr lang="en-US" sz="1800" b="0" i="0" u="none" strike="noStrike" baseline="0" dirty="0">
                <a:latin typeface="Times New Roman" panose="02020603050405020304" pitchFamily="18" charset="0"/>
              </a:rPr>
              <a:t>13</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3</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6</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(8) </a:t>
            </a:r>
            <a:r>
              <a:rPr lang="en-US" sz="1800" b="0" i="1" u="none" strike="noStrike" baseline="0" dirty="0">
                <a:latin typeface="Times New Roman" panose="02020603050405020304" pitchFamily="18" charset="0"/>
              </a:rPr>
              <a:t>S </a:t>
            </a:r>
            <a:r>
              <a:rPr lang="en-US" sz="1800" b="0" i="0" u="none" strike="noStrike" baseline="0" dirty="0">
                <a:latin typeface="Arial Unicode MS"/>
              </a:rPr>
              <a:t>∨ </a:t>
            </a:r>
            <a:r>
              <a:rPr lang="en-US" sz="1800" b="0" i="1" u="none" strike="noStrike" baseline="0" dirty="0">
                <a:latin typeface="Times New Roman" panose="02020603050405020304" pitchFamily="18" charset="0"/>
              </a:rPr>
              <a:t>R              </a:t>
            </a:r>
            <a:r>
              <a:rPr lang="en-US" sz="1800" b="0" i="0" u="none" strike="noStrike" baseline="0" dirty="0">
                <a:latin typeface="Times New Roman" panose="02020603050405020304" pitchFamily="18" charset="0"/>
              </a:rPr>
              <a:t>Rule T, (7) and </a:t>
            </a:r>
            <a:r>
              <a:rPr lang="en-US" sz="1800" b="0" i="1" u="none" strike="noStrike" baseline="0" dirty="0">
                <a:latin typeface="Times New Roman" panose="02020603050405020304" pitchFamily="18" charset="0"/>
              </a:rPr>
              <a:t>P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Q </a:t>
            </a:r>
            <a:r>
              <a:rPr lang="en-US" sz="1800" b="0" i="0" u="none" strike="noStrike" baseline="0" dirty="0">
                <a:latin typeface="Arial Unicode MS"/>
              </a:rPr>
              <a:t>⇔ </a:t>
            </a:r>
            <a:r>
              <a:rPr lang="en-US" sz="1800" b="0" i="1" u="none" strike="noStrike" baseline="0" dirty="0">
                <a:latin typeface="Times New Roman" panose="02020603050405020304" pitchFamily="18" charset="0"/>
              </a:rPr>
              <a:t>¬P </a:t>
            </a:r>
            <a:r>
              <a:rPr lang="en-US" sz="1800" b="0" i="0" u="none" strike="noStrike" baseline="0" dirty="0">
                <a:latin typeface="Arial Unicode MS"/>
              </a:rPr>
              <a:t>∨ </a:t>
            </a:r>
            <a:r>
              <a:rPr lang="en-US" sz="1800" b="0" i="1" u="none" strike="noStrike" baseline="0" dirty="0">
                <a:latin typeface="Times New Roman" panose="02020603050405020304" pitchFamily="18" charset="0"/>
              </a:rPr>
              <a:t>Q</a:t>
            </a:r>
          </a:p>
          <a:p>
            <a:pPr marL="0" indent="0" algn="l">
              <a:buNone/>
            </a:pPr>
            <a:r>
              <a:rPr lang="en-IN" sz="1800" b="0" i="0" u="none" strike="noStrike" baseline="0" dirty="0">
                <a:latin typeface="Times New Roman" panose="02020603050405020304" pitchFamily="18" charset="0"/>
              </a:rPr>
              <a:t>Hence the result.</a:t>
            </a:r>
            <a:endParaRPr lang="en-IN" dirty="0"/>
          </a:p>
        </p:txBody>
      </p:sp>
      <p:sp>
        <p:nvSpPr>
          <p:cNvPr id="4" name="Rectangle 3">
            <a:extLst>
              <a:ext uri="{FF2B5EF4-FFF2-40B4-BE49-F238E27FC236}">
                <a16:creationId xmlns:a16="http://schemas.microsoft.com/office/drawing/2014/main" id="{86DE3C99-8941-459E-82AC-B5398591A152}"/>
              </a:ext>
            </a:extLst>
          </p:cNvPr>
          <p:cNvSpPr/>
          <p:nvPr/>
        </p:nvSpPr>
        <p:spPr>
          <a:xfrm>
            <a:off x="7434470" y="1716839"/>
            <a:ext cx="3776869" cy="7818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t>Rule P</a:t>
            </a:r>
            <a:r>
              <a:rPr lang="en-US" dirty="0"/>
              <a:t>: A premise can be introduced at any point during the derivation</a:t>
            </a:r>
            <a:endParaRPr lang="en-IN" dirty="0"/>
          </a:p>
        </p:txBody>
      </p:sp>
      <p:sp>
        <p:nvSpPr>
          <p:cNvPr id="5" name="Rectangle 4">
            <a:extLst>
              <a:ext uri="{FF2B5EF4-FFF2-40B4-BE49-F238E27FC236}">
                <a16:creationId xmlns:a16="http://schemas.microsoft.com/office/drawing/2014/main" id="{35387E0B-EBF1-4F53-AFE0-3F7A2EEB4ADB}"/>
              </a:ext>
            </a:extLst>
          </p:cNvPr>
          <p:cNvSpPr/>
          <p:nvPr/>
        </p:nvSpPr>
        <p:spPr>
          <a:xfrm>
            <a:off x="7434469" y="2920108"/>
            <a:ext cx="3776869" cy="14743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b="1" i="1" dirty="0"/>
              <a:t>Rule T</a:t>
            </a:r>
            <a:r>
              <a:rPr lang="en-US" dirty="0"/>
              <a:t>: </a:t>
            </a:r>
            <a:r>
              <a:rPr lang="en-US" sz="1800" b="0" i="0" u="none" strike="noStrike" baseline="0" dirty="0">
                <a:latin typeface="Times New Roman" panose="02020603050405020304" pitchFamily="18" charset="0"/>
              </a:rPr>
              <a:t>A formula </a:t>
            </a:r>
            <a:r>
              <a:rPr lang="en-US" sz="1800" b="0" i="1" u="none" strike="noStrike" baseline="0" dirty="0">
                <a:latin typeface="Times New Roman" panose="02020603050405020304" pitchFamily="18" charset="0"/>
              </a:rPr>
              <a:t>S </a:t>
            </a:r>
            <a:r>
              <a:rPr lang="en-US" sz="1800" b="0" i="0" u="none" strike="noStrike" baseline="0" dirty="0">
                <a:latin typeface="Times New Roman" panose="02020603050405020304" pitchFamily="18" charset="0"/>
              </a:rPr>
              <a:t>may be introduced in a derivation if </a:t>
            </a:r>
            <a:r>
              <a:rPr lang="en-US" sz="1800" b="0" i="1" u="none" strike="noStrike" baseline="0" dirty="0">
                <a:latin typeface="Times New Roman" panose="02020603050405020304" pitchFamily="18" charset="0"/>
              </a:rPr>
              <a:t>S </a:t>
            </a:r>
            <a:r>
              <a:rPr lang="en-US" sz="1800" b="0" i="0" u="none" strike="noStrike" baseline="0" dirty="0">
                <a:latin typeface="Times New Roman" panose="02020603050405020304" pitchFamily="18" charset="0"/>
              </a:rPr>
              <a:t>is tautologically implied by one or more of the preceding formulas in the derivation.</a:t>
            </a:r>
            <a:endParaRPr lang="en-IN" dirty="0"/>
          </a:p>
        </p:txBody>
      </p:sp>
    </p:spTree>
    <p:extLst>
      <p:ext uri="{BB962C8B-B14F-4D97-AF65-F5344CB8AC3E}">
        <p14:creationId xmlns:p14="http://schemas.microsoft.com/office/powerpoint/2010/main" val="333311480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7FCEB-F97A-4D70-B729-59D73C483031}"/>
              </a:ext>
            </a:extLst>
          </p:cNvPr>
          <p:cNvSpPr>
            <a:spLocks noGrp="1"/>
          </p:cNvSpPr>
          <p:nvPr>
            <p:ph type="title"/>
          </p:nvPr>
        </p:nvSpPr>
        <p:spPr/>
        <p:txBody>
          <a:bodyPr/>
          <a:lstStyle/>
          <a:p>
            <a:r>
              <a:rPr lang="en-US" dirty="0"/>
              <a:t>Rule of Conditional Proof (CP)</a:t>
            </a:r>
            <a:endParaRPr lang="en-IN" dirty="0"/>
          </a:p>
        </p:txBody>
      </p:sp>
      <p:sp>
        <p:nvSpPr>
          <p:cNvPr id="3" name="Content Placeholder 2">
            <a:extLst>
              <a:ext uri="{FF2B5EF4-FFF2-40B4-BE49-F238E27FC236}">
                <a16:creationId xmlns:a16="http://schemas.microsoft.com/office/drawing/2014/main" id="{7D88D54C-693F-4F0D-8E8E-F53FFC951EBA}"/>
              </a:ext>
            </a:extLst>
          </p:cNvPr>
          <p:cNvSpPr>
            <a:spLocks noGrp="1"/>
          </p:cNvSpPr>
          <p:nvPr>
            <p:ph idx="1"/>
          </p:nvPr>
        </p:nvSpPr>
        <p:spPr/>
        <p:txBody>
          <a:bodyPr>
            <a:normAutofit fontScale="92500"/>
          </a:bodyPr>
          <a:lstStyle/>
          <a:p>
            <a:pPr marL="0" indent="0" algn="just">
              <a:buNone/>
            </a:pPr>
            <a:r>
              <a:rPr lang="en-US" b="1" i="1" u="none" strike="noStrike" baseline="0" dirty="0">
                <a:latin typeface="Times New Roman" panose="02020603050405020304" pitchFamily="18" charset="0"/>
              </a:rPr>
              <a:t>Rule CP</a:t>
            </a:r>
            <a:r>
              <a:rPr lang="en-US" b="0" i="0" u="none" strike="noStrike" baseline="0" dirty="0">
                <a:latin typeface="Times New Roman" panose="02020603050405020304" pitchFamily="18" charset="0"/>
              </a:rPr>
              <a:t>: If we can derive </a:t>
            </a:r>
            <a:r>
              <a:rPr lang="en-US" b="1" i="1" u="none" strike="noStrike" baseline="0" dirty="0">
                <a:latin typeface="Times New Roman" panose="02020603050405020304" pitchFamily="18" charset="0"/>
              </a:rPr>
              <a:t>S </a:t>
            </a:r>
            <a:r>
              <a:rPr lang="en-US" b="1" i="0" u="none" strike="noStrike" baseline="0" dirty="0">
                <a:latin typeface="Times New Roman" panose="02020603050405020304" pitchFamily="18" charset="0"/>
              </a:rPr>
              <a:t>from </a:t>
            </a:r>
            <a:r>
              <a:rPr lang="en-US" b="1" i="1" u="none" strike="noStrike" baseline="0" dirty="0">
                <a:latin typeface="Times New Roman" panose="02020603050405020304" pitchFamily="18" charset="0"/>
              </a:rPr>
              <a:t>R </a:t>
            </a:r>
            <a:r>
              <a:rPr lang="en-US" b="1" i="0" u="none" strike="noStrike" baseline="0" dirty="0">
                <a:latin typeface="Times New Roman" panose="02020603050405020304" pitchFamily="18" charset="0"/>
              </a:rPr>
              <a:t>and a set of premises</a:t>
            </a:r>
            <a:r>
              <a:rPr lang="en-US" b="0" i="0" u="none" strike="noStrike" baseline="0" dirty="0">
                <a:latin typeface="Times New Roman" panose="02020603050405020304" pitchFamily="18" charset="0"/>
              </a:rPr>
              <a:t>, then we can derive </a:t>
            </a:r>
            <a:r>
              <a:rPr lang="en-US" b="1" i="1" u="none" strike="noStrike" baseline="0" dirty="0">
                <a:latin typeface="Times New Roman" panose="02020603050405020304" pitchFamily="18" charset="0"/>
              </a:rPr>
              <a:t>R </a:t>
            </a:r>
            <a:r>
              <a:rPr lang="en-US" b="1" i="1" u="none" strike="noStrike" baseline="0" dirty="0">
                <a:latin typeface="Times New Roman,Italic"/>
              </a:rPr>
              <a:t>→ </a:t>
            </a:r>
            <a:r>
              <a:rPr lang="en-US" b="1" i="1" u="none" strike="noStrike" baseline="0" dirty="0">
                <a:latin typeface="Times New Roman" panose="02020603050405020304" pitchFamily="18" charset="0"/>
              </a:rPr>
              <a:t>S </a:t>
            </a:r>
            <a:r>
              <a:rPr lang="en-US" b="1" i="0" u="none" strike="noStrike" baseline="0" dirty="0">
                <a:latin typeface="Times New Roman" panose="02020603050405020304" pitchFamily="18" charset="0"/>
              </a:rPr>
              <a:t>from the set </a:t>
            </a:r>
            <a:r>
              <a:rPr lang="en-IN" b="1" i="0" u="none" strike="noStrike" baseline="0" dirty="0">
                <a:latin typeface="Times New Roman" panose="02020603050405020304" pitchFamily="18" charset="0"/>
              </a:rPr>
              <a:t>of premises alone</a:t>
            </a:r>
            <a:r>
              <a:rPr lang="en-IN" b="0" i="0"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Rule CP is not new for our purpose her because it follows from the equivalence</a:t>
            </a:r>
          </a:p>
          <a:p>
            <a:pPr marL="0" indent="0" algn="just">
              <a:buNone/>
            </a:pPr>
            <a:r>
              <a:rPr lang="en-US" dirty="0">
                <a:latin typeface="Times New Roman" panose="02020603050405020304" pitchFamily="18" charset="0"/>
              </a:rPr>
              <a:t>                                 </a:t>
            </a:r>
            <a:r>
              <a:rPr lang="pt-BR" b="0" i="0" u="none" strike="noStrike" baseline="0" dirty="0">
                <a:latin typeface="Times New Roman" panose="02020603050405020304" pitchFamily="18" charset="0"/>
              </a:rPr>
              <a:t>(</a:t>
            </a:r>
            <a:r>
              <a:rPr lang="pt-BR" b="0" i="1" u="none" strike="noStrike" baseline="0" dirty="0">
                <a:latin typeface="Times New Roman" panose="02020603050405020304" pitchFamily="18" charset="0"/>
              </a:rPr>
              <a:t>P </a:t>
            </a:r>
            <a:r>
              <a:rPr lang="pt-BR" b="0" i="0" u="none" strike="noStrike" baseline="0" dirty="0">
                <a:latin typeface="Arial Unicode MS"/>
              </a:rPr>
              <a:t>∧ </a:t>
            </a:r>
            <a:r>
              <a:rPr lang="pt-BR" b="0" i="1" u="none" strike="noStrike" baseline="0" dirty="0">
                <a:latin typeface="Times New Roman" panose="02020603050405020304" pitchFamily="18" charset="0"/>
              </a:rPr>
              <a:t>R</a:t>
            </a:r>
            <a:r>
              <a:rPr lang="pt-BR" b="0" i="0" u="none" strike="noStrike" baseline="0" dirty="0">
                <a:latin typeface="Times New Roman" panose="02020603050405020304" pitchFamily="18" charset="0"/>
              </a:rPr>
              <a:t>) </a:t>
            </a:r>
            <a:r>
              <a:rPr lang="pt-BR" b="0" i="1" u="none" strike="noStrike" baseline="0" dirty="0">
                <a:latin typeface="Times New Roman,Italic"/>
              </a:rPr>
              <a:t>→ </a:t>
            </a:r>
            <a:r>
              <a:rPr lang="pt-BR" b="0" i="1" u="none" strike="noStrike" baseline="0" dirty="0">
                <a:latin typeface="Times New Roman" panose="02020603050405020304" pitchFamily="18" charset="0"/>
              </a:rPr>
              <a:t>S </a:t>
            </a:r>
            <a:r>
              <a:rPr lang="pt-BR" b="0" i="0" u="none" strike="noStrike" baseline="0" dirty="0">
                <a:latin typeface="Arial Unicode MS"/>
              </a:rPr>
              <a:t>⇔ </a:t>
            </a:r>
            <a:r>
              <a:rPr lang="pt-BR" b="0" i="1" u="none" strike="noStrike" baseline="0" dirty="0">
                <a:latin typeface="Times New Roman" panose="02020603050405020304" pitchFamily="18" charset="0"/>
              </a:rPr>
              <a:t>P </a:t>
            </a:r>
            <a:r>
              <a:rPr lang="pt-BR" b="0" i="1" u="none" strike="noStrike" baseline="0" dirty="0">
                <a:latin typeface="Times New Roman,Italic"/>
              </a:rPr>
              <a:t>→ </a:t>
            </a:r>
            <a:r>
              <a:rPr lang="pt-BR" b="0" i="0" u="none" strike="noStrike" baseline="0" dirty="0">
                <a:latin typeface="Times New Roman" panose="02020603050405020304" pitchFamily="18" charset="0"/>
              </a:rPr>
              <a:t>(</a:t>
            </a:r>
            <a:r>
              <a:rPr lang="pt-BR" b="0" i="1" u="none" strike="noStrike" baseline="0" dirty="0">
                <a:latin typeface="Times New Roman" panose="02020603050405020304" pitchFamily="18" charset="0"/>
              </a:rPr>
              <a:t>R </a:t>
            </a:r>
            <a:r>
              <a:rPr lang="pt-BR" b="0" i="1" u="none" strike="noStrike" baseline="0" dirty="0">
                <a:latin typeface="Times New Roman,Italic"/>
              </a:rPr>
              <a:t>→ </a:t>
            </a:r>
            <a:r>
              <a:rPr lang="pt-BR" b="0" i="1" u="none" strike="noStrike" baseline="0" dirty="0">
                <a:latin typeface="Times New Roman" panose="02020603050405020304" pitchFamily="18" charset="0"/>
              </a:rPr>
              <a:t>S</a:t>
            </a:r>
            <a:r>
              <a:rPr lang="pt-BR" b="0" i="0" u="none" strike="noStrike" baseline="0" dirty="0">
                <a:latin typeface="Times New Roman" panose="02020603050405020304" pitchFamily="18" charset="0"/>
              </a:rPr>
              <a:t>)</a:t>
            </a:r>
          </a:p>
          <a:p>
            <a:pPr marL="0" indent="0" algn="just">
              <a:buNone/>
            </a:pPr>
            <a:r>
              <a:rPr lang="en-US" b="0" i="0" u="none" strike="noStrike" baseline="0" dirty="0">
                <a:latin typeface="Times New Roman" panose="02020603050405020304" pitchFamily="18" charset="0"/>
              </a:rPr>
              <a:t>Let </a:t>
            </a:r>
            <a:r>
              <a:rPr lang="en-US" b="1" i="1" u="none" strike="noStrike" baseline="0" dirty="0">
                <a:latin typeface="Times New Roman" panose="02020603050405020304" pitchFamily="18" charset="0"/>
              </a:rPr>
              <a:t>P </a:t>
            </a:r>
            <a:r>
              <a:rPr lang="en-US" b="1" i="0" u="none" strike="noStrike" baseline="0" dirty="0">
                <a:latin typeface="Times New Roman" panose="02020603050405020304" pitchFamily="18" charset="0"/>
              </a:rPr>
              <a:t>denote the conjunction </a:t>
            </a:r>
            <a:r>
              <a:rPr lang="en-US" b="0" i="0" u="none" strike="noStrike" baseline="0" dirty="0">
                <a:latin typeface="Times New Roman" panose="02020603050405020304" pitchFamily="18" charset="0"/>
              </a:rPr>
              <a:t>of the set of premises and let </a:t>
            </a:r>
            <a:r>
              <a:rPr lang="en-US" b="1" i="1" u="none" strike="noStrike" baseline="0" dirty="0">
                <a:latin typeface="Times New Roman" panose="02020603050405020304" pitchFamily="18" charset="0"/>
              </a:rPr>
              <a:t>R</a:t>
            </a:r>
            <a:r>
              <a:rPr lang="en-US" b="0"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be any formula. The above equivalence states that if </a:t>
            </a:r>
            <a:r>
              <a:rPr lang="en-US" b="1" i="1" u="none" strike="noStrike" baseline="0" dirty="0">
                <a:latin typeface="Times New Roman" panose="02020603050405020304" pitchFamily="18" charset="0"/>
              </a:rPr>
              <a:t>R </a:t>
            </a:r>
            <a:r>
              <a:rPr lang="en-US" b="1" i="0" u="none" strike="noStrike" baseline="0" dirty="0">
                <a:latin typeface="Times New Roman" panose="02020603050405020304" pitchFamily="18" charset="0"/>
              </a:rPr>
              <a:t>is included as an additional premise</a:t>
            </a:r>
            <a:r>
              <a:rPr lang="en-US" b="0" i="0" u="none" strike="noStrike" baseline="0" dirty="0">
                <a:latin typeface="Times New Roman" panose="02020603050405020304" pitchFamily="18" charset="0"/>
              </a:rPr>
              <a:t> and </a:t>
            </a:r>
            <a:r>
              <a:rPr lang="en-US" b="1" i="1" u="none" strike="noStrike" baseline="0" dirty="0">
                <a:latin typeface="Times New Roman" panose="02020603050405020304" pitchFamily="18" charset="0"/>
              </a:rPr>
              <a:t>S </a:t>
            </a:r>
            <a:r>
              <a:rPr lang="en-US" b="1" i="0" u="none" strike="noStrike" baseline="0" dirty="0">
                <a:latin typeface="Times New Roman" panose="02020603050405020304" pitchFamily="18" charset="0"/>
              </a:rPr>
              <a:t>is derived from </a:t>
            </a:r>
            <a:r>
              <a:rPr lang="en-US" b="1" i="1" u="none" strike="noStrike" baseline="0" dirty="0">
                <a:latin typeface="Times New Roman" panose="02020603050405020304" pitchFamily="18" charset="0"/>
              </a:rPr>
              <a:t>P </a:t>
            </a:r>
            <a:r>
              <a:rPr lang="en-US" b="1" i="0" u="none" strike="noStrike" baseline="0" dirty="0">
                <a:latin typeface="Arial Unicode MS"/>
              </a:rPr>
              <a:t>∧ </a:t>
            </a:r>
            <a:r>
              <a:rPr lang="en-US" b="1" i="1" u="none" strike="noStrike" baseline="0" dirty="0">
                <a:latin typeface="Times New Roman" panose="02020603050405020304" pitchFamily="18" charset="0"/>
              </a:rPr>
              <a:t>R</a:t>
            </a:r>
            <a:r>
              <a:rPr lang="en-US" b="0" i="0" u="none" strike="noStrike" baseline="0" dirty="0">
                <a:latin typeface="Times New Roman" panose="02020603050405020304" pitchFamily="18" charset="0"/>
              </a:rPr>
              <a:t>, then </a:t>
            </a:r>
            <a:r>
              <a:rPr lang="en-US" b="1" i="1" u="none" strike="noStrike" baseline="0" dirty="0">
                <a:latin typeface="Times New Roman" panose="02020603050405020304" pitchFamily="18" charset="0"/>
              </a:rPr>
              <a:t>R </a:t>
            </a:r>
            <a:r>
              <a:rPr lang="en-US" b="1" i="1" u="none" strike="noStrike" baseline="0" dirty="0">
                <a:latin typeface="Times New Roman,Italic"/>
              </a:rPr>
              <a:t>→ </a:t>
            </a:r>
            <a:r>
              <a:rPr lang="en-US" b="1" i="1" u="none" strike="noStrike" baseline="0" dirty="0">
                <a:latin typeface="Times New Roman" panose="02020603050405020304" pitchFamily="18" charset="0"/>
              </a:rPr>
              <a:t>S </a:t>
            </a:r>
            <a:r>
              <a:rPr lang="en-US" b="1" i="0" u="none" strike="noStrike" baseline="0" dirty="0">
                <a:latin typeface="Times New Roman" panose="02020603050405020304" pitchFamily="18" charset="0"/>
              </a:rPr>
              <a:t>can be derived from the premises </a:t>
            </a:r>
            <a:r>
              <a:rPr lang="en-US" b="1" i="1" u="none" strike="noStrike" baseline="0" dirty="0">
                <a:latin typeface="Times New Roman" panose="02020603050405020304" pitchFamily="18" charset="0"/>
              </a:rPr>
              <a:t>P </a:t>
            </a:r>
            <a:r>
              <a:rPr lang="en-US" b="1" i="0" u="none" strike="noStrike" baseline="0" dirty="0">
                <a:latin typeface="Times New Roman" panose="02020603050405020304" pitchFamily="18" charset="0"/>
              </a:rPr>
              <a:t>alone.</a:t>
            </a:r>
          </a:p>
          <a:p>
            <a:pPr marL="0" indent="0" algn="just">
              <a:buNone/>
            </a:pPr>
            <a:r>
              <a:rPr lang="en-US" b="0" i="0" u="none" strike="noStrike" baseline="0" dirty="0">
                <a:latin typeface="Times New Roman" panose="02020603050405020304" pitchFamily="18" charset="0"/>
              </a:rPr>
              <a:t>Rule CP is also called the </a:t>
            </a:r>
            <a:r>
              <a:rPr lang="en-US" b="1" i="1" u="none" strike="noStrike" baseline="0" dirty="0">
                <a:latin typeface="Times New Roman" panose="02020603050405020304" pitchFamily="18" charset="0"/>
              </a:rPr>
              <a:t>deduction theorem </a:t>
            </a:r>
            <a:r>
              <a:rPr lang="en-US" b="0" i="0" u="none" strike="noStrike" baseline="0" dirty="0">
                <a:latin typeface="Times New Roman" panose="02020603050405020304" pitchFamily="18" charset="0"/>
              </a:rPr>
              <a:t>and is generally used if the conclusion of the form </a:t>
            </a:r>
            <a:r>
              <a:rPr lang="en-US" b="1" i="1" u="none" strike="noStrike" baseline="0" dirty="0">
                <a:latin typeface="Times New Roman" panose="02020603050405020304" pitchFamily="18" charset="0"/>
              </a:rPr>
              <a:t>R </a:t>
            </a:r>
            <a:r>
              <a:rPr lang="en-US" b="1" i="1" u="none" strike="noStrike" baseline="0" dirty="0">
                <a:latin typeface="Times New Roman,Italic"/>
              </a:rPr>
              <a:t>→ </a:t>
            </a:r>
            <a:r>
              <a:rPr lang="en-US" b="1" i="1" u="none" strike="noStrike" baseline="0" dirty="0">
                <a:latin typeface="Times New Roman" panose="02020603050405020304" pitchFamily="18" charset="0"/>
              </a:rPr>
              <a:t>S</a:t>
            </a:r>
            <a:r>
              <a:rPr lang="en-US" b="0" i="0" u="none" strike="noStrike" baseline="0" dirty="0">
                <a:latin typeface="Times New Roman" panose="02020603050405020304" pitchFamily="18" charset="0"/>
              </a:rPr>
              <a:t>. In such cases, </a:t>
            </a:r>
            <a:r>
              <a:rPr lang="en-US" b="1" i="1" u="none" strike="noStrike" baseline="0" dirty="0">
                <a:latin typeface="Times New Roman" panose="02020603050405020304" pitchFamily="18" charset="0"/>
              </a:rPr>
              <a:t>R </a:t>
            </a:r>
            <a:r>
              <a:rPr lang="en-US" b="1" i="0" u="none" strike="noStrike" baseline="0" dirty="0">
                <a:latin typeface="Times New Roman" panose="02020603050405020304" pitchFamily="18" charset="0"/>
              </a:rPr>
              <a:t>is taken as an additional premise and </a:t>
            </a:r>
            <a:r>
              <a:rPr lang="en-US" b="1" i="1" u="none" strike="noStrike" baseline="0" dirty="0">
                <a:latin typeface="Times New Roman" panose="02020603050405020304" pitchFamily="18" charset="0"/>
              </a:rPr>
              <a:t>S </a:t>
            </a:r>
            <a:r>
              <a:rPr lang="en-US" b="1" i="0" u="none" strike="noStrike" baseline="0" dirty="0">
                <a:latin typeface="Times New Roman" panose="02020603050405020304" pitchFamily="18" charset="0"/>
              </a:rPr>
              <a:t>is derived from the given </a:t>
            </a:r>
            <a:r>
              <a:rPr lang="en-IN" b="1" i="0" u="none" strike="noStrike" baseline="0" dirty="0">
                <a:latin typeface="Times New Roman" panose="02020603050405020304" pitchFamily="18" charset="0"/>
              </a:rPr>
              <a:t>premises and </a:t>
            </a:r>
            <a:r>
              <a:rPr lang="en-IN" b="1" i="1" u="none" strike="noStrike" baseline="0" dirty="0">
                <a:latin typeface="Times New Roman" panose="02020603050405020304" pitchFamily="18" charset="0"/>
              </a:rPr>
              <a:t>R</a:t>
            </a:r>
            <a:r>
              <a:rPr lang="en-IN" b="1" i="0" u="none" strike="noStrike" baseline="0" dirty="0">
                <a:latin typeface="Times New Roman" panose="02020603050405020304" pitchFamily="18" charset="0"/>
              </a:rPr>
              <a:t>.</a:t>
            </a:r>
            <a:endParaRPr lang="en-IN" sz="4000" b="1" dirty="0"/>
          </a:p>
        </p:txBody>
      </p:sp>
    </p:spTree>
    <p:extLst>
      <p:ext uri="{BB962C8B-B14F-4D97-AF65-F5344CB8AC3E}">
        <p14:creationId xmlns:p14="http://schemas.microsoft.com/office/powerpoint/2010/main" val="150706434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7E0C-EB51-4A89-998E-353A55DF5CCD}"/>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46CC7564-119D-4AF6-9010-0A2225BEDE43}"/>
              </a:ext>
            </a:extLst>
          </p:cNvPr>
          <p:cNvSpPr>
            <a:spLocks noGrp="1"/>
          </p:cNvSpPr>
          <p:nvPr>
            <p:ph idx="1"/>
          </p:nvPr>
        </p:nvSpPr>
        <p:spPr/>
        <p:txBody>
          <a:bodyPr>
            <a:normAutofit fontScale="85000" lnSpcReduction="20000"/>
          </a:bodyPr>
          <a:lstStyle/>
          <a:p>
            <a:pPr marL="0" indent="0">
              <a:buNone/>
            </a:pPr>
            <a:r>
              <a:rPr lang="en-US" sz="1800" b="0" i="0" u="none" strike="noStrike" baseline="0" dirty="0">
                <a:latin typeface="Times New Roman" panose="02020603050405020304" pitchFamily="18" charset="0"/>
              </a:rPr>
              <a:t>Show that </a:t>
            </a:r>
            <a:r>
              <a:rPr lang="en-US" sz="1800" b="0" i="1" u="none" strike="noStrike" baseline="0" dirty="0">
                <a:latin typeface="Times New Roman" panose="02020603050405020304" pitchFamily="18" charset="0"/>
              </a:rPr>
              <a:t>R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S </a:t>
            </a:r>
            <a:r>
              <a:rPr lang="en-US" sz="1800" b="0" i="0" u="none" strike="noStrike" baseline="0" dirty="0">
                <a:latin typeface="Times New Roman" panose="02020603050405020304" pitchFamily="18" charset="0"/>
              </a:rPr>
              <a:t>can be derived from the premises </a:t>
            </a:r>
            <a:r>
              <a:rPr lang="en-US" sz="1800" b="0" i="1" u="none" strike="noStrike" baseline="0" dirty="0">
                <a:latin typeface="Times New Roman" panose="02020603050405020304" pitchFamily="18" charset="0"/>
              </a:rPr>
              <a:t>P </a:t>
            </a:r>
            <a:r>
              <a:rPr lang="en-US" sz="1800" b="0" i="1" u="none" strike="noStrike" baseline="0" dirty="0">
                <a:latin typeface="Times New Roman,Italic"/>
              </a:rPr>
              <a:t>→ </a:t>
            </a:r>
            <a:r>
              <a:rPr lang="en-US" sz="1800" b="0" i="0" u="none" strike="noStrike" baseline="0" dirty="0">
                <a:latin typeface="Times New Roman" panose="02020603050405020304" pitchFamily="18" charset="0"/>
              </a:rPr>
              <a:t>(</a:t>
            </a:r>
            <a:r>
              <a:rPr lang="en-US" sz="1800" b="0" i="1" u="none" strike="noStrike" baseline="0" dirty="0">
                <a:latin typeface="Times New Roman" panose="02020603050405020304" pitchFamily="18" charset="0"/>
              </a:rPr>
              <a:t>Q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S</a:t>
            </a:r>
            <a:r>
              <a:rPr lang="en-US" sz="1800" b="0" i="0" u="none" strike="noStrike" baseline="0" dirty="0">
                <a:latin typeface="Times New Roman" panose="02020603050405020304" pitchFamily="18" charset="0"/>
              </a:rPr>
              <a:t>), </a:t>
            </a:r>
            <a:r>
              <a:rPr lang="en-US" sz="1800" b="0" i="1" u="none" strike="noStrike" baseline="0" dirty="0">
                <a:latin typeface="Times New Roman" panose="02020603050405020304" pitchFamily="18" charset="0"/>
              </a:rPr>
              <a:t>¬R </a:t>
            </a:r>
            <a:r>
              <a:rPr lang="en-US" sz="1800" b="0" i="0" u="none" strike="noStrike" baseline="0" dirty="0">
                <a:latin typeface="Arial Unicode MS"/>
              </a:rPr>
              <a:t>∨ </a:t>
            </a:r>
            <a:r>
              <a:rPr lang="en-US" sz="1800" b="0" i="1" u="none" strike="noStrike" baseline="0" dirty="0">
                <a:latin typeface="Times New Roman" panose="02020603050405020304" pitchFamily="18" charset="0"/>
              </a:rPr>
              <a:t>P </a:t>
            </a:r>
            <a:r>
              <a:rPr lang="en-US" sz="1800" b="0" i="0" u="none" strike="noStrike" baseline="0" dirty="0">
                <a:latin typeface="Times New Roman" panose="02020603050405020304" pitchFamily="18" charset="0"/>
              </a:rPr>
              <a:t>, and </a:t>
            </a:r>
            <a:r>
              <a:rPr lang="en-US" sz="1800" b="0" i="1" u="none" strike="noStrike" baseline="0" dirty="0">
                <a:latin typeface="Times New Roman" panose="02020603050405020304" pitchFamily="18" charset="0"/>
              </a:rPr>
              <a:t>Q</a:t>
            </a:r>
            <a:r>
              <a:rPr lang="en-US" sz="1800" b="0" i="0" u="none" strike="noStrike" baseline="0" dirty="0">
                <a:latin typeface="Times New Roman" panose="02020603050405020304" pitchFamily="18" charset="0"/>
              </a:rPr>
              <a:t>.</a:t>
            </a:r>
          </a:p>
          <a:p>
            <a:pPr marL="0" indent="0" algn="l">
              <a:buNone/>
            </a:pPr>
            <a:r>
              <a:rPr lang="en-US" sz="1800" b="0" i="0" u="none" strike="noStrike" baseline="0" dirty="0">
                <a:latin typeface="Times New Roman" panose="02020603050405020304" pitchFamily="18" charset="0"/>
              </a:rPr>
              <a:t>Solution: Instead of deriving </a:t>
            </a:r>
            <a:r>
              <a:rPr lang="en-US" sz="1800" b="0" i="1" u="none" strike="noStrike" baseline="0" dirty="0">
                <a:latin typeface="Times New Roman" panose="02020603050405020304" pitchFamily="18" charset="0"/>
              </a:rPr>
              <a:t>R </a:t>
            </a:r>
            <a:r>
              <a:rPr lang="en-US" sz="1800" b="0" i="1" u="none" strike="noStrike" baseline="0" dirty="0">
                <a:latin typeface="Times New Roman,Italic"/>
              </a:rPr>
              <a:t>→ </a:t>
            </a:r>
            <a:r>
              <a:rPr lang="en-US" sz="1800" b="0" i="1" u="none" strike="noStrike" baseline="0" dirty="0">
                <a:latin typeface="Times New Roman" panose="02020603050405020304" pitchFamily="18" charset="0"/>
              </a:rPr>
              <a:t>S</a:t>
            </a:r>
            <a:r>
              <a:rPr lang="en-US" sz="1800" b="0" i="0" u="none" strike="noStrike" baseline="0" dirty="0">
                <a:latin typeface="Times New Roman" panose="02020603050405020304" pitchFamily="18" charset="0"/>
              </a:rPr>
              <a:t>, we shall include </a:t>
            </a:r>
            <a:r>
              <a:rPr lang="en-US" sz="1800" b="0" i="1" u="none" strike="noStrike" baseline="0" dirty="0">
                <a:latin typeface="Times New Roman" panose="02020603050405020304" pitchFamily="18" charset="0"/>
              </a:rPr>
              <a:t>R </a:t>
            </a:r>
            <a:r>
              <a:rPr lang="en-US" sz="1800" b="0" i="0" u="none" strike="noStrike" baseline="0" dirty="0">
                <a:latin typeface="Times New Roman" panose="02020603050405020304" pitchFamily="18" charset="0"/>
              </a:rPr>
              <a:t>as an additional premise and show </a:t>
            </a:r>
            <a:r>
              <a:rPr lang="en-US" sz="1800" b="0" i="1" u="none" strike="noStrike" baseline="0" dirty="0">
                <a:latin typeface="Times New Roman" panose="02020603050405020304" pitchFamily="18" charset="0"/>
              </a:rPr>
              <a:t>S </a:t>
            </a:r>
            <a:r>
              <a:rPr lang="en-IN" sz="1800" b="0" i="0" u="none" strike="noStrike" baseline="0" dirty="0">
                <a:latin typeface="Times New Roman" panose="02020603050405020304" pitchFamily="18" charset="0"/>
              </a:rPr>
              <a:t>first.</a:t>
            </a:r>
          </a:p>
          <a:p>
            <a:pPr marL="0" indent="0" algn="l">
              <a:buNone/>
            </a:pP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1</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(1) </a:t>
            </a:r>
            <a:r>
              <a:rPr lang="en-IN" sz="1800" b="0" i="1" u="none" strike="noStrike" baseline="0" dirty="0">
                <a:latin typeface="Times New Roman" panose="02020603050405020304" pitchFamily="18" charset="0"/>
              </a:rPr>
              <a:t>¬R </a:t>
            </a:r>
            <a:r>
              <a:rPr lang="en-IN" sz="1800" b="0" i="0" u="none" strike="noStrike" baseline="0" dirty="0">
                <a:latin typeface="Arial Unicode MS"/>
              </a:rPr>
              <a:t>∨ </a:t>
            </a:r>
            <a:r>
              <a:rPr lang="en-IN" sz="1800" b="0" i="1" u="none" strike="noStrike" baseline="0" dirty="0">
                <a:latin typeface="Times New Roman" panose="02020603050405020304" pitchFamily="18" charset="0"/>
              </a:rPr>
              <a:t>P                               </a:t>
            </a:r>
            <a:r>
              <a:rPr lang="en-IN" sz="1800" b="0" i="0" u="none" strike="noStrike" baseline="0" dirty="0">
                <a:latin typeface="Times New Roman" panose="02020603050405020304" pitchFamily="18" charset="0"/>
              </a:rPr>
              <a:t>Rule P</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2</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(2) </a:t>
            </a:r>
            <a:r>
              <a:rPr lang="en-US" sz="1800" b="0" i="1" u="none" strike="noStrike" baseline="0" dirty="0">
                <a:latin typeface="Times New Roman" panose="02020603050405020304" pitchFamily="18" charset="0"/>
              </a:rPr>
              <a:t>R                                        </a:t>
            </a:r>
            <a:r>
              <a:rPr lang="en-US" sz="1800" b="0" i="0" u="none" strike="noStrike" baseline="0" dirty="0">
                <a:latin typeface="Times New Roman" panose="02020603050405020304" pitchFamily="18" charset="0"/>
              </a:rPr>
              <a:t>Rule P (assumed premise)</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2</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(3) </a:t>
            </a:r>
            <a:r>
              <a:rPr lang="en-US" sz="1800" b="0" i="1" u="none" strike="noStrike" baseline="0" dirty="0">
                <a:latin typeface="Times New Roman" panose="02020603050405020304" pitchFamily="18" charset="0"/>
              </a:rPr>
              <a:t>P                                    </a:t>
            </a:r>
            <a:r>
              <a:rPr lang="en-US" sz="1800" b="0" i="0" u="none" strike="noStrike" baseline="0" dirty="0">
                <a:latin typeface="Times New Roman" panose="02020603050405020304" pitchFamily="18" charset="0"/>
              </a:rPr>
              <a:t>Rule T, (1), (2), and </a:t>
            </a:r>
            <a:r>
              <a:rPr lang="en-US" sz="1800" b="0" i="1" u="none" strike="noStrike" baseline="0" dirty="0">
                <a:latin typeface="Times New Roman" panose="02020603050405020304" pitchFamily="18" charset="0"/>
              </a:rPr>
              <a:t>I</a:t>
            </a:r>
            <a:r>
              <a:rPr lang="en-US" sz="1800" b="0" i="0" u="none" strike="noStrike" baseline="0" dirty="0">
                <a:latin typeface="Times New Roman" panose="02020603050405020304" pitchFamily="18" charset="0"/>
              </a:rPr>
              <a:t>10</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4</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(4) </a:t>
            </a:r>
            <a:r>
              <a:rPr lang="en-US" sz="1800" b="0" i="1" u="none" strike="noStrike" baseline="0" dirty="0">
                <a:latin typeface="Times New Roman,Italic"/>
              </a:rPr>
              <a:t>P → </a:t>
            </a:r>
            <a:r>
              <a:rPr lang="en-US" sz="1800" b="0" i="0" u="none" strike="noStrike" baseline="0" dirty="0">
                <a:latin typeface="Times New Roman" panose="02020603050405020304" pitchFamily="18" charset="0"/>
              </a:rPr>
              <a:t>(</a:t>
            </a:r>
            <a:r>
              <a:rPr lang="en-US" sz="1800" b="0" i="1" u="none" strike="noStrike" baseline="0" dirty="0">
                <a:latin typeface="Times New Roman,Italic"/>
              </a:rPr>
              <a:t>Q → S</a:t>
            </a:r>
            <a:r>
              <a:rPr lang="en-US" sz="1800" b="0" i="0" u="none" strike="noStrike" baseline="0" dirty="0">
                <a:latin typeface="Times New Roman" panose="02020603050405020304" pitchFamily="18" charset="0"/>
              </a:rPr>
              <a:t>)                     Rule P</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2</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4</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(5) </a:t>
            </a:r>
            <a:r>
              <a:rPr lang="en-US" sz="1800" b="0" i="1" u="none" strike="noStrike" baseline="0" dirty="0">
                <a:latin typeface="Times New Roman,Italic"/>
              </a:rPr>
              <a:t>Q → S                        </a:t>
            </a:r>
            <a:r>
              <a:rPr lang="en-US" sz="1800" b="0" i="0" u="none" strike="noStrike" baseline="0" dirty="0">
                <a:latin typeface="Times New Roman" panose="02020603050405020304" pitchFamily="18" charset="0"/>
              </a:rPr>
              <a:t>Rule T, (3), (4), and </a:t>
            </a:r>
            <a:r>
              <a:rPr lang="en-US" sz="1800" b="0" i="1" u="none" strike="noStrike" baseline="0" dirty="0">
                <a:latin typeface="Times New Roman" panose="02020603050405020304" pitchFamily="18" charset="0"/>
              </a:rPr>
              <a:t>I</a:t>
            </a:r>
            <a:r>
              <a:rPr lang="en-US" sz="1800" b="0" i="0" u="none" strike="noStrike" baseline="0" dirty="0">
                <a:latin typeface="Times New Roman" panose="02020603050405020304" pitchFamily="18" charset="0"/>
              </a:rPr>
              <a:t>11</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6</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(6) </a:t>
            </a:r>
            <a:r>
              <a:rPr lang="en-US" sz="1800" b="0" i="1" u="none" strike="noStrike" baseline="0" dirty="0">
                <a:latin typeface="Times New Roman" panose="02020603050405020304" pitchFamily="18" charset="0"/>
              </a:rPr>
              <a:t>Q                                        </a:t>
            </a:r>
            <a:r>
              <a:rPr lang="en-US" sz="1800" b="0" i="0" u="none" strike="noStrike" baseline="0" dirty="0">
                <a:latin typeface="Times New Roman" panose="02020603050405020304" pitchFamily="18" charset="0"/>
              </a:rPr>
              <a:t>Rule P</a:t>
            </a:r>
          </a:p>
          <a:p>
            <a:pPr marL="0" indent="0" algn="l">
              <a:buNone/>
            </a:pPr>
            <a:r>
              <a:rPr lang="en-US" sz="1800" b="0" i="1"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1</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2</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4</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6</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(7) </a:t>
            </a:r>
            <a:r>
              <a:rPr lang="en-US" sz="1800" b="0" i="1" u="none" strike="noStrike" baseline="0" dirty="0">
                <a:latin typeface="Times New Roman" panose="02020603050405020304" pitchFamily="18" charset="0"/>
              </a:rPr>
              <a:t>S                            </a:t>
            </a:r>
            <a:r>
              <a:rPr lang="en-US" sz="1800" b="0" i="0" u="none" strike="noStrike" baseline="0" dirty="0">
                <a:latin typeface="Times New Roman" panose="02020603050405020304" pitchFamily="18" charset="0"/>
              </a:rPr>
              <a:t>Rule T, (5), (6), and </a:t>
            </a:r>
            <a:r>
              <a:rPr lang="en-US" sz="1800" b="0" i="1" u="none" strike="noStrike" baseline="0" dirty="0">
                <a:latin typeface="Times New Roman" panose="02020603050405020304" pitchFamily="18" charset="0"/>
              </a:rPr>
              <a:t>I</a:t>
            </a:r>
            <a:r>
              <a:rPr lang="en-US" sz="1800" b="0" i="0" u="none" strike="noStrike" baseline="0" dirty="0">
                <a:latin typeface="Times New Roman" panose="02020603050405020304" pitchFamily="18" charset="0"/>
              </a:rPr>
              <a:t>11</a:t>
            </a:r>
          </a:p>
          <a:p>
            <a:pPr marL="0" indent="0" algn="l">
              <a:buNone/>
            </a:pPr>
            <a:r>
              <a:rPr lang="en-IN" sz="1800" b="0" i="1" u="none" strike="noStrike" baseline="0" dirty="0">
                <a:latin typeface="Times New Roman" panose="02020603050405020304" pitchFamily="18" charset="0"/>
              </a:rPr>
              <a:t>{</a:t>
            </a:r>
            <a:r>
              <a:rPr lang="en-IN" sz="1800" b="0" i="0" u="none" strike="noStrike" baseline="0" dirty="0">
                <a:latin typeface="Times New Roman" panose="02020603050405020304" pitchFamily="18" charset="0"/>
              </a:rPr>
              <a:t>1</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2</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4</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6</a:t>
            </a:r>
            <a:r>
              <a:rPr lang="en-IN" sz="1800" b="0" i="1" u="none" strike="noStrike" baseline="0" dirty="0">
                <a:latin typeface="Times New Roman" panose="02020603050405020304" pitchFamily="18" charset="0"/>
              </a:rPr>
              <a:t>} </a:t>
            </a:r>
            <a:r>
              <a:rPr lang="en-IN" sz="1800" b="0" i="0" u="none" strike="noStrike" baseline="0" dirty="0">
                <a:latin typeface="Times New Roman" panose="02020603050405020304" pitchFamily="18" charset="0"/>
              </a:rPr>
              <a:t>(8) </a:t>
            </a:r>
            <a:r>
              <a:rPr lang="en-IN" sz="1800" b="0" i="1" u="none" strike="noStrike" baseline="0" dirty="0">
                <a:latin typeface="Times New Roman,Italic"/>
              </a:rPr>
              <a:t>R → S                    </a:t>
            </a:r>
            <a:r>
              <a:rPr lang="en-IN" sz="1800" b="0" i="0" u="none" strike="noStrike" baseline="0" dirty="0">
                <a:latin typeface="Times New Roman" panose="02020603050405020304" pitchFamily="18" charset="0"/>
              </a:rPr>
              <a:t>Rule CP</a:t>
            </a:r>
            <a:endParaRPr lang="en-IN" dirty="0"/>
          </a:p>
        </p:txBody>
      </p:sp>
    </p:spTree>
    <p:extLst>
      <p:ext uri="{BB962C8B-B14F-4D97-AF65-F5344CB8AC3E}">
        <p14:creationId xmlns:p14="http://schemas.microsoft.com/office/powerpoint/2010/main" val="330035230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5EF63-51D1-43B2-87BB-5A793AE215A1}"/>
              </a:ext>
            </a:extLst>
          </p:cNvPr>
          <p:cNvSpPr>
            <a:spLocks noGrp="1"/>
          </p:cNvSpPr>
          <p:nvPr>
            <p:ph idx="1"/>
          </p:nvPr>
        </p:nvSpPr>
        <p:spPr>
          <a:xfrm>
            <a:off x="265043" y="92765"/>
            <a:ext cx="11926957" cy="5983357"/>
          </a:xfrm>
        </p:spPr>
        <p:txBody>
          <a:bodyPr>
            <a:noAutofit/>
          </a:bodyPr>
          <a:lstStyle/>
          <a:p>
            <a:pPr marL="0" indent="0" algn="l">
              <a:buNone/>
            </a:pPr>
            <a:r>
              <a:rPr lang="en-US" sz="1800" b="0" i="0" u="none" strike="noStrike" baseline="0" dirty="0"/>
              <a:t>Example: By using the method of derivation, show that following statements constitute a valid argument:</a:t>
            </a:r>
          </a:p>
          <a:p>
            <a:pPr marL="0" indent="0" algn="l">
              <a:buNone/>
            </a:pPr>
            <a:r>
              <a:rPr lang="en-US" sz="1800" b="0" i="0" u="none" strike="noStrike" baseline="0" dirty="0"/>
              <a:t>If </a:t>
            </a:r>
            <a:r>
              <a:rPr lang="en-US" sz="1800" b="0" i="1" u="none" strike="noStrike" baseline="0" dirty="0"/>
              <a:t>A </a:t>
            </a:r>
            <a:r>
              <a:rPr lang="en-US" sz="1800" b="0" i="0" u="none" strike="noStrike" baseline="0" dirty="0"/>
              <a:t>works hard, then either </a:t>
            </a:r>
            <a:r>
              <a:rPr lang="en-US" sz="1800" b="0" i="1" u="none" strike="noStrike" baseline="0" dirty="0"/>
              <a:t>B </a:t>
            </a:r>
            <a:r>
              <a:rPr lang="en-US" sz="1800" b="0" i="0" u="none" strike="noStrike" baseline="0" dirty="0"/>
              <a:t>or </a:t>
            </a:r>
            <a:r>
              <a:rPr lang="en-US" sz="1800" b="0" i="1" u="none" strike="noStrike" baseline="0" dirty="0"/>
              <a:t>C </a:t>
            </a:r>
            <a:r>
              <a:rPr lang="en-US" sz="1800" b="0" i="0" u="none" strike="noStrike" baseline="0" dirty="0"/>
              <a:t>will enjoy. If </a:t>
            </a:r>
            <a:r>
              <a:rPr lang="en-US" sz="1800" b="0" i="1" u="none" strike="noStrike" baseline="0" dirty="0"/>
              <a:t>B </a:t>
            </a:r>
            <a:r>
              <a:rPr lang="en-US" sz="1800" b="0" i="0" u="none" strike="noStrike" baseline="0" dirty="0"/>
              <a:t>enjoys, then </a:t>
            </a:r>
            <a:r>
              <a:rPr lang="en-US" sz="1800" b="0" i="1" u="none" strike="noStrike" baseline="0" dirty="0"/>
              <a:t>A </a:t>
            </a:r>
            <a:r>
              <a:rPr lang="en-US" sz="1800" b="0" i="0" u="none" strike="noStrike" baseline="0" dirty="0"/>
              <a:t>will not work hard. If </a:t>
            </a:r>
            <a:r>
              <a:rPr lang="en-US" sz="1800" b="0" i="1" u="none" strike="noStrike" baseline="0" dirty="0"/>
              <a:t>D </a:t>
            </a:r>
            <a:r>
              <a:rPr lang="en-US" sz="1800" b="0" i="0" u="none" strike="noStrike" baseline="0" dirty="0"/>
              <a:t>enjoys, then </a:t>
            </a:r>
            <a:r>
              <a:rPr lang="en-US" sz="1800" b="0" i="1" u="none" strike="noStrike" baseline="0" dirty="0"/>
              <a:t>C </a:t>
            </a:r>
            <a:r>
              <a:rPr lang="en-US" sz="1800" b="0" i="0" u="none" strike="noStrike" baseline="0" dirty="0"/>
              <a:t>will not. Therefore, if </a:t>
            </a:r>
            <a:r>
              <a:rPr lang="en-US" sz="1800" b="0" i="1" u="none" strike="noStrike" baseline="0" dirty="0"/>
              <a:t>A </a:t>
            </a:r>
            <a:r>
              <a:rPr lang="en-US" sz="1800" b="0" i="0" u="none" strike="noStrike" baseline="0" dirty="0"/>
              <a:t>works hard, </a:t>
            </a:r>
            <a:r>
              <a:rPr lang="en-US" sz="1800" b="0" i="1" u="none" strike="noStrike" baseline="0" dirty="0"/>
              <a:t>D </a:t>
            </a:r>
            <a:r>
              <a:rPr lang="en-US" sz="1800" b="0" i="0" u="none" strike="noStrike" baseline="0" dirty="0"/>
              <a:t>will not enjoy.</a:t>
            </a:r>
          </a:p>
          <a:p>
            <a:pPr marL="0" indent="0" algn="l">
              <a:buNone/>
            </a:pPr>
            <a:r>
              <a:rPr lang="en-US" sz="1800" b="0" i="0" u="none" strike="noStrike" baseline="0" dirty="0"/>
              <a:t>Solution: Given premises are </a:t>
            </a:r>
            <a:r>
              <a:rPr lang="en-US" sz="1800" b="0" i="1" u="none" strike="noStrike" baseline="0" dirty="0"/>
              <a:t>P → </a:t>
            </a:r>
            <a:r>
              <a:rPr lang="en-US" sz="1800" b="0" i="0" u="none" strike="noStrike" baseline="0" dirty="0"/>
              <a:t>(</a:t>
            </a:r>
            <a:r>
              <a:rPr lang="en-US" sz="1800" b="0" i="1" u="none" strike="noStrike" baseline="0" dirty="0"/>
              <a:t>Q</a:t>
            </a:r>
            <a:r>
              <a:rPr lang="en-US" sz="1800" b="0" i="0" u="none" strike="noStrike" baseline="0" dirty="0"/>
              <a:t>∨</a:t>
            </a:r>
            <a:r>
              <a:rPr lang="en-US" sz="1800" b="0" i="1" u="none" strike="noStrike" baseline="0" dirty="0"/>
              <a:t>R</a:t>
            </a:r>
            <a:r>
              <a:rPr lang="en-US" sz="1800" b="0" i="0" u="none" strike="noStrike" baseline="0" dirty="0"/>
              <a:t>), </a:t>
            </a:r>
            <a:r>
              <a:rPr lang="en-US" sz="1800" b="0" i="1" u="none" strike="noStrike" baseline="0" dirty="0"/>
              <a:t>Q → ¬P </a:t>
            </a:r>
            <a:r>
              <a:rPr lang="en-US" sz="1800" b="0" i="0" u="none" strike="noStrike" baseline="0" dirty="0"/>
              <a:t>, and </a:t>
            </a:r>
            <a:r>
              <a:rPr lang="en-US" sz="1800" b="0" i="1" u="none" strike="noStrike" baseline="0" dirty="0"/>
              <a:t>S → ¬R</a:t>
            </a:r>
            <a:r>
              <a:rPr lang="en-US" sz="1800" b="0" i="0" u="none" strike="noStrike" baseline="0" dirty="0"/>
              <a:t>. The conclusion is </a:t>
            </a:r>
            <a:r>
              <a:rPr lang="en-US" sz="1800" b="0" i="1" u="none" strike="noStrike" baseline="0" dirty="0"/>
              <a:t>P → ¬S</a:t>
            </a:r>
            <a:r>
              <a:rPr lang="en-US" sz="1800" b="0" i="0" u="none" strike="noStrike" baseline="0" dirty="0"/>
              <a:t>.</a:t>
            </a:r>
          </a:p>
          <a:p>
            <a:pPr marL="0" indent="0" algn="l">
              <a:buNone/>
            </a:pPr>
            <a:r>
              <a:rPr lang="en-US" sz="1800" b="0" i="0" u="none" strike="noStrike" baseline="0" dirty="0"/>
              <a:t>We include </a:t>
            </a:r>
            <a:r>
              <a:rPr lang="en-US" sz="1800" b="0" i="1" u="none" strike="noStrike" baseline="0" dirty="0"/>
              <a:t>P </a:t>
            </a:r>
            <a:r>
              <a:rPr lang="en-US" sz="1800" b="0" i="0" u="none" strike="noStrike" baseline="0" dirty="0"/>
              <a:t>as an additional premise and derive </a:t>
            </a:r>
            <a:r>
              <a:rPr lang="en-US" sz="1800" b="0" i="1" u="none" strike="noStrike" baseline="0" dirty="0"/>
              <a:t>¬S</a:t>
            </a:r>
            <a:r>
              <a:rPr lang="en-US" sz="1800" b="0" i="0" u="none" strike="noStrike" baseline="0" dirty="0"/>
              <a:t>.</a:t>
            </a:r>
          </a:p>
          <a:p>
            <a:pPr marL="0" indent="0" algn="l">
              <a:buNone/>
            </a:pPr>
            <a:r>
              <a:rPr lang="en-US" sz="1800" b="0" i="1" u="none" strike="noStrike" baseline="0" dirty="0"/>
              <a:t>{</a:t>
            </a:r>
            <a:r>
              <a:rPr lang="en-US" sz="1800" b="0" i="0" u="none" strike="noStrike" baseline="0" dirty="0"/>
              <a:t>1</a:t>
            </a:r>
            <a:r>
              <a:rPr lang="en-US" sz="1800" b="0" i="1" u="none" strike="noStrike" baseline="0" dirty="0"/>
              <a:t>} </a:t>
            </a:r>
            <a:r>
              <a:rPr lang="en-US" sz="1800" b="0" i="0" u="none" strike="noStrike" baseline="0" dirty="0"/>
              <a:t>(1) </a:t>
            </a:r>
            <a:r>
              <a:rPr lang="en-US" sz="1800" b="0" i="1" u="none" strike="noStrike" baseline="0" dirty="0"/>
              <a:t>P                         </a:t>
            </a:r>
            <a:r>
              <a:rPr lang="en-US" sz="1800" b="0" i="0" u="none" strike="noStrike" baseline="0" dirty="0"/>
              <a:t>Rule P (additional premise)</a:t>
            </a:r>
          </a:p>
          <a:p>
            <a:pPr marL="0" indent="0" algn="l">
              <a:buNone/>
            </a:pPr>
            <a:r>
              <a:rPr lang="en-IN" sz="1800" b="0" i="1" u="none" strike="noStrike" baseline="0" dirty="0"/>
              <a:t>{</a:t>
            </a:r>
            <a:r>
              <a:rPr lang="en-IN" sz="1800" b="0" i="0" u="none" strike="noStrike" baseline="0" dirty="0"/>
              <a:t>2</a:t>
            </a:r>
            <a:r>
              <a:rPr lang="en-IN" sz="1800" b="0" i="1" u="none" strike="noStrike" baseline="0" dirty="0"/>
              <a:t>} </a:t>
            </a:r>
            <a:r>
              <a:rPr lang="en-IN" sz="1800" b="0" i="0" u="none" strike="noStrike" baseline="0" dirty="0"/>
              <a:t>(2) </a:t>
            </a:r>
            <a:r>
              <a:rPr lang="en-IN" sz="1800" b="0" i="1" u="none" strike="noStrike" baseline="0" dirty="0"/>
              <a:t>P → </a:t>
            </a:r>
            <a:r>
              <a:rPr lang="en-IN" sz="1800" b="0" i="0" u="none" strike="noStrike" baseline="0" dirty="0"/>
              <a:t>(</a:t>
            </a:r>
            <a:r>
              <a:rPr lang="en-IN" sz="1800" b="0" i="1" u="none" strike="noStrike" baseline="0" dirty="0"/>
              <a:t>Q </a:t>
            </a:r>
            <a:r>
              <a:rPr lang="en-IN" sz="1800" b="0" i="0" u="none" strike="noStrike" baseline="0" dirty="0"/>
              <a:t>∨ </a:t>
            </a:r>
            <a:r>
              <a:rPr lang="en-IN" sz="1800" b="0" i="1" u="none" strike="noStrike" baseline="0" dirty="0"/>
              <a:t>R</a:t>
            </a:r>
            <a:r>
              <a:rPr lang="en-IN" sz="1800" b="0" i="0" u="none" strike="noStrike" baseline="0" dirty="0"/>
              <a:t>)       Rule P</a:t>
            </a:r>
          </a:p>
          <a:p>
            <a:pPr marL="0" indent="0" algn="l">
              <a:buNone/>
            </a:pPr>
            <a:r>
              <a:rPr lang="en-US" sz="1800" b="0" i="1" u="none" strike="noStrike" baseline="0" dirty="0"/>
              <a:t>{</a:t>
            </a:r>
            <a:r>
              <a:rPr lang="en-US" sz="1800" b="0" i="0" u="none" strike="noStrike" baseline="0" dirty="0"/>
              <a:t>1</a:t>
            </a:r>
            <a:r>
              <a:rPr lang="en-US" sz="1800" b="0" i="1" u="none" strike="noStrike" baseline="0" dirty="0"/>
              <a:t>, </a:t>
            </a:r>
            <a:r>
              <a:rPr lang="en-US" sz="1800" b="0" i="0" u="none" strike="noStrike" baseline="0" dirty="0"/>
              <a:t>2</a:t>
            </a:r>
            <a:r>
              <a:rPr lang="en-US" sz="1800" b="0" i="1" u="none" strike="noStrike" baseline="0" dirty="0"/>
              <a:t>} </a:t>
            </a:r>
            <a:r>
              <a:rPr lang="en-US" sz="1800" b="0" i="0" u="none" strike="noStrike" baseline="0" dirty="0"/>
              <a:t>(3) </a:t>
            </a:r>
            <a:r>
              <a:rPr lang="en-US" sz="1800" b="0" i="1" u="none" strike="noStrike" baseline="0" dirty="0"/>
              <a:t>Q </a:t>
            </a:r>
            <a:r>
              <a:rPr lang="en-US" sz="1800" b="0" i="0" u="none" strike="noStrike" baseline="0" dirty="0"/>
              <a:t>∨ </a:t>
            </a:r>
            <a:r>
              <a:rPr lang="en-US" sz="1800" b="0" i="1" u="none" strike="noStrike" baseline="0" dirty="0"/>
              <a:t>R              </a:t>
            </a:r>
            <a:r>
              <a:rPr lang="en-US" sz="1800" b="0" i="0" u="none" strike="noStrike" baseline="0" dirty="0"/>
              <a:t>Rule T, (1), (2), and </a:t>
            </a:r>
            <a:r>
              <a:rPr lang="en-US" sz="1800" b="0" i="1" u="none" strike="noStrike" baseline="0" dirty="0"/>
              <a:t>I</a:t>
            </a:r>
            <a:r>
              <a:rPr lang="en-US" sz="1800" b="0" i="0" u="none" strike="noStrike" baseline="0" dirty="0"/>
              <a:t>11</a:t>
            </a:r>
          </a:p>
          <a:p>
            <a:pPr marL="0" indent="0" algn="l">
              <a:buNone/>
            </a:pPr>
            <a:r>
              <a:rPr lang="en-IN" sz="1800" b="0" i="1" u="none" strike="noStrike" baseline="0" dirty="0"/>
              <a:t>{</a:t>
            </a:r>
            <a:r>
              <a:rPr lang="en-IN" sz="1800" b="0" i="0" u="none" strike="noStrike" baseline="0" dirty="0"/>
              <a:t>1</a:t>
            </a:r>
            <a:r>
              <a:rPr lang="en-IN" sz="1800" b="0" i="1" u="none" strike="noStrike" baseline="0" dirty="0"/>
              <a:t>, </a:t>
            </a:r>
            <a:r>
              <a:rPr lang="en-IN" sz="1800" b="0" i="0" u="none" strike="noStrike" baseline="0" dirty="0"/>
              <a:t>2</a:t>
            </a:r>
            <a:r>
              <a:rPr lang="en-IN" sz="1800" b="0" i="1" u="none" strike="noStrike" baseline="0" dirty="0"/>
              <a:t>} </a:t>
            </a:r>
            <a:r>
              <a:rPr lang="en-IN" sz="1800" b="0" i="0" u="none" strike="noStrike" baseline="0" dirty="0"/>
              <a:t>(4) </a:t>
            </a:r>
            <a:r>
              <a:rPr lang="en-IN" sz="1800" b="0" i="1" u="none" strike="noStrike" baseline="0" dirty="0"/>
              <a:t>¬Q → R          </a:t>
            </a:r>
            <a:r>
              <a:rPr lang="en-IN" sz="1800" b="0" i="0" u="none" strike="noStrike" baseline="0" dirty="0"/>
              <a:t>Rule T, (3) and </a:t>
            </a:r>
            <a:r>
              <a:rPr lang="en-IN" sz="1800" b="0" i="1" u="none" strike="noStrike" baseline="0" dirty="0"/>
              <a:t>P → Q </a:t>
            </a:r>
            <a:r>
              <a:rPr lang="en-IN" sz="1800" b="0" i="0" u="none" strike="noStrike" baseline="0" dirty="0"/>
              <a:t>⇔ </a:t>
            </a:r>
            <a:r>
              <a:rPr lang="en-IN" sz="1800" b="0" i="1" u="none" strike="noStrike" baseline="0" dirty="0"/>
              <a:t>P </a:t>
            </a:r>
            <a:r>
              <a:rPr lang="en-IN" sz="1800" b="0" i="0" u="none" strike="noStrike" baseline="0" dirty="0"/>
              <a:t>∨ </a:t>
            </a:r>
            <a:r>
              <a:rPr lang="en-IN" sz="1800" b="0" i="1" u="none" strike="noStrike" baseline="0" dirty="0"/>
              <a:t>Q</a:t>
            </a:r>
          </a:p>
          <a:p>
            <a:pPr marL="0" indent="0" algn="l">
              <a:buNone/>
            </a:pPr>
            <a:r>
              <a:rPr lang="en-IN" sz="1800" b="0" i="1" u="none" strike="noStrike" baseline="0" dirty="0"/>
              <a:t>{</a:t>
            </a:r>
            <a:r>
              <a:rPr lang="en-IN" sz="1800" b="0" i="0" u="none" strike="noStrike" baseline="0" dirty="0"/>
              <a:t>1</a:t>
            </a:r>
            <a:r>
              <a:rPr lang="en-IN" sz="1800" b="0" i="1" u="none" strike="noStrike" baseline="0" dirty="0"/>
              <a:t>, </a:t>
            </a:r>
            <a:r>
              <a:rPr lang="en-IN" sz="1800" b="0" i="0" u="none" strike="noStrike" baseline="0" dirty="0"/>
              <a:t>2</a:t>
            </a:r>
            <a:r>
              <a:rPr lang="en-IN" sz="1800" b="0" i="1" u="none" strike="noStrike" baseline="0" dirty="0"/>
              <a:t>} </a:t>
            </a:r>
            <a:r>
              <a:rPr lang="en-IN" sz="1800" b="0" i="0" u="none" strike="noStrike" baseline="0" dirty="0"/>
              <a:t>(5) </a:t>
            </a:r>
            <a:r>
              <a:rPr lang="en-IN" sz="1800" b="0" i="1" u="none" strike="noStrike" baseline="0" dirty="0"/>
              <a:t>¬R → Q          </a:t>
            </a:r>
            <a:r>
              <a:rPr lang="en-IN" sz="1800" b="0" i="0" u="none" strike="noStrike" baseline="0" dirty="0"/>
              <a:t>Rule T, (4), and </a:t>
            </a:r>
            <a:r>
              <a:rPr lang="en-IN" sz="1800" b="0" i="1" u="none" strike="noStrike" baseline="0" dirty="0"/>
              <a:t>P → Q </a:t>
            </a:r>
            <a:r>
              <a:rPr lang="en-IN" sz="1800" b="0" i="0" u="none" strike="noStrike" baseline="0" dirty="0"/>
              <a:t>⇔ </a:t>
            </a:r>
            <a:r>
              <a:rPr lang="en-IN" sz="1800" b="0" i="1" u="none" strike="noStrike" baseline="0" dirty="0"/>
              <a:t>¬Q → ¬P</a:t>
            </a:r>
          </a:p>
          <a:p>
            <a:pPr marL="0" indent="0" algn="l">
              <a:buNone/>
            </a:pPr>
            <a:r>
              <a:rPr lang="en-US" sz="1800" b="0" i="1" u="none" strike="noStrike" baseline="0" dirty="0"/>
              <a:t>{</a:t>
            </a:r>
            <a:r>
              <a:rPr lang="en-US" sz="1800" b="0" i="0" u="none" strike="noStrike" baseline="0" dirty="0"/>
              <a:t>6</a:t>
            </a:r>
            <a:r>
              <a:rPr lang="en-US" sz="1800" b="0" i="1" u="none" strike="noStrike" baseline="0" dirty="0"/>
              <a:t>} </a:t>
            </a:r>
            <a:r>
              <a:rPr lang="en-US" sz="1800" b="0" i="0" u="none" strike="noStrike" baseline="0" dirty="0"/>
              <a:t>(6) </a:t>
            </a:r>
            <a:r>
              <a:rPr lang="en-US" sz="1800" b="0" i="1" u="none" strike="noStrike" baseline="0" dirty="0"/>
              <a:t>Q → ¬P              </a:t>
            </a:r>
            <a:r>
              <a:rPr lang="en-US" sz="1800" b="0" i="0" u="none" strike="noStrike" baseline="0" dirty="0"/>
              <a:t>Rule P</a:t>
            </a:r>
          </a:p>
          <a:p>
            <a:pPr marL="0" indent="0" algn="l">
              <a:buNone/>
            </a:pPr>
            <a:r>
              <a:rPr lang="en-US" sz="1800" b="0" i="1" u="none" strike="noStrike" baseline="0" dirty="0"/>
              <a:t>{</a:t>
            </a:r>
            <a:r>
              <a:rPr lang="en-US" sz="1800" b="0" i="0" u="none" strike="noStrike" baseline="0" dirty="0"/>
              <a:t>1</a:t>
            </a:r>
            <a:r>
              <a:rPr lang="en-US" sz="1800" b="0" i="1" u="none" strike="noStrike" baseline="0" dirty="0"/>
              <a:t>, </a:t>
            </a:r>
            <a:r>
              <a:rPr lang="en-US" sz="1800" b="0" i="0" u="none" strike="noStrike" baseline="0" dirty="0"/>
              <a:t>2</a:t>
            </a:r>
            <a:r>
              <a:rPr lang="en-US" sz="1800" b="0" i="1" u="none" strike="noStrike" baseline="0" dirty="0"/>
              <a:t>, </a:t>
            </a:r>
            <a:r>
              <a:rPr lang="en-US" sz="1800" b="0" i="0" u="none" strike="noStrike" baseline="0" dirty="0"/>
              <a:t>6</a:t>
            </a:r>
            <a:r>
              <a:rPr lang="en-US" sz="1800" b="0" i="1" u="none" strike="noStrike" baseline="0" dirty="0"/>
              <a:t>} </a:t>
            </a:r>
            <a:r>
              <a:rPr lang="en-US" sz="1800" b="0" i="0" u="none" strike="noStrike" baseline="0" dirty="0"/>
              <a:t>(7) </a:t>
            </a:r>
            <a:r>
              <a:rPr lang="en-US" sz="1800" b="0" i="1" u="none" strike="noStrike" baseline="0" dirty="0"/>
              <a:t>¬R → ¬P    </a:t>
            </a:r>
            <a:r>
              <a:rPr lang="en-US" sz="1800" b="0" i="0" u="none" strike="noStrike" baseline="0" dirty="0"/>
              <a:t>Rule T, (5), (6), and </a:t>
            </a:r>
            <a:r>
              <a:rPr lang="en-US" sz="1800" b="0" i="1" u="none" strike="noStrike" baseline="0" dirty="0"/>
              <a:t>I</a:t>
            </a:r>
            <a:r>
              <a:rPr lang="en-US" sz="1800" b="0" i="0" u="none" strike="noStrike" baseline="0" dirty="0"/>
              <a:t>13</a:t>
            </a:r>
          </a:p>
          <a:p>
            <a:pPr marL="0" indent="0" algn="l">
              <a:buNone/>
            </a:pPr>
            <a:r>
              <a:rPr lang="en-IN" sz="1800" b="0" i="1" u="none" strike="noStrike" baseline="0" dirty="0"/>
              <a:t>{</a:t>
            </a:r>
            <a:r>
              <a:rPr lang="en-IN" sz="1800" b="0" i="0" u="none" strike="noStrike" baseline="0" dirty="0"/>
              <a:t>1</a:t>
            </a:r>
            <a:r>
              <a:rPr lang="en-IN" sz="1800" b="0" i="1" u="none" strike="noStrike" baseline="0" dirty="0"/>
              <a:t>, </a:t>
            </a:r>
            <a:r>
              <a:rPr lang="en-IN" sz="1800" b="0" i="0" u="none" strike="noStrike" baseline="0" dirty="0"/>
              <a:t>2</a:t>
            </a:r>
            <a:r>
              <a:rPr lang="en-IN" sz="1800" b="0" i="1" u="none" strike="noStrike" baseline="0" dirty="0"/>
              <a:t>, </a:t>
            </a:r>
            <a:r>
              <a:rPr lang="en-IN" sz="1800" b="0" i="0" u="none" strike="noStrike" baseline="0" dirty="0"/>
              <a:t>6</a:t>
            </a:r>
            <a:r>
              <a:rPr lang="en-IN" sz="1800" b="0" i="1" u="none" strike="noStrike" baseline="0" dirty="0"/>
              <a:t>} </a:t>
            </a:r>
            <a:r>
              <a:rPr lang="en-IN" sz="1800" b="0" i="0" u="none" strike="noStrike" baseline="0" dirty="0"/>
              <a:t>(8) </a:t>
            </a:r>
            <a:r>
              <a:rPr lang="en-IN" sz="1800" b="0" i="1" u="none" strike="noStrike" baseline="0" dirty="0"/>
              <a:t>P → R         </a:t>
            </a:r>
            <a:r>
              <a:rPr lang="en-IN" sz="1800" b="0" i="0" u="none" strike="noStrike" baseline="0" dirty="0"/>
              <a:t>Rule T, (7) and </a:t>
            </a:r>
            <a:r>
              <a:rPr lang="en-IN" sz="1800" b="0" i="1" u="none" strike="noStrike" baseline="0" dirty="0"/>
              <a:t>P → Q </a:t>
            </a:r>
            <a:r>
              <a:rPr lang="en-IN" sz="1800" b="0" i="0" u="none" strike="noStrike" baseline="0" dirty="0"/>
              <a:t>⇔ </a:t>
            </a:r>
            <a:r>
              <a:rPr lang="en-IN" sz="1800" b="0" i="1" u="none" strike="noStrike" baseline="0" dirty="0"/>
              <a:t>¬Q → ¬P</a:t>
            </a:r>
          </a:p>
          <a:p>
            <a:pPr marL="0" indent="0" algn="l">
              <a:buNone/>
            </a:pPr>
            <a:r>
              <a:rPr lang="en-IN" sz="1800" b="0" i="1" u="none" strike="noStrike" baseline="0" dirty="0"/>
              <a:t>{</a:t>
            </a:r>
            <a:r>
              <a:rPr lang="en-IN" sz="1800" b="0" i="0" u="none" strike="noStrike" baseline="0" dirty="0"/>
              <a:t>9</a:t>
            </a:r>
            <a:r>
              <a:rPr lang="en-IN" sz="1800" b="0" i="1" u="none" strike="noStrike" baseline="0" dirty="0"/>
              <a:t>} </a:t>
            </a:r>
            <a:r>
              <a:rPr lang="en-IN" sz="1800" b="0" i="0" u="none" strike="noStrike" baseline="0" dirty="0"/>
              <a:t>(9) </a:t>
            </a:r>
            <a:r>
              <a:rPr lang="en-IN" sz="1800" b="0" i="1" u="none" strike="noStrike" baseline="0" dirty="0"/>
              <a:t>S → ¬R               </a:t>
            </a:r>
            <a:r>
              <a:rPr lang="en-IN" sz="1800" b="0" i="0" u="none" strike="noStrike" baseline="0" dirty="0"/>
              <a:t>Rule P</a:t>
            </a:r>
          </a:p>
          <a:p>
            <a:pPr marL="0" indent="0" algn="l">
              <a:buNone/>
            </a:pPr>
            <a:r>
              <a:rPr lang="en-US" sz="1800" b="0" i="1" u="none" strike="noStrike" baseline="0" dirty="0"/>
              <a:t>{</a:t>
            </a:r>
            <a:r>
              <a:rPr lang="en-US" sz="1800" b="0" i="0" u="none" strike="noStrike" baseline="0" dirty="0"/>
              <a:t>9</a:t>
            </a:r>
            <a:r>
              <a:rPr lang="en-US" sz="1800" b="0" i="1" u="none" strike="noStrike" baseline="0" dirty="0"/>
              <a:t>} </a:t>
            </a:r>
            <a:r>
              <a:rPr lang="en-US" sz="1800" b="0" i="0" u="none" strike="noStrike" baseline="0" dirty="0"/>
              <a:t>(10) </a:t>
            </a:r>
            <a:r>
              <a:rPr lang="en-US" sz="1800" b="0" i="1" u="none" strike="noStrike" baseline="0" dirty="0"/>
              <a:t>R → ¬S             </a:t>
            </a:r>
            <a:r>
              <a:rPr lang="en-US" sz="1800" b="0" i="0" u="none" strike="noStrike" baseline="0" dirty="0"/>
              <a:t>Rule T, (9) and </a:t>
            </a:r>
            <a:r>
              <a:rPr lang="en-US" sz="1800" b="0" i="1" u="none" strike="noStrike" baseline="0" dirty="0"/>
              <a:t>P → Q </a:t>
            </a:r>
            <a:r>
              <a:rPr lang="en-US" sz="1800" b="0" i="0" u="none" strike="noStrike" baseline="0" dirty="0"/>
              <a:t>⇔ </a:t>
            </a:r>
            <a:r>
              <a:rPr lang="en-US" sz="1800" b="0" i="1" u="none" strike="noStrike" baseline="0" dirty="0"/>
              <a:t>¬Q → ¬P</a:t>
            </a:r>
          </a:p>
          <a:p>
            <a:pPr marL="0" indent="0" algn="l">
              <a:buNone/>
            </a:pPr>
            <a:r>
              <a:rPr lang="en-US" sz="1800" b="0" i="1" u="none" strike="noStrike" baseline="0" dirty="0"/>
              <a:t>{</a:t>
            </a:r>
            <a:r>
              <a:rPr lang="en-US" sz="1800" b="0" i="0" u="none" strike="noStrike" baseline="0" dirty="0"/>
              <a:t>1</a:t>
            </a:r>
            <a:r>
              <a:rPr lang="en-US" sz="1800" b="0" i="1" u="none" strike="noStrike" baseline="0" dirty="0"/>
              <a:t>, </a:t>
            </a:r>
            <a:r>
              <a:rPr lang="en-US" sz="1800" b="0" i="0" u="none" strike="noStrike" baseline="0" dirty="0"/>
              <a:t>2</a:t>
            </a:r>
            <a:r>
              <a:rPr lang="en-US" sz="1800" b="0" i="1" u="none" strike="noStrike" baseline="0" dirty="0"/>
              <a:t>, </a:t>
            </a:r>
            <a:r>
              <a:rPr lang="en-US" sz="1800" b="0" i="0" u="none" strike="noStrike" baseline="0" dirty="0"/>
              <a:t>6</a:t>
            </a:r>
            <a:r>
              <a:rPr lang="en-US" sz="1800" b="0" i="1" u="none" strike="noStrike" baseline="0" dirty="0"/>
              <a:t>, </a:t>
            </a:r>
            <a:r>
              <a:rPr lang="en-US" sz="1800" b="0" i="0" u="none" strike="noStrike" baseline="0" dirty="0"/>
              <a:t>9</a:t>
            </a:r>
            <a:r>
              <a:rPr lang="en-US" sz="1800" b="0" i="1" u="none" strike="noStrike" baseline="0" dirty="0"/>
              <a:t>} </a:t>
            </a:r>
            <a:r>
              <a:rPr lang="en-US" sz="1800" b="0" i="0" u="none" strike="noStrike" baseline="0" dirty="0"/>
              <a:t>(11) </a:t>
            </a:r>
            <a:r>
              <a:rPr lang="en-US" sz="1800" b="0" i="1" u="none" strike="noStrike" baseline="0" dirty="0"/>
              <a:t>P → ¬S </a:t>
            </a:r>
            <a:r>
              <a:rPr lang="en-US" sz="1800" b="0" i="0" u="none" strike="noStrike" baseline="0" dirty="0"/>
              <a:t>Rule T, (8), (10) and </a:t>
            </a:r>
            <a:r>
              <a:rPr lang="en-US" sz="1800" b="0" i="1" u="none" strike="noStrike" baseline="0" dirty="0"/>
              <a:t>I</a:t>
            </a:r>
            <a:r>
              <a:rPr lang="en-US" sz="1800" b="0" i="0" u="none" strike="noStrike" baseline="0" dirty="0"/>
              <a:t>13</a:t>
            </a:r>
          </a:p>
          <a:p>
            <a:pPr marL="0" indent="0" algn="l">
              <a:buNone/>
            </a:pPr>
            <a:r>
              <a:rPr lang="en-US" sz="1800" b="0" i="1" u="none" strike="noStrike" baseline="0" dirty="0"/>
              <a:t>{</a:t>
            </a:r>
            <a:r>
              <a:rPr lang="en-US" sz="1800" b="0" i="0" u="none" strike="noStrike" baseline="0" dirty="0"/>
              <a:t>1</a:t>
            </a:r>
            <a:r>
              <a:rPr lang="en-US" sz="1800" b="0" i="1" u="none" strike="noStrike" baseline="0" dirty="0"/>
              <a:t>, </a:t>
            </a:r>
            <a:r>
              <a:rPr lang="en-US" sz="1800" b="0" i="0" u="none" strike="noStrike" baseline="0" dirty="0"/>
              <a:t>2</a:t>
            </a:r>
            <a:r>
              <a:rPr lang="en-US" sz="1800" b="0" i="1" u="none" strike="noStrike" baseline="0" dirty="0"/>
              <a:t>, </a:t>
            </a:r>
            <a:r>
              <a:rPr lang="en-US" sz="1800" b="0" i="0" u="none" strike="noStrike" baseline="0" dirty="0"/>
              <a:t>6</a:t>
            </a:r>
            <a:r>
              <a:rPr lang="en-US" sz="1800" b="0" i="1" u="none" strike="noStrike" baseline="0" dirty="0"/>
              <a:t>, </a:t>
            </a:r>
            <a:r>
              <a:rPr lang="en-US" sz="1800" b="0" i="0" u="none" strike="noStrike" baseline="0" dirty="0"/>
              <a:t>9</a:t>
            </a:r>
            <a:r>
              <a:rPr lang="en-US" sz="1800" b="0" i="1" u="none" strike="noStrike" baseline="0" dirty="0"/>
              <a:t>} </a:t>
            </a:r>
            <a:r>
              <a:rPr lang="en-US" sz="1800" b="0" i="0" u="none" strike="noStrike" baseline="0" dirty="0"/>
              <a:t>(12) </a:t>
            </a:r>
            <a:r>
              <a:rPr lang="en-US" sz="1800" b="0" i="1" u="none" strike="noStrike" baseline="0" dirty="0"/>
              <a:t>¬S         </a:t>
            </a:r>
            <a:r>
              <a:rPr lang="en-US" sz="1800" b="0" i="0" u="none" strike="noStrike" baseline="0" dirty="0"/>
              <a:t>Rule T, (1), (11) and </a:t>
            </a:r>
            <a:r>
              <a:rPr lang="en-US" sz="1800" b="0" i="1" u="none" strike="noStrike" baseline="0" dirty="0"/>
              <a:t>I</a:t>
            </a:r>
            <a:r>
              <a:rPr lang="en-US" sz="1800" b="0" i="0" u="none" strike="noStrike" baseline="0" dirty="0"/>
              <a:t>11</a:t>
            </a:r>
            <a:endParaRPr lang="en-IN" sz="1800" dirty="0"/>
          </a:p>
        </p:txBody>
      </p:sp>
    </p:spTree>
    <p:extLst>
      <p:ext uri="{BB962C8B-B14F-4D97-AF65-F5344CB8AC3E}">
        <p14:creationId xmlns:p14="http://schemas.microsoft.com/office/powerpoint/2010/main" val="316085951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0100-D093-436B-9775-AB4E7443049F}"/>
              </a:ext>
            </a:extLst>
          </p:cNvPr>
          <p:cNvSpPr>
            <a:spLocks noGrp="1"/>
          </p:cNvSpPr>
          <p:nvPr>
            <p:ph type="title"/>
          </p:nvPr>
        </p:nvSpPr>
        <p:spPr>
          <a:xfrm>
            <a:off x="732182" y="264283"/>
            <a:ext cx="10515600" cy="668545"/>
          </a:xfrm>
        </p:spPr>
        <p:txBody>
          <a:bodyPr>
            <a:normAutofit fontScale="90000"/>
          </a:bodyPr>
          <a:lstStyle/>
          <a:p>
            <a:r>
              <a:rPr lang="en-US" dirty="0"/>
              <a:t>Consistency of Premises</a:t>
            </a:r>
            <a:endParaRPr lang="en-IN" dirty="0"/>
          </a:p>
        </p:txBody>
      </p:sp>
      <p:sp>
        <p:nvSpPr>
          <p:cNvPr id="3" name="Content Placeholder 2">
            <a:extLst>
              <a:ext uri="{FF2B5EF4-FFF2-40B4-BE49-F238E27FC236}">
                <a16:creationId xmlns:a16="http://schemas.microsoft.com/office/drawing/2014/main" id="{D081FBAC-FA5E-4656-BA73-8156B60666F8}"/>
              </a:ext>
            </a:extLst>
          </p:cNvPr>
          <p:cNvSpPr>
            <a:spLocks noGrp="1"/>
          </p:cNvSpPr>
          <p:nvPr>
            <p:ph idx="1"/>
          </p:nvPr>
        </p:nvSpPr>
        <p:spPr>
          <a:xfrm>
            <a:off x="838200" y="1568932"/>
            <a:ext cx="10515600" cy="4351338"/>
          </a:xfrm>
        </p:spPr>
        <p:txBody>
          <a:bodyPr>
            <a:normAutofit fontScale="92500" lnSpcReduction="20000"/>
          </a:bodyPr>
          <a:lstStyle/>
          <a:p>
            <a:pPr marL="0" indent="0" algn="just">
              <a:buNone/>
            </a:pPr>
            <a:r>
              <a:rPr lang="en-US" sz="3200" b="0" i="0" u="none" strike="noStrike" baseline="0" dirty="0">
                <a:latin typeface="Times New Roman" panose="02020603050405020304" pitchFamily="18" charset="0"/>
              </a:rPr>
              <a:t>A set of formulas </a:t>
            </a:r>
            <a:r>
              <a:rPr lang="en-US" sz="3200" b="0" i="1" u="none" strike="noStrike" baseline="0" dirty="0">
                <a:latin typeface="Times New Roman" panose="02020603050405020304" pitchFamily="18" charset="0"/>
              </a:rPr>
              <a:t>H</a:t>
            </a:r>
            <a:r>
              <a:rPr lang="en-US" sz="3200" b="0" i="0" u="none" strike="noStrike" baseline="0" dirty="0">
                <a:latin typeface="Times New Roman" panose="02020603050405020304" pitchFamily="18" charset="0"/>
              </a:rPr>
              <a:t>1</a:t>
            </a:r>
            <a:r>
              <a:rPr lang="en-US" sz="3200" b="0" i="1" u="none" strike="noStrike" baseline="0" dirty="0">
                <a:latin typeface="Times New Roman" panose="02020603050405020304" pitchFamily="18" charset="0"/>
              </a:rPr>
              <a:t>, H</a:t>
            </a:r>
            <a:r>
              <a:rPr lang="en-US" sz="3200" b="0" i="0" u="none" strike="noStrike" baseline="0" dirty="0">
                <a:latin typeface="Times New Roman" panose="02020603050405020304" pitchFamily="18" charset="0"/>
              </a:rPr>
              <a:t>2</a:t>
            </a:r>
            <a:r>
              <a:rPr lang="en-US" sz="3200" b="0" i="1" u="none" strike="noStrike" baseline="0" dirty="0">
                <a:latin typeface="Times New Roman" panose="02020603050405020304" pitchFamily="18" charset="0"/>
              </a:rPr>
              <a:t>, · · · , Hm </a:t>
            </a:r>
            <a:r>
              <a:rPr lang="en-US" sz="3200" b="0" i="0" u="none" strike="noStrike" baseline="0" dirty="0">
                <a:latin typeface="Times New Roman" panose="02020603050405020304" pitchFamily="18" charset="0"/>
              </a:rPr>
              <a:t>is said to be </a:t>
            </a:r>
            <a:r>
              <a:rPr lang="en-US" sz="3200" b="0" i="1" u="none" strike="noStrike" baseline="0" dirty="0">
                <a:latin typeface="Times New Roman" panose="02020603050405020304" pitchFamily="18" charset="0"/>
              </a:rPr>
              <a:t>consistent </a:t>
            </a:r>
            <a:r>
              <a:rPr lang="en-US" sz="3200" b="0" i="0" u="none" strike="noStrike" baseline="0" dirty="0">
                <a:latin typeface="Times New Roman" panose="02020603050405020304" pitchFamily="18" charset="0"/>
              </a:rPr>
              <a:t>if their conjunction has the truth value </a:t>
            </a:r>
            <a:r>
              <a:rPr lang="en-US" sz="3200" b="0" i="1" u="none" strike="noStrike" baseline="0" dirty="0">
                <a:latin typeface="Times New Roman" panose="02020603050405020304" pitchFamily="18" charset="0"/>
              </a:rPr>
              <a:t>T </a:t>
            </a:r>
            <a:r>
              <a:rPr lang="en-US" sz="3200" b="0" i="0" u="none" strike="noStrike" baseline="0" dirty="0">
                <a:latin typeface="Times New Roman" panose="02020603050405020304" pitchFamily="18" charset="0"/>
              </a:rPr>
              <a:t>for some assignment of the truth values to the atomic variables appearing in </a:t>
            </a:r>
            <a:r>
              <a:rPr lang="en-US" sz="3200" b="0" i="1" u="none" strike="noStrike" baseline="0" dirty="0">
                <a:latin typeface="Times New Roman" panose="02020603050405020304" pitchFamily="18" charset="0"/>
              </a:rPr>
              <a:t>H</a:t>
            </a:r>
            <a:r>
              <a:rPr lang="en-US" sz="3200" b="0" i="0" u="none" strike="noStrike" baseline="0" dirty="0">
                <a:latin typeface="Times New Roman" panose="02020603050405020304" pitchFamily="18" charset="0"/>
              </a:rPr>
              <a:t>1</a:t>
            </a:r>
            <a:r>
              <a:rPr lang="en-US" sz="3200" b="0" i="1" u="none" strike="noStrike" baseline="0" dirty="0">
                <a:latin typeface="Times New Roman" panose="02020603050405020304" pitchFamily="18" charset="0"/>
              </a:rPr>
              <a:t>, H</a:t>
            </a:r>
            <a:r>
              <a:rPr lang="en-US" sz="3200" b="0" i="0" u="none" strike="noStrike" baseline="0" dirty="0">
                <a:latin typeface="Times New Roman" panose="02020603050405020304" pitchFamily="18" charset="0"/>
              </a:rPr>
              <a:t>2</a:t>
            </a:r>
            <a:r>
              <a:rPr lang="en-US" sz="3200" b="0" i="1" u="none" strike="noStrike" baseline="0" dirty="0">
                <a:latin typeface="Times New Roman" panose="02020603050405020304" pitchFamily="18" charset="0"/>
              </a:rPr>
              <a:t>, </a:t>
            </a:r>
            <a:r>
              <a:rPr lang="en-IN" sz="3200" b="0" i="1" u="none" strike="noStrike" baseline="0" dirty="0">
                <a:latin typeface="Times New Roman" panose="02020603050405020304" pitchFamily="18" charset="0"/>
              </a:rPr>
              <a:t>· · · , Hm</a:t>
            </a:r>
            <a:r>
              <a:rPr lang="en-IN" sz="3200" b="0" i="0" u="none" strike="noStrike" baseline="0" dirty="0">
                <a:latin typeface="Times New Roman" panose="02020603050405020304" pitchFamily="18" charset="0"/>
              </a:rPr>
              <a:t>.</a:t>
            </a:r>
          </a:p>
          <a:p>
            <a:pPr marL="0" indent="0" algn="just">
              <a:buNone/>
            </a:pPr>
            <a:r>
              <a:rPr lang="en-US" sz="3200" b="0" i="0" u="none" strike="noStrike" baseline="0" dirty="0">
                <a:latin typeface="Times New Roman" panose="02020603050405020304" pitchFamily="18" charset="0"/>
              </a:rPr>
              <a:t>If, for every assignment of the truth values to the atomic variables, at least one of the formulas </a:t>
            </a:r>
            <a:r>
              <a:rPr lang="en-US" sz="3200" b="0" i="1" u="none" strike="noStrike" baseline="0" dirty="0">
                <a:latin typeface="Times New Roman" panose="02020603050405020304" pitchFamily="18" charset="0"/>
              </a:rPr>
              <a:t>H</a:t>
            </a:r>
            <a:r>
              <a:rPr lang="en-US" sz="3200" b="0" i="0" u="none" strike="noStrike" baseline="0" dirty="0">
                <a:latin typeface="Times New Roman" panose="02020603050405020304" pitchFamily="18" charset="0"/>
              </a:rPr>
              <a:t>1</a:t>
            </a:r>
            <a:r>
              <a:rPr lang="en-US" sz="3200" b="0" i="1" u="none" strike="noStrike" baseline="0" dirty="0">
                <a:latin typeface="Times New Roman" panose="02020603050405020304" pitchFamily="18" charset="0"/>
              </a:rPr>
              <a:t>, H</a:t>
            </a:r>
            <a:r>
              <a:rPr lang="en-US" sz="3200" b="0" i="0" u="none" strike="noStrike" baseline="0" dirty="0">
                <a:latin typeface="Times New Roman" panose="02020603050405020304" pitchFamily="18" charset="0"/>
              </a:rPr>
              <a:t>2</a:t>
            </a:r>
            <a:r>
              <a:rPr lang="en-US" sz="3200" b="0" i="1" u="none" strike="noStrike" baseline="0" dirty="0">
                <a:latin typeface="Times New Roman" panose="02020603050405020304" pitchFamily="18" charset="0"/>
              </a:rPr>
              <a:t>, · · · , Hm </a:t>
            </a:r>
            <a:r>
              <a:rPr lang="en-US" sz="3200" b="0" i="0" u="none" strike="noStrike" baseline="0" dirty="0">
                <a:latin typeface="Times New Roman" panose="02020603050405020304" pitchFamily="18" charset="0"/>
              </a:rPr>
              <a:t>is false, so that their conjunction is identically false, then the formulas </a:t>
            </a:r>
            <a:r>
              <a:rPr lang="en-IN" sz="3200" b="0" i="1" u="none" strike="noStrike" baseline="0" dirty="0">
                <a:latin typeface="Times New Roman" panose="02020603050405020304" pitchFamily="18" charset="0"/>
              </a:rPr>
              <a:t>H</a:t>
            </a:r>
            <a:r>
              <a:rPr lang="en-IN" sz="3200" b="0" i="0" u="none" strike="noStrike" baseline="0" dirty="0">
                <a:latin typeface="Times New Roman" panose="02020603050405020304" pitchFamily="18" charset="0"/>
              </a:rPr>
              <a:t>1</a:t>
            </a:r>
            <a:r>
              <a:rPr lang="en-IN" sz="3200" b="0" i="1" u="none" strike="noStrike" baseline="0" dirty="0">
                <a:latin typeface="Times New Roman" panose="02020603050405020304" pitchFamily="18" charset="0"/>
              </a:rPr>
              <a:t>, H</a:t>
            </a:r>
            <a:r>
              <a:rPr lang="en-IN" sz="3200" b="0" i="0" u="none" strike="noStrike" baseline="0" dirty="0">
                <a:latin typeface="Times New Roman" panose="02020603050405020304" pitchFamily="18" charset="0"/>
              </a:rPr>
              <a:t>2</a:t>
            </a:r>
            <a:r>
              <a:rPr lang="en-IN" sz="3200" b="0" i="1" u="none" strike="noStrike" baseline="0" dirty="0">
                <a:latin typeface="Times New Roman" panose="02020603050405020304" pitchFamily="18" charset="0"/>
              </a:rPr>
              <a:t>, · · · , Hm </a:t>
            </a:r>
            <a:r>
              <a:rPr lang="en-IN" sz="3200" b="0" i="0" u="none" strike="noStrike" baseline="0" dirty="0">
                <a:latin typeface="Times New Roman" panose="02020603050405020304" pitchFamily="18" charset="0"/>
              </a:rPr>
              <a:t>are called </a:t>
            </a:r>
            <a:r>
              <a:rPr lang="en-IN" sz="3200" b="0" i="1" u="none" strike="noStrike" baseline="0" dirty="0">
                <a:latin typeface="Times New Roman" panose="02020603050405020304" pitchFamily="18" charset="0"/>
              </a:rPr>
              <a:t>inconsistent</a:t>
            </a:r>
            <a:r>
              <a:rPr lang="en-IN" sz="3200" b="0" i="0" u="none" strike="noStrike" baseline="0" dirty="0">
                <a:latin typeface="Times New Roman" panose="02020603050405020304" pitchFamily="18" charset="0"/>
              </a:rPr>
              <a:t>.</a:t>
            </a:r>
          </a:p>
          <a:p>
            <a:pPr marL="0" indent="0" algn="just">
              <a:buNone/>
            </a:pPr>
            <a:r>
              <a:rPr lang="en-US" sz="3200" b="0" i="0" u="none" strike="noStrike" baseline="0" dirty="0">
                <a:latin typeface="Times New Roman" panose="02020603050405020304" pitchFamily="18" charset="0"/>
              </a:rPr>
              <a:t>Alternatively, a set of formulas </a:t>
            </a:r>
            <a:r>
              <a:rPr lang="en-US" sz="3200" b="0" i="1" u="none" strike="noStrike" baseline="0" dirty="0">
                <a:latin typeface="Times New Roman" panose="02020603050405020304" pitchFamily="18" charset="0"/>
              </a:rPr>
              <a:t>H</a:t>
            </a:r>
            <a:r>
              <a:rPr lang="en-US" sz="3200" b="0" i="0" u="none" strike="noStrike" baseline="0" dirty="0">
                <a:latin typeface="Times New Roman" panose="02020603050405020304" pitchFamily="18" charset="0"/>
              </a:rPr>
              <a:t>1</a:t>
            </a:r>
            <a:r>
              <a:rPr lang="en-US" sz="3200" b="0" i="1" u="none" strike="noStrike" baseline="0" dirty="0">
                <a:latin typeface="Times New Roman" panose="02020603050405020304" pitchFamily="18" charset="0"/>
              </a:rPr>
              <a:t>, H</a:t>
            </a:r>
            <a:r>
              <a:rPr lang="en-US" sz="3200" b="0" i="0" u="none" strike="noStrike" baseline="0" dirty="0">
                <a:latin typeface="Times New Roman" panose="02020603050405020304" pitchFamily="18" charset="0"/>
              </a:rPr>
              <a:t>2</a:t>
            </a:r>
            <a:r>
              <a:rPr lang="en-US" sz="3200" b="0" i="1" u="none" strike="noStrike" baseline="0" dirty="0">
                <a:latin typeface="Times New Roman" panose="02020603050405020304" pitchFamily="18" charset="0"/>
              </a:rPr>
              <a:t>, · · · , Hm </a:t>
            </a:r>
            <a:r>
              <a:rPr lang="en-US" sz="3200" b="0" i="0" u="none" strike="noStrike" baseline="0" dirty="0">
                <a:latin typeface="Times New Roman" panose="02020603050405020304" pitchFamily="18" charset="0"/>
              </a:rPr>
              <a:t>is inconsistent if their conjunction implies a </a:t>
            </a:r>
            <a:r>
              <a:rPr lang="en-IN" sz="3200" b="0" i="0" u="none" strike="noStrike" baseline="0" dirty="0">
                <a:latin typeface="Times New Roman" panose="02020603050405020304" pitchFamily="18" charset="0"/>
              </a:rPr>
              <a:t>contradiction, that is, </a:t>
            </a:r>
            <a:r>
              <a:rPr lang="pt-BR" sz="3200" b="0" i="1" u="none" strike="noStrike" baseline="0" dirty="0">
                <a:latin typeface="Times New Roman" panose="02020603050405020304" pitchFamily="18" charset="0"/>
              </a:rPr>
              <a:t>H</a:t>
            </a:r>
            <a:r>
              <a:rPr lang="pt-BR" sz="3200" b="0" i="0" u="none" strike="noStrike" baseline="0" dirty="0">
                <a:latin typeface="Times New Roman" panose="02020603050405020304" pitchFamily="18" charset="0"/>
              </a:rPr>
              <a:t>1 </a:t>
            </a:r>
            <a:r>
              <a:rPr lang="pt-BR" sz="3200" b="0" i="0" u="none" strike="noStrike" baseline="0" dirty="0">
                <a:latin typeface="Arial Unicode MS"/>
              </a:rPr>
              <a:t>∧ </a:t>
            </a:r>
            <a:r>
              <a:rPr lang="pt-BR" sz="3200" b="0" i="1" u="none" strike="noStrike" baseline="0" dirty="0">
                <a:latin typeface="Times New Roman" panose="02020603050405020304" pitchFamily="18" charset="0"/>
              </a:rPr>
              <a:t>H</a:t>
            </a:r>
            <a:r>
              <a:rPr lang="pt-BR" sz="3200" b="0" i="0" u="none" strike="noStrike" baseline="0" dirty="0">
                <a:latin typeface="Times New Roman" panose="02020603050405020304" pitchFamily="18" charset="0"/>
              </a:rPr>
              <a:t>2 </a:t>
            </a:r>
            <a:r>
              <a:rPr lang="pt-BR" sz="3200" b="0" i="0" u="none" strike="noStrike" baseline="0" dirty="0">
                <a:latin typeface="Arial Unicode MS"/>
              </a:rPr>
              <a:t>∧ </a:t>
            </a:r>
            <a:r>
              <a:rPr lang="pt-BR" sz="3200" b="0" i="1" u="none" strike="noStrike" baseline="0" dirty="0">
                <a:latin typeface="Times New Roman" panose="02020603050405020304" pitchFamily="18" charset="0"/>
              </a:rPr>
              <a:t>· · · </a:t>
            </a:r>
            <a:r>
              <a:rPr lang="pt-BR" sz="3200" b="0" i="0" u="none" strike="noStrike" baseline="0" dirty="0">
                <a:latin typeface="Arial Unicode MS"/>
              </a:rPr>
              <a:t>∧ </a:t>
            </a:r>
            <a:r>
              <a:rPr lang="pt-BR" sz="3200" b="0" i="1" u="none" strike="noStrike" baseline="0" dirty="0">
                <a:latin typeface="Times New Roman" panose="02020603050405020304" pitchFamily="18" charset="0"/>
              </a:rPr>
              <a:t>Hm </a:t>
            </a:r>
            <a:r>
              <a:rPr lang="pt-BR" sz="3200" b="0" i="0" u="none" strike="noStrike" baseline="0" dirty="0">
                <a:latin typeface="Arial Unicode MS"/>
              </a:rPr>
              <a:t>⇒ </a:t>
            </a:r>
            <a:r>
              <a:rPr lang="pt-BR" sz="3200" b="0" i="1" u="none" strike="noStrike" baseline="0" dirty="0">
                <a:latin typeface="Times New Roman" panose="02020603050405020304" pitchFamily="18" charset="0"/>
              </a:rPr>
              <a:t>R </a:t>
            </a:r>
            <a:r>
              <a:rPr lang="pt-BR" sz="3200" b="0" i="0" u="none" strike="noStrike" baseline="0" dirty="0">
                <a:latin typeface="Arial Unicode MS"/>
              </a:rPr>
              <a:t>∧ </a:t>
            </a:r>
            <a:r>
              <a:rPr lang="pt-BR" sz="3200" b="0" i="1" u="none" strike="noStrike" baseline="0" dirty="0">
                <a:latin typeface="Times New Roman" panose="02020603050405020304" pitchFamily="18" charset="0"/>
              </a:rPr>
              <a:t>¬R </a:t>
            </a:r>
            <a:r>
              <a:rPr lang="en-US" sz="3200" b="0" i="0" u="none" strike="noStrike" baseline="0" dirty="0">
                <a:latin typeface="Times New Roman" panose="02020603050405020304" pitchFamily="18" charset="0"/>
              </a:rPr>
              <a:t>where </a:t>
            </a:r>
            <a:r>
              <a:rPr lang="en-US" sz="3200" b="0" i="1" u="none" strike="noStrike" baseline="0" dirty="0">
                <a:latin typeface="Times New Roman" panose="02020603050405020304" pitchFamily="18" charset="0"/>
              </a:rPr>
              <a:t>R </a:t>
            </a:r>
            <a:r>
              <a:rPr lang="en-US" sz="3200" b="0" i="0" u="none" strike="noStrike" baseline="0" dirty="0">
                <a:latin typeface="Times New Roman" panose="02020603050405020304" pitchFamily="18" charset="0"/>
              </a:rPr>
              <a:t>is any formula.</a:t>
            </a:r>
          </a:p>
          <a:p>
            <a:pPr marL="0" indent="0" algn="just">
              <a:buNone/>
            </a:pPr>
            <a:endParaRPr lang="en-US" sz="1800" dirty="0">
              <a:latin typeface="Times New Roman" panose="02020603050405020304" pitchFamily="18" charset="0"/>
            </a:endParaRPr>
          </a:p>
        </p:txBody>
      </p:sp>
    </p:spTree>
    <p:extLst>
      <p:ext uri="{BB962C8B-B14F-4D97-AF65-F5344CB8AC3E}">
        <p14:creationId xmlns:p14="http://schemas.microsoft.com/office/powerpoint/2010/main" val="774844630"/>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E03A-AE92-416D-87B9-F7EE8E4AE71D}"/>
              </a:ext>
            </a:extLst>
          </p:cNvPr>
          <p:cNvSpPr>
            <a:spLocks noGrp="1"/>
          </p:cNvSpPr>
          <p:nvPr>
            <p:ph type="title"/>
          </p:nvPr>
        </p:nvSpPr>
        <p:spPr>
          <a:xfrm>
            <a:off x="2471530" y="0"/>
            <a:ext cx="7729728" cy="1188720"/>
          </a:xfrm>
        </p:spPr>
        <p:txBody>
          <a:bodyPr>
            <a:normAutofit/>
          </a:bodyPr>
          <a:lstStyle/>
          <a:p>
            <a:r>
              <a:rPr lang="en-US" dirty="0"/>
              <a:t>Example</a:t>
            </a:r>
            <a:endParaRPr lang="en-IN" dirty="0"/>
          </a:p>
        </p:txBody>
      </p:sp>
      <p:sp>
        <p:nvSpPr>
          <p:cNvPr id="3" name="Content Placeholder 2">
            <a:extLst>
              <a:ext uri="{FF2B5EF4-FFF2-40B4-BE49-F238E27FC236}">
                <a16:creationId xmlns:a16="http://schemas.microsoft.com/office/drawing/2014/main" id="{69D087C2-3067-4D79-A5B5-06280F7783B0}"/>
              </a:ext>
            </a:extLst>
          </p:cNvPr>
          <p:cNvSpPr>
            <a:spLocks noGrp="1"/>
          </p:cNvSpPr>
          <p:nvPr>
            <p:ph sz="half" idx="1"/>
          </p:nvPr>
        </p:nvSpPr>
        <p:spPr>
          <a:xfrm>
            <a:off x="384711" y="553720"/>
            <a:ext cx="5181600" cy="4813714"/>
          </a:xfrm>
        </p:spPr>
        <p:txBody>
          <a:bodyPr>
            <a:noAutofit/>
          </a:bodyPr>
          <a:lstStyle/>
          <a:p>
            <a:pPr marL="0" indent="0" algn="l">
              <a:buNone/>
            </a:pPr>
            <a:r>
              <a:rPr lang="en-US" sz="2000" b="0" i="0" u="none" strike="noStrike" baseline="0" dirty="0"/>
              <a:t>Show that the following premises are inconsistent:</a:t>
            </a:r>
          </a:p>
          <a:p>
            <a:pPr marL="0" indent="0" algn="l">
              <a:buNone/>
            </a:pPr>
            <a:r>
              <a:rPr lang="en-US" sz="2000" b="0" i="0" u="none" strike="noStrike" baseline="0" dirty="0"/>
              <a:t>(1). If Jack misses many classes through illness, then he fails high school.</a:t>
            </a:r>
          </a:p>
          <a:p>
            <a:pPr marL="0" indent="0" algn="l">
              <a:buNone/>
            </a:pPr>
            <a:r>
              <a:rPr lang="en-US" sz="2000" b="0" i="0" u="none" strike="noStrike" baseline="0" dirty="0"/>
              <a:t>(2). If Jack fails high school, then he is uneducated.</a:t>
            </a:r>
          </a:p>
          <a:p>
            <a:pPr marL="0" indent="0" algn="l">
              <a:buNone/>
            </a:pPr>
            <a:r>
              <a:rPr lang="en-US" sz="2000" b="0" i="0" u="none" strike="noStrike" baseline="0" dirty="0"/>
              <a:t>(3). If Jack reads a lot of books, then he is not uneducated.</a:t>
            </a:r>
          </a:p>
          <a:p>
            <a:pPr marL="0" indent="0" algn="l">
              <a:buNone/>
            </a:pPr>
            <a:r>
              <a:rPr lang="en-US" sz="2000" b="0" i="0" u="none" strike="noStrike" baseline="0" dirty="0"/>
              <a:t>(4). Jack misses many classes through illness and reads a lot of books.</a:t>
            </a:r>
          </a:p>
          <a:p>
            <a:pPr marL="0" indent="0" algn="l">
              <a:buNone/>
            </a:pPr>
            <a:r>
              <a:rPr lang="en-US" sz="2000" b="0" i="0" u="none" strike="noStrike" baseline="0" dirty="0"/>
              <a:t>Solution: Let us indicate the statements as follows:</a:t>
            </a:r>
          </a:p>
          <a:p>
            <a:pPr marL="0" indent="0" algn="l">
              <a:buNone/>
            </a:pPr>
            <a:r>
              <a:rPr lang="en-US" sz="2000" b="0" i="1" u="none" strike="noStrike" baseline="0" dirty="0"/>
              <a:t>E</a:t>
            </a:r>
            <a:r>
              <a:rPr lang="en-US" sz="2000" b="0" i="0" u="none" strike="noStrike" baseline="0" dirty="0"/>
              <a:t>: Jack misses many classes through illness.</a:t>
            </a:r>
          </a:p>
          <a:p>
            <a:pPr marL="0" indent="0" algn="l">
              <a:buNone/>
            </a:pPr>
            <a:r>
              <a:rPr lang="en-US" sz="2000" b="0" i="1" u="none" strike="noStrike" baseline="0" dirty="0"/>
              <a:t>S</a:t>
            </a:r>
            <a:r>
              <a:rPr lang="en-US" sz="2000" b="0" i="0" u="none" strike="noStrike" baseline="0" dirty="0"/>
              <a:t>: Jack fails high school.</a:t>
            </a:r>
          </a:p>
          <a:p>
            <a:pPr marL="0" indent="0" algn="l">
              <a:buNone/>
            </a:pPr>
            <a:r>
              <a:rPr lang="en-US" sz="2000" b="0" i="1" u="none" strike="noStrike" baseline="0" dirty="0"/>
              <a:t>A</a:t>
            </a:r>
            <a:r>
              <a:rPr lang="en-US" sz="2000" b="0" i="0" u="none" strike="noStrike" baseline="0" dirty="0"/>
              <a:t>: Jack reads a lot of books.</a:t>
            </a:r>
          </a:p>
          <a:p>
            <a:pPr marL="0" indent="0" algn="l">
              <a:buNone/>
            </a:pPr>
            <a:r>
              <a:rPr lang="en-IN" sz="2000" b="0" i="1" u="none" strike="noStrike" baseline="0" dirty="0"/>
              <a:t>H</a:t>
            </a:r>
            <a:r>
              <a:rPr lang="en-IN" sz="2000" b="0" i="0" u="none" strike="noStrike" baseline="0" dirty="0"/>
              <a:t>: Jack is uneducated.</a:t>
            </a:r>
          </a:p>
        </p:txBody>
      </p:sp>
      <p:sp>
        <p:nvSpPr>
          <p:cNvPr id="4" name="Content Placeholder 3">
            <a:extLst>
              <a:ext uri="{FF2B5EF4-FFF2-40B4-BE49-F238E27FC236}">
                <a16:creationId xmlns:a16="http://schemas.microsoft.com/office/drawing/2014/main" id="{90A98468-74E2-4D41-BD1A-5B52DC0EC5D7}"/>
              </a:ext>
            </a:extLst>
          </p:cNvPr>
          <p:cNvSpPr>
            <a:spLocks noGrp="1"/>
          </p:cNvSpPr>
          <p:nvPr>
            <p:ph sz="half" idx="2"/>
          </p:nvPr>
        </p:nvSpPr>
        <p:spPr>
          <a:xfrm>
            <a:off x="5566311" y="1282286"/>
            <a:ext cx="6400402" cy="5628723"/>
          </a:xfrm>
        </p:spPr>
        <p:txBody>
          <a:bodyPr>
            <a:normAutofit fontScale="55000" lnSpcReduction="20000"/>
          </a:bodyPr>
          <a:lstStyle/>
          <a:p>
            <a:pPr marL="0" indent="0" algn="l">
              <a:buNone/>
            </a:pPr>
            <a:endParaRPr lang="en-IN" sz="3600" b="0" i="0" u="none" strike="noStrike" baseline="0" dirty="0"/>
          </a:p>
          <a:p>
            <a:pPr marL="0" indent="0" algn="l">
              <a:buNone/>
            </a:pPr>
            <a:endParaRPr lang="en-IN" sz="3600" dirty="0"/>
          </a:p>
          <a:p>
            <a:pPr marL="0" indent="0" algn="l">
              <a:buNone/>
            </a:pPr>
            <a:r>
              <a:rPr lang="en-IN" sz="3600" b="0" i="0" u="none" strike="noStrike" baseline="0" dirty="0"/>
              <a:t>The premises are </a:t>
            </a:r>
            <a:r>
              <a:rPr lang="en-IN" sz="3600" b="0" i="1" u="none" strike="noStrike" baseline="0" dirty="0"/>
              <a:t>E → S</a:t>
            </a:r>
            <a:r>
              <a:rPr lang="en-IN" sz="3600" b="0" i="0" u="none" strike="noStrike" baseline="0" dirty="0"/>
              <a:t>, </a:t>
            </a:r>
            <a:r>
              <a:rPr lang="en-IN" sz="3600" b="0" i="1" u="none" strike="noStrike" baseline="0" dirty="0"/>
              <a:t>S → H</a:t>
            </a:r>
            <a:r>
              <a:rPr lang="en-IN" sz="3600" b="0" i="0" u="none" strike="noStrike" baseline="0" dirty="0"/>
              <a:t>, </a:t>
            </a:r>
            <a:r>
              <a:rPr lang="en-IN" sz="3600" b="0" i="1" u="none" strike="noStrike" baseline="0" dirty="0"/>
              <a:t>A → ¬H</a:t>
            </a:r>
            <a:r>
              <a:rPr lang="en-IN" sz="3600" b="0" i="0" u="none" strike="noStrike" baseline="0" dirty="0"/>
              <a:t>, and </a:t>
            </a:r>
            <a:r>
              <a:rPr lang="en-IN" sz="3600" b="0" i="1" u="none" strike="noStrike" baseline="0" dirty="0"/>
              <a:t>E </a:t>
            </a:r>
            <a:r>
              <a:rPr lang="en-IN" sz="3600" b="0" i="0" u="none" strike="noStrike" baseline="0" dirty="0"/>
              <a:t>∧ </a:t>
            </a:r>
            <a:r>
              <a:rPr lang="en-IN" sz="3600" b="0" i="1" u="none" strike="noStrike" baseline="0" dirty="0"/>
              <a:t>A</a:t>
            </a:r>
            <a:r>
              <a:rPr lang="en-IN" sz="3600" b="0" i="0" u="none" strike="noStrike" baseline="0" dirty="0"/>
              <a:t>.</a:t>
            </a:r>
          </a:p>
          <a:p>
            <a:pPr marL="0" indent="0" algn="l">
              <a:buNone/>
            </a:pPr>
            <a:r>
              <a:rPr lang="en-IN" sz="3600" b="0" i="1" u="none" strike="noStrike" baseline="0" dirty="0"/>
              <a:t>{</a:t>
            </a:r>
            <a:r>
              <a:rPr lang="en-IN" sz="3600" b="0" i="0" u="none" strike="noStrike" baseline="0" dirty="0"/>
              <a:t>1</a:t>
            </a:r>
            <a:r>
              <a:rPr lang="en-IN" sz="3600" b="0" i="1" u="none" strike="noStrike" baseline="0" dirty="0"/>
              <a:t>} </a:t>
            </a:r>
            <a:r>
              <a:rPr lang="en-IN" sz="3600" b="0" i="0" u="none" strike="noStrike" baseline="0" dirty="0"/>
              <a:t>(1) </a:t>
            </a:r>
            <a:r>
              <a:rPr lang="en-IN" sz="3600" b="0" i="1" u="none" strike="noStrike" baseline="0" dirty="0"/>
              <a:t>E → S                    </a:t>
            </a:r>
            <a:r>
              <a:rPr lang="en-IN" sz="3600" b="0" i="0" u="none" strike="noStrike" baseline="0" dirty="0"/>
              <a:t>Rule P</a:t>
            </a:r>
          </a:p>
          <a:p>
            <a:pPr marL="0" indent="0" algn="l">
              <a:buNone/>
            </a:pPr>
            <a:r>
              <a:rPr lang="en-IN" sz="3600" b="0" i="1" u="none" strike="noStrike" baseline="0" dirty="0"/>
              <a:t>{</a:t>
            </a:r>
            <a:r>
              <a:rPr lang="en-IN" sz="3600" b="0" i="0" u="none" strike="noStrike" baseline="0" dirty="0"/>
              <a:t>2</a:t>
            </a:r>
            <a:r>
              <a:rPr lang="en-IN" sz="3600" b="0" i="1" u="none" strike="noStrike" baseline="0" dirty="0"/>
              <a:t>} </a:t>
            </a:r>
            <a:r>
              <a:rPr lang="en-IN" sz="3600" b="0" i="0" u="none" strike="noStrike" baseline="0" dirty="0"/>
              <a:t>(2) </a:t>
            </a:r>
            <a:r>
              <a:rPr lang="en-IN" sz="3600" b="0" i="1" u="none" strike="noStrike" baseline="0" dirty="0"/>
              <a:t>S → H                   </a:t>
            </a:r>
            <a:r>
              <a:rPr lang="en-IN" sz="3600" b="0" i="0" u="none" strike="noStrike" baseline="0" dirty="0"/>
              <a:t>Rule P</a:t>
            </a:r>
          </a:p>
          <a:p>
            <a:pPr marL="0" indent="0" algn="l">
              <a:buNone/>
            </a:pPr>
            <a:r>
              <a:rPr lang="en-US" sz="3600" b="0" i="1" u="none" strike="noStrike" baseline="0" dirty="0"/>
              <a:t>{</a:t>
            </a:r>
            <a:r>
              <a:rPr lang="en-US" sz="3600" b="0" i="0" u="none" strike="noStrike" baseline="0" dirty="0"/>
              <a:t>1</a:t>
            </a:r>
            <a:r>
              <a:rPr lang="en-US" sz="3600" b="0" i="1" u="none" strike="noStrike" baseline="0" dirty="0"/>
              <a:t>, </a:t>
            </a:r>
            <a:r>
              <a:rPr lang="en-US" sz="3600" b="0" i="0" u="none" strike="noStrike" baseline="0" dirty="0"/>
              <a:t>2</a:t>
            </a:r>
            <a:r>
              <a:rPr lang="en-US" sz="3600" b="0" i="1" u="none" strike="noStrike" baseline="0" dirty="0"/>
              <a:t>} </a:t>
            </a:r>
            <a:r>
              <a:rPr lang="en-US" sz="3600" b="0" i="0" u="none" strike="noStrike" baseline="0" dirty="0"/>
              <a:t>(3) </a:t>
            </a:r>
            <a:r>
              <a:rPr lang="en-US" sz="3600" b="0" i="1" u="none" strike="noStrike" baseline="0" dirty="0"/>
              <a:t>E → H              </a:t>
            </a:r>
            <a:r>
              <a:rPr lang="en-US" sz="3600" b="0" i="0" u="none" strike="noStrike" baseline="0" dirty="0"/>
              <a:t>Rule T, (1), (2), and </a:t>
            </a:r>
            <a:r>
              <a:rPr lang="en-US" sz="3600" b="0" i="1" u="none" strike="noStrike" baseline="0" dirty="0"/>
              <a:t>I</a:t>
            </a:r>
            <a:r>
              <a:rPr lang="en-US" sz="3600" b="0" i="0" u="none" strike="noStrike" baseline="0" dirty="0"/>
              <a:t>13</a:t>
            </a:r>
          </a:p>
          <a:p>
            <a:pPr marL="0" indent="0" algn="l">
              <a:buNone/>
            </a:pPr>
            <a:r>
              <a:rPr lang="en-IN" sz="3600" b="0" i="1" u="none" strike="noStrike" baseline="0" dirty="0"/>
              <a:t>{</a:t>
            </a:r>
            <a:r>
              <a:rPr lang="en-IN" sz="3600" b="0" i="0" u="none" strike="noStrike" baseline="0" dirty="0"/>
              <a:t>4</a:t>
            </a:r>
            <a:r>
              <a:rPr lang="en-IN" sz="3600" b="0" i="1" u="none" strike="noStrike" baseline="0" dirty="0"/>
              <a:t>} </a:t>
            </a:r>
            <a:r>
              <a:rPr lang="en-IN" sz="3600" b="0" i="0" u="none" strike="noStrike" baseline="0" dirty="0"/>
              <a:t>(4) </a:t>
            </a:r>
            <a:r>
              <a:rPr lang="en-IN" sz="3600" b="0" i="1" u="none" strike="noStrike" baseline="0" dirty="0"/>
              <a:t>A → ¬H                </a:t>
            </a:r>
            <a:r>
              <a:rPr lang="en-IN" sz="3600" b="0" i="0" u="none" strike="noStrike" baseline="0" dirty="0"/>
              <a:t>Rule P</a:t>
            </a:r>
          </a:p>
          <a:p>
            <a:pPr marL="0" indent="0" algn="l">
              <a:buNone/>
            </a:pPr>
            <a:r>
              <a:rPr lang="en-US" sz="3600" b="0" i="1" u="none" strike="noStrike" baseline="0" dirty="0"/>
              <a:t>{</a:t>
            </a:r>
            <a:r>
              <a:rPr lang="en-US" sz="3600" b="0" i="0" u="none" strike="noStrike" baseline="0" dirty="0"/>
              <a:t>4</a:t>
            </a:r>
            <a:r>
              <a:rPr lang="en-US" sz="3600" b="0" i="1" u="none" strike="noStrike" baseline="0" dirty="0"/>
              <a:t>} </a:t>
            </a:r>
            <a:r>
              <a:rPr lang="en-US" sz="3600" b="0" i="0" u="none" strike="noStrike" baseline="0" dirty="0"/>
              <a:t>(5) </a:t>
            </a:r>
            <a:r>
              <a:rPr lang="en-US" sz="3600" b="0" i="1" u="none" strike="noStrike" baseline="0" dirty="0"/>
              <a:t>H → ¬A         </a:t>
            </a:r>
            <a:r>
              <a:rPr lang="en-US" sz="3600" b="0" i="0" u="none" strike="noStrike" baseline="0" dirty="0"/>
              <a:t>Rule T, (4), and </a:t>
            </a:r>
            <a:r>
              <a:rPr lang="en-US" sz="3600" b="0" i="1" u="none" strike="noStrike" baseline="0" dirty="0"/>
              <a:t>P → Q </a:t>
            </a:r>
            <a:r>
              <a:rPr lang="en-US" sz="3600" b="0" i="0" u="none" strike="noStrike" baseline="0" dirty="0"/>
              <a:t>⇔ </a:t>
            </a:r>
            <a:r>
              <a:rPr lang="en-US" sz="3600" b="0" i="1" u="none" strike="noStrike" baseline="0" dirty="0"/>
              <a:t>¬Q → ¬P</a:t>
            </a:r>
          </a:p>
          <a:p>
            <a:pPr marL="0" indent="0" algn="l">
              <a:buNone/>
            </a:pPr>
            <a:r>
              <a:rPr lang="en-US" sz="3600" b="0" i="1" u="none" strike="noStrike" baseline="0" dirty="0"/>
              <a:t>{</a:t>
            </a:r>
            <a:r>
              <a:rPr lang="en-US" sz="3600" b="0" i="0" u="none" strike="noStrike" baseline="0" dirty="0"/>
              <a:t>1</a:t>
            </a:r>
            <a:r>
              <a:rPr lang="en-US" sz="3600" b="0" i="1" u="none" strike="noStrike" baseline="0" dirty="0"/>
              <a:t>, </a:t>
            </a:r>
            <a:r>
              <a:rPr lang="en-US" sz="3600" b="0" i="0" u="none" strike="noStrike" baseline="0" dirty="0"/>
              <a:t>2</a:t>
            </a:r>
            <a:r>
              <a:rPr lang="en-US" sz="3600" b="0" i="1" u="none" strike="noStrike" baseline="0" dirty="0"/>
              <a:t>, </a:t>
            </a:r>
            <a:r>
              <a:rPr lang="en-US" sz="3600" b="0" i="0" u="none" strike="noStrike" baseline="0" dirty="0"/>
              <a:t>4</a:t>
            </a:r>
            <a:r>
              <a:rPr lang="en-US" sz="3600" b="0" i="1" u="none" strike="noStrike" baseline="0" dirty="0"/>
              <a:t>} </a:t>
            </a:r>
            <a:r>
              <a:rPr lang="en-US" sz="3600" b="0" i="0" u="none" strike="noStrike" baseline="0" dirty="0"/>
              <a:t>(6) </a:t>
            </a:r>
            <a:r>
              <a:rPr lang="en-US" sz="3600" b="0" i="1" u="none" strike="noStrike" baseline="0" dirty="0"/>
              <a:t>E → ¬A </a:t>
            </a:r>
            <a:r>
              <a:rPr lang="en-US" sz="3600" b="0" i="0" u="none" strike="noStrike" baseline="0" dirty="0"/>
              <a:t>Rule T, (3), (5), and </a:t>
            </a:r>
            <a:r>
              <a:rPr lang="en-US" sz="3600" b="0" i="1" u="none" strike="noStrike" baseline="0" dirty="0"/>
              <a:t>I</a:t>
            </a:r>
            <a:r>
              <a:rPr lang="en-US" sz="3600" b="0" i="0" u="none" strike="noStrike" baseline="0" dirty="0"/>
              <a:t>13</a:t>
            </a:r>
          </a:p>
          <a:p>
            <a:pPr marL="0" indent="0" algn="l">
              <a:buNone/>
            </a:pPr>
            <a:r>
              <a:rPr lang="en-US" sz="3600" b="0" i="1" u="none" strike="noStrike" baseline="0" dirty="0"/>
              <a:t>{</a:t>
            </a:r>
            <a:r>
              <a:rPr lang="en-US" sz="3600" b="0" i="0" u="none" strike="noStrike" baseline="0" dirty="0"/>
              <a:t>1</a:t>
            </a:r>
            <a:r>
              <a:rPr lang="en-US" sz="3600" b="0" i="1" u="none" strike="noStrike" baseline="0" dirty="0"/>
              <a:t>, </a:t>
            </a:r>
            <a:r>
              <a:rPr lang="en-US" sz="3600" b="0" i="0" u="none" strike="noStrike" baseline="0" dirty="0"/>
              <a:t>2</a:t>
            </a:r>
            <a:r>
              <a:rPr lang="en-US" sz="3600" b="0" i="1" u="none" strike="noStrike" baseline="0" dirty="0"/>
              <a:t>, </a:t>
            </a:r>
            <a:r>
              <a:rPr lang="en-US" sz="3600" b="0" i="0" u="none" strike="noStrike" baseline="0" dirty="0"/>
              <a:t>4</a:t>
            </a:r>
            <a:r>
              <a:rPr lang="en-US" sz="3600" b="0" i="1" u="none" strike="noStrike" baseline="0" dirty="0"/>
              <a:t>} </a:t>
            </a:r>
            <a:r>
              <a:rPr lang="en-US" sz="3600" b="0" i="0" u="none" strike="noStrike" baseline="0" dirty="0"/>
              <a:t>(7) </a:t>
            </a:r>
            <a:r>
              <a:rPr lang="en-US" sz="3600" b="0" i="1" u="none" strike="noStrike" baseline="0" dirty="0"/>
              <a:t>¬E </a:t>
            </a:r>
            <a:r>
              <a:rPr lang="en-US" sz="3600" b="0" i="0" u="none" strike="noStrike" baseline="0" dirty="0"/>
              <a:t>∨ </a:t>
            </a:r>
            <a:r>
              <a:rPr lang="en-US" sz="3600" b="0" i="1" u="none" strike="noStrike" baseline="0" dirty="0"/>
              <a:t>¬A </a:t>
            </a:r>
            <a:r>
              <a:rPr lang="en-US" sz="3600" b="0" i="0" u="none" strike="noStrike" baseline="0" dirty="0"/>
              <a:t>Rule T, (6) and </a:t>
            </a:r>
            <a:r>
              <a:rPr lang="en-US" sz="3600" b="0" i="1" u="none" strike="noStrike" baseline="0" dirty="0"/>
              <a:t>P → Q </a:t>
            </a:r>
            <a:r>
              <a:rPr lang="en-US" sz="3600" b="0" i="0" u="none" strike="noStrike" baseline="0" dirty="0"/>
              <a:t>⇔ </a:t>
            </a:r>
            <a:r>
              <a:rPr lang="en-US" sz="3600" b="0" i="1" u="none" strike="noStrike" baseline="0" dirty="0"/>
              <a:t>¬P </a:t>
            </a:r>
            <a:r>
              <a:rPr lang="en-US" sz="3600" b="0" i="0" u="none" strike="noStrike" baseline="0" dirty="0"/>
              <a:t>∨ </a:t>
            </a:r>
            <a:r>
              <a:rPr lang="en-US" sz="3600" b="0" i="1" u="none" strike="noStrike" baseline="0" dirty="0"/>
              <a:t>Q</a:t>
            </a:r>
          </a:p>
          <a:p>
            <a:pPr marL="0" indent="0" algn="l">
              <a:buNone/>
            </a:pPr>
            <a:r>
              <a:rPr lang="en-US" sz="3600" b="0" i="1" u="none" strike="noStrike" baseline="0" dirty="0"/>
              <a:t>{</a:t>
            </a:r>
            <a:r>
              <a:rPr lang="en-US" sz="3600" b="0" i="0" u="none" strike="noStrike" baseline="0" dirty="0"/>
              <a:t>1</a:t>
            </a:r>
            <a:r>
              <a:rPr lang="en-US" sz="3600" b="0" i="1" u="none" strike="noStrike" baseline="0" dirty="0"/>
              <a:t>, </a:t>
            </a:r>
            <a:r>
              <a:rPr lang="en-US" sz="3600" b="0" i="0" u="none" strike="noStrike" baseline="0" dirty="0"/>
              <a:t>2</a:t>
            </a:r>
            <a:r>
              <a:rPr lang="en-US" sz="3600" b="0" i="1" u="none" strike="noStrike" baseline="0" dirty="0"/>
              <a:t>, </a:t>
            </a:r>
            <a:r>
              <a:rPr lang="en-US" sz="3600" b="0" i="0" u="none" strike="noStrike" baseline="0" dirty="0"/>
              <a:t>4</a:t>
            </a:r>
            <a:r>
              <a:rPr lang="en-US" sz="3600" b="0" i="1" u="none" strike="noStrike" baseline="0" dirty="0"/>
              <a:t>} </a:t>
            </a:r>
            <a:r>
              <a:rPr lang="en-US" sz="3600" b="0" i="0" u="none" strike="noStrike" baseline="0" dirty="0"/>
              <a:t>(8) </a:t>
            </a:r>
            <a:r>
              <a:rPr lang="en-US" sz="3600" b="0" i="1" u="none" strike="noStrike" baseline="0" dirty="0"/>
              <a:t>¬</a:t>
            </a:r>
            <a:r>
              <a:rPr lang="en-US" sz="3600" b="0" i="0" u="none" strike="noStrike" baseline="0" dirty="0"/>
              <a:t>(</a:t>
            </a:r>
            <a:r>
              <a:rPr lang="en-US" sz="3600" b="0" i="1" u="none" strike="noStrike" baseline="0" dirty="0"/>
              <a:t>E </a:t>
            </a:r>
            <a:r>
              <a:rPr lang="en-US" sz="3600" b="0" i="0" u="none" strike="noStrike" baseline="0" dirty="0"/>
              <a:t>∧ </a:t>
            </a:r>
            <a:r>
              <a:rPr lang="en-US" sz="3600" b="0" i="1" u="none" strike="noStrike" baseline="0" dirty="0"/>
              <a:t>A</a:t>
            </a:r>
            <a:r>
              <a:rPr lang="en-US" sz="3600" b="0" i="0" u="none" strike="noStrike" baseline="0" dirty="0"/>
              <a:t>) Rule T, (7), and </a:t>
            </a:r>
            <a:r>
              <a:rPr lang="en-US" sz="3600" b="0" i="1" u="none" strike="noStrike" baseline="0" dirty="0"/>
              <a:t>¬</a:t>
            </a:r>
            <a:r>
              <a:rPr lang="en-US" sz="3600" b="0" i="0" u="none" strike="noStrike" baseline="0" dirty="0"/>
              <a:t>(</a:t>
            </a:r>
            <a:r>
              <a:rPr lang="en-US" sz="3600" b="0" i="1" u="none" strike="noStrike" baseline="0" dirty="0"/>
              <a:t>P </a:t>
            </a:r>
            <a:r>
              <a:rPr lang="en-US" sz="3600" b="0" i="0" u="none" strike="noStrike" baseline="0" dirty="0"/>
              <a:t>∧ </a:t>
            </a:r>
            <a:r>
              <a:rPr lang="en-US" sz="3600" b="0" i="1" u="none" strike="noStrike" baseline="0" dirty="0"/>
              <a:t>Q</a:t>
            </a:r>
            <a:r>
              <a:rPr lang="en-US" sz="3600" b="0" i="0" u="none" strike="noStrike" baseline="0" dirty="0"/>
              <a:t>) ⇔ </a:t>
            </a:r>
            <a:r>
              <a:rPr lang="en-US" sz="3600" b="0" i="1" u="none" strike="noStrike" baseline="0" dirty="0"/>
              <a:t>¬P </a:t>
            </a:r>
            <a:r>
              <a:rPr lang="en-US" sz="3600" b="0" i="0" u="none" strike="noStrike" baseline="0" dirty="0"/>
              <a:t>∨ </a:t>
            </a:r>
            <a:r>
              <a:rPr lang="en-US" sz="3600" b="0" i="1" u="none" strike="noStrike" baseline="0" dirty="0"/>
              <a:t>¬Q</a:t>
            </a:r>
          </a:p>
          <a:p>
            <a:pPr marL="0" indent="0" algn="l">
              <a:buNone/>
            </a:pPr>
            <a:r>
              <a:rPr lang="en-IN" sz="3600" b="0" i="1" u="none" strike="noStrike" baseline="0" dirty="0"/>
              <a:t>{</a:t>
            </a:r>
            <a:r>
              <a:rPr lang="en-IN" sz="3600" b="0" i="0" u="none" strike="noStrike" baseline="0" dirty="0"/>
              <a:t>9</a:t>
            </a:r>
            <a:r>
              <a:rPr lang="en-IN" sz="3600" b="0" i="1" u="none" strike="noStrike" baseline="0" dirty="0"/>
              <a:t>} </a:t>
            </a:r>
            <a:r>
              <a:rPr lang="en-IN" sz="3600" b="0" i="0" u="none" strike="noStrike" baseline="0" dirty="0"/>
              <a:t>(9) </a:t>
            </a:r>
            <a:r>
              <a:rPr lang="en-IN" sz="3600" b="0" i="1" u="none" strike="noStrike" baseline="0" dirty="0"/>
              <a:t>E </a:t>
            </a:r>
            <a:r>
              <a:rPr lang="en-IN" sz="3600" b="0" i="0" u="none" strike="noStrike" baseline="0" dirty="0"/>
              <a:t>∧ </a:t>
            </a:r>
            <a:r>
              <a:rPr lang="en-IN" sz="3600" b="0" i="1" u="none" strike="noStrike" baseline="0" dirty="0"/>
              <a:t>A                </a:t>
            </a:r>
            <a:r>
              <a:rPr lang="en-IN" sz="3600" b="0" i="0" u="none" strike="noStrike" baseline="0" dirty="0"/>
              <a:t>Rule P</a:t>
            </a:r>
          </a:p>
          <a:p>
            <a:pPr marL="0" indent="0" algn="l">
              <a:buNone/>
            </a:pPr>
            <a:r>
              <a:rPr lang="en-IN" sz="3600" b="0" i="1" u="none" strike="noStrike" baseline="0" dirty="0"/>
              <a:t>{</a:t>
            </a:r>
            <a:r>
              <a:rPr lang="en-IN" sz="3600" b="0" i="0" u="none" strike="noStrike" baseline="0" dirty="0"/>
              <a:t>1</a:t>
            </a:r>
            <a:r>
              <a:rPr lang="en-IN" sz="3600" b="0" i="1" u="none" strike="noStrike" baseline="0" dirty="0"/>
              <a:t>, </a:t>
            </a:r>
            <a:r>
              <a:rPr lang="en-IN" sz="3600" b="0" i="0" u="none" strike="noStrike" baseline="0" dirty="0"/>
              <a:t>2</a:t>
            </a:r>
            <a:r>
              <a:rPr lang="en-IN" sz="3600" b="0" i="1" u="none" strike="noStrike" baseline="0" dirty="0"/>
              <a:t>, </a:t>
            </a:r>
            <a:r>
              <a:rPr lang="en-IN" sz="3600" b="0" i="0" u="none" strike="noStrike" baseline="0" dirty="0"/>
              <a:t>4</a:t>
            </a:r>
            <a:r>
              <a:rPr lang="en-IN" sz="3600" b="0" i="1" u="none" strike="noStrike" baseline="0" dirty="0"/>
              <a:t>, </a:t>
            </a:r>
            <a:r>
              <a:rPr lang="en-IN" sz="3600" b="0" i="0" u="none" strike="noStrike" baseline="0" dirty="0"/>
              <a:t>9</a:t>
            </a:r>
            <a:r>
              <a:rPr lang="en-IN" sz="3600" b="0" i="1" u="none" strike="noStrike" baseline="0" dirty="0"/>
              <a:t>} </a:t>
            </a:r>
            <a:r>
              <a:rPr lang="en-IN" sz="3600" b="0" i="0" u="none" strike="noStrike" baseline="0" dirty="0"/>
              <a:t>(10) </a:t>
            </a:r>
            <a:r>
              <a:rPr lang="en-IN" sz="3600" b="0" i="1" u="none" strike="noStrike" baseline="0" dirty="0"/>
              <a:t>¬</a:t>
            </a:r>
            <a:r>
              <a:rPr lang="en-IN" sz="3600" b="0" i="0" u="none" strike="noStrike" baseline="0" dirty="0"/>
              <a:t>(</a:t>
            </a:r>
            <a:r>
              <a:rPr lang="en-IN" sz="3600" b="0" i="1" u="none" strike="noStrike" baseline="0" dirty="0"/>
              <a:t>E </a:t>
            </a:r>
            <a:r>
              <a:rPr lang="en-IN" sz="3600" b="0" i="0" u="none" strike="noStrike" baseline="0" dirty="0"/>
              <a:t>∧ </a:t>
            </a:r>
            <a:r>
              <a:rPr lang="en-IN" sz="3600" b="0" i="1" u="none" strike="noStrike" baseline="0" dirty="0"/>
              <a:t>A</a:t>
            </a:r>
            <a:r>
              <a:rPr lang="en-IN" sz="3600" b="0" i="0" u="none" strike="noStrike" baseline="0" dirty="0"/>
              <a:t>) ∧ (</a:t>
            </a:r>
            <a:r>
              <a:rPr lang="en-IN" sz="3600" b="0" i="1" u="none" strike="noStrike" baseline="0" dirty="0"/>
              <a:t>E </a:t>
            </a:r>
            <a:r>
              <a:rPr lang="en-IN" sz="3600" b="0" i="0" u="none" strike="noStrike" baseline="0" dirty="0"/>
              <a:t>∧ </a:t>
            </a:r>
            <a:r>
              <a:rPr lang="en-IN" sz="3600" b="0" i="1" u="none" strike="noStrike" baseline="0" dirty="0"/>
              <a:t>A</a:t>
            </a:r>
            <a:r>
              <a:rPr lang="en-IN" sz="3600" b="0" i="0" u="none" strike="noStrike" baseline="0" dirty="0"/>
              <a:t>) Rule T, (8), (9) and </a:t>
            </a:r>
            <a:r>
              <a:rPr lang="en-IN" sz="3600" b="0" i="1" u="none" strike="noStrike" baseline="0" dirty="0"/>
              <a:t>I</a:t>
            </a:r>
            <a:r>
              <a:rPr lang="en-IN" sz="3600" b="0" i="0" u="none" strike="noStrike" baseline="0" dirty="0"/>
              <a:t>9</a:t>
            </a:r>
          </a:p>
          <a:p>
            <a:pPr marL="0" indent="0" algn="l">
              <a:buNone/>
            </a:pPr>
            <a:r>
              <a:rPr lang="en-US" sz="3600" b="0" i="0" u="none" strike="noStrike" baseline="0" dirty="0"/>
              <a:t>Thus, the given set of premises leads to a contradiction and hence it is inconsistent.</a:t>
            </a:r>
            <a:endParaRPr lang="en-IN" sz="3600" dirty="0"/>
          </a:p>
          <a:p>
            <a:endParaRPr lang="en-IN" dirty="0"/>
          </a:p>
        </p:txBody>
      </p:sp>
    </p:spTree>
    <p:extLst>
      <p:ext uri="{BB962C8B-B14F-4D97-AF65-F5344CB8AC3E}">
        <p14:creationId xmlns:p14="http://schemas.microsoft.com/office/powerpoint/2010/main" val="83287819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C4F2-83CF-49F9-8D31-737FA66454CA}"/>
              </a:ext>
            </a:extLst>
          </p:cNvPr>
          <p:cNvSpPr>
            <a:spLocks noGrp="1"/>
          </p:cNvSpPr>
          <p:nvPr>
            <p:ph type="title"/>
          </p:nvPr>
        </p:nvSpPr>
        <p:spPr>
          <a:xfrm>
            <a:off x="2231136" y="222570"/>
            <a:ext cx="7729728" cy="1188720"/>
          </a:xfrm>
        </p:spPr>
        <p:txBody>
          <a:bodyPr/>
          <a:lstStyle/>
          <a:p>
            <a:r>
              <a:rPr lang="en-US" dirty="0"/>
              <a:t>Logical FALLACIES</a:t>
            </a:r>
            <a:endParaRPr lang="en-IN" dirty="0"/>
          </a:p>
        </p:txBody>
      </p:sp>
      <p:sp>
        <p:nvSpPr>
          <p:cNvPr id="5" name="Content Placeholder 4">
            <a:extLst>
              <a:ext uri="{FF2B5EF4-FFF2-40B4-BE49-F238E27FC236}">
                <a16:creationId xmlns:a16="http://schemas.microsoft.com/office/drawing/2014/main" id="{96AE7F71-B9B8-47A2-B730-2055D8FEAD5D}"/>
              </a:ext>
            </a:extLst>
          </p:cNvPr>
          <p:cNvSpPr>
            <a:spLocks noGrp="1"/>
          </p:cNvSpPr>
          <p:nvPr>
            <p:ph idx="1"/>
          </p:nvPr>
        </p:nvSpPr>
        <p:spPr>
          <a:xfrm>
            <a:off x="1881808" y="1538115"/>
            <a:ext cx="8754917" cy="4730165"/>
          </a:xfrm>
        </p:spPr>
        <p:txBody>
          <a:bodyPr>
            <a:normAutofit lnSpcReduction="10000"/>
          </a:bodyPr>
          <a:lstStyle/>
          <a:p>
            <a:pPr algn="just"/>
            <a:r>
              <a:rPr lang="en-US" sz="2400" dirty="0"/>
              <a:t>It is vital to realize that not every argument is valid. </a:t>
            </a:r>
          </a:p>
          <a:p>
            <a:pPr algn="just"/>
            <a:r>
              <a:rPr lang="en-US" sz="2400" dirty="0"/>
              <a:t>The following are two common invalid arguments that it is important to be able to recognize and avoid. </a:t>
            </a:r>
          </a:p>
          <a:p>
            <a:pPr algn="just"/>
            <a:r>
              <a:rPr lang="en-US" sz="2400" dirty="0"/>
              <a:t>The truth table method can be used to verify that these are not valid arguments since the related truth tables do not have all T’s in their final columns. </a:t>
            </a:r>
          </a:p>
          <a:p>
            <a:pPr algn="just"/>
            <a:r>
              <a:rPr lang="en-US" sz="2400" dirty="0"/>
              <a:t>• Common invalid arguments are often called Logical Fallacies or just Fallacies. </a:t>
            </a:r>
          </a:p>
          <a:p>
            <a:pPr algn="just"/>
            <a:r>
              <a:rPr lang="en-US" sz="2400" dirty="0"/>
              <a:t>•The names of these fallacies come from the fact that their reasoning is based an accidentally assuming that the converse and the inverse are logically equivalent to the related conditional statement (which is false). </a:t>
            </a:r>
            <a:endParaRPr lang="en-IN" sz="2400" dirty="0"/>
          </a:p>
        </p:txBody>
      </p:sp>
    </p:spTree>
    <p:extLst>
      <p:ext uri="{BB962C8B-B14F-4D97-AF65-F5344CB8AC3E}">
        <p14:creationId xmlns:p14="http://schemas.microsoft.com/office/powerpoint/2010/main" val="34654961"/>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345C-7203-4E1C-8006-48C1AC39671A}"/>
              </a:ext>
            </a:extLst>
          </p:cNvPr>
          <p:cNvSpPr>
            <a:spLocks noGrp="1"/>
          </p:cNvSpPr>
          <p:nvPr>
            <p:ph type="title"/>
          </p:nvPr>
        </p:nvSpPr>
        <p:spPr>
          <a:xfrm>
            <a:off x="2231136" y="328588"/>
            <a:ext cx="7729728" cy="1188720"/>
          </a:xfrm>
        </p:spPr>
        <p:txBody>
          <a:bodyPr/>
          <a:lstStyle/>
          <a:p>
            <a:r>
              <a:rPr lang="en-US" dirty="0"/>
              <a:t>SOME EXAMPLES</a:t>
            </a:r>
            <a:endParaRPr lang="en-IN" dirty="0"/>
          </a:p>
        </p:txBody>
      </p:sp>
      <p:sp>
        <p:nvSpPr>
          <p:cNvPr id="3" name="Content Placeholder 2">
            <a:extLst>
              <a:ext uri="{FF2B5EF4-FFF2-40B4-BE49-F238E27FC236}">
                <a16:creationId xmlns:a16="http://schemas.microsoft.com/office/drawing/2014/main" id="{D284F5B8-752E-4374-A1F1-1A684D1D2C18}"/>
              </a:ext>
            </a:extLst>
          </p:cNvPr>
          <p:cNvSpPr>
            <a:spLocks noGrp="1"/>
          </p:cNvSpPr>
          <p:nvPr>
            <p:ph idx="1"/>
          </p:nvPr>
        </p:nvSpPr>
        <p:spPr>
          <a:xfrm>
            <a:off x="2337153" y="1710392"/>
            <a:ext cx="7729728" cy="4451869"/>
          </a:xfrm>
        </p:spPr>
        <p:txBody>
          <a:bodyPr>
            <a:normAutofit/>
          </a:bodyPr>
          <a:lstStyle/>
          <a:p>
            <a:r>
              <a:rPr lang="en-US" dirty="0"/>
              <a:t>If my car runs out of gas, then I will not make it home. </a:t>
            </a:r>
          </a:p>
          <a:p>
            <a:r>
              <a:rPr lang="en-US" dirty="0"/>
              <a:t>My car did not run out of gas. </a:t>
            </a:r>
          </a:p>
          <a:p>
            <a:r>
              <a:rPr lang="en-US" dirty="0"/>
              <a:t>Therefore, I made it home. </a:t>
            </a:r>
          </a:p>
          <a:p>
            <a:endParaRPr lang="en-US" dirty="0"/>
          </a:p>
          <a:p>
            <a:r>
              <a:rPr lang="en-US" dirty="0"/>
              <a:t>If my car runs out of gas, then I will not make it home. </a:t>
            </a:r>
          </a:p>
          <a:p>
            <a:r>
              <a:rPr lang="en-US" dirty="0"/>
              <a:t>My car ran out of gas. </a:t>
            </a:r>
          </a:p>
          <a:p>
            <a:r>
              <a:rPr lang="en-US" dirty="0"/>
              <a:t>Therefore, I did not make it home</a:t>
            </a:r>
            <a:endParaRPr lang="en-IN" dirty="0"/>
          </a:p>
        </p:txBody>
      </p:sp>
      <p:sp>
        <p:nvSpPr>
          <p:cNvPr id="4" name="Rectangle 3">
            <a:extLst>
              <a:ext uri="{FF2B5EF4-FFF2-40B4-BE49-F238E27FC236}">
                <a16:creationId xmlns:a16="http://schemas.microsoft.com/office/drawing/2014/main" id="{556515C7-DE2E-41E9-B629-B65DA47BF851}"/>
              </a:ext>
            </a:extLst>
          </p:cNvPr>
          <p:cNvSpPr/>
          <p:nvPr/>
        </p:nvSpPr>
        <p:spPr>
          <a:xfrm>
            <a:off x="4174435" y="5168348"/>
            <a:ext cx="3525078" cy="6096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What do you think???</a:t>
            </a:r>
            <a:endParaRPr lang="en-IN" dirty="0"/>
          </a:p>
        </p:txBody>
      </p:sp>
    </p:spTree>
    <p:extLst>
      <p:ext uri="{BB962C8B-B14F-4D97-AF65-F5344CB8AC3E}">
        <p14:creationId xmlns:p14="http://schemas.microsoft.com/office/powerpoint/2010/main" val="161581873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2227-5610-4C84-9964-4FB33E386080}"/>
              </a:ext>
            </a:extLst>
          </p:cNvPr>
          <p:cNvSpPr>
            <a:spLocks noGrp="1"/>
          </p:cNvSpPr>
          <p:nvPr>
            <p:ph type="title"/>
          </p:nvPr>
        </p:nvSpPr>
        <p:spPr>
          <a:xfrm>
            <a:off x="2231136" y="523613"/>
            <a:ext cx="7729728" cy="1188720"/>
          </a:xfrm>
        </p:spPr>
        <p:txBody>
          <a:bodyPr/>
          <a:lstStyle/>
          <a:p>
            <a:r>
              <a:rPr lang="en-US" dirty="0"/>
              <a:t>COMMON FALLACIES</a:t>
            </a:r>
            <a:endParaRPr lang="en-IN" dirty="0"/>
          </a:p>
        </p:txBody>
      </p:sp>
      <p:sp>
        <p:nvSpPr>
          <p:cNvPr id="3" name="Content Placeholder 2">
            <a:extLst>
              <a:ext uri="{FF2B5EF4-FFF2-40B4-BE49-F238E27FC236}">
                <a16:creationId xmlns:a16="http://schemas.microsoft.com/office/drawing/2014/main" id="{F6CBB6D7-106D-4F6A-97DD-7000371A08EA}"/>
              </a:ext>
            </a:extLst>
          </p:cNvPr>
          <p:cNvSpPr>
            <a:spLocks noGrp="1"/>
          </p:cNvSpPr>
          <p:nvPr>
            <p:ph idx="1"/>
          </p:nvPr>
        </p:nvSpPr>
        <p:spPr>
          <a:xfrm>
            <a:off x="2231136" y="2028444"/>
            <a:ext cx="7729728" cy="4147069"/>
          </a:xfrm>
        </p:spPr>
        <p:txBody>
          <a:bodyPr/>
          <a:lstStyle/>
          <a:p>
            <a:pPr marL="0" indent="0">
              <a:buNone/>
            </a:pPr>
            <a:endParaRPr lang="en-US" sz="2400" dirty="0">
              <a:ln w="0">
                <a:solidFill>
                  <a:schemeClr val="tx1"/>
                </a:solidFill>
              </a:ln>
              <a:solidFill>
                <a:schemeClr val="tx1"/>
              </a:solidFill>
              <a:effectLst>
                <a:outerShdw blurRad="38100" dist="19050" dir="2700000" algn="tl" rotWithShape="0">
                  <a:schemeClr val="dk1">
                    <a:alpha val="40000"/>
                  </a:schemeClr>
                </a:outerShdw>
              </a:effectLst>
            </a:endParaRPr>
          </a:p>
          <a:p>
            <a:pPr marL="0" indent="0">
              <a:buNone/>
            </a:pPr>
            <a:endParaRPr lang="en-IN" sz="2400"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778E495D-A4FE-4134-9EDC-463A16F3BF5D}"/>
              </a:ext>
            </a:extLst>
          </p:cNvPr>
          <p:cNvSpPr/>
          <p:nvPr/>
        </p:nvSpPr>
        <p:spPr>
          <a:xfrm>
            <a:off x="3041374" y="2090538"/>
            <a:ext cx="1630018" cy="13384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indent="0">
              <a:buNone/>
            </a:pPr>
            <a:r>
              <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rPr>
              <a:t>P</a:t>
            </a:r>
            <a:r>
              <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sym typeface="Wingdings" panose="05000000000000000000" pitchFamily="2" charset="2"/>
              </a:rPr>
              <a:t>Q</a:t>
            </a:r>
          </a:p>
          <a:p>
            <a:pPr marL="0" indent="0">
              <a:buNone/>
            </a:pPr>
            <a:r>
              <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sym typeface="Wingdings" panose="05000000000000000000" pitchFamily="2" charset="2"/>
              </a:rPr>
              <a:t>Q</a:t>
            </a:r>
          </a:p>
          <a:p>
            <a:pPr marL="0" indent="0">
              <a:buNone/>
            </a:pPr>
            <a:r>
              <a:rPr lang="en-IN"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rPr>
              <a:t>∴ P</a:t>
            </a:r>
          </a:p>
        </p:txBody>
      </p:sp>
      <p:sp>
        <p:nvSpPr>
          <p:cNvPr id="7" name="Rectangle 6">
            <a:extLst>
              <a:ext uri="{FF2B5EF4-FFF2-40B4-BE49-F238E27FC236}">
                <a16:creationId xmlns:a16="http://schemas.microsoft.com/office/drawing/2014/main" id="{A41FF936-D047-49EF-860D-C1DF85A13991}"/>
              </a:ext>
            </a:extLst>
          </p:cNvPr>
          <p:cNvSpPr/>
          <p:nvPr/>
        </p:nvSpPr>
        <p:spPr>
          <a:xfrm>
            <a:off x="7520610" y="2090538"/>
            <a:ext cx="1630018" cy="13384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indent="0">
              <a:buNone/>
            </a:pPr>
            <a:r>
              <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rPr>
              <a:t>P</a:t>
            </a:r>
            <a:r>
              <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sym typeface="Wingdings" panose="05000000000000000000" pitchFamily="2" charset="2"/>
              </a:rPr>
              <a:t>Q</a:t>
            </a:r>
          </a:p>
          <a:p>
            <a:pPr marL="0" indent="0">
              <a:buNone/>
            </a:pPr>
            <a:r>
              <a:rPr lang="en-US" sz="2400" b="0" i="1" u="none" strike="noStrike" baseline="0" dirty="0">
                <a:latin typeface="Arial Black" panose="020B0A04020102020204" pitchFamily="34" charset="0"/>
              </a:rPr>
              <a:t>¬ P</a:t>
            </a:r>
            <a:endParaRPr lang="en-US"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sym typeface="Wingdings" panose="05000000000000000000" pitchFamily="2" charset="2"/>
            </a:endParaRPr>
          </a:p>
          <a:p>
            <a:pPr marL="0" indent="0">
              <a:buNone/>
            </a:pPr>
            <a:r>
              <a:rPr lang="en-IN"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rPr>
              <a:t>∴ </a:t>
            </a:r>
            <a:r>
              <a:rPr lang="en-US" sz="2400" b="0" i="1" u="none" strike="noStrike" baseline="0" dirty="0">
                <a:latin typeface="Arial Black" panose="020B0A04020102020204" pitchFamily="34" charset="0"/>
              </a:rPr>
              <a:t>¬ Q</a:t>
            </a:r>
            <a:endParaRPr lang="en-IN" sz="2400" dirty="0">
              <a:ln w="0">
                <a:solidFill>
                  <a:schemeClr val="tx1"/>
                </a:solidFill>
              </a:ln>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9" name="TextBox 8">
            <a:extLst>
              <a:ext uri="{FF2B5EF4-FFF2-40B4-BE49-F238E27FC236}">
                <a16:creationId xmlns:a16="http://schemas.microsoft.com/office/drawing/2014/main" id="{9FE4D0FF-9BED-42E1-B29E-E7E035DB6F84}"/>
              </a:ext>
            </a:extLst>
          </p:cNvPr>
          <p:cNvSpPr txBox="1"/>
          <p:nvPr/>
        </p:nvSpPr>
        <p:spPr>
          <a:xfrm>
            <a:off x="2557669" y="3745111"/>
            <a:ext cx="2994992" cy="646331"/>
          </a:xfrm>
          <a:prstGeom prst="rect">
            <a:avLst/>
          </a:prstGeom>
          <a:noFill/>
        </p:spPr>
        <p:txBody>
          <a:bodyPr wrap="square" rtlCol="0">
            <a:spAutoFit/>
          </a:bodyPr>
          <a:lstStyle/>
          <a:p>
            <a:r>
              <a:rPr lang="en-US" b="1" i="1" dirty="0"/>
              <a:t>The fallacy of assuming the Converse</a:t>
            </a:r>
            <a:endParaRPr lang="en-IN" b="1" i="1" dirty="0"/>
          </a:p>
        </p:txBody>
      </p:sp>
      <p:sp>
        <p:nvSpPr>
          <p:cNvPr id="10" name="TextBox 9">
            <a:extLst>
              <a:ext uri="{FF2B5EF4-FFF2-40B4-BE49-F238E27FC236}">
                <a16:creationId xmlns:a16="http://schemas.microsoft.com/office/drawing/2014/main" id="{5312E7A8-DD6F-4C7F-9C5A-94C7A59C645B}"/>
              </a:ext>
            </a:extLst>
          </p:cNvPr>
          <p:cNvSpPr txBox="1"/>
          <p:nvPr/>
        </p:nvSpPr>
        <p:spPr>
          <a:xfrm>
            <a:off x="6838123" y="3745110"/>
            <a:ext cx="2994992" cy="646331"/>
          </a:xfrm>
          <a:prstGeom prst="rect">
            <a:avLst/>
          </a:prstGeom>
          <a:noFill/>
        </p:spPr>
        <p:txBody>
          <a:bodyPr wrap="square" rtlCol="0">
            <a:spAutoFit/>
          </a:bodyPr>
          <a:lstStyle/>
          <a:p>
            <a:r>
              <a:rPr lang="en-US" b="1" i="1" dirty="0"/>
              <a:t>The fallacy of assuming the Inverse</a:t>
            </a:r>
            <a:endParaRPr lang="en-IN" b="1" i="1" dirty="0"/>
          </a:p>
        </p:txBody>
      </p:sp>
    </p:spTree>
    <p:extLst>
      <p:ext uri="{BB962C8B-B14F-4D97-AF65-F5344CB8AC3E}">
        <p14:creationId xmlns:p14="http://schemas.microsoft.com/office/powerpoint/2010/main" val="389906356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1190-8EF2-42D8-B6BC-AFC1C985DE66}"/>
              </a:ext>
            </a:extLst>
          </p:cNvPr>
          <p:cNvSpPr>
            <a:spLocks noGrp="1"/>
          </p:cNvSpPr>
          <p:nvPr>
            <p:ph type="title"/>
          </p:nvPr>
        </p:nvSpPr>
        <p:spPr>
          <a:xfrm>
            <a:off x="2231136" y="262326"/>
            <a:ext cx="7729728" cy="855647"/>
          </a:xfrm>
        </p:spPr>
        <p:txBody>
          <a:bodyPr/>
          <a:lstStyle/>
          <a:p>
            <a:r>
              <a:rPr lang="en-US" dirty="0"/>
              <a:t>PUZZLE DEDUCTION</a:t>
            </a:r>
            <a:endParaRPr lang="en-IN" dirty="0"/>
          </a:p>
        </p:txBody>
      </p:sp>
      <p:sp>
        <p:nvSpPr>
          <p:cNvPr id="3" name="Content Placeholder 2">
            <a:extLst>
              <a:ext uri="{FF2B5EF4-FFF2-40B4-BE49-F238E27FC236}">
                <a16:creationId xmlns:a16="http://schemas.microsoft.com/office/drawing/2014/main" id="{42A8A011-8B21-4AD3-913F-825EA11415CA}"/>
              </a:ext>
            </a:extLst>
          </p:cNvPr>
          <p:cNvSpPr>
            <a:spLocks noGrp="1"/>
          </p:cNvSpPr>
          <p:nvPr>
            <p:ph idx="1"/>
          </p:nvPr>
        </p:nvSpPr>
        <p:spPr>
          <a:xfrm>
            <a:off x="715617" y="1458600"/>
            <a:ext cx="10734261" cy="5273504"/>
          </a:xfrm>
        </p:spPr>
        <p:txBody>
          <a:bodyPr>
            <a:normAutofit/>
          </a:bodyPr>
          <a:lstStyle/>
          <a:p>
            <a:pPr marL="0" indent="0" algn="l">
              <a:buNone/>
            </a:pPr>
            <a:r>
              <a:rPr lang="en-US" sz="1800" b="1" i="0" u="none" strike="noStrike" baseline="0" dirty="0">
                <a:latin typeface="Times New Roman" panose="02020603050405020304" pitchFamily="18" charset="0"/>
              </a:rPr>
              <a:t>Puzzle 1- </a:t>
            </a:r>
          </a:p>
          <a:p>
            <a:pPr marL="0" indent="0" algn="just">
              <a:buNone/>
            </a:pPr>
            <a:r>
              <a:rPr lang="en-US" sz="1800" b="1" i="1" u="none" strike="noStrike" baseline="0" dirty="0">
                <a:latin typeface="Times New Roman" panose="02020603050405020304" pitchFamily="18" charset="0"/>
              </a:rPr>
              <a:t>(Knights and Knaves)</a:t>
            </a:r>
            <a:r>
              <a:rPr lang="en-US" sz="1800" b="0" i="0" u="none" strike="noStrike" baseline="0" dirty="0">
                <a:latin typeface="Times New Roman" panose="02020603050405020304" pitchFamily="18" charset="0"/>
              </a:rPr>
              <a:t> An island that has two kinds of inhabitants, knights, who always tell the truth, and their opposites, knaves, who always lie. You encounter two people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a:t>
            </a:r>
            <a:r>
              <a:rPr lang="en-US" sz="1800" b="0" i="0" u="none" strike="noStrike" baseline="0" dirty="0">
                <a:latin typeface="Times New Roman" panose="02020603050405020304" pitchFamily="18" charset="0"/>
              </a:rPr>
              <a:t>. What are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if </a:t>
            </a:r>
            <a:r>
              <a:rPr lang="en-US" sz="1800" b="0" i="1" u="none" strike="noStrike" baseline="0" dirty="0">
                <a:latin typeface="MTMI"/>
              </a:rPr>
              <a:t>A </a:t>
            </a:r>
            <a:r>
              <a:rPr lang="en-US" sz="1800" b="0" i="0" u="none" strike="noStrike" baseline="0" dirty="0">
                <a:latin typeface="Times New Roman" panose="02020603050405020304" pitchFamily="18" charset="0"/>
              </a:rPr>
              <a:t>says “</a:t>
            </a:r>
            <a:r>
              <a:rPr lang="en-US" sz="1800" b="0" i="1" u="none" strike="noStrike" baseline="0" dirty="0">
                <a:latin typeface="MTMI"/>
              </a:rPr>
              <a:t>B </a:t>
            </a:r>
            <a:r>
              <a:rPr lang="en-US" sz="1800" b="0" i="0" u="none" strike="noStrike" baseline="0" dirty="0">
                <a:latin typeface="Times New Roman" panose="02020603050405020304" pitchFamily="18" charset="0"/>
              </a:rPr>
              <a:t>is a knight” and </a:t>
            </a:r>
            <a:r>
              <a:rPr lang="en-US" sz="1800" b="0" i="1" u="none" strike="noStrike" baseline="0" dirty="0">
                <a:latin typeface="MTMI"/>
              </a:rPr>
              <a:t>B </a:t>
            </a:r>
            <a:r>
              <a:rPr lang="en-US" sz="1800" b="0" i="0" u="none" strike="noStrike" baseline="0" dirty="0">
                <a:latin typeface="Times New Roman" panose="02020603050405020304" pitchFamily="18" charset="0"/>
              </a:rPr>
              <a:t>says “The two of us are </a:t>
            </a:r>
            <a:r>
              <a:rPr lang="en-IN" sz="1800" b="0" i="0" u="none" strike="noStrike" baseline="0" dirty="0">
                <a:latin typeface="Times New Roman" panose="02020603050405020304" pitchFamily="18" charset="0"/>
              </a:rPr>
              <a:t>opposite types?”</a:t>
            </a:r>
          </a:p>
          <a:p>
            <a:pPr marL="0" indent="0" algn="just">
              <a:buNone/>
            </a:pPr>
            <a:endParaRPr lang="en-IN" dirty="0">
              <a:latin typeface="Times New Roman" panose="02020603050405020304" pitchFamily="18" charset="0"/>
            </a:endParaRPr>
          </a:p>
          <a:p>
            <a:pPr marL="0" indent="0" algn="l">
              <a:buNone/>
            </a:pPr>
            <a:r>
              <a:rPr lang="en-IN" b="1" i="1" dirty="0">
                <a:latin typeface="Times New Roman" panose="02020603050405020304" pitchFamily="18" charset="0"/>
              </a:rPr>
              <a:t>Solution:</a:t>
            </a:r>
            <a:r>
              <a:rPr lang="en-IN" dirty="0">
                <a:latin typeface="Times New Roman" panose="02020603050405020304" pitchFamily="18" charset="0"/>
              </a:rPr>
              <a:t> </a:t>
            </a:r>
            <a:r>
              <a:rPr lang="en-US" sz="1800" b="0" i="0" u="none" strike="noStrike" baseline="0" dirty="0">
                <a:latin typeface="Times New Roman" panose="02020603050405020304" pitchFamily="18" charset="0"/>
              </a:rPr>
              <a:t>Let </a:t>
            </a:r>
            <a:r>
              <a:rPr lang="en-US" sz="1800" b="0" i="1" u="none" strike="noStrike" baseline="0" dirty="0">
                <a:latin typeface="MTMI"/>
              </a:rPr>
              <a:t>p </a:t>
            </a:r>
            <a:r>
              <a:rPr lang="en-US" sz="1800" b="0" i="0" u="none" strike="noStrike" baseline="0" dirty="0">
                <a:latin typeface="Times New Roman" panose="02020603050405020304" pitchFamily="18" charset="0"/>
              </a:rPr>
              <a:t>and </a:t>
            </a:r>
            <a:r>
              <a:rPr lang="en-US" sz="1800" b="0" i="1" u="none" strike="noStrike" baseline="0" dirty="0">
                <a:latin typeface="MTMI"/>
              </a:rPr>
              <a:t>q </a:t>
            </a:r>
            <a:r>
              <a:rPr lang="en-US" sz="1800" b="0" i="0" u="none" strike="noStrike" baseline="0" dirty="0">
                <a:latin typeface="Times New Roman" panose="02020603050405020304" pitchFamily="18" charset="0"/>
              </a:rPr>
              <a:t>be the statements that </a:t>
            </a:r>
            <a:r>
              <a:rPr lang="en-US" sz="1800" b="0" i="1" u="none" strike="noStrike" baseline="0" dirty="0">
                <a:latin typeface="MTMI"/>
              </a:rPr>
              <a:t>A </a:t>
            </a:r>
            <a:r>
              <a:rPr lang="en-US" sz="1800" b="0" i="0" u="none" strike="noStrike" baseline="0" dirty="0">
                <a:latin typeface="Times New Roman" panose="02020603050405020304" pitchFamily="18" charset="0"/>
              </a:rPr>
              <a:t>is a knight and </a:t>
            </a:r>
            <a:r>
              <a:rPr lang="en-US" sz="1800" b="0" i="1" u="none" strike="noStrike" baseline="0" dirty="0">
                <a:latin typeface="MTMI"/>
              </a:rPr>
              <a:t>B </a:t>
            </a:r>
            <a:r>
              <a:rPr lang="en-US" sz="1800" b="0" i="0" u="none" strike="noStrike" baseline="0" dirty="0">
                <a:latin typeface="Times New Roman" panose="02020603050405020304" pitchFamily="18" charset="0"/>
              </a:rPr>
              <a:t>is a knight, respectively, so that </a:t>
            </a:r>
            <a:r>
              <a:rPr lang="en-US" sz="1800" b="0" i="0" u="none" strike="noStrike" baseline="0" dirty="0">
                <a:latin typeface="MTSYN"/>
              </a:rPr>
              <a:t>￢</a:t>
            </a:r>
            <a:r>
              <a:rPr lang="en-US" sz="1800" b="0" i="1" u="none" strike="noStrike" baseline="0" dirty="0">
                <a:latin typeface="MTMI"/>
              </a:rPr>
              <a:t>p </a:t>
            </a:r>
            <a:r>
              <a:rPr lang="en-US" sz="1800" b="0" i="0" u="none" strike="noStrike" baseline="0" dirty="0">
                <a:latin typeface="Times New Roman" panose="02020603050405020304" pitchFamily="18" charset="0"/>
              </a:rPr>
              <a:t>and </a:t>
            </a:r>
            <a:r>
              <a:rPr lang="en-US" sz="1800" b="0" i="0" u="none" strike="noStrike" baseline="0" dirty="0">
                <a:latin typeface="MTSYN"/>
              </a:rPr>
              <a:t>￢</a:t>
            </a:r>
            <a:r>
              <a:rPr lang="en-US" sz="1800" b="0" i="1" u="none" strike="noStrike" baseline="0" dirty="0">
                <a:latin typeface="MTMI"/>
              </a:rPr>
              <a:t>q </a:t>
            </a:r>
            <a:r>
              <a:rPr lang="en-US" sz="1800" b="0" i="0" u="none" strike="noStrike" baseline="0" dirty="0">
                <a:latin typeface="Times New Roman" panose="02020603050405020304" pitchFamily="18" charset="0"/>
              </a:rPr>
              <a:t>are the statements that </a:t>
            </a:r>
            <a:r>
              <a:rPr lang="en-US" sz="1800" b="0" i="1" u="none" strike="noStrike" baseline="0" dirty="0">
                <a:latin typeface="MTMI"/>
              </a:rPr>
              <a:t>A </a:t>
            </a:r>
            <a:r>
              <a:rPr lang="en-US" sz="1800" b="0" i="0" u="none" strike="noStrike" baseline="0" dirty="0">
                <a:latin typeface="Times New Roman" panose="02020603050405020304" pitchFamily="18" charset="0"/>
              </a:rPr>
              <a:t>is a knave and </a:t>
            </a:r>
            <a:r>
              <a:rPr lang="en-US" sz="1800" b="0" i="1" u="none" strike="noStrike" baseline="0" dirty="0">
                <a:latin typeface="MTMI"/>
              </a:rPr>
              <a:t>B </a:t>
            </a:r>
            <a:r>
              <a:rPr lang="en-US" sz="1800" b="0" i="0" u="none" strike="noStrike" baseline="0" dirty="0">
                <a:latin typeface="Times New Roman" panose="02020603050405020304" pitchFamily="18" charset="0"/>
              </a:rPr>
              <a:t>is a knave, respectively. We first consider the possibility that </a:t>
            </a:r>
            <a:r>
              <a:rPr lang="en-US" sz="1800" b="0" i="1" u="none" strike="noStrike" baseline="0" dirty="0">
                <a:latin typeface="MTMI"/>
              </a:rPr>
              <a:t>A </a:t>
            </a:r>
            <a:r>
              <a:rPr lang="en-US" sz="1800" b="0" i="0" u="none" strike="noStrike" baseline="0" dirty="0">
                <a:latin typeface="Times New Roman" panose="02020603050405020304" pitchFamily="18" charset="0"/>
              </a:rPr>
              <a:t>is a knight; this is the statement that </a:t>
            </a:r>
            <a:r>
              <a:rPr lang="en-US" sz="1800" b="0" i="1" u="none" strike="noStrike" baseline="0" dirty="0">
                <a:latin typeface="MTMI"/>
              </a:rPr>
              <a:t>p </a:t>
            </a:r>
            <a:r>
              <a:rPr lang="en-US" sz="1800" b="0" i="0" u="none" strike="noStrike" baseline="0" dirty="0">
                <a:latin typeface="Times New Roman" panose="02020603050405020304" pitchFamily="18" charset="0"/>
              </a:rPr>
              <a:t>is true. </a:t>
            </a:r>
          </a:p>
          <a:p>
            <a:pPr algn="l"/>
            <a:r>
              <a:rPr lang="en-US" sz="1800" b="0" i="0" u="none" strike="noStrike" baseline="0" dirty="0">
                <a:latin typeface="Times New Roman" panose="02020603050405020304" pitchFamily="18" charset="0"/>
              </a:rPr>
              <a:t>If </a:t>
            </a:r>
            <a:r>
              <a:rPr lang="en-US" sz="1800" b="0" i="1" u="none" strike="noStrike" baseline="0" dirty="0">
                <a:latin typeface="MTMI"/>
              </a:rPr>
              <a:t>A </a:t>
            </a:r>
            <a:r>
              <a:rPr lang="en-US" sz="1800" b="0" i="0" u="none" strike="noStrike" baseline="0" dirty="0">
                <a:latin typeface="Times New Roman" panose="02020603050405020304" pitchFamily="18" charset="0"/>
              </a:rPr>
              <a:t>is a knight, then he is telling the truth when he says that </a:t>
            </a:r>
            <a:r>
              <a:rPr lang="en-US" sz="1800" b="0" i="1" u="none" strike="noStrike" baseline="0" dirty="0">
                <a:latin typeface="MTMI"/>
              </a:rPr>
              <a:t>B </a:t>
            </a:r>
            <a:r>
              <a:rPr lang="en-US" sz="1800" b="0" i="0" u="none" strike="noStrike" baseline="0" dirty="0">
                <a:latin typeface="Times New Roman" panose="02020603050405020304" pitchFamily="18" charset="0"/>
              </a:rPr>
              <a:t>is a knight, so that </a:t>
            </a:r>
            <a:r>
              <a:rPr lang="en-US" sz="1800" b="0" i="1" u="none" strike="noStrike" baseline="0" dirty="0">
                <a:latin typeface="MTMI"/>
              </a:rPr>
              <a:t>q </a:t>
            </a:r>
            <a:r>
              <a:rPr lang="en-US" sz="1800" b="0" i="0" u="none" strike="noStrike" baseline="0" dirty="0">
                <a:latin typeface="Times New Roman" panose="02020603050405020304" pitchFamily="18" charset="0"/>
              </a:rPr>
              <a:t>is true, and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are the same type. However, if </a:t>
            </a:r>
            <a:r>
              <a:rPr lang="en-US" sz="1800" b="0" i="1" u="none" strike="noStrike" baseline="0" dirty="0">
                <a:latin typeface="MTMI"/>
              </a:rPr>
              <a:t>B </a:t>
            </a:r>
            <a:r>
              <a:rPr lang="en-US" sz="1800" b="0" i="0" u="none" strike="noStrike" baseline="0" dirty="0">
                <a:latin typeface="Times New Roman" panose="02020603050405020304" pitchFamily="18" charset="0"/>
              </a:rPr>
              <a:t>is a knight, then </a:t>
            </a:r>
            <a:r>
              <a:rPr lang="en-US" sz="1800" b="0" i="1" u="none" strike="noStrike" baseline="0" dirty="0">
                <a:latin typeface="MTMI"/>
              </a:rPr>
              <a:t>B</a:t>
            </a:r>
            <a:r>
              <a:rPr lang="en-US" sz="1800" b="0" i="0" u="none" strike="noStrike" baseline="0" dirty="0">
                <a:latin typeface="Times New Roman" panose="02020603050405020304" pitchFamily="18" charset="0"/>
              </a:rPr>
              <a:t>’s statement that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are of opposite types, the statement </a:t>
            </a:r>
            <a:r>
              <a:rPr lang="en-US" sz="1800" b="0" i="1" u="none" strike="noStrike" baseline="0" dirty="0">
                <a:latin typeface="MTMI"/>
              </a:rPr>
              <a:t>(p </a:t>
            </a:r>
            <a:r>
              <a:rPr lang="en-US" sz="1800" b="0" i="0" u="none" strike="noStrike" baseline="0" dirty="0">
                <a:latin typeface="MTSYN"/>
              </a:rPr>
              <a:t>∧￢</a:t>
            </a:r>
            <a:r>
              <a:rPr lang="en-US" sz="1800" b="0" i="1" u="none" strike="noStrike" baseline="0" dirty="0">
                <a:latin typeface="MTMI"/>
              </a:rPr>
              <a:t>q) </a:t>
            </a:r>
            <a:r>
              <a:rPr lang="en-US" sz="1800" b="0" i="0" u="none" strike="noStrike" baseline="0" dirty="0">
                <a:latin typeface="MTSYN"/>
              </a:rPr>
              <a:t>∨ </a:t>
            </a:r>
            <a:r>
              <a:rPr lang="en-US" sz="1800" b="0" i="1" u="none" strike="noStrike" baseline="0" dirty="0">
                <a:latin typeface="MTMI"/>
              </a:rPr>
              <a:t>(</a:t>
            </a:r>
            <a:r>
              <a:rPr lang="en-US" sz="1800" b="0" i="0" u="none" strike="noStrike" baseline="0" dirty="0">
                <a:latin typeface="MTSYN"/>
              </a:rPr>
              <a:t>￢</a:t>
            </a:r>
            <a:r>
              <a:rPr lang="en-US" sz="1800" b="0" i="1" u="none" strike="noStrike" baseline="0" dirty="0">
                <a:latin typeface="MTMI"/>
              </a:rPr>
              <a:t>p </a:t>
            </a:r>
            <a:r>
              <a:rPr lang="en-US" sz="1800" b="0" i="0" u="none" strike="noStrike" baseline="0" dirty="0">
                <a:latin typeface="MTSYN"/>
              </a:rPr>
              <a:t>∧ </a:t>
            </a:r>
            <a:r>
              <a:rPr lang="en-US" sz="1800" b="0" i="1" u="none" strike="noStrike" baseline="0" dirty="0">
                <a:latin typeface="MTMI"/>
              </a:rPr>
              <a:t>q)</a:t>
            </a:r>
            <a:r>
              <a:rPr lang="en-US" sz="1800" b="0" i="0" u="none" strike="noStrike" baseline="0" dirty="0">
                <a:latin typeface="Times New Roman" panose="02020603050405020304" pitchFamily="18" charset="0"/>
              </a:rPr>
              <a:t>, would have to be true, which it is not, because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are both knights. Consequently, we can conclude that </a:t>
            </a:r>
            <a:r>
              <a:rPr lang="en-US" sz="1800" b="0" i="1" u="none" strike="noStrike" baseline="0" dirty="0">
                <a:latin typeface="MTMI"/>
              </a:rPr>
              <a:t>A </a:t>
            </a:r>
            <a:r>
              <a:rPr lang="en-US" sz="1800" b="0" i="0" u="none" strike="noStrike" baseline="0" dirty="0">
                <a:latin typeface="Times New Roman" panose="02020603050405020304" pitchFamily="18" charset="0"/>
              </a:rPr>
              <a:t>is not a knight, that is, that </a:t>
            </a:r>
            <a:r>
              <a:rPr lang="en-US" sz="1800" b="0" i="1" u="none" strike="noStrike" baseline="0" dirty="0">
                <a:latin typeface="MTMI"/>
              </a:rPr>
              <a:t>p </a:t>
            </a:r>
            <a:r>
              <a:rPr lang="en-US" sz="1800" b="0" i="0" u="none" strike="noStrike" baseline="0" dirty="0">
                <a:latin typeface="Times New Roman" panose="02020603050405020304" pitchFamily="18" charset="0"/>
              </a:rPr>
              <a:t>is </a:t>
            </a:r>
            <a:r>
              <a:rPr lang="en-IN" sz="1800" b="0" i="0" u="none" strike="noStrike" baseline="0" dirty="0">
                <a:latin typeface="Times New Roman" panose="02020603050405020304" pitchFamily="18" charset="0"/>
              </a:rPr>
              <a:t>false.</a:t>
            </a:r>
          </a:p>
          <a:p>
            <a:pPr algn="l"/>
            <a:r>
              <a:rPr lang="en-US" sz="1800" b="0" i="0" u="none" strike="noStrike" baseline="0" dirty="0">
                <a:latin typeface="Times New Roman" panose="02020603050405020304" pitchFamily="18" charset="0"/>
              </a:rPr>
              <a:t>If </a:t>
            </a:r>
            <a:r>
              <a:rPr lang="en-US" sz="1800" b="0" i="1" u="none" strike="noStrike" baseline="0" dirty="0">
                <a:latin typeface="MTMI"/>
              </a:rPr>
              <a:t>A </a:t>
            </a:r>
            <a:r>
              <a:rPr lang="en-US" sz="1800" b="0" i="0" u="none" strike="noStrike" baseline="0" dirty="0">
                <a:latin typeface="Times New Roman" panose="02020603050405020304" pitchFamily="18" charset="0"/>
              </a:rPr>
              <a:t>is a knave, then because everything a knave says is false, </a:t>
            </a:r>
            <a:r>
              <a:rPr lang="en-US" sz="1800" b="0" i="1" u="none" strike="noStrike" baseline="0" dirty="0">
                <a:latin typeface="MTMI"/>
              </a:rPr>
              <a:t>A</a:t>
            </a:r>
            <a:r>
              <a:rPr lang="en-US" sz="1800" b="0" i="0" u="none" strike="noStrike" baseline="0" dirty="0">
                <a:latin typeface="Times New Roman" panose="02020603050405020304" pitchFamily="18" charset="0"/>
              </a:rPr>
              <a:t>’s statement that </a:t>
            </a:r>
            <a:r>
              <a:rPr lang="en-US" sz="1800" b="0" i="1" u="none" strike="noStrike" baseline="0" dirty="0">
                <a:latin typeface="MTMI"/>
              </a:rPr>
              <a:t>B </a:t>
            </a:r>
            <a:r>
              <a:rPr lang="en-US" sz="1800" b="0" i="0" u="none" strike="noStrike" baseline="0" dirty="0">
                <a:latin typeface="Times New Roman" panose="02020603050405020304" pitchFamily="18" charset="0"/>
              </a:rPr>
              <a:t>is a knight, that is, that </a:t>
            </a:r>
            <a:r>
              <a:rPr lang="en-US" sz="1800" b="0" i="1" u="none" strike="noStrike" baseline="0" dirty="0">
                <a:latin typeface="MTMI"/>
              </a:rPr>
              <a:t>q </a:t>
            </a:r>
            <a:r>
              <a:rPr lang="en-US" sz="1800" b="0" i="0" u="none" strike="noStrike" baseline="0" dirty="0">
                <a:latin typeface="Times New Roman" panose="02020603050405020304" pitchFamily="18" charset="0"/>
              </a:rPr>
              <a:t>is true, is a lie. This means that </a:t>
            </a:r>
            <a:r>
              <a:rPr lang="en-US" sz="1800" b="0" i="1" u="none" strike="noStrike" baseline="0" dirty="0">
                <a:latin typeface="MTMI"/>
              </a:rPr>
              <a:t>q </a:t>
            </a:r>
            <a:r>
              <a:rPr lang="en-US" sz="1800" b="0" i="0" u="none" strike="noStrike" baseline="0" dirty="0">
                <a:latin typeface="Times New Roman" panose="02020603050405020304" pitchFamily="18" charset="0"/>
              </a:rPr>
              <a:t>is false and </a:t>
            </a:r>
            <a:r>
              <a:rPr lang="en-US" sz="1800" b="0" i="1" u="none" strike="noStrike" baseline="0" dirty="0">
                <a:latin typeface="MTMI"/>
              </a:rPr>
              <a:t>B </a:t>
            </a:r>
            <a:r>
              <a:rPr lang="en-US" sz="1800" b="0" i="0" u="none" strike="noStrike" baseline="0" dirty="0">
                <a:latin typeface="Times New Roman" panose="02020603050405020304" pitchFamily="18" charset="0"/>
              </a:rPr>
              <a:t>is also a knave. Furthermore, if </a:t>
            </a:r>
            <a:r>
              <a:rPr lang="en-US" sz="1800" b="0" i="1" u="none" strike="noStrike" baseline="0" dirty="0">
                <a:latin typeface="MTMI"/>
              </a:rPr>
              <a:t>B </a:t>
            </a:r>
            <a:r>
              <a:rPr lang="en-US" sz="1800" b="0" i="0" u="none" strike="noStrike" baseline="0" dirty="0">
                <a:latin typeface="Times New Roman" panose="02020603050405020304" pitchFamily="18" charset="0"/>
              </a:rPr>
              <a:t>is a knave, then </a:t>
            </a:r>
            <a:r>
              <a:rPr lang="en-US" sz="1800" b="0" i="1" u="none" strike="noStrike" baseline="0" dirty="0">
                <a:latin typeface="MTMI"/>
              </a:rPr>
              <a:t>B</a:t>
            </a:r>
            <a:r>
              <a:rPr lang="en-US" sz="1800" b="0" i="0" u="none" strike="noStrike" baseline="0" dirty="0">
                <a:latin typeface="Times New Roman" panose="02020603050405020304" pitchFamily="18" charset="0"/>
              </a:rPr>
              <a:t>’s statement that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are opposite types is a lie, which is consistent with both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being knaves. </a:t>
            </a:r>
          </a:p>
          <a:p>
            <a:pPr algn="l"/>
            <a:r>
              <a:rPr lang="en-US" sz="1800" b="0" i="0" u="none" strike="noStrike" baseline="0" dirty="0">
                <a:latin typeface="Times New Roman" panose="02020603050405020304" pitchFamily="18" charset="0"/>
              </a:rPr>
              <a:t>We can conclude that both </a:t>
            </a:r>
            <a:r>
              <a:rPr lang="en-US" sz="1800" b="0" i="1" u="none" strike="noStrike" baseline="0" dirty="0">
                <a:latin typeface="MTMI"/>
              </a:rPr>
              <a:t>A </a:t>
            </a:r>
            <a:r>
              <a:rPr lang="en-US" sz="1800" b="0" i="0" u="none" strike="noStrike" baseline="0" dirty="0">
                <a:latin typeface="Times New Roman" panose="02020603050405020304" pitchFamily="18" charset="0"/>
              </a:rPr>
              <a:t>and </a:t>
            </a:r>
            <a:r>
              <a:rPr lang="en-US" sz="1800" b="0" i="1" u="none" strike="noStrike" baseline="0" dirty="0">
                <a:latin typeface="MTMI"/>
              </a:rPr>
              <a:t>B </a:t>
            </a:r>
            <a:r>
              <a:rPr lang="en-US" sz="1800" b="0" i="0" u="none" strike="noStrike" baseline="0" dirty="0">
                <a:latin typeface="Times New Roman" panose="02020603050405020304" pitchFamily="18" charset="0"/>
              </a:rPr>
              <a:t>are </a:t>
            </a:r>
            <a:r>
              <a:rPr lang="en-IN" sz="1800" b="0" i="0" u="none" strike="noStrike" baseline="0" dirty="0">
                <a:latin typeface="Times New Roman" panose="02020603050405020304" pitchFamily="18" charset="0"/>
              </a:rPr>
              <a:t>knaves.</a:t>
            </a:r>
            <a:endParaRPr lang="en-IN" dirty="0"/>
          </a:p>
        </p:txBody>
      </p:sp>
    </p:spTree>
    <p:extLst>
      <p:ext uri="{BB962C8B-B14F-4D97-AF65-F5344CB8AC3E}">
        <p14:creationId xmlns:p14="http://schemas.microsoft.com/office/powerpoint/2010/main" val="326366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1000"/>
                                        <p:tgtEl>
                                          <p:spTgt spid="3">
                                            <p:txEl>
                                              <p:pRg st="4" end="4"/>
                                            </p:txEl>
                                          </p:spTgt>
                                        </p:tgtEl>
                                      </p:cBhvr>
                                    </p:animEffect>
                                    <p:anim calcmode="lin" valueType="num">
                                      <p:cBhvr>
                                        <p:cTn id="1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 calcmode="lin" valueType="num">
                                      <p:cBhvr additive="base">
                                        <p:cTn id="2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EC37-70A8-4C61-ACB1-85F337F84441}"/>
              </a:ext>
            </a:extLst>
          </p:cNvPr>
          <p:cNvSpPr>
            <a:spLocks noGrp="1"/>
          </p:cNvSpPr>
          <p:nvPr>
            <p:ph type="title"/>
          </p:nvPr>
        </p:nvSpPr>
        <p:spPr>
          <a:xfrm>
            <a:off x="2231136" y="235823"/>
            <a:ext cx="7729728" cy="625568"/>
          </a:xfrm>
        </p:spPr>
        <p:txBody>
          <a:bodyPr>
            <a:normAutofit fontScale="90000"/>
          </a:bodyPr>
          <a:lstStyle/>
          <a:p>
            <a:r>
              <a:rPr lang="en-US" dirty="0"/>
              <a:t>PUZZLE DEDUCTION (2)</a:t>
            </a:r>
            <a:endParaRPr lang="en-IN" dirty="0"/>
          </a:p>
        </p:txBody>
      </p:sp>
      <p:sp>
        <p:nvSpPr>
          <p:cNvPr id="3" name="Content Placeholder 2">
            <a:extLst>
              <a:ext uri="{FF2B5EF4-FFF2-40B4-BE49-F238E27FC236}">
                <a16:creationId xmlns:a16="http://schemas.microsoft.com/office/drawing/2014/main" id="{1874EF9D-0A25-4B44-8D86-583E013E9A4E}"/>
              </a:ext>
            </a:extLst>
          </p:cNvPr>
          <p:cNvSpPr>
            <a:spLocks noGrp="1"/>
          </p:cNvSpPr>
          <p:nvPr>
            <p:ph idx="1"/>
          </p:nvPr>
        </p:nvSpPr>
        <p:spPr>
          <a:xfrm>
            <a:off x="569844" y="1127296"/>
            <a:ext cx="11277600" cy="5494881"/>
          </a:xfrm>
        </p:spPr>
        <p:txBody>
          <a:bodyPr>
            <a:normAutofit fontScale="92500"/>
          </a:bodyPr>
          <a:lstStyle/>
          <a:p>
            <a:pPr marL="0" indent="0" algn="just">
              <a:buNone/>
            </a:pPr>
            <a:r>
              <a:rPr lang="en-US" sz="1800" b="1" i="0" u="none" strike="noStrike" baseline="0" dirty="0">
                <a:latin typeface="Times New Roman" panose="02020603050405020304" pitchFamily="18" charset="0"/>
              </a:rPr>
              <a:t>Puzzle 2-</a:t>
            </a:r>
          </a:p>
          <a:p>
            <a:pPr marL="0" indent="0" algn="just">
              <a:buNone/>
            </a:pPr>
            <a:r>
              <a:rPr lang="en-US" sz="1800" b="0" i="0" u="none" strike="noStrike" baseline="0" dirty="0">
                <a:latin typeface="Times New Roman" panose="02020603050405020304" pitchFamily="18" charset="0"/>
              </a:rPr>
              <a:t>(</a:t>
            </a:r>
            <a:r>
              <a:rPr lang="en-US" sz="1800" b="1" i="1" u="none" strike="noStrike" baseline="0" dirty="0">
                <a:latin typeface="Times New Roman" panose="02020603050405020304" pitchFamily="18" charset="0"/>
              </a:rPr>
              <a:t>The Muddy Forehead</a:t>
            </a:r>
            <a:r>
              <a:rPr lang="en-US" sz="1800" b="0" i="0" u="none" strike="noStrike" baseline="0" dirty="0">
                <a:latin typeface="Times New Roman" panose="02020603050405020304" pitchFamily="18" charset="0"/>
              </a:rPr>
              <a:t>)A father tells his two children, a boy and a girl, to play in their backyard without getting dirty. However, while playing, both children get mud on their foreheads. When the children stop playing, the father says “At least one of you has a muddy forehead,” and then asks the children to answer “Yes” or “No” to the question: “Do you know whether you have a muddy forehead?” The father asks this question twice. What will the children answer each time this question is asked, assuming that a child can see whether his or her sibling has a muddy forehead, but cannot see his or her own forehead? Assume that both children are honest and that the children answer </a:t>
            </a:r>
            <a:r>
              <a:rPr lang="en-IN" sz="1800" b="0" i="0" u="none" strike="noStrike" baseline="0" dirty="0">
                <a:latin typeface="Times New Roman" panose="02020603050405020304" pitchFamily="18" charset="0"/>
              </a:rPr>
              <a:t>each question simultaneously.</a:t>
            </a:r>
          </a:p>
          <a:p>
            <a:pPr marL="0" indent="0" algn="just">
              <a:buNone/>
            </a:pPr>
            <a:endParaRPr lang="en-IN" dirty="0">
              <a:latin typeface="Times New Roman" panose="02020603050405020304" pitchFamily="18" charset="0"/>
            </a:endParaRPr>
          </a:p>
          <a:p>
            <a:pPr marL="0" indent="0" algn="just">
              <a:buNone/>
            </a:pPr>
            <a:r>
              <a:rPr lang="en-IN" b="1" i="1" dirty="0">
                <a:latin typeface="Times New Roman" panose="02020603050405020304" pitchFamily="18" charset="0"/>
              </a:rPr>
              <a:t>Solution</a:t>
            </a:r>
            <a:r>
              <a:rPr lang="en-IN" dirty="0">
                <a:latin typeface="Times New Roman" panose="02020603050405020304" pitchFamily="18" charset="0"/>
              </a:rPr>
              <a:t>: </a:t>
            </a:r>
            <a:r>
              <a:rPr lang="en-US" sz="1800" b="0" i="0" u="none" strike="noStrike" baseline="0" dirty="0">
                <a:latin typeface="Times New Roman" panose="02020603050405020304" pitchFamily="18" charset="0"/>
              </a:rPr>
              <a:t>Let </a:t>
            </a:r>
            <a:r>
              <a:rPr lang="en-US" sz="1800" b="0" i="1" u="none" strike="noStrike" baseline="0" dirty="0">
                <a:latin typeface="MTMI"/>
              </a:rPr>
              <a:t>s </a:t>
            </a:r>
            <a:r>
              <a:rPr lang="en-US" sz="1800" b="0" i="0" u="none" strike="noStrike" baseline="0" dirty="0">
                <a:latin typeface="Times New Roman" panose="02020603050405020304" pitchFamily="18" charset="0"/>
              </a:rPr>
              <a:t>be the statement that the son has a muddy forehead and let </a:t>
            </a:r>
            <a:r>
              <a:rPr lang="en-US" sz="1800" b="0" i="1" u="none" strike="noStrike" baseline="0" dirty="0">
                <a:latin typeface="MTMI"/>
              </a:rPr>
              <a:t>d </a:t>
            </a:r>
            <a:r>
              <a:rPr lang="en-US" sz="1800" b="0" i="0" u="none" strike="noStrike" baseline="0" dirty="0">
                <a:latin typeface="Times New Roman" panose="02020603050405020304" pitchFamily="18" charset="0"/>
              </a:rPr>
              <a:t>be the statement that the daughter has a muddy forehead. When the father says that at least one of the two children has a muddy forehead, he is stating that the disjunction </a:t>
            </a:r>
            <a:r>
              <a:rPr lang="en-US" sz="1800" b="0" i="1" u="none" strike="noStrike" baseline="0" dirty="0">
                <a:latin typeface="MTMI"/>
              </a:rPr>
              <a:t>s </a:t>
            </a:r>
            <a:r>
              <a:rPr lang="en-US" sz="1800" b="0" i="0" u="none" strike="noStrike" baseline="0" dirty="0">
                <a:latin typeface="MTSYN"/>
              </a:rPr>
              <a:t>∨ </a:t>
            </a:r>
            <a:r>
              <a:rPr lang="en-US" sz="1800" b="0" i="1" u="none" strike="noStrike" baseline="0" dirty="0">
                <a:latin typeface="MTMI"/>
              </a:rPr>
              <a:t>d </a:t>
            </a:r>
            <a:r>
              <a:rPr lang="en-US" sz="1800" b="0" i="0" u="none" strike="noStrike" baseline="0" dirty="0">
                <a:latin typeface="Times New Roman" panose="02020603050405020304" pitchFamily="18" charset="0"/>
              </a:rPr>
              <a:t>is true. </a:t>
            </a:r>
          </a:p>
          <a:p>
            <a:pPr marL="0" indent="0" algn="just">
              <a:buNone/>
            </a:pPr>
            <a:r>
              <a:rPr lang="en-US" sz="1800" b="0" i="0" u="none" strike="noStrike" baseline="0" dirty="0">
                <a:latin typeface="Times New Roman" panose="02020603050405020304" pitchFamily="18" charset="0"/>
              </a:rPr>
              <a:t>Both children will answer “No” the first time the question is asked because each sees mud on the other child’s forehead. That is, the son knows that </a:t>
            </a:r>
            <a:r>
              <a:rPr lang="en-US" sz="1800" b="0" i="1" u="none" strike="noStrike" baseline="0" dirty="0">
                <a:latin typeface="MTMI"/>
              </a:rPr>
              <a:t>d </a:t>
            </a:r>
            <a:r>
              <a:rPr lang="en-US" sz="1800" b="0" i="0" u="none" strike="noStrike" baseline="0" dirty="0">
                <a:latin typeface="Times New Roman" panose="02020603050405020304" pitchFamily="18" charset="0"/>
              </a:rPr>
              <a:t>is true, but does not know whether </a:t>
            </a:r>
            <a:r>
              <a:rPr lang="en-US" sz="1800" b="0" i="1" u="none" strike="noStrike" baseline="0" dirty="0">
                <a:latin typeface="MTMI"/>
              </a:rPr>
              <a:t>s </a:t>
            </a:r>
            <a:r>
              <a:rPr lang="en-US" sz="1800" b="0" i="0" u="none" strike="noStrike" baseline="0" dirty="0">
                <a:latin typeface="Times New Roman" panose="02020603050405020304" pitchFamily="18" charset="0"/>
              </a:rPr>
              <a:t>is true, and the daughter knows that </a:t>
            </a:r>
            <a:r>
              <a:rPr lang="en-US" sz="1800" b="0" i="1" u="none" strike="noStrike" baseline="0" dirty="0">
                <a:latin typeface="MTMI"/>
              </a:rPr>
              <a:t>s </a:t>
            </a:r>
            <a:r>
              <a:rPr lang="en-US" sz="1800" b="0" i="0" u="none" strike="noStrike" baseline="0" dirty="0">
                <a:latin typeface="Times New Roman" panose="02020603050405020304" pitchFamily="18" charset="0"/>
              </a:rPr>
              <a:t>is true, but does not know whether </a:t>
            </a:r>
            <a:r>
              <a:rPr lang="en-US" sz="1800" b="0" i="1" u="none" strike="noStrike" baseline="0" dirty="0">
                <a:latin typeface="MTMI"/>
              </a:rPr>
              <a:t>d </a:t>
            </a:r>
            <a:r>
              <a:rPr lang="en-US" sz="1800" b="0" i="0" u="none" strike="noStrike" baseline="0" dirty="0">
                <a:latin typeface="Times New Roman" panose="02020603050405020304" pitchFamily="18" charset="0"/>
              </a:rPr>
              <a:t>is true. After the son has answered “No” to the first question, the daughter can determine that </a:t>
            </a:r>
            <a:r>
              <a:rPr lang="en-US" sz="1800" b="0" i="1" u="none" strike="noStrike" baseline="0" dirty="0">
                <a:latin typeface="MTMI"/>
              </a:rPr>
              <a:t>d </a:t>
            </a:r>
            <a:r>
              <a:rPr lang="en-US" sz="1800" b="0" i="0" u="none" strike="noStrike" baseline="0" dirty="0">
                <a:latin typeface="Times New Roman" panose="02020603050405020304" pitchFamily="18" charset="0"/>
              </a:rPr>
              <a:t>must be true. </a:t>
            </a:r>
          </a:p>
          <a:p>
            <a:pPr marL="0" indent="0" algn="just">
              <a:buNone/>
            </a:pPr>
            <a:r>
              <a:rPr lang="en-US" sz="1800" b="0" i="0" u="none" strike="noStrike" baseline="0" dirty="0">
                <a:latin typeface="Times New Roman" panose="02020603050405020304" pitchFamily="18" charset="0"/>
              </a:rPr>
              <a:t>This follows because when the first question is asked, the son knows that </a:t>
            </a:r>
            <a:r>
              <a:rPr lang="en-US" sz="1800" b="0" i="1" u="none" strike="noStrike" baseline="0" dirty="0">
                <a:latin typeface="MTMI"/>
              </a:rPr>
              <a:t>s </a:t>
            </a:r>
            <a:r>
              <a:rPr lang="en-US" sz="1800" b="0" i="0" u="none" strike="noStrike" baseline="0" dirty="0">
                <a:latin typeface="MTSYN"/>
              </a:rPr>
              <a:t>∨ </a:t>
            </a:r>
            <a:r>
              <a:rPr lang="en-US" sz="1800" b="0" i="1" u="none" strike="noStrike" baseline="0" dirty="0">
                <a:latin typeface="MTMI"/>
              </a:rPr>
              <a:t>d </a:t>
            </a:r>
            <a:r>
              <a:rPr lang="en-US" sz="1800" b="0" i="0" u="none" strike="noStrike" baseline="0" dirty="0">
                <a:latin typeface="Times New Roman" panose="02020603050405020304" pitchFamily="18" charset="0"/>
              </a:rPr>
              <a:t>is true, but cannot determine whether </a:t>
            </a:r>
            <a:r>
              <a:rPr lang="en-US" sz="1800" b="0" i="1" u="none" strike="noStrike" baseline="0" dirty="0">
                <a:latin typeface="MTMI"/>
              </a:rPr>
              <a:t>s </a:t>
            </a:r>
            <a:r>
              <a:rPr lang="en-US" sz="1800" b="0" i="0" u="none" strike="noStrike" baseline="0" dirty="0">
                <a:latin typeface="Times New Roman" panose="02020603050405020304" pitchFamily="18" charset="0"/>
              </a:rPr>
              <a:t>is true. Using this information, the daughter can conclude that </a:t>
            </a:r>
            <a:r>
              <a:rPr lang="en-US" sz="1800" b="0" i="1" u="none" strike="noStrike" baseline="0" dirty="0">
                <a:latin typeface="MTMI"/>
              </a:rPr>
              <a:t>d </a:t>
            </a:r>
            <a:r>
              <a:rPr lang="en-US" sz="1800" b="0" i="0" u="none" strike="noStrike" baseline="0" dirty="0">
                <a:latin typeface="Times New Roman" panose="02020603050405020304" pitchFamily="18" charset="0"/>
              </a:rPr>
              <a:t>must be true, for if </a:t>
            </a:r>
            <a:r>
              <a:rPr lang="en-US" sz="1800" b="0" i="1" u="none" strike="noStrike" baseline="0" dirty="0">
                <a:latin typeface="MTMI"/>
              </a:rPr>
              <a:t>d </a:t>
            </a:r>
            <a:r>
              <a:rPr lang="en-US" sz="1800" b="0" i="0" u="none" strike="noStrike" baseline="0" dirty="0">
                <a:latin typeface="Times New Roman" panose="02020603050405020304" pitchFamily="18" charset="0"/>
              </a:rPr>
              <a:t>were false, the son could have reasoned that because </a:t>
            </a:r>
            <a:r>
              <a:rPr lang="en-US" sz="1800" b="0" i="1" u="none" strike="noStrike" baseline="0" dirty="0">
                <a:latin typeface="MTMI"/>
              </a:rPr>
              <a:t>s </a:t>
            </a:r>
            <a:r>
              <a:rPr lang="en-US" sz="1800" b="0" i="0" u="none" strike="noStrike" baseline="0" dirty="0">
                <a:latin typeface="MTSYN"/>
              </a:rPr>
              <a:t>∨ </a:t>
            </a:r>
            <a:r>
              <a:rPr lang="en-US" sz="1800" b="0" i="1" u="none" strike="noStrike" baseline="0" dirty="0">
                <a:latin typeface="MTMI"/>
              </a:rPr>
              <a:t>d </a:t>
            </a:r>
            <a:r>
              <a:rPr lang="en-US" sz="1800" b="0" i="0" u="none" strike="noStrike" baseline="0" dirty="0">
                <a:latin typeface="Times New Roman" panose="02020603050405020304" pitchFamily="18" charset="0"/>
              </a:rPr>
              <a:t>is true, then </a:t>
            </a:r>
            <a:r>
              <a:rPr lang="en-US" sz="1800" b="0" i="1" u="none" strike="noStrike" baseline="0" dirty="0">
                <a:latin typeface="MTMI"/>
              </a:rPr>
              <a:t>s </a:t>
            </a:r>
            <a:r>
              <a:rPr lang="en-US" sz="1800" b="0" i="0" u="none" strike="noStrike" baseline="0" dirty="0">
                <a:latin typeface="Times New Roman" panose="02020603050405020304" pitchFamily="18" charset="0"/>
              </a:rPr>
              <a:t>must be true, and he would have answered “Yes” to the first question. The son can reason in a similar way to determine that </a:t>
            </a:r>
            <a:r>
              <a:rPr lang="en-US" sz="1800" b="0" i="1" u="none" strike="noStrike" baseline="0" dirty="0">
                <a:latin typeface="MTMI"/>
              </a:rPr>
              <a:t>s </a:t>
            </a:r>
            <a:r>
              <a:rPr lang="en-US" sz="1800" b="0" i="0" u="none" strike="noStrike" baseline="0" dirty="0">
                <a:latin typeface="Times New Roman" panose="02020603050405020304" pitchFamily="18" charset="0"/>
              </a:rPr>
              <a:t>must be true. It follows that both children answer “Yes” the second time the question is asked.</a:t>
            </a:r>
            <a:endParaRPr lang="en-IN" dirty="0"/>
          </a:p>
        </p:txBody>
      </p:sp>
    </p:spTree>
    <p:extLst>
      <p:ext uri="{BB962C8B-B14F-4D97-AF65-F5344CB8AC3E}">
        <p14:creationId xmlns:p14="http://schemas.microsoft.com/office/powerpoint/2010/main" val="261680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docProps/app.xml><?xml version="1.0" encoding="utf-8"?>
<Properties xmlns="http://schemas.openxmlformats.org/officeDocument/2006/extended-properties" xmlns:vt="http://schemas.openxmlformats.org/officeDocument/2006/docPropsVTypes">
  <Template/>
  <TotalTime>837</TotalTime>
  <Words>5753</Words>
  <Application>Microsoft Macintosh PowerPoint</Application>
  <PresentationFormat>Widescreen</PresentationFormat>
  <Paragraphs>308</Paragraphs>
  <Slides>36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Arial Unicode MS</vt:lpstr>
      <vt:lpstr>Arial</vt:lpstr>
      <vt:lpstr>Arial Black</vt:lpstr>
      <vt:lpstr>Calibri</vt:lpstr>
      <vt:lpstr>Cambria Math</vt:lpstr>
      <vt:lpstr>Carlito</vt:lpstr>
      <vt:lpstr>DejaVu Sans</vt:lpstr>
      <vt:lpstr>Gill Sans MT</vt:lpstr>
      <vt:lpstr>MTMI</vt:lpstr>
      <vt:lpstr>MTSYN</vt:lpstr>
      <vt:lpstr>Times New Roman</vt:lpstr>
      <vt:lpstr>Times New Roman,Italic</vt:lpstr>
      <vt:lpstr>Parcel</vt:lpstr>
      <vt:lpstr>UNIT-II,  CNF and DNF, Well Formed Formulas and Inference Rules of Propositional Logic</vt:lpstr>
      <vt:lpstr>CNF and DNF</vt:lpstr>
      <vt:lpstr>Why we require Normal Forms?</vt:lpstr>
      <vt:lpstr>Some key terminologies</vt:lpstr>
      <vt:lpstr>Disjunctive Normal Forms (DNF)</vt:lpstr>
      <vt:lpstr>Conjunctive Normal Form (CNF)</vt:lpstr>
      <vt:lpstr>Key Trick (to prove a formula a tautology)</vt:lpstr>
      <vt:lpstr>Principal Disjunctive Normal Form (PDNF)</vt:lpstr>
      <vt:lpstr>Principal Conjunctive Normal Form (PCNF)</vt:lpstr>
      <vt:lpstr>Example of PDNF </vt:lpstr>
      <vt:lpstr>Example of PCNF</vt:lpstr>
      <vt:lpstr>Very important trick for conversions</vt:lpstr>
      <vt:lpstr>Example</vt:lpstr>
      <vt:lpstr>Well Formed Formulas</vt:lpstr>
      <vt:lpstr>Well Formed Formulas</vt:lpstr>
      <vt:lpstr>Question</vt:lpstr>
      <vt:lpstr>Inference Theory (Propositional Logic)</vt:lpstr>
      <vt:lpstr>Rules of Inference</vt:lpstr>
      <vt:lpstr>PowerPoint Presentation</vt:lpstr>
      <vt:lpstr>Valid Arguments in Propositional Logic</vt:lpstr>
      <vt:lpstr>EXAMPLE 1</vt:lpstr>
      <vt:lpstr>Cont..</vt:lpstr>
      <vt:lpstr>EXAMPLE 2</vt:lpstr>
      <vt:lpstr>Solution</vt:lpstr>
      <vt:lpstr>PowerPoint Presentation</vt:lpstr>
      <vt:lpstr>Example </vt:lpstr>
      <vt:lpstr>Rule of Conditional Proof (CP)</vt:lpstr>
      <vt:lpstr>Example</vt:lpstr>
      <vt:lpstr>PowerPoint Presentation</vt:lpstr>
      <vt:lpstr>Consistency of Premises</vt:lpstr>
      <vt:lpstr>Example</vt:lpstr>
      <vt:lpstr>Logical FALLACIES</vt:lpstr>
      <vt:lpstr>SOME EXAMPLES</vt:lpstr>
      <vt:lpstr>COMMON FALLACIES</vt:lpstr>
      <vt:lpstr>PUZZLE DEDUCTION</vt:lpstr>
      <vt:lpstr>PUZZLE DEDUCTION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UNIT-III, LecTURE-III CNF and DNF, Well Formed Formulas and Inference Rules of Propositional Logic</dc:title>
  <dc:creator>PRONAYA</dc:creator>
  <cp:lastModifiedBy>khushpithva@gmail.com</cp:lastModifiedBy>
  <cp:revision>10</cp:revision>
  <dcterms:created xsi:type="dcterms:W3CDTF">2021-09-07T09:13:52Z</dcterms:created>
  <dcterms:modified xsi:type="dcterms:W3CDTF">2025-11-14T15:36:53Z</dcterms:modified>
</cp:coreProperties>
</file>