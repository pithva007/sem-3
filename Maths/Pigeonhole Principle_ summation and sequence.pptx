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handoutMasterIdLst>
    <p:handoutMasterId r:id="rId33"/>
  </p:handoutMasterIdLst>
  <p:sldIdLst>
    <p:sldId id="257" r:id="rId2"/>
    <p:sldId id="363" r:id="rId3"/>
    <p:sldId id="364" r:id="rId4"/>
    <p:sldId id="365" r:id="rId5"/>
    <p:sldId id="366" r:id="rId6"/>
    <p:sldId id="368" r:id="rId7"/>
    <p:sldId id="370" r:id="rId8"/>
    <p:sldId id="369" r:id="rId9"/>
    <p:sldId id="372" r:id="rId10"/>
    <p:sldId id="374" r:id="rId11"/>
    <p:sldId id="256" r:id="rId12"/>
    <p:sldId id="375" r:id="rId13"/>
    <p:sldId id="258" r:id="rId14"/>
    <p:sldId id="259" r:id="rId15"/>
    <p:sldId id="260" r:id="rId16"/>
    <p:sldId id="265" r:id="rId17"/>
    <p:sldId id="266" r:id="rId18"/>
    <p:sldId id="271" r:id="rId19"/>
    <p:sldId id="261" r:id="rId20"/>
    <p:sldId id="264" r:id="rId21"/>
    <p:sldId id="274" r:id="rId22"/>
    <p:sldId id="273" r:id="rId23"/>
    <p:sldId id="262" r:id="rId24"/>
    <p:sldId id="263" r:id="rId25"/>
    <p:sldId id="275" r:id="rId26"/>
    <p:sldId id="276" r:id="rId27"/>
    <p:sldId id="277" r:id="rId28"/>
    <p:sldId id="278" r:id="rId29"/>
    <p:sldId id="279" r:id="rId30"/>
    <p:sldId id="280" r:id="rId31"/>
  </p:sldIdLst>
  <p:sldSz cx="9144000" cy="6858000" type="screen4x3"/>
  <p:notesSz cx="6881813" cy="100155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7" d="100"/>
          <a:sy n="57" d="100"/>
        </p:scale>
        <p:origin x="1540" y="52"/>
      </p:cViewPr>
      <p:guideLst>
        <p:guide orient="horz" pos="2160"/>
        <p:guide pos="2880"/>
      </p:guideLst>
    </p:cSldViewPr>
  </p:slideViewPr>
  <p:notesTextViewPr>
    <p:cViewPr>
      <p:scale>
        <a:sx n="1" d="1"/>
        <a:sy n="1" d="1"/>
      </p:scale>
      <p:origin x="0" y="0"/>
    </p:cViewPr>
  </p:notesTextViewPr>
  <p:sorterViewPr>
    <p:cViewPr>
      <p:scale>
        <a:sx n="100" d="100"/>
        <a:sy n="100" d="100"/>
      </p:scale>
      <p:origin x="0" y="1243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500777"/>
          </a:xfrm>
          <a:prstGeom prst="rect">
            <a:avLst/>
          </a:prstGeom>
        </p:spPr>
        <p:txBody>
          <a:bodyPr vert="horz" lIns="96551" tIns="48276" rIns="96551" bIns="48276" rtlCol="0"/>
          <a:lstStyle>
            <a:lvl1pPr algn="l">
              <a:defRPr sz="1300"/>
            </a:lvl1pPr>
          </a:lstStyle>
          <a:p>
            <a:endParaRPr lang="en-GB"/>
          </a:p>
        </p:txBody>
      </p:sp>
      <p:sp>
        <p:nvSpPr>
          <p:cNvPr id="3" name="Date Placeholder 2"/>
          <p:cNvSpPr>
            <a:spLocks noGrp="1"/>
          </p:cNvSpPr>
          <p:nvPr>
            <p:ph type="dt" sz="quarter" idx="1"/>
          </p:nvPr>
        </p:nvSpPr>
        <p:spPr>
          <a:xfrm>
            <a:off x="3898102" y="0"/>
            <a:ext cx="2982119" cy="500777"/>
          </a:xfrm>
          <a:prstGeom prst="rect">
            <a:avLst/>
          </a:prstGeom>
        </p:spPr>
        <p:txBody>
          <a:bodyPr vert="horz" lIns="96551" tIns="48276" rIns="96551" bIns="48276" rtlCol="0"/>
          <a:lstStyle>
            <a:lvl1pPr algn="r">
              <a:defRPr sz="1300"/>
            </a:lvl1pPr>
          </a:lstStyle>
          <a:p>
            <a:fld id="{91371695-586E-4A64-A7D0-A5225C1B7C98}" type="datetimeFigureOut">
              <a:rPr lang="en-GB" smtClean="0"/>
              <a:t>12/10/2023</a:t>
            </a:fld>
            <a:endParaRPr lang="en-GB"/>
          </a:p>
        </p:txBody>
      </p:sp>
      <p:sp>
        <p:nvSpPr>
          <p:cNvPr id="4" name="Footer Placeholder 3"/>
          <p:cNvSpPr>
            <a:spLocks noGrp="1"/>
          </p:cNvSpPr>
          <p:nvPr>
            <p:ph type="ftr" sz="quarter" idx="2"/>
          </p:nvPr>
        </p:nvSpPr>
        <p:spPr>
          <a:xfrm>
            <a:off x="0" y="9513023"/>
            <a:ext cx="2982119" cy="500777"/>
          </a:xfrm>
          <a:prstGeom prst="rect">
            <a:avLst/>
          </a:prstGeom>
        </p:spPr>
        <p:txBody>
          <a:bodyPr vert="horz" lIns="96551" tIns="48276" rIns="96551" bIns="48276" rtlCol="0" anchor="b"/>
          <a:lstStyle>
            <a:lvl1pPr algn="l">
              <a:defRPr sz="1300"/>
            </a:lvl1pPr>
          </a:lstStyle>
          <a:p>
            <a:endParaRPr lang="en-GB"/>
          </a:p>
        </p:txBody>
      </p:sp>
      <p:sp>
        <p:nvSpPr>
          <p:cNvPr id="5" name="Slide Number Placeholder 4"/>
          <p:cNvSpPr>
            <a:spLocks noGrp="1"/>
          </p:cNvSpPr>
          <p:nvPr>
            <p:ph type="sldNum" sz="quarter" idx="3"/>
          </p:nvPr>
        </p:nvSpPr>
        <p:spPr>
          <a:xfrm>
            <a:off x="3898102" y="9513023"/>
            <a:ext cx="2982119" cy="500777"/>
          </a:xfrm>
          <a:prstGeom prst="rect">
            <a:avLst/>
          </a:prstGeom>
        </p:spPr>
        <p:txBody>
          <a:bodyPr vert="horz" lIns="96551" tIns="48276" rIns="96551" bIns="48276" rtlCol="0" anchor="b"/>
          <a:lstStyle>
            <a:lvl1pPr algn="r">
              <a:defRPr sz="1300"/>
            </a:lvl1pPr>
          </a:lstStyle>
          <a:p>
            <a:fld id="{E2676CB6-490C-46D3-86E3-1750D2ED9FD6}" type="slidenum">
              <a:rPr lang="en-GB" smtClean="0"/>
              <a:t>‹#›</a:t>
            </a:fld>
            <a:endParaRPr lang="en-GB"/>
          </a:p>
        </p:txBody>
      </p:sp>
    </p:spTree>
    <p:extLst>
      <p:ext uri="{BB962C8B-B14F-4D97-AF65-F5344CB8AC3E}">
        <p14:creationId xmlns:p14="http://schemas.microsoft.com/office/powerpoint/2010/main" val="9977698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50006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97313" y="0"/>
            <a:ext cx="2982912" cy="500063"/>
          </a:xfrm>
          <a:prstGeom prst="rect">
            <a:avLst/>
          </a:prstGeom>
        </p:spPr>
        <p:txBody>
          <a:bodyPr vert="horz" lIns="91440" tIns="45720" rIns="91440" bIns="45720" rtlCol="0"/>
          <a:lstStyle>
            <a:lvl1pPr algn="r">
              <a:defRPr sz="1200"/>
            </a:lvl1pPr>
          </a:lstStyle>
          <a:p>
            <a:fld id="{ACFF8692-A856-403E-99F6-CFFFA03614BA}" type="datetimeFigureOut">
              <a:rPr lang="en-GB" smtClean="0"/>
              <a:t>12/10/2023</a:t>
            </a:fld>
            <a:endParaRPr lang="en-GB"/>
          </a:p>
        </p:txBody>
      </p:sp>
      <p:sp>
        <p:nvSpPr>
          <p:cNvPr id="4" name="Slide Image Placeholder 3"/>
          <p:cNvSpPr>
            <a:spLocks noGrp="1" noRot="1" noChangeAspect="1"/>
          </p:cNvSpPr>
          <p:nvPr>
            <p:ph type="sldImg" idx="2"/>
          </p:nvPr>
        </p:nvSpPr>
        <p:spPr>
          <a:xfrm>
            <a:off x="938213" y="750888"/>
            <a:ext cx="5006975" cy="37560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8975" y="4757738"/>
            <a:ext cx="5505450" cy="45069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512300"/>
            <a:ext cx="2982913" cy="50165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97313" y="9512300"/>
            <a:ext cx="2982912" cy="501650"/>
          </a:xfrm>
          <a:prstGeom prst="rect">
            <a:avLst/>
          </a:prstGeom>
        </p:spPr>
        <p:txBody>
          <a:bodyPr vert="horz" lIns="91440" tIns="45720" rIns="91440" bIns="45720" rtlCol="0" anchor="b"/>
          <a:lstStyle>
            <a:lvl1pPr algn="r">
              <a:defRPr sz="1200"/>
            </a:lvl1pPr>
          </a:lstStyle>
          <a:p>
            <a:fld id="{0F088517-4F99-40F4-897B-84B83375F91A}" type="slidenum">
              <a:rPr lang="en-GB" smtClean="0"/>
              <a:t>‹#›</a:t>
            </a:fld>
            <a:endParaRPr lang="en-GB"/>
          </a:p>
        </p:txBody>
      </p:sp>
    </p:spTree>
    <p:extLst>
      <p:ext uri="{BB962C8B-B14F-4D97-AF65-F5344CB8AC3E}">
        <p14:creationId xmlns:p14="http://schemas.microsoft.com/office/powerpoint/2010/main" val="3583633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EBB65-A4E4-487C-9A7F-B5952864E0F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AECA4454-89D3-41FC-855E-9E01F4C01F1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741D150-7BB6-4FE2-8BD7-69B286A81C47}"/>
              </a:ext>
            </a:extLst>
          </p:cNvPr>
          <p:cNvSpPr>
            <a:spLocks noGrp="1"/>
          </p:cNvSpPr>
          <p:nvPr>
            <p:ph type="dt" sz="half" idx="10"/>
          </p:nvPr>
        </p:nvSpPr>
        <p:spPr/>
        <p:txBody>
          <a:bodyPr/>
          <a:lstStyle/>
          <a:p>
            <a:fld id="{CB691E1F-4C3B-44E5-B86A-931BE2955060}" type="datetimeFigureOut">
              <a:rPr lang="en-GB" smtClean="0"/>
              <a:t>12/10/2023</a:t>
            </a:fld>
            <a:endParaRPr lang="en-GB"/>
          </a:p>
        </p:txBody>
      </p:sp>
      <p:sp>
        <p:nvSpPr>
          <p:cNvPr id="5" name="Footer Placeholder 4">
            <a:extLst>
              <a:ext uri="{FF2B5EF4-FFF2-40B4-BE49-F238E27FC236}">
                <a16:creationId xmlns:a16="http://schemas.microsoft.com/office/drawing/2014/main" id="{CE1DE00C-5F88-45A2-BB9B-FBD3F5BBA6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47D3FC8-BDF4-4A8D-A6CC-32AD4DD7095A}"/>
              </a:ext>
            </a:extLst>
          </p:cNvPr>
          <p:cNvSpPr>
            <a:spLocks noGrp="1"/>
          </p:cNvSpPr>
          <p:nvPr>
            <p:ph type="sldNum" sz="quarter" idx="12"/>
          </p:nvPr>
        </p:nvSpPr>
        <p:spPr/>
        <p:txBody>
          <a:bodyPr/>
          <a:lstStyle/>
          <a:p>
            <a:fld id="{1C88E76E-C3FD-45D7-BBEF-2E541AE6AF81}" type="slidenum">
              <a:rPr lang="en-GB" smtClean="0"/>
              <a:t>‹#›</a:t>
            </a:fld>
            <a:endParaRPr lang="en-GB"/>
          </a:p>
        </p:txBody>
      </p:sp>
    </p:spTree>
    <p:extLst>
      <p:ext uri="{BB962C8B-B14F-4D97-AF65-F5344CB8AC3E}">
        <p14:creationId xmlns:p14="http://schemas.microsoft.com/office/powerpoint/2010/main" val="1155164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AEE04-D8C1-4E43-B2BF-99DBA5DFF24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B89D34-CEB5-4997-8911-2E84587677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E53D7C-CBBB-474E-9CAE-154131D9FED0}"/>
              </a:ext>
            </a:extLst>
          </p:cNvPr>
          <p:cNvSpPr>
            <a:spLocks noGrp="1"/>
          </p:cNvSpPr>
          <p:nvPr>
            <p:ph type="dt" sz="half" idx="10"/>
          </p:nvPr>
        </p:nvSpPr>
        <p:spPr/>
        <p:txBody>
          <a:bodyPr/>
          <a:lstStyle/>
          <a:p>
            <a:fld id="{CB691E1F-4C3B-44E5-B86A-931BE2955060}" type="datetimeFigureOut">
              <a:rPr lang="en-GB" smtClean="0"/>
              <a:t>12/10/2023</a:t>
            </a:fld>
            <a:endParaRPr lang="en-GB"/>
          </a:p>
        </p:txBody>
      </p:sp>
      <p:sp>
        <p:nvSpPr>
          <p:cNvPr id="5" name="Footer Placeholder 4">
            <a:extLst>
              <a:ext uri="{FF2B5EF4-FFF2-40B4-BE49-F238E27FC236}">
                <a16:creationId xmlns:a16="http://schemas.microsoft.com/office/drawing/2014/main" id="{78D10F6C-585C-420E-8AF3-34CFEFCF4E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FEE2C1B-1042-4990-A3C4-A7CF6641F3F9}"/>
              </a:ext>
            </a:extLst>
          </p:cNvPr>
          <p:cNvSpPr>
            <a:spLocks noGrp="1"/>
          </p:cNvSpPr>
          <p:nvPr>
            <p:ph type="sldNum" sz="quarter" idx="12"/>
          </p:nvPr>
        </p:nvSpPr>
        <p:spPr/>
        <p:txBody>
          <a:bodyPr/>
          <a:lstStyle/>
          <a:p>
            <a:fld id="{1C88E76E-C3FD-45D7-BBEF-2E541AE6AF81}" type="slidenum">
              <a:rPr lang="en-GB" smtClean="0"/>
              <a:t>‹#›</a:t>
            </a:fld>
            <a:endParaRPr lang="en-GB"/>
          </a:p>
        </p:txBody>
      </p:sp>
    </p:spTree>
    <p:extLst>
      <p:ext uri="{BB962C8B-B14F-4D97-AF65-F5344CB8AC3E}">
        <p14:creationId xmlns:p14="http://schemas.microsoft.com/office/powerpoint/2010/main" val="601599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5C8B9-54B6-4E1A-AF06-73809E53DFD2}"/>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7E2685D-C15F-4076-B38E-C5D22965BB0D}"/>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15B19B-0E3F-41E5-B8BE-9A1D07069075}"/>
              </a:ext>
            </a:extLst>
          </p:cNvPr>
          <p:cNvSpPr>
            <a:spLocks noGrp="1"/>
          </p:cNvSpPr>
          <p:nvPr>
            <p:ph type="dt" sz="half" idx="10"/>
          </p:nvPr>
        </p:nvSpPr>
        <p:spPr/>
        <p:txBody>
          <a:bodyPr/>
          <a:lstStyle/>
          <a:p>
            <a:fld id="{CB691E1F-4C3B-44E5-B86A-931BE2955060}" type="datetimeFigureOut">
              <a:rPr lang="en-GB" smtClean="0"/>
              <a:t>12/10/2023</a:t>
            </a:fld>
            <a:endParaRPr lang="en-GB"/>
          </a:p>
        </p:txBody>
      </p:sp>
      <p:sp>
        <p:nvSpPr>
          <p:cNvPr id="5" name="Footer Placeholder 4">
            <a:extLst>
              <a:ext uri="{FF2B5EF4-FFF2-40B4-BE49-F238E27FC236}">
                <a16:creationId xmlns:a16="http://schemas.microsoft.com/office/drawing/2014/main" id="{30994561-0874-4655-AB98-742374A53FC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C6E09E-914B-49D6-A3FB-9F6253F3F158}"/>
              </a:ext>
            </a:extLst>
          </p:cNvPr>
          <p:cNvSpPr>
            <a:spLocks noGrp="1"/>
          </p:cNvSpPr>
          <p:nvPr>
            <p:ph type="sldNum" sz="quarter" idx="12"/>
          </p:nvPr>
        </p:nvSpPr>
        <p:spPr/>
        <p:txBody>
          <a:bodyPr/>
          <a:lstStyle/>
          <a:p>
            <a:fld id="{1C88E76E-C3FD-45D7-BBEF-2E541AE6AF81}" type="slidenum">
              <a:rPr lang="en-GB" smtClean="0"/>
              <a:t>‹#›</a:t>
            </a:fld>
            <a:endParaRPr lang="en-GB"/>
          </a:p>
        </p:txBody>
      </p:sp>
    </p:spTree>
    <p:extLst>
      <p:ext uri="{BB962C8B-B14F-4D97-AF65-F5344CB8AC3E}">
        <p14:creationId xmlns:p14="http://schemas.microsoft.com/office/powerpoint/2010/main" val="270621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26FD3-8E36-43FE-AC06-112721F062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D185DD-1496-470C-852D-5E2C9559CB54}"/>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7C1169-339D-459F-AF33-8753E5C4CEA9}"/>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2BCBF0-BD19-4DE9-A7F1-B29E6C3CF4F1}"/>
              </a:ext>
            </a:extLst>
          </p:cNvPr>
          <p:cNvSpPr>
            <a:spLocks noGrp="1"/>
          </p:cNvSpPr>
          <p:nvPr>
            <p:ph type="dt" sz="half" idx="10"/>
          </p:nvPr>
        </p:nvSpPr>
        <p:spPr/>
        <p:txBody>
          <a:bodyPr/>
          <a:lstStyle/>
          <a:p>
            <a:fld id="{CB691E1F-4C3B-44E5-B86A-931BE2955060}" type="datetimeFigureOut">
              <a:rPr lang="en-GB" smtClean="0"/>
              <a:t>12/10/2023</a:t>
            </a:fld>
            <a:endParaRPr lang="en-GB"/>
          </a:p>
        </p:txBody>
      </p:sp>
      <p:sp>
        <p:nvSpPr>
          <p:cNvPr id="6" name="Footer Placeholder 5">
            <a:extLst>
              <a:ext uri="{FF2B5EF4-FFF2-40B4-BE49-F238E27FC236}">
                <a16:creationId xmlns:a16="http://schemas.microsoft.com/office/drawing/2014/main" id="{0370BEC2-5011-4F3F-9A17-44ECBA3DC62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0BD5C0C-47D4-484F-AB8A-CA2AD8085F31}"/>
              </a:ext>
            </a:extLst>
          </p:cNvPr>
          <p:cNvSpPr>
            <a:spLocks noGrp="1"/>
          </p:cNvSpPr>
          <p:nvPr>
            <p:ph type="sldNum" sz="quarter" idx="12"/>
          </p:nvPr>
        </p:nvSpPr>
        <p:spPr/>
        <p:txBody>
          <a:bodyPr/>
          <a:lstStyle/>
          <a:p>
            <a:fld id="{1C88E76E-C3FD-45D7-BBEF-2E541AE6AF81}" type="slidenum">
              <a:rPr lang="en-GB" smtClean="0"/>
              <a:t>‹#›</a:t>
            </a:fld>
            <a:endParaRPr lang="en-GB"/>
          </a:p>
        </p:txBody>
      </p:sp>
    </p:spTree>
    <p:extLst>
      <p:ext uri="{BB962C8B-B14F-4D97-AF65-F5344CB8AC3E}">
        <p14:creationId xmlns:p14="http://schemas.microsoft.com/office/powerpoint/2010/main" val="3085983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3A85-C1DB-409E-B85B-AF0C9D46EDA0}"/>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7F4092-D072-4435-9CAF-F11419A83A5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7AF8C1D-3CB2-4B73-86BB-DF3E41F946D1}"/>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BADED51-D56A-4EC2-967A-5C0D779A86A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0A9FB833-FC47-4BC0-995A-30344EC71879}"/>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0B6C345-2F34-47A7-9701-B59C1D8296E0}"/>
              </a:ext>
            </a:extLst>
          </p:cNvPr>
          <p:cNvSpPr>
            <a:spLocks noGrp="1"/>
          </p:cNvSpPr>
          <p:nvPr>
            <p:ph type="dt" sz="half" idx="10"/>
          </p:nvPr>
        </p:nvSpPr>
        <p:spPr/>
        <p:txBody>
          <a:bodyPr/>
          <a:lstStyle/>
          <a:p>
            <a:fld id="{CB691E1F-4C3B-44E5-B86A-931BE2955060}" type="datetimeFigureOut">
              <a:rPr lang="en-GB" smtClean="0"/>
              <a:t>12/10/2023</a:t>
            </a:fld>
            <a:endParaRPr lang="en-GB"/>
          </a:p>
        </p:txBody>
      </p:sp>
      <p:sp>
        <p:nvSpPr>
          <p:cNvPr id="8" name="Footer Placeholder 7">
            <a:extLst>
              <a:ext uri="{FF2B5EF4-FFF2-40B4-BE49-F238E27FC236}">
                <a16:creationId xmlns:a16="http://schemas.microsoft.com/office/drawing/2014/main" id="{B153BEBA-E047-4605-85D7-AA068DF2896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2ABF61D-D681-49E1-BDD0-ECB2A2C36716}"/>
              </a:ext>
            </a:extLst>
          </p:cNvPr>
          <p:cNvSpPr>
            <a:spLocks noGrp="1"/>
          </p:cNvSpPr>
          <p:nvPr>
            <p:ph type="sldNum" sz="quarter" idx="12"/>
          </p:nvPr>
        </p:nvSpPr>
        <p:spPr/>
        <p:txBody>
          <a:bodyPr/>
          <a:lstStyle/>
          <a:p>
            <a:fld id="{1C88E76E-C3FD-45D7-BBEF-2E541AE6AF81}" type="slidenum">
              <a:rPr lang="en-GB" smtClean="0"/>
              <a:t>‹#›</a:t>
            </a:fld>
            <a:endParaRPr lang="en-GB"/>
          </a:p>
        </p:txBody>
      </p:sp>
    </p:spTree>
    <p:extLst>
      <p:ext uri="{BB962C8B-B14F-4D97-AF65-F5344CB8AC3E}">
        <p14:creationId xmlns:p14="http://schemas.microsoft.com/office/powerpoint/2010/main" val="2536062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7011A-6497-47EE-A5EA-2AF25345297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30FD8C6-AEB1-48E5-8976-DA773B69BA79}"/>
              </a:ext>
            </a:extLst>
          </p:cNvPr>
          <p:cNvSpPr>
            <a:spLocks noGrp="1"/>
          </p:cNvSpPr>
          <p:nvPr>
            <p:ph type="dt" sz="half" idx="10"/>
          </p:nvPr>
        </p:nvSpPr>
        <p:spPr/>
        <p:txBody>
          <a:bodyPr/>
          <a:lstStyle/>
          <a:p>
            <a:fld id="{CB691E1F-4C3B-44E5-B86A-931BE2955060}" type="datetimeFigureOut">
              <a:rPr lang="en-GB" smtClean="0"/>
              <a:t>12/10/2023</a:t>
            </a:fld>
            <a:endParaRPr lang="en-GB"/>
          </a:p>
        </p:txBody>
      </p:sp>
      <p:sp>
        <p:nvSpPr>
          <p:cNvPr id="4" name="Footer Placeholder 3">
            <a:extLst>
              <a:ext uri="{FF2B5EF4-FFF2-40B4-BE49-F238E27FC236}">
                <a16:creationId xmlns:a16="http://schemas.microsoft.com/office/drawing/2014/main" id="{143F917B-A570-4FF6-B8A2-E1525071ABD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A7CBEE8-1137-4400-BD56-6B0611FC3D22}"/>
              </a:ext>
            </a:extLst>
          </p:cNvPr>
          <p:cNvSpPr>
            <a:spLocks noGrp="1"/>
          </p:cNvSpPr>
          <p:nvPr>
            <p:ph type="sldNum" sz="quarter" idx="12"/>
          </p:nvPr>
        </p:nvSpPr>
        <p:spPr/>
        <p:txBody>
          <a:bodyPr/>
          <a:lstStyle/>
          <a:p>
            <a:fld id="{1C88E76E-C3FD-45D7-BBEF-2E541AE6AF81}" type="slidenum">
              <a:rPr lang="en-GB" smtClean="0"/>
              <a:t>‹#›</a:t>
            </a:fld>
            <a:endParaRPr lang="en-GB"/>
          </a:p>
        </p:txBody>
      </p:sp>
    </p:spTree>
    <p:extLst>
      <p:ext uri="{BB962C8B-B14F-4D97-AF65-F5344CB8AC3E}">
        <p14:creationId xmlns:p14="http://schemas.microsoft.com/office/powerpoint/2010/main" val="2376526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DBE52D-1728-456F-B2D3-1CBE3DEDD342}"/>
              </a:ext>
            </a:extLst>
          </p:cNvPr>
          <p:cNvSpPr>
            <a:spLocks noGrp="1"/>
          </p:cNvSpPr>
          <p:nvPr>
            <p:ph type="dt" sz="half" idx="10"/>
          </p:nvPr>
        </p:nvSpPr>
        <p:spPr/>
        <p:txBody>
          <a:bodyPr/>
          <a:lstStyle/>
          <a:p>
            <a:fld id="{CB691E1F-4C3B-44E5-B86A-931BE2955060}" type="datetimeFigureOut">
              <a:rPr lang="en-GB" smtClean="0"/>
              <a:t>12/10/2023</a:t>
            </a:fld>
            <a:endParaRPr lang="en-GB"/>
          </a:p>
        </p:txBody>
      </p:sp>
      <p:sp>
        <p:nvSpPr>
          <p:cNvPr id="3" name="Footer Placeholder 2">
            <a:extLst>
              <a:ext uri="{FF2B5EF4-FFF2-40B4-BE49-F238E27FC236}">
                <a16:creationId xmlns:a16="http://schemas.microsoft.com/office/drawing/2014/main" id="{B3BE5E8E-64BB-4C2C-9FDB-F6736DF5089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BAA4A27-698F-4E4A-9FCC-CA21B9C3CB1D}"/>
              </a:ext>
            </a:extLst>
          </p:cNvPr>
          <p:cNvSpPr>
            <a:spLocks noGrp="1"/>
          </p:cNvSpPr>
          <p:nvPr>
            <p:ph type="sldNum" sz="quarter" idx="12"/>
          </p:nvPr>
        </p:nvSpPr>
        <p:spPr/>
        <p:txBody>
          <a:bodyPr/>
          <a:lstStyle/>
          <a:p>
            <a:fld id="{1C88E76E-C3FD-45D7-BBEF-2E541AE6AF81}" type="slidenum">
              <a:rPr lang="en-GB" smtClean="0"/>
              <a:t>‹#›</a:t>
            </a:fld>
            <a:endParaRPr lang="en-GB"/>
          </a:p>
        </p:txBody>
      </p:sp>
    </p:spTree>
    <p:extLst>
      <p:ext uri="{BB962C8B-B14F-4D97-AF65-F5344CB8AC3E}">
        <p14:creationId xmlns:p14="http://schemas.microsoft.com/office/powerpoint/2010/main" val="1138785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D4DC2-5D1E-4BAB-A60D-A34A18A5AF8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D35429B-5416-4586-A238-EB69E8E2596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BD97185-F8E8-4728-8193-75598BCE254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D5B747A-D3A2-4F22-8578-519CF301D549}"/>
              </a:ext>
            </a:extLst>
          </p:cNvPr>
          <p:cNvSpPr>
            <a:spLocks noGrp="1"/>
          </p:cNvSpPr>
          <p:nvPr>
            <p:ph type="dt" sz="half" idx="10"/>
          </p:nvPr>
        </p:nvSpPr>
        <p:spPr/>
        <p:txBody>
          <a:bodyPr/>
          <a:lstStyle/>
          <a:p>
            <a:fld id="{CB691E1F-4C3B-44E5-B86A-931BE2955060}" type="datetimeFigureOut">
              <a:rPr lang="en-GB" smtClean="0"/>
              <a:t>12/10/2023</a:t>
            </a:fld>
            <a:endParaRPr lang="en-GB"/>
          </a:p>
        </p:txBody>
      </p:sp>
      <p:sp>
        <p:nvSpPr>
          <p:cNvPr id="6" name="Footer Placeholder 5">
            <a:extLst>
              <a:ext uri="{FF2B5EF4-FFF2-40B4-BE49-F238E27FC236}">
                <a16:creationId xmlns:a16="http://schemas.microsoft.com/office/drawing/2014/main" id="{B5D34526-5ECB-40F9-8FFB-77BD08725FA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A3616E4-7A6A-4A6B-843F-3B71D83A3516}"/>
              </a:ext>
            </a:extLst>
          </p:cNvPr>
          <p:cNvSpPr>
            <a:spLocks noGrp="1"/>
          </p:cNvSpPr>
          <p:nvPr>
            <p:ph type="sldNum" sz="quarter" idx="12"/>
          </p:nvPr>
        </p:nvSpPr>
        <p:spPr/>
        <p:txBody>
          <a:bodyPr/>
          <a:lstStyle/>
          <a:p>
            <a:fld id="{1C88E76E-C3FD-45D7-BBEF-2E541AE6AF81}" type="slidenum">
              <a:rPr lang="en-GB" smtClean="0"/>
              <a:t>‹#›</a:t>
            </a:fld>
            <a:endParaRPr lang="en-GB"/>
          </a:p>
        </p:txBody>
      </p:sp>
    </p:spTree>
    <p:extLst>
      <p:ext uri="{BB962C8B-B14F-4D97-AF65-F5344CB8AC3E}">
        <p14:creationId xmlns:p14="http://schemas.microsoft.com/office/powerpoint/2010/main" val="3602338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4C388-A8A8-4878-8554-B47F4656E30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2B6E9AB-5FDC-4191-8A09-45AF7CAD1DC5}"/>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1498502A-F611-441C-9405-1EE73B5C82E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9607835-D46B-45E4-80A4-A9D5DC73CD62}"/>
              </a:ext>
            </a:extLst>
          </p:cNvPr>
          <p:cNvSpPr>
            <a:spLocks noGrp="1"/>
          </p:cNvSpPr>
          <p:nvPr>
            <p:ph type="dt" sz="half" idx="10"/>
          </p:nvPr>
        </p:nvSpPr>
        <p:spPr/>
        <p:txBody>
          <a:bodyPr/>
          <a:lstStyle/>
          <a:p>
            <a:fld id="{CB691E1F-4C3B-44E5-B86A-931BE2955060}" type="datetimeFigureOut">
              <a:rPr lang="en-GB" smtClean="0"/>
              <a:t>12/10/2023</a:t>
            </a:fld>
            <a:endParaRPr lang="en-GB"/>
          </a:p>
        </p:txBody>
      </p:sp>
      <p:sp>
        <p:nvSpPr>
          <p:cNvPr id="6" name="Footer Placeholder 5">
            <a:extLst>
              <a:ext uri="{FF2B5EF4-FFF2-40B4-BE49-F238E27FC236}">
                <a16:creationId xmlns:a16="http://schemas.microsoft.com/office/drawing/2014/main" id="{46411E1B-0208-4C46-8A44-240722B941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885261A-BCFD-4298-A978-96C92FD77127}"/>
              </a:ext>
            </a:extLst>
          </p:cNvPr>
          <p:cNvSpPr>
            <a:spLocks noGrp="1"/>
          </p:cNvSpPr>
          <p:nvPr>
            <p:ph type="sldNum" sz="quarter" idx="12"/>
          </p:nvPr>
        </p:nvSpPr>
        <p:spPr/>
        <p:txBody>
          <a:bodyPr/>
          <a:lstStyle/>
          <a:p>
            <a:fld id="{1C88E76E-C3FD-45D7-BBEF-2E541AE6AF81}" type="slidenum">
              <a:rPr lang="en-GB" smtClean="0"/>
              <a:t>‹#›</a:t>
            </a:fld>
            <a:endParaRPr lang="en-GB"/>
          </a:p>
        </p:txBody>
      </p:sp>
    </p:spTree>
    <p:extLst>
      <p:ext uri="{BB962C8B-B14F-4D97-AF65-F5344CB8AC3E}">
        <p14:creationId xmlns:p14="http://schemas.microsoft.com/office/powerpoint/2010/main" val="3080562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B0183-6CC6-49EC-9732-CD987A9AEA2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9431D43-DC14-4D1E-8CCA-67F208B0CE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637042-E870-41AC-A766-1D92403A4E8A}"/>
              </a:ext>
            </a:extLst>
          </p:cNvPr>
          <p:cNvSpPr>
            <a:spLocks noGrp="1"/>
          </p:cNvSpPr>
          <p:nvPr>
            <p:ph type="dt" sz="half" idx="10"/>
          </p:nvPr>
        </p:nvSpPr>
        <p:spPr/>
        <p:txBody>
          <a:bodyPr/>
          <a:lstStyle/>
          <a:p>
            <a:fld id="{CB691E1F-4C3B-44E5-B86A-931BE2955060}" type="datetimeFigureOut">
              <a:rPr lang="en-GB" smtClean="0"/>
              <a:t>12/10/2023</a:t>
            </a:fld>
            <a:endParaRPr lang="en-GB"/>
          </a:p>
        </p:txBody>
      </p:sp>
      <p:sp>
        <p:nvSpPr>
          <p:cNvPr id="5" name="Footer Placeholder 4">
            <a:extLst>
              <a:ext uri="{FF2B5EF4-FFF2-40B4-BE49-F238E27FC236}">
                <a16:creationId xmlns:a16="http://schemas.microsoft.com/office/drawing/2014/main" id="{8AB78BD0-1AB5-4E87-A9E2-6D3F5A345E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558C906-DE5E-4C31-97B4-6D060F6F9BA9}"/>
              </a:ext>
            </a:extLst>
          </p:cNvPr>
          <p:cNvSpPr>
            <a:spLocks noGrp="1"/>
          </p:cNvSpPr>
          <p:nvPr>
            <p:ph type="sldNum" sz="quarter" idx="12"/>
          </p:nvPr>
        </p:nvSpPr>
        <p:spPr/>
        <p:txBody>
          <a:bodyPr/>
          <a:lstStyle/>
          <a:p>
            <a:fld id="{1C88E76E-C3FD-45D7-BBEF-2E541AE6AF81}" type="slidenum">
              <a:rPr lang="en-GB" smtClean="0"/>
              <a:t>‹#›</a:t>
            </a:fld>
            <a:endParaRPr lang="en-GB"/>
          </a:p>
        </p:txBody>
      </p:sp>
    </p:spTree>
    <p:extLst>
      <p:ext uri="{BB962C8B-B14F-4D97-AF65-F5344CB8AC3E}">
        <p14:creationId xmlns:p14="http://schemas.microsoft.com/office/powerpoint/2010/main" val="1880290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9EA2C9-DB36-43D2-A283-474F19BAD50B}"/>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C568D3-1674-4C34-94E1-A801DFACC784}"/>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4DB819-59C6-484A-B3D3-BADB3E5BF95C}"/>
              </a:ext>
            </a:extLst>
          </p:cNvPr>
          <p:cNvSpPr>
            <a:spLocks noGrp="1"/>
          </p:cNvSpPr>
          <p:nvPr>
            <p:ph type="dt" sz="half" idx="10"/>
          </p:nvPr>
        </p:nvSpPr>
        <p:spPr/>
        <p:txBody>
          <a:bodyPr/>
          <a:lstStyle/>
          <a:p>
            <a:fld id="{CB691E1F-4C3B-44E5-B86A-931BE2955060}" type="datetimeFigureOut">
              <a:rPr lang="en-GB" smtClean="0"/>
              <a:t>12/10/2023</a:t>
            </a:fld>
            <a:endParaRPr lang="en-GB"/>
          </a:p>
        </p:txBody>
      </p:sp>
      <p:sp>
        <p:nvSpPr>
          <p:cNvPr id="5" name="Footer Placeholder 4">
            <a:extLst>
              <a:ext uri="{FF2B5EF4-FFF2-40B4-BE49-F238E27FC236}">
                <a16:creationId xmlns:a16="http://schemas.microsoft.com/office/drawing/2014/main" id="{D6A5DCFB-0DD5-4016-A05E-4EB379DA045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5217AA2-BD84-492E-A442-AB10C7A57952}"/>
              </a:ext>
            </a:extLst>
          </p:cNvPr>
          <p:cNvSpPr>
            <a:spLocks noGrp="1"/>
          </p:cNvSpPr>
          <p:nvPr>
            <p:ph type="sldNum" sz="quarter" idx="12"/>
          </p:nvPr>
        </p:nvSpPr>
        <p:spPr/>
        <p:txBody>
          <a:bodyPr/>
          <a:lstStyle/>
          <a:p>
            <a:fld id="{1C88E76E-C3FD-45D7-BBEF-2E541AE6AF81}" type="slidenum">
              <a:rPr lang="en-GB" smtClean="0"/>
              <a:t>‹#›</a:t>
            </a:fld>
            <a:endParaRPr lang="en-GB"/>
          </a:p>
        </p:txBody>
      </p:sp>
    </p:spTree>
    <p:extLst>
      <p:ext uri="{BB962C8B-B14F-4D97-AF65-F5344CB8AC3E}">
        <p14:creationId xmlns:p14="http://schemas.microsoft.com/office/powerpoint/2010/main" val="2216996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6D60CD-E7CB-4A2A-A19B-2952DB3BCD9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D68D7FB-3B88-46D0-B8FB-1DB09CE2FF9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6504CC-A81C-46F8-8037-D91FE33BCA4E}"/>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B691E1F-4C3B-44E5-B86A-931BE2955060}" type="datetimeFigureOut">
              <a:rPr lang="en-GB" smtClean="0"/>
              <a:t>12/10/2023</a:t>
            </a:fld>
            <a:endParaRPr lang="en-GB"/>
          </a:p>
        </p:txBody>
      </p:sp>
      <p:sp>
        <p:nvSpPr>
          <p:cNvPr id="5" name="Footer Placeholder 4">
            <a:extLst>
              <a:ext uri="{FF2B5EF4-FFF2-40B4-BE49-F238E27FC236}">
                <a16:creationId xmlns:a16="http://schemas.microsoft.com/office/drawing/2014/main" id="{49FAA5C9-801C-4318-B7FC-2BD4239CA1A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B28DF85-4A03-41FB-BD27-B1891977A08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C88E76E-C3FD-45D7-BBEF-2E541AE6AF81}" type="slidenum">
              <a:rPr lang="en-GB" smtClean="0"/>
              <a:t>‹#›</a:t>
            </a:fld>
            <a:endParaRPr lang="en-GB"/>
          </a:p>
        </p:txBody>
      </p:sp>
    </p:spTree>
    <p:extLst>
      <p:ext uri="{BB962C8B-B14F-4D97-AF65-F5344CB8AC3E}">
        <p14:creationId xmlns:p14="http://schemas.microsoft.com/office/powerpoint/2010/main" val="19457592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www.research.att.com/~njas/sequences/"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11.wmf"/><Relationship Id="rId7" Type="http://schemas.openxmlformats.org/officeDocument/2006/relationships/image" Target="../media/image13.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12.wmf"/><Relationship Id="rId4" Type="http://schemas.openxmlformats.org/officeDocument/2006/relationships/oleObject" Target="../embeddings/oleObject5.bin"/><Relationship Id="rId9" Type="http://schemas.openxmlformats.org/officeDocument/2006/relationships/image" Target="../media/image14.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8.bin"/><Relationship Id="rId1" Type="http://schemas.openxmlformats.org/officeDocument/2006/relationships/slideLayout" Target="../slideLayouts/slideLayout2.xml"/><Relationship Id="rId5" Type="http://schemas.openxmlformats.org/officeDocument/2006/relationships/image" Target="../media/image16.wmf"/><Relationship Id="rId4" Type="http://schemas.openxmlformats.org/officeDocument/2006/relationships/oleObject" Target="../embeddings/oleObject9.bin"/></Relationships>
</file>

<file path=ppt/slides/_rels/slide2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18.wmf"/><Relationship Id="rId4" Type="http://schemas.openxmlformats.org/officeDocument/2006/relationships/oleObject" Target="../embeddings/oleObject11.bin"/></Relationships>
</file>

<file path=ppt/slides/_rels/slide29.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ctrTitle" idx="4294967295"/>
          </p:nvPr>
        </p:nvSpPr>
        <p:spPr>
          <a:xfrm>
            <a:off x="683568" y="2060848"/>
            <a:ext cx="8642350" cy="1943100"/>
          </a:xfrm>
        </p:spPr>
        <p:txBody>
          <a:bodyPr/>
          <a:lstStyle/>
          <a:p>
            <a:pPr>
              <a:spcBef>
                <a:spcPts val="600"/>
              </a:spcBef>
              <a:spcAft>
                <a:spcPts val="600"/>
              </a:spcAft>
            </a:pPr>
            <a:r>
              <a:rPr lang="en-GB" sz="5400" dirty="0">
                <a:solidFill>
                  <a:srgbClr val="3366FF"/>
                </a:solidFill>
                <a:latin typeface="Garamond" pitchFamily="18" charset="0"/>
              </a:rPr>
              <a:t>Pigeonhole Principle, Summation and Sequences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1253C-6C13-4712-AF2E-6774B85B2040}"/>
              </a:ext>
            </a:extLst>
          </p:cNvPr>
          <p:cNvSpPr>
            <a:spLocks noGrp="1"/>
          </p:cNvSpPr>
          <p:nvPr>
            <p:ph type="title"/>
          </p:nvPr>
        </p:nvSpPr>
        <p:spPr>
          <a:xfrm>
            <a:off x="251520" y="340902"/>
            <a:ext cx="7886700" cy="1325563"/>
          </a:xfrm>
        </p:spPr>
        <p:txBody>
          <a:bodyPr/>
          <a:lstStyle/>
          <a:p>
            <a:r>
              <a:rPr lang="en-US" dirty="0" err="1"/>
              <a:t>PigeonHole</a:t>
            </a:r>
            <a:r>
              <a:rPr lang="en-US" dirty="0"/>
              <a:t> Principle- Counting Argument (</a:t>
            </a:r>
            <a:r>
              <a:rPr lang="en-US" b="1" i="1" dirty="0"/>
              <a:t>Proof Technique</a:t>
            </a:r>
            <a:r>
              <a:rPr lang="en-US" dirty="0"/>
              <a:t>)</a:t>
            </a:r>
            <a:endParaRPr lang="en-IN" dirty="0"/>
          </a:p>
        </p:txBody>
      </p:sp>
      <p:pic>
        <p:nvPicPr>
          <p:cNvPr id="1026" name="Picture 2">
            <a:extLst>
              <a:ext uri="{FF2B5EF4-FFF2-40B4-BE49-F238E27FC236}">
                <a16:creationId xmlns:a16="http://schemas.microsoft.com/office/drawing/2014/main" id="{F7C5AF90-735D-46F8-AA4E-89CEB26B1F39}"/>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940152" y="1713811"/>
            <a:ext cx="2848066" cy="26039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EB256E8-1DEA-4D1B-8A2C-59D7971EEF1F}"/>
              </a:ext>
            </a:extLst>
          </p:cNvPr>
          <p:cNvSpPr txBox="1"/>
          <p:nvPr/>
        </p:nvSpPr>
        <p:spPr>
          <a:xfrm>
            <a:off x="267791" y="2230954"/>
            <a:ext cx="5277429" cy="1569660"/>
          </a:xfrm>
          <a:prstGeom prst="rect">
            <a:avLst/>
          </a:prstGeom>
          <a:noFill/>
        </p:spPr>
        <p:txBody>
          <a:bodyPr wrap="square" rtlCol="0">
            <a:spAutoFit/>
          </a:bodyPr>
          <a:lstStyle/>
          <a:p>
            <a:pPr algn="just"/>
            <a:r>
              <a:rPr lang="en-US" sz="2400" b="1" dirty="0"/>
              <a:t>Principle</a:t>
            </a:r>
            <a:r>
              <a:rPr lang="en-US" sz="2400" dirty="0"/>
              <a:t>: If </a:t>
            </a:r>
            <a:r>
              <a:rPr lang="en-US" sz="2400" b="1" dirty="0"/>
              <a:t>n</a:t>
            </a:r>
            <a:r>
              <a:rPr lang="en-US" sz="2400" dirty="0"/>
              <a:t> pigeons are nesting in </a:t>
            </a:r>
            <a:r>
              <a:rPr lang="en-US" sz="2400" b="1" dirty="0"/>
              <a:t>m</a:t>
            </a:r>
            <a:r>
              <a:rPr lang="en-US" sz="2400" dirty="0"/>
              <a:t> pigeonholes, where </a:t>
            </a:r>
            <a:r>
              <a:rPr lang="en-US" sz="2400" b="1" dirty="0"/>
              <a:t>n &gt; m</a:t>
            </a:r>
            <a:r>
              <a:rPr lang="en-US" sz="2400" dirty="0"/>
              <a:t>, then at least one pigeonhole has more than one pigeon. </a:t>
            </a:r>
          </a:p>
        </p:txBody>
      </p:sp>
      <p:sp>
        <p:nvSpPr>
          <p:cNvPr id="5" name="TextBox 4">
            <a:extLst>
              <a:ext uri="{FF2B5EF4-FFF2-40B4-BE49-F238E27FC236}">
                <a16:creationId xmlns:a16="http://schemas.microsoft.com/office/drawing/2014/main" id="{32C33020-46B6-417E-BD3A-DEAFE3FCBC77}"/>
              </a:ext>
            </a:extLst>
          </p:cNvPr>
          <p:cNvSpPr txBox="1"/>
          <p:nvPr/>
        </p:nvSpPr>
        <p:spPr>
          <a:xfrm>
            <a:off x="389854" y="4365104"/>
            <a:ext cx="8398364" cy="2308324"/>
          </a:xfrm>
          <a:prstGeom prst="rect">
            <a:avLst/>
          </a:prstGeom>
          <a:noFill/>
        </p:spPr>
        <p:txBody>
          <a:bodyPr wrap="square" rtlCol="0">
            <a:spAutoFit/>
          </a:bodyPr>
          <a:lstStyle/>
          <a:p>
            <a:pPr algn="just"/>
            <a:r>
              <a:rPr lang="en-US" sz="2400" b="1" dirty="0">
                <a:latin typeface="Arial" panose="020B0604020202020204" pitchFamily="34" charset="0"/>
                <a:cs typeface="Arial" panose="020B0604020202020204" pitchFamily="34" charset="0"/>
              </a:rPr>
              <a:t>Example</a:t>
            </a:r>
            <a:r>
              <a:rPr lang="en-US" sz="2400" dirty="0">
                <a:latin typeface="Arial" panose="020B0604020202020204" pitchFamily="34" charset="0"/>
                <a:cs typeface="Arial" panose="020B0604020202020204" pitchFamily="34" charset="0"/>
              </a:rPr>
              <a:t>- Among any group of 13 people there must be at least two with the same birth month. </a:t>
            </a:r>
          </a:p>
          <a:p>
            <a:pPr algn="just"/>
            <a:endParaRPr lang="en-US" sz="2400" dirty="0">
              <a:latin typeface="Arial" panose="020B0604020202020204" pitchFamily="34" charset="0"/>
              <a:cs typeface="Arial" panose="020B0604020202020204" pitchFamily="34" charset="0"/>
            </a:endParaRPr>
          </a:p>
          <a:p>
            <a:pPr algn="just"/>
            <a:r>
              <a:rPr lang="en-US" sz="2400" b="1" dirty="0">
                <a:latin typeface="Arial" panose="020B0604020202020204" pitchFamily="34" charset="0"/>
                <a:cs typeface="Arial" panose="020B0604020202020204" pitchFamily="34" charset="0"/>
              </a:rPr>
              <a:t>Solution</a:t>
            </a:r>
            <a:r>
              <a:rPr lang="en-US" sz="2400" dirty="0">
                <a:latin typeface="Arial" panose="020B0604020202020204" pitchFamily="34" charset="0"/>
                <a:cs typeface="Arial" panose="020B0604020202020204" pitchFamily="34" charset="0"/>
              </a:rPr>
              <a:t>- Consider months in a year as pigeonholes and people as pigeons. Thus, by pigeonhole principle, there exists more than one people having the same birth month.</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3144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6F1F3-3AD3-4E68-A25F-19D8BDF27CCA}"/>
              </a:ext>
            </a:extLst>
          </p:cNvPr>
          <p:cNvSpPr>
            <a:spLocks noGrp="1"/>
          </p:cNvSpPr>
          <p:nvPr>
            <p:ph type="title"/>
          </p:nvPr>
        </p:nvSpPr>
        <p:spPr/>
        <p:txBody>
          <a:bodyPr/>
          <a:lstStyle/>
          <a:p>
            <a:r>
              <a:rPr lang="en-US" dirty="0"/>
              <a:t>Another View of Pigeonhole principle (</a:t>
            </a:r>
            <a:r>
              <a:rPr lang="en-US" b="1" i="1" dirty="0"/>
              <a:t>Function View</a:t>
            </a:r>
            <a:r>
              <a:rPr lang="en-US" dirty="0"/>
              <a:t>)</a:t>
            </a:r>
            <a:endParaRPr lang="en-IN" dirty="0"/>
          </a:p>
        </p:txBody>
      </p:sp>
      <p:pic>
        <p:nvPicPr>
          <p:cNvPr id="2050" name="Picture 2">
            <a:extLst>
              <a:ext uri="{FF2B5EF4-FFF2-40B4-BE49-F238E27FC236}">
                <a16:creationId xmlns:a16="http://schemas.microsoft.com/office/drawing/2014/main" id="{7E0073FB-84BF-4BFD-8378-B5DEABF8E4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382" y="2970660"/>
            <a:ext cx="2915816" cy="36987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A6021A2-1C27-4A2E-8714-6B2D2CDCA604}"/>
              </a:ext>
            </a:extLst>
          </p:cNvPr>
          <p:cNvSpPr txBox="1"/>
          <p:nvPr/>
        </p:nvSpPr>
        <p:spPr>
          <a:xfrm>
            <a:off x="179512" y="1674674"/>
            <a:ext cx="8784976" cy="1938992"/>
          </a:xfrm>
          <a:prstGeom prst="rect">
            <a:avLst/>
          </a:prstGeom>
          <a:noFill/>
        </p:spPr>
        <p:txBody>
          <a:bodyPr wrap="square">
            <a:spAutoFit/>
          </a:bodyPr>
          <a:lstStyle/>
          <a:p>
            <a:pPr algn="just"/>
            <a:r>
              <a:rPr lang="en-US" sz="2800" b="0" i="0" dirty="0">
                <a:solidFill>
                  <a:srgbClr val="292929"/>
                </a:solidFill>
                <a:effectLst/>
                <a:latin typeface="charter"/>
              </a:rPr>
              <a:t>Formally, think of the pigeonhole principle as the statement about a function </a:t>
            </a:r>
            <a:r>
              <a:rPr lang="en-US" sz="2800" b="0" i="1" dirty="0">
                <a:solidFill>
                  <a:srgbClr val="292929"/>
                </a:solidFill>
                <a:effectLst/>
                <a:latin typeface="charter"/>
              </a:rPr>
              <a:t>f</a:t>
            </a:r>
            <a:r>
              <a:rPr lang="en-US" sz="2800" b="0" i="0" dirty="0">
                <a:solidFill>
                  <a:srgbClr val="292929"/>
                </a:solidFill>
                <a:effectLst/>
                <a:latin typeface="charter"/>
              </a:rPr>
              <a:t> from domain P → PH, where pigeon </a:t>
            </a:r>
            <a:r>
              <a:rPr lang="en-US" sz="2800" b="0" i="1" dirty="0">
                <a:solidFill>
                  <a:srgbClr val="292929"/>
                </a:solidFill>
                <a:effectLst/>
                <a:latin typeface="charter"/>
              </a:rPr>
              <a:t>n</a:t>
            </a:r>
            <a:r>
              <a:rPr lang="en-US" sz="2800" b="0" i="0" dirty="0">
                <a:solidFill>
                  <a:srgbClr val="292929"/>
                </a:solidFill>
                <a:effectLst/>
                <a:latin typeface="charter"/>
              </a:rPr>
              <a:t> flies into pigeonhole </a:t>
            </a:r>
            <a:r>
              <a:rPr lang="en-US" sz="2800" b="0" i="1" dirty="0">
                <a:solidFill>
                  <a:srgbClr val="292929"/>
                </a:solidFill>
                <a:effectLst/>
                <a:latin typeface="charter"/>
              </a:rPr>
              <a:t>f</a:t>
            </a:r>
            <a:r>
              <a:rPr lang="en-US" sz="2800" b="0" i="0" dirty="0">
                <a:solidFill>
                  <a:srgbClr val="292929"/>
                </a:solidFill>
                <a:effectLst/>
                <a:latin typeface="charter"/>
              </a:rPr>
              <a:t>(</a:t>
            </a:r>
            <a:r>
              <a:rPr lang="en-US" sz="2800" b="0" i="1" dirty="0">
                <a:solidFill>
                  <a:srgbClr val="292929"/>
                </a:solidFill>
                <a:effectLst/>
                <a:latin typeface="charter"/>
              </a:rPr>
              <a:t>n</a:t>
            </a:r>
            <a:r>
              <a:rPr lang="en-US" sz="2800" b="0" i="0" dirty="0">
                <a:solidFill>
                  <a:srgbClr val="292929"/>
                </a:solidFill>
                <a:effectLst/>
                <a:latin typeface="charter"/>
              </a:rPr>
              <a:t>), as is shown below:</a:t>
            </a:r>
          </a:p>
          <a:p>
            <a:pPr marL="0" indent="0">
              <a:buNone/>
            </a:pPr>
            <a:br>
              <a:rPr lang="en-US" b="0" i="0" dirty="0">
                <a:effectLst/>
                <a:latin typeface="medium-content-sans-serif-font"/>
              </a:rPr>
            </a:br>
            <a:endParaRPr lang="en-IN" dirty="0"/>
          </a:p>
        </p:txBody>
      </p:sp>
      <p:pic>
        <p:nvPicPr>
          <p:cNvPr id="2054" name="Picture 6">
            <a:extLst>
              <a:ext uri="{FF2B5EF4-FFF2-40B4-BE49-F238E27FC236}">
                <a16:creationId xmlns:a16="http://schemas.microsoft.com/office/drawing/2014/main" id="{8C09200D-72E4-4A54-BC47-9772897DCA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2010" y="3216298"/>
            <a:ext cx="3499980" cy="327657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F65737EE-3B65-49FC-B5D0-61AA654E4B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2778" y="3216298"/>
            <a:ext cx="2874332" cy="3276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0817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472EB-E333-49CC-8124-5DA8BAA36A9A}"/>
              </a:ext>
            </a:extLst>
          </p:cNvPr>
          <p:cNvSpPr>
            <a:spLocks noGrp="1"/>
          </p:cNvSpPr>
          <p:nvPr>
            <p:ph type="title"/>
          </p:nvPr>
        </p:nvSpPr>
        <p:spPr/>
        <p:txBody>
          <a:bodyPr/>
          <a:lstStyle/>
          <a:p>
            <a:r>
              <a:rPr lang="en-US" dirty="0"/>
              <a:t>Another View of Pigeonhole principle (</a:t>
            </a:r>
            <a:r>
              <a:rPr lang="en-US" b="1" i="1" dirty="0"/>
              <a:t>Function View</a:t>
            </a:r>
            <a:r>
              <a:rPr lang="en-US" dirty="0"/>
              <a:t>)</a:t>
            </a:r>
            <a:endParaRPr lang="en-IN" dirty="0"/>
          </a:p>
        </p:txBody>
      </p:sp>
      <p:sp>
        <p:nvSpPr>
          <p:cNvPr id="3" name="Content Placeholder 2">
            <a:extLst>
              <a:ext uri="{FF2B5EF4-FFF2-40B4-BE49-F238E27FC236}">
                <a16:creationId xmlns:a16="http://schemas.microsoft.com/office/drawing/2014/main" id="{189AD623-22E2-4B08-98A5-6D0E37F186AF}"/>
              </a:ext>
            </a:extLst>
          </p:cNvPr>
          <p:cNvSpPr>
            <a:spLocks noGrp="1"/>
          </p:cNvSpPr>
          <p:nvPr>
            <p:ph idx="1"/>
          </p:nvPr>
        </p:nvSpPr>
        <p:spPr/>
        <p:txBody>
          <a:bodyPr/>
          <a:lstStyle/>
          <a:p>
            <a:pPr algn="just"/>
            <a:r>
              <a:rPr lang="en-US" sz="2800" b="0" i="0" dirty="0">
                <a:solidFill>
                  <a:srgbClr val="292929"/>
                </a:solidFill>
                <a:effectLst/>
                <a:latin typeface="charter"/>
              </a:rPr>
              <a:t>The three cases illustrate three types of functions from a domain (“pigeons”) to a codomain “pigeonholes” which can be mapped to one another:</a:t>
            </a:r>
          </a:p>
          <a:p>
            <a:pPr algn="just">
              <a:buFont typeface="Arial" panose="020B0604020202020204" pitchFamily="34" charset="0"/>
              <a:buChar char="•"/>
            </a:pPr>
            <a:r>
              <a:rPr lang="en-US" sz="2800" b="1" i="0" dirty="0">
                <a:solidFill>
                  <a:srgbClr val="292929"/>
                </a:solidFill>
                <a:effectLst/>
                <a:latin typeface="charter"/>
              </a:rPr>
              <a:t>Case A</a:t>
            </a:r>
            <a:r>
              <a:rPr lang="en-US" sz="2800" b="0" i="0" dirty="0">
                <a:solidFill>
                  <a:srgbClr val="292929"/>
                </a:solidFill>
                <a:effectLst/>
                <a:latin typeface="charter"/>
              </a:rPr>
              <a:t>: If </a:t>
            </a:r>
            <a:r>
              <a:rPr lang="en-US" sz="2800" b="1" i="0" dirty="0">
                <a:solidFill>
                  <a:srgbClr val="292929"/>
                </a:solidFill>
                <a:effectLst/>
                <a:latin typeface="charter"/>
              </a:rPr>
              <a:t>|n| &gt; |f(n)|</a:t>
            </a:r>
            <a:r>
              <a:rPr lang="en-US" sz="2800" b="0" i="0" dirty="0">
                <a:solidFill>
                  <a:srgbClr val="292929"/>
                </a:solidFill>
                <a:effectLst/>
                <a:latin typeface="charter"/>
              </a:rPr>
              <a:t>, then the function is a </a:t>
            </a:r>
            <a:r>
              <a:rPr lang="en-US" sz="2800" b="1" i="0" dirty="0">
                <a:solidFill>
                  <a:srgbClr val="292929"/>
                </a:solidFill>
                <a:effectLst/>
                <a:latin typeface="charter"/>
              </a:rPr>
              <a:t>non-injective surjective function </a:t>
            </a:r>
            <a:r>
              <a:rPr lang="en-US" sz="2800" b="0" i="0" dirty="0">
                <a:solidFill>
                  <a:srgbClr val="292929"/>
                </a:solidFill>
                <a:effectLst/>
                <a:latin typeface="charter"/>
              </a:rPr>
              <a:t>(not a bijection)</a:t>
            </a:r>
          </a:p>
          <a:p>
            <a:pPr algn="just">
              <a:buFont typeface="Arial" panose="020B0604020202020204" pitchFamily="34" charset="0"/>
              <a:buChar char="•"/>
            </a:pPr>
            <a:r>
              <a:rPr lang="en-US" sz="2800" b="1" i="0" dirty="0">
                <a:solidFill>
                  <a:srgbClr val="292929"/>
                </a:solidFill>
                <a:effectLst/>
                <a:latin typeface="charter"/>
              </a:rPr>
              <a:t>Case B</a:t>
            </a:r>
            <a:r>
              <a:rPr lang="en-US" sz="2800" b="0" i="0" dirty="0">
                <a:solidFill>
                  <a:srgbClr val="292929"/>
                </a:solidFill>
                <a:effectLst/>
                <a:latin typeface="charter"/>
              </a:rPr>
              <a:t>: If </a:t>
            </a:r>
            <a:r>
              <a:rPr lang="en-US" sz="2800" b="1" i="0" dirty="0">
                <a:solidFill>
                  <a:srgbClr val="292929"/>
                </a:solidFill>
                <a:effectLst/>
                <a:latin typeface="charter"/>
              </a:rPr>
              <a:t>|n|= |f(n)|</a:t>
            </a:r>
            <a:r>
              <a:rPr lang="en-US" sz="2800" b="0" i="0" dirty="0">
                <a:solidFill>
                  <a:srgbClr val="292929"/>
                </a:solidFill>
                <a:effectLst/>
                <a:latin typeface="charter"/>
              </a:rPr>
              <a:t>, then the function is a </a:t>
            </a:r>
            <a:r>
              <a:rPr lang="en-US" sz="2800" b="1" i="0" dirty="0">
                <a:solidFill>
                  <a:srgbClr val="292929"/>
                </a:solidFill>
                <a:effectLst/>
                <a:latin typeface="charter"/>
              </a:rPr>
              <a:t>injective surjective function </a:t>
            </a:r>
            <a:r>
              <a:rPr lang="en-US" sz="2800" b="0" i="0" dirty="0">
                <a:solidFill>
                  <a:srgbClr val="292929"/>
                </a:solidFill>
                <a:effectLst/>
                <a:latin typeface="charter"/>
              </a:rPr>
              <a:t>(bijection)</a:t>
            </a:r>
          </a:p>
          <a:p>
            <a:pPr algn="just">
              <a:buFont typeface="Arial" panose="020B0604020202020204" pitchFamily="34" charset="0"/>
              <a:buChar char="•"/>
            </a:pPr>
            <a:r>
              <a:rPr lang="en-US" sz="2800" b="1" i="0" dirty="0">
                <a:solidFill>
                  <a:srgbClr val="292929"/>
                </a:solidFill>
                <a:effectLst/>
                <a:latin typeface="charter"/>
              </a:rPr>
              <a:t>Case C</a:t>
            </a:r>
            <a:r>
              <a:rPr lang="en-US" sz="2800" b="0" i="0" dirty="0">
                <a:solidFill>
                  <a:srgbClr val="292929"/>
                </a:solidFill>
                <a:effectLst/>
                <a:latin typeface="charter"/>
              </a:rPr>
              <a:t>: If </a:t>
            </a:r>
            <a:r>
              <a:rPr lang="en-US" sz="2800" b="1" i="0" dirty="0">
                <a:solidFill>
                  <a:srgbClr val="292929"/>
                </a:solidFill>
                <a:effectLst/>
                <a:latin typeface="charter"/>
              </a:rPr>
              <a:t>|n| &lt; |f(n)|</a:t>
            </a:r>
            <a:r>
              <a:rPr lang="en-US" sz="2800" b="0" i="0" dirty="0">
                <a:solidFill>
                  <a:srgbClr val="292929"/>
                </a:solidFill>
                <a:effectLst/>
                <a:latin typeface="charter"/>
              </a:rPr>
              <a:t>, then the function is an </a:t>
            </a:r>
            <a:r>
              <a:rPr lang="en-US" sz="2800" b="1" i="0" dirty="0">
                <a:solidFill>
                  <a:srgbClr val="292929"/>
                </a:solidFill>
                <a:effectLst/>
                <a:latin typeface="charter"/>
              </a:rPr>
              <a:t>injective non-surjective function </a:t>
            </a:r>
            <a:r>
              <a:rPr lang="en-US" sz="2800" b="0" i="0" dirty="0">
                <a:solidFill>
                  <a:srgbClr val="292929"/>
                </a:solidFill>
                <a:effectLst/>
                <a:latin typeface="charter"/>
              </a:rPr>
              <a:t>(not a bijection).</a:t>
            </a:r>
          </a:p>
          <a:p>
            <a:endParaRPr lang="en-IN" dirty="0"/>
          </a:p>
        </p:txBody>
      </p:sp>
    </p:spTree>
    <p:extLst>
      <p:ext uri="{BB962C8B-B14F-4D97-AF65-F5344CB8AC3E}">
        <p14:creationId xmlns:p14="http://schemas.microsoft.com/office/powerpoint/2010/main" val="910727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02A97-D2E5-45D3-BF5F-C2996EEE8499}"/>
              </a:ext>
            </a:extLst>
          </p:cNvPr>
          <p:cNvSpPr>
            <a:spLocks noGrp="1"/>
          </p:cNvSpPr>
          <p:nvPr>
            <p:ph type="title"/>
          </p:nvPr>
        </p:nvSpPr>
        <p:spPr/>
        <p:txBody>
          <a:bodyPr/>
          <a:lstStyle/>
          <a:p>
            <a:r>
              <a:rPr lang="en-US" b="1" dirty="0"/>
              <a:t>Proof of Pigeonhole Principle</a:t>
            </a:r>
            <a:br>
              <a:rPr lang="en-US" dirty="0"/>
            </a:br>
            <a:r>
              <a:rPr lang="en-US" dirty="0"/>
              <a:t>Strategy- </a:t>
            </a:r>
            <a:r>
              <a:rPr lang="en-US" b="1" i="1" dirty="0"/>
              <a:t>Proof By Contradiction</a:t>
            </a:r>
            <a:endParaRPr lang="en-IN" b="1" i="1" dirty="0"/>
          </a:p>
        </p:txBody>
      </p:sp>
      <p:sp>
        <p:nvSpPr>
          <p:cNvPr id="3" name="Content Placeholder 2">
            <a:extLst>
              <a:ext uri="{FF2B5EF4-FFF2-40B4-BE49-F238E27FC236}">
                <a16:creationId xmlns:a16="http://schemas.microsoft.com/office/drawing/2014/main" id="{0FCB39F2-1B5D-458F-8FEC-D844DFC37272}"/>
              </a:ext>
            </a:extLst>
          </p:cNvPr>
          <p:cNvSpPr>
            <a:spLocks noGrp="1"/>
          </p:cNvSpPr>
          <p:nvPr>
            <p:ph idx="1"/>
          </p:nvPr>
        </p:nvSpPr>
        <p:spPr/>
        <p:txBody>
          <a:bodyPr>
            <a:normAutofit lnSpcReduction="10000"/>
          </a:bodyPr>
          <a:lstStyle/>
          <a:p>
            <a:pPr marL="0" indent="0" algn="just">
              <a:buNone/>
            </a:pPr>
            <a:r>
              <a:rPr lang="en-US" sz="2400" dirty="0"/>
              <a:t>Suppose that the total number of pigeons </a:t>
            </a:r>
            <a:r>
              <a:rPr lang="en-US" sz="2400" b="1" dirty="0"/>
              <a:t>n are to be put in m number of pigeonholes and n &gt; m</a:t>
            </a:r>
            <a:r>
              <a:rPr lang="en-US" sz="2400" dirty="0"/>
              <a:t>. Assume that there are no pigeonholes with at least n/m pigeons, i.e. that each pigeonhole has less </a:t>
            </a:r>
            <a:r>
              <a:rPr lang="en-US" sz="2400" b="1" dirty="0"/>
              <a:t>than n/m pigeons</a:t>
            </a:r>
            <a:r>
              <a:rPr lang="en-US" sz="2400" dirty="0"/>
              <a:t>:</a:t>
            </a:r>
          </a:p>
          <a:p>
            <a:pPr algn="just"/>
            <a:r>
              <a:rPr lang="en-US" sz="2400" dirty="0"/>
              <a:t>Number of pigeons in each pigeonhole &lt; n/m</a:t>
            </a:r>
          </a:p>
          <a:p>
            <a:pPr algn="just"/>
            <a:r>
              <a:rPr lang="en-US" sz="2400" dirty="0"/>
              <a:t>Number of pigeons &lt; m × n/m</a:t>
            </a:r>
          </a:p>
          <a:p>
            <a:pPr algn="just"/>
            <a:r>
              <a:rPr lang="en-US" sz="2400" dirty="0"/>
              <a:t>Number of pigeons &lt; n</a:t>
            </a:r>
          </a:p>
          <a:p>
            <a:pPr marL="0" indent="0" algn="just">
              <a:buNone/>
            </a:pPr>
            <a:r>
              <a:rPr lang="en-US" sz="2400" dirty="0"/>
              <a:t>But given that the number of pigeons is strictly equal to n, we have obtained a </a:t>
            </a:r>
            <a:r>
              <a:rPr lang="en-US" sz="2400" b="1" dirty="0"/>
              <a:t>contradiction to our assumption </a:t>
            </a:r>
            <a:r>
              <a:rPr lang="en-US" sz="2400" dirty="0"/>
              <a:t>that each pigeonhole has less than n/m pigeons. </a:t>
            </a:r>
          </a:p>
          <a:p>
            <a:pPr marL="0" indent="0" algn="just">
              <a:buNone/>
            </a:pPr>
            <a:r>
              <a:rPr lang="en-US" sz="2400" dirty="0"/>
              <a:t>Hence there exists at least one pigeonhole with at least n/m pigeons.</a:t>
            </a:r>
            <a:endParaRPr lang="en-IN" sz="2400" dirty="0"/>
          </a:p>
        </p:txBody>
      </p:sp>
    </p:spTree>
    <p:extLst>
      <p:ext uri="{BB962C8B-B14F-4D97-AF65-F5344CB8AC3E}">
        <p14:creationId xmlns:p14="http://schemas.microsoft.com/office/powerpoint/2010/main" val="4175158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3EE3B-954F-4031-9154-3CB63E731C05}"/>
              </a:ext>
            </a:extLst>
          </p:cNvPr>
          <p:cNvSpPr>
            <a:spLocks noGrp="1"/>
          </p:cNvSpPr>
          <p:nvPr>
            <p:ph type="title"/>
          </p:nvPr>
        </p:nvSpPr>
        <p:spPr/>
        <p:txBody>
          <a:bodyPr/>
          <a:lstStyle/>
          <a:p>
            <a:r>
              <a:rPr lang="en-US" b="1" dirty="0"/>
              <a:t>Example</a:t>
            </a:r>
            <a:endParaRPr lang="en-IN" b="1" dirty="0"/>
          </a:p>
        </p:txBody>
      </p:sp>
      <p:sp>
        <p:nvSpPr>
          <p:cNvPr id="3" name="Content Placeholder 2">
            <a:extLst>
              <a:ext uri="{FF2B5EF4-FFF2-40B4-BE49-F238E27FC236}">
                <a16:creationId xmlns:a16="http://schemas.microsoft.com/office/drawing/2014/main" id="{52170E77-206D-4501-B9A2-FBBA6F3EE5BA}"/>
              </a:ext>
            </a:extLst>
          </p:cNvPr>
          <p:cNvSpPr>
            <a:spLocks noGrp="1"/>
          </p:cNvSpPr>
          <p:nvPr>
            <p:ph idx="1"/>
          </p:nvPr>
        </p:nvSpPr>
        <p:spPr/>
        <p:txBody>
          <a:bodyPr>
            <a:normAutofit fontScale="92500" lnSpcReduction="10000"/>
          </a:bodyPr>
          <a:lstStyle/>
          <a:p>
            <a:pPr marL="0" indent="0" algn="just">
              <a:buNone/>
            </a:pPr>
            <a:r>
              <a:rPr lang="en-US" sz="2800" dirty="0"/>
              <a:t>Among any group of 367 people, there must be at least two with the same birth date. Assume that there are 366 days in a year. Prove using PHP. </a:t>
            </a:r>
          </a:p>
          <a:p>
            <a:pPr marL="0" indent="0" algn="just">
              <a:buNone/>
            </a:pPr>
            <a:r>
              <a:rPr lang="en-US" sz="2800" b="1" dirty="0"/>
              <a:t>Solution</a:t>
            </a:r>
            <a:r>
              <a:rPr lang="en-US" sz="2800" dirty="0"/>
              <a:t>- The first step in solving PHP based puzzles is to identify pigeons and pigeon holes. </a:t>
            </a:r>
          </a:p>
          <a:p>
            <a:pPr marL="0" indent="0" algn="just">
              <a:buNone/>
            </a:pPr>
            <a:r>
              <a:rPr lang="en-US" sz="2800" dirty="0"/>
              <a:t>Consider each day in a year as a pigeonhole, i.e., each pigeon hole is labeled as 1-Jan, 2-Jan, 3-Jan, etc., and people as pigeons. </a:t>
            </a:r>
          </a:p>
          <a:p>
            <a:pPr marL="0" indent="0" algn="just">
              <a:buNone/>
            </a:pPr>
            <a:r>
              <a:rPr lang="en-US" sz="2800" dirty="0"/>
              <a:t>A pigeon (person) is placed in the hole labeled 1-Jan if his birth date is 1-Jan. Since there are 366 pigeons and 367 people, by pigeonhole principle, there exist more than one person having the same birth date. </a:t>
            </a:r>
            <a:endParaRPr lang="en-IN" sz="2800" dirty="0"/>
          </a:p>
        </p:txBody>
      </p:sp>
    </p:spTree>
    <p:extLst>
      <p:ext uri="{BB962C8B-B14F-4D97-AF65-F5344CB8AC3E}">
        <p14:creationId xmlns:p14="http://schemas.microsoft.com/office/powerpoint/2010/main" val="7865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D69DB-F070-4CA1-B42E-4455F193DE4F}"/>
              </a:ext>
            </a:extLst>
          </p:cNvPr>
          <p:cNvSpPr>
            <a:spLocks noGrp="1"/>
          </p:cNvSpPr>
          <p:nvPr>
            <p:ph type="title"/>
          </p:nvPr>
        </p:nvSpPr>
        <p:spPr/>
        <p:txBody>
          <a:bodyPr/>
          <a:lstStyle/>
          <a:p>
            <a:r>
              <a:rPr lang="en-US" b="1" dirty="0"/>
              <a:t>Extended or Generalized Pigeonhole Principle</a:t>
            </a:r>
            <a:endParaRPr lang="en-IN" b="1" dirty="0"/>
          </a:p>
        </p:txBody>
      </p:sp>
      <p:sp>
        <p:nvSpPr>
          <p:cNvPr id="3" name="Content Placeholder 2">
            <a:extLst>
              <a:ext uri="{FF2B5EF4-FFF2-40B4-BE49-F238E27FC236}">
                <a16:creationId xmlns:a16="http://schemas.microsoft.com/office/drawing/2014/main" id="{6E5B4F6A-7D79-48DA-B380-2626F8B9193C}"/>
              </a:ext>
            </a:extLst>
          </p:cNvPr>
          <p:cNvSpPr>
            <a:spLocks noGrp="1"/>
          </p:cNvSpPr>
          <p:nvPr>
            <p:ph idx="1"/>
          </p:nvPr>
        </p:nvSpPr>
        <p:spPr/>
        <p:txBody>
          <a:bodyPr>
            <a:normAutofit/>
          </a:bodyPr>
          <a:lstStyle/>
          <a:p>
            <a:pPr marL="0" indent="0" algn="just">
              <a:buNone/>
            </a:pPr>
            <a:r>
              <a:rPr lang="en-US" sz="2400" b="1" dirty="0"/>
              <a:t>Statement</a:t>
            </a:r>
            <a:r>
              <a:rPr lang="en-US" sz="2400" dirty="0"/>
              <a:t>- </a:t>
            </a:r>
            <a:r>
              <a:rPr lang="en-US" sz="2400" dirty="0">
                <a:solidFill>
                  <a:srgbClr val="333333"/>
                </a:solidFill>
                <a:latin typeface="Source Sans Pro" panose="020B0503030403020204" pitchFamily="34" charset="0"/>
              </a:rPr>
              <a:t>I</a:t>
            </a:r>
            <a:r>
              <a:rPr lang="en-US" sz="2400" b="0" i="0" dirty="0">
                <a:solidFill>
                  <a:srgbClr val="333333"/>
                </a:solidFill>
                <a:effectLst/>
                <a:latin typeface="Source Sans Pro" panose="020B0503030403020204" pitchFamily="34" charset="0"/>
              </a:rPr>
              <a:t>f </a:t>
            </a:r>
            <a:r>
              <a:rPr lang="en-US" sz="2400" b="1" i="0" dirty="0">
                <a:solidFill>
                  <a:srgbClr val="333333"/>
                </a:solidFill>
                <a:effectLst/>
                <a:latin typeface="Source Sans Pro" panose="020B0503030403020204" pitchFamily="34" charset="0"/>
              </a:rPr>
              <a:t>n</a:t>
            </a:r>
            <a:r>
              <a:rPr lang="en-US" sz="2400" b="0" i="0" dirty="0">
                <a:solidFill>
                  <a:srgbClr val="333333"/>
                </a:solidFill>
                <a:effectLst/>
                <a:latin typeface="Source Sans Pro" panose="020B0503030403020204" pitchFamily="34" charset="0"/>
              </a:rPr>
              <a:t> pigeons are assigned to </a:t>
            </a:r>
            <a:r>
              <a:rPr lang="en-US" sz="2400" b="1" i="0" dirty="0">
                <a:solidFill>
                  <a:srgbClr val="333333"/>
                </a:solidFill>
                <a:effectLst/>
                <a:latin typeface="Source Sans Pro" panose="020B0503030403020204" pitchFamily="34" charset="0"/>
              </a:rPr>
              <a:t>m</a:t>
            </a:r>
            <a:r>
              <a:rPr lang="en-US" sz="2400" b="0" i="0" dirty="0">
                <a:solidFill>
                  <a:srgbClr val="333333"/>
                </a:solidFill>
                <a:effectLst/>
                <a:latin typeface="Source Sans Pro" panose="020B0503030403020204" pitchFamily="34" charset="0"/>
              </a:rPr>
              <a:t> pigeonholes (The number of pigeons is very large than the number of pigeonholes), then one of the pigeonholes must contain at least </a:t>
            </a:r>
            <a:r>
              <a:rPr lang="en-US" sz="2400" b="1" i="0" dirty="0">
                <a:solidFill>
                  <a:srgbClr val="333333"/>
                </a:solidFill>
                <a:effectLst/>
                <a:latin typeface="Source Sans Pro" panose="020B0503030403020204" pitchFamily="34" charset="0"/>
              </a:rPr>
              <a:t>[(n-1)/m]+1 </a:t>
            </a:r>
            <a:r>
              <a:rPr lang="en-US" sz="2400" b="0" i="0" dirty="0">
                <a:solidFill>
                  <a:srgbClr val="333333"/>
                </a:solidFill>
                <a:effectLst/>
                <a:latin typeface="Source Sans Pro" panose="020B0503030403020204" pitchFamily="34" charset="0"/>
              </a:rPr>
              <a:t>pigeons.</a:t>
            </a:r>
          </a:p>
          <a:p>
            <a:pPr marL="0" indent="0" algn="just">
              <a:buNone/>
            </a:pPr>
            <a:endParaRPr lang="en-US" sz="2400" dirty="0">
              <a:solidFill>
                <a:srgbClr val="333333"/>
              </a:solidFill>
              <a:latin typeface="Source Sans Pro" panose="020B0503030403020204" pitchFamily="34" charset="0"/>
            </a:endParaRPr>
          </a:p>
          <a:p>
            <a:pPr marL="0" indent="0" algn="just">
              <a:buNone/>
            </a:pPr>
            <a:r>
              <a:rPr lang="en-US" sz="2400" b="1" dirty="0">
                <a:solidFill>
                  <a:srgbClr val="333333"/>
                </a:solidFill>
                <a:latin typeface="Source Sans Pro" panose="020B0503030403020204" pitchFamily="34" charset="0"/>
              </a:rPr>
              <a:t>Proof</a:t>
            </a:r>
            <a:r>
              <a:rPr lang="en-US" sz="2400" dirty="0">
                <a:solidFill>
                  <a:srgbClr val="333333"/>
                </a:solidFill>
                <a:latin typeface="Source Sans Pro" panose="020B0503030403020204" pitchFamily="34" charset="0"/>
              </a:rPr>
              <a:t>- Proof-by-contradiction</a:t>
            </a:r>
          </a:p>
          <a:p>
            <a:pPr marL="0" indent="0" algn="just">
              <a:buNone/>
            </a:pPr>
            <a:r>
              <a:rPr lang="en-US" sz="2400" b="0" i="0" dirty="0">
                <a:solidFill>
                  <a:srgbClr val="333333"/>
                </a:solidFill>
                <a:effectLst/>
                <a:latin typeface="Source Sans Pro" panose="020B0503030403020204" pitchFamily="34" charset="0"/>
              </a:rPr>
              <a:t>Assume that each pigeonhole does not contain more than [(n-1)/m] pigeons. Then, there will be at most m[(n-1)/m]≤m(n-1)/m=n-1 pigeons in all. This is in contradiction to our assumptions. Hence, for given m pigeonholes, one of these must contain at least [(n-1)/m]+1 pigeons.</a:t>
            </a:r>
          </a:p>
          <a:p>
            <a:pPr marL="0" indent="0" algn="just">
              <a:buNone/>
            </a:pPr>
            <a:endParaRPr lang="en-IN" sz="2400" dirty="0"/>
          </a:p>
        </p:txBody>
      </p:sp>
    </p:spTree>
    <p:extLst>
      <p:ext uri="{BB962C8B-B14F-4D97-AF65-F5344CB8AC3E}">
        <p14:creationId xmlns:p14="http://schemas.microsoft.com/office/powerpoint/2010/main" val="48231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02752-3D24-4ADC-AE03-B6FCB6B8939A}"/>
              </a:ext>
            </a:extLst>
          </p:cNvPr>
          <p:cNvSpPr>
            <a:spLocks noGrp="1"/>
          </p:cNvSpPr>
          <p:nvPr>
            <p:ph type="title"/>
          </p:nvPr>
        </p:nvSpPr>
        <p:spPr>
          <a:xfrm>
            <a:off x="628650" y="209451"/>
            <a:ext cx="7886700" cy="471586"/>
          </a:xfrm>
        </p:spPr>
        <p:txBody>
          <a:bodyPr>
            <a:normAutofit fontScale="90000"/>
          </a:bodyPr>
          <a:lstStyle/>
          <a:p>
            <a:r>
              <a:rPr lang="en-US" b="1" dirty="0"/>
              <a:t>Examples</a:t>
            </a:r>
            <a:endParaRPr lang="en-IN" b="1" dirty="0"/>
          </a:p>
        </p:txBody>
      </p:sp>
      <p:sp>
        <p:nvSpPr>
          <p:cNvPr id="3" name="Content Placeholder 2">
            <a:extLst>
              <a:ext uri="{FF2B5EF4-FFF2-40B4-BE49-F238E27FC236}">
                <a16:creationId xmlns:a16="http://schemas.microsoft.com/office/drawing/2014/main" id="{CBDF4A61-E6D4-4303-BFF7-FC048A426002}"/>
              </a:ext>
            </a:extLst>
          </p:cNvPr>
          <p:cNvSpPr>
            <a:spLocks noGrp="1"/>
          </p:cNvSpPr>
          <p:nvPr>
            <p:ph idx="1"/>
          </p:nvPr>
        </p:nvSpPr>
        <p:spPr>
          <a:xfrm>
            <a:off x="602649" y="908719"/>
            <a:ext cx="7886700" cy="5739829"/>
          </a:xfrm>
        </p:spPr>
        <p:txBody>
          <a:bodyPr>
            <a:normAutofit/>
          </a:bodyPr>
          <a:lstStyle/>
          <a:p>
            <a:pPr marL="0" indent="0" algn="just">
              <a:buNone/>
            </a:pPr>
            <a:r>
              <a:rPr lang="en-US" dirty="0"/>
              <a:t>1. Assuming discrete mathematics follows 4 grade grading pattern - A, B, C, D, what is the minimum number of students required in DM class to be sure that at least six receive the same grade.</a:t>
            </a:r>
          </a:p>
          <a:p>
            <a:pPr marL="0" indent="0" algn="just">
              <a:buNone/>
            </a:pPr>
            <a:r>
              <a:rPr lang="en-US" dirty="0"/>
              <a:t>Solution- Consider grades as pigeonholes, then m=4.</a:t>
            </a:r>
          </a:p>
          <a:p>
            <a:pPr marL="0" indent="0" algn="just">
              <a:buNone/>
            </a:pPr>
            <a:r>
              <a:rPr lang="en-US" dirty="0"/>
              <a:t>So, [(n-1)/m]+1=6 =&gt; n= 21 </a:t>
            </a:r>
          </a:p>
          <a:p>
            <a:pPr marL="0" indent="0" algn="just">
              <a:buNone/>
            </a:pPr>
            <a:endParaRPr lang="en-US" dirty="0"/>
          </a:p>
          <a:p>
            <a:r>
              <a:rPr lang="en-US" dirty="0"/>
              <a:t>2. </a:t>
            </a:r>
            <a:r>
              <a:rPr lang="en-US" altLang="en-US" dirty="0"/>
              <a:t>What’s the minimum number of students, each of whom comes from one of the 50 states must be enrolled in a university to guarantee that there are at least 100 who come from the same state?</a:t>
            </a:r>
          </a:p>
          <a:p>
            <a:pPr>
              <a:buFontTx/>
              <a:buNone/>
            </a:pPr>
            <a:r>
              <a:rPr lang="en-US" altLang="en-US" dirty="0"/>
              <a:t>	</a:t>
            </a:r>
            <a:r>
              <a:rPr lang="en-US" altLang="en-US" dirty="0">
                <a:solidFill>
                  <a:schemeClr val="accent2"/>
                </a:solidFill>
              </a:rPr>
              <a:t>50*99 + 1 = 4951</a:t>
            </a:r>
          </a:p>
          <a:p>
            <a:pPr>
              <a:buFontTx/>
              <a:buNone/>
            </a:pPr>
            <a:r>
              <a:rPr lang="en-US" altLang="en-US" sz="2000" dirty="0">
                <a:sym typeface="Symbol" panose="05050102010706020507" pitchFamily="18" charset="2"/>
              </a:rPr>
              <a:t>	4951/50 = 100</a:t>
            </a:r>
          </a:p>
          <a:p>
            <a:pPr>
              <a:buFontTx/>
              <a:buNone/>
            </a:pPr>
            <a:endParaRPr lang="en-US" sz="2000" dirty="0">
              <a:sym typeface="Symbol" panose="05050102010706020507" pitchFamily="18" charset="2"/>
            </a:endParaRPr>
          </a:p>
          <a:p>
            <a:pPr>
              <a:spcBef>
                <a:spcPct val="50000"/>
              </a:spcBef>
            </a:pPr>
            <a:r>
              <a:rPr lang="en-US" sz="2000" dirty="0">
                <a:sym typeface="Symbol" panose="05050102010706020507" pitchFamily="18" charset="2"/>
              </a:rPr>
              <a:t>3. </a:t>
            </a:r>
            <a:r>
              <a:rPr lang="en-US" altLang="en-US" dirty="0"/>
              <a:t>There are 38 different time periods during which classes at a university can be scheduled.  If there are 677 different classes, how many different rooms will be needed?</a:t>
            </a:r>
          </a:p>
          <a:p>
            <a:pPr>
              <a:spcBef>
                <a:spcPct val="50000"/>
              </a:spcBef>
            </a:pPr>
            <a:r>
              <a:rPr lang="en-US" altLang="en-US" dirty="0">
                <a:solidFill>
                  <a:schemeClr val="accent2"/>
                </a:solidFill>
                <a:sym typeface="Symbol" panose="05050102010706020507" pitchFamily="18" charset="2"/>
              </a:rPr>
              <a:t>677/38 = 18</a:t>
            </a:r>
          </a:p>
          <a:p>
            <a:pPr>
              <a:buFontTx/>
              <a:buNone/>
            </a:pPr>
            <a:endParaRPr lang="en-US" dirty="0"/>
          </a:p>
          <a:p>
            <a:pPr marL="0" indent="0" algn="just">
              <a:buNone/>
            </a:pPr>
            <a:endParaRPr lang="en-US" dirty="0"/>
          </a:p>
        </p:txBody>
      </p:sp>
    </p:spTree>
    <p:extLst>
      <p:ext uri="{BB962C8B-B14F-4D97-AF65-F5344CB8AC3E}">
        <p14:creationId xmlns:p14="http://schemas.microsoft.com/office/powerpoint/2010/main" val="182951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D769F-1689-4E16-AE95-822BD37330E8}"/>
              </a:ext>
            </a:extLst>
          </p:cNvPr>
          <p:cNvSpPr>
            <a:spLocks noGrp="1"/>
          </p:cNvSpPr>
          <p:nvPr>
            <p:ph type="title"/>
          </p:nvPr>
        </p:nvSpPr>
        <p:spPr/>
        <p:txBody>
          <a:bodyPr/>
          <a:lstStyle/>
          <a:p>
            <a:r>
              <a:rPr lang="en-US" b="1" dirty="0"/>
              <a:t>Challenging Questions</a:t>
            </a:r>
            <a:endParaRPr lang="en-IN" b="1" dirty="0"/>
          </a:p>
        </p:txBody>
      </p:sp>
      <p:sp>
        <p:nvSpPr>
          <p:cNvPr id="3" name="Content Placeholder 2">
            <a:extLst>
              <a:ext uri="{FF2B5EF4-FFF2-40B4-BE49-F238E27FC236}">
                <a16:creationId xmlns:a16="http://schemas.microsoft.com/office/drawing/2014/main" id="{2D62001B-E8F2-4653-941E-60C4CD5AC502}"/>
              </a:ext>
            </a:extLst>
          </p:cNvPr>
          <p:cNvSpPr>
            <a:spLocks noGrp="1"/>
          </p:cNvSpPr>
          <p:nvPr>
            <p:ph idx="1"/>
          </p:nvPr>
        </p:nvSpPr>
        <p:spPr/>
        <p:txBody>
          <a:bodyPr/>
          <a:lstStyle/>
          <a:p>
            <a:pPr marL="0" indent="0" algn="just">
              <a:buNone/>
            </a:pPr>
            <a:r>
              <a:rPr lang="en-US" dirty="0"/>
              <a:t>Prove that in a group of n people, there exist at least two with equal number of friends.</a:t>
            </a:r>
          </a:p>
          <a:p>
            <a:pPr marL="0" indent="0" algn="just">
              <a:buNone/>
            </a:pPr>
            <a:endParaRPr lang="en-US" dirty="0"/>
          </a:p>
          <a:p>
            <a:pPr marL="0" indent="0" algn="just">
              <a:buNone/>
            </a:pPr>
            <a:r>
              <a:rPr lang="en-US" b="1" dirty="0"/>
              <a:t>Solution</a:t>
            </a:r>
            <a:r>
              <a:rPr lang="en-US" dirty="0"/>
              <a:t>-Observe that the number of friends a person can have is in the range 0 to n − 1. Interestingly, we can observe some interesting facts as follows. Note that if a person has n − 1 friends, then there does not exist a person having 0 friends. Similarly, If there exist a person having 0 friends, then there does not exist a person having n − 1 friends. It follows that the number of friends ranges from 0 to n − 2 or 1 to n − 1. Therefore we see two cases, and in both, there exist n − 1 distinct numbers (pigeonholes) which represents the cardinality n of the number of friends of a person (pigeons). Therefore by pigeonhole principle, there exist at least two people with the same cardinality representing the number of friends they have. </a:t>
            </a:r>
            <a:endParaRPr lang="en-IN" dirty="0"/>
          </a:p>
        </p:txBody>
      </p:sp>
    </p:spTree>
    <p:extLst>
      <p:ext uri="{BB962C8B-B14F-4D97-AF65-F5344CB8AC3E}">
        <p14:creationId xmlns:p14="http://schemas.microsoft.com/office/powerpoint/2010/main" val="4276506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7331D-786D-468D-B141-4E58666B0908}"/>
              </a:ext>
            </a:extLst>
          </p:cNvPr>
          <p:cNvSpPr>
            <a:spLocks noGrp="1"/>
          </p:cNvSpPr>
          <p:nvPr>
            <p:ph type="title"/>
          </p:nvPr>
        </p:nvSpPr>
        <p:spPr/>
        <p:txBody>
          <a:bodyPr/>
          <a:lstStyle/>
          <a:p>
            <a:r>
              <a:rPr lang="en-US" b="1" dirty="0"/>
              <a:t>Challenging Questions</a:t>
            </a:r>
            <a:endParaRPr lang="en-IN" dirty="0"/>
          </a:p>
        </p:txBody>
      </p:sp>
      <p:sp>
        <p:nvSpPr>
          <p:cNvPr id="3" name="Content Placeholder 2">
            <a:extLst>
              <a:ext uri="{FF2B5EF4-FFF2-40B4-BE49-F238E27FC236}">
                <a16:creationId xmlns:a16="http://schemas.microsoft.com/office/drawing/2014/main" id="{02D6E656-FBAF-4A6A-BAC7-C1E29CE5EC8B}"/>
              </a:ext>
            </a:extLst>
          </p:cNvPr>
          <p:cNvSpPr>
            <a:spLocks noGrp="1"/>
          </p:cNvSpPr>
          <p:nvPr>
            <p:ph idx="1"/>
          </p:nvPr>
        </p:nvSpPr>
        <p:spPr/>
        <p:txBody>
          <a:bodyPr/>
          <a:lstStyle/>
          <a:p>
            <a:pPr algn="just">
              <a:spcBef>
                <a:spcPct val="50000"/>
              </a:spcBef>
            </a:pPr>
            <a:r>
              <a:rPr lang="en-US" altLang="en-US" b="1" dirty="0">
                <a:sym typeface="Symbol" panose="05050102010706020507" pitchFamily="18" charset="2"/>
              </a:rPr>
              <a:t>A computer network consists of six computers.  Each computer is directly connected to zero or more of the other computers.  Show that there are at least two computers that are directly connected to the same number of other computers.</a:t>
            </a:r>
          </a:p>
          <a:p>
            <a:pPr algn="just">
              <a:spcBef>
                <a:spcPct val="50000"/>
              </a:spcBef>
            </a:pPr>
            <a:r>
              <a:rPr lang="en-US" altLang="en-US" dirty="0">
                <a:sym typeface="Symbol" panose="05050102010706020507" pitchFamily="18" charset="2"/>
              </a:rPr>
              <a:t>Solution:</a:t>
            </a:r>
          </a:p>
          <a:p>
            <a:pPr algn="just">
              <a:spcBef>
                <a:spcPct val="50000"/>
              </a:spcBef>
            </a:pPr>
            <a:r>
              <a:rPr lang="en-US" altLang="en-US" dirty="0">
                <a:sym typeface="Symbol" panose="05050102010706020507" pitchFamily="18" charset="2"/>
              </a:rPr>
              <a:t>Each computer can be directly connected to 0,1,2,3,4,5.</a:t>
            </a:r>
          </a:p>
          <a:p>
            <a:pPr algn="just">
              <a:spcBef>
                <a:spcPct val="50000"/>
              </a:spcBef>
            </a:pPr>
            <a:r>
              <a:rPr lang="en-US" altLang="en-US" dirty="0">
                <a:sym typeface="Symbol" panose="05050102010706020507" pitchFamily="18" charset="2"/>
              </a:rPr>
              <a:t>But there are really only five choices, not six, since if one computer is connected to zero other computers, then no computer can be connected to five others.  Six computers, 5 choices.  Pigeonhole principle says that at least two must have the same number of direct connections.</a:t>
            </a:r>
            <a:endParaRPr lang="en-US" altLang="en-US" b="1" dirty="0"/>
          </a:p>
          <a:p>
            <a:pPr algn="just"/>
            <a:endParaRPr lang="en-US" dirty="0"/>
          </a:p>
          <a:p>
            <a:pPr algn="just"/>
            <a:endParaRPr lang="en-US" dirty="0"/>
          </a:p>
          <a:p>
            <a:pPr algn="just"/>
            <a:endParaRPr lang="en-US" dirty="0"/>
          </a:p>
          <a:p>
            <a:pPr algn="just"/>
            <a:endParaRPr lang="en-IN" dirty="0"/>
          </a:p>
        </p:txBody>
      </p:sp>
    </p:spTree>
    <p:extLst>
      <p:ext uri="{BB962C8B-B14F-4D97-AF65-F5344CB8AC3E}">
        <p14:creationId xmlns:p14="http://schemas.microsoft.com/office/powerpoint/2010/main" val="3769668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DA5D144E-1B34-30F7-ACAE-C131D077118B}"/>
              </a:ext>
            </a:extLst>
          </p:cNvPr>
          <p:cNvSpPr>
            <a:spLocks noGrp="1"/>
          </p:cNvSpPr>
          <p:nvPr>
            <p:ph type="sldNum" sz="quarter" idx="12"/>
          </p:nvPr>
        </p:nvSpPr>
        <p:spPr/>
        <p:txBody>
          <a:bodyPr/>
          <a:lstStyle/>
          <a:p>
            <a:fld id="{F13C3BE4-B2B1-4A18-85EB-6AB4B2B80C9E}" type="slidenum">
              <a:rPr lang="en-US" altLang="en-US"/>
              <a:pPr/>
              <a:t>11</a:t>
            </a:fld>
            <a:endParaRPr lang="en-US" altLang="en-US"/>
          </a:p>
        </p:txBody>
      </p:sp>
      <p:sp>
        <p:nvSpPr>
          <p:cNvPr id="4098" name="Rectangle 2">
            <a:extLst>
              <a:ext uri="{FF2B5EF4-FFF2-40B4-BE49-F238E27FC236}">
                <a16:creationId xmlns:a16="http://schemas.microsoft.com/office/drawing/2014/main" id="{CF0067B3-1D9E-019A-2E63-950293269A36}"/>
              </a:ext>
            </a:extLst>
          </p:cNvPr>
          <p:cNvSpPr>
            <a:spLocks noGrp="1" noChangeArrowheads="1"/>
          </p:cNvSpPr>
          <p:nvPr>
            <p:ph type="ctrTitle"/>
          </p:nvPr>
        </p:nvSpPr>
        <p:spPr>
          <a:xfrm>
            <a:off x="685800" y="2130425"/>
            <a:ext cx="7772400" cy="1470025"/>
          </a:xfrm>
        </p:spPr>
        <p:txBody>
          <a:bodyPr anchor="ctr"/>
          <a:lstStyle/>
          <a:p>
            <a:r>
              <a:rPr lang="en-US" altLang="en-US" sz="4400"/>
              <a:t>Sequences and Summations</a:t>
            </a:r>
          </a:p>
        </p:txBody>
      </p:sp>
      <p:sp>
        <p:nvSpPr>
          <p:cNvPr id="4" name="Subtitle 3">
            <a:extLst>
              <a:ext uri="{FF2B5EF4-FFF2-40B4-BE49-F238E27FC236}">
                <a16:creationId xmlns:a16="http://schemas.microsoft.com/office/drawing/2014/main" id="{AEE3A262-EA3A-14A8-03D4-2612EA38D74D}"/>
              </a:ext>
            </a:extLst>
          </p:cNvPr>
          <p:cNvSpPr>
            <a:spLocks noGrp="1"/>
          </p:cNvSpPr>
          <p:nvPr>
            <p:ph type="subTitle" idx="1"/>
          </p:nvPr>
        </p:nvSpPr>
        <p:spPr/>
        <p:txBody>
          <a:bodyP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73428665-DE40-808B-B487-7347091578C1}"/>
              </a:ext>
            </a:extLst>
          </p:cNvPr>
          <p:cNvSpPr>
            <a:spLocks noGrp="1"/>
          </p:cNvSpPr>
          <p:nvPr>
            <p:ph type="sldNum" sz="quarter" idx="12"/>
          </p:nvPr>
        </p:nvSpPr>
        <p:spPr/>
        <p:txBody>
          <a:bodyPr/>
          <a:lstStyle/>
          <a:p>
            <a:fld id="{D45667E6-798E-446A-8532-B5A62BDB3752}" type="slidenum">
              <a:rPr lang="en-US" altLang="en-US"/>
              <a:pPr/>
              <a:t>12</a:t>
            </a:fld>
            <a:endParaRPr lang="en-US" altLang="en-US"/>
          </a:p>
        </p:txBody>
      </p:sp>
      <p:sp>
        <p:nvSpPr>
          <p:cNvPr id="5122" name="Rectangle 2">
            <a:extLst>
              <a:ext uri="{FF2B5EF4-FFF2-40B4-BE49-F238E27FC236}">
                <a16:creationId xmlns:a16="http://schemas.microsoft.com/office/drawing/2014/main" id="{825810CC-F0D3-D514-15A3-A4E1B12BC59B}"/>
              </a:ext>
            </a:extLst>
          </p:cNvPr>
          <p:cNvSpPr>
            <a:spLocks noGrp="1" noChangeArrowheads="1"/>
          </p:cNvSpPr>
          <p:nvPr>
            <p:ph type="title"/>
          </p:nvPr>
        </p:nvSpPr>
        <p:spPr/>
        <p:txBody>
          <a:bodyPr/>
          <a:lstStyle/>
          <a:p>
            <a:r>
              <a:rPr lang="en-US" altLang="en-US"/>
              <a:t>Definitions</a:t>
            </a:r>
          </a:p>
        </p:txBody>
      </p:sp>
      <p:sp>
        <p:nvSpPr>
          <p:cNvPr id="5123" name="Rectangle 3">
            <a:extLst>
              <a:ext uri="{FF2B5EF4-FFF2-40B4-BE49-F238E27FC236}">
                <a16:creationId xmlns:a16="http://schemas.microsoft.com/office/drawing/2014/main" id="{F22FEE5A-CCF5-3031-3B76-7C1210335FB4}"/>
              </a:ext>
            </a:extLst>
          </p:cNvPr>
          <p:cNvSpPr>
            <a:spLocks noGrp="1" noChangeArrowheads="1"/>
          </p:cNvSpPr>
          <p:nvPr>
            <p:ph type="body" idx="1"/>
          </p:nvPr>
        </p:nvSpPr>
        <p:spPr>
          <a:xfrm>
            <a:off x="457200" y="1600200"/>
            <a:ext cx="8229600" cy="5029200"/>
          </a:xfrm>
        </p:spPr>
        <p:txBody>
          <a:bodyPr/>
          <a:lstStyle/>
          <a:p>
            <a:r>
              <a:rPr lang="en-US" altLang="en-US"/>
              <a:t>Sequence: an ordered list of elements</a:t>
            </a:r>
          </a:p>
          <a:p>
            <a:pPr lvl="1"/>
            <a:r>
              <a:rPr lang="en-US" altLang="en-US"/>
              <a:t>Like a set, but:</a:t>
            </a:r>
          </a:p>
          <a:p>
            <a:pPr lvl="2"/>
            <a:r>
              <a:rPr lang="en-US" altLang="en-US"/>
              <a:t>Elements can be duplicated</a:t>
            </a:r>
          </a:p>
          <a:p>
            <a:pPr lvl="2"/>
            <a:r>
              <a:rPr lang="en-US" altLang="en-US"/>
              <a:t>Elements are ordered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690A73BF-B279-B00C-A01D-35E05DAFE80B}"/>
              </a:ext>
            </a:extLst>
          </p:cNvPr>
          <p:cNvSpPr>
            <a:spLocks noGrp="1"/>
          </p:cNvSpPr>
          <p:nvPr>
            <p:ph type="sldNum" sz="quarter" idx="12"/>
          </p:nvPr>
        </p:nvSpPr>
        <p:spPr/>
        <p:txBody>
          <a:bodyPr/>
          <a:lstStyle/>
          <a:p>
            <a:fld id="{294C0CAD-9C97-4D81-8125-A830A4270E15}" type="slidenum">
              <a:rPr lang="en-US" altLang="en-US"/>
              <a:pPr/>
              <a:t>13</a:t>
            </a:fld>
            <a:endParaRPr lang="en-US" altLang="en-US"/>
          </a:p>
        </p:txBody>
      </p:sp>
      <p:sp>
        <p:nvSpPr>
          <p:cNvPr id="14338" name="Rectangle 2">
            <a:extLst>
              <a:ext uri="{FF2B5EF4-FFF2-40B4-BE49-F238E27FC236}">
                <a16:creationId xmlns:a16="http://schemas.microsoft.com/office/drawing/2014/main" id="{E5CF1513-5C79-18C3-6B7C-87F99E8A5FC1}"/>
              </a:ext>
            </a:extLst>
          </p:cNvPr>
          <p:cNvSpPr>
            <a:spLocks noGrp="1" noChangeArrowheads="1"/>
          </p:cNvSpPr>
          <p:nvPr>
            <p:ph type="title"/>
          </p:nvPr>
        </p:nvSpPr>
        <p:spPr/>
        <p:txBody>
          <a:bodyPr/>
          <a:lstStyle/>
          <a:p>
            <a:r>
              <a:rPr lang="en-US" altLang="en-US"/>
              <a:t>Sequences</a:t>
            </a:r>
          </a:p>
        </p:txBody>
      </p:sp>
      <p:sp>
        <p:nvSpPr>
          <p:cNvPr id="14339" name="Rectangle 3">
            <a:extLst>
              <a:ext uri="{FF2B5EF4-FFF2-40B4-BE49-F238E27FC236}">
                <a16:creationId xmlns:a16="http://schemas.microsoft.com/office/drawing/2014/main" id="{D37F1736-BA22-2256-51F1-FA21F1DE92BE}"/>
              </a:ext>
            </a:extLst>
          </p:cNvPr>
          <p:cNvSpPr>
            <a:spLocks noGrp="1" noChangeArrowheads="1"/>
          </p:cNvSpPr>
          <p:nvPr>
            <p:ph type="body" idx="1"/>
          </p:nvPr>
        </p:nvSpPr>
        <p:spPr/>
        <p:txBody>
          <a:bodyPr/>
          <a:lstStyle/>
          <a:p>
            <a:r>
              <a:rPr lang="en-US" altLang="en-US"/>
              <a:t>A sequence is a function from a subset of </a:t>
            </a:r>
            <a:r>
              <a:rPr lang="en-US" altLang="en-US" b="1"/>
              <a:t>Z</a:t>
            </a:r>
            <a:r>
              <a:rPr lang="en-US" altLang="en-US"/>
              <a:t> to a set S</a:t>
            </a:r>
          </a:p>
          <a:p>
            <a:pPr lvl="1"/>
            <a:r>
              <a:rPr lang="en-US" altLang="en-US"/>
              <a:t>Usually from the positive or non-negative ints</a:t>
            </a:r>
          </a:p>
          <a:p>
            <a:pPr lvl="1"/>
            <a:r>
              <a:rPr lang="en-US" altLang="en-US" i="1"/>
              <a:t>a</a:t>
            </a:r>
            <a:r>
              <a:rPr lang="en-US" altLang="en-US" i="1" baseline="-25000"/>
              <a:t>n</a:t>
            </a:r>
            <a:r>
              <a:rPr lang="en-US" altLang="en-US"/>
              <a:t> is the image of </a:t>
            </a:r>
            <a:r>
              <a:rPr lang="en-US" altLang="en-US" i="1"/>
              <a:t>n</a:t>
            </a:r>
          </a:p>
          <a:p>
            <a:endParaRPr lang="en-US" altLang="en-US"/>
          </a:p>
          <a:p>
            <a:r>
              <a:rPr lang="en-US" altLang="en-US" i="1"/>
              <a:t>a</a:t>
            </a:r>
            <a:r>
              <a:rPr lang="en-US" altLang="en-US" i="1" baseline="-25000"/>
              <a:t>n</a:t>
            </a:r>
            <a:r>
              <a:rPr lang="en-US" altLang="en-US"/>
              <a:t> is a term in the sequence</a:t>
            </a:r>
          </a:p>
          <a:p>
            <a:r>
              <a:rPr lang="en-US" altLang="en-US"/>
              <a:t>{</a:t>
            </a:r>
            <a:r>
              <a:rPr lang="en-US" altLang="en-US" i="1"/>
              <a:t>a</a:t>
            </a:r>
            <a:r>
              <a:rPr lang="en-US" altLang="en-US" i="1" baseline="-25000"/>
              <a:t>n</a:t>
            </a:r>
            <a:r>
              <a:rPr lang="en-US" altLang="en-US"/>
              <a:t>} means the entire sequence</a:t>
            </a:r>
          </a:p>
          <a:p>
            <a:pPr lvl="1"/>
            <a:r>
              <a:rPr lang="en-US" altLang="en-US"/>
              <a:t>The same notation as sets!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339">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339">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433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84421A6-D79B-2D5E-2EA2-6E3C558DE1A4}"/>
              </a:ext>
            </a:extLst>
          </p:cNvPr>
          <p:cNvSpPr>
            <a:spLocks noGrp="1"/>
          </p:cNvSpPr>
          <p:nvPr>
            <p:ph type="sldNum" sz="quarter" idx="12"/>
          </p:nvPr>
        </p:nvSpPr>
        <p:spPr/>
        <p:txBody>
          <a:bodyPr/>
          <a:lstStyle/>
          <a:p>
            <a:fld id="{C23DEB33-F196-456C-AA80-6E1D0BCB53EC}" type="slidenum">
              <a:rPr lang="en-US" altLang="en-US"/>
              <a:pPr/>
              <a:t>14</a:t>
            </a:fld>
            <a:endParaRPr lang="en-US" altLang="en-US"/>
          </a:p>
        </p:txBody>
      </p:sp>
      <p:sp>
        <p:nvSpPr>
          <p:cNvPr id="15362" name="Rectangle 2">
            <a:extLst>
              <a:ext uri="{FF2B5EF4-FFF2-40B4-BE49-F238E27FC236}">
                <a16:creationId xmlns:a16="http://schemas.microsoft.com/office/drawing/2014/main" id="{01228EA5-44E5-7F70-82F4-7DC44261437F}"/>
              </a:ext>
            </a:extLst>
          </p:cNvPr>
          <p:cNvSpPr>
            <a:spLocks noGrp="1" noChangeArrowheads="1"/>
          </p:cNvSpPr>
          <p:nvPr>
            <p:ph type="title"/>
          </p:nvPr>
        </p:nvSpPr>
        <p:spPr/>
        <p:txBody>
          <a:bodyPr/>
          <a:lstStyle/>
          <a:p>
            <a:r>
              <a:rPr lang="en-US" altLang="en-US"/>
              <a:t>Sequence examples</a:t>
            </a:r>
          </a:p>
        </p:txBody>
      </p:sp>
      <p:sp>
        <p:nvSpPr>
          <p:cNvPr id="15363" name="Rectangle 3">
            <a:extLst>
              <a:ext uri="{FF2B5EF4-FFF2-40B4-BE49-F238E27FC236}">
                <a16:creationId xmlns:a16="http://schemas.microsoft.com/office/drawing/2014/main" id="{980DCC3E-F1D2-102F-101A-72EA0FBB31D4}"/>
              </a:ext>
            </a:extLst>
          </p:cNvPr>
          <p:cNvSpPr>
            <a:spLocks noGrp="1" noChangeArrowheads="1"/>
          </p:cNvSpPr>
          <p:nvPr>
            <p:ph type="body" idx="1"/>
          </p:nvPr>
        </p:nvSpPr>
        <p:spPr/>
        <p:txBody>
          <a:bodyPr/>
          <a:lstStyle/>
          <a:p>
            <a:r>
              <a:rPr lang="en-US" altLang="en-US" sz="2800" i="1"/>
              <a:t>a</a:t>
            </a:r>
            <a:r>
              <a:rPr lang="en-US" altLang="en-US" sz="2800" i="1" baseline="-25000"/>
              <a:t>n</a:t>
            </a:r>
            <a:r>
              <a:rPr lang="en-US" altLang="en-US" sz="2800"/>
              <a:t> = 3</a:t>
            </a:r>
            <a:r>
              <a:rPr lang="en-US" altLang="en-US" sz="2800" i="1"/>
              <a:t>n</a:t>
            </a:r>
            <a:endParaRPr lang="en-US" altLang="en-US" sz="2800"/>
          </a:p>
          <a:p>
            <a:pPr lvl="1"/>
            <a:r>
              <a:rPr lang="en-US" altLang="en-US" sz="2400"/>
              <a:t>The terms in the sequence are </a:t>
            </a:r>
            <a:r>
              <a:rPr lang="en-US" altLang="en-US" sz="2400" i="1"/>
              <a:t>a</a:t>
            </a:r>
            <a:r>
              <a:rPr lang="en-US" altLang="en-US" sz="2400" baseline="-25000"/>
              <a:t>1</a:t>
            </a:r>
            <a:r>
              <a:rPr lang="en-US" altLang="en-US" sz="2400"/>
              <a:t>, </a:t>
            </a:r>
            <a:r>
              <a:rPr lang="en-US" altLang="en-US" sz="2400" i="1"/>
              <a:t>a</a:t>
            </a:r>
            <a:r>
              <a:rPr lang="en-US" altLang="en-US" sz="2400" baseline="-25000"/>
              <a:t>2</a:t>
            </a:r>
            <a:r>
              <a:rPr lang="en-US" altLang="en-US" sz="2400"/>
              <a:t>, </a:t>
            </a:r>
            <a:r>
              <a:rPr lang="en-US" altLang="en-US" sz="2400" i="1"/>
              <a:t>a</a:t>
            </a:r>
            <a:r>
              <a:rPr lang="en-US" altLang="en-US" sz="2400" baseline="-25000"/>
              <a:t>3</a:t>
            </a:r>
            <a:r>
              <a:rPr lang="en-US" altLang="en-US" sz="2400"/>
              <a:t>, …</a:t>
            </a:r>
          </a:p>
          <a:p>
            <a:pPr lvl="1"/>
            <a:r>
              <a:rPr lang="en-US" altLang="en-US" sz="2400"/>
              <a:t>The sequence {</a:t>
            </a:r>
            <a:r>
              <a:rPr lang="en-US" altLang="en-US" sz="2400" i="1"/>
              <a:t>a</a:t>
            </a:r>
            <a:r>
              <a:rPr lang="en-US" altLang="en-US" sz="2400" i="1" baseline="-25000"/>
              <a:t>n</a:t>
            </a:r>
            <a:r>
              <a:rPr lang="en-US" altLang="en-US" sz="2400"/>
              <a:t>} is { 3, 6, 9, 12, … }</a:t>
            </a:r>
          </a:p>
          <a:p>
            <a:endParaRPr lang="en-US" altLang="en-US" sz="2800"/>
          </a:p>
          <a:p>
            <a:r>
              <a:rPr lang="en-US" altLang="en-US" sz="2800" i="1"/>
              <a:t>b</a:t>
            </a:r>
            <a:r>
              <a:rPr lang="en-US" altLang="en-US" sz="2800" i="1" baseline="-25000"/>
              <a:t>n</a:t>
            </a:r>
            <a:r>
              <a:rPr lang="en-US" altLang="en-US" sz="2800"/>
              <a:t> = 2</a:t>
            </a:r>
            <a:r>
              <a:rPr lang="en-US" altLang="en-US" sz="2800" i="1" baseline="30000"/>
              <a:t>n</a:t>
            </a:r>
          </a:p>
          <a:p>
            <a:pPr lvl="1"/>
            <a:r>
              <a:rPr lang="en-US" altLang="en-US" sz="2400"/>
              <a:t>The terms in the sequence are </a:t>
            </a:r>
            <a:r>
              <a:rPr lang="en-US" altLang="en-US" sz="2400" i="1"/>
              <a:t>b</a:t>
            </a:r>
            <a:r>
              <a:rPr lang="en-US" altLang="en-US" sz="2400" baseline="-25000"/>
              <a:t>1</a:t>
            </a:r>
            <a:r>
              <a:rPr lang="en-US" altLang="en-US" sz="2400"/>
              <a:t>, </a:t>
            </a:r>
            <a:r>
              <a:rPr lang="en-US" altLang="en-US" sz="2400" i="1"/>
              <a:t>b</a:t>
            </a:r>
            <a:r>
              <a:rPr lang="en-US" altLang="en-US" sz="2400" baseline="-25000"/>
              <a:t>2</a:t>
            </a:r>
            <a:r>
              <a:rPr lang="en-US" altLang="en-US" sz="2400"/>
              <a:t>, </a:t>
            </a:r>
            <a:r>
              <a:rPr lang="en-US" altLang="en-US" sz="2400" i="1"/>
              <a:t>b</a:t>
            </a:r>
            <a:r>
              <a:rPr lang="en-US" altLang="en-US" sz="2400" baseline="-25000"/>
              <a:t>3</a:t>
            </a:r>
            <a:r>
              <a:rPr lang="en-US" altLang="en-US" sz="2400"/>
              <a:t>, …</a:t>
            </a:r>
          </a:p>
          <a:p>
            <a:pPr lvl="1"/>
            <a:r>
              <a:rPr lang="en-US" altLang="en-US" sz="2400"/>
              <a:t>The sequence {</a:t>
            </a:r>
            <a:r>
              <a:rPr lang="en-US" altLang="en-US" sz="2400" i="1"/>
              <a:t>b</a:t>
            </a:r>
            <a:r>
              <a:rPr lang="en-US" altLang="en-US" sz="2400" i="1" baseline="-25000"/>
              <a:t>n</a:t>
            </a:r>
            <a:r>
              <a:rPr lang="en-US" altLang="en-US" sz="2400"/>
              <a:t>} is  { 2, 4, 8, 16, 32, … }</a:t>
            </a:r>
          </a:p>
          <a:p>
            <a:endParaRPr lang="en-US" altLang="en-US" sz="2800"/>
          </a:p>
          <a:p>
            <a:r>
              <a:rPr lang="en-US" altLang="en-US" sz="2800"/>
              <a:t>Note that sequences are indexed from 1</a:t>
            </a:r>
          </a:p>
          <a:p>
            <a:pPr lvl="1"/>
            <a:r>
              <a:rPr lang="en-US" altLang="en-US" sz="2400"/>
              <a:t>Not in all other textbooks, though!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5363">
                                            <p:txEl>
                                              <p:pRg st="8" end="8"/>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536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526461E-7FCB-4A3C-1E3A-077768CAD5F6}"/>
              </a:ext>
            </a:extLst>
          </p:cNvPr>
          <p:cNvSpPr>
            <a:spLocks noGrp="1"/>
          </p:cNvSpPr>
          <p:nvPr>
            <p:ph type="sldNum" sz="quarter" idx="12"/>
          </p:nvPr>
        </p:nvSpPr>
        <p:spPr/>
        <p:txBody>
          <a:bodyPr/>
          <a:lstStyle/>
          <a:p>
            <a:fld id="{D18A3844-3184-4D7E-8451-C29A10BB129D}" type="slidenum">
              <a:rPr lang="en-US" altLang="en-US"/>
              <a:pPr/>
              <a:t>15</a:t>
            </a:fld>
            <a:endParaRPr lang="en-US" altLang="en-US"/>
          </a:p>
        </p:txBody>
      </p:sp>
      <p:sp>
        <p:nvSpPr>
          <p:cNvPr id="16386" name="Rectangle 2">
            <a:extLst>
              <a:ext uri="{FF2B5EF4-FFF2-40B4-BE49-F238E27FC236}">
                <a16:creationId xmlns:a16="http://schemas.microsoft.com/office/drawing/2014/main" id="{9B4B357E-A348-0DDE-1C26-CB6028DAECB8}"/>
              </a:ext>
            </a:extLst>
          </p:cNvPr>
          <p:cNvSpPr>
            <a:spLocks noGrp="1" noChangeArrowheads="1"/>
          </p:cNvSpPr>
          <p:nvPr>
            <p:ph type="title"/>
          </p:nvPr>
        </p:nvSpPr>
        <p:spPr/>
        <p:txBody>
          <a:bodyPr/>
          <a:lstStyle/>
          <a:p>
            <a:r>
              <a:rPr lang="en-US" altLang="en-US" sz="4000"/>
              <a:t>Geometric vs. arithmetic sequences</a:t>
            </a:r>
          </a:p>
        </p:txBody>
      </p:sp>
      <p:sp>
        <p:nvSpPr>
          <p:cNvPr id="16387" name="Rectangle 3">
            <a:extLst>
              <a:ext uri="{FF2B5EF4-FFF2-40B4-BE49-F238E27FC236}">
                <a16:creationId xmlns:a16="http://schemas.microsoft.com/office/drawing/2014/main" id="{904471F0-FC1D-7BF3-6C41-D72391582D86}"/>
              </a:ext>
            </a:extLst>
          </p:cNvPr>
          <p:cNvSpPr>
            <a:spLocks noGrp="1" noChangeArrowheads="1"/>
          </p:cNvSpPr>
          <p:nvPr>
            <p:ph type="body" idx="1"/>
          </p:nvPr>
        </p:nvSpPr>
        <p:spPr/>
        <p:txBody>
          <a:bodyPr>
            <a:normAutofit lnSpcReduction="10000"/>
          </a:bodyPr>
          <a:lstStyle/>
          <a:p>
            <a:pPr>
              <a:lnSpc>
                <a:spcPct val="90000"/>
              </a:lnSpc>
            </a:pPr>
            <a:r>
              <a:rPr lang="en-US" altLang="en-US" sz="2400"/>
              <a:t>The difference is in how they grow</a:t>
            </a:r>
          </a:p>
          <a:p>
            <a:pPr>
              <a:lnSpc>
                <a:spcPct val="90000"/>
              </a:lnSpc>
            </a:pPr>
            <a:endParaRPr lang="en-US" altLang="en-US" sz="2400"/>
          </a:p>
          <a:p>
            <a:pPr>
              <a:lnSpc>
                <a:spcPct val="90000"/>
              </a:lnSpc>
            </a:pPr>
            <a:r>
              <a:rPr lang="en-US" altLang="en-US" sz="2400"/>
              <a:t>Arithmetic sequences increase by a constant </a:t>
            </a:r>
            <a:r>
              <a:rPr lang="en-US" altLang="en-US" sz="2400" i="1"/>
              <a:t>amount</a:t>
            </a:r>
          </a:p>
          <a:p>
            <a:pPr lvl="1">
              <a:lnSpc>
                <a:spcPct val="90000"/>
              </a:lnSpc>
            </a:pPr>
            <a:r>
              <a:rPr lang="en-US" altLang="en-US" sz="2000" i="1"/>
              <a:t>a</a:t>
            </a:r>
            <a:r>
              <a:rPr lang="en-US" altLang="en-US" sz="2000" i="1" baseline="-25000"/>
              <a:t>n</a:t>
            </a:r>
            <a:r>
              <a:rPr lang="en-US" altLang="en-US" sz="2000"/>
              <a:t> = 3</a:t>
            </a:r>
            <a:r>
              <a:rPr lang="en-US" altLang="en-US" sz="2000" i="1"/>
              <a:t>n</a:t>
            </a:r>
            <a:endParaRPr lang="en-US" altLang="en-US" sz="2000"/>
          </a:p>
          <a:p>
            <a:pPr lvl="1">
              <a:lnSpc>
                <a:spcPct val="90000"/>
              </a:lnSpc>
            </a:pPr>
            <a:r>
              <a:rPr lang="en-US" altLang="en-US" sz="2000"/>
              <a:t>The sequence {</a:t>
            </a:r>
            <a:r>
              <a:rPr lang="en-US" altLang="en-US" sz="2000" i="1"/>
              <a:t>a</a:t>
            </a:r>
            <a:r>
              <a:rPr lang="en-US" altLang="en-US" sz="2000" i="1" baseline="-25000"/>
              <a:t>n</a:t>
            </a:r>
            <a:r>
              <a:rPr lang="en-US" altLang="en-US" sz="2000"/>
              <a:t>} is { 3, 6, 9, 12, … }</a:t>
            </a:r>
          </a:p>
          <a:p>
            <a:pPr lvl="1">
              <a:lnSpc>
                <a:spcPct val="90000"/>
              </a:lnSpc>
            </a:pPr>
            <a:r>
              <a:rPr lang="en-US" altLang="en-US" sz="2000"/>
              <a:t>Each number is 3 more than the last</a:t>
            </a:r>
          </a:p>
          <a:p>
            <a:pPr lvl="1">
              <a:lnSpc>
                <a:spcPct val="90000"/>
              </a:lnSpc>
            </a:pPr>
            <a:r>
              <a:rPr lang="en-US" altLang="en-US" sz="2000"/>
              <a:t>Of the form: </a:t>
            </a:r>
            <a:r>
              <a:rPr lang="en-US" altLang="en-US" sz="2000" i="1"/>
              <a:t>f</a:t>
            </a:r>
            <a:r>
              <a:rPr lang="en-US" altLang="en-US" sz="2000"/>
              <a:t>(</a:t>
            </a:r>
            <a:r>
              <a:rPr lang="en-US" altLang="en-US" sz="2000" i="1"/>
              <a:t>x</a:t>
            </a:r>
            <a:r>
              <a:rPr lang="en-US" altLang="en-US" sz="2000"/>
              <a:t>) = </a:t>
            </a:r>
            <a:r>
              <a:rPr lang="en-US" altLang="en-US" sz="2000" i="1"/>
              <a:t>dx</a:t>
            </a:r>
            <a:r>
              <a:rPr lang="en-US" altLang="en-US" sz="2000"/>
              <a:t> + </a:t>
            </a:r>
            <a:r>
              <a:rPr lang="en-US" altLang="en-US" sz="2000" i="1"/>
              <a:t>a</a:t>
            </a:r>
          </a:p>
          <a:p>
            <a:pPr>
              <a:lnSpc>
                <a:spcPct val="90000"/>
              </a:lnSpc>
            </a:pPr>
            <a:endParaRPr lang="en-US" altLang="en-US" sz="2400"/>
          </a:p>
          <a:p>
            <a:pPr>
              <a:lnSpc>
                <a:spcPct val="90000"/>
              </a:lnSpc>
            </a:pPr>
            <a:r>
              <a:rPr lang="en-US" altLang="en-US" sz="2400"/>
              <a:t>Geometric sequences increase by a constant </a:t>
            </a:r>
            <a:r>
              <a:rPr lang="en-US" altLang="en-US" sz="2400" i="1"/>
              <a:t>factor</a:t>
            </a:r>
            <a:endParaRPr lang="en-US" altLang="en-US" sz="2400"/>
          </a:p>
          <a:p>
            <a:pPr lvl="1">
              <a:lnSpc>
                <a:spcPct val="90000"/>
              </a:lnSpc>
            </a:pPr>
            <a:r>
              <a:rPr lang="en-US" altLang="en-US" sz="2000" i="1"/>
              <a:t>b</a:t>
            </a:r>
            <a:r>
              <a:rPr lang="en-US" altLang="en-US" sz="2000" i="1" baseline="-25000"/>
              <a:t>n</a:t>
            </a:r>
            <a:r>
              <a:rPr lang="en-US" altLang="en-US" sz="2000"/>
              <a:t> = 2</a:t>
            </a:r>
            <a:r>
              <a:rPr lang="en-US" altLang="en-US" sz="2000" i="1" baseline="30000"/>
              <a:t>n</a:t>
            </a:r>
          </a:p>
          <a:p>
            <a:pPr lvl="1">
              <a:lnSpc>
                <a:spcPct val="90000"/>
              </a:lnSpc>
            </a:pPr>
            <a:r>
              <a:rPr lang="en-US" altLang="en-US" sz="2000"/>
              <a:t>The sequence {</a:t>
            </a:r>
            <a:r>
              <a:rPr lang="en-US" altLang="en-US" sz="2000" i="1"/>
              <a:t>b</a:t>
            </a:r>
            <a:r>
              <a:rPr lang="en-US" altLang="en-US" sz="2000" i="1" baseline="-25000"/>
              <a:t>n</a:t>
            </a:r>
            <a:r>
              <a:rPr lang="en-US" altLang="en-US" sz="2000"/>
              <a:t>} is  { 2, 4, 8, 16, 32, … }</a:t>
            </a:r>
          </a:p>
          <a:p>
            <a:pPr lvl="1">
              <a:lnSpc>
                <a:spcPct val="90000"/>
              </a:lnSpc>
            </a:pPr>
            <a:r>
              <a:rPr lang="en-US" altLang="en-US" sz="2000"/>
              <a:t>Each number is twice the previous</a:t>
            </a:r>
          </a:p>
          <a:p>
            <a:pPr lvl="1">
              <a:lnSpc>
                <a:spcPct val="90000"/>
              </a:lnSpc>
            </a:pPr>
            <a:r>
              <a:rPr lang="en-US" altLang="en-US" sz="2000"/>
              <a:t>Of the form: </a:t>
            </a:r>
            <a:r>
              <a:rPr lang="en-US" altLang="en-US" sz="2000" i="1"/>
              <a:t>f</a:t>
            </a:r>
            <a:r>
              <a:rPr lang="en-US" altLang="en-US" sz="2000"/>
              <a:t>(</a:t>
            </a:r>
            <a:r>
              <a:rPr lang="en-US" altLang="en-US" sz="2000" i="1"/>
              <a:t>x</a:t>
            </a:r>
            <a:r>
              <a:rPr lang="en-US" altLang="en-US" sz="2000"/>
              <a:t>) = </a:t>
            </a:r>
            <a:r>
              <a:rPr lang="en-US" altLang="en-US" sz="2000" i="1"/>
              <a:t>ar</a:t>
            </a:r>
            <a:r>
              <a:rPr lang="en-US" altLang="en-US" sz="2000" i="1" baseline="30000"/>
              <a:t>x</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6387">
                                            <p:txEl>
                                              <p:pRg st="8" end="8"/>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6387">
                                            <p:txEl>
                                              <p:pRg st="9" end="9"/>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6387">
                                            <p:txEl>
                                              <p:pRg st="10" end="10"/>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6387">
                                            <p:txEl>
                                              <p:pRg st="11" end="11"/>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638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1E990AC2-0D01-29AF-207B-EC92C5166E82}"/>
              </a:ext>
            </a:extLst>
          </p:cNvPr>
          <p:cNvSpPr>
            <a:spLocks noGrp="1"/>
          </p:cNvSpPr>
          <p:nvPr>
            <p:ph type="sldNum" sz="quarter" idx="12"/>
          </p:nvPr>
        </p:nvSpPr>
        <p:spPr/>
        <p:txBody>
          <a:bodyPr/>
          <a:lstStyle/>
          <a:p>
            <a:fld id="{63933B0B-AD00-463D-AFDB-2BB125E0D494}" type="slidenum">
              <a:rPr lang="en-US" altLang="en-US"/>
              <a:pPr/>
              <a:t>16</a:t>
            </a:fld>
            <a:endParaRPr lang="en-US" altLang="en-US"/>
          </a:p>
        </p:txBody>
      </p:sp>
      <p:sp>
        <p:nvSpPr>
          <p:cNvPr id="21506" name="Rectangle 2">
            <a:extLst>
              <a:ext uri="{FF2B5EF4-FFF2-40B4-BE49-F238E27FC236}">
                <a16:creationId xmlns:a16="http://schemas.microsoft.com/office/drawing/2014/main" id="{FDAE1A20-652B-340B-CC5F-D5CEE375B132}"/>
              </a:ext>
            </a:extLst>
          </p:cNvPr>
          <p:cNvSpPr>
            <a:spLocks noGrp="1" noChangeArrowheads="1"/>
          </p:cNvSpPr>
          <p:nvPr>
            <p:ph type="title"/>
          </p:nvPr>
        </p:nvSpPr>
        <p:spPr/>
        <p:txBody>
          <a:bodyPr/>
          <a:lstStyle/>
          <a:p>
            <a:r>
              <a:rPr lang="en-US" altLang="en-US"/>
              <a:t>Fibonacci sequence</a:t>
            </a:r>
          </a:p>
        </p:txBody>
      </p:sp>
      <p:sp>
        <p:nvSpPr>
          <p:cNvPr id="21507" name="Rectangle 3">
            <a:extLst>
              <a:ext uri="{FF2B5EF4-FFF2-40B4-BE49-F238E27FC236}">
                <a16:creationId xmlns:a16="http://schemas.microsoft.com/office/drawing/2014/main" id="{E8661113-60CA-A8E8-DF93-E1E63447F654}"/>
              </a:ext>
            </a:extLst>
          </p:cNvPr>
          <p:cNvSpPr>
            <a:spLocks noGrp="1" noChangeArrowheads="1"/>
          </p:cNvSpPr>
          <p:nvPr>
            <p:ph type="body" idx="1"/>
          </p:nvPr>
        </p:nvSpPr>
        <p:spPr>
          <a:xfrm>
            <a:off x="457200" y="1600200"/>
            <a:ext cx="8382000" cy="4953000"/>
          </a:xfrm>
        </p:spPr>
        <p:txBody>
          <a:bodyPr/>
          <a:lstStyle/>
          <a:p>
            <a:r>
              <a:rPr lang="en-US" altLang="en-US"/>
              <a:t>Sequences can be neither geometric or arithmetic</a:t>
            </a:r>
          </a:p>
          <a:p>
            <a:pPr lvl="1"/>
            <a:r>
              <a:rPr lang="en-US" altLang="en-US" i="1"/>
              <a:t>F</a:t>
            </a:r>
            <a:r>
              <a:rPr lang="en-US" altLang="en-US" i="1" baseline="-25000"/>
              <a:t>n</a:t>
            </a:r>
            <a:r>
              <a:rPr lang="en-US" altLang="en-US" i="1"/>
              <a:t> = F</a:t>
            </a:r>
            <a:r>
              <a:rPr lang="en-US" altLang="en-US" i="1" baseline="-25000"/>
              <a:t>n-1</a:t>
            </a:r>
            <a:r>
              <a:rPr lang="en-US" altLang="en-US" i="1"/>
              <a:t> + F</a:t>
            </a:r>
            <a:r>
              <a:rPr lang="en-US" altLang="en-US" i="1" baseline="-25000"/>
              <a:t>n-2</a:t>
            </a:r>
            <a:r>
              <a:rPr lang="en-US" altLang="en-US"/>
              <a:t>, where the first two terms are 1</a:t>
            </a:r>
          </a:p>
          <a:p>
            <a:pPr lvl="2"/>
            <a:r>
              <a:rPr lang="en-US" altLang="en-US"/>
              <a:t>Alternative, </a:t>
            </a:r>
            <a:r>
              <a:rPr lang="en-US" altLang="en-US" i="1"/>
              <a:t>F</a:t>
            </a:r>
            <a:r>
              <a:rPr lang="en-US" altLang="en-US"/>
              <a:t>(</a:t>
            </a:r>
            <a:r>
              <a:rPr lang="en-US" altLang="en-US" i="1"/>
              <a:t>n</a:t>
            </a:r>
            <a:r>
              <a:rPr lang="en-US" altLang="en-US"/>
              <a:t>) = </a:t>
            </a:r>
            <a:r>
              <a:rPr lang="en-US" altLang="en-US" i="1"/>
              <a:t>F</a:t>
            </a:r>
            <a:r>
              <a:rPr lang="en-US" altLang="en-US"/>
              <a:t>(</a:t>
            </a:r>
            <a:r>
              <a:rPr lang="en-US" altLang="en-US" i="1"/>
              <a:t>n</a:t>
            </a:r>
            <a:r>
              <a:rPr lang="en-US" altLang="en-US"/>
              <a:t>-1) + </a:t>
            </a:r>
            <a:r>
              <a:rPr lang="en-US" altLang="en-US" i="1"/>
              <a:t>F</a:t>
            </a:r>
            <a:r>
              <a:rPr lang="en-US" altLang="en-US"/>
              <a:t>(</a:t>
            </a:r>
            <a:r>
              <a:rPr lang="en-US" altLang="en-US" i="1"/>
              <a:t>n</a:t>
            </a:r>
            <a:r>
              <a:rPr lang="en-US" altLang="en-US"/>
              <a:t>-2)</a:t>
            </a:r>
          </a:p>
          <a:p>
            <a:pPr lvl="1"/>
            <a:r>
              <a:rPr lang="en-US" altLang="en-US"/>
              <a:t>Each term is the sum of the previous two terms</a:t>
            </a:r>
          </a:p>
          <a:p>
            <a:pPr lvl="1"/>
            <a:r>
              <a:rPr lang="en-US" altLang="en-US"/>
              <a:t>Sequence: { 1, 1, 2, 3, 5, 8, 13, 21, 34, 55, … }</a:t>
            </a:r>
          </a:p>
          <a:p>
            <a:pPr lvl="1"/>
            <a:r>
              <a:rPr lang="en-US" altLang="en-US"/>
              <a:t>This is the Fibonacci sequence</a:t>
            </a:r>
          </a:p>
          <a:p>
            <a:pPr lvl="1"/>
            <a:endParaRPr lang="en-US" altLang="en-US"/>
          </a:p>
          <a:p>
            <a:pPr lvl="1"/>
            <a:r>
              <a:rPr lang="en-US" altLang="en-US"/>
              <a:t>Full formula:</a:t>
            </a:r>
            <a:endParaRPr lang="en-US" altLang="en-US" i="1" baseline="-25000"/>
          </a:p>
        </p:txBody>
      </p:sp>
      <p:grpSp>
        <p:nvGrpSpPr>
          <p:cNvPr id="21511" name="Group 7">
            <a:extLst>
              <a:ext uri="{FF2B5EF4-FFF2-40B4-BE49-F238E27FC236}">
                <a16:creationId xmlns:a16="http://schemas.microsoft.com/office/drawing/2014/main" id="{FD04C5CD-A063-50A8-A042-D24AF851FF5C}"/>
              </a:ext>
            </a:extLst>
          </p:cNvPr>
          <p:cNvGrpSpPr>
            <a:grpSpLocks/>
          </p:cNvGrpSpPr>
          <p:nvPr/>
        </p:nvGrpSpPr>
        <p:grpSpPr bwMode="auto">
          <a:xfrm>
            <a:off x="3429000" y="5334000"/>
            <a:ext cx="3505200" cy="1143000"/>
            <a:chOff x="2256" y="3168"/>
            <a:chExt cx="2208" cy="720"/>
          </a:xfrm>
        </p:grpSpPr>
        <p:sp>
          <p:nvSpPr>
            <p:cNvPr id="21510" name="Rectangle 6">
              <a:extLst>
                <a:ext uri="{FF2B5EF4-FFF2-40B4-BE49-F238E27FC236}">
                  <a16:creationId xmlns:a16="http://schemas.microsoft.com/office/drawing/2014/main" id="{6D6AA2ED-71C0-40DB-8E78-91AFE2D896FC}"/>
                </a:ext>
              </a:extLst>
            </p:cNvPr>
            <p:cNvSpPr>
              <a:spLocks noChangeArrowheads="1"/>
            </p:cNvSpPr>
            <p:nvPr/>
          </p:nvSpPr>
          <p:spPr bwMode="auto">
            <a:xfrm>
              <a:off x="2256" y="3168"/>
              <a:ext cx="2208" cy="7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21509" name="Object 5">
              <a:extLst>
                <a:ext uri="{FF2B5EF4-FFF2-40B4-BE49-F238E27FC236}">
                  <a16:creationId xmlns:a16="http://schemas.microsoft.com/office/drawing/2014/main" id="{345A096F-5EA5-3340-EA42-4C52F1922C55}"/>
                </a:ext>
              </a:extLst>
            </p:cNvPr>
            <p:cNvGraphicFramePr>
              <a:graphicFrameLocks noChangeAspect="1"/>
            </p:cNvGraphicFramePr>
            <p:nvPr/>
          </p:nvGraphicFramePr>
          <p:xfrm>
            <a:off x="2304" y="3216"/>
            <a:ext cx="2119" cy="610"/>
          </p:xfrm>
          <a:graphic>
            <a:graphicData uri="http://schemas.openxmlformats.org/presentationml/2006/ole">
              <mc:AlternateContent xmlns:mc="http://schemas.openxmlformats.org/markup-compatibility/2006">
                <mc:Choice xmlns:v="urn:schemas-microsoft-com:vml" Requires="v">
                  <p:oleObj name="Equation" r:id="rId2" imgW="1676160" imgH="482400" progId="Equation.3">
                    <p:embed/>
                  </p:oleObj>
                </mc:Choice>
                <mc:Fallback>
                  <p:oleObj name="Equation" r:id="rId2" imgW="1676160" imgH="482400" progId="Equation.3">
                    <p:embed/>
                    <p:pic>
                      <p:nvPicPr>
                        <p:cNvPr id="21509" name="Object 5">
                          <a:extLst>
                            <a:ext uri="{FF2B5EF4-FFF2-40B4-BE49-F238E27FC236}">
                              <a16:creationId xmlns:a16="http://schemas.microsoft.com/office/drawing/2014/main" id="{345A096F-5EA5-3340-EA42-4C52F1922C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4" y="3216"/>
                          <a:ext cx="2119" cy="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150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1507">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1507">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1507">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5094F31B-87A8-9F6C-9A61-CA0F63E84464}"/>
              </a:ext>
            </a:extLst>
          </p:cNvPr>
          <p:cNvSpPr>
            <a:spLocks noGrp="1"/>
          </p:cNvSpPr>
          <p:nvPr>
            <p:ph type="sldNum" sz="quarter" idx="12"/>
          </p:nvPr>
        </p:nvSpPr>
        <p:spPr/>
        <p:txBody>
          <a:bodyPr/>
          <a:lstStyle/>
          <a:p>
            <a:fld id="{A5C377DB-E196-4DAF-A41D-CC3B61ADBF7C}" type="slidenum">
              <a:rPr lang="en-US" altLang="en-US"/>
              <a:pPr/>
              <a:t>17</a:t>
            </a:fld>
            <a:endParaRPr lang="en-US" altLang="en-US"/>
          </a:p>
        </p:txBody>
      </p:sp>
      <p:sp>
        <p:nvSpPr>
          <p:cNvPr id="22530" name="Rectangle 2">
            <a:extLst>
              <a:ext uri="{FF2B5EF4-FFF2-40B4-BE49-F238E27FC236}">
                <a16:creationId xmlns:a16="http://schemas.microsoft.com/office/drawing/2014/main" id="{35BC916B-92CB-0D64-5249-C5AF96444FD1}"/>
              </a:ext>
            </a:extLst>
          </p:cNvPr>
          <p:cNvSpPr>
            <a:spLocks noGrp="1" noChangeArrowheads="1"/>
          </p:cNvSpPr>
          <p:nvPr>
            <p:ph type="title"/>
          </p:nvPr>
        </p:nvSpPr>
        <p:spPr/>
        <p:txBody>
          <a:bodyPr/>
          <a:lstStyle/>
          <a:p>
            <a:r>
              <a:rPr lang="en-US" altLang="en-US"/>
              <a:t>Fibonacci sequence in nature</a:t>
            </a:r>
          </a:p>
        </p:txBody>
      </p:sp>
      <p:pic>
        <p:nvPicPr>
          <p:cNvPr id="22531" name="Picture 3">
            <a:extLst>
              <a:ext uri="{FF2B5EF4-FFF2-40B4-BE49-F238E27FC236}">
                <a16:creationId xmlns:a16="http://schemas.microsoft.com/office/drawing/2014/main" id="{39927FD3-0EFE-F0E5-C032-39AECE7F3E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209800"/>
            <a:ext cx="5105400" cy="3252788"/>
          </a:xfrm>
          <a:prstGeom prst="rect">
            <a:avLst/>
          </a:prstGeom>
          <a:noFill/>
          <a:extLst>
            <a:ext uri="{909E8E84-426E-40DD-AFC4-6F175D3DCCD1}">
              <a14:hiddenFill xmlns:a14="http://schemas.microsoft.com/office/drawing/2010/main">
                <a:solidFill>
                  <a:srgbClr val="FFFFFF"/>
                </a:solidFill>
              </a14:hiddenFill>
            </a:ext>
          </a:extLst>
        </p:spPr>
      </p:pic>
      <p:sp>
        <p:nvSpPr>
          <p:cNvPr id="22532" name="Line 4">
            <a:extLst>
              <a:ext uri="{FF2B5EF4-FFF2-40B4-BE49-F238E27FC236}">
                <a16:creationId xmlns:a16="http://schemas.microsoft.com/office/drawing/2014/main" id="{2B397439-1F0A-E220-CA1C-9CEA0C5CE546}"/>
              </a:ext>
            </a:extLst>
          </p:cNvPr>
          <p:cNvSpPr>
            <a:spLocks noChangeShapeType="1"/>
          </p:cNvSpPr>
          <p:nvPr/>
        </p:nvSpPr>
        <p:spPr bwMode="auto">
          <a:xfrm>
            <a:off x="6172200" y="3429000"/>
            <a:ext cx="9144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533" name="Line 5">
            <a:extLst>
              <a:ext uri="{FF2B5EF4-FFF2-40B4-BE49-F238E27FC236}">
                <a16:creationId xmlns:a16="http://schemas.microsoft.com/office/drawing/2014/main" id="{E80D4E6E-2BD0-6AD2-C886-90B055A5C997}"/>
              </a:ext>
            </a:extLst>
          </p:cNvPr>
          <p:cNvSpPr>
            <a:spLocks noChangeShapeType="1"/>
          </p:cNvSpPr>
          <p:nvPr/>
        </p:nvSpPr>
        <p:spPr bwMode="auto">
          <a:xfrm>
            <a:off x="4648200" y="2330450"/>
            <a:ext cx="24384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534" name="Line 6">
            <a:extLst>
              <a:ext uri="{FF2B5EF4-FFF2-40B4-BE49-F238E27FC236}">
                <a16:creationId xmlns:a16="http://schemas.microsoft.com/office/drawing/2014/main" id="{F5245F20-363C-4608-768A-FA3AE5FA11CF}"/>
              </a:ext>
            </a:extLst>
          </p:cNvPr>
          <p:cNvSpPr>
            <a:spLocks noChangeShapeType="1"/>
          </p:cNvSpPr>
          <p:nvPr/>
        </p:nvSpPr>
        <p:spPr bwMode="auto">
          <a:xfrm>
            <a:off x="5410200" y="2787650"/>
            <a:ext cx="16764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535" name="Line 7">
            <a:extLst>
              <a:ext uri="{FF2B5EF4-FFF2-40B4-BE49-F238E27FC236}">
                <a16:creationId xmlns:a16="http://schemas.microsoft.com/office/drawing/2014/main" id="{0DFCC764-77D9-9C38-8877-0E3910BEF690}"/>
              </a:ext>
            </a:extLst>
          </p:cNvPr>
          <p:cNvSpPr>
            <a:spLocks noChangeShapeType="1"/>
          </p:cNvSpPr>
          <p:nvPr/>
        </p:nvSpPr>
        <p:spPr bwMode="auto">
          <a:xfrm flipH="1">
            <a:off x="5638800" y="3060700"/>
            <a:ext cx="14478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536" name="Line 8">
            <a:extLst>
              <a:ext uri="{FF2B5EF4-FFF2-40B4-BE49-F238E27FC236}">
                <a16:creationId xmlns:a16="http://schemas.microsoft.com/office/drawing/2014/main" id="{6629BFE0-A5A9-B64D-8EBB-3F4DB479ECE2}"/>
              </a:ext>
            </a:extLst>
          </p:cNvPr>
          <p:cNvSpPr>
            <a:spLocks noChangeShapeType="1"/>
          </p:cNvSpPr>
          <p:nvPr/>
        </p:nvSpPr>
        <p:spPr bwMode="auto">
          <a:xfrm flipH="1">
            <a:off x="5867400" y="3244850"/>
            <a:ext cx="12192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537" name="Line 9">
            <a:extLst>
              <a:ext uri="{FF2B5EF4-FFF2-40B4-BE49-F238E27FC236}">
                <a16:creationId xmlns:a16="http://schemas.microsoft.com/office/drawing/2014/main" id="{FFF62591-3244-938E-2535-754E75310FDA}"/>
              </a:ext>
            </a:extLst>
          </p:cNvPr>
          <p:cNvSpPr>
            <a:spLocks noChangeShapeType="1"/>
          </p:cNvSpPr>
          <p:nvPr/>
        </p:nvSpPr>
        <p:spPr bwMode="auto">
          <a:xfrm flipH="1">
            <a:off x="6019800" y="3335338"/>
            <a:ext cx="10668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538" name="Text Box 10">
            <a:extLst>
              <a:ext uri="{FF2B5EF4-FFF2-40B4-BE49-F238E27FC236}">
                <a16:creationId xmlns:a16="http://schemas.microsoft.com/office/drawing/2014/main" id="{522A4991-E063-196C-4C19-C8B16FDBB477}"/>
              </a:ext>
            </a:extLst>
          </p:cNvPr>
          <p:cNvSpPr txBox="1">
            <a:spLocks noChangeArrowheads="1"/>
          </p:cNvSpPr>
          <p:nvPr/>
        </p:nvSpPr>
        <p:spPr bwMode="auto">
          <a:xfrm>
            <a:off x="7543800" y="1905000"/>
            <a:ext cx="438150" cy="190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en-US"/>
              <a:t>13</a:t>
            </a:r>
          </a:p>
          <a:p>
            <a:pPr>
              <a:lnSpc>
                <a:spcPct val="110000"/>
              </a:lnSpc>
            </a:pPr>
            <a:r>
              <a:rPr lang="en-US" altLang="en-US"/>
              <a:t>8</a:t>
            </a:r>
          </a:p>
          <a:p>
            <a:pPr>
              <a:lnSpc>
                <a:spcPct val="110000"/>
              </a:lnSpc>
            </a:pPr>
            <a:r>
              <a:rPr lang="en-US" altLang="en-US"/>
              <a:t>5</a:t>
            </a:r>
          </a:p>
          <a:p>
            <a:pPr>
              <a:lnSpc>
                <a:spcPct val="110000"/>
              </a:lnSpc>
            </a:pPr>
            <a:r>
              <a:rPr lang="en-US" altLang="en-US"/>
              <a:t>3</a:t>
            </a:r>
          </a:p>
          <a:p>
            <a:pPr>
              <a:lnSpc>
                <a:spcPct val="110000"/>
              </a:lnSpc>
            </a:pPr>
            <a:r>
              <a:rPr lang="en-US" altLang="en-US"/>
              <a:t>2</a:t>
            </a:r>
          </a:p>
          <a:p>
            <a:pPr>
              <a:lnSpc>
                <a:spcPct val="110000"/>
              </a:lnSpc>
            </a:pPr>
            <a:r>
              <a:rPr lang="en-US" altLang="en-US"/>
              <a:t>1</a:t>
            </a:r>
          </a:p>
        </p:txBody>
      </p:sp>
      <p:sp>
        <p:nvSpPr>
          <p:cNvPr id="22539" name="Line 11">
            <a:extLst>
              <a:ext uri="{FF2B5EF4-FFF2-40B4-BE49-F238E27FC236}">
                <a16:creationId xmlns:a16="http://schemas.microsoft.com/office/drawing/2014/main" id="{D39CCBEA-8449-BEC4-D760-AFCD6AB973F9}"/>
              </a:ext>
            </a:extLst>
          </p:cNvPr>
          <p:cNvSpPr>
            <a:spLocks noChangeShapeType="1"/>
          </p:cNvSpPr>
          <p:nvPr/>
        </p:nvSpPr>
        <p:spPr bwMode="auto">
          <a:xfrm flipH="1">
            <a:off x="7086600" y="2133600"/>
            <a:ext cx="533400" cy="19685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540" name="Line 12">
            <a:extLst>
              <a:ext uri="{FF2B5EF4-FFF2-40B4-BE49-F238E27FC236}">
                <a16:creationId xmlns:a16="http://schemas.microsoft.com/office/drawing/2014/main" id="{E0836DC5-BC85-6B21-5556-F7B99CC8DFB7}"/>
              </a:ext>
            </a:extLst>
          </p:cNvPr>
          <p:cNvSpPr>
            <a:spLocks noChangeShapeType="1"/>
          </p:cNvSpPr>
          <p:nvPr/>
        </p:nvSpPr>
        <p:spPr bwMode="auto">
          <a:xfrm flipH="1">
            <a:off x="7086600" y="2438400"/>
            <a:ext cx="533400" cy="34925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541" name="Line 13">
            <a:extLst>
              <a:ext uri="{FF2B5EF4-FFF2-40B4-BE49-F238E27FC236}">
                <a16:creationId xmlns:a16="http://schemas.microsoft.com/office/drawing/2014/main" id="{60780B99-7BA0-C72F-DC19-9C20574AD165}"/>
              </a:ext>
            </a:extLst>
          </p:cNvPr>
          <p:cNvSpPr>
            <a:spLocks noChangeShapeType="1"/>
          </p:cNvSpPr>
          <p:nvPr/>
        </p:nvSpPr>
        <p:spPr bwMode="auto">
          <a:xfrm flipV="1">
            <a:off x="7086600" y="2743200"/>
            <a:ext cx="533400" cy="3175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542" name="Line 14">
            <a:extLst>
              <a:ext uri="{FF2B5EF4-FFF2-40B4-BE49-F238E27FC236}">
                <a16:creationId xmlns:a16="http://schemas.microsoft.com/office/drawing/2014/main" id="{F0F18459-738D-2232-6A10-924C753489BF}"/>
              </a:ext>
            </a:extLst>
          </p:cNvPr>
          <p:cNvSpPr>
            <a:spLocks noChangeShapeType="1"/>
          </p:cNvSpPr>
          <p:nvPr/>
        </p:nvSpPr>
        <p:spPr bwMode="auto">
          <a:xfrm flipV="1">
            <a:off x="7086600" y="3048000"/>
            <a:ext cx="533400" cy="19685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543" name="Line 15">
            <a:extLst>
              <a:ext uri="{FF2B5EF4-FFF2-40B4-BE49-F238E27FC236}">
                <a16:creationId xmlns:a16="http://schemas.microsoft.com/office/drawing/2014/main" id="{B84DEA1D-D626-9366-434C-5A10E30F60CA}"/>
              </a:ext>
            </a:extLst>
          </p:cNvPr>
          <p:cNvSpPr>
            <a:spLocks noChangeShapeType="1"/>
          </p:cNvSpPr>
          <p:nvPr/>
        </p:nvSpPr>
        <p:spPr bwMode="auto">
          <a:xfrm flipH="1" flipV="1">
            <a:off x="7086600" y="3427413"/>
            <a:ext cx="533400" cy="230187"/>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544" name="Line 16">
            <a:extLst>
              <a:ext uri="{FF2B5EF4-FFF2-40B4-BE49-F238E27FC236}">
                <a16:creationId xmlns:a16="http://schemas.microsoft.com/office/drawing/2014/main" id="{C57E82C6-52D3-5CC1-4960-7ADDCF19CD49}"/>
              </a:ext>
            </a:extLst>
          </p:cNvPr>
          <p:cNvSpPr>
            <a:spLocks noChangeShapeType="1"/>
          </p:cNvSpPr>
          <p:nvPr/>
        </p:nvSpPr>
        <p:spPr bwMode="auto">
          <a:xfrm flipH="1">
            <a:off x="6019800" y="3335338"/>
            <a:ext cx="16002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09161FA9-9C4D-B07C-EDD1-AE9B30581128}"/>
              </a:ext>
            </a:extLst>
          </p:cNvPr>
          <p:cNvSpPr>
            <a:spLocks noGrp="1"/>
          </p:cNvSpPr>
          <p:nvPr>
            <p:ph type="sldNum" sz="quarter" idx="12"/>
          </p:nvPr>
        </p:nvSpPr>
        <p:spPr/>
        <p:txBody>
          <a:bodyPr/>
          <a:lstStyle/>
          <a:p>
            <a:fld id="{57A69A2E-F342-4524-971C-B693089C5829}" type="slidenum">
              <a:rPr lang="en-US" altLang="en-US"/>
              <a:pPr/>
              <a:t>18</a:t>
            </a:fld>
            <a:endParaRPr lang="en-US" altLang="en-US"/>
          </a:p>
        </p:txBody>
      </p:sp>
      <p:sp>
        <p:nvSpPr>
          <p:cNvPr id="27650" name="Rectangle 2">
            <a:extLst>
              <a:ext uri="{FF2B5EF4-FFF2-40B4-BE49-F238E27FC236}">
                <a16:creationId xmlns:a16="http://schemas.microsoft.com/office/drawing/2014/main" id="{9329B992-BDDF-AC9B-F939-0985FD4B0DD3}"/>
              </a:ext>
            </a:extLst>
          </p:cNvPr>
          <p:cNvSpPr>
            <a:spLocks noGrp="1" noChangeArrowheads="1"/>
          </p:cNvSpPr>
          <p:nvPr>
            <p:ph type="title"/>
          </p:nvPr>
        </p:nvSpPr>
        <p:spPr/>
        <p:txBody>
          <a:bodyPr/>
          <a:lstStyle/>
          <a:p>
            <a:r>
              <a:rPr lang="en-US" altLang="en-US"/>
              <a:t>Fibonacci sequence</a:t>
            </a:r>
          </a:p>
        </p:txBody>
      </p:sp>
      <p:sp>
        <p:nvSpPr>
          <p:cNvPr id="27651" name="Rectangle 3">
            <a:extLst>
              <a:ext uri="{FF2B5EF4-FFF2-40B4-BE49-F238E27FC236}">
                <a16:creationId xmlns:a16="http://schemas.microsoft.com/office/drawing/2014/main" id="{8DC3B62E-F001-2E1F-3089-25DC213B3C8E}"/>
              </a:ext>
            </a:extLst>
          </p:cNvPr>
          <p:cNvSpPr>
            <a:spLocks noGrp="1" noChangeArrowheads="1"/>
          </p:cNvSpPr>
          <p:nvPr>
            <p:ph type="body" idx="1"/>
          </p:nvPr>
        </p:nvSpPr>
        <p:spPr/>
        <p:txBody>
          <a:bodyPr/>
          <a:lstStyle/>
          <a:p>
            <a:r>
              <a:rPr lang="en-US" altLang="en-US"/>
              <a:t>Another application:</a:t>
            </a:r>
          </a:p>
          <a:p>
            <a:endParaRPr lang="en-US" altLang="en-US"/>
          </a:p>
          <a:p>
            <a:endParaRPr lang="en-US" altLang="en-US"/>
          </a:p>
          <a:p>
            <a:endParaRPr lang="en-US" altLang="en-US"/>
          </a:p>
          <a:p>
            <a:endParaRPr lang="en-US" altLang="en-US"/>
          </a:p>
          <a:p>
            <a:endParaRPr lang="en-US" altLang="en-US"/>
          </a:p>
          <a:p>
            <a:endParaRPr lang="en-US" altLang="en-US"/>
          </a:p>
          <a:p>
            <a:pPr algn="l"/>
            <a:r>
              <a:rPr lang="en-US" altLang="en-US" sz="2400"/>
              <a:t>Fibonacci references from http://en.wikipedia.org/wiki/Fibonacci_sequence</a:t>
            </a:r>
          </a:p>
        </p:txBody>
      </p:sp>
      <p:pic>
        <p:nvPicPr>
          <p:cNvPr id="27652" name="Picture 4">
            <a:extLst>
              <a:ext uri="{FF2B5EF4-FFF2-40B4-BE49-F238E27FC236}">
                <a16:creationId xmlns:a16="http://schemas.microsoft.com/office/drawing/2014/main" id="{35FE8BA7-187D-D7C6-56B2-2388630F2E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667000"/>
            <a:ext cx="4251325" cy="2630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6EF46E5A-0105-6648-3DBC-A915F6B41596}"/>
              </a:ext>
            </a:extLst>
          </p:cNvPr>
          <p:cNvSpPr>
            <a:spLocks noGrp="1"/>
          </p:cNvSpPr>
          <p:nvPr>
            <p:ph type="sldNum" sz="quarter" idx="12"/>
          </p:nvPr>
        </p:nvSpPr>
        <p:spPr/>
        <p:txBody>
          <a:bodyPr/>
          <a:lstStyle/>
          <a:p>
            <a:fld id="{5E812EBC-8C3F-438F-8248-E4593F5B9156}" type="slidenum">
              <a:rPr lang="en-US" altLang="en-US"/>
              <a:pPr/>
              <a:t>19</a:t>
            </a:fld>
            <a:endParaRPr lang="en-US" altLang="en-US"/>
          </a:p>
        </p:txBody>
      </p:sp>
      <p:sp>
        <p:nvSpPr>
          <p:cNvPr id="17410" name="Rectangle 2">
            <a:extLst>
              <a:ext uri="{FF2B5EF4-FFF2-40B4-BE49-F238E27FC236}">
                <a16:creationId xmlns:a16="http://schemas.microsoft.com/office/drawing/2014/main" id="{81B7D9E3-1000-EECA-11C1-B4DFA767BEC7}"/>
              </a:ext>
            </a:extLst>
          </p:cNvPr>
          <p:cNvSpPr>
            <a:spLocks noGrp="1" noChangeArrowheads="1"/>
          </p:cNvSpPr>
          <p:nvPr>
            <p:ph type="title"/>
          </p:nvPr>
        </p:nvSpPr>
        <p:spPr/>
        <p:txBody>
          <a:bodyPr/>
          <a:lstStyle/>
          <a:p>
            <a:r>
              <a:rPr lang="en-US" altLang="en-US" sz="4000"/>
              <a:t>Determining the sequence formula</a:t>
            </a:r>
          </a:p>
        </p:txBody>
      </p:sp>
      <p:sp>
        <p:nvSpPr>
          <p:cNvPr id="17411" name="Rectangle 3">
            <a:extLst>
              <a:ext uri="{FF2B5EF4-FFF2-40B4-BE49-F238E27FC236}">
                <a16:creationId xmlns:a16="http://schemas.microsoft.com/office/drawing/2014/main" id="{C8E65A8C-99DE-51F3-7A6C-8BE2095FB883}"/>
              </a:ext>
            </a:extLst>
          </p:cNvPr>
          <p:cNvSpPr>
            <a:spLocks noGrp="1" noChangeArrowheads="1"/>
          </p:cNvSpPr>
          <p:nvPr>
            <p:ph type="body" idx="1"/>
          </p:nvPr>
        </p:nvSpPr>
        <p:spPr/>
        <p:txBody>
          <a:bodyPr>
            <a:normAutofit lnSpcReduction="10000"/>
          </a:bodyPr>
          <a:lstStyle/>
          <a:p>
            <a:r>
              <a:rPr lang="en-US" altLang="en-US" sz="2800"/>
              <a:t>Given values in a sequence, how do you determine the formula?</a:t>
            </a:r>
          </a:p>
          <a:p>
            <a:endParaRPr lang="en-US" altLang="en-US" sz="2800"/>
          </a:p>
          <a:p>
            <a:r>
              <a:rPr lang="en-US" altLang="en-US" sz="2800"/>
              <a:t>Steps to consider:</a:t>
            </a:r>
          </a:p>
          <a:p>
            <a:pPr lvl="1"/>
            <a:r>
              <a:rPr lang="en-US" altLang="en-US" sz="2400"/>
              <a:t>Is it an arithmetic progression (each term a constant amount from the last)?</a:t>
            </a:r>
          </a:p>
          <a:p>
            <a:pPr lvl="1"/>
            <a:r>
              <a:rPr lang="en-US" altLang="en-US" sz="2400"/>
              <a:t>Is it a geometric progression (each term a factor of the previous term)?</a:t>
            </a:r>
          </a:p>
          <a:p>
            <a:pPr lvl="1"/>
            <a:r>
              <a:rPr lang="en-US" altLang="en-US" sz="2400"/>
              <a:t>Does the sequence it repeat (or cycle)?</a:t>
            </a:r>
          </a:p>
          <a:p>
            <a:pPr lvl="1"/>
            <a:r>
              <a:rPr lang="en-US" altLang="en-US" sz="2400"/>
              <a:t>Does the sequence combine previous terms?</a:t>
            </a:r>
          </a:p>
          <a:p>
            <a:pPr lvl="1"/>
            <a:r>
              <a:rPr lang="en-US" altLang="en-US" sz="2400"/>
              <a:t>Are there runs of the same value?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411">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411">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7411">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7411">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74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DA5F5AE-E90A-9AED-AD2D-0D37AB8C128F}"/>
              </a:ext>
            </a:extLst>
          </p:cNvPr>
          <p:cNvSpPr>
            <a:spLocks noGrp="1"/>
          </p:cNvSpPr>
          <p:nvPr>
            <p:ph type="sldNum" sz="quarter" idx="12"/>
          </p:nvPr>
        </p:nvSpPr>
        <p:spPr/>
        <p:txBody>
          <a:bodyPr/>
          <a:lstStyle/>
          <a:p>
            <a:fld id="{C69BD917-A2A1-4E82-A175-74D4BFB98790}" type="slidenum">
              <a:rPr lang="en-US" altLang="en-US"/>
              <a:pPr/>
              <a:t>20</a:t>
            </a:fld>
            <a:endParaRPr lang="en-US" altLang="en-US"/>
          </a:p>
        </p:txBody>
      </p:sp>
      <p:sp>
        <p:nvSpPr>
          <p:cNvPr id="20482" name="Rectangle 2">
            <a:extLst>
              <a:ext uri="{FF2B5EF4-FFF2-40B4-BE49-F238E27FC236}">
                <a16:creationId xmlns:a16="http://schemas.microsoft.com/office/drawing/2014/main" id="{8A26E4C4-59B6-53BE-843C-B666B2F28087}"/>
              </a:ext>
            </a:extLst>
          </p:cNvPr>
          <p:cNvSpPr>
            <a:spLocks noGrp="1" noChangeArrowheads="1"/>
          </p:cNvSpPr>
          <p:nvPr>
            <p:ph type="title"/>
          </p:nvPr>
        </p:nvSpPr>
        <p:spPr/>
        <p:txBody>
          <a:bodyPr/>
          <a:lstStyle/>
          <a:p>
            <a:r>
              <a:rPr lang="en-US" altLang="en-US" sz="4000"/>
              <a:t>Determining the sequence formula</a:t>
            </a:r>
          </a:p>
        </p:txBody>
      </p:sp>
      <p:sp>
        <p:nvSpPr>
          <p:cNvPr id="20483" name="Rectangle 3">
            <a:extLst>
              <a:ext uri="{FF2B5EF4-FFF2-40B4-BE49-F238E27FC236}">
                <a16:creationId xmlns:a16="http://schemas.microsoft.com/office/drawing/2014/main" id="{00E7D89B-6117-9F8A-9BF2-EFDF6AEF8969}"/>
              </a:ext>
            </a:extLst>
          </p:cNvPr>
          <p:cNvSpPr>
            <a:spLocks noGrp="1" noChangeArrowheads="1"/>
          </p:cNvSpPr>
          <p:nvPr>
            <p:ph type="body" idx="1"/>
          </p:nvPr>
        </p:nvSpPr>
        <p:spPr/>
        <p:txBody>
          <a:bodyPr>
            <a:normAutofit lnSpcReduction="10000"/>
          </a:bodyPr>
          <a:lstStyle/>
          <a:p>
            <a:pPr marL="609600" indent="-609600">
              <a:lnSpc>
                <a:spcPct val="90000"/>
              </a:lnSpc>
            </a:pPr>
            <a:endParaRPr lang="en-US" altLang="en-US" sz="2400"/>
          </a:p>
          <a:p>
            <a:pPr marL="609600" indent="-609600">
              <a:lnSpc>
                <a:spcPct val="90000"/>
              </a:lnSpc>
              <a:buFont typeface="Wingdings" panose="05000000000000000000" pitchFamily="2" charset="2"/>
              <a:buAutoNum type="alphaLcParenR"/>
            </a:pPr>
            <a:r>
              <a:rPr lang="en-US" altLang="en-US" sz="2400"/>
              <a:t>1, 0, 1, 1, 0, 0, 1, 1, 1, 0, 0, 0, 1, …</a:t>
            </a:r>
          </a:p>
          <a:p>
            <a:pPr marL="990600" lvl="1" indent="-533400">
              <a:lnSpc>
                <a:spcPct val="90000"/>
              </a:lnSpc>
              <a:buFont typeface="Wingdings" panose="05000000000000000000" pitchFamily="2" charset="2"/>
              <a:buBlip>
                <a:blip r:embed="rId2"/>
              </a:buBlip>
            </a:pPr>
            <a:r>
              <a:rPr lang="en-US" altLang="en-US" sz="2000"/>
              <a:t>The sequence alternates 1’s and 0’s, increasing the number of 1’s and 0’s each time</a:t>
            </a:r>
          </a:p>
          <a:p>
            <a:pPr marL="609600" indent="-609600">
              <a:lnSpc>
                <a:spcPct val="90000"/>
              </a:lnSpc>
              <a:buFont typeface="Wingdings" panose="05000000000000000000" pitchFamily="2" charset="2"/>
              <a:buAutoNum type="alphaLcParenR"/>
            </a:pPr>
            <a:r>
              <a:rPr lang="en-US" altLang="en-US" sz="2400"/>
              <a:t>1, 2, 2, 3, 4, 4, 5, 6, 6, 7, 8, 8, …</a:t>
            </a:r>
          </a:p>
          <a:p>
            <a:pPr marL="990600" lvl="1" indent="-533400">
              <a:lnSpc>
                <a:spcPct val="90000"/>
              </a:lnSpc>
              <a:buFont typeface="Wingdings" panose="05000000000000000000" pitchFamily="2" charset="2"/>
              <a:buBlip>
                <a:blip r:embed="rId2"/>
              </a:buBlip>
            </a:pPr>
            <a:r>
              <a:rPr lang="en-US" altLang="en-US" sz="2000"/>
              <a:t>This sequence increases by one, but repeats all even numbers once</a:t>
            </a:r>
          </a:p>
          <a:p>
            <a:pPr marL="609600" indent="-609600">
              <a:lnSpc>
                <a:spcPct val="90000"/>
              </a:lnSpc>
              <a:buFont typeface="Wingdings" panose="05000000000000000000" pitchFamily="2" charset="2"/>
              <a:buAutoNum type="alphaLcParenR"/>
            </a:pPr>
            <a:r>
              <a:rPr lang="en-US" altLang="en-US" sz="2400"/>
              <a:t>1, 0, 2, 0, 4, 0, 8, 0, 16, 0, …</a:t>
            </a:r>
          </a:p>
          <a:p>
            <a:pPr marL="990600" lvl="1" indent="-533400">
              <a:lnSpc>
                <a:spcPct val="90000"/>
              </a:lnSpc>
              <a:buFont typeface="Wingdings" panose="05000000000000000000" pitchFamily="2" charset="2"/>
              <a:buBlip>
                <a:blip r:embed="rId2"/>
              </a:buBlip>
            </a:pPr>
            <a:r>
              <a:rPr lang="en-US" altLang="en-US" sz="2000"/>
              <a:t>The non-0 numbers are a geometric sequence (2</a:t>
            </a:r>
            <a:r>
              <a:rPr lang="en-US" altLang="en-US" sz="2000" i="1" baseline="30000"/>
              <a:t>n</a:t>
            </a:r>
            <a:r>
              <a:rPr lang="en-US" altLang="en-US" sz="2000"/>
              <a:t>) interspersed with zeros</a:t>
            </a:r>
          </a:p>
          <a:p>
            <a:pPr marL="609600" indent="-609600">
              <a:lnSpc>
                <a:spcPct val="90000"/>
              </a:lnSpc>
              <a:buFont typeface="Wingdings" panose="05000000000000000000" pitchFamily="2" charset="2"/>
              <a:buAutoNum type="alphaLcParenR"/>
            </a:pPr>
            <a:r>
              <a:rPr lang="en-US" altLang="en-US" sz="2400"/>
              <a:t>3, 6, 12, 24, 48, 96, 192, …</a:t>
            </a:r>
          </a:p>
          <a:p>
            <a:pPr marL="990600" lvl="1" indent="-533400">
              <a:lnSpc>
                <a:spcPct val="90000"/>
              </a:lnSpc>
              <a:buFont typeface="Wingdings" panose="05000000000000000000" pitchFamily="2" charset="2"/>
              <a:buBlip>
                <a:blip r:embed="rId2"/>
              </a:buBlip>
            </a:pPr>
            <a:r>
              <a:rPr lang="en-US" altLang="en-US" sz="2000"/>
              <a:t>Each term is twice the previous: geometric progression</a:t>
            </a:r>
          </a:p>
          <a:p>
            <a:pPr marL="990600" lvl="1" indent="-533400">
              <a:lnSpc>
                <a:spcPct val="90000"/>
              </a:lnSpc>
              <a:buFont typeface="Wingdings" panose="05000000000000000000" pitchFamily="2" charset="2"/>
              <a:buBlip>
                <a:blip r:embed="rId2"/>
              </a:buBlip>
            </a:pPr>
            <a:r>
              <a:rPr lang="en-US" altLang="en-US" sz="2000" i="1"/>
              <a:t>a</a:t>
            </a:r>
            <a:r>
              <a:rPr lang="en-US" altLang="en-US" sz="2000" i="1" baseline="-25000"/>
              <a:t>n</a:t>
            </a:r>
            <a:r>
              <a:rPr lang="en-US" altLang="en-US" sz="2000"/>
              <a:t> = 3*2</a:t>
            </a:r>
            <a:r>
              <a:rPr lang="en-US" altLang="en-US" sz="2000" i="1" baseline="30000"/>
              <a:t>n-1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048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048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0483">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2048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E0C1C4CA-B586-5674-6292-ABF6DDA66ADE}"/>
              </a:ext>
            </a:extLst>
          </p:cNvPr>
          <p:cNvSpPr>
            <a:spLocks noGrp="1"/>
          </p:cNvSpPr>
          <p:nvPr>
            <p:ph type="sldNum" sz="quarter" idx="12"/>
          </p:nvPr>
        </p:nvSpPr>
        <p:spPr/>
        <p:txBody>
          <a:bodyPr/>
          <a:lstStyle/>
          <a:p>
            <a:fld id="{CB9BEC60-0CAA-4F6B-B27A-E450F0949D0A}" type="slidenum">
              <a:rPr lang="en-US" altLang="en-US"/>
              <a:pPr/>
              <a:t>21</a:t>
            </a:fld>
            <a:endParaRPr lang="en-US" altLang="en-US"/>
          </a:p>
        </p:txBody>
      </p:sp>
      <p:sp>
        <p:nvSpPr>
          <p:cNvPr id="30722" name="Rectangle 2">
            <a:extLst>
              <a:ext uri="{FF2B5EF4-FFF2-40B4-BE49-F238E27FC236}">
                <a16:creationId xmlns:a16="http://schemas.microsoft.com/office/drawing/2014/main" id="{114A3030-44E8-6E8A-3458-418E2AD3A9ED}"/>
              </a:ext>
            </a:extLst>
          </p:cNvPr>
          <p:cNvSpPr>
            <a:spLocks noGrp="1" noChangeArrowheads="1"/>
          </p:cNvSpPr>
          <p:nvPr>
            <p:ph type="title"/>
          </p:nvPr>
        </p:nvSpPr>
        <p:spPr/>
        <p:txBody>
          <a:bodyPr/>
          <a:lstStyle/>
          <a:p>
            <a:r>
              <a:rPr lang="en-US" altLang="en-US" sz="4000"/>
              <a:t>Determining the sequence formula</a:t>
            </a:r>
          </a:p>
        </p:txBody>
      </p:sp>
      <p:sp>
        <p:nvSpPr>
          <p:cNvPr id="30723" name="Rectangle 3">
            <a:extLst>
              <a:ext uri="{FF2B5EF4-FFF2-40B4-BE49-F238E27FC236}">
                <a16:creationId xmlns:a16="http://schemas.microsoft.com/office/drawing/2014/main" id="{6228596C-8E5F-F3EF-77AD-069B489E94E3}"/>
              </a:ext>
            </a:extLst>
          </p:cNvPr>
          <p:cNvSpPr>
            <a:spLocks noGrp="1" noChangeArrowheads="1"/>
          </p:cNvSpPr>
          <p:nvPr>
            <p:ph type="body" idx="1"/>
          </p:nvPr>
        </p:nvSpPr>
        <p:spPr/>
        <p:txBody>
          <a:bodyPr>
            <a:normAutofit lnSpcReduction="10000"/>
          </a:bodyPr>
          <a:lstStyle/>
          <a:p>
            <a:pPr marL="609600" indent="-609600">
              <a:lnSpc>
                <a:spcPct val="80000"/>
              </a:lnSpc>
              <a:buFont typeface="Wingdings" panose="05000000000000000000" pitchFamily="2" charset="2"/>
              <a:buAutoNum type="alphaLcParenR" startAt="5"/>
            </a:pPr>
            <a:r>
              <a:rPr lang="en-US" altLang="en-US" sz="2400"/>
              <a:t>15, 8, 1, -6, -13, -20, -27, …</a:t>
            </a:r>
          </a:p>
          <a:p>
            <a:pPr marL="990600" lvl="1" indent="-533400">
              <a:lnSpc>
                <a:spcPct val="80000"/>
              </a:lnSpc>
              <a:buFont typeface="Wingdings" panose="05000000000000000000" pitchFamily="2" charset="2"/>
              <a:buBlip>
                <a:blip r:embed="rId2"/>
              </a:buBlip>
            </a:pPr>
            <a:r>
              <a:rPr lang="en-US" altLang="en-US" sz="2000"/>
              <a:t>Each term is 7 less than the previous term</a:t>
            </a:r>
          </a:p>
          <a:p>
            <a:pPr marL="990600" lvl="1" indent="-533400">
              <a:lnSpc>
                <a:spcPct val="80000"/>
              </a:lnSpc>
              <a:buFont typeface="Wingdings" panose="05000000000000000000" pitchFamily="2" charset="2"/>
              <a:buBlip>
                <a:blip r:embed="rId2"/>
              </a:buBlip>
            </a:pPr>
            <a:r>
              <a:rPr lang="en-US" altLang="en-US" sz="2000" i="1"/>
              <a:t>a</a:t>
            </a:r>
            <a:r>
              <a:rPr lang="en-US" altLang="en-US" sz="2000" i="1" baseline="-25000"/>
              <a:t>n</a:t>
            </a:r>
            <a:r>
              <a:rPr lang="en-US" altLang="en-US" sz="2000"/>
              <a:t> = 22 - 7</a:t>
            </a:r>
            <a:r>
              <a:rPr lang="en-US" altLang="en-US" sz="2000" i="1"/>
              <a:t>n</a:t>
            </a:r>
          </a:p>
          <a:p>
            <a:pPr marL="609600" indent="-609600">
              <a:lnSpc>
                <a:spcPct val="80000"/>
              </a:lnSpc>
              <a:buFont typeface="Wingdings" panose="05000000000000000000" pitchFamily="2" charset="2"/>
              <a:buAutoNum type="alphaLcParenR" startAt="5"/>
            </a:pPr>
            <a:r>
              <a:rPr lang="en-US" altLang="en-US" sz="2400"/>
              <a:t>3, 5, 8, 12, 17, 23, 30, 38, 47, …</a:t>
            </a:r>
          </a:p>
          <a:p>
            <a:pPr marL="990600" lvl="1" indent="-533400">
              <a:lnSpc>
                <a:spcPct val="80000"/>
              </a:lnSpc>
              <a:buFont typeface="Wingdings" panose="05000000000000000000" pitchFamily="2" charset="2"/>
              <a:buBlip>
                <a:blip r:embed="rId2"/>
              </a:buBlip>
            </a:pPr>
            <a:r>
              <a:rPr lang="en-US" altLang="en-US" sz="2000"/>
              <a:t>The difference between successive terms increases by one each time</a:t>
            </a:r>
          </a:p>
          <a:p>
            <a:pPr marL="990600" lvl="1" indent="-533400">
              <a:lnSpc>
                <a:spcPct val="80000"/>
              </a:lnSpc>
              <a:buFont typeface="Wingdings" panose="05000000000000000000" pitchFamily="2" charset="2"/>
              <a:buBlip>
                <a:blip r:embed="rId2"/>
              </a:buBlip>
            </a:pPr>
            <a:r>
              <a:rPr lang="en-US" altLang="en-US" sz="2000" i="1"/>
              <a:t>a</a:t>
            </a:r>
            <a:r>
              <a:rPr lang="en-US" altLang="en-US" sz="2000" baseline="-25000"/>
              <a:t>1</a:t>
            </a:r>
            <a:r>
              <a:rPr lang="en-US" altLang="en-US" sz="2000"/>
              <a:t> = 3, </a:t>
            </a:r>
            <a:r>
              <a:rPr lang="en-US" altLang="en-US" sz="2000" i="1"/>
              <a:t>a</a:t>
            </a:r>
            <a:r>
              <a:rPr lang="en-US" altLang="en-US" sz="2000" i="1" baseline="-25000"/>
              <a:t>n</a:t>
            </a:r>
            <a:r>
              <a:rPr lang="en-US" altLang="en-US" sz="2000"/>
              <a:t> = </a:t>
            </a:r>
            <a:r>
              <a:rPr lang="en-US" altLang="en-US" sz="2000" i="1"/>
              <a:t>a</a:t>
            </a:r>
            <a:r>
              <a:rPr lang="en-US" altLang="en-US" sz="2000" i="1" baseline="-25000"/>
              <a:t>n</a:t>
            </a:r>
            <a:r>
              <a:rPr lang="en-US" altLang="en-US" sz="2000" baseline="-25000"/>
              <a:t>-1</a:t>
            </a:r>
            <a:r>
              <a:rPr lang="en-US" altLang="en-US" sz="2000"/>
              <a:t> + </a:t>
            </a:r>
            <a:r>
              <a:rPr lang="en-US" altLang="en-US" sz="2000" i="1"/>
              <a:t>n</a:t>
            </a:r>
          </a:p>
          <a:p>
            <a:pPr marL="990600" lvl="1" indent="-533400">
              <a:lnSpc>
                <a:spcPct val="80000"/>
              </a:lnSpc>
              <a:buFont typeface="Wingdings" panose="05000000000000000000" pitchFamily="2" charset="2"/>
              <a:buBlip>
                <a:blip r:embed="rId2"/>
              </a:buBlip>
            </a:pPr>
            <a:r>
              <a:rPr lang="en-US" altLang="en-US" sz="2000" i="1"/>
              <a:t>a</a:t>
            </a:r>
            <a:r>
              <a:rPr lang="en-US" altLang="en-US" sz="2000" i="1" baseline="-25000"/>
              <a:t>n</a:t>
            </a:r>
            <a:r>
              <a:rPr lang="en-US" altLang="en-US" sz="2000"/>
              <a:t> = </a:t>
            </a:r>
            <a:r>
              <a:rPr lang="en-US" altLang="en-US" sz="2000" i="1"/>
              <a:t>n</a:t>
            </a:r>
            <a:r>
              <a:rPr lang="en-US" altLang="en-US" sz="2000"/>
              <a:t>(</a:t>
            </a:r>
            <a:r>
              <a:rPr lang="en-US" altLang="en-US" sz="2000" i="1"/>
              <a:t>n</a:t>
            </a:r>
            <a:r>
              <a:rPr lang="en-US" altLang="en-US" sz="2000"/>
              <a:t>+1)/2 + 2</a:t>
            </a:r>
          </a:p>
          <a:p>
            <a:pPr marL="609600" indent="-609600">
              <a:lnSpc>
                <a:spcPct val="80000"/>
              </a:lnSpc>
              <a:buFont typeface="Wingdings" panose="05000000000000000000" pitchFamily="2" charset="2"/>
              <a:buAutoNum type="alphaLcParenR" startAt="5"/>
            </a:pPr>
            <a:r>
              <a:rPr lang="en-US" altLang="en-US" sz="2400"/>
              <a:t>2, 16, 54, 128, 250, 432, 686, …</a:t>
            </a:r>
          </a:p>
          <a:p>
            <a:pPr marL="990600" lvl="1" indent="-533400">
              <a:lnSpc>
                <a:spcPct val="80000"/>
              </a:lnSpc>
              <a:buFont typeface="Wingdings" panose="05000000000000000000" pitchFamily="2" charset="2"/>
              <a:buBlip>
                <a:blip r:embed="rId2"/>
              </a:buBlip>
            </a:pPr>
            <a:r>
              <a:rPr lang="en-US" altLang="en-US" sz="2000"/>
              <a:t>Each term is twice the cube of </a:t>
            </a:r>
            <a:r>
              <a:rPr lang="en-US" altLang="en-US" sz="2000" i="1"/>
              <a:t>n</a:t>
            </a:r>
            <a:endParaRPr lang="en-US" altLang="en-US" sz="2000"/>
          </a:p>
          <a:p>
            <a:pPr marL="990600" lvl="1" indent="-533400">
              <a:lnSpc>
                <a:spcPct val="80000"/>
              </a:lnSpc>
              <a:buFont typeface="Wingdings" panose="05000000000000000000" pitchFamily="2" charset="2"/>
              <a:buBlip>
                <a:blip r:embed="rId2"/>
              </a:buBlip>
            </a:pPr>
            <a:r>
              <a:rPr lang="en-US" altLang="en-US" sz="2000" i="1"/>
              <a:t>a</a:t>
            </a:r>
            <a:r>
              <a:rPr lang="en-US" altLang="en-US" sz="2000" i="1" baseline="-25000"/>
              <a:t>n</a:t>
            </a:r>
            <a:r>
              <a:rPr lang="en-US" altLang="en-US" sz="2000"/>
              <a:t> = 2*</a:t>
            </a:r>
            <a:r>
              <a:rPr lang="en-US" altLang="en-US" sz="2000" i="1"/>
              <a:t>n</a:t>
            </a:r>
            <a:r>
              <a:rPr lang="en-US" altLang="en-US" sz="2000" baseline="30000"/>
              <a:t>3</a:t>
            </a:r>
          </a:p>
          <a:p>
            <a:pPr marL="609600" indent="-609600">
              <a:lnSpc>
                <a:spcPct val="80000"/>
              </a:lnSpc>
              <a:buFont typeface="Wingdings" panose="05000000000000000000" pitchFamily="2" charset="2"/>
              <a:buAutoNum type="alphaLcParenR" startAt="5"/>
            </a:pPr>
            <a:r>
              <a:rPr lang="en-US" altLang="en-US" sz="2400"/>
              <a:t>2, 3, 7, 25, 121, 721, 5041, 40321</a:t>
            </a:r>
          </a:p>
          <a:p>
            <a:pPr marL="990600" lvl="1" indent="-533400">
              <a:lnSpc>
                <a:spcPct val="80000"/>
              </a:lnSpc>
              <a:buFont typeface="Wingdings" panose="05000000000000000000" pitchFamily="2" charset="2"/>
              <a:buBlip>
                <a:blip r:embed="rId2"/>
              </a:buBlip>
            </a:pPr>
            <a:r>
              <a:rPr lang="en-US" altLang="en-US" sz="2000"/>
              <a:t>Each successive term is about </a:t>
            </a:r>
            <a:r>
              <a:rPr lang="en-US" altLang="en-US" sz="2000" i="1"/>
              <a:t>n</a:t>
            </a:r>
            <a:r>
              <a:rPr lang="en-US" altLang="en-US" sz="2000"/>
              <a:t> times the previous</a:t>
            </a:r>
          </a:p>
          <a:p>
            <a:pPr marL="990600" lvl="1" indent="-533400">
              <a:lnSpc>
                <a:spcPct val="80000"/>
              </a:lnSpc>
              <a:buFont typeface="Wingdings" panose="05000000000000000000" pitchFamily="2" charset="2"/>
              <a:buBlip>
                <a:blip r:embed="rId2"/>
              </a:buBlip>
            </a:pPr>
            <a:r>
              <a:rPr lang="en-US" altLang="en-US" sz="2000" i="1"/>
              <a:t>a</a:t>
            </a:r>
            <a:r>
              <a:rPr lang="en-US" altLang="en-US" sz="2000" i="1" baseline="-25000"/>
              <a:t>n</a:t>
            </a:r>
            <a:r>
              <a:rPr lang="en-US" altLang="en-US" sz="2000"/>
              <a:t> = </a:t>
            </a:r>
            <a:r>
              <a:rPr lang="en-US" altLang="en-US" sz="2000" i="1"/>
              <a:t>n</a:t>
            </a:r>
            <a:r>
              <a:rPr lang="en-US" altLang="en-US" sz="2000"/>
              <a:t>! + 1</a:t>
            </a:r>
          </a:p>
          <a:p>
            <a:pPr marL="990600" lvl="1" indent="-533400">
              <a:lnSpc>
                <a:spcPct val="80000"/>
              </a:lnSpc>
              <a:buFont typeface="Wingdings" panose="05000000000000000000" pitchFamily="2" charset="2"/>
              <a:buBlip>
                <a:blip r:embed="rId2"/>
              </a:buBlip>
            </a:pPr>
            <a:r>
              <a:rPr lang="en-US" altLang="en-US" sz="2000"/>
              <a:t>My solution: </a:t>
            </a:r>
            <a:r>
              <a:rPr lang="en-US" altLang="en-US" sz="2000" i="1"/>
              <a:t>a</a:t>
            </a:r>
            <a:r>
              <a:rPr lang="en-US" altLang="en-US" sz="2000" i="1" baseline="-25000"/>
              <a:t>n</a:t>
            </a:r>
            <a:r>
              <a:rPr lang="en-US" altLang="en-US" sz="2000" i="1"/>
              <a:t> = a</a:t>
            </a:r>
            <a:r>
              <a:rPr lang="en-US" altLang="en-US" sz="2000" i="1" baseline="-25000"/>
              <a:t>n-1</a:t>
            </a:r>
            <a:r>
              <a:rPr lang="en-US" altLang="en-US" sz="2000" i="1"/>
              <a:t> * n - n + 1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07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072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072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072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0723">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0723">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30723">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30723">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30723">
                                            <p:txEl>
                                              <p:pRg st="11" end="11"/>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30723">
                                            <p:txEl>
                                              <p:pRg st="12" end="12"/>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3072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320F15F4-2FBF-F341-F21F-5725B7CB9BF4}"/>
              </a:ext>
            </a:extLst>
          </p:cNvPr>
          <p:cNvSpPr>
            <a:spLocks noGrp="1"/>
          </p:cNvSpPr>
          <p:nvPr>
            <p:ph type="sldNum" sz="quarter" idx="12"/>
          </p:nvPr>
        </p:nvSpPr>
        <p:spPr/>
        <p:txBody>
          <a:bodyPr/>
          <a:lstStyle/>
          <a:p>
            <a:fld id="{27BE7DA3-9D6D-4D9C-B7F4-CF015D883DA6}" type="slidenum">
              <a:rPr lang="en-US" altLang="en-US"/>
              <a:pPr/>
              <a:t>22</a:t>
            </a:fld>
            <a:endParaRPr lang="en-US" altLang="en-US"/>
          </a:p>
        </p:txBody>
      </p:sp>
      <p:sp>
        <p:nvSpPr>
          <p:cNvPr id="29698" name="Rectangle 2">
            <a:extLst>
              <a:ext uri="{FF2B5EF4-FFF2-40B4-BE49-F238E27FC236}">
                <a16:creationId xmlns:a16="http://schemas.microsoft.com/office/drawing/2014/main" id="{28C859CD-2BD0-7167-7BDD-352F58DAB0CB}"/>
              </a:ext>
            </a:extLst>
          </p:cNvPr>
          <p:cNvSpPr>
            <a:spLocks noGrp="1" noChangeArrowheads="1"/>
          </p:cNvSpPr>
          <p:nvPr>
            <p:ph type="title"/>
          </p:nvPr>
        </p:nvSpPr>
        <p:spPr/>
        <p:txBody>
          <a:bodyPr/>
          <a:lstStyle/>
          <a:p>
            <a:r>
              <a:rPr lang="en-US" altLang="en-US" sz="4000"/>
              <a:t>OEIS: Online Encyclopedia of Integer Sequences</a:t>
            </a:r>
          </a:p>
        </p:txBody>
      </p:sp>
      <p:sp>
        <p:nvSpPr>
          <p:cNvPr id="29699" name="Rectangle 3">
            <a:extLst>
              <a:ext uri="{FF2B5EF4-FFF2-40B4-BE49-F238E27FC236}">
                <a16:creationId xmlns:a16="http://schemas.microsoft.com/office/drawing/2014/main" id="{E47749A7-1500-BADE-A8E2-49F7E7FB6A20}"/>
              </a:ext>
            </a:extLst>
          </p:cNvPr>
          <p:cNvSpPr>
            <a:spLocks noGrp="1" noChangeArrowheads="1"/>
          </p:cNvSpPr>
          <p:nvPr>
            <p:ph type="body" idx="1"/>
          </p:nvPr>
        </p:nvSpPr>
        <p:spPr/>
        <p:txBody>
          <a:bodyPr/>
          <a:lstStyle/>
          <a:p>
            <a:pPr algn="l"/>
            <a:endParaRPr lang="en-US" altLang="en-US" sz="2800"/>
          </a:p>
          <a:p>
            <a:pPr algn="l"/>
            <a:r>
              <a:rPr lang="en-US" altLang="en-US" sz="2800"/>
              <a:t>Online at </a:t>
            </a:r>
            <a:r>
              <a:rPr lang="en-US" altLang="en-US" sz="2800">
                <a:hlinkClick r:id="rId2"/>
              </a:rPr>
              <a:t>http://www.research.att.com/~njas/sequences/</a:t>
            </a:r>
            <a:r>
              <a:rPr lang="en-US" altLang="en-US" sz="2800"/>
              <a:t> </a:t>
            </a:r>
          </a:p>
          <a:p>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71E530EF-3FB7-CCB4-8CCD-EE7B829B45D2}"/>
              </a:ext>
            </a:extLst>
          </p:cNvPr>
          <p:cNvSpPr>
            <a:spLocks noGrp="1"/>
          </p:cNvSpPr>
          <p:nvPr>
            <p:ph type="sldNum" sz="quarter" idx="12"/>
          </p:nvPr>
        </p:nvSpPr>
        <p:spPr/>
        <p:txBody>
          <a:bodyPr/>
          <a:lstStyle/>
          <a:p>
            <a:fld id="{51E64277-9F44-4E66-A05B-9206BDC04C73}" type="slidenum">
              <a:rPr lang="en-US" altLang="en-US"/>
              <a:pPr/>
              <a:t>23</a:t>
            </a:fld>
            <a:endParaRPr lang="en-US" altLang="en-US"/>
          </a:p>
        </p:txBody>
      </p:sp>
      <p:sp>
        <p:nvSpPr>
          <p:cNvPr id="18434" name="Rectangle 2">
            <a:extLst>
              <a:ext uri="{FF2B5EF4-FFF2-40B4-BE49-F238E27FC236}">
                <a16:creationId xmlns:a16="http://schemas.microsoft.com/office/drawing/2014/main" id="{1EF9CE34-BD6B-3279-DD15-AAB7703192F6}"/>
              </a:ext>
            </a:extLst>
          </p:cNvPr>
          <p:cNvSpPr>
            <a:spLocks noGrp="1" noChangeArrowheads="1"/>
          </p:cNvSpPr>
          <p:nvPr>
            <p:ph type="title"/>
          </p:nvPr>
        </p:nvSpPr>
        <p:spPr/>
        <p:txBody>
          <a:bodyPr/>
          <a:lstStyle/>
          <a:p>
            <a:r>
              <a:rPr lang="en-US" altLang="en-US"/>
              <a:t>Useful sequences</a:t>
            </a:r>
          </a:p>
        </p:txBody>
      </p:sp>
      <p:sp>
        <p:nvSpPr>
          <p:cNvPr id="18435" name="Rectangle 3">
            <a:extLst>
              <a:ext uri="{FF2B5EF4-FFF2-40B4-BE49-F238E27FC236}">
                <a16:creationId xmlns:a16="http://schemas.microsoft.com/office/drawing/2014/main" id="{8958FBEF-A8B8-7032-2968-C830D9DF712A}"/>
              </a:ext>
            </a:extLst>
          </p:cNvPr>
          <p:cNvSpPr>
            <a:spLocks noGrp="1" noChangeArrowheads="1"/>
          </p:cNvSpPr>
          <p:nvPr>
            <p:ph type="body" idx="1"/>
          </p:nvPr>
        </p:nvSpPr>
        <p:spPr/>
        <p:txBody>
          <a:bodyPr/>
          <a:lstStyle/>
          <a:p>
            <a:r>
              <a:rPr lang="en-US" altLang="en-US" i="1"/>
              <a:t>n</a:t>
            </a:r>
            <a:r>
              <a:rPr lang="en-US" altLang="en-US" baseline="30000"/>
              <a:t>2</a:t>
            </a:r>
            <a:r>
              <a:rPr lang="en-US" altLang="en-US"/>
              <a:t> = 1, 4, 9, 16, 25, 36, …</a:t>
            </a:r>
          </a:p>
          <a:p>
            <a:r>
              <a:rPr lang="en-US" altLang="en-US" i="1"/>
              <a:t>n</a:t>
            </a:r>
            <a:r>
              <a:rPr lang="en-US" altLang="en-US" baseline="30000"/>
              <a:t>3</a:t>
            </a:r>
            <a:r>
              <a:rPr lang="en-US" altLang="en-US"/>
              <a:t> = 1, 8, 27, 64, 125, 216, …</a:t>
            </a:r>
          </a:p>
          <a:p>
            <a:r>
              <a:rPr lang="en-US" altLang="en-US" i="1"/>
              <a:t>n</a:t>
            </a:r>
            <a:r>
              <a:rPr lang="en-US" altLang="en-US" baseline="30000"/>
              <a:t>4</a:t>
            </a:r>
            <a:r>
              <a:rPr lang="en-US" altLang="en-US"/>
              <a:t> = 1, 16, 81, 256, 625, 1296, …</a:t>
            </a:r>
          </a:p>
          <a:p>
            <a:r>
              <a:rPr lang="en-US" altLang="en-US"/>
              <a:t>2</a:t>
            </a:r>
            <a:r>
              <a:rPr lang="en-US" altLang="en-US" i="1" baseline="30000"/>
              <a:t>n</a:t>
            </a:r>
            <a:r>
              <a:rPr lang="en-US" altLang="en-US"/>
              <a:t> = 2, 4, 8, 16, 32, 64, …</a:t>
            </a:r>
          </a:p>
          <a:p>
            <a:r>
              <a:rPr lang="en-US" altLang="en-US"/>
              <a:t>3</a:t>
            </a:r>
            <a:r>
              <a:rPr lang="en-US" altLang="en-US" i="1" baseline="30000"/>
              <a:t>n</a:t>
            </a:r>
            <a:r>
              <a:rPr lang="en-US" altLang="en-US"/>
              <a:t> = 3, 9, 27, 81, 243, 729, …</a:t>
            </a:r>
          </a:p>
          <a:p>
            <a:r>
              <a:rPr lang="en-US" altLang="en-US" i="1"/>
              <a:t>n</a:t>
            </a:r>
            <a:r>
              <a:rPr lang="en-US" altLang="en-US"/>
              <a:t>! = 1, 2, 6, 24, 120, 720, …</a:t>
            </a:r>
          </a:p>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75C7696-C28F-3430-1DAB-AF684C41B931}"/>
              </a:ext>
            </a:extLst>
          </p:cNvPr>
          <p:cNvSpPr>
            <a:spLocks noGrp="1"/>
          </p:cNvSpPr>
          <p:nvPr>
            <p:ph type="sldNum" sz="quarter" idx="12"/>
          </p:nvPr>
        </p:nvSpPr>
        <p:spPr/>
        <p:txBody>
          <a:bodyPr/>
          <a:lstStyle/>
          <a:p>
            <a:fld id="{62CC2B19-AB0A-4B33-8664-090439EB5857}" type="slidenum">
              <a:rPr lang="en-US" altLang="en-US"/>
              <a:pPr/>
              <a:t>24</a:t>
            </a:fld>
            <a:endParaRPr lang="en-US" altLang="en-US"/>
          </a:p>
        </p:txBody>
      </p:sp>
      <p:sp>
        <p:nvSpPr>
          <p:cNvPr id="19459" name="Rectangle 3">
            <a:extLst>
              <a:ext uri="{FF2B5EF4-FFF2-40B4-BE49-F238E27FC236}">
                <a16:creationId xmlns:a16="http://schemas.microsoft.com/office/drawing/2014/main" id="{8D9DF0C2-9EAC-5691-B685-65D6DBA3C24C}"/>
              </a:ext>
            </a:extLst>
          </p:cNvPr>
          <p:cNvSpPr>
            <a:spLocks noGrp="1" noChangeArrowheads="1"/>
          </p:cNvSpPr>
          <p:nvPr>
            <p:ph type="body" idx="1"/>
          </p:nvPr>
        </p:nvSpPr>
        <p:spPr/>
        <p:txBody>
          <a:bodyPr/>
          <a:lstStyle/>
          <a:p>
            <a:r>
              <a:rPr lang="en-US" altLang="en-US" dirty="0"/>
              <a:t>A summation:</a:t>
            </a:r>
          </a:p>
          <a:p>
            <a:endParaRPr lang="en-US" altLang="en-US" dirty="0"/>
          </a:p>
          <a:p>
            <a:pPr>
              <a:buFontTx/>
              <a:buNone/>
            </a:pPr>
            <a:r>
              <a:rPr lang="en-US" altLang="en-US" dirty="0"/>
              <a:t>				or</a:t>
            </a:r>
          </a:p>
          <a:p>
            <a:pPr>
              <a:buFontTx/>
              <a:buNone/>
            </a:pPr>
            <a:endParaRPr lang="en-US" altLang="en-US" dirty="0"/>
          </a:p>
          <a:p>
            <a:r>
              <a:rPr lang="en-US" altLang="en-US" dirty="0"/>
              <a:t>is like a for loop:</a:t>
            </a:r>
          </a:p>
          <a:p>
            <a:endParaRPr lang="en-US" altLang="en-US" dirty="0"/>
          </a:p>
          <a:p>
            <a:pPr>
              <a:buFontTx/>
              <a:buNone/>
            </a:pPr>
            <a:r>
              <a:rPr lang="en-US" altLang="en-US" sz="2400" dirty="0">
                <a:latin typeface="Lucida Sans Typewriter" panose="020B0509030504030204" pitchFamily="49" charset="0"/>
              </a:rPr>
              <a:t>			int sum = 0;</a:t>
            </a:r>
          </a:p>
          <a:p>
            <a:pPr>
              <a:buFontTx/>
              <a:buNone/>
            </a:pPr>
            <a:r>
              <a:rPr lang="en-US" altLang="en-US" sz="2400" dirty="0">
                <a:latin typeface="Lucida Sans Typewriter" panose="020B0509030504030204" pitchFamily="49" charset="0"/>
              </a:rPr>
              <a:t>			for ( int j = m; j &lt;= n; </a:t>
            </a:r>
            <a:r>
              <a:rPr lang="en-US" altLang="en-US" sz="2400" dirty="0" err="1">
                <a:latin typeface="Lucida Sans Typewriter" panose="020B0509030504030204" pitchFamily="49" charset="0"/>
              </a:rPr>
              <a:t>j++</a:t>
            </a:r>
            <a:r>
              <a:rPr lang="en-US" altLang="en-US" sz="2400" dirty="0">
                <a:latin typeface="Lucida Sans Typewriter" panose="020B0509030504030204" pitchFamily="49" charset="0"/>
              </a:rPr>
              <a:t> )</a:t>
            </a:r>
          </a:p>
          <a:p>
            <a:pPr>
              <a:buFontTx/>
              <a:buNone/>
            </a:pPr>
            <a:r>
              <a:rPr lang="en-US" altLang="en-US" sz="2400" dirty="0">
                <a:latin typeface="Lucida Sans Typewriter" panose="020B0509030504030204" pitchFamily="49" charset="0"/>
              </a:rPr>
              <a:t>				sum += a(j);</a:t>
            </a:r>
          </a:p>
        </p:txBody>
      </p:sp>
      <p:sp>
        <p:nvSpPr>
          <p:cNvPr id="19464" name="Rectangle 8">
            <a:extLst>
              <a:ext uri="{FF2B5EF4-FFF2-40B4-BE49-F238E27FC236}">
                <a16:creationId xmlns:a16="http://schemas.microsoft.com/office/drawing/2014/main" id="{B7D87F68-6944-7A56-784B-FE83168010FF}"/>
              </a:ext>
            </a:extLst>
          </p:cNvPr>
          <p:cNvSpPr>
            <a:spLocks noChangeArrowheads="1"/>
          </p:cNvSpPr>
          <p:nvPr/>
        </p:nvSpPr>
        <p:spPr bwMode="auto">
          <a:xfrm>
            <a:off x="3962400" y="2819400"/>
            <a:ext cx="1371600" cy="6096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462" name="Rectangle 6">
            <a:extLst>
              <a:ext uri="{FF2B5EF4-FFF2-40B4-BE49-F238E27FC236}">
                <a16:creationId xmlns:a16="http://schemas.microsoft.com/office/drawing/2014/main" id="{E23CDB3F-022D-C315-C71B-6FC0E76D53E7}"/>
              </a:ext>
            </a:extLst>
          </p:cNvPr>
          <p:cNvSpPr>
            <a:spLocks noChangeArrowheads="1"/>
          </p:cNvSpPr>
          <p:nvPr/>
        </p:nvSpPr>
        <p:spPr bwMode="auto">
          <a:xfrm>
            <a:off x="2057400" y="2667000"/>
            <a:ext cx="914400" cy="914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458" name="Rectangle 2">
            <a:extLst>
              <a:ext uri="{FF2B5EF4-FFF2-40B4-BE49-F238E27FC236}">
                <a16:creationId xmlns:a16="http://schemas.microsoft.com/office/drawing/2014/main" id="{E549E3B0-DE32-8C29-3E14-AB86BB213038}"/>
              </a:ext>
            </a:extLst>
          </p:cNvPr>
          <p:cNvSpPr>
            <a:spLocks noGrp="1" noChangeArrowheads="1"/>
          </p:cNvSpPr>
          <p:nvPr>
            <p:ph type="title"/>
          </p:nvPr>
        </p:nvSpPr>
        <p:spPr/>
        <p:txBody>
          <a:bodyPr/>
          <a:lstStyle/>
          <a:p>
            <a:r>
              <a:rPr lang="en-US" altLang="en-US"/>
              <a:t>Summations</a:t>
            </a:r>
          </a:p>
        </p:txBody>
      </p:sp>
      <p:graphicFrame>
        <p:nvGraphicFramePr>
          <p:cNvPr id="19460" name="Object 4">
            <a:extLst>
              <a:ext uri="{FF2B5EF4-FFF2-40B4-BE49-F238E27FC236}">
                <a16:creationId xmlns:a16="http://schemas.microsoft.com/office/drawing/2014/main" id="{E8171ACE-F829-FB07-8565-D9A5C0133E20}"/>
              </a:ext>
            </a:extLst>
          </p:cNvPr>
          <p:cNvGraphicFramePr>
            <a:graphicFrameLocks noChangeAspect="1"/>
          </p:cNvGraphicFramePr>
          <p:nvPr/>
        </p:nvGraphicFramePr>
        <p:xfrm>
          <a:off x="2209800" y="2667000"/>
          <a:ext cx="758825" cy="885825"/>
        </p:xfrm>
        <a:graphic>
          <a:graphicData uri="http://schemas.openxmlformats.org/presentationml/2006/ole">
            <mc:AlternateContent xmlns:mc="http://schemas.openxmlformats.org/markup-compatibility/2006">
              <mc:Choice xmlns:v="urn:schemas-microsoft-com:vml" Requires="v">
                <p:oleObj name="Equation" r:id="rId2" imgW="380880" imgH="444240" progId="Equation.3">
                  <p:embed/>
                </p:oleObj>
              </mc:Choice>
              <mc:Fallback>
                <p:oleObj name="Equation" r:id="rId2" imgW="380880" imgH="444240" progId="Equation.3">
                  <p:embed/>
                  <p:pic>
                    <p:nvPicPr>
                      <p:cNvPr id="19460" name="Object 4">
                        <a:extLst>
                          <a:ext uri="{FF2B5EF4-FFF2-40B4-BE49-F238E27FC236}">
                            <a16:creationId xmlns:a16="http://schemas.microsoft.com/office/drawing/2014/main" id="{E8171ACE-F829-FB07-8565-D9A5C0133E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667000"/>
                        <a:ext cx="75882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1" name="Object 5">
            <a:extLst>
              <a:ext uri="{FF2B5EF4-FFF2-40B4-BE49-F238E27FC236}">
                <a16:creationId xmlns:a16="http://schemas.microsoft.com/office/drawing/2014/main" id="{D667444B-E4CE-109A-3452-4770825BE402}"/>
              </a:ext>
            </a:extLst>
          </p:cNvPr>
          <p:cNvGraphicFramePr>
            <a:graphicFrameLocks noChangeAspect="1"/>
          </p:cNvGraphicFramePr>
          <p:nvPr/>
        </p:nvGraphicFramePr>
        <p:xfrm>
          <a:off x="4038600" y="2819400"/>
          <a:ext cx="1152525" cy="511175"/>
        </p:xfrm>
        <a:graphic>
          <a:graphicData uri="http://schemas.openxmlformats.org/presentationml/2006/ole">
            <mc:AlternateContent xmlns:mc="http://schemas.openxmlformats.org/markup-compatibility/2006">
              <mc:Choice xmlns:v="urn:schemas-microsoft-com:vml" Requires="v">
                <p:oleObj name="Equation" r:id="rId4" imgW="571320" imgH="253800" progId="Equation.3">
                  <p:embed/>
                </p:oleObj>
              </mc:Choice>
              <mc:Fallback>
                <p:oleObj name="Equation" r:id="rId4" imgW="571320" imgH="253800" progId="Equation.3">
                  <p:embed/>
                  <p:pic>
                    <p:nvPicPr>
                      <p:cNvPr id="19461" name="Object 5">
                        <a:extLst>
                          <a:ext uri="{FF2B5EF4-FFF2-40B4-BE49-F238E27FC236}">
                            <a16:creationId xmlns:a16="http://schemas.microsoft.com/office/drawing/2014/main" id="{D667444B-E4CE-109A-3452-4770825BE4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2819400"/>
                        <a:ext cx="1152525"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5" name="Text Box 9">
            <a:extLst>
              <a:ext uri="{FF2B5EF4-FFF2-40B4-BE49-F238E27FC236}">
                <a16:creationId xmlns:a16="http://schemas.microsoft.com/office/drawing/2014/main" id="{8EC67040-929B-E351-814E-52A823C67E0C}"/>
              </a:ext>
            </a:extLst>
          </p:cNvPr>
          <p:cNvSpPr txBox="1">
            <a:spLocks noChangeArrowheads="1"/>
          </p:cNvSpPr>
          <p:nvPr/>
        </p:nvSpPr>
        <p:spPr bwMode="auto">
          <a:xfrm>
            <a:off x="4267200" y="3810000"/>
            <a:ext cx="1301750" cy="6413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CC00"/>
                </a:solidFill>
              </a:rPr>
              <a:t>index of</a:t>
            </a:r>
          </a:p>
          <a:p>
            <a:r>
              <a:rPr lang="en-US" altLang="en-US">
                <a:solidFill>
                  <a:srgbClr val="FFCC00"/>
                </a:solidFill>
              </a:rPr>
              <a:t>summation</a:t>
            </a:r>
          </a:p>
        </p:txBody>
      </p:sp>
      <p:sp>
        <p:nvSpPr>
          <p:cNvPr id="19466" name="Line 10">
            <a:extLst>
              <a:ext uri="{FF2B5EF4-FFF2-40B4-BE49-F238E27FC236}">
                <a16:creationId xmlns:a16="http://schemas.microsoft.com/office/drawing/2014/main" id="{A25B8E17-F16F-0846-C8C1-86F4D3DF8661}"/>
              </a:ext>
            </a:extLst>
          </p:cNvPr>
          <p:cNvSpPr>
            <a:spLocks noChangeShapeType="1"/>
          </p:cNvSpPr>
          <p:nvPr/>
        </p:nvSpPr>
        <p:spPr bwMode="auto">
          <a:xfrm flipV="1">
            <a:off x="4191000" y="3276600"/>
            <a:ext cx="381000" cy="990600"/>
          </a:xfrm>
          <a:prstGeom prst="line">
            <a:avLst/>
          </a:prstGeom>
          <a:noFill/>
          <a:ln w="25400">
            <a:solidFill>
              <a:srgbClr val="FFCC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467" name="Line 11">
            <a:extLst>
              <a:ext uri="{FF2B5EF4-FFF2-40B4-BE49-F238E27FC236}">
                <a16:creationId xmlns:a16="http://schemas.microsoft.com/office/drawing/2014/main" id="{38127229-3DB5-4143-EBC1-3651EB7BB3E8}"/>
              </a:ext>
            </a:extLst>
          </p:cNvPr>
          <p:cNvSpPr>
            <a:spLocks noChangeShapeType="1"/>
          </p:cNvSpPr>
          <p:nvPr/>
        </p:nvSpPr>
        <p:spPr bwMode="auto">
          <a:xfrm flipH="1" flipV="1">
            <a:off x="2667000" y="3563936"/>
            <a:ext cx="1524000" cy="703264"/>
          </a:xfrm>
          <a:prstGeom prst="line">
            <a:avLst/>
          </a:prstGeom>
          <a:noFill/>
          <a:ln w="25400">
            <a:solidFill>
              <a:srgbClr val="FFCC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468" name="Line 12">
            <a:extLst>
              <a:ext uri="{FF2B5EF4-FFF2-40B4-BE49-F238E27FC236}">
                <a16:creationId xmlns:a16="http://schemas.microsoft.com/office/drawing/2014/main" id="{68B3D0FF-7CF9-ADE7-ED9F-644649A50EFE}"/>
              </a:ext>
            </a:extLst>
          </p:cNvPr>
          <p:cNvSpPr>
            <a:spLocks noChangeShapeType="1"/>
          </p:cNvSpPr>
          <p:nvPr/>
        </p:nvSpPr>
        <p:spPr bwMode="auto">
          <a:xfrm>
            <a:off x="4191000" y="4267200"/>
            <a:ext cx="495300" cy="381000"/>
          </a:xfrm>
          <a:prstGeom prst="line">
            <a:avLst/>
          </a:prstGeom>
          <a:noFill/>
          <a:ln w="25400">
            <a:solidFill>
              <a:srgbClr val="FFCC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469" name="Text Box 13">
            <a:extLst>
              <a:ext uri="{FF2B5EF4-FFF2-40B4-BE49-F238E27FC236}">
                <a16:creationId xmlns:a16="http://schemas.microsoft.com/office/drawing/2014/main" id="{ECD25847-D5E7-3F7E-FEA1-965A5EC326DE}"/>
              </a:ext>
            </a:extLst>
          </p:cNvPr>
          <p:cNvSpPr txBox="1">
            <a:spLocks noChangeArrowheads="1"/>
          </p:cNvSpPr>
          <p:nvPr/>
        </p:nvSpPr>
        <p:spPr bwMode="auto">
          <a:xfrm>
            <a:off x="7696200" y="2133600"/>
            <a:ext cx="1238250" cy="3667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0000"/>
                </a:solidFill>
              </a:rPr>
              <a:t>upper limit</a:t>
            </a:r>
          </a:p>
        </p:txBody>
      </p:sp>
      <p:sp>
        <p:nvSpPr>
          <p:cNvPr id="19470" name="Line 14">
            <a:extLst>
              <a:ext uri="{FF2B5EF4-FFF2-40B4-BE49-F238E27FC236}">
                <a16:creationId xmlns:a16="http://schemas.microsoft.com/office/drawing/2014/main" id="{A6C0F311-72EE-87D1-F953-AC1D82E60677}"/>
              </a:ext>
            </a:extLst>
          </p:cNvPr>
          <p:cNvSpPr>
            <a:spLocks noChangeShapeType="1"/>
          </p:cNvSpPr>
          <p:nvPr/>
        </p:nvSpPr>
        <p:spPr bwMode="auto">
          <a:xfrm flipH="1">
            <a:off x="2514600" y="2362200"/>
            <a:ext cx="5181600" cy="457200"/>
          </a:xfrm>
          <a:prstGeom prst="line">
            <a:avLst/>
          </a:prstGeom>
          <a:noFill/>
          <a:ln w="254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471" name="Line 15">
            <a:extLst>
              <a:ext uri="{FF2B5EF4-FFF2-40B4-BE49-F238E27FC236}">
                <a16:creationId xmlns:a16="http://schemas.microsoft.com/office/drawing/2014/main" id="{F033916D-F295-3409-D106-56E1014D23B9}"/>
              </a:ext>
            </a:extLst>
          </p:cNvPr>
          <p:cNvSpPr>
            <a:spLocks noChangeShapeType="1"/>
          </p:cNvSpPr>
          <p:nvPr/>
        </p:nvSpPr>
        <p:spPr bwMode="auto">
          <a:xfrm flipH="1">
            <a:off x="4648200" y="2362200"/>
            <a:ext cx="3048000" cy="533400"/>
          </a:xfrm>
          <a:prstGeom prst="line">
            <a:avLst/>
          </a:prstGeom>
          <a:noFill/>
          <a:ln w="254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472" name="Line 16">
            <a:extLst>
              <a:ext uri="{FF2B5EF4-FFF2-40B4-BE49-F238E27FC236}">
                <a16:creationId xmlns:a16="http://schemas.microsoft.com/office/drawing/2014/main" id="{73193496-91B4-1440-78C7-7BEEC50F1546}"/>
              </a:ext>
            </a:extLst>
          </p:cNvPr>
          <p:cNvSpPr>
            <a:spLocks noChangeShapeType="1"/>
          </p:cNvSpPr>
          <p:nvPr/>
        </p:nvSpPr>
        <p:spPr bwMode="auto">
          <a:xfrm flipH="1">
            <a:off x="6248400" y="2362200"/>
            <a:ext cx="1447800" cy="2286000"/>
          </a:xfrm>
          <a:prstGeom prst="line">
            <a:avLst/>
          </a:prstGeom>
          <a:noFill/>
          <a:ln w="254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473" name="Text Box 17">
            <a:extLst>
              <a:ext uri="{FF2B5EF4-FFF2-40B4-BE49-F238E27FC236}">
                <a16:creationId xmlns:a16="http://schemas.microsoft.com/office/drawing/2014/main" id="{1342179F-9187-3FC2-F940-5E987E58E878}"/>
              </a:ext>
            </a:extLst>
          </p:cNvPr>
          <p:cNvSpPr txBox="1">
            <a:spLocks noChangeArrowheads="1"/>
          </p:cNvSpPr>
          <p:nvPr/>
        </p:nvSpPr>
        <p:spPr bwMode="auto">
          <a:xfrm>
            <a:off x="5886450" y="2971800"/>
            <a:ext cx="1200150" cy="3667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chemeClr val="accent2"/>
                </a:solidFill>
              </a:rPr>
              <a:t>lower limit</a:t>
            </a:r>
          </a:p>
        </p:txBody>
      </p:sp>
      <p:sp>
        <p:nvSpPr>
          <p:cNvPr id="19474" name="Line 18">
            <a:extLst>
              <a:ext uri="{FF2B5EF4-FFF2-40B4-BE49-F238E27FC236}">
                <a16:creationId xmlns:a16="http://schemas.microsoft.com/office/drawing/2014/main" id="{BC68FBFE-2A02-BDB2-4154-39A2B76BF1B8}"/>
              </a:ext>
            </a:extLst>
          </p:cNvPr>
          <p:cNvSpPr>
            <a:spLocks noChangeShapeType="1"/>
          </p:cNvSpPr>
          <p:nvPr/>
        </p:nvSpPr>
        <p:spPr bwMode="auto">
          <a:xfrm flipH="1">
            <a:off x="2667000" y="3200400"/>
            <a:ext cx="3200400" cy="228600"/>
          </a:xfrm>
          <a:prstGeom prst="line">
            <a:avLst/>
          </a:prstGeom>
          <a:noFill/>
          <a:ln w="25400">
            <a:solidFill>
              <a:schemeClr val="accent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475" name="Line 19">
            <a:extLst>
              <a:ext uri="{FF2B5EF4-FFF2-40B4-BE49-F238E27FC236}">
                <a16:creationId xmlns:a16="http://schemas.microsoft.com/office/drawing/2014/main" id="{101F9B06-D6BC-5051-D95C-B23FBA7BE00F}"/>
              </a:ext>
            </a:extLst>
          </p:cNvPr>
          <p:cNvSpPr>
            <a:spLocks noChangeShapeType="1"/>
          </p:cNvSpPr>
          <p:nvPr/>
        </p:nvSpPr>
        <p:spPr bwMode="auto">
          <a:xfrm flipH="1">
            <a:off x="4953000" y="3200400"/>
            <a:ext cx="914400" cy="0"/>
          </a:xfrm>
          <a:prstGeom prst="line">
            <a:avLst/>
          </a:prstGeom>
          <a:noFill/>
          <a:ln w="25400">
            <a:solidFill>
              <a:schemeClr val="accent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476" name="Line 20">
            <a:extLst>
              <a:ext uri="{FF2B5EF4-FFF2-40B4-BE49-F238E27FC236}">
                <a16:creationId xmlns:a16="http://schemas.microsoft.com/office/drawing/2014/main" id="{5ACA3795-4EA1-85F0-E863-5234EDBDBA2B}"/>
              </a:ext>
            </a:extLst>
          </p:cNvPr>
          <p:cNvSpPr>
            <a:spLocks noChangeShapeType="1"/>
          </p:cNvSpPr>
          <p:nvPr/>
        </p:nvSpPr>
        <p:spPr bwMode="auto">
          <a:xfrm flipH="1">
            <a:off x="4873625" y="3200400"/>
            <a:ext cx="993775" cy="1447800"/>
          </a:xfrm>
          <a:prstGeom prst="line">
            <a:avLst/>
          </a:prstGeom>
          <a:noFill/>
          <a:ln w="25400">
            <a:solidFill>
              <a:schemeClr val="accent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59">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459">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946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46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46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46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946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47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47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470"/>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947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47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47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4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5" grpId="0"/>
      <p:bldP spid="19469" grpId="0"/>
      <p:bldP spid="1947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267E4F2-BB5C-95E2-205E-FE2679738E02}"/>
              </a:ext>
            </a:extLst>
          </p:cNvPr>
          <p:cNvSpPr>
            <a:spLocks noGrp="1"/>
          </p:cNvSpPr>
          <p:nvPr>
            <p:ph type="sldNum" sz="quarter" idx="12"/>
          </p:nvPr>
        </p:nvSpPr>
        <p:spPr/>
        <p:txBody>
          <a:bodyPr/>
          <a:lstStyle/>
          <a:p>
            <a:fld id="{1BAF0ACC-8A45-4579-B9FC-3A7B01F98FEE}" type="slidenum">
              <a:rPr lang="en-US" altLang="en-US"/>
              <a:pPr/>
              <a:t>25</a:t>
            </a:fld>
            <a:endParaRPr lang="en-US" altLang="en-US"/>
          </a:p>
        </p:txBody>
      </p:sp>
      <p:sp>
        <p:nvSpPr>
          <p:cNvPr id="31746" name="Rectangle 2">
            <a:extLst>
              <a:ext uri="{FF2B5EF4-FFF2-40B4-BE49-F238E27FC236}">
                <a16:creationId xmlns:a16="http://schemas.microsoft.com/office/drawing/2014/main" id="{7621FC2D-CECE-ABE2-8DC1-7D1906AF14A9}"/>
              </a:ext>
            </a:extLst>
          </p:cNvPr>
          <p:cNvSpPr>
            <a:spLocks noGrp="1" noChangeArrowheads="1"/>
          </p:cNvSpPr>
          <p:nvPr>
            <p:ph type="title"/>
          </p:nvPr>
        </p:nvSpPr>
        <p:spPr/>
        <p:txBody>
          <a:bodyPr/>
          <a:lstStyle/>
          <a:p>
            <a:r>
              <a:rPr lang="en-US" altLang="en-US"/>
              <a:t>Evaluating sequences</a:t>
            </a:r>
          </a:p>
        </p:txBody>
      </p:sp>
      <p:graphicFrame>
        <p:nvGraphicFramePr>
          <p:cNvPr id="31748" name="Object 4">
            <a:extLst>
              <a:ext uri="{FF2B5EF4-FFF2-40B4-BE49-F238E27FC236}">
                <a16:creationId xmlns:a16="http://schemas.microsoft.com/office/drawing/2014/main" id="{2B7C83E2-C290-05D6-843F-E6DF668A6A92}"/>
              </a:ext>
            </a:extLst>
          </p:cNvPr>
          <p:cNvGraphicFramePr>
            <a:graphicFrameLocks noChangeAspect="1"/>
          </p:cNvGraphicFramePr>
          <p:nvPr/>
        </p:nvGraphicFramePr>
        <p:xfrm>
          <a:off x="457200" y="2057400"/>
          <a:ext cx="1196975" cy="866775"/>
        </p:xfrm>
        <a:graphic>
          <a:graphicData uri="http://schemas.openxmlformats.org/presentationml/2006/ole">
            <mc:AlternateContent xmlns:mc="http://schemas.openxmlformats.org/markup-compatibility/2006">
              <mc:Choice xmlns:v="urn:schemas-microsoft-com:vml" Requires="v">
                <p:oleObj name="Equation" r:id="rId2" imgW="596880" imgH="431640" progId="Equation.3">
                  <p:embed/>
                </p:oleObj>
              </mc:Choice>
              <mc:Fallback>
                <p:oleObj name="Equation" r:id="rId2" imgW="596880" imgH="431640" progId="Equation.3">
                  <p:embed/>
                  <p:pic>
                    <p:nvPicPr>
                      <p:cNvPr id="31748" name="Object 4">
                        <a:extLst>
                          <a:ext uri="{FF2B5EF4-FFF2-40B4-BE49-F238E27FC236}">
                            <a16:creationId xmlns:a16="http://schemas.microsoft.com/office/drawing/2014/main" id="{2B7C83E2-C290-05D6-843F-E6DF668A6A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057400"/>
                        <a:ext cx="1196975" cy="8667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49" name="Object 5">
            <a:extLst>
              <a:ext uri="{FF2B5EF4-FFF2-40B4-BE49-F238E27FC236}">
                <a16:creationId xmlns:a16="http://schemas.microsoft.com/office/drawing/2014/main" id="{0FC1168E-D097-E6B6-61CD-E3B97A17427B}"/>
              </a:ext>
            </a:extLst>
          </p:cNvPr>
          <p:cNvGraphicFramePr>
            <a:graphicFrameLocks noChangeAspect="1"/>
          </p:cNvGraphicFramePr>
          <p:nvPr/>
        </p:nvGraphicFramePr>
        <p:xfrm>
          <a:off x="457200" y="2971800"/>
          <a:ext cx="1114425" cy="885825"/>
        </p:xfrm>
        <a:graphic>
          <a:graphicData uri="http://schemas.openxmlformats.org/presentationml/2006/ole">
            <mc:AlternateContent xmlns:mc="http://schemas.openxmlformats.org/markup-compatibility/2006">
              <mc:Choice xmlns:v="urn:schemas-microsoft-com:vml" Requires="v">
                <p:oleObj name="Equation" r:id="rId4" imgW="558720" imgH="444240" progId="Equation.3">
                  <p:embed/>
                </p:oleObj>
              </mc:Choice>
              <mc:Fallback>
                <p:oleObj name="Equation" r:id="rId4" imgW="558720" imgH="444240" progId="Equation.3">
                  <p:embed/>
                  <p:pic>
                    <p:nvPicPr>
                      <p:cNvPr id="31749" name="Object 5">
                        <a:extLst>
                          <a:ext uri="{FF2B5EF4-FFF2-40B4-BE49-F238E27FC236}">
                            <a16:creationId xmlns:a16="http://schemas.microsoft.com/office/drawing/2014/main" id="{0FC1168E-D097-E6B6-61CD-E3B97A1742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2971800"/>
                        <a:ext cx="1114425" cy="8858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0" name="Object 6">
            <a:extLst>
              <a:ext uri="{FF2B5EF4-FFF2-40B4-BE49-F238E27FC236}">
                <a16:creationId xmlns:a16="http://schemas.microsoft.com/office/drawing/2014/main" id="{C5D4ABF2-2342-9334-9327-E71F8725FCB1}"/>
              </a:ext>
            </a:extLst>
          </p:cNvPr>
          <p:cNvGraphicFramePr>
            <a:graphicFrameLocks noChangeAspect="1"/>
          </p:cNvGraphicFramePr>
          <p:nvPr/>
        </p:nvGraphicFramePr>
        <p:xfrm>
          <a:off x="685800" y="3886200"/>
          <a:ext cx="585788" cy="866775"/>
        </p:xfrm>
        <a:graphic>
          <a:graphicData uri="http://schemas.openxmlformats.org/presentationml/2006/ole">
            <mc:AlternateContent xmlns:mc="http://schemas.openxmlformats.org/markup-compatibility/2006">
              <mc:Choice xmlns:v="urn:schemas-microsoft-com:vml" Requires="v">
                <p:oleObj name="Equation" r:id="rId6" imgW="291960" imgH="431640" progId="Equation.3">
                  <p:embed/>
                </p:oleObj>
              </mc:Choice>
              <mc:Fallback>
                <p:oleObj name="Equation" r:id="rId6" imgW="291960" imgH="431640" progId="Equation.3">
                  <p:embed/>
                  <p:pic>
                    <p:nvPicPr>
                      <p:cNvPr id="31750" name="Object 6">
                        <a:extLst>
                          <a:ext uri="{FF2B5EF4-FFF2-40B4-BE49-F238E27FC236}">
                            <a16:creationId xmlns:a16="http://schemas.microsoft.com/office/drawing/2014/main" id="{C5D4ABF2-2342-9334-9327-E71F8725FC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3886200"/>
                        <a:ext cx="585788" cy="8667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1" name="Object 7">
            <a:extLst>
              <a:ext uri="{FF2B5EF4-FFF2-40B4-BE49-F238E27FC236}">
                <a16:creationId xmlns:a16="http://schemas.microsoft.com/office/drawing/2014/main" id="{9B622341-F18A-0D32-F942-6F69BD7B2CB5}"/>
              </a:ext>
            </a:extLst>
          </p:cNvPr>
          <p:cNvGraphicFramePr>
            <a:graphicFrameLocks noChangeAspect="1"/>
          </p:cNvGraphicFramePr>
          <p:nvPr/>
        </p:nvGraphicFramePr>
        <p:xfrm>
          <a:off x="457200" y="4800600"/>
          <a:ext cx="1617663" cy="884238"/>
        </p:xfrm>
        <a:graphic>
          <a:graphicData uri="http://schemas.openxmlformats.org/presentationml/2006/ole">
            <mc:AlternateContent xmlns:mc="http://schemas.openxmlformats.org/markup-compatibility/2006">
              <mc:Choice xmlns:v="urn:schemas-microsoft-com:vml" Requires="v">
                <p:oleObj name="Equation" r:id="rId8" imgW="812520" imgH="444240" progId="Equation.3">
                  <p:embed/>
                </p:oleObj>
              </mc:Choice>
              <mc:Fallback>
                <p:oleObj name="Equation" r:id="rId8" imgW="812520" imgH="444240" progId="Equation.3">
                  <p:embed/>
                  <p:pic>
                    <p:nvPicPr>
                      <p:cNvPr id="31751" name="Object 7">
                        <a:extLst>
                          <a:ext uri="{FF2B5EF4-FFF2-40B4-BE49-F238E27FC236}">
                            <a16:creationId xmlns:a16="http://schemas.microsoft.com/office/drawing/2014/main" id="{9B622341-F18A-0D32-F942-6F69BD7B2CB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 y="4800600"/>
                        <a:ext cx="1617663" cy="8842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3" name="Rectangle 9">
            <a:extLst>
              <a:ext uri="{FF2B5EF4-FFF2-40B4-BE49-F238E27FC236}">
                <a16:creationId xmlns:a16="http://schemas.microsoft.com/office/drawing/2014/main" id="{39E36DD1-D195-DF42-A9E9-D55E7001214D}"/>
              </a:ext>
            </a:extLst>
          </p:cNvPr>
          <p:cNvSpPr>
            <a:spLocks noChangeArrowheads="1"/>
          </p:cNvSpPr>
          <p:nvPr/>
        </p:nvSpPr>
        <p:spPr bwMode="auto">
          <a:xfrm>
            <a:off x="2286000" y="2057400"/>
            <a:ext cx="66294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a:spcBef>
                <a:spcPct val="20000"/>
              </a:spcBef>
              <a:buChar char="•"/>
              <a:defRPr sz="3200">
                <a:solidFill>
                  <a:schemeClr val="tx1"/>
                </a:solidFill>
                <a:latin typeface="Arial" panose="020B0604020202020204" pitchFamily="34" charset="0"/>
              </a:defRPr>
            </a:lvl1pPr>
            <a:lvl2pPr marL="742950" indent="-285750" algn="just">
              <a:spcBef>
                <a:spcPct val="20000"/>
              </a:spcBef>
              <a:buChar char="–"/>
              <a:defRPr sz="2800">
                <a:solidFill>
                  <a:schemeClr val="tx1"/>
                </a:solidFill>
                <a:latin typeface="Arial" panose="020B0604020202020204" pitchFamily="34" charset="0"/>
              </a:defRPr>
            </a:lvl2pPr>
            <a:lvl3pPr marL="1143000" indent="-228600" algn="just">
              <a:spcBef>
                <a:spcPct val="20000"/>
              </a:spcBef>
              <a:buChar char="•"/>
              <a:defRPr sz="2400">
                <a:solidFill>
                  <a:schemeClr val="tx1"/>
                </a:solidFill>
                <a:latin typeface="Arial" panose="020B0604020202020204" pitchFamily="34" charset="0"/>
              </a:defRPr>
            </a:lvl3pPr>
            <a:lvl4pPr marL="1600200" indent="-228600" algn="just">
              <a:spcBef>
                <a:spcPct val="20000"/>
              </a:spcBef>
              <a:buChar char="–"/>
              <a:defRPr sz="2000">
                <a:solidFill>
                  <a:schemeClr val="tx1"/>
                </a:solidFill>
                <a:latin typeface="Arial" panose="020B0604020202020204" pitchFamily="34" charset="0"/>
              </a:defRPr>
            </a:lvl4pPr>
            <a:lvl5pPr marL="2057400" indent="-228600" algn="just">
              <a:spcBef>
                <a:spcPct val="20000"/>
              </a:spcBef>
              <a:buChar char="»"/>
              <a:defRPr sz="2000">
                <a:solidFill>
                  <a:schemeClr val="tx1"/>
                </a:solidFill>
                <a:latin typeface="Arial" panose="020B0604020202020204" pitchFamily="34" charset="0"/>
              </a:defRPr>
            </a:lvl5pPr>
            <a:lvl6pPr marL="2514600" indent="-228600" algn="just" fontAlgn="base">
              <a:spcBef>
                <a:spcPct val="20000"/>
              </a:spcBef>
              <a:spcAft>
                <a:spcPct val="0"/>
              </a:spcAft>
              <a:buChar char="»"/>
              <a:defRPr sz="2000">
                <a:solidFill>
                  <a:schemeClr val="tx1"/>
                </a:solidFill>
                <a:latin typeface="Arial" panose="020B0604020202020204" pitchFamily="34" charset="0"/>
              </a:defRPr>
            </a:lvl6pPr>
            <a:lvl7pPr marL="2971800" indent="-228600" algn="just" fontAlgn="base">
              <a:spcBef>
                <a:spcPct val="20000"/>
              </a:spcBef>
              <a:spcAft>
                <a:spcPct val="0"/>
              </a:spcAft>
              <a:buChar char="»"/>
              <a:defRPr sz="2000">
                <a:solidFill>
                  <a:schemeClr val="tx1"/>
                </a:solidFill>
                <a:latin typeface="Arial" panose="020B0604020202020204" pitchFamily="34" charset="0"/>
              </a:defRPr>
            </a:lvl7pPr>
            <a:lvl8pPr marL="3429000" indent="-228600" algn="just" fontAlgn="base">
              <a:spcBef>
                <a:spcPct val="20000"/>
              </a:spcBef>
              <a:spcAft>
                <a:spcPct val="0"/>
              </a:spcAft>
              <a:buChar char="»"/>
              <a:defRPr sz="2000">
                <a:solidFill>
                  <a:schemeClr val="tx1"/>
                </a:solidFill>
                <a:latin typeface="Arial" panose="020B0604020202020204" pitchFamily="34" charset="0"/>
              </a:defRPr>
            </a:lvl8pPr>
            <a:lvl9pPr marL="3886200" indent="-228600" algn="just" fontAlgn="base">
              <a:spcBef>
                <a:spcPct val="20000"/>
              </a:spcBef>
              <a:spcAft>
                <a:spcPct val="0"/>
              </a:spcAft>
              <a:buChar char="»"/>
              <a:defRPr sz="2000">
                <a:solidFill>
                  <a:schemeClr val="tx1"/>
                </a:solidFill>
                <a:latin typeface="Arial" panose="020B0604020202020204" pitchFamily="34" charset="0"/>
              </a:defRPr>
            </a:lvl9pPr>
          </a:lstStyle>
          <a:p>
            <a:r>
              <a:rPr lang="en-US" altLang="en-US" sz="2400"/>
              <a:t>2 + 3 + 4 + 5 + 6 = 20</a:t>
            </a:r>
          </a:p>
          <a:p>
            <a:endParaRPr lang="en-US" altLang="en-US" sz="2400"/>
          </a:p>
          <a:p>
            <a:r>
              <a:rPr lang="en-US" altLang="en-US" sz="2400">
                <a:sym typeface="Symbol" panose="05050102010706020507" pitchFamily="18" charset="2"/>
              </a:rPr>
              <a:t>(-2)</a:t>
            </a:r>
            <a:r>
              <a:rPr lang="en-US" altLang="en-US" sz="2400" baseline="30000">
                <a:sym typeface="Symbol" panose="05050102010706020507" pitchFamily="18" charset="2"/>
              </a:rPr>
              <a:t>0</a:t>
            </a:r>
            <a:r>
              <a:rPr lang="en-US" altLang="en-US" sz="2400">
                <a:sym typeface="Symbol" panose="05050102010706020507" pitchFamily="18" charset="2"/>
              </a:rPr>
              <a:t> + (-2)</a:t>
            </a:r>
            <a:r>
              <a:rPr lang="en-US" altLang="en-US" sz="2400" baseline="30000">
                <a:sym typeface="Symbol" panose="05050102010706020507" pitchFamily="18" charset="2"/>
              </a:rPr>
              <a:t>1</a:t>
            </a:r>
            <a:r>
              <a:rPr lang="en-US" altLang="en-US" sz="2400">
                <a:sym typeface="Symbol" panose="05050102010706020507" pitchFamily="18" charset="2"/>
              </a:rPr>
              <a:t> + (-2)</a:t>
            </a:r>
            <a:r>
              <a:rPr lang="en-US" altLang="en-US" sz="2400" baseline="30000">
                <a:sym typeface="Symbol" panose="05050102010706020507" pitchFamily="18" charset="2"/>
              </a:rPr>
              <a:t>2</a:t>
            </a:r>
            <a:r>
              <a:rPr lang="en-US" altLang="en-US" sz="2400">
                <a:sym typeface="Symbol" panose="05050102010706020507" pitchFamily="18" charset="2"/>
              </a:rPr>
              <a:t> + (-2)</a:t>
            </a:r>
            <a:r>
              <a:rPr lang="en-US" altLang="en-US" sz="2400" baseline="30000">
                <a:sym typeface="Symbol" panose="05050102010706020507" pitchFamily="18" charset="2"/>
              </a:rPr>
              <a:t>3</a:t>
            </a:r>
            <a:r>
              <a:rPr lang="en-US" altLang="en-US" sz="2400">
                <a:sym typeface="Symbol" panose="05050102010706020507" pitchFamily="18" charset="2"/>
              </a:rPr>
              <a:t> + (-2)</a:t>
            </a:r>
            <a:r>
              <a:rPr lang="en-US" altLang="en-US" sz="2400" baseline="30000">
                <a:sym typeface="Symbol" panose="05050102010706020507" pitchFamily="18" charset="2"/>
              </a:rPr>
              <a:t>4</a:t>
            </a:r>
            <a:r>
              <a:rPr lang="en-US" altLang="en-US" sz="2400">
                <a:sym typeface="Symbol" panose="05050102010706020507" pitchFamily="18" charset="2"/>
              </a:rPr>
              <a:t> = 11</a:t>
            </a:r>
          </a:p>
          <a:p>
            <a:endParaRPr lang="en-US" altLang="en-US" sz="2400"/>
          </a:p>
          <a:p>
            <a:r>
              <a:rPr lang="en-US" altLang="en-US" sz="2400"/>
              <a:t>3 + 3 + 3 + 3 + 3 + 3 + 3 + 3 + 3 + 3 = 30</a:t>
            </a:r>
          </a:p>
          <a:p>
            <a:endParaRPr lang="en-US" altLang="en-US" sz="2400"/>
          </a:p>
          <a:p>
            <a:r>
              <a:rPr lang="en-US" altLang="en-US" sz="2400">
                <a:sym typeface="Symbol" panose="05050102010706020507" pitchFamily="18" charset="2"/>
              </a:rPr>
              <a:t>(2</a:t>
            </a:r>
            <a:r>
              <a:rPr lang="en-US" altLang="en-US" sz="2400" baseline="30000">
                <a:sym typeface="Symbol" panose="05050102010706020507" pitchFamily="18" charset="2"/>
              </a:rPr>
              <a:t>1</a:t>
            </a:r>
            <a:r>
              <a:rPr lang="en-US" altLang="en-US" sz="2400">
                <a:sym typeface="Symbol" panose="05050102010706020507" pitchFamily="18" charset="2"/>
              </a:rPr>
              <a:t>-2</a:t>
            </a:r>
            <a:r>
              <a:rPr lang="en-US" altLang="en-US" sz="2400" baseline="30000">
                <a:sym typeface="Symbol" panose="05050102010706020507" pitchFamily="18" charset="2"/>
              </a:rPr>
              <a:t>0</a:t>
            </a:r>
            <a:r>
              <a:rPr lang="en-US" altLang="en-US" sz="2400">
                <a:sym typeface="Symbol" panose="05050102010706020507" pitchFamily="18" charset="2"/>
              </a:rPr>
              <a:t>) + (2</a:t>
            </a:r>
            <a:r>
              <a:rPr lang="en-US" altLang="en-US" sz="2400" baseline="30000">
                <a:sym typeface="Symbol" panose="05050102010706020507" pitchFamily="18" charset="2"/>
              </a:rPr>
              <a:t>2</a:t>
            </a:r>
            <a:r>
              <a:rPr lang="en-US" altLang="en-US" sz="2400">
                <a:sym typeface="Symbol" panose="05050102010706020507" pitchFamily="18" charset="2"/>
              </a:rPr>
              <a:t>-2</a:t>
            </a:r>
            <a:r>
              <a:rPr lang="en-US" altLang="en-US" sz="2400" baseline="30000">
                <a:sym typeface="Symbol" panose="05050102010706020507" pitchFamily="18" charset="2"/>
              </a:rPr>
              <a:t>1</a:t>
            </a:r>
            <a:r>
              <a:rPr lang="en-US" altLang="en-US" sz="2400">
                <a:sym typeface="Symbol" panose="05050102010706020507" pitchFamily="18" charset="2"/>
              </a:rPr>
              <a:t>) + (2</a:t>
            </a:r>
            <a:r>
              <a:rPr lang="en-US" altLang="en-US" sz="2400" baseline="30000">
                <a:sym typeface="Symbol" panose="05050102010706020507" pitchFamily="18" charset="2"/>
              </a:rPr>
              <a:t>3</a:t>
            </a:r>
            <a:r>
              <a:rPr lang="en-US" altLang="en-US" sz="2400">
                <a:sym typeface="Symbol" panose="05050102010706020507" pitchFamily="18" charset="2"/>
              </a:rPr>
              <a:t>-2</a:t>
            </a:r>
            <a:r>
              <a:rPr lang="en-US" altLang="en-US" sz="2400" baseline="30000">
                <a:sym typeface="Symbol" panose="05050102010706020507" pitchFamily="18" charset="2"/>
              </a:rPr>
              <a:t>2</a:t>
            </a:r>
            <a:r>
              <a:rPr lang="en-US" altLang="en-US" sz="2400">
                <a:sym typeface="Symbol" panose="05050102010706020507" pitchFamily="18" charset="2"/>
              </a:rPr>
              <a:t>) + … (2</a:t>
            </a:r>
            <a:r>
              <a:rPr lang="en-US" altLang="en-US" sz="2400" baseline="30000">
                <a:sym typeface="Symbol" panose="05050102010706020507" pitchFamily="18" charset="2"/>
              </a:rPr>
              <a:t>10</a:t>
            </a:r>
            <a:r>
              <a:rPr lang="en-US" altLang="en-US" sz="2400">
                <a:sym typeface="Symbol" panose="05050102010706020507" pitchFamily="18" charset="2"/>
              </a:rPr>
              <a:t>-2</a:t>
            </a:r>
            <a:r>
              <a:rPr lang="en-US" altLang="en-US" sz="2400" baseline="30000">
                <a:sym typeface="Symbol" panose="05050102010706020507" pitchFamily="18" charset="2"/>
              </a:rPr>
              <a:t>9</a:t>
            </a:r>
            <a:r>
              <a:rPr lang="en-US" altLang="en-US" sz="2400">
                <a:sym typeface="Symbol" panose="05050102010706020507" pitchFamily="18" charset="2"/>
              </a:rPr>
              <a:t>) = 511</a:t>
            </a:r>
          </a:p>
          <a:p>
            <a:pPr lvl="1" algn="l"/>
            <a:r>
              <a:rPr lang="en-US" altLang="en-US" sz="2000">
                <a:sym typeface="Symbol" panose="05050102010706020507" pitchFamily="18" charset="2"/>
              </a:rPr>
              <a:t>Note that each term (except the first </a:t>
            </a:r>
            <a:br>
              <a:rPr lang="en-US" altLang="en-US" sz="2000">
                <a:sym typeface="Symbol" panose="05050102010706020507" pitchFamily="18" charset="2"/>
              </a:rPr>
            </a:br>
            <a:r>
              <a:rPr lang="en-US" altLang="en-US" sz="2000">
                <a:sym typeface="Symbol" panose="05050102010706020507" pitchFamily="18" charset="2"/>
              </a:rPr>
              <a:t>and last) is cancelled by another term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1753">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174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1753">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175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1753">
                                            <p:txEl>
                                              <p:pRg st="4" end="4"/>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175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1753">
                                            <p:txEl>
                                              <p:pRg st="6" end="6"/>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175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A2441441-7F78-6A7A-2529-C036DA8ED069}"/>
              </a:ext>
            </a:extLst>
          </p:cNvPr>
          <p:cNvSpPr>
            <a:spLocks noGrp="1"/>
          </p:cNvSpPr>
          <p:nvPr>
            <p:ph type="sldNum" sz="quarter" idx="12"/>
          </p:nvPr>
        </p:nvSpPr>
        <p:spPr/>
        <p:txBody>
          <a:bodyPr/>
          <a:lstStyle/>
          <a:p>
            <a:fld id="{60B31AED-2A8C-459E-9EBF-9507B50E777F}" type="slidenum">
              <a:rPr lang="en-US" altLang="en-US"/>
              <a:pPr/>
              <a:t>26</a:t>
            </a:fld>
            <a:endParaRPr lang="en-US" altLang="en-US"/>
          </a:p>
        </p:txBody>
      </p:sp>
      <p:sp>
        <p:nvSpPr>
          <p:cNvPr id="32770" name="Rectangle 2">
            <a:extLst>
              <a:ext uri="{FF2B5EF4-FFF2-40B4-BE49-F238E27FC236}">
                <a16:creationId xmlns:a16="http://schemas.microsoft.com/office/drawing/2014/main" id="{031CAF94-7034-656F-E883-EAD1CC1C2DCB}"/>
              </a:ext>
            </a:extLst>
          </p:cNvPr>
          <p:cNvSpPr>
            <a:spLocks noGrp="1" noChangeArrowheads="1"/>
          </p:cNvSpPr>
          <p:nvPr>
            <p:ph type="title"/>
          </p:nvPr>
        </p:nvSpPr>
        <p:spPr/>
        <p:txBody>
          <a:bodyPr/>
          <a:lstStyle/>
          <a:p>
            <a:r>
              <a:rPr lang="en-US" altLang="en-US"/>
              <a:t>Evaluating sequences</a:t>
            </a:r>
          </a:p>
        </p:txBody>
      </p:sp>
      <p:sp>
        <p:nvSpPr>
          <p:cNvPr id="32771" name="Rectangle 3">
            <a:extLst>
              <a:ext uri="{FF2B5EF4-FFF2-40B4-BE49-F238E27FC236}">
                <a16:creationId xmlns:a16="http://schemas.microsoft.com/office/drawing/2014/main" id="{8F1555F6-C820-98D1-F120-C6AFAC31F816}"/>
              </a:ext>
            </a:extLst>
          </p:cNvPr>
          <p:cNvSpPr>
            <a:spLocks noGrp="1" noChangeArrowheads="1"/>
          </p:cNvSpPr>
          <p:nvPr>
            <p:ph type="body" idx="1"/>
          </p:nvPr>
        </p:nvSpPr>
        <p:spPr/>
        <p:txBody>
          <a:bodyPr>
            <a:normAutofit lnSpcReduction="10000"/>
          </a:bodyPr>
          <a:lstStyle/>
          <a:p>
            <a:pPr>
              <a:lnSpc>
                <a:spcPct val="90000"/>
              </a:lnSpc>
            </a:pPr>
            <a:r>
              <a:rPr lang="en-US" altLang="en-US" sz="2800"/>
              <a:t>Let S = { 1, 3, 5, 7 }</a:t>
            </a:r>
          </a:p>
          <a:p>
            <a:pPr>
              <a:lnSpc>
                <a:spcPct val="90000"/>
              </a:lnSpc>
            </a:pPr>
            <a:endParaRPr lang="en-US" altLang="en-US" sz="2800"/>
          </a:p>
          <a:p>
            <a:pPr>
              <a:lnSpc>
                <a:spcPct val="90000"/>
              </a:lnSpc>
            </a:pPr>
            <a:r>
              <a:rPr lang="en-US" altLang="en-US" sz="2800"/>
              <a:t>What is </a:t>
            </a:r>
            <a:r>
              <a:rPr lang="en-US" altLang="en-US" sz="2800">
                <a:sym typeface="Symbol" panose="05050102010706020507" pitchFamily="18" charset="2"/>
              </a:rPr>
              <a:t></a:t>
            </a:r>
            <a:r>
              <a:rPr lang="en-US" altLang="en-US" sz="2800" baseline="-25000">
                <a:sym typeface="Symbol" panose="05050102010706020507" pitchFamily="18" charset="2"/>
              </a:rPr>
              <a:t>j</a:t>
            </a:r>
            <a:r>
              <a:rPr lang="en-US" altLang="en-US" sz="2800" i="1" baseline="-25000">
                <a:sym typeface="Symbol" panose="05050102010706020507" pitchFamily="18" charset="2"/>
              </a:rPr>
              <a:t>S </a:t>
            </a:r>
            <a:r>
              <a:rPr lang="en-US" altLang="en-US" sz="2800" i="1">
                <a:sym typeface="Symbol" panose="05050102010706020507" pitchFamily="18" charset="2"/>
              </a:rPr>
              <a:t>j</a:t>
            </a:r>
            <a:endParaRPr lang="en-US" altLang="en-US" sz="2800">
              <a:sym typeface="Symbol" panose="05050102010706020507" pitchFamily="18" charset="2"/>
            </a:endParaRPr>
          </a:p>
          <a:p>
            <a:pPr lvl="1">
              <a:lnSpc>
                <a:spcPct val="90000"/>
              </a:lnSpc>
            </a:pPr>
            <a:r>
              <a:rPr lang="en-US" altLang="en-US" sz="2400"/>
              <a:t>1 + 3 + 5 + 7 = 16</a:t>
            </a:r>
          </a:p>
          <a:p>
            <a:pPr>
              <a:lnSpc>
                <a:spcPct val="90000"/>
              </a:lnSpc>
            </a:pPr>
            <a:r>
              <a:rPr lang="en-US" altLang="en-US" sz="2800"/>
              <a:t>What is </a:t>
            </a:r>
            <a:r>
              <a:rPr lang="en-US" altLang="en-US" sz="2800">
                <a:sym typeface="Symbol" panose="05050102010706020507" pitchFamily="18" charset="2"/>
              </a:rPr>
              <a:t></a:t>
            </a:r>
            <a:r>
              <a:rPr lang="en-US" altLang="en-US" sz="2800" baseline="-25000">
                <a:sym typeface="Symbol" panose="05050102010706020507" pitchFamily="18" charset="2"/>
              </a:rPr>
              <a:t>j</a:t>
            </a:r>
            <a:r>
              <a:rPr lang="en-US" altLang="en-US" sz="2800" i="1" baseline="-25000">
                <a:sym typeface="Symbol" panose="05050102010706020507" pitchFamily="18" charset="2"/>
              </a:rPr>
              <a:t>S </a:t>
            </a:r>
            <a:r>
              <a:rPr lang="en-US" altLang="en-US" sz="2800" i="1">
                <a:sym typeface="Symbol" panose="05050102010706020507" pitchFamily="18" charset="2"/>
              </a:rPr>
              <a:t>j</a:t>
            </a:r>
            <a:r>
              <a:rPr lang="en-US" altLang="en-US" sz="2800" baseline="30000">
                <a:sym typeface="Symbol" panose="05050102010706020507" pitchFamily="18" charset="2"/>
              </a:rPr>
              <a:t>2</a:t>
            </a:r>
          </a:p>
          <a:p>
            <a:pPr lvl="1">
              <a:lnSpc>
                <a:spcPct val="90000"/>
              </a:lnSpc>
            </a:pPr>
            <a:r>
              <a:rPr lang="en-US" altLang="en-US" sz="2400"/>
              <a:t>1</a:t>
            </a:r>
            <a:r>
              <a:rPr lang="en-US" altLang="en-US" sz="2400" baseline="30000"/>
              <a:t>2</a:t>
            </a:r>
            <a:r>
              <a:rPr lang="en-US" altLang="en-US" sz="2400"/>
              <a:t> + 3</a:t>
            </a:r>
            <a:r>
              <a:rPr lang="en-US" altLang="en-US" sz="2400" baseline="30000"/>
              <a:t>2</a:t>
            </a:r>
            <a:r>
              <a:rPr lang="en-US" altLang="en-US" sz="2400"/>
              <a:t> + 5</a:t>
            </a:r>
            <a:r>
              <a:rPr lang="en-US" altLang="en-US" sz="2400" baseline="30000"/>
              <a:t>2</a:t>
            </a:r>
            <a:r>
              <a:rPr lang="en-US" altLang="en-US" sz="2400"/>
              <a:t> + 7</a:t>
            </a:r>
            <a:r>
              <a:rPr lang="en-US" altLang="en-US" sz="2400" baseline="30000"/>
              <a:t>2</a:t>
            </a:r>
            <a:r>
              <a:rPr lang="en-US" altLang="en-US" sz="2400"/>
              <a:t> = 84</a:t>
            </a:r>
          </a:p>
          <a:p>
            <a:pPr>
              <a:lnSpc>
                <a:spcPct val="90000"/>
              </a:lnSpc>
            </a:pPr>
            <a:r>
              <a:rPr lang="en-US" altLang="en-US" sz="2800"/>
              <a:t>What is </a:t>
            </a:r>
            <a:r>
              <a:rPr lang="en-US" altLang="en-US" sz="2800">
                <a:sym typeface="Symbol" panose="05050102010706020507" pitchFamily="18" charset="2"/>
              </a:rPr>
              <a:t></a:t>
            </a:r>
            <a:r>
              <a:rPr lang="en-US" altLang="en-US" sz="2800" baseline="-25000">
                <a:sym typeface="Symbol" panose="05050102010706020507" pitchFamily="18" charset="2"/>
              </a:rPr>
              <a:t>j</a:t>
            </a:r>
            <a:r>
              <a:rPr lang="en-US" altLang="en-US" sz="2800" i="1" baseline="-25000">
                <a:sym typeface="Symbol" panose="05050102010706020507" pitchFamily="18" charset="2"/>
              </a:rPr>
              <a:t>S </a:t>
            </a:r>
            <a:r>
              <a:rPr lang="en-US" altLang="en-US" sz="2800">
                <a:sym typeface="Symbol" panose="05050102010706020507" pitchFamily="18" charset="2"/>
              </a:rPr>
              <a:t>(1/</a:t>
            </a:r>
            <a:r>
              <a:rPr lang="en-US" altLang="en-US" sz="2800" i="1">
                <a:sym typeface="Symbol" panose="05050102010706020507" pitchFamily="18" charset="2"/>
              </a:rPr>
              <a:t>j</a:t>
            </a:r>
            <a:r>
              <a:rPr lang="en-US" altLang="en-US" sz="2800">
                <a:sym typeface="Symbol" panose="05050102010706020507" pitchFamily="18" charset="2"/>
              </a:rPr>
              <a:t>)</a:t>
            </a:r>
          </a:p>
          <a:p>
            <a:pPr lvl="1">
              <a:lnSpc>
                <a:spcPct val="90000"/>
              </a:lnSpc>
            </a:pPr>
            <a:r>
              <a:rPr lang="en-US" altLang="en-US" sz="2400"/>
              <a:t>1/1 + 1/3 + 1/5 + 1/7 = 176/105</a:t>
            </a:r>
          </a:p>
          <a:p>
            <a:pPr>
              <a:lnSpc>
                <a:spcPct val="90000"/>
              </a:lnSpc>
            </a:pPr>
            <a:r>
              <a:rPr lang="en-US" altLang="en-US" sz="2800"/>
              <a:t>What is </a:t>
            </a:r>
            <a:r>
              <a:rPr lang="en-US" altLang="en-US" sz="2800">
                <a:sym typeface="Symbol" panose="05050102010706020507" pitchFamily="18" charset="2"/>
              </a:rPr>
              <a:t></a:t>
            </a:r>
            <a:r>
              <a:rPr lang="en-US" altLang="en-US" sz="2800" baseline="-25000">
                <a:sym typeface="Symbol" panose="05050102010706020507" pitchFamily="18" charset="2"/>
              </a:rPr>
              <a:t>j</a:t>
            </a:r>
            <a:r>
              <a:rPr lang="en-US" altLang="en-US" sz="2800" i="1" baseline="-25000">
                <a:sym typeface="Symbol" panose="05050102010706020507" pitchFamily="18" charset="2"/>
              </a:rPr>
              <a:t>S </a:t>
            </a:r>
            <a:r>
              <a:rPr lang="en-US" altLang="en-US" sz="2800">
                <a:sym typeface="Symbol" panose="05050102010706020507" pitchFamily="18" charset="2"/>
              </a:rPr>
              <a:t>1</a:t>
            </a:r>
          </a:p>
          <a:p>
            <a:pPr lvl="1">
              <a:lnSpc>
                <a:spcPct val="90000"/>
              </a:lnSpc>
            </a:pPr>
            <a:r>
              <a:rPr lang="en-US" altLang="en-US" sz="2400">
                <a:sym typeface="Symbol" panose="05050102010706020507" pitchFamily="18" charset="2"/>
              </a:rPr>
              <a:t>1 + 1 + 1 + 1 = 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2771">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2771">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2771">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2771">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2771">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2771">
                                            <p:txEl>
                                              <p:pRg st="8" end="8"/>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277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00D33C11-51CD-5FFF-6E5E-50B2C62BFC67}"/>
              </a:ext>
            </a:extLst>
          </p:cNvPr>
          <p:cNvSpPr>
            <a:spLocks noGrp="1"/>
          </p:cNvSpPr>
          <p:nvPr>
            <p:ph type="sldNum" sz="quarter" idx="12"/>
          </p:nvPr>
        </p:nvSpPr>
        <p:spPr/>
        <p:txBody>
          <a:bodyPr/>
          <a:lstStyle/>
          <a:p>
            <a:fld id="{CECF70F1-B53A-40AC-8813-5A464E110E6B}" type="slidenum">
              <a:rPr lang="en-US" altLang="en-US"/>
              <a:pPr/>
              <a:t>27</a:t>
            </a:fld>
            <a:endParaRPr lang="en-US" altLang="en-US"/>
          </a:p>
        </p:txBody>
      </p:sp>
      <p:sp>
        <p:nvSpPr>
          <p:cNvPr id="33795" name="Rectangle 3">
            <a:extLst>
              <a:ext uri="{FF2B5EF4-FFF2-40B4-BE49-F238E27FC236}">
                <a16:creationId xmlns:a16="http://schemas.microsoft.com/office/drawing/2014/main" id="{62021EF7-ECD6-980F-9111-70529B797D9C}"/>
              </a:ext>
            </a:extLst>
          </p:cNvPr>
          <p:cNvSpPr>
            <a:spLocks noGrp="1" noChangeArrowheads="1"/>
          </p:cNvSpPr>
          <p:nvPr>
            <p:ph type="body" idx="1"/>
          </p:nvPr>
        </p:nvSpPr>
        <p:spPr/>
        <p:txBody>
          <a:bodyPr/>
          <a:lstStyle/>
          <a:p>
            <a:pPr algn="l"/>
            <a:r>
              <a:rPr lang="en-US" altLang="en-US"/>
              <a:t>Sum of a geometric</a:t>
            </a:r>
            <a:br>
              <a:rPr lang="en-US" altLang="en-US"/>
            </a:br>
            <a:r>
              <a:rPr lang="en-US" altLang="en-US"/>
              <a:t>series:</a:t>
            </a:r>
          </a:p>
          <a:p>
            <a:pPr algn="l"/>
            <a:endParaRPr lang="en-US" altLang="en-US"/>
          </a:p>
          <a:p>
            <a:pPr algn="l"/>
            <a:endParaRPr lang="en-US" altLang="en-US"/>
          </a:p>
          <a:p>
            <a:pPr algn="l"/>
            <a:r>
              <a:rPr lang="en-US" altLang="en-US"/>
              <a:t>Example:</a:t>
            </a:r>
          </a:p>
          <a:p>
            <a:pPr algn="l"/>
            <a:endParaRPr lang="en-US" altLang="en-US"/>
          </a:p>
          <a:p>
            <a:pPr algn="l"/>
            <a:endParaRPr lang="en-US" altLang="en-US"/>
          </a:p>
          <a:p>
            <a:pPr algn="l"/>
            <a:endParaRPr lang="en-US" altLang="en-US"/>
          </a:p>
        </p:txBody>
      </p:sp>
      <p:graphicFrame>
        <p:nvGraphicFramePr>
          <p:cNvPr id="33798" name="Object 6">
            <a:extLst>
              <a:ext uri="{FF2B5EF4-FFF2-40B4-BE49-F238E27FC236}">
                <a16:creationId xmlns:a16="http://schemas.microsoft.com/office/drawing/2014/main" id="{C5DD381D-1EE8-C780-5CB6-43B6D055C323}"/>
              </a:ext>
            </a:extLst>
          </p:cNvPr>
          <p:cNvGraphicFramePr>
            <a:graphicFrameLocks noChangeAspect="1"/>
          </p:cNvGraphicFramePr>
          <p:nvPr/>
        </p:nvGraphicFramePr>
        <p:xfrm>
          <a:off x="1181100" y="4851400"/>
          <a:ext cx="4260850" cy="919163"/>
        </p:xfrm>
        <a:graphic>
          <a:graphicData uri="http://schemas.openxmlformats.org/presentationml/2006/ole">
            <mc:AlternateContent xmlns:mc="http://schemas.openxmlformats.org/markup-compatibility/2006">
              <mc:Choice xmlns:v="urn:schemas-microsoft-com:vml" Requires="v">
                <p:oleObj name="Equation" r:id="rId2" imgW="2120760" imgH="457200" progId="Equation.3">
                  <p:embed/>
                </p:oleObj>
              </mc:Choice>
              <mc:Fallback>
                <p:oleObj name="Equation" r:id="rId2" imgW="2120760" imgH="457200" progId="Equation.3">
                  <p:embed/>
                  <p:pic>
                    <p:nvPicPr>
                      <p:cNvPr id="33798" name="Object 6">
                        <a:extLst>
                          <a:ext uri="{FF2B5EF4-FFF2-40B4-BE49-F238E27FC236}">
                            <a16:creationId xmlns:a16="http://schemas.microsoft.com/office/drawing/2014/main" id="{C5DD381D-1EE8-C780-5CB6-43B6D055C3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1100" y="4851400"/>
                        <a:ext cx="4260850" cy="9191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794" name="Rectangle 2">
            <a:extLst>
              <a:ext uri="{FF2B5EF4-FFF2-40B4-BE49-F238E27FC236}">
                <a16:creationId xmlns:a16="http://schemas.microsoft.com/office/drawing/2014/main" id="{B75598D4-91A2-2F81-54B1-68DC970E76BC}"/>
              </a:ext>
            </a:extLst>
          </p:cNvPr>
          <p:cNvSpPr>
            <a:spLocks noGrp="1" noChangeArrowheads="1"/>
          </p:cNvSpPr>
          <p:nvPr>
            <p:ph type="title"/>
          </p:nvPr>
        </p:nvSpPr>
        <p:spPr/>
        <p:txBody>
          <a:bodyPr/>
          <a:lstStyle/>
          <a:p>
            <a:r>
              <a:rPr lang="en-US" altLang="en-US" sz="4000"/>
              <a:t>Summation of a geometric series</a:t>
            </a:r>
          </a:p>
        </p:txBody>
      </p:sp>
      <p:graphicFrame>
        <p:nvGraphicFramePr>
          <p:cNvPr id="33796" name="Object 4">
            <a:extLst>
              <a:ext uri="{FF2B5EF4-FFF2-40B4-BE49-F238E27FC236}">
                <a16:creationId xmlns:a16="http://schemas.microsoft.com/office/drawing/2014/main" id="{028A721B-F881-5EEB-1F27-295B6120A7B3}"/>
              </a:ext>
            </a:extLst>
          </p:cNvPr>
          <p:cNvGraphicFramePr>
            <a:graphicFrameLocks noChangeAspect="1"/>
          </p:cNvGraphicFramePr>
          <p:nvPr/>
        </p:nvGraphicFramePr>
        <p:xfrm>
          <a:off x="4800600" y="1752600"/>
          <a:ext cx="4030663" cy="1327150"/>
        </p:xfrm>
        <a:graphic>
          <a:graphicData uri="http://schemas.openxmlformats.org/presentationml/2006/ole">
            <mc:AlternateContent xmlns:mc="http://schemas.openxmlformats.org/markup-compatibility/2006">
              <mc:Choice xmlns:v="urn:schemas-microsoft-com:vml" Requires="v">
                <p:oleObj name="Equation" r:id="rId4" imgW="2006280" imgH="660240" progId="Equation.3">
                  <p:embed/>
                </p:oleObj>
              </mc:Choice>
              <mc:Fallback>
                <p:oleObj name="Equation" r:id="rId4" imgW="2006280" imgH="660240" progId="Equation.3">
                  <p:embed/>
                  <p:pic>
                    <p:nvPicPr>
                      <p:cNvPr id="33796" name="Object 4">
                        <a:extLst>
                          <a:ext uri="{FF2B5EF4-FFF2-40B4-BE49-F238E27FC236}">
                            <a16:creationId xmlns:a16="http://schemas.microsoft.com/office/drawing/2014/main" id="{028A721B-F881-5EEB-1F27-295B6120A7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1752600"/>
                        <a:ext cx="4030663" cy="13271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379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D807B900-61F8-B015-CB4C-C40F514D2EB8}"/>
              </a:ext>
            </a:extLst>
          </p:cNvPr>
          <p:cNvSpPr>
            <a:spLocks noGrp="1"/>
          </p:cNvSpPr>
          <p:nvPr>
            <p:ph type="sldNum" sz="quarter" idx="12"/>
          </p:nvPr>
        </p:nvSpPr>
        <p:spPr/>
        <p:txBody>
          <a:bodyPr/>
          <a:lstStyle/>
          <a:p>
            <a:fld id="{AF98E820-161D-419D-BC61-0C4F1E5100B9}" type="slidenum">
              <a:rPr lang="en-US" altLang="en-US"/>
              <a:pPr/>
              <a:t>28</a:t>
            </a:fld>
            <a:endParaRPr lang="en-US" altLang="en-US"/>
          </a:p>
        </p:txBody>
      </p:sp>
      <p:sp>
        <p:nvSpPr>
          <p:cNvPr id="34833" name="Rectangle 17">
            <a:extLst>
              <a:ext uri="{FF2B5EF4-FFF2-40B4-BE49-F238E27FC236}">
                <a16:creationId xmlns:a16="http://schemas.microsoft.com/office/drawing/2014/main" id="{30C846D1-2AC1-66F2-C1FA-A56402D4A2F2}"/>
              </a:ext>
            </a:extLst>
          </p:cNvPr>
          <p:cNvSpPr>
            <a:spLocks noChangeArrowheads="1"/>
          </p:cNvSpPr>
          <p:nvPr/>
        </p:nvSpPr>
        <p:spPr bwMode="auto">
          <a:xfrm>
            <a:off x="1143000" y="2590800"/>
            <a:ext cx="2590800" cy="1066800"/>
          </a:xfrm>
          <a:prstGeom prst="rect">
            <a:avLst/>
          </a:prstGeom>
          <a:solidFill>
            <a:srgbClr val="FF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21" name="Rectangle 5">
            <a:extLst>
              <a:ext uri="{FF2B5EF4-FFF2-40B4-BE49-F238E27FC236}">
                <a16:creationId xmlns:a16="http://schemas.microsoft.com/office/drawing/2014/main" id="{193920EA-6AF3-ED93-7C0A-22B52B51DFC7}"/>
              </a:ext>
            </a:extLst>
          </p:cNvPr>
          <p:cNvSpPr>
            <a:spLocks noChangeArrowheads="1"/>
          </p:cNvSpPr>
          <p:nvPr/>
        </p:nvSpPr>
        <p:spPr bwMode="auto">
          <a:xfrm>
            <a:off x="5334000" y="-25400"/>
            <a:ext cx="3581400" cy="7035800"/>
          </a:xfrm>
          <a:prstGeom prst="rect">
            <a:avLst/>
          </a:prstGeom>
          <a:solidFill>
            <a:srgbClr val="FF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34820" name="Object 4">
            <a:extLst>
              <a:ext uri="{FF2B5EF4-FFF2-40B4-BE49-F238E27FC236}">
                <a16:creationId xmlns:a16="http://schemas.microsoft.com/office/drawing/2014/main" id="{769D17D4-E564-C8AE-2E89-8F7C678FAB1E}"/>
              </a:ext>
            </a:extLst>
          </p:cNvPr>
          <p:cNvGraphicFramePr>
            <a:graphicFrameLocks noChangeAspect="1"/>
          </p:cNvGraphicFramePr>
          <p:nvPr/>
        </p:nvGraphicFramePr>
        <p:xfrm>
          <a:off x="5334000" y="-25400"/>
          <a:ext cx="3556000" cy="6883400"/>
        </p:xfrm>
        <a:graphic>
          <a:graphicData uri="http://schemas.openxmlformats.org/presentationml/2006/ole">
            <mc:AlternateContent xmlns:mc="http://schemas.openxmlformats.org/markup-compatibility/2006">
              <mc:Choice xmlns:v="urn:schemas-microsoft-com:vml" Requires="v">
                <p:oleObj name="Equation" r:id="rId2" imgW="1777680" imgH="3441600" progId="Equation.3">
                  <p:embed/>
                </p:oleObj>
              </mc:Choice>
              <mc:Fallback>
                <p:oleObj name="Equation" r:id="rId2" imgW="1777680" imgH="3441600" progId="Equation.3">
                  <p:embed/>
                  <p:pic>
                    <p:nvPicPr>
                      <p:cNvPr id="34820" name="Object 4">
                        <a:extLst>
                          <a:ext uri="{FF2B5EF4-FFF2-40B4-BE49-F238E27FC236}">
                            <a16:creationId xmlns:a16="http://schemas.microsoft.com/office/drawing/2014/main" id="{769D17D4-E564-C8AE-2E89-8F7C678FAB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25400"/>
                        <a:ext cx="3556000" cy="688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18" name="Rectangle 2">
            <a:extLst>
              <a:ext uri="{FF2B5EF4-FFF2-40B4-BE49-F238E27FC236}">
                <a16:creationId xmlns:a16="http://schemas.microsoft.com/office/drawing/2014/main" id="{EEF0CA78-4C65-5B73-B193-53780677F022}"/>
              </a:ext>
            </a:extLst>
          </p:cNvPr>
          <p:cNvSpPr>
            <a:spLocks noGrp="1" noChangeArrowheads="1"/>
          </p:cNvSpPr>
          <p:nvPr>
            <p:ph type="title"/>
          </p:nvPr>
        </p:nvSpPr>
        <p:spPr/>
        <p:txBody>
          <a:bodyPr/>
          <a:lstStyle/>
          <a:p>
            <a:pPr algn="l"/>
            <a:r>
              <a:rPr lang="en-US" altLang="en-US"/>
              <a:t>Proof of last slide</a:t>
            </a:r>
          </a:p>
        </p:txBody>
      </p:sp>
      <p:sp>
        <p:nvSpPr>
          <p:cNvPr id="34822" name="Rectangle 6">
            <a:extLst>
              <a:ext uri="{FF2B5EF4-FFF2-40B4-BE49-F238E27FC236}">
                <a16:creationId xmlns:a16="http://schemas.microsoft.com/office/drawing/2014/main" id="{804BCA03-3D5A-E4EE-C0ED-033A2912B5F9}"/>
              </a:ext>
            </a:extLst>
          </p:cNvPr>
          <p:cNvSpPr>
            <a:spLocks noChangeArrowheads="1"/>
          </p:cNvSpPr>
          <p:nvPr/>
        </p:nvSpPr>
        <p:spPr bwMode="auto">
          <a:xfrm>
            <a:off x="5715000" y="914400"/>
            <a:ext cx="2133600" cy="914400"/>
          </a:xfrm>
          <a:prstGeom prst="rect">
            <a:avLst/>
          </a:prstGeom>
          <a:solidFill>
            <a:srgbClr val="FF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23" name="Rectangle 7">
            <a:extLst>
              <a:ext uri="{FF2B5EF4-FFF2-40B4-BE49-F238E27FC236}">
                <a16:creationId xmlns:a16="http://schemas.microsoft.com/office/drawing/2014/main" id="{43F488C3-9817-3A71-9ABD-52C6B3B22128}"/>
              </a:ext>
            </a:extLst>
          </p:cNvPr>
          <p:cNvSpPr>
            <a:spLocks noChangeArrowheads="1"/>
          </p:cNvSpPr>
          <p:nvPr/>
        </p:nvSpPr>
        <p:spPr bwMode="auto">
          <a:xfrm>
            <a:off x="5791200" y="1905000"/>
            <a:ext cx="2133600" cy="838200"/>
          </a:xfrm>
          <a:prstGeom prst="rect">
            <a:avLst/>
          </a:prstGeom>
          <a:solidFill>
            <a:srgbClr val="FF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25" name="Rectangle 9">
            <a:extLst>
              <a:ext uri="{FF2B5EF4-FFF2-40B4-BE49-F238E27FC236}">
                <a16:creationId xmlns:a16="http://schemas.microsoft.com/office/drawing/2014/main" id="{6CE60247-400B-3D10-FEB0-B85828C08957}"/>
              </a:ext>
            </a:extLst>
          </p:cNvPr>
          <p:cNvSpPr>
            <a:spLocks noChangeArrowheads="1"/>
          </p:cNvSpPr>
          <p:nvPr/>
        </p:nvSpPr>
        <p:spPr bwMode="auto">
          <a:xfrm>
            <a:off x="5715000" y="2819400"/>
            <a:ext cx="2133600" cy="838200"/>
          </a:xfrm>
          <a:prstGeom prst="rect">
            <a:avLst/>
          </a:prstGeom>
          <a:solidFill>
            <a:srgbClr val="FF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26" name="Rectangle 10">
            <a:extLst>
              <a:ext uri="{FF2B5EF4-FFF2-40B4-BE49-F238E27FC236}">
                <a16:creationId xmlns:a16="http://schemas.microsoft.com/office/drawing/2014/main" id="{3DF4A6B4-C6BC-6694-83F5-546DE34E32B3}"/>
              </a:ext>
            </a:extLst>
          </p:cNvPr>
          <p:cNvSpPr>
            <a:spLocks noChangeArrowheads="1"/>
          </p:cNvSpPr>
          <p:nvPr/>
        </p:nvSpPr>
        <p:spPr bwMode="auto">
          <a:xfrm>
            <a:off x="6096000" y="3733800"/>
            <a:ext cx="2819400" cy="762000"/>
          </a:xfrm>
          <a:prstGeom prst="rect">
            <a:avLst/>
          </a:prstGeom>
          <a:solidFill>
            <a:srgbClr val="FF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27" name="Rectangle 11">
            <a:extLst>
              <a:ext uri="{FF2B5EF4-FFF2-40B4-BE49-F238E27FC236}">
                <a16:creationId xmlns:a16="http://schemas.microsoft.com/office/drawing/2014/main" id="{BEA9687D-C462-364D-19C3-505B8FFC2988}"/>
              </a:ext>
            </a:extLst>
          </p:cNvPr>
          <p:cNvSpPr>
            <a:spLocks noChangeArrowheads="1"/>
          </p:cNvSpPr>
          <p:nvPr/>
        </p:nvSpPr>
        <p:spPr bwMode="auto">
          <a:xfrm>
            <a:off x="5867400" y="4495800"/>
            <a:ext cx="2514600" cy="533400"/>
          </a:xfrm>
          <a:prstGeom prst="rect">
            <a:avLst/>
          </a:prstGeom>
          <a:solidFill>
            <a:srgbClr val="FF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28" name="Rectangle 12">
            <a:extLst>
              <a:ext uri="{FF2B5EF4-FFF2-40B4-BE49-F238E27FC236}">
                <a16:creationId xmlns:a16="http://schemas.microsoft.com/office/drawing/2014/main" id="{F6B7E0AB-3355-E26F-2451-F96063F4D4FB}"/>
              </a:ext>
            </a:extLst>
          </p:cNvPr>
          <p:cNvSpPr>
            <a:spLocks noChangeArrowheads="1"/>
          </p:cNvSpPr>
          <p:nvPr/>
        </p:nvSpPr>
        <p:spPr bwMode="auto">
          <a:xfrm>
            <a:off x="5486400" y="4953000"/>
            <a:ext cx="2362200" cy="533400"/>
          </a:xfrm>
          <a:prstGeom prst="rect">
            <a:avLst/>
          </a:prstGeom>
          <a:solidFill>
            <a:srgbClr val="FF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29" name="Rectangle 13">
            <a:extLst>
              <a:ext uri="{FF2B5EF4-FFF2-40B4-BE49-F238E27FC236}">
                <a16:creationId xmlns:a16="http://schemas.microsoft.com/office/drawing/2014/main" id="{4860E47B-7638-18E3-7506-28FFD55A3322}"/>
              </a:ext>
            </a:extLst>
          </p:cNvPr>
          <p:cNvSpPr>
            <a:spLocks noChangeArrowheads="1"/>
          </p:cNvSpPr>
          <p:nvPr/>
        </p:nvSpPr>
        <p:spPr bwMode="auto">
          <a:xfrm>
            <a:off x="5334000" y="5486400"/>
            <a:ext cx="2514600" cy="533400"/>
          </a:xfrm>
          <a:prstGeom prst="rect">
            <a:avLst/>
          </a:prstGeom>
          <a:solidFill>
            <a:srgbClr val="FF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30" name="Rectangle 14">
            <a:extLst>
              <a:ext uri="{FF2B5EF4-FFF2-40B4-BE49-F238E27FC236}">
                <a16:creationId xmlns:a16="http://schemas.microsoft.com/office/drawing/2014/main" id="{D30A5CC2-8F80-C850-874B-78C7BD922DC1}"/>
              </a:ext>
            </a:extLst>
          </p:cNvPr>
          <p:cNvSpPr>
            <a:spLocks noChangeArrowheads="1"/>
          </p:cNvSpPr>
          <p:nvPr/>
        </p:nvSpPr>
        <p:spPr bwMode="auto">
          <a:xfrm>
            <a:off x="5791200" y="6019800"/>
            <a:ext cx="2133600" cy="838200"/>
          </a:xfrm>
          <a:prstGeom prst="rect">
            <a:avLst/>
          </a:prstGeom>
          <a:solidFill>
            <a:srgbClr val="FF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4831" name="Rectangle 15">
            <a:extLst>
              <a:ext uri="{FF2B5EF4-FFF2-40B4-BE49-F238E27FC236}">
                <a16:creationId xmlns:a16="http://schemas.microsoft.com/office/drawing/2014/main" id="{1C337863-B307-01AC-F6A6-E25C09EC3A65}"/>
              </a:ext>
            </a:extLst>
          </p:cNvPr>
          <p:cNvSpPr>
            <a:spLocks noGrp="1" noChangeArrowheads="1"/>
          </p:cNvSpPr>
          <p:nvPr>
            <p:ph type="body" idx="1"/>
          </p:nvPr>
        </p:nvSpPr>
        <p:spPr>
          <a:xfrm>
            <a:off x="228600" y="1600200"/>
            <a:ext cx="5105400" cy="4953000"/>
          </a:xfrm>
          <a:noFill/>
          <a:ln/>
        </p:spPr>
        <p:txBody>
          <a:bodyPr/>
          <a:lstStyle/>
          <a:p>
            <a:r>
              <a:rPr lang="en-US" altLang="en-US"/>
              <a:t>If </a:t>
            </a:r>
            <a:r>
              <a:rPr lang="en-US" altLang="en-US" i="1"/>
              <a:t>r</a:t>
            </a:r>
            <a:r>
              <a:rPr lang="en-US" altLang="en-US"/>
              <a:t> = 1, then the sum is:</a:t>
            </a:r>
          </a:p>
          <a:p>
            <a:endParaRPr lang="en-US" altLang="en-US"/>
          </a:p>
          <a:p>
            <a:endParaRPr lang="en-US" altLang="en-US"/>
          </a:p>
          <a:p>
            <a:pPr algn="l"/>
            <a:endParaRPr lang="en-US" altLang="en-US"/>
          </a:p>
        </p:txBody>
      </p:sp>
      <p:graphicFrame>
        <p:nvGraphicFramePr>
          <p:cNvPr id="34832" name="Object 16">
            <a:extLst>
              <a:ext uri="{FF2B5EF4-FFF2-40B4-BE49-F238E27FC236}">
                <a16:creationId xmlns:a16="http://schemas.microsoft.com/office/drawing/2014/main" id="{8A59E7BF-E45D-EA29-CA0D-C26B753609CC}"/>
              </a:ext>
            </a:extLst>
          </p:cNvPr>
          <p:cNvGraphicFramePr>
            <a:graphicFrameLocks noChangeAspect="1"/>
          </p:cNvGraphicFramePr>
          <p:nvPr/>
        </p:nvGraphicFramePr>
        <p:xfrm>
          <a:off x="1295400" y="2667000"/>
          <a:ext cx="2311400" cy="889000"/>
        </p:xfrm>
        <a:graphic>
          <a:graphicData uri="http://schemas.openxmlformats.org/presentationml/2006/ole">
            <mc:AlternateContent xmlns:mc="http://schemas.openxmlformats.org/markup-compatibility/2006">
              <mc:Choice xmlns:v="urn:schemas-microsoft-com:vml" Requires="v">
                <p:oleObj name="Equation" r:id="rId4" imgW="1155600" imgH="444240" progId="Equation.3">
                  <p:embed/>
                </p:oleObj>
              </mc:Choice>
              <mc:Fallback>
                <p:oleObj name="Equation" r:id="rId4" imgW="1155600" imgH="444240" progId="Equation.3">
                  <p:embed/>
                  <p:pic>
                    <p:nvPicPr>
                      <p:cNvPr id="34832" name="Object 16">
                        <a:extLst>
                          <a:ext uri="{FF2B5EF4-FFF2-40B4-BE49-F238E27FC236}">
                            <a16:creationId xmlns:a16="http://schemas.microsoft.com/office/drawing/2014/main" id="{8A59E7BF-E45D-EA29-CA0D-C26B753609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2667000"/>
                        <a:ext cx="23114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34822"/>
                                        </p:tgtEl>
                                        <p:attrNameLst>
                                          <p:attrName>style.visibility</p:attrName>
                                        </p:attrNameLst>
                                      </p:cBhvr>
                                      <p:to>
                                        <p:strVal val="hidden"/>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nodeType="clickEffect">
                                  <p:stCondLst>
                                    <p:cond delay="0"/>
                                  </p:stCondLst>
                                  <p:childTnLst>
                                    <p:set>
                                      <p:cBhvr>
                                        <p:cTn id="10" dur="1" fill="hold">
                                          <p:stCondLst>
                                            <p:cond delay="0"/>
                                          </p:stCondLst>
                                        </p:cTn>
                                        <p:tgtEl>
                                          <p:spTgt spid="34823"/>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nodeType="clickEffect">
                                  <p:stCondLst>
                                    <p:cond delay="0"/>
                                  </p:stCondLst>
                                  <p:childTnLst>
                                    <p:set>
                                      <p:cBhvr>
                                        <p:cTn id="14" dur="1" fill="hold">
                                          <p:stCondLst>
                                            <p:cond delay="0"/>
                                          </p:stCondLst>
                                        </p:cTn>
                                        <p:tgtEl>
                                          <p:spTgt spid="34825"/>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nodeType="clickEffect">
                                  <p:stCondLst>
                                    <p:cond delay="0"/>
                                  </p:stCondLst>
                                  <p:childTnLst>
                                    <p:set>
                                      <p:cBhvr>
                                        <p:cTn id="18" dur="1" fill="hold">
                                          <p:stCondLst>
                                            <p:cond delay="0"/>
                                          </p:stCondLst>
                                        </p:cTn>
                                        <p:tgtEl>
                                          <p:spTgt spid="34826"/>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xit" presetSubtype="0" fill="hold" nodeType="clickEffect">
                                  <p:stCondLst>
                                    <p:cond delay="0"/>
                                  </p:stCondLst>
                                  <p:childTnLst>
                                    <p:set>
                                      <p:cBhvr>
                                        <p:cTn id="22" dur="1" fill="hold">
                                          <p:stCondLst>
                                            <p:cond delay="0"/>
                                          </p:stCondLst>
                                        </p:cTn>
                                        <p:tgtEl>
                                          <p:spTgt spid="34827"/>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xit" presetSubtype="0" fill="hold" nodeType="clickEffect">
                                  <p:stCondLst>
                                    <p:cond delay="0"/>
                                  </p:stCondLst>
                                  <p:childTnLst>
                                    <p:set>
                                      <p:cBhvr>
                                        <p:cTn id="26" dur="1" fill="hold">
                                          <p:stCondLst>
                                            <p:cond delay="0"/>
                                          </p:stCondLst>
                                        </p:cTn>
                                        <p:tgtEl>
                                          <p:spTgt spid="34828"/>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xit" presetSubtype="0" fill="hold" nodeType="clickEffect">
                                  <p:stCondLst>
                                    <p:cond delay="0"/>
                                  </p:stCondLst>
                                  <p:childTnLst>
                                    <p:set>
                                      <p:cBhvr>
                                        <p:cTn id="30" dur="1" fill="hold">
                                          <p:stCondLst>
                                            <p:cond delay="0"/>
                                          </p:stCondLst>
                                        </p:cTn>
                                        <p:tgtEl>
                                          <p:spTgt spid="34829"/>
                                        </p:tgtEl>
                                        <p:attrNameLst>
                                          <p:attrName>style.visibility</p:attrName>
                                        </p:attrNameLst>
                                      </p:cBhvr>
                                      <p:to>
                                        <p:strVal val="hidden"/>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xit" presetSubtype="0" fill="hold" nodeType="clickEffect">
                                  <p:stCondLst>
                                    <p:cond delay="0"/>
                                  </p:stCondLst>
                                  <p:childTnLst>
                                    <p:set>
                                      <p:cBhvr>
                                        <p:cTn id="34" dur="1" fill="hold">
                                          <p:stCondLst>
                                            <p:cond delay="0"/>
                                          </p:stCondLst>
                                        </p:cTn>
                                        <p:tgtEl>
                                          <p:spTgt spid="348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C6714FBD-7550-3B91-FD13-BE1C7A20AE76}"/>
              </a:ext>
            </a:extLst>
          </p:cNvPr>
          <p:cNvSpPr>
            <a:spLocks noGrp="1"/>
          </p:cNvSpPr>
          <p:nvPr>
            <p:ph type="sldNum" sz="quarter" idx="12"/>
          </p:nvPr>
        </p:nvSpPr>
        <p:spPr/>
        <p:txBody>
          <a:bodyPr/>
          <a:lstStyle/>
          <a:p>
            <a:fld id="{F1B4DD65-4A9A-4733-9558-0CFE54D5A850}" type="slidenum">
              <a:rPr lang="en-US" altLang="en-US"/>
              <a:pPr/>
              <a:t>29</a:t>
            </a:fld>
            <a:endParaRPr lang="en-US" altLang="en-US"/>
          </a:p>
        </p:txBody>
      </p:sp>
      <p:sp>
        <p:nvSpPr>
          <p:cNvPr id="35845" name="Rectangle 5">
            <a:extLst>
              <a:ext uri="{FF2B5EF4-FFF2-40B4-BE49-F238E27FC236}">
                <a16:creationId xmlns:a16="http://schemas.microsoft.com/office/drawing/2014/main" id="{1865A9CC-3428-F791-4525-FCC0C5F83A00}"/>
              </a:ext>
            </a:extLst>
          </p:cNvPr>
          <p:cNvSpPr>
            <a:spLocks noChangeArrowheads="1"/>
          </p:cNvSpPr>
          <p:nvPr/>
        </p:nvSpPr>
        <p:spPr bwMode="auto">
          <a:xfrm>
            <a:off x="2971800" y="2514600"/>
            <a:ext cx="1143000" cy="990600"/>
          </a:xfrm>
          <a:prstGeom prst="rect">
            <a:avLst/>
          </a:prstGeom>
          <a:solidFill>
            <a:srgbClr val="FF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5842" name="Rectangle 2">
            <a:extLst>
              <a:ext uri="{FF2B5EF4-FFF2-40B4-BE49-F238E27FC236}">
                <a16:creationId xmlns:a16="http://schemas.microsoft.com/office/drawing/2014/main" id="{7F3696DE-EF6F-5087-6C1E-935872CA9432}"/>
              </a:ext>
            </a:extLst>
          </p:cNvPr>
          <p:cNvSpPr>
            <a:spLocks noGrp="1" noChangeArrowheads="1"/>
          </p:cNvSpPr>
          <p:nvPr>
            <p:ph type="title"/>
          </p:nvPr>
        </p:nvSpPr>
        <p:spPr/>
        <p:txBody>
          <a:bodyPr/>
          <a:lstStyle/>
          <a:p>
            <a:r>
              <a:rPr lang="en-US" altLang="en-US"/>
              <a:t>Double summations</a:t>
            </a:r>
          </a:p>
        </p:txBody>
      </p:sp>
      <p:sp>
        <p:nvSpPr>
          <p:cNvPr id="35843" name="Rectangle 3">
            <a:extLst>
              <a:ext uri="{FF2B5EF4-FFF2-40B4-BE49-F238E27FC236}">
                <a16:creationId xmlns:a16="http://schemas.microsoft.com/office/drawing/2014/main" id="{7F56511F-98D4-016A-CDB8-3D5253107CF6}"/>
              </a:ext>
            </a:extLst>
          </p:cNvPr>
          <p:cNvSpPr>
            <a:spLocks noGrp="1" noChangeArrowheads="1"/>
          </p:cNvSpPr>
          <p:nvPr>
            <p:ph type="body" idx="1"/>
          </p:nvPr>
        </p:nvSpPr>
        <p:spPr/>
        <p:txBody>
          <a:bodyPr/>
          <a:lstStyle/>
          <a:p>
            <a:r>
              <a:rPr lang="en-US" altLang="en-US"/>
              <a:t>Like a nested for loop</a:t>
            </a:r>
          </a:p>
          <a:p>
            <a:endParaRPr lang="en-US" altLang="en-US"/>
          </a:p>
          <a:p>
            <a:endParaRPr lang="en-US" altLang="en-US"/>
          </a:p>
          <a:p>
            <a:endParaRPr lang="en-US" altLang="en-US"/>
          </a:p>
          <a:p>
            <a:r>
              <a:rPr lang="en-US" altLang="en-US"/>
              <a:t>Is equivalent to:</a:t>
            </a:r>
          </a:p>
          <a:p>
            <a:pPr>
              <a:buFontTx/>
              <a:buNone/>
            </a:pPr>
            <a:r>
              <a:rPr lang="en-US" altLang="en-US" sz="2400">
                <a:latin typeface="Lucida Sans Typewriter" panose="020B0509030504030204" pitchFamily="49" charset="0"/>
              </a:rPr>
              <a:t>		int sum = 0;</a:t>
            </a:r>
          </a:p>
          <a:p>
            <a:pPr>
              <a:buFontTx/>
              <a:buNone/>
            </a:pPr>
            <a:r>
              <a:rPr lang="en-US" altLang="en-US" sz="2400">
                <a:latin typeface="Lucida Sans Typewriter" panose="020B0509030504030204" pitchFamily="49" charset="0"/>
              </a:rPr>
              <a:t>		for ( int i = 1; i &lt;= 4; i++ )</a:t>
            </a:r>
          </a:p>
          <a:p>
            <a:pPr>
              <a:buFontTx/>
              <a:buNone/>
            </a:pPr>
            <a:r>
              <a:rPr lang="en-US" altLang="en-US" sz="2400">
                <a:latin typeface="Lucida Sans Typewriter" panose="020B0509030504030204" pitchFamily="49" charset="0"/>
              </a:rPr>
              <a:t>			for ( int j = 1; j &lt;= 3; j++ )</a:t>
            </a:r>
          </a:p>
          <a:p>
            <a:pPr>
              <a:buFontTx/>
              <a:buNone/>
            </a:pPr>
            <a:r>
              <a:rPr lang="en-US" altLang="en-US" sz="2400">
                <a:latin typeface="Lucida Sans Typewriter" panose="020B0509030504030204" pitchFamily="49" charset="0"/>
              </a:rPr>
              <a:t>				sum += i*j;</a:t>
            </a:r>
          </a:p>
        </p:txBody>
      </p:sp>
      <p:graphicFrame>
        <p:nvGraphicFramePr>
          <p:cNvPr id="35844" name="Object 4">
            <a:extLst>
              <a:ext uri="{FF2B5EF4-FFF2-40B4-BE49-F238E27FC236}">
                <a16:creationId xmlns:a16="http://schemas.microsoft.com/office/drawing/2014/main" id="{F17AC15A-92A0-2E75-3122-EC714A662E66}"/>
              </a:ext>
            </a:extLst>
          </p:cNvPr>
          <p:cNvGraphicFramePr>
            <a:graphicFrameLocks noChangeAspect="1"/>
          </p:cNvGraphicFramePr>
          <p:nvPr/>
        </p:nvGraphicFramePr>
        <p:xfrm>
          <a:off x="3048000" y="2590800"/>
          <a:ext cx="987425" cy="885825"/>
        </p:xfrm>
        <a:graphic>
          <a:graphicData uri="http://schemas.openxmlformats.org/presentationml/2006/ole">
            <mc:AlternateContent xmlns:mc="http://schemas.openxmlformats.org/markup-compatibility/2006">
              <mc:Choice xmlns:v="urn:schemas-microsoft-com:vml" Requires="v">
                <p:oleObj name="Equation" r:id="rId2" imgW="495000" imgH="444240" progId="Equation.3">
                  <p:embed/>
                </p:oleObj>
              </mc:Choice>
              <mc:Fallback>
                <p:oleObj name="Equation" r:id="rId2" imgW="495000" imgH="444240" progId="Equation.3">
                  <p:embed/>
                  <p:pic>
                    <p:nvPicPr>
                      <p:cNvPr id="35844" name="Object 4">
                        <a:extLst>
                          <a:ext uri="{FF2B5EF4-FFF2-40B4-BE49-F238E27FC236}">
                            <a16:creationId xmlns:a16="http://schemas.microsoft.com/office/drawing/2014/main" id="{F17AC15A-92A0-2E75-3122-EC714A662E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590800"/>
                        <a:ext cx="98742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84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84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82F5824A-7D9D-D666-DBC9-A8E17E5F0C36}"/>
              </a:ext>
            </a:extLst>
          </p:cNvPr>
          <p:cNvSpPr>
            <a:spLocks noGrp="1"/>
          </p:cNvSpPr>
          <p:nvPr>
            <p:ph type="sldNum" sz="quarter" idx="12"/>
          </p:nvPr>
        </p:nvSpPr>
        <p:spPr/>
        <p:txBody>
          <a:bodyPr/>
          <a:lstStyle/>
          <a:p>
            <a:fld id="{1EF9E4E2-B589-41CB-BA9C-5C62A88A6AC4}" type="slidenum">
              <a:rPr lang="en-US" altLang="en-US"/>
              <a:pPr/>
              <a:t>30</a:t>
            </a:fld>
            <a:endParaRPr lang="en-US" altLang="en-US"/>
          </a:p>
        </p:txBody>
      </p:sp>
      <p:sp>
        <p:nvSpPr>
          <p:cNvPr id="36869" name="Rectangle 5">
            <a:extLst>
              <a:ext uri="{FF2B5EF4-FFF2-40B4-BE49-F238E27FC236}">
                <a16:creationId xmlns:a16="http://schemas.microsoft.com/office/drawing/2014/main" id="{C0F4075B-CF9C-FCDA-ABE0-12F6FAC27733}"/>
              </a:ext>
            </a:extLst>
          </p:cNvPr>
          <p:cNvSpPr>
            <a:spLocks noChangeArrowheads="1"/>
          </p:cNvSpPr>
          <p:nvPr/>
        </p:nvSpPr>
        <p:spPr bwMode="auto">
          <a:xfrm>
            <a:off x="2209800" y="2514600"/>
            <a:ext cx="2057400" cy="990600"/>
          </a:xfrm>
          <a:prstGeom prst="rect">
            <a:avLst/>
          </a:prstGeom>
          <a:solidFill>
            <a:srgbClr val="FFFFFF"/>
          </a:solidFill>
          <a:ln>
            <a:noFill/>
          </a:ln>
          <a:effectLst/>
          <a:extLs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866" name="Rectangle 2">
            <a:extLst>
              <a:ext uri="{FF2B5EF4-FFF2-40B4-BE49-F238E27FC236}">
                <a16:creationId xmlns:a16="http://schemas.microsoft.com/office/drawing/2014/main" id="{06C6109B-5E1E-D2A7-C460-04C3486CFF06}"/>
              </a:ext>
            </a:extLst>
          </p:cNvPr>
          <p:cNvSpPr>
            <a:spLocks noGrp="1" noChangeArrowheads="1"/>
          </p:cNvSpPr>
          <p:nvPr>
            <p:ph type="title"/>
          </p:nvPr>
        </p:nvSpPr>
        <p:spPr/>
        <p:txBody>
          <a:bodyPr/>
          <a:lstStyle/>
          <a:p>
            <a:r>
              <a:rPr lang="en-US" altLang="en-US"/>
              <a:t>Useful summation formulae</a:t>
            </a:r>
          </a:p>
        </p:txBody>
      </p:sp>
      <p:sp>
        <p:nvSpPr>
          <p:cNvPr id="36867" name="Rectangle 3">
            <a:extLst>
              <a:ext uri="{FF2B5EF4-FFF2-40B4-BE49-F238E27FC236}">
                <a16:creationId xmlns:a16="http://schemas.microsoft.com/office/drawing/2014/main" id="{F1C37B0E-6C86-7F30-E283-64F0119C6F04}"/>
              </a:ext>
            </a:extLst>
          </p:cNvPr>
          <p:cNvSpPr>
            <a:spLocks noGrp="1" noChangeArrowheads="1"/>
          </p:cNvSpPr>
          <p:nvPr>
            <p:ph type="body" idx="1"/>
          </p:nvPr>
        </p:nvSpPr>
        <p:spPr/>
        <p:txBody>
          <a:bodyPr/>
          <a:lstStyle/>
          <a:p>
            <a:r>
              <a:rPr lang="en-US" altLang="en-US"/>
              <a:t>Well, only 1 really important one:</a:t>
            </a:r>
          </a:p>
        </p:txBody>
      </p:sp>
      <p:graphicFrame>
        <p:nvGraphicFramePr>
          <p:cNvPr id="36868" name="Object 4">
            <a:extLst>
              <a:ext uri="{FF2B5EF4-FFF2-40B4-BE49-F238E27FC236}">
                <a16:creationId xmlns:a16="http://schemas.microsoft.com/office/drawing/2014/main" id="{6B6151CA-69DA-48C7-F5AB-0FC988BB4B39}"/>
              </a:ext>
            </a:extLst>
          </p:cNvPr>
          <p:cNvGraphicFramePr>
            <a:graphicFrameLocks noChangeAspect="1"/>
          </p:cNvGraphicFramePr>
          <p:nvPr/>
        </p:nvGraphicFramePr>
        <p:xfrm>
          <a:off x="2286000" y="2590800"/>
          <a:ext cx="1892300" cy="868363"/>
        </p:xfrm>
        <a:graphic>
          <a:graphicData uri="http://schemas.openxmlformats.org/presentationml/2006/ole">
            <mc:AlternateContent xmlns:mc="http://schemas.openxmlformats.org/markup-compatibility/2006">
              <mc:Choice xmlns:v="urn:schemas-microsoft-com:vml" Requires="v">
                <p:oleObj name="Equation" r:id="rId2" imgW="939600" imgH="431640" progId="Equation.3">
                  <p:embed/>
                </p:oleObj>
              </mc:Choice>
              <mc:Fallback>
                <p:oleObj name="Equation" r:id="rId2" imgW="939600" imgH="431640" progId="Equation.3">
                  <p:embed/>
                  <p:pic>
                    <p:nvPicPr>
                      <p:cNvPr id="36868" name="Object 4">
                        <a:extLst>
                          <a:ext uri="{FF2B5EF4-FFF2-40B4-BE49-F238E27FC236}">
                            <a16:creationId xmlns:a16="http://schemas.microsoft.com/office/drawing/2014/main" id="{6B6151CA-69DA-48C7-F5AB-0FC988BB4B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590800"/>
                        <a:ext cx="1892300" cy="86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11601</TotalTime>
  <Words>2278</Words>
  <Application>Microsoft Office PowerPoint</Application>
  <PresentationFormat>On-screen Show (4:3)</PresentationFormat>
  <Paragraphs>237</Paragraphs>
  <Slides>30</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41" baseType="lpstr">
      <vt:lpstr>Arial</vt:lpstr>
      <vt:lpstr>Calibri</vt:lpstr>
      <vt:lpstr>Calibri Light</vt:lpstr>
      <vt:lpstr>charter</vt:lpstr>
      <vt:lpstr>Garamond</vt:lpstr>
      <vt:lpstr>Lucida Sans Typewriter</vt:lpstr>
      <vt:lpstr>medium-content-sans-serif-font</vt:lpstr>
      <vt:lpstr>Source Sans Pro</vt:lpstr>
      <vt:lpstr>Wingdings</vt:lpstr>
      <vt:lpstr>Office Theme</vt:lpstr>
      <vt:lpstr>Equation</vt:lpstr>
      <vt:lpstr>Pigeonhole Principle, Summation and Sequences</vt:lpstr>
      <vt:lpstr>PigeonHole Principle- Counting Argument (Proof Technique)</vt:lpstr>
      <vt:lpstr>Another View of Pigeonhole principle (Function View)</vt:lpstr>
      <vt:lpstr>Another View of Pigeonhole principle (Function View)</vt:lpstr>
      <vt:lpstr>Proof of Pigeonhole Principle Strategy- Proof By Contradiction</vt:lpstr>
      <vt:lpstr>Example</vt:lpstr>
      <vt:lpstr>Extended or Generalized Pigeonhole Principle</vt:lpstr>
      <vt:lpstr>Examples</vt:lpstr>
      <vt:lpstr>Challenging Questions</vt:lpstr>
      <vt:lpstr>Challenging Questions</vt:lpstr>
      <vt:lpstr>Sequences and Summations</vt:lpstr>
      <vt:lpstr>Definitions</vt:lpstr>
      <vt:lpstr>Sequences</vt:lpstr>
      <vt:lpstr>Sequence examples</vt:lpstr>
      <vt:lpstr>Geometric vs. arithmetic sequences</vt:lpstr>
      <vt:lpstr>Fibonacci sequence</vt:lpstr>
      <vt:lpstr>Fibonacci sequence in nature</vt:lpstr>
      <vt:lpstr>Fibonacci sequence</vt:lpstr>
      <vt:lpstr>Determining the sequence formula</vt:lpstr>
      <vt:lpstr>Determining the sequence formula</vt:lpstr>
      <vt:lpstr>Determining the sequence formula</vt:lpstr>
      <vt:lpstr>OEIS: Online Encyclopedia of Integer Sequences</vt:lpstr>
      <vt:lpstr>Useful sequences</vt:lpstr>
      <vt:lpstr>Summations</vt:lpstr>
      <vt:lpstr>Evaluating sequences</vt:lpstr>
      <vt:lpstr>Evaluating sequences</vt:lpstr>
      <vt:lpstr>Summation of a geometric series</vt:lpstr>
      <vt:lpstr>Proof of last slide</vt:lpstr>
      <vt:lpstr>Double summations</vt:lpstr>
      <vt:lpstr>Useful summation formulae</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Raymond</dc:creator>
  <cp:lastModifiedBy>Chandan Trivedi</cp:lastModifiedBy>
  <cp:revision>437</cp:revision>
  <cp:lastPrinted>2015-03-10T11:42:27Z</cp:lastPrinted>
  <dcterms:created xsi:type="dcterms:W3CDTF">2014-11-03T13:08:59Z</dcterms:created>
  <dcterms:modified xsi:type="dcterms:W3CDTF">2023-10-12T10:35:01Z</dcterms:modified>
</cp:coreProperties>
</file>