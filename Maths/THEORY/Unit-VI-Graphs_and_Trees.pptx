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3"/>
  </p:notesMasterIdLst>
  <p:sldIdLst>
    <p:sldId id="256" r:id="rId2"/>
    <p:sldId id="525" r:id="rId3"/>
    <p:sldId id="524" r:id="rId4"/>
    <p:sldId id="348" r:id="rId5"/>
    <p:sldId id="494" r:id="rId6"/>
    <p:sldId id="495" r:id="rId7"/>
    <p:sldId id="496" r:id="rId8"/>
    <p:sldId id="497" r:id="rId9"/>
    <p:sldId id="498" r:id="rId10"/>
    <p:sldId id="359" r:id="rId11"/>
    <p:sldId id="368" r:id="rId12"/>
    <p:sldId id="366" r:id="rId13"/>
    <p:sldId id="373" r:id="rId14"/>
    <p:sldId id="390" r:id="rId15"/>
    <p:sldId id="402" r:id="rId16"/>
    <p:sldId id="404" r:id="rId17"/>
    <p:sldId id="302" r:id="rId18"/>
    <p:sldId id="304" r:id="rId19"/>
    <p:sldId id="296" r:id="rId20"/>
    <p:sldId id="306" r:id="rId21"/>
    <p:sldId id="308" r:id="rId22"/>
    <p:sldId id="405" r:id="rId23"/>
    <p:sldId id="406" r:id="rId24"/>
    <p:sldId id="319" r:id="rId25"/>
    <p:sldId id="409" r:id="rId26"/>
    <p:sldId id="410" r:id="rId27"/>
    <p:sldId id="473" r:id="rId28"/>
    <p:sldId id="520" r:id="rId29"/>
    <p:sldId id="327" r:id="rId30"/>
    <p:sldId id="474" r:id="rId31"/>
    <p:sldId id="475" r:id="rId32"/>
    <p:sldId id="476" r:id="rId33"/>
    <p:sldId id="477" r:id="rId34"/>
    <p:sldId id="480" r:id="rId35"/>
    <p:sldId id="481" r:id="rId36"/>
    <p:sldId id="482" r:id="rId37"/>
    <p:sldId id="483" r:id="rId38"/>
    <p:sldId id="484" r:id="rId39"/>
    <p:sldId id="486" r:id="rId40"/>
    <p:sldId id="485" r:id="rId41"/>
    <p:sldId id="335" r:id="rId42"/>
    <p:sldId id="499" r:id="rId43"/>
    <p:sldId id="500" r:id="rId44"/>
    <p:sldId id="501" r:id="rId45"/>
    <p:sldId id="502" r:id="rId46"/>
    <p:sldId id="342" r:id="rId47"/>
    <p:sldId id="436" r:id="rId48"/>
    <p:sldId id="437" r:id="rId49"/>
    <p:sldId id="447" r:id="rId50"/>
    <p:sldId id="443" r:id="rId51"/>
    <p:sldId id="441" r:id="rId52"/>
    <p:sldId id="448" r:id="rId53"/>
    <p:sldId id="451" r:id="rId54"/>
    <p:sldId id="452" r:id="rId55"/>
    <p:sldId id="453" r:id="rId56"/>
    <p:sldId id="454" r:id="rId57"/>
    <p:sldId id="456" r:id="rId58"/>
    <p:sldId id="468" r:id="rId59"/>
    <p:sldId id="455" r:id="rId60"/>
    <p:sldId id="457" r:id="rId61"/>
    <p:sldId id="458" r:id="rId62"/>
    <p:sldId id="463" r:id="rId63"/>
    <p:sldId id="465" r:id="rId64"/>
    <p:sldId id="460" r:id="rId65"/>
    <p:sldId id="434" r:id="rId66"/>
    <p:sldId id="461" r:id="rId67"/>
    <p:sldId id="513" r:id="rId68"/>
    <p:sldId id="514" r:id="rId69"/>
    <p:sldId id="515" r:id="rId70"/>
    <p:sldId id="516" r:id="rId71"/>
    <p:sldId id="517" r:id="rId72"/>
    <p:sldId id="519" r:id="rId73"/>
    <p:sldId id="518" r:id="rId74"/>
    <p:sldId id="526" r:id="rId75"/>
    <p:sldId id="533" r:id="rId76"/>
    <p:sldId id="264" r:id="rId77"/>
    <p:sldId id="534" r:id="rId78"/>
    <p:sldId id="535" r:id="rId79"/>
    <p:sldId id="263" r:id="rId80"/>
    <p:sldId id="265" r:id="rId81"/>
    <p:sldId id="266" r:id="rId82"/>
    <p:sldId id="267" r:id="rId83"/>
    <p:sldId id="268" r:id="rId84"/>
    <p:sldId id="269" r:id="rId85"/>
    <p:sldId id="536" r:id="rId86"/>
    <p:sldId id="271" r:id="rId87"/>
    <p:sldId id="272" r:id="rId88"/>
    <p:sldId id="273" r:id="rId89"/>
    <p:sldId id="274" r:id="rId90"/>
    <p:sldId id="275" r:id="rId91"/>
    <p:sldId id="276" r:id="rId92"/>
    <p:sldId id="277" r:id="rId93"/>
    <p:sldId id="278" r:id="rId94"/>
    <p:sldId id="279" r:id="rId95"/>
    <p:sldId id="280" r:id="rId96"/>
    <p:sldId id="281" r:id="rId97"/>
    <p:sldId id="282" r:id="rId98"/>
    <p:sldId id="285" r:id="rId99"/>
    <p:sldId id="537" r:id="rId100"/>
    <p:sldId id="301" r:id="rId101"/>
    <p:sldId id="322" r:id="rId102"/>
    <p:sldId id="528" r:id="rId103"/>
    <p:sldId id="320" r:id="rId104"/>
    <p:sldId id="303" r:id="rId105"/>
    <p:sldId id="529" r:id="rId106"/>
    <p:sldId id="321" r:id="rId107"/>
    <p:sldId id="326" r:id="rId108"/>
    <p:sldId id="324" r:id="rId109"/>
    <p:sldId id="325" r:id="rId110"/>
    <p:sldId id="305" r:id="rId111"/>
    <p:sldId id="530" r:id="rId112"/>
    <p:sldId id="307" r:id="rId113"/>
    <p:sldId id="531" r:id="rId114"/>
    <p:sldId id="309" r:id="rId115"/>
    <p:sldId id="310" r:id="rId116"/>
    <p:sldId id="311" r:id="rId117"/>
    <p:sldId id="312" r:id="rId118"/>
    <p:sldId id="313" r:id="rId119"/>
    <p:sldId id="314" r:id="rId120"/>
    <p:sldId id="315" r:id="rId121"/>
    <p:sldId id="316" r:id="rId122"/>
    <p:sldId id="317" r:id="rId123"/>
    <p:sldId id="318" r:id="rId124"/>
    <p:sldId id="257" r:id="rId125"/>
    <p:sldId id="258" r:id="rId126"/>
    <p:sldId id="259" r:id="rId127"/>
    <p:sldId id="260" r:id="rId128"/>
    <p:sldId id="270" r:id="rId129"/>
    <p:sldId id="261" r:id="rId130"/>
    <p:sldId id="262" r:id="rId131"/>
    <p:sldId id="527" r:id="rId1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177" autoAdjust="0"/>
    <p:restoredTop sz="94667"/>
  </p:normalViewPr>
  <p:slideViewPr>
    <p:cSldViewPr>
      <p:cViewPr>
        <p:scale>
          <a:sx n="105" d="100"/>
          <a:sy n="105" d="100"/>
        </p:scale>
        <p:origin x="1320" y="592"/>
      </p:cViewPr>
      <p:guideLst>
        <p:guide orient="horz" pos="2160"/>
        <p:guide pos="2880"/>
      </p:guideLst>
    </p:cSldViewPr>
  </p:slideViewPr>
  <p:outlineViewPr>
    <p:cViewPr>
      <p:scale>
        <a:sx n="33" d="100"/>
        <a:sy n="33" d="100"/>
      </p:scale>
      <p:origin x="0" y="-27032"/>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2EE97F-2327-4FE9-8874-2C0F3581839A}" type="datetimeFigureOut">
              <a:rPr lang="en-US" smtClean="0"/>
              <a:pPr/>
              <a:t>11/16/25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A6B134D-0EB3-42CB-9322-AA369738187D}" type="slidenum">
              <a:rPr lang="en-US" smtClean="0"/>
              <a:pPr/>
              <a:t>‹#›</a:t>
            </a:fld>
            <a:endParaRPr lang="en-US"/>
          </a:p>
        </p:txBody>
      </p:sp>
    </p:spTree>
    <p:extLst>
      <p:ext uri="{BB962C8B-B14F-4D97-AF65-F5344CB8AC3E}">
        <p14:creationId xmlns:p14="http://schemas.microsoft.com/office/powerpoint/2010/main" val="41241765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A6B134D-0EB3-42CB-9322-AA369738187D}" type="slidenum">
              <a:rPr lang="en-US" smtClean="0"/>
              <a:pPr/>
              <a:t>21</a:t>
            </a:fld>
            <a:endParaRPr lang="en-US"/>
          </a:p>
        </p:txBody>
      </p:sp>
    </p:spTree>
    <p:extLst>
      <p:ext uri="{BB962C8B-B14F-4D97-AF65-F5344CB8AC3E}">
        <p14:creationId xmlns:p14="http://schemas.microsoft.com/office/powerpoint/2010/main" val="41331171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A6B134D-0EB3-42CB-9322-AA369738187D}" type="slidenum">
              <a:rPr lang="en-US" smtClean="0"/>
              <a:pPr/>
              <a:t>53</a:t>
            </a:fld>
            <a:endParaRPr lang="en-US"/>
          </a:p>
        </p:txBody>
      </p:sp>
    </p:spTree>
    <p:extLst>
      <p:ext uri="{BB962C8B-B14F-4D97-AF65-F5344CB8AC3E}">
        <p14:creationId xmlns:p14="http://schemas.microsoft.com/office/powerpoint/2010/main" val="3907106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134F0F1-582A-4A7B-9FFA-E6671FA0D38F}"/>
              </a:ext>
            </a:extLst>
          </p:cNvPr>
          <p:cNvSpPr>
            <a:spLocks noGrp="1" noChangeArrowheads="1"/>
          </p:cNvSpPr>
          <p:nvPr>
            <p:ph type="sldNum" sz="quarter" idx="5"/>
          </p:nvPr>
        </p:nvSpPr>
        <p:spPr>
          <a:ln/>
        </p:spPr>
        <p:txBody>
          <a:bodyPr/>
          <a:lstStyle/>
          <a:p>
            <a:fld id="{C443838A-ED86-4B54-B38F-9F7CAC1324DD}" type="slidenum">
              <a:rPr lang="en-US" altLang="en-US"/>
              <a:pPr/>
              <a:t>75</a:t>
            </a:fld>
            <a:endParaRPr lang="en-US" altLang="en-US"/>
          </a:p>
        </p:txBody>
      </p:sp>
      <p:sp>
        <p:nvSpPr>
          <p:cNvPr id="174082" name="Rectangle 2">
            <a:extLst>
              <a:ext uri="{FF2B5EF4-FFF2-40B4-BE49-F238E27FC236}">
                <a16:creationId xmlns:a16="http://schemas.microsoft.com/office/drawing/2014/main" id="{0A709194-DAF9-4BCF-976D-3064859263A7}"/>
              </a:ext>
            </a:extLst>
          </p:cNvPr>
          <p:cNvSpPr>
            <a:spLocks noGrp="1" noRot="1" noChangeAspect="1" noChangeArrowheads="1" noTextEdit="1"/>
          </p:cNvSpPr>
          <p:nvPr>
            <p:ph type="sldImg"/>
          </p:nvPr>
        </p:nvSpPr>
        <p:spPr>
          <a:ln/>
        </p:spPr>
      </p:sp>
      <p:sp>
        <p:nvSpPr>
          <p:cNvPr id="174083" name="Rectangle 3">
            <a:extLst>
              <a:ext uri="{FF2B5EF4-FFF2-40B4-BE49-F238E27FC236}">
                <a16:creationId xmlns:a16="http://schemas.microsoft.com/office/drawing/2014/main" id="{DA9D87FB-57D8-4783-8B86-469455C2D19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475BC59-E4D9-41B3-8E38-DE282D4CF535}"/>
              </a:ext>
            </a:extLst>
          </p:cNvPr>
          <p:cNvSpPr>
            <a:spLocks noGrp="1" noChangeArrowheads="1"/>
          </p:cNvSpPr>
          <p:nvPr>
            <p:ph type="sldNum" sz="quarter" idx="5"/>
          </p:nvPr>
        </p:nvSpPr>
        <p:spPr>
          <a:ln/>
        </p:spPr>
        <p:txBody>
          <a:bodyPr/>
          <a:lstStyle/>
          <a:p>
            <a:fld id="{7F3EB823-D81C-4187-BE16-D5D4CFCF756D}" type="slidenum">
              <a:rPr lang="en-US" altLang="en-US"/>
              <a:pPr/>
              <a:t>76</a:t>
            </a:fld>
            <a:endParaRPr lang="en-US" altLang="en-US"/>
          </a:p>
        </p:txBody>
      </p:sp>
      <p:sp>
        <p:nvSpPr>
          <p:cNvPr id="175106" name="Rectangle 2">
            <a:extLst>
              <a:ext uri="{FF2B5EF4-FFF2-40B4-BE49-F238E27FC236}">
                <a16:creationId xmlns:a16="http://schemas.microsoft.com/office/drawing/2014/main" id="{762622B2-BCE3-4938-9C21-E4336AAF9DEA}"/>
              </a:ext>
            </a:extLst>
          </p:cNvPr>
          <p:cNvSpPr>
            <a:spLocks noGrp="1" noRot="1" noChangeAspect="1" noChangeArrowheads="1" noTextEdit="1"/>
          </p:cNvSpPr>
          <p:nvPr>
            <p:ph type="sldImg"/>
          </p:nvPr>
        </p:nvSpPr>
        <p:spPr>
          <a:ln/>
        </p:spPr>
      </p:sp>
      <p:sp>
        <p:nvSpPr>
          <p:cNvPr id="175107" name="Rectangle 3">
            <a:extLst>
              <a:ext uri="{FF2B5EF4-FFF2-40B4-BE49-F238E27FC236}">
                <a16:creationId xmlns:a16="http://schemas.microsoft.com/office/drawing/2014/main" id="{5C5129D0-AD69-4BA2-8EA6-AA2C414AFB4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0A662AC-3B47-4D0C-B518-35F2D2C9B46F}"/>
              </a:ext>
            </a:extLst>
          </p:cNvPr>
          <p:cNvSpPr>
            <a:spLocks noGrp="1" noChangeArrowheads="1"/>
          </p:cNvSpPr>
          <p:nvPr>
            <p:ph type="sldNum" sz="quarter" idx="5"/>
          </p:nvPr>
        </p:nvSpPr>
        <p:spPr>
          <a:ln/>
        </p:spPr>
        <p:txBody>
          <a:bodyPr/>
          <a:lstStyle/>
          <a:p>
            <a:fld id="{4203AB5B-90EC-4998-8ED7-0B539818B156}" type="slidenum">
              <a:rPr lang="en-US" altLang="en-US"/>
              <a:pPr/>
              <a:t>77</a:t>
            </a:fld>
            <a:endParaRPr lang="en-US" altLang="en-US"/>
          </a:p>
        </p:txBody>
      </p:sp>
      <p:sp>
        <p:nvSpPr>
          <p:cNvPr id="137218" name="Rectangle 2">
            <a:extLst>
              <a:ext uri="{FF2B5EF4-FFF2-40B4-BE49-F238E27FC236}">
                <a16:creationId xmlns:a16="http://schemas.microsoft.com/office/drawing/2014/main" id="{1A5B19F3-85AE-4F77-80FE-F188FB628D3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
        <p:nvSpPr>
          <p:cNvPr id="137219" name="Rectangle 3">
            <a:extLst>
              <a:ext uri="{FF2B5EF4-FFF2-40B4-BE49-F238E27FC236}">
                <a16:creationId xmlns:a16="http://schemas.microsoft.com/office/drawing/2014/main" id="{A1757BAC-91F8-4D0E-8BF0-25662DB3F77E}"/>
              </a:ext>
            </a:extLst>
          </p:cNvPr>
          <p:cNvSpPr>
            <a:spLocks noGrp="1" noChangeArrowheads="1"/>
          </p:cNvSpPr>
          <p:nvPr>
            <p:ph type="body" idx="1"/>
          </p:nvPr>
        </p:nvSpPr>
        <p:spPr>
          <a:ln/>
        </p:spPr>
        <p:txBody>
          <a:bodyPr lIns="92075" tIns="46038" rIns="92075" bIns="46038"/>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572FA0B5-8CA4-4A3B-9105-C2E398D25125}"/>
              </a:ext>
            </a:extLst>
          </p:cNvPr>
          <p:cNvSpPr>
            <a:spLocks noGrp="1" noChangeArrowheads="1"/>
          </p:cNvSpPr>
          <p:nvPr>
            <p:ph type="sldNum" sz="quarter" idx="5"/>
          </p:nvPr>
        </p:nvSpPr>
        <p:spPr>
          <a:ln/>
        </p:spPr>
        <p:txBody>
          <a:bodyPr/>
          <a:lstStyle/>
          <a:p>
            <a:fld id="{2EA80ABD-A320-45F4-B7BC-553B60C77DC5}" type="slidenum">
              <a:rPr lang="en-US" altLang="en-US"/>
              <a:pPr/>
              <a:t>78</a:t>
            </a:fld>
            <a:endParaRPr lang="en-US" altLang="en-US"/>
          </a:p>
        </p:txBody>
      </p:sp>
      <p:sp>
        <p:nvSpPr>
          <p:cNvPr id="139266" name="Rectangle 2">
            <a:extLst>
              <a:ext uri="{FF2B5EF4-FFF2-40B4-BE49-F238E27FC236}">
                <a16:creationId xmlns:a16="http://schemas.microsoft.com/office/drawing/2014/main" id="{31F8E9CA-7A44-423E-A665-123D59EA335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
        <p:nvSpPr>
          <p:cNvPr id="139267" name="Rectangle 3">
            <a:extLst>
              <a:ext uri="{FF2B5EF4-FFF2-40B4-BE49-F238E27FC236}">
                <a16:creationId xmlns:a16="http://schemas.microsoft.com/office/drawing/2014/main" id="{ABDA8BB6-EF88-4F0F-B78E-AD5116E404A9}"/>
              </a:ext>
            </a:extLst>
          </p:cNvPr>
          <p:cNvSpPr>
            <a:spLocks noGrp="1" noChangeArrowheads="1"/>
          </p:cNvSpPr>
          <p:nvPr>
            <p:ph type="body" idx="1"/>
          </p:nvPr>
        </p:nvSpPr>
        <p:spPr>
          <a:ln/>
        </p:spPr>
        <p:txBody>
          <a:bodyPr lIns="92075" tIns="46038" rIns="92075" bIns="46038"/>
          <a:lstStyle/>
          <a:p>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6EA6063-CD09-42AD-8B98-6EE9749A7194}"/>
              </a:ext>
            </a:extLst>
          </p:cNvPr>
          <p:cNvSpPr>
            <a:spLocks noGrp="1" noChangeArrowheads="1"/>
          </p:cNvSpPr>
          <p:nvPr>
            <p:ph type="sldNum" sz="quarter" idx="5"/>
          </p:nvPr>
        </p:nvSpPr>
        <p:spPr>
          <a:ln/>
        </p:spPr>
        <p:txBody>
          <a:bodyPr/>
          <a:lstStyle/>
          <a:p>
            <a:fld id="{86552152-4E7C-443B-BA2F-D60F1D8C2C92}" type="slidenum">
              <a:rPr lang="en-US" altLang="en-US"/>
              <a:pPr/>
              <a:t>79</a:t>
            </a:fld>
            <a:endParaRPr lang="en-US" altLang="en-US"/>
          </a:p>
        </p:txBody>
      </p:sp>
      <p:sp>
        <p:nvSpPr>
          <p:cNvPr id="141314" name="Rectangle 2">
            <a:extLst>
              <a:ext uri="{FF2B5EF4-FFF2-40B4-BE49-F238E27FC236}">
                <a16:creationId xmlns:a16="http://schemas.microsoft.com/office/drawing/2014/main" id="{A67CE5C7-AF61-4B5B-BCA6-4C058B0F238D}"/>
              </a:ext>
            </a:extLst>
          </p:cNvPr>
          <p:cNvSpPr>
            <a:spLocks noGrp="1" noRot="1" noChangeAspect="1" noChangeArrowheads="1" noTextEdit="1"/>
          </p:cNvSpPr>
          <p:nvPr>
            <p:ph type="sldImg"/>
          </p:nvPr>
        </p:nvSpPr>
        <p:spPr>
          <a:ln w="12700" cap="flat">
            <a:solidFill>
              <a:schemeClr val="tx1"/>
            </a:solidFill>
          </a:ln>
          <a:extLst>
            <a:ext uri="{909E8E84-426E-40DD-AFC4-6F175D3DCCD1}">
              <a14:hiddenFill xmlns:a14="http://schemas.microsoft.com/office/drawing/2010/main">
                <a:noFill/>
              </a14:hiddenFill>
            </a:ext>
          </a:extLst>
        </p:spPr>
      </p:sp>
      <p:sp>
        <p:nvSpPr>
          <p:cNvPr id="141315" name="Rectangle 3">
            <a:extLst>
              <a:ext uri="{FF2B5EF4-FFF2-40B4-BE49-F238E27FC236}">
                <a16:creationId xmlns:a16="http://schemas.microsoft.com/office/drawing/2014/main" id="{9C8AF80F-6E37-48BC-91BD-B32660280B07}"/>
              </a:ext>
            </a:extLst>
          </p:cNvPr>
          <p:cNvSpPr>
            <a:spLocks noGrp="1" noChangeArrowheads="1"/>
          </p:cNvSpPr>
          <p:nvPr>
            <p:ph type="body" idx="1"/>
          </p:nvPr>
        </p:nvSpPr>
        <p:spPr>
          <a:ln/>
        </p:spPr>
        <p:txBody>
          <a:bodyPr lIns="92075" tIns="46038" rIns="92075" bIns="46038"/>
          <a:lstStyle/>
          <a:p>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FED1509E-58D7-48B1-AFE3-BC3FF27AF9DA}"/>
              </a:ext>
            </a:extLst>
          </p:cNvPr>
          <p:cNvSpPr>
            <a:spLocks noGrp="1" noChangeArrowheads="1"/>
          </p:cNvSpPr>
          <p:nvPr>
            <p:ph type="sldNum" sz="quarter" idx="5"/>
          </p:nvPr>
        </p:nvSpPr>
        <p:spPr>
          <a:ln/>
        </p:spPr>
        <p:txBody>
          <a:bodyPr/>
          <a:lstStyle/>
          <a:p>
            <a:fld id="{C618D3D8-EE1D-4560-BCA9-E785A460CB0A}" type="slidenum">
              <a:rPr lang="en-US" altLang="en-US"/>
              <a:pPr/>
              <a:t>80</a:t>
            </a:fld>
            <a:endParaRPr lang="en-US" altLang="en-US"/>
          </a:p>
        </p:txBody>
      </p:sp>
      <p:sp>
        <p:nvSpPr>
          <p:cNvPr id="176130" name="Rectangle 2">
            <a:extLst>
              <a:ext uri="{FF2B5EF4-FFF2-40B4-BE49-F238E27FC236}">
                <a16:creationId xmlns:a16="http://schemas.microsoft.com/office/drawing/2014/main" id="{B4B82948-D969-4E22-8496-506C71719699}"/>
              </a:ext>
            </a:extLst>
          </p:cNvPr>
          <p:cNvSpPr>
            <a:spLocks noGrp="1" noRot="1" noChangeAspect="1" noChangeArrowheads="1" noTextEdit="1"/>
          </p:cNvSpPr>
          <p:nvPr>
            <p:ph type="sldImg"/>
          </p:nvPr>
        </p:nvSpPr>
        <p:spPr>
          <a:ln/>
        </p:spPr>
      </p:sp>
      <p:sp>
        <p:nvSpPr>
          <p:cNvPr id="176131" name="Rectangle 3">
            <a:extLst>
              <a:ext uri="{FF2B5EF4-FFF2-40B4-BE49-F238E27FC236}">
                <a16:creationId xmlns:a16="http://schemas.microsoft.com/office/drawing/2014/main" id="{96E03DB7-B3C8-4A73-B66E-6B68637E44C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D74B592-5E9D-40F8-9F56-09124BF799B9}"/>
              </a:ext>
            </a:extLst>
          </p:cNvPr>
          <p:cNvSpPr>
            <a:spLocks noGrp="1" noChangeArrowheads="1"/>
          </p:cNvSpPr>
          <p:nvPr>
            <p:ph type="sldNum" sz="quarter" idx="5"/>
          </p:nvPr>
        </p:nvSpPr>
        <p:spPr>
          <a:ln/>
        </p:spPr>
        <p:txBody>
          <a:bodyPr/>
          <a:lstStyle/>
          <a:p>
            <a:fld id="{C158BB30-5502-482D-B8B4-D32915341DF8}" type="slidenum">
              <a:rPr lang="en-US" altLang="en-US"/>
              <a:pPr/>
              <a:t>81</a:t>
            </a:fld>
            <a:endParaRPr lang="en-US" altLang="en-US"/>
          </a:p>
        </p:txBody>
      </p:sp>
      <p:sp>
        <p:nvSpPr>
          <p:cNvPr id="177154" name="Rectangle 2">
            <a:extLst>
              <a:ext uri="{FF2B5EF4-FFF2-40B4-BE49-F238E27FC236}">
                <a16:creationId xmlns:a16="http://schemas.microsoft.com/office/drawing/2014/main" id="{1F9FE506-7A7B-430A-A0E7-9C2151B2622D}"/>
              </a:ext>
            </a:extLst>
          </p:cNvPr>
          <p:cNvSpPr>
            <a:spLocks noGrp="1" noRot="1" noChangeAspect="1" noChangeArrowheads="1" noTextEdit="1"/>
          </p:cNvSpPr>
          <p:nvPr>
            <p:ph type="sldImg"/>
          </p:nvPr>
        </p:nvSpPr>
        <p:spPr>
          <a:ln/>
        </p:spPr>
      </p:sp>
      <p:sp>
        <p:nvSpPr>
          <p:cNvPr id="177155" name="Rectangle 3">
            <a:extLst>
              <a:ext uri="{FF2B5EF4-FFF2-40B4-BE49-F238E27FC236}">
                <a16:creationId xmlns:a16="http://schemas.microsoft.com/office/drawing/2014/main" id="{1F43FE98-6C1A-48BC-A215-8E67A5430602}"/>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7493059-F6EA-4A2D-AF9A-FC0A55D50036}"/>
              </a:ext>
            </a:extLst>
          </p:cNvPr>
          <p:cNvSpPr>
            <a:spLocks noGrp="1" noChangeArrowheads="1"/>
          </p:cNvSpPr>
          <p:nvPr>
            <p:ph type="sldNum" sz="quarter" idx="5"/>
          </p:nvPr>
        </p:nvSpPr>
        <p:spPr>
          <a:ln/>
        </p:spPr>
        <p:txBody>
          <a:bodyPr/>
          <a:lstStyle/>
          <a:p>
            <a:fld id="{1B2A0F66-2DF3-41A9-8F5B-D575B7EB3AC8}" type="slidenum">
              <a:rPr lang="en-US" altLang="en-US"/>
              <a:pPr/>
              <a:t>82</a:t>
            </a:fld>
            <a:endParaRPr lang="en-US" altLang="en-US"/>
          </a:p>
        </p:txBody>
      </p:sp>
      <p:sp>
        <p:nvSpPr>
          <p:cNvPr id="178178" name="Rectangle 2">
            <a:extLst>
              <a:ext uri="{FF2B5EF4-FFF2-40B4-BE49-F238E27FC236}">
                <a16:creationId xmlns:a16="http://schemas.microsoft.com/office/drawing/2014/main" id="{8C9D7986-1748-4DC6-8D2F-CEE9FFBFA909}"/>
              </a:ext>
            </a:extLst>
          </p:cNvPr>
          <p:cNvSpPr>
            <a:spLocks noGrp="1" noRot="1" noChangeAspect="1" noChangeArrowheads="1" noTextEdit="1"/>
          </p:cNvSpPr>
          <p:nvPr>
            <p:ph type="sldImg"/>
          </p:nvPr>
        </p:nvSpPr>
        <p:spPr>
          <a:ln/>
        </p:spPr>
      </p:sp>
      <p:sp>
        <p:nvSpPr>
          <p:cNvPr id="178179" name="Rectangle 3">
            <a:extLst>
              <a:ext uri="{FF2B5EF4-FFF2-40B4-BE49-F238E27FC236}">
                <a16:creationId xmlns:a16="http://schemas.microsoft.com/office/drawing/2014/main" id="{6114064F-9169-4A58-8314-A8A070AA6FA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CB503A7-9DF9-4A53-BE66-862D61B0DF37}"/>
              </a:ext>
            </a:extLst>
          </p:cNvPr>
          <p:cNvSpPr>
            <a:spLocks noGrp="1" noChangeArrowheads="1"/>
          </p:cNvSpPr>
          <p:nvPr>
            <p:ph type="sldNum" sz="quarter" idx="5"/>
          </p:nvPr>
        </p:nvSpPr>
        <p:spPr>
          <a:ln/>
        </p:spPr>
        <p:txBody>
          <a:bodyPr/>
          <a:lstStyle/>
          <a:p>
            <a:fld id="{68FAA229-A0C1-41B1-9053-3D359E5005FC}" type="slidenum">
              <a:rPr lang="en-US" altLang="en-US"/>
              <a:pPr/>
              <a:t>83</a:t>
            </a:fld>
            <a:endParaRPr lang="en-US" altLang="en-US"/>
          </a:p>
        </p:txBody>
      </p:sp>
      <p:sp>
        <p:nvSpPr>
          <p:cNvPr id="179202" name="Rectangle 2">
            <a:extLst>
              <a:ext uri="{FF2B5EF4-FFF2-40B4-BE49-F238E27FC236}">
                <a16:creationId xmlns:a16="http://schemas.microsoft.com/office/drawing/2014/main" id="{DF17BB78-6497-4431-A46D-069B25FC5AA6}"/>
              </a:ext>
            </a:extLst>
          </p:cNvPr>
          <p:cNvSpPr>
            <a:spLocks noGrp="1" noRot="1" noChangeAspect="1" noChangeArrowheads="1" noTextEdit="1"/>
          </p:cNvSpPr>
          <p:nvPr>
            <p:ph type="sldImg"/>
          </p:nvPr>
        </p:nvSpPr>
        <p:spPr>
          <a:ln/>
        </p:spPr>
      </p:sp>
      <p:sp>
        <p:nvSpPr>
          <p:cNvPr id="179203" name="Rectangle 3">
            <a:extLst>
              <a:ext uri="{FF2B5EF4-FFF2-40B4-BE49-F238E27FC236}">
                <a16:creationId xmlns:a16="http://schemas.microsoft.com/office/drawing/2014/main" id="{8C6FC407-702B-4067-9640-088945831C3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159EF07-0FA1-40E5-BBE9-FD4C7B90BC86}"/>
              </a:ext>
            </a:extLst>
          </p:cNvPr>
          <p:cNvSpPr>
            <a:spLocks noGrp="1" noChangeArrowheads="1"/>
          </p:cNvSpPr>
          <p:nvPr>
            <p:ph type="sldNum" sz="quarter" idx="5"/>
          </p:nvPr>
        </p:nvSpPr>
        <p:spPr>
          <a:ln/>
        </p:spPr>
        <p:txBody>
          <a:bodyPr/>
          <a:lstStyle/>
          <a:p>
            <a:fld id="{0028D32C-1E4F-4B69-9795-BB8A538BEAE6}" type="slidenum">
              <a:rPr lang="en-US" altLang="en-US"/>
              <a:pPr/>
              <a:t>84</a:t>
            </a:fld>
            <a:endParaRPr lang="en-US" altLang="en-US"/>
          </a:p>
        </p:txBody>
      </p:sp>
      <p:sp>
        <p:nvSpPr>
          <p:cNvPr id="180226" name="Rectangle 2">
            <a:extLst>
              <a:ext uri="{FF2B5EF4-FFF2-40B4-BE49-F238E27FC236}">
                <a16:creationId xmlns:a16="http://schemas.microsoft.com/office/drawing/2014/main" id="{195D3A95-C875-4E5F-80A8-98E7AA94DAD4}"/>
              </a:ext>
            </a:extLst>
          </p:cNvPr>
          <p:cNvSpPr>
            <a:spLocks noGrp="1" noRot="1" noChangeAspect="1" noChangeArrowheads="1" noTextEdit="1"/>
          </p:cNvSpPr>
          <p:nvPr>
            <p:ph type="sldImg"/>
          </p:nvPr>
        </p:nvSpPr>
        <p:spPr>
          <a:ln/>
        </p:spPr>
      </p:sp>
      <p:sp>
        <p:nvSpPr>
          <p:cNvPr id="180227" name="Rectangle 3">
            <a:extLst>
              <a:ext uri="{FF2B5EF4-FFF2-40B4-BE49-F238E27FC236}">
                <a16:creationId xmlns:a16="http://schemas.microsoft.com/office/drawing/2014/main" id="{002CB858-56E9-4CAB-9078-ADE3078064D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D520A11-52A7-4D95-AD27-EE5B817F4FE3}"/>
              </a:ext>
            </a:extLst>
          </p:cNvPr>
          <p:cNvSpPr>
            <a:spLocks noGrp="1" noChangeArrowheads="1"/>
          </p:cNvSpPr>
          <p:nvPr>
            <p:ph type="sldNum" sz="quarter" idx="5"/>
          </p:nvPr>
        </p:nvSpPr>
        <p:spPr>
          <a:ln/>
        </p:spPr>
        <p:txBody>
          <a:bodyPr/>
          <a:lstStyle/>
          <a:p>
            <a:fld id="{F2BAFBAE-9DB2-498F-B6B6-DBEEA8D32D2B}" type="slidenum">
              <a:rPr lang="en-US" altLang="en-US"/>
              <a:pPr/>
              <a:t>85</a:t>
            </a:fld>
            <a:endParaRPr lang="en-US" altLang="en-US"/>
          </a:p>
        </p:txBody>
      </p:sp>
      <p:sp>
        <p:nvSpPr>
          <p:cNvPr id="181250" name="Rectangle 2">
            <a:extLst>
              <a:ext uri="{FF2B5EF4-FFF2-40B4-BE49-F238E27FC236}">
                <a16:creationId xmlns:a16="http://schemas.microsoft.com/office/drawing/2014/main" id="{4DFA1999-E259-4EB7-8ABC-72652FB9A359}"/>
              </a:ext>
            </a:extLst>
          </p:cNvPr>
          <p:cNvSpPr>
            <a:spLocks noGrp="1" noRot="1" noChangeAspect="1" noChangeArrowheads="1" noTextEdit="1"/>
          </p:cNvSpPr>
          <p:nvPr>
            <p:ph type="sldImg"/>
          </p:nvPr>
        </p:nvSpPr>
        <p:spPr>
          <a:ln/>
        </p:spPr>
      </p:sp>
      <p:sp>
        <p:nvSpPr>
          <p:cNvPr id="181251" name="Rectangle 3">
            <a:extLst>
              <a:ext uri="{FF2B5EF4-FFF2-40B4-BE49-F238E27FC236}">
                <a16:creationId xmlns:a16="http://schemas.microsoft.com/office/drawing/2014/main" id="{3CE54ECA-B170-4D23-A410-6F4DB721B028}"/>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AD3499C-5E7C-4ACA-8AC7-B9602AD31710}"/>
              </a:ext>
            </a:extLst>
          </p:cNvPr>
          <p:cNvSpPr>
            <a:spLocks noGrp="1" noChangeArrowheads="1"/>
          </p:cNvSpPr>
          <p:nvPr>
            <p:ph type="sldNum" sz="quarter" idx="5"/>
          </p:nvPr>
        </p:nvSpPr>
        <p:spPr>
          <a:ln/>
        </p:spPr>
        <p:txBody>
          <a:bodyPr/>
          <a:lstStyle/>
          <a:p>
            <a:fld id="{431E69A5-9ADE-40A8-BC9C-0D02CBCCEC71}" type="slidenum">
              <a:rPr lang="en-US" altLang="en-US"/>
              <a:pPr/>
              <a:t>86</a:t>
            </a:fld>
            <a:endParaRPr lang="en-US" altLang="en-US"/>
          </a:p>
        </p:txBody>
      </p:sp>
      <p:sp>
        <p:nvSpPr>
          <p:cNvPr id="182274" name="Rectangle 2">
            <a:extLst>
              <a:ext uri="{FF2B5EF4-FFF2-40B4-BE49-F238E27FC236}">
                <a16:creationId xmlns:a16="http://schemas.microsoft.com/office/drawing/2014/main" id="{6BBFB98A-6739-4623-8F70-86FE362870CB}"/>
              </a:ext>
            </a:extLst>
          </p:cNvPr>
          <p:cNvSpPr>
            <a:spLocks noGrp="1" noRot="1" noChangeAspect="1" noChangeArrowheads="1" noTextEdit="1"/>
          </p:cNvSpPr>
          <p:nvPr>
            <p:ph type="sldImg"/>
          </p:nvPr>
        </p:nvSpPr>
        <p:spPr>
          <a:ln/>
        </p:spPr>
      </p:sp>
      <p:sp>
        <p:nvSpPr>
          <p:cNvPr id="182275" name="Rectangle 3">
            <a:extLst>
              <a:ext uri="{FF2B5EF4-FFF2-40B4-BE49-F238E27FC236}">
                <a16:creationId xmlns:a16="http://schemas.microsoft.com/office/drawing/2014/main" id="{4EBC0273-E367-468E-B22C-EEDC3C9FACE7}"/>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5392597-17A8-4FFF-ACC2-FA3839F7CF45}"/>
              </a:ext>
            </a:extLst>
          </p:cNvPr>
          <p:cNvSpPr>
            <a:spLocks noGrp="1" noChangeArrowheads="1"/>
          </p:cNvSpPr>
          <p:nvPr>
            <p:ph type="sldNum" sz="quarter" idx="5"/>
          </p:nvPr>
        </p:nvSpPr>
        <p:spPr>
          <a:ln/>
        </p:spPr>
        <p:txBody>
          <a:bodyPr/>
          <a:lstStyle/>
          <a:p>
            <a:fld id="{F07254A8-97E3-40B9-9557-C4306CF04302}" type="slidenum">
              <a:rPr lang="en-US" altLang="en-US"/>
              <a:pPr/>
              <a:t>87</a:t>
            </a:fld>
            <a:endParaRPr lang="en-US" altLang="en-US"/>
          </a:p>
        </p:txBody>
      </p:sp>
      <p:sp>
        <p:nvSpPr>
          <p:cNvPr id="183298" name="Rectangle 2">
            <a:extLst>
              <a:ext uri="{FF2B5EF4-FFF2-40B4-BE49-F238E27FC236}">
                <a16:creationId xmlns:a16="http://schemas.microsoft.com/office/drawing/2014/main" id="{7CA448EE-0F81-4185-996A-B9A3DF20E059}"/>
              </a:ext>
            </a:extLst>
          </p:cNvPr>
          <p:cNvSpPr>
            <a:spLocks noGrp="1" noRot="1" noChangeAspect="1" noChangeArrowheads="1" noTextEdit="1"/>
          </p:cNvSpPr>
          <p:nvPr>
            <p:ph type="sldImg"/>
          </p:nvPr>
        </p:nvSpPr>
        <p:spPr>
          <a:ln/>
        </p:spPr>
      </p:sp>
      <p:sp>
        <p:nvSpPr>
          <p:cNvPr id="183299" name="Rectangle 3">
            <a:extLst>
              <a:ext uri="{FF2B5EF4-FFF2-40B4-BE49-F238E27FC236}">
                <a16:creationId xmlns:a16="http://schemas.microsoft.com/office/drawing/2014/main" id="{8CD6244A-5957-4F7C-957B-DFF877C81391}"/>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EA63B06-1264-410F-9B81-A2B3DB97A6E4}"/>
              </a:ext>
            </a:extLst>
          </p:cNvPr>
          <p:cNvSpPr>
            <a:spLocks noGrp="1" noChangeArrowheads="1"/>
          </p:cNvSpPr>
          <p:nvPr>
            <p:ph type="sldNum" sz="quarter" idx="5"/>
          </p:nvPr>
        </p:nvSpPr>
        <p:spPr>
          <a:ln/>
        </p:spPr>
        <p:txBody>
          <a:bodyPr/>
          <a:lstStyle/>
          <a:p>
            <a:fld id="{B4D9C3E1-A5F5-4AE2-8CA0-E83EF919932A}" type="slidenum">
              <a:rPr lang="en-US" altLang="en-US"/>
              <a:pPr/>
              <a:t>88</a:t>
            </a:fld>
            <a:endParaRPr lang="en-US" altLang="en-US"/>
          </a:p>
        </p:txBody>
      </p:sp>
      <p:sp>
        <p:nvSpPr>
          <p:cNvPr id="184322" name="Rectangle 2">
            <a:extLst>
              <a:ext uri="{FF2B5EF4-FFF2-40B4-BE49-F238E27FC236}">
                <a16:creationId xmlns:a16="http://schemas.microsoft.com/office/drawing/2014/main" id="{3A048ED7-EB6E-4A65-A23E-953044419BE6}"/>
              </a:ext>
            </a:extLst>
          </p:cNvPr>
          <p:cNvSpPr>
            <a:spLocks noGrp="1" noRot="1" noChangeAspect="1" noChangeArrowheads="1" noTextEdit="1"/>
          </p:cNvSpPr>
          <p:nvPr>
            <p:ph type="sldImg"/>
          </p:nvPr>
        </p:nvSpPr>
        <p:spPr>
          <a:ln/>
        </p:spPr>
      </p:sp>
      <p:sp>
        <p:nvSpPr>
          <p:cNvPr id="184323" name="Rectangle 3">
            <a:extLst>
              <a:ext uri="{FF2B5EF4-FFF2-40B4-BE49-F238E27FC236}">
                <a16:creationId xmlns:a16="http://schemas.microsoft.com/office/drawing/2014/main" id="{5DE508B0-6B04-434F-8901-92EFA40455C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189A9D1-E217-4217-86C0-2C79FA72A523}"/>
              </a:ext>
            </a:extLst>
          </p:cNvPr>
          <p:cNvSpPr>
            <a:spLocks noGrp="1" noChangeArrowheads="1"/>
          </p:cNvSpPr>
          <p:nvPr>
            <p:ph type="sldNum" sz="quarter" idx="5"/>
          </p:nvPr>
        </p:nvSpPr>
        <p:spPr>
          <a:ln/>
        </p:spPr>
        <p:txBody>
          <a:bodyPr/>
          <a:lstStyle/>
          <a:p>
            <a:fld id="{75D41949-DCE3-49BC-AF62-8FCC4A1B4B9F}" type="slidenum">
              <a:rPr lang="en-US" altLang="en-US"/>
              <a:pPr/>
              <a:t>89</a:t>
            </a:fld>
            <a:endParaRPr lang="en-US" altLang="en-US"/>
          </a:p>
        </p:txBody>
      </p:sp>
      <p:sp>
        <p:nvSpPr>
          <p:cNvPr id="185346" name="Rectangle 2">
            <a:extLst>
              <a:ext uri="{FF2B5EF4-FFF2-40B4-BE49-F238E27FC236}">
                <a16:creationId xmlns:a16="http://schemas.microsoft.com/office/drawing/2014/main" id="{3C395BB3-6E03-4D64-89CF-49F17301DD9A}"/>
              </a:ext>
            </a:extLst>
          </p:cNvPr>
          <p:cNvSpPr>
            <a:spLocks noGrp="1" noRot="1" noChangeAspect="1" noChangeArrowheads="1" noTextEdit="1"/>
          </p:cNvSpPr>
          <p:nvPr>
            <p:ph type="sldImg"/>
          </p:nvPr>
        </p:nvSpPr>
        <p:spPr>
          <a:ln/>
        </p:spPr>
      </p:sp>
      <p:sp>
        <p:nvSpPr>
          <p:cNvPr id="185347" name="Rectangle 3">
            <a:extLst>
              <a:ext uri="{FF2B5EF4-FFF2-40B4-BE49-F238E27FC236}">
                <a16:creationId xmlns:a16="http://schemas.microsoft.com/office/drawing/2014/main" id="{A63347DB-F644-460A-9C3D-FF176A5F4E0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CDD4A57-F43C-482B-8E93-84C4C9C48632}"/>
              </a:ext>
            </a:extLst>
          </p:cNvPr>
          <p:cNvSpPr>
            <a:spLocks noGrp="1" noChangeArrowheads="1"/>
          </p:cNvSpPr>
          <p:nvPr>
            <p:ph type="sldNum" sz="quarter" idx="5"/>
          </p:nvPr>
        </p:nvSpPr>
        <p:spPr>
          <a:ln/>
        </p:spPr>
        <p:txBody>
          <a:bodyPr/>
          <a:lstStyle/>
          <a:p>
            <a:fld id="{C85A80D4-ECC1-4585-B099-3701C2C85FBF}" type="slidenum">
              <a:rPr lang="en-US" altLang="en-US"/>
              <a:pPr/>
              <a:t>90</a:t>
            </a:fld>
            <a:endParaRPr lang="en-US" altLang="en-US"/>
          </a:p>
        </p:txBody>
      </p:sp>
      <p:sp>
        <p:nvSpPr>
          <p:cNvPr id="186370" name="Rectangle 2">
            <a:extLst>
              <a:ext uri="{FF2B5EF4-FFF2-40B4-BE49-F238E27FC236}">
                <a16:creationId xmlns:a16="http://schemas.microsoft.com/office/drawing/2014/main" id="{5D7EF9FA-D302-4BAE-A184-F860E306E7FA}"/>
              </a:ext>
            </a:extLst>
          </p:cNvPr>
          <p:cNvSpPr>
            <a:spLocks noGrp="1" noRot="1" noChangeAspect="1" noChangeArrowheads="1" noTextEdit="1"/>
          </p:cNvSpPr>
          <p:nvPr>
            <p:ph type="sldImg"/>
          </p:nvPr>
        </p:nvSpPr>
        <p:spPr>
          <a:ln/>
        </p:spPr>
      </p:sp>
      <p:sp>
        <p:nvSpPr>
          <p:cNvPr id="186371" name="Rectangle 3">
            <a:extLst>
              <a:ext uri="{FF2B5EF4-FFF2-40B4-BE49-F238E27FC236}">
                <a16:creationId xmlns:a16="http://schemas.microsoft.com/office/drawing/2014/main" id="{D78C0A40-018D-4C5B-8106-E807972FDA6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42A99D13-D00D-4A68-95A1-2185F2E07261}"/>
              </a:ext>
            </a:extLst>
          </p:cNvPr>
          <p:cNvSpPr>
            <a:spLocks noGrp="1" noChangeArrowheads="1"/>
          </p:cNvSpPr>
          <p:nvPr>
            <p:ph type="sldNum" sz="quarter" idx="5"/>
          </p:nvPr>
        </p:nvSpPr>
        <p:spPr>
          <a:ln/>
        </p:spPr>
        <p:txBody>
          <a:bodyPr/>
          <a:lstStyle/>
          <a:p>
            <a:fld id="{7F00CCFF-DDE4-4246-A63F-EB7CA12BD7C3}" type="slidenum">
              <a:rPr lang="en-US" altLang="en-US"/>
              <a:pPr/>
              <a:t>91</a:t>
            </a:fld>
            <a:endParaRPr lang="en-US" altLang="en-US"/>
          </a:p>
        </p:txBody>
      </p:sp>
      <p:sp>
        <p:nvSpPr>
          <p:cNvPr id="187394" name="Rectangle 2">
            <a:extLst>
              <a:ext uri="{FF2B5EF4-FFF2-40B4-BE49-F238E27FC236}">
                <a16:creationId xmlns:a16="http://schemas.microsoft.com/office/drawing/2014/main" id="{34DD6499-B5C7-41E5-A4E3-3C3ADB9600F2}"/>
              </a:ext>
            </a:extLst>
          </p:cNvPr>
          <p:cNvSpPr>
            <a:spLocks noGrp="1" noRot="1" noChangeAspect="1" noChangeArrowheads="1" noTextEdit="1"/>
          </p:cNvSpPr>
          <p:nvPr>
            <p:ph type="sldImg"/>
          </p:nvPr>
        </p:nvSpPr>
        <p:spPr>
          <a:ln/>
        </p:spPr>
      </p:sp>
      <p:sp>
        <p:nvSpPr>
          <p:cNvPr id="187395" name="Rectangle 3">
            <a:extLst>
              <a:ext uri="{FF2B5EF4-FFF2-40B4-BE49-F238E27FC236}">
                <a16:creationId xmlns:a16="http://schemas.microsoft.com/office/drawing/2014/main" id="{9F170BE3-2277-4F7A-A1FC-B84656A1C329}"/>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2712459-613F-4067-93F1-8960B18AA546}"/>
              </a:ext>
            </a:extLst>
          </p:cNvPr>
          <p:cNvSpPr>
            <a:spLocks noGrp="1" noChangeArrowheads="1"/>
          </p:cNvSpPr>
          <p:nvPr>
            <p:ph type="sldNum" sz="quarter" idx="5"/>
          </p:nvPr>
        </p:nvSpPr>
        <p:spPr>
          <a:ln/>
        </p:spPr>
        <p:txBody>
          <a:bodyPr/>
          <a:lstStyle/>
          <a:p>
            <a:fld id="{593BD99B-B80C-4060-AEB5-3AF1C5EA8C34}" type="slidenum">
              <a:rPr lang="en-US" altLang="en-US"/>
              <a:pPr/>
              <a:t>92</a:t>
            </a:fld>
            <a:endParaRPr lang="en-US" altLang="en-US"/>
          </a:p>
        </p:txBody>
      </p:sp>
      <p:sp>
        <p:nvSpPr>
          <p:cNvPr id="188418" name="Rectangle 2">
            <a:extLst>
              <a:ext uri="{FF2B5EF4-FFF2-40B4-BE49-F238E27FC236}">
                <a16:creationId xmlns:a16="http://schemas.microsoft.com/office/drawing/2014/main" id="{EBF87CA9-B7BF-4136-9879-8834339E0FAC}"/>
              </a:ext>
            </a:extLst>
          </p:cNvPr>
          <p:cNvSpPr>
            <a:spLocks noGrp="1" noRot="1" noChangeAspect="1" noChangeArrowheads="1" noTextEdit="1"/>
          </p:cNvSpPr>
          <p:nvPr>
            <p:ph type="sldImg"/>
          </p:nvPr>
        </p:nvSpPr>
        <p:spPr>
          <a:ln/>
        </p:spPr>
      </p:sp>
      <p:sp>
        <p:nvSpPr>
          <p:cNvPr id="188419" name="Rectangle 3">
            <a:extLst>
              <a:ext uri="{FF2B5EF4-FFF2-40B4-BE49-F238E27FC236}">
                <a16:creationId xmlns:a16="http://schemas.microsoft.com/office/drawing/2014/main" id="{E754A49A-4351-4140-9C16-8F877548DAF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32AFAB8-A40C-40F1-82B8-888D5E9B87B7}"/>
              </a:ext>
            </a:extLst>
          </p:cNvPr>
          <p:cNvSpPr>
            <a:spLocks noGrp="1" noChangeArrowheads="1"/>
          </p:cNvSpPr>
          <p:nvPr>
            <p:ph type="sldNum" sz="quarter" idx="5"/>
          </p:nvPr>
        </p:nvSpPr>
        <p:spPr>
          <a:ln/>
        </p:spPr>
        <p:txBody>
          <a:bodyPr/>
          <a:lstStyle/>
          <a:p>
            <a:fld id="{14A47A81-A44C-41B2-9C4D-87D461BACCE4}" type="slidenum">
              <a:rPr lang="en-US" altLang="en-US"/>
              <a:pPr/>
              <a:t>93</a:t>
            </a:fld>
            <a:endParaRPr lang="en-US" altLang="en-US"/>
          </a:p>
        </p:txBody>
      </p:sp>
      <p:sp>
        <p:nvSpPr>
          <p:cNvPr id="190466" name="Rectangle 2">
            <a:extLst>
              <a:ext uri="{FF2B5EF4-FFF2-40B4-BE49-F238E27FC236}">
                <a16:creationId xmlns:a16="http://schemas.microsoft.com/office/drawing/2014/main" id="{3C099FE1-8596-4B14-BF0A-A9092483F61C}"/>
              </a:ext>
            </a:extLst>
          </p:cNvPr>
          <p:cNvSpPr>
            <a:spLocks noGrp="1" noRot="1" noChangeAspect="1" noChangeArrowheads="1" noTextEdit="1"/>
          </p:cNvSpPr>
          <p:nvPr>
            <p:ph type="sldImg"/>
          </p:nvPr>
        </p:nvSpPr>
        <p:spPr>
          <a:ln/>
        </p:spPr>
      </p:sp>
      <p:sp>
        <p:nvSpPr>
          <p:cNvPr id="190467" name="Rectangle 3">
            <a:extLst>
              <a:ext uri="{FF2B5EF4-FFF2-40B4-BE49-F238E27FC236}">
                <a16:creationId xmlns:a16="http://schemas.microsoft.com/office/drawing/2014/main" id="{F299941A-CD86-4BDB-A24D-61163BF2BC0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4FB7C62-3491-4648-B3E2-38481CD5520C}"/>
              </a:ext>
            </a:extLst>
          </p:cNvPr>
          <p:cNvSpPr>
            <a:spLocks noGrp="1" noChangeArrowheads="1"/>
          </p:cNvSpPr>
          <p:nvPr>
            <p:ph type="sldNum" sz="quarter" idx="5"/>
          </p:nvPr>
        </p:nvSpPr>
        <p:spPr>
          <a:ln/>
        </p:spPr>
        <p:txBody>
          <a:bodyPr/>
          <a:lstStyle/>
          <a:p>
            <a:fld id="{001889CA-039E-4F76-85FD-80014294BC15}" type="slidenum">
              <a:rPr lang="en-US" altLang="en-US"/>
              <a:pPr/>
              <a:t>94</a:t>
            </a:fld>
            <a:endParaRPr lang="en-US" altLang="en-US"/>
          </a:p>
        </p:txBody>
      </p:sp>
      <p:sp>
        <p:nvSpPr>
          <p:cNvPr id="191490" name="Rectangle 2">
            <a:extLst>
              <a:ext uri="{FF2B5EF4-FFF2-40B4-BE49-F238E27FC236}">
                <a16:creationId xmlns:a16="http://schemas.microsoft.com/office/drawing/2014/main" id="{D7EB4F68-369A-45D5-939F-DB1936C6807C}"/>
              </a:ext>
            </a:extLst>
          </p:cNvPr>
          <p:cNvSpPr>
            <a:spLocks noGrp="1" noRot="1" noChangeAspect="1" noChangeArrowheads="1" noTextEdit="1"/>
          </p:cNvSpPr>
          <p:nvPr>
            <p:ph type="sldImg"/>
          </p:nvPr>
        </p:nvSpPr>
        <p:spPr>
          <a:ln/>
        </p:spPr>
      </p:sp>
      <p:sp>
        <p:nvSpPr>
          <p:cNvPr id="191491" name="Rectangle 3">
            <a:extLst>
              <a:ext uri="{FF2B5EF4-FFF2-40B4-BE49-F238E27FC236}">
                <a16:creationId xmlns:a16="http://schemas.microsoft.com/office/drawing/2014/main" id="{CA9F55FD-D7FB-4D81-A9C1-885600C32763}"/>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B20E19A-5F16-4632-BAD5-166F33B59F65}"/>
              </a:ext>
            </a:extLst>
          </p:cNvPr>
          <p:cNvSpPr>
            <a:spLocks noGrp="1" noChangeArrowheads="1"/>
          </p:cNvSpPr>
          <p:nvPr>
            <p:ph type="sldNum" sz="quarter" idx="5"/>
          </p:nvPr>
        </p:nvSpPr>
        <p:spPr>
          <a:ln/>
        </p:spPr>
        <p:txBody>
          <a:bodyPr/>
          <a:lstStyle/>
          <a:p>
            <a:fld id="{5ECF0876-AFC7-4265-B8AC-F641B2E4D32E}" type="slidenum">
              <a:rPr lang="en-US" altLang="en-US"/>
              <a:pPr/>
              <a:t>95</a:t>
            </a:fld>
            <a:endParaRPr lang="en-US" altLang="en-US"/>
          </a:p>
        </p:txBody>
      </p:sp>
      <p:sp>
        <p:nvSpPr>
          <p:cNvPr id="192514" name="Rectangle 2">
            <a:extLst>
              <a:ext uri="{FF2B5EF4-FFF2-40B4-BE49-F238E27FC236}">
                <a16:creationId xmlns:a16="http://schemas.microsoft.com/office/drawing/2014/main" id="{7ACD8670-D637-4D9B-B1C6-6EAACDB28277}"/>
              </a:ext>
            </a:extLst>
          </p:cNvPr>
          <p:cNvSpPr>
            <a:spLocks noGrp="1" noRot="1" noChangeAspect="1" noChangeArrowheads="1" noTextEdit="1"/>
          </p:cNvSpPr>
          <p:nvPr>
            <p:ph type="sldImg"/>
          </p:nvPr>
        </p:nvSpPr>
        <p:spPr>
          <a:ln/>
        </p:spPr>
      </p:sp>
      <p:sp>
        <p:nvSpPr>
          <p:cNvPr id="192515" name="Rectangle 3">
            <a:extLst>
              <a:ext uri="{FF2B5EF4-FFF2-40B4-BE49-F238E27FC236}">
                <a16:creationId xmlns:a16="http://schemas.microsoft.com/office/drawing/2014/main" id="{7BD4C0AB-FEEE-4B01-977A-7CEC106C107A}"/>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A83E864-61CD-4E58-897E-13FD03B80901}"/>
              </a:ext>
            </a:extLst>
          </p:cNvPr>
          <p:cNvSpPr>
            <a:spLocks noGrp="1" noChangeArrowheads="1"/>
          </p:cNvSpPr>
          <p:nvPr>
            <p:ph type="sldNum" sz="quarter" idx="5"/>
          </p:nvPr>
        </p:nvSpPr>
        <p:spPr>
          <a:ln/>
        </p:spPr>
        <p:txBody>
          <a:bodyPr/>
          <a:lstStyle/>
          <a:p>
            <a:fld id="{06A870DF-844C-412D-87B7-189AA72A521F}" type="slidenum">
              <a:rPr lang="en-US" altLang="en-US"/>
              <a:pPr/>
              <a:t>96</a:t>
            </a:fld>
            <a:endParaRPr lang="en-US" altLang="en-US"/>
          </a:p>
        </p:txBody>
      </p:sp>
      <p:sp>
        <p:nvSpPr>
          <p:cNvPr id="193538" name="Rectangle 2">
            <a:extLst>
              <a:ext uri="{FF2B5EF4-FFF2-40B4-BE49-F238E27FC236}">
                <a16:creationId xmlns:a16="http://schemas.microsoft.com/office/drawing/2014/main" id="{47E15A90-3169-408A-8ADD-E4204F506CF0}"/>
              </a:ext>
            </a:extLst>
          </p:cNvPr>
          <p:cNvSpPr>
            <a:spLocks noGrp="1" noRot="1" noChangeAspect="1" noChangeArrowheads="1" noTextEdit="1"/>
          </p:cNvSpPr>
          <p:nvPr>
            <p:ph type="sldImg"/>
          </p:nvPr>
        </p:nvSpPr>
        <p:spPr>
          <a:ln/>
        </p:spPr>
      </p:sp>
      <p:sp>
        <p:nvSpPr>
          <p:cNvPr id="193539" name="Rectangle 3">
            <a:extLst>
              <a:ext uri="{FF2B5EF4-FFF2-40B4-BE49-F238E27FC236}">
                <a16:creationId xmlns:a16="http://schemas.microsoft.com/office/drawing/2014/main" id="{ECB464CC-E15A-477F-B981-DDCE2EBC8404}"/>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620A505F-AFF0-45C1-9023-0A6055F922F3}"/>
              </a:ext>
            </a:extLst>
          </p:cNvPr>
          <p:cNvSpPr>
            <a:spLocks noGrp="1" noChangeArrowheads="1"/>
          </p:cNvSpPr>
          <p:nvPr>
            <p:ph type="sldNum" sz="quarter" idx="5"/>
          </p:nvPr>
        </p:nvSpPr>
        <p:spPr>
          <a:ln/>
        </p:spPr>
        <p:txBody>
          <a:bodyPr/>
          <a:lstStyle/>
          <a:p>
            <a:fld id="{3CF6DB5E-2BCF-4413-A27F-733C318922E2}" type="slidenum">
              <a:rPr lang="en-US" altLang="en-US"/>
              <a:pPr/>
              <a:t>97</a:t>
            </a:fld>
            <a:endParaRPr lang="en-US" altLang="en-US"/>
          </a:p>
        </p:txBody>
      </p:sp>
      <p:sp>
        <p:nvSpPr>
          <p:cNvPr id="194562" name="Rectangle 2">
            <a:extLst>
              <a:ext uri="{FF2B5EF4-FFF2-40B4-BE49-F238E27FC236}">
                <a16:creationId xmlns:a16="http://schemas.microsoft.com/office/drawing/2014/main" id="{F2B960E9-D56B-4BDB-BBA9-781F86770DAE}"/>
              </a:ext>
            </a:extLst>
          </p:cNvPr>
          <p:cNvSpPr>
            <a:spLocks noGrp="1" noRot="1" noChangeAspect="1" noChangeArrowheads="1" noTextEdit="1"/>
          </p:cNvSpPr>
          <p:nvPr>
            <p:ph type="sldImg"/>
          </p:nvPr>
        </p:nvSpPr>
        <p:spPr>
          <a:ln/>
        </p:spPr>
      </p:sp>
      <p:sp>
        <p:nvSpPr>
          <p:cNvPr id="194563" name="Rectangle 3">
            <a:extLst>
              <a:ext uri="{FF2B5EF4-FFF2-40B4-BE49-F238E27FC236}">
                <a16:creationId xmlns:a16="http://schemas.microsoft.com/office/drawing/2014/main" id="{2A162901-52EC-45DC-A175-59686E4BBBB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18AE903-2655-4909-A238-8B95FBC38281}"/>
              </a:ext>
            </a:extLst>
          </p:cNvPr>
          <p:cNvSpPr>
            <a:spLocks noGrp="1" noChangeArrowheads="1"/>
          </p:cNvSpPr>
          <p:nvPr>
            <p:ph type="sldNum" sz="quarter" idx="5"/>
          </p:nvPr>
        </p:nvSpPr>
        <p:spPr>
          <a:ln/>
        </p:spPr>
        <p:txBody>
          <a:bodyPr/>
          <a:lstStyle/>
          <a:p>
            <a:fld id="{4799F8BB-4CA5-45CA-9168-2656E8CEEC17}" type="slidenum">
              <a:rPr lang="en-US" altLang="en-US"/>
              <a:pPr/>
              <a:t>98</a:t>
            </a:fld>
            <a:endParaRPr lang="en-US" altLang="en-US"/>
          </a:p>
        </p:txBody>
      </p:sp>
      <p:sp>
        <p:nvSpPr>
          <p:cNvPr id="195586" name="Rectangle 2">
            <a:extLst>
              <a:ext uri="{FF2B5EF4-FFF2-40B4-BE49-F238E27FC236}">
                <a16:creationId xmlns:a16="http://schemas.microsoft.com/office/drawing/2014/main" id="{98636AF3-81FC-4D84-8754-C82573500B52}"/>
              </a:ext>
            </a:extLst>
          </p:cNvPr>
          <p:cNvSpPr>
            <a:spLocks noGrp="1" noRot="1" noChangeAspect="1" noChangeArrowheads="1" noTextEdit="1"/>
          </p:cNvSpPr>
          <p:nvPr>
            <p:ph type="sldImg"/>
          </p:nvPr>
        </p:nvSpPr>
        <p:spPr>
          <a:ln/>
        </p:spPr>
      </p:sp>
      <p:sp>
        <p:nvSpPr>
          <p:cNvPr id="195587" name="Rectangle 3">
            <a:extLst>
              <a:ext uri="{FF2B5EF4-FFF2-40B4-BE49-F238E27FC236}">
                <a16:creationId xmlns:a16="http://schemas.microsoft.com/office/drawing/2014/main" id="{B8253E27-8D4B-4B28-97EC-EF90788CBD8F}"/>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335A4C87-3115-4F18-BFD5-A098B160BFDC}"/>
              </a:ext>
            </a:extLst>
          </p:cNvPr>
          <p:cNvSpPr>
            <a:spLocks noGrp="1" noChangeArrowheads="1"/>
          </p:cNvSpPr>
          <p:nvPr>
            <p:ph type="sldNum" sz="quarter" idx="5"/>
          </p:nvPr>
        </p:nvSpPr>
        <p:spPr>
          <a:ln/>
        </p:spPr>
        <p:txBody>
          <a:bodyPr/>
          <a:lstStyle/>
          <a:p>
            <a:fld id="{2B8D2EBB-D83E-425C-81DB-6B708BC8BB25}" type="slidenum">
              <a:rPr lang="en-US" altLang="en-US"/>
              <a:pPr/>
              <a:t>124</a:t>
            </a:fld>
            <a:endParaRPr lang="en-US" altLang="en-US"/>
          </a:p>
        </p:txBody>
      </p:sp>
      <p:sp>
        <p:nvSpPr>
          <p:cNvPr id="34818" name="Rectangle 2">
            <a:extLst>
              <a:ext uri="{FF2B5EF4-FFF2-40B4-BE49-F238E27FC236}">
                <a16:creationId xmlns:a16="http://schemas.microsoft.com/office/drawing/2014/main" id="{CEABE656-B6D1-4D41-9E42-8AED48991964}"/>
              </a:ext>
            </a:extLst>
          </p:cNvPr>
          <p:cNvSpPr>
            <a:spLocks noGrp="1" noRot="1" noChangeAspect="1" noChangeArrowheads="1" noTextEdit="1"/>
          </p:cNvSpPr>
          <p:nvPr>
            <p:ph type="sldImg"/>
          </p:nvPr>
        </p:nvSpPr>
        <p:spPr>
          <a:ln/>
        </p:spPr>
      </p:sp>
      <p:sp>
        <p:nvSpPr>
          <p:cNvPr id="34819" name="Rectangle 3">
            <a:extLst>
              <a:ext uri="{FF2B5EF4-FFF2-40B4-BE49-F238E27FC236}">
                <a16:creationId xmlns:a16="http://schemas.microsoft.com/office/drawing/2014/main" id="{E62148C6-6A19-4163-93A9-17B3D5B6D1B6}"/>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BDAF078-739D-424D-8754-CAC713FE7591}"/>
              </a:ext>
            </a:extLst>
          </p:cNvPr>
          <p:cNvSpPr>
            <a:spLocks noGrp="1" noChangeArrowheads="1"/>
          </p:cNvSpPr>
          <p:nvPr>
            <p:ph type="sldNum" sz="quarter" idx="5"/>
          </p:nvPr>
        </p:nvSpPr>
        <p:spPr>
          <a:ln/>
        </p:spPr>
        <p:txBody>
          <a:bodyPr/>
          <a:lstStyle/>
          <a:p>
            <a:fld id="{E80E1179-8BB6-4D38-A370-8E0D3E165571}" type="slidenum">
              <a:rPr lang="en-US" altLang="en-US"/>
              <a:pPr/>
              <a:t>125</a:t>
            </a:fld>
            <a:endParaRPr lang="en-US" altLang="en-US"/>
          </a:p>
        </p:txBody>
      </p:sp>
      <p:sp>
        <p:nvSpPr>
          <p:cNvPr id="35842" name="Rectangle 2">
            <a:extLst>
              <a:ext uri="{FF2B5EF4-FFF2-40B4-BE49-F238E27FC236}">
                <a16:creationId xmlns:a16="http://schemas.microsoft.com/office/drawing/2014/main" id="{93980FC1-18FD-4E64-9CC1-13E02B39CD8A}"/>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5885347F-5938-4592-8141-E9D85631C02B}"/>
              </a:ext>
            </a:extLst>
          </p:cNvPr>
          <p:cNvSpPr>
            <a:spLocks noGrp="1" noChangeArrowheads="1"/>
          </p:cNvSpPr>
          <p:nvPr>
            <p:ph type="body" idx="1"/>
          </p:nvPr>
        </p:nvSpPr>
        <p:spPr/>
        <p:txBody>
          <a:bodyPr/>
          <a:lstStyle/>
          <a:p>
            <a:endParaRPr lang="en-US" alt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9570404-0A28-41E2-AD90-B6BED4FBBE58}"/>
              </a:ext>
            </a:extLst>
          </p:cNvPr>
          <p:cNvSpPr>
            <a:spLocks noGrp="1" noChangeArrowheads="1"/>
          </p:cNvSpPr>
          <p:nvPr>
            <p:ph type="sldNum" sz="quarter" idx="5"/>
          </p:nvPr>
        </p:nvSpPr>
        <p:spPr>
          <a:ln/>
        </p:spPr>
        <p:txBody>
          <a:bodyPr/>
          <a:lstStyle/>
          <a:p>
            <a:fld id="{DC1BC1EF-0594-4182-ADB5-50334930F362}" type="slidenum">
              <a:rPr lang="en-US" altLang="en-US"/>
              <a:pPr/>
              <a:t>126</a:t>
            </a:fld>
            <a:endParaRPr lang="en-US" altLang="en-US"/>
          </a:p>
        </p:txBody>
      </p:sp>
      <p:sp>
        <p:nvSpPr>
          <p:cNvPr id="36866" name="Rectangle 2">
            <a:extLst>
              <a:ext uri="{FF2B5EF4-FFF2-40B4-BE49-F238E27FC236}">
                <a16:creationId xmlns:a16="http://schemas.microsoft.com/office/drawing/2014/main" id="{BC21786C-483F-4EBC-BACF-BB8B2CEE3962}"/>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4B3EB549-F167-4876-98AA-03D8D14B540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8494F379-FADD-4F35-AF53-14F422A0C387}"/>
              </a:ext>
            </a:extLst>
          </p:cNvPr>
          <p:cNvSpPr>
            <a:spLocks noGrp="1" noChangeArrowheads="1"/>
          </p:cNvSpPr>
          <p:nvPr>
            <p:ph type="sldNum" sz="quarter" idx="5"/>
          </p:nvPr>
        </p:nvSpPr>
        <p:spPr>
          <a:ln/>
        </p:spPr>
        <p:txBody>
          <a:bodyPr/>
          <a:lstStyle/>
          <a:p>
            <a:fld id="{28810AFC-5F82-4F85-A726-2F7DA4666710}" type="slidenum">
              <a:rPr lang="en-US" altLang="en-US"/>
              <a:pPr/>
              <a:t>127</a:t>
            </a:fld>
            <a:endParaRPr lang="en-US" altLang="en-US"/>
          </a:p>
        </p:txBody>
      </p:sp>
      <p:sp>
        <p:nvSpPr>
          <p:cNvPr id="37890" name="Rectangle 2">
            <a:extLst>
              <a:ext uri="{FF2B5EF4-FFF2-40B4-BE49-F238E27FC236}">
                <a16:creationId xmlns:a16="http://schemas.microsoft.com/office/drawing/2014/main" id="{843E6B23-4645-430B-BAFF-C5D3458E4144}"/>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C3766C29-572A-46E7-8A35-28C4854207F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1421E10C-4263-4F1B-9963-8E84827364CD}"/>
              </a:ext>
            </a:extLst>
          </p:cNvPr>
          <p:cNvSpPr>
            <a:spLocks noGrp="1" noChangeArrowheads="1"/>
          </p:cNvSpPr>
          <p:nvPr>
            <p:ph type="sldNum" sz="quarter" idx="5"/>
          </p:nvPr>
        </p:nvSpPr>
        <p:spPr>
          <a:ln/>
        </p:spPr>
        <p:txBody>
          <a:bodyPr/>
          <a:lstStyle/>
          <a:p>
            <a:fld id="{5D82A002-94FA-4BD0-8487-12113B992DAE}" type="slidenum">
              <a:rPr lang="en-US" altLang="en-US"/>
              <a:pPr/>
              <a:t>128</a:t>
            </a:fld>
            <a:endParaRPr lang="en-US" altLang="en-US"/>
          </a:p>
        </p:txBody>
      </p:sp>
      <p:sp>
        <p:nvSpPr>
          <p:cNvPr id="47106" name="Rectangle 2">
            <a:extLst>
              <a:ext uri="{FF2B5EF4-FFF2-40B4-BE49-F238E27FC236}">
                <a16:creationId xmlns:a16="http://schemas.microsoft.com/office/drawing/2014/main" id="{CD62AAB4-3153-42C8-A3FB-EB1E31EDCE47}"/>
              </a:ext>
            </a:extLst>
          </p:cNvPr>
          <p:cNvSpPr>
            <a:spLocks noGrp="1" noRot="1" noChangeAspect="1" noChangeArrowheads="1" noTextEdit="1"/>
          </p:cNvSpPr>
          <p:nvPr>
            <p:ph type="sldImg"/>
          </p:nvPr>
        </p:nvSpPr>
        <p:spPr>
          <a:ln/>
        </p:spPr>
      </p:sp>
      <p:sp>
        <p:nvSpPr>
          <p:cNvPr id="47107" name="Rectangle 3">
            <a:extLst>
              <a:ext uri="{FF2B5EF4-FFF2-40B4-BE49-F238E27FC236}">
                <a16:creationId xmlns:a16="http://schemas.microsoft.com/office/drawing/2014/main" id="{34154030-395E-42A3-9784-6D17CE967C6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5DE6A46-0A66-4EAE-9DB1-517D9EE5198B}"/>
              </a:ext>
            </a:extLst>
          </p:cNvPr>
          <p:cNvSpPr>
            <a:spLocks noGrp="1" noChangeArrowheads="1"/>
          </p:cNvSpPr>
          <p:nvPr>
            <p:ph type="sldNum" sz="quarter" idx="5"/>
          </p:nvPr>
        </p:nvSpPr>
        <p:spPr>
          <a:ln/>
        </p:spPr>
        <p:txBody>
          <a:bodyPr/>
          <a:lstStyle/>
          <a:p>
            <a:fld id="{B6DEDAB5-E0B7-4A32-992D-4E4817FF6E8F}" type="slidenum">
              <a:rPr lang="en-US" altLang="en-US"/>
              <a:pPr/>
              <a:t>129</a:t>
            </a:fld>
            <a:endParaRPr lang="en-US" altLang="en-US"/>
          </a:p>
        </p:txBody>
      </p:sp>
      <p:sp>
        <p:nvSpPr>
          <p:cNvPr id="38914" name="Rectangle 2">
            <a:extLst>
              <a:ext uri="{FF2B5EF4-FFF2-40B4-BE49-F238E27FC236}">
                <a16:creationId xmlns:a16="http://schemas.microsoft.com/office/drawing/2014/main" id="{95840C9D-CE02-47E4-B7B5-A0CA1C696E63}"/>
              </a:ext>
            </a:extLst>
          </p:cNvPr>
          <p:cNvSpPr>
            <a:spLocks noGrp="1" noRot="1" noChangeAspect="1" noChangeArrowheads="1" noTextEdit="1"/>
          </p:cNvSpPr>
          <p:nvPr>
            <p:ph type="sldImg"/>
          </p:nvPr>
        </p:nvSpPr>
        <p:spPr>
          <a:ln/>
        </p:spPr>
      </p:sp>
      <p:sp>
        <p:nvSpPr>
          <p:cNvPr id="38915" name="Rectangle 3">
            <a:extLst>
              <a:ext uri="{FF2B5EF4-FFF2-40B4-BE49-F238E27FC236}">
                <a16:creationId xmlns:a16="http://schemas.microsoft.com/office/drawing/2014/main" id="{5193F352-B3FD-44DB-8DF9-F340224C12FB}"/>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E60DF53E-699A-4696-9EA6-672879EF91B7}"/>
              </a:ext>
            </a:extLst>
          </p:cNvPr>
          <p:cNvSpPr>
            <a:spLocks noGrp="1" noChangeArrowheads="1"/>
          </p:cNvSpPr>
          <p:nvPr>
            <p:ph type="sldNum" sz="quarter" idx="5"/>
          </p:nvPr>
        </p:nvSpPr>
        <p:spPr>
          <a:ln/>
        </p:spPr>
        <p:txBody>
          <a:bodyPr/>
          <a:lstStyle/>
          <a:p>
            <a:fld id="{4E979654-F0D1-4B31-BC6E-5A0C74373506}" type="slidenum">
              <a:rPr lang="en-US" altLang="en-US"/>
              <a:pPr/>
              <a:t>130</a:t>
            </a:fld>
            <a:endParaRPr lang="en-US" altLang="en-US"/>
          </a:p>
        </p:txBody>
      </p:sp>
      <p:sp>
        <p:nvSpPr>
          <p:cNvPr id="39938" name="Rectangle 2">
            <a:extLst>
              <a:ext uri="{FF2B5EF4-FFF2-40B4-BE49-F238E27FC236}">
                <a16:creationId xmlns:a16="http://schemas.microsoft.com/office/drawing/2014/main" id="{07899B43-CA4E-4CC4-83CB-D10BA7F7950E}"/>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37B25D48-B657-4B91-9D7B-9FE3099907A8}"/>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30" name="Date Placeholder 29"/>
          <p:cNvSpPr>
            <a:spLocks noGrp="1"/>
          </p:cNvSpPr>
          <p:nvPr>
            <p:ph type="dt" sz="half" idx="10"/>
          </p:nvPr>
        </p:nvSpPr>
        <p:spPr/>
        <p:txBody>
          <a:bodyPr/>
          <a:lstStyle/>
          <a:p>
            <a:fld id="{74223539-C274-414E-836E-21403C9CE2AE}" type="datetimeFigureOut">
              <a:rPr lang="en-US" smtClean="0"/>
              <a:pPr/>
              <a:t>11/16/25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74223539-C274-414E-836E-21403C9CE2AE}"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74223539-C274-414E-836E-21403C9CE2AE}" type="datetimeFigureOut">
              <a:rPr lang="en-US" smtClean="0"/>
              <a:pPr/>
              <a:t>11/16/25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t>Click to edit Master title style</a:t>
            </a:r>
          </a:p>
        </p:txBody>
      </p:sp>
      <p:sp>
        <p:nvSpPr>
          <p:cNvPr id="3" name="Date Placeholder 2"/>
          <p:cNvSpPr>
            <a:spLocks noGrp="1"/>
          </p:cNvSpPr>
          <p:nvPr>
            <p:ph type="dt" sz="half" idx="10"/>
          </p:nvPr>
        </p:nvSpPr>
        <p:spPr/>
        <p:txBody>
          <a:bodyPr/>
          <a:lstStyle/>
          <a:p>
            <a:fld id="{74223539-C274-414E-836E-21403C9CE2AE}" type="datetimeFigureOut">
              <a:rPr lang="en-US" smtClean="0"/>
              <a:pPr/>
              <a:t>11/16/25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4223539-C274-414E-836E-21403C9CE2AE}" type="datetimeFigureOut">
              <a:rPr lang="en-US" smtClean="0"/>
              <a:pPr/>
              <a:t>11/16/25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74223539-C274-414E-836E-21403C9CE2AE}" type="datetimeFigureOut">
              <a:rPr lang="en-US" smtClean="0"/>
              <a:pPr/>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74223539-C274-414E-836E-21403C9CE2AE}" type="datetimeFigureOut">
              <a:rPr lang="en-US" smtClean="0"/>
              <a:pPr/>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077200" y="6356350"/>
            <a:ext cx="609600" cy="365125"/>
          </a:xfrm>
        </p:spPr>
        <p:txBody>
          <a:bodyPr/>
          <a:lstStyle/>
          <a:p>
            <a:fld id="{8CD41AC4-40F7-4FE0-8905-74C6698904F3}" type="slidenum">
              <a:rPr lang="en-US" smtClean="0"/>
              <a:pPr/>
              <a:t>‹#›</a:t>
            </a:fld>
            <a:endParaRPr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223539-C274-414E-836E-21403C9CE2AE}" type="datetimeFigureOut">
              <a:rPr lang="en-US" smtClean="0"/>
              <a:pPr/>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D41AC4-40F7-4FE0-8905-74C6698904F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ABBBE-4C36-43C5-914B-94A379C2EE74}"/>
              </a:ext>
            </a:extLst>
          </p:cNvPr>
          <p:cNvSpPr>
            <a:spLocks noGrp="1"/>
          </p:cNvSpPr>
          <p:nvPr>
            <p:ph type="title"/>
          </p:nvPr>
        </p:nvSpPr>
        <p:spPr>
          <a:xfrm>
            <a:off x="762000" y="533400"/>
            <a:ext cx="7696200" cy="11430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493530C-5049-4F07-9EC8-BFDE7C3F881E}"/>
              </a:ext>
            </a:extLst>
          </p:cNvPr>
          <p:cNvSpPr>
            <a:spLocks noGrp="1"/>
          </p:cNvSpPr>
          <p:nvPr>
            <p:ph type="body" sz="half" idx="1"/>
          </p:nvPr>
        </p:nvSpPr>
        <p:spPr>
          <a:xfrm>
            <a:off x="762000" y="1905000"/>
            <a:ext cx="37719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08BBE4-D46E-44F6-8806-BE398B554AB2}"/>
              </a:ext>
            </a:extLst>
          </p:cNvPr>
          <p:cNvSpPr>
            <a:spLocks noGrp="1"/>
          </p:cNvSpPr>
          <p:nvPr>
            <p:ph sz="half" idx="2"/>
          </p:nvPr>
        </p:nvSpPr>
        <p:spPr>
          <a:xfrm>
            <a:off x="4686300" y="1905000"/>
            <a:ext cx="37719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60BE4A5C-B389-46A8-9E53-7E30BD79BB61}"/>
              </a:ext>
            </a:extLst>
          </p:cNvPr>
          <p:cNvSpPr>
            <a:spLocks noGrp="1"/>
          </p:cNvSpPr>
          <p:nvPr>
            <p:ph type="dt" sz="half" idx="10"/>
          </p:nvPr>
        </p:nvSpPr>
        <p:spPr>
          <a:xfrm>
            <a:off x="762000" y="6391275"/>
            <a:ext cx="20574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B736A3E-396A-410A-9427-43DCD3B524C8}"/>
              </a:ext>
            </a:extLst>
          </p:cNvPr>
          <p:cNvSpPr>
            <a:spLocks noGrp="1"/>
          </p:cNvSpPr>
          <p:nvPr>
            <p:ph type="ftr" sz="quarter" idx="11"/>
          </p:nvPr>
        </p:nvSpPr>
        <p:spPr>
          <a:xfrm>
            <a:off x="3352800" y="6403975"/>
            <a:ext cx="28956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D56F257-AD3C-4240-8604-4898F7D8BBF4}"/>
              </a:ext>
            </a:extLst>
          </p:cNvPr>
          <p:cNvSpPr>
            <a:spLocks noGrp="1"/>
          </p:cNvSpPr>
          <p:nvPr>
            <p:ph type="sldNum" sz="quarter" idx="12"/>
          </p:nvPr>
        </p:nvSpPr>
        <p:spPr>
          <a:xfrm>
            <a:off x="6858000" y="6400800"/>
            <a:ext cx="1600200" cy="457200"/>
          </a:xfrm>
        </p:spPr>
        <p:txBody>
          <a:bodyPr/>
          <a:lstStyle>
            <a:lvl1pPr>
              <a:defRPr/>
            </a:lvl1pPr>
          </a:lstStyle>
          <a:p>
            <a:fld id="{D2F7F928-E6C4-40AB-A4E4-854C9E827E04}" type="slidenum">
              <a:rPr lang="en-US" altLang="en-US"/>
              <a:pPr/>
              <a:t>‹#›</a:t>
            </a:fld>
            <a:endParaRPr lang="en-US" altLang="en-US"/>
          </a:p>
        </p:txBody>
      </p:sp>
    </p:spTree>
    <p:extLst>
      <p:ext uri="{BB962C8B-B14F-4D97-AF65-F5344CB8AC3E}">
        <p14:creationId xmlns:p14="http://schemas.microsoft.com/office/powerpoint/2010/main" val="1369253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t>Click to edit Master title style</a:t>
            </a:r>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74223539-C274-414E-836E-21403C9CE2AE}" type="datetimeFigureOut">
              <a:rPr lang="en-US" smtClean="0"/>
              <a:pPr/>
              <a:t>11/16/25</a:t>
            </a:fld>
            <a:endParaRPr lang="en-US"/>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CD41AC4-40F7-4FE0-8905-74C6698904F3}" type="slidenum">
              <a:rPr lang="en-US" smtClean="0"/>
              <a:pPr/>
              <a:t>‹#›</a:t>
            </a:fld>
            <a:endParaRPr lang="en-US"/>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 Id="rId5" Type="http://schemas.openxmlformats.org/officeDocument/2006/relationships/image" Target="../media/image26.jpeg"/><Relationship Id="rId4" Type="http://schemas.openxmlformats.org/officeDocument/2006/relationships/image" Target="../media/image25.jpeg"/></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1.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0.png"/><Relationship Id="rId5" Type="http://schemas.openxmlformats.org/officeDocument/2006/relationships/image" Target="../media/image29.jpeg"/><Relationship Id="rId4" Type="http://schemas.openxmlformats.org/officeDocument/2006/relationships/image" Target="../media/image28.jpeg"/></Relationships>
</file>

<file path=ppt/slides/_rels/slide3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3.png"/></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7.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6.png"/><Relationship Id="rId5" Type="http://schemas.openxmlformats.org/officeDocument/2006/relationships/image" Target="../media/image35.jpeg"/><Relationship Id="rId4" Type="http://schemas.openxmlformats.org/officeDocument/2006/relationships/image" Target="../media/image34.jpeg"/></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41.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4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54.png"/><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image" Target="../media/image31.png"/><Relationship Id="rId5" Type="http://schemas.openxmlformats.org/officeDocument/2006/relationships/image" Target="../media/image53.jpeg"/><Relationship Id="rId4" Type="http://schemas.openxmlformats.org/officeDocument/2006/relationships/notesSlide" Target="../notesSlides/notesSlide2.xml"/></Relationships>
</file>

<file path=ppt/slides/_rels/slide54.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image" Target="../media/image5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image" Target="../media/image60.jpeg"/><Relationship Id="rId1" Type="http://schemas.openxmlformats.org/officeDocument/2006/relationships/slideLayout" Target="../slideLayouts/slideLayout2.xml"/><Relationship Id="rId4" Type="http://schemas.openxmlformats.org/officeDocument/2006/relationships/image" Target="../media/image62.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image" Target="../media/image63.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73.wmf"/></Relationships>
</file>

<file path=ppt/slides/_rels/slide9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74.wm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Unit-VI- Graphs and Trees</a:t>
            </a:r>
          </a:p>
        </p:txBody>
      </p:sp>
      <p:sp>
        <p:nvSpPr>
          <p:cNvPr id="4" name="Text Box 3"/>
          <p:cNvSpPr txBox="1">
            <a:spLocks noChangeArrowheads="1"/>
          </p:cNvSpPr>
          <p:nvPr/>
        </p:nvSpPr>
        <p:spPr bwMode="auto">
          <a:xfrm>
            <a:off x="0" y="6553200"/>
            <a:ext cx="9144000" cy="257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2833" tIns="51417" rIns="102833" bIns="51417">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eaLnBrk="1" hangingPunct="1">
              <a:spcBef>
                <a:spcPct val="50000"/>
              </a:spcBef>
              <a:buFontTx/>
              <a:buNone/>
            </a:pPr>
            <a:r>
              <a:rPr lang="en-US" altLang="en-US" sz="1000" dirty="0"/>
              <a:t>Copyright ©  McGraw-Hill Education.  All rights reserved. No reproduction or distribution without the prior written consent of McGraw-Hill Education.</a:t>
            </a:r>
          </a:p>
        </p:txBody>
      </p:sp>
      <p:sp>
        <p:nvSpPr>
          <p:cNvPr id="6" name="Subtitle 5">
            <a:extLst>
              <a:ext uri="{FF2B5EF4-FFF2-40B4-BE49-F238E27FC236}">
                <a16:creationId xmlns:a16="http://schemas.microsoft.com/office/drawing/2014/main" id="{792D9E80-FFC3-6710-06B7-FDCFD846754E}"/>
              </a:ext>
            </a:extLst>
          </p:cNvPr>
          <p:cNvSpPr>
            <a:spLocks noGrp="1"/>
          </p:cNvSpPr>
          <p:nvPr>
            <p:ph type="subTitle" idx="1"/>
          </p:nvPr>
        </p:nvSpPr>
        <p:spPr/>
        <p:txBody>
          <a:bodyPr/>
          <a:lstStyle/>
          <a:p>
            <a:endParaRPr lang="en-IN"/>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4ED1A9D-1AC2-427D-A30C-D573B902441B}"/>
              </a:ext>
            </a:extLst>
          </p:cNvPr>
          <p:cNvSpPr>
            <a:spLocks noGrp="1"/>
          </p:cNvSpPr>
          <p:nvPr>
            <p:ph type="ctrTitle"/>
          </p:nvPr>
        </p:nvSpPr>
        <p:spPr/>
        <p:txBody>
          <a:bodyPr/>
          <a:lstStyle/>
          <a:p>
            <a:r>
              <a:rPr lang="en-US" dirty="0"/>
              <a:t>PART I- GRAPHS AND THEIR TERMINOLOGIES</a:t>
            </a:r>
            <a:endParaRPr lang="en-IN" dirty="0"/>
          </a:p>
        </p:txBody>
      </p:sp>
      <p:sp>
        <p:nvSpPr>
          <p:cNvPr id="3" name="Subtitle 2">
            <a:extLst>
              <a:ext uri="{FF2B5EF4-FFF2-40B4-BE49-F238E27FC236}">
                <a16:creationId xmlns:a16="http://schemas.microsoft.com/office/drawing/2014/main" id="{919A31B0-1AB8-DE1E-04B8-C93842623F9F}"/>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968594807"/>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6E96F-0230-4231-A77B-C0F2B973B359}"/>
              </a:ext>
            </a:extLst>
          </p:cNvPr>
          <p:cNvSpPr>
            <a:spLocks noGrp="1"/>
          </p:cNvSpPr>
          <p:nvPr>
            <p:ph type="title"/>
          </p:nvPr>
        </p:nvSpPr>
        <p:spPr/>
        <p:txBody>
          <a:bodyPr/>
          <a:lstStyle/>
          <a:p>
            <a:r>
              <a:rPr lang="en-US" dirty="0"/>
              <a:t>Disclaimer	</a:t>
            </a:r>
            <a:endParaRPr lang="en-IN" dirty="0"/>
          </a:p>
        </p:txBody>
      </p:sp>
      <p:sp>
        <p:nvSpPr>
          <p:cNvPr id="3" name="Content Placeholder 2">
            <a:extLst>
              <a:ext uri="{FF2B5EF4-FFF2-40B4-BE49-F238E27FC236}">
                <a16:creationId xmlns:a16="http://schemas.microsoft.com/office/drawing/2014/main" id="{741BB080-9427-4327-863D-3277ACA03391}"/>
              </a:ext>
            </a:extLst>
          </p:cNvPr>
          <p:cNvSpPr>
            <a:spLocks noGrp="1"/>
          </p:cNvSpPr>
          <p:nvPr>
            <p:ph idx="1"/>
          </p:nvPr>
        </p:nvSpPr>
        <p:spPr/>
        <p:txBody>
          <a:bodyPr/>
          <a:lstStyle/>
          <a:p>
            <a:r>
              <a:rPr lang="en-US" dirty="0"/>
              <a:t>The slides are adapted from Kenneth H. Rosen, 5</a:t>
            </a:r>
            <a:r>
              <a:rPr lang="en-US" baseline="30000" dirty="0"/>
              <a:t>th </a:t>
            </a:r>
            <a:r>
              <a:rPr lang="en-US" dirty="0"/>
              <a:t> Edition, and C. L. Liu, 4e. </a:t>
            </a:r>
            <a:endParaRPr lang="en-IN" dirty="0"/>
          </a:p>
        </p:txBody>
      </p:sp>
    </p:spTree>
    <p:extLst>
      <p:ext uri="{BB962C8B-B14F-4D97-AF65-F5344CB8AC3E}">
        <p14:creationId xmlns:p14="http://schemas.microsoft.com/office/powerpoint/2010/main" val="68644576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normAutofit fontScale="92500" lnSpcReduction="20000"/>
          </a:bodyPr>
          <a:lstStyle/>
          <a:p>
            <a:r>
              <a:rPr lang="en-US" dirty="0"/>
              <a:t>Introduction</a:t>
            </a:r>
          </a:p>
          <a:p>
            <a:r>
              <a:rPr lang="en-US" dirty="0"/>
              <a:t>Basic Graph Terminology</a:t>
            </a:r>
          </a:p>
          <a:p>
            <a:r>
              <a:rPr lang="en-US" dirty="0"/>
              <a:t>Digraphs and Relations</a:t>
            </a:r>
          </a:p>
          <a:p>
            <a:r>
              <a:rPr lang="en-US" dirty="0"/>
              <a:t>Representation of Graphs</a:t>
            </a:r>
          </a:p>
          <a:p>
            <a:r>
              <a:rPr lang="en-US" dirty="0"/>
              <a:t>Operation on Graphs</a:t>
            </a:r>
          </a:p>
          <a:p>
            <a:r>
              <a:rPr lang="en-US" dirty="0"/>
              <a:t>Paths and Circuits</a:t>
            </a:r>
          </a:p>
          <a:p>
            <a:r>
              <a:rPr lang="en-US" dirty="0"/>
              <a:t>Graph traversals</a:t>
            </a:r>
          </a:p>
          <a:p>
            <a:r>
              <a:rPr lang="en-US" dirty="0"/>
              <a:t>Shortest Path in Weighted Graphs</a:t>
            </a:r>
          </a:p>
          <a:p>
            <a:r>
              <a:rPr lang="en-US" dirty="0"/>
              <a:t>Eulerian paths and Circuits</a:t>
            </a:r>
          </a:p>
          <a:p>
            <a:r>
              <a:rPr lang="en-US" dirty="0"/>
              <a:t>Hamiltonian Paths and Circuits</a:t>
            </a:r>
          </a:p>
          <a:p>
            <a:r>
              <a:rPr lang="en-US" dirty="0"/>
              <a:t>Planar Graphs</a:t>
            </a:r>
          </a:p>
          <a:p>
            <a:pPr marL="0" indent="0">
              <a:buNone/>
            </a:pPr>
            <a:endParaRPr lang="en-US" dirty="0"/>
          </a:p>
          <a:p>
            <a:pPr>
              <a:buNone/>
            </a:pPr>
            <a:endParaRPr lang="en-US" dirty="0"/>
          </a:p>
          <a:p>
            <a:pPr lvl="1">
              <a:buNone/>
            </a:pPr>
            <a:endParaRPr lang="en-US" dirty="0"/>
          </a:p>
          <a:p>
            <a:endParaRPr lang="en-US" dirty="0"/>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for Self Study</a:t>
            </a:r>
          </a:p>
        </p:txBody>
      </p:sp>
      <p:pic>
        <p:nvPicPr>
          <p:cNvPr id="1026" name="Picture 2" descr="Image result for cl liu discrete mathematics google boo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5000" y="2057400"/>
            <a:ext cx="3076506" cy="387826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464024" y="2057400"/>
            <a:ext cx="4572000" cy="3785652"/>
          </a:xfrm>
          <a:prstGeom prst="rect">
            <a:avLst/>
          </a:prstGeom>
        </p:spPr>
        <p:txBody>
          <a:bodyPr>
            <a:spAutoFit/>
          </a:bodyPr>
          <a:lstStyle/>
          <a:p>
            <a:pPr marL="285750" indent="-285750">
              <a:buFont typeface="Arial" panose="020B0604020202020204" pitchFamily="34" charset="0"/>
              <a:buChar char="•"/>
            </a:pPr>
            <a:r>
              <a:rPr lang="en-US" sz="2400" dirty="0"/>
              <a:t>Multigraphs and Weighted Graphs(Elements of Discrete Mathematics, C.L Liu and D.P </a:t>
            </a:r>
            <a:r>
              <a:rPr lang="en-US" sz="2400" dirty="0" err="1"/>
              <a:t>Mohapatra</a:t>
            </a:r>
            <a:r>
              <a:rPr lang="en-US" sz="2400" dirty="0"/>
              <a:t>, 4e)</a:t>
            </a:r>
          </a:p>
          <a:p>
            <a:pPr marL="285750" indent="-285750">
              <a:buFont typeface="Arial" panose="020B0604020202020204" pitchFamily="34" charset="0"/>
              <a:buChar char="•"/>
            </a:pPr>
            <a:r>
              <a:rPr lang="en-US" sz="2400" dirty="0"/>
              <a:t>Factors of a Graph(Elements of Discrete Mathematics, C.L Liu and D.P </a:t>
            </a:r>
            <a:r>
              <a:rPr lang="en-US" sz="2400" dirty="0" err="1"/>
              <a:t>Mohapatra</a:t>
            </a:r>
            <a:r>
              <a:rPr lang="en-US" sz="2400" dirty="0"/>
              <a:t>, 4e)</a:t>
            </a:r>
          </a:p>
          <a:p>
            <a:pPr marL="285750" indent="-285750">
              <a:buFont typeface="Arial" panose="020B0604020202020204" pitchFamily="34" charset="0"/>
              <a:buChar char="•"/>
            </a:pPr>
            <a:r>
              <a:rPr lang="en-US" sz="2400" dirty="0"/>
              <a:t>Graph Coloring(Elements of Discrete Mathematics, C.L Liu and D.P </a:t>
            </a:r>
            <a:r>
              <a:rPr lang="en-US" sz="2400" dirty="0" err="1"/>
              <a:t>Mohapatra</a:t>
            </a:r>
            <a:r>
              <a:rPr lang="en-US" sz="2400" dirty="0"/>
              <a:t>, 4e)</a:t>
            </a:r>
          </a:p>
        </p:txBody>
      </p:sp>
    </p:spTree>
    <p:extLst>
      <p:ext uri="{BB962C8B-B14F-4D97-AF65-F5344CB8AC3E}">
        <p14:creationId xmlns:p14="http://schemas.microsoft.com/office/powerpoint/2010/main" val="1606757503"/>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and Motivation</a:t>
            </a:r>
          </a:p>
        </p:txBody>
      </p:sp>
      <p:sp>
        <p:nvSpPr>
          <p:cNvPr id="3" name="Content Placeholder 2"/>
          <p:cNvSpPr>
            <a:spLocks noGrp="1"/>
          </p:cNvSpPr>
          <p:nvPr>
            <p:ph idx="1"/>
          </p:nvPr>
        </p:nvSpPr>
        <p:spPr/>
        <p:txBody>
          <a:bodyPr/>
          <a:lstStyle/>
          <a:p>
            <a:pPr marL="0" indent="0">
              <a:buNone/>
            </a:pPr>
            <a:r>
              <a:rPr lang="en-US" dirty="0"/>
              <a:t>To model  a computer network </a:t>
            </a:r>
            <a:r>
              <a:rPr lang="en-US" b="1" dirty="0"/>
              <a:t>where we care about the number of links between data centers, we use a </a:t>
            </a:r>
            <a:r>
              <a:rPr lang="en-US" b="1" dirty="0" err="1"/>
              <a:t>multigraph</a:t>
            </a:r>
            <a:r>
              <a:rPr lang="en-US" b="1" dirty="0"/>
              <a:t>.</a:t>
            </a:r>
          </a:p>
          <a:p>
            <a:pPr marL="0" indent="0">
              <a:buNone/>
            </a:pPr>
            <a:r>
              <a:rPr lang="en-US" dirty="0"/>
              <a:t>To model a computer network with diagnostic links at data centers, we use a </a:t>
            </a:r>
            <a:r>
              <a:rPr lang="en-US" dirty="0" err="1"/>
              <a:t>pseudograph</a:t>
            </a:r>
            <a:r>
              <a:rPr lang="en-US" dirty="0"/>
              <a:t>, as loops are needed. </a:t>
            </a:r>
          </a:p>
          <a:p>
            <a:pPr marL="0" indent="0">
              <a:buNone/>
            </a:pPr>
            <a:r>
              <a:rPr lang="en-US" dirty="0"/>
              <a:t>To model a network with multiple one-way links, we use a directed </a:t>
            </a:r>
            <a:r>
              <a:rPr lang="en-US" dirty="0" err="1"/>
              <a:t>multigraph</a:t>
            </a:r>
            <a:r>
              <a:rPr lang="en-US" dirty="0"/>
              <a:t>.   Note that we could use a directed graph without multiple edges if we only care whether there is at least one link from a data center to another data center.</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382126343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Graph Models: </a:t>
            </a:r>
            <a:br>
              <a:rPr lang="en-US" dirty="0"/>
            </a:br>
            <a:r>
              <a:rPr lang="en-US" dirty="0"/>
              <a:t>Computer Networks (</a:t>
            </a:r>
            <a:r>
              <a:rPr lang="en-US" i="1" dirty="0"/>
              <a:t>continued</a:t>
            </a:r>
            <a:r>
              <a:rPr lang="en-US" dirty="0"/>
              <a:t>)</a:t>
            </a:r>
          </a:p>
        </p:txBody>
      </p:sp>
      <p:pic>
        <p:nvPicPr>
          <p:cNvPr id="10" name="Content Placeholder 3" descr="09005.jpg"/>
          <p:cNvPicPr>
            <a:picLocks noGrp="1" noChangeAspect="1"/>
          </p:cNvPicPr>
          <p:nvPr>
            <p:ph idx="1"/>
          </p:nvPr>
        </p:nvPicPr>
        <p:blipFill>
          <a:blip r:embed="rId2" cstate="print"/>
          <a:stretch>
            <a:fillRect/>
          </a:stretch>
        </p:blipFill>
        <p:spPr>
          <a:xfrm>
            <a:off x="2988425" y="3666447"/>
            <a:ext cx="3167149" cy="926869"/>
          </a:xfrm>
        </p:spPr>
      </p:pic>
      <p:pic>
        <p:nvPicPr>
          <p:cNvPr id="5" name="Picture 4" descr="09002.jpg"/>
          <p:cNvPicPr>
            <a:picLocks noChangeAspect="1"/>
          </p:cNvPicPr>
          <p:nvPr/>
        </p:nvPicPr>
        <p:blipFill>
          <a:blip r:embed="rId3" cstate="print"/>
          <a:stretch>
            <a:fillRect/>
          </a:stretch>
        </p:blipFill>
        <p:spPr>
          <a:xfrm>
            <a:off x="734020" y="1989846"/>
            <a:ext cx="3787827" cy="1079763"/>
          </a:xfrm>
          <a:prstGeom prst="rect">
            <a:avLst/>
          </a:prstGeom>
        </p:spPr>
      </p:pic>
      <p:pic>
        <p:nvPicPr>
          <p:cNvPr id="6" name="Picture 5" descr="09003.jpg"/>
          <p:cNvPicPr>
            <a:picLocks noChangeAspect="1"/>
          </p:cNvPicPr>
          <p:nvPr/>
        </p:nvPicPr>
        <p:blipFill>
          <a:blip r:embed="rId4" cstate="print"/>
          <a:stretch>
            <a:fillRect/>
          </a:stretch>
        </p:blipFill>
        <p:spPr>
          <a:xfrm>
            <a:off x="3048000" y="3505200"/>
            <a:ext cx="3545320" cy="1314250"/>
          </a:xfrm>
          <a:prstGeom prst="rect">
            <a:avLst/>
          </a:prstGeom>
        </p:spPr>
      </p:pic>
      <p:sp>
        <p:nvSpPr>
          <p:cNvPr id="7" name="TextBox 6"/>
          <p:cNvSpPr txBox="1"/>
          <p:nvPr/>
        </p:nvSpPr>
        <p:spPr>
          <a:xfrm>
            <a:off x="734020" y="1968237"/>
            <a:ext cx="3799879" cy="369332"/>
          </a:xfrm>
          <a:prstGeom prst="rect">
            <a:avLst/>
          </a:prstGeom>
          <a:noFill/>
        </p:spPr>
        <p:txBody>
          <a:bodyPr wrap="square" rtlCol="0">
            <a:spAutoFit/>
          </a:bodyPr>
          <a:lstStyle/>
          <a:p>
            <a:pPr marL="285750" indent="-285750">
              <a:buFont typeface="Arial" pitchFamily="34" charset="0"/>
              <a:buChar char="•"/>
            </a:pPr>
            <a:r>
              <a:rPr lang="en-US" b="1" dirty="0"/>
              <a:t>. </a:t>
            </a:r>
          </a:p>
        </p:txBody>
      </p:sp>
    </p:spTree>
    <p:extLst>
      <p:ext uri="{BB962C8B-B14F-4D97-AF65-F5344CB8AC3E}">
        <p14:creationId xmlns:p14="http://schemas.microsoft.com/office/powerpoint/2010/main" val="209036701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 and Motivation</a:t>
            </a:r>
          </a:p>
        </p:txBody>
      </p:sp>
      <p:sp>
        <p:nvSpPr>
          <p:cNvPr id="3" name="Content Placeholder 2"/>
          <p:cNvSpPr>
            <a:spLocks noGrp="1"/>
          </p:cNvSpPr>
          <p:nvPr>
            <p:ph idx="1"/>
          </p:nvPr>
        </p:nvSpPr>
        <p:spPr/>
        <p:txBody>
          <a:bodyPr>
            <a:normAutofit fontScale="92500" lnSpcReduction="10000"/>
          </a:bodyPr>
          <a:lstStyle/>
          <a:p>
            <a:r>
              <a:rPr lang="en-US" dirty="0"/>
              <a:t>We will illustrate how graph theory can be used in models of:</a:t>
            </a:r>
          </a:p>
          <a:p>
            <a:pPr lvl="1"/>
            <a:r>
              <a:rPr lang="en-US" dirty="0"/>
              <a:t>Social networks</a:t>
            </a:r>
          </a:p>
          <a:p>
            <a:pPr lvl="1"/>
            <a:r>
              <a:rPr lang="en-US" dirty="0"/>
              <a:t>Communications networks</a:t>
            </a:r>
          </a:p>
          <a:p>
            <a:pPr lvl="1"/>
            <a:r>
              <a:rPr lang="en-US" dirty="0"/>
              <a:t>Information networks</a:t>
            </a:r>
          </a:p>
          <a:p>
            <a:pPr lvl="1"/>
            <a:r>
              <a:rPr lang="en-US" dirty="0"/>
              <a:t>Software design</a:t>
            </a:r>
          </a:p>
          <a:p>
            <a:pPr lvl="1"/>
            <a:r>
              <a:rPr lang="en-US" dirty="0"/>
              <a:t>Transportation networks</a:t>
            </a:r>
          </a:p>
          <a:p>
            <a:pPr lvl="1"/>
            <a:r>
              <a:rPr lang="en-US" dirty="0"/>
              <a:t>Biological networks</a:t>
            </a:r>
          </a:p>
          <a:p>
            <a:r>
              <a:rPr lang="en-US" dirty="0"/>
              <a:t>It’s a challenge to find a subject to which graph theory has not yet been applied.  Can you find an area without applications of graph theory?</a:t>
            </a:r>
          </a:p>
          <a:p>
            <a:endParaRPr lang="en-US" dirty="0"/>
          </a:p>
          <a:p>
            <a:endParaRPr lang="en-US" dirty="0"/>
          </a:p>
        </p:txBody>
      </p:sp>
    </p:spTree>
    <p:extLst>
      <p:ext uri="{BB962C8B-B14F-4D97-AF65-F5344CB8AC3E}">
        <p14:creationId xmlns:p14="http://schemas.microsoft.com/office/powerpoint/2010/main" val="291950251"/>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Introduction and Motivation </a:t>
            </a:r>
          </a:p>
        </p:txBody>
      </p:sp>
      <p:sp>
        <p:nvSpPr>
          <p:cNvPr id="3" name="Content Placeholder 2"/>
          <p:cNvSpPr>
            <a:spLocks noGrp="1"/>
          </p:cNvSpPr>
          <p:nvPr>
            <p:ph idx="1"/>
          </p:nvPr>
        </p:nvSpPr>
        <p:spPr/>
        <p:txBody>
          <a:bodyPr>
            <a:normAutofit/>
          </a:bodyPr>
          <a:lstStyle/>
          <a:p>
            <a:endParaRPr lang="en-US" dirty="0"/>
          </a:p>
          <a:p>
            <a:endParaRPr lang="en-US" dirty="0"/>
          </a:p>
          <a:p>
            <a:endParaRPr lang="en-US" dirty="0"/>
          </a:p>
          <a:p>
            <a:pPr marL="0" indent="0">
              <a:buNone/>
            </a:pPr>
            <a:endParaRPr lang="en-US" dirty="0"/>
          </a:p>
          <a:p>
            <a:endParaRPr lang="en-US" dirty="0"/>
          </a:p>
          <a:p>
            <a:endParaRPr lang="en-US" dirty="0"/>
          </a:p>
          <a:p>
            <a:pPr>
              <a:buNone/>
            </a:pPr>
            <a:endParaRPr lang="en-US" dirty="0"/>
          </a:p>
          <a:p>
            <a:pPr>
              <a:buNone/>
            </a:pPr>
            <a:r>
              <a:rPr lang="en-US" dirty="0"/>
              <a:t>  </a:t>
            </a:r>
          </a:p>
          <a:p>
            <a:pPr marL="0" indent="0">
              <a:buNone/>
            </a:pPr>
            <a:endParaRPr lang="en-US" dirty="0"/>
          </a:p>
        </p:txBody>
      </p:sp>
      <p:pic>
        <p:nvPicPr>
          <p:cNvPr id="4" name="Picture 3" descr="09007.jpg"/>
          <p:cNvPicPr>
            <a:picLocks noChangeAspect="1"/>
          </p:cNvPicPr>
          <p:nvPr/>
        </p:nvPicPr>
        <p:blipFill>
          <a:blip r:embed="rId2" cstate="print"/>
          <a:stretch>
            <a:fillRect/>
          </a:stretch>
        </p:blipFill>
        <p:spPr>
          <a:xfrm>
            <a:off x="4648200" y="1905000"/>
            <a:ext cx="3099054" cy="1660398"/>
          </a:xfrm>
          <a:prstGeom prst="rect">
            <a:avLst/>
          </a:prstGeom>
        </p:spPr>
      </p:pic>
      <p:pic>
        <p:nvPicPr>
          <p:cNvPr id="5" name="Picture 4" descr="09008.jpg"/>
          <p:cNvPicPr>
            <a:picLocks noChangeAspect="1"/>
          </p:cNvPicPr>
          <p:nvPr/>
        </p:nvPicPr>
        <p:blipFill>
          <a:blip r:embed="rId3" cstate="print"/>
          <a:stretch>
            <a:fillRect/>
          </a:stretch>
        </p:blipFill>
        <p:spPr>
          <a:xfrm>
            <a:off x="5257800" y="4266471"/>
            <a:ext cx="1586484" cy="906780"/>
          </a:xfrm>
          <a:prstGeom prst="rect">
            <a:avLst/>
          </a:prstGeom>
        </p:spPr>
      </p:pic>
      <p:sp>
        <p:nvSpPr>
          <p:cNvPr id="8" name="TextBox 7"/>
          <p:cNvSpPr txBox="1"/>
          <p:nvPr/>
        </p:nvSpPr>
        <p:spPr>
          <a:xfrm>
            <a:off x="963681" y="2352824"/>
            <a:ext cx="2797037" cy="1477328"/>
          </a:xfrm>
          <a:prstGeom prst="rect">
            <a:avLst/>
          </a:prstGeom>
          <a:noFill/>
        </p:spPr>
        <p:txBody>
          <a:bodyPr wrap="square" rtlCol="0">
            <a:spAutoFit/>
          </a:bodyPr>
          <a:lstStyle/>
          <a:p>
            <a:r>
              <a:rPr lang="en-US" b="1" dirty="0"/>
              <a:t>Example</a:t>
            </a:r>
            <a:r>
              <a:rPr lang="en-US" dirty="0"/>
              <a:t>: A friendship graph where two people are connected if they are Facebook friends.</a:t>
            </a:r>
          </a:p>
          <a:p>
            <a:endParaRPr lang="en-US" dirty="0"/>
          </a:p>
        </p:txBody>
      </p:sp>
      <p:sp>
        <p:nvSpPr>
          <p:cNvPr id="9" name="TextBox 8"/>
          <p:cNvSpPr txBox="1"/>
          <p:nvPr/>
        </p:nvSpPr>
        <p:spPr>
          <a:xfrm>
            <a:off x="1066800" y="4526920"/>
            <a:ext cx="2057400" cy="646331"/>
          </a:xfrm>
          <a:prstGeom prst="rect">
            <a:avLst/>
          </a:prstGeom>
          <a:noFill/>
        </p:spPr>
        <p:txBody>
          <a:bodyPr wrap="square" rtlCol="0">
            <a:spAutoFit/>
          </a:bodyPr>
          <a:lstStyle/>
          <a:p>
            <a:r>
              <a:rPr lang="en-US" b="1" dirty="0"/>
              <a:t>Example</a:t>
            </a:r>
            <a:r>
              <a:rPr lang="en-US" dirty="0"/>
              <a:t>: An influence graph</a:t>
            </a:r>
          </a:p>
        </p:txBody>
      </p:sp>
    </p:spTree>
    <p:extLst>
      <p:ext uri="{BB962C8B-B14F-4D97-AF65-F5344CB8AC3E}">
        <p14:creationId xmlns:p14="http://schemas.microsoft.com/office/powerpoint/2010/main" val="346988240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1143000"/>
          </a:xfrm>
        </p:spPr>
        <p:txBody>
          <a:bodyPr/>
          <a:lstStyle/>
          <a:p>
            <a:r>
              <a:rPr lang="en-US" dirty="0"/>
              <a:t>Graph Terminology</a:t>
            </a:r>
          </a:p>
        </p:txBody>
      </p:sp>
      <p:sp>
        <p:nvSpPr>
          <p:cNvPr id="3" name="Content Placeholder 2"/>
          <p:cNvSpPr>
            <a:spLocks noGrp="1"/>
          </p:cNvSpPr>
          <p:nvPr>
            <p:ph idx="1"/>
          </p:nvPr>
        </p:nvSpPr>
        <p:spPr>
          <a:xfrm>
            <a:off x="475667" y="1905000"/>
            <a:ext cx="8229600" cy="4389120"/>
          </a:xfrm>
        </p:spPr>
        <p:txBody>
          <a:bodyPr>
            <a:normAutofit fontScale="70000" lnSpcReduction="20000"/>
          </a:bodyPr>
          <a:lstStyle/>
          <a:p>
            <a:pPr>
              <a:buNone/>
            </a:pPr>
            <a:r>
              <a:rPr lang="en-US" b="1" dirty="0"/>
              <a:t>   Definition:</a:t>
            </a:r>
            <a:r>
              <a:rPr lang="en-US" dirty="0"/>
              <a:t> A </a:t>
            </a:r>
            <a:r>
              <a:rPr lang="en-US" i="1" dirty="0"/>
              <a:t>graph</a:t>
            </a:r>
            <a:r>
              <a:rPr lang="en-US" dirty="0"/>
              <a:t> </a:t>
            </a:r>
            <a:r>
              <a:rPr lang="en-US" i="1" dirty="0"/>
              <a:t>G = </a:t>
            </a:r>
            <a:r>
              <a:rPr lang="en-US" dirty="0"/>
              <a:t>(</a:t>
            </a:r>
            <a:r>
              <a:rPr lang="en-US" i="1" dirty="0"/>
              <a:t>V, E</a:t>
            </a:r>
            <a:r>
              <a:rPr lang="en-US" dirty="0"/>
              <a:t>)</a:t>
            </a:r>
            <a:r>
              <a:rPr lang="en-US" i="1" dirty="0"/>
              <a:t> </a:t>
            </a:r>
            <a:r>
              <a:rPr lang="en-US" dirty="0"/>
              <a:t>consists of </a:t>
            </a:r>
            <a:r>
              <a:rPr lang="en-US" i="1" dirty="0"/>
              <a:t> </a:t>
            </a:r>
            <a:r>
              <a:rPr lang="en-US" dirty="0"/>
              <a:t>a nonempty set </a:t>
            </a:r>
            <a:r>
              <a:rPr lang="en-US" i="1" dirty="0"/>
              <a:t>V</a:t>
            </a:r>
            <a:r>
              <a:rPr lang="en-US" dirty="0"/>
              <a:t> of </a:t>
            </a:r>
            <a:r>
              <a:rPr lang="en-US" i="1" dirty="0"/>
              <a:t>vertices </a:t>
            </a:r>
            <a:r>
              <a:rPr lang="en-US" dirty="0"/>
              <a:t>(or </a:t>
            </a:r>
            <a:r>
              <a:rPr lang="en-US" i="1" dirty="0"/>
              <a:t>nodes</a:t>
            </a:r>
            <a:r>
              <a:rPr lang="en-US" dirty="0"/>
              <a:t>) and a set </a:t>
            </a:r>
            <a:r>
              <a:rPr lang="en-US" i="1" dirty="0"/>
              <a:t>E</a:t>
            </a:r>
            <a:r>
              <a:rPr lang="en-US" dirty="0"/>
              <a:t> of </a:t>
            </a:r>
            <a:r>
              <a:rPr lang="en-US" i="1" dirty="0"/>
              <a:t>edges. </a:t>
            </a:r>
            <a:r>
              <a:rPr lang="en-US" dirty="0"/>
              <a:t>Each edge has either one or two vertices associated with it, called its </a:t>
            </a:r>
            <a:r>
              <a:rPr lang="en-US" i="1" dirty="0"/>
              <a:t>endpoints</a:t>
            </a:r>
            <a:r>
              <a:rPr lang="en-US" dirty="0"/>
              <a:t>.  An edge is said to </a:t>
            </a:r>
            <a:r>
              <a:rPr lang="en-US" i="1" dirty="0"/>
              <a:t>connect</a:t>
            </a:r>
            <a:r>
              <a:rPr lang="en-US" dirty="0"/>
              <a:t> its endpoints.</a:t>
            </a:r>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a:buNone/>
            </a:pPr>
            <a:endParaRPr lang="en-US" dirty="0"/>
          </a:p>
          <a:p>
            <a:pPr marL="393192" lvl="1" indent="0">
              <a:buNone/>
            </a:pPr>
            <a:r>
              <a:rPr lang="en-US" sz="2600" dirty="0"/>
              <a:t>A graph with an infinite vertex set  is called an </a:t>
            </a:r>
            <a:r>
              <a:rPr lang="en-US" sz="2600" i="1" dirty="0"/>
              <a:t>infinite graph. </a:t>
            </a:r>
            <a:r>
              <a:rPr lang="en-US" sz="2600" dirty="0"/>
              <a:t>A graph with a finite vertex set is called a </a:t>
            </a:r>
            <a:r>
              <a:rPr lang="en-US" sz="2600" i="1" dirty="0"/>
              <a:t>finite graph</a:t>
            </a:r>
            <a:r>
              <a:rPr lang="en-US" sz="2600" dirty="0"/>
              <a:t>.  A graph with no vertex and no edge is a null graph.</a:t>
            </a:r>
          </a:p>
          <a:p>
            <a:endParaRPr lang="en-US" sz="1900" i="1" dirty="0"/>
          </a:p>
        </p:txBody>
      </p:sp>
      <p:grpSp>
        <p:nvGrpSpPr>
          <p:cNvPr id="22" name="Group 21"/>
          <p:cNvGrpSpPr/>
          <p:nvPr/>
        </p:nvGrpSpPr>
        <p:grpSpPr>
          <a:xfrm>
            <a:off x="3370568" y="2822968"/>
            <a:ext cx="2758452" cy="1590611"/>
            <a:chOff x="3778826" y="3475664"/>
            <a:chExt cx="2758452" cy="1590611"/>
          </a:xfrm>
        </p:grpSpPr>
        <p:sp>
          <p:nvSpPr>
            <p:cNvPr id="31" name="TextBox 30"/>
            <p:cNvSpPr txBox="1"/>
            <p:nvPr/>
          </p:nvSpPr>
          <p:spPr>
            <a:xfrm>
              <a:off x="3778826" y="3475664"/>
              <a:ext cx="318655" cy="249356"/>
            </a:xfrm>
            <a:prstGeom prst="rect">
              <a:avLst/>
            </a:prstGeom>
            <a:noFill/>
          </p:spPr>
          <p:txBody>
            <a:bodyPr wrap="square" rtlCol="0">
              <a:spAutoFit/>
            </a:bodyPr>
            <a:lstStyle/>
            <a:p>
              <a:r>
                <a:rPr lang="en-US" i="1" dirty="0"/>
                <a:t>a</a:t>
              </a:r>
            </a:p>
          </p:txBody>
        </p:sp>
        <p:sp>
          <p:nvSpPr>
            <p:cNvPr id="33" name="Oval 32"/>
            <p:cNvSpPr/>
            <p:nvPr/>
          </p:nvSpPr>
          <p:spPr>
            <a:xfrm>
              <a:off x="4147369" y="3570666"/>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p:cNvSpPr/>
            <p:nvPr/>
          </p:nvSpPr>
          <p:spPr>
            <a:xfrm>
              <a:off x="5953078" y="4769181"/>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5953078" y="3611629"/>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7" name="Straight Connector 36"/>
            <p:cNvCxnSpPr>
              <a:stCxn id="33" idx="5"/>
              <a:endCxn id="34" idx="1"/>
            </p:cNvCxnSpPr>
            <p:nvPr/>
          </p:nvCxnSpPr>
          <p:spPr>
            <a:xfrm>
              <a:off x="4283363" y="3702403"/>
              <a:ext cx="1693048" cy="1089381"/>
            </a:xfrm>
            <a:prstGeom prst="line">
              <a:avLst/>
            </a:prstGeom>
          </p:spPr>
          <p:style>
            <a:lnRef idx="1">
              <a:schemeClr val="accent1"/>
            </a:lnRef>
            <a:fillRef idx="0">
              <a:schemeClr val="accent1"/>
            </a:fillRef>
            <a:effectRef idx="0">
              <a:schemeClr val="accent1"/>
            </a:effectRef>
            <a:fontRef idx="minor">
              <a:schemeClr val="tx1"/>
            </a:fontRef>
          </p:style>
        </p:cxnSp>
        <p:sp>
          <p:nvSpPr>
            <p:cNvPr id="39" name="TextBox 38"/>
            <p:cNvSpPr txBox="1"/>
            <p:nvPr/>
          </p:nvSpPr>
          <p:spPr>
            <a:xfrm>
              <a:off x="6218622" y="4704724"/>
              <a:ext cx="318655" cy="249356"/>
            </a:xfrm>
            <a:prstGeom prst="rect">
              <a:avLst/>
            </a:prstGeom>
            <a:noFill/>
          </p:spPr>
          <p:txBody>
            <a:bodyPr wrap="square" rtlCol="0">
              <a:spAutoFit/>
            </a:bodyPr>
            <a:lstStyle/>
            <a:p>
              <a:r>
                <a:rPr lang="en-US" i="1" dirty="0"/>
                <a:t>c</a:t>
              </a:r>
            </a:p>
          </p:txBody>
        </p:sp>
        <p:sp>
          <p:nvSpPr>
            <p:cNvPr id="40" name="TextBox 39"/>
            <p:cNvSpPr txBox="1"/>
            <p:nvPr/>
          </p:nvSpPr>
          <p:spPr>
            <a:xfrm>
              <a:off x="6218623" y="3508735"/>
              <a:ext cx="318655" cy="249356"/>
            </a:xfrm>
            <a:prstGeom prst="rect">
              <a:avLst/>
            </a:prstGeom>
            <a:noFill/>
          </p:spPr>
          <p:txBody>
            <a:bodyPr wrap="square" rtlCol="0">
              <a:spAutoFit/>
            </a:bodyPr>
            <a:lstStyle/>
            <a:p>
              <a:r>
                <a:rPr lang="en-US" i="1" dirty="0"/>
                <a:t>b</a:t>
              </a:r>
            </a:p>
          </p:txBody>
        </p:sp>
        <p:sp>
          <p:nvSpPr>
            <p:cNvPr id="15" name="Oval 14"/>
            <p:cNvSpPr/>
            <p:nvPr/>
          </p:nvSpPr>
          <p:spPr>
            <a:xfrm>
              <a:off x="4256808" y="4750003"/>
              <a:ext cx="159327" cy="15434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p:cNvSpPr txBox="1"/>
            <p:nvPr/>
          </p:nvSpPr>
          <p:spPr>
            <a:xfrm>
              <a:off x="3831708" y="4696943"/>
              <a:ext cx="318655" cy="369332"/>
            </a:xfrm>
            <a:prstGeom prst="rect">
              <a:avLst/>
            </a:prstGeom>
            <a:noFill/>
          </p:spPr>
          <p:txBody>
            <a:bodyPr wrap="square" rtlCol="0">
              <a:spAutoFit/>
            </a:bodyPr>
            <a:lstStyle/>
            <a:p>
              <a:r>
                <a:rPr lang="en-US" i="1" dirty="0"/>
                <a:t>d</a:t>
              </a:r>
            </a:p>
          </p:txBody>
        </p:sp>
        <p:cxnSp>
          <p:nvCxnSpPr>
            <p:cNvPr id="9" name="Straight Connector 8"/>
            <p:cNvCxnSpPr>
              <a:stCxn id="15" idx="6"/>
            </p:cNvCxnSpPr>
            <p:nvPr/>
          </p:nvCxnSpPr>
          <p:spPr>
            <a:xfrm flipV="1">
              <a:off x="4416135" y="3765969"/>
              <a:ext cx="1536943" cy="1061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endCxn id="35" idx="2"/>
            </p:cNvCxnSpPr>
            <p:nvPr/>
          </p:nvCxnSpPr>
          <p:spPr>
            <a:xfrm>
              <a:off x="4336471" y="3647836"/>
              <a:ext cx="1616607" cy="409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35" idx="4"/>
              <a:endCxn id="34" idx="0"/>
            </p:cNvCxnSpPr>
            <p:nvPr/>
          </p:nvCxnSpPr>
          <p:spPr>
            <a:xfrm>
              <a:off x="6032742" y="3765969"/>
              <a:ext cx="0" cy="10032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5" idx="6"/>
              <a:endCxn id="34" idx="2"/>
            </p:cNvCxnSpPr>
            <p:nvPr/>
          </p:nvCxnSpPr>
          <p:spPr>
            <a:xfrm>
              <a:off x="4416135" y="4827173"/>
              <a:ext cx="1536943" cy="19178"/>
            </a:xfrm>
            <a:prstGeom prst="line">
              <a:avLst/>
            </a:prstGeom>
          </p:spPr>
          <p:style>
            <a:lnRef idx="1">
              <a:schemeClr val="accent1"/>
            </a:lnRef>
            <a:fillRef idx="0">
              <a:schemeClr val="accent1"/>
            </a:fillRef>
            <a:effectRef idx="0">
              <a:schemeClr val="accent1"/>
            </a:effectRef>
            <a:fontRef idx="minor">
              <a:schemeClr val="tx1"/>
            </a:fontRef>
          </p:style>
        </p:cxnSp>
      </p:grpSp>
      <p:sp>
        <p:nvSpPr>
          <p:cNvPr id="19" name="TextBox 18"/>
          <p:cNvSpPr txBox="1"/>
          <p:nvPr/>
        </p:nvSpPr>
        <p:spPr>
          <a:xfrm>
            <a:off x="1066800" y="2755890"/>
            <a:ext cx="1265623" cy="369332"/>
          </a:xfrm>
          <a:prstGeom prst="rect">
            <a:avLst/>
          </a:prstGeom>
          <a:noFill/>
        </p:spPr>
        <p:txBody>
          <a:bodyPr wrap="square" rtlCol="0">
            <a:spAutoFit/>
          </a:bodyPr>
          <a:lstStyle/>
          <a:p>
            <a:r>
              <a:rPr lang="en-US" b="1" dirty="0"/>
              <a:t>Example:</a:t>
            </a:r>
          </a:p>
        </p:txBody>
      </p:sp>
      <p:sp>
        <p:nvSpPr>
          <p:cNvPr id="21" name="TextBox 20"/>
          <p:cNvSpPr txBox="1"/>
          <p:nvPr/>
        </p:nvSpPr>
        <p:spPr>
          <a:xfrm>
            <a:off x="1056861" y="3076270"/>
            <a:ext cx="1676400" cy="964367"/>
          </a:xfrm>
          <a:prstGeom prst="rect">
            <a:avLst/>
          </a:prstGeom>
          <a:noFill/>
        </p:spPr>
        <p:txBody>
          <a:bodyPr wrap="square" rtlCol="0">
            <a:spAutoFit/>
          </a:bodyPr>
          <a:lstStyle/>
          <a:p>
            <a:pPr>
              <a:lnSpc>
                <a:spcPts val="1700"/>
              </a:lnSpc>
            </a:pPr>
            <a:r>
              <a:rPr lang="en-US" sz="1600" dirty="0"/>
              <a:t>This is a graph with four vertices and five edges.</a:t>
            </a:r>
          </a:p>
        </p:txBody>
      </p:sp>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Graph Terminology</a:t>
            </a:r>
          </a:p>
        </p:txBody>
      </p:sp>
      <p:sp>
        <p:nvSpPr>
          <p:cNvPr id="3" name="Content Placeholder 2"/>
          <p:cNvSpPr>
            <a:spLocks noGrp="1"/>
          </p:cNvSpPr>
          <p:nvPr>
            <p:ph idx="1"/>
          </p:nvPr>
        </p:nvSpPr>
        <p:spPr>
          <a:xfrm>
            <a:off x="566255" y="1905000"/>
            <a:ext cx="8229600" cy="4572000"/>
          </a:xfrm>
        </p:spPr>
        <p:txBody>
          <a:bodyPr>
            <a:normAutofit/>
          </a:bodyPr>
          <a:lstStyle/>
          <a:p>
            <a:r>
              <a:rPr lang="en-US" sz="2000" dirty="0"/>
              <a:t>In a </a:t>
            </a:r>
            <a:r>
              <a:rPr lang="en-US" sz="2000" i="1" dirty="0"/>
              <a:t>simple graph</a:t>
            </a:r>
            <a:r>
              <a:rPr lang="en-US" sz="2000" dirty="0"/>
              <a:t> each edge connects two different vertices and no two edges connect the same pair of vertices.</a:t>
            </a:r>
          </a:p>
          <a:p>
            <a:r>
              <a:rPr lang="en-US" sz="2000" i="1" dirty="0" err="1"/>
              <a:t>Multigraphs</a:t>
            </a:r>
            <a:r>
              <a:rPr lang="en-US" sz="2000" dirty="0"/>
              <a:t> may have multiple edges connecting the same two vertices. When </a:t>
            </a:r>
            <a:r>
              <a:rPr lang="en-US" sz="2000" i="1" dirty="0"/>
              <a:t>m</a:t>
            </a:r>
            <a:r>
              <a:rPr lang="en-US" sz="2000" dirty="0"/>
              <a:t> different edges connect the vertices </a:t>
            </a:r>
            <a:r>
              <a:rPr lang="en-US" sz="2000" i="1" dirty="0"/>
              <a:t>u </a:t>
            </a:r>
            <a:r>
              <a:rPr lang="en-US" sz="2000" dirty="0"/>
              <a:t>and</a:t>
            </a:r>
            <a:r>
              <a:rPr lang="en-US" sz="2000" i="1" dirty="0"/>
              <a:t> v</a:t>
            </a:r>
            <a:r>
              <a:rPr lang="en-US" sz="2000" dirty="0"/>
              <a:t>, we say that {</a:t>
            </a:r>
            <a:r>
              <a:rPr lang="en-US" sz="2000" i="1" dirty="0" err="1"/>
              <a:t>u,v</a:t>
            </a:r>
            <a:r>
              <a:rPr lang="en-US" sz="2000" dirty="0"/>
              <a:t>}</a:t>
            </a:r>
            <a:r>
              <a:rPr lang="en-US" sz="2000" i="1" dirty="0"/>
              <a:t> </a:t>
            </a:r>
            <a:r>
              <a:rPr lang="en-US" sz="2000" dirty="0"/>
              <a:t>is an edge of </a:t>
            </a:r>
            <a:r>
              <a:rPr lang="en-US" sz="2000" i="1" dirty="0"/>
              <a:t>multiplicity</a:t>
            </a:r>
            <a:r>
              <a:rPr lang="en-US" sz="2000" dirty="0"/>
              <a:t> </a:t>
            </a:r>
            <a:r>
              <a:rPr lang="en-US" sz="2000" i="1" dirty="0"/>
              <a:t>m</a:t>
            </a:r>
            <a:r>
              <a:rPr lang="en-US" sz="2000" dirty="0"/>
              <a:t>. </a:t>
            </a:r>
          </a:p>
          <a:p>
            <a:r>
              <a:rPr lang="en-US" sz="2000" dirty="0"/>
              <a:t>An edge that connects a vertex to itself is called a </a:t>
            </a:r>
            <a:r>
              <a:rPr lang="en-US" sz="2000" i="1" dirty="0"/>
              <a:t>loop</a:t>
            </a:r>
            <a:r>
              <a:rPr lang="en-US" sz="2000" dirty="0"/>
              <a:t>.</a:t>
            </a:r>
          </a:p>
          <a:p>
            <a:r>
              <a:rPr lang="en-US" sz="2000" dirty="0"/>
              <a:t>A </a:t>
            </a:r>
            <a:r>
              <a:rPr lang="en-US" sz="2000" i="1" dirty="0" err="1"/>
              <a:t>pseudograph</a:t>
            </a:r>
            <a:r>
              <a:rPr lang="en-US" sz="2000" dirty="0"/>
              <a:t> may include loops, as well as multiple edges connecting the same pair of vertices.</a:t>
            </a:r>
          </a:p>
          <a:p>
            <a:pPr marL="0" indent="0">
              <a:buNone/>
            </a:pPr>
            <a:endParaRPr lang="en-US" dirty="0"/>
          </a:p>
          <a:p>
            <a:endParaRPr lang="en-US" dirty="0"/>
          </a:p>
          <a:p>
            <a:endParaRPr lang="en-US" dirty="0"/>
          </a:p>
          <a:p>
            <a:endParaRPr lang="en-US" dirty="0"/>
          </a:p>
          <a:p>
            <a:endParaRPr lang="en-US" dirty="0"/>
          </a:p>
          <a:p>
            <a:pPr marL="0" indent="0">
              <a:buNone/>
            </a:pPr>
            <a:endParaRPr lang="en-US" dirty="0"/>
          </a:p>
          <a:p>
            <a:pPr marL="0" indent="0">
              <a:buNone/>
            </a:pPr>
            <a:endParaRPr lang="en-US" dirty="0"/>
          </a:p>
          <a:p>
            <a:endParaRPr lang="en-US" dirty="0"/>
          </a:p>
          <a:p>
            <a:endParaRPr lang="en-US" dirty="0"/>
          </a:p>
        </p:txBody>
      </p:sp>
      <p:sp>
        <p:nvSpPr>
          <p:cNvPr id="21" name="TextBox 20"/>
          <p:cNvSpPr txBox="1"/>
          <p:nvPr/>
        </p:nvSpPr>
        <p:spPr>
          <a:xfrm>
            <a:off x="5334000" y="4987118"/>
            <a:ext cx="3535680" cy="1182375"/>
          </a:xfrm>
          <a:prstGeom prst="rect">
            <a:avLst/>
          </a:prstGeom>
          <a:noFill/>
          <a:ln>
            <a:solidFill>
              <a:schemeClr val="accent1"/>
            </a:solidFill>
          </a:ln>
        </p:spPr>
        <p:txBody>
          <a:bodyPr wrap="square" rtlCol="0">
            <a:spAutoFit/>
          </a:bodyPr>
          <a:lstStyle/>
          <a:p>
            <a:pPr>
              <a:lnSpc>
                <a:spcPts val="1700"/>
              </a:lnSpc>
            </a:pPr>
            <a:r>
              <a:rPr lang="en-US" sz="1600" b="1" dirty="0"/>
              <a:t>Remark</a:t>
            </a:r>
            <a:r>
              <a:rPr lang="en-US" sz="1600" dirty="0"/>
              <a:t>: There is no standard terminology for graph theory. So, it is crucial that you understand the terminology being used whenever you read material about graphs.</a:t>
            </a:r>
          </a:p>
        </p:txBody>
      </p:sp>
      <p:sp>
        <p:nvSpPr>
          <p:cNvPr id="22" name="TextBox 21"/>
          <p:cNvSpPr txBox="1"/>
          <p:nvPr/>
        </p:nvSpPr>
        <p:spPr>
          <a:xfrm>
            <a:off x="533400" y="4885011"/>
            <a:ext cx="2079344" cy="970779"/>
          </a:xfrm>
          <a:prstGeom prst="rect">
            <a:avLst/>
          </a:prstGeom>
          <a:noFill/>
        </p:spPr>
        <p:txBody>
          <a:bodyPr wrap="square" rtlCol="0">
            <a:spAutoFit/>
          </a:bodyPr>
          <a:lstStyle/>
          <a:p>
            <a:pPr>
              <a:lnSpc>
                <a:spcPts val="1700"/>
              </a:lnSpc>
            </a:pPr>
            <a:r>
              <a:rPr lang="en-US" b="1" dirty="0"/>
              <a:t>Example: </a:t>
            </a:r>
          </a:p>
          <a:p>
            <a:pPr>
              <a:lnSpc>
                <a:spcPts val="1700"/>
              </a:lnSpc>
            </a:pPr>
            <a:r>
              <a:rPr lang="en-US" dirty="0"/>
              <a:t>This </a:t>
            </a:r>
            <a:r>
              <a:rPr lang="en-US" dirty="0" err="1"/>
              <a:t>pseudograph</a:t>
            </a:r>
            <a:r>
              <a:rPr lang="en-US" dirty="0"/>
              <a:t> has both multiple edges and a loop.</a:t>
            </a:r>
          </a:p>
        </p:txBody>
      </p:sp>
      <p:grpSp>
        <p:nvGrpSpPr>
          <p:cNvPr id="33" name="Group 32"/>
          <p:cNvGrpSpPr/>
          <p:nvPr/>
        </p:nvGrpSpPr>
        <p:grpSpPr>
          <a:xfrm>
            <a:off x="2612744" y="4689782"/>
            <a:ext cx="2481975" cy="1658899"/>
            <a:chOff x="1197412" y="4729300"/>
            <a:chExt cx="2481975" cy="1658899"/>
          </a:xfrm>
        </p:grpSpPr>
        <p:grpSp>
          <p:nvGrpSpPr>
            <p:cNvPr id="31" name="Group 30"/>
            <p:cNvGrpSpPr/>
            <p:nvPr/>
          </p:nvGrpSpPr>
          <p:grpSpPr>
            <a:xfrm>
              <a:off x="1197412" y="4729300"/>
              <a:ext cx="2481975" cy="1658899"/>
              <a:chOff x="1197412" y="4729300"/>
              <a:chExt cx="2481975" cy="1658899"/>
            </a:xfrm>
          </p:grpSpPr>
          <p:grpSp>
            <p:nvGrpSpPr>
              <p:cNvPr id="5" name="Group 4"/>
              <p:cNvGrpSpPr/>
              <p:nvPr/>
            </p:nvGrpSpPr>
            <p:grpSpPr>
              <a:xfrm>
                <a:off x="1565113" y="4729300"/>
                <a:ext cx="1838500" cy="1658899"/>
                <a:chOff x="2971800" y="1981200"/>
                <a:chExt cx="3048000" cy="2438400"/>
              </a:xfrm>
            </p:grpSpPr>
            <p:sp>
              <p:nvSpPr>
                <p:cNvPr id="9" name="Oval 8"/>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endCxn id="11" idx="2"/>
                </p:cNvCxnSpPr>
                <p:nvPr/>
              </p:nvCxnSpPr>
              <p:spPr>
                <a:xfrm flipV="1">
                  <a:off x="3276600" y="2400300"/>
                  <a:ext cx="2286000" cy="381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5"/>
                  <a:endCxn id="10" idx="1"/>
                </p:cNvCxnSpPr>
                <p:nvPr/>
              </p:nvCxnSpPr>
              <p:spPr>
                <a:xfrm rot="16200000" flipH="1">
                  <a:off x="3205022" y="2443022"/>
                  <a:ext cx="1438556" cy="1514756"/>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a:stCxn id="11" idx="4"/>
                  <a:endCxn id="10" idx="7"/>
                </p:cNvCxnSpPr>
                <p:nvPr/>
              </p:nvCxnSpPr>
              <p:spPr>
                <a:xfrm rot="5400000">
                  <a:off x="4557572" y="2800350"/>
                  <a:ext cx="1405078" cy="833578"/>
                </a:xfrm>
                <a:prstGeom prst="line">
                  <a:avLst/>
                </a:prstGeom>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5562600" y="1981200"/>
                  <a:ext cx="457200" cy="304800"/>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p:cNvSpPr/>
                <p:nvPr/>
              </p:nvSpPr>
              <p:spPr>
                <a:xfrm>
                  <a:off x="4495800" y="4114800"/>
                  <a:ext cx="457200" cy="304800"/>
                </a:xfrm>
                <a:prstGeom prst="ellipse">
                  <a:avLst/>
                </a:prstGeom>
                <a:noFill/>
                <a:ln w="95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p:cNvSpPr txBox="1"/>
              <p:nvPr/>
            </p:nvSpPr>
            <p:spPr>
              <a:xfrm>
                <a:off x="1197412" y="4884822"/>
                <a:ext cx="275775" cy="251265"/>
              </a:xfrm>
              <a:prstGeom prst="rect">
                <a:avLst/>
              </a:prstGeom>
              <a:noFill/>
            </p:spPr>
            <p:txBody>
              <a:bodyPr wrap="square" rtlCol="0">
                <a:spAutoFit/>
              </a:bodyPr>
              <a:lstStyle/>
              <a:p>
                <a:r>
                  <a:rPr lang="en-US" i="1" dirty="0"/>
                  <a:t>a</a:t>
                </a:r>
              </a:p>
            </p:txBody>
          </p:sp>
          <p:sp>
            <p:nvSpPr>
              <p:cNvPr id="7" name="TextBox 6"/>
              <p:cNvSpPr txBox="1"/>
              <p:nvPr/>
            </p:nvSpPr>
            <p:spPr>
              <a:xfrm>
                <a:off x="3403612" y="4884822"/>
                <a:ext cx="275775" cy="251265"/>
              </a:xfrm>
              <a:prstGeom prst="rect">
                <a:avLst/>
              </a:prstGeom>
              <a:noFill/>
            </p:spPr>
            <p:txBody>
              <a:bodyPr wrap="square" rtlCol="0">
                <a:spAutoFit/>
              </a:bodyPr>
              <a:lstStyle/>
              <a:p>
                <a:r>
                  <a:rPr lang="en-US" i="1" dirty="0"/>
                  <a:t>b</a:t>
                </a:r>
              </a:p>
            </p:txBody>
          </p:sp>
          <p:sp>
            <p:nvSpPr>
              <p:cNvPr id="8" name="TextBox 7"/>
              <p:cNvSpPr txBox="1"/>
              <p:nvPr/>
            </p:nvSpPr>
            <p:spPr>
              <a:xfrm>
                <a:off x="2806100" y="6128996"/>
                <a:ext cx="275775" cy="251265"/>
              </a:xfrm>
              <a:prstGeom prst="rect">
                <a:avLst/>
              </a:prstGeom>
              <a:noFill/>
            </p:spPr>
            <p:txBody>
              <a:bodyPr wrap="square" rtlCol="0">
                <a:spAutoFit/>
              </a:bodyPr>
              <a:lstStyle/>
              <a:p>
                <a:r>
                  <a:rPr lang="en-US" i="1" dirty="0"/>
                  <a:t>c</a:t>
                </a:r>
              </a:p>
            </p:txBody>
          </p:sp>
        </p:grpSp>
        <p:sp>
          <p:nvSpPr>
            <p:cNvPr id="27" name="Freeform 26"/>
            <p:cNvSpPr/>
            <p:nvPr/>
          </p:nvSpPr>
          <p:spPr>
            <a:xfrm>
              <a:off x="1604946" y="5039139"/>
              <a:ext cx="979228" cy="1143000"/>
            </a:xfrm>
            <a:custGeom>
              <a:avLst/>
              <a:gdLst>
                <a:gd name="connsiteX0" fmla="*/ 979228 w 979228"/>
                <a:gd name="connsiteY0" fmla="*/ 1143000 h 1143000"/>
                <a:gd name="connsiteX1" fmla="*/ 94645 w 979228"/>
                <a:gd name="connsiteY1" fmla="*/ 815009 h 1143000"/>
                <a:gd name="connsiteX2" fmla="*/ 25071 w 979228"/>
                <a:gd name="connsiteY2" fmla="*/ 9939 h 1143000"/>
                <a:gd name="connsiteX3" fmla="*/ 25071 w 979228"/>
                <a:gd name="connsiteY3" fmla="*/ 9939 h 1143000"/>
                <a:gd name="connsiteX4" fmla="*/ 15132 w 979228"/>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79228" h="1143000">
                  <a:moveTo>
                    <a:pt x="979228" y="1143000"/>
                  </a:moveTo>
                  <a:cubicBezTo>
                    <a:pt x="616449" y="1073426"/>
                    <a:pt x="253671" y="1003852"/>
                    <a:pt x="94645" y="815009"/>
                  </a:cubicBezTo>
                  <a:cubicBezTo>
                    <a:pt x="-64381" y="626165"/>
                    <a:pt x="25071" y="9939"/>
                    <a:pt x="25071" y="9939"/>
                  </a:cubicBezTo>
                  <a:lnTo>
                    <a:pt x="25071" y="9939"/>
                  </a:lnTo>
                  <a:lnTo>
                    <a:pt x="15132" y="0"/>
                  </a:ln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29"/>
            <p:cNvSpPr/>
            <p:nvPr/>
          </p:nvSpPr>
          <p:spPr>
            <a:xfrm>
              <a:off x="2713383" y="5029200"/>
              <a:ext cx="663533" cy="1113183"/>
            </a:xfrm>
            <a:custGeom>
              <a:avLst/>
              <a:gdLst>
                <a:gd name="connsiteX0" fmla="*/ 0 w 663533"/>
                <a:gd name="connsiteY0" fmla="*/ 1113183 h 1113183"/>
                <a:gd name="connsiteX1" fmla="*/ 636104 w 663533"/>
                <a:gd name="connsiteY1" fmla="*/ 874643 h 1113183"/>
                <a:gd name="connsiteX2" fmla="*/ 556591 w 663533"/>
                <a:gd name="connsiteY2" fmla="*/ 0 h 1113183"/>
              </a:gdLst>
              <a:ahLst/>
              <a:cxnLst>
                <a:cxn ang="0">
                  <a:pos x="connsiteX0" y="connsiteY0"/>
                </a:cxn>
                <a:cxn ang="0">
                  <a:pos x="connsiteX1" y="connsiteY1"/>
                </a:cxn>
                <a:cxn ang="0">
                  <a:pos x="connsiteX2" y="connsiteY2"/>
                </a:cxn>
              </a:cxnLst>
              <a:rect l="l" t="t" r="r" b="b"/>
              <a:pathLst>
                <a:path w="663533" h="1113183">
                  <a:moveTo>
                    <a:pt x="0" y="1113183"/>
                  </a:moveTo>
                  <a:cubicBezTo>
                    <a:pt x="271669" y="1086678"/>
                    <a:pt x="543339" y="1060173"/>
                    <a:pt x="636104" y="874643"/>
                  </a:cubicBezTo>
                  <a:cubicBezTo>
                    <a:pt x="728869" y="689113"/>
                    <a:pt x="556591" y="0"/>
                    <a:pt x="556591" y="0"/>
                  </a:cubicBezTo>
                </a:path>
              </a:pathLst>
            </a:custGeom>
            <a:noFill/>
            <a:ln w="127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Directed Graphs</a:t>
            </a:r>
          </a:p>
        </p:txBody>
      </p:sp>
      <p:sp>
        <p:nvSpPr>
          <p:cNvPr id="3" name="Content Placeholder 2"/>
          <p:cNvSpPr>
            <a:spLocks noGrp="1"/>
          </p:cNvSpPr>
          <p:nvPr>
            <p:ph idx="1"/>
          </p:nvPr>
        </p:nvSpPr>
        <p:spPr/>
        <p:txBody>
          <a:bodyPr>
            <a:normAutofit/>
          </a:bodyPr>
          <a:lstStyle/>
          <a:p>
            <a:pPr>
              <a:buNone/>
            </a:pPr>
            <a:r>
              <a:rPr lang="en-US" b="1" dirty="0"/>
              <a:t>   Definition:</a:t>
            </a:r>
            <a:r>
              <a:rPr lang="en-US" dirty="0"/>
              <a:t> A </a:t>
            </a:r>
            <a:r>
              <a:rPr lang="en-US" i="1" dirty="0"/>
              <a:t>directed graph </a:t>
            </a:r>
            <a:r>
              <a:rPr lang="en-US" dirty="0"/>
              <a:t> (or </a:t>
            </a:r>
            <a:r>
              <a:rPr lang="en-US" i="1" dirty="0"/>
              <a:t>digraph</a:t>
            </a:r>
            <a:r>
              <a:rPr lang="en-US" dirty="0"/>
              <a:t>) </a:t>
            </a:r>
            <a:r>
              <a:rPr lang="en-US" i="1" dirty="0"/>
              <a:t>G = </a:t>
            </a:r>
            <a:r>
              <a:rPr lang="en-US" dirty="0"/>
              <a:t>(</a:t>
            </a:r>
            <a:r>
              <a:rPr lang="en-US" i="1" dirty="0"/>
              <a:t>V, E</a:t>
            </a:r>
            <a:r>
              <a:rPr lang="en-US" dirty="0"/>
              <a:t>)</a:t>
            </a:r>
            <a:r>
              <a:rPr lang="en-US" i="1" dirty="0"/>
              <a:t> </a:t>
            </a:r>
            <a:r>
              <a:rPr lang="en-US" dirty="0"/>
              <a:t>consists of </a:t>
            </a:r>
            <a:r>
              <a:rPr lang="en-US" i="1" dirty="0"/>
              <a:t> </a:t>
            </a:r>
            <a:r>
              <a:rPr lang="en-US" dirty="0"/>
              <a:t>a nonempty set </a:t>
            </a:r>
            <a:r>
              <a:rPr lang="en-US" i="1" dirty="0"/>
              <a:t>V</a:t>
            </a:r>
            <a:r>
              <a:rPr lang="en-US" dirty="0"/>
              <a:t> of </a:t>
            </a:r>
            <a:r>
              <a:rPr lang="en-US" i="1" dirty="0"/>
              <a:t>vertices </a:t>
            </a:r>
            <a:r>
              <a:rPr lang="en-US" dirty="0"/>
              <a:t>(or </a:t>
            </a:r>
            <a:r>
              <a:rPr lang="en-US" i="1" dirty="0"/>
              <a:t>nodes</a:t>
            </a:r>
            <a:r>
              <a:rPr lang="en-US" dirty="0"/>
              <a:t>) and a set </a:t>
            </a:r>
            <a:r>
              <a:rPr lang="en-US" i="1" dirty="0"/>
              <a:t>E</a:t>
            </a:r>
            <a:r>
              <a:rPr lang="en-US" dirty="0"/>
              <a:t> of </a:t>
            </a:r>
            <a:r>
              <a:rPr lang="en-US" i="1" dirty="0"/>
              <a:t>directed edges </a:t>
            </a:r>
            <a:r>
              <a:rPr lang="en-US" dirty="0"/>
              <a:t>(or </a:t>
            </a:r>
            <a:r>
              <a:rPr lang="en-US" i="1" dirty="0"/>
              <a:t>arcs</a:t>
            </a:r>
            <a:r>
              <a:rPr lang="en-US" dirty="0"/>
              <a:t>)</a:t>
            </a:r>
            <a:r>
              <a:rPr lang="en-US" i="1" dirty="0"/>
              <a:t>. </a:t>
            </a:r>
            <a:r>
              <a:rPr lang="en-US" dirty="0"/>
              <a:t>Each edge is associated with an ordered pair of vertices.  The directed edge associated with the ordered pair (</a:t>
            </a:r>
            <a:r>
              <a:rPr lang="en-US" i="1" dirty="0" err="1"/>
              <a:t>u</a:t>
            </a:r>
            <a:r>
              <a:rPr lang="en-US" dirty="0" err="1"/>
              <a:t>,</a:t>
            </a:r>
            <a:r>
              <a:rPr lang="en-US" i="1" dirty="0" err="1"/>
              <a:t>v</a:t>
            </a:r>
            <a:r>
              <a:rPr lang="en-US" dirty="0"/>
              <a:t>) is said to </a:t>
            </a:r>
            <a:r>
              <a:rPr lang="en-US" i="1" dirty="0"/>
              <a:t>start at u</a:t>
            </a:r>
            <a:r>
              <a:rPr lang="en-US" dirty="0"/>
              <a:t> and </a:t>
            </a:r>
            <a:r>
              <a:rPr lang="en-US" i="1" dirty="0"/>
              <a:t>end at</a:t>
            </a:r>
            <a:r>
              <a:rPr lang="en-US" dirty="0"/>
              <a:t> </a:t>
            </a:r>
            <a:r>
              <a:rPr lang="en-US" i="1" dirty="0"/>
              <a:t>v</a:t>
            </a:r>
            <a:r>
              <a:rPr lang="en-US" dirty="0"/>
              <a:t>. </a:t>
            </a:r>
          </a:p>
          <a:p>
            <a:pPr>
              <a:buNone/>
            </a:pPr>
            <a:r>
              <a:rPr lang="en-US" b="1" dirty="0"/>
              <a:t>   Remark</a:t>
            </a:r>
            <a:r>
              <a:rPr lang="en-US" dirty="0"/>
              <a:t>: </a:t>
            </a:r>
          </a:p>
          <a:p>
            <a:pPr lvl="1"/>
            <a:r>
              <a:rPr lang="en-US" dirty="0"/>
              <a:t>Graphs where the end points of an edge are not ordered are said to be </a:t>
            </a:r>
            <a:r>
              <a:rPr lang="en-US" i="1" dirty="0"/>
              <a:t>undirected graphs</a:t>
            </a:r>
            <a:r>
              <a:rPr lang="en-US" dirty="0"/>
              <a:t>.</a:t>
            </a:r>
          </a:p>
          <a:p>
            <a:pPr>
              <a:buNone/>
            </a:pPr>
            <a:endParaRPr lang="en-US" i="1" dirty="0"/>
          </a:p>
          <a:p>
            <a:endParaRPr lang="en-US" i="1" dirty="0"/>
          </a:p>
        </p:txBody>
      </p:sp>
    </p:spTree>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Terminology (</a:t>
            </a:r>
            <a:r>
              <a:rPr lang="en-US" i="1" dirty="0"/>
              <a:t>continued</a:t>
            </a:r>
            <a:r>
              <a:rPr lang="en-US" dirty="0"/>
              <a:t>)</a:t>
            </a:r>
          </a:p>
        </p:txBody>
      </p:sp>
      <p:sp>
        <p:nvSpPr>
          <p:cNvPr id="3" name="Content Placeholder 2"/>
          <p:cNvSpPr>
            <a:spLocks noGrp="1"/>
          </p:cNvSpPr>
          <p:nvPr>
            <p:ph idx="1"/>
          </p:nvPr>
        </p:nvSpPr>
        <p:spPr>
          <a:xfrm>
            <a:off x="630217" y="1928297"/>
            <a:ext cx="8229600" cy="4389120"/>
          </a:xfrm>
        </p:spPr>
        <p:txBody>
          <a:bodyPr/>
          <a:lstStyle/>
          <a:p>
            <a:r>
              <a:rPr lang="en-US" sz="2000" dirty="0"/>
              <a:t>A </a:t>
            </a:r>
            <a:r>
              <a:rPr lang="en-US" sz="2000" i="1" dirty="0"/>
              <a:t>simple directed graph </a:t>
            </a:r>
            <a:r>
              <a:rPr lang="en-US" sz="2000" dirty="0"/>
              <a:t>has no loops and no multiple edges.</a:t>
            </a:r>
          </a:p>
          <a:p>
            <a:pPr marL="0" indent="0">
              <a:buNone/>
            </a:pPr>
            <a:endParaRPr lang="en-US" dirty="0"/>
          </a:p>
          <a:p>
            <a:pPr marL="0" indent="0">
              <a:buNone/>
            </a:pPr>
            <a:endParaRPr lang="en-US" dirty="0"/>
          </a:p>
          <a:p>
            <a:pPr marL="0" indent="0">
              <a:buNone/>
            </a:pPr>
            <a:endParaRPr lang="en-US" dirty="0"/>
          </a:p>
          <a:p>
            <a:r>
              <a:rPr lang="en-US" sz="2000" dirty="0"/>
              <a:t>A </a:t>
            </a:r>
            <a:r>
              <a:rPr lang="en-US" sz="2000" i="1" dirty="0"/>
              <a:t>directed multigraph</a:t>
            </a:r>
            <a:r>
              <a:rPr lang="en-US" sz="2000" dirty="0"/>
              <a:t> may have multiple directed edges.  When there are </a:t>
            </a:r>
            <a:r>
              <a:rPr lang="en-US" sz="2000" i="1" dirty="0"/>
              <a:t>m</a:t>
            </a:r>
            <a:r>
              <a:rPr lang="en-US" sz="2000" dirty="0"/>
              <a:t> directed edges from the vertex </a:t>
            </a:r>
            <a:r>
              <a:rPr lang="en-US" sz="2000" i="1" dirty="0"/>
              <a:t>u</a:t>
            </a:r>
            <a:r>
              <a:rPr lang="en-US" sz="2000" dirty="0"/>
              <a:t> to the vertex </a:t>
            </a:r>
            <a:r>
              <a:rPr lang="en-US" sz="2000" i="1" dirty="0"/>
              <a:t>v</a:t>
            </a:r>
            <a:r>
              <a:rPr lang="en-US" sz="2000" dirty="0"/>
              <a:t>,  we say that  (</a:t>
            </a:r>
            <a:r>
              <a:rPr lang="en-US" sz="2000" i="1" dirty="0" err="1"/>
              <a:t>u,v</a:t>
            </a:r>
            <a:r>
              <a:rPr lang="en-US" sz="2000" dirty="0"/>
              <a:t>)</a:t>
            </a:r>
            <a:r>
              <a:rPr lang="en-US" sz="2000" i="1" dirty="0"/>
              <a:t> </a:t>
            </a:r>
            <a:r>
              <a:rPr lang="en-US" sz="2000" dirty="0"/>
              <a:t>is an edge of </a:t>
            </a:r>
            <a:r>
              <a:rPr lang="en-US" sz="2000" i="1" dirty="0"/>
              <a:t>multiplicity m</a:t>
            </a:r>
            <a:r>
              <a:rPr lang="en-US" sz="2000" dirty="0"/>
              <a:t>.</a:t>
            </a:r>
          </a:p>
        </p:txBody>
      </p:sp>
      <p:grpSp>
        <p:nvGrpSpPr>
          <p:cNvPr id="4" name="Group 3"/>
          <p:cNvGrpSpPr/>
          <p:nvPr/>
        </p:nvGrpSpPr>
        <p:grpSpPr>
          <a:xfrm>
            <a:off x="5900128" y="2402905"/>
            <a:ext cx="1968392" cy="1295400"/>
            <a:chOff x="2362200" y="2057400"/>
            <a:chExt cx="4038600" cy="2121932"/>
          </a:xfrm>
        </p:grpSpPr>
        <p:sp>
          <p:nvSpPr>
            <p:cNvPr id="5" name="Oval 4"/>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Connector 7"/>
            <p:cNvCxnSpPr>
              <a:endCxn id="7" idx="2"/>
            </p:cNvCxnSpPr>
            <p:nvPr/>
          </p:nvCxnSpPr>
          <p:spPr>
            <a:xfrm flipV="1">
              <a:off x="3276600" y="2400300"/>
              <a:ext cx="2286000" cy="3810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5" idx="5"/>
              <a:endCxn id="6" idx="1"/>
            </p:cNvCxnSpPr>
            <p:nvPr/>
          </p:nvCxnSpPr>
          <p:spPr>
            <a:xfrm rot="16200000" flipH="1">
              <a:off x="3205022" y="2443022"/>
              <a:ext cx="1438556" cy="1514756"/>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rot="5400000">
              <a:off x="4443272" y="2751185"/>
              <a:ext cx="1405078" cy="833577"/>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362200" y="2209800"/>
              <a:ext cx="457200" cy="369332"/>
            </a:xfrm>
            <a:prstGeom prst="rect">
              <a:avLst/>
            </a:prstGeom>
            <a:noFill/>
          </p:spPr>
          <p:txBody>
            <a:bodyPr wrap="square" rtlCol="0">
              <a:spAutoFit/>
            </a:bodyPr>
            <a:lstStyle/>
            <a:p>
              <a:r>
                <a:rPr lang="en-US" i="1" dirty="0"/>
                <a:t>a</a:t>
              </a:r>
            </a:p>
          </p:txBody>
        </p:sp>
        <p:sp>
          <p:nvSpPr>
            <p:cNvPr id="12" name="TextBox 11"/>
            <p:cNvSpPr txBox="1"/>
            <p:nvPr/>
          </p:nvSpPr>
          <p:spPr>
            <a:xfrm>
              <a:off x="5943600" y="2057400"/>
              <a:ext cx="457200" cy="369332"/>
            </a:xfrm>
            <a:prstGeom prst="rect">
              <a:avLst/>
            </a:prstGeom>
            <a:noFill/>
          </p:spPr>
          <p:txBody>
            <a:bodyPr wrap="square" rtlCol="0">
              <a:spAutoFit/>
            </a:bodyPr>
            <a:lstStyle/>
            <a:p>
              <a:r>
                <a:rPr lang="en-US" i="1" dirty="0"/>
                <a:t>b</a:t>
              </a:r>
            </a:p>
          </p:txBody>
        </p:sp>
        <p:sp>
          <p:nvSpPr>
            <p:cNvPr id="13" name="TextBox 12"/>
            <p:cNvSpPr txBox="1"/>
            <p:nvPr/>
          </p:nvSpPr>
          <p:spPr>
            <a:xfrm>
              <a:off x="5105400" y="3810000"/>
              <a:ext cx="457200" cy="369332"/>
            </a:xfrm>
            <a:prstGeom prst="rect">
              <a:avLst/>
            </a:prstGeom>
            <a:noFill/>
          </p:spPr>
          <p:txBody>
            <a:bodyPr wrap="square" rtlCol="0">
              <a:spAutoFit/>
            </a:bodyPr>
            <a:lstStyle/>
            <a:p>
              <a:r>
                <a:rPr lang="en-US" i="1" dirty="0"/>
                <a:t>c</a:t>
              </a:r>
            </a:p>
          </p:txBody>
        </p:sp>
      </p:grpSp>
      <p:grpSp>
        <p:nvGrpSpPr>
          <p:cNvPr id="14" name="Group 13"/>
          <p:cNvGrpSpPr/>
          <p:nvPr/>
        </p:nvGrpSpPr>
        <p:grpSpPr>
          <a:xfrm>
            <a:off x="5844790" y="5191817"/>
            <a:ext cx="2240280" cy="1318034"/>
            <a:chOff x="2362200" y="1905000"/>
            <a:chExt cx="4191000" cy="2689634"/>
          </a:xfrm>
        </p:grpSpPr>
        <p:sp>
          <p:nvSpPr>
            <p:cNvPr id="15" name="Oval 14"/>
            <p:cNvSpPr/>
            <p:nvPr/>
          </p:nvSpPr>
          <p:spPr>
            <a:xfrm>
              <a:off x="29718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p:cNvSpPr/>
            <p:nvPr/>
          </p:nvSpPr>
          <p:spPr>
            <a:xfrm>
              <a:off x="4648200" y="38862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p:cNvSpPr/>
            <p:nvPr/>
          </p:nvSpPr>
          <p:spPr>
            <a:xfrm>
              <a:off x="5562600" y="2286000"/>
              <a:ext cx="228600" cy="228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Connector 17"/>
            <p:cNvCxnSpPr>
              <a:endCxn id="17" idx="2"/>
            </p:cNvCxnSpPr>
            <p:nvPr/>
          </p:nvCxnSpPr>
          <p:spPr>
            <a:xfrm flipV="1">
              <a:off x="3276600" y="2400300"/>
              <a:ext cx="2286000" cy="38100"/>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15" idx="5"/>
              <a:endCxn id="16" idx="1"/>
            </p:cNvCxnSpPr>
            <p:nvPr/>
          </p:nvCxnSpPr>
          <p:spPr>
            <a:xfrm rot="16200000" flipH="1">
              <a:off x="3205022" y="2443022"/>
              <a:ext cx="1438556" cy="1514756"/>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7" idx="4"/>
              <a:endCxn id="16" idx="7"/>
            </p:cNvCxnSpPr>
            <p:nvPr/>
          </p:nvCxnSpPr>
          <p:spPr>
            <a:xfrm rot="5400000">
              <a:off x="4557572" y="2800350"/>
              <a:ext cx="1405078" cy="833578"/>
            </a:xfrm>
            <a:prstGeom prst="line">
              <a:avLst/>
            </a:prstGeom>
            <a:ln>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6" idx="2"/>
            </p:cNvCxnSpPr>
            <p:nvPr/>
          </p:nvCxnSpPr>
          <p:spPr>
            <a:xfrm rot="10800000">
              <a:off x="2895600" y="3505200"/>
              <a:ext cx="1752600" cy="49530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15" idx="4"/>
            </p:cNvCxnSpPr>
            <p:nvPr/>
          </p:nvCxnSpPr>
          <p:spPr>
            <a:xfrm rot="5400000" flipH="1" flipV="1">
              <a:off x="2495550" y="2914650"/>
              <a:ext cx="990600" cy="190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a:stCxn id="16" idx="6"/>
            </p:cNvCxnSpPr>
            <p:nvPr/>
          </p:nvCxnSpPr>
          <p:spPr>
            <a:xfrm flipV="1">
              <a:off x="4876800" y="3276600"/>
              <a:ext cx="1447800" cy="723900"/>
            </a:xfrm>
            <a:prstGeom prst="line">
              <a:avLst/>
            </a:prstGeom>
            <a:ln>
              <a:headEnd type="arrow"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endCxn id="17" idx="5"/>
            </p:cNvCxnSpPr>
            <p:nvPr/>
          </p:nvCxnSpPr>
          <p:spPr>
            <a:xfrm rot="16200000" flipV="1">
              <a:off x="5643422" y="2595422"/>
              <a:ext cx="795478" cy="566878"/>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5257800" y="4038600"/>
              <a:ext cx="457200" cy="369332"/>
            </a:xfrm>
            <a:prstGeom prst="rect">
              <a:avLst/>
            </a:prstGeom>
            <a:noFill/>
          </p:spPr>
          <p:txBody>
            <a:bodyPr wrap="square" rtlCol="0">
              <a:spAutoFit/>
            </a:bodyPr>
            <a:lstStyle/>
            <a:p>
              <a:r>
                <a:rPr lang="en-US" i="1" dirty="0"/>
                <a:t>c</a:t>
              </a:r>
            </a:p>
          </p:txBody>
        </p:sp>
        <p:sp>
          <p:nvSpPr>
            <p:cNvPr id="26" name="TextBox 25"/>
            <p:cNvSpPr txBox="1"/>
            <p:nvPr/>
          </p:nvSpPr>
          <p:spPr>
            <a:xfrm>
              <a:off x="2362200" y="2362200"/>
              <a:ext cx="457200" cy="369332"/>
            </a:xfrm>
            <a:prstGeom prst="rect">
              <a:avLst/>
            </a:prstGeom>
            <a:noFill/>
          </p:spPr>
          <p:txBody>
            <a:bodyPr wrap="square" rtlCol="0">
              <a:spAutoFit/>
            </a:bodyPr>
            <a:lstStyle/>
            <a:p>
              <a:r>
                <a:rPr lang="en-US" i="1" dirty="0"/>
                <a:t>a</a:t>
              </a:r>
            </a:p>
          </p:txBody>
        </p:sp>
        <p:sp>
          <p:nvSpPr>
            <p:cNvPr id="27" name="TextBox 26"/>
            <p:cNvSpPr txBox="1"/>
            <p:nvPr/>
          </p:nvSpPr>
          <p:spPr>
            <a:xfrm>
              <a:off x="6096000" y="2209800"/>
              <a:ext cx="457200" cy="369332"/>
            </a:xfrm>
            <a:prstGeom prst="rect">
              <a:avLst/>
            </a:prstGeom>
            <a:noFill/>
          </p:spPr>
          <p:txBody>
            <a:bodyPr wrap="square" rtlCol="0">
              <a:spAutoFit/>
            </a:bodyPr>
            <a:lstStyle/>
            <a:p>
              <a:r>
                <a:rPr lang="en-US" i="1" dirty="0"/>
                <a:t>b</a:t>
              </a:r>
            </a:p>
          </p:txBody>
        </p:sp>
        <p:sp>
          <p:nvSpPr>
            <p:cNvPr id="28" name="Freeform 27"/>
            <p:cNvSpPr/>
            <p:nvPr/>
          </p:nvSpPr>
          <p:spPr>
            <a:xfrm>
              <a:off x="4572000" y="4114800"/>
              <a:ext cx="488887" cy="479834"/>
            </a:xfrm>
            <a:custGeom>
              <a:avLst/>
              <a:gdLst>
                <a:gd name="connsiteX0" fmla="*/ 117695 w 488887"/>
                <a:gd name="connsiteY0" fmla="*/ 18107 h 479834"/>
                <a:gd name="connsiteX1" fmla="*/ 63375 w 488887"/>
                <a:gd name="connsiteY1" fmla="*/ 45268 h 479834"/>
                <a:gd name="connsiteX2" fmla="*/ 27161 w 488887"/>
                <a:gd name="connsiteY2" fmla="*/ 99588 h 479834"/>
                <a:gd name="connsiteX3" fmla="*/ 18107 w 488887"/>
                <a:gd name="connsiteY3" fmla="*/ 135802 h 479834"/>
                <a:gd name="connsiteX4" fmla="*/ 0 w 488887"/>
                <a:gd name="connsiteY4" fmla="*/ 190123 h 479834"/>
                <a:gd name="connsiteX5" fmla="*/ 9054 w 488887"/>
                <a:gd name="connsiteY5" fmla="*/ 353085 h 479834"/>
                <a:gd name="connsiteX6" fmla="*/ 81481 w 488887"/>
                <a:gd name="connsiteY6" fmla="*/ 425513 h 479834"/>
                <a:gd name="connsiteX7" fmla="*/ 153909 w 488887"/>
                <a:gd name="connsiteY7" fmla="*/ 461727 h 479834"/>
                <a:gd name="connsiteX8" fmla="*/ 181070 w 488887"/>
                <a:gd name="connsiteY8" fmla="*/ 479834 h 479834"/>
                <a:gd name="connsiteX9" fmla="*/ 316872 w 488887"/>
                <a:gd name="connsiteY9" fmla="*/ 470780 h 479834"/>
                <a:gd name="connsiteX10" fmla="*/ 344032 w 488887"/>
                <a:gd name="connsiteY10" fmla="*/ 461727 h 479834"/>
                <a:gd name="connsiteX11" fmla="*/ 380246 w 488887"/>
                <a:gd name="connsiteY11" fmla="*/ 452673 h 479834"/>
                <a:gd name="connsiteX12" fmla="*/ 407406 w 488887"/>
                <a:gd name="connsiteY12" fmla="*/ 434567 h 479834"/>
                <a:gd name="connsiteX13" fmla="*/ 434567 w 488887"/>
                <a:gd name="connsiteY13" fmla="*/ 407406 h 479834"/>
                <a:gd name="connsiteX14" fmla="*/ 470780 w 488887"/>
                <a:gd name="connsiteY14" fmla="*/ 344032 h 479834"/>
                <a:gd name="connsiteX15" fmla="*/ 479834 w 488887"/>
                <a:gd name="connsiteY15" fmla="*/ 316871 h 479834"/>
                <a:gd name="connsiteX16" fmla="*/ 488887 w 488887"/>
                <a:gd name="connsiteY16" fmla="*/ 262551 h 479834"/>
                <a:gd name="connsiteX17" fmla="*/ 479834 w 488887"/>
                <a:gd name="connsiteY17" fmla="*/ 117695 h 479834"/>
                <a:gd name="connsiteX18" fmla="*/ 416460 w 488887"/>
                <a:gd name="connsiteY18" fmla="*/ 54321 h 479834"/>
                <a:gd name="connsiteX19" fmla="*/ 389299 w 488887"/>
                <a:gd name="connsiteY19" fmla="*/ 36214 h 479834"/>
                <a:gd name="connsiteX20" fmla="*/ 316872 w 488887"/>
                <a:gd name="connsiteY20" fmla="*/ 0 h 479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88887" h="479834">
                  <a:moveTo>
                    <a:pt x="117695" y="18107"/>
                  </a:moveTo>
                  <a:cubicBezTo>
                    <a:pt x="98321" y="24565"/>
                    <a:pt x="77828" y="28750"/>
                    <a:pt x="63375" y="45268"/>
                  </a:cubicBezTo>
                  <a:cubicBezTo>
                    <a:pt x="49045" y="61645"/>
                    <a:pt x="27161" y="99588"/>
                    <a:pt x="27161" y="99588"/>
                  </a:cubicBezTo>
                  <a:cubicBezTo>
                    <a:pt x="24143" y="111659"/>
                    <a:pt x="21682" y="123884"/>
                    <a:pt x="18107" y="135802"/>
                  </a:cubicBezTo>
                  <a:cubicBezTo>
                    <a:pt x="12622" y="154083"/>
                    <a:pt x="0" y="190123"/>
                    <a:pt x="0" y="190123"/>
                  </a:cubicBezTo>
                  <a:cubicBezTo>
                    <a:pt x="3018" y="244444"/>
                    <a:pt x="1703" y="299179"/>
                    <a:pt x="9054" y="353085"/>
                  </a:cubicBezTo>
                  <a:cubicBezTo>
                    <a:pt x="14622" y="393915"/>
                    <a:pt x="51842" y="405754"/>
                    <a:pt x="81481" y="425513"/>
                  </a:cubicBezTo>
                  <a:cubicBezTo>
                    <a:pt x="144402" y="467461"/>
                    <a:pt x="65326" y="417435"/>
                    <a:pt x="153909" y="461727"/>
                  </a:cubicBezTo>
                  <a:cubicBezTo>
                    <a:pt x="163641" y="466593"/>
                    <a:pt x="172016" y="473798"/>
                    <a:pt x="181070" y="479834"/>
                  </a:cubicBezTo>
                  <a:cubicBezTo>
                    <a:pt x="226337" y="476816"/>
                    <a:pt x="271782" y="475790"/>
                    <a:pt x="316872" y="470780"/>
                  </a:cubicBezTo>
                  <a:cubicBezTo>
                    <a:pt x="326357" y="469726"/>
                    <a:pt x="334856" y="464349"/>
                    <a:pt x="344032" y="461727"/>
                  </a:cubicBezTo>
                  <a:cubicBezTo>
                    <a:pt x="355996" y="458309"/>
                    <a:pt x="368175" y="455691"/>
                    <a:pt x="380246" y="452673"/>
                  </a:cubicBezTo>
                  <a:cubicBezTo>
                    <a:pt x="389299" y="446638"/>
                    <a:pt x="399047" y="441533"/>
                    <a:pt x="407406" y="434567"/>
                  </a:cubicBezTo>
                  <a:cubicBezTo>
                    <a:pt x="417242" y="426370"/>
                    <a:pt x="426370" y="417242"/>
                    <a:pt x="434567" y="407406"/>
                  </a:cubicBezTo>
                  <a:cubicBezTo>
                    <a:pt x="447940" y="391358"/>
                    <a:pt x="462965" y="362267"/>
                    <a:pt x="470780" y="344032"/>
                  </a:cubicBezTo>
                  <a:cubicBezTo>
                    <a:pt x="474539" y="335260"/>
                    <a:pt x="476816" y="325925"/>
                    <a:pt x="479834" y="316871"/>
                  </a:cubicBezTo>
                  <a:cubicBezTo>
                    <a:pt x="482852" y="298764"/>
                    <a:pt x="488887" y="280907"/>
                    <a:pt x="488887" y="262551"/>
                  </a:cubicBezTo>
                  <a:cubicBezTo>
                    <a:pt x="488887" y="214171"/>
                    <a:pt x="484899" y="165809"/>
                    <a:pt x="479834" y="117695"/>
                  </a:cubicBezTo>
                  <a:cubicBezTo>
                    <a:pt x="475625" y="77709"/>
                    <a:pt x="451979" y="78000"/>
                    <a:pt x="416460" y="54321"/>
                  </a:cubicBezTo>
                  <a:cubicBezTo>
                    <a:pt x="407406" y="48285"/>
                    <a:pt x="399622" y="39655"/>
                    <a:pt x="389299" y="36214"/>
                  </a:cubicBezTo>
                  <a:cubicBezTo>
                    <a:pt x="326881" y="15408"/>
                    <a:pt x="348474" y="31604"/>
                    <a:pt x="316872" y="0"/>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Freeform 28"/>
            <p:cNvSpPr/>
            <p:nvPr/>
          </p:nvSpPr>
          <p:spPr>
            <a:xfrm>
              <a:off x="5562600" y="1905000"/>
              <a:ext cx="408533" cy="431988"/>
            </a:xfrm>
            <a:custGeom>
              <a:avLst/>
              <a:gdLst>
                <a:gd name="connsiteX0" fmla="*/ 54321 w 408533"/>
                <a:gd name="connsiteY0" fmla="*/ 390048 h 431988"/>
                <a:gd name="connsiteX1" fmla="*/ 36214 w 408533"/>
                <a:gd name="connsiteY1" fmla="*/ 362888 h 431988"/>
                <a:gd name="connsiteX2" fmla="*/ 18107 w 408533"/>
                <a:gd name="connsiteY2" fmla="*/ 272353 h 431988"/>
                <a:gd name="connsiteX3" fmla="*/ 9054 w 408533"/>
                <a:gd name="connsiteY3" fmla="*/ 245193 h 431988"/>
                <a:gd name="connsiteX4" fmla="*/ 0 w 408533"/>
                <a:gd name="connsiteY4" fmla="*/ 208979 h 431988"/>
                <a:gd name="connsiteX5" fmla="*/ 27161 w 408533"/>
                <a:gd name="connsiteY5" fmla="*/ 109391 h 431988"/>
                <a:gd name="connsiteX6" fmla="*/ 54321 w 408533"/>
                <a:gd name="connsiteY6" fmla="*/ 91284 h 431988"/>
                <a:gd name="connsiteX7" fmla="*/ 63374 w 408533"/>
                <a:gd name="connsiteY7" fmla="*/ 55070 h 431988"/>
                <a:gd name="connsiteX8" fmla="*/ 90535 w 408533"/>
                <a:gd name="connsiteY8" fmla="*/ 46016 h 431988"/>
                <a:gd name="connsiteX9" fmla="*/ 117695 w 408533"/>
                <a:gd name="connsiteY9" fmla="*/ 27910 h 431988"/>
                <a:gd name="connsiteX10" fmla="*/ 172016 w 408533"/>
                <a:gd name="connsiteY10" fmla="*/ 9803 h 431988"/>
                <a:gd name="connsiteX11" fmla="*/ 199176 w 408533"/>
                <a:gd name="connsiteY11" fmla="*/ 749 h 431988"/>
                <a:gd name="connsiteX12" fmla="*/ 298765 w 408533"/>
                <a:gd name="connsiteY12" fmla="*/ 9803 h 431988"/>
                <a:gd name="connsiteX13" fmla="*/ 316871 w 408533"/>
                <a:gd name="connsiteY13" fmla="*/ 36963 h 431988"/>
                <a:gd name="connsiteX14" fmla="*/ 371192 w 408533"/>
                <a:gd name="connsiteY14" fmla="*/ 73177 h 431988"/>
                <a:gd name="connsiteX15" fmla="*/ 380246 w 408533"/>
                <a:gd name="connsiteY15" fmla="*/ 109391 h 431988"/>
                <a:gd name="connsiteX16" fmla="*/ 398353 w 408533"/>
                <a:gd name="connsiteY16" fmla="*/ 145605 h 431988"/>
                <a:gd name="connsiteX17" fmla="*/ 407406 w 408533"/>
                <a:gd name="connsiteY17" fmla="*/ 172765 h 431988"/>
                <a:gd name="connsiteX18" fmla="*/ 398353 w 408533"/>
                <a:gd name="connsiteY18" fmla="*/ 335727 h 431988"/>
                <a:gd name="connsiteX19" fmla="*/ 371192 w 408533"/>
                <a:gd name="connsiteY19" fmla="*/ 362888 h 431988"/>
                <a:gd name="connsiteX20" fmla="*/ 353085 w 408533"/>
                <a:gd name="connsiteY20" fmla="*/ 390048 h 431988"/>
                <a:gd name="connsiteX21" fmla="*/ 325925 w 408533"/>
                <a:gd name="connsiteY21" fmla="*/ 399102 h 431988"/>
                <a:gd name="connsiteX22" fmla="*/ 298765 w 408533"/>
                <a:gd name="connsiteY22" fmla="*/ 417209 h 431988"/>
                <a:gd name="connsiteX23" fmla="*/ 217283 w 408533"/>
                <a:gd name="connsiteY23" fmla="*/ 426262 h 431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8533" h="431988">
                  <a:moveTo>
                    <a:pt x="54321" y="390048"/>
                  </a:moveTo>
                  <a:cubicBezTo>
                    <a:pt x="48285" y="380995"/>
                    <a:pt x="41080" y="372620"/>
                    <a:pt x="36214" y="362888"/>
                  </a:cubicBezTo>
                  <a:cubicBezTo>
                    <a:pt x="22580" y="335620"/>
                    <a:pt x="23666" y="300148"/>
                    <a:pt x="18107" y="272353"/>
                  </a:cubicBezTo>
                  <a:cubicBezTo>
                    <a:pt x="16235" y="262995"/>
                    <a:pt x="11676" y="254369"/>
                    <a:pt x="9054" y="245193"/>
                  </a:cubicBezTo>
                  <a:cubicBezTo>
                    <a:pt x="5636" y="233229"/>
                    <a:pt x="3018" y="221050"/>
                    <a:pt x="0" y="208979"/>
                  </a:cubicBezTo>
                  <a:cubicBezTo>
                    <a:pt x="4932" y="174455"/>
                    <a:pt x="3325" y="137995"/>
                    <a:pt x="27161" y="109391"/>
                  </a:cubicBezTo>
                  <a:cubicBezTo>
                    <a:pt x="34127" y="101032"/>
                    <a:pt x="45268" y="97320"/>
                    <a:pt x="54321" y="91284"/>
                  </a:cubicBezTo>
                  <a:cubicBezTo>
                    <a:pt x="57339" y="79213"/>
                    <a:pt x="55601" y="64786"/>
                    <a:pt x="63374" y="55070"/>
                  </a:cubicBezTo>
                  <a:cubicBezTo>
                    <a:pt x="69336" y="47618"/>
                    <a:pt x="81999" y="50284"/>
                    <a:pt x="90535" y="46016"/>
                  </a:cubicBezTo>
                  <a:cubicBezTo>
                    <a:pt x="100267" y="41150"/>
                    <a:pt x="107752" y="32329"/>
                    <a:pt x="117695" y="27910"/>
                  </a:cubicBezTo>
                  <a:cubicBezTo>
                    <a:pt x="135136" y="20158"/>
                    <a:pt x="153909" y="15839"/>
                    <a:pt x="172016" y="9803"/>
                  </a:cubicBezTo>
                  <a:lnTo>
                    <a:pt x="199176" y="749"/>
                  </a:lnTo>
                  <a:cubicBezTo>
                    <a:pt x="232372" y="3767"/>
                    <a:pt x="266906" y="0"/>
                    <a:pt x="298765" y="9803"/>
                  </a:cubicBezTo>
                  <a:cubicBezTo>
                    <a:pt x="309164" y="13003"/>
                    <a:pt x="308683" y="29798"/>
                    <a:pt x="316871" y="36963"/>
                  </a:cubicBezTo>
                  <a:cubicBezTo>
                    <a:pt x="333248" y="51293"/>
                    <a:pt x="371192" y="73177"/>
                    <a:pt x="371192" y="73177"/>
                  </a:cubicBezTo>
                  <a:cubicBezTo>
                    <a:pt x="374210" y="85248"/>
                    <a:pt x="375877" y="97740"/>
                    <a:pt x="380246" y="109391"/>
                  </a:cubicBezTo>
                  <a:cubicBezTo>
                    <a:pt x="384985" y="122028"/>
                    <a:pt x="393037" y="133200"/>
                    <a:pt x="398353" y="145605"/>
                  </a:cubicBezTo>
                  <a:cubicBezTo>
                    <a:pt x="402112" y="154376"/>
                    <a:pt x="404388" y="163712"/>
                    <a:pt x="407406" y="172765"/>
                  </a:cubicBezTo>
                  <a:cubicBezTo>
                    <a:pt x="404388" y="227086"/>
                    <a:pt x="408533" y="282283"/>
                    <a:pt x="398353" y="335727"/>
                  </a:cubicBezTo>
                  <a:cubicBezTo>
                    <a:pt x="395957" y="348305"/>
                    <a:pt x="379389" y="353052"/>
                    <a:pt x="371192" y="362888"/>
                  </a:cubicBezTo>
                  <a:cubicBezTo>
                    <a:pt x="364226" y="371247"/>
                    <a:pt x="361581" y="383251"/>
                    <a:pt x="353085" y="390048"/>
                  </a:cubicBezTo>
                  <a:cubicBezTo>
                    <a:pt x="345633" y="396010"/>
                    <a:pt x="334461" y="394834"/>
                    <a:pt x="325925" y="399102"/>
                  </a:cubicBezTo>
                  <a:cubicBezTo>
                    <a:pt x="316193" y="403968"/>
                    <a:pt x="308497" y="412343"/>
                    <a:pt x="298765" y="417209"/>
                  </a:cubicBezTo>
                  <a:cubicBezTo>
                    <a:pt x="269207" y="431988"/>
                    <a:pt x="253102" y="426262"/>
                    <a:pt x="217283" y="426262"/>
                  </a:cubicBezTo>
                </a:path>
              </a:pathLst>
            </a:custGeom>
            <a:ln>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0" name="TextBox 29"/>
          <p:cNvSpPr txBox="1"/>
          <p:nvPr/>
        </p:nvSpPr>
        <p:spPr>
          <a:xfrm>
            <a:off x="921026" y="5453206"/>
            <a:ext cx="4586897" cy="1015663"/>
          </a:xfrm>
          <a:prstGeom prst="rect">
            <a:avLst/>
          </a:prstGeom>
          <a:noFill/>
        </p:spPr>
        <p:txBody>
          <a:bodyPr wrap="square" rtlCol="0">
            <a:spAutoFit/>
          </a:bodyPr>
          <a:lstStyle/>
          <a:p>
            <a:r>
              <a:rPr lang="en-US" sz="2000" dirty="0"/>
              <a:t>In this directed multigraph the multiplicity of (</a:t>
            </a:r>
            <a:r>
              <a:rPr lang="en-US" sz="2000" i="1" dirty="0" err="1"/>
              <a:t>a,b</a:t>
            </a:r>
            <a:r>
              <a:rPr lang="en-US" sz="2000" dirty="0"/>
              <a:t>) is </a:t>
            </a:r>
            <a:r>
              <a:rPr lang="en-US" sz="2000" dirty="0">
                <a:latin typeface="Cambria Math" pitchFamily="18" charset="0"/>
                <a:ea typeface="Cambria Math" pitchFamily="18" charset="0"/>
              </a:rPr>
              <a:t>1 and the multiplicity of (</a:t>
            </a:r>
            <a:r>
              <a:rPr lang="en-US" sz="2000" i="1" dirty="0" err="1">
                <a:latin typeface="Cambria Math" pitchFamily="18" charset="0"/>
                <a:ea typeface="Cambria Math" pitchFamily="18" charset="0"/>
              </a:rPr>
              <a:t>b,c</a:t>
            </a:r>
            <a:r>
              <a:rPr lang="en-US" sz="2000" dirty="0">
                <a:latin typeface="Cambria Math" pitchFamily="18" charset="0"/>
                <a:ea typeface="Cambria Math" pitchFamily="18" charset="0"/>
              </a:rPr>
              <a:t>) is 2.</a:t>
            </a:r>
          </a:p>
        </p:txBody>
      </p:sp>
      <p:sp>
        <p:nvSpPr>
          <p:cNvPr id="31" name="TextBox 30"/>
          <p:cNvSpPr txBox="1"/>
          <p:nvPr/>
        </p:nvSpPr>
        <p:spPr>
          <a:xfrm>
            <a:off x="990600" y="2496982"/>
            <a:ext cx="1371600" cy="400110"/>
          </a:xfrm>
          <a:prstGeom prst="rect">
            <a:avLst/>
          </a:prstGeom>
          <a:noFill/>
        </p:spPr>
        <p:txBody>
          <a:bodyPr wrap="square" rtlCol="0">
            <a:spAutoFit/>
          </a:bodyPr>
          <a:lstStyle/>
          <a:p>
            <a:r>
              <a:rPr lang="en-US" sz="2000" b="1" dirty="0"/>
              <a:t>Example</a:t>
            </a:r>
            <a:r>
              <a:rPr lang="en-US" sz="2000" dirty="0"/>
              <a:t>:</a:t>
            </a:r>
          </a:p>
        </p:txBody>
      </p:sp>
      <p:sp>
        <p:nvSpPr>
          <p:cNvPr id="32" name="TextBox 31"/>
          <p:cNvSpPr txBox="1"/>
          <p:nvPr/>
        </p:nvSpPr>
        <p:spPr>
          <a:xfrm>
            <a:off x="990600" y="2856588"/>
            <a:ext cx="3511826" cy="707886"/>
          </a:xfrm>
          <a:prstGeom prst="rect">
            <a:avLst/>
          </a:prstGeom>
          <a:noFill/>
        </p:spPr>
        <p:txBody>
          <a:bodyPr wrap="square" rtlCol="0">
            <a:spAutoFit/>
          </a:bodyPr>
          <a:lstStyle/>
          <a:p>
            <a:r>
              <a:rPr lang="en-US" sz="2000" dirty="0"/>
              <a:t>This is a directed graph with three vertices and four edges.</a:t>
            </a:r>
          </a:p>
        </p:txBody>
      </p:sp>
      <p:cxnSp>
        <p:nvCxnSpPr>
          <p:cNvPr id="45" name="Straight Arrow Connector 44"/>
          <p:cNvCxnSpPr/>
          <p:nvPr/>
        </p:nvCxnSpPr>
        <p:spPr>
          <a:xfrm flipV="1">
            <a:off x="7125730" y="2682017"/>
            <a:ext cx="389965" cy="903553"/>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6" name="TextBox 45"/>
          <p:cNvSpPr txBox="1"/>
          <p:nvPr/>
        </p:nvSpPr>
        <p:spPr>
          <a:xfrm>
            <a:off x="921026" y="5084644"/>
            <a:ext cx="1371600" cy="400110"/>
          </a:xfrm>
          <a:prstGeom prst="rect">
            <a:avLst/>
          </a:prstGeom>
          <a:noFill/>
        </p:spPr>
        <p:txBody>
          <a:bodyPr wrap="square" rtlCol="0">
            <a:spAutoFit/>
          </a:bodyPr>
          <a:lstStyle/>
          <a:p>
            <a:r>
              <a:rPr lang="en-US" sz="2000" b="1" dirty="0"/>
              <a:t>Example</a:t>
            </a:r>
            <a:r>
              <a:rPr lang="en-US" sz="2000" dirty="0"/>
              <a:t>:</a:t>
            </a:r>
          </a:p>
        </p:txBody>
      </p:sp>
    </p:spTree>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Terminology</a:t>
            </a:r>
          </a:p>
        </p:txBody>
      </p:sp>
      <p:sp>
        <p:nvSpPr>
          <p:cNvPr id="3" name="Content Placeholder 2"/>
          <p:cNvSpPr>
            <a:spLocks noGrp="1"/>
          </p:cNvSpPr>
          <p:nvPr>
            <p:ph idx="1"/>
          </p:nvPr>
        </p:nvSpPr>
        <p:spPr/>
        <p:txBody>
          <a:bodyPr>
            <a:normAutofit fontScale="85000" lnSpcReduction="20000"/>
          </a:bodyPr>
          <a:lstStyle/>
          <a:p>
            <a:pPr indent="0">
              <a:buNone/>
            </a:pPr>
            <a:r>
              <a:rPr lang="en-US" b="1" dirty="0"/>
              <a:t>Definition </a:t>
            </a:r>
            <a:r>
              <a:rPr lang="en-US" b="1" dirty="0">
                <a:latin typeface="Cambria" pitchFamily="18" charset="0"/>
              </a:rPr>
              <a:t>1</a:t>
            </a:r>
            <a:r>
              <a:rPr lang="en-US" dirty="0"/>
              <a:t>. Two vertices </a:t>
            </a:r>
            <a:r>
              <a:rPr lang="en-US" i="1" dirty="0"/>
              <a:t>u</a:t>
            </a:r>
            <a:r>
              <a:rPr lang="en-US" dirty="0"/>
              <a:t>, </a:t>
            </a:r>
            <a:r>
              <a:rPr lang="en-US" i="1" dirty="0"/>
              <a:t>v</a:t>
            </a:r>
            <a:r>
              <a:rPr lang="en-US" dirty="0"/>
              <a:t> in  an undirected graph </a:t>
            </a:r>
            <a:r>
              <a:rPr lang="en-US" i="1" dirty="0"/>
              <a:t>G</a:t>
            </a:r>
            <a:r>
              <a:rPr lang="en-US" dirty="0"/>
              <a:t> are called </a:t>
            </a:r>
            <a:r>
              <a:rPr lang="en-US" i="1" dirty="0"/>
              <a:t>adjacent</a:t>
            </a:r>
            <a:r>
              <a:rPr lang="en-US" dirty="0"/>
              <a:t> (or </a:t>
            </a:r>
            <a:r>
              <a:rPr lang="en-US" i="1" dirty="0"/>
              <a:t>neighbors</a:t>
            </a:r>
            <a:r>
              <a:rPr lang="en-US" dirty="0"/>
              <a:t>)  in </a:t>
            </a:r>
            <a:r>
              <a:rPr lang="en-US" i="1" dirty="0"/>
              <a:t>G</a:t>
            </a:r>
            <a:r>
              <a:rPr lang="en-US" dirty="0"/>
              <a:t> if there is an edge </a:t>
            </a:r>
            <a:r>
              <a:rPr lang="en-US" i="1" dirty="0"/>
              <a:t>e</a:t>
            </a:r>
            <a:r>
              <a:rPr lang="en-US" dirty="0"/>
              <a:t> between </a:t>
            </a:r>
            <a:r>
              <a:rPr lang="en-US" i="1" dirty="0"/>
              <a:t>u</a:t>
            </a:r>
            <a:r>
              <a:rPr lang="en-US" dirty="0"/>
              <a:t> and </a:t>
            </a:r>
            <a:r>
              <a:rPr lang="en-US" i="1" dirty="0"/>
              <a:t>v</a:t>
            </a:r>
            <a:r>
              <a:rPr lang="en-US" dirty="0"/>
              <a:t>. Such an edge </a:t>
            </a:r>
            <a:r>
              <a:rPr lang="en-US" i="1" dirty="0"/>
              <a:t>e</a:t>
            </a:r>
            <a:r>
              <a:rPr lang="en-US" dirty="0"/>
              <a:t> is called </a:t>
            </a:r>
            <a:r>
              <a:rPr lang="en-US" i="1" dirty="0"/>
              <a:t>incident with </a:t>
            </a:r>
            <a:r>
              <a:rPr lang="en-US" dirty="0"/>
              <a:t>the vertices </a:t>
            </a:r>
            <a:r>
              <a:rPr lang="en-US" i="1" dirty="0"/>
              <a:t>u</a:t>
            </a:r>
            <a:r>
              <a:rPr lang="en-US" dirty="0"/>
              <a:t> and </a:t>
            </a:r>
            <a:r>
              <a:rPr lang="en-US" i="1" dirty="0"/>
              <a:t>v</a:t>
            </a:r>
            <a:r>
              <a:rPr lang="en-US" dirty="0"/>
              <a:t> and </a:t>
            </a:r>
            <a:r>
              <a:rPr lang="en-US" i="1" dirty="0"/>
              <a:t>e</a:t>
            </a:r>
            <a:r>
              <a:rPr lang="en-US" dirty="0"/>
              <a:t> is said to </a:t>
            </a:r>
            <a:r>
              <a:rPr lang="en-US" i="1" dirty="0"/>
              <a:t>connect u</a:t>
            </a:r>
            <a:r>
              <a:rPr lang="en-US" dirty="0"/>
              <a:t> and </a:t>
            </a:r>
            <a:r>
              <a:rPr lang="en-US" i="1" dirty="0"/>
              <a:t>v</a:t>
            </a:r>
            <a:r>
              <a:rPr lang="en-US" dirty="0"/>
              <a:t>. </a:t>
            </a:r>
          </a:p>
          <a:p>
            <a:pPr indent="0">
              <a:buNone/>
            </a:pPr>
            <a:endParaRPr lang="en-US" dirty="0"/>
          </a:p>
          <a:p>
            <a:pPr indent="0">
              <a:buNone/>
            </a:pPr>
            <a:r>
              <a:rPr lang="en-US" b="1" dirty="0"/>
              <a:t>Definition </a:t>
            </a:r>
            <a:r>
              <a:rPr lang="en-US" b="1" dirty="0">
                <a:latin typeface="Cambria" pitchFamily="18" charset="0"/>
              </a:rPr>
              <a:t>2</a:t>
            </a:r>
            <a:r>
              <a:rPr lang="en-US" dirty="0"/>
              <a:t>. The set of all neighbors of a vertex </a:t>
            </a:r>
            <a:r>
              <a:rPr lang="en-US" i="1" dirty="0"/>
              <a:t>v</a:t>
            </a:r>
            <a:r>
              <a:rPr lang="en-US" dirty="0"/>
              <a:t> of </a:t>
            </a:r>
            <a:r>
              <a:rPr lang="en-US" i="1" dirty="0"/>
              <a:t>G</a:t>
            </a:r>
            <a:r>
              <a:rPr lang="en-US" dirty="0"/>
              <a:t> = (</a:t>
            </a:r>
            <a:r>
              <a:rPr lang="en-US" i="1" dirty="0"/>
              <a:t>V</a:t>
            </a:r>
            <a:r>
              <a:rPr lang="en-US" dirty="0"/>
              <a:t>, </a:t>
            </a:r>
            <a:r>
              <a:rPr lang="en-US" i="1" dirty="0"/>
              <a:t>E</a:t>
            </a:r>
            <a:r>
              <a:rPr lang="en-US" dirty="0"/>
              <a:t>), denoted by </a:t>
            </a:r>
            <a:r>
              <a:rPr lang="en-US" i="1" dirty="0"/>
              <a:t>N</a:t>
            </a:r>
            <a:r>
              <a:rPr lang="en-US" dirty="0"/>
              <a:t>(</a:t>
            </a:r>
            <a:r>
              <a:rPr lang="en-US" i="1" dirty="0"/>
              <a:t>v</a:t>
            </a:r>
            <a:r>
              <a:rPr lang="en-US" dirty="0"/>
              <a:t>), is called the </a:t>
            </a:r>
            <a:r>
              <a:rPr lang="en-US" i="1" dirty="0"/>
              <a:t>neighborhood</a:t>
            </a:r>
            <a:r>
              <a:rPr lang="en-US" dirty="0"/>
              <a:t> of </a:t>
            </a:r>
            <a:r>
              <a:rPr lang="en-US" i="1" dirty="0"/>
              <a:t>v</a:t>
            </a:r>
            <a:r>
              <a:rPr lang="en-US" dirty="0"/>
              <a:t>. If </a:t>
            </a:r>
            <a:r>
              <a:rPr lang="en-US" i="1" dirty="0"/>
              <a:t>A</a:t>
            </a:r>
            <a:r>
              <a:rPr lang="en-US" dirty="0"/>
              <a:t> is a subset of </a:t>
            </a:r>
            <a:r>
              <a:rPr lang="en-US" i="1" dirty="0"/>
              <a:t>V</a:t>
            </a:r>
            <a:r>
              <a:rPr lang="en-US" dirty="0"/>
              <a:t>, we denote by </a:t>
            </a:r>
            <a:r>
              <a:rPr lang="en-US" i="1" dirty="0"/>
              <a:t>N</a:t>
            </a:r>
            <a:r>
              <a:rPr lang="en-US" dirty="0"/>
              <a:t>(</a:t>
            </a:r>
            <a:r>
              <a:rPr lang="en-US" i="1" dirty="0"/>
              <a:t>A</a:t>
            </a:r>
            <a:r>
              <a:rPr lang="en-US" dirty="0"/>
              <a:t>) the set of all vertices in </a:t>
            </a:r>
            <a:r>
              <a:rPr lang="en-US" i="1" dirty="0"/>
              <a:t>G</a:t>
            </a:r>
            <a:r>
              <a:rPr lang="en-US" dirty="0"/>
              <a:t> that are adjacent to at least one vertex in </a:t>
            </a:r>
            <a:r>
              <a:rPr lang="en-US" i="1" dirty="0"/>
              <a:t>A</a:t>
            </a:r>
            <a:r>
              <a:rPr lang="en-US" dirty="0"/>
              <a:t>. So,</a:t>
            </a:r>
          </a:p>
          <a:p>
            <a:pPr indent="0">
              <a:buNone/>
            </a:pPr>
            <a:r>
              <a:rPr lang="en-US" dirty="0"/>
              <a:t> </a:t>
            </a:r>
          </a:p>
          <a:p>
            <a:pPr indent="0">
              <a:buNone/>
            </a:pPr>
            <a:r>
              <a:rPr lang="en-US" b="1" dirty="0"/>
              <a:t>Definition </a:t>
            </a:r>
            <a:r>
              <a:rPr lang="en-US" b="1" dirty="0">
                <a:latin typeface="Cambria" pitchFamily="18" charset="0"/>
              </a:rPr>
              <a:t>3</a:t>
            </a:r>
            <a:r>
              <a:rPr lang="en-US" dirty="0"/>
              <a:t>. The </a:t>
            </a:r>
            <a:r>
              <a:rPr lang="en-US" i="1" dirty="0"/>
              <a:t>degree of a vertex in a undirected graph </a:t>
            </a:r>
            <a:r>
              <a:rPr lang="en-US" dirty="0"/>
              <a:t>is the number of edges incident with it, except that a loop at a vertex contributes two to the degree of that vertex. The degree of the vertex </a:t>
            </a:r>
            <a:r>
              <a:rPr lang="en-US" i="1" dirty="0"/>
              <a:t>v</a:t>
            </a:r>
            <a:r>
              <a:rPr lang="en-US" dirty="0"/>
              <a:t> is denoted by </a:t>
            </a:r>
            <a:r>
              <a:rPr lang="en-US" dirty="0" err="1"/>
              <a:t>deg</a:t>
            </a:r>
            <a:r>
              <a:rPr lang="en-US" dirty="0"/>
              <a:t>(</a:t>
            </a:r>
            <a:r>
              <a:rPr lang="en-US" i="1" dirty="0"/>
              <a:t>v</a:t>
            </a:r>
            <a:r>
              <a:rPr lang="en-US" dirty="0"/>
              <a:t>).</a:t>
            </a:r>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5486400" y="4285456"/>
            <a:ext cx="2217420" cy="283845"/>
          </a:xfrm>
          <a:prstGeom prst="rect">
            <a:avLst/>
          </a:prstGeom>
        </p:spPr>
      </p:pic>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Degrees and Neighborhoods of Vertices</a:t>
            </a:r>
          </a:p>
        </p:txBody>
      </p:sp>
      <p:sp>
        <p:nvSpPr>
          <p:cNvPr id="3" name="Content Placeholder 2"/>
          <p:cNvSpPr>
            <a:spLocks noGrp="1"/>
          </p:cNvSpPr>
          <p:nvPr>
            <p:ph idx="1"/>
          </p:nvPr>
        </p:nvSpPr>
        <p:spPr/>
        <p:txBody>
          <a:bodyPr>
            <a:normAutofit fontScale="85000" lnSpcReduction="20000"/>
          </a:bodyPr>
          <a:lstStyle/>
          <a:p>
            <a:pPr indent="0">
              <a:buNone/>
            </a:pPr>
            <a:r>
              <a:rPr lang="en-US" b="1" dirty="0"/>
              <a:t>Example</a:t>
            </a:r>
            <a:r>
              <a:rPr lang="en-US" dirty="0"/>
              <a:t>:  What are the  degrees  and neighborhoods of the vertices in the graphs </a:t>
            </a:r>
            <a:r>
              <a:rPr lang="en-US" i="1" dirty="0"/>
              <a:t>G</a:t>
            </a:r>
            <a:r>
              <a:rPr lang="en-US" dirty="0"/>
              <a:t> and </a:t>
            </a:r>
            <a:r>
              <a:rPr lang="en-US" i="1" dirty="0"/>
              <a:t>H</a:t>
            </a:r>
            <a:r>
              <a:rPr lang="en-US" dirty="0"/>
              <a:t>?</a:t>
            </a:r>
          </a:p>
          <a:p>
            <a:pPr indent="0">
              <a:buNone/>
            </a:pPr>
            <a:endParaRPr lang="en-US" dirty="0"/>
          </a:p>
          <a:p>
            <a:pPr indent="0">
              <a:buNone/>
            </a:pPr>
            <a:endParaRPr lang="en-US" dirty="0"/>
          </a:p>
          <a:p>
            <a:pPr indent="0">
              <a:buNone/>
            </a:pPr>
            <a:endParaRPr lang="en-US" dirty="0"/>
          </a:p>
          <a:p>
            <a:pPr indent="0">
              <a:buNone/>
            </a:pPr>
            <a:r>
              <a:rPr lang="en-US" b="1" dirty="0"/>
              <a:t>Solution</a:t>
            </a:r>
            <a:r>
              <a:rPr lang="en-US" dirty="0"/>
              <a:t>: </a:t>
            </a:r>
          </a:p>
          <a:p>
            <a:pPr indent="0">
              <a:buNone/>
            </a:pPr>
            <a:r>
              <a:rPr lang="en-US" i="1" dirty="0"/>
              <a:t>G</a:t>
            </a:r>
            <a:r>
              <a:rPr lang="en-US" dirty="0"/>
              <a:t>:    </a:t>
            </a:r>
            <a:r>
              <a:rPr lang="en-US" dirty="0" err="1"/>
              <a:t>deg</a:t>
            </a:r>
            <a:r>
              <a:rPr lang="en-US" dirty="0"/>
              <a:t>(</a:t>
            </a:r>
            <a:r>
              <a:rPr lang="en-US" i="1" dirty="0"/>
              <a:t>a</a:t>
            </a:r>
            <a:r>
              <a:rPr lang="en-US" dirty="0"/>
              <a:t>) = </a:t>
            </a:r>
            <a:r>
              <a:rPr lang="en-US" dirty="0">
                <a:latin typeface="Cambria" pitchFamily="18" charset="0"/>
              </a:rPr>
              <a:t>2</a:t>
            </a:r>
            <a:r>
              <a:rPr lang="en-US" dirty="0"/>
              <a:t>, </a:t>
            </a:r>
            <a:r>
              <a:rPr lang="en-US" dirty="0" err="1"/>
              <a:t>deg</a:t>
            </a:r>
            <a:r>
              <a:rPr lang="en-US" dirty="0"/>
              <a:t>(</a:t>
            </a:r>
            <a:r>
              <a:rPr lang="en-US" i="1" dirty="0"/>
              <a:t>b</a:t>
            </a:r>
            <a:r>
              <a:rPr lang="en-US" dirty="0"/>
              <a:t>) = </a:t>
            </a:r>
            <a:r>
              <a:rPr lang="en-US" dirty="0" err="1"/>
              <a:t>deg</a:t>
            </a:r>
            <a:r>
              <a:rPr lang="en-US" dirty="0"/>
              <a:t>(</a:t>
            </a:r>
            <a:r>
              <a:rPr lang="en-US" i="1" dirty="0"/>
              <a:t>c</a:t>
            </a:r>
            <a:r>
              <a:rPr lang="en-US" dirty="0"/>
              <a:t>) = </a:t>
            </a:r>
            <a:r>
              <a:rPr lang="en-US" dirty="0" err="1"/>
              <a:t>deg</a:t>
            </a:r>
            <a:r>
              <a:rPr lang="en-US" dirty="0"/>
              <a:t>(</a:t>
            </a:r>
            <a:r>
              <a:rPr lang="en-US" i="1" dirty="0"/>
              <a:t>f </a:t>
            </a:r>
            <a:r>
              <a:rPr lang="en-US" dirty="0"/>
              <a:t>) = </a:t>
            </a:r>
            <a:r>
              <a:rPr lang="en-US" dirty="0">
                <a:latin typeface="Cambria" pitchFamily="18" charset="0"/>
              </a:rPr>
              <a:t>4</a:t>
            </a:r>
            <a:r>
              <a:rPr lang="en-US" dirty="0"/>
              <a:t>, </a:t>
            </a:r>
            <a:r>
              <a:rPr lang="en-US" dirty="0" err="1"/>
              <a:t>deg</a:t>
            </a:r>
            <a:r>
              <a:rPr lang="en-US" dirty="0"/>
              <a:t>(</a:t>
            </a:r>
            <a:r>
              <a:rPr lang="en-US" i="1" dirty="0"/>
              <a:t>d </a:t>
            </a:r>
            <a:r>
              <a:rPr lang="en-US" dirty="0"/>
              <a:t>) = </a:t>
            </a:r>
            <a:r>
              <a:rPr lang="en-US" dirty="0">
                <a:latin typeface="Cambria" pitchFamily="18" charset="0"/>
              </a:rPr>
              <a:t>1,</a:t>
            </a:r>
            <a:r>
              <a:rPr lang="en-US" dirty="0"/>
              <a:t>  </a:t>
            </a:r>
          </a:p>
          <a:p>
            <a:pPr indent="0">
              <a:buNone/>
            </a:pPr>
            <a:r>
              <a:rPr lang="en-US" dirty="0"/>
              <a:t>        </a:t>
            </a:r>
            <a:r>
              <a:rPr lang="en-US" dirty="0" err="1"/>
              <a:t>deg</a:t>
            </a:r>
            <a:r>
              <a:rPr lang="en-US" dirty="0"/>
              <a:t>(</a:t>
            </a:r>
            <a:r>
              <a:rPr lang="en-US" i="1" dirty="0"/>
              <a:t>e</a:t>
            </a:r>
            <a:r>
              <a:rPr lang="en-US" dirty="0"/>
              <a:t>) = </a:t>
            </a:r>
            <a:r>
              <a:rPr lang="en-US" dirty="0">
                <a:latin typeface="Cambria" pitchFamily="18" charset="0"/>
              </a:rPr>
              <a:t>3,</a:t>
            </a:r>
            <a:r>
              <a:rPr lang="en-US" dirty="0"/>
              <a:t> </a:t>
            </a:r>
            <a:r>
              <a:rPr lang="en-US" dirty="0" err="1"/>
              <a:t>deg</a:t>
            </a:r>
            <a:r>
              <a:rPr lang="en-US" dirty="0"/>
              <a:t>(</a:t>
            </a:r>
            <a:r>
              <a:rPr lang="en-US" i="1" dirty="0"/>
              <a:t>g</a:t>
            </a:r>
            <a:r>
              <a:rPr lang="en-US" dirty="0"/>
              <a:t>) = </a:t>
            </a:r>
            <a:r>
              <a:rPr lang="en-US" dirty="0">
                <a:latin typeface="Cambria" pitchFamily="18" charset="0"/>
              </a:rPr>
              <a:t>0. </a:t>
            </a:r>
          </a:p>
          <a:p>
            <a:pPr indent="0">
              <a:buNone/>
            </a:pPr>
            <a:r>
              <a:rPr lang="en-US" i="1" dirty="0">
                <a:latin typeface="Cambria" pitchFamily="18" charset="0"/>
              </a:rPr>
              <a:t>         </a:t>
            </a:r>
            <a:r>
              <a:rPr lang="en-US" i="1" dirty="0"/>
              <a:t>N</a:t>
            </a:r>
            <a:r>
              <a:rPr lang="en-US" dirty="0"/>
              <a:t>(</a:t>
            </a:r>
            <a:r>
              <a:rPr lang="en-US" i="1" dirty="0"/>
              <a:t>a</a:t>
            </a:r>
            <a:r>
              <a:rPr lang="en-US" dirty="0"/>
              <a:t>) = {</a:t>
            </a:r>
            <a:r>
              <a:rPr lang="en-US" i="1" dirty="0"/>
              <a:t>b, f </a:t>
            </a:r>
            <a:r>
              <a:rPr lang="en-US" dirty="0"/>
              <a:t>}, </a:t>
            </a:r>
            <a:r>
              <a:rPr lang="en-US" i="1" dirty="0"/>
              <a:t>N</a:t>
            </a:r>
            <a:r>
              <a:rPr lang="en-US" dirty="0"/>
              <a:t>(</a:t>
            </a:r>
            <a:r>
              <a:rPr lang="en-US" i="1" dirty="0"/>
              <a:t>b</a:t>
            </a:r>
            <a:r>
              <a:rPr lang="en-US" dirty="0"/>
              <a:t>) = {</a:t>
            </a:r>
            <a:r>
              <a:rPr lang="en-US" i="1" dirty="0"/>
              <a:t>a, c, e, f </a:t>
            </a:r>
            <a:r>
              <a:rPr lang="en-US" dirty="0"/>
              <a:t>},</a:t>
            </a:r>
            <a:r>
              <a:rPr lang="en-US" i="1" dirty="0"/>
              <a:t> N</a:t>
            </a:r>
            <a:r>
              <a:rPr lang="en-US" dirty="0"/>
              <a:t>(</a:t>
            </a:r>
            <a:r>
              <a:rPr lang="en-US" i="1" dirty="0"/>
              <a:t>c</a:t>
            </a:r>
            <a:r>
              <a:rPr lang="en-US" dirty="0"/>
              <a:t>) = {</a:t>
            </a:r>
            <a:r>
              <a:rPr lang="en-US" i="1" dirty="0"/>
              <a:t>b, d, e, f </a:t>
            </a:r>
            <a:r>
              <a:rPr lang="en-US" dirty="0"/>
              <a:t>},</a:t>
            </a:r>
            <a:r>
              <a:rPr lang="en-US" i="1" dirty="0"/>
              <a:t> N</a:t>
            </a:r>
            <a:r>
              <a:rPr lang="en-US" dirty="0"/>
              <a:t>(</a:t>
            </a:r>
            <a:r>
              <a:rPr lang="en-US" i="1" dirty="0"/>
              <a:t>d</a:t>
            </a:r>
            <a:r>
              <a:rPr lang="en-US" dirty="0"/>
              <a:t>) = {</a:t>
            </a:r>
            <a:r>
              <a:rPr lang="en-US" i="1" dirty="0"/>
              <a:t>c</a:t>
            </a:r>
            <a:r>
              <a:rPr lang="en-US" dirty="0"/>
              <a:t>},  </a:t>
            </a:r>
          </a:p>
          <a:p>
            <a:pPr indent="0">
              <a:buNone/>
            </a:pPr>
            <a:r>
              <a:rPr lang="en-US" i="1" dirty="0"/>
              <a:t>         N</a:t>
            </a:r>
            <a:r>
              <a:rPr lang="en-US" dirty="0"/>
              <a:t>(</a:t>
            </a:r>
            <a:r>
              <a:rPr lang="en-US" i="1" dirty="0"/>
              <a:t>e</a:t>
            </a:r>
            <a:r>
              <a:rPr lang="en-US" dirty="0"/>
              <a:t>) = {</a:t>
            </a:r>
            <a:r>
              <a:rPr lang="en-US" i="1" dirty="0"/>
              <a:t>b, c , f </a:t>
            </a:r>
            <a:r>
              <a:rPr lang="en-US" dirty="0"/>
              <a:t>}, </a:t>
            </a:r>
            <a:r>
              <a:rPr lang="en-US" i="1" dirty="0"/>
              <a:t>N</a:t>
            </a:r>
            <a:r>
              <a:rPr lang="en-US" dirty="0"/>
              <a:t>(</a:t>
            </a:r>
            <a:r>
              <a:rPr lang="en-US" i="1" dirty="0"/>
              <a:t>f</a:t>
            </a:r>
            <a:r>
              <a:rPr lang="en-US" dirty="0"/>
              <a:t>) = {</a:t>
            </a:r>
            <a:r>
              <a:rPr lang="en-US" i="1" dirty="0"/>
              <a:t>a</a:t>
            </a:r>
            <a:r>
              <a:rPr lang="en-US" dirty="0"/>
              <a:t>, </a:t>
            </a:r>
            <a:r>
              <a:rPr lang="en-US" i="1" dirty="0"/>
              <a:t>b, c, e</a:t>
            </a:r>
            <a:r>
              <a:rPr lang="en-US" dirty="0"/>
              <a:t>},</a:t>
            </a:r>
            <a:r>
              <a:rPr lang="en-US" i="1" dirty="0"/>
              <a:t> N</a:t>
            </a:r>
            <a:r>
              <a:rPr lang="en-US" dirty="0"/>
              <a:t>(</a:t>
            </a:r>
            <a:r>
              <a:rPr lang="en-US" i="1" dirty="0"/>
              <a:t>g</a:t>
            </a:r>
            <a:r>
              <a:rPr lang="en-US" dirty="0"/>
              <a:t>) = </a:t>
            </a:r>
            <a:r>
              <a:rPr lang="en-US" dirty="0">
                <a:sym typeface="Symbol"/>
              </a:rPr>
              <a:t></a:t>
            </a:r>
            <a:r>
              <a:rPr lang="en-US" dirty="0"/>
              <a:t> . </a:t>
            </a:r>
          </a:p>
          <a:p>
            <a:pPr indent="0">
              <a:buNone/>
            </a:pPr>
            <a:r>
              <a:rPr lang="en-US" i="1" dirty="0"/>
              <a:t>H</a:t>
            </a:r>
            <a:r>
              <a:rPr lang="en-US" dirty="0"/>
              <a:t>:    </a:t>
            </a:r>
            <a:r>
              <a:rPr lang="en-US" dirty="0" err="1"/>
              <a:t>deg</a:t>
            </a:r>
            <a:r>
              <a:rPr lang="en-US" dirty="0"/>
              <a:t>(</a:t>
            </a:r>
            <a:r>
              <a:rPr lang="en-US" i="1" dirty="0"/>
              <a:t>a</a:t>
            </a:r>
            <a:r>
              <a:rPr lang="en-US" dirty="0"/>
              <a:t>) = </a:t>
            </a:r>
            <a:r>
              <a:rPr lang="en-US" dirty="0">
                <a:latin typeface="Cambria" pitchFamily="18" charset="0"/>
              </a:rPr>
              <a:t>4</a:t>
            </a:r>
            <a:r>
              <a:rPr lang="en-US" dirty="0"/>
              <a:t>, </a:t>
            </a:r>
            <a:r>
              <a:rPr lang="en-US" dirty="0" err="1"/>
              <a:t>deg</a:t>
            </a:r>
            <a:r>
              <a:rPr lang="en-US" dirty="0"/>
              <a:t>(</a:t>
            </a:r>
            <a:r>
              <a:rPr lang="en-US" i="1" dirty="0"/>
              <a:t>b</a:t>
            </a:r>
            <a:r>
              <a:rPr lang="en-US" dirty="0"/>
              <a:t>) = </a:t>
            </a:r>
            <a:r>
              <a:rPr lang="en-US" dirty="0" err="1"/>
              <a:t>deg</a:t>
            </a:r>
            <a:r>
              <a:rPr lang="en-US" dirty="0"/>
              <a:t>(</a:t>
            </a:r>
            <a:r>
              <a:rPr lang="en-US" i="1" dirty="0"/>
              <a:t>e</a:t>
            </a:r>
            <a:r>
              <a:rPr lang="en-US" dirty="0"/>
              <a:t>) = </a:t>
            </a:r>
            <a:r>
              <a:rPr lang="en-US" dirty="0">
                <a:latin typeface="Cambria" pitchFamily="18" charset="0"/>
              </a:rPr>
              <a:t>6</a:t>
            </a:r>
            <a:r>
              <a:rPr lang="en-US" dirty="0"/>
              <a:t>,  </a:t>
            </a:r>
            <a:r>
              <a:rPr lang="en-US" dirty="0" err="1"/>
              <a:t>deg</a:t>
            </a:r>
            <a:r>
              <a:rPr lang="en-US" dirty="0"/>
              <a:t>(</a:t>
            </a:r>
            <a:r>
              <a:rPr lang="en-US" i="1" dirty="0"/>
              <a:t>c</a:t>
            </a:r>
            <a:r>
              <a:rPr lang="en-US" dirty="0"/>
              <a:t>) = </a:t>
            </a:r>
            <a:r>
              <a:rPr lang="en-US" dirty="0">
                <a:latin typeface="Cambria" pitchFamily="18" charset="0"/>
              </a:rPr>
              <a:t>1,</a:t>
            </a:r>
            <a:r>
              <a:rPr lang="en-US" dirty="0"/>
              <a:t> </a:t>
            </a:r>
            <a:r>
              <a:rPr lang="en-US" dirty="0" err="1"/>
              <a:t>deg</a:t>
            </a:r>
            <a:r>
              <a:rPr lang="en-US" dirty="0"/>
              <a:t>(</a:t>
            </a:r>
            <a:r>
              <a:rPr lang="en-US" i="1" dirty="0"/>
              <a:t>d</a:t>
            </a:r>
            <a:r>
              <a:rPr lang="en-US" dirty="0"/>
              <a:t>) = </a:t>
            </a:r>
            <a:r>
              <a:rPr lang="en-US" dirty="0">
                <a:latin typeface="Cambria" pitchFamily="18" charset="0"/>
              </a:rPr>
              <a:t>5.  </a:t>
            </a:r>
          </a:p>
          <a:p>
            <a:pPr indent="0">
              <a:buNone/>
            </a:pPr>
            <a:r>
              <a:rPr lang="en-US" i="1" dirty="0">
                <a:latin typeface="Cambria" pitchFamily="18" charset="0"/>
              </a:rPr>
              <a:t>          </a:t>
            </a:r>
            <a:r>
              <a:rPr lang="en-US" i="1" dirty="0"/>
              <a:t>N</a:t>
            </a:r>
            <a:r>
              <a:rPr lang="en-US" dirty="0"/>
              <a:t>(</a:t>
            </a:r>
            <a:r>
              <a:rPr lang="en-US" i="1" dirty="0"/>
              <a:t>a</a:t>
            </a:r>
            <a:r>
              <a:rPr lang="en-US" dirty="0"/>
              <a:t>) = {</a:t>
            </a:r>
            <a:r>
              <a:rPr lang="en-US" i="1" dirty="0"/>
              <a:t>b, d, e</a:t>
            </a:r>
            <a:r>
              <a:rPr lang="en-US" dirty="0"/>
              <a:t>},  </a:t>
            </a:r>
            <a:r>
              <a:rPr lang="en-US" i="1" dirty="0"/>
              <a:t>N</a:t>
            </a:r>
            <a:r>
              <a:rPr lang="en-US" dirty="0"/>
              <a:t>(</a:t>
            </a:r>
            <a:r>
              <a:rPr lang="en-US" i="1" dirty="0"/>
              <a:t>b</a:t>
            </a:r>
            <a:r>
              <a:rPr lang="en-US" dirty="0"/>
              <a:t>) = {</a:t>
            </a:r>
            <a:r>
              <a:rPr lang="en-US" i="1" dirty="0"/>
              <a:t>a, b, c, d, e</a:t>
            </a:r>
            <a:r>
              <a:rPr lang="en-US" dirty="0"/>
              <a:t>},</a:t>
            </a:r>
            <a:r>
              <a:rPr lang="en-US" i="1" dirty="0"/>
              <a:t> N</a:t>
            </a:r>
            <a:r>
              <a:rPr lang="en-US" dirty="0"/>
              <a:t>(</a:t>
            </a:r>
            <a:r>
              <a:rPr lang="en-US" i="1" dirty="0"/>
              <a:t>c</a:t>
            </a:r>
            <a:r>
              <a:rPr lang="en-US" dirty="0"/>
              <a:t>) = {</a:t>
            </a:r>
            <a:r>
              <a:rPr lang="en-US" i="1" dirty="0"/>
              <a:t>b</a:t>
            </a:r>
            <a:r>
              <a:rPr lang="en-US" dirty="0"/>
              <a:t>},</a:t>
            </a:r>
            <a:r>
              <a:rPr lang="en-US" i="1" dirty="0"/>
              <a:t> </a:t>
            </a:r>
          </a:p>
          <a:p>
            <a:pPr indent="0">
              <a:buNone/>
            </a:pPr>
            <a:r>
              <a:rPr lang="en-US" i="1" dirty="0"/>
              <a:t>         N</a:t>
            </a:r>
            <a:r>
              <a:rPr lang="en-US" dirty="0"/>
              <a:t>(</a:t>
            </a:r>
            <a:r>
              <a:rPr lang="en-US" i="1" dirty="0"/>
              <a:t>d</a:t>
            </a:r>
            <a:r>
              <a:rPr lang="en-US" dirty="0"/>
              <a:t>) = {</a:t>
            </a:r>
            <a:r>
              <a:rPr lang="en-US" i="1" dirty="0"/>
              <a:t>a, b, e</a:t>
            </a:r>
            <a:r>
              <a:rPr lang="en-US" dirty="0"/>
              <a:t>},  </a:t>
            </a:r>
            <a:r>
              <a:rPr lang="en-US" i="1" dirty="0"/>
              <a:t>N</a:t>
            </a:r>
            <a:r>
              <a:rPr lang="en-US" dirty="0"/>
              <a:t>(</a:t>
            </a:r>
            <a:r>
              <a:rPr lang="en-US" i="1" dirty="0"/>
              <a:t>e</a:t>
            </a:r>
            <a:r>
              <a:rPr lang="en-US" dirty="0"/>
              <a:t>) = {</a:t>
            </a:r>
            <a:r>
              <a:rPr lang="en-US" i="1" dirty="0"/>
              <a:t>a, b ,d</a:t>
            </a:r>
            <a:r>
              <a:rPr lang="en-US" dirty="0"/>
              <a:t>}. </a:t>
            </a:r>
          </a:p>
          <a:p>
            <a:pPr marL="731520" indent="-457200"/>
            <a:endParaRPr lang="en-US" dirty="0"/>
          </a:p>
        </p:txBody>
      </p:sp>
      <p:pic>
        <p:nvPicPr>
          <p:cNvPr id="5"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19600" y="2514600"/>
            <a:ext cx="3849624" cy="1201674"/>
          </a:xfrm>
          <a:prstGeom prst="rect">
            <a:avLst/>
          </a:prstGeom>
        </p:spPr>
      </p:pic>
    </p:spTree>
    <p:extLst>
      <p:ext uri="{BB962C8B-B14F-4D97-AF65-F5344CB8AC3E}">
        <p14:creationId xmlns:p14="http://schemas.microsoft.com/office/powerpoint/2010/main" val="2319220400"/>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Degrees of Vertices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Autofit/>
              </a:bodyPr>
              <a:lstStyle/>
              <a:p>
                <a:pPr indent="0">
                  <a:buNone/>
                </a:pPr>
                <a:endParaRPr lang="en-US" sz="1200" dirty="0"/>
              </a:p>
              <a:p>
                <a:pPr indent="0">
                  <a:buNone/>
                </a:pPr>
                <a:r>
                  <a:rPr lang="en-US" sz="2000" b="1" dirty="0"/>
                  <a:t>Theorem </a:t>
                </a:r>
                <a:r>
                  <a:rPr lang="en-US" sz="2000" b="1" dirty="0">
                    <a:latin typeface="Cambria" pitchFamily="18" charset="0"/>
                  </a:rPr>
                  <a:t>1 </a:t>
                </a:r>
                <a:r>
                  <a:rPr lang="en-US" sz="2000" b="1" dirty="0"/>
                  <a:t>(</a:t>
                </a:r>
                <a:r>
                  <a:rPr lang="en-US" sz="2000" b="1" i="1" dirty="0"/>
                  <a:t>Handshaking Theorem</a:t>
                </a:r>
                <a:r>
                  <a:rPr lang="en-US" sz="2000" b="1" dirty="0"/>
                  <a:t>)</a:t>
                </a:r>
                <a:r>
                  <a:rPr lang="en-US" sz="2000" dirty="0"/>
                  <a:t>:  If  </a:t>
                </a:r>
                <a:r>
                  <a:rPr lang="en-US" sz="2000" i="1" dirty="0"/>
                  <a:t>G</a:t>
                </a:r>
                <a:r>
                  <a:rPr lang="en-US" sz="2000" dirty="0"/>
                  <a:t> = (</a:t>
                </a:r>
                <a:r>
                  <a:rPr lang="en-US" sz="2000" i="1" dirty="0"/>
                  <a:t>V</a:t>
                </a:r>
                <a:r>
                  <a:rPr lang="en-US" sz="2000" dirty="0"/>
                  <a:t>,</a:t>
                </a:r>
                <a:r>
                  <a:rPr lang="en-US" sz="2000" i="1" dirty="0"/>
                  <a:t>E</a:t>
                </a:r>
                <a:r>
                  <a:rPr lang="en-US" sz="2000" dirty="0"/>
                  <a:t>) is  an undirected graph with </a:t>
                </a:r>
                <a:r>
                  <a:rPr lang="en-US" sz="2000" i="1" dirty="0"/>
                  <a:t>m</a:t>
                </a:r>
                <a:r>
                  <a:rPr lang="en-US" sz="2000" dirty="0"/>
                  <a:t> edges, then</a:t>
                </a:r>
              </a:p>
              <a:p>
                <a:pPr>
                  <a:buNone/>
                </a:pPr>
                <a:endParaRPr lang="en-US" sz="2000" dirty="0"/>
              </a:p>
              <a:p>
                <a:pPr>
                  <a:buNone/>
                </a:pPr>
                <a14:m>
                  <m:oMathPara xmlns:m="http://schemas.openxmlformats.org/officeDocument/2006/math">
                    <m:oMathParaPr>
                      <m:jc m:val="centerGroup"/>
                    </m:oMathParaPr>
                    <m:oMath xmlns:m="http://schemas.openxmlformats.org/officeDocument/2006/math">
                      <m:r>
                        <a:rPr lang="en-US" sz="2000" i="1">
                          <a:latin typeface="Cambria Math"/>
                        </a:rPr>
                        <m:t>2</m:t>
                      </m:r>
                      <m:r>
                        <a:rPr lang="en-US" sz="2000" i="1">
                          <a:latin typeface="Cambria Math"/>
                        </a:rPr>
                        <m:t>𝑚</m:t>
                      </m:r>
                      <m:r>
                        <a:rPr lang="en-US" sz="2000" i="1">
                          <a:latin typeface="Cambria Math"/>
                        </a:rPr>
                        <m:t>=</m:t>
                      </m:r>
                      <m:nary>
                        <m:naryPr>
                          <m:chr m:val="∑"/>
                          <m:limLoc m:val="subSup"/>
                          <m:supHide m:val="on"/>
                          <m:ctrlPr>
                            <a:rPr lang="en-US" sz="2000" i="1">
                              <a:latin typeface="Cambria Math" panose="02040503050406030204" pitchFamily="18" charset="0"/>
                            </a:rPr>
                          </m:ctrlPr>
                        </m:naryPr>
                        <m:sub>
                          <m:r>
                            <m:rPr>
                              <m:brk m:alnAt="9"/>
                            </m:rPr>
                            <a:rPr lang="en-US" sz="2000" i="1">
                              <a:latin typeface="Cambria Math"/>
                            </a:rPr>
                            <m:t>𝑣</m:t>
                          </m:r>
                          <m:r>
                            <a:rPr lang="en-US" sz="2000" i="1">
                              <a:latin typeface="Cambria Math"/>
                              <a:ea typeface="Cambria Math"/>
                            </a:rPr>
                            <m:t>∈</m:t>
                          </m:r>
                          <m:r>
                            <a:rPr lang="en-US" sz="2000" i="1">
                              <a:latin typeface="Cambria Math"/>
                              <a:ea typeface="Cambria Math"/>
                            </a:rPr>
                            <m:t>𝑉</m:t>
                          </m:r>
                        </m:sub>
                        <m:sup/>
                        <m:e>
                          <m:r>
                            <m:rPr>
                              <m:sty m:val="p"/>
                            </m:rPr>
                            <a:rPr lang="en-US" sz="2000">
                              <a:latin typeface="Cambria Math"/>
                            </a:rPr>
                            <m:t>deg</m:t>
                          </m:r>
                          <m:r>
                            <a:rPr lang="en-US" sz="2000" i="1">
                              <a:latin typeface="Cambria Math"/>
                            </a:rPr>
                            <m:t>⁡(</m:t>
                          </m:r>
                          <m:r>
                            <a:rPr lang="en-US" sz="2000" i="1">
                              <a:latin typeface="Cambria Math"/>
                            </a:rPr>
                            <m:t>𝑣</m:t>
                          </m:r>
                          <m:r>
                            <a:rPr lang="en-US" sz="2000" i="1">
                              <a:latin typeface="Cambria Math"/>
                            </a:rPr>
                            <m:t>)</m:t>
                          </m:r>
                        </m:e>
                      </m:nary>
                    </m:oMath>
                  </m:oMathPara>
                </a14:m>
                <a:endParaRPr lang="en-US" sz="2000" dirty="0"/>
              </a:p>
              <a:p>
                <a:pPr marL="0" indent="0">
                  <a:buNone/>
                </a:pPr>
                <a:r>
                  <a:rPr lang="en-US" sz="2000" dirty="0"/>
                  <a:t>    </a:t>
                </a:r>
                <a:r>
                  <a:rPr lang="en-US" sz="2000" b="1" i="1" dirty="0"/>
                  <a:t>Proof</a:t>
                </a:r>
                <a:r>
                  <a:rPr lang="en-US" sz="2000" dirty="0"/>
                  <a:t>:</a:t>
                </a:r>
              </a:p>
              <a:p>
                <a:pPr>
                  <a:buNone/>
                </a:pPr>
                <a:r>
                  <a:rPr lang="en-US" sz="2000" dirty="0"/>
                  <a:t>    Each edge contributes twice to the degree count of all vertices. Hence, both the left-hand and right-hand sides of this equation equal twice the number of edges.</a:t>
                </a:r>
              </a:p>
              <a:p>
                <a:pPr>
                  <a:buNone/>
                </a:pPr>
                <a:endParaRPr lang="en-US" sz="1200" dirty="0"/>
              </a:p>
              <a:p>
                <a:pPr>
                  <a:buNone/>
                </a:pPr>
                <a:endParaRPr lang="en-US" sz="1200" dirty="0"/>
              </a:p>
              <a:p>
                <a:pPr>
                  <a:buNone/>
                </a:pPr>
                <a:r>
                  <a:rPr lang="en-US" sz="1200" i="1" dirty="0"/>
                  <a:t>      </a:t>
                </a:r>
                <a:r>
                  <a:rPr lang="en-US" sz="2000" i="1" dirty="0"/>
                  <a:t>Think about the graph where vertices represent the people at a party and an edge connects two people who have shaken hands.</a:t>
                </a:r>
              </a:p>
              <a:p>
                <a:pPr indent="0">
                  <a:buNone/>
                </a:pPr>
                <a:endParaRPr lang="en-US" sz="1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r="-1037" b="-833"/>
                </a:stretch>
              </a:blipFill>
            </p:spPr>
            <p:txBody>
              <a:bodyPr/>
              <a:lstStyle/>
              <a:p>
                <a:r>
                  <a:rPr lang="en-US">
                    <a:noFill/>
                  </a:rPr>
                  <a:t> </a:t>
                </a:r>
              </a:p>
            </p:txBody>
          </p:sp>
        </mc:Fallback>
      </mc:AlternateContent>
      <p:sp>
        <p:nvSpPr>
          <p:cNvPr id="5" name="Isosceles Triangle 4"/>
          <p:cNvSpPr/>
          <p:nvPr/>
        </p:nvSpPr>
        <p:spPr>
          <a:xfrm rot="5400000" flipV="1">
            <a:off x="8279296" y="4876800"/>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34432247"/>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Handshaking Theorem</a:t>
            </a:r>
          </a:p>
        </p:txBody>
      </p:sp>
      <p:sp>
        <p:nvSpPr>
          <p:cNvPr id="3" name="Content Placeholder 2"/>
          <p:cNvSpPr>
            <a:spLocks noGrp="1"/>
          </p:cNvSpPr>
          <p:nvPr>
            <p:ph idx="1"/>
          </p:nvPr>
        </p:nvSpPr>
        <p:spPr/>
        <p:txBody>
          <a:bodyPr>
            <a:normAutofit fontScale="85000" lnSpcReduction="20000"/>
          </a:bodyPr>
          <a:lstStyle/>
          <a:p>
            <a:pPr indent="0">
              <a:buNone/>
            </a:pPr>
            <a:r>
              <a:rPr lang="en-US" dirty="0"/>
              <a:t>We now give two examples illustrating the usefulness of the handshaking theorem.</a:t>
            </a:r>
          </a:p>
          <a:p>
            <a:pPr indent="0">
              <a:buNone/>
            </a:pPr>
            <a:endParaRPr lang="en-US" b="1" dirty="0"/>
          </a:p>
          <a:p>
            <a:pPr indent="0">
              <a:buNone/>
            </a:pPr>
            <a:r>
              <a:rPr lang="en-US" b="1" dirty="0"/>
              <a:t>Example</a:t>
            </a:r>
            <a:r>
              <a:rPr lang="en-US" dirty="0"/>
              <a:t>: How many edges are there in a graph with </a:t>
            </a:r>
            <a:r>
              <a:rPr lang="en-US" dirty="0">
                <a:latin typeface="Cambria" pitchFamily="18" charset="0"/>
              </a:rPr>
              <a:t>10</a:t>
            </a:r>
            <a:r>
              <a:rPr lang="en-US" dirty="0"/>
              <a:t> vertices of degree six?</a:t>
            </a:r>
          </a:p>
          <a:p>
            <a:pPr indent="0">
              <a:buNone/>
            </a:pPr>
            <a:r>
              <a:rPr lang="en-US" b="1" dirty="0"/>
              <a:t>Solution</a:t>
            </a:r>
            <a:r>
              <a:rPr lang="en-US" dirty="0"/>
              <a:t>: Because the sum of the degrees of the vertices is                </a:t>
            </a:r>
            <a:r>
              <a:rPr lang="en-US" dirty="0">
                <a:latin typeface="Cambria" pitchFamily="18" charset="0"/>
              </a:rPr>
              <a:t>6 </a:t>
            </a:r>
            <a:r>
              <a:rPr lang="en-US" dirty="0">
                <a:latin typeface="Cambria" pitchFamily="18" charset="0"/>
                <a:ea typeface="Cambria Math"/>
                <a:sym typeface="Symbol"/>
              </a:rPr>
              <a:t> </a:t>
            </a:r>
            <a:r>
              <a:rPr lang="en-US" dirty="0">
                <a:latin typeface="Cambria" pitchFamily="18" charset="0"/>
              </a:rPr>
              <a:t>10 </a:t>
            </a:r>
            <a:r>
              <a:rPr lang="en-US" dirty="0"/>
              <a:t>= </a:t>
            </a:r>
            <a:r>
              <a:rPr lang="en-US" dirty="0">
                <a:latin typeface="Cambria" pitchFamily="18" charset="0"/>
              </a:rPr>
              <a:t>60</a:t>
            </a:r>
            <a:r>
              <a:rPr lang="en-US" dirty="0"/>
              <a:t>, the handshaking theorem tells us that </a:t>
            </a:r>
            <a:r>
              <a:rPr lang="en-US" dirty="0">
                <a:latin typeface="Cambria" pitchFamily="18" charset="0"/>
              </a:rPr>
              <a:t>2</a:t>
            </a:r>
            <a:r>
              <a:rPr lang="en-US" i="1" dirty="0"/>
              <a:t>m</a:t>
            </a:r>
            <a:r>
              <a:rPr lang="en-US" dirty="0"/>
              <a:t> = </a:t>
            </a:r>
            <a:r>
              <a:rPr lang="en-US" dirty="0">
                <a:latin typeface="Cambria" pitchFamily="18" charset="0"/>
              </a:rPr>
              <a:t>60.             So the number of edges </a:t>
            </a:r>
            <a:r>
              <a:rPr lang="en-US" i="1" dirty="0"/>
              <a:t>m</a:t>
            </a:r>
            <a:r>
              <a:rPr lang="en-US" dirty="0">
                <a:latin typeface="Cambria" pitchFamily="18" charset="0"/>
              </a:rPr>
              <a:t> = 30.</a:t>
            </a:r>
          </a:p>
          <a:p>
            <a:pPr indent="0">
              <a:buNone/>
            </a:pPr>
            <a:endParaRPr lang="en-US" dirty="0"/>
          </a:p>
          <a:p>
            <a:pPr indent="0">
              <a:buNone/>
            </a:pPr>
            <a:r>
              <a:rPr lang="en-US" b="1" dirty="0"/>
              <a:t>Example</a:t>
            </a:r>
            <a:r>
              <a:rPr lang="en-US" dirty="0"/>
              <a:t>: If a graph has </a:t>
            </a:r>
            <a:r>
              <a:rPr lang="en-US" dirty="0">
                <a:latin typeface="Cambria" pitchFamily="18" charset="0"/>
              </a:rPr>
              <a:t>5</a:t>
            </a:r>
            <a:r>
              <a:rPr lang="en-US" dirty="0"/>
              <a:t> vertices, can each vertex have degree </a:t>
            </a:r>
            <a:r>
              <a:rPr lang="en-US" dirty="0">
                <a:latin typeface="Cambria" pitchFamily="18" charset="0"/>
              </a:rPr>
              <a:t>3</a:t>
            </a:r>
            <a:r>
              <a:rPr lang="en-US" dirty="0"/>
              <a:t>?</a:t>
            </a:r>
          </a:p>
          <a:p>
            <a:pPr indent="0">
              <a:buNone/>
            </a:pPr>
            <a:r>
              <a:rPr lang="en-US" b="1" dirty="0"/>
              <a:t>Solution</a:t>
            </a:r>
            <a:r>
              <a:rPr lang="en-US" dirty="0"/>
              <a:t>: This is not possible by the handshaking </a:t>
            </a:r>
            <a:r>
              <a:rPr lang="en-US" dirty="0" err="1"/>
              <a:t>thorem</a:t>
            </a:r>
            <a:r>
              <a:rPr lang="en-US" dirty="0"/>
              <a:t>, because the sum of the degrees of the vertices </a:t>
            </a:r>
            <a:r>
              <a:rPr lang="en-US" dirty="0">
                <a:latin typeface="Cambria" pitchFamily="18" charset="0"/>
              </a:rPr>
              <a:t>3</a:t>
            </a:r>
            <a:r>
              <a:rPr lang="en-US" dirty="0">
                <a:latin typeface="Cambria" pitchFamily="18" charset="0"/>
                <a:ea typeface="Cambria Math"/>
                <a:sym typeface="Symbol"/>
              </a:rPr>
              <a:t> </a:t>
            </a:r>
            <a:r>
              <a:rPr lang="en-US" dirty="0">
                <a:latin typeface="Cambria" pitchFamily="18" charset="0"/>
              </a:rPr>
              <a:t>  5 = 15 </a:t>
            </a:r>
            <a:r>
              <a:rPr lang="en-US" dirty="0"/>
              <a:t>is odd.</a:t>
            </a:r>
          </a:p>
          <a:p>
            <a:endParaRPr lang="en-US" dirty="0"/>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781812"/>
          </a:xfrm>
        </p:spPr>
        <p:txBody>
          <a:bodyPr>
            <a:normAutofit fontScale="90000"/>
          </a:bodyPr>
          <a:lstStyle/>
          <a:p>
            <a:r>
              <a:rPr lang="en-US" dirty="0"/>
              <a:t>Degree of Vertices (</a:t>
            </a:r>
            <a:r>
              <a:rPr lang="en-US" i="1" dirty="0"/>
              <a:t>continued</a:t>
            </a:r>
            <a:r>
              <a:rPr lang="en-US" dirty="0"/>
              <a:t>)</a:t>
            </a:r>
          </a:p>
        </p:txBody>
      </p:sp>
      <p:sp>
        <p:nvSpPr>
          <p:cNvPr id="3" name="Content Placeholder 2"/>
          <p:cNvSpPr>
            <a:spLocks noGrp="1"/>
          </p:cNvSpPr>
          <p:nvPr>
            <p:ph idx="1"/>
          </p:nvPr>
        </p:nvSpPr>
        <p:spPr>
          <a:xfrm>
            <a:off x="457200" y="1577876"/>
            <a:ext cx="8534400" cy="5127724"/>
          </a:xfrm>
        </p:spPr>
        <p:txBody>
          <a:bodyPr>
            <a:normAutofit/>
          </a:bodyPr>
          <a:lstStyle/>
          <a:p>
            <a:pPr indent="0">
              <a:buNone/>
            </a:pPr>
            <a:r>
              <a:rPr lang="en-US" b="1" dirty="0"/>
              <a:t>Theorem </a:t>
            </a:r>
            <a:r>
              <a:rPr lang="en-US" b="1" dirty="0">
                <a:latin typeface="Cambria" pitchFamily="18" charset="0"/>
              </a:rPr>
              <a:t>2</a:t>
            </a:r>
            <a:r>
              <a:rPr lang="en-US" b="1" dirty="0"/>
              <a:t>:</a:t>
            </a:r>
            <a:r>
              <a:rPr lang="en-US" dirty="0"/>
              <a:t> An undirected graph has an even number of vertices of odd degree.</a:t>
            </a:r>
          </a:p>
          <a:p>
            <a:pPr indent="0">
              <a:buNone/>
            </a:pPr>
            <a:r>
              <a:rPr lang="en-US" b="1" i="1" dirty="0"/>
              <a:t>Proof</a:t>
            </a:r>
            <a:r>
              <a:rPr lang="en-US" b="1" dirty="0"/>
              <a:t>: </a:t>
            </a:r>
            <a:r>
              <a:rPr lang="en-US" dirty="0"/>
              <a:t>Let </a:t>
            </a:r>
            <a:r>
              <a:rPr lang="en-US" i="1" dirty="0"/>
              <a:t>V</a:t>
            </a:r>
            <a:r>
              <a:rPr lang="en-US" baseline="-25000" dirty="0">
                <a:latin typeface="Cambria" pitchFamily="18" charset="0"/>
              </a:rPr>
              <a:t>1</a:t>
            </a:r>
            <a:r>
              <a:rPr lang="en-US" dirty="0"/>
              <a:t> be the vertices of even degree and </a:t>
            </a:r>
            <a:r>
              <a:rPr lang="en-US" i="1" dirty="0"/>
              <a:t>V</a:t>
            </a:r>
            <a:r>
              <a:rPr lang="en-US" baseline="-25000" dirty="0">
                <a:latin typeface="Cambria" pitchFamily="18" charset="0"/>
              </a:rPr>
              <a:t>2</a:t>
            </a:r>
            <a:r>
              <a:rPr lang="en-US" dirty="0"/>
              <a:t> be the vertices of odd degree in an undirected graph </a:t>
            </a:r>
            <a:r>
              <a:rPr lang="en-US" i="1" dirty="0"/>
              <a:t>G</a:t>
            </a:r>
            <a:r>
              <a:rPr lang="en-US" dirty="0"/>
              <a:t> = (</a:t>
            </a:r>
            <a:r>
              <a:rPr lang="en-US" i="1" dirty="0"/>
              <a:t>V</a:t>
            </a:r>
            <a:r>
              <a:rPr lang="en-US" dirty="0"/>
              <a:t>, </a:t>
            </a:r>
            <a:r>
              <a:rPr lang="en-US" i="1" dirty="0"/>
              <a:t>E</a:t>
            </a:r>
            <a:r>
              <a:rPr lang="en-US" dirty="0"/>
              <a:t>) with </a:t>
            </a:r>
            <a:r>
              <a:rPr lang="en-US" i="1" dirty="0"/>
              <a:t>m</a:t>
            </a:r>
            <a:r>
              <a:rPr lang="en-US" dirty="0"/>
              <a:t> edges. Then </a:t>
            </a:r>
          </a:p>
          <a:p>
            <a:pPr indent="0">
              <a:buNone/>
            </a:pPr>
            <a:r>
              <a:rPr lang="en-US" b="1" dirty="0"/>
              <a:t>       </a:t>
            </a:r>
          </a:p>
          <a:p>
            <a:pPr indent="0">
              <a:buNone/>
            </a:pPr>
            <a:endParaRPr lang="en-US" dirty="0"/>
          </a:p>
          <a:p>
            <a:pPr indent="0">
              <a:buNone/>
            </a:pPr>
            <a:endParaRPr lang="en-US" dirty="0"/>
          </a:p>
          <a:p>
            <a:pPr indent="0">
              <a:buNone/>
            </a:pPr>
            <a:endParaRPr lang="en-US" dirty="0"/>
          </a:p>
          <a:p>
            <a:pPr>
              <a:buNone/>
            </a:pPr>
            <a:r>
              <a:rPr lang="en-US" dirty="0"/>
              <a:t>    </a:t>
            </a:r>
            <a:r>
              <a:rPr lang="en-US" b="1" dirty="0"/>
              <a:t>  </a:t>
            </a:r>
          </a:p>
          <a:p>
            <a:pPr>
              <a:buNone/>
            </a:pPr>
            <a:r>
              <a:rPr lang="en-US" b="1" dirty="0"/>
              <a:t>   </a:t>
            </a:r>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524000" y="3886200"/>
            <a:ext cx="4954905" cy="571500"/>
          </a:xfrm>
          <a:prstGeom prst="rect">
            <a:avLst/>
          </a:prstGeom>
        </p:spPr>
      </p:pic>
      <p:sp>
        <p:nvSpPr>
          <p:cNvPr id="8" name="TextBox 7"/>
          <p:cNvSpPr txBox="1"/>
          <p:nvPr/>
        </p:nvSpPr>
        <p:spPr>
          <a:xfrm>
            <a:off x="3619500" y="4800599"/>
            <a:ext cx="1447800" cy="1477328"/>
          </a:xfrm>
          <a:prstGeom prst="rect">
            <a:avLst/>
          </a:prstGeom>
          <a:noFill/>
          <a:ln>
            <a:solidFill>
              <a:schemeClr val="accent1"/>
            </a:solidFill>
          </a:ln>
        </p:spPr>
        <p:txBody>
          <a:bodyPr wrap="square" rtlCol="0">
            <a:spAutoFit/>
          </a:bodyPr>
          <a:lstStyle/>
          <a:p>
            <a:r>
              <a:rPr lang="en-US" dirty="0"/>
              <a:t>must be even since </a:t>
            </a:r>
            <a:r>
              <a:rPr lang="en-US" dirty="0" err="1"/>
              <a:t>deg</a:t>
            </a:r>
            <a:r>
              <a:rPr lang="en-US" dirty="0"/>
              <a:t>(</a:t>
            </a:r>
            <a:r>
              <a:rPr lang="en-US" i="1" dirty="0"/>
              <a:t>v</a:t>
            </a:r>
            <a:r>
              <a:rPr lang="en-US" dirty="0"/>
              <a:t>) is even for each </a:t>
            </a:r>
            <a:r>
              <a:rPr lang="en-US" i="1" dirty="0"/>
              <a:t>v</a:t>
            </a:r>
            <a:r>
              <a:rPr lang="en-US" dirty="0"/>
              <a:t> </a:t>
            </a:r>
            <a:r>
              <a:rPr lang="en-US" dirty="0">
                <a:latin typeface="Cambria Math"/>
                <a:ea typeface="Cambria Math"/>
              </a:rPr>
              <a:t>∈ </a:t>
            </a:r>
            <a:r>
              <a:rPr lang="en-US" i="1" dirty="0">
                <a:latin typeface="Cambria" pitchFamily="18" charset="0"/>
                <a:ea typeface="Cambria Math"/>
              </a:rPr>
              <a:t>V</a:t>
            </a:r>
            <a:r>
              <a:rPr lang="en-US" baseline="-25000" dirty="0">
                <a:latin typeface="Cambria Math"/>
                <a:ea typeface="Cambria Math"/>
              </a:rPr>
              <a:t>1</a:t>
            </a:r>
            <a:endParaRPr lang="en-US" baseline="-25000" dirty="0"/>
          </a:p>
        </p:txBody>
      </p:sp>
      <p:cxnSp>
        <p:nvCxnSpPr>
          <p:cNvPr id="11" name="Straight Arrow Connector 10"/>
          <p:cNvCxnSpPr/>
          <p:nvPr/>
        </p:nvCxnSpPr>
        <p:spPr>
          <a:xfrm flipV="1">
            <a:off x="4343400" y="4267200"/>
            <a:ext cx="0" cy="53339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228600" y="3802618"/>
            <a:ext cx="838200" cy="369332"/>
          </a:xfrm>
          <a:prstGeom prst="rect">
            <a:avLst/>
          </a:prstGeom>
          <a:noFill/>
        </p:spPr>
        <p:txBody>
          <a:bodyPr wrap="square" rtlCol="0">
            <a:spAutoFit/>
          </a:bodyPr>
          <a:lstStyle/>
          <a:p>
            <a:r>
              <a:rPr lang="en-US" dirty="0"/>
              <a:t>even</a:t>
            </a:r>
          </a:p>
        </p:txBody>
      </p:sp>
      <p:cxnSp>
        <p:nvCxnSpPr>
          <p:cNvPr id="14" name="Straight Arrow Connector 13"/>
          <p:cNvCxnSpPr/>
          <p:nvPr/>
        </p:nvCxnSpPr>
        <p:spPr>
          <a:xfrm>
            <a:off x="914400" y="3987284"/>
            <a:ext cx="348774"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257800" y="4549676"/>
            <a:ext cx="3733800" cy="2031325"/>
          </a:xfrm>
          <a:prstGeom prst="rect">
            <a:avLst/>
          </a:prstGeom>
          <a:noFill/>
          <a:ln>
            <a:solidFill>
              <a:schemeClr val="accent1"/>
            </a:solidFill>
          </a:ln>
        </p:spPr>
        <p:txBody>
          <a:bodyPr wrap="square" rtlCol="0">
            <a:spAutoFit/>
          </a:bodyPr>
          <a:lstStyle/>
          <a:p>
            <a:r>
              <a:rPr lang="en-US" dirty="0"/>
              <a:t>This sum must be even because </a:t>
            </a:r>
            <a:r>
              <a:rPr lang="en-US" dirty="0">
                <a:latin typeface="Cambria Math" pitchFamily="18" charset="0"/>
                <a:ea typeface="Cambria Math" pitchFamily="18" charset="0"/>
              </a:rPr>
              <a:t>2</a:t>
            </a:r>
            <a:r>
              <a:rPr lang="en-US" i="1" dirty="0"/>
              <a:t>m</a:t>
            </a:r>
            <a:r>
              <a:rPr lang="en-US" dirty="0"/>
              <a:t> is even and the sum of the degrees of the vertices of even degrees is also even. Because this is the sum of the degrees of all vertices of odd degree in the graph, there must be an even number of such vertices.</a:t>
            </a:r>
          </a:p>
        </p:txBody>
      </p:sp>
      <p:cxnSp>
        <p:nvCxnSpPr>
          <p:cNvPr id="17" name="Straight Arrow Connector 16"/>
          <p:cNvCxnSpPr/>
          <p:nvPr/>
        </p:nvCxnSpPr>
        <p:spPr>
          <a:xfrm flipH="1" flipV="1">
            <a:off x="6324600" y="4267200"/>
            <a:ext cx="457200" cy="1905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Directed Graphs and relations</a:t>
            </a:r>
          </a:p>
        </p:txBody>
      </p:sp>
      <p:sp>
        <p:nvSpPr>
          <p:cNvPr id="3" name="Content Placeholder 2"/>
          <p:cNvSpPr>
            <a:spLocks noGrp="1"/>
          </p:cNvSpPr>
          <p:nvPr>
            <p:ph idx="1"/>
          </p:nvPr>
        </p:nvSpPr>
        <p:spPr>
          <a:xfrm>
            <a:off x="381000" y="2209800"/>
            <a:ext cx="8229600" cy="4389120"/>
          </a:xfrm>
        </p:spPr>
        <p:txBody>
          <a:bodyPr>
            <a:normAutofit lnSpcReduction="10000"/>
          </a:bodyPr>
          <a:lstStyle/>
          <a:p>
            <a:pPr indent="0">
              <a:buNone/>
            </a:pPr>
            <a:endParaRPr lang="en-US" b="1" dirty="0"/>
          </a:p>
          <a:p>
            <a:pPr indent="0">
              <a:buNone/>
            </a:pPr>
            <a:r>
              <a:rPr lang="en-US" b="1" dirty="0"/>
              <a:t>Definition:</a:t>
            </a:r>
            <a:r>
              <a:rPr lang="en-US" dirty="0"/>
              <a:t> An </a:t>
            </a:r>
            <a:r>
              <a:rPr lang="en-US" i="1" dirty="0"/>
              <a:t>directed graph G = </a:t>
            </a:r>
            <a:r>
              <a:rPr lang="en-US" dirty="0"/>
              <a:t>(</a:t>
            </a:r>
            <a:r>
              <a:rPr lang="en-US" i="1" dirty="0"/>
              <a:t>V, E) </a:t>
            </a:r>
            <a:r>
              <a:rPr lang="en-US" dirty="0"/>
              <a:t>consists of </a:t>
            </a:r>
            <a:r>
              <a:rPr lang="en-US" i="1" dirty="0"/>
              <a:t>V, </a:t>
            </a:r>
            <a:r>
              <a:rPr lang="en-US" dirty="0"/>
              <a:t>a nonempty set of </a:t>
            </a:r>
            <a:r>
              <a:rPr lang="en-US" i="1" dirty="0"/>
              <a:t>vertices </a:t>
            </a:r>
            <a:r>
              <a:rPr lang="en-US" dirty="0"/>
              <a:t>(or </a:t>
            </a:r>
            <a:r>
              <a:rPr lang="en-US" i="1" dirty="0"/>
              <a:t>nodes</a:t>
            </a:r>
            <a:r>
              <a:rPr lang="en-US" dirty="0"/>
              <a:t>), and </a:t>
            </a:r>
            <a:r>
              <a:rPr lang="en-US" i="1" dirty="0"/>
              <a:t>E, </a:t>
            </a:r>
            <a:r>
              <a:rPr lang="en-US" dirty="0"/>
              <a:t>a set of </a:t>
            </a:r>
            <a:r>
              <a:rPr lang="en-US" i="1" dirty="0"/>
              <a:t>directed edges </a:t>
            </a:r>
            <a:r>
              <a:rPr lang="en-US" dirty="0"/>
              <a:t>or </a:t>
            </a:r>
            <a:r>
              <a:rPr lang="en-US" i="1" dirty="0"/>
              <a:t>arcs. </a:t>
            </a:r>
            <a:r>
              <a:rPr lang="en-US" dirty="0"/>
              <a:t>Each edge is an ordered pair of vertices.  The directed  edge (</a:t>
            </a:r>
            <a:r>
              <a:rPr lang="en-US" i="1" dirty="0" err="1"/>
              <a:t>u</a:t>
            </a:r>
            <a:r>
              <a:rPr lang="en-US" dirty="0" err="1"/>
              <a:t>,</a:t>
            </a:r>
            <a:r>
              <a:rPr lang="en-US" i="1" dirty="0" err="1"/>
              <a:t>v</a:t>
            </a:r>
            <a:r>
              <a:rPr lang="en-US" dirty="0"/>
              <a:t>) is said to start at </a:t>
            </a:r>
            <a:r>
              <a:rPr lang="en-US" i="1" dirty="0"/>
              <a:t>u</a:t>
            </a:r>
            <a:r>
              <a:rPr lang="en-US" dirty="0"/>
              <a:t> and end at </a:t>
            </a:r>
            <a:r>
              <a:rPr lang="en-US" i="1" dirty="0"/>
              <a:t>v</a:t>
            </a:r>
            <a:r>
              <a:rPr lang="en-US" dirty="0"/>
              <a:t>.</a:t>
            </a:r>
          </a:p>
          <a:p>
            <a:pPr indent="0">
              <a:buNone/>
            </a:pPr>
            <a:r>
              <a:rPr lang="en-US" b="1" dirty="0"/>
              <a:t>Definition</a:t>
            </a:r>
            <a:r>
              <a:rPr lang="en-US" dirty="0"/>
              <a:t>:  Let (</a:t>
            </a:r>
            <a:r>
              <a:rPr lang="en-US" i="1" dirty="0" err="1"/>
              <a:t>u,v</a:t>
            </a:r>
            <a:r>
              <a:rPr lang="en-US" dirty="0"/>
              <a:t>)</a:t>
            </a:r>
            <a:r>
              <a:rPr lang="en-US" i="1" dirty="0"/>
              <a:t> </a:t>
            </a:r>
            <a:r>
              <a:rPr lang="en-US" dirty="0"/>
              <a:t>be an edge in </a:t>
            </a:r>
            <a:r>
              <a:rPr lang="en-US" i="1" dirty="0"/>
              <a:t>G</a:t>
            </a:r>
            <a:r>
              <a:rPr lang="en-US" dirty="0"/>
              <a:t>. Then </a:t>
            </a:r>
            <a:r>
              <a:rPr lang="en-US" i="1" dirty="0"/>
              <a:t>u</a:t>
            </a:r>
            <a:r>
              <a:rPr lang="en-US" dirty="0"/>
              <a:t> is the </a:t>
            </a:r>
            <a:r>
              <a:rPr lang="en-US" i="1" dirty="0"/>
              <a:t>initial vertex </a:t>
            </a:r>
            <a:r>
              <a:rPr lang="en-US" dirty="0"/>
              <a:t>of this edge and is </a:t>
            </a:r>
            <a:r>
              <a:rPr lang="en-US" i="1" dirty="0"/>
              <a:t>adjacent to v </a:t>
            </a:r>
            <a:r>
              <a:rPr lang="en-US" dirty="0"/>
              <a:t>and </a:t>
            </a:r>
            <a:r>
              <a:rPr lang="en-US" i="1" dirty="0"/>
              <a:t>v </a:t>
            </a:r>
            <a:r>
              <a:rPr lang="en-US" dirty="0"/>
              <a:t>is the </a:t>
            </a:r>
            <a:r>
              <a:rPr lang="en-US" i="1" dirty="0"/>
              <a:t>terminal </a:t>
            </a:r>
            <a:r>
              <a:rPr lang="en-US" dirty="0"/>
              <a:t>(or </a:t>
            </a:r>
            <a:r>
              <a:rPr lang="en-US" i="1" dirty="0"/>
              <a:t>end</a:t>
            </a:r>
            <a:r>
              <a:rPr lang="en-US" dirty="0"/>
              <a:t>)</a:t>
            </a:r>
            <a:r>
              <a:rPr lang="en-US" i="1" dirty="0"/>
              <a:t> vertex </a:t>
            </a:r>
            <a:r>
              <a:rPr lang="en-US" dirty="0"/>
              <a:t>of this edge and is </a:t>
            </a:r>
            <a:r>
              <a:rPr lang="en-US" i="1" dirty="0"/>
              <a:t>adjacent from u</a:t>
            </a:r>
            <a:r>
              <a:rPr lang="en-US" dirty="0"/>
              <a:t>. The initial and terminal vertices of a loop are the same.</a:t>
            </a:r>
          </a:p>
          <a:p>
            <a:pPr indent="0">
              <a:buNone/>
            </a:pPr>
            <a:endParaRPr lang="en-US" i="1" dirty="0"/>
          </a:p>
        </p:txBody>
      </p:sp>
      <p:sp>
        <p:nvSpPr>
          <p:cNvPr id="4" name="TextBox 3"/>
          <p:cNvSpPr txBox="1"/>
          <p:nvPr/>
        </p:nvSpPr>
        <p:spPr>
          <a:xfrm>
            <a:off x="685800" y="1905000"/>
            <a:ext cx="8295861" cy="461665"/>
          </a:xfrm>
          <a:prstGeom prst="rect">
            <a:avLst/>
          </a:prstGeom>
          <a:noFill/>
        </p:spPr>
        <p:txBody>
          <a:bodyPr wrap="square" rtlCol="0">
            <a:spAutoFit/>
          </a:bodyPr>
          <a:lstStyle/>
          <a:p>
            <a:r>
              <a:rPr lang="en-US" sz="2400" dirty="0"/>
              <a:t>Recall the definition of a directed graph.</a:t>
            </a: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Directed Graphs (</a:t>
            </a:r>
            <a:r>
              <a:rPr lang="en-US" i="1" dirty="0"/>
              <a:t>continued</a:t>
            </a:r>
            <a:r>
              <a:rPr lang="en-US" dirty="0"/>
              <a:t>)</a:t>
            </a:r>
          </a:p>
        </p:txBody>
      </p:sp>
      <p:sp>
        <p:nvSpPr>
          <p:cNvPr id="3" name="Content Placeholder 2"/>
          <p:cNvSpPr>
            <a:spLocks noGrp="1"/>
          </p:cNvSpPr>
          <p:nvPr>
            <p:ph idx="1"/>
          </p:nvPr>
        </p:nvSpPr>
        <p:spPr/>
        <p:txBody>
          <a:bodyPr/>
          <a:lstStyle/>
          <a:p>
            <a:pPr indent="0">
              <a:buNone/>
            </a:pPr>
            <a:r>
              <a:rPr lang="en-US" b="1" dirty="0"/>
              <a:t>Definition:</a:t>
            </a:r>
            <a:r>
              <a:rPr lang="en-US" dirty="0"/>
              <a:t>  The </a:t>
            </a:r>
            <a:r>
              <a:rPr lang="en-US" i="1" dirty="0"/>
              <a:t>in-degree of a vertex v</a:t>
            </a:r>
            <a:r>
              <a:rPr lang="en-US" dirty="0"/>
              <a:t>, denoted        </a:t>
            </a:r>
            <a:r>
              <a:rPr lang="en-US" i="1" dirty="0" err="1"/>
              <a:t>deg</a:t>
            </a:r>
            <a:r>
              <a:rPr lang="en-US" i="1" baseline="30000" dirty="0">
                <a:latin typeface="Cambria Math"/>
                <a:ea typeface="Cambria Math"/>
              </a:rPr>
              <a:t>−</a:t>
            </a:r>
            <a:r>
              <a:rPr lang="en-US" dirty="0"/>
              <a:t>(</a:t>
            </a:r>
            <a:r>
              <a:rPr lang="en-US" i="1" dirty="0"/>
              <a:t>v</a:t>
            </a:r>
            <a:r>
              <a:rPr lang="en-US" dirty="0"/>
              <a:t>), is the number of edges which terminate at </a:t>
            </a:r>
            <a:r>
              <a:rPr lang="en-US" i="1" dirty="0"/>
              <a:t>v</a:t>
            </a:r>
            <a:r>
              <a:rPr lang="en-US" dirty="0"/>
              <a:t>. The </a:t>
            </a:r>
            <a:r>
              <a:rPr lang="en-US" i="1" dirty="0"/>
              <a:t>out-degree of v</a:t>
            </a:r>
            <a:r>
              <a:rPr lang="en-US" dirty="0"/>
              <a:t>, denoted </a:t>
            </a:r>
            <a:r>
              <a:rPr lang="en-US" i="1" dirty="0"/>
              <a:t>deg</a:t>
            </a:r>
            <a:r>
              <a:rPr lang="en-US" i="1" baseline="30000" dirty="0"/>
              <a:t>+</a:t>
            </a:r>
            <a:r>
              <a:rPr lang="en-US" dirty="0"/>
              <a:t>(</a:t>
            </a:r>
            <a:r>
              <a:rPr lang="en-US" i="1" dirty="0"/>
              <a:t>v</a:t>
            </a:r>
            <a:r>
              <a:rPr lang="en-US" dirty="0"/>
              <a:t>)</a:t>
            </a:r>
            <a:r>
              <a:rPr lang="en-US" i="1" dirty="0"/>
              <a:t>, </a:t>
            </a:r>
            <a:r>
              <a:rPr lang="en-US" dirty="0"/>
              <a:t>is the number of edges with </a:t>
            </a:r>
            <a:r>
              <a:rPr lang="en-US" i="1" dirty="0"/>
              <a:t>v</a:t>
            </a:r>
            <a:r>
              <a:rPr lang="en-US" dirty="0"/>
              <a:t> as their initial vertex. Note that a loop at a vertex contributes </a:t>
            </a:r>
            <a:r>
              <a:rPr lang="en-US" dirty="0">
                <a:latin typeface="Cambria" pitchFamily="18" charset="0"/>
              </a:rPr>
              <a:t>1 </a:t>
            </a:r>
            <a:r>
              <a:rPr lang="en-US" dirty="0"/>
              <a:t>to both the in-degree and the out-degree of the vertex.</a:t>
            </a:r>
          </a:p>
          <a:p>
            <a:pPr indent="0">
              <a:buNone/>
            </a:pPr>
            <a:r>
              <a:rPr lang="en-US" b="1" dirty="0"/>
              <a:t>Example:  </a:t>
            </a:r>
            <a:r>
              <a:rPr lang="en-US" dirty="0"/>
              <a:t>In the graph </a:t>
            </a:r>
            <a:r>
              <a:rPr lang="en-US" i="1" dirty="0"/>
              <a:t>G</a:t>
            </a:r>
            <a:r>
              <a:rPr lang="en-US" dirty="0"/>
              <a:t> we have</a:t>
            </a:r>
            <a:endParaRPr lang="en-US" b="1"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66800" y="5217635"/>
            <a:ext cx="1730502" cy="1140714"/>
          </a:xfrm>
          <a:prstGeom prst="rect">
            <a:avLst/>
          </a:prstGeom>
        </p:spPr>
      </p:pic>
      <p:sp>
        <p:nvSpPr>
          <p:cNvPr id="5" name="TextBox 4"/>
          <p:cNvSpPr txBox="1"/>
          <p:nvPr/>
        </p:nvSpPr>
        <p:spPr>
          <a:xfrm>
            <a:off x="2971800" y="4958080"/>
            <a:ext cx="5791200" cy="923330"/>
          </a:xfrm>
          <a:prstGeom prst="rect">
            <a:avLst/>
          </a:prstGeom>
          <a:noFill/>
        </p:spPr>
        <p:txBody>
          <a:bodyPr wrap="square" rtlCol="0">
            <a:spAutoFit/>
          </a:bodyPr>
          <a:lstStyle/>
          <a:p>
            <a:r>
              <a:rPr lang="en-US" dirty="0" err="1"/>
              <a:t>deg</a:t>
            </a:r>
            <a:r>
              <a:rPr lang="en-US" i="1" baseline="30000" dirty="0">
                <a:latin typeface="Cambria Math"/>
                <a:ea typeface="Cambria Math"/>
              </a:rPr>
              <a:t>−</a:t>
            </a:r>
            <a:r>
              <a:rPr lang="en-US" dirty="0"/>
              <a:t>(</a:t>
            </a:r>
            <a:r>
              <a:rPr lang="en-US" i="1" dirty="0"/>
              <a:t>a</a:t>
            </a:r>
            <a:r>
              <a:rPr lang="en-US" dirty="0"/>
              <a:t>) = </a:t>
            </a:r>
            <a:r>
              <a:rPr lang="en-US" dirty="0">
                <a:latin typeface="Cambria" pitchFamily="18" charset="0"/>
              </a:rPr>
              <a:t>2, </a:t>
            </a:r>
            <a:r>
              <a:rPr lang="en-US" dirty="0" err="1"/>
              <a:t>deg</a:t>
            </a:r>
            <a:r>
              <a:rPr lang="en-US" i="1" baseline="30000" dirty="0">
                <a:latin typeface="Cambria Math"/>
                <a:ea typeface="Cambria Math"/>
              </a:rPr>
              <a:t>−</a:t>
            </a:r>
            <a:r>
              <a:rPr lang="en-US" dirty="0"/>
              <a:t>(</a:t>
            </a:r>
            <a:r>
              <a:rPr lang="en-US" i="1" dirty="0"/>
              <a:t>b</a:t>
            </a:r>
            <a:r>
              <a:rPr lang="en-US" dirty="0"/>
              <a:t>) = </a:t>
            </a:r>
            <a:r>
              <a:rPr lang="en-US" dirty="0">
                <a:latin typeface="Cambria" pitchFamily="18" charset="0"/>
              </a:rPr>
              <a:t>2</a:t>
            </a:r>
            <a:r>
              <a:rPr lang="en-US" dirty="0"/>
              <a:t>, </a:t>
            </a:r>
            <a:r>
              <a:rPr lang="en-US" dirty="0" err="1"/>
              <a:t>deg</a:t>
            </a:r>
            <a:r>
              <a:rPr lang="en-US" i="1" baseline="30000" dirty="0">
                <a:latin typeface="Cambria Math"/>
                <a:ea typeface="Cambria Math"/>
              </a:rPr>
              <a:t>−</a:t>
            </a:r>
            <a:r>
              <a:rPr lang="en-US" dirty="0"/>
              <a:t>(</a:t>
            </a:r>
            <a:r>
              <a:rPr lang="en-US" i="1" dirty="0"/>
              <a:t>c</a:t>
            </a:r>
            <a:r>
              <a:rPr lang="en-US" dirty="0"/>
              <a:t>) = </a:t>
            </a:r>
            <a:r>
              <a:rPr lang="en-US" dirty="0">
                <a:latin typeface="Cambria" pitchFamily="18" charset="0"/>
              </a:rPr>
              <a:t>3, </a:t>
            </a:r>
            <a:r>
              <a:rPr lang="en-US" dirty="0" err="1"/>
              <a:t>deg</a:t>
            </a:r>
            <a:r>
              <a:rPr lang="en-US" i="1" baseline="30000" dirty="0">
                <a:latin typeface="Cambria Math"/>
                <a:ea typeface="Cambria Math"/>
              </a:rPr>
              <a:t>−</a:t>
            </a:r>
            <a:r>
              <a:rPr lang="en-US" dirty="0"/>
              <a:t>(</a:t>
            </a:r>
            <a:r>
              <a:rPr lang="en-US" i="1" dirty="0"/>
              <a:t>d</a:t>
            </a:r>
            <a:r>
              <a:rPr lang="en-US" dirty="0"/>
              <a:t>) = </a:t>
            </a:r>
            <a:r>
              <a:rPr lang="en-US" dirty="0">
                <a:latin typeface="Cambria" pitchFamily="18" charset="0"/>
              </a:rPr>
              <a:t>2</a:t>
            </a:r>
            <a:r>
              <a:rPr lang="en-US" dirty="0"/>
              <a:t>, </a:t>
            </a:r>
          </a:p>
          <a:p>
            <a:r>
              <a:rPr lang="en-US" dirty="0"/>
              <a:t>    </a:t>
            </a:r>
            <a:r>
              <a:rPr lang="en-US" dirty="0" err="1"/>
              <a:t>deg</a:t>
            </a:r>
            <a:r>
              <a:rPr lang="en-US" i="1" baseline="30000" dirty="0">
                <a:latin typeface="Cambria Math"/>
                <a:ea typeface="Cambria Math"/>
              </a:rPr>
              <a:t>−</a:t>
            </a:r>
            <a:r>
              <a:rPr lang="en-US" dirty="0"/>
              <a:t>(</a:t>
            </a:r>
            <a:r>
              <a:rPr lang="en-US" i="1" dirty="0"/>
              <a:t>e</a:t>
            </a:r>
            <a:r>
              <a:rPr lang="en-US" dirty="0"/>
              <a:t>) = </a:t>
            </a:r>
            <a:r>
              <a:rPr lang="en-US" dirty="0">
                <a:latin typeface="Cambria" pitchFamily="18" charset="0"/>
              </a:rPr>
              <a:t>3</a:t>
            </a:r>
            <a:r>
              <a:rPr lang="en-US" dirty="0"/>
              <a:t>, </a:t>
            </a:r>
            <a:r>
              <a:rPr lang="en-US" dirty="0" err="1"/>
              <a:t>deg</a:t>
            </a:r>
            <a:r>
              <a:rPr lang="en-US" i="1" baseline="30000" dirty="0">
                <a:latin typeface="Cambria Math"/>
                <a:ea typeface="Cambria Math"/>
              </a:rPr>
              <a:t>−</a:t>
            </a:r>
            <a:r>
              <a:rPr lang="en-US" dirty="0"/>
              <a:t>(</a:t>
            </a:r>
            <a:r>
              <a:rPr lang="en-US" i="1" dirty="0"/>
              <a:t>f</a:t>
            </a:r>
            <a:r>
              <a:rPr lang="en-US" dirty="0"/>
              <a:t>) = </a:t>
            </a:r>
            <a:r>
              <a:rPr lang="en-US" dirty="0">
                <a:latin typeface="Cambria" pitchFamily="18" charset="0"/>
              </a:rPr>
              <a:t>0</a:t>
            </a:r>
            <a:r>
              <a:rPr lang="en-US" dirty="0"/>
              <a:t>.</a:t>
            </a:r>
          </a:p>
          <a:p>
            <a:endParaRPr lang="en-US" dirty="0"/>
          </a:p>
        </p:txBody>
      </p:sp>
      <p:sp>
        <p:nvSpPr>
          <p:cNvPr id="6" name="TextBox 5"/>
          <p:cNvSpPr txBox="1"/>
          <p:nvPr/>
        </p:nvSpPr>
        <p:spPr>
          <a:xfrm>
            <a:off x="2971800" y="5787992"/>
            <a:ext cx="5638800" cy="923330"/>
          </a:xfrm>
          <a:prstGeom prst="rect">
            <a:avLst/>
          </a:prstGeom>
          <a:noFill/>
        </p:spPr>
        <p:txBody>
          <a:bodyPr wrap="square" rtlCol="0">
            <a:spAutoFit/>
          </a:bodyPr>
          <a:lstStyle/>
          <a:p>
            <a:r>
              <a:rPr lang="en-US" dirty="0" err="1"/>
              <a:t>deg</a:t>
            </a:r>
            <a:r>
              <a:rPr lang="en-US" baseline="30000" dirty="0">
                <a:latin typeface="Cambria Math"/>
                <a:ea typeface="Cambria Math"/>
              </a:rPr>
              <a:t>+</a:t>
            </a:r>
            <a:r>
              <a:rPr lang="en-US" dirty="0"/>
              <a:t>(</a:t>
            </a:r>
            <a:r>
              <a:rPr lang="en-US" i="1" dirty="0"/>
              <a:t>a</a:t>
            </a:r>
            <a:r>
              <a:rPr lang="en-US" dirty="0"/>
              <a:t>) = </a:t>
            </a:r>
            <a:r>
              <a:rPr lang="en-US" dirty="0">
                <a:latin typeface="Cambria" pitchFamily="18" charset="0"/>
              </a:rPr>
              <a:t>4, </a:t>
            </a:r>
            <a:r>
              <a:rPr lang="en-US" dirty="0" err="1"/>
              <a:t>deg</a:t>
            </a:r>
            <a:r>
              <a:rPr lang="en-US" baseline="30000" dirty="0">
                <a:latin typeface="Cambria Math"/>
                <a:ea typeface="Cambria Math"/>
              </a:rPr>
              <a:t>+</a:t>
            </a:r>
            <a:r>
              <a:rPr lang="en-US" dirty="0"/>
              <a:t>(</a:t>
            </a:r>
            <a:r>
              <a:rPr lang="en-US" i="1" dirty="0"/>
              <a:t>b</a:t>
            </a:r>
            <a:r>
              <a:rPr lang="en-US" dirty="0"/>
              <a:t>) = </a:t>
            </a:r>
            <a:r>
              <a:rPr lang="en-US" dirty="0">
                <a:latin typeface="Cambria" pitchFamily="18" charset="0"/>
              </a:rPr>
              <a:t>1</a:t>
            </a:r>
            <a:r>
              <a:rPr lang="en-US" dirty="0"/>
              <a:t>, </a:t>
            </a:r>
            <a:r>
              <a:rPr lang="en-US" dirty="0" err="1"/>
              <a:t>deg</a:t>
            </a:r>
            <a:r>
              <a:rPr lang="en-US" baseline="30000" dirty="0">
                <a:latin typeface="Cambria Math"/>
                <a:ea typeface="Cambria Math"/>
              </a:rPr>
              <a:t>+</a:t>
            </a:r>
            <a:r>
              <a:rPr lang="en-US" dirty="0"/>
              <a:t>(</a:t>
            </a:r>
            <a:r>
              <a:rPr lang="en-US" i="1" dirty="0"/>
              <a:t>c</a:t>
            </a:r>
            <a:r>
              <a:rPr lang="en-US" dirty="0"/>
              <a:t>) = </a:t>
            </a:r>
            <a:r>
              <a:rPr lang="en-US" dirty="0">
                <a:latin typeface="Cambria" pitchFamily="18" charset="0"/>
              </a:rPr>
              <a:t>2, </a:t>
            </a:r>
            <a:r>
              <a:rPr lang="en-US" dirty="0" err="1"/>
              <a:t>deg</a:t>
            </a:r>
            <a:r>
              <a:rPr lang="en-US" baseline="30000" dirty="0">
                <a:latin typeface="Cambria Math"/>
                <a:ea typeface="Cambria Math"/>
              </a:rPr>
              <a:t>+</a:t>
            </a:r>
            <a:r>
              <a:rPr lang="en-US" dirty="0"/>
              <a:t>(</a:t>
            </a:r>
            <a:r>
              <a:rPr lang="en-US" i="1" dirty="0"/>
              <a:t>d</a:t>
            </a:r>
            <a:r>
              <a:rPr lang="en-US" dirty="0"/>
              <a:t>) = </a:t>
            </a:r>
            <a:r>
              <a:rPr lang="en-US" dirty="0">
                <a:latin typeface="Cambria" pitchFamily="18" charset="0"/>
              </a:rPr>
              <a:t>2</a:t>
            </a:r>
            <a:r>
              <a:rPr lang="en-US" dirty="0"/>
              <a:t>, </a:t>
            </a:r>
          </a:p>
          <a:p>
            <a:r>
              <a:rPr lang="en-US" dirty="0"/>
              <a:t>    </a:t>
            </a:r>
            <a:r>
              <a:rPr lang="en-US" dirty="0" err="1"/>
              <a:t>deg</a:t>
            </a:r>
            <a:r>
              <a:rPr lang="en-US" baseline="30000" dirty="0">
                <a:latin typeface="Cambria Math"/>
                <a:ea typeface="Cambria Math"/>
              </a:rPr>
              <a:t>+</a:t>
            </a:r>
            <a:r>
              <a:rPr lang="en-US" i="1" baseline="30000" dirty="0">
                <a:latin typeface="Cambria Math"/>
                <a:ea typeface="Cambria Math"/>
              </a:rPr>
              <a:t> </a:t>
            </a:r>
            <a:r>
              <a:rPr lang="en-US" dirty="0"/>
              <a:t>(</a:t>
            </a:r>
            <a:r>
              <a:rPr lang="en-US" i="1" dirty="0"/>
              <a:t>e</a:t>
            </a:r>
            <a:r>
              <a:rPr lang="en-US" dirty="0"/>
              <a:t>) = </a:t>
            </a:r>
            <a:r>
              <a:rPr lang="en-US" dirty="0">
                <a:latin typeface="Cambria" pitchFamily="18" charset="0"/>
              </a:rPr>
              <a:t>3</a:t>
            </a:r>
            <a:r>
              <a:rPr lang="en-US" dirty="0"/>
              <a:t>, </a:t>
            </a:r>
            <a:r>
              <a:rPr lang="en-US" dirty="0" err="1"/>
              <a:t>deg</a:t>
            </a:r>
            <a:r>
              <a:rPr lang="en-US" baseline="30000" dirty="0">
                <a:latin typeface="Cambria Math"/>
                <a:ea typeface="Cambria Math"/>
              </a:rPr>
              <a:t>+</a:t>
            </a:r>
            <a:r>
              <a:rPr lang="en-US" dirty="0"/>
              <a:t>(</a:t>
            </a:r>
            <a:r>
              <a:rPr lang="en-US" i="1" dirty="0"/>
              <a:t>f</a:t>
            </a:r>
            <a:r>
              <a:rPr lang="en-US" dirty="0"/>
              <a:t>) = </a:t>
            </a:r>
            <a:r>
              <a:rPr lang="en-US" dirty="0">
                <a:latin typeface="Cambria" pitchFamily="18" charset="0"/>
              </a:rPr>
              <a:t>0</a:t>
            </a:r>
            <a:r>
              <a:rPr lang="en-US" dirty="0"/>
              <a:t>.</a:t>
            </a:r>
          </a:p>
          <a:p>
            <a:endParaRPr lang="en-US" dirty="0"/>
          </a:p>
        </p:txBody>
      </p:sp>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682" y="627888"/>
            <a:ext cx="8229600" cy="1143000"/>
          </a:xfrm>
        </p:spPr>
        <p:txBody>
          <a:bodyPr/>
          <a:lstStyle/>
          <a:p>
            <a:r>
              <a:rPr lang="en-US" dirty="0"/>
              <a:t>Directed Graphs (</a:t>
            </a:r>
            <a:r>
              <a:rPr lang="en-US" i="1" dirty="0"/>
              <a:t>continued</a:t>
            </a:r>
            <a:r>
              <a:rPr lang="en-US" dirty="0"/>
              <a:t>)</a:t>
            </a:r>
          </a:p>
        </p:txBody>
      </p:sp>
      <p:sp>
        <p:nvSpPr>
          <p:cNvPr id="3" name="Content Placeholder 2"/>
          <p:cNvSpPr>
            <a:spLocks noGrp="1"/>
          </p:cNvSpPr>
          <p:nvPr>
            <p:ph idx="1"/>
          </p:nvPr>
        </p:nvSpPr>
        <p:spPr>
          <a:xfrm>
            <a:off x="507682" y="1859280"/>
            <a:ext cx="8229600" cy="4389120"/>
          </a:xfrm>
        </p:spPr>
        <p:txBody>
          <a:bodyPr>
            <a:normAutofit fontScale="92500"/>
          </a:bodyPr>
          <a:lstStyle/>
          <a:p>
            <a:pPr indent="0">
              <a:buNone/>
            </a:pPr>
            <a:r>
              <a:rPr lang="en-US" b="1" dirty="0"/>
              <a:t>Theorem </a:t>
            </a:r>
            <a:r>
              <a:rPr lang="en-US" b="1" dirty="0">
                <a:latin typeface="Cambria" pitchFamily="18" charset="0"/>
              </a:rPr>
              <a:t>3</a:t>
            </a:r>
            <a:r>
              <a:rPr lang="en-US" dirty="0"/>
              <a:t>: Let </a:t>
            </a:r>
            <a:r>
              <a:rPr lang="en-US" i="1" dirty="0"/>
              <a:t>G = </a:t>
            </a:r>
            <a:r>
              <a:rPr lang="en-US" dirty="0"/>
              <a:t>(</a:t>
            </a:r>
            <a:r>
              <a:rPr lang="en-US" i="1" dirty="0"/>
              <a:t>V, E</a:t>
            </a:r>
            <a:r>
              <a:rPr lang="en-US" dirty="0"/>
              <a:t>)</a:t>
            </a:r>
            <a:r>
              <a:rPr lang="en-US" i="1" dirty="0"/>
              <a:t> </a:t>
            </a:r>
            <a:r>
              <a:rPr lang="en-US" dirty="0"/>
              <a:t>be a graph with directed edges. Then:</a:t>
            </a:r>
          </a:p>
          <a:p>
            <a:pPr indent="0">
              <a:buNone/>
            </a:pPr>
            <a:endParaRPr lang="en-US" dirty="0"/>
          </a:p>
          <a:p>
            <a:pPr indent="0">
              <a:buNone/>
            </a:pPr>
            <a:endParaRPr lang="en-US" dirty="0"/>
          </a:p>
          <a:p>
            <a:pPr indent="0">
              <a:buNone/>
            </a:pPr>
            <a:endParaRPr lang="en-US" dirty="0"/>
          </a:p>
          <a:p>
            <a:pPr indent="0">
              <a:buNone/>
            </a:pPr>
            <a:endParaRPr lang="en-US" dirty="0"/>
          </a:p>
          <a:p>
            <a:pPr indent="0">
              <a:buNone/>
            </a:pPr>
            <a:r>
              <a:rPr lang="en-US" b="1" i="1" dirty="0"/>
              <a:t>Proof</a:t>
            </a:r>
            <a:r>
              <a:rPr lang="en-US" dirty="0"/>
              <a:t>: The first sum counts the number of outgoing edges over all vertices and the second sum counts the number of incoming edges over all vertices. It follows that both sums equal the number of edges in the graph.</a:t>
            </a:r>
          </a:p>
          <a:p>
            <a:pPr indent="0">
              <a:buNone/>
            </a:pPr>
            <a:endParaRPr lang="en-US" dirty="0"/>
          </a:p>
          <a:p>
            <a:pPr>
              <a:buNone/>
            </a:pPr>
            <a:endParaRPr lang="en-US" dirty="0"/>
          </a:p>
        </p:txBody>
      </p:sp>
      <p:pic>
        <p:nvPicPr>
          <p:cNvPr id="4" name="Picture 3"/>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1803082" y="3352800"/>
            <a:ext cx="5537835" cy="837248"/>
          </a:xfrm>
          <a:prstGeom prst="rect">
            <a:avLst/>
          </a:prstGeom>
        </p:spPr>
      </p:pic>
      <p:sp>
        <p:nvSpPr>
          <p:cNvPr id="6" name="Isosceles Triangle 5"/>
          <p:cNvSpPr/>
          <p:nvPr/>
        </p:nvSpPr>
        <p:spPr>
          <a:xfrm rot="5400000" flipV="1">
            <a:off x="8193944" y="5625548"/>
            <a:ext cx="152400" cy="152400"/>
          </a:xfrm>
          <a:prstGeom prst="triangl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 Types of Simple Graphs: Complete Graphs</a:t>
            </a:r>
          </a:p>
        </p:txBody>
      </p:sp>
      <p:sp>
        <p:nvSpPr>
          <p:cNvPr id="3" name="Content Placeholder 2"/>
          <p:cNvSpPr>
            <a:spLocks noGrp="1"/>
          </p:cNvSpPr>
          <p:nvPr>
            <p:ph idx="1"/>
          </p:nvPr>
        </p:nvSpPr>
        <p:spPr/>
        <p:txBody>
          <a:bodyPr/>
          <a:lstStyle/>
          <a:p>
            <a:pPr indent="0">
              <a:buNone/>
            </a:pPr>
            <a:r>
              <a:rPr lang="en-US" dirty="0"/>
              <a:t>A </a:t>
            </a:r>
            <a:r>
              <a:rPr lang="en-US" i="1" dirty="0"/>
              <a:t>complete graph on n vertices</a:t>
            </a:r>
            <a:r>
              <a:rPr lang="en-US" dirty="0"/>
              <a:t>, denoted by </a:t>
            </a:r>
            <a:r>
              <a:rPr lang="en-US" i="1" dirty="0" err="1"/>
              <a:t>K</a:t>
            </a:r>
            <a:r>
              <a:rPr lang="en-US" i="1" baseline="-25000" dirty="0" err="1"/>
              <a:t>n</a:t>
            </a:r>
            <a:r>
              <a:rPr lang="en-US" dirty="0"/>
              <a:t>, is the simple graph that contains exactly one edge between each pair of distinct vertices. </a:t>
            </a:r>
          </a:p>
          <a:p>
            <a:pPr indent="0">
              <a:buNone/>
            </a:pPr>
            <a:r>
              <a:rPr lang="en-US" dirty="0"/>
              <a:t>What are the number of edges in a complete graph of n vertices??</a:t>
            </a:r>
          </a:p>
          <a:p>
            <a:pPr indent="0">
              <a:buNone/>
            </a:pPr>
            <a:r>
              <a:rPr lang="en-US" sz="4000" baseline="30000" dirty="0"/>
              <a:t>Number of edge =     n</a:t>
            </a:r>
            <a:r>
              <a:rPr lang="en-US" dirty="0"/>
              <a:t> C </a:t>
            </a:r>
            <a:r>
              <a:rPr lang="en-US" sz="3200" baseline="-25000" dirty="0"/>
              <a:t>2</a:t>
            </a:r>
            <a:endParaRPr lang="en-US" baseline="-25000"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2000" y="4648200"/>
            <a:ext cx="7140931" cy="1371600"/>
          </a:xfrm>
          <a:prstGeom prst="rect">
            <a:avLst/>
          </a:prstGeom>
        </p:spPr>
      </p:pic>
    </p:spTree>
    <p:extLst>
      <p:ext uri="{BB962C8B-B14F-4D97-AF65-F5344CB8AC3E}">
        <p14:creationId xmlns:p14="http://schemas.microsoft.com/office/powerpoint/2010/main" val="4132828845"/>
      </p:ext>
    </p:extLst>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Special Types of Simple Graphs: Cycles and Wheels</a:t>
            </a:r>
          </a:p>
        </p:txBody>
      </p:sp>
      <p:sp>
        <p:nvSpPr>
          <p:cNvPr id="3" name="Content Placeholder 2"/>
          <p:cNvSpPr>
            <a:spLocks noGrp="1"/>
          </p:cNvSpPr>
          <p:nvPr>
            <p:ph idx="1"/>
          </p:nvPr>
        </p:nvSpPr>
        <p:spPr/>
        <p:txBody>
          <a:bodyPr/>
          <a:lstStyle/>
          <a:p>
            <a:pPr indent="0">
              <a:buNone/>
            </a:pPr>
            <a:r>
              <a:rPr lang="en-US" dirty="0"/>
              <a:t>A </a:t>
            </a:r>
            <a:r>
              <a:rPr lang="en-US" i="1" dirty="0"/>
              <a:t>cycle</a:t>
            </a:r>
            <a:r>
              <a:rPr lang="en-US" dirty="0"/>
              <a:t> </a:t>
            </a:r>
            <a:r>
              <a:rPr lang="en-US" i="1" dirty="0" err="1"/>
              <a:t>C</a:t>
            </a:r>
            <a:r>
              <a:rPr lang="en-US" i="1" baseline="-25000" dirty="0" err="1"/>
              <a:t>n</a:t>
            </a:r>
            <a:r>
              <a:rPr lang="en-US" i="1" baseline="-25000" dirty="0"/>
              <a:t> </a:t>
            </a:r>
            <a:r>
              <a:rPr lang="en-US" dirty="0"/>
              <a:t>for </a:t>
            </a:r>
            <a:r>
              <a:rPr lang="en-US" i="1" dirty="0"/>
              <a:t>n</a:t>
            </a:r>
            <a:r>
              <a:rPr lang="en-US" dirty="0"/>
              <a:t> ≥  </a:t>
            </a:r>
            <a:r>
              <a:rPr lang="en-US" dirty="0">
                <a:latin typeface="Cambria" pitchFamily="18" charset="0"/>
              </a:rPr>
              <a:t>3 </a:t>
            </a:r>
            <a:r>
              <a:rPr lang="en-US" dirty="0"/>
              <a:t>consists of </a:t>
            </a:r>
            <a:r>
              <a:rPr lang="en-US" i="1" dirty="0"/>
              <a:t>n</a:t>
            </a:r>
            <a:r>
              <a:rPr lang="en-US" dirty="0"/>
              <a:t> vertices </a:t>
            </a:r>
            <a:r>
              <a:rPr lang="en-US" i="1" dirty="0"/>
              <a:t>v</a:t>
            </a:r>
            <a:r>
              <a:rPr lang="en-US" baseline="-25000" dirty="0">
                <a:latin typeface="Cambria" pitchFamily="18" charset="0"/>
              </a:rPr>
              <a:t>1</a:t>
            </a:r>
            <a:r>
              <a:rPr lang="en-US" dirty="0"/>
              <a:t>, </a:t>
            </a:r>
            <a:r>
              <a:rPr lang="en-US" i="1" dirty="0"/>
              <a:t>v</a:t>
            </a:r>
            <a:r>
              <a:rPr lang="en-US" baseline="-25000" dirty="0">
                <a:latin typeface="Cambria" pitchFamily="18" charset="0"/>
              </a:rPr>
              <a:t>2</a:t>
            </a:r>
            <a:r>
              <a:rPr lang="en-US" i="1" dirty="0"/>
              <a:t> ,</a:t>
            </a:r>
            <a:r>
              <a:rPr lang="en-US" i="1" dirty="0">
                <a:latin typeface="Cambria Math"/>
                <a:ea typeface="Cambria Math"/>
              </a:rPr>
              <a:t>⋯</a:t>
            </a:r>
            <a:r>
              <a:rPr lang="en-US" i="1" dirty="0"/>
              <a:t> ,</a:t>
            </a:r>
            <a:r>
              <a:rPr lang="en-US" dirty="0"/>
              <a:t> </a:t>
            </a:r>
            <a:r>
              <a:rPr lang="en-US" i="1" dirty="0" err="1"/>
              <a:t>v</a:t>
            </a:r>
            <a:r>
              <a:rPr lang="en-US" baseline="-25000" dirty="0" err="1">
                <a:latin typeface="Cambria" pitchFamily="18" charset="0"/>
              </a:rPr>
              <a:t>n</a:t>
            </a:r>
            <a:r>
              <a:rPr lang="en-US" dirty="0"/>
              <a:t>, and edges {</a:t>
            </a:r>
            <a:r>
              <a:rPr lang="en-US" i="1" dirty="0"/>
              <a:t>v</a:t>
            </a:r>
            <a:r>
              <a:rPr lang="en-US" baseline="-25000" dirty="0">
                <a:latin typeface="Cambria" pitchFamily="18" charset="0"/>
              </a:rPr>
              <a:t>1</a:t>
            </a:r>
            <a:r>
              <a:rPr lang="en-US" i="1" dirty="0"/>
              <a:t>, v</a:t>
            </a:r>
            <a:r>
              <a:rPr lang="en-US" baseline="-25000" dirty="0">
                <a:latin typeface="Cambria" pitchFamily="18" charset="0"/>
              </a:rPr>
              <a:t>2</a:t>
            </a:r>
            <a:r>
              <a:rPr lang="en-US" dirty="0"/>
              <a:t>}</a:t>
            </a:r>
            <a:r>
              <a:rPr lang="en-US" i="1" dirty="0"/>
              <a:t>, </a:t>
            </a:r>
            <a:r>
              <a:rPr lang="en-US" dirty="0"/>
              <a:t>{</a:t>
            </a:r>
            <a:r>
              <a:rPr lang="en-US" i="1" dirty="0"/>
              <a:t>v</a:t>
            </a:r>
            <a:r>
              <a:rPr lang="en-US" baseline="-25000" dirty="0">
                <a:latin typeface="Cambria" pitchFamily="18" charset="0"/>
              </a:rPr>
              <a:t>2</a:t>
            </a:r>
            <a:r>
              <a:rPr lang="en-US" i="1" dirty="0"/>
              <a:t>, v</a:t>
            </a:r>
            <a:r>
              <a:rPr lang="en-US" baseline="-25000" dirty="0">
                <a:latin typeface="Cambria" pitchFamily="18" charset="0"/>
              </a:rPr>
              <a:t>3</a:t>
            </a:r>
            <a:r>
              <a:rPr lang="en-US" dirty="0"/>
              <a:t>}</a:t>
            </a:r>
            <a:r>
              <a:rPr lang="en-US" i="1" dirty="0"/>
              <a:t> ,</a:t>
            </a:r>
            <a:r>
              <a:rPr lang="en-US" i="1" dirty="0">
                <a:latin typeface="Cambria Math"/>
                <a:ea typeface="Cambria Math"/>
              </a:rPr>
              <a:t>⋯</a:t>
            </a:r>
            <a:r>
              <a:rPr lang="en-US" i="1" dirty="0"/>
              <a:t> , </a:t>
            </a:r>
            <a:r>
              <a:rPr lang="en-US" dirty="0"/>
              <a:t>{</a:t>
            </a:r>
            <a:r>
              <a:rPr lang="en-US" i="1" dirty="0"/>
              <a:t>v</a:t>
            </a:r>
            <a:r>
              <a:rPr lang="en-US" i="1" baseline="-25000" dirty="0"/>
              <a:t>n-</a:t>
            </a:r>
            <a:r>
              <a:rPr lang="en-US" baseline="-25000" dirty="0">
                <a:latin typeface="Cambria" pitchFamily="18" charset="0"/>
              </a:rPr>
              <a:t>1</a:t>
            </a:r>
            <a:r>
              <a:rPr lang="en-US" i="1" dirty="0"/>
              <a:t>, </a:t>
            </a:r>
            <a:r>
              <a:rPr lang="en-US" i="1" dirty="0" err="1"/>
              <a:t>v</a:t>
            </a:r>
            <a:r>
              <a:rPr lang="en-US" i="1" baseline="-25000" dirty="0" err="1"/>
              <a:t>n</a:t>
            </a:r>
            <a:r>
              <a:rPr lang="en-US" dirty="0"/>
              <a:t>}</a:t>
            </a:r>
            <a:r>
              <a:rPr lang="en-US" i="1" dirty="0"/>
              <a:t>, </a:t>
            </a:r>
            <a:r>
              <a:rPr lang="en-US" dirty="0"/>
              <a:t>{</a:t>
            </a:r>
            <a:r>
              <a:rPr lang="en-US" i="1" dirty="0" err="1"/>
              <a:t>v</a:t>
            </a:r>
            <a:r>
              <a:rPr lang="en-US" i="1" baseline="-25000" dirty="0" err="1"/>
              <a:t>n</a:t>
            </a:r>
            <a:r>
              <a:rPr lang="en-US" i="1" dirty="0"/>
              <a:t>, v</a:t>
            </a:r>
            <a:r>
              <a:rPr lang="en-US" baseline="-25000" dirty="0">
                <a:latin typeface="Cambria" pitchFamily="18" charset="0"/>
              </a:rPr>
              <a:t>1</a:t>
            </a:r>
            <a:r>
              <a:rPr lang="en-US" dirty="0"/>
              <a:t>}</a:t>
            </a:r>
            <a:r>
              <a:rPr lang="en-US" i="1" dirty="0"/>
              <a:t>.</a:t>
            </a:r>
          </a:p>
          <a:p>
            <a:pPr indent="0">
              <a:buNone/>
            </a:pPr>
            <a:endParaRPr lang="en-US" dirty="0"/>
          </a:p>
          <a:p>
            <a:pPr indent="0">
              <a:buNone/>
            </a:pPr>
            <a:endParaRPr lang="en-US" dirty="0"/>
          </a:p>
          <a:p>
            <a:pPr indent="0">
              <a:buNone/>
            </a:pPr>
            <a:endParaRPr lang="en-US" dirty="0"/>
          </a:p>
          <a:p>
            <a:pPr indent="0">
              <a:buNone/>
            </a:pPr>
            <a:r>
              <a:rPr lang="en-US" dirty="0"/>
              <a:t>A </a:t>
            </a:r>
            <a:r>
              <a:rPr lang="en-US" i="1" dirty="0"/>
              <a:t>wheel</a:t>
            </a:r>
            <a:r>
              <a:rPr lang="en-US" dirty="0"/>
              <a:t> </a:t>
            </a:r>
            <a:r>
              <a:rPr lang="en-US" i="1" dirty="0" err="1"/>
              <a:t>W</a:t>
            </a:r>
            <a:r>
              <a:rPr lang="en-US" i="1" baseline="-25000" dirty="0" err="1"/>
              <a:t>n</a:t>
            </a:r>
            <a:r>
              <a:rPr lang="en-US" i="1" baseline="-25000" dirty="0"/>
              <a:t> </a:t>
            </a:r>
            <a:r>
              <a:rPr lang="en-US" dirty="0"/>
              <a:t>is obtained by adding an additional vertex to a cycle </a:t>
            </a:r>
            <a:r>
              <a:rPr lang="en-US" i="1" dirty="0"/>
              <a:t>C</a:t>
            </a:r>
            <a:r>
              <a:rPr lang="en-US" i="1" baseline="-25000" dirty="0"/>
              <a:t>n </a:t>
            </a:r>
            <a:r>
              <a:rPr lang="en-US" dirty="0"/>
              <a:t>for </a:t>
            </a:r>
            <a:r>
              <a:rPr lang="en-US" i="1" dirty="0"/>
              <a:t>n</a:t>
            </a:r>
            <a:r>
              <a:rPr lang="en-US" dirty="0"/>
              <a:t> ≥  </a:t>
            </a:r>
            <a:r>
              <a:rPr lang="en-US" dirty="0">
                <a:latin typeface="Cambria" pitchFamily="18" charset="0"/>
              </a:rPr>
              <a:t>3 </a:t>
            </a:r>
            <a:r>
              <a:rPr lang="en-US" dirty="0"/>
              <a:t>and connecting this new vertex to each of the </a:t>
            </a:r>
            <a:r>
              <a:rPr lang="en-US" i="1" dirty="0"/>
              <a:t>n</a:t>
            </a:r>
            <a:r>
              <a:rPr lang="en-US" dirty="0"/>
              <a:t> vertices in </a:t>
            </a:r>
            <a:r>
              <a:rPr lang="en-US" i="1" dirty="0"/>
              <a:t>C</a:t>
            </a:r>
            <a:r>
              <a:rPr lang="en-US" i="1" baseline="-25000" dirty="0"/>
              <a:t>n</a:t>
            </a:r>
            <a:r>
              <a:rPr lang="en-US" dirty="0"/>
              <a:t> by new edges</a:t>
            </a:r>
            <a:r>
              <a:rPr lang="en-US" i="1" dirty="0"/>
              <a:t>. </a:t>
            </a:r>
          </a:p>
          <a:p>
            <a:pPr indent="0">
              <a:buNone/>
            </a:pPr>
            <a:r>
              <a:rPr lang="en-US" i="1" dirty="0"/>
              <a:t>|E| = 2n</a:t>
            </a:r>
          </a:p>
          <a:p>
            <a:pPr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267581" y="3102864"/>
            <a:ext cx="3292602" cy="874014"/>
          </a:xfrm>
          <a:prstGeom prst="rect">
            <a:avLst/>
          </a:prstGeom>
        </p:spPr>
      </p:pic>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057301" y="5562600"/>
            <a:ext cx="3246882" cy="895350"/>
          </a:xfrm>
          <a:prstGeom prst="rect">
            <a:avLst/>
          </a:prstGeom>
        </p:spPr>
      </p:pic>
      <p:sp>
        <p:nvSpPr>
          <p:cNvPr id="6" name="Rectangle 2">
            <a:extLst>
              <a:ext uri="{FF2B5EF4-FFF2-40B4-BE49-F238E27FC236}">
                <a16:creationId xmlns:a16="http://schemas.microsoft.com/office/drawing/2014/main" id="{C091CB01-E017-BE79-100D-0ED0F009C31C}"/>
              </a:ext>
            </a:extLst>
          </p:cNvPr>
          <p:cNvSpPr>
            <a:spLocks noChangeArrowheads="1"/>
          </p:cNvSpPr>
          <p:nvPr/>
        </p:nvSpPr>
        <p:spPr bwMode="auto">
          <a:xfrm>
            <a:off x="838200" y="34290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Arial" panose="020B0604020202020204" pitchFamily="34" charset="0"/>
              </a:rPr>
              <a:t>Exactly </a:t>
            </a:r>
            <a:r>
              <a:rPr kumimoji="0" lang="en-US" altLang="en-US" sz="1800" b="1" i="0" u="none" strike="noStrike" cap="none" normalizeH="0" baseline="0" dirty="0">
                <a:ln>
                  <a:noFill/>
                </a:ln>
                <a:solidFill>
                  <a:srgbClr val="000000"/>
                </a:solidFill>
                <a:effectLst/>
                <a:latin typeface="Arial" panose="020B0604020202020204" pitchFamily="34" charset="0"/>
              </a:rPr>
              <a:t>n vertices</a:t>
            </a:r>
            <a:endParaRPr kumimoji="0" lang="en-US" altLang="en-US" sz="18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Arial" panose="020B0604020202020204" pitchFamily="34" charset="0"/>
              </a:rPr>
              <a:t>Exactly </a:t>
            </a:r>
            <a:r>
              <a:rPr kumimoji="0" lang="en-US" altLang="en-US" sz="1800" b="1" i="0" u="none" strike="noStrike" cap="none" normalizeH="0" baseline="0" dirty="0">
                <a:ln>
                  <a:noFill/>
                </a:ln>
                <a:solidFill>
                  <a:srgbClr val="000000"/>
                </a:solidFill>
                <a:effectLst/>
                <a:latin typeface="Arial" panose="020B0604020202020204" pitchFamily="34" charset="0"/>
              </a:rPr>
              <a:t>n edges</a:t>
            </a:r>
            <a:endParaRPr kumimoji="0" lang="en-US" altLang="en-US" sz="1800" b="0" i="0" u="none" strike="noStrike" cap="none" normalizeH="0" baseline="0" dirty="0">
              <a:ln>
                <a:noFill/>
              </a:ln>
              <a:solidFill>
                <a:srgbClr val="000000"/>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rgbClr val="000000"/>
                </a:solidFill>
                <a:effectLst/>
                <a:latin typeface="Arial" panose="020B0604020202020204" pitchFamily="34" charset="0"/>
              </a:rPr>
              <a:t>Every vertex has </a:t>
            </a:r>
            <a:r>
              <a:rPr kumimoji="0" lang="en-US" altLang="en-US" sz="1800" b="1" i="0" u="none" strike="noStrike" cap="none" normalizeH="0" baseline="0" dirty="0">
                <a:ln>
                  <a:noFill/>
                </a:ln>
                <a:solidFill>
                  <a:srgbClr val="000000"/>
                </a:solidFill>
                <a:effectLst/>
                <a:latin typeface="Arial" panose="020B0604020202020204" pitchFamily="34" charset="0"/>
              </a:rPr>
              <a:t>degree 2</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00387578"/>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Bipartite Graphs</a:t>
            </a:r>
          </a:p>
        </p:txBody>
      </p:sp>
      <p:sp>
        <p:nvSpPr>
          <p:cNvPr id="3" name="Content Placeholder 2"/>
          <p:cNvSpPr>
            <a:spLocks noGrp="1"/>
          </p:cNvSpPr>
          <p:nvPr>
            <p:ph idx="1"/>
          </p:nvPr>
        </p:nvSpPr>
        <p:spPr/>
        <p:txBody>
          <a:bodyPr>
            <a:normAutofit fontScale="85000" lnSpcReduction="20000"/>
          </a:bodyPr>
          <a:lstStyle/>
          <a:p>
            <a:pPr indent="0">
              <a:buNone/>
            </a:pPr>
            <a:r>
              <a:rPr lang="en-US" b="1" dirty="0"/>
              <a:t>Definition:</a:t>
            </a:r>
            <a:r>
              <a:rPr lang="en-US" dirty="0"/>
              <a:t> A simple graph </a:t>
            </a:r>
            <a:r>
              <a:rPr lang="en-US" i="1" dirty="0"/>
              <a:t>G</a:t>
            </a:r>
            <a:r>
              <a:rPr lang="en-US" dirty="0"/>
              <a:t> is bipartite if </a:t>
            </a:r>
            <a:r>
              <a:rPr lang="en-US" i="1" dirty="0"/>
              <a:t>V </a:t>
            </a:r>
            <a:r>
              <a:rPr lang="en-US" dirty="0"/>
              <a:t>can be partitioned into two disjoint subsets </a:t>
            </a:r>
            <a:r>
              <a:rPr lang="en-US" i="1" dirty="0"/>
              <a:t>V</a:t>
            </a:r>
            <a:r>
              <a:rPr lang="en-US" i="1" baseline="-25000" dirty="0"/>
              <a:t>1</a:t>
            </a:r>
            <a:r>
              <a:rPr lang="en-US" i="1" dirty="0"/>
              <a:t> </a:t>
            </a:r>
            <a:r>
              <a:rPr lang="en-US" dirty="0"/>
              <a:t>and </a:t>
            </a:r>
            <a:r>
              <a:rPr lang="en-US" i="1" dirty="0"/>
              <a:t>V</a:t>
            </a:r>
            <a:r>
              <a:rPr lang="en-US" i="1" baseline="-25000" dirty="0"/>
              <a:t>2</a:t>
            </a:r>
            <a:r>
              <a:rPr lang="en-US" dirty="0"/>
              <a:t> such that every edge connects a vertex in </a:t>
            </a:r>
            <a:r>
              <a:rPr lang="en-US" i="1" dirty="0"/>
              <a:t>V</a:t>
            </a:r>
            <a:r>
              <a:rPr lang="en-US" i="1" baseline="-25000" dirty="0"/>
              <a:t>1</a:t>
            </a:r>
            <a:r>
              <a:rPr lang="en-US" dirty="0"/>
              <a:t> and a vertex in </a:t>
            </a:r>
            <a:r>
              <a:rPr lang="en-US" i="1" dirty="0"/>
              <a:t>V</a:t>
            </a:r>
            <a:r>
              <a:rPr lang="en-US" i="1" baseline="-25000" dirty="0"/>
              <a:t>2</a:t>
            </a:r>
            <a:r>
              <a:rPr lang="en-US" dirty="0"/>
              <a:t>. In other words, there are no edges which connect two vertices in </a:t>
            </a:r>
            <a:r>
              <a:rPr lang="en-US" i="1" dirty="0"/>
              <a:t>V</a:t>
            </a:r>
            <a:r>
              <a:rPr lang="en-US" i="1" baseline="-25000" dirty="0"/>
              <a:t>1</a:t>
            </a:r>
            <a:r>
              <a:rPr lang="en-US" dirty="0"/>
              <a:t> or in </a:t>
            </a:r>
            <a:r>
              <a:rPr lang="en-US" i="1" dirty="0"/>
              <a:t>V</a:t>
            </a:r>
            <a:r>
              <a:rPr lang="en-US" i="1" baseline="-25000" dirty="0"/>
              <a:t>2</a:t>
            </a:r>
            <a:r>
              <a:rPr lang="en-US" dirty="0"/>
              <a:t>.</a:t>
            </a:r>
          </a:p>
          <a:p>
            <a:pPr indent="0">
              <a:buNone/>
            </a:pPr>
            <a:endParaRPr lang="en-US" dirty="0"/>
          </a:p>
          <a:p>
            <a:pPr indent="0">
              <a:buNone/>
            </a:pPr>
            <a:r>
              <a:rPr lang="en-US" dirty="0"/>
              <a:t>It is not hard to show that an equivalent definition of a bipartite graph is a graph where it is possible to color the vertices red or blue so that no two adjacent vertices are the same color.</a:t>
            </a:r>
          </a:p>
          <a:p>
            <a:pPr indent="0">
              <a:buNone/>
            </a:pPr>
            <a:endParaRPr lang="en-US" dirty="0"/>
          </a:p>
          <a:p>
            <a:pPr indent="0">
              <a:buNone/>
            </a:pPr>
            <a:r>
              <a:rPr lang="en-US" dirty="0"/>
              <a:t> </a:t>
            </a:r>
          </a:p>
          <a:p>
            <a:pPr indent="0">
              <a:buNone/>
            </a:pPr>
            <a:endParaRPr lang="en-US" dirty="0"/>
          </a:p>
          <a:p>
            <a:pPr indent="0">
              <a:buNone/>
            </a:pPr>
            <a:endParaRPr lang="en-US" dirty="0"/>
          </a:p>
          <a:p>
            <a:pPr indent="0">
              <a:buNone/>
            </a:pPr>
            <a:r>
              <a:rPr lang="en-US" dirty="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981200" y="4800600"/>
            <a:ext cx="4695820" cy="1742313"/>
          </a:xfrm>
          <a:prstGeom prst="rect">
            <a:avLst/>
          </a:prstGeom>
          <a:ln>
            <a:solidFill>
              <a:schemeClr val="accent1"/>
            </a:solidFill>
          </a:ln>
        </p:spPr>
      </p:pic>
      <p:sp>
        <p:nvSpPr>
          <p:cNvPr id="6" name="TextBox 5"/>
          <p:cNvSpPr txBox="1"/>
          <p:nvPr/>
        </p:nvSpPr>
        <p:spPr>
          <a:xfrm>
            <a:off x="685800" y="5136214"/>
            <a:ext cx="1066800" cy="646331"/>
          </a:xfrm>
          <a:prstGeom prst="rect">
            <a:avLst/>
          </a:prstGeom>
          <a:noFill/>
        </p:spPr>
        <p:txBody>
          <a:bodyPr wrap="square" rtlCol="0">
            <a:spAutoFit/>
          </a:bodyPr>
          <a:lstStyle/>
          <a:p>
            <a:r>
              <a:rPr lang="en-US" i="1" dirty="0"/>
              <a:t>G</a:t>
            </a:r>
            <a:r>
              <a:rPr lang="en-US" dirty="0"/>
              <a:t> is  bipartite</a:t>
            </a:r>
          </a:p>
        </p:txBody>
      </p:sp>
      <p:sp>
        <p:nvSpPr>
          <p:cNvPr id="7" name="TextBox 6"/>
          <p:cNvSpPr txBox="1"/>
          <p:nvPr/>
        </p:nvSpPr>
        <p:spPr>
          <a:xfrm>
            <a:off x="6858000" y="4788587"/>
            <a:ext cx="2057400" cy="1754326"/>
          </a:xfrm>
          <a:prstGeom prst="rect">
            <a:avLst/>
          </a:prstGeom>
          <a:noFill/>
        </p:spPr>
        <p:txBody>
          <a:bodyPr wrap="square" rtlCol="0">
            <a:spAutoFit/>
          </a:bodyPr>
          <a:lstStyle/>
          <a:p>
            <a:r>
              <a:rPr lang="en-US" i="1" dirty="0"/>
              <a:t>H</a:t>
            </a:r>
            <a:r>
              <a:rPr lang="en-US" dirty="0"/>
              <a:t> is  not bipartite</a:t>
            </a:r>
          </a:p>
          <a:p>
            <a:r>
              <a:rPr lang="en-US" dirty="0"/>
              <a:t>since if we color </a:t>
            </a:r>
            <a:r>
              <a:rPr lang="en-US" i="1" dirty="0"/>
              <a:t>a</a:t>
            </a:r>
            <a:r>
              <a:rPr lang="en-US" dirty="0"/>
              <a:t> red, then the adjacent vertices </a:t>
            </a:r>
            <a:r>
              <a:rPr lang="en-US" i="1" dirty="0"/>
              <a:t>f</a:t>
            </a:r>
            <a:r>
              <a:rPr lang="en-US" dirty="0"/>
              <a:t> and </a:t>
            </a:r>
            <a:r>
              <a:rPr lang="en-US" i="1" dirty="0"/>
              <a:t>b</a:t>
            </a:r>
            <a:r>
              <a:rPr lang="en-US" dirty="0"/>
              <a:t> must both be blue.</a:t>
            </a:r>
          </a:p>
        </p:txBody>
      </p:sp>
      <p:sp>
        <p:nvSpPr>
          <p:cNvPr id="8" name="Oval 7"/>
          <p:cNvSpPr/>
          <p:nvPr/>
        </p:nvSpPr>
        <p:spPr>
          <a:xfrm>
            <a:off x="2590800" y="4953000"/>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3505200" y="4952999"/>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3505200" y="5867400"/>
            <a:ext cx="152400" cy="142115"/>
          </a:xfrm>
          <a:prstGeom prst="ellipse">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2057400" y="5257800"/>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p:cNvSpPr/>
          <p:nvPr/>
        </p:nvSpPr>
        <p:spPr>
          <a:xfrm>
            <a:off x="2075290" y="5640430"/>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p:cNvSpPr/>
          <p:nvPr/>
        </p:nvSpPr>
        <p:spPr>
          <a:xfrm>
            <a:off x="4038600" y="5317264"/>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nvSpPr>
        <p:spPr>
          <a:xfrm>
            <a:off x="2608690" y="5864177"/>
            <a:ext cx="152400" cy="142115"/>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Bipartite Graphs (</a:t>
            </a:r>
            <a:r>
              <a:rPr lang="en-US" i="1" dirty="0"/>
              <a:t>continued</a:t>
            </a:r>
            <a:r>
              <a:rPr lang="en-US" dirty="0"/>
              <a:t>)</a:t>
            </a:r>
          </a:p>
        </p:txBody>
      </p:sp>
      <p:sp>
        <p:nvSpPr>
          <p:cNvPr id="3" name="Content Placeholder 2"/>
          <p:cNvSpPr>
            <a:spLocks noGrp="1"/>
          </p:cNvSpPr>
          <p:nvPr>
            <p:ph idx="1"/>
          </p:nvPr>
        </p:nvSpPr>
        <p:spPr/>
        <p:txBody>
          <a:bodyPr>
            <a:normAutofit fontScale="92500" lnSpcReduction="20000"/>
          </a:bodyPr>
          <a:lstStyle/>
          <a:p>
            <a:pPr indent="0">
              <a:buNone/>
            </a:pPr>
            <a:r>
              <a:rPr lang="en-US" b="1" dirty="0"/>
              <a:t>Example</a:t>
            </a:r>
            <a:r>
              <a:rPr lang="en-US" dirty="0"/>
              <a:t>:  Show that </a:t>
            </a:r>
            <a:r>
              <a:rPr lang="en-US" i="1" dirty="0"/>
              <a:t>C</a:t>
            </a:r>
            <a:r>
              <a:rPr lang="en-US" baseline="-25000" dirty="0">
                <a:latin typeface="Cambria" pitchFamily="18" charset="0"/>
              </a:rPr>
              <a:t>6</a:t>
            </a:r>
            <a:r>
              <a:rPr lang="en-US" dirty="0"/>
              <a:t> is bipartite.</a:t>
            </a:r>
          </a:p>
          <a:p>
            <a:pPr indent="0">
              <a:buNone/>
            </a:pPr>
            <a:r>
              <a:rPr lang="en-US" b="1" dirty="0"/>
              <a:t>Solution</a:t>
            </a:r>
            <a:r>
              <a:rPr lang="en-US" dirty="0"/>
              <a:t>: We can partition the vertex set into                         </a:t>
            </a:r>
            <a:r>
              <a:rPr lang="en-US" i="1" dirty="0"/>
              <a:t>V</a:t>
            </a:r>
            <a:r>
              <a:rPr lang="en-US" baseline="-25000" dirty="0">
                <a:latin typeface="Cambria" pitchFamily="18" charset="0"/>
              </a:rPr>
              <a:t>1</a:t>
            </a:r>
            <a:r>
              <a:rPr lang="en-US" dirty="0"/>
              <a:t> = {</a:t>
            </a:r>
            <a:r>
              <a:rPr lang="en-US" i="1" dirty="0"/>
              <a:t>v</a:t>
            </a:r>
            <a:r>
              <a:rPr lang="en-US" baseline="-25000" dirty="0">
                <a:latin typeface="Cambria" pitchFamily="18" charset="0"/>
              </a:rPr>
              <a:t>1</a:t>
            </a:r>
            <a:r>
              <a:rPr lang="en-US" dirty="0"/>
              <a:t>, </a:t>
            </a:r>
            <a:r>
              <a:rPr lang="en-US" i="1" dirty="0"/>
              <a:t>v</a:t>
            </a:r>
            <a:r>
              <a:rPr lang="en-US" baseline="-25000" dirty="0">
                <a:latin typeface="Cambria" pitchFamily="18" charset="0"/>
              </a:rPr>
              <a:t>3</a:t>
            </a:r>
            <a:r>
              <a:rPr lang="en-US" dirty="0"/>
              <a:t>, </a:t>
            </a:r>
            <a:r>
              <a:rPr lang="en-US" i="1" dirty="0"/>
              <a:t>v</a:t>
            </a:r>
            <a:r>
              <a:rPr lang="en-US" baseline="-25000" dirty="0">
                <a:latin typeface="Cambria" pitchFamily="18" charset="0"/>
              </a:rPr>
              <a:t>5</a:t>
            </a:r>
            <a:r>
              <a:rPr lang="en-US" dirty="0"/>
              <a:t>} and </a:t>
            </a:r>
            <a:r>
              <a:rPr lang="en-US" i="1" dirty="0"/>
              <a:t>V</a:t>
            </a:r>
            <a:r>
              <a:rPr lang="en-US" baseline="-25000" dirty="0">
                <a:latin typeface="Cambria" pitchFamily="18" charset="0"/>
              </a:rPr>
              <a:t>2</a:t>
            </a:r>
            <a:r>
              <a:rPr lang="en-US" dirty="0"/>
              <a:t> = {</a:t>
            </a:r>
            <a:r>
              <a:rPr lang="en-US" i="1" dirty="0"/>
              <a:t>v</a:t>
            </a:r>
            <a:r>
              <a:rPr lang="en-US" baseline="-25000" dirty="0">
                <a:latin typeface="Cambria" pitchFamily="18" charset="0"/>
              </a:rPr>
              <a:t>2</a:t>
            </a:r>
            <a:r>
              <a:rPr lang="en-US" dirty="0"/>
              <a:t>, </a:t>
            </a:r>
            <a:r>
              <a:rPr lang="en-US" i="1" dirty="0"/>
              <a:t>v</a:t>
            </a:r>
            <a:r>
              <a:rPr lang="en-US" baseline="-25000" dirty="0">
                <a:latin typeface="Cambria" pitchFamily="18" charset="0"/>
              </a:rPr>
              <a:t>4</a:t>
            </a:r>
            <a:r>
              <a:rPr lang="en-US" dirty="0"/>
              <a:t>, </a:t>
            </a:r>
            <a:r>
              <a:rPr lang="en-US" i="1" dirty="0"/>
              <a:t>v</a:t>
            </a:r>
            <a:r>
              <a:rPr lang="en-US" baseline="-25000" dirty="0">
                <a:latin typeface="Cambria" pitchFamily="18" charset="0"/>
              </a:rPr>
              <a:t>6</a:t>
            </a:r>
            <a:r>
              <a:rPr lang="en-US" dirty="0"/>
              <a:t>} so that every edge of </a:t>
            </a:r>
            <a:r>
              <a:rPr lang="en-US" i="1" dirty="0"/>
              <a:t>C</a:t>
            </a:r>
            <a:r>
              <a:rPr lang="en-US" baseline="-25000" dirty="0">
                <a:latin typeface="Cambria" pitchFamily="18" charset="0"/>
              </a:rPr>
              <a:t>6</a:t>
            </a:r>
            <a:r>
              <a:rPr lang="en-US" dirty="0"/>
              <a:t> connects a vertex in </a:t>
            </a:r>
            <a:r>
              <a:rPr lang="en-US" i="1" dirty="0"/>
              <a:t>V</a:t>
            </a:r>
            <a:r>
              <a:rPr lang="en-US" baseline="-25000" dirty="0">
                <a:latin typeface="Cambria" pitchFamily="18" charset="0"/>
              </a:rPr>
              <a:t>1</a:t>
            </a:r>
            <a:r>
              <a:rPr lang="en-US" dirty="0"/>
              <a:t> and </a:t>
            </a:r>
            <a:r>
              <a:rPr lang="en-US" i="1" dirty="0"/>
              <a:t>V</a:t>
            </a:r>
            <a:r>
              <a:rPr lang="en-US" baseline="-25000" dirty="0">
                <a:latin typeface="Cambria" pitchFamily="18" charset="0"/>
              </a:rPr>
              <a:t>2</a:t>
            </a:r>
            <a:r>
              <a:rPr lang="en-US" dirty="0"/>
              <a:t> .</a:t>
            </a:r>
          </a:p>
          <a:p>
            <a:pPr indent="0">
              <a:buNone/>
            </a:pPr>
            <a:endParaRPr lang="en-US" dirty="0"/>
          </a:p>
          <a:p>
            <a:pPr indent="0">
              <a:buNone/>
            </a:pPr>
            <a:endParaRPr lang="en-US" dirty="0"/>
          </a:p>
          <a:p>
            <a:pPr indent="0">
              <a:buNone/>
            </a:pPr>
            <a:endParaRPr lang="en-US" b="1" dirty="0"/>
          </a:p>
          <a:p>
            <a:pPr indent="0">
              <a:buNone/>
            </a:pPr>
            <a:r>
              <a:rPr lang="en-US" b="1" dirty="0"/>
              <a:t>Example</a:t>
            </a:r>
            <a:r>
              <a:rPr lang="en-US" dirty="0"/>
              <a:t>:  Show that </a:t>
            </a:r>
            <a:r>
              <a:rPr lang="en-US" i="1" dirty="0"/>
              <a:t>C</a:t>
            </a:r>
            <a:r>
              <a:rPr lang="en-US" baseline="-25000" dirty="0">
                <a:latin typeface="Cambria" pitchFamily="18" charset="0"/>
              </a:rPr>
              <a:t>3</a:t>
            </a:r>
            <a:r>
              <a:rPr lang="en-US" dirty="0"/>
              <a:t> is not bipartite.</a:t>
            </a:r>
          </a:p>
          <a:p>
            <a:pPr indent="0">
              <a:buNone/>
            </a:pPr>
            <a:r>
              <a:rPr lang="en-US" b="1" dirty="0"/>
              <a:t>Solution</a:t>
            </a:r>
            <a:r>
              <a:rPr lang="en-US" dirty="0"/>
              <a:t>:  If we divide the vertex set of </a:t>
            </a:r>
            <a:r>
              <a:rPr lang="en-US" i="1" dirty="0"/>
              <a:t>C</a:t>
            </a:r>
            <a:r>
              <a:rPr lang="en-US" baseline="-25000" dirty="0">
                <a:latin typeface="Cambria Math" pitchFamily="18" charset="0"/>
                <a:ea typeface="Cambria Math" pitchFamily="18" charset="0"/>
              </a:rPr>
              <a:t>3</a:t>
            </a:r>
            <a:r>
              <a:rPr lang="en-US" dirty="0"/>
              <a:t> into two nonempty sets, one of the two must contain two vertices. But in </a:t>
            </a:r>
            <a:r>
              <a:rPr lang="en-US" i="1" dirty="0"/>
              <a:t>C</a:t>
            </a:r>
            <a:r>
              <a:rPr lang="en-US" baseline="-25000" dirty="0">
                <a:latin typeface="Cambria Math" pitchFamily="18" charset="0"/>
                <a:ea typeface="Cambria Math" pitchFamily="18" charset="0"/>
              </a:rPr>
              <a:t>3</a:t>
            </a:r>
            <a:r>
              <a:rPr lang="en-US" dirty="0"/>
              <a:t>  every vertex is connected to every other vertex. Therefore, the two vertices in the same partition are connected. Hence, </a:t>
            </a:r>
            <a:r>
              <a:rPr lang="en-US" i="1" dirty="0"/>
              <a:t>C</a:t>
            </a:r>
            <a:r>
              <a:rPr lang="en-US" baseline="-25000" dirty="0">
                <a:latin typeface="Cambria Math" pitchFamily="18" charset="0"/>
                <a:ea typeface="Cambria Math" pitchFamily="18" charset="0"/>
              </a:rPr>
              <a:t>3</a:t>
            </a:r>
            <a:r>
              <a:rPr lang="en-US" dirty="0"/>
              <a:t> is not bipartite.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72817" y="3367659"/>
            <a:ext cx="3292602" cy="874014"/>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05400" y="3413188"/>
            <a:ext cx="1644396" cy="691896"/>
          </a:xfrm>
          <a:prstGeom prst="rect">
            <a:avLst/>
          </a:prstGeom>
        </p:spPr>
      </p:pic>
      <p:sp>
        <p:nvSpPr>
          <p:cNvPr id="7" name="Rectangle 6"/>
          <p:cNvSpPr/>
          <p:nvPr/>
        </p:nvSpPr>
        <p:spPr>
          <a:xfrm>
            <a:off x="1828800" y="3276600"/>
            <a:ext cx="1676400" cy="9650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3457731"/>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Bipartite Graphs</a:t>
            </a:r>
          </a:p>
        </p:txBody>
      </p:sp>
      <p:sp>
        <p:nvSpPr>
          <p:cNvPr id="3" name="Content Placeholder 2"/>
          <p:cNvSpPr>
            <a:spLocks noGrp="1"/>
          </p:cNvSpPr>
          <p:nvPr>
            <p:ph idx="1"/>
          </p:nvPr>
        </p:nvSpPr>
        <p:spPr/>
        <p:txBody>
          <a:bodyPr/>
          <a:lstStyle/>
          <a:p>
            <a:pPr indent="0">
              <a:buNone/>
            </a:pPr>
            <a:r>
              <a:rPr lang="en-US" b="1" dirty="0"/>
              <a:t>Definition:</a:t>
            </a:r>
            <a:r>
              <a:rPr lang="en-US" dirty="0"/>
              <a:t>  A </a:t>
            </a:r>
            <a:r>
              <a:rPr lang="en-US" i="1" dirty="0"/>
              <a:t>complete bipartite graph </a:t>
            </a:r>
            <a:r>
              <a:rPr lang="en-US" i="1" dirty="0" err="1"/>
              <a:t>K</a:t>
            </a:r>
            <a:r>
              <a:rPr lang="en-US" i="1" baseline="-25000" dirty="0" err="1"/>
              <a:t>m,n</a:t>
            </a:r>
            <a:r>
              <a:rPr lang="en-US" dirty="0"/>
              <a:t> is a graph that has its vertex set partitioned into two subsets           </a:t>
            </a:r>
            <a:r>
              <a:rPr lang="en-US" i="1" dirty="0"/>
              <a:t>V</a:t>
            </a:r>
            <a:r>
              <a:rPr lang="en-US" baseline="-25000" dirty="0">
                <a:latin typeface="Cambria Math" pitchFamily="18" charset="0"/>
                <a:ea typeface="Cambria Math" pitchFamily="18" charset="0"/>
              </a:rPr>
              <a:t>1</a:t>
            </a:r>
            <a:r>
              <a:rPr lang="en-US" dirty="0"/>
              <a:t> of size </a:t>
            </a:r>
            <a:r>
              <a:rPr lang="en-US" i="1" dirty="0"/>
              <a:t>m</a:t>
            </a:r>
            <a:r>
              <a:rPr lang="en-US" dirty="0"/>
              <a:t> and </a:t>
            </a:r>
            <a:r>
              <a:rPr lang="en-US" i="1" dirty="0"/>
              <a:t>V</a:t>
            </a:r>
            <a:r>
              <a:rPr lang="en-US" baseline="-25000" dirty="0">
                <a:latin typeface="Cambria Math" pitchFamily="18" charset="0"/>
                <a:ea typeface="Cambria Math" pitchFamily="18" charset="0"/>
              </a:rPr>
              <a:t>2</a:t>
            </a:r>
            <a:r>
              <a:rPr lang="en-US" dirty="0"/>
              <a:t> of size </a:t>
            </a:r>
            <a:r>
              <a:rPr lang="en-US" i="1" dirty="0"/>
              <a:t>n</a:t>
            </a:r>
            <a:r>
              <a:rPr lang="en-US" dirty="0"/>
              <a:t> such that there is an edge from every vertex in </a:t>
            </a:r>
            <a:r>
              <a:rPr lang="en-US" i="1" dirty="0"/>
              <a:t>V</a:t>
            </a:r>
            <a:r>
              <a:rPr lang="en-US" baseline="-25000" dirty="0">
                <a:latin typeface="Cambria Math" pitchFamily="18" charset="0"/>
                <a:ea typeface="Cambria Math" pitchFamily="18" charset="0"/>
              </a:rPr>
              <a:t>1</a:t>
            </a:r>
            <a:r>
              <a:rPr lang="en-US" dirty="0"/>
              <a:t> to every vertex in </a:t>
            </a:r>
            <a:r>
              <a:rPr lang="en-US" i="1" dirty="0"/>
              <a:t>V</a:t>
            </a:r>
            <a:r>
              <a:rPr lang="en-US" baseline="-25000" dirty="0">
                <a:latin typeface="Cambria Math" pitchFamily="18" charset="0"/>
                <a:ea typeface="Cambria Math" pitchFamily="18" charset="0"/>
              </a:rPr>
              <a:t>2</a:t>
            </a:r>
            <a:r>
              <a:rPr lang="en-US" i="1" dirty="0"/>
              <a:t>.</a:t>
            </a:r>
          </a:p>
          <a:p>
            <a:pPr indent="0">
              <a:buNone/>
            </a:pPr>
            <a:endParaRPr lang="en-US" i="1" dirty="0"/>
          </a:p>
          <a:p>
            <a:pPr indent="0">
              <a:buNone/>
            </a:pPr>
            <a:r>
              <a:rPr lang="en-US" b="1" dirty="0"/>
              <a:t>Example</a:t>
            </a:r>
            <a:r>
              <a:rPr lang="en-US" dirty="0"/>
              <a:t>: We display four complete bipartite graphs here.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04052" y="4724400"/>
            <a:ext cx="4229862" cy="1812798"/>
          </a:xfrm>
          <a:prstGeom prst="rect">
            <a:avLst/>
          </a:prstGeom>
        </p:spPr>
      </p:pic>
    </p:spTree>
    <p:extLst>
      <p:ext uri="{BB962C8B-B14F-4D97-AF65-F5344CB8AC3E}">
        <p14:creationId xmlns:p14="http://schemas.microsoft.com/office/powerpoint/2010/main" val="803159991"/>
      </p:ext>
    </p:extLst>
  </p:cSld>
  <p:clrMapOvr>
    <a:masterClrMapping/>
  </p:clrMapOvr>
  <p:transition spd="slow">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Bipartite Graphs and </a:t>
            </a:r>
            <a:r>
              <a:rPr lang="en-US" dirty="0" err="1"/>
              <a:t>Matchings</a:t>
            </a:r>
            <a:endParaRPr lang="en-US" dirty="0"/>
          </a:p>
        </p:txBody>
      </p:sp>
      <p:sp>
        <p:nvSpPr>
          <p:cNvPr id="3" name="Content Placeholder 2"/>
          <p:cNvSpPr>
            <a:spLocks noGrp="1"/>
          </p:cNvSpPr>
          <p:nvPr>
            <p:ph idx="1"/>
          </p:nvPr>
        </p:nvSpPr>
        <p:spPr/>
        <p:txBody>
          <a:bodyPr>
            <a:normAutofit lnSpcReduction="10000"/>
          </a:bodyPr>
          <a:lstStyle/>
          <a:p>
            <a:r>
              <a:rPr lang="en-US" dirty="0"/>
              <a:t>Bipartite graphs are used to model applications that involve matching the elements of one set to elements in another, for example:</a:t>
            </a:r>
          </a:p>
          <a:p>
            <a:r>
              <a:rPr lang="en-US" i="1" dirty="0"/>
              <a:t>Job assignments </a:t>
            </a:r>
            <a:r>
              <a:rPr lang="en-US" dirty="0"/>
              <a:t>- vertices represent the jobs and the employees, edges link employees with those jobs they have been trained to do. A common goal is to match jobs to employees so that the most jobs are done.</a:t>
            </a:r>
          </a:p>
          <a:p>
            <a:r>
              <a:rPr lang="en-US" i="1" dirty="0"/>
              <a:t>Marriage </a:t>
            </a:r>
            <a:r>
              <a:rPr lang="en-US" dirty="0"/>
              <a:t>- vertices represent the men and the women and edges link a </a:t>
            </a:r>
            <a:r>
              <a:rPr lang="en-US" dirty="0" err="1"/>
              <a:t>a</a:t>
            </a:r>
            <a:r>
              <a:rPr lang="en-US" dirty="0"/>
              <a:t> man and a woman if they are an acceptable spouse.  We may wish to find the largest number of possible marriages.</a:t>
            </a:r>
          </a:p>
          <a:p>
            <a:pPr marL="0" indent="0">
              <a:buNone/>
            </a:pPr>
            <a:endParaRPr lang="en-US" i="1" dirty="0"/>
          </a:p>
        </p:txBody>
      </p:sp>
    </p:spTree>
    <p:extLst>
      <p:ext uri="{BB962C8B-B14F-4D97-AF65-F5344CB8AC3E}">
        <p14:creationId xmlns:p14="http://schemas.microsoft.com/office/powerpoint/2010/main" val="2979065067"/>
      </p:ext>
    </p:extLst>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2234045" y="2819400"/>
            <a:ext cx="4675909" cy="2438400"/>
          </a:xfrm>
          <a:prstGeom prst="rect">
            <a:avLst/>
          </a:prstGeom>
        </p:spPr>
      </p:pic>
    </p:spTree>
    <p:extLst>
      <p:ext uri="{BB962C8B-B14F-4D97-AF65-F5344CB8AC3E}">
        <p14:creationId xmlns:p14="http://schemas.microsoft.com/office/powerpoint/2010/main" val="86069069"/>
      </p:ext>
    </p:extLst>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Graphs from Old </a:t>
            </a:r>
          </a:p>
        </p:txBody>
      </p:sp>
      <p:sp>
        <p:nvSpPr>
          <p:cNvPr id="3" name="Content Placeholder 2"/>
          <p:cNvSpPr>
            <a:spLocks noGrp="1"/>
          </p:cNvSpPr>
          <p:nvPr>
            <p:ph idx="1"/>
          </p:nvPr>
        </p:nvSpPr>
        <p:spPr/>
        <p:txBody>
          <a:bodyPr>
            <a:normAutofit fontScale="70000" lnSpcReduction="20000"/>
          </a:bodyPr>
          <a:lstStyle/>
          <a:p>
            <a:pPr indent="0">
              <a:buNone/>
            </a:pPr>
            <a:r>
              <a:rPr lang="en-US" b="1" dirty="0"/>
              <a:t>Definition: </a:t>
            </a:r>
            <a:r>
              <a:rPr lang="en-US" dirty="0"/>
              <a:t>A </a:t>
            </a:r>
            <a:r>
              <a:rPr lang="en-US" i="1" dirty="0" err="1"/>
              <a:t>subgraph</a:t>
            </a:r>
            <a:r>
              <a:rPr lang="en-US" i="1" dirty="0"/>
              <a:t> of a graph  G</a:t>
            </a:r>
            <a:r>
              <a:rPr lang="en-US" dirty="0"/>
              <a:t> = (</a:t>
            </a:r>
            <a:r>
              <a:rPr lang="en-US" i="1" dirty="0"/>
              <a:t>V</a:t>
            </a:r>
            <a:r>
              <a:rPr lang="en-US" dirty="0"/>
              <a:t>,</a:t>
            </a:r>
            <a:r>
              <a:rPr lang="en-US" i="1" dirty="0"/>
              <a:t>E</a:t>
            </a:r>
            <a:r>
              <a:rPr lang="en-US" dirty="0"/>
              <a:t>)  is a graph (</a:t>
            </a:r>
            <a:r>
              <a:rPr lang="en-US" i="1" dirty="0"/>
              <a:t>W</a:t>
            </a:r>
            <a:r>
              <a:rPr lang="en-US" dirty="0"/>
              <a:t>,</a:t>
            </a:r>
            <a:r>
              <a:rPr lang="en-US" i="1" dirty="0"/>
              <a:t>F</a:t>
            </a:r>
            <a:r>
              <a:rPr lang="en-US" dirty="0"/>
              <a:t>),  where  </a:t>
            </a:r>
            <a:r>
              <a:rPr lang="en-US" i="1" dirty="0"/>
              <a:t>W</a:t>
            </a:r>
            <a:r>
              <a:rPr lang="en-US" dirty="0"/>
              <a:t> </a:t>
            </a:r>
            <a:r>
              <a:rPr lang="en-US" dirty="0">
                <a:latin typeface="Cambria Math"/>
                <a:ea typeface="Cambria Math"/>
              </a:rPr>
              <a:t>⊂ </a:t>
            </a:r>
            <a:r>
              <a:rPr lang="en-US" i="1" dirty="0">
                <a:ea typeface="Cambria Math"/>
              </a:rPr>
              <a:t>V</a:t>
            </a:r>
            <a:r>
              <a:rPr lang="en-US" dirty="0">
                <a:latin typeface="Cambria Math"/>
                <a:ea typeface="Cambria Math"/>
              </a:rPr>
              <a:t> and </a:t>
            </a:r>
            <a:r>
              <a:rPr lang="en-US" i="1" dirty="0">
                <a:ea typeface="Cambria Math"/>
              </a:rPr>
              <a:t>F</a:t>
            </a:r>
            <a:r>
              <a:rPr lang="en-US" dirty="0">
                <a:latin typeface="Cambria Math"/>
                <a:ea typeface="Cambria Math"/>
              </a:rPr>
              <a:t> ⊂ </a:t>
            </a:r>
            <a:r>
              <a:rPr lang="en-US" i="1" dirty="0">
                <a:ea typeface="Cambria Math"/>
              </a:rPr>
              <a:t>E</a:t>
            </a:r>
            <a:r>
              <a:rPr lang="en-US" dirty="0">
                <a:latin typeface="Cambria Math"/>
                <a:ea typeface="Cambria Math"/>
              </a:rPr>
              <a:t>. A </a:t>
            </a:r>
            <a:r>
              <a:rPr lang="en-US" dirty="0" err="1">
                <a:latin typeface="Cambria Math"/>
                <a:ea typeface="Cambria Math"/>
              </a:rPr>
              <a:t>subgraph</a:t>
            </a:r>
            <a:r>
              <a:rPr lang="en-US" dirty="0">
                <a:latin typeface="Cambria Math"/>
                <a:ea typeface="Cambria Math"/>
              </a:rPr>
              <a:t> </a:t>
            </a:r>
            <a:r>
              <a:rPr lang="en-US" i="1" dirty="0">
                <a:ea typeface="Cambria Math"/>
              </a:rPr>
              <a:t>H</a:t>
            </a:r>
            <a:r>
              <a:rPr lang="en-US" dirty="0">
                <a:latin typeface="Cambria Math"/>
                <a:ea typeface="Cambria Math"/>
              </a:rPr>
              <a:t> of </a:t>
            </a:r>
            <a:r>
              <a:rPr lang="en-US" i="1" dirty="0">
                <a:ea typeface="Cambria Math"/>
              </a:rPr>
              <a:t>G</a:t>
            </a:r>
            <a:r>
              <a:rPr lang="en-US" dirty="0">
                <a:latin typeface="Cambria Math"/>
                <a:ea typeface="Cambria Math"/>
              </a:rPr>
              <a:t> is a proper </a:t>
            </a:r>
            <a:r>
              <a:rPr lang="en-US" dirty="0" err="1">
                <a:latin typeface="Cambria Math"/>
                <a:ea typeface="Cambria Math"/>
              </a:rPr>
              <a:t>subgraph</a:t>
            </a:r>
            <a:r>
              <a:rPr lang="en-US" dirty="0">
                <a:latin typeface="Cambria Math"/>
                <a:ea typeface="Cambria Math"/>
              </a:rPr>
              <a:t> of </a:t>
            </a:r>
            <a:r>
              <a:rPr lang="en-US" i="1" dirty="0">
                <a:ea typeface="Cambria Math"/>
              </a:rPr>
              <a:t>G</a:t>
            </a:r>
            <a:r>
              <a:rPr lang="en-US" dirty="0">
                <a:latin typeface="Cambria Math"/>
                <a:ea typeface="Cambria Math"/>
              </a:rPr>
              <a:t> if </a:t>
            </a:r>
            <a:r>
              <a:rPr lang="en-US" i="1" dirty="0">
                <a:ea typeface="Cambria Math"/>
              </a:rPr>
              <a:t>H</a:t>
            </a:r>
            <a:r>
              <a:rPr lang="en-US" dirty="0">
                <a:latin typeface="Cambria Math"/>
                <a:ea typeface="Cambria Math"/>
              </a:rPr>
              <a:t> </a:t>
            </a:r>
            <a:r>
              <a:rPr lang="en-US" i="1" dirty="0">
                <a:ea typeface="Cambria Math"/>
              </a:rPr>
              <a:t>≠ G.</a:t>
            </a:r>
          </a:p>
          <a:p>
            <a:pPr indent="0">
              <a:buNone/>
            </a:pPr>
            <a:endParaRPr lang="en-US" i="1" dirty="0">
              <a:ea typeface="Cambria Math"/>
            </a:endParaRPr>
          </a:p>
          <a:p>
            <a:pPr indent="0">
              <a:buNone/>
            </a:pPr>
            <a:r>
              <a:rPr lang="en-US" b="1" dirty="0">
                <a:ea typeface="Cambria Math"/>
              </a:rPr>
              <a:t>Example</a:t>
            </a:r>
            <a:r>
              <a:rPr lang="en-US" dirty="0">
                <a:ea typeface="Cambria Math"/>
              </a:rPr>
              <a:t>: </a:t>
            </a:r>
            <a:r>
              <a:rPr lang="en-US" dirty="0"/>
              <a:t>Here we show </a:t>
            </a:r>
            <a:r>
              <a:rPr lang="en-US" i="1" dirty="0"/>
              <a:t>K</a:t>
            </a:r>
            <a:r>
              <a:rPr lang="en-US" baseline="-25000" dirty="0">
                <a:latin typeface="Cambria" pitchFamily="18" charset="0"/>
              </a:rPr>
              <a:t>5</a:t>
            </a:r>
            <a:r>
              <a:rPr lang="en-US" b="1" dirty="0"/>
              <a:t> </a:t>
            </a:r>
            <a:r>
              <a:rPr lang="en-US" dirty="0"/>
              <a:t>and                                                                                              one of its </a:t>
            </a:r>
            <a:r>
              <a:rPr lang="en-US" dirty="0" err="1"/>
              <a:t>subgraphs</a:t>
            </a:r>
            <a:r>
              <a:rPr lang="en-US" dirty="0"/>
              <a:t>.</a:t>
            </a:r>
            <a:endParaRPr lang="en-US" b="1" dirty="0"/>
          </a:p>
          <a:p>
            <a:pPr indent="0">
              <a:buNone/>
            </a:pPr>
            <a:endParaRPr lang="en-US" b="1" dirty="0"/>
          </a:p>
          <a:p>
            <a:pPr indent="0">
              <a:buNone/>
            </a:pPr>
            <a:endParaRPr lang="en-US" b="1" dirty="0"/>
          </a:p>
          <a:p>
            <a:pPr indent="0">
              <a:buNone/>
            </a:pPr>
            <a:r>
              <a:rPr lang="en-US" b="1" dirty="0"/>
              <a:t>Definition:  </a:t>
            </a:r>
            <a:r>
              <a:rPr lang="en-US" dirty="0"/>
              <a:t>Let </a:t>
            </a:r>
            <a:r>
              <a:rPr lang="en-US" i="1" dirty="0"/>
              <a:t>G</a:t>
            </a:r>
            <a:r>
              <a:rPr lang="en-US" dirty="0"/>
              <a:t> = (</a:t>
            </a:r>
            <a:r>
              <a:rPr lang="en-US" i="1" dirty="0"/>
              <a:t>V</a:t>
            </a:r>
            <a:r>
              <a:rPr lang="en-US" dirty="0"/>
              <a:t>, </a:t>
            </a:r>
            <a:r>
              <a:rPr lang="en-US" i="1" dirty="0"/>
              <a:t>E</a:t>
            </a:r>
            <a:r>
              <a:rPr lang="en-US" dirty="0"/>
              <a:t>) be a simple graph.  The  </a:t>
            </a:r>
            <a:r>
              <a:rPr lang="en-US" i="1" dirty="0" err="1"/>
              <a:t>subgraph</a:t>
            </a:r>
            <a:r>
              <a:rPr lang="en-US" i="1" dirty="0"/>
              <a:t> induced  </a:t>
            </a:r>
            <a:r>
              <a:rPr lang="en-US" dirty="0"/>
              <a:t>by a subset </a:t>
            </a:r>
            <a:r>
              <a:rPr lang="en-US" i="1" dirty="0"/>
              <a:t>W</a:t>
            </a:r>
            <a:r>
              <a:rPr lang="en-US" dirty="0"/>
              <a:t>  of the vertex set </a:t>
            </a:r>
            <a:r>
              <a:rPr lang="en-US" i="1" dirty="0"/>
              <a:t>V</a:t>
            </a:r>
            <a:r>
              <a:rPr lang="en-US" dirty="0"/>
              <a:t> is the graph </a:t>
            </a:r>
            <a:r>
              <a:rPr lang="en-US" i="1" dirty="0"/>
              <a:t> </a:t>
            </a:r>
            <a:r>
              <a:rPr lang="en-US" dirty="0"/>
              <a:t> (</a:t>
            </a:r>
            <a:r>
              <a:rPr lang="en-US" i="1" dirty="0"/>
              <a:t>W</a:t>
            </a:r>
            <a:r>
              <a:rPr lang="en-US" dirty="0"/>
              <a:t>,</a:t>
            </a:r>
            <a:r>
              <a:rPr lang="en-US" i="1" dirty="0"/>
              <a:t>F</a:t>
            </a:r>
            <a:r>
              <a:rPr lang="en-US" dirty="0"/>
              <a:t>),  where  the edge set </a:t>
            </a:r>
            <a:r>
              <a:rPr lang="en-US" i="1" dirty="0">
                <a:ea typeface="Cambria Math"/>
              </a:rPr>
              <a:t>F  </a:t>
            </a:r>
            <a:r>
              <a:rPr lang="en-US" dirty="0">
                <a:ea typeface="Cambria Math"/>
              </a:rPr>
              <a:t>contains an edge in </a:t>
            </a:r>
            <a:r>
              <a:rPr lang="en-US" i="1" dirty="0">
                <a:ea typeface="Cambria Math"/>
              </a:rPr>
              <a:t>E </a:t>
            </a:r>
            <a:r>
              <a:rPr lang="en-US" dirty="0">
                <a:ea typeface="Cambria Math"/>
              </a:rPr>
              <a:t>if and only if both endpoints are in </a:t>
            </a:r>
            <a:r>
              <a:rPr lang="en-US" i="1" dirty="0">
                <a:ea typeface="Cambria Math"/>
              </a:rPr>
              <a:t>W. </a:t>
            </a:r>
            <a:endParaRPr lang="en-US" dirty="0"/>
          </a:p>
          <a:p>
            <a:pPr indent="0">
              <a:buNone/>
            </a:pPr>
            <a:endParaRPr lang="en-US" b="1" dirty="0"/>
          </a:p>
          <a:p>
            <a:pPr indent="0">
              <a:buNone/>
            </a:pPr>
            <a:r>
              <a:rPr lang="en-US" b="1" dirty="0">
                <a:ea typeface="Cambria Math"/>
              </a:rPr>
              <a:t>Example</a:t>
            </a:r>
            <a:r>
              <a:rPr lang="en-US" dirty="0">
                <a:ea typeface="Cambria Math"/>
              </a:rPr>
              <a:t>: Here we show </a:t>
            </a:r>
            <a:r>
              <a:rPr lang="en-US" dirty="0"/>
              <a:t> </a:t>
            </a:r>
            <a:r>
              <a:rPr lang="en-US" i="1" dirty="0"/>
              <a:t>K</a:t>
            </a:r>
            <a:r>
              <a:rPr lang="en-US" baseline="-25000" dirty="0">
                <a:latin typeface="Cambria" pitchFamily="18" charset="0"/>
              </a:rPr>
              <a:t>5  </a:t>
            </a:r>
            <a:r>
              <a:rPr lang="en-US" dirty="0">
                <a:latin typeface="Cambria" pitchFamily="18" charset="0"/>
              </a:rPr>
              <a:t>and the </a:t>
            </a:r>
            <a:r>
              <a:rPr lang="en-US" dirty="0" err="1">
                <a:latin typeface="Cambria" pitchFamily="18" charset="0"/>
              </a:rPr>
              <a:t>subgraph</a:t>
            </a:r>
            <a:r>
              <a:rPr lang="en-US" dirty="0">
                <a:latin typeface="Cambria" pitchFamily="18" charset="0"/>
              </a:rPr>
              <a:t>                                                           induced by </a:t>
            </a:r>
            <a:r>
              <a:rPr lang="en-US" i="1" dirty="0"/>
              <a:t>W</a:t>
            </a:r>
            <a:r>
              <a:rPr lang="en-US" dirty="0">
                <a:latin typeface="Cambria" pitchFamily="18" charset="0"/>
              </a:rPr>
              <a:t> = {</a:t>
            </a:r>
            <a:r>
              <a:rPr lang="en-US" i="1" dirty="0" err="1"/>
              <a:t>a,b,c,e</a:t>
            </a:r>
            <a:r>
              <a:rPr lang="en-US" dirty="0">
                <a:latin typeface="Cambria" pitchFamily="18" charset="0"/>
              </a:rPr>
              <a:t>}</a:t>
            </a:r>
            <a:r>
              <a:rPr lang="en-US" dirty="0"/>
              <a:t>.</a:t>
            </a:r>
          </a:p>
          <a:p>
            <a:pPr indent="0">
              <a:buNone/>
            </a:pPr>
            <a:endParaRPr lang="en-US" b="1" dirty="0"/>
          </a:p>
          <a:p>
            <a:pPr indent="0">
              <a:buNone/>
            </a:pPr>
            <a:endParaRPr lang="en-US" dirty="0"/>
          </a:p>
          <a:p>
            <a:pPr>
              <a:buNone/>
            </a:pPr>
            <a:r>
              <a:rPr lang="en-US" b="1" dirty="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632174" y="2514600"/>
            <a:ext cx="2228850" cy="1000506"/>
          </a:xfrm>
          <a:prstGeom prst="rect">
            <a:avLst/>
          </a:prstGeom>
        </p:spPr>
      </p:pic>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6372" y="4949024"/>
            <a:ext cx="2228850" cy="1000506"/>
          </a:xfrm>
          <a:prstGeom prst="rect">
            <a:avLst/>
          </a:prstGeom>
        </p:spPr>
      </p:pic>
      <p:cxnSp>
        <p:nvCxnSpPr>
          <p:cNvPr id="7" name="Straight Connector 6"/>
          <p:cNvCxnSpPr/>
          <p:nvPr/>
        </p:nvCxnSpPr>
        <p:spPr>
          <a:xfrm flipH="1" flipV="1">
            <a:off x="7251424" y="5386329"/>
            <a:ext cx="60960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Isomorphism of Graphs</a:t>
            </a:r>
          </a:p>
        </p:txBody>
      </p:sp>
      <p:sp>
        <p:nvSpPr>
          <p:cNvPr id="3" name="Content Placeholder 2"/>
          <p:cNvSpPr>
            <a:spLocks noGrp="1"/>
          </p:cNvSpPr>
          <p:nvPr>
            <p:ph idx="1"/>
          </p:nvPr>
        </p:nvSpPr>
        <p:spPr/>
        <p:txBody>
          <a:bodyPr/>
          <a:lstStyle/>
          <a:p>
            <a:pPr indent="0">
              <a:buNone/>
            </a:pPr>
            <a:r>
              <a:rPr lang="en-US" b="1" dirty="0"/>
              <a:t>Definition</a:t>
            </a:r>
            <a:r>
              <a:rPr lang="en-US" dirty="0"/>
              <a:t>: The simple graphs </a:t>
            </a:r>
            <a:r>
              <a:rPr lang="en-US" i="1" dirty="0"/>
              <a:t>G</a:t>
            </a:r>
            <a:r>
              <a:rPr lang="en-US" baseline="-25000" dirty="0">
                <a:latin typeface="Cambria Math" pitchFamily="18" charset="0"/>
                <a:ea typeface="Cambria Math" pitchFamily="18" charset="0"/>
              </a:rPr>
              <a:t>1</a:t>
            </a:r>
            <a:r>
              <a:rPr lang="en-US" i="1" dirty="0"/>
              <a:t> = </a:t>
            </a:r>
            <a:r>
              <a:rPr lang="en-US" dirty="0"/>
              <a:t>(</a:t>
            </a:r>
            <a:r>
              <a:rPr lang="en-US" i="1" dirty="0"/>
              <a:t>V</a:t>
            </a:r>
            <a:r>
              <a:rPr lang="en-US" baseline="-25000" dirty="0">
                <a:latin typeface="Cambria Math" pitchFamily="18" charset="0"/>
                <a:ea typeface="Cambria Math" pitchFamily="18" charset="0"/>
              </a:rPr>
              <a:t>1</a:t>
            </a:r>
            <a:r>
              <a:rPr lang="en-US" i="1" dirty="0"/>
              <a:t>, E</a:t>
            </a:r>
            <a:r>
              <a:rPr lang="en-US" baseline="-25000" dirty="0">
                <a:latin typeface="Cambria Math" pitchFamily="18" charset="0"/>
                <a:ea typeface="Cambria Math" pitchFamily="18" charset="0"/>
              </a:rPr>
              <a:t>1</a:t>
            </a:r>
            <a:r>
              <a:rPr lang="en-US" dirty="0"/>
              <a:t>)</a:t>
            </a:r>
            <a:r>
              <a:rPr lang="en-US" i="1" dirty="0"/>
              <a:t> </a:t>
            </a:r>
            <a:r>
              <a:rPr lang="en-US" dirty="0"/>
              <a:t>and             </a:t>
            </a:r>
            <a:r>
              <a:rPr lang="en-US" i="1" dirty="0"/>
              <a:t>G</a:t>
            </a:r>
            <a:r>
              <a:rPr lang="en-US" baseline="-25000" dirty="0">
                <a:latin typeface="Cambria Math" pitchFamily="18" charset="0"/>
                <a:ea typeface="Cambria Math" pitchFamily="18" charset="0"/>
              </a:rPr>
              <a:t>2</a:t>
            </a:r>
            <a:r>
              <a:rPr lang="en-US" i="1" dirty="0"/>
              <a:t> = </a:t>
            </a:r>
            <a:r>
              <a:rPr lang="en-US" dirty="0"/>
              <a:t>(</a:t>
            </a:r>
            <a:r>
              <a:rPr lang="en-US" i="1" dirty="0"/>
              <a:t>V</a:t>
            </a:r>
            <a:r>
              <a:rPr lang="en-US" baseline="-25000" dirty="0">
                <a:latin typeface="Cambria Math" pitchFamily="18" charset="0"/>
                <a:ea typeface="Cambria Math" pitchFamily="18" charset="0"/>
              </a:rPr>
              <a:t>2</a:t>
            </a:r>
            <a:r>
              <a:rPr lang="en-US" i="1" dirty="0"/>
              <a:t>, E</a:t>
            </a:r>
            <a:r>
              <a:rPr lang="en-US" baseline="-25000" dirty="0">
                <a:latin typeface="Cambria Math" pitchFamily="18" charset="0"/>
                <a:ea typeface="Cambria Math" pitchFamily="18" charset="0"/>
              </a:rPr>
              <a:t>2</a:t>
            </a:r>
            <a:r>
              <a:rPr lang="en-US" dirty="0"/>
              <a:t>)</a:t>
            </a:r>
            <a:r>
              <a:rPr lang="en-US" i="1" dirty="0"/>
              <a:t> </a:t>
            </a:r>
            <a:r>
              <a:rPr lang="en-US" dirty="0"/>
              <a:t>are </a:t>
            </a:r>
            <a:r>
              <a:rPr lang="en-US" i="1" dirty="0"/>
              <a:t>isomorphic</a:t>
            </a:r>
            <a:r>
              <a:rPr lang="en-US" dirty="0"/>
              <a:t> if there is a one-to-one and onto function </a:t>
            </a:r>
            <a:r>
              <a:rPr lang="en-US" i="1" dirty="0"/>
              <a:t>f</a:t>
            </a:r>
            <a:r>
              <a:rPr lang="en-US" dirty="0"/>
              <a:t> from </a:t>
            </a:r>
            <a:r>
              <a:rPr lang="en-US" i="1" dirty="0"/>
              <a:t>V</a:t>
            </a:r>
            <a:r>
              <a:rPr lang="en-US" baseline="-25000" dirty="0">
                <a:latin typeface="Cambria Math" pitchFamily="18" charset="0"/>
                <a:ea typeface="Cambria Math" pitchFamily="18" charset="0"/>
              </a:rPr>
              <a:t>1</a:t>
            </a:r>
            <a:r>
              <a:rPr lang="en-US" i="1" dirty="0"/>
              <a:t> </a:t>
            </a:r>
            <a:r>
              <a:rPr lang="en-US" dirty="0"/>
              <a:t>to </a:t>
            </a:r>
            <a:r>
              <a:rPr lang="en-US" i="1" dirty="0"/>
              <a:t>V</a:t>
            </a:r>
            <a:r>
              <a:rPr lang="en-US" baseline="-25000" dirty="0">
                <a:latin typeface="Cambria Math" pitchFamily="18" charset="0"/>
                <a:ea typeface="Cambria Math" pitchFamily="18" charset="0"/>
              </a:rPr>
              <a:t>2</a:t>
            </a:r>
            <a:r>
              <a:rPr lang="en-US" dirty="0"/>
              <a:t> with the property that </a:t>
            </a:r>
            <a:r>
              <a:rPr lang="en-US" i="1" dirty="0"/>
              <a:t>a</a:t>
            </a:r>
            <a:r>
              <a:rPr lang="en-US" dirty="0"/>
              <a:t> and </a:t>
            </a:r>
            <a:r>
              <a:rPr lang="en-US" i="1" dirty="0"/>
              <a:t>b</a:t>
            </a:r>
            <a:r>
              <a:rPr lang="en-US" dirty="0"/>
              <a:t> are adjacent in </a:t>
            </a:r>
            <a:r>
              <a:rPr lang="en-US" i="1" dirty="0"/>
              <a:t>G</a:t>
            </a:r>
            <a:r>
              <a:rPr lang="en-US" baseline="-25000" dirty="0">
                <a:latin typeface="Cambria Math" pitchFamily="18" charset="0"/>
                <a:ea typeface="Cambria Math" pitchFamily="18" charset="0"/>
              </a:rPr>
              <a:t>1</a:t>
            </a:r>
            <a:r>
              <a:rPr lang="en-US" i="1" dirty="0"/>
              <a:t> </a:t>
            </a:r>
            <a:r>
              <a:rPr lang="en-US" dirty="0"/>
              <a:t>if and only if </a:t>
            </a:r>
            <a:r>
              <a:rPr lang="en-US" i="1" dirty="0"/>
              <a:t>f</a:t>
            </a:r>
            <a:r>
              <a:rPr lang="en-US" dirty="0"/>
              <a:t>(</a:t>
            </a:r>
            <a:r>
              <a:rPr lang="en-US" i="1" dirty="0"/>
              <a:t>a</a:t>
            </a:r>
            <a:r>
              <a:rPr lang="en-US" dirty="0"/>
              <a:t>) and </a:t>
            </a:r>
            <a:r>
              <a:rPr lang="en-US" i="1" dirty="0"/>
              <a:t>f</a:t>
            </a:r>
            <a:r>
              <a:rPr lang="en-US" dirty="0"/>
              <a:t>(</a:t>
            </a:r>
            <a:r>
              <a:rPr lang="en-US" i="1" dirty="0"/>
              <a:t>b</a:t>
            </a:r>
            <a:r>
              <a:rPr lang="en-US" dirty="0"/>
              <a:t>) are adjacent in </a:t>
            </a:r>
            <a:r>
              <a:rPr lang="en-US" i="1" dirty="0"/>
              <a:t>G</a:t>
            </a:r>
            <a:r>
              <a:rPr lang="en-US" baseline="-25000" dirty="0">
                <a:latin typeface="Cambria Math" pitchFamily="18" charset="0"/>
                <a:ea typeface="Cambria Math" pitchFamily="18" charset="0"/>
              </a:rPr>
              <a:t>2</a:t>
            </a:r>
            <a:r>
              <a:rPr lang="en-US" i="1" dirty="0"/>
              <a:t> , </a:t>
            </a:r>
            <a:r>
              <a:rPr lang="en-US" dirty="0"/>
              <a:t>for all </a:t>
            </a:r>
            <a:r>
              <a:rPr lang="en-US" i="1" dirty="0"/>
              <a:t>a</a:t>
            </a:r>
            <a:r>
              <a:rPr lang="en-US" dirty="0"/>
              <a:t> and </a:t>
            </a:r>
            <a:r>
              <a:rPr lang="en-US" i="1" dirty="0"/>
              <a:t>b</a:t>
            </a:r>
            <a:r>
              <a:rPr lang="en-US" dirty="0"/>
              <a:t> in </a:t>
            </a:r>
            <a:r>
              <a:rPr lang="en-US" i="1" dirty="0"/>
              <a:t>V</a:t>
            </a:r>
            <a:r>
              <a:rPr lang="en-US" baseline="-25000" dirty="0">
                <a:latin typeface="Cambria Math" pitchFamily="18" charset="0"/>
                <a:ea typeface="Cambria Math" pitchFamily="18" charset="0"/>
              </a:rPr>
              <a:t>1</a:t>
            </a:r>
            <a:r>
              <a:rPr lang="en-US" i="1" dirty="0"/>
              <a:t> . </a:t>
            </a:r>
            <a:r>
              <a:rPr lang="en-US" dirty="0"/>
              <a:t>Such a function </a:t>
            </a:r>
            <a:r>
              <a:rPr lang="en-US" i="1" dirty="0"/>
              <a:t>f </a:t>
            </a:r>
            <a:r>
              <a:rPr lang="en-US" dirty="0"/>
              <a:t>is called an </a:t>
            </a:r>
            <a:r>
              <a:rPr lang="en-US" i="1" dirty="0"/>
              <a:t>isomorphism. </a:t>
            </a:r>
            <a:r>
              <a:rPr lang="en-US" dirty="0"/>
              <a:t>Two simple graphs that are not isomorphic are called </a:t>
            </a:r>
            <a:r>
              <a:rPr lang="en-US" i="1" dirty="0" err="1"/>
              <a:t>nonisomorphic</a:t>
            </a:r>
            <a:r>
              <a:rPr lang="en-US" dirty="0"/>
              <a:t>.</a:t>
            </a:r>
          </a:p>
        </p:txBody>
      </p:sp>
    </p:spTree>
    <p:extLst>
      <p:ext uri="{BB962C8B-B14F-4D97-AF65-F5344CB8AC3E}">
        <p14:creationId xmlns:p14="http://schemas.microsoft.com/office/powerpoint/2010/main" val="1503362271"/>
      </p:ext>
    </p:extLst>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Isomorphism of Graphs (</a:t>
            </a:r>
            <a:r>
              <a:rPr lang="en-US" i="1" dirty="0"/>
              <a:t>cont.</a:t>
            </a:r>
            <a:r>
              <a:rPr lang="en-US" dirty="0"/>
              <a:t>)</a:t>
            </a:r>
          </a:p>
        </p:txBody>
      </p:sp>
      <p:sp>
        <p:nvSpPr>
          <p:cNvPr id="3" name="Content Placeholder 2"/>
          <p:cNvSpPr>
            <a:spLocks noGrp="1"/>
          </p:cNvSpPr>
          <p:nvPr>
            <p:ph idx="1"/>
          </p:nvPr>
        </p:nvSpPr>
        <p:spPr/>
        <p:txBody>
          <a:bodyPr>
            <a:normAutofit lnSpcReduction="10000"/>
          </a:bodyPr>
          <a:lstStyle/>
          <a:p>
            <a:pPr indent="0">
              <a:buNone/>
            </a:pPr>
            <a:r>
              <a:rPr lang="en-US" b="1" dirty="0"/>
              <a:t>Example</a:t>
            </a:r>
            <a:r>
              <a:rPr lang="en-US" dirty="0"/>
              <a:t>: Show that the graphs </a:t>
            </a:r>
            <a:r>
              <a:rPr lang="en-US" i="1" dirty="0"/>
              <a:t>G</a:t>
            </a:r>
            <a:r>
              <a:rPr lang="en-US" dirty="0"/>
              <a:t> =(</a:t>
            </a:r>
            <a:r>
              <a:rPr lang="en-US" i="1" dirty="0"/>
              <a:t>V</a:t>
            </a:r>
            <a:r>
              <a:rPr lang="en-US" dirty="0"/>
              <a:t>, </a:t>
            </a:r>
            <a:r>
              <a:rPr lang="en-US" i="1" dirty="0"/>
              <a:t>E</a:t>
            </a:r>
            <a:r>
              <a:rPr lang="en-US" dirty="0"/>
              <a:t>) and                           </a:t>
            </a:r>
            <a:r>
              <a:rPr lang="en-US" i="1" dirty="0"/>
              <a:t>H</a:t>
            </a:r>
            <a:r>
              <a:rPr lang="en-US" dirty="0"/>
              <a:t> = (</a:t>
            </a:r>
            <a:r>
              <a:rPr lang="en-US" i="1" dirty="0"/>
              <a:t>W</a:t>
            </a:r>
            <a:r>
              <a:rPr lang="en-US" dirty="0"/>
              <a:t>, </a:t>
            </a:r>
            <a:r>
              <a:rPr lang="en-US" i="1" dirty="0"/>
              <a:t>F</a:t>
            </a:r>
            <a:r>
              <a:rPr lang="en-US" dirty="0"/>
              <a:t>) are isomorphic.</a:t>
            </a:r>
          </a:p>
          <a:p>
            <a:pPr indent="0">
              <a:buNone/>
            </a:pPr>
            <a:endParaRPr lang="en-US" dirty="0"/>
          </a:p>
          <a:p>
            <a:pPr indent="0">
              <a:spcBef>
                <a:spcPts val="0"/>
              </a:spcBef>
              <a:buNone/>
            </a:pPr>
            <a:r>
              <a:rPr lang="en-US" b="1" dirty="0"/>
              <a:t>Solution</a:t>
            </a:r>
            <a:r>
              <a:rPr lang="en-US" dirty="0"/>
              <a:t>: The function </a:t>
            </a:r>
            <a:r>
              <a:rPr lang="en-US" i="1" dirty="0"/>
              <a:t>f</a:t>
            </a:r>
            <a:r>
              <a:rPr lang="en-US" dirty="0"/>
              <a:t> with </a:t>
            </a:r>
            <a:r>
              <a:rPr lang="en-US" i="1" dirty="0"/>
              <a:t>f</a:t>
            </a:r>
            <a:r>
              <a:rPr lang="en-US" dirty="0"/>
              <a:t>(</a:t>
            </a:r>
            <a:r>
              <a:rPr lang="en-US" i="1" dirty="0"/>
              <a:t>u</a:t>
            </a:r>
            <a:r>
              <a:rPr lang="en-US" baseline="-25000" dirty="0">
                <a:latin typeface="Cambria Math" pitchFamily="18" charset="0"/>
                <a:ea typeface="Cambria Math" pitchFamily="18" charset="0"/>
              </a:rPr>
              <a:t>1</a:t>
            </a:r>
            <a:r>
              <a:rPr lang="en-US" dirty="0"/>
              <a:t>) = </a:t>
            </a:r>
            <a:r>
              <a:rPr lang="en-US" i="1" dirty="0"/>
              <a:t>v</a:t>
            </a:r>
            <a:r>
              <a:rPr lang="en-US" baseline="-25000" dirty="0">
                <a:latin typeface="Cambria Math" pitchFamily="18" charset="0"/>
                <a:ea typeface="Cambria Math" pitchFamily="18" charset="0"/>
              </a:rPr>
              <a:t>1</a:t>
            </a:r>
            <a:r>
              <a:rPr lang="en-US" dirty="0"/>
              <a:t>,</a:t>
            </a:r>
          </a:p>
          <a:p>
            <a:pPr indent="0">
              <a:spcBef>
                <a:spcPts val="0"/>
              </a:spcBef>
              <a:buNone/>
            </a:pPr>
            <a:r>
              <a:rPr lang="en-US" i="1" dirty="0"/>
              <a:t>f</a:t>
            </a:r>
            <a:r>
              <a:rPr lang="en-US" dirty="0"/>
              <a:t>(</a:t>
            </a:r>
            <a:r>
              <a:rPr lang="en-US" i="1" dirty="0"/>
              <a:t>u</a:t>
            </a:r>
            <a:r>
              <a:rPr lang="en-US" baseline="-25000" dirty="0">
                <a:latin typeface="Cambria Math" pitchFamily="18" charset="0"/>
                <a:ea typeface="Cambria Math" pitchFamily="18" charset="0"/>
              </a:rPr>
              <a:t>2</a:t>
            </a:r>
            <a:r>
              <a:rPr lang="en-US" dirty="0"/>
              <a:t>) = </a:t>
            </a:r>
            <a:r>
              <a:rPr lang="en-US" i="1" dirty="0"/>
              <a:t>v</a:t>
            </a:r>
            <a:r>
              <a:rPr lang="en-US" baseline="-25000" dirty="0">
                <a:latin typeface="Cambria Math" pitchFamily="18" charset="0"/>
                <a:ea typeface="Cambria Math" pitchFamily="18" charset="0"/>
              </a:rPr>
              <a:t>4</a:t>
            </a:r>
            <a:r>
              <a:rPr lang="en-US" dirty="0"/>
              <a:t>, </a:t>
            </a:r>
            <a:r>
              <a:rPr lang="en-US" i="1" dirty="0"/>
              <a:t>f</a:t>
            </a:r>
            <a:r>
              <a:rPr lang="en-US" dirty="0"/>
              <a:t>(</a:t>
            </a:r>
            <a:r>
              <a:rPr lang="en-US" i="1" dirty="0"/>
              <a:t>u</a:t>
            </a:r>
            <a:r>
              <a:rPr lang="en-US" baseline="-25000" dirty="0">
                <a:latin typeface="Cambria Math" pitchFamily="18" charset="0"/>
                <a:ea typeface="Cambria Math" pitchFamily="18" charset="0"/>
              </a:rPr>
              <a:t>3</a:t>
            </a:r>
            <a:r>
              <a:rPr lang="en-US" dirty="0"/>
              <a:t>) = </a:t>
            </a:r>
            <a:r>
              <a:rPr lang="en-US" i="1" dirty="0"/>
              <a:t>v</a:t>
            </a:r>
            <a:r>
              <a:rPr lang="en-US" baseline="-25000" dirty="0">
                <a:latin typeface="Cambria Math" pitchFamily="18" charset="0"/>
                <a:ea typeface="Cambria Math" pitchFamily="18" charset="0"/>
              </a:rPr>
              <a:t>3</a:t>
            </a:r>
            <a:r>
              <a:rPr lang="en-US" dirty="0"/>
              <a:t>, and </a:t>
            </a:r>
            <a:r>
              <a:rPr lang="en-US" i="1" dirty="0"/>
              <a:t>f</a:t>
            </a:r>
            <a:r>
              <a:rPr lang="en-US" dirty="0"/>
              <a:t>(</a:t>
            </a:r>
            <a:r>
              <a:rPr lang="en-US" i="1" dirty="0"/>
              <a:t>u</a:t>
            </a:r>
            <a:r>
              <a:rPr lang="en-US" baseline="-25000" dirty="0">
                <a:latin typeface="Cambria Math" pitchFamily="18" charset="0"/>
                <a:ea typeface="Cambria Math" pitchFamily="18" charset="0"/>
              </a:rPr>
              <a:t>4</a:t>
            </a:r>
            <a:r>
              <a:rPr lang="en-US" dirty="0"/>
              <a:t>) = </a:t>
            </a:r>
            <a:r>
              <a:rPr lang="en-US" i="1" dirty="0"/>
              <a:t>v</a:t>
            </a:r>
            <a:r>
              <a:rPr lang="en-US" baseline="-25000" dirty="0">
                <a:latin typeface="Cambria Math" pitchFamily="18" charset="0"/>
                <a:ea typeface="Cambria Math" pitchFamily="18" charset="0"/>
              </a:rPr>
              <a:t>2</a:t>
            </a:r>
            <a:r>
              <a:rPr lang="en-US" dirty="0"/>
              <a:t>  is a </a:t>
            </a:r>
          </a:p>
          <a:p>
            <a:pPr indent="0">
              <a:spcBef>
                <a:spcPts val="0"/>
              </a:spcBef>
              <a:buNone/>
            </a:pPr>
            <a:r>
              <a:rPr lang="en-US" dirty="0"/>
              <a:t>one-to-one correspondence between </a:t>
            </a:r>
            <a:r>
              <a:rPr lang="en-US" i="1" dirty="0"/>
              <a:t>V</a:t>
            </a:r>
            <a:r>
              <a:rPr lang="en-US" dirty="0"/>
              <a:t> and </a:t>
            </a:r>
            <a:r>
              <a:rPr lang="en-US" i="1" dirty="0"/>
              <a:t>W</a:t>
            </a:r>
            <a:r>
              <a:rPr lang="en-US" dirty="0"/>
              <a:t>.               Note that adjacent vertices in </a:t>
            </a:r>
            <a:r>
              <a:rPr lang="en-US" i="1" dirty="0"/>
              <a:t>G</a:t>
            </a:r>
            <a:r>
              <a:rPr lang="en-US" dirty="0"/>
              <a:t> are </a:t>
            </a:r>
            <a:r>
              <a:rPr lang="en-US" i="1" dirty="0"/>
              <a:t>u</a:t>
            </a:r>
            <a:r>
              <a:rPr lang="en-US" baseline="-25000" dirty="0">
                <a:latin typeface="Cambria Math" pitchFamily="18" charset="0"/>
                <a:ea typeface="Cambria Math" pitchFamily="18" charset="0"/>
              </a:rPr>
              <a:t>1</a:t>
            </a:r>
            <a:r>
              <a:rPr lang="en-US" dirty="0"/>
              <a:t> and </a:t>
            </a:r>
            <a:r>
              <a:rPr lang="en-US" i="1" dirty="0"/>
              <a:t>u</a:t>
            </a:r>
            <a:r>
              <a:rPr lang="en-US" baseline="-25000" dirty="0">
                <a:latin typeface="Cambria Math" pitchFamily="18" charset="0"/>
                <a:ea typeface="Cambria Math" pitchFamily="18" charset="0"/>
              </a:rPr>
              <a:t>2</a:t>
            </a:r>
            <a:r>
              <a:rPr lang="en-US" dirty="0"/>
              <a:t>, </a:t>
            </a:r>
            <a:r>
              <a:rPr lang="en-US" i="1" dirty="0"/>
              <a:t>u</a:t>
            </a:r>
            <a:r>
              <a:rPr lang="en-US" baseline="-25000" dirty="0">
                <a:latin typeface="Cambria Math" pitchFamily="18" charset="0"/>
                <a:ea typeface="Cambria Math" pitchFamily="18" charset="0"/>
              </a:rPr>
              <a:t>1</a:t>
            </a:r>
            <a:r>
              <a:rPr lang="en-US" dirty="0"/>
              <a:t> and </a:t>
            </a:r>
            <a:r>
              <a:rPr lang="en-US" i="1" dirty="0"/>
              <a:t>u</a:t>
            </a:r>
            <a:r>
              <a:rPr lang="en-US" baseline="-25000" dirty="0">
                <a:latin typeface="Cambria Math" pitchFamily="18" charset="0"/>
                <a:ea typeface="Cambria Math" pitchFamily="18" charset="0"/>
              </a:rPr>
              <a:t>3</a:t>
            </a:r>
            <a:r>
              <a:rPr lang="en-US" dirty="0"/>
              <a:t>, </a:t>
            </a:r>
            <a:r>
              <a:rPr lang="en-US" i="1" dirty="0"/>
              <a:t>u</a:t>
            </a:r>
            <a:r>
              <a:rPr lang="en-US" baseline="-25000" dirty="0">
                <a:latin typeface="Cambria Math" pitchFamily="18" charset="0"/>
                <a:ea typeface="Cambria Math" pitchFamily="18" charset="0"/>
              </a:rPr>
              <a:t>2</a:t>
            </a:r>
            <a:r>
              <a:rPr lang="en-US" dirty="0"/>
              <a:t> and </a:t>
            </a:r>
            <a:r>
              <a:rPr lang="en-US" i="1" dirty="0"/>
              <a:t>u</a:t>
            </a:r>
            <a:r>
              <a:rPr lang="en-US" baseline="-25000" dirty="0">
                <a:latin typeface="Cambria Math" pitchFamily="18" charset="0"/>
                <a:ea typeface="Cambria Math" pitchFamily="18" charset="0"/>
              </a:rPr>
              <a:t>4</a:t>
            </a:r>
            <a:r>
              <a:rPr lang="en-US" dirty="0"/>
              <a:t>, and </a:t>
            </a:r>
            <a:r>
              <a:rPr lang="en-US" i="1" dirty="0"/>
              <a:t>u</a:t>
            </a:r>
            <a:r>
              <a:rPr lang="en-US" baseline="-25000" dirty="0">
                <a:latin typeface="Cambria Math" pitchFamily="18" charset="0"/>
                <a:ea typeface="Cambria Math" pitchFamily="18" charset="0"/>
              </a:rPr>
              <a:t>3</a:t>
            </a:r>
            <a:r>
              <a:rPr lang="en-US" dirty="0"/>
              <a:t> and </a:t>
            </a:r>
            <a:r>
              <a:rPr lang="en-US" i="1" dirty="0"/>
              <a:t>u</a:t>
            </a:r>
            <a:r>
              <a:rPr lang="en-US" baseline="-25000" dirty="0">
                <a:latin typeface="Cambria Math" pitchFamily="18" charset="0"/>
                <a:ea typeface="Cambria Math" pitchFamily="18" charset="0"/>
              </a:rPr>
              <a:t>4</a:t>
            </a:r>
            <a:r>
              <a:rPr lang="en-US" dirty="0"/>
              <a:t>. Each of the pairs </a:t>
            </a:r>
            <a:r>
              <a:rPr lang="en-US" i="1" dirty="0"/>
              <a:t>f</a:t>
            </a:r>
            <a:r>
              <a:rPr lang="en-US" dirty="0"/>
              <a:t>(</a:t>
            </a:r>
            <a:r>
              <a:rPr lang="en-US" i="1" dirty="0"/>
              <a:t>u</a:t>
            </a:r>
            <a:r>
              <a:rPr lang="en-US" baseline="-25000" dirty="0">
                <a:latin typeface="Cambria Math" pitchFamily="18" charset="0"/>
                <a:ea typeface="Cambria Math" pitchFamily="18" charset="0"/>
              </a:rPr>
              <a:t>1</a:t>
            </a:r>
            <a:r>
              <a:rPr lang="en-US" dirty="0"/>
              <a:t>) = </a:t>
            </a:r>
            <a:r>
              <a:rPr lang="en-US" i="1" dirty="0"/>
              <a:t>v</a:t>
            </a:r>
            <a:r>
              <a:rPr lang="en-US" baseline="-25000" dirty="0">
                <a:latin typeface="Cambria Math" pitchFamily="18" charset="0"/>
                <a:ea typeface="Cambria Math" pitchFamily="18" charset="0"/>
              </a:rPr>
              <a:t>1</a:t>
            </a:r>
            <a:r>
              <a:rPr lang="en-US" dirty="0"/>
              <a:t> and </a:t>
            </a:r>
            <a:r>
              <a:rPr lang="en-US" i="1" dirty="0"/>
              <a:t>f</a:t>
            </a:r>
            <a:r>
              <a:rPr lang="en-US" dirty="0"/>
              <a:t>(</a:t>
            </a:r>
            <a:r>
              <a:rPr lang="en-US" i="1" dirty="0"/>
              <a:t>u</a:t>
            </a:r>
            <a:r>
              <a:rPr lang="en-US" baseline="-25000" dirty="0">
                <a:latin typeface="Cambria Math" pitchFamily="18" charset="0"/>
                <a:ea typeface="Cambria Math" pitchFamily="18" charset="0"/>
              </a:rPr>
              <a:t>2</a:t>
            </a:r>
            <a:r>
              <a:rPr lang="en-US" dirty="0"/>
              <a:t>) = </a:t>
            </a:r>
            <a:r>
              <a:rPr lang="en-US" i="1" dirty="0"/>
              <a:t>v</a:t>
            </a:r>
            <a:r>
              <a:rPr lang="en-US" baseline="-25000" dirty="0">
                <a:latin typeface="Cambria Math" pitchFamily="18" charset="0"/>
                <a:ea typeface="Cambria Math" pitchFamily="18" charset="0"/>
              </a:rPr>
              <a:t>4</a:t>
            </a:r>
            <a:r>
              <a:rPr lang="en-US" dirty="0"/>
              <a:t>, </a:t>
            </a:r>
            <a:r>
              <a:rPr lang="en-US" i="1" dirty="0"/>
              <a:t>f</a:t>
            </a:r>
            <a:r>
              <a:rPr lang="en-US" dirty="0"/>
              <a:t>(</a:t>
            </a:r>
            <a:r>
              <a:rPr lang="en-US" i="1" dirty="0"/>
              <a:t>u</a:t>
            </a:r>
            <a:r>
              <a:rPr lang="en-US" baseline="-25000" dirty="0">
                <a:latin typeface="Cambria Math" pitchFamily="18" charset="0"/>
                <a:ea typeface="Cambria Math" pitchFamily="18" charset="0"/>
              </a:rPr>
              <a:t>1</a:t>
            </a:r>
            <a:r>
              <a:rPr lang="en-US" dirty="0"/>
              <a:t>) = </a:t>
            </a:r>
            <a:r>
              <a:rPr lang="en-US" i="1" dirty="0"/>
              <a:t>v</a:t>
            </a:r>
            <a:r>
              <a:rPr lang="en-US" baseline="-25000" dirty="0">
                <a:latin typeface="Cambria Math" pitchFamily="18" charset="0"/>
                <a:ea typeface="Cambria Math" pitchFamily="18" charset="0"/>
              </a:rPr>
              <a:t>1</a:t>
            </a:r>
            <a:r>
              <a:rPr lang="en-US" dirty="0"/>
              <a:t> and</a:t>
            </a:r>
            <a:r>
              <a:rPr lang="en-US" i="1" dirty="0"/>
              <a:t> f</a:t>
            </a:r>
            <a:r>
              <a:rPr lang="en-US" dirty="0"/>
              <a:t>(</a:t>
            </a:r>
            <a:r>
              <a:rPr lang="en-US" i="1" dirty="0"/>
              <a:t>u</a:t>
            </a:r>
            <a:r>
              <a:rPr lang="en-US" baseline="-25000" dirty="0">
                <a:latin typeface="Cambria Math" pitchFamily="18" charset="0"/>
                <a:ea typeface="Cambria Math" pitchFamily="18" charset="0"/>
              </a:rPr>
              <a:t>3</a:t>
            </a:r>
            <a:r>
              <a:rPr lang="en-US" dirty="0"/>
              <a:t>) = </a:t>
            </a:r>
            <a:r>
              <a:rPr lang="en-US" i="1" dirty="0"/>
              <a:t>v</a:t>
            </a:r>
            <a:r>
              <a:rPr lang="en-US" baseline="-25000" dirty="0">
                <a:latin typeface="Cambria Math" pitchFamily="18" charset="0"/>
                <a:ea typeface="Cambria Math" pitchFamily="18" charset="0"/>
              </a:rPr>
              <a:t>3</a:t>
            </a:r>
            <a:r>
              <a:rPr lang="en-US" dirty="0"/>
              <a:t> , </a:t>
            </a:r>
            <a:r>
              <a:rPr lang="en-US" i="1" dirty="0"/>
              <a:t>f</a:t>
            </a:r>
            <a:r>
              <a:rPr lang="en-US" dirty="0"/>
              <a:t>(</a:t>
            </a:r>
            <a:r>
              <a:rPr lang="en-US" i="1" dirty="0"/>
              <a:t>u</a:t>
            </a:r>
            <a:r>
              <a:rPr lang="en-US" baseline="-25000" dirty="0">
                <a:latin typeface="Cambria Math" pitchFamily="18" charset="0"/>
                <a:ea typeface="Cambria Math" pitchFamily="18" charset="0"/>
              </a:rPr>
              <a:t>2</a:t>
            </a:r>
            <a:r>
              <a:rPr lang="en-US" dirty="0"/>
              <a:t>) = </a:t>
            </a:r>
            <a:r>
              <a:rPr lang="en-US" i="1" dirty="0"/>
              <a:t>v</a:t>
            </a:r>
            <a:r>
              <a:rPr lang="en-US" baseline="-25000" dirty="0">
                <a:latin typeface="Cambria Math" pitchFamily="18" charset="0"/>
                <a:ea typeface="Cambria Math" pitchFamily="18" charset="0"/>
              </a:rPr>
              <a:t>4</a:t>
            </a:r>
            <a:r>
              <a:rPr lang="en-US" dirty="0"/>
              <a:t> and </a:t>
            </a:r>
            <a:r>
              <a:rPr lang="en-US" i="1" dirty="0"/>
              <a:t>f</a:t>
            </a:r>
            <a:r>
              <a:rPr lang="en-US" dirty="0"/>
              <a:t>(</a:t>
            </a:r>
            <a:r>
              <a:rPr lang="en-US" i="1" dirty="0"/>
              <a:t>u</a:t>
            </a:r>
            <a:r>
              <a:rPr lang="en-US" baseline="-25000" dirty="0">
                <a:latin typeface="Cambria Math" pitchFamily="18" charset="0"/>
                <a:ea typeface="Cambria Math" pitchFamily="18" charset="0"/>
              </a:rPr>
              <a:t>4</a:t>
            </a:r>
            <a:r>
              <a:rPr lang="en-US" dirty="0"/>
              <a:t>) = </a:t>
            </a:r>
            <a:r>
              <a:rPr lang="en-US" i="1" dirty="0"/>
              <a:t>v</a:t>
            </a:r>
            <a:r>
              <a:rPr lang="en-US" baseline="-25000" dirty="0">
                <a:latin typeface="Cambria Math" pitchFamily="18" charset="0"/>
                <a:ea typeface="Cambria Math" pitchFamily="18" charset="0"/>
              </a:rPr>
              <a:t>2</a:t>
            </a:r>
            <a:r>
              <a:rPr lang="en-US" dirty="0"/>
              <a:t> , and </a:t>
            </a:r>
            <a:r>
              <a:rPr lang="en-US" i="1" dirty="0"/>
              <a:t>f</a:t>
            </a:r>
            <a:r>
              <a:rPr lang="en-US" dirty="0"/>
              <a:t>(</a:t>
            </a:r>
            <a:r>
              <a:rPr lang="en-US" i="1" dirty="0"/>
              <a:t>u</a:t>
            </a:r>
            <a:r>
              <a:rPr lang="en-US" baseline="-25000" dirty="0">
                <a:latin typeface="Cambria Math" pitchFamily="18" charset="0"/>
                <a:ea typeface="Cambria Math" pitchFamily="18" charset="0"/>
              </a:rPr>
              <a:t>3</a:t>
            </a:r>
            <a:r>
              <a:rPr lang="en-US" dirty="0"/>
              <a:t>) = </a:t>
            </a:r>
            <a:r>
              <a:rPr lang="en-US" i="1" dirty="0"/>
              <a:t>v</a:t>
            </a:r>
            <a:r>
              <a:rPr lang="en-US" baseline="-25000" dirty="0">
                <a:latin typeface="Cambria Math" pitchFamily="18" charset="0"/>
                <a:ea typeface="Cambria Math" pitchFamily="18" charset="0"/>
              </a:rPr>
              <a:t>3</a:t>
            </a:r>
            <a:r>
              <a:rPr lang="en-US" dirty="0"/>
              <a:t> and </a:t>
            </a:r>
            <a:r>
              <a:rPr lang="en-US" i="1" dirty="0"/>
              <a:t>f</a:t>
            </a:r>
            <a:r>
              <a:rPr lang="en-US" dirty="0"/>
              <a:t>(</a:t>
            </a:r>
            <a:r>
              <a:rPr lang="en-US" i="1" dirty="0"/>
              <a:t>u</a:t>
            </a:r>
            <a:r>
              <a:rPr lang="en-US" baseline="-25000" dirty="0">
                <a:latin typeface="Cambria Math" pitchFamily="18" charset="0"/>
                <a:ea typeface="Cambria Math" pitchFamily="18" charset="0"/>
              </a:rPr>
              <a:t>4</a:t>
            </a:r>
            <a:r>
              <a:rPr lang="en-US" dirty="0"/>
              <a:t>) = </a:t>
            </a:r>
            <a:r>
              <a:rPr lang="en-US" i="1" dirty="0"/>
              <a:t>v</a:t>
            </a:r>
            <a:r>
              <a:rPr lang="en-US" baseline="-25000" dirty="0">
                <a:latin typeface="Cambria Math" pitchFamily="18" charset="0"/>
                <a:ea typeface="Cambria Math" pitchFamily="18" charset="0"/>
              </a:rPr>
              <a:t>2</a:t>
            </a:r>
            <a:r>
              <a:rPr lang="en-US" dirty="0"/>
              <a:t>  consists of two adjacent vertices in </a:t>
            </a:r>
            <a:r>
              <a:rPr lang="en-US" i="1" dirty="0"/>
              <a:t>H</a:t>
            </a:r>
            <a:r>
              <a:rPr lang="en-US" dirty="0"/>
              <a:t>.</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96200" y="1981200"/>
            <a:ext cx="921258" cy="2110740"/>
          </a:xfrm>
          <a:prstGeom prst="rect">
            <a:avLst/>
          </a:prstGeom>
        </p:spPr>
      </p:pic>
    </p:spTree>
    <p:extLst>
      <p:ext uri="{BB962C8B-B14F-4D97-AF65-F5344CB8AC3E}">
        <p14:creationId xmlns:p14="http://schemas.microsoft.com/office/powerpoint/2010/main" val="3284763869"/>
      </p:ext>
    </p:extLst>
  </p:cSld>
  <p:clrMapOvr>
    <a:masterClrMapping/>
  </p:clrMapOvr>
  <p:transition spd="slow">
    <p:wip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Isomorphism of Graphs (</a:t>
            </a:r>
            <a:r>
              <a:rPr lang="en-US" i="1" dirty="0"/>
              <a:t>cont.</a:t>
            </a:r>
            <a:r>
              <a:rPr lang="en-US" dirty="0"/>
              <a:t>)</a:t>
            </a:r>
          </a:p>
        </p:txBody>
      </p:sp>
      <p:sp>
        <p:nvSpPr>
          <p:cNvPr id="3" name="Content Placeholder 2"/>
          <p:cNvSpPr>
            <a:spLocks noGrp="1"/>
          </p:cNvSpPr>
          <p:nvPr>
            <p:ph idx="1"/>
          </p:nvPr>
        </p:nvSpPr>
        <p:spPr/>
        <p:txBody>
          <a:bodyPr>
            <a:normAutofit fontScale="77500" lnSpcReduction="20000"/>
          </a:bodyPr>
          <a:lstStyle/>
          <a:p>
            <a:r>
              <a:rPr lang="en-US" dirty="0"/>
              <a:t>It is difficult to determine whether two simple graphs are isomorphic using brute force because there are </a:t>
            </a:r>
            <a:r>
              <a:rPr lang="en-US" i="1" dirty="0"/>
              <a:t>n</a:t>
            </a:r>
            <a:r>
              <a:rPr lang="en-US" dirty="0"/>
              <a:t>! possible one-to-one correspondences between the vertex sets of two simple graphs with </a:t>
            </a:r>
            <a:r>
              <a:rPr lang="en-US" i="1" dirty="0"/>
              <a:t>n</a:t>
            </a:r>
            <a:r>
              <a:rPr lang="en-US" dirty="0"/>
              <a:t> vertices. </a:t>
            </a:r>
          </a:p>
          <a:p>
            <a:r>
              <a:rPr lang="en-US" dirty="0"/>
              <a:t>The best algorithms for determining weather two graphs are isomorphic have exponential worst case complexity in terms of the number of vertices of the graphs.</a:t>
            </a:r>
          </a:p>
          <a:p>
            <a:r>
              <a:rPr lang="en-US" dirty="0"/>
              <a:t>Sometimes it is not hard to show that two graphs are not isomorphic. We can do so by finding a property, preserved by isomorphism, that only one of the two graphs has. Such a property is called </a:t>
            </a:r>
            <a:r>
              <a:rPr lang="en-US" i="1" dirty="0"/>
              <a:t>graph invariant</a:t>
            </a:r>
            <a:r>
              <a:rPr lang="en-US" dirty="0"/>
              <a:t>. </a:t>
            </a:r>
          </a:p>
          <a:p>
            <a:r>
              <a:rPr lang="en-US" dirty="0"/>
              <a:t>There are many different useful graph invariants that can be used to distinguish </a:t>
            </a:r>
            <a:r>
              <a:rPr lang="en-US" dirty="0" err="1"/>
              <a:t>nonisomorphic</a:t>
            </a:r>
            <a:r>
              <a:rPr lang="en-US" dirty="0"/>
              <a:t> graphs, such as the number of vertices, number of edges, and degree sequence (list of the degrees of the vertices in </a:t>
            </a:r>
            <a:r>
              <a:rPr lang="en-US" dirty="0" err="1"/>
              <a:t>nonincreasing</a:t>
            </a:r>
            <a:r>
              <a:rPr lang="en-US" dirty="0"/>
              <a:t> order).  We will encounter others in later sections of this chapter.</a:t>
            </a:r>
          </a:p>
        </p:txBody>
      </p:sp>
    </p:spTree>
    <p:extLst>
      <p:ext uri="{BB962C8B-B14F-4D97-AF65-F5344CB8AC3E}">
        <p14:creationId xmlns:p14="http://schemas.microsoft.com/office/powerpoint/2010/main" val="4226757663"/>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Isomorphism of Graphs (</a:t>
            </a:r>
            <a:r>
              <a:rPr lang="en-US" i="1" dirty="0"/>
              <a:t>cont.</a:t>
            </a:r>
            <a:r>
              <a:rPr lang="en-US" dirty="0"/>
              <a:t>)</a:t>
            </a:r>
          </a:p>
        </p:txBody>
      </p:sp>
      <p:sp>
        <p:nvSpPr>
          <p:cNvPr id="3" name="Content Placeholder 2"/>
          <p:cNvSpPr>
            <a:spLocks noGrp="1"/>
          </p:cNvSpPr>
          <p:nvPr>
            <p:ph idx="1"/>
          </p:nvPr>
        </p:nvSpPr>
        <p:spPr>
          <a:xfrm>
            <a:off x="457200" y="1935480"/>
            <a:ext cx="8229600" cy="4770120"/>
          </a:xfrm>
        </p:spPr>
        <p:txBody>
          <a:bodyPr>
            <a:normAutofit fontScale="25000" lnSpcReduction="20000"/>
          </a:bodyPr>
          <a:lstStyle/>
          <a:p>
            <a:pPr indent="0">
              <a:buNone/>
            </a:pPr>
            <a:r>
              <a:rPr lang="en-US" sz="6400" b="1" dirty="0"/>
              <a:t>Example</a:t>
            </a:r>
            <a:r>
              <a:rPr lang="en-US" sz="6400" dirty="0"/>
              <a:t>: Determine whether these two graphs are isomorphic.</a:t>
            </a:r>
          </a:p>
          <a:p>
            <a:pPr indent="0">
              <a:buNone/>
            </a:pPr>
            <a:endParaRPr lang="en-US" dirty="0"/>
          </a:p>
          <a:p>
            <a:pPr indent="0">
              <a:buNone/>
            </a:pPr>
            <a:endParaRPr lang="en-US"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b="1" dirty="0"/>
          </a:p>
          <a:p>
            <a:pPr indent="0">
              <a:spcBef>
                <a:spcPts val="0"/>
              </a:spcBef>
              <a:buNone/>
            </a:pPr>
            <a:endParaRPr lang="en-US" sz="3400" b="1" dirty="0"/>
          </a:p>
          <a:p>
            <a:pPr indent="0">
              <a:spcBef>
                <a:spcPts val="0"/>
              </a:spcBef>
              <a:buNone/>
            </a:pPr>
            <a:endParaRPr lang="en-US" sz="3400" b="1" dirty="0"/>
          </a:p>
          <a:p>
            <a:pPr indent="0">
              <a:spcBef>
                <a:spcPts val="0"/>
              </a:spcBef>
              <a:buNone/>
            </a:pPr>
            <a:endParaRPr lang="en-US" sz="3400" b="1" dirty="0"/>
          </a:p>
          <a:p>
            <a:pPr indent="0">
              <a:spcBef>
                <a:spcPts val="0"/>
              </a:spcBef>
              <a:buNone/>
            </a:pPr>
            <a:endParaRPr lang="en-US" sz="3400" b="1" dirty="0"/>
          </a:p>
          <a:p>
            <a:pPr indent="0">
              <a:spcBef>
                <a:spcPts val="0"/>
              </a:spcBef>
              <a:buNone/>
            </a:pPr>
            <a:endParaRPr lang="en-US" sz="4900" b="1" dirty="0"/>
          </a:p>
          <a:p>
            <a:pPr indent="0">
              <a:spcBef>
                <a:spcPts val="0"/>
              </a:spcBef>
              <a:buNone/>
            </a:pPr>
            <a:endParaRPr lang="en-US" sz="4900" b="1" dirty="0"/>
          </a:p>
          <a:p>
            <a:pPr indent="0">
              <a:spcBef>
                <a:spcPts val="0"/>
              </a:spcBef>
              <a:buNone/>
            </a:pPr>
            <a:endParaRPr lang="en-US" sz="4900" b="1" dirty="0"/>
          </a:p>
          <a:p>
            <a:pPr indent="0">
              <a:spcBef>
                <a:spcPts val="0"/>
              </a:spcBef>
              <a:buNone/>
            </a:pPr>
            <a:endParaRPr lang="en-US" sz="4900" b="1" dirty="0"/>
          </a:p>
          <a:p>
            <a:pPr indent="0">
              <a:spcBef>
                <a:spcPts val="0"/>
              </a:spcBef>
              <a:buNone/>
            </a:pPr>
            <a:endParaRPr lang="en-US" sz="4900" b="1" dirty="0"/>
          </a:p>
          <a:p>
            <a:pPr indent="0">
              <a:spcBef>
                <a:spcPts val="0"/>
              </a:spcBef>
              <a:buNone/>
            </a:pPr>
            <a:endParaRPr lang="en-US" sz="4900" b="1" dirty="0"/>
          </a:p>
          <a:p>
            <a:pPr indent="0">
              <a:spcBef>
                <a:spcPts val="0"/>
              </a:spcBef>
              <a:buNone/>
            </a:pPr>
            <a:endParaRPr lang="en-US" sz="4900" b="1" dirty="0"/>
          </a:p>
          <a:p>
            <a:pPr indent="0">
              <a:spcBef>
                <a:spcPts val="0"/>
              </a:spcBef>
              <a:buNone/>
            </a:pPr>
            <a:endParaRPr lang="en-US" sz="4900" b="1" dirty="0"/>
          </a:p>
          <a:p>
            <a:pPr indent="0">
              <a:spcBef>
                <a:spcPts val="0"/>
              </a:spcBef>
              <a:buNone/>
            </a:pPr>
            <a:r>
              <a:rPr lang="en-US" sz="6400" b="1" dirty="0"/>
              <a:t>Solution</a:t>
            </a:r>
            <a:r>
              <a:rPr lang="en-US" sz="6400" dirty="0"/>
              <a:t>:  Both graphs have eight vertices and ten edges.</a:t>
            </a:r>
          </a:p>
          <a:p>
            <a:pPr indent="0">
              <a:spcBef>
                <a:spcPts val="0"/>
              </a:spcBef>
              <a:buNone/>
            </a:pPr>
            <a:r>
              <a:rPr lang="en-US" sz="6400" dirty="0"/>
              <a:t>They also both have four vertices of degree two and four of degree three. </a:t>
            </a:r>
          </a:p>
          <a:p>
            <a:pPr indent="0">
              <a:spcBef>
                <a:spcPts val="0"/>
              </a:spcBef>
              <a:buNone/>
            </a:pPr>
            <a:endParaRPr lang="en-US" sz="6400" dirty="0"/>
          </a:p>
          <a:p>
            <a:pPr indent="0">
              <a:spcBef>
                <a:spcPts val="0"/>
              </a:spcBef>
              <a:buNone/>
            </a:pPr>
            <a:r>
              <a:rPr lang="en-US" sz="6400" dirty="0"/>
              <a:t>However, </a:t>
            </a:r>
            <a:r>
              <a:rPr lang="en-US" sz="6400" i="1" dirty="0"/>
              <a:t>G</a:t>
            </a:r>
            <a:r>
              <a:rPr lang="en-US" sz="6400" dirty="0"/>
              <a:t> and </a:t>
            </a:r>
            <a:r>
              <a:rPr lang="en-US" sz="6400" i="1" dirty="0"/>
              <a:t>H</a:t>
            </a:r>
            <a:r>
              <a:rPr lang="en-US" sz="6400" dirty="0"/>
              <a:t> are not isomorphic. Note that since </a:t>
            </a:r>
            <a:r>
              <a:rPr lang="en-US" sz="6400" i="1" dirty="0" err="1"/>
              <a:t>deg</a:t>
            </a:r>
            <a:r>
              <a:rPr lang="en-US" sz="6400" dirty="0"/>
              <a:t>(</a:t>
            </a:r>
            <a:r>
              <a:rPr lang="en-US" sz="6400" i="1" dirty="0"/>
              <a:t>a</a:t>
            </a:r>
            <a:r>
              <a:rPr lang="en-US" sz="6400" dirty="0"/>
              <a:t>) = </a:t>
            </a:r>
            <a:r>
              <a:rPr lang="en-US" sz="6400" dirty="0">
                <a:latin typeface="Cambria Math" pitchFamily="18" charset="0"/>
                <a:ea typeface="Cambria Math" pitchFamily="18" charset="0"/>
              </a:rPr>
              <a:t>2</a:t>
            </a:r>
            <a:r>
              <a:rPr lang="en-US" sz="6400" dirty="0"/>
              <a:t> in </a:t>
            </a:r>
            <a:r>
              <a:rPr lang="en-US" sz="6400" i="1" dirty="0"/>
              <a:t>G</a:t>
            </a:r>
            <a:r>
              <a:rPr lang="en-US" sz="6400" dirty="0"/>
              <a:t>, </a:t>
            </a:r>
            <a:r>
              <a:rPr lang="en-US" sz="6400" i="1" dirty="0"/>
              <a:t>a</a:t>
            </a:r>
            <a:r>
              <a:rPr lang="en-US" sz="6400" dirty="0"/>
              <a:t> must correspond to </a:t>
            </a:r>
            <a:r>
              <a:rPr lang="en-US" sz="6400" i="1" dirty="0"/>
              <a:t>t</a:t>
            </a:r>
            <a:r>
              <a:rPr lang="en-US" sz="6400" dirty="0"/>
              <a:t>, </a:t>
            </a:r>
            <a:r>
              <a:rPr lang="en-US" sz="6400" i="1" dirty="0"/>
              <a:t>u</a:t>
            </a:r>
            <a:r>
              <a:rPr lang="en-US" sz="6400" dirty="0"/>
              <a:t>, </a:t>
            </a:r>
            <a:r>
              <a:rPr lang="en-US" sz="6400" i="1" dirty="0"/>
              <a:t>x</a:t>
            </a:r>
            <a:r>
              <a:rPr lang="en-US" sz="6400" dirty="0"/>
              <a:t>, or </a:t>
            </a:r>
            <a:r>
              <a:rPr lang="en-US" sz="6400" i="1" dirty="0"/>
              <a:t>y</a:t>
            </a:r>
            <a:r>
              <a:rPr lang="en-US" sz="6400" dirty="0"/>
              <a:t> in H, because these are the vertices of degree </a:t>
            </a:r>
            <a:r>
              <a:rPr lang="en-US" sz="6400" dirty="0">
                <a:latin typeface="Cambria Math" pitchFamily="18" charset="0"/>
                <a:ea typeface="Cambria Math" pitchFamily="18" charset="0"/>
              </a:rPr>
              <a:t>2</a:t>
            </a:r>
            <a:r>
              <a:rPr lang="en-US" sz="6400" dirty="0"/>
              <a:t>. But each of these vertices is adjacent to another vertex of degree two in </a:t>
            </a:r>
            <a:r>
              <a:rPr lang="en-US" sz="6400" i="1" dirty="0"/>
              <a:t>H</a:t>
            </a:r>
            <a:r>
              <a:rPr lang="en-US" sz="6400" dirty="0"/>
              <a:t>, which is not true for </a:t>
            </a:r>
            <a:r>
              <a:rPr lang="en-US" sz="6400" i="1" dirty="0"/>
              <a:t>a</a:t>
            </a:r>
            <a:r>
              <a:rPr lang="en-US" sz="6400" dirty="0"/>
              <a:t> in </a:t>
            </a:r>
            <a:r>
              <a:rPr lang="en-US" sz="6400" i="1" dirty="0"/>
              <a:t>G</a:t>
            </a:r>
            <a:r>
              <a:rPr lang="en-US" sz="6400" dirty="0"/>
              <a:t>.</a:t>
            </a:r>
          </a:p>
          <a:p>
            <a:pPr indent="0">
              <a:spcBef>
                <a:spcPts val="0"/>
              </a:spcBef>
              <a:buNone/>
            </a:pPr>
            <a:endParaRPr lang="en-US" dirty="0"/>
          </a:p>
          <a:p>
            <a:pPr indent="0">
              <a:spcBef>
                <a:spcPts val="0"/>
              </a:spcBef>
              <a:buNone/>
            </a:pPr>
            <a:r>
              <a:rPr lang="en-US" dirty="0"/>
              <a:t>.  </a:t>
            </a:r>
            <a:endParaRPr lang="en-US" i="1" dirty="0"/>
          </a:p>
          <a:p>
            <a:pPr indent="0">
              <a:spcBef>
                <a:spcPts val="0"/>
              </a:spcBef>
              <a:buNone/>
            </a:pPr>
            <a:r>
              <a:rPr lang="en-US" dirty="0"/>
              <a:t> </a:t>
            </a:r>
          </a:p>
          <a:p>
            <a:pPr indent="0">
              <a:spcBef>
                <a:spcPts val="0"/>
              </a:spcBef>
              <a:buNone/>
            </a:pPr>
            <a:endParaRPr lang="en-US" sz="3400" dirty="0"/>
          </a:p>
          <a:p>
            <a:pPr indent="0">
              <a:spcBef>
                <a:spcPts val="0"/>
              </a:spcBef>
              <a:buNone/>
            </a:pPr>
            <a:r>
              <a:rPr lang="en-US" dirty="0"/>
              <a:t>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24000" y="2590800"/>
            <a:ext cx="5029200" cy="1903295"/>
          </a:xfrm>
          <a:prstGeom prst="rect">
            <a:avLst/>
          </a:prstGeom>
        </p:spPr>
      </p:pic>
    </p:spTree>
    <p:extLst>
      <p:ext uri="{BB962C8B-B14F-4D97-AF65-F5344CB8AC3E}">
        <p14:creationId xmlns:p14="http://schemas.microsoft.com/office/powerpoint/2010/main" val="1234244618"/>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Representing Graphs: </a:t>
            </a:r>
            <a:br>
              <a:rPr lang="en-US" dirty="0"/>
            </a:br>
            <a:r>
              <a:rPr lang="en-US" dirty="0"/>
              <a:t>Adjacency Lists</a:t>
            </a:r>
          </a:p>
        </p:txBody>
      </p:sp>
      <p:sp>
        <p:nvSpPr>
          <p:cNvPr id="3" name="Content Placeholder 2"/>
          <p:cNvSpPr>
            <a:spLocks noGrp="1"/>
          </p:cNvSpPr>
          <p:nvPr>
            <p:ph idx="1"/>
          </p:nvPr>
        </p:nvSpPr>
        <p:spPr/>
        <p:txBody>
          <a:bodyPr/>
          <a:lstStyle/>
          <a:p>
            <a:pPr indent="0">
              <a:buNone/>
            </a:pPr>
            <a:r>
              <a:rPr lang="en-US" b="1" dirty="0"/>
              <a:t>Definition</a:t>
            </a:r>
            <a:r>
              <a:rPr lang="en-US" dirty="0"/>
              <a:t>: An </a:t>
            </a:r>
            <a:r>
              <a:rPr lang="en-US" i="1" dirty="0"/>
              <a:t>adjacency list </a:t>
            </a:r>
            <a:r>
              <a:rPr lang="en-US" dirty="0"/>
              <a:t>can be used to represent a graph with no multiple edges by specifying the vertices that are adjacent to each vertex of the graph.</a:t>
            </a:r>
          </a:p>
          <a:p>
            <a:pPr indent="0">
              <a:buNone/>
            </a:pPr>
            <a:endParaRPr lang="en-US" dirty="0"/>
          </a:p>
          <a:p>
            <a:pPr indent="0">
              <a:buNone/>
            </a:pPr>
            <a:endParaRPr lang="en-US" dirty="0"/>
          </a:p>
          <a:p>
            <a:pPr indent="0">
              <a:buNone/>
            </a:pPr>
            <a:endParaRPr lang="en-US" dirty="0"/>
          </a:p>
          <a:p>
            <a:pPr indent="0">
              <a:buNone/>
            </a:pPr>
            <a:endParaRPr lang="en-US" dirty="0"/>
          </a:p>
          <a:p>
            <a:pPr marL="0" indent="0">
              <a:buNone/>
            </a:pPr>
            <a:endParaRPr lang="en-US" dirty="0"/>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95600" y="3429000"/>
            <a:ext cx="1066800" cy="996105"/>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15000" y="3298292"/>
            <a:ext cx="1519428" cy="1359140"/>
          </a:xfrm>
          <a:prstGeom prst="rect">
            <a:avLst/>
          </a:prstGeom>
        </p:spPr>
      </p:pic>
      <p:sp>
        <p:nvSpPr>
          <p:cNvPr id="4" name="TextBox 3"/>
          <p:cNvSpPr txBox="1"/>
          <p:nvPr/>
        </p:nvSpPr>
        <p:spPr>
          <a:xfrm>
            <a:off x="762000" y="3276600"/>
            <a:ext cx="1752600" cy="369332"/>
          </a:xfrm>
          <a:prstGeom prst="rect">
            <a:avLst/>
          </a:prstGeom>
          <a:noFill/>
        </p:spPr>
        <p:txBody>
          <a:bodyPr wrap="square" rtlCol="0">
            <a:spAutoFit/>
          </a:bodyPr>
          <a:lstStyle/>
          <a:p>
            <a:pPr indent="0">
              <a:buNone/>
            </a:pPr>
            <a:r>
              <a:rPr lang="en-US" b="1" dirty="0"/>
              <a:t>Example</a:t>
            </a:r>
            <a:r>
              <a:rPr lang="en-US" dirty="0"/>
              <a:t>:</a:t>
            </a:r>
          </a:p>
        </p:txBody>
      </p:sp>
      <p:sp>
        <p:nvSpPr>
          <p:cNvPr id="8" name="Rectangle 7"/>
          <p:cNvSpPr/>
          <p:nvPr/>
        </p:nvSpPr>
        <p:spPr>
          <a:xfrm>
            <a:off x="685800" y="5063412"/>
            <a:ext cx="1989604" cy="369332"/>
          </a:xfrm>
          <a:prstGeom prst="rect">
            <a:avLst/>
          </a:prstGeom>
        </p:spPr>
        <p:txBody>
          <a:bodyPr wrap="square">
            <a:spAutoFit/>
          </a:bodyPr>
          <a:lstStyle/>
          <a:p>
            <a:pPr indent="0">
              <a:buNone/>
            </a:pPr>
            <a:r>
              <a:rPr lang="en-US" b="1" dirty="0"/>
              <a:t>Example</a:t>
            </a:r>
            <a:r>
              <a:rPr lang="en-US" dirty="0"/>
              <a:t>:</a:t>
            </a: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895600" y="5105400"/>
            <a:ext cx="1257681" cy="1073098"/>
          </a:xfrm>
          <a:prstGeom prst="rect">
            <a:avLst/>
          </a:prstGeom>
        </p:spPr>
      </p:pic>
      <p:pic>
        <p:nvPicPr>
          <p:cNvPr id="10" name="Picture 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15000" y="5105400"/>
            <a:ext cx="1644769" cy="1233577"/>
          </a:xfrm>
          <a:prstGeom prst="rect">
            <a:avLst/>
          </a:prstGeom>
        </p:spPr>
      </p:pic>
    </p:spTree>
    <p:extLst>
      <p:ext uri="{BB962C8B-B14F-4D97-AF65-F5344CB8AC3E}">
        <p14:creationId xmlns:p14="http://schemas.microsoft.com/office/powerpoint/2010/main" val="2594391681"/>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Representation of Graphs: Adjacency Matrices</a:t>
            </a:r>
          </a:p>
        </p:txBody>
      </p:sp>
      <p:sp>
        <p:nvSpPr>
          <p:cNvPr id="3" name="Content Placeholder 2"/>
          <p:cNvSpPr>
            <a:spLocks noGrp="1"/>
          </p:cNvSpPr>
          <p:nvPr>
            <p:ph idx="1"/>
          </p:nvPr>
        </p:nvSpPr>
        <p:spPr/>
        <p:txBody>
          <a:bodyPr/>
          <a:lstStyle/>
          <a:p>
            <a:pPr indent="0">
              <a:buNone/>
            </a:pPr>
            <a:r>
              <a:rPr lang="en-US" b="1" dirty="0"/>
              <a:t>Definition</a:t>
            </a:r>
            <a:r>
              <a:rPr lang="en-US" dirty="0"/>
              <a:t>: Suppose that </a:t>
            </a:r>
            <a:r>
              <a:rPr lang="en-US" i="1" dirty="0"/>
              <a:t>G</a:t>
            </a:r>
            <a:r>
              <a:rPr lang="en-US" dirty="0"/>
              <a:t> = (</a:t>
            </a:r>
            <a:r>
              <a:rPr lang="en-US" i="1" dirty="0"/>
              <a:t>V</a:t>
            </a:r>
            <a:r>
              <a:rPr lang="en-US" dirty="0"/>
              <a:t>, </a:t>
            </a:r>
            <a:r>
              <a:rPr lang="en-US" i="1" dirty="0"/>
              <a:t>E</a:t>
            </a:r>
            <a:r>
              <a:rPr lang="en-US" dirty="0"/>
              <a:t>) is a simple graph where |</a:t>
            </a:r>
            <a:r>
              <a:rPr lang="en-US" i="1" dirty="0"/>
              <a:t>V</a:t>
            </a:r>
            <a:r>
              <a:rPr lang="en-US" dirty="0"/>
              <a:t>| = </a:t>
            </a:r>
            <a:r>
              <a:rPr lang="en-US" i="1" dirty="0"/>
              <a:t>n</a:t>
            </a:r>
            <a:r>
              <a:rPr lang="en-US" dirty="0"/>
              <a:t>. Arbitrarily list the vertices of </a:t>
            </a:r>
            <a:r>
              <a:rPr lang="en-US" i="1" dirty="0"/>
              <a:t>G</a:t>
            </a:r>
            <a:r>
              <a:rPr lang="en-US" dirty="0"/>
              <a:t> as             </a:t>
            </a:r>
            <a:r>
              <a:rPr lang="en-US" i="1" dirty="0"/>
              <a:t>v</a:t>
            </a:r>
            <a:r>
              <a:rPr lang="en-US" baseline="-25000" dirty="0">
                <a:latin typeface="Cambria Math" pitchFamily="18" charset="0"/>
                <a:ea typeface="Cambria Math" pitchFamily="18" charset="0"/>
              </a:rPr>
              <a:t>1</a:t>
            </a:r>
            <a:r>
              <a:rPr lang="en-US" dirty="0"/>
              <a:t>, </a:t>
            </a:r>
            <a:r>
              <a:rPr lang="en-US" i="1" dirty="0"/>
              <a:t>v</a:t>
            </a:r>
            <a:r>
              <a:rPr lang="en-US" baseline="-25000" dirty="0">
                <a:latin typeface="Cambria Math" pitchFamily="18" charset="0"/>
                <a:ea typeface="Cambria Math" pitchFamily="18" charset="0"/>
              </a:rPr>
              <a:t>2</a:t>
            </a:r>
            <a:r>
              <a:rPr lang="en-US" dirty="0"/>
              <a:t>, … , </a:t>
            </a:r>
            <a:r>
              <a:rPr lang="en-US" i="1" dirty="0" err="1"/>
              <a:t>v</a:t>
            </a:r>
            <a:r>
              <a:rPr lang="en-US" i="1" baseline="-25000" dirty="0" err="1"/>
              <a:t>n</a:t>
            </a:r>
            <a:r>
              <a:rPr lang="en-US" dirty="0"/>
              <a:t>.  The </a:t>
            </a:r>
            <a:r>
              <a:rPr lang="en-US" i="1" dirty="0"/>
              <a:t>adjacency matrix </a:t>
            </a:r>
            <a:r>
              <a:rPr lang="en-US" dirty="0"/>
              <a:t> </a:t>
            </a:r>
            <a:r>
              <a:rPr lang="en-US" b="1" dirty="0"/>
              <a:t>A</a:t>
            </a:r>
            <a:r>
              <a:rPr lang="en-US" i="1" baseline="-25000" dirty="0"/>
              <a:t>G</a:t>
            </a:r>
            <a:r>
              <a:rPr lang="en-US" dirty="0"/>
              <a:t> of </a:t>
            </a:r>
            <a:r>
              <a:rPr lang="en-US" i="1" dirty="0"/>
              <a:t>G</a:t>
            </a:r>
            <a:r>
              <a:rPr lang="en-US" dirty="0"/>
              <a:t>, with respect to the listing of vertices, is the </a:t>
            </a:r>
            <a:r>
              <a:rPr lang="en-US" i="1" dirty="0"/>
              <a:t>n ×</a:t>
            </a:r>
            <a:r>
              <a:rPr lang="en-US" dirty="0"/>
              <a:t> </a:t>
            </a:r>
            <a:r>
              <a:rPr lang="en-US" i="1" dirty="0"/>
              <a:t>n</a:t>
            </a:r>
            <a:r>
              <a:rPr lang="en-US" dirty="0"/>
              <a:t> zero-one matrix with </a:t>
            </a:r>
            <a:r>
              <a:rPr lang="en-US" dirty="0">
                <a:latin typeface="Cambria Math" pitchFamily="18" charset="0"/>
                <a:ea typeface="Cambria Math" pitchFamily="18" charset="0"/>
              </a:rPr>
              <a:t>1</a:t>
            </a:r>
            <a:r>
              <a:rPr lang="en-US" dirty="0"/>
              <a:t> as its (</a:t>
            </a:r>
            <a:r>
              <a:rPr lang="en-US" i="1" dirty="0" err="1"/>
              <a:t>i</a:t>
            </a:r>
            <a:r>
              <a:rPr lang="en-US" dirty="0"/>
              <a:t>, </a:t>
            </a:r>
            <a:r>
              <a:rPr lang="en-US" i="1" dirty="0"/>
              <a:t>j</a:t>
            </a:r>
            <a:r>
              <a:rPr lang="en-US" dirty="0"/>
              <a:t>)</a:t>
            </a:r>
            <a:r>
              <a:rPr lang="en-US" dirty="0" err="1"/>
              <a:t>th</a:t>
            </a:r>
            <a:r>
              <a:rPr lang="en-US" dirty="0"/>
              <a:t> entry when </a:t>
            </a:r>
            <a:r>
              <a:rPr lang="en-US" i="1" dirty="0"/>
              <a:t>v</a:t>
            </a:r>
            <a:r>
              <a:rPr lang="en-US" i="1" baseline="-25000" dirty="0"/>
              <a:t>i</a:t>
            </a:r>
            <a:r>
              <a:rPr lang="en-US" i="1" dirty="0"/>
              <a:t> </a:t>
            </a:r>
            <a:r>
              <a:rPr lang="en-US" dirty="0"/>
              <a:t>and </a:t>
            </a:r>
            <a:r>
              <a:rPr lang="en-US" i="1" dirty="0" err="1"/>
              <a:t>v</a:t>
            </a:r>
            <a:r>
              <a:rPr lang="en-US" i="1" baseline="-25000" dirty="0" err="1"/>
              <a:t>j</a:t>
            </a:r>
            <a:r>
              <a:rPr lang="en-US" dirty="0"/>
              <a:t> are adjacent, and </a:t>
            </a:r>
            <a:r>
              <a:rPr lang="en-US" dirty="0">
                <a:latin typeface="Cambria Math" pitchFamily="18" charset="0"/>
                <a:ea typeface="Cambria Math" pitchFamily="18" charset="0"/>
              </a:rPr>
              <a:t>0</a:t>
            </a:r>
            <a:r>
              <a:rPr lang="en-US" dirty="0"/>
              <a:t> as its (</a:t>
            </a:r>
            <a:r>
              <a:rPr lang="en-US" i="1" dirty="0" err="1"/>
              <a:t>i</a:t>
            </a:r>
            <a:r>
              <a:rPr lang="en-US" dirty="0"/>
              <a:t>, </a:t>
            </a:r>
            <a:r>
              <a:rPr lang="en-US" i="1" dirty="0"/>
              <a:t>j</a:t>
            </a:r>
            <a:r>
              <a:rPr lang="en-US" dirty="0"/>
              <a:t>)</a:t>
            </a:r>
            <a:r>
              <a:rPr lang="en-US" dirty="0" err="1"/>
              <a:t>th</a:t>
            </a:r>
            <a:r>
              <a:rPr lang="en-US" dirty="0"/>
              <a:t> entry when they are not adjacent.</a:t>
            </a:r>
          </a:p>
          <a:p>
            <a:pPr lvl="1"/>
            <a:r>
              <a:rPr lang="en-US" dirty="0"/>
              <a:t>In other words, if the graphs adjacency matrix is                </a:t>
            </a:r>
            <a:r>
              <a:rPr lang="en-US" b="1" dirty="0"/>
              <a:t>A</a:t>
            </a:r>
            <a:r>
              <a:rPr lang="en-US" i="1" baseline="-25000" dirty="0"/>
              <a:t>G </a:t>
            </a:r>
            <a:r>
              <a:rPr lang="en-US" dirty="0"/>
              <a:t>= [</a:t>
            </a:r>
            <a:r>
              <a:rPr lang="en-US" i="1" dirty="0" err="1"/>
              <a:t>a</a:t>
            </a:r>
            <a:r>
              <a:rPr lang="en-US" i="1" baseline="-25000" dirty="0" err="1"/>
              <a:t>ij</a:t>
            </a:r>
            <a:r>
              <a:rPr lang="en-US" dirty="0"/>
              <a:t>], then</a:t>
            </a:r>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743200" y="5638800"/>
            <a:ext cx="4217670" cy="609600"/>
          </a:xfrm>
          <a:prstGeom prst="rect">
            <a:avLst/>
          </a:prstGeom>
        </p:spPr>
      </p:pic>
    </p:spTree>
    <p:extLst>
      <p:ext uri="{BB962C8B-B14F-4D97-AF65-F5344CB8AC3E}">
        <p14:creationId xmlns:p14="http://schemas.microsoft.com/office/powerpoint/2010/main" val="3690190218"/>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Adjacency Matrices (</a:t>
            </a:r>
            <a:r>
              <a:rPr lang="en-US" i="1" dirty="0"/>
              <a:t>continued</a:t>
            </a:r>
            <a:r>
              <a:rPr lang="en-US" dirty="0"/>
              <a:t>)</a:t>
            </a:r>
          </a:p>
        </p:txBody>
      </p:sp>
      <p:pic>
        <p:nvPicPr>
          <p:cNvPr id="4" name="Content Placeholder 3"/>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625602" y="2895600"/>
            <a:ext cx="669798" cy="906018"/>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40886" y="4289756"/>
            <a:ext cx="666750" cy="906018"/>
          </a:xfrm>
          <a:prstGeom prst="rect">
            <a:avLst/>
          </a:prstGeom>
        </p:spPr>
      </p:pic>
      <p:sp>
        <p:nvSpPr>
          <p:cNvPr id="3" name="TextBox 2"/>
          <p:cNvSpPr txBox="1"/>
          <p:nvPr/>
        </p:nvSpPr>
        <p:spPr>
          <a:xfrm>
            <a:off x="470059" y="2058501"/>
            <a:ext cx="6019800" cy="369332"/>
          </a:xfrm>
          <a:prstGeom prst="rect">
            <a:avLst/>
          </a:prstGeom>
          <a:noFill/>
        </p:spPr>
        <p:txBody>
          <a:bodyPr wrap="square" rtlCol="0">
            <a:spAutoFit/>
          </a:bodyPr>
          <a:lstStyle/>
          <a:p>
            <a:r>
              <a:rPr lang="en-US" b="1" dirty="0"/>
              <a:t>Example</a:t>
            </a:r>
            <a:r>
              <a:rPr lang="en-US" dirty="0"/>
              <a:t>:  </a:t>
            </a:r>
          </a:p>
        </p:txBody>
      </p:sp>
      <p:pic>
        <p:nvPicPr>
          <p:cNvPr id="14" name="Picture 13"/>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209800" y="2915393"/>
            <a:ext cx="1270159" cy="911543"/>
          </a:xfrm>
          <a:prstGeom prst="rect">
            <a:avLst/>
          </a:prstGeom>
        </p:spPr>
      </p:pic>
      <p:sp>
        <p:nvSpPr>
          <p:cNvPr id="10" name="TextBox 9"/>
          <p:cNvSpPr txBox="1"/>
          <p:nvPr/>
        </p:nvSpPr>
        <p:spPr>
          <a:xfrm>
            <a:off x="3886200" y="3047998"/>
            <a:ext cx="2895600" cy="646331"/>
          </a:xfrm>
          <a:prstGeom prst="rect">
            <a:avLst/>
          </a:prstGeom>
          <a:noFill/>
        </p:spPr>
        <p:txBody>
          <a:bodyPr wrap="square" rtlCol="0">
            <a:spAutoFit/>
          </a:bodyPr>
          <a:lstStyle/>
          <a:p>
            <a:r>
              <a:rPr lang="en-US" i="1" dirty="0"/>
              <a:t>The ordering of </a:t>
            </a:r>
          </a:p>
          <a:p>
            <a:r>
              <a:rPr lang="en-US" i="1" dirty="0"/>
              <a:t>vertices is</a:t>
            </a:r>
            <a:r>
              <a:rPr lang="en-US" dirty="0"/>
              <a:t> </a:t>
            </a:r>
            <a:r>
              <a:rPr lang="en-US" i="1" dirty="0"/>
              <a:t>a</a:t>
            </a:r>
            <a:r>
              <a:rPr lang="en-US" dirty="0"/>
              <a:t>, </a:t>
            </a:r>
            <a:r>
              <a:rPr lang="en-US" i="1" dirty="0"/>
              <a:t>b</a:t>
            </a:r>
            <a:r>
              <a:rPr lang="en-US" dirty="0"/>
              <a:t>, </a:t>
            </a:r>
            <a:r>
              <a:rPr lang="en-US" i="1" dirty="0"/>
              <a:t>c</a:t>
            </a:r>
            <a:r>
              <a:rPr lang="en-US" dirty="0"/>
              <a:t>, </a:t>
            </a:r>
            <a:r>
              <a:rPr lang="en-US" i="1" dirty="0"/>
              <a:t>d</a:t>
            </a:r>
            <a:r>
              <a:rPr lang="en-US" dirty="0"/>
              <a:t>.</a:t>
            </a:r>
          </a:p>
        </p:txBody>
      </p:sp>
      <p:pic>
        <p:nvPicPr>
          <p:cNvPr id="13" name="Picture 12"/>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082533" y="4159114"/>
            <a:ext cx="1270159" cy="911543"/>
          </a:xfrm>
          <a:prstGeom prst="rect">
            <a:avLst/>
          </a:prstGeom>
        </p:spPr>
      </p:pic>
      <p:sp>
        <p:nvSpPr>
          <p:cNvPr id="12" name="TextBox 11"/>
          <p:cNvSpPr txBox="1"/>
          <p:nvPr/>
        </p:nvSpPr>
        <p:spPr>
          <a:xfrm>
            <a:off x="3886200" y="4304217"/>
            <a:ext cx="2895600" cy="646331"/>
          </a:xfrm>
          <a:prstGeom prst="rect">
            <a:avLst/>
          </a:prstGeom>
          <a:noFill/>
        </p:spPr>
        <p:txBody>
          <a:bodyPr wrap="square" rtlCol="0">
            <a:spAutoFit/>
          </a:bodyPr>
          <a:lstStyle/>
          <a:p>
            <a:r>
              <a:rPr lang="en-US" i="1" dirty="0"/>
              <a:t>The ordering of </a:t>
            </a:r>
          </a:p>
          <a:p>
            <a:r>
              <a:rPr lang="en-US" i="1" dirty="0"/>
              <a:t>vertices is</a:t>
            </a:r>
            <a:r>
              <a:rPr lang="en-US" dirty="0"/>
              <a:t> </a:t>
            </a:r>
            <a:r>
              <a:rPr lang="en-US" i="1" dirty="0"/>
              <a:t>a</a:t>
            </a:r>
            <a:r>
              <a:rPr lang="en-US" dirty="0"/>
              <a:t>, </a:t>
            </a:r>
            <a:r>
              <a:rPr lang="en-US" i="1" dirty="0"/>
              <a:t>b</a:t>
            </a:r>
            <a:r>
              <a:rPr lang="en-US" dirty="0"/>
              <a:t>, </a:t>
            </a:r>
            <a:r>
              <a:rPr lang="en-US" i="1" dirty="0"/>
              <a:t>c</a:t>
            </a:r>
            <a:r>
              <a:rPr lang="en-US" dirty="0"/>
              <a:t>, </a:t>
            </a:r>
            <a:r>
              <a:rPr lang="en-US" i="1" dirty="0"/>
              <a:t>d</a:t>
            </a:r>
            <a:r>
              <a:rPr lang="en-US" dirty="0"/>
              <a:t>.</a:t>
            </a:r>
          </a:p>
        </p:txBody>
      </p:sp>
      <p:sp>
        <p:nvSpPr>
          <p:cNvPr id="15" name="TextBox 14"/>
          <p:cNvSpPr txBox="1"/>
          <p:nvPr/>
        </p:nvSpPr>
        <p:spPr>
          <a:xfrm>
            <a:off x="619612" y="5638800"/>
            <a:ext cx="8067188" cy="646331"/>
          </a:xfrm>
          <a:prstGeom prst="rect">
            <a:avLst/>
          </a:prstGeom>
          <a:noFill/>
        </p:spPr>
        <p:txBody>
          <a:bodyPr wrap="square" rtlCol="0">
            <a:spAutoFit/>
          </a:bodyPr>
          <a:lstStyle/>
          <a:p>
            <a:r>
              <a:rPr lang="en-US" b="1" dirty="0"/>
              <a:t>Note</a:t>
            </a:r>
            <a:r>
              <a:rPr lang="en-US" dirty="0"/>
              <a:t>: The adjacency matrix of a simple graph is symmetric, i.e., </a:t>
            </a:r>
            <a:r>
              <a:rPr lang="en-US" i="1" dirty="0" err="1"/>
              <a:t>a</a:t>
            </a:r>
            <a:r>
              <a:rPr lang="en-US" i="1" baseline="-25000" dirty="0" err="1"/>
              <a:t>ij</a:t>
            </a:r>
            <a:r>
              <a:rPr lang="en-US" baseline="-25000" dirty="0"/>
              <a:t> </a:t>
            </a:r>
            <a:r>
              <a:rPr lang="en-US" dirty="0"/>
              <a:t>= </a:t>
            </a:r>
            <a:r>
              <a:rPr lang="en-US" i="1" dirty="0" err="1"/>
              <a:t>a</a:t>
            </a:r>
            <a:r>
              <a:rPr lang="en-US" i="1" baseline="-25000" dirty="0" err="1"/>
              <a:t>ji</a:t>
            </a:r>
            <a:r>
              <a:rPr lang="en-US" i="1" baseline="-25000" dirty="0"/>
              <a:t> </a:t>
            </a:r>
          </a:p>
          <a:p>
            <a:r>
              <a:rPr lang="en-US" dirty="0"/>
              <a:t>Also,</a:t>
            </a:r>
            <a:r>
              <a:rPr lang="en-US" baseline="-25000" dirty="0"/>
              <a:t>  </a:t>
            </a:r>
            <a:r>
              <a:rPr lang="en-US" dirty="0"/>
              <a:t> since there are no loops, each diagonal  entry </a:t>
            </a:r>
            <a:r>
              <a:rPr lang="en-US" i="1" dirty="0" err="1"/>
              <a:t>a</a:t>
            </a:r>
            <a:r>
              <a:rPr lang="en-US" i="1" baseline="-25000" dirty="0" err="1"/>
              <a:t>ij</a:t>
            </a:r>
            <a:r>
              <a:rPr lang="en-US" dirty="0"/>
              <a:t>  for </a:t>
            </a:r>
            <a:r>
              <a:rPr lang="en-US" i="1" dirty="0" err="1"/>
              <a:t>i</a:t>
            </a:r>
            <a:r>
              <a:rPr lang="en-US" dirty="0"/>
              <a:t> = </a:t>
            </a:r>
            <a:r>
              <a:rPr lang="en-US" dirty="0">
                <a:latin typeface="Cambria Math" pitchFamily="18" charset="0"/>
                <a:ea typeface="Cambria Math" pitchFamily="18" charset="0"/>
              </a:rPr>
              <a:t>1</a:t>
            </a:r>
            <a:r>
              <a:rPr lang="en-US" dirty="0"/>
              <a:t>, </a:t>
            </a:r>
            <a:r>
              <a:rPr lang="en-US" dirty="0">
                <a:latin typeface="Cambria Math" pitchFamily="18" charset="0"/>
                <a:ea typeface="Cambria Math" pitchFamily="18" charset="0"/>
              </a:rPr>
              <a:t>2</a:t>
            </a:r>
            <a:r>
              <a:rPr lang="en-US" dirty="0"/>
              <a:t>, </a:t>
            </a:r>
            <a:r>
              <a:rPr lang="en-US" dirty="0">
                <a:latin typeface="Cambria Math" pitchFamily="18" charset="0"/>
                <a:ea typeface="Cambria Math" pitchFamily="18" charset="0"/>
              </a:rPr>
              <a:t>3</a:t>
            </a:r>
            <a:r>
              <a:rPr lang="en-US" dirty="0"/>
              <a:t>, …, </a:t>
            </a:r>
            <a:r>
              <a:rPr lang="en-US" i="1" dirty="0"/>
              <a:t>n</a:t>
            </a:r>
            <a:r>
              <a:rPr lang="en-US" dirty="0"/>
              <a:t>, is </a:t>
            </a:r>
            <a:r>
              <a:rPr lang="en-US" dirty="0">
                <a:latin typeface="Cambria Math" pitchFamily="18" charset="0"/>
                <a:ea typeface="Cambria Math" pitchFamily="18" charset="0"/>
              </a:rPr>
              <a:t>0</a:t>
            </a:r>
            <a:r>
              <a:rPr lang="en-US" dirty="0"/>
              <a:t>.</a:t>
            </a:r>
            <a:endParaRPr lang="en-US" baseline="-25000" dirty="0"/>
          </a:p>
        </p:txBody>
      </p:sp>
      <p:sp>
        <p:nvSpPr>
          <p:cNvPr id="18" name="TextBox 17"/>
          <p:cNvSpPr txBox="1"/>
          <p:nvPr/>
        </p:nvSpPr>
        <p:spPr>
          <a:xfrm>
            <a:off x="6019801" y="2058501"/>
            <a:ext cx="2971800" cy="3416320"/>
          </a:xfrm>
          <a:prstGeom prst="rect">
            <a:avLst/>
          </a:prstGeom>
          <a:noFill/>
          <a:ln>
            <a:solidFill>
              <a:schemeClr val="accent1"/>
            </a:solidFill>
          </a:ln>
        </p:spPr>
        <p:txBody>
          <a:bodyPr wrap="square" rtlCol="0">
            <a:spAutoFit/>
          </a:bodyPr>
          <a:lstStyle/>
          <a:p>
            <a:r>
              <a:rPr lang="en-US" dirty="0"/>
              <a:t>When a graph is sparse, that is, it has few edges relatively to the total number of possible edges, it is much more efficient to  represent the graph using an adjacency list than an adjacency matrix.  But for a dense graph, which includes a high percentage of possible edges, an adjacency matrix is preferable.</a:t>
            </a:r>
          </a:p>
        </p:txBody>
      </p:sp>
    </p:spTree>
    <p:extLst>
      <p:ext uri="{BB962C8B-B14F-4D97-AF65-F5344CB8AC3E}">
        <p14:creationId xmlns:p14="http://schemas.microsoft.com/office/powerpoint/2010/main" val="667202994"/>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Adjacency Matrices (</a:t>
            </a:r>
            <a:r>
              <a:rPr lang="en-US" i="1" dirty="0"/>
              <a:t>continued</a:t>
            </a:r>
            <a:r>
              <a:rPr lang="en-US" dirty="0"/>
              <a:t>)</a:t>
            </a:r>
          </a:p>
        </p:txBody>
      </p:sp>
      <p:sp>
        <p:nvSpPr>
          <p:cNvPr id="7" name="Content Placeholder 6"/>
          <p:cNvSpPr>
            <a:spLocks noGrp="1"/>
          </p:cNvSpPr>
          <p:nvPr>
            <p:ph idx="1"/>
          </p:nvPr>
        </p:nvSpPr>
        <p:spPr>
          <a:xfrm>
            <a:off x="457200" y="1905000"/>
            <a:ext cx="8229600" cy="4389120"/>
          </a:xfrm>
        </p:spPr>
        <p:txBody>
          <a:bodyPr>
            <a:normAutofit fontScale="85000" lnSpcReduction="20000"/>
          </a:bodyPr>
          <a:lstStyle/>
          <a:p>
            <a:r>
              <a:rPr lang="en-US" dirty="0"/>
              <a:t>Adjacency matrices can also be used to represent graphs with loops and multiple edges. </a:t>
            </a:r>
          </a:p>
          <a:p>
            <a:r>
              <a:rPr lang="en-US" dirty="0"/>
              <a:t>A loop at the vertex </a:t>
            </a:r>
            <a:r>
              <a:rPr lang="en-US" i="1" dirty="0"/>
              <a:t>v</a:t>
            </a:r>
            <a:r>
              <a:rPr lang="en-US" i="1" baseline="-25000" dirty="0"/>
              <a:t>i</a:t>
            </a:r>
            <a:r>
              <a:rPr lang="en-US" dirty="0"/>
              <a:t> is represented by a </a:t>
            </a:r>
            <a:r>
              <a:rPr lang="en-US" dirty="0">
                <a:latin typeface="Cambria Math" pitchFamily="18" charset="0"/>
                <a:ea typeface="Cambria Math" pitchFamily="18" charset="0"/>
              </a:rPr>
              <a:t>1</a:t>
            </a:r>
            <a:r>
              <a:rPr lang="en-US" dirty="0"/>
              <a:t> at the (</a:t>
            </a:r>
            <a:r>
              <a:rPr lang="en-US" i="1" dirty="0" err="1"/>
              <a:t>i</a:t>
            </a:r>
            <a:r>
              <a:rPr lang="en-US" dirty="0"/>
              <a:t>, </a:t>
            </a:r>
            <a:r>
              <a:rPr lang="en-US" i="1" dirty="0"/>
              <a:t>j</a:t>
            </a:r>
            <a:r>
              <a:rPr lang="en-US" dirty="0"/>
              <a:t>)</a:t>
            </a:r>
            <a:r>
              <a:rPr lang="en-US" dirty="0" err="1"/>
              <a:t>th</a:t>
            </a:r>
            <a:r>
              <a:rPr lang="en-US" dirty="0"/>
              <a:t> position of the matrix. </a:t>
            </a:r>
          </a:p>
          <a:p>
            <a:r>
              <a:rPr lang="en-US" dirty="0"/>
              <a:t>When multiple edges connect the same pair of vertices </a:t>
            </a:r>
            <a:r>
              <a:rPr lang="en-US" i="1" dirty="0"/>
              <a:t>v</a:t>
            </a:r>
            <a:r>
              <a:rPr lang="en-US" i="1" baseline="-25000" dirty="0"/>
              <a:t>i</a:t>
            </a:r>
            <a:r>
              <a:rPr lang="en-US" dirty="0"/>
              <a:t> and </a:t>
            </a:r>
            <a:r>
              <a:rPr lang="en-US" i="1" dirty="0" err="1"/>
              <a:t>v</a:t>
            </a:r>
            <a:r>
              <a:rPr lang="en-US" i="1" baseline="-25000" dirty="0" err="1"/>
              <a:t>j</a:t>
            </a:r>
            <a:r>
              <a:rPr lang="en-US" dirty="0"/>
              <a:t>, (or if multiple loops are present at the same vertex), the (</a:t>
            </a:r>
            <a:r>
              <a:rPr lang="en-US" i="1" dirty="0" err="1"/>
              <a:t>i</a:t>
            </a:r>
            <a:r>
              <a:rPr lang="en-US" dirty="0"/>
              <a:t>, </a:t>
            </a:r>
            <a:r>
              <a:rPr lang="en-US" i="1" dirty="0"/>
              <a:t>j</a:t>
            </a:r>
            <a:r>
              <a:rPr lang="en-US" dirty="0"/>
              <a:t>)</a:t>
            </a:r>
            <a:r>
              <a:rPr lang="en-US" dirty="0" err="1"/>
              <a:t>th</a:t>
            </a:r>
            <a:r>
              <a:rPr lang="en-US" dirty="0"/>
              <a:t> entry equals the number of edges connecting the pair of vertices. </a:t>
            </a:r>
          </a:p>
          <a:p>
            <a:pPr indent="0">
              <a:buNone/>
            </a:pPr>
            <a:r>
              <a:rPr lang="en-US" b="1" dirty="0"/>
              <a:t>Example</a:t>
            </a:r>
            <a:r>
              <a:rPr lang="en-US" dirty="0"/>
              <a:t>: We give the adjacency matrix  of the </a:t>
            </a:r>
            <a:r>
              <a:rPr lang="en-US" dirty="0" err="1"/>
              <a:t>pseudograph</a:t>
            </a:r>
            <a:r>
              <a:rPr lang="en-US" dirty="0"/>
              <a:t> shown here using the ordering of vertices </a:t>
            </a:r>
            <a:r>
              <a:rPr lang="en-US" i="1" dirty="0"/>
              <a:t>a</a:t>
            </a:r>
            <a:r>
              <a:rPr lang="en-US" dirty="0"/>
              <a:t>, </a:t>
            </a:r>
            <a:r>
              <a:rPr lang="en-US" i="1" dirty="0"/>
              <a:t>b</a:t>
            </a:r>
            <a:r>
              <a:rPr lang="en-US" dirty="0"/>
              <a:t>, </a:t>
            </a:r>
            <a:r>
              <a:rPr lang="en-US" i="1" dirty="0"/>
              <a:t>c</a:t>
            </a:r>
            <a:r>
              <a:rPr lang="en-US" dirty="0"/>
              <a:t>, </a:t>
            </a:r>
            <a:r>
              <a:rPr lang="en-US" i="1" dirty="0"/>
              <a:t>d</a:t>
            </a:r>
            <a:r>
              <a:rPr lang="en-US" dirty="0"/>
              <a:t>.  </a:t>
            </a:r>
          </a:p>
          <a:p>
            <a:pPr indent="0">
              <a:buNone/>
            </a:pPr>
            <a:endParaRPr lang="en-US" dirty="0"/>
          </a:p>
          <a:p>
            <a:pPr indent="0">
              <a:buNone/>
            </a:pPr>
            <a:r>
              <a:rPr lang="en-US" dirty="0"/>
              <a:t>  </a:t>
            </a:r>
          </a:p>
          <a:p>
            <a:pPr indent="0">
              <a:buNone/>
            </a:pPr>
            <a:r>
              <a:rPr lang="en-US" dirty="0"/>
              <a:t>  </a:t>
            </a:r>
          </a:p>
          <a:p>
            <a:pPr indent="0">
              <a:buNone/>
            </a:pPr>
            <a:r>
              <a:rPr lang="en-US" dirty="0"/>
              <a:t>  </a:t>
            </a: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5181600"/>
            <a:ext cx="935736" cy="977646"/>
          </a:xfrm>
          <a:prstGeom prst="rect">
            <a:avLst/>
          </a:prstGeom>
        </p:spPr>
      </p:pic>
      <p:pic>
        <p:nvPicPr>
          <p:cNvPr id="8" name="Picture 7"/>
          <p:cNvPicPr>
            <a:picLocks noChangeAspect="1"/>
          </p:cNvPicPr>
          <p:nvPr>
            <p:custDataLst>
              <p:tags r:id="rId1"/>
            </p:custDataLst>
          </p:nvPr>
        </p:nvPicPr>
        <p:blipFill>
          <a:blip r:embed="rId4" cstate="print">
            <a:extLst>
              <a:ext uri="{28A0092B-C50C-407E-A947-70E740481C1C}">
                <a14:useLocalDpi xmlns:a14="http://schemas.microsoft.com/office/drawing/2010/main" val="0"/>
              </a:ext>
            </a:extLst>
          </a:blip>
          <a:stretch>
            <a:fillRect/>
          </a:stretch>
        </p:blipFill>
        <p:spPr>
          <a:xfrm>
            <a:off x="4191000" y="5214651"/>
            <a:ext cx="1270159" cy="911543"/>
          </a:xfrm>
          <a:prstGeom prst="rect">
            <a:avLst/>
          </a:prstGeom>
        </p:spPr>
      </p:pic>
    </p:spTree>
    <p:extLst>
      <p:ext uri="{BB962C8B-B14F-4D97-AF65-F5344CB8AC3E}">
        <p14:creationId xmlns:p14="http://schemas.microsoft.com/office/powerpoint/2010/main" val="329518550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Adjacency Matrices (</a:t>
            </a:r>
            <a:r>
              <a:rPr lang="en-US" i="1" dirty="0"/>
              <a:t>continued</a:t>
            </a:r>
            <a:r>
              <a:rPr lang="en-US" dirty="0"/>
              <a:t>)</a:t>
            </a:r>
          </a:p>
        </p:txBody>
      </p:sp>
      <p:sp>
        <p:nvSpPr>
          <p:cNvPr id="3" name="Content Placeholder 2"/>
          <p:cNvSpPr>
            <a:spLocks noGrp="1"/>
          </p:cNvSpPr>
          <p:nvPr>
            <p:ph idx="1"/>
          </p:nvPr>
        </p:nvSpPr>
        <p:spPr/>
        <p:txBody>
          <a:bodyPr>
            <a:normAutofit lnSpcReduction="10000"/>
          </a:bodyPr>
          <a:lstStyle/>
          <a:p>
            <a:r>
              <a:rPr lang="en-US" dirty="0"/>
              <a:t>Adjacency matrices can also be used to represent directed graphs. The matrix for a directed graph  </a:t>
            </a:r>
            <a:r>
              <a:rPr lang="en-US" i="1" dirty="0"/>
              <a:t>G</a:t>
            </a:r>
            <a:r>
              <a:rPr lang="en-US" dirty="0"/>
              <a:t> = (</a:t>
            </a:r>
            <a:r>
              <a:rPr lang="en-US" i="1" dirty="0"/>
              <a:t>V</a:t>
            </a:r>
            <a:r>
              <a:rPr lang="en-US" dirty="0"/>
              <a:t>, </a:t>
            </a:r>
            <a:r>
              <a:rPr lang="en-US" i="1" dirty="0"/>
              <a:t>E</a:t>
            </a:r>
            <a:r>
              <a:rPr lang="en-US" dirty="0"/>
              <a:t>) has a </a:t>
            </a:r>
            <a:r>
              <a:rPr lang="en-US" dirty="0">
                <a:latin typeface="Cambria Math" pitchFamily="18" charset="0"/>
                <a:ea typeface="Cambria Math" pitchFamily="18" charset="0"/>
              </a:rPr>
              <a:t>1</a:t>
            </a:r>
            <a:r>
              <a:rPr lang="en-US" dirty="0"/>
              <a:t> in its (</a:t>
            </a:r>
            <a:r>
              <a:rPr lang="en-US" i="1" dirty="0" err="1"/>
              <a:t>i</a:t>
            </a:r>
            <a:r>
              <a:rPr lang="en-US" dirty="0"/>
              <a:t>, </a:t>
            </a:r>
            <a:r>
              <a:rPr lang="en-US" i="1" dirty="0"/>
              <a:t>j</a:t>
            </a:r>
            <a:r>
              <a:rPr lang="en-US" dirty="0"/>
              <a:t>)</a:t>
            </a:r>
            <a:r>
              <a:rPr lang="en-US" dirty="0" err="1"/>
              <a:t>th</a:t>
            </a:r>
            <a:r>
              <a:rPr lang="en-US" dirty="0"/>
              <a:t> position if there is an edge from </a:t>
            </a:r>
            <a:r>
              <a:rPr lang="en-US" i="1" dirty="0"/>
              <a:t>v</a:t>
            </a:r>
            <a:r>
              <a:rPr lang="en-US" i="1" baseline="-25000" dirty="0"/>
              <a:t>i</a:t>
            </a:r>
            <a:r>
              <a:rPr lang="en-US" i="1" dirty="0"/>
              <a:t> </a:t>
            </a:r>
            <a:r>
              <a:rPr lang="en-US" dirty="0"/>
              <a:t>to </a:t>
            </a:r>
            <a:r>
              <a:rPr lang="en-US" i="1" dirty="0" err="1"/>
              <a:t>v</a:t>
            </a:r>
            <a:r>
              <a:rPr lang="en-US" i="1" baseline="-25000" dirty="0" err="1"/>
              <a:t>j</a:t>
            </a:r>
            <a:r>
              <a:rPr lang="en-US" dirty="0"/>
              <a:t>, where </a:t>
            </a:r>
            <a:r>
              <a:rPr lang="en-US" i="1" dirty="0"/>
              <a:t>v</a:t>
            </a:r>
            <a:r>
              <a:rPr lang="en-US" baseline="-25000" dirty="0">
                <a:latin typeface="Cambria Math" pitchFamily="18" charset="0"/>
                <a:ea typeface="Cambria Math" pitchFamily="18" charset="0"/>
              </a:rPr>
              <a:t>1</a:t>
            </a:r>
            <a:r>
              <a:rPr lang="en-US" dirty="0"/>
              <a:t>, </a:t>
            </a:r>
            <a:r>
              <a:rPr lang="en-US" i="1" dirty="0"/>
              <a:t>v</a:t>
            </a:r>
            <a:r>
              <a:rPr lang="en-US" baseline="-25000" dirty="0">
                <a:latin typeface="Cambria Math" pitchFamily="18" charset="0"/>
                <a:ea typeface="Cambria Math" pitchFamily="18" charset="0"/>
              </a:rPr>
              <a:t>2</a:t>
            </a:r>
            <a:r>
              <a:rPr lang="en-US" dirty="0"/>
              <a:t>, … </a:t>
            </a:r>
            <a:r>
              <a:rPr lang="en-US" i="1" dirty="0" err="1"/>
              <a:t>v</a:t>
            </a:r>
            <a:r>
              <a:rPr lang="en-US" i="1" baseline="-25000" dirty="0" err="1">
                <a:latin typeface="Cambria Math" pitchFamily="18" charset="0"/>
                <a:ea typeface="Cambria Math" pitchFamily="18" charset="0"/>
              </a:rPr>
              <a:t>n</a:t>
            </a:r>
            <a:r>
              <a:rPr lang="en-US" dirty="0"/>
              <a:t> is a  list of the vertices.</a:t>
            </a:r>
          </a:p>
          <a:p>
            <a:pPr marL="640080" lvl="2" indent="-365760"/>
            <a:r>
              <a:rPr lang="en-US" dirty="0"/>
              <a:t>In other words, if the graphs adjacency matrix is  </a:t>
            </a:r>
            <a:r>
              <a:rPr lang="en-US" b="1" dirty="0"/>
              <a:t>A</a:t>
            </a:r>
            <a:r>
              <a:rPr lang="en-US" i="1" baseline="-25000" dirty="0"/>
              <a:t>G</a:t>
            </a:r>
            <a:r>
              <a:rPr lang="en-US" dirty="0"/>
              <a:t> = [</a:t>
            </a:r>
            <a:r>
              <a:rPr lang="en-US" i="1" dirty="0" err="1"/>
              <a:t>a</a:t>
            </a:r>
            <a:r>
              <a:rPr lang="en-US" i="1" baseline="-25000" dirty="0" err="1"/>
              <a:t>ij</a:t>
            </a:r>
            <a:r>
              <a:rPr lang="en-US" dirty="0"/>
              <a:t>], then</a:t>
            </a:r>
          </a:p>
          <a:p>
            <a:pPr marL="640080" lvl="2" indent="-365760"/>
            <a:endParaRPr lang="en-US" dirty="0"/>
          </a:p>
          <a:p>
            <a:pPr marL="640080" lvl="2" indent="-365760"/>
            <a:endParaRPr lang="en-US" dirty="0"/>
          </a:p>
          <a:p>
            <a:pPr marL="640080" lvl="2" indent="-365760"/>
            <a:r>
              <a:rPr lang="en-US" dirty="0"/>
              <a:t>The adjacency matrix for a directed graph does not have to be symmetric, because there may not be an edge from </a:t>
            </a:r>
            <a:r>
              <a:rPr lang="en-US" i="1" dirty="0"/>
              <a:t>v</a:t>
            </a:r>
            <a:r>
              <a:rPr lang="en-US" i="1" baseline="-25000" dirty="0"/>
              <a:t>i</a:t>
            </a:r>
            <a:r>
              <a:rPr lang="en-US" i="1" dirty="0"/>
              <a:t> </a:t>
            </a:r>
            <a:r>
              <a:rPr lang="en-US" dirty="0"/>
              <a:t>to </a:t>
            </a:r>
            <a:r>
              <a:rPr lang="en-US" i="1" dirty="0" err="1"/>
              <a:t>v</a:t>
            </a:r>
            <a:r>
              <a:rPr lang="en-US" i="1" baseline="-25000" dirty="0" err="1"/>
              <a:t>j</a:t>
            </a:r>
            <a:r>
              <a:rPr lang="en-US" dirty="0"/>
              <a:t>, when there is an edge from </a:t>
            </a:r>
            <a:r>
              <a:rPr lang="en-US" i="1" dirty="0" err="1"/>
              <a:t>v</a:t>
            </a:r>
            <a:r>
              <a:rPr lang="en-US" i="1" baseline="-25000" dirty="0" err="1"/>
              <a:t>j</a:t>
            </a:r>
            <a:r>
              <a:rPr lang="en-US" i="1" dirty="0"/>
              <a:t> </a:t>
            </a:r>
            <a:r>
              <a:rPr lang="en-US" dirty="0"/>
              <a:t>to </a:t>
            </a:r>
            <a:r>
              <a:rPr lang="en-US" i="1" dirty="0"/>
              <a:t>v</a:t>
            </a:r>
            <a:r>
              <a:rPr lang="en-US" i="1" baseline="-25000" dirty="0"/>
              <a:t>i</a:t>
            </a:r>
            <a:r>
              <a:rPr lang="en-US" dirty="0"/>
              <a:t>. </a:t>
            </a:r>
          </a:p>
          <a:p>
            <a:pPr marL="640080" lvl="2" indent="-365760"/>
            <a:r>
              <a:rPr lang="en-US" dirty="0"/>
              <a:t>To represent directed </a:t>
            </a:r>
            <a:r>
              <a:rPr lang="en-US" dirty="0" err="1"/>
              <a:t>multigraphs</a:t>
            </a:r>
            <a:r>
              <a:rPr lang="en-US" dirty="0"/>
              <a:t>, the value of </a:t>
            </a:r>
            <a:r>
              <a:rPr lang="en-US" i="1" dirty="0" err="1"/>
              <a:t>a</a:t>
            </a:r>
            <a:r>
              <a:rPr lang="en-US" i="1" baseline="-25000" dirty="0" err="1"/>
              <a:t>ij</a:t>
            </a:r>
            <a:r>
              <a:rPr lang="en-US" dirty="0"/>
              <a:t> is the number of edges connecting </a:t>
            </a:r>
            <a:r>
              <a:rPr lang="en-US" i="1" dirty="0"/>
              <a:t>v</a:t>
            </a:r>
            <a:r>
              <a:rPr lang="en-US" i="1" baseline="-25000" dirty="0"/>
              <a:t>i</a:t>
            </a:r>
            <a:r>
              <a:rPr lang="en-US" i="1" dirty="0"/>
              <a:t> </a:t>
            </a:r>
            <a:r>
              <a:rPr lang="en-US" dirty="0"/>
              <a:t>to </a:t>
            </a:r>
            <a:r>
              <a:rPr lang="en-US" i="1" dirty="0" err="1"/>
              <a:t>v</a:t>
            </a:r>
            <a:r>
              <a:rPr lang="en-US" i="1" baseline="-25000" dirty="0" err="1"/>
              <a:t>j</a:t>
            </a:r>
            <a:r>
              <a:rPr lang="en-US" dirty="0"/>
              <a:t>. </a:t>
            </a:r>
          </a:p>
          <a:p>
            <a:pPr marL="0" indent="0">
              <a:buNone/>
            </a:pPr>
            <a:endParaRPr lang="en-US" dirty="0"/>
          </a:p>
        </p:txBody>
      </p:sp>
      <p:pic>
        <p:nvPicPr>
          <p:cNvPr id="4" name="Picture 3"/>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1981200" y="3886200"/>
            <a:ext cx="4217670" cy="609600"/>
          </a:xfrm>
          <a:prstGeom prst="rect">
            <a:avLst/>
          </a:prstGeom>
        </p:spPr>
      </p:pic>
    </p:spTree>
    <p:extLst>
      <p:ext uri="{BB962C8B-B14F-4D97-AF65-F5344CB8AC3E}">
        <p14:creationId xmlns:p14="http://schemas.microsoft.com/office/powerpoint/2010/main" val="646700238"/>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Incidence Matrices (</a:t>
            </a:r>
            <a:r>
              <a:rPr lang="en-US" i="1" dirty="0"/>
              <a:t>continued</a:t>
            </a:r>
            <a:r>
              <a:rPr lang="en-US" dirty="0"/>
              <a:t>)</a:t>
            </a:r>
          </a:p>
        </p:txBody>
      </p:sp>
      <p:pic>
        <p:nvPicPr>
          <p:cNvPr id="7" name="Content Placeholder 6"/>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685800" y="4876800"/>
            <a:ext cx="1141476" cy="765810"/>
          </a:xfr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200" y="2893931"/>
            <a:ext cx="1160526" cy="835914"/>
          </a:xfrm>
          <a:prstGeom prst="rect">
            <a:avLst/>
          </a:prstGeom>
        </p:spPr>
      </p:pic>
      <p:sp>
        <p:nvSpPr>
          <p:cNvPr id="6" name="TextBox 5"/>
          <p:cNvSpPr txBox="1"/>
          <p:nvPr/>
        </p:nvSpPr>
        <p:spPr>
          <a:xfrm>
            <a:off x="533400" y="2058501"/>
            <a:ext cx="6019800" cy="369332"/>
          </a:xfrm>
          <a:prstGeom prst="rect">
            <a:avLst/>
          </a:prstGeom>
          <a:noFill/>
        </p:spPr>
        <p:txBody>
          <a:bodyPr wrap="square" rtlCol="0">
            <a:spAutoFit/>
          </a:bodyPr>
          <a:lstStyle/>
          <a:p>
            <a:r>
              <a:rPr lang="en-US" b="1" dirty="0"/>
              <a:t>Example</a:t>
            </a:r>
            <a:r>
              <a:rPr lang="en-US" dirty="0"/>
              <a:t>:  Simple Graph and Incidence Matrix</a:t>
            </a:r>
          </a:p>
        </p:txBody>
      </p:sp>
      <p:pic>
        <p:nvPicPr>
          <p:cNvPr id="3" name="Picture 2"/>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2743199" y="2741816"/>
            <a:ext cx="1840230" cy="1140143"/>
          </a:xfrm>
          <a:prstGeom prst="rect">
            <a:avLst/>
          </a:prstGeom>
        </p:spPr>
      </p:pic>
      <p:sp>
        <p:nvSpPr>
          <p:cNvPr id="4" name="TextBox 3"/>
          <p:cNvSpPr txBox="1"/>
          <p:nvPr/>
        </p:nvSpPr>
        <p:spPr>
          <a:xfrm>
            <a:off x="5486400" y="2427833"/>
            <a:ext cx="3048000" cy="1477328"/>
          </a:xfrm>
          <a:prstGeom prst="rect">
            <a:avLst/>
          </a:prstGeom>
          <a:noFill/>
        </p:spPr>
        <p:txBody>
          <a:bodyPr wrap="square" rtlCol="0">
            <a:spAutoFit/>
          </a:bodyPr>
          <a:lstStyle/>
          <a:p>
            <a:r>
              <a:rPr lang="en-US" i="1" dirty="0"/>
              <a:t>The rows going from top to bottom represent v</a:t>
            </a:r>
            <a:r>
              <a:rPr lang="en-US" baseline="-25000" dirty="0">
                <a:latin typeface="Cambria Math" pitchFamily="18" charset="0"/>
                <a:ea typeface="Cambria Math" pitchFamily="18" charset="0"/>
              </a:rPr>
              <a:t>1</a:t>
            </a:r>
            <a:r>
              <a:rPr lang="en-US" dirty="0"/>
              <a:t> </a:t>
            </a:r>
            <a:r>
              <a:rPr lang="en-US" i="1" dirty="0"/>
              <a:t>through v</a:t>
            </a:r>
            <a:r>
              <a:rPr lang="en-US" baseline="-25000" dirty="0">
                <a:latin typeface="Cambria Math" pitchFamily="18" charset="0"/>
                <a:ea typeface="Cambria Math" pitchFamily="18" charset="0"/>
              </a:rPr>
              <a:t>5</a:t>
            </a:r>
            <a:r>
              <a:rPr lang="en-US" dirty="0"/>
              <a:t> </a:t>
            </a:r>
            <a:r>
              <a:rPr lang="en-US" i="1" dirty="0"/>
              <a:t>and the columns going from left to right represent e</a:t>
            </a:r>
            <a:r>
              <a:rPr lang="en-US" baseline="-25000" dirty="0">
                <a:latin typeface="Cambria Math" pitchFamily="18" charset="0"/>
                <a:ea typeface="Cambria Math" pitchFamily="18" charset="0"/>
              </a:rPr>
              <a:t>1</a:t>
            </a:r>
            <a:r>
              <a:rPr lang="en-US" dirty="0"/>
              <a:t> </a:t>
            </a:r>
            <a:r>
              <a:rPr lang="en-US" i="1" dirty="0"/>
              <a:t>through</a:t>
            </a:r>
            <a:r>
              <a:rPr lang="en-US" dirty="0"/>
              <a:t> </a:t>
            </a:r>
            <a:r>
              <a:rPr lang="en-US" i="1" dirty="0"/>
              <a:t>e</a:t>
            </a:r>
            <a:r>
              <a:rPr lang="en-US" baseline="-25000" dirty="0">
                <a:latin typeface="Cambria Math" pitchFamily="18" charset="0"/>
                <a:ea typeface="Cambria Math" pitchFamily="18" charset="0"/>
              </a:rPr>
              <a:t>6</a:t>
            </a:r>
            <a:r>
              <a:rPr lang="en-US" dirty="0"/>
              <a:t>.</a:t>
            </a:r>
          </a:p>
        </p:txBody>
      </p:sp>
      <p:sp>
        <p:nvSpPr>
          <p:cNvPr id="9" name="TextBox 8"/>
          <p:cNvSpPr txBox="1"/>
          <p:nvPr/>
        </p:nvSpPr>
        <p:spPr>
          <a:xfrm>
            <a:off x="457200" y="4114800"/>
            <a:ext cx="6019800" cy="369332"/>
          </a:xfrm>
          <a:prstGeom prst="rect">
            <a:avLst/>
          </a:prstGeom>
          <a:noFill/>
        </p:spPr>
        <p:txBody>
          <a:bodyPr wrap="square" rtlCol="0">
            <a:spAutoFit/>
          </a:bodyPr>
          <a:lstStyle/>
          <a:p>
            <a:r>
              <a:rPr lang="en-US" b="1" dirty="0"/>
              <a:t>Example</a:t>
            </a:r>
            <a:r>
              <a:rPr lang="en-US" dirty="0"/>
              <a:t>:  </a:t>
            </a:r>
            <a:r>
              <a:rPr lang="en-US" dirty="0" err="1"/>
              <a:t>Pseudograph</a:t>
            </a:r>
            <a:r>
              <a:rPr lang="en-US" dirty="0"/>
              <a:t> and Incidence Matrix</a:t>
            </a:r>
          </a:p>
        </p:txBody>
      </p:sp>
      <p:sp>
        <p:nvSpPr>
          <p:cNvPr id="10" name="TextBox 9"/>
          <p:cNvSpPr txBox="1"/>
          <p:nvPr/>
        </p:nvSpPr>
        <p:spPr>
          <a:xfrm>
            <a:off x="5181600" y="4800600"/>
            <a:ext cx="3048000" cy="1477328"/>
          </a:xfrm>
          <a:prstGeom prst="rect">
            <a:avLst/>
          </a:prstGeom>
          <a:noFill/>
        </p:spPr>
        <p:txBody>
          <a:bodyPr wrap="square" rtlCol="0">
            <a:spAutoFit/>
          </a:bodyPr>
          <a:lstStyle/>
          <a:p>
            <a:r>
              <a:rPr lang="en-US" i="1" dirty="0"/>
              <a:t>The rows going from top to bottom represent v</a:t>
            </a:r>
            <a:r>
              <a:rPr lang="en-US" baseline="-25000" dirty="0">
                <a:latin typeface="Cambria Math" pitchFamily="18" charset="0"/>
                <a:ea typeface="Cambria Math" pitchFamily="18" charset="0"/>
              </a:rPr>
              <a:t>1</a:t>
            </a:r>
            <a:r>
              <a:rPr lang="en-US" dirty="0"/>
              <a:t> </a:t>
            </a:r>
            <a:r>
              <a:rPr lang="en-US" i="1" dirty="0"/>
              <a:t>through</a:t>
            </a:r>
            <a:r>
              <a:rPr lang="en-US" dirty="0"/>
              <a:t> </a:t>
            </a:r>
            <a:r>
              <a:rPr lang="en-US" i="1" dirty="0"/>
              <a:t>v</a:t>
            </a:r>
            <a:r>
              <a:rPr lang="en-US" baseline="-25000" dirty="0">
                <a:latin typeface="Cambria Math" pitchFamily="18" charset="0"/>
                <a:ea typeface="Cambria Math" pitchFamily="18" charset="0"/>
              </a:rPr>
              <a:t>5</a:t>
            </a:r>
            <a:r>
              <a:rPr lang="en-US" dirty="0"/>
              <a:t> </a:t>
            </a:r>
            <a:r>
              <a:rPr lang="en-US" i="1" dirty="0"/>
              <a:t>and the columns going from left to right represent e</a:t>
            </a:r>
            <a:r>
              <a:rPr lang="en-US" baseline="-25000" dirty="0">
                <a:latin typeface="Cambria Math" pitchFamily="18" charset="0"/>
                <a:ea typeface="Cambria Math" pitchFamily="18" charset="0"/>
              </a:rPr>
              <a:t>1</a:t>
            </a:r>
            <a:r>
              <a:rPr lang="en-US" dirty="0"/>
              <a:t> </a:t>
            </a:r>
            <a:r>
              <a:rPr lang="en-US" i="1" dirty="0"/>
              <a:t>through</a:t>
            </a:r>
            <a:r>
              <a:rPr lang="en-US" dirty="0"/>
              <a:t> </a:t>
            </a:r>
            <a:r>
              <a:rPr lang="en-US" i="1" dirty="0"/>
              <a:t>e</a:t>
            </a:r>
            <a:r>
              <a:rPr lang="en-US" baseline="-25000" dirty="0">
                <a:latin typeface="Cambria Math" pitchFamily="18" charset="0"/>
                <a:ea typeface="Cambria Math" pitchFamily="18" charset="0"/>
              </a:rPr>
              <a:t>8</a:t>
            </a:r>
            <a:r>
              <a:rPr lang="en-US" dirty="0"/>
              <a:t>.</a:t>
            </a:r>
          </a:p>
        </p:txBody>
      </p:sp>
      <p:pic>
        <p:nvPicPr>
          <p:cNvPr id="12" name="Picture 11"/>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2338863" y="4800600"/>
            <a:ext cx="2408873" cy="1140143"/>
          </a:xfrm>
          <a:prstGeom prst="rect">
            <a:avLst/>
          </a:prstGeom>
        </p:spPr>
      </p:pic>
    </p:spTree>
    <p:extLst>
      <p:ext uri="{BB962C8B-B14F-4D97-AF65-F5344CB8AC3E}">
        <p14:creationId xmlns:p14="http://schemas.microsoft.com/office/powerpoint/2010/main" val="3042535236"/>
      </p:ext>
    </p:extLst>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Representation of Graphs: Incidence Matrices</a:t>
            </a:r>
          </a:p>
        </p:txBody>
      </p:sp>
      <p:sp>
        <p:nvSpPr>
          <p:cNvPr id="3" name="Content Placeholder 2"/>
          <p:cNvSpPr>
            <a:spLocks noGrp="1"/>
          </p:cNvSpPr>
          <p:nvPr>
            <p:ph idx="1"/>
          </p:nvPr>
        </p:nvSpPr>
        <p:spPr/>
        <p:txBody>
          <a:bodyPr/>
          <a:lstStyle/>
          <a:p>
            <a:pPr indent="0">
              <a:buNone/>
            </a:pPr>
            <a:r>
              <a:rPr lang="en-US" b="1" dirty="0"/>
              <a:t>Definition</a:t>
            </a:r>
            <a:r>
              <a:rPr lang="en-US" dirty="0"/>
              <a:t>: Let  </a:t>
            </a:r>
            <a:r>
              <a:rPr lang="en-US" i="1" dirty="0"/>
              <a:t>G</a:t>
            </a:r>
            <a:r>
              <a:rPr lang="en-US" dirty="0"/>
              <a:t> = (</a:t>
            </a:r>
            <a:r>
              <a:rPr lang="en-US" i="1" dirty="0"/>
              <a:t>V</a:t>
            </a:r>
            <a:r>
              <a:rPr lang="en-US" dirty="0"/>
              <a:t>, </a:t>
            </a:r>
            <a:r>
              <a:rPr lang="en-US" i="1" dirty="0"/>
              <a:t>E</a:t>
            </a:r>
            <a:r>
              <a:rPr lang="en-US" dirty="0"/>
              <a:t>) be an undirected graph with vertices where </a:t>
            </a:r>
            <a:r>
              <a:rPr lang="en-US" i="1" dirty="0"/>
              <a:t>v</a:t>
            </a:r>
            <a:r>
              <a:rPr lang="en-US" baseline="-25000" dirty="0">
                <a:latin typeface="Cambria Math" pitchFamily="18" charset="0"/>
                <a:ea typeface="Cambria Math" pitchFamily="18" charset="0"/>
              </a:rPr>
              <a:t>1</a:t>
            </a:r>
            <a:r>
              <a:rPr lang="en-US" dirty="0"/>
              <a:t>, </a:t>
            </a:r>
            <a:r>
              <a:rPr lang="en-US" i="1" dirty="0"/>
              <a:t>v</a:t>
            </a:r>
            <a:r>
              <a:rPr lang="en-US" baseline="-25000" dirty="0">
                <a:latin typeface="Cambria Math" pitchFamily="18" charset="0"/>
                <a:ea typeface="Cambria Math" pitchFamily="18" charset="0"/>
              </a:rPr>
              <a:t>2</a:t>
            </a:r>
            <a:r>
              <a:rPr lang="en-US" dirty="0"/>
              <a:t>, … </a:t>
            </a:r>
            <a:r>
              <a:rPr lang="en-US" i="1" dirty="0" err="1"/>
              <a:t>v</a:t>
            </a:r>
            <a:r>
              <a:rPr lang="en-US" i="1" baseline="-25000" dirty="0" err="1">
                <a:latin typeface="Cambria Math" pitchFamily="18" charset="0"/>
                <a:ea typeface="Cambria Math" pitchFamily="18" charset="0"/>
              </a:rPr>
              <a:t>n</a:t>
            </a:r>
            <a:r>
              <a:rPr lang="en-US" dirty="0"/>
              <a:t>  and edges                        </a:t>
            </a:r>
            <a:r>
              <a:rPr lang="en-US" i="1" dirty="0"/>
              <a:t>e</a:t>
            </a:r>
            <a:r>
              <a:rPr lang="en-US" baseline="-25000" dirty="0">
                <a:latin typeface="Cambria Math" pitchFamily="18" charset="0"/>
                <a:ea typeface="Cambria Math" pitchFamily="18" charset="0"/>
              </a:rPr>
              <a:t>1</a:t>
            </a:r>
            <a:r>
              <a:rPr lang="en-US" dirty="0"/>
              <a:t>, </a:t>
            </a:r>
            <a:r>
              <a:rPr lang="en-US" i="1" dirty="0"/>
              <a:t>e</a:t>
            </a:r>
            <a:r>
              <a:rPr lang="en-US" baseline="-25000" dirty="0">
                <a:latin typeface="Cambria Math" pitchFamily="18" charset="0"/>
                <a:ea typeface="Cambria Math" pitchFamily="18" charset="0"/>
              </a:rPr>
              <a:t>2</a:t>
            </a:r>
            <a:r>
              <a:rPr lang="en-US" dirty="0"/>
              <a:t>, … </a:t>
            </a:r>
            <a:r>
              <a:rPr lang="en-US" i="1" dirty="0" err="1"/>
              <a:t>e</a:t>
            </a:r>
            <a:r>
              <a:rPr lang="en-US" i="1" baseline="-25000" dirty="0" err="1">
                <a:latin typeface="Cambria Math" pitchFamily="18" charset="0"/>
                <a:ea typeface="Cambria Math" pitchFamily="18" charset="0"/>
              </a:rPr>
              <a:t>m</a:t>
            </a:r>
            <a:r>
              <a:rPr lang="en-US" dirty="0"/>
              <a:t>.  The incidence matrix with respect to the ordering of </a:t>
            </a:r>
            <a:r>
              <a:rPr lang="en-US" i="1" dirty="0"/>
              <a:t>V</a:t>
            </a:r>
            <a:r>
              <a:rPr lang="en-US" dirty="0"/>
              <a:t> and </a:t>
            </a:r>
            <a:r>
              <a:rPr lang="en-US" i="1" dirty="0"/>
              <a:t>E </a:t>
            </a:r>
            <a:r>
              <a:rPr lang="en-US" dirty="0"/>
              <a:t>is the</a:t>
            </a:r>
            <a:r>
              <a:rPr lang="en-US" i="1" dirty="0"/>
              <a:t> n ×</a:t>
            </a:r>
            <a:r>
              <a:rPr lang="en-US" dirty="0"/>
              <a:t> </a:t>
            </a:r>
            <a:r>
              <a:rPr lang="en-US" i="1" dirty="0"/>
              <a:t>m</a:t>
            </a:r>
            <a:r>
              <a:rPr lang="en-US" dirty="0"/>
              <a:t>  matrix </a:t>
            </a:r>
            <a:r>
              <a:rPr lang="en-US" b="1" dirty="0"/>
              <a:t>M</a:t>
            </a:r>
            <a:r>
              <a:rPr lang="en-US" dirty="0"/>
              <a:t> = [</a:t>
            </a:r>
            <a:r>
              <a:rPr lang="en-US" i="1" dirty="0" err="1"/>
              <a:t>m</a:t>
            </a:r>
            <a:r>
              <a:rPr lang="en-US" i="1" baseline="-25000" dirty="0" err="1"/>
              <a:t>ij</a:t>
            </a:r>
            <a:r>
              <a:rPr lang="en-US" dirty="0"/>
              <a:t>], where</a:t>
            </a:r>
          </a:p>
        </p:txBody>
      </p:sp>
      <p:pic>
        <p:nvPicPr>
          <p:cNvPr id="5" name="Picture 4"/>
          <p:cNvPicPr>
            <a:picLocks noChangeAspect="1"/>
          </p:cNvPicPr>
          <p:nvPr>
            <p:custDataLst>
              <p:tags r:id="rId1"/>
            </p:custDataLst>
          </p:nvPr>
        </p:nvPicPr>
        <p:blipFill>
          <a:blip r:embed="rId3" cstate="print">
            <a:extLst>
              <a:ext uri="{28A0092B-C50C-407E-A947-70E740481C1C}">
                <a14:useLocalDpi xmlns:a14="http://schemas.microsoft.com/office/drawing/2010/main" val="0"/>
              </a:ext>
            </a:extLst>
          </a:blip>
          <a:stretch>
            <a:fillRect/>
          </a:stretch>
        </p:blipFill>
        <p:spPr>
          <a:xfrm>
            <a:off x="2415210" y="3962400"/>
            <a:ext cx="5084445" cy="609600"/>
          </a:xfrm>
          <a:prstGeom prst="rect">
            <a:avLst/>
          </a:prstGeom>
        </p:spPr>
      </p:pic>
    </p:spTree>
    <p:extLst>
      <p:ext uri="{BB962C8B-B14F-4D97-AF65-F5344CB8AC3E}">
        <p14:creationId xmlns:p14="http://schemas.microsoft.com/office/powerpoint/2010/main" val="2474104925"/>
      </p:ext>
    </p:extLst>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New Graphs from Old (</a:t>
            </a:r>
            <a:r>
              <a:rPr lang="en-US" i="1" dirty="0"/>
              <a:t>continued</a:t>
            </a:r>
            <a:r>
              <a:rPr lang="en-US" dirty="0"/>
              <a:t>)</a:t>
            </a:r>
          </a:p>
        </p:txBody>
      </p:sp>
      <p:sp>
        <p:nvSpPr>
          <p:cNvPr id="3" name="Content Placeholder 2"/>
          <p:cNvSpPr>
            <a:spLocks noGrp="1"/>
          </p:cNvSpPr>
          <p:nvPr>
            <p:ph idx="1"/>
          </p:nvPr>
        </p:nvSpPr>
        <p:spPr/>
        <p:txBody>
          <a:bodyPr/>
          <a:lstStyle/>
          <a:p>
            <a:pPr indent="0">
              <a:buNone/>
            </a:pPr>
            <a:r>
              <a:rPr lang="en-US" b="1" dirty="0"/>
              <a:t>Definition</a:t>
            </a:r>
            <a:r>
              <a:rPr lang="en-US" dirty="0"/>
              <a:t>: The </a:t>
            </a:r>
            <a:r>
              <a:rPr lang="en-US" i="1" dirty="0"/>
              <a:t>union</a:t>
            </a:r>
            <a:r>
              <a:rPr lang="en-US" dirty="0"/>
              <a:t> of two simple graphs                     </a:t>
            </a:r>
            <a:r>
              <a:rPr lang="en-US" i="1" dirty="0"/>
              <a:t>G</a:t>
            </a:r>
            <a:r>
              <a:rPr lang="en-US" baseline="-25000" dirty="0">
                <a:latin typeface="Cambria" pitchFamily="18" charset="0"/>
              </a:rPr>
              <a:t>1</a:t>
            </a:r>
            <a:r>
              <a:rPr lang="en-US" i="1" dirty="0"/>
              <a:t> = </a:t>
            </a:r>
            <a:r>
              <a:rPr lang="en-US" dirty="0"/>
              <a:t>(</a:t>
            </a:r>
            <a:r>
              <a:rPr lang="en-US" i="1" dirty="0"/>
              <a:t>V</a:t>
            </a:r>
            <a:r>
              <a:rPr lang="en-US" baseline="-25000" dirty="0">
                <a:latin typeface="Cambria" pitchFamily="18" charset="0"/>
              </a:rPr>
              <a:t>1</a:t>
            </a:r>
            <a:r>
              <a:rPr lang="en-US" i="1" dirty="0"/>
              <a:t>, E</a:t>
            </a:r>
            <a:r>
              <a:rPr lang="en-US" baseline="-25000" dirty="0">
                <a:latin typeface="Cambria" pitchFamily="18" charset="0"/>
              </a:rPr>
              <a:t>1</a:t>
            </a:r>
            <a:r>
              <a:rPr lang="en-US" dirty="0"/>
              <a:t>)</a:t>
            </a:r>
            <a:r>
              <a:rPr lang="en-US" i="1" dirty="0"/>
              <a:t> </a:t>
            </a:r>
            <a:r>
              <a:rPr lang="en-US" dirty="0"/>
              <a:t>and </a:t>
            </a:r>
            <a:r>
              <a:rPr lang="en-US" i="1" dirty="0"/>
              <a:t>G</a:t>
            </a:r>
            <a:r>
              <a:rPr lang="en-US" baseline="-25000" dirty="0">
                <a:latin typeface="Cambria" pitchFamily="18" charset="0"/>
              </a:rPr>
              <a:t>2</a:t>
            </a:r>
            <a:r>
              <a:rPr lang="en-US" i="1" dirty="0"/>
              <a:t> = </a:t>
            </a:r>
            <a:r>
              <a:rPr lang="en-US" dirty="0"/>
              <a:t>(</a:t>
            </a:r>
            <a:r>
              <a:rPr lang="en-US" i="1" dirty="0"/>
              <a:t>V</a:t>
            </a:r>
            <a:r>
              <a:rPr lang="en-US" baseline="-25000" dirty="0">
                <a:latin typeface="Cambria" pitchFamily="18" charset="0"/>
              </a:rPr>
              <a:t>2</a:t>
            </a:r>
            <a:r>
              <a:rPr lang="en-US" i="1" dirty="0"/>
              <a:t>, E</a:t>
            </a:r>
            <a:r>
              <a:rPr lang="en-US" baseline="-25000" dirty="0">
                <a:latin typeface="Cambria" pitchFamily="18" charset="0"/>
              </a:rPr>
              <a:t>2</a:t>
            </a:r>
            <a:r>
              <a:rPr lang="en-US" dirty="0"/>
              <a:t>)</a:t>
            </a:r>
            <a:r>
              <a:rPr lang="en-US" i="1" dirty="0"/>
              <a:t> </a:t>
            </a:r>
            <a:r>
              <a:rPr lang="en-US" dirty="0"/>
              <a:t>is the simple graph with vertex set </a:t>
            </a:r>
            <a:r>
              <a:rPr lang="en-US" i="1" dirty="0"/>
              <a:t>V</a:t>
            </a:r>
            <a:r>
              <a:rPr lang="en-US" baseline="-25000" dirty="0">
                <a:latin typeface="Cambria" pitchFamily="18" charset="0"/>
              </a:rPr>
              <a:t>1</a:t>
            </a:r>
            <a:r>
              <a:rPr lang="en-US" i="1" dirty="0"/>
              <a:t> </a:t>
            </a:r>
            <a:r>
              <a:rPr lang="en-US" dirty="0">
                <a:latin typeface="Cambria Math"/>
                <a:ea typeface="Cambria Math"/>
              </a:rPr>
              <a:t>⋃</a:t>
            </a:r>
            <a:r>
              <a:rPr lang="en-US" i="1" dirty="0">
                <a:latin typeface="Cambria Math"/>
                <a:ea typeface="Cambria Math"/>
              </a:rPr>
              <a:t> </a:t>
            </a:r>
            <a:r>
              <a:rPr lang="en-US" i="1" dirty="0">
                <a:ea typeface="Cambria Math"/>
              </a:rPr>
              <a:t>V</a:t>
            </a:r>
            <a:r>
              <a:rPr lang="en-US" baseline="-25000" dirty="0">
                <a:latin typeface="Cambria Math"/>
                <a:ea typeface="Cambria Math"/>
              </a:rPr>
              <a:t>2</a:t>
            </a:r>
            <a:r>
              <a:rPr lang="en-US" i="1" dirty="0">
                <a:latin typeface="Cambria Math"/>
                <a:ea typeface="Cambria Math"/>
              </a:rPr>
              <a:t> </a:t>
            </a:r>
            <a:r>
              <a:rPr lang="en-US" dirty="0">
                <a:ea typeface="Cambria Math"/>
              </a:rPr>
              <a:t>and edge set </a:t>
            </a:r>
            <a:r>
              <a:rPr lang="en-US" i="1" dirty="0">
                <a:ea typeface="Cambria Math"/>
              </a:rPr>
              <a:t>E</a:t>
            </a:r>
            <a:r>
              <a:rPr lang="en-US" baseline="-25000" dirty="0">
                <a:latin typeface="Cambria Math"/>
                <a:ea typeface="Cambria Math"/>
              </a:rPr>
              <a:t>1</a:t>
            </a:r>
            <a:r>
              <a:rPr lang="en-US" i="1" dirty="0">
                <a:latin typeface="Cambria Math"/>
                <a:ea typeface="Cambria Math"/>
              </a:rPr>
              <a:t> </a:t>
            </a:r>
            <a:r>
              <a:rPr lang="en-US" dirty="0">
                <a:latin typeface="Cambria Math"/>
                <a:ea typeface="Cambria Math"/>
              </a:rPr>
              <a:t>⋃</a:t>
            </a:r>
            <a:r>
              <a:rPr lang="en-US" i="1" dirty="0">
                <a:latin typeface="Cambria Math"/>
                <a:ea typeface="Cambria Math"/>
              </a:rPr>
              <a:t> </a:t>
            </a:r>
            <a:r>
              <a:rPr lang="en-US" i="1" dirty="0">
                <a:ea typeface="Cambria Math"/>
              </a:rPr>
              <a:t>E</a:t>
            </a:r>
            <a:r>
              <a:rPr lang="en-US" baseline="-25000" dirty="0">
                <a:latin typeface="Cambria Math"/>
                <a:ea typeface="Cambria Math"/>
              </a:rPr>
              <a:t>2</a:t>
            </a:r>
            <a:r>
              <a:rPr lang="en-US" dirty="0">
                <a:latin typeface="Cambria Math"/>
                <a:ea typeface="Cambria Math"/>
              </a:rPr>
              <a:t>. </a:t>
            </a:r>
            <a:r>
              <a:rPr lang="en-US" dirty="0">
                <a:ea typeface="Cambria Math"/>
              </a:rPr>
              <a:t>The union of</a:t>
            </a:r>
            <a:r>
              <a:rPr lang="en-US" dirty="0">
                <a:latin typeface="Cambria Math"/>
                <a:ea typeface="Cambria Math"/>
              </a:rPr>
              <a:t> </a:t>
            </a:r>
            <a:r>
              <a:rPr lang="en-US" i="1" dirty="0">
                <a:ea typeface="Cambria Math"/>
              </a:rPr>
              <a:t>G</a:t>
            </a:r>
            <a:r>
              <a:rPr lang="en-US" baseline="-25000" dirty="0">
                <a:latin typeface="Cambria Math"/>
                <a:ea typeface="Cambria Math"/>
              </a:rPr>
              <a:t>1</a:t>
            </a:r>
            <a:r>
              <a:rPr lang="en-US" dirty="0">
                <a:latin typeface="Cambria Math"/>
                <a:ea typeface="Cambria Math"/>
              </a:rPr>
              <a:t> </a:t>
            </a:r>
            <a:r>
              <a:rPr lang="en-US" dirty="0">
                <a:ea typeface="Cambria Math"/>
              </a:rPr>
              <a:t>and</a:t>
            </a:r>
            <a:r>
              <a:rPr lang="en-US" dirty="0">
                <a:latin typeface="Cambria Math"/>
                <a:ea typeface="Cambria Math"/>
              </a:rPr>
              <a:t> </a:t>
            </a:r>
            <a:r>
              <a:rPr lang="en-US" i="1" dirty="0">
                <a:ea typeface="Cambria Math"/>
              </a:rPr>
              <a:t>G</a:t>
            </a:r>
            <a:r>
              <a:rPr lang="en-US" baseline="-25000" dirty="0">
                <a:latin typeface="Cambria Math"/>
                <a:ea typeface="Cambria Math"/>
              </a:rPr>
              <a:t>2</a:t>
            </a:r>
            <a:r>
              <a:rPr lang="en-US" i="1" dirty="0">
                <a:latin typeface="Cambria Math"/>
                <a:ea typeface="Cambria Math"/>
              </a:rPr>
              <a:t> </a:t>
            </a:r>
            <a:r>
              <a:rPr lang="en-US" dirty="0">
                <a:ea typeface="Cambria Math"/>
              </a:rPr>
              <a:t>is denoted by </a:t>
            </a:r>
            <a:r>
              <a:rPr lang="en-US" i="1" dirty="0">
                <a:ea typeface="Cambria Math"/>
              </a:rPr>
              <a:t>G</a:t>
            </a:r>
            <a:r>
              <a:rPr lang="en-US" baseline="-25000" dirty="0">
                <a:latin typeface="Cambria Math"/>
                <a:ea typeface="Cambria Math"/>
              </a:rPr>
              <a:t>1</a:t>
            </a:r>
            <a:r>
              <a:rPr lang="en-US" i="1" dirty="0">
                <a:latin typeface="Cambria Math"/>
                <a:ea typeface="Cambria Math"/>
              </a:rPr>
              <a:t> </a:t>
            </a:r>
            <a:r>
              <a:rPr lang="en-US" dirty="0">
                <a:latin typeface="Cambria Math"/>
                <a:ea typeface="Cambria Math"/>
              </a:rPr>
              <a:t>⋃ </a:t>
            </a:r>
            <a:r>
              <a:rPr lang="en-US" i="1" dirty="0">
                <a:ea typeface="Cambria Math"/>
              </a:rPr>
              <a:t>G</a:t>
            </a:r>
            <a:r>
              <a:rPr lang="en-US" baseline="-25000" dirty="0">
                <a:latin typeface="Cambria Math"/>
                <a:ea typeface="Cambria Math"/>
              </a:rPr>
              <a:t>2</a:t>
            </a:r>
            <a:r>
              <a:rPr lang="en-US" dirty="0">
                <a:latin typeface="Cambria Math"/>
                <a:ea typeface="Cambria Math"/>
              </a:rPr>
              <a:t>.</a:t>
            </a:r>
          </a:p>
          <a:p>
            <a:pPr indent="0">
              <a:buNone/>
            </a:pPr>
            <a:endParaRPr lang="en-US" dirty="0">
              <a:latin typeface="Cambria Math"/>
              <a:ea typeface="Cambria Math"/>
            </a:endParaRPr>
          </a:p>
          <a:p>
            <a:pPr indent="0">
              <a:buNone/>
            </a:pPr>
            <a:r>
              <a:rPr lang="en-US" b="1" dirty="0">
                <a:ea typeface="Cambria Math"/>
              </a:rPr>
              <a:t>Example</a:t>
            </a:r>
            <a:r>
              <a:rPr lang="en-US" dirty="0">
                <a:latin typeface="Cambria Math"/>
                <a:ea typeface="Cambria Math"/>
              </a:rPr>
              <a:t>:</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52800" y="4724400"/>
            <a:ext cx="4202430" cy="1313688"/>
          </a:xfrm>
          <a:prstGeom prst="rect">
            <a:avLst/>
          </a:prstGeom>
        </p:spPr>
      </p:pic>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81000" y="304800"/>
            <a:ext cx="7772400" cy="3086100"/>
          </a:xfrm>
          <a:prstGeom prst="rect">
            <a:avLst/>
          </a:prstGeom>
        </p:spPr>
      </p:pic>
      <p:pic>
        <p:nvPicPr>
          <p:cNvPr id="5" name="Picture 4"/>
          <p:cNvPicPr>
            <a:picLocks noChangeAspect="1"/>
          </p:cNvPicPr>
          <p:nvPr/>
        </p:nvPicPr>
        <p:blipFill>
          <a:blip r:embed="rId3"/>
          <a:stretch>
            <a:fillRect/>
          </a:stretch>
        </p:blipFill>
        <p:spPr>
          <a:xfrm>
            <a:off x="1295400" y="3140122"/>
            <a:ext cx="6315075" cy="3733800"/>
          </a:xfrm>
          <a:prstGeom prst="rect">
            <a:avLst/>
          </a:prstGeom>
        </p:spPr>
      </p:pic>
    </p:spTree>
    <p:extLst>
      <p:ext uri="{BB962C8B-B14F-4D97-AF65-F5344CB8AC3E}">
        <p14:creationId xmlns:p14="http://schemas.microsoft.com/office/powerpoint/2010/main" val="3221757699"/>
      </p:ext>
    </p:extLst>
  </p:cSld>
  <p:clrMapOvr>
    <a:masterClrMapping/>
  </p:clrMapOvr>
  <p:transition spd="slow">
    <p:wip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57200" y="914400"/>
            <a:ext cx="8599251" cy="1219200"/>
          </a:xfrm>
          <a:prstGeom prst="rect">
            <a:avLst/>
          </a:prstGeom>
        </p:spPr>
      </p:pic>
      <p:pic>
        <p:nvPicPr>
          <p:cNvPr id="5" name="Picture 4"/>
          <p:cNvPicPr>
            <a:picLocks noChangeAspect="1"/>
          </p:cNvPicPr>
          <p:nvPr/>
        </p:nvPicPr>
        <p:blipFill>
          <a:blip r:embed="rId3"/>
          <a:stretch>
            <a:fillRect/>
          </a:stretch>
        </p:blipFill>
        <p:spPr>
          <a:xfrm>
            <a:off x="1599287" y="2514600"/>
            <a:ext cx="6315075" cy="3362325"/>
          </a:xfrm>
          <a:prstGeom prst="rect">
            <a:avLst/>
          </a:prstGeom>
        </p:spPr>
      </p:pic>
    </p:spTree>
    <p:extLst>
      <p:ext uri="{BB962C8B-B14F-4D97-AF65-F5344CB8AC3E}">
        <p14:creationId xmlns:p14="http://schemas.microsoft.com/office/powerpoint/2010/main" val="3287111665"/>
      </p:ext>
    </p:extLst>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90537" y="762000"/>
            <a:ext cx="8229600" cy="570983"/>
          </a:xfrm>
          <a:prstGeom prst="rect">
            <a:avLst/>
          </a:prstGeom>
        </p:spPr>
      </p:pic>
      <p:pic>
        <p:nvPicPr>
          <p:cNvPr id="5" name="Picture 4"/>
          <p:cNvPicPr>
            <a:picLocks noChangeAspect="1"/>
          </p:cNvPicPr>
          <p:nvPr/>
        </p:nvPicPr>
        <p:blipFill>
          <a:blip r:embed="rId3"/>
          <a:stretch>
            <a:fillRect/>
          </a:stretch>
        </p:blipFill>
        <p:spPr>
          <a:xfrm>
            <a:off x="421600" y="1332983"/>
            <a:ext cx="8367474" cy="1009650"/>
          </a:xfrm>
          <a:prstGeom prst="rect">
            <a:avLst/>
          </a:prstGeom>
        </p:spPr>
      </p:pic>
      <p:pic>
        <p:nvPicPr>
          <p:cNvPr id="6" name="Picture 5"/>
          <p:cNvPicPr>
            <a:picLocks noChangeAspect="1"/>
          </p:cNvPicPr>
          <p:nvPr/>
        </p:nvPicPr>
        <p:blipFill>
          <a:blip r:embed="rId4"/>
          <a:stretch>
            <a:fillRect/>
          </a:stretch>
        </p:blipFill>
        <p:spPr>
          <a:xfrm>
            <a:off x="1219200" y="2350594"/>
            <a:ext cx="6315075" cy="1647825"/>
          </a:xfrm>
          <a:prstGeom prst="rect">
            <a:avLst/>
          </a:prstGeom>
        </p:spPr>
      </p:pic>
      <p:pic>
        <p:nvPicPr>
          <p:cNvPr id="7" name="Picture 6"/>
          <p:cNvPicPr>
            <a:picLocks noChangeAspect="1"/>
          </p:cNvPicPr>
          <p:nvPr/>
        </p:nvPicPr>
        <p:blipFill>
          <a:blip r:embed="rId5"/>
          <a:stretch>
            <a:fillRect/>
          </a:stretch>
        </p:blipFill>
        <p:spPr>
          <a:xfrm>
            <a:off x="762000" y="4021165"/>
            <a:ext cx="7958137" cy="2652712"/>
          </a:xfrm>
          <a:prstGeom prst="rect">
            <a:avLst/>
          </a:prstGeom>
        </p:spPr>
      </p:pic>
    </p:spTree>
    <p:extLst>
      <p:ext uri="{BB962C8B-B14F-4D97-AF65-F5344CB8AC3E}">
        <p14:creationId xmlns:p14="http://schemas.microsoft.com/office/powerpoint/2010/main" val="2551872379"/>
      </p:ext>
    </p:extLst>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14400" y="1219200"/>
            <a:ext cx="7333635" cy="4800600"/>
          </a:xfrm>
          <a:prstGeom prst="rect">
            <a:avLst/>
          </a:prstGeom>
        </p:spPr>
      </p:pic>
    </p:spTree>
    <p:extLst>
      <p:ext uri="{BB962C8B-B14F-4D97-AF65-F5344CB8AC3E}">
        <p14:creationId xmlns:p14="http://schemas.microsoft.com/office/powerpoint/2010/main" val="1142458682"/>
      </p:ext>
    </p:extLst>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Paths and Circuits</a:t>
            </a:r>
          </a:p>
        </p:txBody>
      </p:sp>
      <p:sp>
        <p:nvSpPr>
          <p:cNvPr id="3" name="Content Placeholder 2"/>
          <p:cNvSpPr>
            <a:spLocks noGrp="1"/>
          </p:cNvSpPr>
          <p:nvPr>
            <p:ph idx="1"/>
          </p:nvPr>
        </p:nvSpPr>
        <p:spPr/>
        <p:txBody>
          <a:bodyPr>
            <a:normAutofit lnSpcReduction="10000"/>
          </a:bodyPr>
          <a:lstStyle/>
          <a:p>
            <a:pPr indent="0">
              <a:buNone/>
            </a:pPr>
            <a:r>
              <a:rPr lang="en-US" b="1" dirty="0"/>
              <a:t>Informal Definition: </a:t>
            </a:r>
            <a:r>
              <a:rPr lang="en-US" dirty="0"/>
              <a:t>A </a:t>
            </a:r>
            <a:r>
              <a:rPr lang="en-US" i="1" dirty="0"/>
              <a:t>path</a:t>
            </a:r>
            <a:r>
              <a:rPr lang="en-US" dirty="0"/>
              <a:t> is a sequence of edges that begins at a vertex of a graph and travels from vertex to vertex along edges of the graph. As the path travels along its edges, it visits the vertices along this path, that is, the endpoints of these.</a:t>
            </a:r>
          </a:p>
          <a:p>
            <a:pPr indent="0">
              <a:buNone/>
            </a:pPr>
            <a:r>
              <a:rPr lang="en-US" b="1" dirty="0"/>
              <a:t>Applications</a:t>
            </a:r>
            <a:r>
              <a:rPr lang="en-US" dirty="0"/>
              <a:t>: Numerous problems can be modeled with paths formed by traveling along edges of graphs such as:</a:t>
            </a:r>
          </a:p>
          <a:p>
            <a:pPr marL="1097280" lvl="1" indent="-457200"/>
            <a:r>
              <a:rPr lang="en-US" dirty="0"/>
              <a:t>determining whether a message can be sent between two computers.</a:t>
            </a:r>
          </a:p>
          <a:p>
            <a:pPr marL="1097280" lvl="1" indent="-457200"/>
            <a:r>
              <a:rPr lang="en-US" dirty="0"/>
              <a:t>efficiently planning routes for mail delivery.</a:t>
            </a:r>
          </a:p>
        </p:txBody>
      </p:sp>
    </p:spTree>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Paths</a:t>
            </a:r>
          </a:p>
        </p:txBody>
      </p:sp>
      <p:sp>
        <p:nvSpPr>
          <p:cNvPr id="3" name="Content Placeholder 2"/>
          <p:cNvSpPr>
            <a:spLocks noGrp="1"/>
          </p:cNvSpPr>
          <p:nvPr>
            <p:ph idx="1"/>
          </p:nvPr>
        </p:nvSpPr>
        <p:spPr/>
        <p:txBody>
          <a:bodyPr>
            <a:normAutofit fontScale="55000" lnSpcReduction="20000"/>
          </a:bodyPr>
          <a:lstStyle/>
          <a:p>
            <a:pPr indent="0">
              <a:buNone/>
            </a:pPr>
            <a:r>
              <a:rPr lang="en-US" sz="3200" b="1" dirty="0"/>
              <a:t>Definition: </a:t>
            </a:r>
            <a:r>
              <a:rPr lang="en-US" sz="3200" dirty="0"/>
              <a:t>Let </a:t>
            </a:r>
            <a:r>
              <a:rPr lang="en-US" sz="3200" i="1" dirty="0"/>
              <a:t>n</a:t>
            </a:r>
            <a:r>
              <a:rPr lang="en-US" sz="3200" dirty="0"/>
              <a:t> be a nonnegative integer and </a:t>
            </a:r>
            <a:r>
              <a:rPr lang="en-US" sz="3200" i="1" dirty="0"/>
              <a:t>G</a:t>
            </a:r>
            <a:r>
              <a:rPr lang="en-US" sz="3200" dirty="0"/>
              <a:t> an undirected graph. A </a:t>
            </a:r>
            <a:r>
              <a:rPr lang="en-US" sz="3200" i="1" dirty="0"/>
              <a:t>path</a:t>
            </a:r>
            <a:r>
              <a:rPr lang="en-US" sz="3200" dirty="0"/>
              <a:t> of </a:t>
            </a:r>
            <a:r>
              <a:rPr lang="en-US" sz="3200" i="1" dirty="0"/>
              <a:t>length n</a:t>
            </a:r>
            <a:r>
              <a:rPr lang="en-US" sz="3200" dirty="0"/>
              <a:t> from </a:t>
            </a:r>
            <a:r>
              <a:rPr lang="en-US" sz="3200" i="1" dirty="0"/>
              <a:t>u</a:t>
            </a:r>
            <a:r>
              <a:rPr lang="en-US" sz="3200" dirty="0"/>
              <a:t> to </a:t>
            </a:r>
            <a:r>
              <a:rPr lang="en-US" sz="3200" i="1" dirty="0"/>
              <a:t>v</a:t>
            </a:r>
            <a:r>
              <a:rPr lang="en-US" sz="3200" dirty="0"/>
              <a:t> in </a:t>
            </a:r>
            <a:r>
              <a:rPr lang="en-US" sz="3200" i="1" dirty="0"/>
              <a:t>G</a:t>
            </a:r>
            <a:r>
              <a:rPr lang="en-US" sz="3200" dirty="0"/>
              <a:t> is a sequence of </a:t>
            </a:r>
            <a:r>
              <a:rPr lang="en-US" sz="3200" i="1" dirty="0"/>
              <a:t>n</a:t>
            </a:r>
            <a:r>
              <a:rPr lang="en-US" sz="3200" dirty="0"/>
              <a:t> edges </a:t>
            </a:r>
            <a:r>
              <a:rPr lang="en-US" sz="3200" i="1" dirty="0"/>
              <a:t>e</a:t>
            </a:r>
            <a:r>
              <a:rPr lang="en-US" sz="3200" baseline="-25000" dirty="0">
                <a:latin typeface="Cambria Math" pitchFamily="18" charset="0"/>
                <a:ea typeface="Cambria Math" pitchFamily="18" charset="0"/>
              </a:rPr>
              <a:t>1</a:t>
            </a:r>
            <a:r>
              <a:rPr lang="en-US" sz="3200" i="1" dirty="0"/>
              <a:t>, … , e</a:t>
            </a:r>
            <a:r>
              <a:rPr lang="en-US" sz="3200" i="1" baseline="-25000" dirty="0"/>
              <a:t>n</a:t>
            </a:r>
            <a:r>
              <a:rPr lang="en-US" sz="3200" dirty="0"/>
              <a:t> of </a:t>
            </a:r>
            <a:r>
              <a:rPr lang="en-US" sz="3200" i="1" dirty="0"/>
              <a:t>G</a:t>
            </a:r>
            <a:r>
              <a:rPr lang="en-US" sz="3200" dirty="0"/>
              <a:t> for which there exists a sequence   </a:t>
            </a:r>
            <a:r>
              <a:rPr lang="en-US" sz="3200" i="1" dirty="0"/>
              <a:t>x</a:t>
            </a:r>
            <a:r>
              <a:rPr lang="en-US" sz="3200" baseline="-25000" dirty="0">
                <a:latin typeface="Cambria Math" pitchFamily="18" charset="0"/>
                <a:ea typeface="Cambria Math" pitchFamily="18" charset="0"/>
              </a:rPr>
              <a:t>0</a:t>
            </a:r>
            <a:r>
              <a:rPr lang="en-US" sz="3200" i="1" dirty="0"/>
              <a:t> = u, x</a:t>
            </a:r>
            <a:r>
              <a:rPr lang="en-US" sz="3200" baseline="-25000" dirty="0">
                <a:latin typeface="Cambria Math" pitchFamily="18" charset="0"/>
                <a:ea typeface="Cambria Math" pitchFamily="18" charset="0"/>
              </a:rPr>
              <a:t>1</a:t>
            </a:r>
            <a:r>
              <a:rPr lang="en-US" sz="3200" i="1" dirty="0"/>
              <a:t>, …, x</a:t>
            </a:r>
            <a:r>
              <a:rPr lang="en-US" sz="3200" i="1" baseline="-25000" dirty="0"/>
              <a:t>n-</a:t>
            </a:r>
            <a:r>
              <a:rPr lang="en-US" sz="3200" baseline="-25000" dirty="0">
                <a:latin typeface="Cambria Math" pitchFamily="18" charset="0"/>
                <a:ea typeface="Cambria Math" pitchFamily="18" charset="0"/>
              </a:rPr>
              <a:t>1</a:t>
            </a:r>
            <a:r>
              <a:rPr lang="en-US" sz="3200" i="1" dirty="0"/>
              <a:t>, </a:t>
            </a:r>
            <a:r>
              <a:rPr lang="en-US" sz="3200" i="1" dirty="0" err="1"/>
              <a:t>x</a:t>
            </a:r>
            <a:r>
              <a:rPr lang="en-US" sz="3200" i="1" baseline="-25000" dirty="0" err="1"/>
              <a:t>n</a:t>
            </a:r>
            <a:r>
              <a:rPr lang="en-US" sz="3200" i="1" dirty="0"/>
              <a:t> = v </a:t>
            </a:r>
            <a:r>
              <a:rPr lang="en-US" sz="3200" dirty="0"/>
              <a:t>of vertices such that </a:t>
            </a:r>
            <a:r>
              <a:rPr lang="en-US" sz="3200" i="1" dirty="0" err="1"/>
              <a:t>e</a:t>
            </a:r>
            <a:r>
              <a:rPr lang="en-US" sz="3200" i="1" baseline="-25000" dirty="0" err="1"/>
              <a:t>i</a:t>
            </a:r>
            <a:r>
              <a:rPr lang="en-US" sz="3200" i="1" baseline="-25000" dirty="0"/>
              <a:t> </a:t>
            </a:r>
            <a:r>
              <a:rPr lang="en-US" sz="3200" dirty="0"/>
              <a:t>has,      for </a:t>
            </a:r>
            <a:r>
              <a:rPr lang="en-US" sz="3200" i="1" dirty="0" err="1"/>
              <a:t>i</a:t>
            </a:r>
            <a:r>
              <a:rPr lang="en-US" sz="3200" dirty="0"/>
              <a:t> = </a:t>
            </a:r>
            <a:r>
              <a:rPr lang="en-US" sz="3200" dirty="0">
                <a:latin typeface="Cambria Math" pitchFamily="18" charset="0"/>
                <a:ea typeface="Cambria Math" pitchFamily="18" charset="0"/>
              </a:rPr>
              <a:t>1</a:t>
            </a:r>
            <a:r>
              <a:rPr lang="en-US" sz="3200" dirty="0"/>
              <a:t>, …, </a:t>
            </a:r>
            <a:r>
              <a:rPr lang="en-US" sz="3200" i="1" dirty="0"/>
              <a:t>n</a:t>
            </a:r>
            <a:r>
              <a:rPr lang="en-US" sz="3200" dirty="0"/>
              <a:t>, the endpoints </a:t>
            </a:r>
            <a:r>
              <a:rPr lang="en-US" sz="3200" i="1" dirty="0"/>
              <a:t>x</a:t>
            </a:r>
            <a:r>
              <a:rPr lang="en-US" sz="3200" i="1" baseline="-25000" dirty="0"/>
              <a:t>i</a:t>
            </a:r>
            <a:r>
              <a:rPr lang="en-US" sz="3200" baseline="-25000" dirty="0"/>
              <a:t>-</a:t>
            </a:r>
            <a:r>
              <a:rPr lang="en-US" sz="3200" baseline="-25000" dirty="0">
                <a:latin typeface="Cambria Math" pitchFamily="18" charset="0"/>
                <a:ea typeface="Cambria Math" pitchFamily="18" charset="0"/>
              </a:rPr>
              <a:t>1</a:t>
            </a:r>
            <a:r>
              <a:rPr lang="en-US" sz="3200" dirty="0"/>
              <a:t> and </a:t>
            </a:r>
            <a:r>
              <a:rPr lang="en-US" sz="3200" i="1" dirty="0"/>
              <a:t>x</a:t>
            </a:r>
            <a:r>
              <a:rPr lang="en-US" sz="3200" i="1" baseline="-25000" dirty="0"/>
              <a:t>i</a:t>
            </a:r>
            <a:r>
              <a:rPr lang="en-US" sz="3200" dirty="0"/>
              <a:t>. </a:t>
            </a:r>
          </a:p>
          <a:p>
            <a:pPr marL="1097280" lvl="1" indent="-457200"/>
            <a:r>
              <a:rPr lang="en-US" sz="3200" dirty="0"/>
              <a:t>When the graph is simple, we denote this path by its vertex sequence              </a:t>
            </a:r>
            <a:r>
              <a:rPr lang="en-US" sz="3200" i="1" dirty="0"/>
              <a:t>x</a:t>
            </a:r>
            <a:r>
              <a:rPr lang="en-US" sz="3200" baseline="-25000" dirty="0">
                <a:latin typeface="Cambria Math" pitchFamily="18" charset="0"/>
                <a:ea typeface="Cambria Math" pitchFamily="18" charset="0"/>
              </a:rPr>
              <a:t>0</a:t>
            </a:r>
            <a:r>
              <a:rPr lang="en-US" sz="3200" i="1" dirty="0"/>
              <a:t>, x</a:t>
            </a:r>
            <a:r>
              <a:rPr lang="en-US" sz="3200" baseline="-25000" dirty="0">
                <a:latin typeface="Cambria Math" pitchFamily="18" charset="0"/>
                <a:ea typeface="Cambria Math" pitchFamily="18" charset="0"/>
              </a:rPr>
              <a:t>1</a:t>
            </a:r>
            <a:r>
              <a:rPr lang="en-US" sz="3200" i="1" dirty="0"/>
              <a:t>, … , </a:t>
            </a:r>
            <a:r>
              <a:rPr lang="en-US" sz="3200" i="1" dirty="0" err="1"/>
              <a:t>x</a:t>
            </a:r>
            <a:r>
              <a:rPr lang="en-US" sz="3200" i="1" baseline="-25000" dirty="0" err="1"/>
              <a:t>n</a:t>
            </a:r>
            <a:r>
              <a:rPr lang="en-US" sz="3200" dirty="0"/>
              <a:t>(since listing the vertices uniquely determines the path).</a:t>
            </a:r>
          </a:p>
          <a:p>
            <a:pPr marL="1097280" lvl="1" indent="-457200"/>
            <a:r>
              <a:rPr lang="en-US" sz="3200" dirty="0"/>
              <a:t>The path is a </a:t>
            </a:r>
            <a:r>
              <a:rPr lang="en-US" sz="3200" i="1" dirty="0"/>
              <a:t>circuit</a:t>
            </a:r>
            <a:r>
              <a:rPr lang="en-US" sz="3200" dirty="0"/>
              <a:t> if it begins and ends at the same vertex (</a:t>
            </a:r>
            <a:r>
              <a:rPr lang="en-US" sz="3200" i="1" dirty="0"/>
              <a:t>u</a:t>
            </a:r>
            <a:r>
              <a:rPr lang="en-US" sz="3200" dirty="0"/>
              <a:t> = </a:t>
            </a:r>
            <a:r>
              <a:rPr lang="en-US" sz="3200" i="1" dirty="0"/>
              <a:t>v</a:t>
            </a:r>
            <a:r>
              <a:rPr lang="en-US" sz="3200" dirty="0"/>
              <a:t>) and has length greater than zero.</a:t>
            </a:r>
          </a:p>
          <a:p>
            <a:pPr marL="1097280" lvl="1" indent="-457200"/>
            <a:r>
              <a:rPr lang="en-US" sz="3200" dirty="0"/>
              <a:t>The path or circuit is said to </a:t>
            </a:r>
            <a:r>
              <a:rPr lang="en-US" sz="3200" i="1" dirty="0"/>
              <a:t>pass through </a:t>
            </a:r>
            <a:r>
              <a:rPr lang="en-US" sz="3200" dirty="0"/>
              <a:t>the vertices</a:t>
            </a:r>
            <a:r>
              <a:rPr lang="en-US" sz="3200" i="1" dirty="0"/>
              <a:t> x</a:t>
            </a:r>
            <a:r>
              <a:rPr lang="en-US" sz="3200" baseline="-25000" dirty="0">
                <a:latin typeface="Cambria Math" pitchFamily="18" charset="0"/>
                <a:ea typeface="Cambria Math" pitchFamily="18" charset="0"/>
              </a:rPr>
              <a:t>1</a:t>
            </a:r>
            <a:r>
              <a:rPr lang="en-US" sz="3200" i="1" dirty="0"/>
              <a:t>, x</a:t>
            </a:r>
            <a:r>
              <a:rPr lang="en-US" sz="3200" baseline="-25000" dirty="0">
                <a:latin typeface="Cambria Math" pitchFamily="18" charset="0"/>
                <a:ea typeface="Cambria Math" pitchFamily="18" charset="0"/>
              </a:rPr>
              <a:t>2</a:t>
            </a:r>
            <a:r>
              <a:rPr lang="en-US" sz="3200" i="1" dirty="0"/>
              <a:t>, … , x</a:t>
            </a:r>
            <a:r>
              <a:rPr lang="en-US" sz="3200" i="1" baseline="-25000" dirty="0"/>
              <a:t>n-</a:t>
            </a:r>
            <a:r>
              <a:rPr lang="en-US" sz="3200" baseline="-25000" dirty="0">
                <a:latin typeface="Cambria Math" pitchFamily="18" charset="0"/>
                <a:ea typeface="Cambria Math" pitchFamily="18" charset="0"/>
              </a:rPr>
              <a:t>1</a:t>
            </a:r>
            <a:r>
              <a:rPr lang="en-US" sz="3200" dirty="0"/>
              <a:t>  and </a:t>
            </a:r>
            <a:r>
              <a:rPr lang="en-US" sz="3200" i="1" dirty="0"/>
              <a:t>traverse</a:t>
            </a:r>
            <a:r>
              <a:rPr lang="en-US" sz="3200" dirty="0"/>
              <a:t> the edges </a:t>
            </a:r>
            <a:r>
              <a:rPr lang="en-US" sz="3200" i="1" dirty="0"/>
              <a:t>e</a:t>
            </a:r>
            <a:r>
              <a:rPr lang="en-US" sz="3200" baseline="-25000" dirty="0">
                <a:latin typeface="Cambria Math" pitchFamily="18" charset="0"/>
                <a:ea typeface="Cambria Math" pitchFamily="18" charset="0"/>
              </a:rPr>
              <a:t>1</a:t>
            </a:r>
            <a:r>
              <a:rPr lang="en-US" sz="3200" i="1" dirty="0"/>
              <a:t>, … , e</a:t>
            </a:r>
            <a:r>
              <a:rPr lang="en-US" sz="3200" i="1" baseline="-25000" dirty="0"/>
              <a:t>n</a:t>
            </a:r>
            <a:r>
              <a:rPr lang="en-US" sz="3200" dirty="0"/>
              <a:t>.</a:t>
            </a:r>
          </a:p>
          <a:p>
            <a:pPr marL="1097280" lvl="1" indent="-457200"/>
            <a:r>
              <a:rPr lang="en-US" sz="3200" dirty="0"/>
              <a:t>A path or circuit is </a:t>
            </a:r>
            <a:r>
              <a:rPr lang="en-US" sz="3200" i="1" dirty="0"/>
              <a:t>simple</a:t>
            </a:r>
            <a:r>
              <a:rPr lang="en-US" sz="3200" dirty="0"/>
              <a:t> if it does not contain the same edge more than once.</a:t>
            </a:r>
          </a:p>
          <a:p>
            <a:pPr marL="1097280" lvl="1" indent="-457200"/>
            <a:endParaRPr lang="en-US" dirty="0"/>
          </a:p>
          <a:p>
            <a:pPr marL="1097280" lvl="1" indent="-457200"/>
            <a:endParaRPr lang="en-US" dirty="0"/>
          </a:p>
          <a:p>
            <a:pPr marL="1097280" lvl="1" indent="-457200"/>
            <a:endParaRPr lang="en-US" dirty="0"/>
          </a:p>
          <a:p>
            <a:pPr lvl="1" indent="0">
              <a:buNone/>
            </a:pPr>
            <a:r>
              <a:rPr lang="en-US" dirty="0"/>
              <a:t>   </a:t>
            </a:r>
          </a:p>
        </p:txBody>
      </p:sp>
      <p:sp>
        <p:nvSpPr>
          <p:cNvPr id="5" name="TextBox 4"/>
          <p:cNvSpPr txBox="1"/>
          <p:nvPr/>
        </p:nvSpPr>
        <p:spPr>
          <a:xfrm>
            <a:off x="4038600" y="5486400"/>
            <a:ext cx="3856999" cy="646331"/>
          </a:xfrm>
          <a:prstGeom prst="rect">
            <a:avLst/>
          </a:prstGeom>
          <a:noFill/>
          <a:ln>
            <a:solidFill>
              <a:schemeClr val="accent1"/>
            </a:solidFill>
          </a:ln>
        </p:spPr>
        <p:txBody>
          <a:bodyPr wrap="square" rtlCol="0">
            <a:spAutoFit/>
          </a:bodyPr>
          <a:lstStyle/>
          <a:p>
            <a:r>
              <a:rPr lang="en-US" dirty="0"/>
              <a:t>This terminology  is readily extended to directed graphs. (</a:t>
            </a:r>
            <a:r>
              <a:rPr lang="en-US" i="1" dirty="0"/>
              <a:t>see text</a:t>
            </a:r>
            <a:r>
              <a:rPr lang="en-US" dirty="0"/>
              <a:t>)</a:t>
            </a:r>
          </a:p>
        </p:txBody>
      </p:sp>
    </p:spTree>
    <p:extLst>
      <p:ext uri="{BB962C8B-B14F-4D97-AF65-F5344CB8AC3E}">
        <p14:creationId xmlns:p14="http://schemas.microsoft.com/office/powerpoint/2010/main" val="497551538"/>
      </p:ext>
    </p:extLst>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Paths (</a:t>
            </a:r>
            <a:r>
              <a:rPr lang="en-US" i="1" dirty="0"/>
              <a:t>continued</a:t>
            </a:r>
            <a:r>
              <a:rPr lang="en-US" dirty="0"/>
              <a:t>)</a:t>
            </a:r>
          </a:p>
        </p:txBody>
      </p:sp>
      <p:sp>
        <p:nvSpPr>
          <p:cNvPr id="3" name="Content Placeholder 2"/>
          <p:cNvSpPr>
            <a:spLocks noGrp="1"/>
          </p:cNvSpPr>
          <p:nvPr>
            <p:ph idx="1"/>
          </p:nvPr>
        </p:nvSpPr>
        <p:spPr/>
        <p:txBody>
          <a:bodyPr/>
          <a:lstStyle/>
          <a:p>
            <a:pPr indent="0">
              <a:buNone/>
            </a:pPr>
            <a:r>
              <a:rPr lang="en-US" b="1" dirty="0"/>
              <a:t>Example</a:t>
            </a:r>
            <a:r>
              <a:rPr lang="en-US" dirty="0"/>
              <a:t>: In the simple graph here:</a:t>
            </a:r>
          </a:p>
          <a:p>
            <a:pPr lvl="1"/>
            <a:r>
              <a:rPr lang="en-US" i="1" dirty="0"/>
              <a:t>a</a:t>
            </a:r>
            <a:r>
              <a:rPr lang="en-US" dirty="0"/>
              <a:t>, </a:t>
            </a:r>
            <a:r>
              <a:rPr lang="en-US" i="1" dirty="0"/>
              <a:t>d</a:t>
            </a:r>
            <a:r>
              <a:rPr lang="en-US" dirty="0"/>
              <a:t>, </a:t>
            </a:r>
            <a:r>
              <a:rPr lang="en-US" i="1" dirty="0"/>
              <a:t>c</a:t>
            </a:r>
            <a:r>
              <a:rPr lang="en-US" dirty="0"/>
              <a:t>, </a:t>
            </a:r>
            <a:r>
              <a:rPr lang="en-US" i="1" dirty="0"/>
              <a:t>f</a:t>
            </a:r>
            <a:r>
              <a:rPr lang="en-US" dirty="0"/>
              <a:t>, </a:t>
            </a:r>
            <a:r>
              <a:rPr lang="en-US" i="1" dirty="0"/>
              <a:t>e</a:t>
            </a:r>
            <a:r>
              <a:rPr lang="en-US" dirty="0"/>
              <a:t> is a simple path of length </a:t>
            </a:r>
            <a:r>
              <a:rPr lang="en-US" dirty="0">
                <a:latin typeface="Cambria Math" pitchFamily="18" charset="0"/>
                <a:ea typeface="Cambria Math" pitchFamily="18" charset="0"/>
              </a:rPr>
              <a:t>4</a:t>
            </a:r>
            <a:r>
              <a:rPr lang="en-US" dirty="0"/>
              <a:t>. </a:t>
            </a:r>
          </a:p>
          <a:p>
            <a:pPr lvl="1"/>
            <a:r>
              <a:rPr lang="en-US" i="1" dirty="0"/>
              <a:t>d</a:t>
            </a:r>
            <a:r>
              <a:rPr lang="en-US" dirty="0"/>
              <a:t>, </a:t>
            </a:r>
            <a:r>
              <a:rPr lang="en-US" i="1" dirty="0"/>
              <a:t>e</a:t>
            </a:r>
            <a:r>
              <a:rPr lang="en-US" dirty="0"/>
              <a:t>, </a:t>
            </a:r>
            <a:r>
              <a:rPr lang="en-US" i="1" dirty="0"/>
              <a:t>c</a:t>
            </a:r>
            <a:r>
              <a:rPr lang="en-US" dirty="0"/>
              <a:t>, </a:t>
            </a:r>
            <a:r>
              <a:rPr lang="en-US" i="1" dirty="0"/>
              <a:t>a</a:t>
            </a:r>
            <a:r>
              <a:rPr lang="en-US" dirty="0"/>
              <a:t> is not a path because </a:t>
            </a:r>
            <a:r>
              <a:rPr lang="en-US" i="1" dirty="0"/>
              <a:t>e</a:t>
            </a:r>
            <a:r>
              <a:rPr lang="en-US" dirty="0"/>
              <a:t> is not connected to </a:t>
            </a:r>
            <a:r>
              <a:rPr lang="en-US" i="1" dirty="0"/>
              <a:t>c</a:t>
            </a:r>
            <a:r>
              <a:rPr lang="en-US" dirty="0"/>
              <a:t>.</a:t>
            </a:r>
          </a:p>
          <a:p>
            <a:pPr lvl="1"/>
            <a:r>
              <a:rPr lang="en-US" i="1" dirty="0"/>
              <a:t>b</a:t>
            </a:r>
            <a:r>
              <a:rPr lang="en-US" dirty="0"/>
              <a:t>, </a:t>
            </a:r>
            <a:r>
              <a:rPr lang="en-US" i="1" dirty="0"/>
              <a:t>c</a:t>
            </a:r>
            <a:r>
              <a:rPr lang="en-US" dirty="0"/>
              <a:t>, </a:t>
            </a:r>
            <a:r>
              <a:rPr lang="en-US" i="1" dirty="0"/>
              <a:t>f</a:t>
            </a:r>
            <a:r>
              <a:rPr lang="en-US" dirty="0"/>
              <a:t>, </a:t>
            </a:r>
            <a:r>
              <a:rPr lang="en-US" i="1" dirty="0"/>
              <a:t>e</a:t>
            </a:r>
            <a:r>
              <a:rPr lang="en-US" dirty="0"/>
              <a:t>, </a:t>
            </a:r>
            <a:r>
              <a:rPr lang="en-US" i="1" dirty="0"/>
              <a:t>b</a:t>
            </a:r>
            <a:r>
              <a:rPr lang="en-US" dirty="0"/>
              <a:t> is a circuit of length </a:t>
            </a:r>
            <a:r>
              <a:rPr lang="en-US" dirty="0">
                <a:latin typeface="Cambria Math" pitchFamily="18" charset="0"/>
                <a:ea typeface="Cambria Math" pitchFamily="18" charset="0"/>
              </a:rPr>
              <a:t>4</a:t>
            </a:r>
            <a:r>
              <a:rPr lang="en-US" dirty="0"/>
              <a:t>. </a:t>
            </a:r>
          </a:p>
          <a:p>
            <a:pPr lvl="1"/>
            <a:r>
              <a:rPr lang="en-US" i="1" dirty="0"/>
              <a:t>a</a:t>
            </a:r>
            <a:r>
              <a:rPr lang="en-US" dirty="0"/>
              <a:t>, </a:t>
            </a:r>
            <a:r>
              <a:rPr lang="en-US" i="1" dirty="0"/>
              <a:t>b</a:t>
            </a:r>
            <a:r>
              <a:rPr lang="en-US" dirty="0"/>
              <a:t>, </a:t>
            </a:r>
            <a:r>
              <a:rPr lang="en-US" i="1" dirty="0"/>
              <a:t>e</a:t>
            </a:r>
            <a:r>
              <a:rPr lang="en-US" dirty="0"/>
              <a:t>, </a:t>
            </a:r>
            <a:r>
              <a:rPr lang="en-US" i="1" dirty="0"/>
              <a:t>d</a:t>
            </a:r>
            <a:r>
              <a:rPr lang="en-US" dirty="0"/>
              <a:t>, </a:t>
            </a:r>
            <a:r>
              <a:rPr lang="en-US" i="1" dirty="0"/>
              <a:t>a</a:t>
            </a:r>
            <a:r>
              <a:rPr lang="en-US" dirty="0"/>
              <a:t>, </a:t>
            </a:r>
            <a:r>
              <a:rPr lang="en-US" i="1" dirty="0"/>
              <a:t>b </a:t>
            </a:r>
            <a:r>
              <a:rPr lang="en-US" dirty="0"/>
              <a:t>is a path of length </a:t>
            </a:r>
            <a:r>
              <a:rPr lang="en-US" dirty="0">
                <a:latin typeface="Cambria Math" pitchFamily="18" charset="0"/>
                <a:ea typeface="Cambria Math" pitchFamily="18" charset="0"/>
              </a:rPr>
              <a:t>5</a:t>
            </a:r>
            <a:r>
              <a:rPr lang="en-US" dirty="0"/>
              <a:t>, but it is not a simple path.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10400" y="1600200"/>
            <a:ext cx="1273302" cy="886968"/>
          </a:xfrm>
          <a:prstGeom prst="rect">
            <a:avLst/>
          </a:prstGeom>
        </p:spPr>
      </p:pic>
    </p:spTree>
    <p:extLst>
      <p:ext uri="{BB962C8B-B14F-4D97-AF65-F5344CB8AC3E}">
        <p14:creationId xmlns:p14="http://schemas.microsoft.com/office/powerpoint/2010/main" val="3011144861"/>
      </p:ext>
    </p:extLst>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Connectedness in Undirected Graphs</a:t>
            </a:r>
          </a:p>
        </p:txBody>
      </p:sp>
      <p:sp>
        <p:nvSpPr>
          <p:cNvPr id="3" name="Content Placeholder 2"/>
          <p:cNvSpPr>
            <a:spLocks noGrp="1"/>
          </p:cNvSpPr>
          <p:nvPr>
            <p:ph idx="1"/>
          </p:nvPr>
        </p:nvSpPr>
        <p:spPr/>
        <p:txBody>
          <a:bodyPr>
            <a:normAutofit fontScale="92500" lnSpcReduction="20000"/>
          </a:bodyPr>
          <a:lstStyle/>
          <a:p>
            <a:pPr indent="0">
              <a:buNone/>
            </a:pPr>
            <a:r>
              <a:rPr lang="en-US" b="1" dirty="0"/>
              <a:t>Definition</a:t>
            </a:r>
            <a:r>
              <a:rPr lang="en-US" dirty="0"/>
              <a:t>: An undirected graph is called  </a:t>
            </a:r>
            <a:r>
              <a:rPr lang="en-US" i="1" dirty="0"/>
              <a:t>connected</a:t>
            </a:r>
            <a:r>
              <a:rPr lang="en-US" dirty="0"/>
              <a:t> if there is a path between every pair of vertices.  An undirected graph that is not </a:t>
            </a:r>
            <a:r>
              <a:rPr lang="en-US" i="1" dirty="0"/>
              <a:t>connected</a:t>
            </a:r>
            <a:r>
              <a:rPr lang="en-US" dirty="0"/>
              <a:t> is called </a:t>
            </a:r>
            <a:r>
              <a:rPr lang="en-US" i="1" dirty="0"/>
              <a:t>disconnected</a:t>
            </a:r>
            <a:r>
              <a:rPr lang="en-US" dirty="0"/>
              <a:t>. We say that we </a:t>
            </a:r>
            <a:r>
              <a:rPr lang="en-US" i="1" dirty="0"/>
              <a:t>disconnect</a:t>
            </a:r>
            <a:r>
              <a:rPr lang="en-US" dirty="0"/>
              <a:t> a graph when we remove vertices or edges, or both, to produce a disconnected </a:t>
            </a:r>
            <a:r>
              <a:rPr lang="en-US" dirty="0" err="1"/>
              <a:t>subgraph</a:t>
            </a:r>
            <a:r>
              <a:rPr lang="en-US" dirty="0"/>
              <a:t>. </a:t>
            </a:r>
          </a:p>
          <a:p>
            <a:pPr indent="0">
              <a:buNone/>
            </a:pPr>
            <a:r>
              <a:rPr lang="en-US" b="1" dirty="0"/>
              <a:t>Example</a:t>
            </a:r>
            <a:r>
              <a:rPr lang="en-US" dirty="0"/>
              <a:t>: </a:t>
            </a:r>
            <a:r>
              <a:rPr lang="en-US" i="1" dirty="0"/>
              <a:t>G</a:t>
            </a:r>
            <a:r>
              <a:rPr lang="en-US" baseline="-25000" dirty="0">
                <a:latin typeface="Cambria Math" pitchFamily="18" charset="0"/>
                <a:ea typeface="Cambria Math" pitchFamily="18" charset="0"/>
              </a:rPr>
              <a:t>1</a:t>
            </a:r>
            <a:r>
              <a:rPr lang="en-US" dirty="0"/>
              <a:t> is connected because there is a path between any pair of its vertices, as can be easily seen.   However </a:t>
            </a:r>
            <a:r>
              <a:rPr lang="en-US" i="1" dirty="0"/>
              <a:t>G</a:t>
            </a:r>
            <a:r>
              <a:rPr lang="en-US" baseline="-25000" dirty="0">
                <a:latin typeface="Cambria Math" pitchFamily="18" charset="0"/>
                <a:ea typeface="Cambria Math" pitchFamily="18" charset="0"/>
              </a:rPr>
              <a:t>2</a:t>
            </a:r>
            <a:r>
              <a:rPr lang="en-US" dirty="0"/>
              <a:t> is not connected because there is no path between vertices </a:t>
            </a:r>
            <a:r>
              <a:rPr lang="en-US" i="1" dirty="0"/>
              <a:t>a</a:t>
            </a:r>
            <a:r>
              <a:rPr lang="en-US" dirty="0"/>
              <a:t> and </a:t>
            </a:r>
            <a:r>
              <a:rPr lang="en-US" i="1" dirty="0"/>
              <a:t>f</a:t>
            </a:r>
            <a:r>
              <a:rPr lang="en-US" dirty="0"/>
              <a:t>, for example. </a:t>
            </a:r>
          </a:p>
          <a:p>
            <a:pPr indent="0">
              <a:buNone/>
            </a:pPr>
            <a:endParaRPr lang="en-US" dirty="0"/>
          </a:p>
          <a:p>
            <a:pPr indent="0">
              <a:buNone/>
            </a:pPr>
            <a:endParaRPr lang="en-US" dirty="0"/>
          </a:p>
          <a:p>
            <a:pPr indent="0">
              <a:buNone/>
            </a:pPr>
            <a:r>
              <a:rPr lang="en-US" dirty="0"/>
              <a:t> </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0" y="4876800"/>
            <a:ext cx="2005584" cy="1466088"/>
          </a:xfrm>
          <a:prstGeom prst="rect">
            <a:avLst/>
          </a:prstGeom>
        </p:spPr>
      </p:pic>
    </p:spTree>
    <p:extLst>
      <p:ext uri="{BB962C8B-B14F-4D97-AF65-F5344CB8AC3E}">
        <p14:creationId xmlns:p14="http://schemas.microsoft.com/office/powerpoint/2010/main" val="3935227020"/>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Connected Components</a:t>
            </a:r>
          </a:p>
        </p:txBody>
      </p:sp>
      <p:sp>
        <p:nvSpPr>
          <p:cNvPr id="3" name="Content Placeholder 2"/>
          <p:cNvSpPr>
            <a:spLocks noGrp="1"/>
          </p:cNvSpPr>
          <p:nvPr>
            <p:ph idx="1"/>
          </p:nvPr>
        </p:nvSpPr>
        <p:spPr/>
        <p:txBody>
          <a:bodyPr>
            <a:normAutofit fontScale="92500" lnSpcReduction="10000"/>
          </a:bodyPr>
          <a:lstStyle/>
          <a:p>
            <a:pPr indent="0">
              <a:buNone/>
            </a:pPr>
            <a:r>
              <a:rPr lang="en-US" b="1" dirty="0"/>
              <a:t>Definition</a:t>
            </a:r>
            <a:r>
              <a:rPr lang="en-US" dirty="0"/>
              <a:t>: A </a:t>
            </a:r>
            <a:r>
              <a:rPr lang="en-US" i="1" dirty="0"/>
              <a:t>connected component </a:t>
            </a:r>
            <a:r>
              <a:rPr lang="en-US" dirty="0"/>
              <a:t>of a graph </a:t>
            </a:r>
            <a:r>
              <a:rPr lang="en-US" i="1" dirty="0"/>
              <a:t>G</a:t>
            </a:r>
            <a:r>
              <a:rPr lang="en-US" dirty="0"/>
              <a:t> is a connected </a:t>
            </a:r>
            <a:r>
              <a:rPr lang="en-US" dirty="0" err="1"/>
              <a:t>subgraph</a:t>
            </a:r>
            <a:r>
              <a:rPr lang="en-US" dirty="0"/>
              <a:t> of </a:t>
            </a:r>
            <a:r>
              <a:rPr lang="en-US" i="1" dirty="0"/>
              <a:t>G</a:t>
            </a:r>
            <a:r>
              <a:rPr lang="en-US" dirty="0"/>
              <a:t> that is not a proper </a:t>
            </a:r>
            <a:r>
              <a:rPr lang="en-US" dirty="0" err="1"/>
              <a:t>subgraph</a:t>
            </a:r>
            <a:r>
              <a:rPr lang="en-US" dirty="0"/>
              <a:t> of another connected </a:t>
            </a:r>
            <a:r>
              <a:rPr lang="en-US" dirty="0" err="1"/>
              <a:t>subgraph</a:t>
            </a:r>
            <a:r>
              <a:rPr lang="en-US" dirty="0"/>
              <a:t> of </a:t>
            </a:r>
            <a:r>
              <a:rPr lang="en-US" i="1" dirty="0"/>
              <a:t>G</a:t>
            </a:r>
            <a:r>
              <a:rPr lang="en-US" dirty="0"/>
              <a:t>. A graph </a:t>
            </a:r>
            <a:r>
              <a:rPr lang="en-US" i="1" dirty="0"/>
              <a:t>G</a:t>
            </a:r>
            <a:r>
              <a:rPr lang="en-US" dirty="0"/>
              <a:t> that is not connected has two or more connected components that are disjoint and have </a:t>
            </a:r>
            <a:r>
              <a:rPr lang="en-US" i="1" dirty="0"/>
              <a:t>G</a:t>
            </a:r>
            <a:r>
              <a:rPr lang="en-US" dirty="0"/>
              <a:t> as their union. </a:t>
            </a:r>
          </a:p>
          <a:p>
            <a:pPr indent="0">
              <a:buNone/>
            </a:pPr>
            <a:r>
              <a:rPr lang="en-US" b="1" dirty="0"/>
              <a:t>Example</a:t>
            </a:r>
            <a:r>
              <a:rPr lang="en-US" dirty="0"/>
              <a:t>: The graph </a:t>
            </a:r>
            <a:r>
              <a:rPr lang="en-US" i="1" dirty="0"/>
              <a:t>H</a:t>
            </a:r>
            <a:r>
              <a:rPr lang="en-US" dirty="0"/>
              <a:t> is the union of three disjoint </a:t>
            </a:r>
            <a:r>
              <a:rPr lang="en-US" dirty="0" err="1"/>
              <a:t>subgraphs</a:t>
            </a:r>
            <a:r>
              <a:rPr lang="en-US" dirty="0"/>
              <a:t> </a:t>
            </a:r>
            <a:r>
              <a:rPr lang="en-US" i="1" dirty="0"/>
              <a:t>H</a:t>
            </a:r>
            <a:r>
              <a:rPr lang="en-US" baseline="-25000" dirty="0">
                <a:latin typeface="Cambria Math" pitchFamily="18" charset="0"/>
                <a:ea typeface="Cambria Math" pitchFamily="18" charset="0"/>
              </a:rPr>
              <a:t>1</a:t>
            </a:r>
            <a:r>
              <a:rPr lang="en-US" dirty="0"/>
              <a:t>, </a:t>
            </a:r>
            <a:r>
              <a:rPr lang="en-US" i="1" dirty="0"/>
              <a:t>H</a:t>
            </a:r>
            <a:r>
              <a:rPr lang="en-US" baseline="-25000" dirty="0">
                <a:latin typeface="Cambria Math" pitchFamily="18" charset="0"/>
                <a:ea typeface="Cambria Math" pitchFamily="18" charset="0"/>
              </a:rPr>
              <a:t>2</a:t>
            </a:r>
            <a:r>
              <a:rPr lang="en-US" dirty="0"/>
              <a:t>, and </a:t>
            </a:r>
            <a:r>
              <a:rPr lang="en-US" i="1" dirty="0"/>
              <a:t>H</a:t>
            </a:r>
            <a:r>
              <a:rPr lang="en-US" baseline="-25000" dirty="0">
                <a:latin typeface="Cambria Math" pitchFamily="18" charset="0"/>
                <a:ea typeface="Cambria Math" pitchFamily="18" charset="0"/>
              </a:rPr>
              <a:t>3</a:t>
            </a:r>
            <a:r>
              <a:rPr lang="en-US" dirty="0"/>
              <a:t>, none of which are proper </a:t>
            </a:r>
            <a:r>
              <a:rPr lang="en-US" dirty="0" err="1"/>
              <a:t>subgraphs</a:t>
            </a:r>
            <a:r>
              <a:rPr lang="en-US" dirty="0"/>
              <a:t> of a larger connected </a:t>
            </a:r>
            <a:r>
              <a:rPr lang="en-US" dirty="0" err="1"/>
              <a:t>subgraph</a:t>
            </a:r>
            <a:r>
              <a:rPr lang="en-US" dirty="0"/>
              <a:t> of </a:t>
            </a:r>
            <a:r>
              <a:rPr lang="en-US" i="1" dirty="0" err="1"/>
              <a:t>G</a:t>
            </a:r>
            <a:r>
              <a:rPr lang="en-US" dirty="0" err="1"/>
              <a:t>.These</a:t>
            </a:r>
            <a:r>
              <a:rPr lang="en-US" dirty="0"/>
              <a:t> three </a:t>
            </a:r>
            <a:r>
              <a:rPr lang="en-US" dirty="0" err="1"/>
              <a:t>subgraphs</a:t>
            </a:r>
            <a:r>
              <a:rPr lang="en-US" dirty="0"/>
              <a:t> are the connected components of </a:t>
            </a:r>
            <a:r>
              <a:rPr lang="en-US" i="1" dirty="0"/>
              <a:t>H</a:t>
            </a:r>
            <a:r>
              <a:rPr lang="en-US" dirty="0"/>
              <a:t>. </a:t>
            </a:r>
          </a:p>
          <a:p>
            <a:pPr indent="0">
              <a:buNone/>
            </a:pPr>
            <a:endParaRPr lang="en-US" dirty="0"/>
          </a:p>
          <a:p>
            <a:pPr indent="0">
              <a:buNone/>
            </a:pPr>
            <a:endParaRPr lang="en-US" dirty="0"/>
          </a:p>
          <a:p>
            <a:pPr indent="0">
              <a:buNone/>
            </a:pPr>
            <a:r>
              <a:rPr lang="en-US" dirty="0"/>
              <a:t> </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15000" y="5105400"/>
            <a:ext cx="2336292" cy="1317498"/>
          </a:xfrm>
          <a:prstGeom prst="rect">
            <a:avLst/>
          </a:prstGeom>
        </p:spPr>
      </p:pic>
    </p:spTree>
    <p:extLst>
      <p:ext uri="{BB962C8B-B14F-4D97-AF65-F5344CB8AC3E}">
        <p14:creationId xmlns:p14="http://schemas.microsoft.com/office/powerpoint/2010/main" val="1752110799"/>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Connectedness in Directed Graphs</a:t>
            </a:r>
          </a:p>
        </p:txBody>
      </p:sp>
      <p:sp>
        <p:nvSpPr>
          <p:cNvPr id="3" name="Content Placeholder 2"/>
          <p:cNvSpPr>
            <a:spLocks noGrp="1"/>
          </p:cNvSpPr>
          <p:nvPr>
            <p:ph idx="1"/>
          </p:nvPr>
        </p:nvSpPr>
        <p:spPr/>
        <p:txBody>
          <a:bodyPr/>
          <a:lstStyle/>
          <a:p>
            <a:pPr indent="0">
              <a:buNone/>
            </a:pPr>
            <a:r>
              <a:rPr lang="en-US" b="1" dirty="0"/>
              <a:t>Definition</a:t>
            </a:r>
            <a:r>
              <a:rPr lang="en-US" dirty="0"/>
              <a:t>: A directed graph is </a:t>
            </a:r>
            <a:r>
              <a:rPr lang="en-US" i="1" dirty="0"/>
              <a:t>strongly connected </a:t>
            </a:r>
            <a:r>
              <a:rPr lang="en-US" dirty="0"/>
              <a:t>if there is a path from </a:t>
            </a:r>
            <a:r>
              <a:rPr lang="en-US" i="1" dirty="0"/>
              <a:t>a</a:t>
            </a:r>
            <a:r>
              <a:rPr lang="en-US" dirty="0"/>
              <a:t> to </a:t>
            </a:r>
            <a:r>
              <a:rPr lang="en-US" i="1" dirty="0"/>
              <a:t>b</a:t>
            </a:r>
            <a:r>
              <a:rPr lang="en-US" dirty="0"/>
              <a:t> and a path from </a:t>
            </a:r>
            <a:r>
              <a:rPr lang="en-US" i="1" dirty="0"/>
              <a:t>b</a:t>
            </a:r>
            <a:r>
              <a:rPr lang="en-US" dirty="0"/>
              <a:t> to </a:t>
            </a:r>
            <a:r>
              <a:rPr lang="en-US" i="1" dirty="0"/>
              <a:t>a</a:t>
            </a:r>
            <a:r>
              <a:rPr lang="en-US" dirty="0"/>
              <a:t> whenever </a:t>
            </a:r>
            <a:r>
              <a:rPr lang="en-US" i="1" dirty="0"/>
              <a:t>a</a:t>
            </a:r>
            <a:r>
              <a:rPr lang="en-US" dirty="0"/>
              <a:t> and </a:t>
            </a:r>
            <a:r>
              <a:rPr lang="en-US" i="1" dirty="0"/>
              <a:t>b</a:t>
            </a:r>
            <a:r>
              <a:rPr lang="en-US" dirty="0"/>
              <a:t> are vertices in the graph. </a:t>
            </a:r>
          </a:p>
          <a:p>
            <a:pPr indent="0">
              <a:buNone/>
            </a:pPr>
            <a:r>
              <a:rPr lang="en-US" b="1" dirty="0"/>
              <a:t>Definition</a:t>
            </a:r>
            <a:r>
              <a:rPr lang="en-US" dirty="0"/>
              <a:t>: A directed graph is </a:t>
            </a:r>
            <a:r>
              <a:rPr lang="en-US" i="1" dirty="0"/>
              <a:t>weakly connected </a:t>
            </a:r>
            <a:r>
              <a:rPr lang="en-US" dirty="0"/>
              <a:t>if there is a path between every two vertices in the underlying undirected graph, which is the undirected graph obtained by ignoring the directions of the edges of the directed graph. </a:t>
            </a:r>
          </a:p>
          <a:p>
            <a:pPr indent="0">
              <a:buNone/>
            </a:pPr>
            <a:endParaRPr lang="en-US" dirty="0"/>
          </a:p>
          <a:p>
            <a:pPr indent="0">
              <a:buNone/>
            </a:pPr>
            <a:endParaRPr lang="en-US" dirty="0"/>
          </a:p>
        </p:txBody>
      </p:sp>
    </p:spTree>
    <p:extLst>
      <p:ext uri="{BB962C8B-B14F-4D97-AF65-F5344CB8AC3E}">
        <p14:creationId xmlns:p14="http://schemas.microsoft.com/office/powerpoint/2010/main" val="739562142"/>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Connectedness in Directed Graphs (</a:t>
            </a:r>
            <a:r>
              <a:rPr lang="en-US" i="1" dirty="0"/>
              <a:t>continued</a:t>
            </a:r>
            <a:r>
              <a:rPr lang="en-US" dirty="0"/>
              <a:t>)</a:t>
            </a:r>
          </a:p>
        </p:txBody>
      </p:sp>
      <p:sp>
        <p:nvSpPr>
          <p:cNvPr id="3" name="Content Placeholder 2"/>
          <p:cNvSpPr>
            <a:spLocks noGrp="1"/>
          </p:cNvSpPr>
          <p:nvPr>
            <p:ph idx="1"/>
          </p:nvPr>
        </p:nvSpPr>
        <p:spPr/>
        <p:txBody>
          <a:bodyPr>
            <a:normAutofit fontScale="77500" lnSpcReduction="20000"/>
          </a:bodyPr>
          <a:lstStyle/>
          <a:p>
            <a:pPr indent="0">
              <a:buNone/>
            </a:pPr>
            <a:r>
              <a:rPr lang="en-US" b="1" dirty="0"/>
              <a:t>Example</a:t>
            </a:r>
            <a:r>
              <a:rPr lang="en-US" dirty="0"/>
              <a:t>: </a:t>
            </a:r>
            <a:r>
              <a:rPr lang="en-US" i="1" dirty="0"/>
              <a:t>G</a:t>
            </a:r>
            <a:r>
              <a:rPr lang="en-US" dirty="0"/>
              <a:t> is strongly connected                                                             because there is a path between any                                                       two vertices in the directed graph.                                                            Hence, </a:t>
            </a:r>
            <a:r>
              <a:rPr lang="en-US" i="1" dirty="0"/>
              <a:t>G</a:t>
            </a:r>
            <a:r>
              <a:rPr lang="en-US" dirty="0"/>
              <a:t> is also weakly connected.                                                                The graph </a:t>
            </a:r>
            <a:r>
              <a:rPr lang="en-US" i="1" dirty="0"/>
              <a:t>H</a:t>
            </a:r>
            <a:r>
              <a:rPr lang="en-US" dirty="0"/>
              <a:t> is not strongly connected, since there is no directed path from </a:t>
            </a:r>
            <a:r>
              <a:rPr lang="en-US" i="1" dirty="0"/>
              <a:t>a</a:t>
            </a:r>
            <a:r>
              <a:rPr lang="en-US" dirty="0"/>
              <a:t> to </a:t>
            </a:r>
            <a:r>
              <a:rPr lang="en-US" i="1" dirty="0"/>
              <a:t>b</a:t>
            </a:r>
            <a:r>
              <a:rPr lang="en-US" dirty="0"/>
              <a:t>, but it is weakly connected.</a:t>
            </a:r>
          </a:p>
          <a:p>
            <a:pPr indent="0">
              <a:buNone/>
            </a:pPr>
            <a:endParaRPr lang="en-US" dirty="0"/>
          </a:p>
          <a:p>
            <a:pPr indent="0">
              <a:buNone/>
            </a:pPr>
            <a:r>
              <a:rPr lang="en-US" b="1" dirty="0"/>
              <a:t>Definition</a:t>
            </a:r>
            <a:r>
              <a:rPr lang="en-US" dirty="0"/>
              <a:t>: The </a:t>
            </a:r>
            <a:r>
              <a:rPr lang="en-US" dirty="0" err="1"/>
              <a:t>subgraphs</a:t>
            </a:r>
            <a:r>
              <a:rPr lang="en-US" dirty="0"/>
              <a:t> of a directed graph </a:t>
            </a:r>
            <a:r>
              <a:rPr lang="en-US" i="1" dirty="0"/>
              <a:t>G</a:t>
            </a:r>
            <a:r>
              <a:rPr lang="en-US" dirty="0"/>
              <a:t> that are strongly connected but not contained in larger strongly connected </a:t>
            </a:r>
            <a:r>
              <a:rPr lang="en-US" dirty="0" err="1"/>
              <a:t>subgraphs</a:t>
            </a:r>
            <a:r>
              <a:rPr lang="en-US" dirty="0"/>
              <a:t>, that is, the maximal strongly connected </a:t>
            </a:r>
            <a:r>
              <a:rPr lang="en-US" dirty="0" err="1"/>
              <a:t>subgraphs</a:t>
            </a:r>
            <a:r>
              <a:rPr lang="en-US" dirty="0"/>
              <a:t>, are called the </a:t>
            </a:r>
            <a:r>
              <a:rPr lang="en-US" i="1" dirty="0"/>
              <a:t>strongly connected components</a:t>
            </a:r>
            <a:r>
              <a:rPr lang="en-US" dirty="0"/>
              <a:t> or </a:t>
            </a:r>
            <a:r>
              <a:rPr lang="en-US" i="1" dirty="0"/>
              <a:t>strong components </a:t>
            </a:r>
            <a:r>
              <a:rPr lang="en-US" dirty="0"/>
              <a:t>of </a:t>
            </a:r>
            <a:r>
              <a:rPr lang="en-US" i="1" dirty="0"/>
              <a:t>G</a:t>
            </a:r>
            <a:r>
              <a:rPr lang="en-US" dirty="0"/>
              <a:t>. </a:t>
            </a:r>
          </a:p>
          <a:p>
            <a:pPr indent="0">
              <a:buNone/>
            </a:pPr>
            <a:endParaRPr lang="en-US" dirty="0"/>
          </a:p>
          <a:p>
            <a:pPr indent="0">
              <a:buNone/>
            </a:pPr>
            <a:r>
              <a:rPr lang="en-US" b="1" dirty="0"/>
              <a:t>Example (</a:t>
            </a:r>
            <a:r>
              <a:rPr lang="en-US" i="1" dirty="0"/>
              <a:t>continued</a:t>
            </a:r>
            <a:r>
              <a:rPr lang="en-US" b="1" dirty="0"/>
              <a:t>)</a:t>
            </a:r>
            <a:r>
              <a:rPr lang="en-US" dirty="0"/>
              <a:t>: The graph </a:t>
            </a:r>
            <a:r>
              <a:rPr lang="en-US" i="1" dirty="0"/>
              <a:t>H</a:t>
            </a:r>
            <a:r>
              <a:rPr lang="en-US" dirty="0"/>
              <a:t> has three strongly connected components, consisting of the vertex </a:t>
            </a:r>
            <a:r>
              <a:rPr lang="en-US" i="1" dirty="0"/>
              <a:t>a</a:t>
            </a:r>
            <a:r>
              <a:rPr lang="en-US" dirty="0"/>
              <a:t>; the vertex </a:t>
            </a:r>
            <a:r>
              <a:rPr lang="en-US" i="1" dirty="0"/>
              <a:t>e;</a:t>
            </a:r>
            <a:r>
              <a:rPr lang="en-US" dirty="0"/>
              <a:t> and the </a:t>
            </a:r>
            <a:r>
              <a:rPr lang="en-US" dirty="0" err="1"/>
              <a:t>subgraph</a:t>
            </a:r>
            <a:r>
              <a:rPr lang="en-US" dirty="0"/>
              <a:t> consisting of the vertices </a:t>
            </a:r>
            <a:r>
              <a:rPr lang="en-US" i="1" dirty="0"/>
              <a:t>b</a:t>
            </a:r>
            <a:r>
              <a:rPr lang="en-US" dirty="0"/>
              <a:t>, </a:t>
            </a:r>
            <a:r>
              <a:rPr lang="en-US" i="1" dirty="0"/>
              <a:t>c</a:t>
            </a:r>
            <a:r>
              <a:rPr lang="en-US" dirty="0"/>
              <a:t>, </a:t>
            </a:r>
            <a:r>
              <a:rPr lang="en-US" i="1" dirty="0"/>
              <a:t>d</a:t>
            </a:r>
            <a:r>
              <a:rPr lang="en-US" dirty="0"/>
              <a:t> and edges (</a:t>
            </a:r>
            <a:r>
              <a:rPr lang="en-US" i="1" dirty="0" err="1"/>
              <a:t>b</a:t>
            </a:r>
            <a:r>
              <a:rPr lang="en-US" dirty="0" err="1"/>
              <a:t>,</a:t>
            </a:r>
            <a:r>
              <a:rPr lang="en-US" i="1" dirty="0" err="1"/>
              <a:t>c</a:t>
            </a:r>
            <a:r>
              <a:rPr lang="en-US" dirty="0"/>
              <a:t>), (</a:t>
            </a:r>
            <a:r>
              <a:rPr lang="en-US" i="1" dirty="0" err="1"/>
              <a:t>c</a:t>
            </a:r>
            <a:r>
              <a:rPr lang="en-US" dirty="0" err="1"/>
              <a:t>,</a:t>
            </a:r>
            <a:r>
              <a:rPr lang="en-US" i="1" dirty="0" err="1"/>
              <a:t>d</a:t>
            </a:r>
            <a:r>
              <a:rPr lang="en-US" dirty="0"/>
              <a:t>), and (</a:t>
            </a:r>
            <a:r>
              <a:rPr lang="en-US" i="1" dirty="0" err="1"/>
              <a:t>d</a:t>
            </a:r>
            <a:r>
              <a:rPr lang="en-US" dirty="0" err="1"/>
              <a:t>,</a:t>
            </a:r>
            <a:r>
              <a:rPr lang="en-US" i="1" dirty="0" err="1"/>
              <a:t>b</a:t>
            </a:r>
            <a:r>
              <a:rPr lang="en-US" dirty="0"/>
              <a:t>).</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10200" y="1752600"/>
            <a:ext cx="2124456" cy="1063752"/>
          </a:xfrm>
          <a:prstGeom prst="rect">
            <a:avLst/>
          </a:prstGeom>
        </p:spPr>
      </p:pic>
    </p:spTree>
    <p:extLst>
      <p:ext uri="{BB962C8B-B14F-4D97-AF65-F5344CB8AC3E}">
        <p14:creationId xmlns:p14="http://schemas.microsoft.com/office/powerpoint/2010/main" val="3111153856"/>
      </p:ext>
    </p:extLst>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Counting Paths between Vertices (</a:t>
            </a:r>
            <a:r>
              <a:rPr lang="en-US" i="1" dirty="0"/>
              <a:t>continued</a:t>
            </a:r>
            <a:r>
              <a:rPr lang="en-US" dirty="0"/>
              <a:t>)</a:t>
            </a:r>
          </a:p>
        </p:txBody>
      </p:sp>
      <p:sp>
        <p:nvSpPr>
          <p:cNvPr id="3" name="Content Placeholder 2"/>
          <p:cNvSpPr>
            <a:spLocks noGrp="1"/>
          </p:cNvSpPr>
          <p:nvPr>
            <p:ph idx="1"/>
          </p:nvPr>
        </p:nvSpPr>
        <p:spPr/>
        <p:txBody>
          <a:bodyPr>
            <a:normAutofit fontScale="92500" lnSpcReduction="10000"/>
          </a:bodyPr>
          <a:lstStyle/>
          <a:p>
            <a:pPr marL="274320" lvl="1" indent="0">
              <a:buClr>
                <a:schemeClr val="accent3"/>
              </a:buClr>
              <a:buSzPct val="95000"/>
              <a:buNone/>
            </a:pPr>
            <a:r>
              <a:rPr lang="en-US" b="1" dirty="0"/>
              <a:t>Example</a:t>
            </a:r>
            <a:r>
              <a:rPr lang="en-US" dirty="0"/>
              <a:t>: How many paths of length four are there from </a:t>
            </a:r>
            <a:r>
              <a:rPr lang="en-US" i="1" dirty="0"/>
              <a:t>a</a:t>
            </a:r>
            <a:r>
              <a:rPr lang="en-US" dirty="0"/>
              <a:t> to </a:t>
            </a:r>
            <a:r>
              <a:rPr lang="en-US" i="1" dirty="0"/>
              <a:t>d</a:t>
            </a:r>
            <a:r>
              <a:rPr lang="en-US" dirty="0"/>
              <a:t> in the graph G. </a:t>
            </a:r>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r>
              <a:rPr lang="en-US" sz="2800" b="1" dirty="0"/>
              <a:t>Solution</a:t>
            </a:r>
            <a:r>
              <a:rPr lang="en-US" dirty="0"/>
              <a:t>: The adjacency matrix of </a:t>
            </a:r>
            <a:r>
              <a:rPr lang="en-US" i="1" dirty="0"/>
              <a:t>G</a:t>
            </a:r>
            <a:r>
              <a:rPr lang="en-US" dirty="0"/>
              <a:t> (ordering                        the vertices as </a:t>
            </a:r>
            <a:r>
              <a:rPr lang="en-US" i="1" dirty="0"/>
              <a:t>a</a:t>
            </a:r>
            <a:r>
              <a:rPr lang="en-US" dirty="0"/>
              <a:t>, </a:t>
            </a:r>
            <a:r>
              <a:rPr lang="en-US" i="1" dirty="0"/>
              <a:t>b</a:t>
            </a:r>
            <a:r>
              <a:rPr lang="en-US" dirty="0"/>
              <a:t>, </a:t>
            </a:r>
            <a:r>
              <a:rPr lang="en-US" i="1" dirty="0"/>
              <a:t>c</a:t>
            </a:r>
            <a:r>
              <a:rPr lang="en-US" dirty="0"/>
              <a:t>, </a:t>
            </a:r>
            <a:r>
              <a:rPr lang="en-US" i="1" dirty="0"/>
              <a:t>d</a:t>
            </a:r>
            <a:r>
              <a:rPr lang="en-US" dirty="0"/>
              <a:t>) is given above. Hence                             the number of paths of length four from </a:t>
            </a:r>
            <a:r>
              <a:rPr lang="en-US" i="1" dirty="0"/>
              <a:t>a</a:t>
            </a:r>
            <a:r>
              <a:rPr lang="en-US" dirty="0"/>
              <a:t> to </a:t>
            </a:r>
            <a:r>
              <a:rPr lang="en-US" i="1" dirty="0"/>
              <a:t>d</a:t>
            </a:r>
            <a:r>
              <a:rPr lang="en-US" dirty="0"/>
              <a:t> is                                      the (</a:t>
            </a:r>
            <a:r>
              <a:rPr lang="en-US" dirty="0">
                <a:latin typeface="Cambria Math" pitchFamily="18" charset="0"/>
                <a:ea typeface="Cambria Math" pitchFamily="18" charset="0"/>
              </a:rPr>
              <a:t>1</a:t>
            </a:r>
            <a:r>
              <a:rPr lang="en-US" dirty="0"/>
              <a:t>, </a:t>
            </a:r>
            <a:r>
              <a:rPr lang="en-US" dirty="0">
                <a:latin typeface="Cambria Math" pitchFamily="18" charset="0"/>
                <a:ea typeface="Cambria Math" pitchFamily="18" charset="0"/>
              </a:rPr>
              <a:t>4</a:t>
            </a:r>
            <a:r>
              <a:rPr lang="en-US" dirty="0"/>
              <a:t>)</a:t>
            </a:r>
            <a:r>
              <a:rPr lang="en-US" dirty="0" err="1"/>
              <a:t>th</a:t>
            </a:r>
            <a:r>
              <a:rPr lang="en-US" dirty="0"/>
              <a:t> entry of </a:t>
            </a:r>
            <a:r>
              <a:rPr lang="en-US" b="1" dirty="0"/>
              <a:t>A</a:t>
            </a:r>
            <a:r>
              <a:rPr lang="en-US" baseline="30000" dirty="0">
                <a:latin typeface="Cambria Math" pitchFamily="18" charset="0"/>
                <a:ea typeface="Cambria Math" pitchFamily="18" charset="0"/>
              </a:rPr>
              <a:t>4</a:t>
            </a:r>
            <a:r>
              <a:rPr lang="en-US" dirty="0"/>
              <a:t> . The eight paths are as:</a:t>
            </a:r>
          </a:p>
          <a:p>
            <a:pPr marL="274320" lvl="1" indent="0">
              <a:buClr>
                <a:schemeClr val="accent3"/>
              </a:buClr>
              <a:buSzPct val="95000"/>
              <a:buNone/>
            </a:pPr>
            <a:r>
              <a:rPr lang="en-US" dirty="0"/>
              <a:t>  </a:t>
            </a:r>
          </a:p>
          <a:p>
            <a:pPr marL="274320" lvl="1" indent="0">
              <a:buClr>
                <a:schemeClr val="accent3"/>
              </a:buClr>
              <a:buSzPct val="95000"/>
              <a:buNone/>
            </a:pPr>
            <a:r>
              <a:rPr lang="en-US" dirty="0"/>
              <a:t> </a:t>
            </a:r>
          </a:p>
          <a:p>
            <a:pPr marL="274320" lvl="1" indent="0">
              <a:buClr>
                <a:schemeClr val="accent3"/>
              </a:buClr>
              <a:buSzPct val="95000"/>
              <a:buNone/>
            </a:pPr>
            <a:r>
              <a:rPr lang="en-US" dirty="0"/>
              <a:t> </a:t>
            </a:r>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endParaRPr lang="en-US" dirty="0"/>
          </a:p>
          <a:p>
            <a:pPr marL="274320" lvl="1" indent="0">
              <a:buClr>
                <a:schemeClr val="accent3"/>
              </a:buClr>
              <a:buSzPct val="95000"/>
              <a:buNone/>
            </a:pPr>
            <a:endParaRPr lang="en-US" dirty="0"/>
          </a:p>
        </p:txBody>
      </p:sp>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1552" y="2514600"/>
            <a:ext cx="649224" cy="872490"/>
          </a:xfrm>
          <a:prstGeom prst="rect">
            <a:avLst/>
          </a:prstGeom>
        </p:spPr>
      </p:pic>
      <p:pic>
        <p:nvPicPr>
          <p:cNvPr id="6" name="Picture 5"/>
          <p:cNvPicPr>
            <a:picLocks noChangeAspect="1"/>
          </p:cNvPicPr>
          <p:nvPr>
            <p:custDataLst>
              <p:tags r:id="rId1"/>
            </p:custDataLst>
          </p:nvPr>
        </p:nvPicPr>
        <p:blipFill>
          <a:blip r:embed="rId6" cstate="print">
            <a:extLst>
              <a:ext uri="{28A0092B-C50C-407E-A947-70E740481C1C}">
                <a14:useLocalDpi xmlns:a14="http://schemas.microsoft.com/office/drawing/2010/main" val="0"/>
              </a:ext>
            </a:extLst>
          </a:blip>
          <a:stretch>
            <a:fillRect/>
          </a:stretch>
        </p:blipFill>
        <p:spPr>
          <a:xfrm>
            <a:off x="5029200" y="2475547"/>
            <a:ext cx="1270159" cy="911543"/>
          </a:xfrm>
          <a:prstGeom prst="rect">
            <a:avLst/>
          </a:prstGeom>
        </p:spPr>
      </p:pic>
      <p:sp>
        <p:nvSpPr>
          <p:cNvPr id="7" name="TextBox 6"/>
          <p:cNvSpPr txBox="1"/>
          <p:nvPr/>
        </p:nvSpPr>
        <p:spPr>
          <a:xfrm>
            <a:off x="1493520" y="2746651"/>
            <a:ext cx="685800" cy="369332"/>
          </a:xfrm>
          <a:prstGeom prst="rect">
            <a:avLst/>
          </a:prstGeom>
          <a:noFill/>
        </p:spPr>
        <p:txBody>
          <a:bodyPr wrap="square" rtlCol="0">
            <a:spAutoFit/>
          </a:bodyPr>
          <a:lstStyle/>
          <a:p>
            <a:r>
              <a:rPr lang="en-US" i="1" dirty="0"/>
              <a:t>G</a:t>
            </a:r>
          </a:p>
        </p:txBody>
      </p:sp>
      <p:sp>
        <p:nvSpPr>
          <p:cNvPr id="8" name="TextBox 7"/>
          <p:cNvSpPr txBox="1"/>
          <p:nvPr/>
        </p:nvSpPr>
        <p:spPr>
          <a:xfrm>
            <a:off x="6629400" y="2608152"/>
            <a:ext cx="1752600" cy="646331"/>
          </a:xfrm>
          <a:prstGeom prst="rect">
            <a:avLst/>
          </a:prstGeom>
          <a:noFill/>
        </p:spPr>
        <p:txBody>
          <a:bodyPr wrap="square" rtlCol="0">
            <a:spAutoFit/>
          </a:bodyPr>
          <a:lstStyle/>
          <a:p>
            <a:r>
              <a:rPr lang="en-US" i="1" dirty="0"/>
              <a:t>adjacency matrix of G</a:t>
            </a:r>
          </a:p>
        </p:txBody>
      </p:sp>
      <p:pic>
        <p:nvPicPr>
          <p:cNvPr id="10" name="Picture 9"/>
          <p:cNvPicPr>
            <a:picLocks noChangeAspect="1"/>
          </p:cNvPicPr>
          <p:nvPr>
            <p:custDataLst>
              <p:tags r:id="rId2"/>
            </p:custDataLst>
          </p:nvPr>
        </p:nvPicPr>
        <p:blipFill>
          <a:blip r:embed="rId7" cstate="print">
            <a:extLst>
              <a:ext uri="{28A0092B-C50C-407E-A947-70E740481C1C}">
                <a14:useLocalDpi xmlns:a14="http://schemas.microsoft.com/office/drawing/2010/main" val="0"/>
              </a:ext>
            </a:extLst>
          </a:blip>
          <a:stretch>
            <a:fillRect/>
          </a:stretch>
        </p:blipFill>
        <p:spPr>
          <a:xfrm>
            <a:off x="7315200" y="3869531"/>
            <a:ext cx="1270159" cy="911543"/>
          </a:xfrm>
          <a:prstGeom prst="rect">
            <a:avLst/>
          </a:prstGeom>
        </p:spPr>
      </p:pic>
      <p:sp>
        <p:nvSpPr>
          <p:cNvPr id="11" name="TextBox 10"/>
          <p:cNvSpPr txBox="1"/>
          <p:nvPr/>
        </p:nvSpPr>
        <p:spPr>
          <a:xfrm>
            <a:off x="6629400" y="4140636"/>
            <a:ext cx="708660" cy="369332"/>
          </a:xfrm>
          <a:prstGeom prst="rect">
            <a:avLst/>
          </a:prstGeom>
          <a:noFill/>
        </p:spPr>
        <p:txBody>
          <a:bodyPr wrap="square" rtlCol="0">
            <a:spAutoFit/>
          </a:bodyPr>
          <a:lstStyle/>
          <a:p>
            <a:r>
              <a:rPr lang="en-US" b="1" dirty="0"/>
              <a:t>A</a:t>
            </a:r>
            <a:r>
              <a:rPr lang="en-US" baseline="30000" dirty="0">
                <a:latin typeface="Cambria Math" pitchFamily="18" charset="0"/>
                <a:ea typeface="Cambria Math" pitchFamily="18" charset="0"/>
              </a:rPr>
              <a:t>4</a:t>
            </a:r>
            <a:r>
              <a:rPr lang="en-US" dirty="0"/>
              <a:t> =</a:t>
            </a:r>
          </a:p>
        </p:txBody>
      </p:sp>
      <p:sp>
        <p:nvSpPr>
          <p:cNvPr id="12" name="TextBox 11"/>
          <p:cNvSpPr txBox="1"/>
          <p:nvPr/>
        </p:nvSpPr>
        <p:spPr>
          <a:xfrm>
            <a:off x="2209800" y="5029200"/>
            <a:ext cx="3657600" cy="2031325"/>
          </a:xfrm>
          <a:prstGeom prst="rect">
            <a:avLst/>
          </a:prstGeom>
          <a:noFill/>
        </p:spPr>
        <p:txBody>
          <a:bodyPr wrap="square" rtlCol="0">
            <a:spAutoFit/>
          </a:bodyPr>
          <a:lstStyle/>
          <a:p>
            <a:r>
              <a:rPr lang="en-US" i="1" dirty="0"/>
              <a:t>a</a:t>
            </a:r>
            <a:r>
              <a:rPr lang="en-US" dirty="0"/>
              <a:t>, </a:t>
            </a:r>
            <a:r>
              <a:rPr lang="en-US" i="1" dirty="0"/>
              <a:t>b</a:t>
            </a:r>
            <a:r>
              <a:rPr lang="en-US" dirty="0"/>
              <a:t>, </a:t>
            </a:r>
            <a:r>
              <a:rPr lang="en-US" i="1" dirty="0"/>
              <a:t>a</a:t>
            </a:r>
            <a:r>
              <a:rPr lang="en-US" dirty="0"/>
              <a:t>, </a:t>
            </a:r>
            <a:r>
              <a:rPr lang="en-US" i="1" dirty="0"/>
              <a:t>b</a:t>
            </a:r>
            <a:r>
              <a:rPr lang="en-US" dirty="0"/>
              <a:t>, </a:t>
            </a:r>
            <a:r>
              <a:rPr lang="en-US" i="1" dirty="0"/>
              <a:t>d      a</a:t>
            </a:r>
            <a:r>
              <a:rPr lang="en-US" dirty="0"/>
              <a:t>, </a:t>
            </a:r>
            <a:r>
              <a:rPr lang="en-US" i="1" dirty="0"/>
              <a:t>b</a:t>
            </a:r>
            <a:r>
              <a:rPr lang="en-US" dirty="0"/>
              <a:t>, </a:t>
            </a:r>
            <a:r>
              <a:rPr lang="en-US" i="1" dirty="0"/>
              <a:t>a</a:t>
            </a:r>
            <a:r>
              <a:rPr lang="en-US" dirty="0"/>
              <a:t>, </a:t>
            </a:r>
            <a:r>
              <a:rPr lang="en-US" i="1" dirty="0"/>
              <a:t>c</a:t>
            </a:r>
            <a:r>
              <a:rPr lang="en-US" dirty="0"/>
              <a:t>, </a:t>
            </a:r>
            <a:r>
              <a:rPr lang="en-US" i="1" dirty="0"/>
              <a:t>d</a:t>
            </a:r>
          </a:p>
          <a:p>
            <a:r>
              <a:rPr lang="en-US" i="1" dirty="0"/>
              <a:t>a</a:t>
            </a:r>
            <a:r>
              <a:rPr lang="en-US" dirty="0"/>
              <a:t>, </a:t>
            </a:r>
            <a:r>
              <a:rPr lang="en-US" i="1" dirty="0"/>
              <a:t>b</a:t>
            </a:r>
            <a:r>
              <a:rPr lang="en-US" dirty="0"/>
              <a:t>, </a:t>
            </a:r>
            <a:r>
              <a:rPr lang="en-US" i="1" dirty="0"/>
              <a:t>d</a:t>
            </a:r>
            <a:r>
              <a:rPr lang="en-US" dirty="0"/>
              <a:t>, </a:t>
            </a:r>
            <a:r>
              <a:rPr lang="en-US" i="1" dirty="0"/>
              <a:t>b</a:t>
            </a:r>
            <a:r>
              <a:rPr lang="en-US" dirty="0"/>
              <a:t>, </a:t>
            </a:r>
            <a:r>
              <a:rPr lang="en-US" i="1" dirty="0"/>
              <a:t>d      a</a:t>
            </a:r>
            <a:r>
              <a:rPr lang="en-US" dirty="0"/>
              <a:t>, </a:t>
            </a:r>
            <a:r>
              <a:rPr lang="en-US" i="1" dirty="0"/>
              <a:t>b</a:t>
            </a:r>
            <a:r>
              <a:rPr lang="en-US" dirty="0"/>
              <a:t>, </a:t>
            </a:r>
            <a:r>
              <a:rPr lang="en-US" i="1" dirty="0"/>
              <a:t>d</a:t>
            </a:r>
            <a:r>
              <a:rPr lang="en-US" dirty="0"/>
              <a:t>, </a:t>
            </a:r>
            <a:r>
              <a:rPr lang="en-US" i="1" dirty="0"/>
              <a:t>c</a:t>
            </a:r>
            <a:r>
              <a:rPr lang="en-US" dirty="0"/>
              <a:t>, </a:t>
            </a:r>
            <a:r>
              <a:rPr lang="en-US" i="1" dirty="0"/>
              <a:t>d</a:t>
            </a:r>
            <a:endParaRPr lang="en-US" dirty="0"/>
          </a:p>
          <a:p>
            <a:r>
              <a:rPr lang="en-US" i="1" dirty="0"/>
              <a:t>a</a:t>
            </a:r>
            <a:r>
              <a:rPr lang="en-US" dirty="0"/>
              <a:t>, </a:t>
            </a:r>
            <a:r>
              <a:rPr lang="en-US" i="1" dirty="0"/>
              <a:t>c</a:t>
            </a:r>
            <a:r>
              <a:rPr lang="en-US" dirty="0"/>
              <a:t>, </a:t>
            </a:r>
            <a:r>
              <a:rPr lang="en-US" i="1" dirty="0"/>
              <a:t>a</a:t>
            </a:r>
            <a:r>
              <a:rPr lang="en-US" dirty="0"/>
              <a:t>, </a:t>
            </a:r>
            <a:r>
              <a:rPr lang="en-US" i="1" dirty="0"/>
              <a:t>b</a:t>
            </a:r>
            <a:r>
              <a:rPr lang="en-US" dirty="0"/>
              <a:t>, </a:t>
            </a:r>
            <a:r>
              <a:rPr lang="en-US" i="1" dirty="0"/>
              <a:t>d      a</a:t>
            </a:r>
            <a:r>
              <a:rPr lang="en-US" dirty="0"/>
              <a:t>, </a:t>
            </a:r>
            <a:r>
              <a:rPr lang="en-US" i="1" dirty="0"/>
              <a:t>c</a:t>
            </a:r>
            <a:r>
              <a:rPr lang="en-US" dirty="0"/>
              <a:t>, </a:t>
            </a:r>
            <a:r>
              <a:rPr lang="en-US" i="1" dirty="0"/>
              <a:t>a</a:t>
            </a:r>
            <a:r>
              <a:rPr lang="en-US" dirty="0"/>
              <a:t>, </a:t>
            </a:r>
            <a:r>
              <a:rPr lang="en-US" i="1" dirty="0"/>
              <a:t>c</a:t>
            </a:r>
            <a:r>
              <a:rPr lang="en-US" dirty="0"/>
              <a:t>, </a:t>
            </a:r>
            <a:r>
              <a:rPr lang="en-US" i="1" dirty="0"/>
              <a:t>d</a:t>
            </a:r>
            <a:endParaRPr lang="en-US" dirty="0"/>
          </a:p>
          <a:p>
            <a:r>
              <a:rPr lang="en-US" i="1" dirty="0"/>
              <a:t>a</a:t>
            </a:r>
            <a:r>
              <a:rPr lang="en-US" dirty="0"/>
              <a:t>, </a:t>
            </a:r>
            <a:r>
              <a:rPr lang="en-US" i="1" dirty="0"/>
              <a:t>c</a:t>
            </a:r>
            <a:r>
              <a:rPr lang="en-US" dirty="0"/>
              <a:t>, </a:t>
            </a:r>
            <a:r>
              <a:rPr lang="en-US" i="1" dirty="0"/>
              <a:t>d</a:t>
            </a:r>
            <a:r>
              <a:rPr lang="en-US" dirty="0"/>
              <a:t>, </a:t>
            </a:r>
            <a:r>
              <a:rPr lang="en-US" i="1" dirty="0"/>
              <a:t>b</a:t>
            </a:r>
            <a:r>
              <a:rPr lang="en-US" dirty="0"/>
              <a:t>, </a:t>
            </a:r>
            <a:r>
              <a:rPr lang="en-US" i="1" dirty="0"/>
              <a:t>d      a</a:t>
            </a:r>
            <a:r>
              <a:rPr lang="en-US" dirty="0"/>
              <a:t>, </a:t>
            </a:r>
            <a:r>
              <a:rPr lang="en-US" i="1" dirty="0"/>
              <a:t>c</a:t>
            </a:r>
            <a:r>
              <a:rPr lang="en-US" dirty="0"/>
              <a:t>, </a:t>
            </a:r>
            <a:r>
              <a:rPr lang="en-US" i="1" dirty="0"/>
              <a:t>d</a:t>
            </a:r>
            <a:r>
              <a:rPr lang="en-US" dirty="0"/>
              <a:t>, </a:t>
            </a:r>
            <a:r>
              <a:rPr lang="en-US" i="1" dirty="0"/>
              <a:t>c</a:t>
            </a:r>
            <a:r>
              <a:rPr lang="en-US" dirty="0"/>
              <a:t>, </a:t>
            </a:r>
            <a:r>
              <a:rPr lang="en-US" i="1" dirty="0"/>
              <a:t>d</a:t>
            </a:r>
            <a:endParaRPr lang="en-US" dirty="0"/>
          </a:p>
          <a:p>
            <a:endParaRPr lang="en-US" dirty="0"/>
          </a:p>
          <a:p>
            <a:endParaRPr lang="en-US" dirty="0"/>
          </a:p>
          <a:p>
            <a:endParaRPr lang="en-US" dirty="0"/>
          </a:p>
        </p:txBody>
      </p:sp>
      <p:sp>
        <p:nvSpPr>
          <p:cNvPr id="13" name="TextBox 12"/>
          <p:cNvSpPr txBox="1"/>
          <p:nvPr/>
        </p:nvSpPr>
        <p:spPr>
          <a:xfrm>
            <a:off x="4419600" y="2746651"/>
            <a:ext cx="685800" cy="369332"/>
          </a:xfrm>
          <a:prstGeom prst="rect">
            <a:avLst/>
          </a:prstGeom>
          <a:noFill/>
        </p:spPr>
        <p:txBody>
          <a:bodyPr wrap="square" rtlCol="0">
            <a:spAutoFit/>
          </a:bodyPr>
          <a:lstStyle/>
          <a:p>
            <a:r>
              <a:rPr lang="en-US" i="1" dirty="0"/>
              <a:t>A </a:t>
            </a:r>
            <a:r>
              <a:rPr lang="en-US" dirty="0"/>
              <a:t>=</a:t>
            </a:r>
          </a:p>
        </p:txBody>
      </p:sp>
    </p:spTree>
    <p:extLst>
      <p:ext uri="{BB962C8B-B14F-4D97-AF65-F5344CB8AC3E}">
        <p14:creationId xmlns:p14="http://schemas.microsoft.com/office/powerpoint/2010/main" val="3127046422"/>
      </p:ext>
    </p:extLst>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Euler Paths and Circuits</a:t>
            </a:r>
          </a:p>
        </p:txBody>
      </p:sp>
      <p:sp>
        <p:nvSpPr>
          <p:cNvPr id="3" name="Content Placeholder 2"/>
          <p:cNvSpPr>
            <a:spLocks noGrp="1"/>
          </p:cNvSpPr>
          <p:nvPr>
            <p:ph idx="1"/>
          </p:nvPr>
        </p:nvSpPr>
        <p:spPr/>
        <p:txBody>
          <a:bodyPr>
            <a:normAutofit fontScale="77500" lnSpcReduction="20000"/>
          </a:bodyPr>
          <a:lstStyle/>
          <a:p>
            <a:r>
              <a:rPr lang="en-US" dirty="0"/>
              <a:t>The town of K</a:t>
            </a:r>
            <a:r>
              <a:rPr lang="az-Cyrl-AZ" dirty="0">
                <a:latin typeface="Cambria Math"/>
                <a:ea typeface="Cambria Math"/>
              </a:rPr>
              <a:t>ӧ</a:t>
            </a:r>
            <a:r>
              <a:rPr lang="en-US" dirty="0" err="1"/>
              <a:t>nigsberg</a:t>
            </a:r>
            <a:r>
              <a:rPr lang="en-US" dirty="0"/>
              <a:t>, Prussia (now </a:t>
            </a:r>
            <a:r>
              <a:rPr lang="en-US" dirty="0" err="1"/>
              <a:t>Kalingrad</a:t>
            </a:r>
            <a:r>
              <a:rPr lang="en-US" dirty="0"/>
              <a:t>, Russia) was divided into four sections by the branches of the </a:t>
            </a:r>
            <a:r>
              <a:rPr lang="en-US" dirty="0" err="1"/>
              <a:t>Pregel</a:t>
            </a:r>
            <a:r>
              <a:rPr lang="en-US" dirty="0"/>
              <a:t> river. In the </a:t>
            </a:r>
            <a:r>
              <a:rPr lang="en-US" dirty="0">
                <a:latin typeface="Cambria Math" pitchFamily="18" charset="0"/>
                <a:ea typeface="Cambria Math" pitchFamily="18" charset="0"/>
              </a:rPr>
              <a:t>18</a:t>
            </a:r>
            <a:r>
              <a:rPr lang="en-US" dirty="0"/>
              <a:t>th century seven bridges connected these regions.</a:t>
            </a:r>
          </a:p>
          <a:p>
            <a:r>
              <a:rPr lang="en-US" dirty="0"/>
              <a:t>People wondered whether it was possible to follow a path that crosses each bridge exactly once and returns to the starting point.</a:t>
            </a:r>
          </a:p>
          <a:p>
            <a:r>
              <a:rPr lang="en-US" dirty="0"/>
              <a:t>The Swiss mathematician Leonard Euler proved that no such path exists.   This result is often considered to be the first theorem ever proved in graph theory.</a:t>
            </a:r>
          </a:p>
          <a:p>
            <a:endParaRPr lang="en-US" dirty="0"/>
          </a:p>
          <a:p>
            <a:endParaRPr lang="en-US" dirty="0"/>
          </a:p>
          <a:p>
            <a:pPr marL="0" indent="0">
              <a:buNone/>
            </a:pPr>
            <a:r>
              <a:rPr lang="en-US" dirty="0"/>
              <a:t>  </a:t>
            </a:r>
          </a:p>
          <a:p>
            <a:pPr marL="0" indent="0">
              <a:buNone/>
            </a:pPr>
            <a:r>
              <a:rPr lang="en-US" dirty="0"/>
              <a:t>  </a:t>
            </a:r>
          </a:p>
          <a:p>
            <a:pPr marL="0" indent="0">
              <a:buNone/>
            </a:pPr>
            <a:r>
              <a:rPr lang="en-US" dirty="0"/>
              <a:t> </a:t>
            </a:r>
          </a:p>
          <a:p>
            <a:pPr marL="0" indent="0">
              <a:buNone/>
            </a:pPr>
            <a:r>
              <a:rPr lang="en-US" dirty="0"/>
              <a:t> </a:t>
            </a:r>
          </a:p>
        </p:txBody>
      </p:sp>
      <p:pic>
        <p:nvPicPr>
          <p:cNvPr id="4" name="Content Placeholder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38200" y="4191000"/>
            <a:ext cx="3768090" cy="1686306"/>
          </a:xfrm>
          <a:prstGeom prst="rect">
            <a:avLst/>
          </a:prstGeo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636260" y="4748784"/>
            <a:ext cx="834390" cy="1433322"/>
          </a:xfrm>
          <a:prstGeom prst="rect">
            <a:avLst/>
          </a:prstGeom>
        </p:spPr>
      </p:pic>
      <p:sp>
        <p:nvSpPr>
          <p:cNvPr id="8" name="TextBox 7"/>
          <p:cNvSpPr txBox="1"/>
          <p:nvPr/>
        </p:nvSpPr>
        <p:spPr>
          <a:xfrm>
            <a:off x="838200" y="5997440"/>
            <a:ext cx="3489960" cy="369332"/>
          </a:xfrm>
          <a:prstGeom prst="rect">
            <a:avLst/>
          </a:prstGeom>
          <a:noFill/>
        </p:spPr>
        <p:txBody>
          <a:bodyPr wrap="square" rtlCol="0">
            <a:spAutoFit/>
          </a:bodyPr>
          <a:lstStyle/>
          <a:p>
            <a:r>
              <a:rPr lang="en-US" b="1" dirty="0"/>
              <a:t>The </a:t>
            </a:r>
            <a:r>
              <a:rPr lang="en-US" b="1" dirty="0">
                <a:latin typeface="Cambria Math" pitchFamily="18" charset="0"/>
                <a:ea typeface="Cambria Math" pitchFamily="18" charset="0"/>
              </a:rPr>
              <a:t>7</a:t>
            </a:r>
            <a:r>
              <a:rPr lang="en-US" b="1" dirty="0"/>
              <a:t> Bridges of K</a:t>
            </a:r>
            <a:r>
              <a:rPr lang="az-Cyrl-AZ" b="1" dirty="0">
                <a:latin typeface="Cambria Math"/>
                <a:ea typeface="Cambria Math"/>
              </a:rPr>
              <a:t>ӧ</a:t>
            </a:r>
            <a:r>
              <a:rPr lang="en-US" b="1" dirty="0" err="1"/>
              <a:t>nigsberg</a:t>
            </a:r>
            <a:r>
              <a:rPr lang="en-US" dirty="0"/>
              <a:t>  </a:t>
            </a:r>
          </a:p>
        </p:txBody>
      </p:sp>
      <p:sp>
        <p:nvSpPr>
          <p:cNvPr id="9" name="TextBox 8"/>
          <p:cNvSpPr txBox="1"/>
          <p:nvPr/>
        </p:nvSpPr>
        <p:spPr>
          <a:xfrm>
            <a:off x="6713474" y="4927560"/>
            <a:ext cx="1917065" cy="1200329"/>
          </a:xfrm>
          <a:prstGeom prst="rect">
            <a:avLst/>
          </a:prstGeom>
          <a:noFill/>
        </p:spPr>
        <p:txBody>
          <a:bodyPr wrap="square" rtlCol="0">
            <a:spAutoFit/>
          </a:bodyPr>
          <a:lstStyle/>
          <a:p>
            <a:r>
              <a:rPr lang="en-US" b="1" dirty="0" err="1"/>
              <a:t>Multigraph</a:t>
            </a:r>
            <a:r>
              <a:rPr lang="en-US" b="1" dirty="0"/>
              <a:t> Model of the Bridges of K</a:t>
            </a:r>
            <a:r>
              <a:rPr lang="az-Cyrl-AZ" b="1" dirty="0">
                <a:latin typeface="Cambria Math"/>
                <a:ea typeface="Cambria Math"/>
              </a:rPr>
              <a:t>ӧ</a:t>
            </a:r>
            <a:r>
              <a:rPr lang="en-US" b="1" dirty="0" err="1"/>
              <a:t>nigsberg</a:t>
            </a:r>
            <a:r>
              <a:rPr lang="en-US" b="1" dirty="0"/>
              <a:t>  </a:t>
            </a:r>
          </a:p>
        </p:txBody>
      </p:sp>
    </p:spTree>
    <p:extLst>
      <p:ext uri="{BB962C8B-B14F-4D97-AF65-F5344CB8AC3E}">
        <p14:creationId xmlns:p14="http://schemas.microsoft.com/office/powerpoint/2010/main" val="3786188589"/>
      </p:ext>
    </p:extLst>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12197"/>
            <a:ext cx="8229600" cy="704088"/>
          </a:xfrm>
        </p:spPr>
        <p:txBody>
          <a:bodyPr>
            <a:normAutofit fontScale="90000"/>
          </a:bodyPr>
          <a:lstStyle/>
          <a:p>
            <a:r>
              <a:rPr lang="en-US" dirty="0"/>
              <a:t>Euler Paths and Circuits (</a:t>
            </a:r>
            <a:r>
              <a:rPr lang="en-US" i="1" dirty="0"/>
              <a:t>continued</a:t>
            </a:r>
            <a:r>
              <a:rPr lang="en-US" dirty="0"/>
              <a:t>)</a:t>
            </a:r>
          </a:p>
        </p:txBody>
      </p:sp>
      <p:sp>
        <p:nvSpPr>
          <p:cNvPr id="3" name="Content Placeholder 2"/>
          <p:cNvSpPr>
            <a:spLocks noGrp="1"/>
          </p:cNvSpPr>
          <p:nvPr>
            <p:ph idx="1"/>
          </p:nvPr>
        </p:nvSpPr>
        <p:spPr>
          <a:xfrm>
            <a:off x="381000" y="816285"/>
            <a:ext cx="8305800" cy="5508315"/>
          </a:xfrm>
        </p:spPr>
        <p:txBody>
          <a:bodyPr>
            <a:normAutofit fontScale="70000" lnSpcReduction="20000"/>
          </a:bodyPr>
          <a:lstStyle/>
          <a:p>
            <a:pPr indent="0">
              <a:buNone/>
            </a:pPr>
            <a:r>
              <a:rPr lang="en-US" b="1" dirty="0"/>
              <a:t>Definition</a:t>
            </a:r>
            <a:r>
              <a:rPr lang="en-US" dirty="0"/>
              <a:t>: An </a:t>
            </a:r>
            <a:r>
              <a:rPr lang="en-US" i="1" dirty="0"/>
              <a:t>Euler circuit </a:t>
            </a:r>
            <a:r>
              <a:rPr lang="en-US" dirty="0"/>
              <a:t>in a graph </a:t>
            </a:r>
            <a:r>
              <a:rPr lang="en-US" i="1" dirty="0"/>
              <a:t>G</a:t>
            </a:r>
            <a:r>
              <a:rPr lang="en-US" dirty="0"/>
              <a:t> is a simple circuit containing every edge of </a:t>
            </a:r>
            <a:r>
              <a:rPr lang="en-US" i="1" dirty="0"/>
              <a:t>G</a:t>
            </a:r>
            <a:r>
              <a:rPr lang="en-US" dirty="0"/>
              <a:t>. An </a:t>
            </a:r>
            <a:r>
              <a:rPr lang="en-US" i="1" dirty="0"/>
              <a:t>Euler path </a:t>
            </a:r>
            <a:r>
              <a:rPr lang="en-US" dirty="0"/>
              <a:t>in </a:t>
            </a:r>
            <a:r>
              <a:rPr lang="en-US" i="1" dirty="0"/>
              <a:t>G</a:t>
            </a:r>
            <a:r>
              <a:rPr lang="en-US" dirty="0"/>
              <a:t> is a simple path containing every edge of </a:t>
            </a:r>
            <a:r>
              <a:rPr lang="en-US" i="1" dirty="0"/>
              <a:t>G</a:t>
            </a:r>
            <a:r>
              <a:rPr lang="en-US" dirty="0"/>
              <a:t>. </a:t>
            </a:r>
          </a:p>
          <a:p>
            <a:pPr indent="0">
              <a:buNone/>
            </a:pPr>
            <a:r>
              <a:rPr lang="en-US" b="1" dirty="0"/>
              <a:t>Example</a:t>
            </a:r>
            <a:r>
              <a:rPr lang="en-US" dirty="0"/>
              <a:t>: Which of the undirected graphs </a:t>
            </a:r>
            <a:r>
              <a:rPr lang="en-US" i="1" dirty="0"/>
              <a:t>G</a:t>
            </a:r>
            <a:r>
              <a:rPr lang="en-US" baseline="-25000" dirty="0">
                <a:latin typeface="Cambria Math" pitchFamily="18" charset="0"/>
                <a:ea typeface="Cambria Math" pitchFamily="18" charset="0"/>
              </a:rPr>
              <a:t>1</a:t>
            </a:r>
            <a:r>
              <a:rPr lang="en-US" dirty="0"/>
              <a:t>, </a:t>
            </a:r>
            <a:r>
              <a:rPr lang="en-US" i="1" dirty="0"/>
              <a:t>G</a:t>
            </a:r>
            <a:r>
              <a:rPr lang="en-US" baseline="-25000" dirty="0">
                <a:latin typeface="Cambria Math" pitchFamily="18" charset="0"/>
                <a:ea typeface="Cambria Math" pitchFamily="18" charset="0"/>
              </a:rPr>
              <a:t>2</a:t>
            </a:r>
            <a:r>
              <a:rPr lang="en-US" dirty="0"/>
              <a:t>, and </a:t>
            </a:r>
            <a:r>
              <a:rPr lang="en-US" i="1" dirty="0"/>
              <a:t>G</a:t>
            </a:r>
            <a:r>
              <a:rPr lang="en-US" baseline="-25000" dirty="0">
                <a:latin typeface="Cambria Math" pitchFamily="18" charset="0"/>
                <a:ea typeface="Cambria Math" pitchFamily="18" charset="0"/>
              </a:rPr>
              <a:t>3</a:t>
            </a:r>
            <a:r>
              <a:rPr lang="en-US" dirty="0"/>
              <a:t> has a Euler circuit? Of those that do not, which has an Euler path?</a:t>
            </a:r>
          </a:p>
          <a:p>
            <a:pPr indent="0">
              <a:buNone/>
            </a:pPr>
            <a:r>
              <a:rPr lang="en-US" dirty="0"/>
              <a:t>We have to use every edge of given graph</a:t>
            </a:r>
          </a:p>
          <a:p>
            <a:pPr indent="0">
              <a:buNone/>
            </a:pPr>
            <a:endParaRPr lang="en-US" dirty="0"/>
          </a:p>
          <a:p>
            <a:pPr indent="0">
              <a:buNone/>
            </a:pPr>
            <a:endParaRPr lang="en-US" dirty="0"/>
          </a:p>
          <a:p>
            <a:pPr indent="0">
              <a:buNone/>
            </a:pPr>
            <a:endParaRPr lang="en-US" dirty="0"/>
          </a:p>
          <a:p>
            <a:pPr indent="0">
              <a:buNone/>
            </a:pPr>
            <a:endParaRPr lang="en-US" dirty="0"/>
          </a:p>
          <a:p>
            <a:pPr indent="0">
              <a:buNone/>
            </a:pPr>
            <a:endParaRPr lang="en-US" dirty="0"/>
          </a:p>
          <a:p>
            <a:pPr indent="0">
              <a:buNone/>
            </a:pPr>
            <a:r>
              <a:rPr lang="en-US" dirty="0"/>
              <a:t> </a:t>
            </a:r>
          </a:p>
          <a:p>
            <a:pPr indent="0">
              <a:buNone/>
            </a:pPr>
            <a:endParaRPr lang="en-US" dirty="0"/>
          </a:p>
          <a:p>
            <a:pPr indent="0">
              <a:buNone/>
            </a:pPr>
            <a:endParaRPr lang="en-US" dirty="0"/>
          </a:p>
          <a:p>
            <a:pPr indent="0">
              <a:buNone/>
            </a:pPr>
            <a:endParaRPr lang="en-US" dirty="0"/>
          </a:p>
          <a:p>
            <a:pPr indent="0">
              <a:buNone/>
            </a:pPr>
            <a:endParaRPr lang="en-US" dirty="0"/>
          </a:p>
          <a:p>
            <a:pPr indent="0">
              <a:buNone/>
            </a:pPr>
            <a:endParaRPr lang="en-US" dirty="0"/>
          </a:p>
          <a:p>
            <a:pPr indent="0">
              <a:buNone/>
            </a:pPr>
            <a:r>
              <a:rPr lang="en-US" b="1" dirty="0"/>
              <a:t>Solution</a:t>
            </a:r>
            <a:r>
              <a:rPr lang="en-US" dirty="0"/>
              <a:t>: The graph </a:t>
            </a:r>
            <a:r>
              <a:rPr lang="en-US" i="1" dirty="0"/>
              <a:t>G</a:t>
            </a:r>
            <a:r>
              <a:rPr lang="en-US" baseline="-25000" dirty="0">
                <a:latin typeface="Cambria Math" pitchFamily="18" charset="0"/>
                <a:ea typeface="Cambria Math" pitchFamily="18" charset="0"/>
              </a:rPr>
              <a:t>1</a:t>
            </a:r>
            <a:r>
              <a:rPr lang="en-US" dirty="0"/>
              <a:t> has an Euler circuit (e.g., </a:t>
            </a:r>
            <a:r>
              <a:rPr lang="en-US" i="1" dirty="0"/>
              <a:t>a</a:t>
            </a:r>
            <a:r>
              <a:rPr lang="en-US" dirty="0"/>
              <a:t>, </a:t>
            </a:r>
            <a:r>
              <a:rPr lang="en-US" i="1" dirty="0"/>
              <a:t>e</a:t>
            </a:r>
            <a:r>
              <a:rPr lang="en-US" dirty="0"/>
              <a:t>, </a:t>
            </a:r>
            <a:r>
              <a:rPr lang="en-US" i="1" dirty="0"/>
              <a:t>c</a:t>
            </a:r>
            <a:r>
              <a:rPr lang="en-US" dirty="0"/>
              <a:t>, </a:t>
            </a:r>
            <a:r>
              <a:rPr lang="en-US" i="1" dirty="0"/>
              <a:t>d</a:t>
            </a:r>
            <a:r>
              <a:rPr lang="en-US" dirty="0"/>
              <a:t>, </a:t>
            </a:r>
            <a:r>
              <a:rPr lang="en-US" i="1" dirty="0"/>
              <a:t>e</a:t>
            </a:r>
            <a:r>
              <a:rPr lang="en-US" dirty="0"/>
              <a:t>, </a:t>
            </a:r>
            <a:r>
              <a:rPr lang="en-US" i="1" dirty="0"/>
              <a:t>b</a:t>
            </a:r>
            <a:r>
              <a:rPr lang="en-US" dirty="0"/>
              <a:t>, </a:t>
            </a:r>
            <a:r>
              <a:rPr lang="en-US" i="1" dirty="0"/>
              <a:t>a</a:t>
            </a:r>
            <a:r>
              <a:rPr lang="en-US" dirty="0"/>
              <a:t>). But, as can easily be verified by inspection, neither </a:t>
            </a:r>
            <a:r>
              <a:rPr lang="en-US" i="1" dirty="0"/>
              <a:t>G</a:t>
            </a:r>
            <a:r>
              <a:rPr lang="en-US" baseline="-25000" dirty="0">
                <a:latin typeface="Cambria Math" pitchFamily="18" charset="0"/>
                <a:ea typeface="Cambria Math" pitchFamily="18" charset="0"/>
              </a:rPr>
              <a:t>2</a:t>
            </a:r>
            <a:r>
              <a:rPr lang="en-US" dirty="0"/>
              <a:t>  nor </a:t>
            </a:r>
            <a:r>
              <a:rPr lang="en-US" i="1" dirty="0"/>
              <a:t>G</a:t>
            </a:r>
            <a:r>
              <a:rPr lang="en-US" baseline="-25000" dirty="0">
                <a:latin typeface="Cambria Math" pitchFamily="18" charset="0"/>
                <a:ea typeface="Cambria Math" pitchFamily="18" charset="0"/>
              </a:rPr>
              <a:t>3(not every edge is used)</a:t>
            </a:r>
            <a:r>
              <a:rPr lang="en-US" dirty="0"/>
              <a:t> has an Euler circuit. Note that </a:t>
            </a:r>
            <a:r>
              <a:rPr lang="en-US" i="1" dirty="0"/>
              <a:t>G</a:t>
            </a:r>
            <a:r>
              <a:rPr lang="en-US" baseline="-25000" dirty="0">
                <a:latin typeface="Cambria Math" pitchFamily="18" charset="0"/>
                <a:ea typeface="Cambria Math" pitchFamily="18" charset="0"/>
              </a:rPr>
              <a:t>3</a:t>
            </a:r>
            <a:r>
              <a:rPr lang="en-US" dirty="0"/>
              <a:t>  has an Euler path (e.g., </a:t>
            </a:r>
            <a:r>
              <a:rPr lang="en-US" i="1" dirty="0"/>
              <a:t>a</a:t>
            </a:r>
            <a:r>
              <a:rPr lang="en-US" dirty="0"/>
              <a:t>, </a:t>
            </a:r>
            <a:r>
              <a:rPr lang="en-US" i="1" dirty="0"/>
              <a:t>c</a:t>
            </a:r>
            <a:r>
              <a:rPr lang="en-US" dirty="0"/>
              <a:t>, </a:t>
            </a:r>
            <a:r>
              <a:rPr lang="en-US" i="1" dirty="0"/>
              <a:t>d</a:t>
            </a:r>
            <a:r>
              <a:rPr lang="en-US" dirty="0"/>
              <a:t>, </a:t>
            </a:r>
            <a:r>
              <a:rPr lang="en-US" i="1" dirty="0"/>
              <a:t>e</a:t>
            </a:r>
            <a:r>
              <a:rPr lang="en-US" dirty="0"/>
              <a:t>, </a:t>
            </a:r>
            <a:r>
              <a:rPr lang="en-US" i="1" dirty="0"/>
              <a:t>b</a:t>
            </a:r>
            <a:r>
              <a:rPr lang="en-US" dirty="0"/>
              <a:t>, </a:t>
            </a:r>
            <a:r>
              <a:rPr lang="en-US" i="1" dirty="0"/>
              <a:t>d, a</a:t>
            </a:r>
            <a:r>
              <a:rPr lang="en-US" dirty="0"/>
              <a:t>, </a:t>
            </a:r>
            <a:r>
              <a:rPr lang="en-US" i="1" dirty="0"/>
              <a:t>b</a:t>
            </a:r>
            <a:r>
              <a:rPr lang="en-US" dirty="0"/>
              <a:t>), but there is no Euler path in </a:t>
            </a:r>
            <a:r>
              <a:rPr lang="en-US" i="1" dirty="0"/>
              <a:t>G</a:t>
            </a:r>
            <a:r>
              <a:rPr lang="en-US" baseline="-25000" dirty="0">
                <a:latin typeface="Cambria Math" pitchFamily="18" charset="0"/>
                <a:ea typeface="Cambria Math" pitchFamily="18" charset="0"/>
              </a:rPr>
              <a:t>2</a:t>
            </a:r>
            <a:r>
              <a:rPr lang="en-US" dirty="0"/>
              <a:t>, which can be verified by inspection.</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4400" y="2109241"/>
            <a:ext cx="7086600" cy="2639517"/>
          </a:xfrm>
          <a:prstGeom prst="rect">
            <a:avLst/>
          </a:prstGeom>
        </p:spPr>
      </p:pic>
    </p:spTree>
    <p:extLst>
      <p:ext uri="{BB962C8B-B14F-4D97-AF65-F5344CB8AC3E}">
        <p14:creationId xmlns:p14="http://schemas.microsoft.com/office/powerpoint/2010/main" val="1303016944"/>
      </p:ext>
    </p:extLst>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Necessary Conditions for Euler Circuits and Paths</a:t>
            </a:r>
          </a:p>
        </p:txBody>
      </p:sp>
      <p:sp>
        <p:nvSpPr>
          <p:cNvPr id="3" name="Content Placeholder 2"/>
          <p:cNvSpPr>
            <a:spLocks noGrp="1"/>
          </p:cNvSpPr>
          <p:nvPr>
            <p:ph idx="1"/>
          </p:nvPr>
        </p:nvSpPr>
        <p:spPr/>
        <p:txBody>
          <a:bodyPr>
            <a:normAutofit fontScale="77500" lnSpcReduction="20000"/>
          </a:bodyPr>
          <a:lstStyle/>
          <a:p>
            <a:r>
              <a:rPr lang="en-US" dirty="0"/>
              <a:t>An Euler circuit begins with a vertex </a:t>
            </a:r>
            <a:r>
              <a:rPr lang="en-US" i="1" dirty="0"/>
              <a:t>a</a:t>
            </a:r>
            <a:r>
              <a:rPr lang="en-US" dirty="0"/>
              <a:t> and continues with an edge incident with </a:t>
            </a:r>
            <a:r>
              <a:rPr lang="en-US" i="1" dirty="0"/>
              <a:t>a</a:t>
            </a:r>
            <a:r>
              <a:rPr lang="en-US" dirty="0"/>
              <a:t>, say {</a:t>
            </a:r>
            <a:r>
              <a:rPr lang="en-US" i="1" dirty="0"/>
              <a:t>a</a:t>
            </a:r>
            <a:r>
              <a:rPr lang="en-US" dirty="0"/>
              <a:t>, </a:t>
            </a:r>
            <a:r>
              <a:rPr lang="en-US" i="1" dirty="0"/>
              <a:t>b</a:t>
            </a:r>
            <a:r>
              <a:rPr lang="en-US" dirty="0"/>
              <a:t>}. The edge {</a:t>
            </a:r>
            <a:r>
              <a:rPr lang="en-US" i="1" dirty="0"/>
              <a:t>a</a:t>
            </a:r>
            <a:r>
              <a:rPr lang="en-US" dirty="0"/>
              <a:t>, </a:t>
            </a:r>
            <a:r>
              <a:rPr lang="en-US" i="1" dirty="0"/>
              <a:t>b</a:t>
            </a:r>
            <a:r>
              <a:rPr lang="en-US" dirty="0"/>
              <a:t>} contributes one to </a:t>
            </a:r>
            <a:r>
              <a:rPr lang="en-US" dirty="0" err="1"/>
              <a:t>deg</a:t>
            </a:r>
            <a:r>
              <a:rPr lang="en-US" dirty="0"/>
              <a:t>(</a:t>
            </a:r>
            <a:r>
              <a:rPr lang="en-US" i="1" dirty="0"/>
              <a:t>a</a:t>
            </a:r>
            <a:r>
              <a:rPr lang="en-US" dirty="0"/>
              <a:t>). </a:t>
            </a:r>
          </a:p>
          <a:p>
            <a:r>
              <a:rPr lang="en-US" dirty="0"/>
              <a:t>Each time the circuit passes through a vertex it contributes two to the vertex’s degree. </a:t>
            </a:r>
          </a:p>
          <a:p>
            <a:r>
              <a:rPr lang="en-US" dirty="0"/>
              <a:t>Finally, the circuit terminates where it started, contributing one to </a:t>
            </a:r>
            <a:r>
              <a:rPr lang="en-US" dirty="0" err="1"/>
              <a:t>deg</a:t>
            </a:r>
            <a:r>
              <a:rPr lang="en-US" dirty="0"/>
              <a:t>(</a:t>
            </a:r>
            <a:r>
              <a:rPr lang="en-US" i="1" dirty="0"/>
              <a:t>a</a:t>
            </a:r>
            <a:r>
              <a:rPr lang="en-US" dirty="0"/>
              <a:t>). Therefore </a:t>
            </a:r>
            <a:r>
              <a:rPr lang="en-US" dirty="0" err="1"/>
              <a:t>deg</a:t>
            </a:r>
            <a:r>
              <a:rPr lang="en-US" dirty="0"/>
              <a:t>(</a:t>
            </a:r>
            <a:r>
              <a:rPr lang="en-US" i="1" dirty="0"/>
              <a:t>a</a:t>
            </a:r>
            <a:r>
              <a:rPr lang="en-US" dirty="0"/>
              <a:t>) must be even.</a:t>
            </a:r>
          </a:p>
          <a:p>
            <a:r>
              <a:rPr lang="en-US" dirty="0"/>
              <a:t>We conclude that the degree of every other vertex must also be even.</a:t>
            </a:r>
          </a:p>
          <a:p>
            <a:r>
              <a:rPr lang="en-US" dirty="0"/>
              <a:t>By the same reasoning, we see that the initial vertex and the final vertex of an Euler path have odd degree, while every other vertex has even degree.  So, a graph with an Euler path has exactly two vertices of odd degree.</a:t>
            </a:r>
          </a:p>
          <a:p>
            <a:r>
              <a:rPr lang="en-US" dirty="0"/>
              <a:t>In the next slide we will show that these necessary conditions are also sufficient conditions.</a:t>
            </a:r>
          </a:p>
        </p:txBody>
      </p:sp>
    </p:spTree>
    <p:extLst>
      <p:ext uri="{BB962C8B-B14F-4D97-AF65-F5344CB8AC3E}">
        <p14:creationId xmlns:p14="http://schemas.microsoft.com/office/powerpoint/2010/main" val="243559925"/>
      </p:ext>
    </p:extLst>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Sufficient Conditions for Euler Circuits and Paths</a:t>
            </a:r>
          </a:p>
        </p:txBody>
      </p:sp>
      <p:sp>
        <p:nvSpPr>
          <p:cNvPr id="6" name="Content Placeholder 5"/>
          <p:cNvSpPr>
            <a:spLocks noGrp="1"/>
          </p:cNvSpPr>
          <p:nvPr>
            <p:ph idx="1"/>
          </p:nvPr>
        </p:nvSpPr>
        <p:spPr>
          <a:xfrm>
            <a:off x="533400" y="2067628"/>
            <a:ext cx="8229600" cy="4389120"/>
          </a:xfrm>
        </p:spPr>
        <p:txBody>
          <a:bodyPr>
            <a:normAutofit fontScale="62500" lnSpcReduction="20000"/>
          </a:bodyPr>
          <a:lstStyle/>
          <a:p>
            <a:pPr indent="0">
              <a:buNone/>
            </a:pPr>
            <a:r>
              <a:rPr lang="en-US" dirty="0"/>
              <a:t>Suppose that </a:t>
            </a:r>
            <a:r>
              <a:rPr lang="en-US" i="1" dirty="0"/>
              <a:t>G</a:t>
            </a:r>
            <a:r>
              <a:rPr lang="en-US" dirty="0"/>
              <a:t> is a connected </a:t>
            </a:r>
            <a:r>
              <a:rPr lang="en-US" dirty="0" err="1"/>
              <a:t>multigraph</a:t>
            </a:r>
            <a:r>
              <a:rPr lang="en-US" dirty="0"/>
              <a:t> with ≥ </a:t>
            </a:r>
            <a:r>
              <a:rPr lang="en-US" dirty="0">
                <a:latin typeface="Cambria Math" pitchFamily="18" charset="0"/>
                <a:ea typeface="Cambria Math" pitchFamily="18" charset="0"/>
              </a:rPr>
              <a:t>2</a:t>
            </a:r>
            <a:r>
              <a:rPr lang="en-US" dirty="0"/>
              <a:t> vertices, all of even degree.  Let </a:t>
            </a:r>
            <a:r>
              <a:rPr lang="en-US" i="1" dirty="0"/>
              <a:t>x</a:t>
            </a:r>
            <a:r>
              <a:rPr lang="en-US" baseline="-25000" dirty="0">
                <a:latin typeface="Cambria Math" pitchFamily="18" charset="0"/>
                <a:ea typeface="Cambria Math" pitchFamily="18" charset="0"/>
              </a:rPr>
              <a:t>0</a:t>
            </a:r>
            <a:r>
              <a:rPr lang="en-US" dirty="0"/>
              <a:t> = </a:t>
            </a:r>
            <a:r>
              <a:rPr lang="en-US" i="1" dirty="0"/>
              <a:t>a</a:t>
            </a:r>
            <a:r>
              <a:rPr lang="en-US" dirty="0"/>
              <a:t> be a vertex of even degree. Choose an edge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incident with </a:t>
            </a:r>
            <a:r>
              <a:rPr lang="en-US" i="1" dirty="0">
                <a:ea typeface="Cambria Math" pitchFamily="18" charset="0"/>
              </a:rPr>
              <a:t>a</a:t>
            </a:r>
            <a:r>
              <a:rPr lang="en-US" dirty="0">
                <a:latin typeface="Cambria Math" pitchFamily="18" charset="0"/>
                <a:ea typeface="Cambria Math" pitchFamily="18" charset="0"/>
              </a:rPr>
              <a:t> and proceed to build a simple path </a:t>
            </a:r>
            <a:r>
              <a:rPr lang="en-US" dirty="0"/>
              <a:t>{</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dirty="0"/>
              <a:t> {</a:t>
            </a:r>
            <a:r>
              <a:rPr lang="en-US" i="1" dirty="0"/>
              <a:t>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2</a:t>
            </a:r>
            <a:r>
              <a:rPr lang="en-US" dirty="0">
                <a:latin typeface="Cambria Math" pitchFamily="18" charset="0"/>
                <a:ea typeface="Cambria Math" pitchFamily="18" charset="0"/>
              </a:rPr>
              <a:t>}, …, </a:t>
            </a:r>
            <a:r>
              <a:rPr lang="en-US" dirty="0"/>
              <a:t>{</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a:latin typeface="Cambria Math" pitchFamily="18" charset="0"/>
                <a:ea typeface="Cambria Math" pitchFamily="18" charset="0"/>
              </a:rPr>
              <a:t>} by adding edges one by one  until another edge can not be added. </a:t>
            </a:r>
          </a:p>
          <a:p>
            <a:pPr indent="0">
              <a:buNone/>
            </a:pPr>
            <a:r>
              <a:rPr lang="en-US" dirty="0">
                <a:latin typeface="Cambria Math" pitchFamily="18" charset="0"/>
                <a:ea typeface="Cambria Math" pitchFamily="18" charset="0"/>
              </a:rPr>
              <a:t>                                                                                    </a:t>
            </a:r>
          </a:p>
          <a:p>
            <a:pPr indent="0">
              <a:buNone/>
            </a:pPr>
            <a:endParaRPr lang="en-US" dirty="0">
              <a:latin typeface="Cambria Math" pitchFamily="18" charset="0"/>
              <a:ea typeface="Cambria Math" pitchFamily="18" charset="0"/>
            </a:endParaRPr>
          </a:p>
          <a:p>
            <a:pPr indent="0">
              <a:buNone/>
            </a:pPr>
            <a:endParaRPr lang="en-US" dirty="0">
              <a:latin typeface="Cambria Math" pitchFamily="18" charset="0"/>
              <a:ea typeface="Cambria Math" pitchFamily="18" charset="0"/>
            </a:endParaRPr>
          </a:p>
          <a:p>
            <a:pPr indent="0">
              <a:buNone/>
            </a:pPr>
            <a:endParaRPr lang="en-US" dirty="0">
              <a:latin typeface="Cambria Math" pitchFamily="18" charset="0"/>
              <a:ea typeface="Cambria Math" pitchFamily="18" charset="0"/>
            </a:endParaRPr>
          </a:p>
          <a:p>
            <a:pPr marL="0" indent="0">
              <a:buNone/>
            </a:pPr>
            <a:endParaRPr lang="en-US" dirty="0">
              <a:latin typeface="Cambria Math" pitchFamily="18" charset="0"/>
              <a:ea typeface="Cambria Math" pitchFamily="18" charset="0"/>
            </a:endParaRPr>
          </a:p>
          <a:p>
            <a:pPr marL="0" indent="0">
              <a:buNone/>
            </a:pPr>
            <a:endParaRPr lang="en-US" dirty="0">
              <a:latin typeface="Cambria Math" pitchFamily="18" charset="0"/>
              <a:ea typeface="Cambria Math" pitchFamily="18" charset="0"/>
            </a:endParaRPr>
          </a:p>
          <a:p>
            <a:r>
              <a:rPr lang="en-US" dirty="0">
                <a:latin typeface="Cambria Math" pitchFamily="18" charset="0"/>
                <a:ea typeface="Cambria Math" pitchFamily="18" charset="0"/>
              </a:rPr>
              <a:t>The path begins at </a:t>
            </a:r>
            <a:r>
              <a:rPr lang="en-US" i="1" dirty="0">
                <a:ea typeface="Cambria Math" pitchFamily="18" charset="0"/>
              </a:rPr>
              <a:t>a</a:t>
            </a:r>
            <a:r>
              <a:rPr lang="en-US" dirty="0">
                <a:latin typeface="Cambria Math" pitchFamily="18" charset="0"/>
                <a:ea typeface="Cambria Math" pitchFamily="18" charset="0"/>
              </a:rPr>
              <a:t> with an edge of the form {</a:t>
            </a:r>
            <a:r>
              <a:rPr lang="en-US" i="1" dirty="0">
                <a:ea typeface="Cambria Math" pitchFamily="18" charset="0"/>
              </a:rPr>
              <a:t>a</a:t>
            </a:r>
            <a:r>
              <a:rPr lang="en-US" dirty="0">
                <a:latin typeface="Cambria Math" pitchFamily="18" charset="0"/>
                <a:ea typeface="Cambria Math" pitchFamily="18" charset="0"/>
              </a:rPr>
              <a:t>, </a:t>
            </a:r>
            <a:r>
              <a:rPr lang="en-US" i="1" dirty="0">
                <a:ea typeface="Cambria Math" pitchFamily="18" charset="0"/>
              </a:rPr>
              <a:t>x</a:t>
            </a:r>
            <a:r>
              <a:rPr lang="en-US" dirty="0">
                <a:latin typeface="Cambria Math" pitchFamily="18" charset="0"/>
                <a:ea typeface="Cambria Math" pitchFamily="18" charset="0"/>
              </a:rPr>
              <a:t>}; we show that it must terminate at </a:t>
            </a:r>
            <a:r>
              <a:rPr lang="en-US" i="1" dirty="0">
                <a:ea typeface="Cambria Math" pitchFamily="18" charset="0"/>
              </a:rPr>
              <a:t>a</a:t>
            </a:r>
            <a:r>
              <a:rPr lang="en-US" dirty="0">
                <a:latin typeface="Cambria Math" pitchFamily="18" charset="0"/>
                <a:ea typeface="Cambria Math" pitchFamily="18" charset="0"/>
              </a:rPr>
              <a:t> with an edge of the form    {</a:t>
            </a:r>
            <a:r>
              <a:rPr lang="en-US" i="1" dirty="0">
                <a:ea typeface="Cambria Math" pitchFamily="18" charset="0"/>
              </a:rPr>
              <a:t>y</a:t>
            </a:r>
            <a:r>
              <a:rPr lang="en-US" dirty="0">
                <a:latin typeface="Cambria Math" pitchFamily="18" charset="0"/>
                <a:ea typeface="Cambria Math" pitchFamily="18" charset="0"/>
              </a:rPr>
              <a:t>, </a:t>
            </a:r>
            <a:r>
              <a:rPr lang="en-US" i="1" dirty="0">
                <a:ea typeface="Cambria Math" pitchFamily="18" charset="0"/>
              </a:rPr>
              <a:t>a</a:t>
            </a:r>
            <a:r>
              <a:rPr lang="en-US" dirty="0">
                <a:latin typeface="Cambria Math" pitchFamily="18" charset="0"/>
                <a:ea typeface="Cambria Math" pitchFamily="18" charset="0"/>
              </a:rPr>
              <a:t>}.  Since each vertex has an even degree, there must be an even number of edges incident with this vertex. Hence, every time we enter a vertex other than </a:t>
            </a:r>
            <a:r>
              <a:rPr lang="en-US" i="1" dirty="0">
                <a:ea typeface="Cambria Math" pitchFamily="18" charset="0"/>
              </a:rPr>
              <a:t>a</a:t>
            </a:r>
            <a:r>
              <a:rPr lang="en-US" dirty="0">
                <a:latin typeface="Cambria Math" pitchFamily="18" charset="0"/>
                <a:ea typeface="Cambria Math" pitchFamily="18" charset="0"/>
              </a:rPr>
              <a:t>, we can leave it. Therefore, the path can only end at </a:t>
            </a:r>
            <a:r>
              <a:rPr lang="en-US" i="1" dirty="0">
                <a:ea typeface="Cambria Math" pitchFamily="18" charset="0"/>
              </a:rPr>
              <a:t>a</a:t>
            </a:r>
            <a:r>
              <a:rPr lang="en-US" dirty="0">
                <a:latin typeface="Cambria Math" pitchFamily="18" charset="0"/>
                <a:ea typeface="Cambria Math" pitchFamily="18" charset="0"/>
              </a:rPr>
              <a:t>.</a:t>
            </a:r>
          </a:p>
          <a:p>
            <a:r>
              <a:rPr lang="en-US" dirty="0">
                <a:ea typeface="Cambria Math" pitchFamily="18" charset="0"/>
              </a:rPr>
              <a:t>If all of the edges have been used, an Euler circuit has been constructed. Otherwise, consider the </a:t>
            </a:r>
            <a:r>
              <a:rPr lang="en-US" dirty="0" err="1">
                <a:ea typeface="Cambria Math" pitchFamily="18" charset="0"/>
              </a:rPr>
              <a:t>subgraph</a:t>
            </a:r>
            <a:r>
              <a:rPr lang="en-US" dirty="0">
                <a:ea typeface="Cambria Math" pitchFamily="18" charset="0"/>
              </a:rPr>
              <a:t> </a:t>
            </a:r>
            <a:r>
              <a:rPr lang="en-US" i="1" dirty="0">
                <a:ea typeface="Cambria Math" pitchFamily="18" charset="0"/>
              </a:rPr>
              <a:t>H</a:t>
            </a:r>
            <a:r>
              <a:rPr lang="en-US" dirty="0">
                <a:ea typeface="Cambria Math" pitchFamily="18" charset="0"/>
              </a:rPr>
              <a:t> obtained from </a:t>
            </a:r>
            <a:r>
              <a:rPr lang="en-US" i="1" dirty="0">
                <a:ea typeface="Cambria Math" pitchFamily="18" charset="0"/>
              </a:rPr>
              <a:t>G</a:t>
            </a:r>
            <a:r>
              <a:rPr lang="en-US" dirty="0">
                <a:ea typeface="Cambria Math" pitchFamily="18" charset="0"/>
              </a:rPr>
              <a:t> by deleting the edges already used. </a:t>
            </a:r>
          </a:p>
          <a:p>
            <a:pPr marL="0" indent="0">
              <a:buNone/>
            </a:pPr>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a:p>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400" y="2891175"/>
            <a:ext cx="2286000" cy="1371013"/>
          </a:xfrm>
          <a:prstGeom prst="rect">
            <a:avLst/>
          </a:prstGeom>
        </p:spPr>
      </p:pic>
      <p:sp>
        <p:nvSpPr>
          <p:cNvPr id="3" name="TextBox 2"/>
          <p:cNvSpPr txBox="1"/>
          <p:nvPr/>
        </p:nvSpPr>
        <p:spPr>
          <a:xfrm>
            <a:off x="871330" y="3161182"/>
            <a:ext cx="4038600" cy="830997"/>
          </a:xfrm>
          <a:prstGeom prst="rect">
            <a:avLst/>
          </a:prstGeom>
          <a:noFill/>
          <a:ln>
            <a:solidFill>
              <a:schemeClr val="tx2"/>
            </a:solidFill>
          </a:ln>
        </p:spPr>
        <p:txBody>
          <a:bodyPr wrap="square" rtlCol="0">
            <a:spAutoFit/>
          </a:bodyPr>
          <a:lstStyle/>
          <a:p>
            <a:pPr indent="0">
              <a:buNone/>
            </a:pPr>
            <a:r>
              <a:rPr lang="en-US" sz="1600" dirty="0">
                <a:latin typeface="Cambria Math" pitchFamily="18" charset="0"/>
                <a:ea typeface="Cambria Math" pitchFamily="18" charset="0"/>
              </a:rPr>
              <a:t>We illustrate this idea in the graph  G here. We begin at </a:t>
            </a:r>
            <a:r>
              <a:rPr lang="en-US" sz="1600" i="1" dirty="0">
                <a:ea typeface="Cambria Math" pitchFamily="18" charset="0"/>
              </a:rPr>
              <a:t>a</a:t>
            </a:r>
            <a:r>
              <a:rPr lang="en-US" sz="1600" dirty="0">
                <a:latin typeface="Cambria Math" pitchFamily="18" charset="0"/>
                <a:ea typeface="Cambria Math" pitchFamily="18" charset="0"/>
              </a:rPr>
              <a:t> and choose the edges                     {</a:t>
            </a:r>
            <a:r>
              <a:rPr lang="en-US" sz="1600" i="1" dirty="0">
                <a:ea typeface="Cambria Math" pitchFamily="18" charset="0"/>
              </a:rPr>
              <a:t>a</a:t>
            </a:r>
            <a:r>
              <a:rPr lang="en-US" sz="1600" dirty="0">
                <a:latin typeface="Cambria Math" pitchFamily="18" charset="0"/>
                <a:ea typeface="Cambria Math" pitchFamily="18" charset="0"/>
              </a:rPr>
              <a:t>, </a:t>
            </a:r>
            <a:r>
              <a:rPr lang="en-US" sz="1600" i="1" dirty="0">
                <a:ea typeface="Cambria Math" pitchFamily="18" charset="0"/>
              </a:rPr>
              <a:t>f</a:t>
            </a:r>
            <a:r>
              <a:rPr lang="en-US" sz="1600" dirty="0">
                <a:latin typeface="Cambria Math" pitchFamily="18" charset="0"/>
                <a:ea typeface="Cambria Math" pitchFamily="18" charset="0"/>
              </a:rPr>
              <a:t>}, {</a:t>
            </a:r>
            <a:r>
              <a:rPr lang="en-US" sz="1600" i="1" dirty="0">
                <a:ea typeface="Cambria Math" pitchFamily="18" charset="0"/>
              </a:rPr>
              <a:t>f,</a:t>
            </a:r>
            <a:r>
              <a:rPr lang="en-US" sz="1600" dirty="0">
                <a:latin typeface="Cambria Math" pitchFamily="18" charset="0"/>
                <a:ea typeface="Cambria Math" pitchFamily="18" charset="0"/>
              </a:rPr>
              <a:t> </a:t>
            </a:r>
            <a:r>
              <a:rPr lang="en-US" sz="1600" i="1" dirty="0">
                <a:ea typeface="Cambria Math" pitchFamily="18" charset="0"/>
              </a:rPr>
              <a:t>c</a:t>
            </a:r>
            <a:r>
              <a:rPr lang="en-US" sz="1600" dirty="0">
                <a:latin typeface="Cambria Math" pitchFamily="18" charset="0"/>
                <a:ea typeface="Cambria Math" pitchFamily="18" charset="0"/>
              </a:rPr>
              <a:t>}, {</a:t>
            </a:r>
            <a:r>
              <a:rPr lang="en-US" sz="1600" i="1" dirty="0">
                <a:ea typeface="Cambria Math" pitchFamily="18" charset="0"/>
              </a:rPr>
              <a:t>c</a:t>
            </a:r>
            <a:r>
              <a:rPr lang="en-US" sz="1600" dirty="0">
                <a:latin typeface="Cambria Math" pitchFamily="18" charset="0"/>
                <a:ea typeface="Cambria Math" pitchFamily="18" charset="0"/>
              </a:rPr>
              <a:t>, </a:t>
            </a:r>
            <a:r>
              <a:rPr lang="en-US" sz="1600" i="1" dirty="0">
                <a:ea typeface="Cambria Math" pitchFamily="18" charset="0"/>
              </a:rPr>
              <a:t>b</a:t>
            </a:r>
            <a:r>
              <a:rPr lang="en-US" sz="1600" dirty="0">
                <a:latin typeface="Cambria Math" pitchFamily="18" charset="0"/>
                <a:ea typeface="Cambria Math" pitchFamily="18" charset="0"/>
              </a:rPr>
              <a:t>}, and {</a:t>
            </a:r>
            <a:r>
              <a:rPr lang="en-US" sz="1600" i="1" dirty="0">
                <a:ea typeface="Cambria Math" pitchFamily="18" charset="0"/>
              </a:rPr>
              <a:t>b</a:t>
            </a:r>
            <a:r>
              <a:rPr lang="en-US" sz="1600" dirty="0">
                <a:latin typeface="Cambria Math" pitchFamily="18" charset="0"/>
                <a:ea typeface="Cambria Math" pitchFamily="18" charset="0"/>
              </a:rPr>
              <a:t>, </a:t>
            </a:r>
            <a:r>
              <a:rPr lang="en-US" sz="1600" i="1" dirty="0">
                <a:ea typeface="Cambria Math" pitchFamily="18" charset="0"/>
              </a:rPr>
              <a:t>a</a:t>
            </a:r>
            <a:r>
              <a:rPr lang="en-US" sz="1600" dirty="0">
                <a:latin typeface="Cambria Math" pitchFamily="18" charset="0"/>
                <a:ea typeface="Cambria Math" pitchFamily="18" charset="0"/>
              </a:rPr>
              <a:t>} in succession.</a:t>
            </a:r>
          </a:p>
        </p:txBody>
      </p:sp>
      <p:sp>
        <p:nvSpPr>
          <p:cNvPr id="5" name="TextBox 4"/>
          <p:cNvSpPr txBox="1"/>
          <p:nvPr/>
        </p:nvSpPr>
        <p:spPr>
          <a:xfrm>
            <a:off x="990600" y="5867400"/>
            <a:ext cx="3200400" cy="584775"/>
          </a:xfrm>
          <a:prstGeom prst="rect">
            <a:avLst/>
          </a:prstGeom>
          <a:noFill/>
          <a:ln>
            <a:solidFill>
              <a:schemeClr val="tx2"/>
            </a:solidFill>
          </a:ln>
        </p:spPr>
        <p:txBody>
          <a:bodyPr wrap="square" rtlCol="0">
            <a:spAutoFit/>
          </a:bodyPr>
          <a:lstStyle/>
          <a:p>
            <a:r>
              <a:rPr lang="en-US" sz="1600" dirty="0">
                <a:ea typeface="Cambria Math" pitchFamily="18" charset="0"/>
              </a:rPr>
              <a:t>In the example </a:t>
            </a:r>
            <a:r>
              <a:rPr lang="en-US" sz="1600" i="1" dirty="0">
                <a:ea typeface="Cambria Math" pitchFamily="18" charset="0"/>
              </a:rPr>
              <a:t>H</a:t>
            </a:r>
            <a:r>
              <a:rPr lang="en-US" sz="1600" dirty="0">
                <a:ea typeface="Cambria Math" pitchFamily="18" charset="0"/>
              </a:rPr>
              <a:t> consists of the vertices  </a:t>
            </a:r>
            <a:r>
              <a:rPr lang="en-US" sz="1600" i="1" dirty="0">
                <a:ea typeface="Cambria Math" pitchFamily="18" charset="0"/>
              </a:rPr>
              <a:t>c</a:t>
            </a:r>
            <a:r>
              <a:rPr lang="en-US" sz="1600" dirty="0">
                <a:ea typeface="Cambria Math" pitchFamily="18" charset="0"/>
              </a:rPr>
              <a:t>, </a:t>
            </a:r>
            <a:r>
              <a:rPr lang="en-US" sz="1600" i="1" dirty="0">
                <a:ea typeface="Cambria Math" pitchFamily="18" charset="0"/>
              </a:rPr>
              <a:t>d</a:t>
            </a:r>
            <a:r>
              <a:rPr lang="en-US" sz="1600" dirty="0">
                <a:ea typeface="Cambria Math" pitchFamily="18" charset="0"/>
              </a:rPr>
              <a:t>, </a:t>
            </a:r>
            <a:r>
              <a:rPr lang="en-US" sz="1600" i="1" dirty="0">
                <a:ea typeface="Cambria Math" pitchFamily="18" charset="0"/>
              </a:rPr>
              <a:t>e</a:t>
            </a:r>
            <a:r>
              <a:rPr lang="en-US" sz="1600" dirty="0">
                <a:ea typeface="Cambria Math" pitchFamily="18" charset="0"/>
              </a:rPr>
              <a:t>. </a:t>
            </a:r>
          </a:p>
        </p:txBody>
      </p:sp>
    </p:spTree>
    <p:extLst>
      <p:ext uri="{BB962C8B-B14F-4D97-AF65-F5344CB8AC3E}">
        <p14:creationId xmlns:p14="http://schemas.microsoft.com/office/powerpoint/2010/main" val="1750943905"/>
      </p:ext>
    </p:extLst>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Sufficient Conditions for Euler Circuits and Paths (</a:t>
            </a:r>
            <a:r>
              <a:rPr lang="en-US" sz="4000" i="1" dirty="0"/>
              <a:t>continued</a:t>
            </a:r>
            <a:r>
              <a:rPr lang="en-US" sz="4000" dirty="0"/>
              <a:t>)</a:t>
            </a:r>
          </a:p>
        </p:txBody>
      </p:sp>
      <p:sp>
        <p:nvSpPr>
          <p:cNvPr id="6" name="Content Placeholder 5"/>
          <p:cNvSpPr>
            <a:spLocks noGrp="1"/>
          </p:cNvSpPr>
          <p:nvPr>
            <p:ph idx="1"/>
          </p:nvPr>
        </p:nvSpPr>
        <p:spPr>
          <a:xfrm>
            <a:off x="533400" y="1981200"/>
            <a:ext cx="8229600" cy="4389120"/>
          </a:xfrm>
        </p:spPr>
        <p:txBody>
          <a:bodyPr>
            <a:normAutofit fontScale="62500" lnSpcReduction="20000"/>
          </a:bodyPr>
          <a:lstStyle/>
          <a:p>
            <a:pPr marL="0" indent="0">
              <a:buNone/>
            </a:pPr>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a:p>
            <a:r>
              <a:rPr lang="en-US" dirty="0">
                <a:ea typeface="Cambria Math" pitchFamily="18" charset="0"/>
              </a:rPr>
              <a:t>Because G is connected, H must have at least one vertex in common with the circuit that has been deleted. </a:t>
            </a:r>
          </a:p>
          <a:p>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a:p>
            <a:r>
              <a:rPr lang="en-US" dirty="0">
                <a:ea typeface="Cambria Math" pitchFamily="18" charset="0"/>
              </a:rPr>
              <a:t> Every vertex in H must have even degree because all the vertices in </a:t>
            </a:r>
            <a:r>
              <a:rPr lang="en-US" i="1" dirty="0">
                <a:ea typeface="Cambria Math" pitchFamily="18" charset="0"/>
              </a:rPr>
              <a:t>G</a:t>
            </a:r>
            <a:r>
              <a:rPr lang="en-US" dirty="0">
                <a:ea typeface="Cambria Math" pitchFamily="18" charset="0"/>
              </a:rPr>
              <a:t> have even degree and for each vertex, pairs of edges incident with this vertex have been deleted. Beginning with the shared vertex construct a path  ending in the same vertex (as was done before). Then splice this new circuit into the original circuit.</a:t>
            </a:r>
          </a:p>
          <a:p>
            <a:endParaRPr lang="en-US" dirty="0">
              <a:ea typeface="Cambria Math" pitchFamily="18" charset="0"/>
            </a:endParaRPr>
          </a:p>
          <a:p>
            <a:pPr marL="0" indent="0">
              <a:buNone/>
            </a:pPr>
            <a:endParaRPr lang="en-US" dirty="0">
              <a:ea typeface="Cambria Math" pitchFamily="18" charset="0"/>
            </a:endParaRPr>
          </a:p>
          <a:p>
            <a:pPr marL="0" indent="0">
              <a:buNone/>
            </a:pPr>
            <a:endParaRPr lang="en-US" dirty="0">
              <a:ea typeface="Cambria Math" pitchFamily="18" charset="0"/>
            </a:endParaRPr>
          </a:p>
          <a:p>
            <a:r>
              <a:rPr lang="en-US" dirty="0">
                <a:ea typeface="Cambria Math" pitchFamily="18" charset="0"/>
              </a:rPr>
              <a:t>Continue this process until all edges have been used. This produces an Euler circuit. Since every edge is included and no edge is included more than once.</a:t>
            </a:r>
          </a:p>
          <a:p>
            <a:r>
              <a:rPr lang="en-US" dirty="0"/>
              <a:t>Similar reasoning can be used to show that a graph with exactly two vertices of odd degree must have an Euler path connecting these two vertices of odd degree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791200" y="1295400"/>
            <a:ext cx="2286000" cy="1371013"/>
          </a:xfrm>
          <a:prstGeom prst="rect">
            <a:avLst/>
          </a:prstGeom>
        </p:spPr>
      </p:pic>
      <p:sp>
        <p:nvSpPr>
          <p:cNvPr id="7" name="TextBox 6"/>
          <p:cNvSpPr txBox="1"/>
          <p:nvPr/>
        </p:nvSpPr>
        <p:spPr>
          <a:xfrm>
            <a:off x="914400" y="3429000"/>
            <a:ext cx="3498575" cy="338554"/>
          </a:xfrm>
          <a:prstGeom prst="rect">
            <a:avLst/>
          </a:prstGeom>
          <a:noFill/>
          <a:ln>
            <a:solidFill>
              <a:schemeClr val="tx2"/>
            </a:solidFill>
          </a:ln>
        </p:spPr>
        <p:txBody>
          <a:bodyPr wrap="square" rtlCol="0">
            <a:spAutoFit/>
          </a:bodyPr>
          <a:lstStyle/>
          <a:p>
            <a:r>
              <a:rPr lang="en-US" sz="1600" dirty="0">
                <a:ea typeface="Cambria Math" pitchFamily="18" charset="0"/>
              </a:rPr>
              <a:t>In the example, the vertex is </a:t>
            </a:r>
            <a:r>
              <a:rPr lang="en-US" sz="1600" i="1" dirty="0">
                <a:ea typeface="Cambria Math" pitchFamily="18" charset="0"/>
              </a:rPr>
              <a:t>c</a:t>
            </a:r>
            <a:r>
              <a:rPr lang="en-US" sz="1050" i="1" dirty="0">
                <a:ea typeface="Cambria Math" pitchFamily="18" charset="0"/>
              </a:rPr>
              <a:t>.</a:t>
            </a:r>
            <a:endParaRPr lang="en-US" sz="1050" dirty="0"/>
          </a:p>
        </p:txBody>
      </p:sp>
      <p:sp>
        <p:nvSpPr>
          <p:cNvPr id="8" name="TextBox 7"/>
          <p:cNvSpPr txBox="1"/>
          <p:nvPr/>
        </p:nvSpPr>
        <p:spPr>
          <a:xfrm>
            <a:off x="914400" y="4800600"/>
            <a:ext cx="4533900" cy="584775"/>
          </a:xfrm>
          <a:prstGeom prst="rect">
            <a:avLst/>
          </a:prstGeom>
          <a:noFill/>
          <a:ln>
            <a:solidFill>
              <a:schemeClr val="tx2"/>
            </a:solidFill>
          </a:ln>
        </p:spPr>
        <p:txBody>
          <a:bodyPr wrap="square" rtlCol="0">
            <a:spAutoFit/>
          </a:bodyPr>
          <a:lstStyle/>
          <a:p>
            <a:r>
              <a:rPr lang="en-US" sz="1600" dirty="0">
                <a:ea typeface="Cambria Math" pitchFamily="18" charset="0"/>
              </a:rPr>
              <a:t>In the example, we end up with the circuit    </a:t>
            </a:r>
            <a:r>
              <a:rPr lang="en-US" sz="1600" i="1" dirty="0">
                <a:ea typeface="Cambria Math" pitchFamily="18" charset="0"/>
              </a:rPr>
              <a:t>a, f, c, d, e, c, b, a</a:t>
            </a:r>
            <a:r>
              <a:rPr lang="en-US" sz="1600" dirty="0">
                <a:ea typeface="Cambria Math" pitchFamily="18" charset="0"/>
              </a:rPr>
              <a:t>.  </a:t>
            </a:r>
          </a:p>
        </p:txBody>
      </p:sp>
    </p:spTree>
    <p:extLst>
      <p:ext uri="{BB962C8B-B14F-4D97-AF65-F5344CB8AC3E}">
        <p14:creationId xmlns:p14="http://schemas.microsoft.com/office/powerpoint/2010/main" val="591940029"/>
      </p:ext>
    </p:extLst>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t>Necessary and Sufficient Conditions for Euler Circuits and Paths (</a:t>
            </a:r>
            <a:r>
              <a:rPr lang="en-US" sz="4000" i="1" dirty="0"/>
              <a:t>continued</a:t>
            </a:r>
            <a:r>
              <a:rPr lang="en-US" sz="4000" dirty="0"/>
              <a:t>)</a:t>
            </a:r>
          </a:p>
        </p:txBody>
      </p:sp>
      <p:sp>
        <p:nvSpPr>
          <p:cNvPr id="3" name="Content Placeholder 2"/>
          <p:cNvSpPr>
            <a:spLocks noGrp="1"/>
          </p:cNvSpPr>
          <p:nvPr>
            <p:ph idx="1"/>
          </p:nvPr>
        </p:nvSpPr>
        <p:spPr/>
        <p:txBody>
          <a:bodyPr>
            <a:normAutofit fontScale="92500" lnSpcReduction="10000"/>
          </a:bodyPr>
          <a:lstStyle/>
          <a:p>
            <a:pPr marL="0" indent="0">
              <a:buNone/>
            </a:pPr>
            <a:r>
              <a:rPr lang="en-US" b="1" dirty="0"/>
              <a:t>Theorem</a:t>
            </a:r>
            <a:r>
              <a:rPr lang="en-US" dirty="0"/>
              <a:t>: A connected </a:t>
            </a:r>
            <a:r>
              <a:rPr lang="en-US" dirty="0" err="1"/>
              <a:t>multigraph</a:t>
            </a:r>
            <a:r>
              <a:rPr lang="en-US" dirty="0"/>
              <a:t> with at least two vertices has an Euler circuit if and only if each of its vertices has an even degree and it has an Euler path if and only if it has exactly two vertices of odd degree.</a:t>
            </a:r>
          </a:p>
          <a:p>
            <a:pPr marL="0" indent="0">
              <a:buNone/>
            </a:pPr>
            <a:endParaRPr lang="en-US" dirty="0"/>
          </a:p>
          <a:p>
            <a:pPr marL="0" indent="0">
              <a:buNone/>
            </a:pPr>
            <a:r>
              <a:rPr lang="en-US" b="1" dirty="0"/>
              <a:t>Example</a:t>
            </a:r>
            <a:r>
              <a:rPr lang="en-US" dirty="0"/>
              <a:t>: Two of the vertices in the </a:t>
            </a:r>
            <a:r>
              <a:rPr lang="en-US" dirty="0" err="1"/>
              <a:t>multigraph</a:t>
            </a:r>
            <a:r>
              <a:rPr lang="en-US" dirty="0"/>
              <a:t> model of the  K</a:t>
            </a:r>
            <a:r>
              <a:rPr lang="az-Cyrl-AZ" dirty="0">
                <a:latin typeface="Cambria Math"/>
                <a:ea typeface="Cambria Math"/>
              </a:rPr>
              <a:t>ӧ</a:t>
            </a:r>
            <a:r>
              <a:rPr lang="en-US" dirty="0" err="1"/>
              <a:t>nigsberg</a:t>
            </a:r>
            <a:r>
              <a:rPr lang="en-US" dirty="0"/>
              <a:t> bridge problem have odd degree.   Hence, there is no Euler circuit in this </a:t>
            </a:r>
            <a:r>
              <a:rPr lang="en-US" dirty="0" err="1"/>
              <a:t>multigraph</a:t>
            </a:r>
            <a:r>
              <a:rPr lang="en-US" dirty="0"/>
              <a:t> and  it is impossible to start at a given point, cross each bridge exactly once, and return to the starting point. </a:t>
            </a:r>
          </a:p>
          <a:p>
            <a:pPr marL="0" indent="0">
              <a:buNone/>
            </a:pPr>
            <a:endParaRPr lang="en-US" dirty="0"/>
          </a:p>
          <a:p>
            <a:pPr marL="0" indent="0">
              <a:buNone/>
            </a:pPr>
            <a:r>
              <a:rPr lang="en-US" dirty="0"/>
              <a:t> </a:t>
            </a:r>
          </a:p>
          <a:p>
            <a:pPr marL="0" indent="0">
              <a:buNone/>
            </a:pPr>
            <a:endParaRPr lang="en-US" dirty="0"/>
          </a:p>
          <a:p>
            <a:pPr marL="0" indent="0">
              <a:buNone/>
            </a:pP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391400" y="5181600"/>
            <a:ext cx="834390" cy="1433322"/>
          </a:xfrm>
          <a:prstGeom prst="rect">
            <a:avLst/>
          </a:prstGeom>
        </p:spPr>
      </p:pic>
    </p:spTree>
    <p:extLst>
      <p:ext uri="{BB962C8B-B14F-4D97-AF65-F5344CB8AC3E}">
        <p14:creationId xmlns:p14="http://schemas.microsoft.com/office/powerpoint/2010/main" val="1282661429"/>
      </p:ext>
    </p:extLst>
  </p:cSld>
  <p:clrMapOvr>
    <a:masterClrMapping/>
  </p:clrMapOvr>
  <p:transition spd="slow">
    <p:wip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990600"/>
          </a:xfrm>
        </p:spPr>
        <p:txBody>
          <a:bodyPr>
            <a:noAutofit/>
          </a:bodyPr>
          <a:lstStyle/>
          <a:p>
            <a:r>
              <a:rPr lang="en-US" sz="4400" dirty="0"/>
              <a:t>Euler Circuits and Paths </a:t>
            </a:r>
          </a:p>
        </p:txBody>
      </p:sp>
      <p:sp>
        <p:nvSpPr>
          <p:cNvPr id="3" name="Content Placeholder 2"/>
          <p:cNvSpPr>
            <a:spLocks noGrp="1"/>
          </p:cNvSpPr>
          <p:nvPr>
            <p:ph idx="1"/>
          </p:nvPr>
        </p:nvSpPr>
        <p:spPr/>
        <p:txBody>
          <a:bodyPr>
            <a:normAutofit fontScale="77500" lnSpcReduction="20000"/>
          </a:bodyPr>
          <a:lstStyle/>
          <a:p>
            <a:pPr indent="0">
              <a:buNone/>
            </a:pPr>
            <a:endParaRPr lang="en-US" dirty="0"/>
          </a:p>
          <a:p>
            <a:pPr indent="0">
              <a:buNone/>
            </a:pPr>
            <a:r>
              <a:rPr lang="en-US" b="1" dirty="0"/>
              <a:t>Example</a:t>
            </a:r>
            <a:r>
              <a:rPr lang="en-US" dirty="0"/>
              <a:t>:</a:t>
            </a:r>
          </a:p>
          <a:p>
            <a:pPr indent="0">
              <a:buNone/>
            </a:pPr>
            <a:endParaRPr lang="en-US" dirty="0"/>
          </a:p>
          <a:p>
            <a:pPr indent="0">
              <a:buNone/>
            </a:pPr>
            <a:endParaRPr lang="en-US" dirty="0"/>
          </a:p>
          <a:p>
            <a:pPr indent="0">
              <a:buNone/>
            </a:pPr>
            <a:endParaRPr lang="en-US" dirty="0"/>
          </a:p>
          <a:p>
            <a:pPr indent="0">
              <a:buNone/>
            </a:pPr>
            <a:endParaRPr lang="en-US" dirty="0"/>
          </a:p>
          <a:p>
            <a:pPr indent="0">
              <a:buNone/>
            </a:pPr>
            <a:r>
              <a:rPr lang="en-US" i="1" dirty="0"/>
              <a:t>G</a:t>
            </a:r>
            <a:r>
              <a:rPr lang="en-US" baseline="-25000" dirty="0">
                <a:latin typeface="Cambria Math" pitchFamily="18" charset="0"/>
                <a:ea typeface="Cambria Math" pitchFamily="18" charset="0"/>
              </a:rPr>
              <a:t>1</a:t>
            </a:r>
            <a:r>
              <a:rPr lang="en-US" dirty="0"/>
              <a:t> contains exactly two vertices of odd degree (</a:t>
            </a:r>
            <a:r>
              <a:rPr lang="en-US" i="1" dirty="0"/>
              <a:t>b</a:t>
            </a:r>
            <a:r>
              <a:rPr lang="en-US" dirty="0"/>
              <a:t> and </a:t>
            </a:r>
            <a:r>
              <a:rPr lang="en-US" i="1" dirty="0"/>
              <a:t>d</a:t>
            </a:r>
            <a:r>
              <a:rPr lang="en-US" dirty="0"/>
              <a:t>). Hence it has an Euler path, e.g.,  </a:t>
            </a:r>
            <a:r>
              <a:rPr lang="en-US" i="1" dirty="0"/>
              <a:t>d</a:t>
            </a:r>
            <a:r>
              <a:rPr lang="en-US" dirty="0"/>
              <a:t>, </a:t>
            </a:r>
            <a:r>
              <a:rPr lang="en-US" i="1" dirty="0"/>
              <a:t>a</a:t>
            </a:r>
            <a:r>
              <a:rPr lang="en-US" dirty="0"/>
              <a:t>, </a:t>
            </a:r>
            <a:r>
              <a:rPr lang="en-US" i="1" dirty="0"/>
              <a:t>b</a:t>
            </a:r>
            <a:r>
              <a:rPr lang="en-US" dirty="0"/>
              <a:t>, </a:t>
            </a:r>
            <a:r>
              <a:rPr lang="en-US" i="1" dirty="0"/>
              <a:t>c</a:t>
            </a:r>
            <a:r>
              <a:rPr lang="en-US" dirty="0"/>
              <a:t>, </a:t>
            </a:r>
            <a:r>
              <a:rPr lang="en-US" i="1" dirty="0"/>
              <a:t>d</a:t>
            </a:r>
            <a:r>
              <a:rPr lang="en-US" dirty="0"/>
              <a:t>, </a:t>
            </a:r>
            <a:r>
              <a:rPr lang="en-US" i="1" dirty="0"/>
              <a:t>b</a:t>
            </a:r>
            <a:r>
              <a:rPr lang="en-US" dirty="0"/>
              <a:t>.</a:t>
            </a:r>
          </a:p>
          <a:p>
            <a:pPr indent="0">
              <a:buNone/>
            </a:pPr>
            <a:r>
              <a:rPr lang="en-US" dirty="0"/>
              <a:t> </a:t>
            </a:r>
          </a:p>
          <a:p>
            <a:pPr indent="0">
              <a:buNone/>
            </a:pPr>
            <a:r>
              <a:rPr lang="en-US" i="1" dirty="0"/>
              <a:t>G</a:t>
            </a:r>
            <a:r>
              <a:rPr lang="en-US" baseline="-25000" dirty="0">
                <a:latin typeface="Cambria Math" pitchFamily="18" charset="0"/>
                <a:ea typeface="Cambria Math" pitchFamily="18" charset="0"/>
              </a:rPr>
              <a:t>2</a:t>
            </a:r>
            <a:r>
              <a:rPr lang="en-US" dirty="0"/>
              <a:t> has exactly two vertices of odd degree (</a:t>
            </a:r>
            <a:r>
              <a:rPr lang="en-US" i="1" dirty="0"/>
              <a:t>b</a:t>
            </a:r>
            <a:r>
              <a:rPr lang="en-US" dirty="0"/>
              <a:t> and </a:t>
            </a:r>
            <a:r>
              <a:rPr lang="en-US" i="1" dirty="0"/>
              <a:t>d</a:t>
            </a:r>
            <a:r>
              <a:rPr lang="en-US" dirty="0"/>
              <a:t>). Hence it has an Euler path, e.g.,  </a:t>
            </a:r>
            <a:r>
              <a:rPr lang="en-US" i="1" dirty="0"/>
              <a:t>b</a:t>
            </a:r>
            <a:r>
              <a:rPr lang="en-US" dirty="0"/>
              <a:t>, </a:t>
            </a:r>
            <a:r>
              <a:rPr lang="en-US" i="1" dirty="0"/>
              <a:t>a</a:t>
            </a:r>
            <a:r>
              <a:rPr lang="en-US" dirty="0"/>
              <a:t>, </a:t>
            </a:r>
            <a:r>
              <a:rPr lang="en-US" i="1" dirty="0"/>
              <a:t>g</a:t>
            </a:r>
            <a:r>
              <a:rPr lang="en-US" dirty="0"/>
              <a:t>, </a:t>
            </a:r>
            <a:r>
              <a:rPr lang="en-US" i="1" dirty="0"/>
              <a:t>f</a:t>
            </a:r>
            <a:r>
              <a:rPr lang="en-US" dirty="0"/>
              <a:t>, </a:t>
            </a:r>
            <a:r>
              <a:rPr lang="en-US" i="1" dirty="0"/>
              <a:t>e</a:t>
            </a:r>
            <a:r>
              <a:rPr lang="en-US" dirty="0"/>
              <a:t>, </a:t>
            </a:r>
            <a:r>
              <a:rPr lang="en-US" i="1" dirty="0"/>
              <a:t>d</a:t>
            </a:r>
            <a:r>
              <a:rPr lang="en-US" dirty="0"/>
              <a:t>, </a:t>
            </a:r>
            <a:r>
              <a:rPr lang="en-US" i="1" dirty="0"/>
              <a:t>c</a:t>
            </a:r>
            <a:r>
              <a:rPr lang="en-US" dirty="0"/>
              <a:t>, </a:t>
            </a:r>
            <a:r>
              <a:rPr lang="en-US" i="1" dirty="0"/>
              <a:t>g</a:t>
            </a:r>
            <a:r>
              <a:rPr lang="en-US" dirty="0"/>
              <a:t>, </a:t>
            </a:r>
            <a:r>
              <a:rPr lang="en-US" i="1" dirty="0"/>
              <a:t>b</a:t>
            </a:r>
            <a:r>
              <a:rPr lang="en-US" dirty="0"/>
              <a:t>, </a:t>
            </a:r>
            <a:r>
              <a:rPr lang="en-US" i="1" dirty="0"/>
              <a:t>c, f</a:t>
            </a:r>
            <a:r>
              <a:rPr lang="en-US" dirty="0"/>
              <a:t>, </a:t>
            </a:r>
            <a:r>
              <a:rPr lang="en-US" i="1" dirty="0"/>
              <a:t>d</a:t>
            </a:r>
            <a:r>
              <a:rPr lang="en-US" dirty="0"/>
              <a:t>. </a:t>
            </a:r>
          </a:p>
          <a:p>
            <a:pPr indent="0">
              <a:buNone/>
            </a:pPr>
            <a:endParaRPr lang="en-US" dirty="0"/>
          </a:p>
          <a:p>
            <a:pPr indent="0">
              <a:buNone/>
            </a:pPr>
            <a:r>
              <a:rPr lang="en-US" i="1" dirty="0"/>
              <a:t>G</a:t>
            </a:r>
            <a:r>
              <a:rPr lang="en-US" baseline="-25000" dirty="0">
                <a:latin typeface="Cambria Math" pitchFamily="18" charset="0"/>
                <a:ea typeface="Cambria Math" pitchFamily="18" charset="0"/>
              </a:rPr>
              <a:t>3</a:t>
            </a:r>
            <a:r>
              <a:rPr lang="en-US" dirty="0"/>
              <a:t> has six vertices of odd degree. Hence, it does not have an Euler path.</a:t>
            </a: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83496" y="2364867"/>
            <a:ext cx="4107180" cy="1061466"/>
          </a:xfrm>
          <a:prstGeom prst="rect">
            <a:avLst/>
          </a:prstGeom>
        </p:spPr>
      </p:pic>
    </p:spTree>
    <p:extLst>
      <p:ext uri="{BB962C8B-B14F-4D97-AF65-F5344CB8AC3E}">
        <p14:creationId xmlns:p14="http://schemas.microsoft.com/office/powerpoint/2010/main" val="4015379876"/>
      </p:ext>
    </p:extLst>
  </p:cSld>
  <p:clrMapOvr>
    <a:masterClrMapping/>
  </p:clrMapOvr>
  <p:transition spd="slow">
    <p:wip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of Euler Paths and Circuits</a:t>
            </a:r>
          </a:p>
        </p:txBody>
      </p:sp>
      <p:sp>
        <p:nvSpPr>
          <p:cNvPr id="3" name="Content Placeholder 2"/>
          <p:cNvSpPr>
            <a:spLocks noGrp="1"/>
          </p:cNvSpPr>
          <p:nvPr>
            <p:ph idx="1"/>
          </p:nvPr>
        </p:nvSpPr>
        <p:spPr/>
        <p:txBody>
          <a:bodyPr>
            <a:normAutofit fontScale="92500" lnSpcReduction="10000"/>
          </a:bodyPr>
          <a:lstStyle/>
          <a:p>
            <a:r>
              <a:rPr lang="en-US" dirty="0"/>
              <a:t>Euler paths and circuits can be used to solve many practical problems such as finding a path or circuit that traverses each</a:t>
            </a:r>
          </a:p>
          <a:p>
            <a:pPr lvl="1"/>
            <a:r>
              <a:rPr lang="en-US" dirty="0"/>
              <a:t> street in a neighborhood, </a:t>
            </a:r>
          </a:p>
          <a:p>
            <a:pPr lvl="1"/>
            <a:r>
              <a:rPr lang="en-US" dirty="0"/>
              <a:t>road in a transportation network,</a:t>
            </a:r>
          </a:p>
          <a:p>
            <a:pPr lvl="1"/>
            <a:r>
              <a:rPr lang="en-US" dirty="0"/>
              <a:t>connection in a utility grid, </a:t>
            </a:r>
          </a:p>
          <a:p>
            <a:pPr lvl="1"/>
            <a:r>
              <a:rPr lang="en-US" dirty="0"/>
              <a:t>link in a communications network.</a:t>
            </a:r>
          </a:p>
          <a:p>
            <a:r>
              <a:rPr lang="en-US" dirty="0"/>
              <a:t>Other applications are found in the </a:t>
            </a:r>
          </a:p>
          <a:p>
            <a:pPr lvl="1"/>
            <a:r>
              <a:rPr lang="en-US" dirty="0"/>
              <a:t>layout of circuits, </a:t>
            </a:r>
          </a:p>
          <a:p>
            <a:pPr lvl="1"/>
            <a:r>
              <a:rPr lang="en-US" dirty="0"/>
              <a:t>network multicasting,</a:t>
            </a:r>
          </a:p>
          <a:p>
            <a:pPr lvl="1"/>
            <a:r>
              <a:rPr lang="en-US" dirty="0"/>
              <a:t>molecular biology, where Euler paths are used in the sequencing of DNA.</a:t>
            </a:r>
          </a:p>
        </p:txBody>
      </p:sp>
    </p:spTree>
    <p:extLst>
      <p:ext uri="{BB962C8B-B14F-4D97-AF65-F5344CB8AC3E}">
        <p14:creationId xmlns:p14="http://schemas.microsoft.com/office/powerpoint/2010/main" val="3810977173"/>
      </p:ext>
    </p:extLst>
  </p:cSld>
  <p:clrMapOvr>
    <a:masterClrMapping/>
  </p:clrMapOvr>
  <p:transition spd="slow">
    <p:wip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Hamilton Paths and Circuits</a:t>
            </a:r>
          </a:p>
        </p:txBody>
      </p:sp>
      <p:sp>
        <p:nvSpPr>
          <p:cNvPr id="3" name="Content Placeholder 2"/>
          <p:cNvSpPr>
            <a:spLocks noGrp="1"/>
          </p:cNvSpPr>
          <p:nvPr>
            <p:ph idx="1"/>
          </p:nvPr>
        </p:nvSpPr>
        <p:spPr>
          <a:xfrm>
            <a:off x="457200" y="1935480"/>
            <a:ext cx="5257800" cy="4389120"/>
          </a:xfrm>
        </p:spPr>
        <p:txBody>
          <a:bodyPr>
            <a:noAutofit/>
          </a:bodyPr>
          <a:lstStyle/>
          <a:p>
            <a:r>
              <a:rPr lang="en-US" sz="1800" dirty="0"/>
              <a:t>Euler paths and circuits contained every edge only once. Now we look at paths and circuits that contain every vertex exactly once. </a:t>
            </a:r>
          </a:p>
          <a:p>
            <a:r>
              <a:rPr lang="en-US" sz="1800" dirty="0"/>
              <a:t>William Hamilton invented the </a:t>
            </a:r>
            <a:r>
              <a:rPr lang="en-US" sz="1800" i="1" dirty="0" err="1"/>
              <a:t>Icosian</a:t>
            </a:r>
            <a:r>
              <a:rPr lang="en-US" sz="1800" i="1" dirty="0"/>
              <a:t> puzzle </a:t>
            </a:r>
            <a:r>
              <a:rPr lang="en-US" sz="1800" dirty="0"/>
              <a:t>in </a:t>
            </a:r>
            <a:r>
              <a:rPr lang="en-US" sz="1800" dirty="0">
                <a:latin typeface="Cambria Math" pitchFamily="18" charset="0"/>
                <a:ea typeface="Cambria Math" pitchFamily="18" charset="0"/>
              </a:rPr>
              <a:t>1857</a:t>
            </a:r>
            <a:r>
              <a:rPr lang="en-US" sz="1800" dirty="0"/>
              <a:t>. It consisted of a wooden dodecahedron (with </a:t>
            </a:r>
            <a:r>
              <a:rPr lang="en-US" sz="1800" dirty="0">
                <a:latin typeface="Cambria Math" pitchFamily="18" charset="0"/>
                <a:ea typeface="Cambria Math" pitchFamily="18" charset="0"/>
              </a:rPr>
              <a:t>12</a:t>
            </a:r>
            <a:r>
              <a:rPr lang="en-US" sz="1800" dirty="0"/>
              <a:t> regular pentagons as faces),  illustrated in (a), with a peg at each vertex, labeled with the names of different cities. String was used to plot a circuit visiting </a:t>
            </a:r>
            <a:r>
              <a:rPr lang="en-US" sz="1800" dirty="0">
                <a:latin typeface="Cambria Math" pitchFamily="18" charset="0"/>
                <a:ea typeface="Cambria Math" pitchFamily="18" charset="0"/>
              </a:rPr>
              <a:t>20</a:t>
            </a:r>
            <a:r>
              <a:rPr lang="en-US" sz="1800" dirty="0"/>
              <a:t> cities exactly once.</a:t>
            </a:r>
          </a:p>
          <a:p>
            <a:r>
              <a:rPr lang="en-US" sz="1800" dirty="0"/>
              <a:t>The graph form of the puzzle is given in (b).  </a:t>
            </a:r>
          </a:p>
          <a:p>
            <a:pPr marL="0" indent="0">
              <a:buNone/>
            </a:pPr>
            <a:endParaRPr lang="en-US" sz="1800" dirty="0"/>
          </a:p>
          <a:p>
            <a:r>
              <a:rPr lang="en-US" sz="1800" dirty="0"/>
              <a:t>The solution  (a Hamilton circuit) is given  here.</a:t>
            </a:r>
          </a:p>
          <a:p>
            <a:pPr indent="0">
              <a:buNone/>
            </a:pPr>
            <a:endParaRPr lang="en-US" sz="1800" dirty="0"/>
          </a:p>
          <a:p>
            <a:pPr marL="731520" indent="-457200"/>
            <a:endParaRPr lang="en-US" sz="1800" dirty="0"/>
          </a:p>
          <a:p>
            <a:pPr indent="0">
              <a:buNone/>
            </a:pPr>
            <a:r>
              <a:rPr lang="en-US" sz="1800" dirty="0"/>
              <a:t>   </a:t>
            </a:r>
          </a:p>
          <a:p>
            <a:pPr indent="0">
              <a:buNone/>
            </a:pPr>
            <a:endParaRPr lang="en-US" sz="1800" dirty="0"/>
          </a:p>
          <a:p>
            <a:pPr indent="0">
              <a:buNone/>
            </a:pPr>
            <a:r>
              <a:rPr lang="en-US" sz="1800" dirty="0"/>
              <a:t>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820918" y="76200"/>
            <a:ext cx="884682" cy="1034034"/>
          </a:xfrm>
          <a:prstGeom prst="rect">
            <a:avLst/>
          </a:prstGeom>
        </p:spPr>
      </p:pic>
      <p:sp>
        <p:nvSpPr>
          <p:cNvPr id="7" name="TextBox 6"/>
          <p:cNvSpPr txBox="1"/>
          <p:nvPr/>
        </p:nvSpPr>
        <p:spPr>
          <a:xfrm>
            <a:off x="6934200" y="207224"/>
            <a:ext cx="1752600" cy="923330"/>
          </a:xfrm>
          <a:prstGeom prst="rect">
            <a:avLst/>
          </a:prstGeom>
          <a:noFill/>
        </p:spPr>
        <p:txBody>
          <a:bodyPr wrap="square" rtlCol="0">
            <a:spAutoFit/>
          </a:bodyPr>
          <a:lstStyle/>
          <a:p>
            <a:r>
              <a:rPr lang="en-US" dirty="0"/>
              <a:t>William Rowan Hamilton (</a:t>
            </a:r>
            <a:r>
              <a:rPr lang="en-US" dirty="0">
                <a:latin typeface="Cambria Math" pitchFamily="18" charset="0"/>
                <a:ea typeface="Cambria Math" pitchFamily="18" charset="0"/>
              </a:rPr>
              <a:t>1805- 1865</a:t>
            </a:r>
            <a:r>
              <a:rPr lang="en-US" dirty="0"/>
              <a:t>)</a:t>
            </a:r>
          </a:p>
        </p:txBody>
      </p:sp>
      <p:pic>
        <p:nvPicPr>
          <p:cNvPr id="8" name="Content Placeholder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842527" y="2038622"/>
            <a:ext cx="2655916" cy="1238596"/>
          </a:xfrm>
          <a:prstGeom prst="rect">
            <a:avLst/>
          </a:prstGeom>
        </p:spPr>
      </p:pic>
      <p:pic>
        <p:nvPicPr>
          <p:cNvPr id="10" name="Picture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141785" y="3810000"/>
            <a:ext cx="2057400" cy="2286000"/>
          </a:xfrm>
          <a:prstGeom prst="rect">
            <a:avLst/>
          </a:prstGeom>
        </p:spPr>
      </p:pic>
    </p:spTree>
    <p:extLst>
      <p:ext uri="{BB962C8B-B14F-4D97-AF65-F5344CB8AC3E}">
        <p14:creationId xmlns:p14="http://schemas.microsoft.com/office/powerpoint/2010/main" val="1228129452"/>
      </p:ext>
    </p:extLst>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Hamilton Paths and Circuits</a:t>
            </a:r>
          </a:p>
        </p:txBody>
      </p:sp>
      <p:sp>
        <p:nvSpPr>
          <p:cNvPr id="3" name="Content Placeholder 2"/>
          <p:cNvSpPr>
            <a:spLocks noGrp="1"/>
          </p:cNvSpPr>
          <p:nvPr>
            <p:ph idx="1"/>
          </p:nvPr>
        </p:nvSpPr>
        <p:spPr/>
        <p:txBody>
          <a:bodyPr>
            <a:normAutofit fontScale="77500" lnSpcReduction="20000"/>
          </a:bodyPr>
          <a:lstStyle/>
          <a:p>
            <a:pPr indent="0">
              <a:buNone/>
            </a:pPr>
            <a:r>
              <a:rPr lang="en-US" b="1" dirty="0"/>
              <a:t>Definition</a:t>
            </a:r>
            <a:r>
              <a:rPr lang="en-US" dirty="0"/>
              <a:t>: A simple path in a graph </a:t>
            </a:r>
            <a:r>
              <a:rPr lang="en-US" i="1" dirty="0"/>
              <a:t>G</a:t>
            </a:r>
            <a:r>
              <a:rPr lang="en-US" dirty="0"/>
              <a:t> that passes through every vertex exactly once is called a </a:t>
            </a:r>
            <a:r>
              <a:rPr lang="en-US" i="1" dirty="0"/>
              <a:t>Hamilton path</a:t>
            </a:r>
            <a:r>
              <a:rPr lang="en-US" dirty="0"/>
              <a:t>, and a simple circuit in a graph </a:t>
            </a:r>
            <a:r>
              <a:rPr lang="en-US" i="1" dirty="0"/>
              <a:t>G </a:t>
            </a:r>
            <a:r>
              <a:rPr lang="en-US" dirty="0"/>
              <a:t>that passes through every vertex exactly once is called a </a:t>
            </a:r>
            <a:r>
              <a:rPr lang="en-US" i="1" dirty="0"/>
              <a:t>Hamilton circuit.  </a:t>
            </a:r>
          </a:p>
          <a:p>
            <a:pPr indent="0">
              <a:buNone/>
            </a:pPr>
            <a:endParaRPr lang="en-US" i="1" dirty="0"/>
          </a:p>
          <a:p>
            <a:pPr indent="0">
              <a:buNone/>
            </a:pPr>
            <a:r>
              <a:rPr lang="en-US" dirty="0"/>
              <a:t>That is, a simple path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a:t> in the graph </a:t>
            </a:r>
            <a:r>
              <a:rPr lang="en-US" i="1" dirty="0"/>
              <a:t>G</a:t>
            </a:r>
            <a:r>
              <a:rPr lang="en-US" dirty="0"/>
              <a:t> = (</a:t>
            </a:r>
            <a:r>
              <a:rPr lang="en-US" i="1" dirty="0"/>
              <a:t>V</a:t>
            </a:r>
            <a:r>
              <a:rPr lang="en-US" dirty="0"/>
              <a:t>, </a:t>
            </a:r>
            <a:r>
              <a:rPr lang="en-US" i="1" dirty="0"/>
              <a:t>E</a:t>
            </a:r>
            <a:r>
              <a:rPr lang="en-US" dirty="0"/>
              <a:t>) is called a Hamilton path if </a:t>
            </a:r>
            <a:r>
              <a:rPr lang="en-US" i="1" dirty="0"/>
              <a:t>V</a:t>
            </a:r>
            <a:r>
              <a:rPr lang="en-US" dirty="0"/>
              <a:t> =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i="1" dirty="0"/>
              <a:t> </a:t>
            </a:r>
            <a:r>
              <a:rPr lang="en-US" i="1" dirty="0" err="1"/>
              <a:t>x</a:t>
            </a:r>
            <a:r>
              <a:rPr lang="en-US" i="1" baseline="-25000" dirty="0" err="1">
                <a:ea typeface="Cambria Math" pitchFamily="18" charset="0"/>
              </a:rPr>
              <a:t>n</a:t>
            </a:r>
            <a:r>
              <a:rPr lang="en-US" dirty="0"/>
              <a:t> } and </a:t>
            </a:r>
            <a:r>
              <a:rPr lang="en-US" i="1" dirty="0"/>
              <a:t>x</a:t>
            </a:r>
            <a:r>
              <a:rPr lang="en-US" i="1" baseline="-25000" dirty="0"/>
              <a:t>i</a:t>
            </a:r>
            <a:r>
              <a:rPr lang="en-US" i="1" dirty="0"/>
              <a:t> ≠</a:t>
            </a:r>
            <a:r>
              <a:rPr lang="en-US" dirty="0"/>
              <a:t> </a:t>
            </a:r>
            <a:r>
              <a:rPr lang="en-US" i="1" dirty="0" err="1"/>
              <a:t>x</a:t>
            </a:r>
            <a:r>
              <a:rPr lang="en-US" i="1" baseline="-25000" dirty="0" err="1"/>
              <a:t>j</a:t>
            </a:r>
            <a:r>
              <a:rPr lang="en-US" dirty="0"/>
              <a:t> for  </a:t>
            </a:r>
            <a:r>
              <a:rPr lang="en-US" dirty="0">
                <a:latin typeface="Cambria Math" pitchFamily="18" charset="0"/>
                <a:ea typeface="Cambria Math" pitchFamily="18" charset="0"/>
              </a:rPr>
              <a:t>0≤</a:t>
            </a:r>
            <a:r>
              <a:rPr lang="en-US" dirty="0"/>
              <a:t> </a:t>
            </a:r>
            <a:r>
              <a:rPr lang="en-US" i="1" dirty="0" err="1"/>
              <a:t>i</a:t>
            </a:r>
            <a:r>
              <a:rPr lang="en-US" dirty="0"/>
              <a:t> &lt; </a:t>
            </a:r>
            <a:r>
              <a:rPr lang="en-US" i="1" dirty="0"/>
              <a:t>j</a:t>
            </a:r>
            <a:r>
              <a:rPr lang="en-US" dirty="0"/>
              <a:t> </a:t>
            </a:r>
            <a:r>
              <a:rPr lang="en-US" dirty="0">
                <a:latin typeface="Cambria Math" pitchFamily="18" charset="0"/>
                <a:ea typeface="Cambria Math" pitchFamily="18" charset="0"/>
              </a:rPr>
              <a:t>≤ </a:t>
            </a:r>
            <a:r>
              <a:rPr lang="en-US" i="1" dirty="0"/>
              <a:t>n</a:t>
            </a:r>
            <a:r>
              <a:rPr lang="en-US" dirty="0"/>
              <a:t>, and the simple circuit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a:t>,</a:t>
            </a:r>
            <a:r>
              <a:rPr lang="en-US" i="1" dirty="0"/>
              <a:t> x</a:t>
            </a:r>
            <a:r>
              <a:rPr lang="en-US" baseline="-25000" dirty="0">
                <a:latin typeface="Cambria Math" pitchFamily="18" charset="0"/>
                <a:ea typeface="Cambria Math" pitchFamily="18" charset="0"/>
              </a:rPr>
              <a:t>0                         </a:t>
            </a:r>
            <a:r>
              <a:rPr lang="en-US" dirty="0"/>
              <a:t>(with </a:t>
            </a:r>
            <a:r>
              <a:rPr lang="en-US" i="1" dirty="0"/>
              <a:t>n</a:t>
            </a:r>
            <a:r>
              <a:rPr lang="en-US" dirty="0"/>
              <a:t> &gt; </a:t>
            </a:r>
            <a:r>
              <a:rPr lang="en-US" dirty="0">
                <a:latin typeface="Cambria Math" pitchFamily="18" charset="0"/>
                <a:ea typeface="Cambria Math" pitchFamily="18" charset="0"/>
              </a:rPr>
              <a:t>0</a:t>
            </a:r>
            <a:r>
              <a:rPr lang="en-US" dirty="0"/>
              <a:t>) is a Hamilton circuit if   </a:t>
            </a:r>
            <a:r>
              <a:rPr lang="en-US" i="1" dirty="0"/>
              <a:t>x</a:t>
            </a:r>
            <a:r>
              <a:rPr lang="en-US" baseline="-25000" dirty="0">
                <a:latin typeface="Cambria Math" pitchFamily="18" charset="0"/>
                <a:ea typeface="Cambria Math" pitchFamily="18" charset="0"/>
              </a:rPr>
              <a:t>0</a:t>
            </a:r>
            <a:r>
              <a:rPr lang="en-US" dirty="0">
                <a:latin typeface="Cambria Math" pitchFamily="18" charset="0"/>
                <a:ea typeface="Cambria Math" pitchFamily="18" charset="0"/>
              </a:rPr>
              <a:t>,</a:t>
            </a:r>
            <a:r>
              <a:rPr lang="en-US" i="1" dirty="0"/>
              <a:t> x</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 … , </a:t>
            </a:r>
            <a:r>
              <a:rPr lang="en-US" i="1" dirty="0"/>
              <a:t>x</a:t>
            </a:r>
            <a:r>
              <a:rPr lang="en-US" i="1" baseline="-25000" dirty="0">
                <a:ea typeface="Cambria Math" pitchFamily="18" charset="0"/>
              </a:rPr>
              <a:t>n</a:t>
            </a:r>
            <a:r>
              <a:rPr lang="en-US" baseline="-25000" dirty="0">
                <a:latin typeface="Cambria Math" pitchFamily="18" charset="0"/>
                <a:ea typeface="Cambria Math" pitchFamily="18" charset="0"/>
              </a:rPr>
              <a:t>-1</a:t>
            </a:r>
            <a:r>
              <a:rPr lang="en-US" dirty="0">
                <a:latin typeface="Cambria Math" pitchFamily="18" charset="0"/>
                <a:ea typeface="Cambria Math" pitchFamily="18" charset="0"/>
              </a:rPr>
              <a:t>,</a:t>
            </a:r>
            <a:r>
              <a:rPr lang="en-US" i="1" dirty="0"/>
              <a:t> </a:t>
            </a:r>
            <a:r>
              <a:rPr lang="en-US" i="1" dirty="0" err="1"/>
              <a:t>x</a:t>
            </a:r>
            <a:r>
              <a:rPr lang="en-US" i="1" baseline="-25000" dirty="0" err="1">
                <a:ea typeface="Cambria Math" pitchFamily="18" charset="0"/>
              </a:rPr>
              <a:t>n</a:t>
            </a:r>
            <a:r>
              <a:rPr lang="en-US" dirty="0"/>
              <a:t> is a Hamilton path.</a:t>
            </a:r>
          </a:p>
          <a:p>
            <a:pPr indent="0">
              <a:buNone/>
            </a:pPr>
            <a:endParaRPr lang="en-US" dirty="0"/>
          </a:p>
          <a:p>
            <a:pPr marL="731520" indent="-457200"/>
            <a:endParaRPr lang="en-US" dirty="0"/>
          </a:p>
          <a:p>
            <a:pPr indent="0">
              <a:buNone/>
            </a:pPr>
            <a:r>
              <a:rPr lang="en-US" dirty="0"/>
              <a:t>   </a:t>
            </a:r>
          </a:p>
          <a:p>
            <a:pPr indent="0">
              <a:buNone/>
            </a:pPr>
            <a:endParaRPr lang="en-US" dirty="0"/>
          </a:p>
          <a:p>
            <a:pPr indent="0">
              <a:buNone/>
            </a:pPr>
            <a:r>
              <a:rPr lang="en-US" dirty="0"/>
              <a:t>   </a:t>
            </a:r>
          </a:p>
        </p:txBody>
      </p:sp>
    </p:spTree>
    <p:extLst>
      <p:ext uri="{BB962C8B-B14F-4D97-AF65-F5344CB8AC3E}">
        <p14:creationId xmlns:p14="http://schemas.microsoft.com/office/powerpoint/2010/main" val="2912161302"/>
      </p:ext>
    </p:extLst>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Hamilton Paths and Circuits (</a:t>
            </a:r>
            <a:r>
              <a:rPr lang="en-US" i="1" dirty="0"/>
              <a:t>continued</a:t>
            </a:r>
            <a:r>
              <a:rPr lang="en-US" dirty="0"/>
              <a:t>)</a:t>
            </a:r>
          </a:p>
        </p:txBody>
      </p:sp>
      <p:sp>
        <p:nvSpPr>
          <p:cNvPr id="3" name="Content Placeholder 2"/>
          <p:cNvSpPr>
            <a:spLocks noGrp="1"/>
          </p:cNvSpPr>
          <p:nvPr>
            <p:ph idx="1"/>
          </p:nvPr>
        </p:nvSpPr>
        <p:spPr/>
        <p:txBody>
          <a:bodyPr/>
          <a:lstStyle/>
          <a:p>
            <a:pPr indent="0">
              <a:buNone/>
            </a:pPr>
            <a:r>
              <a:rPr lang="en-US" b="1" dirty="0"/>
              <a:t>Example</a:t>
            </a:r>
            <a:r>
              <a:rPr lang="en-US" dirty="0"/>
              <a:t>: Which of these simple graphs has a Hamilton circuit or, if not, a Hamilton path?</a:t>
            </a:r>
          </a:p>
          <a:p>
            <a:pPr indent="0">
              <a:buNone/>
            </a:pPr>
            <a:endParaRPr lang="en-US" dirty="0"/>
          </a:p>
          <a:p>
            <a:pPr indent="0">
              <a:buNone/>
            </a:pPr>
            <a:endParaRPr lang="en-US" dirty="0"/>
          </a:p>
          <a:p>
            <a:pPr indent="0">
              <a:buNone/>
            </a:pPr>
            <a:r>
              <a:rPr lang="en-US" b="1" dirty="0"/>
              <a:t>Solution</a:t>
            </a:r>
            <a:r>
              <a:rPr lang="en-US" dirty="0"/>
              <a:t>: </a:t>
            </a:r>
            <a:r>
              <a:rPr lang="en-US" i="1" dirty="0">
                <a:solidFill>
                  <a:schemeClr val="bg1"/>
                </a:solidFill>
              </a:rPr>
              <a:t>G</a:t>
            </a:r>
            <a:r>
              <a:rPr lang="en-US" baseline="-25000" dirty="0">
                <a:solidFill>
                  <a:schemeClr val="bg1"/>
                </a:solidFill>
                <a:latin typeface="Cambria Math" pitchFamily="18" charset="0"/>
                <a:ea typeface="Cambria Math" pitchFamily="18" charset="0"/>
              </a:rPr>
              <a:t>1  </a:t>
            </a:r>
            <a:r>
              <a:rPr lang="en-US" dirty="0">
                <a:solidFill>
                  <a:schemeClr val="bg1"/>
                </a:solidFill>
                <a:latin typeface="Cambria Math" pitchFamily="18" charset="0"/>
                <a:ea typeface="Cambria Math" pitchFamily="18" charset="0"/>
              </a:rPr>
              <a:t>has a Hamilton circuit: </a:t>
            </a:r>
            <a:r>
              <a:rPr lang="en-US" i="1" dirty="0">
                <a:solidFill>
                  <a:schemeClr val="bg1"/>
                </a:solidFill>
                <a:ea typeface="Cambria Math" pitchFamily="18" charset="0"/>
              </a:rPr>
              <a:t>a</a:t>
            </a:r>
            <a:r>
              <a:rPr lang="en-US" dirty="0">
                <a:solidFill>
                  <a:schemeClr val="bg1"/>
                </a:solidFill>
                <a:ea typeface="Cambria Math" pitchFamily="18" charset="0"/>
              </a:rPr>
              <a:t>, </a:t>
            </a:r>
            <a:r>
              <a:rPr lang="en-US" i="1" dirty="0">
                <a:solidFill>
                  <a:schemeClr val="bg1"/>
                </a:solidFill>
                <a:ea typeface="Cambria Math" pitchFamily="18" charset="0"/>
              </a:rPr>
              <a:t>b</a:t>
            </a:r>
            <a:r>
              <a:rPr lang="en-US" dirty="0">
                <a:solidFill>
                  <a:schemeClr val="bg1"/>
                </a:solidFill>
                <a:ea typeface="Cambria Math" pitchFamily="18" charset="0"/>
              </a:rPr>
              <a:t>, </a:t>
            </a:r>
            <a:r>
              <a:rPr lang="en-US" i="1" dirty="0">
                <a:solidFill>
                  <a:schemeClr val="bg1"/>
                </a:solidFill>
                <a:ea typeface="Cambria Math" pitchFamily="18" charset="0"/>
              </a:rPr>
              <a:t>c</a:t>
            </a:r>
            <a:r>
              <a:rPr lang="en-US" dirty="0">
                <a:solidFill>
                  <a:schemeClr val="bg1"/>
                </a:solidFill>
                <a:ea typeface="Cambria Math" pitchFamily="18" charset="0"/>
              </a:rPr>
              <a:t>, </a:t>
            </a:r>
            <a:r>
              <a:rPr lang="en-US" i="1" dirty="0">
                <a:solidFill>
                  <a:schemeClr val="bg1"/>
                </a:solidFill>
                <a:ea typeface="Cambria Math" pitchFamily="18" charset="0"/>
              </a:rPr>
              <a:t>d</a:t>
            </a:r>
            <a:r>
              <a:rPr lang="en-US" dirty="0">
                <a:solidFill>
                  <a:schemeClr val="bg1"/>
                </a:solidFill>
                <a:ea typeface="Cambria Math" pitchFamily="18" charset="0"/>
              </a:rPr>
              <a:t>, </a:t>
            </a:r>
            <a:r>
              <a:rPr lang="en-US" i="1" dirty="0">
                <a:solidFill>
                  <a:schemeClr val="bg1"/>
                </a:solidFill>
                <a:ea typeface="Cambria Math" pitchFamily="18" charset="0"/>
              </a:rPr>
              <a:t>e</a:t>
            </a:r>
            <a:r>
              <a:rPr lang="en-US" dirty="0">
                <a:solidFill>
                  <a:schemeClr val="bg1"/>
                </a:solidFill>
                <a:ea typeface="Cambria Math" pitchFamily="18" charset="0"/>
              </a:rPr>
              <a:t>, </a:t>
            </a:r>
            <a:r>
              <a:rPr lang="en-US" i="1" dirty="0">
                <a:solidFill>
                  <a:schemeClr val="bg1"/>
                </a:solidFill>
                <a:ea typeface="Cambria Math" pitchFamily="18" charset="0"/>
              </a:rPr>
              <a:t>a</a:t>
            </a:r>
            <a:r>
              <a:rPr lang="en-US" dirty="0">
                <a:solidFill>
                  <a:schemeClr val="bg1"/>
                </a:solidFill>
                <a:latin typeface="Cambria Math" pitchFamily="18" charset="0"/>
                <a:ea typeface="Cambria Math" pitchFamily="18" charset="0"/>
              </a:rPr>
              <a:t>. </a:t>
            </a:r>
          </a:p>
          <a:p>
            <a:pPr indent="0">
              <a:buNone/>
            </a:pPr>
            <a:r>
              <a:rPr lang="en-US" i="1" dirty="0">
                <a:solidFill>
                  <a:schemeClr val="bg1"/>
                </a:solidFill>
              </a:rPr>
              <a:t>G</a:t>
            </a:r>
            <a:r>
              <a:rPr lang="en-US" baseline="-25000" dirty="0">
                <a:solidFill>
                  <a:schemeClr val="bg1"/>
                </a:solidFill>
                <a:latin typeface="Cambria Math" pitchFamily="18" charset="0"/>
                <a:ea typeface="Cambria Math" pitchFamily="18" charset="0"/>
              </a:rPr>
              <a:t>2  </a:t>
            </a:r>
            <a:r>
              <a:rPr lang="en-US" dirty="0">
                <a:solidFill>
                  <a:schemeClr val="bg1"/>
                </a:solidFill>
                <a:latin typeface="Cambria Math" pitchFamily="18" charset="0"/>
                <a:ea typeface="Cambria Math" pitchFamily="18" charset="0"/>
              </a:rPr>
              <a:t>does not have a Hamilton circuit (Why?), but does have a Hamilton path : </a:t>
            </a:r>
            <a:r>
              <a:rPr lang="en-US" i="1" dirty="0">
                <a:solidFill>
                  <a:schemeClr val="bg1"/>
                </a:solidFill>
                <a:ea typeface="Cambria Math" pitchFamily="18" charset="0"/>
              </a:rPr>
              <a:t>a</a:t>
            </a:r>
            <a:r>
              <a:rPr lang="en-US" dirty="0">
                <a:solidFill>
                  <a:schemeClr val="bg1"/>
                </a:solidFill>
                <a:ea typeface="Cambria Math" pitchFamily="18" charset="0"/>
              </a:rPr>
              <a:t>, </a:t>
            </a:r>
            <a:r>
              <a:rPr lang="en-US" i="1" dirty="0">
                <a:solidFill>
                  <a:schemeClr val="bg1"/>
                </a:solidFill>
                <a:ea typeface="Cambria Math" pitchFamily="18" charset="0"/>
              </a:rPr>
              <a:t>b</a:t>
            </a:r>
            <a:r>
              <a:rPr lang="en-US" dirty="0">
                <a:solidFill>
                  <a:schemeClr val="bg1"/>
                </a:solidFill>
                <a:ea typeface="Cambria Math" pitchFamily="18" charset="0"/>
              </a:rPr>
              <a:t>, </a:t>
            </a:r>
            <a:r>
              <a:rPr lang="en-US" i="1" dirty="0">
                <a:solidFill>
                  <a:schemeClr val="bg1"/>
                </a:solidFill>
                <a:ea typeface="Cambria Math" pitchFamily="18" charset="0"/>
              </a:rPr>
              <a:t>c</a:t>
            </a:r>
            <a:r>
              <a:rPr lang="en-US" dirty="0">
                <a:solidFill>
                  <a:schemeClr val="bg1"/>
                </a:solidFill>
                <a:ea typeface="Cambria Math" pitchFamily="18" charset="0"/>
              </a:rPr>
              <a:t>, </a:t>
            </a:r>
            <a:r>
              <a:rPr lang="en-US" i="1" dirty="0">
                <a:solidFill>
                  <a:schemeClr val="bg1"/>
                </a:solidFill>
                <a:ea typeface="Cambria Math" pitchFamily="18" charset="0"/>
              </a:rPr>
              <a:t>d</a:t>
            </a:r>
            <a:r>
              <a:rPr lang="en-US" dirty="0">
                <a:solidFill>
                  <a:schemeClr val="bg1"/>
                </a:solidFill>
                <a:latin typeface="Cambria Math" pitchFamily="18" charset="0"/>
                <a:ea typeface="Cambria Math" pitchFamily="18" charset="0"/>
              </a:rPr>
              <a:t>.</a:t>
            </a:r>
          </a:p>
          <a:p>
            <a:pPr indent="0">
              <a:buNone/>
            </a:pPr>
            <a:r>
              <a:rPr lang="en-US" i="1" dirty="0">
                <a:solidFill>
                  <a:schemeClr val="bg1"/>
                </a:solidFill>
              </a:rPr>
              <a:t>G</a:t>
            </a:r>
            <a:r>
              <a:rPr lang="en-US" baseline="-25000" dirty="0">
                <a:solidFill>
                  <a:schemeClr val="bg1"/>
                </a:solidFill>
                <a:latin typeface="Cambria Math" pitchFamily="18" charset="0"/>
                <a:ea typeface="Cambria Math" pitchFamily="18" charset="0"/>
              </a:rPr>
              <a:t>3  </a:t>
            </a:r>
            <a:r>
              <a:rPr lang="en-US" dirty="0">
                <a:solidFill>
                  <a:schemeClr val="bg1"/>
                </a:solidFill>
                <a:latin typeface="Cambria Math" pitchFamily="18" charset="0"/>
                <a:ea typeface="Cambria Math" pitchFamily="18" charset="0"/>
              </a:rPr>
              <a:t>does not have a Hamilton circuit,  or a Hamilton path. Why?</a:t>
            </a:r>
            <a:endParaRPr lang="en-US" baseline="-25000" dirty="0">
              <a:solidFill>
                <a:schemeClr val="bg1"/>
              </a:solidFill>
              <a:latin typeface="Cambria Math" pitchFamily="18" charset="0"/>
              <a:ea typeface="Cambria Math" pitchFamily="18" charset="0"/>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438400" y="3352800"/>
            <a:ext cx="5181600" cy="2057400"/>
          </a:xfrm>
          <a:prstGeom prst="rect">
            <a:avLst/>
          </a:prstGeom>
        </p:spPr>
      </p:pic>
    </p:spTree>
    <p:extLst>
      <p:ext uri="{BB962C8B-B14F-4D97-AF65-F5344CB8AC3E}">
        <p14:creationId xmlns:p14="http://schemas.microsoft.com/office/powerpoint/2010/main" val="3541570949"/>
      </p:ext>
    </p:extLst>
  </p:cSld>
  <p:clrMapOvr>
    <a:masterClrMapping/>
  </p:clrMapOvr>
  <p:transition spd="slow">
    <p:wip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Necessary </a:t>
            </a:r>
            <a:r>
              <a:rPr lang="en-US"/>
              <a:t>Conditions for</a:t>
            </a:r>
            <a:br>
              <a:rPr lang="en-US"/>
            </a:br>
            <a:r>
              <a:rPr lang="en-US"/>
              <a:t>Hamilton Circuits</a:t>
            </a:r>
            <a:endParaRPr lang="en-US" dirty="0"/>
          </a:p>
        </p:txBody>
      </p:sp>
      <p:sp>
        <p:nvSpPr>
          <p:cNvPr id="18" name="Content Placeholder 2"/>
          <p:cNvSpPr>
            <a:spLocks noGrp="1"/>
          </p:cNvSpPr>
          <p:nvPr>
            <p:ph idx="1"/>
          </p:nvPr>
        </p:nvSpPr>
        <p:spPr/>
        <p:txBody>
          <a:bodyPr>
            <a:normAutofit fontScale="85000" lnSpcReduction="20000"/>
          </a:bodyPr>
          <a:lstStyle/>
          <a:p>
            <a:r>
              <a:rPr lang="en-US" dirty="0"/>
              <a:t>Unlike for an Euler circuit, no simple necessary and sufficient conditions are known for the existence of a </a:t>
            </a:r>
            <a:r>
              <a:rPr lang="en-US" dirty="0" err="1"/>
              <a:t>Hamiton</a:t>
            </a:r>
            <a:r>
              <a:rPr lang="en-US" dirty="0"/>
              <a:t> circuit.</a:t>
            </a:r>
          </a:p>
          <a:p>
            <a:r>
              <a:rPr lang="en-US" dirty="0"/>
              <a:t>However, there are some useful necessary conditions.  We describe two of these now.</a:t>
            </a:r>
          </a:p>
          <a:p>
            <a:pPr indent="0">
              <a:buNone/>
            </a:pPr>
            <a:r>
              <a:rPr lang="en-US" b="1" dirty="0"/>
              <a:t>Dirac’s Theorem</a:t>
            </a:r>
            <a:r>
              <a:rPr lang="en-US" dirty="0"/>
              <a:t>: If </a:t>
            </a:r>
            <a:r>
              <a:rPr lang="en-US" i="1" dirty="0"/>
              <a:t>G</a:t>
            </a:r>
            <a:r>
              <a:rPr lang="en-US" dirty="0"/>
              <a:t> is a simple graph with </a:t>
            </a:r>
            <a:r>
              <a:rPr lang="en-US" i="1" dirty="0"/>
              <a:t>n ≥ </a:t>
            </a:r>
            <a:r>
              <a:rPr lang="en-US" dirty="0">
                <a:latin typeface="Cambria Math" pitchFamily="18" charset="0"/>
                <a:ea typeface="Cambria Math" pitchFamily="18" charset="0"/>
              </a:rPr>
              <a:t>3</a:t>
            </a:r>
            <a:r>
              <a:rPr lang="en-US" dirty="0"/>
              <a:t> vertices such that the degree of every vertex in </a:t>
            </a:r>
            <a:r>
              <a:rPr lang="en-US" i="1" dirty="0"/>
              <a:t>G</a:t>
            </a:r>
            <a:r>
              <a:rPr lang="en-US" dirty="0"/>
              <a:t> is ≥ </a:t>
            </a:r>
            <a:r>
              <a:rPr lang="en-US" i="1" dirty="0"/>
              <a:t>n</a:t>
            </a:r>
            <a:r>
              <a:rPr lang="en-US" dirty="0"/>
              <a:t>/</a:t>
            </a:r>
            <a:r>
              <a:rPr lang="en-US" dirty="0">
                <a:latin typeface="Cambria Math" pitchFamily="18" charset="0"/>
                <a:ea typeface="Cambria Math" pitchFamily="18" charset="0"/>
              </a:rPr>
              <a:t>2</a:t>
            </a:r>
            <a:r>
              <a:rPr lang="en-US" dirty="0"/>
              <a:t>, then </a:t>
            </a:r>
            <a:r>
              <a:rPr lang="en-US" i="1" dirty="0"/>
              <a:t>G</a:t>
            </a:r>
            <a:r>
              <a:rPr lang="en-US" dirty="0"/>
              <a:t> has a Hamilton circuit. </a:t>
            </a:r>
          </a:p>
          <a:p>
            <a:pPr marL="0" indent="0">
              <a:buNone/>
            </a:pPr>
            <a:endParaRPr lang="en-US" dirty="0"/>
          </a:p>
          <a:p>
            <a:pPr indent="0">
              <a:buNone/>
            </a:pPr>
            <a:r>
              <a:rPr lang="en-US" b="1" dirty="0"/>
              <a:t>Ore’s Theorem</a:t>
            </a:r>
            <a:r>
              <a:rPr lang="en-US" dirty="0"/>
              <a:t>: If </a:t>
            </a:r>
            <a:r>
              <a:rPr lang="en-US" i="1" dirty="0"/>
              <a:t>G</a:t>
            </a:r>
            <a:r>
              <a:rPr lang="en-US" dirty="0"/>
              <a:t> is a simple graph with </a:t>
            </a:r>
            <a:r>
              <a:rPr lang="en-US" i="1" dirty="0"/>
              <a:t>n</a:t>
            </a:r>
            <a:r>
              <a:rPr lang="en-US" dirty="0"/>
              <a:t> ≥ </a:t>
            </a:r>
            <a:r>
              <a:rPr lang="en-US" dirty="0">
                <a:latin typeface="Cambria Math" pitchFamily="18" charset="0"/>
                <a:ea typeface="Cambria Math" pitchFamily="18" charset="0"/>
              </a:rPr>
              <a:t>3</a:t>
            </a:r>
            <a:r>
              <a:rPr lang="en-US" dirty="0"/>
              <a:t>  vertices such that </a:t>
            </a:r>
            <a:r>
              <a:rPr lang="en-US" dirty="0" err="1"/>
              <a:t>deg</a:t>
            </a:r>
            <a:r>
              <a:rPr lang="en-US" dirty="0"/>
              <a:t>(</a:t>
            </a:r>
            <a:r>
              <a:rPr lang="en-US" i="1" dirty="0"/>
              <a:t>u</a:t>
            </a:r>
            <a:r>
              <a:rPr lang="en-US" dirty="0"/>
              <a:t>) + </a:t>
            </a:r>
            <a:r>
              <a:rPr lang="en-US" dirty="0" err="1"/>
              <a:t>deg</a:t>
            </a:r>
            <a:r>
              <a:rPr lang="en-US" dirty="0"/>
              <a:t>(</a:t>
            </a:r>
            <a:r>
              <a:rPr lang="en-US" i="1" dirty="0"/>
              <a:t>v</a:t>
            </a:r>
            <a:r>
              <a:rPr lang="en-US" dirty="0"/>
              <a:t>) ≥ </a:t>
            </a:r>
            <a:r>
              <a:rPr lang="en-US" i="1" dirty="0"/>
              <a:t>n</a:t>
            </a:r>
            <a:r>
              <a:rPr lang="en-US" dirty="0"/>
              <a:t>  for every pair of nonadjacent vertices, then G has a Hamilton circuit. </a:t>
            </a:r>
          </a:p>
          <a:p>
            <a:pPr indent="0">
              <a:buNone/>
            </a:pPr>
            <a:endParaRPr lang="en-US" dirty="0"/>
          </a:p>
          <a:p>
            <a:pPr indent="0">
              <a:buNone/>
            </a:pPr>
            <a:r>
              <a:rPr lang="en-US" dirty="0"/>
              <a:t> </a:t>
            </a:r>
          </a:p>
          <a:p>
            <a:pPr indent="0">
              <a:buNone/>
            </a:pPr>
            <a:endParaRPr lang="en-US" dirty="0"/>
          </a:p>
        </p:txBody>
      </p:sp>
      <p:pic>
        <p:nvPicPr>
          <p:cNvPr id="16" name="Picture 1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239889" y="271271"/>
            <a:ext cx="906018" cy="1176528"/>
          </a:xfrm>
          <a:prstGeom prst="rect">
            <a:avLst/>
          </a:prstGeom>
        </p:spPr>
      </p:pic>
      <p:pic>
        <p:nvPicPr>
          <p:cNvPr id="17" name="Picture 1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014602" y="5148149"/>
            <a:ext cx="906018" cy="1170432"/>
          </a:xfrm>
          <a:prstGeom prst="rect">
            <a:avLst/>
          </a:prstGeom>
        </p:spPr>
      </p:pic>
      <p:sp>
        <p:nvSpPr>
          <p:cNvPr id="19" name="TextBox 18"/>
          <p:cNvSpPr txBox="1"/>
          <p:nvPr/>
        </p:nvSpPr>
        <p:spPr>
          <a:xfrm>
            <a:off x="6435598" y="1295400"/>
            <a:ext cx="2514600" cy="646331"/>
          </a:xfrm>
          <a:prstGeom prst="rect">
            <a:avLst/>
          </a:prstGeom>
          <a:noFill/>
        </p:spPr>
        <p:txBody>
          <a:bodyPr wrap="square" rtlCol="0">
            <a:spAutoFit/>
          </a:bodyPr>
          <a:lstStyle/>
          <a:p>
            <a:r>
              <a:rPr lang="en-US" dirty="0"/>
              <a:t>Gabriel Andrew Dirac</a:t>
            </a:r>
          </a:p>
          <a:p>
            <a:r>
              <a:rPr lang="en-US" dirty="0"/>
              <a:t>(</a:t>
            </a:r>
            <a:r>
              <a:rPr lang="en-US" dirty="0">
                <a:latin typeface="Cambria Math" pitchFamily="18" charset="0"/>
                <a:ea typeface="Cambria Math" pitchFamily="18" charset="0"/>
              </a:rPr>
              <a:t>1925-1984</a:t>
            </a:r>
            <a:r>
              <a:rPr lang="en-US" dirty="0"/>
              <a:t>)</a:t>
            </a:r>
          </a:p>
        </p:txBody>
      </p:sp>
      <p:sp>
        <p:nvSpPr>
          <p:cNvPr id="20" name="TextBox 19"/>
          <p:cNvSpPr txBox="1"/>
          <p:nvPr/>
        </p:nvSpPr>
        <p:spPr>
          <a:xfrm>
            <a:off x="5410200" y="5423450"/>
            <a:ext cx="1524000" cy="646331"/>
          </a:xfrm>
          <a:prstGeom prst="rect">
            <a:avLst/>
          </a:prstGeom>
          <a:noFill/>
        </p:spPr>
        <p:txBody>
          <a:bodyPr wrap="square" rtlCol="0">
            <a:spAutoFit/>
          </a:bodyPr>
          <a:lstStyle/>
          <a:p>
            <a:r>
              <a:rPr lang="en-US" dirty="0" err="1"/>
              <a:t>Øysten</a:t>
            </a:r>
            <a:r>
              <a:rPr lang="en-US" dirty="0"/>
              <a:t> Ore</a:t>
            </a:r>
          </a:p>
          <a:p>
            <a:r>
              <a:rPr lang="en-US" dirty="0"/>
              <a:t>(</a:t>
            </a:r>
            <a:r>
              <a:rPr lang="en-US" dirty="0">
                <a:latin typeface="Cambria Math" pitchFamily="18" charset="0"/>
                <a:ea typeface="Cambria Math" pitchFamily="18" charset="0"/>
              </a:rPr>
              <a:t>1899-1968</a:t>
            </a:r>
            <a:r>
              <a:rPr lang="en-US" dirty="0"/>
              <a:t>)</a:t>
            </a:r>
          </a:p>
        </p:txBody>
      </p:sp>
    </p:spTree>
    <p:extLst>
      <p:ext uri="{BB962C8B-B14F-4D97-AF65-F5344CB8AC3E}">
        <p14:creationId xmlns:p14="http://schemas.microsoft.com/office/powerpoint/2010/main" val="3537858309"/>
      </p:ext>
    </p:extLst>
  </p:cSld>
  <p:clrMapOvr>
    <a:masterClrMapping/>
  </p:clrMapOvr>
  <p:transition spd="slow">
    <p:wip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Applications of Hamilton Paths and Circuits</a:t>
            </a:r>
          </a:p>
        </p:txBody>
      </p:sp>
      <p:sp>
        <p:nvSpPr>
          <p:cNvPr id="3" name="Content Placeholder 2"/>
          <p:cNvSpPr>
            <a:spLocks noGrp="1"/>
          </p:cNvSpPr>
          <p:nvPr>
            <p:ph idx="1"/>
          </p:nvPr>
        </p:nvSpPr>
        <p:spPr/>
        <p:txBody>
          <a:bodyPr>
            <a:normAutofit fontScale="92500" lnSpcReduction="20000"/>
          </a:bodyPr>
          <a:lstStyle/>
          <a:p>
            <a:r>
              <a:rPr lang="en-US" dirty="0"/>
              <a:t>Applications that ask for a path or a circuit that visits each intersection of a city, each place pipelines intersect in a utility grid, or each node in a communications network exactly once, can be solved by finding a Hamilton path in the appropriate graph.</a:t>
            </a:r>
          </a:p>
          <a:p>
            <a:r>
              <a:rPr lang="en-US" dirty="0"/>
              <a:t>The famous </a:t>
            </a:r>
            <a:r>
              <a:rPr lang="en-US" i="1" dirty="0"/>
              <a:t>traveling salesperson problem </a:t>
            </a:r>
            <a:r>
              <a:rPr lang="en-US" dirty="0"/>
              <a:t>(</a:t>
            </a:r>
            <a:r>
              <a:rPr lang="en-US" i="1" dirty="0"/>
              <a:t>TSP</a:t>
            </a:r>
            <a:r>
              <a:rPr lang="en-US" dirty="0"/>
              <a:t>) asks for the shortest route a traveling salesperson should take to visit a set of cities. This problem reduces to finding a Hamilton circuit such that the total sum of the weights of its edges is as small as possible.</a:t>
            </a:r>
          </a:p>
          <a:p>
            <a:r>
              <a:rPr lang="en-US" dirty="0"/>
              <a:t>A family of binary codes, known as </a:t>
            </a:r>
            <a:r>
              <a:rPr lang="en-US" i="1" dirty="0"/>
              <a:t>Gray codes</a:t>
            </a:r>
            <a:r>
              <a:rPr lang="en-US" dirty="0"/>
              <a:t>, which minimize the effect of transmission errors, correspond to Hamilton circuits in the </a:t>
            </a:r>
            <a:r>
              <a:rPr lang="en-US" i="1" dirty="0"/>
              <a:t>n</a:t>
            </a:r>
            <a:r>
              <a:rPr lang="en-US" dirty="0"/>
              <a:t>-cube </a:t>
            </a:r>
            <a:r>
              <a:rPr lang="en-US" i="1" dirty="0"/>
              <a:t>Q</a:t>
            </a:r>
            <a:r>
              <a:rPr lang="en-US" i="1" baseline="-25000" dirty="0"/>
              <a:t>n</a:t>
            </a:r>
            <a:r>
              <a:rPr lang="en-US" dirty="0"/>
              <a:t>.  (</a:t>
            </a:r>
            <a:r>
              <a:rPr lang="en-US" i="1" dirty="0"/>
              <a:t>See the text for details</a:t>
            </a:r>
            <a:r>
              <a:rPr lang="en-US" dirty="0"/>
              <a:t>.)</a:t>
            </a:r>
          </a:p>
        </p:txBody>
      </p:sp>
    </p:spTree>
    <p:extLst>
      <p:ext uri="{BB962C8B-B14F-4D97-AF65-F5344CB8AC3E}">
        <p14:creationId xmlns:p14="http://schemas.microsoft.com/office/powerpoint/2010/main" val="3991648520"/>
      </p:ext>
    </p:extLst>
  </p:cSld>
  <p:clrMapOvr>
    <a:masterClrMapping/>
  </p:clrMapOvr>
  <p:transition spd="slow">
    <p:wip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Planar Graphs</a:t>
            </a:r>
          </a:p>
        </p:txBody>
      </p:sp>
      <p:pic>
        <p:nvPicPr>
          <p:cNvPr id="4" name="Content Placeholder 3"/>
          <p:cNvPicPr>
            <a:picLocks noGrp="1" noChangeAspect="1"/>
          </p:cNvPicPr>
          <p:nvPr>
            <p:ph idx="1"/>
          </p:nvPr>
        </p:nvPicPr>
        <p:blipFill>
          <a:blip r:embed="rId2"/>
          <a:stretch>
            <a:fillRect/>
          </a:stretch>
        </p:blipFill>
        <p:spPr>
          <a:xfrm>
            <a:off x="1295400" y="1847088"/>
            <a:ext cx="6315075" cy="3848100"/>
          </a:xfrm>
          <a:prstGeom prst="rect">
            <a:avLst/>
          </a:prstGeom>
        </p:spPr>
      </p:pic>
      <p:sp>
        <p:nvSpPr>
          <p:cNvPr id="5" name="Rectangle 4"/>
          <p:cNvSpPr/>
          <p:nvPr/>
        </p:nvSpPr>
        <p:spPr>
          <a:xfrm>
            <a:off x="1600200" y="6172200"/>
            <a:ext cx="59436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Which are planar and which are not planar??</a:t>
            </a:r>
          </a:p>
        </p:txBody>
      </p:sp>
    </p:spTree>
    <p:extLst>
      <p:ext uri="{BB962C8B-B14F-4D97-AF65-F5344CB8AC3E}">
        <p14:creationId xmlns:p14="http://schemas.microsoft.com/office/powerpoint/2010/main" val="988844768"/>
      </p:ext>
    </p:extLst>
  </p:cSld>
  <p:clrMapOvr>
    <a:masterClrMapping/>
  </p:clrMapOvr>
  <p:transition spd="slow">
    <p:wip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Planar Graphs</a:t>
            </a:r>
          </a:p>
        </p:txBody>
      </p:sp>
      <p:pic>
        <p:nvPicPr>
          <p:cNvPr id="4" name="Content Placeholder 3"/>
          <p:cNvPicPr>
            <a:picLocks noGrp="1" noChangeAspect="1"/>
          </p:cNvPicPr>
          <p:nvPr>
            <p:ph idx="1"/>
          </p:nvPr>
        </p:nvPicPr>
        <p:blipFill>
          <a:blip r:embed="rId2"/>
          <a:stretch>
            <a:fillRect/>
          </a:stretch>
        </p:blipFill>
        <p:spPr>
          <a:xfrm>
            <a:off x="1414462" y="2286000"/>
            <a:ext cx="6315075" cy="3000375"/>
          </a:xfrm>
          <a:prstGeom prst="rect">
            <a:avLst/>
          </a:prstGeom>
        </p:spPr>
      </p:pic>
    </p:spTree>
    <p:extLst>
      <p:ext uri="{BB962C8B-B14F-4D97-AF65-F5344CB8AC3E}">
        <p14:creationId xmlns:p14="http://schemas.microsoft.com/office/powerpoint/2010/main" val="4293682033"/>
      </p:ext>
    </p:extLst>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Planar Graphs</a:t>
            </a:r>
          </a:p>
        </p:txBody>
      </p:sp>
      <p:pic>
        <p:nvPicPr>
          <p:cNvPr id="4" name="Content Placeholder 3"/>
          <p:cNvPicPr>
            <a:picLocks noGrp="1" noChangeAspect="1"/>
          </p:cNvPicPr>
          <p:nvPr>
            <p:ph idx="1"/>
          </p:nvPr>
        </p:nvPicPr>
        <p:blipFill>
          <a:blip r:embed="rId2"/>
          <a:stretch>
            <a:fillRect/>
          </a:stretch>
        </p:blipFill>
        <p:spPr>
          <a:xfrm>
            <a:off x="1414462" y="1953419"/>
            <a:ext cx="6315075" cy="4352925"/>
          </a:xfrm>
          <a:prstGeom prst="rect">
            <a:avLst/>
          </a:prstGeom>
        </p:spPr>
      </p:pic>
    </p:spTree>
    <p:extLst>
      <p:ext uri="{BB962C8B-B14F-4D97-AF65-F5344CB8AC3E}">
        <p14:creationId xmlns:p14="http://schemas.microsoft.com/office/powerpoint/2010/main" val="2025979933"/>
      </p:ext>
    </p:extLst>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Corollary 1</a:t>
            </a:r>
          </a:p>
        </p:txBody>
      </p:sp>
      <p:pic>
        <p:nvPicPr>
          <p:cNvPr id="4" name="Content Placeholder 3"/>
          <p:cNvPicPr>
            <a:picLocks noGrp="1" noChangeAspect="1"/>
          </p:cNvPicPr>
          <p:nvPr>
            <p:ph idx="1"/>
          </p:nvPr>
        </p:nvPicPr>
        <p:blipFill>
          <a:blip r:embed="rId2"/>
          <a:stretch>
            <a:fillRect/>
          </a:stretch>
        </p:blipFill>
        <p:spPr>
          <a:xfrm>
            <a:off x="1219200" y="2209800"/>
            <a:ext cx="6221016" cy="3810000"/>
          </a:xfrm>
          <a:prstGeom prst="rect">
            <a:avLst/>
          </a:prstGeom>
        </p:spPr>
      </p:pic>
      <p:sp>
        <p:nvSpPr>
          <p:cNvPr id="5" name="Rectangle 4"/>
          <p:cNvSpPr/>
          <p:nvPr/>
        </p:nvSpPr>
        <p:spPr>
          <a:xfrm>
            <a:off x="1905000" y="6248400"/>
            <a:ext cx="518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Prove K5 is non planar</a:t>
            </a:r>
          </a:p>
        </p:txBody>
      </p:sp>
    </p:spTree>
    <p:extLst>
      <p:ext uri="{BB962C8B-B14F-4D97-AF65-F5344CB8AC3E}">
        <p14:creationId xmlns:p14="http://schemas.microsoft.com/office/powerpoint/2010/main" val="769632126"/>
      </p:ext>
    </p:extLst>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Corollary 2</a:t>
            </a:r>
          </a:p>
        </p:txBody>
      </p:sp>
      <p:pic>
        <p:nvPicPr>
          <p:cNvPr id="4" name="Content Placeholder 3"/>
          <p:cNvPicPr>
            <a:picLocks noGrp="1" noChangeAspect="1"/>
          </p:cNvPicPr>
          <p:nvPr>
            <p:ph idx="1"/>
          </p:nvPr>
        </p:nvPicPr>
        <p:blipFill>
          <a:blip r:embed="rId2"/>
          <a:stretch>
            <a:fillRect/>
          </a:stretch>
        </p:blipFill>
        <p:spPr>
          <a:xfrm>
            <a:off x="2286000" y="1847088"/>
            <a:ext cx="5371744" cy="2420112"/>
          </a:xfrm>
          <a:prstGeom prst="rect">
            <a:avLst/>
          </a:prstGeom>
        </p:spPr>
      </p:pic>
      <p:pic>
        <p:nvPicPr>
          <p:cNvPr id="5" name="Picture 4"/>
          <p:cNvPicPr>
            <a:picLocks noChangeAspect="1"/>
          </p:cNvPicPr>
          <p:nvPr/>
        </p:nvPicPr>
        <p:blipFill>
          <a:blip r:embed="rId3"/>
          <a:stretch>
            <a:fillRect/>
          </a:stretch>
        </p:blipFill>
        <p:spPr>
          <a:xfrm>
            <a:off x="1981200" y="4458462"/>
            <a:ext cx="5972175" cy="2332110"/>
          </a:xfrm>
          <a:prstGeom prst="rect">
            <a:avLst/>
          </a:prstGeom>
        </p:spPr>
      </p:pic>
    </p:spTree>
    <p:extLst>
      <p:ext uri="{BB962C8B-B14F-4D97-AF65-F5344CB8AC3E}">
        <p14:creationId xmlns:p14="http://schemas.microsoft.com/office/powerpoint/2010/main" val="3479809738"/>
      </p:ext>
    </p:extLst>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pic>
        <p:nvPicPr>
          <p:cNvPr id="4" name="Content Placeholder 3"/>
          <p:cNvPicPr>
            <a:picLocks noGrp="1" noChangeAspect="1"/>
          </p:cNvPicPr>
          <p:nvPr>
            <p:ph idx="1"/>
          </p:nvPr>
        </p:nvPicPr>
        <p:blipFill>
          <a:blip r:embed="rId2"/>
          <a:stretch>
            <a:fillRect/>
          </a:stretch>
        </p:blipFill>
        <p:spPr>
          <a:xfrm>
            <a:off x="1414462" y="2391569"/>
            <a:ext cx="6315075" cy="3476625"/>
          </a:xfrm>
          <a:prstGeom prst="rect">
            <a:avLst/>
          </a:prstGeom>
        </p:spPr>
      </p:pic>
    </p:spTree>
    <p:extLst>
      <p:ext uri="{BB962C8B-B14F-4D97-AF65-F5344CB8AC3E}">
        <p14:creationId xmlns:p14="http://schemas.microsoft.com/office/powerpoint/2010/main" val="4192179289"/>
      </p:ext>
    </p:extLst>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Kuratwoski’s</a:t>
            </a:r>
            <a:r>
              <a:rPr lang="en-US" dirty="0"/>
              <a:t> Theorm</a:t>
            </a:r>
          </a:p>
        </p:txBody>
      </p:sp>
      <p:pic>
        <p:nvPicPr>
          <p:cNvPr id="4" name="Content Placeholder 3"/>
          <p:cNvPicPr>
            <a:picLocks noGrp="1" noChangeAspect="1"/>
          </p:cNvPicPr>
          <p:nvPr>
            <p:ph idx="1"/>
          </p:nvPr>
        </p:nvPicPr>
        <p:blipFill>
          <a:blip r:embed="rId2"/>
          <a:stretch>
            <a:fillRect/>
          </a:stretch>
        </p:blipFill>
        <p:spPr>
          <a:xfrm>
            <a:off x="1452562" y="2362200"/>
            <a:ext cx="6238875" cy="3419634"/>
          </a:xfrm>
          <a:prstGeom prst="rect">
            <a:avLst/>
          </a:prstGeom>
        </p:spPr>
      </p:pic>
    </p:spTree>
    <p:extLst>
      <p:ext uri="{BB962C8B-B14F-4D97-AF65-F5344CB8AC3E}">
        <p14:creationId xmlns:p14="http://schemas.microsoft.com/office/powerpoint/2010/main" val="931831830"/>
      </p:ext>
    </p:extLst>
  </p:cSld>
  <p:clrMapOvr>
    <a:masterClrMapping/>
  </p:clrMapOvr>
  <p:transition spd="slow">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23BFC-86CD-4AA4-BD97-A2A56D7AF470}"/>
              </a:ext>
            </a:extLst>
          </p:cNvPr>
          <p:cNvSpPr>
            <a:spLocks noGrp="1"/>
          </p:cNvSpPr>
          <p:nvPr>
            <p:ph type="ctrTitle"/>
          </p:nvPr>
        </p:nvSpPr>
        <p:spPr/>
        <p:txBody>
          <a:bodyPr/>
          <a:lstStyle/>
          <a:p>
            <a:r>
              <a:rPr lang="en-US" dirty="0"/>
              <a:t>PART-II TREES </a:t>
            </a:r>
            <a:endParaRPr lang="en-IN" dirty="0"/>
          </a:p>
        </p:txBody>
      </p:sp>
      <p:sp>
        <p:nvSpPr>
          <p:cNvPr id="3" name="Subtitle 2">
            <a:extLst>
              <a:ext uri="{FF2B5EF4-FFF2-40B4-BE49-F238E27FC236}">
                <a16:creationId xmlns:a16="http://schemas.microsoft.com/office/drawing/2014/main" id="{9F40A9C5-278E-A068-6A2A-4A823B7C85F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585176452"/>
      </p:ext>
    </p:extLst>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2">
            <a:extLst>
              <a:ext uri="{FF2B5EF4-FFF2-40B4-BE49-F238E27FC236}">
                <a16:creationId xmlns:a16="http://schemas.microsoft.com/office/drawing/2014/main" id="{16B0D6F2-2153-4449-8D73-4350EEEB8ABE}"/>
              </a:ext>
            </a:extLst>
          </p:cNvPr>
          <p:cNvSpPr>
            <a:spLocks noGrp="1" noChangeArrowheads="1"/>
          </p:cNvSpPr>
          <p:nvPr>
            <p:ph type="title"/>
          </p:nvPr>
        </p:nvSpPr>
        <p:spPr/>
        <p:txBody>
          <a:bodyPr/>
          <a:lstStyle/>
          <a:p>
            <a:r>
              <a:rPr lang="en-US" altLang="en-US"/>
              <a:t>Definition:</a:t>
            </a:r>
          </a:p>
        </p:txBody>
      </p:sp>
      <p:sp>
        <p:nvSpPr>
          <p:cNvPr id="135172" name="Text Box 4">
            <a:extLst>
              <a:ext uri="{FF2B5EF4-FFF2-40B4-BE49-F238E27FC236}">
                <a16:creationId xmlns:a16="http://schemas.microsoft.com/office/drawing/2014/main" id="{C54E5666-3282-4084-A0EB-3013997D11E2}"/>
              </a:ext>
            </a:extLst>
          </p:cNvPr>
          <p:cNvSpPr txBox="1">
            <a:spLocks noChangeArrowheads="1"/>
          </p:cNvSpPr>
          <p:nvPr/>
        </p:nvSpPr>
        <p:spPr bwMode="auto">
          <a:xfrm>
            <a:off x="990600" y="1981200"/>
            <a:ext cx="7543800" cy="301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 </a:t>
            </a:r>
            <a:r>
              <a:rPr lang="en-US" altLang="en-US" sz="3200" i="1">
                <a:latin typeface="Times New Roman" panose="02020603050405020304" pitchFamily="18" charset="0"/>
              </a:rPr>
              <a:t>tree</a:t>
            </a:r>
            <a:r>
              <a:rPr lang="en-US" altLang="en-US" sz="3200">
                <a:latin typeface="Times New Roman" panose="02020603050405020304" pitchFamily="18" charset="0"/>
              </a:rPr>
              <a:t> is a connected undirected graph with no simple circuits.</a:t>
            </a:r>
          </a:p>
          <a:p>
            <a:pPr>
              <a:spcBef>
                <a:spcPct val="50000"/>
              </a:spcBef>
            </a:pPr>
            <a:endParaRPr lang="en-US" altLang="en-US" sz="3200">
              <a:latin typeface="Times New Roman" panose="02020603050405020304" pitchFamily="18" charset="0"/>
            </a:endParaRPr>
          </a:p>
          <a:p>
            <a:pPr>
              <a:spcBef>
                <a:spcPct val="50000"/>
              </a:spcBef>
            </a:pPr>
            <a:r>
              <a:rPr lang="en-US" altLang="en-US" sz="3200">
                <a:latin typeface="Times New Roman" panose="02020603050405020304" pitchFamily="18" charset="0"/>
              </a:rPr>
              <a:t>Recall: A </a:t>
            </a:r>
            <a:r>
              <a:rPr lang="en-US" altLang="en-US" sz="3200" b="1">
                <a:latin typeface="Times New Roman" panose="02020603050405020304" pitchFamily="18" charset="0"/>
              </a:rPr>
              <a:t>circuit</a:t>
            </a:r>
            <a:r>
              <a:rPr lang="en-US" altLang="en-US" sz="3200">
                <a:latin typeface="Times New Roman" panose="02020603050405020304" pitchFamily="18" charset="0"/>
              </a:rPr>
              <a:t> is a path of length &gt;=1 that begins and ends a the same vertex.</a:t>
            </a:r>
          </a:p>
        </p:txBody>
      </p:sp>
    </p:spTree>
  </p:cSld>
  <p:clrMapOvr>
    <a:masterClrMapping/>
  </p:clrMapOvr>
  <p:transition spd="slow">
    <p:wip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a:extLst>
              <a:ext uri="{FF2B5EF4-FFF2-40B4-BE49-F238E27FC236}">
                <a16:creationId xmlns:a16="http://schemas.microsoft.com/office/drawing/2014/main" id="{98D3107D-ADD1-4830-B544-7A36A88A3FEB}"/>
              </a:ext>
            </a:extLst>
          </p:cNvPr>
          <p:cNvSpPr>
            <a:spLocks noGrp="1" noChangeArrowheads="1"/>
          </p:cNvSpPr>
          <p:nvPr>
            <p:ph type="title"/>
          </p:nvPr>
        </p:nvSpPr>
        <p:spPr/>
        <p:txBody>
          <a:bodyPr/>
          <a:lstStyle/>
          <a:p>
            <a:endParaRPr lang="en-US" altLang="en-US"/>
          </a:p>
        </p:txBody>
      </p:sp>
      <p:sp>
        <p:nvSpPr>
          <p:cNvPr id="142340" name="Oval 4">
            <a:extLst>
              <a:ext uri="{FF2B5EF4-FFF2-40B4-BE49-F238E27FC236}">
                <a16:creationId xmlns:a16="http://schemas.microsoft.com/office/drawing/2014/main" id="{10AC82D4-71E9-4150-8007-F1588B8C5A9D}"/>
              </a:ext>
            </a:extLst>
          </p:cNvPr>
          <p:cNvSpPr>
            <a:spLocks noChangeArrowheads="1"/>
          </p:cNvSpPr>
          <p:nvPr/>
        </p:nvSpPr>
        <p:spPr bwMode="auto">
          <a:xfrm>
            <a:off x="1524000" y="21336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42407" name="Group 71">
            <a:extLst>
              <a:ext uri="{FF2B5EF4-FFF2-40B4-BE49-F238E27FC236}">
                <a16:creationId xmlns:a16="http://schemas.microsoft.com/office/drawing/2014/main" id="{0E6008DF-7CAB-40C0-8481-9C5D20B004DD}"/>
              </a:ext>
            </a:extLst>
          </p:cNvPr>
          <p:cNvGrpSpPr>
            <a:grpSpLocks/>
          </p:cNvGrpSpPr>
          <p:nvPr/>
        </p:nvGrpSpPr>
        <p:grpSpPr bwMode="auto">
          <a:xfrm>
            <a:off x="2667000" y="2133600"/>
            <a:ext cx="1295400" cy="152400"/>
            <a:chOff x="1680" y="1344"/>
            <a:chExt cx="816" cy="96"/>
          </a:xfrm>
        </p:grpSpPr>
        <p:sp>
          <p:nvSpPr>
            <p:cNvPr id="142343" name="Oval 7">
              <a:extLst>
                <a:ext uri="{FF2B5EF4-FFF2-40B4-BE49-F238E27FC236}">
                  <a16:creationId xmlns:a16="http://schemas.microsoft.com/office/drawing/2014/main" id="{8A5ABE8D-7121-44CD-A315-3AB8AE32DE63}"/>
                </a:ext>
              </a:extLst>
            </p:cNvPr>
            <p:cNvSpPr>
              <a:spLocks noChangeArrowheads="1"/>
            </p:cNvSpPr>
            <p:nvPr/>
          </p:nvSpPr>
          <p:spPr bwMode="auto">
            <a:xfrm>
              <a:off x="1680" y="13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44" name="Oval 8">
              <a:extLst>
                <a:ext uri="{FF2B5EF4-FFF2-40B4-BE49-F238E27FC236}">
                  <a16:creationId xmlns:a16="http://schemas.microsoft.com/office/drawing/2014/main" id="{66DBC8C2-D247-4518-8B19-0B74459C72BA}"/>
                </a:ext>
              </a:extLst>
            </p:cNvPr>
            <p:cNvSpPr>
              <a:spLocks noChangeArrowheads="1"/>
            </p:cNvSpPr>
            <p:nvPr/>
          </p:nvSpPr>
          <p:spPr bwMode="auto">
            <a:xfrm>
              <a:off x="2400" y="13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45" name="Line 9">
              <a:extLst>
                <a:ext uri="{FF2B5EF4-FFF2-40B4-BE49-F238E27FC236}">
                  <a16:creationId xmlns:a16="http://schemas.microsoft.com/office/drawing/2014/main" id="{DC9D893C-3569-4014-A71F-22110D00E104}"/>
                </a:ext>
              </a:extLst>
            </p:cNvPr>
            <p:cNvSpPr>
              <a:spLocks noChangeShapeType="1"/>
            </p:cNvSpPr>
            <p:nvPr/>
          </p:nvSpPr>
          <p:spPr bwMode="auto">
            <a:xfrm>
              <a:off x="1728" y="1392"/>
              <a:ext cx="72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2406" name="Group 70">
            <a:extLst>
              <a:ext uri="{FF2B5EF4-FFF2-40B4-BE49-F238E27FC236}">
                <a16:creationId xmlns:a16="http://schemas.microsoft.com/office/drawing/2014/main" id="{6C87133D-FFA1-4B7E-BB97-62091D68E640}"/>
              </a:ext>
            </a:extLst>
          </p:cNvPr>
          <p:cNvGrpSpPr>
            <a:grpSpLocks/>
          </p:cNvGrpSpPr>
          <p:nvPr/>
        </p:nvGrpSpPr>
        <p:grpSpPr bwMode="auto">
          <a:xfrm>
            <a:off x="4953000" y="2133600"/>
            <a:ext cx="1295400" cy="838200"/>
            <a:chOff x="3120" y="1344"/>
            <a:chExt cx="816" cy="528"/>
          </a:xfrm>
        </p:grpSpPr>
        <p:sp>
          <p:nvSpPr>
            <p:cNvPr id="142348" name="Oval 12">
              <a:extLst>
                <a:ext uri="{FF2B5EF4-FFF2-40B4-BE49-F238E27FC236}">
                  <a16:creationId xmlns:a16="http://schemas.microsoft.com/office/drawing/2014/main" id="{556B530A-78A4-4996-8F38-F8FB65341AC7}"/>
                </a:ext>
              </a:extLst>
            </p:cNvPr>
            <p:cNvSpPr>
              <a:spLocks noChangeArrowheads="1"/>
            </p:cNvSpPr>
            <p:nvPr/>
          </p:nvSpPr>
          <p:spPr bwMode="auto">
            <a:xfrm>
              <a:off x="3120" y="13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49" name="Oval 13">
              <a:extLst>
                <a:ext uri="{FF2B5EF4-FFF2-40B4-BE49-F238E27FC236}">
                  <a16:creationId xmlns:a16="http://schemas.microsoft.com/office/drawing/2014/main" id="{C627B3BB-120D-4B1A-B6FD-26F67D98BB14}"/>
                </a:ext>
              </a:extLst>
            </p:cNvPr>
            <p:cNvSpPr>
              <a:spLocks noChangeArrowheads="1"/>
            </p:cNvSpPr>
            <p:nvPr/>
          </p:nvSpPr>
          <p:spPr bwMode="auto">
            <a:xfrm>
              <a:off x="3840" y="13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50" name="Oval 14">
              <a:extLst>
                <a:ext uri="{FF2B5EF4-FFF2-40B4-BE49-F238E27FC236}">
                  <a16:creationId xmlns:a16="http://schemas.microsoft.com/office/drawing/2014/main" id="{03F48977-929E-4822-823A-33FF58044EAC}"/>
                </a:ext>
              </a:extLst>
            </p:cNvPr>
            <p:cNvSpPr>
              <a:spLocks noChangeArrowheads="1"/>
            </p:cNvSpPr>
            <p:nvPr/>
          </p:nvSpPr>
          <p:spPr bwMode="auto">
            <a:xfrm>
              <a:off x="3504" y="177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51" name="Line 15">
              <a:extLst>
                <a:ext uri="{FF2B5EF4-FFF2-40B4-BE49-F238E27FC236}">
                  <a16:creationId xmlns:a16="http://schemas.microsoft.com/office/drawing/2014/main" id="{F540E1F9-110D-4D64-AA65-8900BC72C586}"/>
                </a:ext>
              </a:extLst>
            </p:cNvPr>
            <p:cNvSpPr>
              <a:spLocks noChangeShapeType="1"/>
            </p:cNvSpPr>
            <p:nvPr/>
          </p:nvSpPr>
          <p:spPr bwMode="auto">
            <a:xfrm>
              <a:off x="3168" y="1392"/>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53" name="Line 17">
              <a:extLst>
                <a:ext uri="{FF2B5EF4-FFF2-40B4-BE49-F238E27FC236}">
                  <a16:creationId xmlns:a16="http://schemas.microsoft.com/office/drawing/2014/main" id="{BEBB942F-C72A-4158-A396-26706C7F9E32}"/>
                </a:ext>
              </a:extLst>
            </p:cNvPr>
            <p:cNvSpPr>
              <a:spLocks noChangeShapeType="1"/>
            </p:cNvSpPr>
            <p:nvPr/>
          </p:nvSpPr>
          <p:spPr bwMode="auto">
            <a:xfrm flipV="1">
              <a:off x="3552" y="1392"/>
              <a:ext cx="336"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2405" name="Group 69">
            <a:extLst>
              <a:ext uri="{FF2B5EF4-FFF2-40B4-BE49-F238E27FC236}">
                <a16:creationId xmlns:a16="http://schemas.microsoft.com/office/drawing/2014/main" id="{521EAD4E-8DD8-4F22-B4B4-0C610E307D16}"/>
              </a:ext>
            </a:extLst>
          </p:cNvPr>
          <p:cNvGrpSpPr>
            <a:grpSpLocks/>
          </p:cNvGrpSpPr>
          <p:nvPr/>
        </p:nvGrpSpPr>
        <p:grpSpPr bwMode="auto">
          <a:xfrm>
            <a:off x="6934200" y="2057400"/>
            <a:ext cx="1447800" cy="1143000"/>
            <a:chOff x="4368" y="1296"/>
            <a:chExt cx="912" cy="720"/>
          </a:xfrm>
        </p:grpSpPr>
        <p:sp>
          <p:nvSpPr>
            <p:cNvPr id="142356" name="Oval 20">
              <a:extLst>
                <a:ext uri="{FF2B5EF4-FFF2-40B4-BE49-F238E27FC236}">
                  <a16:creationId xmlns:a16="http://schemas.microsoft.com/office/drawing/2014/main" id="{9FDCB241-9ED1-4986-B6AA-4090F7939FA1}"/>
                </a:ext>
              </a:extLst>
            </p:cNvPr>
            <p:cNvSpPr>
              <a:spLocks noChangeArrowheads="1"/>
            </p:cNvSpPr>
            <p:nvPr/>
          </p:nvSpPr>
          <p:spPr bwMode="auto">
            <a:xfrm>
              <a:off x="4368" y="129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57" name="Oval 21">
              <a:extLst>
                <a:ext uri="{FF2B5EF4-FFF2-40B4-BE49-F238E27FC236}">
                  <a16:creationId xmlns:a16="http://schemas.microsoft.com/office/drawing/2014/main" id="{71608808-AD07-4F7C-9679-4C5FBB56597C}"/>
                </a:ext>
              </a:extLst>
            </p:cNvPr>
            <p:cNvSpPr>
              <a:spLocks noChangeArrowheads="1"/>
            </p:cNvSpPr>
            <p:nvPr/>
          </p:nvSpPr>
          <p:spPr bwMode="auto">
            <a:xfrm>
              <a:off x="5136" y="129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58" name="Oval 22">
              <a:extLst>
                <a:ext uri="{FF2B5EF4-FFF2-40B4-BE49-F238E27FC236}">
                  <a16:creationId xmlns:a16="http://schemas.microsoft.com/office/drawing/2014/main" id="{52BF882A-B874-47F0-A237-D23BD58163D7}"/>
                </a:ext>
              </a:extLst>
            </p:cNvPr>
            <p:cNvSpPr>
              <a:spLocks noChangeArrowheads="1"/>
            </p:cNvSpPr>
            <p:nvPr/>
          </p:nvSpPr>
          <p:spPr bwMode="auto">
            <a:xfrm>
              <a:off x="4416" y="192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59" name="Oval 23">
              <a:extLst>
                <a:ext uri="{FF2B5EF4-FFF2-40B4-BE49-F238E27FC236}">
                  <a16:creationId xmlns:a16="http://schemas.microsoft.com/office/drawing/2014/main" id="{2E82D63F-D0BD-40CD-A1F3-833D27563A77}"/>
                </a:ext>
              </a:extLst>
            </p:cNvPr>
            <p:cNvSpPr>
              <a:spLocks noChangeArrowheads="1"/>
            </p:cNvSpPr>
            <p:nvPr/>
          </p:nvSpPr>
          <p:spPr bwMode="auto">
            <a:xfrm>
              <a:off x="5184" y="192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61" name="Line 25">
              <a:extLst>
                <a:ext uri="{FF2B5EF4-FFF2-40B4-BE49-F238E27FC236}">
                  <a16:creationId xmlns:a16="http://schemas.microsoft.com/office/drawing/2014/main" id="{0B53ADB6-D8AA-45FF-9CF4-463BD119C34D}"/>
                </a:ext>
              </a:extLst>
            </p:cNvPr>
            <p:cNvSpPr>
              <a:spLocks noChangeShapeType="1"/>
            </p:cNvSpPr>
            <p:nvPr/>
          </p:nvSpPr>
          <p:spPr bwMode="auto">
            <a:xfrm>
              <a:off x="4464" y="1968"/>
              <a:ext cx="76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62" name="Line 26">
              <a:extLst>
                <a:ext uri="{FF2B5EF4-FFF2-40B4-BE49-F238E27FC236}">
                  <a16:creationId xmlns:a16="http://schemas.microsoft.com/office/drawing/2014/main" id="{116BD979-A413-4971-AE83-8CC7D287C1F3}"/>
                </a:ext>
              </a:extLst>
            </p:cNvPr>
            <p:cNvSpPr>
              <a:spLocks noChangeShapeType="1"/>
            </p:cNvSpPr>
            <p:nvPr/>
          </p:nvSpPr>
          <p:spPr bwMode="auto">
            <a:xfrm>
              <a:off x="4416" y="1344"/>
              <a:ext cx="48"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63" name="Line 27">
              <a:extLst>
                <a:ext uri="{FF2B5EF4-FFF2-40B4-BE49-F238E27FC236}">
                  <a16:creationId xmlns:a16="http://schemas.microsoft.com/office/drawing/2014/main" id="{82E264E8-7208-49C2-8C88-5635C082EA76}"/>
                </a:ext>
              </a:extLst>
            </p:cNvPr>
            <p:cNvSpPr>
              <a:spLocks noChangeShapeType="1"/>
            </p:cNvSpPr>
            <p:nvPr/>
          </p:nvSpPr>
          <p:spPr bwMode="auto">
            <a:xfrm>
              <a:off x="5184" y="1344"/>
              <a:ext cx="48"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64" name="Line 28">
              <a:extLst>
                <a:ext uri="{FF2B5EF4-FFF2-40B4-BE49-F238E27FC236}">
                  <a16:creationId xmlns:a16="http://schemas.microsoft.com/office/drawing/2014/main" id="{797D3D26-0B14-40FE-80FE-5B2FCCCF3A5B}"/>
                </a:ext>
              </a:extLst>
            </p:cNvPr>
            <p:cNvSpPr>
              <a:spLocks noChangeShapeType="1"/>
            </p:cNvSpPr>
            <p:nvPr/>
          </p:nvSpPr>
          <p:spPr bwMode="auto">
            <a:xfrm flipV="1">
              <a:off x="4464" y="1344"/>
              <a:ext cx="720"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2404" name="Group 68">
            <a:extLst>
              <a:ext uri="{FF2B5EF4-FFF2-40B4-BE49-F238E27FC236}">
                <a16:creationId xmlns:a16="http://schemas.microsoft.com/office/drawing/2014/main" id="{A6625069-AE15-4ED3-85FD-BD20D350C23E}"/>
              </a:ext>
            </a:extLst>
          </p:cNvPr>
          <p:cNvGrpSpPr>
            <a:grpSpLocks/>
          </p:cNvGrpSpPr>
          <p:nvPr/>
        </p:nvGrpSpPr>
        <p:grpSpPr bwMode="auto">
          <a:xfrm>
            <a:off x="1676400" y="4267200"/>
            <a:ext cx="1981200" cy="1600200"/>
            <a:chOff x="1056" y="2688"/>
            <a:chExt cx="1248" cy="1008"/>
          </a:xfrm>
        </p:grpSpPr>
        <p:sp>
          <p:nvSpPr>
            <p:cNvPr id="142368" name="Oval 32">
              <a:extLst>
                <a:ext uri="{FF2B5EF4-FFF2-40B4-BE49-F238E27FC236}">
                  <a16:creationId xmlns:a16="http://schemas.microsoft.com/office/drawing/2014/main" id="{285BCF6E-2ADD-4AB4-A574-40AF9E5820A6}"/>
                </a:ext>
              </a:extLst>
            </p:cNvPr>
            <p:cNvSpPr>
              <a:spLocks noChangeArrowheads="1"/>
            </p:cNvSpPr>
            <p:nvPr/>
          </p:nvSpPr>
          <p:spPr bwMode="auto">
            <a:xfrm>
              <a:off x="1056" y="27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69" name="Oval 33">
              <a:extLst>
                <a:ext uri="{FF2B5EF4-FFF2-40B4-BE49-F238E27FC236}">
                  <a16:creationId xmlns:a16="http://schemas.microsoft.com/office/drawing/2014/main" id="{05913CF5-3EEC-4987-B741-5598CFAC6D01}"/>
                </a:ext>
              </a:extLst>
            </p:cNvPr>
            <p:cNvSpPr>
              <a:spLocks noChangeArrowheads="1"/>
            </p:cNvSpPr>
            <p:nvPr/>
          </p:nvSpPr>
          <p:spPr bwMode="auto">
            <a:xfrm>
              <a:off x="1824" y="36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70" name="Oval 34">
              <a:extLst>
                <a:ext uri="{FF2B5EF4-FFF2-40B4-BE49-F238E27FC236}">
                  <a16:creationId xmlns:a16="http://schemas.microsoft.com/office/drawing/2014/main" id="{A237EF00-E3E9-43F7-A981-ECB0D86367C3}"/>
                </a:ext>
              </a:extLst>
            </p:cNvPr>
            <p:cNvSpPr>
              <a:spLocks noChangeArrowheads="1"/>
            </p:cNvSpPr>
            <p:nvPr/>
          </p:nvSpPr>
          <p:spPr bwMode="auto">
            <a:xfrm>
              <a:off x="1152" y="360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71" name="Oval 35">
              <a:extLst>
                <a:ext uri="{FF2B5EF4-FFF2-40B4-BE49-F238E27FC236}">
                  <a16:creationId xmlns:a16="http://schemas.microsoft.com/office/drawing/2014/main" id="{4ECD463C-759A-48B1-B039-34BE9AA48BE7}"/>
                </a:ext>
              </a:extLst>
            </p:cNvPr>
            <p:cNvSpPr>
              <a:spLocks noChangeArrowheads="1"/>
            </p:cNvSpPr>
            <p:nvPr/>
          </p:nvSpPr>
          <p:spPr bwMode="auto">
            <a:xfrm>
              <a:off x="1680" y="26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72" name="Oval 36">
              <a:extLst>
                <a:ext uri="{FF2B5EF4-FFF2-40B4-BE49-F238E27FC236}">
                  <a16:creationId xmlns:a16="http://schemas.microsoft.com/office/drawing/2014/main" id="{699E803A-7D6F-47BA-8519-96F95ABFE947}"/>
                </a:ext>
              </a:extLst>
            </p:cNvPr>
            <p:cNvSpPr>
              <a:spLocks noChangeArrowheads="1"/>
            </p:cNvSpPr>
            <p:nvPr/>
          </p:nvSpPr>
          <p:spPr bwMode="auto">
            <a:xfrm>
              <a:off x="2208" y="30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75" name="Line 39">
              <a:extLst>
                <a:ext uri="{FF2B5EF4-FFF2-40B4-BE49-F238E27FC236}">
                  <a16:creationId xmlns:a16="http://schemas.microsoft.com/office/drawing/2014/main" id="{B8441A02-B0F5-4F4A-A4BF-B6A497A4BA0A}"/>
                </a:ext>
              </a:extLst>
            </p:cNvPr>
            <p:cNvSpPr>
              <a:spLocks noChangeShapeType="1"/>
            </p:cNvSpPr>
            <p:nvPr/>
          </p:nvSpPr>
          <p:spPr bwMode="auto">
            <a:xfrm>
              <a:off x="1104" y="2784"/>
              <a:ext cx="768" cy="86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78" name="Line 42">
              <a:extLst>
                <a:ext uri="{FF2B5EF4-FFF2-40B4-BE49-F238E27FC236}">
                  <a16:creationId xmlns:a16="http://schemas.microsoft.com/office/drawing/2014/main" id="{28D0051F-E3BB-4AD5-9E66-672A2C97F74B}"/>
                </a:ext>
              </a:extLst>
            </p:cNvPr>
            <p:cNvSpPr>
              <a:spLocks noChangeShapeType="1"/>
            </p:cNvSpPr>
            <p:nvPr/>
          </p:nvSpPr>
          <p:spPr bwMode="auto">
            <a:xfrm>
              <a:off x="1728" y="2736"/>
              <a:ext cx="144" cy="96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79" name="Line 43">
              <a:extLst>
                <a:ext uri="{FF2B5EF4-FFF2-40B4-BE49-F238E27FC236}">
                  <a16:creationId xmlns:a16="http://schemas.microsoft.com/office/drawing/2014/main" id="{22864D39-2A60-4A9B-8FAA-7C3A0721FD1F}"/>
                </a:ext>
              </a:extLst>
            </p:cNvPr>
            <p:cNvSpPr>
              <a:spLocks noChangeShapeType="1"/>
            </p:cNvSpPr>
            <p:nvPr/>
          </p:nvSpPr>
          <p:spPr bwMode="auto">
            <a:xfrm>
              <a:off x="1728" y="2736"/>
              <a:ext cx="528"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82" name="Line 46">
              <a:extLst>
                <a:ext uri="{FF2B5EF4-FFF2-40B4-BE49-F238E27FC236}">
                  <a16:creationId xmlns:a16="http://schemas.microsoft.com/office/drawing/2014/main" id="{902685B4-38C8-4B0E-B1F9-565B0065790E}"/>
                </a:ext>
              </a:extLst>
            </p:cNvPr>
            <p:cNvSpPr>
              <a:spLocks noChangeShapeType="1"/>
            </p:cNvSpPr>
            <p:nvPr/>
          </p:nvSpPr>
          <p:spPr bwMode="auto">
            <a:xfrm flipH="1" flipV="1">
              <a:off x="1248" y="3648"/>
              <a:ext cx="624"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2411" name="Group 75">
            <a:extLst>
              <a:ext uri="{FF2B5EF4-FFF2-40B4-BE49-F238E27FC236}">
                <a16:creationId xmlns:a16="http://schemas.microsoft.com/office/drawing/2014/main" id="{E9E64C38-6734-4C5A-8920-6999FCBAB782}"/>
              </a:ext>
            </a:extLst>
          </p:cNvPr>
          <p:cNvGrpSpPr>
            <a:grpSpLocks/>
          </p:cNvGrpSpPr>
          <p:nvPr/>
        </p:nvGrpSpPr>
        <p:grpSpPr bwMode="auto">
          <a:xfrm>
            <a:off x="5181600" y="4114800"/>
            <a:ext cx="2057400" cy="1600200"/>
            <a:chOff x="3264" y="2592"/>
            <a:chExt cx="1296" cy="1008"/>
          </a:xfrm>
        </p:grpSpPr>
        <p:sp>
          <p:nvSpPr>
            <p:cNvPr id="142386" name="Oval 50">
              <a:extLst>
                <a:ext uri="{FF2B5EF4-FFF2-40B4-BE49-F238E27FC236}">
                  <a16:creationId xmlns:a16="http://schemas.microsoft.com/office/drawing/2014/main" id="{6B58D241-2BEE-4087-A244-FD10CF659EA0}"/>
                </a:ext>
              </a:extLst>
            </p:cNvPr>
            <p:cNvSpPr>
              <a:spLocks noChangeArrowheads="1"/>
            </p:cNvSpPr>
            <p:nvPr/>
          </p:nvSpPr>
          <p:spPr bwMode="auto">
            <a:xfrm>
              <a:off x="3264"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87" name="Oval 51">
              <a:extLst>
                <a:ext uri="{FF2B5EF4-FFF2-40B4-BE49-F238E27FC236}">
                  <a16:creationId xmlns:a16="http://schemas.microsoft.com/office/drawing/2014/main" id="{351CBE65-AFAF-4AC7-BC73-4FB37BBA4C46}"/>
                </a:ext>
              </a:extLst>
            </p:cNvPr>
            <p:cNvSpPr>
              <a:spLocks noChangeArrowheads="1"/>
            </p:cNvSpPr>
            <p:nvPr/>
          </p:nvSpPr>
          <p:spPr bwMode="auto">
            <a:xfrm>
              <a:off x="4032" y="350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88" name="Oval 52">
              <a:extLst>
                <a:ext uri="{FF2B5EF4-FFF2-40B4-BE49-F238E27FC236}">
                  <a16:creationId xmlns:a16="http://schemas.microsoft.com/office/drawing/2014/main" id="{00C76412-C3CC-46A7-834E-5753A612FCBE}"/>
                </a:ext>
              </a:extLst>
            </p:cNvPr>
            <p:cNvSpPr>
              <a:spLocks noChangeArrowheads="1"/>
            </p:cNvSpPr>
            <p:nvPr/>
          </p:nvSpPr>
          <p:spPr bwMode="auto">
            <a:xfrm>
              <a:off x="3360" y="350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89" name="Oval 53">
              <a:extLst>
                <a:ext uri="{FF2B5EF4-FFF2-40B4-BE49-F238E27FC236}">
                  <a16:creationId xmlns:a16="http://schemas.microsoft.com/office/drawing/2014/main" id="{18058733-A27A-4A15-BF7D-909B6004E7D8}"/>
                </a:ext>
              </a:extLst>
            </p:cNvPr>
            <p:cNvSpPr>
              <a:spLocks noChangeArrowheads="1"/>
            </p:cNvSpPr>
            <p:nvPr/>
          </p:nvSpPr>
          <p:spPr bwMode="auto">
            <a:xfrm>
              <a:off x="3888" y="25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90" name="Oval 54">
              <a:extLst>
                <a:ext uri="{FF2B5EF4-FFF2-40B4-BE49-F238E27FC236}">
                  <a16:creationId xmlns:a16="http://schemas.microsoft.com/office/drawing/2014/main" id="{48847DF3-07D8-4009-BF9E-ABD6D2E04C4D}"/>
                </a:ext>
              </a:extLst>
            </p:cNvPr>
            <p:cNvSpPr>
              <a:spLocks noChangeArrowheads="1"/>
            </p:cNvSpPr>
            <p:nvPr/>
          </p:nvSpPr>
          <p:spPr bwMode="auto">
            <a:xfrm>
              <a:off x="3456" y="32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Times New Roman" panose="02020603050405020304" pitchFamily="18" charset="0"/>
                </a:rPr>
                <a:t>d</a:t>
              </a:r>
            </a:p>
          </p:txBody>
        </p:sp>
        <p:sp>
          <p:nvSpPr>
            <p:cNvPr id="142394" name="Line 58">
              <a:extLst>
                <a:ext uri="{FF2B5EF4-FFF2-40B4-BE49-F238E27FC236}">
                  <a16:creationId xmlns:a16="http://schemas.microsoft.com/office/drawing/2014/main" id="{DFFF5469-5A49-4A0B-810B-BE283F52CDB1}"/>
                </a:ext>
              </a:extLst>
            </p:cNvPr>
            <p:cNvSpPr>
              <a:spLocks noChangeShapeType="1"/>
            </p:cNvSpPr>
            <p:nvPr/>
          </p:nvSpPr>
          <p:spPr bwMode="auto">
            <a:xfrm flipH="1">
              <a:off x="4080" y="3024"/>
              <a:ext cx="384"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95" name="Line 59">
              <a:extLst>
                <a:ext uri="{FF2B5EF4-FFF2-40B4-BE49-F238E27FC236}">
                  <a16:creationId xmlns:a16="http://schemas.microsoft.com/office/drawing/2014/main" id="{3F9FA1F6-8906-4C1F-8EDB-C5F3FA65E766}"/>
                </a:ext>
              </a:extLst>
            </p:cNvPr>
            <p:cNvSpPr>
              <a:spLocks noChangeShapeType="1"/>
            </p:cNvSpPr>
            <p:nvPr/>
          </p:nvSpPr>
          <p:spPr bwMode="auto">
            <a:xfrm flipH="1" flipV="1">
              <a:off x="3456" y="3552"/>
              <a:ext cx="624" cy="4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97" name="Oval 61">
              <a:extLst>
                <a:ext uri="{FF2B5EF4-FFF2-40B4-BE49-F238E27FC236}">
                  <a16:creationId xmlns:a16="http://schemas.microsoft.com/office/drawing/2014/main" id="{FD382395-F2AE-42F8-B9F0-6D0FEF7A7480}"/>
                </a:ext>
              </a:extLst>
            </p:cNvPr>
            <p:cNvSpPr>
              <a:spLocks noChangeArrowheads="1"/>
            </p:cNvSpPr>
            <p:nvPr/>
          </p:nvSpPr>
          <p:spPr bwMode="auto">
            <a:xfrm>
              <a:off x="3744" y="302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398" name="Line 62">
              <a:extLst>
                <a:ext uri="{FF2B5EF4-FFF2-40B4-BE49-F238E27FC236}">
                  <a16:creationId xmlns:a16="http://schemas.microsoft.com/office/drawing/2014/main" id="{F833476E-C958-4DDC-80C5-CEFB2A00C427}"/>
                </a:ext>
              </a:extLst>
            </p:cNvPr>
            <p:cNvSpPr>
              <a:spLocks noChangeShapeType="1"/>
            </p:cNvSpPr>
            <p:nvPr/>
          </p:nvSpPr>
          <p:spPr bwMode="auto">
            <a:xfrm flipH="1" flipV="1">
              <a:off x="3264" y="2688"/>
              <a:ext cx="528" cy="38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400" name="Line 64">
              <a:extLst>
                <a:ext uri="{FF2B5EF4-FFF2-40B4-BE49-F238E27FC236}">
                  <a16:creationId xmlns:a16="http://schemas.microsoft.com/office/drawing/2014/main" id="{A95E52F0-1904-48D7-B8FA-F85810DF0E15}"/>
                </a:ext>
              </a:extLst>
            </p:cNvPr>
            <p:cNvSpPr>
              <a:spLocks noChangeShapeType="1"/>
            </p:cNvSpPr>
            <p:nvPr/>
          </p:nvSpPr>
          <p:spPr bwMode="auto">
            <a:xfrm flipH="1" flipV="1">
              <a:off x="3792" y="3072"/>
              <a:ext cx="288"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401" name="Line 65">
              <a:extLst>
                <a:ext uri="{FF2B5EF4-FFF2-40B4-BE49-F238E27FC236}">
                  <a16:creationId xmlns:a16="http://schemas.microsoft.com/office/drawing/2014/main" id="{9DCECDD3-2921-4DF0-9E16-B88665D0AE66}"/>
                </a:ext>
              </a:extLst>
            </p:cNvPr>
            <p:cNvSpPr>
              <a:spLocks noChangeShapeType="1"/>
            </p:cNvSpPr>
            <p:nvPr/>
          </p:nvSpPr>
          <p:spPr bwMode="auto">
            <a:xfrm flipV="1">
              <a:off x="3792" y="2640"/>
              <a:ext cx="14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2408" name="Oval 72">
              <a:extLst>
                <a:ext uri="{FF2B5EF4-FFF2-40B4-BE49-F238E27FC236}">
                  <a16:creationId xmlns:a16="http://schemas.microsoft.com/office/drawing/2014/main" id="{3CB5B9B1-B1CC-4E29-8060-BD6C7A2E79CF}"/>
                </a:ext>
              </a:extLst>
            </p:cNvPr>
            <p:cNvSpPr>
              <a:spLocks noChangeArrowheads="1"/>
            </p:cNvSpPr>
            <p:nvPr/>
          </p:nvSpPr>
          <p:spPr bwMode="auto">
            <a:xfrm>
              <a:off x="4416"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Times New Roman" panose="02020603050405020304" pitchFamily="18" charset="0"/>
                </a:rPr>
                <a:t>d</a:t>
              </a:r>
            </a:p>
          </p:txBody>
        </p:sp>
        <p:sp>
          <p:nvSpPr>
            <p:cNvPr id="142410" name="Line 74">
              <a:extLst>
                <a:ext uri="{FF2B5EF4-FFF2-40B4-BE49-F238E27FC236}">
                  <a16:creationId xmlns:a16="http://schemas.microsoft.com/office/drawing/2014/main" id="{A52E701D-5C1C-4E5E-84DC-C8416AFEA6EA}"/>
                </a:ext>
              </a:extLst>
            </p:cNvPr>
            <p:cNvSpPr>
              <a:spLocks noChangeShapeType="1"/>
            </p:cNvSpPr>
            <p:nvPr/>
          </p:nvSpPr>
          <p:spPr bwMode="auto">
            <a:xfrm flipV="1">
              <a:off x="3504" y="2928"/>
              <a:ext cx="1056"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2340"/>
                                        </p:tgtEl>
                                        <p:attrNameLst>
                                          <p:attrName>style.visibility</p:attrName>
                                        </p:attrNameLst>
                                      </p:cBhvr>
                                      <p:to>
                                        <p:strVal val="visible"/>
                                      </p:to>
                                    </p:set>
                                    <p:animEffect transition="in" filter="dissolve">
                                      <p:cBhvr>
                                        <p:cTn id="7" dur="500"/>
                                        <p:tgtEl>
                                          <p:spTgt spid="14234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2407"/>
                                        </p:tgtEl>
                                        <p:attrNameLst>
                                          <p:attrName>style.visibility</p:attrName>
                                        </p:attrNameLst>
                                      </p:cBhvr>
                                      <p:to>
                                        <p:strVal val="visible"/>
                                      </p:to>
                                    </p:set>
                                    <p:animEffect transition="in" filter="dissolve">
                                      <p:cBhvr>
                                        <p:cTn id="12" dur="500"/>
                                        <p:tgtEl>
                                          <p:spTgt spid="14240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2406"/>
                                        </p:tgtEl>
                                        <p:attrNameLst>
                                          <p:attrName>style.visibility</p:attrName>
                                        </p:attrNameLst>
                                      </p:cBhvr>
                                      <p:to>
                                        <p:strVal val="visible"/>
                                      </p:to>
                                    </p:set>
                                    <p:animEffect transition="in" filter="dissolve">
                                      <p:cBhvr>
                                        <p:cTn id="17" dur="500"/>
                                        <p:tgtEl>
                                          <p:spTgt spid="14240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2405"/>
                                        </p:tgtEl>
                                        <p:attrNameLst>
                                          <p:attrName>style.visibility</p:attrName>
                                        </p:attrNameLst>
                                      </p:cBhvr>
                                      <p:to>
                                        <p:strVal val="visible"/>
                                      </p:to>
                                    </p:set>
                                    <p:animEffect transition="in" filter="dissolve">
                                      <p:cBhvr>
                                        <p:cTn id="22" dur="500"/>
                                        <p:tgtEl>
                                          <p:spTgt spid="1424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42404"/>
                                        </p:tgtEl>
                                        <p:attrNameLst>
                                          <p:attrName>style.visibility</p:attrName>
                                        </p:attrNameLst>
                                      </p:cBhvr>
                                      <p:to>
                                        <p:strVal val="visible"/>
                                      </p:to>
                                    </p:set>
                                    <p:animEffect transition="in" filter="dissolve">
                                      <p:cBhvr>
                                        <p:cTn id="27" dur="500"/>
                                        <p:tgtEl>
                                          <p:spTgt spid="1424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nodeType="clickEffect">
                                  <p:stCondLst>
                                    <p:cond delay="0"/>
                                  </p:stCondLst>
                                  <p:childTnLst>
                                    <p:set>
                                      <p:cBhvr>
                                        <p:cTn id="31" dur="1" fill="hold">
                                          <p:stCondLst>
                                            <p:cond delay="0"/>
                                          </p:stCondLst>
                                        </p:cTn>
                                        <p:tgtEl>
                                          <p:spTgt spid="142411"/>
                                        </p:tgtEl>
                                        <p:attrNameLst>
                                          <p:attrName>style.visibility</p:attrName>
                                        </p:attrNameLst>
                                      </p:cBhvr>
                                      <p:to>
                                        <p:strVal val="visible"/>
                                      </p:to>
                                    </p:set>
                                    <p:animEffect transition="in" filter="dissolve">
                                      <p:cBhvr>
                                        <p:cTn id="32" dur="500"/>
                                        <p:tgtEl>
                                          <p:spTgt spid="1424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026">
            <a:extLst>
              <a:ext uri="{FF2B5EF4-FFF2-40B4-BE49-F238E27FC236}">
                <a16:creationId xmlns:a16="http://schemas.microsoft.com/office/drawing/2014/main" id="{B5324D20-4654-475E-ADD1-9D7CFA43EDC8}"/>
              </a:ext>
            </a:extLst>
          </p:cNvPr>
          <p:cNvSpPr>
            <a:spLocks noGrp="1" noChangeArrowheads="1"/>
          </p:cNvSpPr>
          <p:nvPr>
            <p:ph type="title"/>
          </p:nvPr>
        </p:nvSpPr>
        <p:spPr>
          <a:noFill/>
          <a:ln/>
        </p:spPr>
        <p:txBody>
          <a:bodyPr lIns="92075" tIns="46038" rIns="92075" bIns="46038" anchor="ctr"/>
          <a:lstStyle/>
          <a:p>
            <a:r>
              <a:rPr lang="en-US" altLang="en-US"/>
              <a:t>Tournament Trees</a:t>
            </a:r>
          </a:p>
        </p:txBody>
      </p:sp>
      <p:sp>
        <p:nvSpPr>
          <p:cNvPr id="136195" name="Rectangle 1027">
            <a:extLst>
              <a:ext uri="{FF2B5EF4-FFF2-40B4-BE49-F238E27FC236}">
                <a16:creationId xmlns:a16="http://schemas.microsoft.com/office/drawing/2014/main" id="{A4609754-47BE-4B88-90F4-57B27C10C3E5}"/>
              </a:ext>
            </a:extLst>
          </p:cNvPr>
          <p:cNvSpPr>
            <a:spLocks noChangeArrowheads="1"/>
          </p:cNvSpPr>
          <p:nvPr/>
        </p:nvSpPr>
        <p:spPr bwMode="auto">
          <a:xfrm>
            <a:off x="990600" y="1600200"/>
            <a:ext cx="7772400"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2800">
                <a:latin typeface="Book Antiqua" panose="02040602050305030304" pitchFamily="18" charset="0"/>
              </a:rPr>
              <a:t>A common form of tree used in everyday life is the tournament tree, used to describe the outcome of a series of games, such as a tennis tournament.</a:t>
            </a:r>
          </a:p>
        </p:txBody>
      </p:sp>
      <p:grpSp>
        <p:nvGrpSpPr>
          <p:cNvPr id="136214" name="Group 1046">
            <a:extLst>
              <a:ext uri="{FF2B5EF4-FFF2-40B4-BE49-F238E27FC236}">
                <a16:creationId xmlns:a16="http://schemas.microsoft.com/office/drawing/2014/main" id="{B240AC5C-93F9-409E-9F0D-738AEA221669}"/>
              </a:ext>
            </a:extLst>
          </p:cNvPr>
          <p:cNvGrpSpPr>
            <a:grpSpLocks/>
          </p:cNvGrpSpPr>
          <p:nvPr/>
        </p:nvGrpSpPr>
        <p:grpSpPr bwMode="auto">
          <a:xfrm>
            <a:off x="1406525" y="3352800"/>
            <a:ext cx="7204075" cy="3013075"/>
            <a:chOff x="374" y="2342"/>
            <a:chExt cx="4538" cy="1898"/>
          </a:xfrm>
        </p:grpSpPr>
        <p:sp>
          <p:nvSpPr>
            <p:cNvPr id="136196" name="Rectangle 1028">
              <a:extLst>
                <a:ext uri="{FF2B5EF4-FFF2-40B4-BE49-F238E27FC236}">
                  <a16:creationId xmlns:a16="http://schemas.microsoft.com/office/drawing/2014/main" id="{BB007435-FA45-49A2-97D5-7FE212914029}"/>
                </a:ext>
              </a:extLst>
            </p:cNvPr>
            <p:cNvSpPr>
              <a:spLocks noChangeArrowheads="1"/>
            </p:cNvSpPr>
            <p:nvPr/>
          </p:nvSpPr>
          <p:spPr bwMode="auto">
            <a:xfrm>
              <a:off x="374" y="2342"/>
              <a:ext cx="809" cy="18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Alice</a:t>
              </a:r>
            </a:p>
            <a:p>
              <a:r>
                <a:rPr lang="en-US" altLang="en-US" sz="2400">
                  <a:latin typeface="Book Antiqua" panose="02040602050305030304" pitchFamily="18" charset="0"/>
                </a:rPr>
                <a:t>Antonia</a:t>
              </a:r>
            </a:p>
            <a:p>
              <a:r>
                <a:rPr lang="en-US" altLang="en-US" sz="2400">
                  <a:latin typeface="Book Antiqua" panose="02040602050305030304" pitchFamily="18" charset="0"/>
                </a:rPr>
                <a:t>Anita</a:t>
              </a:r>
            </a:p>
            <a:p>
              <a:r>
                <a:rPr lang="en-US" altLang="en-US" sz="2400">
                  <a:latin typeface="Book Antiqua" panose="02040602050305030304" pitchFamily="18" charset="0"/>
                </a:rPr>
                <a:t>Abigail</a:t>
              </a:r>
            </a:p>
            <a:p>
              <a:r>
                <a:rPr lang="en-US" altLang="en-US" sz="2400">
                  <a:latin typeface="Book Antiqua" panose="02040602050305030304" pitchFamily="18" charset="0"/>
                </a:rPr>
                <a:t>Amy</a:t>
              </a:r>
            </a:p>
            <a:p>
              <a:r>
                <a:rPr lang="en-US" altLang="en-US" sz="2400">
                  <a:latin typeface="Book Antiqua" panose="02040602050305030304" pitchFamily="18" charset="0"/>
                </a:rPr>
                <a:t>Agnes</a:t>
              </a:r>
            </a:p>
            <a:p>
              <a:r>
                <a:rPr lang="en-US" altLang="en-US" sz="2400">
                  <a:latin typeface="Book Antiqua" panose="02040602050305030304" pitchFamily="18" charset="0"/>
                </a:rPr>
                <a:t>Angela</a:t>
              </a:r>
            </a:p>
            <a:p>
              <a:r>
                <a:rPr lang="en-US" altLang="en-US" sz="2400">
                  <a:latin typeface="Book Antiqua" panose="02040602050305030304" pitchFamily="18" charset="0"/>
                </a:rPr>
                <a:t>Audrey</a:t>
              </a:r>
            </a:p>
          </p:txBody>
        </p:sp>
        <p:sp>
          <p:nvSpPr>
            <p:cNvPr id="136197" name="Rectangle 1029">
              <a:extLst>
                <a:ext uri="{FF2B5EF4-FFF2-40B4-BE49-F238E27FC236}">
                  <a16:creationId xmlns:a16="http://schemas.microsoft.com/office/drawing/2014/main" id="{2361A578-A002-4705-A6BC-F0E5933DBAE5}"/>
                </a:ext>
              </a:extLst>
            </p:cNvPr>
            <p:cNvSpPr>
              <a:spLocks noChangeArrowheads="1"/>
            </p:cNvSpPr>
            <p:nvPr/>
          </p:nvSpPr>
          <p:spPr bwMode="auto">
            <a:xfrm>
              <a:off x="1872" y="2496"/>
              <a:ext cx="816" cy="15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90000"/>
                </a:spcBef>
              </a:pPr>
              <a:r>
                <a:rPr lang="en-US" altLang="en-US" sz="2400">
                  <a:latin typeface="Book Antiqua" panose="02040602050305030304" pitchFamily="18" charset="0"/>
                </a:rPr>
                <a:t>Alice</a:t>
              </a:r>
            </a:p>
            <a:p>
              <a:pPr>
                <a:spcBef>
                  <a:spcPct val="90000"/>
                </a:spcBef>
              </a:pPr>
              <a:r>
                <a:rPr lang="en-US" altLang="en-US" sz="2400">
                  <a:latin typeface="Book Antiqua" panose="02040602050305030304" pitchFamily="18" charset="0"/>
                </a:rPr>
                <a:t>Abigail</a:t>
              </a:r>
            </a:p>
            <a:p>
              <a:pPr>
                <a:spcBef>
                  <a:spcPct val="90000"/>
                </a:spcBef>
              </a:pPr>
              <a:r>
                <a:rPr lang="en-US" altLang="en-US" sz="2400">
                  <a:latin typeface="Book Antiqua" panose="02040602050305030304" pitchFamily="18" charset="0"/>
                </a:rPr>
                <a:t>Agnes</a:t>
              </a:r>
            </a:p>
            <a:p>
              <a:pPr>
                <a:spcBef>
                  <a:spcPct val="90000"/>
                </a:spcBef>
              </a:pPr>
              <a:r>
                <a:rPr lang="en-US" altLang="en-US" sz="2400">
                  <a:latin typeface="Book Antiqua" panose="02040602050305030304" pitchFamily="18" charset="0"/>
                </a:rPr>
                <a:t>Angela</a:t>
              </a:r>
            </a:p>
          </p:txBody>
        </p:sp>
        <p:sp>
          <p:nvSpPr>
            <p:cNvPr id="136198" name="Rectangle 1030">
              <a:extLst>
                <a:ext uri="{FF2B5EF4-FFF2-40B4-BE49-F238E27FC236}">
                  <a16:creationId xmlns:a16="http://schemas.microsoft.com/office/drawing/2014/main" id="{417415C3-D0E5-4E5E-83B9-3FB703A97080}"/>
                </a:ext>
              </a:extLst>
            </p:cNvPr>
            <p:cNvSpPr>
              <a:spLocks noChangeArrowheads="1"/>
            </p:cNvSpPr>
            <p:nvPr/>
          </p:nvSpPr>
          <p:spPr bwMode="auto">
            <a:xfrm>
              <a:off x="3254" y="2726"/>
              <a:ext cx="728" cy="1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spcBef>
                  <a:spcPct val="20000"/>
                </a:spcBef>
              </a:pPr>
              <a:r>
                <a:rPr lang="en-US" altLang="en-US" sz="2400">
                  <a:latin typeface="Book Antiqua" panose="02040602050305030304" pitchFamily="18" charset="0"/>
                </a:rPr>
                <a:t>Alice</a:t>
              </a:r>
            </a:p>
            <a:p>
              <a:pPr>
                <a:spcBef>
                  <a:spcPct val="20000"/>
                </a:spcBef>
              </a:pPr>
              <a:endParaRPr lang="en-US" altLang="en-US" sz="2400">
                <a:latin typeface="Book Antiqua" panose="02040602050305030304" pitchFamily="18" charset="0"/>
              </a:endParaRPr>
            </a:p>
            <a:p>
              <a:pPr>
                <a:spcBef>
                  <a:spcPct val="20000"/>
                </a:spcBef>
              </a:pPr>
              <a:endParaRPr lang="en-US" altLang="en-US" sz="2400">
                <a:latin typeface="Book Antiqua" panose="02040602050305030304" pitchFamily="18" charset="0"/>
              </a:endParaRPr>
            </a:p>
            <a:p>
              <a:pPr>
                <a:spcBef>
                  <a:spcPct val="20000"/>
                </a:spcBef>
              </a:pPr>
              <a:r>
                <a:rPr lang="en-US" altLang="en-US" sz="2400">
                  <a:latin typeface="Book Antiqua" panose="02040602050305030304" pitchFamily="18" charset="0"/>
                </a:rPr>
                <a:t>Angela</a:t>
              </a:r>
            </a:p>
          </p:txBody>
        </p:sp>
        <p:sp>
          <p:nvSpPr>
            <p:cNvPr id="136199" name="Rectangle 1031">
              <a:extLst>
                <a:ext uri="{FF2B5EF4-FFF2-40B4-BE49-F238E27FC236}">
                  <a16:creationId xmlns:a16="http://schemas.microsoft.com/office/drawing/2014/main" id="{EB4922AF-52E2-4011-A311-CEA74985516C}"/>
                </a:ext>
              </a:extLst>
            </p:cNvPr>
            <p:cNvSpPr>
              <a:spLocks noChangeArrowheads="1"/>
            </p:cNvSpPr>
            <p:nvPr/>
          </p:nvSpPr>
          <p:spPr bwMode="auto">
            <a:xfrm>
              <a:off x="4358" y="3014"/>
              <a:ext cx="55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Alice</a:t>
              </a:r>
            </a:p>
          </p:txBody>
        </p:sp>
        <p:sp>
          <p:nvSpPr>
            <p:cNvPr id="136200" name="Line 1032">
              <a:extLst>
                <a:ext uri="{FF2B5EF4-FFF2-40B4-BE49-F238E27FC236}">
                  <a16:creationId xmlns:a16="http://schemas.microsoft.com/office/drawing/2014/main" id="{BB3A9837-AA60-457B-9410-636DA3BE292E}"/>
                </a:ext>
              </a:extLst>
            </p:cNvPr>
            <p:cNvSpPr>
              <a:spLocks noChangeShapeType="1"/>
            </p:cNvSpPr>
            <p:nvPr/>
          </p:nvSpPr>
          <p:spPr bwMode="auto">
            <a:xfrm>
              <a:off x="1200" y="2448"/>
              <a:ext cx="624"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1" name="Line 1033">
              <a:extLst>
                <a:ext uri="{FF2B5EF4-FFF2-40B4-BE49-F238E27FC236}">
                  <a16:creationId xmlns:a16="http://schemas.microsoft.com/office/drawing/2014/main" id="{7BDCE3CE-8041-45FB-A93F-06F79C2D79E5}"/>
                </a:ext>
              </a:extLst>
            </p:cNvPr>
            <p:cNvSpPr>
              <a:spLocks noChangeShapeType="1"/>
            </p:cNvSpPr>
            <p:nvPr/>
          </p:nvSpPr>
          <p:spPr bwMode="auto">
            <a:xfrm flipV="1">
              <a:off x="1200" y="2640"/>
              <a:ext cx="624" cy="48"/>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2" name="Line 1034">
              <a:extLst>
                <a:ext uri="{FF2B5EF4-FFF2-40B4-BE49-F238E27FC236}">
                  <a16:creationId xmlns:a16="http://schemas.microsoft.com/office/drawing/2014/main" id="{9BD02688-7615-4540-A4DA-277261466501}"/>
                </a:ext>
              </a:extLst>
            </p:cNvPr>
            <p:cNvSpPr>
              <a:spLocks noChangeShapeType="1"/>
            </p:cNvSpPr>
            <p:nvPr/>
          </p:nvSpPr>
          <p:spPr bwMode="auto">
            <a:xfrm>
              <a:off x="1152" y="2928"/>
              <a:ext cx="720" cy="14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3" name="Line 1035">
              <a:extLst>
                <a:ext uri="{FF2B5EF4-FFF2-40B4-BE49-F238E27FC236}">
                  <a16:creationId xmlns:a16="http://schemas.microsoft.com/office/drawing/2014/main" id="{AE87402A-8380-45BB-B3DE-D1BE2E10C345}"/>
                </a:ext>
              </a:extLst>
            </p:cNvPr>
            <p:cNvSpPr>
              <a:spLocks noChangeShapeType="1"/>
            </p:cNvSpPr>
            <p:nvPr/>
          </p:nvSpPr>
          <p:spPr bwMode="auto">
            <a:xfrm flipV="1">
              <a:off x="1152" y="3072"/>
              <a:ext cx="720"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4" name="Line 1036">
              <a:extLst>
                <a:ext uri="{FF2B5EF4-FFF2-40B4-BE49-F238E27FC236}">
                  <a16:creationId xmlns:a16="http://schemas.microsoft.com/office/drawing/2014/main" id="{71BC09CB-07F5-49A0-9F70-848E6C5C0A85}"/>
                </a:ext>
              </a:extLst>
            </p:cNvPr>
            <p:cNvSpPr>
              <a:spLocks noChangeShapeType="1"/>
            </p:cNvSpPr>
            <p:nvPr/>
          </p:nvSpPr>
          <p:spPr bwMode="auto">
            <a:xfrm>
              <a:off x="1152" y="3408"/>
              <a:ext cx="67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5" name="Line 1037">
              <a:extLst>
                <a:ext uri="{FF2B5EF4-FFF2-40B4-BE49-F238E27FC236}">
                  <a16:creationId xmlns:a16="http://schemas.microsoft.com/office/drawing/2014/main" id="{D12BF645-F9DC-4552-8BE3-64FA07247C56}"/>
                </a:ext>
              </a:extLst>
            </p:cNvPr>
            <p:cNvSpPr>
              <a:spLocks noChangeShapeType="1"/>
            </p:cNvSpPr>
            <p:nvPr/>
          </p:nvSpPr>
          <p:spPr bwMode="auto">
            <a:xfrm flipV="1">
              <a:off x="1104" y="3504"/>
              <a:ext cx="720" cy="14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6" name="Line 1038">
              <a:extLst>
                <a:ext uri="{FF2B5EF4-FFF2-40B4-BE49-F238E27FC236}">
                  <a16:creationId xmlns:a16="http://schemas.microsoft.com/office/drawing/2014/main" id="{38B2145D-0295-4E39-AFCB-8D5B3AA47AE2}"/>
                </a:ext>
              </a:extLst>
            </p:cNvPr>
            <p:cNvSpPr>
              <a:spLocks noChangeShapeType="1"/>
            </p:cNvSpPr>
            <p:nvPr/>
          </p:nvSpPr>
          <p:spPr bwMode="auto">
            <a:xfrm>
              <a:off x="1200" y="3840"/>
              <a:ext cx="672" cy="96"/>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7" name="Line 1039">
              <a:extLst>
                <a:ext uri="{FF2B5EF4-FFF2-40B4-BE49-F238E27FC236}">
                  <a16:creationId xmlns:a16="http://schemas.microsoft.com/office/drawing/2014/main" id="{8C1A6A35-01BB-4C39-B080-A8F0114AD373}"/>
                </a:ext>
              </a:extLst>
            </p:cNvPr>
            <p:cNvSpPr>
              <a:spLocks noChangeShapeType="1"/>
            </p:cNvSpPr>
            <p:nvPr/>
          </p:nvSpPr>
          <p:spPr bwMode="auto">
            <a:xfrm flipV="1">
              <a:off x="1200" y="3936"/>
              <a:ext cx="672" cy="144"/>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8" name="Line 1040">
              <a:extLst>
                <a:ext uri="{FF2B5EF4-FFF2-40B4-BE49-F238E27FC236}">
                  <a16:creationId xmlns:a16="http://schemas.microsoft.com/office/drawing/2014/main" id="{03FD6173-524A-4F55-82A2-EC1338582063}"/>
                </a:ext>
              </a:extLst>
            </p:cNvPr>
            <p:cNvSpPr>
              <a:spLocks noChangeShapeType="1"/>
            </p:cNvSpPr>
            <p:nvPr/>
          </p:nvSpPr>
          <p:spPr bwMode="auto">
            <a:xfrm>
              <a:off x="2640" y="2640"/>
              <a:ext cx="576"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09" name="Line 1041">
              <a:extLst>
                <a:ext uri="{FF2B5EF4-FFF2-40B4-BE49-F238E27FC236}">
                  <a16:creationId xmlns:a16="http://schemas.microsoft.com/office/drawing/2014/main" id="{5893883F-CC7B-4895-8214-297FC5F2A900}"/>
                </a:ext>
              </a:extLst>
            </p:cNvPr>
            <p:cNvSpPr>
              <a:spLocks noChangeShapeType="1"/>
            </p:cNvSpPr>
            <p:nvPr/>
          </p:nvSpPr>
          <p:spPr bwMode="auto">
            <a:xfrm flipV="1">
              <a:off x="2640" y="2832"/>
              <a:ext cx="576"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10" name="Line 1042">
              <a:extLst>
                <a:ext uri="{FF2B5EF4-FFF2-40B4-BE49-F238E27FC236}">
                  <a16:creationId xmlns:a16="http://schemas.microsoft.com/office/drawing/2014/main" id="{DDF470EE-F2A4-4340-B037-E6315DF8B5BE}"/>
                </a:ext>
              </a:extLst>
            </p:cNvPr>
            <p:cNvSpPr>
              <a:spLocks noChangeShapeType="1"/>
            </p:cNvSpPr>
            <p:nvPr/>
          </p:nvSpPr>
          <p:spPr bwMode="auto">
            <a:xfrm>
              <a:off x="2592" y="3504"/>
              <a:ext cx="672" cy="19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11" name="Line 1043">
              <a:extLst>
                <a:ext uri="{FF2B5EF4-FFF2-40B4-BE49-F238E27FC236}">
                  <a16:creationId xmlns:a16="http://schemas.microsoft.com/office/drawing/2014/main" id="{7B81BC98-C8CA-4385-B63F-50912D42E240}"/>
                </a:ext>
              </a:extLst>
            </p:cNvPr>
            <p:cNvSpPr>
              <a:spLocks noChangeShapeType="1"/>
            </p:cNvSpPr>
            <p:nvPr/>
          </p:nvSpPr>
          <p:spPr bwMode="auto">
            <a:xfrm flipV="1">
              <a:off x="2640" y="3696"/>
              <a:ext cx="624"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12" name="Line 1044">
              <a:extLst>
                <a:ext uri="{FF2B5EF4-FFF2-40B4-BE49-F238E27FC236}">
                  <a16:creationId xmlns:a16="http://schemas.microsoft.com/office/drawing/2014/main" id="{B9B4716D-59FD-4B7C-B08D-9ABEDBF502E7}"/>
                </a:ext>
              </a:extLst>
            </p:cNvPr>
            <p:cNvSpPr>
              <a:spLocks noChangeShapeType="1"/>
            </p:cNvSpPr>
            <p:nvPr/>
          </p:nvSpPr>
          <p:spPr bwMode="auto">
            <a:xfrm>
              <a:off x="3840" y="2928"/>
              <a:ext cx="528" cy="24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6213" name="Line 1045">
              <a:extLst>
                <a:ext uri="{FF2B5EF4-FFF2-40B4-BE49-F238E27FC236}">
                  <a16:creationId xmlns:a16="http://schemas.microsoft.com/office/drawing/2014/main" id="{F6A30270-F820-48E9-BC9F-2E359EC17A7D}"/>
                </a:ext>
              </a:extLst>
            </p:cNvPr>
            <p:cNvSpPr>
              <a:spLocks noChangeShapeType="1"/>
            </p:cNvSpPr>
            <p:nvPr/>
          </p:nvSpPr>
          <p:spPr bwMode="auto">
            <a:xfrm flipV="1">
              <a:off x="3984" y="3216"/>
              <a:ext cx="384" cy="432"/>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2">
            <a:extLst>
              <a:ext uri="{FF2B5EF4-FFF2-40B4-BE49-F238E27FC236}">
                <a16:creationId xmlns:a16="http://schemas.microsoft.com/office/drawing/2014/main" id="{F9657631-2312-4808-B57F-1DE7C180D701}"/>
              </a:ext>
            </a:extLst>
          </p:cNvPr>
          <p:cNvSpPr>
            <a:spLocks noGrp="1" noChangeArrowheads="1"/>
          </p:cNvSpPr>
          <p:nvPr>
            <p:ph type="title"/>
          </p:nvPr>
        </p:nvSpPr>
        <p:spPr>
          <a:noFill/>
          <a:ln/>
        </p:spPr>
        <p:txBody>
          <a:bodyPr lIns="92075" tIns="46038" rIns="92075" bIns="46038" anchor="ctr"/>
          <a:lstStyle/>
          <a:p>
            <a:r>
              <a:rPr lang="en-US" altLang="en-US"/>
              <a:t>A Family Tree</a:t>
            </a:r>
          </a:p>
        </p:txBody>
      </p:sp>
      <p:sp>
        <p:nvSpPr>
          <p:cNvPr id="138243" name="Rectangle 3">
            <a:extLst>
              <a:ext uri="{FF2B5EF4-FFF2-40B4-BE49-F238E27FC236}">
                <a16:creationId xmlns:a16="http://schemas.microsoft.com/office/drawing/2014/main" id="{ED2B4C00-6D0F-4CDF-BB00-9020F587AF04}"/>
              </a:ext>
            </a:extLst>
          </p:cNvPr>
          <p:cNvSpPr>
            <a:spLocks noChangeArrowheads="1"/>
          </p:cNvSpPr>
          <p:nvPr/>
        </p:nvSpPr>
        <p:spPr bwMode="auto">
          <a:xfrm>
            <a:off x="1143000" y="1905000"/>
            <a:ext cx="73152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2800">
                <a:latin typeface="Book Antiqua" panose="02040602050305030304" pitchFamily="18" charset="0"/>
              </a:rPr>
              <a:t>Much of the tree terminology derives from family trees.</a:t>
            </a:r>
          </a:p>
        </p:txBody>
      </p:sp>
      <p:grpSp>
        <p:nvGrpSpPr>
          <p:cNvPr id="138271" name="Group 31">
            <a:extLst>
              <a:ext uri="{FF2B5EF4-FFF2-40B4-BE49-F238E27FC236}">
                <a16:creationId xmlns:a16="http://schemas.microsoft.com/office/drawing/2014/main" id="{CDEE3E18-EFAC-45BD-8C83-1B1002DD057E}"/>
              </a:ext>
            </a:extLst>
          </p:cNvPr>
          <p:cNvGrpSpPr>
            <a:grpSpLocks/>
          </p:cNvGrpSpPr>
          <p:nvPr/>
        </p:nvGrpSpPr>
        <p:grpSpPr bwMode="auto">
          <a:xfrm>
            <a:off x="136525" y="3276600"/>
            <a:ext cx="9123363" cy="2743200"/>
            <a:chOff x="86" y="1478"/>
            <a:chExt cx="5747" cy="1728"/>
          </a:xfrm>
        </p:grpSpPr>
        <p:sp>
          <p:nvSpPr>
            <p:cNvPr id="138244" name="Rectangle 4">
              <a:extLst>
                <a:ext uri="{FF2B5EF4-FFF2-40B4-BE49-F238E27FC236}">
                  <a16:creationId xmlns:a16="http://schemas.microsoft.com/office/drawing/2014/main" id="{5AE0F802-C8D8-4A46-B537-302268890308}"/>
                </a:ext>
              </a:extLst>
            </p:cNvPr>
            <p:cNvSpPr>
              <a:spLocks noChangeArrowheads="1"/>
            </p:cNvSpPr>
            <p:nvPr/>
          </p:nvSpPr>
          <p:spPr bwMode="auto">
            <a:xfrm>
              <a:off x="3254" y="1478"/>
              <a:ext cx="54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Gaea</a:t>
              </a:r>
            </a:p>
          </p:txBody>
        </p:sp>
        <p:sp>
          <p:nvSpPr>
            <p:cNvPr id="138245" name="Rectangle 5">
              <a:extLst>
                <a:ext uri="{FF2B5EF4-FFF2-40B4-BE49-F238E27FC236}">
                  <a16:creationId xmlns:a16="http://schemas.microsoft.com/office/drawing/2014/main" id="{F93F3293-E841-4F14-886E-71E590941624}"/>
                </a:ext>
              </a:extLst>
            </p:cNvPr>
            <p:cNvSpPr>
              <a:spLocks noChangeArrowheads="1"/>
            </p:cNvSpPr>
            <p:nvPr/>
          </p:nvSpPr>
          <p:spPr bwMode="auto">
            <a:xfrm>
              <a:off x="614" y="2006"/>
              <a:ext cx="74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Cronus</a:t>
              </a:r>
            </a:p>
          </p:txBody>
        </p:sp>
        <p:sp>
          <p:nvSpPr>
            <p:cNvPr id="138246" name="Rectangle 6">
              <a:extLst>
                <a:ext uri="{FF2B5EF4-FFF2-40B4-BE49-F238E27FC236}">
                  <a16:creationId xmlns:a16="http://schemas.microsoft.com/office/drawing/2014/main" id="{0242F731-4BF6-4BA8-9F40-B9A7BD5EF995}"/>
                </a:ext>
              </a:extLst>
            </p:cNvPr>
            <p:cNvSpPr>
              <a:spLocks noChangeArrowheads="1"/>
            </p:cNvSpPr>
            <p:nvPr/>
          </p:nvSpPr>
          <p:spPr bwMode="auto">
            <a:xfrm>
              <a:off x="3206" y="1910"/>
              <a:ext cx="7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Phoebe</a:t>
              </a:r>
            </a:p>
          </p:txBody>
        </p:sp>
        <p:sp>
          <p:nvSpPr>
            <p:cNvPr id="138247" name="Rectangle 7">
              <a:extLst>
                <a:ext uri="{FF2B5EF4-FFF2-40B4-BE49-F238E27FC236}">
                  <a16:creationId xmlns:a16="http://schemas.microsoft.com/office/drawing/2014/main" id="{A8D8E247-8E87-44ED-9EC1-3790EFF1B2EE}"/>
                </a:ext>
              </a:extLst>
            </p:cNvPr>
            <p:cNvSpPr>
              <a:spLocks noChangeArrowheads="1"/>
            </p:cNvSpPr>
            <p:nvPr/>
          </p:nvSpPr>
          <p:spPr bwMode="auto">
            <a:xfrm>
              <a:off x="4550" y="1814"/>
              <a:ext cx="65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Ocean</a:t>
              </a:r>
            </a:p>
          </p:txBody>
        </p:sp>
        <p:sp>
          <p:nvSpPr>
            <p:cNvPr id="138248" name="Rectangle 8">
              <a:extLst>
                <a:ext uri="{FF2B5EF4-FFF2-40B4-BE49-F238E27FC236}">
                  <a16:creationId xmlns:a16="http://schemas.microsoft.com/office/drawing/2014/main" id="{645713BD-A7C1-46E2-A244-99282D07F153}"/>
                </a:ext>
              </a:extLst>
            </p:cNvPr>
            <p:cNvSpPr>
              <a:spLocks noChangeArrowheads="1"/>
            </p:cNvSpPr>
            <p:nvPr/>
          </p:nvSpPr>
          <p:spPr bwMode="auto">
            <a:xfrm>
              <a:off x="86" y="2390"/>
              <a:ext cx="5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Zeus</a:t>
              </a:r>
            </a:p>
          </p:txBody>
        </p:sp>
        <p:sp>
          <p:nvSpPr>
            <p:cNvPr id="138249" name="Rectangle 9">
              <a:extLst>
                <a:ext uri="{FF2B5EF4-FFF2-40B4-BE49-F238E27FC236}">
                  <a16:creationId xmlns:a16="http://schemas.microsoft.com/office/drawing/2014/main" id="{39BB111D-8C12-43AD-9C2B-6193A92CE28A}"/>
                </a:ext>
              </a:extLst>
            </p:cNvPr>
            <p:cNvSpPr>
              <a:spLocks noChangeArrowheads="1"/>
            </p:cNvSpPr>
            <p:nvPr/>
          </p:nvSpPr>
          <p:spPr bwMode="auto">
            <a:xfrm>
              <a:off x="710" y="2390"/>
              <a:ext cx="90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Poseidon</a:t>
              </a:r>
            </a:p>
          </p:txBody>
        </p:sp>
        <p:sp>
          <p:nvSpPr>
            <p:cNvPr id="138250" name="Rectangle 10">
              <a:extLst>
                <a:ext uri="{FF2B5EF4-FFF2-40B4-BE49-F238E27FC236}">
                  <a16:creationId xmlns:a16="http://schemas.microsoft.com/office/drawing/2014/main" id="{FCBFA971-4242-4B79-949D-FF5EEF804D6C}"/>
                </a:ext>
              </a:extLst>
            </p:cNvPr>
            <p:cNvSpPr>
              <a:spLocks noChangeArrowheads="1"/>
            </p:cNvSpPr>
            <p:nvPr/>
          </p:nvSpPr>
          <p:spPr bwMode="auto">
            <a:xfrm>
              <a:off x="1670" y="2390"/>
              <a:ext cx="85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Demeter</a:t>
              </a:r>
            </a:p>
          </p:txBody>
        </p:sp>
        <p:sp>
          <p:nvSpPr>
            <p:cNvPr id="138251" name="Rectangle 11">
              <a:extLst>
                <a:ext uri="{FF2B5EF4-FFF2-40B4-BE49-F238E27FC236}">
                  <a16:creationId xmlns:a16="http://schemas.microsoft.com/office/drawing/2014/main" id="{CCF1F8B9-32E7-495F-98CE-EEC46CF334A6}"/>
                </a:ext>
              </a:extLst>
            </p:cNvPr>
            <p:cNvSpPr>
              <a:spLocks noChangeArrowheads="1"/>
            </p:cNvSpPr>
            <p:nvPr/>
          </p:nvSpPr>
          <p:spPr bwMode="auto">
            <a:xfrm>
              <a:off x="2582" y="2390"/>
              <a:ext cx="57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Pluto</a:t>
              </a:r>
            </a:p>
          </p:txBody>
        </p:sp>
        <p:sp>
          <p:nvSpPr>
            <p:cNvPr id="138252" name="Rectangle 12">
              <a:extLst>
                <a:ext uri="{FF2B5EF4-FFF2-40B4-BE49-F238E27FC236}">
                  <a16:creationId xmlns:a16="http://schemas.microsoft.com/office/drawing/2014/main" id="{E66501D4-2BB2-40B2-A7D7-C58DE0506C51}"/>
                </a:ext>
              </a:extLst>
            </p:cNvPr>
            <p:cNvSpPr>
              <a:spLocks noChangeArrowheads="1"/>
            </p:cNvSpPr>
            <p:nvPr/>
          </p:nvSpPr>
          <p:spPr bwMode="auto">
            <a:xfrm>
              <a:off x="3350" y="2390"/>
              <a:ext cx="4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Leto</a:t>
              </a:r>
            </a:p>
          </p:txBody>
        </p:sp>
        <p:sp>
          <p:nvSpPr>
            <p:cNvPr id="138253" name="Rectangle 13">
              <a:extLst>
                <a:ext uri="{FF2B5EF4-FFF2-40B4-BE49-F238E27FC236}">
                  <a16:creationId xmlns:a16="http://schemas.microsoft.com/office/drawing/2014/main" id="{971F47ED-6948-434F-AE9A-4E01C707D171}"/>
                </a:ext>
              </a:extLst>
            </p:cNvPr>
            <p:cNvSpPr>
              <a:spLocks noChangeArrowheads="1"/>
            </p:cNvSpPr>
            <p:nvPr/>
          </p:nvSpPr>
          <p:spPr bwMode="auto">
            <a:xfrm>
              <a:off x="4598" y="2390"/>
              <a:ext cx="7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Iapetus</a:t>
              </a:r>
            </a:p>
          </p:txBody>
        </p:sp>
        <p:sp>
          <p:nvSpPr>
            <p:cNvPr id="138254" name="Rectangle 14">
              <a:extLst>
                <a:ext uri="{FF2B5EF4-FFF2-40B4-BE49-F238E27FC236}">
                  <a16:creationId xmlns:a16="http://schemas.microsoft.com/office/drawing/2014/main" id="{22A54328-0173-4536-9481-7EACABA7A100}"/>
                </a:ext>
              </a:extLst>
            </p:cNvPr>
            <p:cNvSpPr>
              <a:spLocks noChangeArrowheads="1"/>
            </p:cNvSpPr>
            <p:nvPr/>
          </p:nvSpPr>
          <p:spPr bwMode="auto">
            <a:xfrm>
              <a:off x="1574" y="2918"/>
              <a:ext cx="110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Persephone</a:t>
              </a:r>
            </a:p>
          </p:txBody>
        </p:sp>
        <p:sp>
          <p:nvSpPr>
            <p:cNvPr id="138255" name="Rectangle 15">
              <a:extLst>
                <a:ext uri="{FF2B5EF4-FFF2-40B4-BE49-F238E27FC236}">
                  <a16:creationId xmlns:a16="http://schemas.microsoft.com/office/drawing/2014/main" id="{DF9B96B1-F9D2-4D37-AC5D-6B0F723C706B}"/>
                </a:ext>
              </a:extLst>
            </p:cNvPr>
            <p:cNvSpPr>
              <a:spLocks noChangeArrowheads="1"/>
            </p:cNvSpPr>
            <p:nvPr/>
          </p:nvSpPr>
          <p:spPr bwMode="auto">
            <a:xfrm>
              <a:off x="3302" y="2822"/>
              <a:ext cx="702"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Apollo</a:t>
              </a:r>
            </a:p>
          </p:txBody>
        </p:sp>
        <p:sp>
          <p:nvSpPr>
            <p:cNvPr id="138256" name="Rectangle 16">
              <a:extLst>
                <a:ext uri="{FF2B5EF4-FFF2-40B4-BE49-F238E27FC236}">
                  <a16:creationId xmlns:a16="http://schemas.microsoft.com/office/drawing/2014/main" id="{6941065A-83ED-4E2E-8632-C9E6493C93CA}"/>
                </a:ext>
              </a:extLst>
            </p:cNvPr>
            <p:cNvSpPr>
              <a:spLocks noChangeArrowheads="1"/>
            </p:cNvSpPr>
            <p:nvPr/>
          </p:nvSpPr>
          <p:spPr bwMode="auto">
            <a:xfrm>
              <a:off x="4118" y="2870"/>
              <a:ext cx="56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Atlas</a:t>
              </a:r>
            </a:p>
          </p:txBody>
        </p:sp>
        <p:sp>
          <p:nvSpPr>
            <p:cNvPr id="138257" name="Rectangle 17">
              <a:extLst>
                <a:ext uri="{FF2B5EF4-FFF2-40B4-BE49-F238E27FC236}">
                  <a16:creationId xmlns:a16="http://schemas.microsoft.com/office/drawing/2014/main" id="{1BF6B2B2-D010-4FDD-94D4-C79C49E27A8B}"/>
                </a:ext>
              </a:extLst>
            </p:cNvPr>
            <p:cNvSpPr>
              <a:spLocks noChangeArrowheads="1"/>
            </p:cNvSpPr>
            <p:nvPr/>
          </p:nvSpPr>
          <p:spPr bwMode="auto">
            <a:xfrm>
              <a:off x="4694" y="2870"/>
              <a:ext cx="113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Prometheus</a:t>
              </a:r>
            </a:p>
          </p:txBody>
        </p:sp>
        <p:sp>
          <p:nvSpPr>
            <p:cNvPr id="138258" name="Line 18">
              <a:extLst>
                <a:ext uri="{FF2B5EF4-FFF2-40B4-BE49-F238E27FC236}">
                  <a16:creationId xmlns:a16="http://schemas.microsoft.com/office/drawing/2014/main" id="{7BA5139E-27B2-459F-95E0-A29C06B03294}"/>
                </a:ext>
              </a:extLst>
            </p:cNvPr>
            <p:cNvSpPr>
              <a:spLocks noChangeShapeType="1"/>
            </p:cNvSpPr>
            <p:nvPr/>
          </p:nvSpPr>
          <p:spPr bwMode="auto">
            <a:xfrm>
              <a:off x="3552" y="1728"/>
              <a:ext cx="0" cy="24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59" name="Line 19">
              <a:extLst>
                <a:ext uri="{FF2B5EF4-FFF2-40B4-BE49-F238E27FC236}">
                  <a16:creationId xmlns:a16="http://schemas.microsoft.com/office/drawing/2014/main" id="{54CA52AA-1432-4044-9513-BC8CDA279461}"/>
                </a:ext>
              </a:extLst>
            </p:cNvPr>
            <p:cNvSpPr>
              <a:spLocks noChangeShapeType="1"/>
            </p:cNvSpPr>
            <p:nvPr/>
          </p:nvSpPr>
          <p:spPr bwMode="auto">
            <a:xfrm>
              <a:off x="3552" y="2160"/>
              <a:ext cx="0" cy="28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0" name="Line 20">
              <a:extLst>
                <a:ext uri="{FF2B5EF4-FFF2-40B4-BE49-F238E27FC236}">
                  <a16:creationId xmlns:a16="http://schemas.microsoft.com/office/drawing/2014/main" id="{833FDB01-E608-4C48-8917-9171E26BB168}"/>
                </a:ext>
              </a:extLst>
            </p:cNvPr>
            <p:cNvSpPr>
              <a:spLocks noChangeShapeType="1"/>
            </p:cNvSpPr>
            <p:nvPr/>
          </p:nvSpPr>
          <p:spPr bwMode="auto">
            <a:xfrm>
              <a:off x="3600" y="2640"/>
              <a:ext cx="0" cy="28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1" name="Line 21">
              <a:extLst>
                <a:ext uri="{FF2B5EF4-FFF2-40B4-BE49-F238E27FC236}">
                  <a16:creationId xmlns:a16="http://schemas.microsoft.com/office/drawing/2014/main" id="{7E7CF380-7A31-4FA4-8FB2-AF41B75C2A98}"/>
                </a:ext>
              </a:extLst>
            </p:cNvPr>
            <p:cNvSpPr>
              <a:spLocks noChangeShapeType="1"/>
            </p:cNvSpPr>
            <p:nvPr/>
          </p:nvSpPr>
          <p:spPr bwMode="auto">
            <a:xfrm flipH="1">
              <a:off x="1056" y="1728"/>
              <a:ext cx="2400" cy="336"/>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2" name="Line 22">
              <a:extLst>
                <a:ext uri="{FF2B5EF4-FFF2-40B4-BE49-F238E27FC236}">
                  <a16:creationId xmlns:a16="http://schemas.microsoft.com/office/drawing/2014/main" id="{FE4A6F6C-78B2-493B-9835-37B9BDC802F2}"/>
                </a:ext>
              </a:extLst>
            </p:cNvPr>
            <p:cNvSpPr>
              <a:spLocks noChangeShapeType="1"/>
            </p:cNvSpPr>
            <p:nvPr/>
          </p:nvSpPr>
          <p:spPr bwMode="auto">
            <a:xfrm>
              <a:off x="3744" y="1728"/>
              <a:ext cx="1056" cy="144"/>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3" name="Line 23">
              <a:extLst>
                <a:ext uri="{FF2B5EF4-FFF2-40B4-BE49-F238E27FC236}">
                  <a16:creationId xmlns:a16="http://schemas.microsoft.com/office/drawing/2014/main" id="{0263BB3F-51F3-454D-9FD7-DFA8847E79D8}"/>
                </a:ext>
              </a:extLst>
            </p:cNvPr>
            <p:cNvSpPr>
              <a:spLocks noChangeShapeType="1"/>
            </p:cNvSpPr>
            <p:nvPr/>
          </p:nvSpPr>
          <p:spPr bwMode="auto">
            <a:xfrm flipH="1">
              <a:off x="384" y="2256"/>
              <a:ext cx="336" cy="19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4" name="Line 24">
              <a:extLst>
                <a:ext uri="{FF2B5EF4-FFF2-40B4-BE49-F238E27FC236}">
                  <a16:creationId xmlns:a16="http://schemas.microsoft.com/office/drawing/2014/main" id="{850D31FF-EE07-4668-B761-CE5CC0557A72}"/>
                </a:ext>
              </a:extLst>
            </p:cNvPr>
            <p:cNvSpPr>
              <a:spLocks noChangeShapeType="1"/>
            </p:cNvSpPr>
            <p:nvPr/>
          </p:nvSpPr>
          <p:spPr bwMode="auto">
            <a:xfrm>
              <a:off x="864" y="2256"/>
              <a:ext cx="192" cy="19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5" name="Line 25">
              <a:extLst>
                <a:ext uri="{FF2B5EF4-FFF2-40B4-BE49-F238E27FC236}">
                  <a16:creationId xmlns:a16="http://schemas.microsoft.com/office/drawing/2014/main" id="{11B86E11-3194-4CFB-A96A-C17C998AFAB2}"/>
                </a:ext>
              </a:extLst>
            </p:cNvPr>
            <p:cNvSpPr>
              <a:spLocks noChangeShapeType="1"/>
            </p:cNvSpPr>
            <p:nvPr/>
          </p:nvSpPr>
          <p:spPr bwMode="auto">
            <a:xfrm>
              <a:off x="1056" y="2256"/>
              <a:ext cx="864" cy="19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6" name="Line 26">
              <a:extLst>
                <a:ext uri="{FF2B5EF4-FFF2-40B4-BE49-F238E27FC236}">
                  <a16:creationId xmlns:a16="http://schemas.microsoft.com/office/drawing/2014/main" id="{9C0B8BAA-24DE-419F-9C16-86AF2FFEC33B}"/>
                </a:ext>
              </a:extLst>
            </p:cNvPr>
            <p:cNvSpPr>
              <a:spLocks noChangeShapeType="1"/>
            </p:cNvSpPr>
            <p:nvPr/>
          </p:nvSpPr>
          <p:spPr bwMode="auto">
            <a:xfrm>
              <a:off x="1200" y="2256"/>
              <a:ext cx="1632" cy="19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7" name="Line 27">
              <a:extLst>
                <a:ext uri="{FF2B5EF4-FFF2-40B4-BE49-F238E27FC236}">
                  <a16:creationId xmlns:a16="http://schemas.microsoft.com/office/drawing/2014/main" id="{E4A0BEB4-6ED1-4F23-95D4-0A59A770B1C6}"/>
                </a:ext>
              </a:extLst>
            </p:cNvPr>
            <p:cNvSpPr>
              <a:spLocks noChangeShapeType="1"/>
            </p:cNvSpPr>
            <p:nvPr/>
          </p:nvSpPr>
          <p:spPr bwMode="auto">
            <a:xfrm>
              <a:off x="2064" y="2640"/>
              <a:ext cx="0" cy="336"/>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8" name="Line 28">
              <a:extLst>
                <a:ext uri="{FF2B5EF4-FFF2-40B4-BE49-F238E27FC236}">
                  <a16:creationId xmlns:a16="http://schemas.microsoft.com/office/drawing/2014/main" id="{EB90F70B-22BB-45A4-9485-E16DDA6B2CA7}"/>
                </a:ext>
              </a:extLst>
            </p:cNvPr>
            <p:cNvSpPr>
              <a:spLocks noChangeShapeType="1"/>
            </p:cNvSpPr>
            <p:nvPr/>
          </p:nvSpPr>
          <p:spPr bwMode="auto">
            <a:xfrm>
              <a:off x="4848" y="2064"/>
              <a:ext cx="0" cy="384"/>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69" name="Line 29">
              <a:extLst>
                <a:ext uri="{FF2B5EF4-FFF2-40B4-BE49-F238E27FC236}">
                  <a16:creationId xmlns:a16="http://schemas.microsoft.com/office/drawing/2014/main" id="{9485759D-6D26-4EE1-BC74-F52F550F5B7C}"/>
                </a:ext>
              </a:extLst>
            </p:cNvPr>
            <p:cNvSpPr>
              <a:spLocks noChangeShapeType="1"/>
            </p:cNvSpPr>
            <p:nvPr/>
          </p:nvSpPr>
          <p:spPr bwMode="auto">
            <a:xfrm flipH="1">
              <a:off x="4416" y="2640"/>
              <a:ext cx="384" cy="28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8270" name="Line 30">
              <a:extLst>
                <a:ext uri="{FF2B5EF4-FFF2-40B4-BE49-F238E27FC236}">
                  <a16:creationId xmlns:a16="http://schemas.microsoft.com/office/drawing/2014/main" id="{70C72B94-2797-4279-8FAA-B4C086BF3F0A}"/>
                </a:ext>
              </a:extLst>
            </p:cNvPr>
            <p:cNvSpPr>
              <a:spLocks noChangeShapeType="1"/>
            </p:cNvSpPr>
            <p:nvPr/>
          </p:nvSpPr>
          <p:spPr bwMode="auto">
            <a:xfrm>
              <a:off x="4944" y="2640"/>
              <a:ext cx="288" cy="288"/>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2">
            <a:extLst>
              <a:ext uri="{FF2B5EF4-FFF2-40B4-BE49-F238E27FC236}">
                <a16:creationId xmlns:a16="http://schemas.microsoft.com/office/drawing/2014/main" id="{A9D5AFB5-87FB-43E5-ADE0-6223BCB9579C}"/>
              </a:ext>
            </a:extLst>
          </p:cNvPr>
          <p:cNvSpPr>
            <a:spLocks noGrp="1" noChangeArrowheads="1"/>
          </p:cNvSpPr>
          <p:nvPr>
            <p:ph type="title"/>
          </p:nvPr>
        </p:nvSpPr>
        <p:spPr>
          <a:noFill/>
          <a:ln/>
        </p:spPr>
        <p:txBody>
          <a:bodyPr lIns="92075" tIns="46038" rIns="92075" bIns="46038" anchor="ctr"/>
          <a:lstStyle/>
          <a:p>
            <a:r>
              <a:rPr lang="en-US" altLang="en-US"/>
              <a:t>Ancestor Tree</a:t>
            </a:r>
          </a:p>
        </p:txBody>
      </p:sp>
      <p:sp>
        <p:nvSpPr>
          <p:cNvPr id="140291" name="Rectangle 3">
            <a:extLst>
              <a:ext uri="{FF2B5EF4-FFF2-40B4-BE49-F238E27FC236}">
                <a16:creationId xmlns:a16="http://schemas.microsoft.com/office/drawing/2014/main" id="{C9C03991-CE59-4BEC-BF9E-F88B02BF4216}"/>
              </a:ext>
            </a:extLst>
          </p:cNvPr>
          <p:cNvSpPr>
            <a:spLocks noChangeArrowheads="1"/>
          </p:cNvSpPr>
          <p:nvPr/>
        </p:nvSpPr>
        <p:spPr bwMode="auto">
          <a:xfrm>
            <a:off x="896938" y="1905000"/>
            <a:ext cx="79422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2800">
                <a:latin typeface="Book Antiqua" panose="02040602050305030304" pitchFamily="18" charset="0"/>
              </a:rPr>
              <a:t>An inverted family tree.  Important point - it is a </a:t>
            </a:r>
            <a:r>
              <a:rPr lang="en-US" altLang="en-US" sz="2800" i="1">
                <a:solidFill>
                  <a:srgbClr val="FC0128"/>
                </a:solidFill>
                <a:latin typeface="Book Antiqua" panose="02040602050305030304" pitchFamily="18" charset="0"/>
              </a:rPr>
              <a:t>binary</a:t>
            </a:r>
            <a:r>
              <a:rPr lang="en-US" altLang="en-US" sz="2800">
                <a:latin typeface="Book Antiqua" panose="02040602050305030304" pitchFamily="18" charset="0"/>
              </a:rPr>
              <a:t> tree.</a:t>
            </a:r>
          </a:p>
        </p:txBody>
      </p:sp>
      <p:grpSp>
        <p:nvGrpSpPr>
          <p:cNvPr id="140307" name="Group 19">
            <a:extLst>
              <a:ext uri="{FF2B5EF4-FFF2-40B4-BE49-F238E27FC236}">
                <a16:creationId xmlns:a16="http://schemas.microsoft.com/office/drawing/2014/main" id="{BFD04160-4646-494B-96A2-C80C9718A2FF}"/>
              </a:ext>
            </a:extLst>
          </p:cNvPr>
          <p:cNvGrpSpPr>
            <a:grpSpLocks/>
          </p:cNvGrpSpPr>
          <p:nvPr/>
        </p:nvGrpSpPr>
        <p:grpSpPr bwMode="auto">
          <a:xfrm>
            <a:off x="1033463" y="2895600"/>
            <a:ext cx="7577137" cy="3489325"/>
            <a:chOff x="470" y="1824"/>
            <a:chExt cx="4773" cy="2198"/>
          </a:xfrm>
        </p:grpSpPr>
        <p:sp>
          <p:nvSpPr>
            <p:cNvPr id="140292" name="Rectangle 4">
              <a:extLst>
                <a:ext uri="{FF2B5EF4-FFF2-40B4-BE49-F238E27FC236}">
                  <a16:creationId xmlns:a16="http://schemas.microsoft.com/office/drawing/2014/main" id="{6BD868F6-491D-4676-ADF0-11ECA4F3C574}"/>
                </a:ext>
              </a:extLst>
            </p:cNvPr>
            <p:cNvSpPr>
              <a:spLocks noChangeArrowheads="1"/>
            </p:cNvSpPr>
            <p:nvPr/>
          </p:nvSpPr>
          <p:spPr bwMode="auto">
            <a:xfrm>
              <a:off x="2304" y="1824"/>
              <a:ext cx="105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spcBef>
                  <a:spcPct val="50000"/>
                </a:spcBef>
              </a:pPr>
              <a:r>
                <a:rPr lang="en-US" altLang="en-US" sz="2400">
                  <a:latin typeface="Book Antiqua" panose="02040602050305030304" pitchFamily="18" charset="0"/>
                </a:rPr>
                <a:t>Iphigenia</a:t>
              </a:r>
            </a:p>
          </p:txBody>
        </p:sp>
        <p:sp>
          <p:nvSpPr>
            <p:cNvPr id="140293" name="Rectangle 5">
              <a:extLst>
                <a:ext uri="{FF2B5EF4-FFF2-40B4-BE49-F238E27FC236}">
                  <a16:creationId xmlns:a16="http://schemas.microsoft.com/office/drawing/2014/main" id="{189CFE23-ED87-46EB-BEEE-E2F86EAA849F}"/>
                </a:ext>
              </a:extLst>
            </p:cNvPr>
            <p:cNvSpPr>
              <a:spLocks noChangeArrowheads="1"/>
            </p:cNvSpPr>
            <p:nvPr/>
          </p:nvSpPr>
          <p:spPr bwMode="auto">
            <a:xfrm>
              <a:off x="998" y="2486"/>
              <a:ext cx="1260"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Clytemnestra</a:t>
              </a:r>
            </a:p>
          </p:txBody>
        </p:sp>
        <p:sp>
          <p:nvSpPr>
            <p:cNvPr id="140294" name="Rectangle 6">
              <a:extLst>
                <a:ext uri="{FF2B5EF4-FFF2-40B4-BE49-F238E27FC236}">
                  <a16:creationId xmlns:a16="http://schemas.microsoft.com/office/drawing/2014/main" id="{6D1B61AC-D0D0-426C-BB21-6DC786BFB542}"/>
                </a:ext>
              </a:extLst>
            </p:cNvPr>
            <p:cNvSpPr>
              <a:spLocks noChangeArrowheads="1"/>
            </p:cNvSpPr>
            <p:nvPr/>
          </p:nvSpPr>
          <p:spPr bwMode="auto">
            <a:xfrm>
              <a:off x="3638" y="2486"/>
              <a:ext cx="1229"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Agamemnon</a:t>
              </a:r>
            </a:p>
          </p:txBody>
        </p:sp>
        <p:sp>
          <p:nvSpPr>
            <p:cNvPr id="140295" name="Rectangle 7">
              <a:extLst>
                <a:ext uri="{FF2B5EF4-FFF2-40B4-BE49-F238E27FC236}">
                  <a16:creationId xmlns:a16="http://schemas.microsoft.com/office/drawing/2014/main" id="{2BA84972-22BB-40EB-92DA-A0F7BA8F142D}"/>
                </a:ext>
              </a:extLst>
            </p:cNvPr>
            <p:cNvSpPr>
              <a:spLocks noChangeArrowheads="1"/>
            </p:cNvSpPr>
            <p:nvPr/>
          </p:nvSpPr>
          <p:spPr bwMode="auto">
            <a:xfrm>
              <a:off x="470" y="3110"/>
              <a:ext cx="53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Leda</a:t>
              </a:r>
            </a:p>
          </p:txBody>
        </p:sp>
        <p:sp>
          <p:nvSpPr>
            <p:cNvPr id="140296" name="Rectangle 8">
              <a:extLst>
                <a:ext uri="{FF2B5EF4-FFF2-40B4-BE49-F238E27FC236}">
                  <a16:creationId xmlns:a16="http://schemas.microsoft.com/office/drawing/2014/main" id="{4692E3EA-E218-44A8-89C4-954086E16183}"/>
                </a:ext>
              </a:extLst>
            </p:cNvPr>
            <p:cNvSpPr>
              <a:spLocks noChangeArrowheads="1"/>
            </p:cNvSpPr>
            <p:nvPr/>
          </p:nvSpPr>
          <p:spPr bwMode="auto">
            <a:xfrm>
              <a:off x="1670" y="3110"/>
              <a:ext cx="1031"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Tyndareus</a:t>
              </a:r>
            </a:p>
          </p:txBody>
        </p:sp>
        <p:sp>
          <p:nvSpPr>
            <p:cNvPr id="140297" name="Rectangle 9">
              <a:extLst>
                <a:ext uri="{FF2B5EF4-FFF2-40B4-BE49-F238E27FC236}">
                  <a16:creationId xmlns:a16="http://schemas.microsoft.com/office/drawing/2014/main" id="{634A24A3-21A0-4155-943F-7A8F25A8A54E}"/>
                </a:ext>
              </a:extLst>
            </p:cNvPr>
            <p:cNvSpPr>
              <a:spLocks noChangeArrowheads="1"/>
            </p:cNvSpPr>
            <p:nvPr/>
          </p:nvSpPr>
          <p:spPr bwMode="auto">
            <a:xfrm>
              <a:off x="3302" y="3110"/>
              <a:ext cx="74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Aerope</a:t>
              </a:r>
            </a:p>
          </p:txBody>
        </p:sp>
        <p:sp>
          <p:nvSpPr>
            <p:cNvPr id="140298" name="Rectangle 10">
              <a:extLst>
                <a:ext uri="{FF2B5EF4-FFF2-40B4-BE49-F238E27FC236}">
                  <a16:creationId xmlns:a16="http://schemas.microsoft.com/office/drawing/2014/main" id="{667138B1-F682-4492-B096-07E1E4B0EBE3}"/>
                </a:ext>
              </a:extLst>
            </p:cNvPr>
            <p:cNvSpPr>
              <a:spLocks noChangeArrowheads="1"/>
            </p:cNvSpPr>
            <p:nvPr/>
          </p:nvSpPr>
          <p:spPr bwMode="auto">
            <a:xfrm>
              <a:off x="4550" y="3110"/>
              <a:ext cx="69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Atreus</a:t>
              </a:r>
            </a:p>
          </p:txBody>
        </p:sp>
        <p:sp>
          <p:nvSpPr>
            <p:cNvPr id="140299" name="Rectangle 11">
              <a:extLst>
                <a:ext uri="{FF2B5EF4-FFF2-40B4-BE49-F238E27FC236}">
                  <a16:creationId xmlns:a16="http://schemas.microsoft.com/office/drawing/2014/main" id="{469C7618-ED6F-49A7-A73F-FFC2B1A46326}"/>
                </a:ext>
              </a:extLst>
            </p:cNvPr>
            <p:cNvSpPr>
              <a:spLocks noChangeArrowheads="1"/>
            </p:cNvSpPr>
            <p:nvPr/>
          </p:nvSpPr>
          <p:spPr bwMode="auto">
            <a:xfrm>
              <a:off x="3830" y="3734"/>
              <a:ext cx="7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2400">
                  <a:latin typeface="Book Antiqua" panose="02040602050305030304" pitchFamily="18" charset="0"/>
                </a:rPr>
                <a:t>Catreus</a:t>
              </a:r>
            </a:p>
          </p:txBody>
        </p:sp>
        <p:sp>
          <p:nvSpPr>
            <p:cNvPr id="140300" name="Line 12">
              <a:extLst>
                <a:ext uri="{FF2B5EF4-FFF2-40B4-BE49-F238E27FC236}">
                  <a16:creationId xmlns:a16="http://schemas.microsoft.com/office/drawing/2014/main" id="{49AD7A63-4570-4CE4-864B-6CCD7E42817C}"/>
                </a:ext>
              </a:extLst>
            </p:cNvPr>
            <p:cNvSpPr>
              <a:spLocks noChangeShapeType="1"/>
            </p:cNvSpPr>
            <p:nvPr/>
          </p:nvSpPr>
          <p:spPr bwMode="auto">
            <a:xfrm flipH="1">
              <a:off x="1584" y="2064"/>
              <a:ext cx="1056" cy="48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0301" name="Line 13">
              <a:extLst>
                <a:ext uri="{FF2B5EF4-FFF2-40B4-BE49-F238E27FC236}">
                  <a16:creationId xmlns:a16="http://schemas.microsoft.com/office/drawing/2014/main" id="{EA4C71E0-4493-4E1D-A9B7-2B09B9535F30}"/>
                </a:ext>
              </a:extLst>
            </p:cNvPr>
            <p:cNvSpPr>
              <a:spLocks noChangeShapeType="1"/>
            </p:cNvSpPr>
            <p:nvPr/>
          </p:nvSpPr>
          <p:spPr bwMode="auto">
            <a:xfrm>
              <a:off x="2880" y="2064"/>
              <a:ext cx="1248" cy="480"/>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0302" name="Line 14">
              <a:extLst>
                <a:ext uri="{FF2B5EF4-FFF2-40B4-BE49-F238E27FC236}">
                  <a16:creationId xmlns:a16="http://schemas.microsoft.com/office/drawing/2014/main" id="{0DC9776D-C81F-43E1-9EDB-09B219094DFF}"/>
                </a:ext>
              </a:extLst>
            </p:cNvPr>
            <p:cNvSpPr>
              <a:spLocks noChangeShapeType="1"/>
            </p:cNvSpPr>
            <p:nvPr/>
          </p:nvSpPr>
          <p:spPr bwMode="auto">
            <a:xfrm flipH="1">
              <a:off x="768" y="2736"/>
              <a:ext cx="672" cy="43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0303" name="Line 15">
              <a:extLst>
                <a:ext uri="{FF2B5EF4-FFF2-40B4-BE49-F238E27FC236}">
                  <a16:creationId xmlns:a16="http://schemas.microsoft.com/office/drawing/2014/main" id="{81119D66-5AE3-43A5-BECE-5E0055E8686F}"/>
                </a:ext>
              </a:extLst>
            </p:cNvPr>
            <p:cNvSpPr>
              <a:spLocks noChangeShapeType="1"/>
            </p:cNvSpPr>
            <p:nvPr/>
          </p:nvSpPr>
          <p:spPr bwMode="auto">
            <a:xfrm>
              <a:off x="1776" y="2736"/>
              <a:ext cx="384" cy="384"/>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0304" name="Line 16">
              <a:extLst>
                <a:ext uri="{FF2B5EF4-FFF2-40B4-BE49-F238E27FC236}">
                  <a16:creationId xmlns:a16="http://schemas.microsoft.com/office/drawing/2014/main" id="{887D98EC-6DE5-4AFD-B412-81F9A8988092}"/>
                </a:ext>
              </a:extLst>
            </p:cNvPr>
            <p:cNvSpPr>
              <a:spLocks noChangeShapeType="1"/>
            </p:cNvSpPr>
            <p:nvPr/>
          </p:nvSpPr>
          <p:spPr bwMode="auto">
            <a:xfrm flipH="1">
              <a:off x="3648" y="2736"/>
              <a:ext cx="480" cy="43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0305" name="Line 17">
              <a:extLst>
                <a:ext uri="{FF2B5EF4-FFF2-40B4-BE49-F238E27FC236}">
                  <a16:creationId xmlns:a16="http://schemas.microsoft.com/office/drawing/2014/main" id="{5F610B23-0C14-481B-AA8E-8433F477F98C}"/>
                </a:ext>
              </a:extLst>
            </p:cNvPr>
            <p:cNvSpPr>
              <a:spLocks noChangeShapeType="1"/>
            </p:cNvSpPr>
            <p:nvPr/>
          </p:nvSpPr>
          <p:spPr bwMode="auto">
            <a:xfrm>
              <a:off x="4416" y="2736"/>
              <a:ext cx="432" cy="432"/>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0306" name="Line 18">
              <a:extLst>
                <a:ext uri="{FF2B5EF4-FFF2-40B4-BE49-F238E27FC236}">
                  <a16:creationId xmlns:a16="http://schemas.microsoft.com/office/drawing/2014/main" id="{3CD3F3E8-ABAB-4C89-B56B-1022989E0A77}"/>
                </a:ext>
              </a:extLst>
            </p:cNvPr>
            <p:cNvSpPr>
              <a:spLocks noChangeShapeType="1"/>
            </p:cNvSpPr>
            <p:nvPr/>
          </p:nvSpPr>
          <p:spPr bwMode="auto">
            <a:xfrm>
              <a:off x="3744" y="3408"/>
              <a:ext cx="432" cy="336"/>
            </a:xfrm>
            <a:prstGeom prst="line">
              <a:avLst/>
            </a:prstGeom>
            <a:noFill/>
            <a:ln w="12700">
              <a:solidFill>
                <a:schemeClr val="tx1"/>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2">
            <a:extLst>
              <a:ext uri="{FF2B5EF4-FFF2-40B4-BE49-F238E27FC236}">
                <a16:creationId xmlns:a16="http://schemas.microsoft.com/office/drawing/2014/main" id="{36EC1007-1F3A-49A0-BCE5-C300E541DAEA}"/>
              </a:ext>
            </a:extLst>
          </p:cNvPr>
          <p:cNvSpPr>
            <a:spLocks noGrp="1" noChangeArrowheads="1"/>
          </p:cNvSpPr>
          <p:nvPr>
            <p:ph type="title"/>
          </p:nvPr>
        </p:nvSpPr>
        <p:spPr/>
        <p:txBody>
          <a:bodyPr/>
          <a:lstStyle/>
          <a:p>
            <a:r>
              <a:rPr lang="en-US" altLang="en-US"/>
              <a:t>Forest</a:t>
            </a:r>
          </a:p>
        </p:txBody>
      </p:sp>
      <p:sp>
        <p:nvSpPr>
          <p:cNvPr id="143363" name="Text Box 3">
            <a:extLst>
              <a:ext uri="{FF2B5EF4-FFF2-40B4-BE49-F238E27FC236}">
                <a16:creationId xmlns:a16="http://schemas.microsoft.com/office/drawing/2014/main" id="{40A865D9-A40D-4905-A58F-FA5753465663}"/>
              </a:ext>
            </a:extLst>
          </p:cNvPr>
          <p:cNvSpPr txBox="1">
            <a:spLocks noChangeArrowheads="1"/>
          </p:cNvSpPr>
          <p:nvPr/>
        </p:nvSpPr>
        <p:spPr bwMode="auto">
          <a:xfrm>
            <a:off x="1295400" y="1905000"/>
            <a:ext cx="74676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Graphs containing no simple circuits that are not connected, but each connected component is a tree.</a:t>
            </a:r>
          </a:p>
        </p:txBody>
      </p:sp>
      <p:sp>
        <p:nvSpPr>
          <p:cNvPr id="143364" name="Oval 4">
            <a:extLst>
              <a:ext uri="{FF2B5EF4-FFF2-40B4-BE49-F238E27FC236}">
                <a16:creationId xmlns:a16="http://schemas.microsoft.com/office/drawing/2014/main" id="{AF879A1D-967E-487D-AB9E-0AE35FF4CB1D}"/>
              </a:ext>
            </a:extLst>
          </p:cNvPr>
          <p:cNvSpPr>
            <a:spLocks noChangeArrowheads="1"/>
          </p:cNvSpPr>
          <p:nvPr/>
        </p:nvSpPr>
        <p:spPr bwMode="auto">
          <a:xfrm>
            <a:off x="2133600" y="39624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65" name="Oval 5">
            <a:extLst>
              <a:ext uri="{FF2B5EF4-FFF2-40B4-BE49-F238E27FC236}">
                <a16:creationId xmlns:a16="http://schemas.microsoft.com/office/drawing/2014/main" id="{E56D48AF-CF7F-4745-A00B-B09580ACB557}"/>
              </a:ext>
            </a:extLst>
          </p:cNvPr>
          <p:cNvSpPr>
            <a:spLocks noChangeArrowheads="1"/>
          </p:cNvSpPr>
          <p:nvPr/>
        </p:nvSpPr>
        <p:spPr bwMode="auto">
          <a:xfrm>
            <a:off x="1600200" y="44958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66" name="Oval 6">
            <a:extLst>
              <a:ext uri="{FF2B5EF4-FFF2-40B4-BE49-F238E27FC236}">
                <a16:creationId xmlns:a16="http://schemas.microsoft.com/office/drawing/2014/main" id="{4C4B5332-400A-4E5F-A9DF-0AF22390DA83}"/>
              </a:ext>
            </a:extLst>
          </p:cNvPr>
          <p:cNvSpPr>
            <a:spLocks noChangeArrowheads="1"/>
          </p:cNvSpPr>
          <p:nvPr/>
        </p:nvSpPr>
        <p:spPr bwMode="auto">
          <a:xfrm>
            <a:off x="1981200" y="50292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67" name="Oval 7">
            <a:extLst>
              <a:ext uri="{FF2B5EF4-FFF2-40B4-BE49-F238E27FC236}">
                <a16:creationId xmlns:a16="http://schemas.microsoft.com/office/drawing/2014/main" id="{AAB97E71-42B7-4B80-B781-36F9BA5F6D2F}"/>
              </a:ext>
            </a:extLst>
          </p:cNvPr>
          <p:cNvSpPr>
            <a:spLocks noChangeArrowheads="1"/>
          </p:cNvSpPr>
          <p:nvPr/>
        </p:nvSpPr>
        <p:spPr bwMode="auto">
          <a:xfrm>
            <a:off x="2514600" y="44958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68" name="Oval 8">
            <a:extLst>
              <a:ext uri="{FF2B5EF4-FFF2-40B4-BE49-F238E27FC236}">
                <a16:creationId xmlns:a16="http://schemas.microsoft.com/office/drawing/2014/main" id="{680C8222-3784-4F41-B3EF-418EA9138280}"/>
              </a:ext>
            </a:extLst>
          </p:cNvPr>
          <p:cNvSpPr>
            <a:spLocks noChangeArrowheads="1"/>
          </p:cNvSpPr>
          <p:nvPr/>
        </p:nvSpPr>
        <p:spPr bwMode="auto">
          <a:xfrm>
            <a:off x="3124200" y="50292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70" name="Line 10">
            <a:extLst>
              <a:ext uri="{FF2B5EF4-FFF2-40B4-BE49-F238E27FC236}">
                <a16:creationId xmlns:a16="http://schemas.microsoft.com/office/drawing/2014/main" id="{9FC37D25-6C4B-4A52-AF8A-D7CA2A0130DB}"/>
              </a:ext>
            </a:extLst>
          </p:cNvPr>
          <p:cNvSpPr>
            <a:spLocks noChangeShapeType="1"/>
          </p:cNvSpPr>
          <p:nvPr/>
        </p:nvSpPr>
        <p:spPr bwMode="auto">
          <a:xfrm flipV="1">
            <a:off x="1600200" y="3962400"/>
            <a:ext cx="6858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72" name="Line 12">
            <a:extLst>
              <a:ext uri="{FF2B5EF4-FFF2-40B4-BE49-F238E27FC236}">
                <a16:creationId xmlns:a16="http://schemas.microsoft.com/office/drawing/2014/main" id="{86C3FD76-0E16-4BA7-9004-5D66CF98CE05}"/>
              </a:ext>
            </a:extLst>
          </p:cNvPr>
          <p:cNvSpPr>
            <a:spLocks noChangeShapeType="1"/>
          </p:cNvSpPr>
          <p:nvPr/>
        </p:nvSpPr>
        <p:spPr bwMode="auto">
          <a:xfrm flipH="1">
            <a:off x="2057400" y="4572000"/>
            <a:ext cx="5334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74" name="Line 14">
            <a:extLst>
              <a:ext uri="{FF2B5EF4-FFF2-40B4-BE49-F238E27FC236}">
                <a16:creationId xmlns:a16="http://schemas.microsoft.com/office/drawing/2014/main" id="{F313DE6E-399D-4AA9-ABFB-C73EA87A3C93}"/>
              </a:ext>
            </a:extLst>
          </p:cNvPr>
          <p:cNvSpPr>
            <a:spLocks noChangeShapeType="1"/>
          </p:cNvSpPr>
          <p:nvPr/>
        </p:nvSpPr>
        <p:spPr bwMode="auto">
          <a:xfrm>
            <a:off x="2590800" y="4572000"/>
            <a:ext cx="6858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76" name="Oval 16">
            <a:extLst>
              <a:ext uri="{FF2B5EF4-FFF2-40B4-BE49-F238E27FC236}">
                <a16:creationId xmlns:a16="http://schemas.microsoft.com/office/drawing/2014/main" id="{D15F247E-6FE4-45E2-A1FF-ADCE0E76274B}"/>
              </a:ext>
            </a:extLst>
          </p:cNvPr>
          <p:cNvSpPr>
            <a:spLocks noChangeArrowheads="1"/>
          </p:cNvSpPr>
          <p:nvPr/>
        </p:nvSpPr>
        <p:spPr bwMode="auto">
          <a:xfrm>
            <a:off x="6019800" y="39624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77" name="Oval 17">
            <a:extLst>
              <a:ext uri="{FF2B5EF4-FFF2-40B4-BE49-F238E27FC236}">
                <a16:creationId xmlns:a16="http://schemas.microsoft.com/office/drawing/2014/main" id="{B22B8294-35D2-44A9-8407-BC8CAFF2336E}"/>
              </a:ext>
            </a:extLst>
          </p:cNvPr>
          <p:cNvSpPr>
            <a:spLocks noChangeArrowheads="1"/>
          </p:cNvSpPr>
          <p:nvPr/>
        </p:nvSpPr>
        <p:spPr bwMode="auto">
          <a:xfrm>
            <a:off x="6858000" y="45720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78" name="Oval 18">
            <a:extLst>
              <a:ext uri="{FF2B5EF4-FFF2-40B4-BE49-F238E27FC236}">
                <a16:creationId xmlns:a16="http://schemas.microsoft.com/office/drawing/2014/main" id="{BC156AFF-1457-43B8-925E-CC8B80800E4C}"/>
              </a:ext>
            </a:extLst>
          </p:cNvPr>
          <p:cNvSpPr>
            <a:spLocks noChangeArrowheads="1"/>
          </p:cNvSpPr>
          <p:nvPr/>
        </p:nvSpPr>
        <p:spPr bwMode="auto">
          <a:xfrm>
            <a:off x="5257800" y="45720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79" name="Oval 19">
            <a:extLst>
              <a:ext uri="{FF2B5EF4-FFF2-40B4-BE49-F238E27FC236}">
                <a16:creationId xmlns:a16="http://schemas.microsoft.com/office/drawing/2014/main" id="{4B7018A9-07E4-4576-B528-6BE69B26B0A2}"/>
              </a:ext>
            </a:extLst>
          </p:cNvPr>
          <p:cNvSpPr>
            <a:spLocks noChangeArrowheads="1"/>
          </p:cNvSpPr>
          <p:nvPr/>
        </p:nvSpPr>
        <p:spPr bwMode="auto">
          <a:xfrm>
            <a:off x="6019800" y="45720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85" name="Line 25">
            <a:extLst>
              <a:ext uri="{FF2B5EF4-FFF2-40B4-BE49-F238E27FC236}">
                <a16:creationId xmlns:a16="http://schemas.microsoft.com/office/drawing/2014/main" id="{7B46F1F8-557E-423F-B2A6-728D1123B8B8}"/>
              </a:ext>
            </a:extLst>
          </p:cNvPr>
          <p:cNvSpPr>
            <a:spLocks noChangeShapeType="1"/>
          </p:cNvSpPr>
          <p:nvPr/>
        </p:nvSpPr>
        <p:spPr bwMode="auto">
          <a:xfrm flipH="1">
            <a:off x="5334000" y="4038600"/>
            <a:ext cx="7620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86" name="Line 26">
            <a:extLst>
              <a:ext uri="{FF2B5EF4-FFF2-40B4-BE49-F238E27FC236}">
                <a16:creationId xmlns:a16="http://schemas.microsoft.com/office/drawing/2014/main" id="{4F386DCE-4B84-4DE1-8702-52E736F585E3}"/>
              </a:ext>
            </a:extLst>
          </p:cNvPr>
          <p:cNvSpPr>
            <a:spLocks noChangeShapeType="1"/>
          </p:cNvSpPr>
          <p:nvPr/>
        </p:nvSpPr>
        <p:spPr bwMode="auto">
          <a:xfrm>
            <a:off x="6096000" y="4038600"/>
            <a:ext cx="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87" name="Line 27">
            <a:extLst>
              <a:ext uri="{FF2B5EF4-FFF2-40B4-BE49-F238E27FC236}">
                <a16:creationId xmlns:a16="http://schemas.microsoft.com/office/drawing/2014/main" id="{CFC348F6-CC54-4DC3-9464-DAAD570A4490}"/>
              </a:ext>
            </a:extLst>
          </p:cNvPr>
          <p:cNvSpPr>
            <a:spLocks noChangeShapeType="1"/>
          </p:cNvSpPr>
          <p:nvPr/>
        </p:nvSpPr>
        <p:spPr bwMode="auto">
          <a:xfrm>
            <a:off x="6096000" y="4038600"/>
            <a:ext cx="838200" cy="6096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88" name="Line 28">
            <a:extLst>
              <a:ext uri="{FF2B5EF4-FFF2-40B4-BE49-F238E27FC236}">
                <a16:creationId xmlns:a16="http://schemas.microsoft.com/office/drawing/2014/main" id="{C45DD123-5F1F-4AF3-8B03-36604602C94D}"/>
              </a:ext>
            </a:extLst>
          </p:cNvPr>
          <p:cNvSpPr>
            <a:spLocks noChangeShapeType="1"/>
          </p:cNvSpPr>
          <p:nvPr/>
        </p:nvSpPr>
        <p:spPr bwMode="auto">
          <a:xfrm>
            <a:off x="2209800" y="4038600"/>
            <a:ext cx="38100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89" name="Oval 29">
            <a:extLst>
              <a:ext uri="{FF2B5EF4-FFF2-40B4-BE49-F238E27FC236}">
                <a16:creationId xmlns:a16="http://schemas.microsoft.com/office/drawing/2014/main" id="{4934E17D-F5EB-48F5-9EF6-816C46CF8589}"/>
              </a:ext>
            </a:extLst>
          </p:cNvPr>
          <p:cNvSpPr>
            <a:spLocks noChangeArrowheads="1"/>
          </p:cNvSpPr>
          <p:nvPr/>
        </p:nvSpPr>
        <p:spPr bwMode="auto">
          <a:xfrm>
            <a:off x="5257800" y="52578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90" name="Oval 30">
            <a:extLst>
              <a:ext uri="{FF2B5EF4-FFF2-40B4-BE49-F238E27FC236}">
                <a16:creationId xmlns:a16="http://schemas.microsoft.com/office/drawing/2014/main" id="{E6F7F110-CF17-4EC5-ABBD-33E875316B23}"/>
              </a:ext>
            </a:extLst>
          </p:cNvPr>
          <p:cNvSpPr>
            <a:spLocks noChangeArrowheads="1"/>
          </p:cNvSpPr>
          <p:nvPr/>
        </p:nvSpPr>
        <p:spPr bwMode="auto">
          <a:xfrm>
            <a:off x="6096000" y="52578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91" name="Oval 31">
            <a:extLst>
              <a:ext uri="{FF2B5EF4-FFF2-40B4-BE49-F238E27FC236}">
                <a16:creationId xmlns:a16="http://schemas.microsoft.com/office/drawing/2014/main" id="{4DC9CAAB-4421-41F3-BC45-4BEFC94D7888}"/>
              </a:ext>
            </a:extLst>
          </p:cNvPr>
          <p:cNvSpPr>
            <a:spLocks noChangeArrowheads="1"/>
          </p:cNvSpPr>
          <p:nvPr/>
        </p:nvSpPr>
        <p:spPr bwMode="auto">
          <a:xfrm>
            <a:off x="6934200" y="5257800"/>
            <a:ext cx="152400" cy="1524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92" name="Line 32">
            <a:extLst>
              <a:ext uri="{FF2B5EF4-FFF2-40B4-BE49-F238E27FC236}">
                <a16:creationId xmlns:a16="http://schemas.microsoft.com/office/drawing/2014/main" id="{0DB114C4-9449-4B1C-9C66-3BB92FEA4C03}"/>
              </a:ext>
            </a:extLst>
          </p:cNvPr>
          <p:cNvSpPr>
            <a:spLocks noChangeShapeType="1"/>
          </p:cNvSpPr>
          <p:nvPr/>
        </p:nvSpPr>
        <p:spPr bwMode="auto">
          <a:xfrm>
            <a:off x="5334000" y="4648200"/>
            <a:ext cx="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93" name="Line 33">
            <a:extLst>
              <a:ext uri="{FF2B5EF4-FFF2-40B4-BE49-F238E27FC236}">
                <a16:creationId xmlns:a16="http://schemas.microsoft.com/office/drawing/2014/main" id="{955C65F2-1DA2-4CA5-99D2-601F350030B5}"/>
              </a:ext>
            </a:extLst>
          </p:cNvPr>
          <p:cNvSpPr>
            <a:spLocks noChangeShapeType="1"/>
          </p:cNvSpPr>
          <p:nvPr/>
        </p:nvSpPr>
        <p:spPr bwMode="auto">
          <a:xfrm>
            <a:off x="6096000" y="46482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94" name="Line 34">
            <a:extLst>
              <a:ext uri="{FF2B5EF4-FFF2-40B4-BE49-F238E27FC236}">
                <a16:creationId xmlns:a16="http://schemas.microsoft.com/office/drawing/2014/main" id="{6DCD3AAE-5489-4DD6-B94C-8D5A55D00818}"/>
              </a:ext>
            </a:extLst>
          </p:cNvPr>
          <p:cNvSpPr>
            <a:spLocks noChangeShapeType="1"/>
          </p:cNvSpPr>
          <p:nvPr/>
        </p:nvSpPr>
        <p:spPr bwMode="auto">
          <a:xfrm>
            <a:off x="6934200" y="4648200"/>
            <a:ext cx="762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3395" name="Oval 35">
            <a:extLst>
              <a:ext uri="{FF2B5EF4-FFF2-40B4-BE49-F238E27FC236}">
                <a16:creationId xmlns:a16="http://schemas.microsoft.com/office/drawing/2014/main" id="{AD4A4408-934D-4A42-B313-D2BAB5321181}"/>
              </a:ext>
            </a:extLst>
          </p:cNvPr>
          <p:cNvSpPr>
            <a:spLocks noChangeArrowheads="1"/>
          </p:cNvSpPr>
          <p:nvPr/>
        </p:nvSpPr>
        <p:spPr bwMode="auto">
          <a:xfrm>
            <a:off x="1295400" y="3429000"/>
            <a:ext cx="6400800" cy="2819400"/>
          </a:xfrm>
          <a:prstGeom prst="ellipse">
            <a:avLst/>
          </a:prstGeom>
          <a:noFill/>
          <a:ln w="9525">
            <a:solidFill>
              <a:schemeClr val="accent2"/>
            </a:solidFill>
            <a:prstDash val="sysDot"/>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tLang="en-US" sz="2000">
              <a:solidFill>
                <a:schemeClr val="accent2"/>
              </a:solidFill>
              <a:latin typeface="Times New Roman" panose="02020603050405020304" pitchFamily="18" charset="0"/>
            </a:endParaRPr>
          </a:p>
        </p:txBody>
      </p:sp>
    </p:spTree>
  </p:cSld>
  <p:clrMapOvr>
    <a:masterClrMapping/>
  </p:clrMapOvr>
  <p:transition spd="slow">
    <p:wip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a:extLst>
              <a:ext uri="{FF2B5EF4-FFF2-40B4-BE49-F238E27FC236}">
                <a16:creationId xmlns:a16="http://schemas.microsoft.com/office/drawing/2014/main" id="{980628C0-2B25-41D8-A49B-CC8FEEB59EA9}"/>
              </a:ext>
            </a:extLst>
          </p:cNvPr>
          <p:cNvSpPr>
            <a:spLocks noGrp="1" noChangeArrowheads="1"/>
          </p:cNvSpPr>
          <p:nvPr>
            <p:ph type="title"/>
          </p:nvPr>
        </p:nvSpPr>
        <p:spPr/>
        <p:txBody>
          <a:bodyPr/>
          <a:lstStyle/>
          <a:p>
            <a:r>
              <a:rPr lang="en-US" altLang="en-US"/>
              <a:t>Theorem</a:t>
            </a:r>
          </a:p>
        </p:txBody>
      </p:sp>
      <p:sp>
        <p:nvSpPr>
          <p:cNvPr id="144387" name="Text Box 3">
            <a:extLst>
              <a:ext uri="{FF2B5EF4-FFF2-40B4-BE49-F238E27FC236}">
                <a16:creationId xmlns:a16="http://schemas.microsoft.com/office/drawing/2014/main" id="{CE8DEF4A-2C27-4C9F-9B5D-096D37F6C3F4}"/>
              </a:ext>
            </a:extLst>
          </p:cNvPr>
          <p:cNvSpPr txBox="1">
            <a:spLocks noChangeArrowheads="1"/>
          </p:cNvSpPr>
          <p:nvPr/>
        </p:nvSpPr>
        <p:spPr bwMode="auto">
          <a:xfrm>
            <a:off x="1219200" y="2057400"/>
            <a:ext cx="71628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dirty="0">
                <a:latin typeface="Times New Roman" panose="02020603050405020304" pitchFamily="18" charset="0"/>
              </a:rPr>
              <a:t>An undirected graph is a tree if and only if there is a unique simple path between any two of its vertices.</a:t>
            </a:r>
          </a:p>
        </p:txBody>
      </p:sp>
    </p:spTree>
  </p:cSld>
  <p:clrMapOvr>
    <a:masterClrMapping/>
  </p:clrMapOvr>
  <p:transition spd="slow">
    <p:wip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a:extLst>
              <a:ext uri="{FF2B5EF4-FFF2-40B4-BE49-F238E27FC236}">
                <a16:creationId xmlns:a16="http://schemas.microsoft.com/office/drawing/2014/main" id="{9873DDC1-C881-4FBE-9A2F-2DAF830C09B6}"/>
              </a:ext>
            </a:extLst>
          </p:cNvPr>
          <p:cNvSpPr>
            <a:spLocks noGrp="1" noChangeArrowheads="1"/>
          </p:cNvSpPr>
          <p:nvPr>
            <p:ph type="title"/>
          </p:nvPr>
        </p:nvSpPr>
        <p:spPr/>
        <p:txBody>
          <a:bodyPr/>
          <a:lstStyle/>
          <a:p>
            <a:r>
              <a:rPr lang="en-US" altLang="en-US"/>
              <a:t>Rooted Trees</a:t>
            </a:r>
          </a:p>
        </p:txBody>
      </p:sp>
      <p:sp>
        <p:nvSpPr>
          <p:cNvPr id="145411" name="Text Box 3">
            <a:extLst>
              <a:ext uri="{FF2B5EF4-FFF2-40B4-BE49-F238E27FC236}">
                <a16:creationId xmlns:a16="http://schemas.microsoft.com/office/drawing/2014/main" id="{D2CA4219-1066-4D67-ACB3-1622845AD3D5}"/>
              </a:ext>
            </a:extLst>
          </p:cNvPr>
          <p:cNvSpPr txBox="1">
            <a:spLocks noChangeArrowheads="1"/>
          </p:cNvSpPr>
          <p:nvPr/>
        </p:nvSpPr>
        <p:spPr bwMode="auto">
          <a:xfrm>
            <a:off x="1219200" y="1981200"/>
            <a:ext cx="73914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Once a vertex of a tree has been designated as the </a:t>
            </a:r>
            <a:r>
              <a:rPr lang="en-US" altLang="en-US" sz="3200" i="1">
                <a:latin typeface="Times New Roman" panose="02020603050405020304" pitchFamily="18" charset="0"/>
              </a:rPr>
              <a:t>root</a:t>
            </a:r>
            <a:r>
              <a:rPr lang="en-US" altLang="en-US" sz="3200">
                <a:latin typeface="Times New Roman" panose="02020603050405020304" pitchFamily="18" charset="0"/>
              </a:rPr>
              <a:t> of the tree, it is possible to assign direction to each of the edges.</a:t>
            </a:r>
          </a:p>
        </p:txBody>
      </p:sp>
    </p:spTree>
  </p:cSld>
  <p:clrMapOvr>
    <a:masterClrMapping/>
  </p:clrMapOvr>
  <p:transition spd="slow">
    <p:wip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2">
            <a:extLst>
              <a:ext uri="{FF2B5EF4-FFF2-40B4-BE49-F238E27FC236}">
                <a16:creationId xmlns:a16="http://schemas.microsoft.com/office/drawing/2014/main" id="{F8C74FD0-3862-49C1-9DAC-B14DE3E42AB2}"/>
              </a:ext>
            </a:extLst>
          </p:cNvPr>
          <p:cNvSpPr>
            <a:spLocks noGrp="1" noChangeArrowheads="1"/>
          </p:cNvSpPr>
          <p:nvPr>
            <p:ph type="title"/>
          </p:nvPr>
        </p:nvSpPr>
        <p:spPr/>
        <p:txBody>
          <a:bodyPr/>
          <a:lstStyle/>
          <a:p>
            <a:r>
              <a:rPr lang="en-US" altLang="en-US"/>
              <a:t>Rooted Trees</a:t>
            </a:r>
          </a:p>
        </p:txBody>
      </p:sp>
      <p:sp>
        <p:nvSpPr>
          <p:cNvPr id="146435" name="Oval 3">
            <a:extLst>
              <a:ext uri="{FF2B5EF4-FFF2-40B4-BE49-F238E27FC236}">
                <a16:creationId xmlns:a16="http://schemas.microsoft.com/office/drawing/2014/main" id="{A2763D42-C5B5-4530-BB62-3CB21001E1E3}"/>
              </a:ext>
            </a:extLst>
          </p:cNvPr>
          <p:cNvSpPr>
            <a:spLocks noChangeArrowheads="1"/>
          </p:cNvSpPr>
          <p:nvPr/>
        </p:nvSpPr>
        <p:spPr bwMode="auto">
          <a:xfrm>
            <a:off x="2362200" y="2514600"/>
            <a:ext cx="152400" cy="2286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36" name="Oval 4">
            <a:extLst>
              <a:ext uri="{FF2B5EF4-FFF2-40B4-BE49-F238E27FC236}">
                <a16:creationId xmlns:a16="http://schemas.microsoft.com/office/drawing/2014/main" id="{50C30672-9587-49A5-B354-184A3B0F444D}"/>
              </a:ext>
            </a:extLst>
          </p:cNvPr>
          <p:cNvSpPr>
            <a:spLocks noChangeArrowheads="1"/>
          </p:cNvSpPr>
          <p:nvPr/>
        </p:nvSpPr>
        <p:spPr bwMode="auto">
          <a:xfrm>
            <a:off x="3200400" y="3048000"/>
            <a:ext cx="152400" cy="2286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37" name="Oval 5">
            <a:extLst>
              <a:ext uri="{FF2B5EF4-FFF2-40B4-BE49-F238E27FC236}">
                <a16:creationId xmlns:a16="http://schemas.microsoft.com/office/drawing/2014/main" id="{51043AC1-FE5F-4853-AD25-0C55617F6E38}"/>
              </a:ext>
            </a:extLst>
          </p:cNvPr>
          <p:cNvSpPr>
            <a:spLocks noChangeArrowheads="1"/>
          </p:cNvSpPr>
          <p:nvPr/>
        </p:nvSpPr>
        <p:spPr bwMode="auto">
          <a:xfrm>
            <a:off x="2286000" y="3657600"/>
            <a:ext cx="152400" cy="2286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38" name="Oval 6">
            <a:extLst>
              <a:ext uri="{FF2B5EF4-FFF2-40B4-BE49-F238E27FC236}">
                <a16:creationId xmlns:a16="http://schemas.microsoft.com/office/drawing/2014/main" id="{9B6FECC8-B039-417E-8767-1E5BF749C1D1}"/>
              </a:ext>
            </a:extLst>
          </p:cNvPr>
          <p:cNvSpPr>
            <a:spLocks noChangeArrowheads="1"/>
          </p:cNvSpPr>
          <p:nvPr/>
        </p:nvSpPr>
        <p:spPr bwMode="auto">
          <a:xfrm>
            <a:off x="1295400" y="3276600"/>
            <a:ext cx="152400" cy="2286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39" name="Oval 7">
            <a:extLst>
              <a:ext uri="{FF2B5EF4-FFF2-40B4-BE49-F238E27FC236}">
                <a16:creationId xmlns:a16="http://schemas.microsoft.com/office/drawing/2014/main" id="{5380DBA0-5E96-49A3-A89B-726FFD319CE2}"/>
              </a:ext>
            </a:extLst>
          </p:cNvPr>
          <p:cNvSpPr>
            <a:spLocks noChangeArrowheads="1"/>
          </p:cNvSpPr>
          <p:nvPr/>
        </p:nvSpPr>
        <p:spPr bwMode="auto">
          <a:xfrm>
            <a:off x="3124200" y="4343400"/>
            <a:ext cx="152400" cy="2286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0" name="Oval 8">
            <a:extLst>
              <a:ext uri="{FF2B5EF4-FFF2-40B4-BE49-F238E27FC236}">
                <a16:creationId xmlns:a16="http://schemas.microsoft.com/office/drawing/2014/main" id="{2762F65B-FF8F-4193-8319-C2E89B9F2CD2}"/>
              </a:ext>
            </a:extLst>
          </p:cNvPr>
          <p:cNvSpPr>
            <a:spLocks noChangeArrowheads="1"/>
          </p:cNvSpPr>
          <p:nvPr/>
        </p:nvSpPr>
        <p:spPr bwMode="auto">
          <a:xfrm>
            <a:off x="2514600" y="5105400"/>
            <a:ext cx="152400" cy="2286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1" name="Oval 9">
            <a:extLst>
              <a:ext uri="{FF2B5EF4-FFF2-40B4-BE49-F238E27FC236}">
                <a16:creationId xmlns:a16="http://schemas.microsoft.com/office/drawing/2014/main" id="{59C257F7-7A15-4EB3-B37C-36F01F2F84E1}"/>
              </a:ext>
            </a:extLst>
          </p:cNvPr>
          <p:cNvSpPr>
            <a:spLocks noChangeArrowheads="1"/>
          </p:cNvSpPr>
          <p:nvPr/>
        </p:nvSpPr>
        <p:spPr bwMode="auto">
          <a:xfrm>
            <a:off x="1600200" y="4419600"/>
            <a:ext cx="152400" cy="228600"/>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2" name="Line 10">
            <a:extLst>
              <a:ext uri="{FF2B5EF4-FFF2-40B4-BE49-F238E27FC236}">
                <a16:creationId xmlns:a16="http://schemas.microsoft.com/office/drawing/2014/main" id="{199F43A3-60E8-4018-A76D-B6ABBC8D33D4}"/>
              </a:ext>
            </a:extLst>
          </p:cNvPr>
          <p:cNvSpPr>
            <a:spLocks noChangeShapeType="1"/>
          </p:cNvSpPr>
          <p:nvPr/>
        </p:nvSpPr>
        <p:spPr bwMode="auto">
          <a:xfrm>
            <a:off x="1371600" y="3429000"/>
            <a:ext cx="30480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3" name="Line 11">
            <a:extLst>
              <a:ext uri="{FF2B5EF4-FFF2-40B4-BE49-F238E27FC236}">
                <a16:creationId xmlns:a16="http://schemas.microsoft.com/office/drawing/2014/main" id="{4D8FE19A-D748-4391-8677-407DB0A9FAD8}"/>
              </a:ext>
            </a:extLst>
          </p:cNvPr>
          <p:cNvSpPr>
            <a:spLocks noChangeShapeType="1"/>
          </p:cNvSpPr>
          <p:nvPr/>
        </p:nvSpPr>
        <p:spPr bwMode="auto">
          <a:xfrm flipV="1">
            <a:off x="1676400" y="3733800"/>
            <a:ext cx="6858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4" name="Line 12">
            <a:extLst>
              <a:ext uri="{FF2B5EF4-FFF2-40B4-BE49-F238E27FC236}">
                <a16:creationId xmlns:a16="http://schemas.microsoft.com/office/drawing/2014/main" id="{A38D25AC-C069-4A20-84D4-04D87C067533}"/>
              </a:ext>
            </a:extLst>
          </p:cNvPr>
          <p:cNvSpPr>
            <a:spLocks noChangeShapeType="1"/>
          </p:cNvSpPr>
          <p:nvPr/>
        </p:nvSpPr>
        <p:spPr bwMode="auto">
          <a:xfrm>
            <a:off x="1676400" y="4572000"/>
            <a:ext cx="914400" cy="685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5" name="Line 13">
            <a:extLst>
              <a:ext uri="{FF2B5EF4-FFF2-40B4-BE49-F238E27FC236}">
                <a16:creationId xmlns:a16="http://schemas.microsoft.com/office/drawing/2014/main" id="{0AC50D3C-3855-4C0D-8FD5-43EBACF98172}"/>
              </a:ext>
            </a:extLst>
          </p:cNvPr>
          <p:cNvSpPr>
            <a:spLocks noChangeShapeType="1"/>
          </p:cNvSpPr>
          <p:nvPr/>
        </p:nvSpPr>
        <p:spPr bwMode="auto">
          <a:xfrm flipV="1">
            <a:off x="2590800" y="4495800"/>
            <a:ext cx="6096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6" name="Line 14">
            <a:extLst>
              <a:ext uri="{FF2B5EF4-FFF2-40B4-BE49-F238E27FC236}">
                <a16:creationId xmlns:a16="http://schemas.microsoft.com/office/drawing/2014/main" id="{896A04CA-ED74-4C21-9C64-FF713B138767}"/>
              </a:ext>
            </a:extLst>
          </p:cNvPr>
          <p:cNvSpPr>
            <a:spLocks noChangeShapeType="1"/>
          </p:cNvSpPr>
          <p:nvPr/>
        </p:nvSpPr>
        <p:spPr bwMode="auto">
          <a:xfrm flipV="1">
            <a:off x="3200400" y="3124200"/>
            <a:ext cx="76200" cy="1295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7" name="Line 15">
            <a:extLst>
              <a:ext uri="{FF2B5EF4-FFF2-40B4-BE49-F238E27FC236}">
                <a16:creationId xmlns:a16="http://schemas.microsoft.com/office/drawing/2014/main" id="{9C34EEDC-2FA1-4B0A-9EA1-2C40E3CE99E5}"/>
              </a:ext>
            </a:extLst>
          </p:cNvPr>
          <p:cNvSpPr>
            <a:spLocks noChangeShapeType="1"/>
          </p:cNvSpPr>
          <p:nvPr/>
        </p:nvSpPr>
        <p:spPr bwMode="auto">
          <a:xfrm flipV="1">
            <a:off x="2362200" y="2590800"/>
            <a:ext cx="76200" cy="1219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48" name="Text Box 16">
            <a:extLst>
              <a:ext uri="{FF2B5EF4-FFF2-40B4-BE49-F238E27FC236}">
                <a16:creationId xmlns:a16="http://schemas.microsoft.com/office/drawing/2014/main" id="{6E1844BE-5467-437B-9E24-1CED2B6AAD68}"/>
              </a:ext>
            </a:extLst>
          </p:cNvPr>
          <p:cNvSpPr txBox="1">
            <a:spLocks noChangeArrowheads="1"/>
          </p:cNvSpPr>
          <p:nvPr/>
        </p:nvSpPr>
        <p:spPr bwMode="auto">
          <a:xfrm>
            <a:off x="3200400" y="5257800"/>
            <a:ext cx="4572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000">
              <a:latin typeface="Times New Roman" panose="02020603050405020304" pitchFamily="18" charset="0"/>
            </a:endParaRPr>
          </a:p>
        </p:txBody>
      </p:sp>
      <p:sp>
        <p:nvSpPr>
          <p:cNvPr id="146449" name="Rectangle 17">
            <a:extLst>
              <a:ext uri="{FF2B5EF4-FFF2-40B4-BE49-F238E27FC236}">
                <a16:creationId xmlns:a16="http://schemas.microsoft.com/office/drawing/2014/main" id="{A2E4013D-378B-46A4-939F-A1811C11C852}"/>
              </a:ext>
            </a:extLst>
          </p:cNvPr>
          <p:cNvSpPr>
            <a:spLocks noChangeArrowheads="1"/>
          </p:cNvSpPr>
          <p:nvPr/>
        </p:nvSpPr>
        <p:spPr bwMode="auto">
          <a:xfrm>
            <a:off x="1295400" y="43434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a</a:t>
            </a:r>
          </a:p>
        </p:txBody>
      </p:sp>
      <p:sp>
        <p:nvSpPr>
          <p:cNvPr id="146450" name="Rectangle 18">
            <a:extLst>
              <a:ext uri="{FF2B5EF4-FFF2-40B4-BE49-F238E27FC236}">
                <a16:creationId xmlns:a16="http://schemas.microsoft.com/office/drawing/2014/main" id="{3B2B977F-128C-4FE5-9BB4-35CFF1E23204}"/>
              </a:ext>
            </a:extLst>
          </p:cNvPr>
          <p:cNvSpPr>
            <a:spLocks noChangeArrowheads="1"/>
          </p:cNvSpPr>
          <p:nvPr/>
        </p:nvSpPr>
        <p:spPr bwMode="auto">
          <a:xfrm>
            <a:off x="2438400" y="35052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b</a:t>
            </a:r>
          </a:p>
        </p:txBody>
      </p:sp>
      <p:sp>
        <p:nvSpPr>
          <p:cNvPr id="146451" name="Rectangle 19">
            <a:extLst>
              <a:ext uri="{FF2B5EF4-FFF2-40B4-BE49-F238E27FC236}">
                <a16:creationId xmlns:a16="http://schemas.microsoft.com/office/drawing/2014/main" id="{D53160A4-3759-4BB9-AF67-F41A6BEB4B13}"/>
              </a:ext>
            </a:extLst>
          </p:cNvPr>
          <p:cNvSpPr>
            <a:spLocks noChangeArrowheads="1"/>
          </p:cNvSpPr>
          <p:nvPr/>
        </p:nvSpPr>
        <p:spPr bwMode="auto">
          <a:xfrm>
            <a:off x="2667000" y="4953000"/>
            <a:ext cx="341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c</a:t>
            </a:r>
          </a:p>
        </p:txBody>
      </p:sp>
      <p:sp>
        <p:nvSpPr>
          <p:cNvPr id="146452" name="Rectangle 20">
            <a:extLst>
              <a:ext uri="{FF2B5EF4-FFF2-40B4-BE49-F238E27FC236}">
                <a16:creationId xmlns:a16="http://schemas.microsoft.com/office/drawing/2014/main" id="{4CA50E6D-BA86-44FE-8AF4-64BAB4AE44DC}"/>
              </a:ext>
            </a:extLst>
          </p:cNvPr>
          <p:cNvSpPr>
            <a:spLocks noChangeArrowheads="1"/>
          </p:cNvSpPr>
          <p:nvPr/>
        </p:nvSpPr>
        <p:spPr bwMode="auto">
          <a:xfrm>
            <a:off x="3276600" y="41910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d</a:t>
            </a:r>
          </a:p>
        </p:txBody>
      </p:sp>
      <p:sp>
        <p:nvSpPr>
          <p:cNvPr id="146453" name="Rectangle 21">
            <a:extLst>
              <a:ext uri="{FF2B5EF4-FFF2-40B4-BE49-F238E27FC236}">
                <a16:creationId xmlns:a16="http://schemas.microsoft.com/office/drawing/2014/main" id="{1A74CA38-3D57-42AF-BB2F-2914D23E8126}"/>
              </a:ext>
            </a:extLst>
          </p:cNvPr>
          <p:cNvSpPr>
            <a:spLocks noChangeArrowheads="1"/>
          </p:cNvSpPr>
          <p:nvPr/>
        </p:nvSpPr>
        <p:spPr bwMode="auto">
          <a:xfrm>
            <a:off x="1371600" y="2895600"/>
            <a:ext cx="3413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e</a:t>
            </a:r>
          </a:p>
        </p:txBody>
      </p:sp>
      <p:sp>
        <p:nvSpPr>
          <p:cNvPr id="146454" name="Rectangle 22">
            <a:extLst>
              <a:ext uri="{FF2B5EF4-FFF2-40B4-BE49-F238E27FC236}">
                <a16:creationId xmlns:a16="http://schemas.microsoft.com/office/drawing/2014/main" id="{440D191D-DC45-4482-9DDE-A8273C09F8EA}"/>
              </a:ext>
            </a:extLst>
          </p:cNvPr>
          <p:cNvSpPr>
            <a:spLocks noChangeArrowheads="1"/>
          </p:cNvSpPr>
          <p:nvPr/>
        </p:nvSpPr>
        <p:spPr bwMode="auto">
          <a:xfrm>
            <a:off x="3429000" y="2895600"/>
            <a:ext cx="2825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f</a:t>
            </a:r>
          </a:p>
        </p:txBody>
      </p:sp>
      <p:sp>
        <p:nvSpPr>
          <p:cNvPr id="146455" name="Rectangle 23">
            <a:extLst>
              <a:ext uri="{FF2B5EF4-FFF2-40B4-BE49-F238E27FC236}">
                <a16:creationId xmlns:a16="http://schemas.microsoft.com/office/drawing/2014/main" id="{C58773A2-267E-4852-BCC0-D491B1D06034}"/>
              </a:ext>
            </a:extLst>
          </p:cNvPr>
          <p:cNvSpPr>
            <a:spLocks noChangeArrowheads="1"/>
          </p:cNvSpPr>
          <p:nvPr/>
        </p:nvSpPr>
        <p:spPr bwMode="auto">
          <a:xfrm>
            <a:off x="2438400" y="1981200"/>
            <a:ext cx="3619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g</a:t>
            </a:r>
          </a:p>
        </p:txBody>
      </p:sp>
      <p:sp>
        <p:nvSpPr>
          <p:cNvPr id="146477" name="Oval 45">
            <a:extLst>
              <a:ext uri="{FF2B5EF4-FFF2-40B4-BE49-F238E27FC236}">
                <a16:creationId xmlns:a16="http://schemas.microsoft.com/office/drawing/2014/main" id="{FCEB0FAC-F883-4DBE-B916-DD9B83E531D9}"/>
              </a:ext>
            </a:extLst>
          </p:cNvPr>
          <p:cNvSpPr>
            <a:spLocks noChangeArrowheads="1"/>
          </p:cNvSpPr>
          <p:nvPr/>
        </p:nvSpPr>
        <p:spPr bwMode="auto">
          <a:xfrm>
            <a:off x="1219200" y="4191000"/>
            <a:ext cx="685800" cy="685800"/>
          </a:xfrm>
          <a:prstGeom prst="ellipse">
            <a:avLst/>
          </a:prstGeom>
          <a:noFill/>
          <a:ln w="9525">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46485" name="Group 53">
            <a:extLst>
              <a:ext uri="{FF2B5EF4-FFF2-40B4-BE49-F238E27FC236}">
                <a16:creationId xmlns:a16="http://schemas.microsoft.com/office/drawing/2014/main" id="{9D29244A-C696-4536-8C5B-6D8678F78357}"/>
              </a:ext>
            </a:extLst>
          </p:cNvPr>
          <p:cNvGrpSpPr>
            <a:grpSpLocks/>
          </p:cNvGrpSpPr>
          <p:nvPr/>
        </p:nvGrpSpPr>
        <p:grpSpPr bwMode="auto">
          <a:xfrm>
            <a:off x="5181600" y="2209800"/>
            <a:ext cx="3200400" cy="3795713"/>
            <a:chOff x="3264" y="1392"/>
            <a:chExt cx="2016" cy="2391"/>
          </a:xfrm>
        </p:grpSpPr>
        <p:sp>
          <p:nvSpPr>
            <p:cNvPr id="146456" name="Oval 24">
              <a:extLst>
                <a:ext uri="{FF2B5EF4-FFF2-40B4-BE49-F238E27FC236}">
                  <a16:creationId xmlns:a16="http://schemas.microsoft.com/office/drawing/2014/main" id="{B3AD203A-5A5A-4124-A152-8499720F9F1F}"/>
                </a:ext>
              </a:extLst>
            </p:cNvPr>
            <p:cNvSpPr>
              <a:spLocks noChangeArrowheads="1"/>
            </p:cNvSpPr>
            <p:nvPr/>
          </p:nvSpPr>
          <p:spPr bwMode="auto">
            <a:xfrm>
              <a:off x="3936" y="3168"/>
              <a:ext cx="96" cy="144"/>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57" name="Oval 25">
              <a:extLst>
                <a:ext uri="{FF2B5EF4-FFF2-40B4-BE49-F238E27FC236}">
                  <a16:creationId xmlns:a16="http://schemas.microsoft.com/office/drawing/2014/main" id="{54D270CE-E0B5-4B42-9505-827603CE4E1F}"/>
                </a:ext>
              </a:extLst>
            </p:cNvPr>
            <p:cNvSpPr>
              <a:spLocks noChangeArrowheads="1"/>
            </p:cNvSpPr>
            <p:nvPr/>
          </p:nvSpPr>
          <p:spPr bwMode="auto">
            <a:xfrm>
              <a:off x="4560" y="3504"/>
              <a:ext cx="96" cy="144"/>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58" name="Oval 26">
              <a:extLst>
                <a:ext uri="{FF2B5EF4-FFF2-40B4-BE49-F238E27FC236}">
                  <a16:creationId xmlns:a16="http://schemas.microsoft.com/office/drawing/2014/main" id="{94BB5E75-594E-4BB8-9436-8AAAECFD0941}"/>
                </a:ext>
              </a:extLst>
            </p:cNvPr>
            <p:cNvSpPr>
              <a:spLocks noChangeArrowheads="1"/>
            </p:cNvSpPr>
            <p:nvPr/>
          </p:nvSpPr>
          <p:spPr bwMode="auto">
            <a:xfrm>
              <a:off x="3936" y="2496"/>
              <a:ext cx="96" cy="144"/>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59" name="Oval 27">
              <a:extLst>
                <a:ext uri="{FF2B5EF4-FFF2-40B4-BE49-F238E27FC236}">
                  <a16:creationId xmlns:a16="http://schemas.microsoft.com/office/drawing/2014/main" id="{94AC8E12-2660-4C50-B71E-27DAB74B4C05}"/>
                </a:ext>
              </a:extLst>
            </p:cNvPr>
            <p:cNvSpPr>
              <a:spLocks noChangeArrowheads="1"/>
            </p:cNvSpPr>
            <p:nvPr/>
          </p:nvSpPr>
          <p:spPr bwMode="auto">
            <a:xfrm>
              <a:off x="3456" y="2160"/>
              <a:ext cx="96" cy="144"/>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0" name="Oval 28">
              <a:extLst>
                <a:ext uri="{FF2B5EF4-FFF2-40B4-BE49-F238E27FC236}">
                  <a16:creationId xmlns:a16="http://schemas.microsoft.com/office/drawing/2014/main" id="{A3B26770-8E44-4F73-8484-7AAF95F5DCD2}"/>
                </a:ext>
              </a:extLst>
            </p:cNvPr>
            <p:cNvSpPr>
              <a:spLocks noChangeArrowheads="1"/>
            </p:cNvSpPr>
            <p:nvPr/>
          </p:nvSpPr>
          <p:spPr bwMode="auto">
            <a:xfrm>
              <a:off x="4608" y="2640"/>
              <a:ext cx="96" cy="144"/>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1" name="Oval 29">
              <a:extLst>
                <a:ext uri="{FF2B5EF4-FFF2-40B4-BE49-F238E27FC236}">
                  <a16:creationId xmlns:a16="http://schemas.microsoft.com/office/drawing/2014/main" id="{F90E37E6-208B-456A-A3BB-A010E7F52A75}"/>
                </a:ext>
              </a:extLst>
            </p:cNvPr>
            <p:cNvSpPr>
              <a:spLocks noChangeArrowheads="1"/>
            </p:cNvSpPr>
            <p:nvPr/>
          </p:nvSpPr>
          <p:spPr bwMode="auto">
            <a:xfrm>
              <a:off x="4560" y="2112"/>
              <a:ext cx="96" cy="144"/>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2" name="Oval 30">
              <a:extLst>
                <a:ext uri="{FF2B5EF4-FFF2-40B4-BE49-F238E27FC236}">
                  <a16:creationId xmlns:a16="http://schemas.microsoft.com/office/drawing/2014/main" id="{A5E2E987-9104-46B3-A087-C168C96A7B0F}"/>
                </a:ext>
              </a:extLst>
            </p:cNvPr>
            <p:cNvSpPr>
              <a:spLocks noChangeArrowheads="1"/>
            </p:cNvSpPr>
            <p:nvPr/>
          </p:nvSpPr>
          <p:spPr bwMode="auto">
            <a:xfrm>
              <a:off x="3984" y="1680"/>
              <a:ext cx="96" cy="144"/>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3" name="Line 31">
              <a:extLst>
                <a:ext uri="{FF2B5EF4-FFF2-40B4-BE49-F238E27FC236}">
                  <a16:creationId xmlns:a16="http://schemas.microsoft.com/office/drawing/2014/main" id="{DAFA42ED-D357-4FEF-A25D-863DEDAED294}"/>
                </a:ext>
              </a:extLst>
            </p:cNvPr>
            <p:cNvSpPr>
              <a:spLocks noChangeShapeType="1"/>
            </p:cNvSpPr>
            <p:nvPr/>
          </p:nvSpPr>
          <p:spPr bwMode="auto">
            <a:xfrm flipV="1">
              <a:off x="3552" y="1728"/>
              <a:ext cx="480" cy="4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4" name="Line 32">
              <a:extLst>
                <a:ext uri="{FF2B5EF4-FFF2-40B4-BE49-F238E27FC236}">
                  <a16:creationId xmlns:a16="http://schemas.microsoft.com/office/drawing/2014/main" id="{0F0BE05D-63E8-45AD-BB27-B35960C9FBFD}"/>
                </a:ext>
              </a:extLst>
            </p:cNvPr>
            <p:cNvSpPr>
              <a:spLocks noChangeShapeType="1"/>
            </p:cNvSpPr>
            <p:nvPr/>
          </p:nvSpPr>
          <p:spPr bwMode="auto">
            <a:xfrm flipV="1">
              <a:off x="3936" y="2640"/>
              <a:ext cx="48" cy="62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5" name="Line 33">
              <a:extLst>
                <a:ext uri="{FF2B5EF4-FFF2-40B4-BE49-F238E27FC236}">
                  <a16:creationId xmlns:a16="http://schemas.microsoft.com/office/drawing/2014/main" id="{2C71AA24-293A-4A77-883B-630D308399ED}"/>
                </a:ext>
              </a:extLst>
            </p:cNvPr>
            <p:cNvSpPr>
              <a:spLocks noChangeShapeType="1"/>
            </p:cNvSpPr>
            <p:nvPr/>
          </p:nvSpPr>
          <p:spPr bwMode="auto">
            <a:xfrm>
              <a:off x="4032" y="1776"/>
              <a:ext cx="576"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7" name="Line 35">
              <a:extLst>
                <a:ext uri="{FF2B5EF4-FFF2-40B4-BE49-F238E27FC236}">
                  <a16:creationId xmlns:a16="http://schemas.microsoft.com/office/drawing/2014/main" id="{DA18EAFF-7296-43FB-8D5D-69763E8BAF85}"/>
                </a:ext>
              </a:extLst>
            </p:cNvPr>
            <p:cNvSpPr>
              <a:spLocks noChangeShapeType="1"/>
            </p:cNvSpPr>
            <p:nvPr/>
          </p:nvSpPr>
          <p:spPr bwMode="auto">
            <a:xfrm flipV="1">
              <a:off x="4608" y="2736"/>
              <a:ext cx="48"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8" name="Line 36">
              <a:extLst>
                <a:ext uri="{FF2B5EF4-FFF2-40B4-BE49-F238E27FC236}">
                  <a16:creationId xmlns:a16="http://schemas.microsoft.com/office/drawing/2014/main" id="{D6B01BF7-3466-4A39-80FA-2C5B6668422E}"/>
                </a:ext>
              </a:extLst>
            </p:cNvPr>
            <p:cNvSpPr>
              <a:spLocks noChangeShapeType="1"/>
            </p:cNvSpPr>
            <p:nvPr/>
          </p:nvSpPr>
          <p:spPr bwMode="auto">
            <a:xfrm flipV="1">
              <a:off x="3984" y="1728"/>
              <a:ext cx="48" cy="7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69" name="Text Box 37">
              <a:extLst>
                <a:ext uri="{FF2B5EF4-FFF2-40B4-BE49-F238E27FC236}">
                  <a16:creationId xmlns:a16="http://schemas.microsoft.com/office/drawing/2014/main" id="{4B9C1B00-9BDA-48DD-8BE3-E527A7A70C98}"/>
                </a:ext>
              </a:extLst>
            </p:cNvPr>
            <p:cNvSpPr txBox="1">
              <a:spLocks noChangeArrowheads="1"/>
            </p:cNvSpPr>
            <p:nvPr/>
          </p:nvSpPr>
          <p:spPr bwMode="auto">
            <a:xfrm>
              <a:off x="4992" y="2208"/>
              <a:ext cx="28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sz="2000">
                <a:latin typeface="Times New Roman" panose="02020603050405020304" pitchFamily="18" charset="0"/>
              </a:endParaRPr>
            </a:p>
          </p:txBody>
        </p:sp>
        <p:sp>
          <p:nvSpPr>
            <p:cNvPr id="146470" name="Rectangle 38">
              <a:extLst>
                <a:ext uri="{FF2B5EF4-FFF2-40B4-BE49-F238E27FC236}">
                  <a16:creationId xmlns:a16="http://schemas.microsoft.com/office/drawing/2014/main" id="{2D715E21-A981-4BBE-9807-BA47A67BC0C9}"/>
                </a:ext>
              </a:extLst>
            </p:cNvPr>
            <p:cNvSpPr>
              <a:spLocks noChangeArrowheads="1"/>
            </p:cNvSpPr>
            <p:nvPr/>
          </p:nvSpPr>
          <p:spPr bwMode="auto">
            <a:xfrm>
              <a:off x="3792" y="139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a</a:t>
              </a:r>
            </a:p>
          </p:txBody>
        </p:sp>
        <p:sp>
          <p:nvSpPr>
            <p:cNvPr id="146471" name="Rectangle 39">
              <a:extLst>
                <a:ext uri="{FF2B5EF4-FFF2-40B4-BE49-F238E27FC236}">
                  <a16:creationId xmlns:a16="http://schemas.microsoft.com/office/drawing/2014/main" id="{237FE4E7-63FF-4BBB-9565-D44AADEDC6AE}"/>
                </a:ext>
              </a:extLst>
            </p:cNvPr>
            <p:cNvSpPr>
              <a:spLocks noChangeArrowheads="1"/>
            </p:cNvSpPr>
            <p:nvPr/>
          </p:nvSpPr>
          <p:spPr bwMode="auto">
            <a:xfrm>
              <a:off x="3696" y="235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b</a:t>
              </a:r>
            </a:p>
          </p:txBody>
        </p:sp>
        <p:sp>
          <p:nvSpPr>
            <p:cNvPr id="146472" name="Rectangle 40">
              <a:extLst>
                <a:ext uri="{FF2B5EF4-FFF2-40B4-BE49-F238E27FC236}">
                  <a16:creationId xmlns:a16="http://schemas.microsoft.com/office/drawing/2014/main" id="{F33F4709-C622-4C24-9C68-0CE4519387B8}"/>
                </a:ext>
              </a:extLst>
            </p:cNvPr>
            <p:cNvSpPr>
              <a:spLocks noChangeArrowheads="1"/>
            </p:cNvSpPr>
            <p:nvPr/>
          </p:nvSpPr>
          <p:spPr bwMode="auto">
            <a:xfrm>
              <a:off x="4656" y="2016"/>
              <a:ext cx="2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c</a:t>
              </a:r>
            </a:p>
          </p:txBody>
        </p:sp>
        <p:sp>
          <p:nvSpPr>
            <p:cNvPr id="146473" name="Rectangle 41">
              <a:extLst>
                <a:ext uri="{FF2B5EF4-FFF2-40B4-BE49-F238E27FC236}">
                  <a16:creationId xmlns:a16="http://schemas.microsoft.com/office/drawing/2014/main" id="{0AD5C654-4F26-4EE3-A903-69637E8F39DF}"/>
                </a:ext>
              </a:extLst>
            </p:cNvPr>
            <p:cNvSpPr>
              <a:spLocks noChangeArrowheads="1"/>
            </p:cNvSpPr>
            <p:nvPr/>
          </p:nvSpPr>
          <p:spPr bwMode="auto">
            <a:xfrm>
              <a:off x="4848" y="2496"/>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d</a:t>
              </a:r>
            </a:p>
          </p:txBody>
        </p:sp>
        <p:sp>
          <p:nvSpPr>
            <p:cNvPr id="146474" name="Rectangle 42">
              <a:extLst>
                <a:ext uri="{FF2B5EF4-FFF2-40B4-BE49-F238E27FC236}">
                  <a16:creationId xmlns:a16="http://schemas.microsoft.com/office/drawing/2014/main" id="{524469B8-1DBB-4854-989F-86FEFAC614D5}"/>
                </a:ext>
              </a:extLst>
            </p:cNvPr>
            <p:cNvSpPr>
              <a:spLocks noChangeArrowheads="1"/>
            </p:cNvSpPr>
            <p:nvPr/>
          </p:nvSpPr>
          <p:spPr bwMode="auto">
            <a:xfrm>
              <a:off x="3264" y="1920"/>
              <a:ext cx="21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e</a:t>
              </a:r>
            </a:p>
          </p:txBody>
        </p:sp>
        <p:sp>
          <p:nvSpPr>
            <p:cNvPr id="146475" name="Rectangle 43">
              <a:extLst>
                <a:ext uri="{FF2B5EF4-FFF2-40B4-BE49-F238E27FC236}">
                  <a16:creationId xmlns:a16="http://schemas.microsoft.com/office/drawing/2014/main" id="{746E27BF-20D1-4751-9DD7-E272D00BF15D}"/>
                </a:ext>
              </a:extLst>
            </p:cNvPr>
            <p:cNvSpPr>
              <a:spLocks noChangeArrowheads="1"/>
            </p:cNvSpPr>
            <p:nvPr/>
          </p:nvSpPr>
          <p:spPr bwMode="auto">
            <a:xfrm>
              <a:off x="4752" y="3456"/>
              <a:ext cx="1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f</a:t>
              </a:r>
            </a:p>
          </p:txBody>
        </p:sp>
        <p:sp>
          <p:nvSpPr>
            <p:cNvPr id="146476" name="Rectangle 44">
              <a:extLst>
                <a:ext uri="{FF2B5EF4-FFF2-40B4-BE49-F238E27FC236}">
                  <a16:creationId xmlns:a16="http://schemas.microsoft.com/office/drawing/2014/main" id="{2B257F72-5AF3-45A6-9388-509435F01B46}"/>
                </a:ext>
              </a:extLst>
            </p:cNvPr>
            <p:cNvSpPr>
              <a:spLocks noChangeArrowheads="1"/>
            </p:cNvSpPr>
            <p:nvPr/>
          </p:nvSpPr>
          <p:spPr bwMode="auto">
            <a:xfrm>
              <a:off x="3648" y="3072"/>
              <a:ext cx="2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i="1">
                  <a:latin typeface="Times New Roman" panose="02020603050405020304" pitchFamily="18" charset="0"/>
                </a:rPr>
                <a:t>g</a:t>
              </a:r>
            </a:p>
          </p:txBody>
        </p:sp>
        <p:sp>
          <p:nvSpPr>
            <p:cNvPr id="146478" name="Line 46">
              <a:extLst>
                <a:ext uri="{FF2B5EF4-FFF2-40B4-BE49-F238E27FC236}">
                  <a16:creationId xmlns:a16="http://schemas.microsoft.com/office/drawing/2014/main" id="{B4A86704-0611-4680-BB2B-AD40E163A37D}"/>
                </a:ext>
              </a:extLst>
            </p:cNvPr>
            <p:cNvSpPr>
              <a:spLocks noChangeShapeType="1"/>
            </p:cNvSpPr>
            <p:nvPr/>
          </p:nvSpPr>
          <p:spPr bwMode="auto">
            <a:xfrm>
              <a:off x="4608" y="2160"/>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79" name="AutoShape 47">
              <a:extLst>
                <a:ext uri="{FF2B5EF4-FFF2-40B4-BE49-F238E27FC236}">
                  <a16:creationId xmlns:a16="http://schemas.microsoft.com/office/drawing/2014/main" id="{D8FFD5F2-4876-42E8-B498-BD40DEC4BA3E}"/>
                </a:ext>
              </a:extLst>
            </p:cNvPr>
            <p:cNvSpPr>
              <a:spLocks noChangeArrowheads="1"/>
            </p:cNvSpPr>
            <p:nvPr/>
          </p:nvSpPr>
          <p:spPr bwMode="auto">
            <a:xfrm flipV="1">
              <a:off x="3984" y="2064"/>
              <a:ext cx="48" cy="144"/>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80" name="AutoShape 48">
              <a:extLst>
                <a:ext uri="{FF2B5EF4-FFF2-40B4-BE49-F238E27FC236}">
                  <a16:creationId xmlns:a16="http://schemas.microsoft.com/office/drawing/2014/main" id="{A0203DCA-4995-486E-A674-89E048609BD1}"/>
                </a:ext>
              </a:extLst>
            </p:cNvPr>
            <p:cNvSpPr>
              <a:spLocks noChangeArrowheads="1"/>
            </p:cNvSpPr>
            <p:nvPr/>
          </p:nvSpPr>
          <p:spPr bwMode="auto">
            <a:xfrm flipV="1">
              <a:off x="3936" y="2784"/>
              <a:ext cx="48" cy="144"/>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81" name="AutoShape 49">
              <a:extLst>
                <a:ext uri="{FF2B5EF4-FFF2-40B4-BE49-F238E27FC236}">
                  <a16:creationId xmlns:a16="http://schemas.microsoft.com/office/drawing/2014/main" id="{7CD7BE0C-50A6-45C6-98F7-7C829519F671}"/>
                </a:ext>
              </a:extLst>
            </p:cNvPr>
            <p:cNvSpPr>
              <a:spLocks noChangeArrowheads="1"/>
            </p:cNvSpPr>
            <p:nvPr/>
          </p:nvSpPr>
          <p:spPr bwMode="auto">
            <a:xfrm flipV="1">
              <a:off x="4608" y="2352"/>
              <a:ext cx="48" cy="144"/>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82" name="AutoShape 50">
              <a:extLst>
                <a:ext uri="{FF2B5EF4-FFF2-40B4-BE49-F238E27FC236}">
                  <a16:creationId xmlns:a16="http://schemas.microsoft.com/office/drawing/2014/main" id="{518F750D-7C2D-495A-B2C2-47873235A84C}"/>
                </a:ext>
              </a:extLst>
            </p:cNvPr>
            <p:cNvSpPr>
              <a:spLocks noChangeArrowheads="1"/>
            </p:cNvSpPr>
            <p:nvPr/>
          </p:nvSpPr>
          <p:spPr bwMode="auto">
            <a:xfrm flipV="1">
              <a:off x="4608" y="3120"/>
              <a:ext cx="48" cy="144"/>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83" name="AutoShape 51">
              <a:extLst>
                <a:ext uri="{FF2B5EF4-FFF2-40B4-BE49-F238E27FC236}">
                  <a16:creationId xmlns:a16="http://schemas.microsoft.com/office/drawing/2014/main" id="{70347235-7BED-478A-9FF8-101DB3A54339}"/>
                </a:ext>
              </a:extLst>
            </p:cNvPr>
            <p:cNvSpPr>
              <a:spLocks noChangeArrowheads="1"/>
            </p:cNvSpPr>
            <p:nvPr/>
          </p:nvSpPr>
          <p:spPr bwMode="auto">
            <a:xfrm rot="2230705" flipV="1">
              <a:off x="3748" y="1905"/>
              <a:ext cx="48" cy="144"/>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6484" name="AutoShape 52">
              <a:extLst>
                <a:ext uri="{FF2B5EF4-FFF2-40B4-BE49-F238E27FC236}">
                  <a16:creationId xmlns:a16="http://schemas.microsoft.com/office/drawing/2014/main" id="{DA559EC6-333D-4788-867F-945AA7DC8783}"/>
                </a:ext>
              </a:extLst>
            </p:cNvPr>
            <p:cNvSpPr>
              <a:spLocks noChangeArrowheads="1"/>
            </p:cNvSpPr>
            <p:nvPr/>
          </p:nvSpPr>
          <p:spPr bwMode="auto">
            <a:xfrm rot="18465940" flipV="1">
              <a:off x="4281" y="1915"/>
              <a:ext cx="72" cy="120"/>
            </a:xfrm>
            <a:prstGeom prst="triangle">
              <a:avLst>
                <a:gd name="adj" fmla="val 50000"/>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6477"/>
                                        </p:tgtEl>
                                        <p:attrNameLst>
                                          <p:attrName>style.visibility</p:attrName>
                                        </p:attrNameLst>
                                      </p:cBhvr>
                                      <p:to>
                                        <p:strVal val="visible"/>
                                      </p:to>
                                    </p:set>
                                    <p:animEffect transition="in" filter="dissolve">
                                      <p:cBhvr>
                                        <p:cTn id="7" dur="500"/>
                                        <p:tgtEl>
                                          <p:spTgt spid="1464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6485"/>
                                        </p:tgtEl>
                                        <p:attrNameLst>
                                          <p:attrName>style.visibility</p:attrName>
                                        </p:attrNameLst>
                                      </p:cBhvr>
                                      <p:to>
                                        <p:strVal val="visible"/>
                                      </p:to>
                                    </p:set>
                                    <p:animEffect transition="in" filter="dissolve">
                                      <p:cBhvr>
                                        <p:cTn id="12" dur="500"/>
                                        <p:tgtEl>
                                          <p:spTgt spid="1464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99" name="Rectangle 43">
            <a:extLst>
              <a:ext uri="{FF2B5EF4-FFF2-40B4-BE49-F238E27FC236}">
                <a16:creationId xmlns:a16="http://schemas.microsoft.com/office/drawing/2014/main" id="{6C642E91-CFD7-416E-8409-312165330351}"/>
              </a:ext>
            </a:extLst>
          </p:cNvPr>
          <p:cNvSpPr>
            <a:spLocks noChangeArrowheads="1"/>
          </p:cNvSpPr>
          <p:nvPr/>
        </p:nvSpPr>
        <p:spPr bwMode="auto">
          <a:xfrm>
            <a:off x="1066800" y="304800"/>
            <a:ext cx="7924800" cy="6248400"/>
          </a:xfrm>
          <a:prstGeom prst="rect">
            <a:avLst/>
          </a:prstGeom>
          <a:solidFill>
            <a:schemeClr val="bg1"/>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47478" name="Group 22">
            <a:extLst>
              <a:ext uri="{FF2B5EF4-FFF2-40B4-BE49-F238E27FC236}">
                <a16:creationId xmlns:a16="http://schemas.microsoft.com/office/drawing/2014/main" id="{691C21E3-97EE-457C-A8ED-56BBB9F38FAA}"/>
              </a:ext>
            </a:extLst>
          </p:cNvPr>
          <p:cNvGrpSpPr>
            <a:grpSpLocks/>
          </p:cNvGrpSpPr>
          <p:nvPr/>
        </p:nvGrpSpPr>
        <p:grpSpPr bwMode="auto">
          <a:xfrm>
            <a:off x="4876800" y="457200"/>
            <a:ext cx="2057400" cy="838200"/>
            <a:chOff x="3024" y="240"/>
            <a:chExt cx="1296" cy="528"/>
          </a:xfrm>
        </p:grpSpPr>
        <p:sp>
          <p:nvSpPr>
            <p:cNvPr id="147476" name="Text Box 20">
              <a:extLst>
                <a:ext uri="{FF2B5EF4-FFF2-40B4-BE49-F238E27FC236}">
                  <a16:creationId xmlns:a16="http://schemas.microsoft.com/office/drawing/2014/main" id="{37CF01CA-A0A9-4062-A024-4A58D06AAAC6}"/>
                </a:ext>
              </a:extLst>
            </p:cNvPr>
            <p:cNvSpPr txBox="1">
              <a:spLocks noChangeArrowheads="1"/>
            </p:cNvSpPr>
            <p:nvPr/>
          </p:nvSpPr>
          <p:spPr bwMode="auto">
            <a:xfrm>
              <a:off x="3216" y="240"/>
              <a:ext cx="110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82F1A"/>
                  </a:solidFill>
                  <a:latin typeface="Times New Roman" panose="02020603050405020304" pitchFamily="18" charset="0"/>
                </a:rPr>
                <a:t>root node</a:t>
              </a:r>
            </a:p>
          </p:txBody>
        </p:sp>
        <p:sp>
          <p:nvSpPr>
            <p:cNvPr id="147477" name="Line 21">
              <a:extLst>
                <a:ext uri="{FF2B5EF4-FFF2-40B4-BE49-F238E27FC236}">
                  <a16:creationId xmlns:a16="http://schemas.microsoft.com/office/drawing/2014/main" id="{8328E2D0-1D73-4D65-80E1-648251F9B926}"/>
                </a:ext>
              </a:extLst>
            </p:cNvPr>
            <p:cNvSpPr>
              <a:spLocks noChangeShapeType="1"/>
            </p:cNvSpPr>
            <p:nvPr/>
          </p:nvSpPr>
          <p:spPr bwMode="auto">
            <a:xfrm flipH="1">
              <a:off x="3024" y="480"/>
              <a:ext cx="240" cy="28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7488" name="Group 32">
            <a:extLst>
              <a:ext uri="{FF2B5EF4-FFF2-40B4-BE49-F238E27FC236}">
                <a16:creationId xmlns:a16="http://schemas.microsoft.com/office/drawing/2014/main" id="{C2720246-1BAC-490D-9025-9C645787D1E5}"/>
              </a:ext>
            </a:extLst>
          </p:cNvPr>
          <p:cNvGrpSpPr>
            <a:grpSpLocks/>
          </p:cNvGrpSpPr>
          <p:nvPr/>
        </p:nvGrpSpPr>
        <p:grpSpPr bwMode="auto">
          <a:xfrm>
            <a:off x="1981200" y="990600"/>
            <a:ext cx="5410200" cy="4176713"/>
            <a:chOff x="1104" y="624"/>
            <a:chExt cx="3408" cy="2631"/>
          </a:xfrm>
        </p:grpSpPr>
        <p:grpSp>
          <p:nvGrpSpPr>
            <p:cNvPr id="147475" name="Group 19">
              <a:extLst>
                <a:ext uri="{FF2B5EF4-FFF2-40B4-BE49-F238E27FC236}">
                  <a16:creationId xmlns:a16="http://schemas.microsoft.com/office/drawing/2014/main" id="{E4D99A33-A7E9-4097-B501-3B526AF2764A}"/>
                </a:ext>
              </a:extLst>
            </p:cNvPr>
            <p:cNvGrpSpPr>
              <a:grpSpLocks/>
            </p:cNvGrpSpPr>
            <p:nvPr/>
          </p:nvGrpSpPr>
          <p:grpSpPr bwMode="auto">
            <a:xfrm>
              <a:off x="1296" y="816"/>
              <a:ext cx="3216" cy="2352"/>
              <a:chOff x="1296" y="816"/>
              <a:chExt cx="3216" cy="2352"/>
            </a:xfrm>
          </p:grpSpPr>
          <p:sp>
            <p:nvSpPr>
              <p:cNvPr id="147458" name="Oval 2">
                <a:extLst>
                  <a:ext uri="{FF2B5EF4-FFF2-40B4-BE49-F238E27FC236}">
                    <a16:creationId xmlns:a16="http://schemas.microsoft.com/office/drawing/2014/main" id="{7B86264E-8EBB-4614-843D-4100417AD928}"/>
                  </a:ext>
                </a:extLst>
              </p:cNvPr>
              <p:cNvSpPr>
                <a:spLocks noChangeArrowheads="1"/>
              </p:cNvSpPr>
              <p:nvPr/>
            </p:nvSpPr>
            <p:spPr bwMode="auto">
              <a:xfrm>
                <a:off x="2880" y="8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59" name="Oval 3">
                <a:extLst>
                  <a:ext uri="{FF2B5EF4-FFF2-40B4-BE49-F238E27FC236}">
                    <a16:creationId xmlns:a16="http://schemas.microsoft.com/office/drawing/2014/main" id="{6765C4F6-2D09-43C3-9979-05DC1E6AC1BC}"/>
                  </a:ext>
                </a:extLst>
              </p:cNvPr>
              <p:cNvSpPr>
                <a:spLocks noChangeArrowheads="1"/>
              </p:cNvSpPr>
              <p:nvPr/>
            </p:nvSpPr>
            <p:spPr bwMode="auto">
              <a:xfrm>
                <a:off x="187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0" name="Oval 4">
                <a:extLst>
                  <a:ext uri="{FF2B5EF4-FFF2-40B4-BE49-F238E27FC236}">
                    <a16:creationId xmlns:a16="http://schemas.microsoft.com/office/drawing/2014/main" id="{D32545FE-831F-4D74-880B-E956206555BD}"/>
                  </a:ext>
                </a:extLst>
              </p:cNvPr>
              <p:cNvSpPr>
                <a:spLocks noChangeArrowheads="1"/>
              </p:cNvSpPr>
              <p:nvPr/>
            </p:nvSpPr>
            <p:spPr bwMode="auto">
              <a:xfrm>
                <a:off x="1296"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1" name="Oval 5">
                <a:extLst>
                  <a:ext uri="{FF2B5EF4-FFF2-40B4-BE49-F238E27FC236}">
                    <a16:creationId xmlns:a16="http://schemas.microsoft.com/office/drawing/2014/main" id="{D9C62725-322A-408D-BB78-6FFFEBB50FA2}"/>
                  </a:ext>
                </a:extLst>
              </p:cNvPr>
              <p:cNvSpPr>
                <a:spLocks noChangeArrowheads="1"/>
              </p:cNvSpPr>
              <p:nvPr/>
            </p:nvSpPr>
            <p:spPr bwMode="auto">
              <a:xfrm>
                <a:off x="379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2" name="Oval 6">
                <a:extLst>
                  <a:ext uri="{FF2B5EF4-FFF2-40B4-BE49-F238E27FC236}">
                    <a16:creationId xmlns:a16="http://schemas.microsoft.com/office/drawing/2014/main" id="{84FACA20-0F7E-4814-89ED-39A0C897399D}"/>
                  </a:ext>
                </a:extLst>
              </p:cNvPr>
              <p:cNvSpPr>
                <a:spLocks noChangeArrowheads="1"/>
              </p:cNvSpPr>
              <p:nvPr/>
            </p:nvSpPr>
            <p:spPr bwMode="auto">
              <a:xfrm>
                <a:off x="2448"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3" name="Oval 7">
                <a:extLst>
                  <a:ext uri="{FF2B5EF4-FFF2-40B4-BE49-F238E27FC236}">
                    <a16:creationId xmlns:a16="http://schemas.microsoft.com/office/drawing/2014/main" id="{F954943F-52F6-4576-B9AC-7AAEAF6C02E1}"/>
                  </a:ext>
                </a:extLst>
              </p:cNvPr>
              <p:cNvSpPr>
                <a:spLocks noChangeArrowheads="1"/>
              </p:cNvSpPr>
              <p:nvPr/>
            </p:nvSpPr>
            <p:spPr bwMode="auto">
              <a:xfrm>
                <a:off x="3264"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4" name="Oval 8">
                <a:extLst>
                  <a:ext uri="{FF2B5EF4-FFF2-40B4-BE49-F238E27FC236}">
                    <a16:creationId xmlns:a16="http://schemas.microsoft.com/office/drawing/2014/main" id="{F6CC9AD7-BD86-460E-B9CE-7D7E42306655}"/>
                  </a:ext>
                </a:extLst>
              </p:cNvPr>
              <p:cNvSpPr>
                <a:spLocks noChangeArrowheads="1"/>
              </p:cNvSpPr>
              <p:nvPr/>
            </p:nvSpPr>
            <p:spPr bwMode="auto">
              <a:xfrm>
                <a:off x="4416"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5" name="Line 9">
                <a:extLst>
                  <a:ext uri="{FF2B5EF4-FFF2-40B4-BE49-F238E27FC236}">
                    <a16:creationId xmlns:a16="http://schemas.microsoft.com/office/drawing/2014/main" id="{061AE088-9006-4A0F-A510-C14AE601FCD4}"/>
                  </a:ext>
                </a:extLst>
              </p:cNvPr>
              <p:cNvSpPr>
                <a:spLocks noChangeShapeType="1"/>
              </p:cNvSpPr>
              <p:nvPr/>
            </p:nvSpPr>
            <p:spPr bwMode="auto">
              <a:xfrm flipV="1">
                <a:off x="1920" y="864"/>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6" name="Line 10">
                <a:extLst>
                  <a:ext uri="{FF2B5EF4-FFF2-40B4-BE49-F238E27FC236}">
                    <a16:creationId xmlns:a16="http://schemas.microsoft.com/office/drawing/2014/main" id="{16777D89-BBFC-4588-AA3A-F08E4BB2DACA}"/>
                  </a:ext>
                </a:extLst>
              </p:cNvPr>
              <p:cNvSpPr>
                <a:spLocks noChangeShapeType="1"/>
              </p:cNvSpPr>
              <p:nvPr/>
            </p:nvSpPr>
            <p:spPr bwMode="auto">
              <a:xfrm>
                <a:off x="2928" y="864"/>
                <a:ext cx="912"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7" name="Line 11">
                <a:extLst>
                  <a:ext uri="{FF2B5EF4-FFF2-40B4-BE49-F238E27FC236}">
                    <a16:creationId xmlns:a16="http://schemas.microsoft.com/office/drawing/2014/main" id="{2EFF5A3E-599C-4C83-A4EA-BC5B1712D978}"/>
                  </a:ext>
                </a:extLst>
              </p:cNvPr>
              <p:cNvSpPr>
                <a:spLocks noChangeShapeType="1"/>
              </p:cNvSpPr>
              <p:nvPr/>
            </p:nvSpPr>
            <p:spPr bwMode="auto">
              <a:xfrm flipV="1">
                <a:off x="1344" y="1584"/>
                <a:ext cx="57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8" name="Line 12">
                <a:extLst>
                  <a:ext uri="{FF2B5EF4-FFF2-40B4-BE49-F238E27FC236}">
                    <a16:creationId xmlns:a16="http://schemas.microsoft.com/office/drawing/2014/main" id="{5EE289C6-CCFC-4FD6-9F8E-C6F5D4CD0F0F}"/>
                  </a:ext>
                </a:extLst>
              </p:cNvPr>
              <p:cNvSpPr>
                <a:spLocks noChangeShapeType="1"/>
              </p:cNvSpPr>
              <p:nvPr/>
            </p:nvSpPr>
            <p:spPr bwMode="auto">
              <a:xfrm flipH="1" flipV="1">
                <a:off x="1968" y="1584"/>
                <a:ext cx="528"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69" name="Line 13">
                <a:extLst>
                  <a:ext uri="{FF2B5EF4-FFF2-40B4-BE49-F238E27FC236}">
                    <a16:creationId xmlns:a16="http://schemas.microsoft.com/office/drawing/2014/main" id="{398EFEF2-C168-4EA9-A993-BB7BAC57C139}"/>
                  </a:ext>
                </a:extLst>
              </p:cNvPr>
              <p:cNvSpPr>
                <a:spLocks noChangeShapeType="1"/>
              </p:cNvSpPr>
              <p:nvPr/>
            </p:nvSpPr>
            <p:spPr bwMode="auto">
              <a:xfrm flipV="1">
                <a:off x="3312" y="1584"/>
                <a:ext cx="528"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70" name="Line 14">
                <a:extLst>
                  <a:ext uri="{FF2B5EF4-FFF2-40B4-BE49-F238E27FC236}">
                    <a16:creationId xmlns:a16="http://schemas.microsoft.com/office/drawing/2014/main" id="{CAE8511C-4D0A-459D-B5EA-8F08DC1A5311}"/>
                  </a:ext>
                </a:extLst>
              </p:cNvPr>
              <p:cNvSpPr>
                <a:spLocks noChangeShapeType="1"/>
              </p:cNvSpPr>
              <p:nvPr/>
            </p:nvSpPr>
            <p:spPr bwMode="auto">
              <a:xfrm flipH="1" flipV="1">
                <a:off x="3888" y="1584"/>
                <a:ext cx="57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71" name="Oval 15">
                <a:extLst>
                  <a:ext uri="{FF2B5EF4-FFF2-40B4-BE49-F238E27FC236}">
                    <a16:creationId xmlns:a16="http://schemas.microsoft.com/office/drawing/2014/main" id="{9E7A649D-691E-4553-9DCC-AB9221D468D4}"/>
                  </a:ext>
                </a:extLst>
              </p:cNvPr>
              <p:cNvSpPr>
                <a:spLocks noChangeArrowheads="1"/>
              </p:cNvSpPr>
              <p:nvPr/>
            </p:nvSpPr>
            <p:spPr bwMode="auto">
              <a:xfrm>
                <a:off x="2112" y="30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72" name="Oval 16">
                <a:extLst>
                  <a:ext uri="{FF2B5EF4-FFF2-40B4-BE49-F238E27FC236}">
                    <a16:creationId xmlns:a16="http://schemas.microsoft.com/office/drawing/2014/main" id="{55441633-4BDB-4C4B-936E-EED2CF2EF9D7}"/>
                  </a:ext>
                </a:extLst>
              </p:cNvPr>
              <p:cNvSpPr>
                <a:spLocks noChangeArrowheads="1"/>
              </p:cNvSpPr>
              <p:nvPr/>
            </p:nvSpPr>
            <p:spPr bwMode="auto">
              <a:xfrm>
                <a:off x="2736" y="30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73" name="Line 17">
                <a:extLst>
                  <a:ext uri="{FF2B5EF4-FFF2-40B4-BE49-F238E27FC236}">
                    <a16:creationId xmlns:a16="http://schemas.microsoft.com/office/drawing/2014/main" id="{301014E2-D09E-4199-A6A5-35DF47726E3A}"/>
                  </a:ext>
                </a:extLst>
              </p:cNvPr>
              <p:cNvSpPr>
                <a:spLocks noChangeShapeType="1"/>
              </p:cNvSpPr>
              <p:nvPr/>
            </p:nvSpPr>
            <p:spPr bwMode="auto">
              <a:xfrm flipV="1">
                <a:off x="2160" y="2400"/>
                <a:ext cx="3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74" name="Line 18">
                <a:extLst>
                  <a:ext uri="{FF2B5EF4-FFF2-40B4-BE49-F238E27FC236}">
                    <a16:creationId xmlns:a16="http://schemas.microsoft.com/office/drawing/2014/main" id="{4566A64F-AE76-4B39-8797-DA6350769F8D}"/>
                  </a:ext>
                </a:extLst>
              </p:cNvPr>
              <p:cNvSpPr>
                <a:spLocks noChangeShapeType="1"/>
              </p:cNvSpPr>
              <p:nvPr/>
            </p:nvSpPr>
            <p:spPr bwMode="auto">
              <a:xfrm flipH="1" flipV="1">
                <a:off x="2496" y="2400"/>
                <a:ext cx="28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47479" name="Text Box 23">
              <a:extLst>
                <a:ext uri="{FF2B5EF4-FFF2-40B4-BE49-F238E27FC236}">
                  <a16:creationId xmlns:a16="http://schemas.microsoft.com/office/drawing/2014/main" id="{F1DCC28A-A71D-4ED5-9694-EA71E62DCFF0}"/>
                </a:ext>
              </a:extLst>
            </p:cNvPr>
            <p:cNvSpPr txBox="1">
              <a:spLocks noChangeArrowheads="1"/>
            </p:cNvSpPr>
            <p:nvPr/>
          </p:nvSpPr>
          <p:spPr bwMode="auto">
            <a:xfrm>
              <a:off x="2688" y="62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a</a:t>
              </a:r>
              <a:endParaRPr lang="en-US" altLang="en-US" sz="2800">
                <a:solidFill>
                  <a:srgbClr val="F82F1A"/>
                </a:solidFill>
                <a:latin typeface="Times New Roman" panose="02020603050405020304" pitchFamily="18" charset="0"/>
              </a:endParaRPr>
            </a:p>
          </p:txBody>
        </p:sp>
        <p:sp>
          <p:nvSpPr>
            <p:cNvPr id="147480" name="Text Box 24">
              <a:extLst>
                <a:ext uri="{FF2B5EF4-FFF2-40B4-BE49-F238E27FC236}">
                  <a16:creationId xmlns:a16="http://schemas.microsoft.com/office/drawing/2014/main" id="{D6C06F28-E68C-47DD-83A0-63223565E833}"/>
                </a:ext>
              </a:extLst>
            </p:cNvPr>
            <p:cNvSpPr txBox="1">
              <a:spLocks noChangeArrowheads="1"/>
            </p:cNvSpPr>
            <p:nvPr/>
          </p:nvSpPr>
          <p:spPr bwMode="auto">
            <a:xfrm>
              <a:off x="1632" y="134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b</a:t>
              </a:r>
              <a:endParaRPr lang="en-US" altLang="en-US" sz="2800">
                <a:solidFill>
                  <a:srgbClr val="F82F1A"/>
                </a:solidFill>
                <a:latin typeface="Times New Roman" panose="02020603050405020304" pitchFamily="18" charset="0"/>
              </a:endParaRPr>
            </a:p>
          </p:txBody>
        </p:sp>
        <p:sp>
          <p:nvSpPr>
            <p:cNvPr id="147481" name="Text Box 25">
              <a:extLst>
                <a:ext uri="{FF2B5EF4-FFF2-40B4-BE49-F238E27FC236}">
                  <a16:creationId xmlns:a16="http://schemas.microsoft.com/office/drawing/2014/main" id="{06B47D77-5A93-4F3D-89E9-D078CBAAD69E}"/>
                </a:ext>
              </a:extLst>
            </p:cNvPr>
            <p:cNvSpPr txBox="1">
              <a:spLocks noChangeArrowheads="1"/>
            </p:cNvSpPr>
            <p:nvPr/>
          </p:nvSpPr>
          <p:spPr bwMode="auto">
            <a:xfrm>
              <a:off x="3888" y="1296"/>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c</a:t>
              </a:r>
              <a:endParaRPr lang="en-US" altLang="en-US" sz="2800">
                <a:solidFill>
                  <a:srgbClr val="F82F1A"/>
                </a:solidFill>
                <a:latin typeface="Times New Roman" panose="02020603050405020304" pitchFamily="18" charset="0"/>
              </a:endParaRPr>
            </a:p>
          </p:txBody>
        </p:sp>
        <p:sp>
          <p:nvSpPr>
            <p:cNvPr id="147482" name="Text Box 26">
              <a:extLst>
                <a:ext uri="{FF2B5EF4-FFF2-40B4-BE49-F238E27FC236}">
                  <a16:creationId xmlns:a16="http://schemas.microsoft.com/office/drawing/2014/main" id="{D69F2D2A-6307-4167-9DE1-ECB9A636DDCC}"/>
                </a:ext>
              </a:extLst>
            </p:cNvPr>
            <p:cNvSpPr txBox="1">
              <a:spLocks noChangeArrowheads="1"/>
            </p:cNvSpPr>
            <p:nvPr/>
          </p:nvSpPr>
          <p:spPr bwMode="auto">
            <a:xfrm>
              <a:off x="1104" y="2160"/>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d</a:t>
              </a:r>
              <a:endParaRPr lang="en-US" altLang="en-US" sz="2800">
                <a:solidFill>
                  <a:srgbClr val="F82F1A"/>
                </a:solidFill>
                <a:latin typeface="Times New Roman" panose="02020603050405020304" pitchFamily="18" charset="0"/>
              </a:endParaRPr>
            </a:p>
          </p:txBody>
        </p:sp>
        <p:sp>
          <p:nvSpPr>
            <p:cNvPr id="147483" name="Text Box 27">
              <a:extLst>
                <a:ext uri="{FF2B5EF4-FFF2-40B4-BE49-F238E27FC236}">
                  <a16:creationId xmlns:a16="http://schemas.microsoft.com/office/drawing/2014/main" id="{80D758DB-1296-4006-9A1F-7536D11095B6}"/>
                </a:ext>
              </a:extLst>
            </p:cNvPr>
            <p:cNvSpPr txBox="1">
              <a:spLocks noChangeArrowheads="1"/>
            </p:cNvSpPr>
            <p:nvPr/>
          </p:nvSpPr>
          <p:spPr bwMode="auto">
            <a:xfrm>
              <a:off x="2160" y="2160"/>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e</a:t>
              </a:r>
              <a:endParaRPr lang="en-US" altLang="en-US" sz="2800">
                <a:solidFill>
                  <a:srgbClr val="F82F1A"/>
                </a:solidFill>
                <a:latin typeface="Times New Roman" panose="02020603050405020304" pitchFamily="18" charset="0"/>
              </a:endParaRPr>
            </a:p>
          </p:txBody>
        </p:sp>
        <p:sp>
          <p:nvSpPr>
            <p:cNvPr id="147484" name="Text Box 28">
              <a:extLst>
                <a:ext uri="{FF2B5EF4-FFF2-40B4-BE49-F238E27FC236}">
                  <a16:creationId xmlns:a16="http://schemas.microsoft.com/office/drawing/2014/main" id="{254BDC6B-5C0F-472E-934E-6249C22CAC11}"/>
                </a:ext>
              </a:extLst>
            </p:cNvPr>
            <p:cNvSpPr txBox="1">
              <a:spLocks noChangeArrowheads="1"/>
            </p:cNvSpPr>
            <p:nvPr/>
          </p:nvSpPr>
          <p:spPr bwMode="auto">
            <a:xfrm>
              <a:off x="3024" y="2160"/>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f</a:t>
              </a:r>
              <a:endParaRPr lang="en-US" altLang="en-US" sz="2800">
                <a:solidFill>
                  <a:srgbClr val="F82F1A"/>
                </a:solidFill>
                <a:latin typeface="Times New Roman" panose="02020603050405020304" pitchFamily="18" charset="0"/>
              </a:endParaRPr>
            </a:p>
          </p:txBody>
        </p:sp>
        <p:sp>
          <p:nvSpPr>
            <p:cNvPr id="147485" name="Text Box 29">
              <a:extLst>
                <a:ext uri="{FF2B5EF4-FFF2-40B4-BE49-F238E27FC236}">
                  <a16:creationId xmlns:a16="http://schemas.microsoft.com/office/drawing/2014/main" id="{B987128E-0D77-441C-A253-B26FC44D17E6}"/>
                </a:ext>
              </a:extLst>
            </p:cNvPr>
            <p:cNvSpPr txBox="1">
              <a:spLocks noChangeArrowheads="1"/>
            </p:cNvSpPr>
            <p:nvPr/>
          </p:nvSpPr>
          <p:spPr bwMode="auto">
            <a:xfrm>
              <a:off x="4128" y="2160"/>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g</a:t>
              </a:r>
              <a:endParaRPr lang="en-US" altLang="en-US" sz="2800">
                <a:solidFill>
                  <a:srgbClr val="F82F1A"/>
                </a:solidFill>
                <a:latin typeface="Times New Roman" panose="02020603050405020304" pitchFamily="18" charset="0"/>
              </a:endParaRPr>
            </a:p>
          </p:txBody>
        </p:sp>
        <p:sp>
          <p:nvSpPr>
            <p:cNvPr id="147486" name="Text Box 30">
              <a:extLst>
                <a:ext uri="{FF2B5EF4-FFF2-40B4-BE49-F238E27FC236}">
                  <a16:creationId xmlns:a16="http://schemas.microsoft.com/office/drawing/2014/main" id="{E2D6D96C-9A11-48CD-9ACD-7F72279A1620}"/>
                </a:ext>
              </a:extLst>
            </p:cNvPr>
            <p:cNvSpPr txBox="1">
              <a:spLocks noChangeArrowheads="1"/>
            </p:cNvSpPr>
            <p:nvPr/>
          </p:nvSpPr>
          <p:spPr bwMode="auto">
            <a:xfrm>
              <a:off x="1872" y="2928"/>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h</a:t>
              </a:r>
              <a:endParaRPr lang="en-US" altLang="en-US" sz="2800">
                <a:solidFill>
                  <a:srgbClr val="F82F1A"/>
                </a:solidFill>
                <a:latin typeface="Times New Roman" panose="02020603050405020304" pitchFamily="18" charset="0"/>
              </a:endParaRPr>
            </a:p>
          </p:txBody>
        </p:sp>
        <p:sp>
          <p:nvSpPr>
            <p:cNvPr id="147487" name="Text Box 31">
              <a:extLst>
                <a:ext uri="{FF2B5EF4-FFF2-40B4-BE49-F238E27FC236}">
                  <a16:creationId xmlns:a16="http://schemas.microsoft.com/office/drawing/2014/main" id="{663C893C-B96D-4F9A-9EF5-D03D901506BF}"/>
                </a:ext>
              </a:extLst>
            </p:cNvPr>
            <p:cNvSpPr txBox="1">
              <a:spLocks noChangeArrowheads="1"/>
            </p:cNvSpPr>
            <p:nvPr/>
          </p:nvSpPr>
          <p:spPr bwMode="auto">
            <a:xfrm>
              <a:off x="2496" y="2928"/>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i</a:t>
              </a:r>
              <a:endParaRPr lang="en-US" altLang="en-US" sz="2800">
                <a:solidFill>
                  <a:srgbClr val="F82F1A"/>
                </a:solidFill>
                <a:latin typeface="Times New Roman" panose="02020603050405020304" pitchFamily="18" charset="0"/>
              </a:endParaRPr>
            </a:p>
          </p:txBody>
        </p:sp>
      </p:grpSp>
      <p:grpSp>
        <p:nvGrpSpPr>
          <p:cNvPr id="147491" name="Group 35">
            <a:extLst>
              <a:ext uri="{FF2B5EF4-FFF2-40B4-BE49-F238E27FC236}">
                <a16:creationId xmlns:a16="http://schemas.microsoft.com/office/drawing/2014/main" id="{0CFABC0D-E7C7-480E-B2BD-0D36F98B337E}"/>
              </a:ext>
            </a:extLst>
          </p:cNvPr>
          <p:cNvGrpSpPr>
            <a:grpSpLocks/>
          </p:cNvGrpSpPr>
          <p:nvPr/>
        </p:nvGrpSpPr>
        <p:grpSpPr bwMode="auto">
          <a:xfrm>
            <a:off x="6400800" y="1524000"/>
            <a:ext cx="2057400" cy="838200"/>
            <a:chOff x="3936" y="960"/>
            <a:chExt cx="1296" cy="528"/>
          </a:xfrm>
        </p:grpSpPr>
        <p:sp>
          <p:nvSpPr>
            <p:cNvPr id="147489" name="Text Box 33">
              <a:extLst>
                <a:ext uri="{FF2B5EF4-FFF2-40B4-BE49-F238E27FC236}">
                  <a16:creationId xmlns:a16="http://schemas.microsoft.com/office/drawing/2014/main" id="{E528EA57-7682-4489-B741-FC767A22FA6A}"/>
                </a:ext>
              </a:extLst>
            </p:cNvPr>
            <p:cNvSpPr txBox="1">
              <a:spLocks noChangeArrowheads="1"/>
            </p:cNvSpPr>
            <p:nvPr/>
          </p:nvSpPr>
          <p:spPr bwMode="auto">
            <a:xfrm>
              <a:off x="4080" y="960"/>
              <a:ext cx="115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82F1A"/>
                  </a:solidFill>
                  <a:latin typeface="Times New Roman" panose="02020603050405020304" pitchFamily="18" charset="0"/>
                </a:rPr>
                <a:t>parent of </a:t>
              </a:r>
              <a:r>
                <a:rPr lang="en-US" altLang="en-US" sz="2800" i="1">
                  <a:solidFill>
                    <a:srgbClr val="F82F1A"/>
                  </a:solidFill>
                  <a:latin typeface="Times New Roman" panose="02020603050405020304" pitchFamily="18" charset="0"/>
                </a:rPr>
                <a:t>g</a:t>
              </a:r>
              <a:endParaRPr lang="en-US" altLang="en-US" sz="2800">
                <a:solidFill>
                  <a:srgbClr val="F82F1A"/>
                </a:solidFill>
                <a:latin typeface="Times New Roman" panose="02020603050405020304" pitchFamily="18" charset="0"/>
              </a:endParaRPr>
            </a:p>
          </p:txBody>
        </p:sp>
        <p:sp>
          <p:nvSpPr>
            <p:cNvPr id="147490" name="Line 34">
              <a:extLst>
                <a:ext uri="{FF2B5EF4-FFF2-40B4-BE49-F238E27FC236}">
                  <a16:creationId xmlns:a16="http://schemas.microsoft.com/office/drawing/2014/main" id="{9A28A4D2-2597-4116-9778-10DAC0842403}"/>
                </a:ext>
              </a:extLst>
            </p:cNvPr>
            <p:cNvSpPr>
              <a:spLocks noChangeShapeType="1"/>
            </p:cNvSpPr>
            <p:nvPr/>
          </p:nvSpPr>
          <p:spPr bwMode="auto">
            <a:xfrm flipH="1">
              <a:off x="3936" y="1152"/>
              <a:ext cx="19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7495" name="Group 39">
            <a:extLst>
              <a:ext uri="{FF2B5EF4-FFF2-40B4-BE49-F238E27FC236}">
                <a16:creationId xmlns:a16="http://schemas.microsoft.com/office/drawing/2014/main" id="{614A1F8C-0B06-4904-8D91-46EF238D4787}"/>
              </a:ext>
            </a:extLst>
          </p:cNvPr>
          <p:cNvGrpSpPr>
            <a:grpSpLocks/>
          </p:cNvGrpSpPr>
          <p:nvPr/>
        </p:nvGrpSpPr>
        <p:grpSpPr bwMode="auto">
          <a:xfrm>
            <a:off x="5486400" y="3962400"/>
            <a:ext cx="1905000" cy="976313"/>
            <a:chOff x="3360" y="2496"/>
            <a:chExt cx="1200" cy="615"/>
          </a:xfrm>
        </p:grpSpPr>
        <p:sp>
          <p:nvSpPr>
            <p:cNvPr id="147492" name="Text Box 36">
              <a:extLst>
                <a:ext uri="{FF2B5EF4-FFF2-40B4-BE49-F238E27FC236}">
                  <a16:creationId xmlns:a16="http://schemas.microsoft.com/office/drawing/2014/main" id="{AA5E11A7-6248-4172-B24F-627A63134030}"/>
                </a:ext>
              </a:extLst>
            </p:cNvPr>
            <p:cNvSpPr txBox="1">
              <a:spLocks noChangeArrowheads="1"/>
            </p:cNvSpPr>
            <p:nvPr/>
          </p:nvSpPr>
          <p:spPr bwMode="auto">
            <a:xfrm>
              <a:off x="3504" y="2784"/>
              <a:ext cx="105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82F1A"/>
                  </a:solidFill>
                  <a:latin typeface="Times New Roman" panose="02020603050405020304" pitchFamily="18" charset="0"/>
                </a:rPr>
                <a:t>siblings</a:t>
              </a:r>
            </a:p>
          </p:txBody>
        </p:sp>
        <p:sp>
          <p:nvSpPr>
            <p:cNvPr id="147493" name="Line 37">
              <a:extLst>
                <a:ext uri="{FF2B5EF4-FFF2-40B4-BE49-F238E27FC236}">
                  <a16:creationId xmlns:a16="http://schemas.microsoft.com/office/drawing/2014/main" id="{72508F8B-D3F9-479F-8241-3B50F7E62761}"/>
                </a:ext>
              </a:extLst>
            </p:cNvPr>
            <p:cNvSpPr>
              <a:spLocks noChangeShapeType="1"/>
            </p:cNvSpPr>
            <p:nvPr/>
          </p:nvSpPr>
          <p:spPr bwMode="auto">
            <a:xfrm flipH="1" flipV="1">
              <a:off x="3360" y="2496"/>
              <a:ext cx="192" cy="336"/>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7494" name="Line 38">
              <a:extLst>
                <a:ext uri="{FF2B5EF4-FFF2-40B4-BE49-F238E27FC236}">
                  <a16:creationId xmlns:a16="http://schemas.microsoft.com/office/drawing/2014/main" id="{0C6D8BDB-DA44-4C83-8C13-EDEE23808C09}"/>
                </a:ext>
              </a:extLst>
            </p:cNvPr>
            <p:cNvSpPr>
              <a:spLocks noChangeShapeType="1"/>
            </p:cNvSpPr>
            <p:nvPr/>
          </p:nvSpPr>
          <p:spPr bwMode="auto">
            <a:xfrm flipV="1">
              <a:off x="4224" y="2496"/>
              <a:ext cx="240" cy="38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7498" name="Group 42">
            <a:extLst>
              <a:ext uri="{FF2B5EF4-FFF2-40B4-BE49-F238E27FC236}">
                <a16:creationId xmlns:a16="http://schemas.microsoft.com/office/drawing/2014/main" id="{003D52E8-1035-44C0-B784-5B94F5DE3D2B}"/>
              </a:ext>
            </a:extLst>
          </p:cNvPr>
          <p:cNvGrpSpPr>
            <a:grpSpLocks/>
          </p:cNvGrpSpPr>
          <p:nvPr/>
        </p:nvGrpSpPr>
        <p:grpSpPr bwMode="auto">
          <a:xfrm>
            <a:off x="1600200" y="3962400"/>
            <a:ext cx="838200" cy="747713"/>
            <a:chOff x="1008" y="2496"/>
            <a:chExt cx="528" cy="471"/>
          </a:xfrm>
        </p:grpSpPr>
        <p:sp>
          <p:nvSpPr>
            <p:cNvPr id="147496" name="Text Box 40">
              <a:extLst>
                <a:ext uri="{FF2B5EF4-FFF2-40B4-BE49-F238E27FC236}">
                  <a16:creationId xmlns:a16="http://schemas.microsoft.com/office/drawing/2014/main" id="{FCCB0D59-EBC6-4FE9-B568-1D9A535F15DF}"/>
                </a:ext>
              </a:extLst>
            </p:cNvPr>
            <p:cNvSpPr txBox="1">
              <a:spLocks noChangeArrowheads="1"/>
            </p:cNvSpPr>
            <p:nvPr/>
          </p:nvSpPr>
          <p:spPr bwMode="auto">
            <a:xfrm>
              <a:off x="1008" y="2640"/>
              <a:ext cx="52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82F1A"/>
                  </a:solidFill>
                  <a:latin typeface="Times New Roman" panose="02020603050405020304" pitchFamily="18" charset="0"/>
                </a:rPr>
                <a:t>leaf</a:t>
              </a:r>
            </a:p>
          </p:txBody>
        </p:sp>
        <p:sp>
          <p:nvSpPr>
            <p:cNvPr id="147497" name="Line 41">
              <a:extLst>
                <a:ext uri="{FF2B5EF4-FFF2-40B4-BE49-F238E27FC236}">
                  <a16:creationId xmlns:a16="http://schemas.microsoft.com/office/drawing/2014/main" id="{8697C74D-BAF9-4A20-BA27-E8DA69769D10}"/>
                </a:ext>
              </a:extLst>
            </p:cNvPr>
            <p:cNvSpPr>
              <a:spLocks noChangeShapeType="1"/>
            </p:cNvSpPr>
            <p:nvPr/>
          </p:nvSpPr>
          <p:spPr bwMode="auto">
            <a:xfrm flipV="1">
              <a:off x="1104" y="2496"/>
              <a:ext cx="19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47502" name="Group 46">
            <a:extLst>
              <a:ext uri="{FF2B5EF4-FFF2-40B4-BE49-F238E27FC236}">
                <a16:creationId xmlns:a16="http://schemas.microsoft.com/office/drawing/2014/main" id="{C644D1CD-1143-4636-A455-B4382AE96547}"/>
              </a:ext>
            </a:extLst>
          </p:cNvPr>
          <p:cNvGrpSpPr>
            <a:grpSpLocks/>
          </p:cNvGrpSpPr>
          <p:nvPr/>
        </p:nvGrpSpPr>
        <p:grpSpPr bwMode="auto">
          <a:xfrm>
            <a:off x="1143000" y="1524000"/>
            <a:ext cx="2438400" cy="838200"/>
            <a:chOff x="624" y="960"/>
            <a:chExt cx="1536" cy="528"/>
          </a:xfrm>
        </p:grpSpPr>
        <p:sp>
          <p:nvSpPr>
            <p:cNvPr id="147500" name="Text Box 44">
              <a:extLst>
                <a:ext uri="{FF2B5EF4-FFF2-40B4-BE49-F238E27FC236}">
                  <a16:creationId xmlns:a16="http://schemas.microsoft.com/office/drawing/2014/main" id="{64F4BFF9-383B-49D8-A54C-97BAF33540D0}"/>
                </a:ext>
              </a:extLst>
            </p:cNvPr>
            <p:cNvSpPr txBox="1">
              <a:spLocks noChangeArrowheads="1"/>
            </p:cNvSpPr>
            <p:nvPr/>
          </p:nvSpPr>
          <p:spPr bwMode="auto">
            <a:xfrm>
              <a:off x="624" y="960"/>
              <a:ext cx="153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82F1A"/>
                  </a:solidFill>
                  <a:latin typeface="Times New Roman" panose="02020603050405020304" pitchFamily="18" charset="0"/>
                </a:rPr>
                <a:t>internal vertex</a:t>
              </a:r>
            </a:p>
          </p:txBody>
        </p:sp>
        <p:sp>
          <p:nvSpPr>
            <p:cNvPr id="147501" name="Line 45">
              <a:extLst>
                <a:ext uri="{FF2B5EF4-FFF2-40B4-BE49-F238E27FC236}">
                  <a16:creationId xmlns:a16="http://schemas.microsoft.com/office/drawing/2014/main" id="{562A6509-8D28-4B16-8EDB-37CF45459D2C}"/>
                </a:ext>
              </a:extLst>
            </p:cNvPr>
            <p:cNvSpPr>
              <a:spLocks noChangeShapeType="1"/>
            </p:cNvSpPr>
            <p:nvPr/>
          </p:nvSpPr>
          <p:spPr bwMode="auto">
            <a:xfrm>
              <a:off x="1776" y="1248"/>
              <a:ext cx="14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47503" name="Rectangle 47">
            <a:extLst>
              <a:ext uri="{FF2B5EF4-FFF2-40B4-BE49-F238E27FC236}">
                <a16:creationId xmlns:a16="http://schemas.microsoft.com/office/drawing/2014/main" id="{63BC6FF4-6F21-4567-B8C2-1DCF65A64655}"/>
              </a:ext>
            </a:extLst>
          </p:cNvPr>
          <p:cNvSpPr>
            <a:spLocks noChangeArrowheads="1"/>
          </p:cNvSpPr>
          <p:nvPr/>
        </p:nvSpPr>
        <p:spPr bwMode="auto">
          <a:xfrm>
            <a:off x="609600" y="1524000"/>
            <a:ext cx="4572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7478"/>
                                        </p:tgtEl>
                                        <p:attrNameLst>
                                          <p:attrName>style.visibility</p:attrName>
                                        </p:attrNameLst>
                                      </p:cBhvr>
                                      <p:to>
                                        <p:strVal val="visible"/>
                                      </p:to>
                                    </p:set>
                                    <p:animEffect transition="in" filter="dissolve">
                                      <p:cBhvr>
                                        <p:cTn id="7" dur="500"/>
                                        <p:tgtEl>
                                          <p:spTgt spid="1474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7491"/>
                                        </p:tgtEl>
                                        <p:attrNameLst>
                                          <p:attrName>style.visibility</p:attrName>
                                        </p:attrNameLst>
                                      </p:cBhvr>
                                      <p:to>
                                        <p:strVal val="visible"/>
                                      </p:to>
                                    </p:set>
                                    <p:animEffect transition="in" filter="dissolve">
                                      <p:cBhvr>
                                        <p:cTn id="12" dur="500"/>
                                        <p:tgtEl>
                                          <p:spTgt spid="1474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47495"/>
                                        </p:tgtEl>
                                        <p:attrNameLst>
                                          <p:attrName>style.visibility</p:attrName>
                                        </p:attrNameLst>
                                      </p:cBhvr>
                                      <p:to>
                                        <p:strVal val="visible"/>
                                      </p:to>
                                    </p:set>
                                    <p:animEffect transition="in" filter="dissolve">
                                      <p:cBhvr>
                                        <p:cTn id="17" dur="500"/>
                                        <p:tgtEl>
                                          <p:spTgt spid="14749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9" presetClass="entr" presetSubtype="0" fill="hold" nodeType="clickEffect">
                                  <p:stCondLst>
                                    <p:cond delay="0"/>
                                  </p:stCondLst>
                                  <p:childTnLst>
                                    <p:set>
                                      <p:cBhvr>
                                        <p:cTn id="21" dur="1" fill="hold">
                                          <p:stCondLst>
                                            <p:cond delay="0"/>
                                          </p:stCondLst>
                                        </p:cTn>
                                        <p:tgtEl>
                                          <p:spTgt spid="147498"/>
                                        </p:tgtEl>
                                        <p:attrNameLst>
                                          <p:attrName>style.visibility</p:attrName>
                                        </p:attrNameLst>
                                      </p:cBhvr>
                                      <p:to>
                                        <p:strVal val="visible"/>
                                      </p:to>
                                    </p:set>
                                    <p:animEffect transition="in" filter="dissolve">
                                      <p:cBhvr>
                                        <p:cTn id="22" dur="500"/>
                                        <p:tgtEl>
                                          <p:spTgt spid="14749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nodeType="clickEffect">
                                  <p:stCondLst>
                                    <p:cond delay="0"/>
                                  </p:stCondLst>
                                  <p:childTnLst>
                                    <p:set>
                                      <p:cBhvr>
                                        <p:cTn id="26" dur="1" fill="hold">
                                          <p:stCondLst>
                                            <p:cond delay="0"/>
                                          </p:stCondLst>
                                        </p:cTn>
                                        <p:tgtEl>
                                          <p:spTgt spid="147502"/>
                                        </p:tgtEl>
                                        <p:attrNameLst>
                                          <p:attrName>style.visibility</p:attrName>
                                        </p:attrNameLst>
                                      </p:cBhvr>
                                      <p:to>
                                        <p:strVal val="visible"/>
                                      </p:to>
                                    </p:set>
                                    <p:animEffect transition="in" filter="dissolve">
                                      <p:cBhvr>
                                        <p:cTn id="27" dur="500"/>
                                        <p:tgtEl>
                                          <p:spTgt spid="1475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a:extLst>
              <a:ext uri="{FF2B5EF4-FFF2-40B4-BE49-F238E27FC236}">
                <a16:creationId xmlns:a16="http://schemas.microsoft.com/office/drawing/2014/main" id="{357A633F-4863-4780-8532-5C1D8B2C4511}"/>
              </a:ext>
            </a:extLst>
          </p:cNvPr>
          <p:cNvSpPr>
            <a:spLocks noChangeArrowheads="1"/>
          </p:cNvSpPr>
          <p:nvPr/>
        </p:nvSpPr>
        <p:spPr bwMode="auto">
          <a:xfrm>
            <a:off x="762000" y="304800"/>
            <a:ext cx="7924800" cy="6248400"/>
          </a:xfrm>
          <a:prstGeom prst="rect">
            <a:avLst/>
          </a:prstGeom>
          <a:solidFill>
            <a:schemeClr val="bg1"/>
          </a:solidFill>
          <a:ln>
            <a:noFill/>
          </a:ln>
          <a:effectLst/>
          <a:extLst>
            <a:ext uri="{91240B29-F687-4F45-9708-019B960494DF}">
              <a14:hiddenLine xmlns:a14="http://schemas.microsoft.com/office/drawing/2010/main" w="9525">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48486" name="Group 6">
            <a:extLst>
              <a:ext uri="{FF2B5EF4-FFF2-40B4-BE49-F238E27FC236}">
                <a16:creationId xmlns:a16="http://schemas.microsoft.com/office/drawing/2014/main" id="{AB3940C9-8B8F-4962-A5D4-726E4CC17772}"/>
              </a:ext>
            </a:extLst>
          </p:cNvPr>
          <p:cNvGrpSpPr>
            <a:grpSpLocks/>
          </p:cNvGrpSpPr>
          <p:nvPr/>
        </p:nvGrpSpPr>
        <p:grpSpPr bwMode="auto">
          <a:xfrm>
            <a:off x="1981200" y="990600"/>
            <a:ext cx="5410200" cy="4186238"/>
            <a:chOff x="1104" y="624"/>
            <a:chExt cx="3408" cy="2637"/>
          </a:xfrm>
        </p:grpSpPr>
        <p:grpSp>
          <p:nvGrpSpPr>
            <p:cNvPr id="148487" name="Group 7">
              <a:extLst>
                <a:ext uri="{FF2B5EF4-FFF2-40B4-BE49-F238E27FC236}">
                  <a16:creationId xmlns:a16="http://schemas.microsoft.com/office/drawing/2014/main" id="{63F0C92F-A8E9-41D4-BEEE-6C60450E136A}"/>
                </a:ext>
              </a:extLst>
            </p:cNvPr>
            <p:cNvGrpSpPr>
              <a:grpSpLocks/>
            </p:cNvGrpSpPr>
            <p:nvPr/>
          </p:nvGrpSpPr>
          <p:grpSpPr bwMode="auto">
            <a:xfrm>
              <a:off x="1296" y="816"/>
              <a:ext cx="3216" cy="2352"/>
              <a:chOff x="1296" y="816"/>
              <a:chExt cx="3216" cy="2352"/>
            </a:xfrm>
          </p:grpSpPr>
          <p:sp>
            <p:nvSpPr>
              <p:cNvPr id="148488" name="Oval 8">
                <a:extLst>
                  <a:ext uri="{FF2B5EF4-FFF2-40B4-BE49-F238E27FC236}">
                    <a16:creationId xmlns:a16="http://schemas.microsoft.com/office/drawing/2014/main" id="{2E6C131C-69E3-496A-B82C-BED4A98F512A}"/>
                  </a:ext>
                </a:extLst>
              </p:cNvPr>
              <p:cNvSpPr>
                <a:spLocks noChangeArrowheads="1"/>
              </p:cNvSpPr>
              <p:nvPr/>
            </p:nvSpPr>
            <p:spPr bwMode="auto">
              <a:xfrm>
                <a:off x="2880" y="8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89" name="Oval 9">
                <a:extLst>
                  <a:ext uri="{FF2B5EF4-FFF2-40B4-BE49-F238E27FC236}">
                    <a16:creationId xmlns:a16="http://schemas.microsoft.com/office/drawing/2014/main" id="{9F2F0FF9-26F9-4CAB-A52C-5902B3BD4C50}"/>
                  </a:ext>
                </a:extLst>
              </p:cNvPr>
              <p:cNvSpPr>
                <a:spLocks noChangeArrowheads="1"/>
              </p:cNvSpPr>
              <p:nvPr/>
            </p:nvSpPr>
            <p:spPr bwMode="auto">
              <a:xfrm>
                <a:off x="187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0" name="Oval 10">
                <a:extLst>
                  <a:ext uri="{FF2B5EF4-FFF2-40B4-BE49-F238E27FC236}">
                    <a16:creationId xmlns:a16="http://schemas.microsoft.com/office/drawing/2014/main" id="{820A47CB-E017-44A2-A85A-03FC5605FB5F}"/>
                  </a:ext>
                </a:extLst>
              </p:cNvPr>
              <p:cNvSpPr>
                <a:spLocks noChangeArrowheads="1"/>
              </p:cNvSpPr>
              <p:nvPr/>
            </p:nvSpPr>
            <p:spPr bwMode="auto">
              <a:xfrm>
                <a:off x="1296"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1" name="Oval 11">
                <a:extLst>
                  <a:ext uri="{FF2B5EF4-FFF2-40B4-BE49-F238E27FC236}">
                    <a16:creationId xmlns:a16="http://schemas.microsoft.com/office/drawing/2014/main" id="{6F77ABBC-B946-4A14-B536-AF5412083A90}"/>
                  </a:ext>
                </a:extLst>
              </p:cNvPr>
              <p:cNvSpPr>
                <a:spLocks noChangeArrowheads="1"/>
              </p:cNvSpPr>
              <p:nvPr/>
            </p:nvSpPr>
            <p:spPr bwMode="auto">
              <a:xfrm>
                <a:off x="379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2" name="Oval 12">
                <a:extLst>
                  <a:ext uri="{FF2B5EF4-FFF2-40B4-BE49-F238E27FC236}">
                    <a16:creationId xmlns:a16="http://schemas.microsoft.com/office/drawing/2014/main" id="{AE9778CE-302F-41A7-8524-11E5624E930F}"/>
                  </a:ext>
                </a:extLst>
              </p:cNvPr>
              <p:cNvSpPr>
                <a:spLocks noChangeArrowheads="1"/>
              </p:cNvSpPr>
              <p:nvPr/>
            </p:nvSpPr>
            <p:spPr bwMode="auto">
              <a:xfrm>
                <a:off x="2448"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3" name="Oval 13">
                <a:extLst>
                  <a:ext uri="{FF2B5EF4-FFF2-40B4-BE49-F238E27FC236}">
                    <a16:creationId xmlns:a16="http://schemas.microsoft.com/office/drawing/2014/main" id="{A9E17523-F0FB-4B08-A5B2-C7EF8C08E22E}"/>
                  </a:ext>
                </a:extLst>
              </p:cNvPr>
              <p:cNvSpPr>
                <a:spLocks noChangeArrowheads="1"/>
              </p:cNvSpPr>
              <p:nvPr/>
            </p:nvSpPr>
            <p:spPr bwMode="auto">
              <a:xfrm>
                <a:off x="3264"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4" name="Oval 14">
                <a:extLst>
                  <a:ext uri="{FF2B5EF4-FFF2-40B4-BE49-F238E27FC236}">
                    <a16:creationId xmlns:a16="http://schemas.microsoft.com/office/drawing/2014/main" id="{C9F30E64-2BF6-4628-AF18-9E38A7665205}"/>
                  </a:ext>
                </a:extLst>
              </p:cNvPr>
              <p:cNvSpPr>
                <a:spLocks noChangeArrowheads="1"/>
              </p:cNvSpPr>
              <p:nvPr/>
            </p:nvSpPr>
            <p:spPr bwMode="auto">
              <a:xfrm>
                <a:off x="4416"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5" name="Line 15">
                <a:extLst>
                  <a:ext uri="{FF2B5EF4-FFF2-40B4-BE49-F238E27FC236}">
                    <a16:creationId xmlns:a16="http://schemas.microsoft.com/office/drawing/2014/main" id="{D7A3D28C-7C48-40AE-B4EB-65AF7FC2DB68}"/>
                  </a:ext>
                </a:extLst>
              </p:cNvPr>
              <p:cNvSpPr>
                <a:spLocks noChangeShapeType="1"/>
              </p:cNvSpPr>
              <p:nvPr/>
            </p:nvSpPr>
            <p:spPr bwMode="auto">
              <a:xfrm flipV="1">
                <a:off x="1920" y="864"/>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6" name="Line 16">
                <a:extLst>
                  <a:ext uri="{FF2B5EF4-FFF2-40B4-BE49-F238E27FC236}">
                    <a16:creationId xmlns:a16="http://schemas.microsoft.com/office/drawing/2014/main" id="{06EB7C85-330F-4D01-A61C-8E26E1C7AA6A}"/>
                  </a:ext>
                </a:extLst>
              </p:cNvPr>
              <p:cNvSpPr>
                <a:spLocks noChangeShapeType="1"/>
              </p:cNvSpPr>
              <p:nvPr/>
            </p:nvSpPr>
            <p:spPr bwMode="auto">
              <a:xfrm>
                <a:off x="2928" y="864"/>
                <a:ext cx="912"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7" name="Line 17">
                <a:extLst>
                  <a:ext uri="{FF2B5EF4-FFF2-40B4-BE49-F238E27FC236}">
                    <a16:creationId xmlns:a16="http://schemas.microsoft.com/office/drawing/2014/main" id="{9B7BAB55-5177-42EB-AE73-23943B8FCBAC}"/>
                  </a:ext>
                </a:extLst>
              </p:cNvPr>
              <p:cNvSpPr>
                <a:spLocks noChangeShapeType="1"/>
              </p:cNvSpPr>
              <p:nvPr/>
            </p:nvSpPr>
            <p:spPr bwMode="auto">
              <a:xfrm flipV="1">
                <a:off x="1344" y="1584"/>
                <a:ext cx="57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8" name="Line 18">
                <a:extLst>
                  <a:ext uri="{FF2B5EF4-FFF2-40B4-BE49-F238E27FC236}">
                    <a16:creationId xmlns:a16="http://schemas.microsoft.com/office/drawing/2014/main" id="{9DE0E2D0-A0E3-4543-8418-F2C151946A52}"/>
                  </a:ext>
                </a:extLst>
              </p:cNvPr>
              <p:cNvSpPr>
                <a:spLocks noChangeShapeType="1"/>
              </p:cNvSpPr>
              <p:nvPr/>
            </p:nvSpPr>
            <p:spPr bwMode="auto">
              <a:xfrm flipH="1" flipV="1">
                <a:off x="1968" y="1584"/>
                <a:ext cx="528"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499" name="Line 19">
                <a:extLst>
                  <a:ext uri="{FF2B5EF4-FFF2-40B4-BE49-F238E27FC236}">
                    <a16:creationId xmlns:a16="http://schemas.microsoft.com/office/drawing/2014/main" id="{6545E303-1D15-41CC-9727-215C09A63969}"/>
                  </a:ext>
                </a:extLst>
              </p:cNvPr>
              <p:cNvSpPr>
                <a:spLocks noChangeShapeType="1"/>
              </p:cNvSpPr>
              <p:nvPr/>
            </p:nvSpPr>
            <p:spPr bwMode="auto">
              <a:xfrm flipV="1">
                <a:off x="3312" y="1584"/>
                <a:ext cx="528"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500" name="Line 20">
                <a:extLst>
                  <a:ext uri="{FF2B5EF4-FFF2-40B4-BE49-F238E27FC236}">
                    <a16:creationId xmlns:a16="http://schemas.microsoft.com/office/drawing/2014/main" id="{C5D19279-BD36-43C1-BC45-DCC982EE0D02}"/>
                  </a:ext>
                </a:extLst>
              </p:cNvPr>
              <p:cNvSpPr>
                <a:spLocks noChangeShapeType="1"/>
              </p:cNvSpPr>
              <p:nvPr/>
            </p:nvSpPr>
            <p:spPr bwMode="auto">
              <a:xfrm flipH="1" flipV="1">
                <a:off x="3888" y="1584"/>
                <a:ext cx="57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501" name="Oval 21">
                <a:extLst>
                  <a:ext uri="{FF2B5EF4-FFF2-40B4-BE49-F238E27FC236}">
                    <a16:creationId xmlns:a16="http://schemas.microsoft.com/office/drawing/2014/main" id="{6C3F2755-2CCD-4F8D-8CF5-915F73F17FE9}"/>
                  </a:ext>
                </a:extLst>
              </p:cNvPr>
              <p:cNvSpPr>
                <a:spLocks noChangeArrowheads="1"/>
              </p:cNvSpPr>
              <p:nvPr/>
            </p:nvSpPr>
            <p:spPr bwMode="auto">
              <a:xfrm>
                <a:off x="2112" y="30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502" name="Oval 22">
                <a:extLst>
                  <a:ext uri="{FF2B5EF4-FFF2-40B4-BE49-F238E27FC236}">
                    <a16:creationId xmlns:a16="http://schemas.microsoft.com/office/drawing/2014/main" id="{BF84A518-DE35-4F1D-83EA-8920EAF572B6}"/>
                  </a:ext>
                </a:extLst>
              </p:cNvPr>
              <p:cNvSpPr>
                <a:spLocks noChangeArrowheads="1"/>
              </p:cNvSpPr>
              <p:nvPr/>
            </p:nvSpPr>
            <p:spPr bwMode="auto">
              <a:xfrm>
                <a:off x="2736" y="30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503" name="Line 23">
                <a:extLst>
                  <a:ext uri="{FF2B5EF4-FFF2-40B4-BE49-F238E27FC236}">
                    <a16:creationId xmlns:a16="http://schemas.microsoft.com/office/drawing/2014/main" id="{5D86E584-E1CF-4D00-B5C3-1802EBB1F96C}"/>
                  </a:ext>
                </a:extLst>
              </p:cNvPr>
              <p:cNvSpPr>
                <a:spLocks noChangeShapeType="1"/>
              </p:cNvSpPr>
              <p:nvPr/>
            </p:nvSpPr>
            <p:spPr bwMode="auto">
              <a:xfrm flipV="1">
                <a:off x="2160" y="2400"/>
                <a:ext cx="3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504" name="Line 24">
                <a:extLst>
                  <a:ext uri="{FF2B5EF4-FFF2-40B4-BE49-F238E27FC236}">
                    <a16:creationId xmlns:a16="http://schemas.microsoft.com/office/drawing/2014/main" id="{6807A922-DDF1-4F97-B003-55FE259B40D6}"/>
                  </a:ext>
                </a:extLst>
              </p:cNvPr>
              <p:cNvSpPr>
                <a:spLocks noChangeShapeType="1"/>
              </p:cNvSpPr>
              <p:nvPr/>
            </p:nvSpPr>
            <p:spPr bwMode="auto">
              <a:xfrm flipH="1" flipV="1">
                <a:off x="2496" y="2400"/>
                <a:ext cx="28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48505" name="Text Box 25">
              <a:extLst>
                <a:ext uri="{FF2B5EF4-FFF2-40B4-BE49-F238E27FC236}">
                  <a16:creationId xmlns:a16="http://schemas.microsoft.com/office/drawing/2014/main" id="{A4C52B9B-48EA-4118-98DD-59357DC718D7}"/>
                </a:ext>
              </a:extLst>
            </p:cNvPr>
            <p:cNvSpPr txBox="1">
              <a:spLocks noChangeArrowheads="1"/>
            </p:cNvSpPr>
            <p:nvPr/>
          </p:nvSpPr>
          <p:spPr bwMode="auto">
            <a:xfrm>
              <a:off x="2688" y="624"/>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a</a:t>
              </a:r>
              <a:endParaRPr lang="en-US" altLang="en-US" sz="2800">
                <a:solidFill>
                  <a:srgbClr val="F82F1A"/>
                </a:solidFill>
                <a:latin typeface="Times New Roman" panose="02020603050405020304" pitchFamily="18" charset="0"/>
              </a:endParaRPr>
            </a:p>
          </p:txBody>
        </p:sp>
        <p:sp>
          <p:nvSpPr>
            <p:cNvPr id="148506" name="Text Box 26">
              <a:extLst>
                <a:ext uri="{FF2B5EF4-FFF2-40B4-BE49-F238E27FC236}">
                  <a16:creationId xmlns:a16="http://schemas.microsoft.com/office/drawing/2014/main" id="{F207E0A9-D9A9-4434-AAC6-D1BD41F71895}"/>
                </a:ext>
              </a:extLst>
            </p:cNvPr>
            <p:cNvSpPr txBox="1">
              <a:spLocks noChangeArrowheads="1"/>
            </p:cNvSpPr>
            <p:nvPr/>
          </p:nvSpPr>
          <p:spPr bwMode="auto">
            <a:xfrm>
              <a:off x="1632" y="1344"/>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b</a:t>
              </a:r>
              <a:endParaRPr lang="en-US" altLang="en-US" sz="2800">
                <a:solidFill>
                  <a:srgbClr val="F82F1A"/>
                </a:solidFill>
                <a:latin typeface="Times New Roman" panose="02020603050405020304" pitchFamily="18" charset="0"/>
              </a:endParaRPr>
            </a:p>
          </p:txBody>
        </p:sp>
        <p:sp>
          <p:nvSpPr>
            <p:cNvPr id="148507" name="Text Box 27">
              <a:extLst>
                <a:ext uri="{FF2B5EF4-FFF2-40B4-BE49-F238E27FC236}">
                  <a16:creationId xmlns:a16="http://schemas.microsoft.com/office/drawing/2014/main" id="{CEBD0B4F-3543-4E82-B4FB-65C824E3FCF0}"/>
                </a:ext>
              </a:extLst>
            </p:cNvPr>
            <p:cNvSpPr txBox="1">
              <a:spLocks noChangeArrowheads="1"/>
            </p:cNvSpPr>
            <p:nvPr/>
          </p:nvSpPr>
          <p:spPr bwMode="auto">
            <a:xfrm>
              <a:off x="3888" y="1296"/>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c</a:t>
              </a:r>
              <a:endParaRPr lang="en-US" altLang="en-US" sz="2800">
                <a:solidFill>
                  <a:srgbClr val="F82F1A"/>
                </a:solidFill>
                <a:latin typeface="Times New Roman" panose="02020603050405020304" pitchFamily="18" charset="0"/>
              </a:endParaRPr>
            </a:p>
          </p:txBody>
        </p:sp>
        <p:sp>
          <p:nvSpPr>
            <p:cNvPr id="148508" name="Text Box 28">
              <a:extLst>
                <a:ext uri="{FF2B5EF4-FFF2-40B4-BE49-F238E27FC236}">
                  <a16:creationId xmlns:a16="http://schemas.microsoft.com/office/drawing/2014/main" id="{E40B1546-AD59-4834-8AF7-3CC2C6D2A9D6}"/>
                </a:ext>
              </a:extLst>
            </p:cNvPr>
            <p:cNvSpPr txBox="1">
              <a:spLocks noChangeArrowheads="1"/>
            </p:cNvSpPr>
            <p:nvPr/>
          </p:nvSpPr>
          <p:spPr bwMode="auto">
            <a:xfrm>
              <a:off x="1104" y="2160"/>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d</a:t>
              </a:r>
              <a:endParaRPr lang="en-US" altLang="en-US" sz="2800">
                <a:solidFill>
                  <a:srgbClr val="F82F1A"/>
                </a:solidFill>
                <a:latin typeface="Times New Roman" panose="02020603050405020304" pitchFamily="18" charset="0"/>
              </a:endParaRPr>
            </a:p>
          </p:txBody>
        </p:sp>
        <p:sp>
          <p:nvSpPr>
            <p:cNvPr id="148509" name="Text Box 29">
              <a:extLst>
                <a:ext uri="{FF2B5EF4-FFF2-40B4-BE49-F238E27FC236}">
                  <a16:creationId xmlns:a16="http://schemas.microsoft.com/office/drawing/2014/main" id="{D917674D-3D42-46C6-9829-0C2BC61BA65A}"/>
                </a:ext>
              </a:extLst>
            </p:cNvPr>
            <p:cNvSpPr txBox="1">
              <a:spLocks noChangeArrowheads="1"/>
            </p:cNvSpPr>
            <p:nvPr/>
          </p:nvSpPr>
          <p:spPr bwMode="auto">
            <a:xfrm>
              <a:off x="2160" y="2160"/>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e</a:t>
              </a:r>
              <a:endParaRPr lang="en-US" altLang="en-US" sz="2800">
                <a:solidFill>
                  <a:srgbClr val="F82F1A"/>
                </a:solidFill>
                <a:latin typeface="Times New Roman" panose="02020603050405020304" pitchFamily="18" charset="0"/>
              </a:endParaRPr>
            </a:p>
          </p:txBody>
        </p:sp>
        <p:sp>
          <p:nvSpPr>
            <p:cNvPr id="148510" name="Text Box 30">
              <a:extLst>
                <a:ext uri="{FF2B5EF4-FFF2-40B4-BE49-F238E27FC236}">
                  <a16:creationId xmlns:a16="http://schemas.microsoft.com/office/drawing/2014/main" id="{ADF6EF95-CE04-46BF-96AE-03E83B1EE6E2}"/>
                </a:ext>
              </a:extLst>
            </p:cNvPr>
            <p:cNvSpPr txBox="1">
              <a:spLocks noChangeArrowheads="1"/>
            </p:cNvSpPr>
            <p:nvPr/>
          </p:nvSpPr>
          <p:spPr bwMode="auto">
            <a:xfrm>
              <a:off x="3024" y="2160"/>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f</a:t>
              </a:r>
              <a:endParaRPr lang="en-US" altLang="en-US" sz="2800">
                <a:solidFill>
                  <a:srgbClr val="F82F1A"/>
                </a:solidFill>
                <a:latin typeface="Times New Roman" panose="02020603050405020304" pitchFamily="18" charset="0"/>
              </a:endParaRPr>
            </a:p>
          </p:txBody>
        </p:sp>
        <p:sp>
          <p:nvSpPr>
            <p:cNvPr id="148511" name="Text Box 31">
              <a:extLst>
                <a:ext uri="{FF2B5EF4-FFF2-40B4-BE49-F238E27FC236}">
                  <a16:creationId xmlns:a16="http://schemas.microsoft.com/office/drawing/2014/main" id="{C87F5AE9-31C4-4CB2-9D71-B7A38542AC8A}"/>
                </a:ext>
              </a:extLst>
            </p:cNvPr>
            <p:cNvSpPr txBox="1">
              <a:spLocks noChangeArrowheads="1"/>
            </p:cNvSpPr>
            <p:nvPr/>
          </p:nvSpPr>
          <p:spPr bwMode="auto">
            <a:xfrm>
              <a:off x="4128" y="2160"/>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g</a:t>
              </a:r>
              <a:endParaRPr lang="en-US" altLang="en-US" sz="2800">
                <a:solidFill>
                  <a:srgbClr val="F82F1A"/>
                </a:solidFill>
                <a:latin typeface="Times New Roman" panose="02020603050405020304" pitchFamily="18" charset="0"/>
              </a:endParaRPr>
            </a:p>
          </p:txBody>
        </p:sp>
        <p:sp>
          <p:nvSpPr>
            <p:cNvPr id="148512" name="Text Box 32">
              <a:extLst>
                <a:ext uri="{FF2B5EF4-FFF2-40B4-BE49-F238E27FC236}">
                  <a16:creationId xmlns:a16="http://schemas.microsoft.com/office/drawing/2014/main" id="{0552C3FE-0BC2-4DD6-A254-AF2A40D2DBB7}"/>
                </a:ext>
              </a:extLst>
            </p:cNvPr>
            <p:cNvSpPr txBox="1">
              <a:spLocks noChangeArrowheads="1"/>
            </p:cNvSpPr>
            <p:nvPr/>
          </p:nvSpPr>
          <p:spPr bwMode="auto">
            <a:xfrm>
              <a:off x="1872" y="2928"/>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h</a:t>
              </a:r>
              <a:endParaRPr lang="en-US" altLang="en-US" sz="2800">
                <a:solidFill>
                  <a:srgbClr val="F82F1A"/>
                </a:solidFill>
                <a:latin typeface="Times New Roman" panose="02020603050405020304" pitchFamily="18" charset="0"/>
              </a:endParaRPr>
            </a:p>
          </p:txBody>
        </p:sp>
        <p:sp>
          <p:nvSpPr>
            <p:cNvPr id="148513" name="Text Box 33">
              <a:extLst>
                <a:ext uri="{FF2B5EF4-FFF2-40B4-BE49-F238E27FC236}">
                  <a16:creationId xmlns:a16="http://schemas.microsoft.com/office/drawing/2014/main" id="{89431975-A785-47C5-A3D8-C520BC87EE27}"/>
                </a:ext>
              </a:extLst>
            </p:cNvPr>
            <p:cNvSpPr txBox="1">
              <a:spLocks noChangeArrowheads="1"/>
            </p:cNvSpPr>
            <p:nvPr/>
          </p:nvSpPr>
          <p:spPr bwMode="auto">
            <a:xfrm>
              <a:off x="2496" y="2928"/>
              <a:ext cx="240" cy="33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solidFill>
                    <a:srgbClr val="F82F1A"/>
                  </a:solidFill>
                  <a:latin typeface="Times New Roman" panose="02020603050405020304" pitchFamily="18" charset="0"/>
                </a:rPr>
                <a:t>i</a:t>
              </a:r>
              <a:endParaRPr lang="en-US" altLang="en-US" sz="2800">
                <a:solidFill>
                  <a:srgbClr val="F82F1A"/>
                </a:solidFill>
                <a:latin typeface="Times New Roman" panose="02020603050405020304" pitchFamily="18" charset="0"/>
              </a:endParaRPr>
            </a:p>
          </p:txBody>
        </p:sp>
      </p:grpSp>
      <p:sp>
        <p:nvSpPr>
          <p:cNvPr id="148527" name="Oval 47">
            <a:extLst>
              <a:ext uri="{FF2B5EF4-FFF2-40B4-BE49-F238E27FC236}">
                <a16:creationId xmlns:a16="http://schemas.microsoft.com/office/drawing/2014/main" id="{E9D82188-D356-417B-BC43-323CDC4B2853}"/>
              </a:ext>
            </a:extLst>
          </p:cNvPr>
          <p:cNvSpPr>
            <a:spLocks noChangeArrowheads="1"/>
          </p:cNvSpPr>
          <p:nvPr/>
        </p:nvSpPr>
        <p:spPr bwMode="auto">
          <a:xfrm>
            <a:off x="3962400" y="3581400"/>
            <a:ext cx="457200" cy="457200"/>
          </a:xfrm>
          <a:prstGeom prst="ellipse">
            <a:avLst/>
          </a:prstGeom>
          <a:noFill/>
          <a:ln w="9525">
            <a:solidFill>
              <a:srgbClr val="4C32CE"/>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528" name="Oval 48">
            <a:extLst>
              <a:ext uri="{FF2B5EF4-FFF2-40B4-BE49-F238E27FC236}">
                <a16:creationId xmlns:a16="http://schemas.microsoft.com/office/drawing/2014/main" id="{27A66EFA-A444-4453-859E-B6C906A0C8CC}"/>
              </a:ext>
            </a:extLst>
          </p:cNvPr>
          <p:cNvSpPr>
            <a:spLocks noChangeArrowheads="1"/>
          </p:cNvSpPr>
          <p:nvPr/>
        </p:nvSpPr>
        <p:spPr bwMode="auto">
          <a:xfrm>
            <a:off x="3124200" y="2286000"/>
            <a:ext cx="457200" cy="457200"/>
          </a:xfrm>
          <a:prstGeom prst="ellipse">
            <a:avLst/>
          </a:prstGeom>
          <a:noFill/>
          <a:ln w="9525">
            <a:solidFill>
              <a:srgbClr val="4C32CE"/>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529" name="Oval 49">
            <a:extLst>
              <a:ext uri="{FF2B5EF4-FFF2-40B4-BE49-F238E27FC236}">
                <a16:creationId xmlns:a16="http://schemas.microsoft.com/office/drawing/2014/main" id="{FCE17C1E-EDBA-4501-991B-240BF87473D8}"/>
              </a:ext>
            </a:extLst>
          </p:cNvPr>
          <p:cNvSpPr>
            <a:spLocks noChangeArrowheads="1"/>
          </p:cNvSpPr>
          <p:nvPr/>
        </p:nvSpPr>
        <p:spPr bwMode="auto">
          <a:xfrm>
            <a:off x="4648200" y="1219200"/>
            <a:ext cx="457200" cy="457200"/>
          </a:xfrm>
          <a:prstGeom prst="ellipse">
            <a:avLst/>
          </a:prstGeom>
          <a:noFill/>
          <a:ln w="9525">
            <a:solidFill>
              <a:srgbClr val="4C32CE"/>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8530" name="Text Box 50">
            <a:extLst>
              <a:ext uri="{FF2B5EF4-FFF2-40B4-BE49-F238E27FC236}">
                <a16:creationId xmlns:a16="http://schemas.microsoft.com/office/drawing/2014/main" id="{C1061A6C-5642-4021-81F7-5A90936EBEFF}"/>
              </a:ext>
            </a:extLst>
          </p:cNvPr>
          <p:cNvSpPr txBox="1">
            <a:spLocks noChangeArrowheads="1"/>
          </p:cNvSpPr>
          <p:nvPr/>
        </p:nvSpPr>
        <p:spPr bwMode="auto">
          <a:xfrm>
            <a:off x="5410200" y="4495800"/>
            <a:ext cx="3352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82F1A"/>
                </a:solidFill>
                <a:latin typeface="Times New Roman" panose="02020603050405020304" pitchFamily="18" charset="0"/>
              </a:rPr>
              <a:t>ancestors of </a:t>
            </a:r>
            <a:r>
              <a:rPr lang="en-US" altLang="en-US" sz="2800" i="1">
                <a:solidFill>
                  <a:srgbClr val="F82F1A"/>
                </a:solidFill>
                <a:latin typeface="Times New Roman" panose="02020603050405020304" pitchFamily="18" charset="0"/>
              </a:rPr>
              <a:t>h</a:t>
            </a:r>
            <a:r>
              <a:rPr lang="en-US" altLang="en-US" sz="2800">
                <a:solidFill>
                  <a:srgbClr val="F82F1A"/>
                </a:solidFill>
                <a:latin typeface="Times New Roman" panose="02020603050405020304" pitchFamily="18" charset="0"/>
              </a:rPr>
              <a:t> and </a:t>
            </a:r>
            <a:r>
              <a:rPr lang="en-US" altLang="en-US" sz="2800" i="1">
                <a:solidFill>
                  <a:srgbClr val="F82F1A"/>
                </a:solidFill>
                <a:latin typeface="Times New Roman" panose="02020603050405020304" pitchFamily="18" charset="0"/>
              </a:rPr>
              <a:t>i</a:t>
            </a:r>
            <a:endParaRPr lang="en-US" altLang="en-US" sz="2800">
              <a:solidFill>
                <a:srgbClr val="F82F1A"/>
              </a:solidFill>
              <a:latin typeface="Times New Roman" panose="02020603050405020304" pitchFamily="18" charset="0"/>
            </a:endParaRPr>
          </a:p>
        </p:txBody>
      </p:sp>
      <p:sp>
        <p:nvSpPr>
          <p:cNvPr id="148531" name="Rectangle 51">
            <a:extLst>
              <a:ext uri="{FF2B5EF4-FFF2-40B4-BE49-F238E27FC236}">
                <a16:creationId xmlns:a16="http://schemas.microsoft.com/office/drawing/2014/main" id="{08252E58-4A21-44F8-A007-BA256DA7D1D8}"/>
              </a:ext>
            </a:extLst>
          </p:cNvPr>
          <p:cNvSpPr>
            <a:spLocks noChangeArrowheads="1"/>
          </p:cNvSpPr>
          <p:nvPr/>
        </p:nvSpPr>
        <p:spPr bwMode="auto">
          <a:xfrm>
            <a:off x="685800" y="1524000"/>
            <a:ext cx="533400" cy="3810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48530"/>
                                        </p:tgtEl>
                                        <p:attrNameLst>
                                          <p:attrName>style.visibility</p:attrName>
                                        </p:attrNameLst>
                                      </p:cBhvr>
                                      <p:to>
                                        <p:strVal val="visible"/>
                                      </p:to>
                                    </p:set>
                                    <p:anim calcmode="lin" valueType="num">
                                      <p:cBhvr additive="base">
                                        <p:cTn id="7" dur="500" fill="hold"/>
                                        <p:tgtEl>
                                          <p:spTgt spid="148530"/>
                                        </p:tgtEl>
                                        <p:attrNameLst>
                                          <p:attrName>ppt_x</p:attrName>
                                        </p:attrNameLst>
                                      </p:cBhvr>
                                      <p:tavLst>
                                        <p:tav tm="0">
                                          <p:val>
                                            <p:strVal val="0-#ppt_w/2"/>
                                          </p:val>
                                        </p:tav>
                                        <p:tav tm="100000">
                                          <p:val>
                                            <p:strVal val="#ppt_x"/>
                                          </p:val>
                                        </p:tav>
                                      </p:tavLst>
                                    </p:anim>
                                    <p:anim calcmode="lin" valueType="num">
                                      <p:cBhvr additive="base">
                                        <p:cTn id="8" dur="500" fill="hold"/>
                                        <p:tgtEl>
                                          <p:spTgt spid="14853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148527"/>
                                        </p:tgtEl>
                                        <p:attrNameLst>
                                          <p:attrName>style.visibility</p:attrName>
                                        </p:attrNameLst>
                                      </p:cBhvr>
                                      <p:to>
                                        <p:strVal val="visible"/>
                                      </p:to>
                                    </p:set>
                                    <p:animEffect transition="in" filter="dissolve">
                                      <p:cBhvr>
                                        <p:cTn id="13" dur="500"/>
                                        <p:tgtEl>
                                          <p:spTgt spid="14852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148528"/>
                                        </p:tgtEl>
                                        <p:attrNameLst>
                                          <p:attrName>style.visibility</p:attrName>
                                        </p:attrNameLst>
                                      </p:cBhvr>
                                      <p:to>
                                        <p:strVal val="visible"/>
                                      </p:to>
                                    </p:set>
                                    <p:animEffect transition="in" filter="dissolve">
                                      <p:cBhvr>
                                        <p:cTn id="18" dur="500"/>
                                        <p:tgtEl>
                                          <p:spTgt spid="14852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nodeType="clickEffect">
                                  <p:stCondLst>
                                    <p:cond delay="0"/>
                                  </p:stCondLst>
                                  <p:childTnLst>
                                    <p:set>
                                      <p:cBhvr>
                                        <p:cTn id="22" dur="1" fill="hold">
                                          <p:stCondLst>
                                            <p:cond delay="0"/>
                                          </p:stCondLst>
                                        </p:cTn>
                                        <p:tgtEl>
                                          <p:spTgt spid="148529"/>
                                        </p:tgtEl>
                                        <p:attrNameLst>
                                          <p:attrName>style.visibility</p:attrName>
                                        </p:attrNameLst>
                                      </p:cBhvr>
                                      <p:to>
                                        <p:strVal val="visible"/>
                                      </p:to>
                                    </p:set>
                                    <p:animEffect transition="in" filter="dissolve">
                                      <p:cBhvr>
                                        <p:cTn id="23" dur="500"/>
                                        <p:tgtEl>
                                          <p:spTgt spid="1485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30" grpId="0"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48" name="Rectangle 44">
            <a:extLst>
              <a:ext uri="{FF2B5EF4-FFF2-40B4-BE49-F238E27FC236}">
                <a16:creationId xmlns:a16="http://schemas.microsoft.com/office/drawing/2014/main" id="{94C98C76-87C4-4306-A3F3-82851DE4D644}"/>
              </a:ext>
            </a:extLst>
          </p:cNvPr>
          <p:cNvSpPr>
            <a:spLocks noChangeArrowheads="1"/>
          </p:cNvSpPr>
          <p:nvPr/>
        </p:nvSpPr>
        <p:spPr bwMode="auto">
          <a:xfrm>
            <a:off x="1143000" y="228600"/>
            <a:ext cx="7924800" cy="6400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49507" name="Group 3">
            <a:extLst>
              <a:ext uri="{FF2B5EF4-FFF2-40B4-BE49-F238E27FC236}">
                <a16:creationId xmlns:a16="http://schemas.microsoft.com/office/drawing/2014/main" id="{6D121986-37C9-4E24-86F7-EC027B68EDB9}"/>
              </a:ext>
            </a:extLst>
          </p:cNvPr>
          <p:cNvGrpSpPr>
            <a:grpSpLocks/>
          </p:cNvGrpSpPr>
          <p:nvPr/>
        </p:nvGrpSpPr>
        <p:grpSpPr bwMode="auto">
          <a:xfrm>
            <a:off x="1981200" y="990600"/>
            <a:ext cx="5410200" cy="4176713"/>
            <a:chOff x="1104" y="624"/>
            <a:chExt cx="3408" cy="2631"/>
          </a:xfrm>
        </p:grpSpPr>
        <p:grpSp>
          <p:nvGrpSpPr>
            <p:cNvPr id="149508" name="Group 4">
              <a:extLst>
                <a:ext uri="{FF2B5EF4-FFF2-40B4-BE49-F238E27FC236}">
                  <a16:creationId xmlns:a16="http://schemas.microsoft.com/office/drawing/2014/main" id="{60D94A5A-E264-4C8E-B405-58C15C5486D9}"/>
                </a:ext>
              </a:extLst>
            </p:cNvPr>
            <p:cNvGrpSpPr>
              <a:grpSpLocks/>
            </p:cNvGrpSpPr>
            <p:nvPr/>
          </p:nvGrpSpPr>
          <p:grpSpPr bwMode="auto">
            <a:xfrm>
              <a:off x="1296" y="816"/>
              <a:ext cx="3216" cy="2352"/>
              <a:chOff x="1296" y="816"/>
              <a:chExt cx="3216" cy="2352"/>
            </a:xfrm>
          </p:grpSpPr>
          <p:sp>
            <p:nvSpPr>
              <p:cNvPr id="149509" name="Oval 5">
                <a:extLst>
                  <a:ext uri="{FF2B5EF4-FFF2-40B4-BE49-F238E27FC236}">
                    <a16:creationId xmlns:a16="http://schemas.microsoft.com/office/drawing/2014/main" id="{A7F5326E-647E-42C4-9D83-52005826BE8E}"/>
                  </a:ext>
                </a:extLst>
              </p:cNvPr>
              <p:cNvSpPr>
                <a:spLocks noChangeArrowheads="1"/>
              </p:cNvSpPr>
              <p:nvPr/>
            </p:nvSpPr>
            <p:spPr bwMode="auto">
              <a:xfrm>
                <a:off x="2880" y="8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0" name="Oval 6">
                <a:extLst>
                  <a:ext uri="{FF2B5EF4-FFF2-40B4-BE49-F238E27FC236}">
                    <a16:creationId xmlns:a16="http://schemas.microsoft.com/office/drawing/2014/main" id="{FA408FA5-034C-4184-A526-BFD94CA3611C}"/>
                  </a:ext>
                </a:extLst>
              </p:cNvPr>
              <p:cNvSpPr>
                <a:spLocks noChangeArrowheads="1"/>
              </p:cNvSpPr>
              <p:nvPr/>
            </p:nvSpPr>
            <p:spPr bwMode="auto">
              <a:xfrm>
                <a:off x="187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1" name="Oval 7">
                <a:extLst>
                  <a:ext uri="{FF2B5EF4-FFF2-40B4-BE49-F238E27FC236}">
                    <a16:creationId xmlns:a16="http://schemas.microsoft.com/office/drawing/2014/main" id="{DCF8FAC6-880D-4D16-9F93-FFB5D25EDF35}"/>
                  </a:ext>
                </a:extLst>
              </p:cNvPr>
              <p:cNvSpPr>
                <a:spLocks noChangeArrowheads="1"/>
              </p:cNvSpPr>
              <p:nvPr/>
            </p:nvSpPr>
            <p:spPr bwMode="auto">
              <a:xfrm>
                <a:off x="1296"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2" name="Oval 8">
                <a:extLst>
                  <a:ext uri="{FF2B5EF4-FFF2-40B4-BE49-F238E27FC236}">
                    <a16:creationId xmlns:a16="http://schemas.microsoft.com/office/drawing/2014/main" id="{C404A0BD-250C-4A4C-9BB1-FAC0074B36DE}"/>
                  </a:ext>
                </a:extLst>
              </p:cNvPr>
              <p:cNvSpPr>
                <a:spLocks noChangeArrowheads="1"/>
              </p:cNvSpPr>
              <p:nvPr/>
            </p:nvSpPr>
            <p:spPr bwMode="auto">
              <a:xfrm>
                <a:off x="379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3" name="Oval 9">
                <a:extLst>
                  <a:ext uri="{FF2B5EF4-FFF2-40B4-BE49-F238E27FC236}">
                    <a16:creationId xmlns:a16="http://schemas.microsoft.com/office/drawing/2014/main" id="{0338D2E6-426C-4B7D-815E-97DC0EA3DFCC}"/>
                  </a:ext>
                </a:extLst>
              </p:cNvPr>
              <p:cNvSpPr>
                <a:spLocks noChangeArrowheads="1"/>
              </p:cNvSpPr>
              <p:nvPr/>
            </p:nvSpPr>
            <p:spPr bwMode="auto">
              <a:xfrm>
                <a:off x="2448"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4" name="Oval 10">
                <a:extLst>
                  <a:ext uri="{FF2B5EF4-FFF2-40B4-BE49-F238E27FC236}">
                    <a16:creationId xmlns:a16="http://schemas.microsoft.com/office/drawing/2014/main" id="{183D0D74-F58F-455C-BCBD-5143BFB19471}"/>
                  </a:ext>
                </a:extLst>
              </p:cNvPr>
              <p:cNvSpPr>
                <a:spLocks noChangeArrowheads="1"/>
              </p:cNvSpPr>
              <p:nvPr/>
            </p:nvSpPr>
            <p:spPr bwMode="auto">
              <a:xfrm>
                <a:off x="3264"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5" name="Oval 11">
                <a:extLst>
                  <a:ext uri="{FF2B5EF4-FFF2-40B4-BE49-F238E27FC236}">
                    <a16:creationId xmlns:a16="http://schemas.microsoft.com/office/drawing/2014/main" id="{49869DB9-1C3F-4F90-9C08-92D28648CE41}"/>
                  </a:ext>
                </a:extLst>
              </p:cNvPr>
              <p:cNvSpPr>
                <a:spLocks noChangeArrowheads="1"/>
              </p:cNvSpPr>
              <p:nvPr/>
            </p:nvSpPr>
            <p:spPr bwMode="auto">
              <a:xfrm>
                <a:off x="4416"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6" name="Line 12">
                <a:extLst>
                  <a:ext uri="{FF2B5EF4-FFF2-40B4-BE49-F238E27FC236}">
                    <a16:creationId xmlns:a16="http://schemas.microsoft.com/office/drawing/2014/main" id="{945A55B6-CF0F-4A4E-896C-333AFDA88EFE}"/>
                  </a:ext>
                </a:extLst>
              </p:cNvPr>
              <p:cNvSpPr>
                <a:spLocks noChangeShapeType="1"/>
              </p:cNvSpPr>
              <p:nvPr/>
            </p:nvSpPr>
            <p:spPr bwMode="auto">
              <a:xfrm flipV="1">
                <a:off x="1920" y="864"/>
                <a:ext cx="100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7" name="Line 13">
                <a:extLst>
                  <a:ext uri="{FF2B5EF4-FFF2-40B4-BE49-F238E27FC236}">
                    <a16:creationId xmlns:a16="http://schemas.microsoft.com/office/drawing/2014/main" id="{F3B08D72-8CEB-45B1-A49C-71C45BBA7F73}"/>
                  </a:ext>
                </a:extLst>
              </p:cNvPr>
              <p:cNvSpPr>
                <a:spLocks noChangeShapeType="1"/>
              </p:cNvSpPr>
              <p:nvPr/>
            </p:nvSpPr>
            <p:spPr bwMode="auto">
              <a:xfrm>
                <a:off x="2928" y="864"/>
                <a:ext cx="912"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8" name="Line 14">
                <a:extLst>
                  <a:ext uri="{FF2B5EF4-FFF2-40B4-BE49-F238E27FC236}">
                    <a16:creationId xmlns:a16="http://schemas.microsoft.com/office/drawing/2014/main" id="{AF1A1A28-9069-4887-850F-A0C2FF6B5C80}"/>
                  </a:ext>
                </a:extLst>
              </p:cNvPr>
              <p:cNvSpPr>
                <a:spLocks noChangeShapeType="1"/>
              </p:cNvSpPr>
              <p:nvPr/>
            </p:nvSpPr>
            <p:spPr bwMode="auto">
              <a:xfrm flipV="1">
                <a:off x="1344" y="1584"/>
                <a:ext cx="57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19" name="Line 15">
                <a:extLst>
                  <a:ext uri="{FF2B5EF4-FFF2-40B4-BE49-F238E27FC236}">
                    <a16:creationId xmlns:a16="http://schemas.microsoft.com/office/drawing/2014/main" id="{35E8C8FC-6FA4-465F-9D9D-7B01D2D9F82D}"/>
                  </a:ext>
                </a:extLst>
              </p:cNvPr>
              <p:cNvSpPr>
                <a:spLocks noChangeShapeType="1"/>
              </p:cNvSpPr>
              <p:nvPr/>
            </p:nvSpPr>
            <p:spPr bwMode="auto">
              <a:xfrm flipH="1" flipV="1">
                <a:off x="1968" y="1584"/>
                <a:ext cx="528"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20" name="Line 16">
                <a:extLst>
                  <a:ext uri="{FF2B5EF4-FFF2-40B4-BE49-F238E27FC236}">
                    <a16:creationId xmlns:a16="http://schemas.microsoft.com/office/drawing/2014/main" id="{03694295-8729-4400-A1C3-DC329DF6F19A}"/>
                  </a:ext>
                </a:extLst>
              </p:cNvPr>
              <p:cNvSpPr>
                <a:spLocks noChangeShapeType="1"/>
              </p:cNvSpPr>
              <p:nvPr/>
            </p:nvSpPr>
            <p:spPr bwMode="auto">
              <a:xfrm flipV="1">
                <a:off x="3312" y="1584"/>
                <a:ext cx="528"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21" name="Line 17">
                <a:extLst>
                  <a:ext uri="{FF2B5EF4-FFF2-40B4-BE49-F238E27FC236}">
                    <a16:creationId xmlns:a16="http://schemas.microsoft.com/office/drawing/2014/main" id="{A9CB4959-C37E-4278-9ED0-FFB3F4A3D5D9}"/>
                  </a:ext>
                </a:extLst>
              </p:cNvPr>
              <p:cNvSpPr>
                <a:spLocks noChangeShapeType="1"/>
              </p:cNvSpPr>
              <p:nvPr/>
            </p:nvSpPr>
            <p:spPr bwMode="auto">
              <a:xfrm flipH="1" flipV="1">
                <a:off x="3888" y="1584"/>
                <a:ext cx="576" cy="81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22" name="Oval 18">
                <a:extLst>
                  <a:ext uri="{FF2B5EF4-FFF2-40B4-BE49-F238E27FC236}">
                    <a16:creationId xmlns:a16="http://schemas.microsoft.com/office/drawing/2014/main" id="{9D262E56-EC5E-44AB-8E4F-B873E7A776A9}"/>
                  </a:ext>
                </a:extLst>
              </p:cNvPr>
              <p:cNvSpPr>
                <a:spLocks noChangeArrowheads="1"/>
              </p:cNvSpPr>
              <p:nvPr/>
            </p:nvSpPr>
            <p:spPr bwMode="auto">
              <a:xfrm>
                <a:off x="2112" y="30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23" name="Oval 19">
                <a:extLst>
                  <a:ext uri="{FF2B5EF4-FFF2-40B4-BE49-F238E27FC236}">
                    <a16:creationId xmlns:a16="http://schemas.microsoft.com/office/drawing/2014/main" id="{2E6968FE-9E6A-4E88-93D6-7C407918BF31}"/>
                  </a:ext>
                </a:extLst>
              </p:cNvPr>
              <p:cNvSpPr>
                <a:spLocks noChangeArrowheads="1"/>
              </p:cNvSpPr>
              <p:nvPr/>
            </p:nvSpPr>
            <p:spPr bwMode="auto">
              <a:xfrm>
                <a:off x="2736" y="307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24" name="Line 20">
                <a:extLst>
                  <a:ext uri="{FF2B5EF4-FFF2-40B4-BE49-F238E27FC236}">
                    <a16:creationId xmlns:a16="http://schemas.microsoft.com/office/drawing/2014/main" id="{F507F640-2ED4-47E9-8DEF-AD21150CD5A6}"/>
                  </a:ext>
                </a:extLst>
              </p:cNvPr>
              <p:cNvSpPr>
                <a:spLocks noChangeShapeType="1"/>
              </p:cNvSpPr>
              <p:nvPr/>
            </p:nvSpPr>
            <p:spPr bwMode="auto">
              <a:xfrm flipV="1">
                <a:off x="2160" y="2400"/>
                <a:ext cx="336"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25" name="Line 21">
                <a:extLst>
                  <a:ext uri="{FF2B5EF4-FFF2-40B4-BE49-F238E27FC236}">
                    <a16:creationId xmlns:a16="http://schemas.microsoft.com/office/drawing/2014/main" id="{C9ADEB61-9ABF-49A2-B258-876A7CC53694}"/>
                  </a:ext>
                </a:extLst>
              </p:cNvPr>
              <p:cNvSpPr>
                <a:spLocks noChangeShapeType="1"/>
              </p:cNvSpPr>
              <p:nvPr/>
            </p:nvSpPr>
            <p:spPr bwMode="auto">
              <a:xfrm flipH="1" flipV="1">
                <a:off x="2496" y="2400"/>
                <a:ext cx="288" cy="7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49526" name="Text Box 22">
              <a:extLst>
                <a:ext uri="{FF2B5EF4-FFF2-40B4-BE49-F238E27FC236}">
                  <a16:creationId xmlns:a16="http://schemas.microsoft.com/office/drawing/2014/main" id="{803E3E6D-C4D4-4214-B6F9-7E9A148E99D8}"/>
                </a:ext>
              </a:extLst>
            </p:cNvPr>
            <p:cNvSpPr txBox="1">
              <a:spLocks noChangeArrowheads="1"/>
            </p:cNvSpPr>
            <p:nvPr/>
          </p:nvSpPr>
          <p:spPr bwMode="auto">
            <a:xfrm>
              <a:off x="2688" y="62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a</a:t>
              </a:r>
              <a:endParaRPr lang="en-US" altLang="en-US" sz="2800">
                <a:latin typeface="Times New Roman" panose="02020603050405020304" pitchFamily="18" charset="0"/>
              </a:endParaRPr>
            </a:p>
          </p:txBody>
        </p:sp>
        <p:sp>
          <p:nvSpPr>
            <p:cNvPr id="149527" name="Text Box 23">
              <a:extLst>
                <a:ext uri="{FF2B5EF4-FFF2-40B4-BE49-F238E27FC236}">
                  <a16:creationId xmlns:a16="http://schemas.microsoft.com/office/drawing/2014/main" id="{42B5D5DC-311A-4CBB-8506-64694BEF59EA}"/>
                </a:ext>
              </a:extLst>
            </p:cNvPr>
            <p:cNvSpPr txBox="1">
              <a:spLocks noChangeArrowheads="1"/>
            </p:cNvSpPr>
            <p:nvPr/>
          </p:nvSpPr>
          <p:spPr bwMode="auto">
            <a:xfrm>
              <a:off x="1632" y="1344"/>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b</a:t>
              </a:r>
              <a:endParaRPr lang="en-US" altLang="en-US" sz="2800">
                <a:latin typeface="Times New Roman" panose="02020603050405020304" pitchFamily="18" charset="0"/>
              </a:endParaRPr>
            </a:p>
          </p:txBody>
        </p:sp>
        <p:sp>
          <p:nvSpPr>
            <p:cNvPr id="149528" name="Text Box 24">
              <a:extLst>
                <a:ext uri="{FF2B5EF4-FFF2-40B4-BE49-F238E27FC236}">
                  <a16:creationId xmlns:a16="http://schemas.microsoft.com/office/drawing/2014/main" id="{D14B4C36-6035-4ADC-B560-8329663FA74F}"/>
                </a:ext>
              </a:extLst>
            </p:cNvPr>
            <p:cNvSpPr txBox="1">
              <a:spLocks noChangeArrowheads="1"/>
            </p:cNvSpPr>
            <p:nvPr/>
          </p:nvSpPr>
          <p:spPr bwMode="auto">
            <a:xfrm>
              <a:off x="3888" y="1296"/>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c</a:t>
              </a:r>
              <a:endParaRPr lang="en-US" altLang="en-US" sz="2800">
                <a:latin typeface="Times New Roman" panose="02020603050405020304" pitchFamily="18" charset="0"/>
              </a:endParaRPr>
            </a:p>
          </p:txBody>
        </p:sp>
        <p:sp>
          <p:nvSpPr>
            <p:cNvPr id="149529" name="Text Box 25">
              <a:extLst>
                <a:ext uri="{FF2B5EF4-FFF2-40B4-BE49-F238E27FC236}">
                  <a16:creationId xmlns:a16="http://schemas.microsoft.com/office/drawing/2014/main" id="{15617A16-D6DD-46CA-AC94-ACE31B6782EB}"/>
                </a:ext>
              </a:extLst>
            </p:cNvPr>
            <p:cNvSpPr txBox="1">
              <a:spLocks noChangeArrowheads="1"/>
            </p:cNvSpPr>
            <p:nvPr/>
          </p:nvSpPr>
          <p:spPr bwMode="auto">
            <a:xfrm>
              <a:off x="1104" y="2160"/>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d</a:t>
              </a:r>
              <a:endParaRPr lang="en-US" altLang="en-US" sz="2800">
                <a:latin typeface="Times New Roman" panose="02020603050405020304" pitchFamily="18" charset="0"/>
              </a:endParaRPr>
            </a:p>
          </p:txBody>
        </p:sp>
        <p:sp>
          <p:nvSpPr>
            <p:cNvPr id="149530" name="Text Box 26">
              <a:extLst>
                <a:ext uri="{FF2B5EF4-FFF2-40B4-BE49-F238E27FC236}">
                  <a16:creationId xmlns:a16="http://schemas.microsoft.com/office/drawing/2014/main" id="{046A0ECD-7387-4A89-A47C-B77BC0897312}"/>
                </a:ext>
              </a:extLst>
            </p:cNvPr>
            <p:cNvSpPr txBox="1">
              <a:spLocks noChangeArrowheads="1"/>
            </p:cNvSpPr>
            <p:nvPr/>
          </p:nvSpPr>
          <p:spPr bwMode="auto">
            <a:xfrm>
              <a:off x="2160" y="2160"/>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e</a:t>
              </a:r>
              <a:endParaRPr lang="en-US" altLang="en-US" sz="2800">
                <a:latin typeface="Times New Roman" panose="02020603050405020304" pitchFamily="18" charset="0"/>
              </a:endParaRPr>
            </a:p>
          </p:txBody>
        </p:sp>
        <p:sp>
          <p:nvSpPr>
            <p:cNvPr id="149531" name="Text Box 27">
              <a:extLst>
                <a:ext uri="{FF2B5EF4-FFF2-40B4-BE49-F238E27FC236}">
                  <a16:creationId xmlns:a16="http://schemas.microsoft.com/office/drawing/2014/main" id="{A94AAA2E-8E04-46C5-B9A9-35D5105C8DE6}"/>
                </a:ext>
              </a:extLst>
            </p:cNvPr>
            <p:cNvSpPr txBox="1">
              <a:spLocks noChangeArrowheads="1"/>
            </p:cNvSpPr>
            <p:nvPr/>
          </p:nvSpPr>
          <p:spPr bwMode="auto">
            <a:xfrm>
              <a:off x="3024" y="2160"/>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f</a:t>
              </a:r>
              <a:endParaRPr lang="en-US" altLang="en-US" sz="2800">
                <a:latin typeface="Times New Roman" panose="02020603050405020304" pitchFamily="18" charset="0"/>
              </a:endParaRPr>
            </a:p>
          </p:txBody>
        </p:sp>
        <p:sp>
          <p:nvSpPr>
            <p:cNvPr id="149532" name="Text Box 28">
              <a:extLst>
                <a:ext uri="{FF2B5EF4-FFF2-40B4-BE49-F238E27FC236}">
                  <a16:creationId xmlns:a16="http://schemas.microsoft.com/office/drawing/2014/main" id="{BF534CE7-8BD6-4482-A742-A4E84DA78329}"/>
                </a:ext>
              </a:extLst>
            </p:cNvPr>
            <p:cNvSpPr txBox="1">
              <a:spLocks noChangeArrowheads="1"/>
            </p:cNvSpPr>
            <p:nvPr/>
          </p:nvSpPr>
          <p:spPr bwMode="auto">
            <a:xfrm>
              <a:off x="4128" y="2160"/>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g</a:t>
              </a:r>
              <a:endParaRPr lang="en-US" altLang="en-US" sz="2800">
                <a:latin typeface="Times New Roman" panose="02020603050405020304" pitchFamily="18" charset="0"/>
              </a:endParaRPr>
            </a:p>
          </p:txBody>
        </p:sp>
        <p:sp>
          <p:nvSpPr>
            <p:cNvPr id="149533" name="Text Box 29">
              <a:extLst>
                <a:ext uri="{FF2B5EF4-FFF2-40B4-BE49-F238E27FC236}">
                  <a16:creationId xmlns:a16="http://schemas.microsoft.com/office/drawing/2014/main" id="{DF3FC7CE-F7EA-4575-AA8F-F5C1EB7293D9}"/>
                </a:ext>
              </a:extLst>
            </p:cNvPr>
            <p:cNvSpPr txBox="1">
              <a:spLocks noChangeArrowheads="1"/>
            </p:cNvSpPr>
            <p:nvPr/>
          </p:nvSpPr>
          <p:spPr bwMode="auto">
            <a:xfrm>
              <a:off x="1872" y="2928"/>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h</a:t>
              </a:r>
              <a:endParaRPr lang="en-US" altLang="en-US" sz="2800">
                <a:latin typeface="Times New Roman" panose="02020603050405020304" pitchFamily="18" charset="0"/>
              </a:endParaRPr>
            </a:p>
          </p:txBody>
        </p:sp>
        <p:sp>
          <p:nvSpPr>
            <p:cNvPr id="149534" name="Text Box 30">
              <a:extLst>
                <a:ext uri="{FF2B5EF4-FFF2-40B4-BE49-F238E27FC236}">
                  <a16:creationId xmlns:a16="http://schemas.microsoft.com/office/drawing/2014/main" id="{62BE9435-5CB1-41DD-AC67-4D09FED65898}"/>
                </a:ext>
              </a:extLst>
            </p:cNvPr>
            <p:cNvSpPr txBox="1">
              <a:spLocks noChangeArrowheads="1"/>
            </p:cNvSpPr>
            <p:nvPr/>
          </p:nvSpPr>
          <p:spPr bwMode="auto">
            <a:xfrm>
              <a:off x="2496" y="2928"/>
              <a:ext cx="240"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i="1">
                  <a:latin typeface="Times New Roman" panose="02020603050405020304" pitchFamily="18" charset="0"/>
                </a:rPr>
                <a:t>i</a:t>
              </a:r>
              <a:endParaRPr lang="en-US" altLang="en-US" sz="2800">
                <a:latin typeface="Times New Roman" panose="02020603050405020304" pitchFamily="18" charset="0"/>
              </a:endParaRPr>
            </a:p>
          </p:txBody>
        </p:sp>
      </p:grpSp>
      <p:grpSp>
        <p:nvGrpSpPr>
          <p:cNvPr id="149541" name="Group 37">
            <a:extLst>
              <a:ext uri="{FF2B5EF4-FFF2-40B4-BE49-F238E27FC236}">
                <a16:creationId xmlns:a16="http://schemas.microsoft.com/office/drawing/2014/main" id="{E2002B6B-D2AA-42F1-927C-D98F6F228B97}"/>
              </a:ext>
            </a:extLst>
          </p:cNvPr>
          <p:cNvGrpSpPr>
            <a:grpSpLocks/>
          </p:cNvGrpSpPr>
          <p:nvPr/>
        </p:nvGrpSpPr>
        <p:grpSpPr bwMode="auto">
          <a:xfrm>
            <a:off x="1676400" y="1524000"/>
            <a:ext cx="7239000" cy="4876800"/>
            <a:chOff x="912" y="960"/>
            <a:chExt cx="4560" cy="3072"/>
          </a:xfrm>
        </p:grpSpPr>
        <p:sp>
          <p:nvSpPr>
            <p:cNvPr id="149539" name="Oval 35">
              <a:extLst>
                <a:ext uri="{FF2B5EF4-FFF2-40B4-BE49-F238E27FC236}">
                  <a16:creationId xmlns:a16="http://schemas.microsoft.com/office/drawing/2014/main" id="{9F539E40-6708-486C-BF43-4E3C31ADB1E5}"/>
                </a:ext>
              </a:extLst>
            </p:cNvPr>
            <p:cNvSpPr>
              <a:spLocks noChangeArrowheads="1"/>
            </p:cNvSpPr>
            <p:nvPr/>
          </p:nvSpPr>
          <p:spPr bwMode="auto">
            <a:xfrm>
              <a:off x="912" y="960"/>
              <a:ext cx="2112" cy="3072"/>
            </a:xfrm>
            <a:prstGeom prst="ellipse">
              <a:avLst/>
            </a:prstGeom>
            <a:noFill/>
            <a:ln w="9525">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9540" name="Text Box 36">
              <a:extLst>
                <a:ext uri="{FF2B5EF4-FFF2-40B4-BE49-F238E27FC236}">
                  <a16:creationId xmlns:a16="http://schemas.microsoft.com/office/drawing/2014/main" id="{8AC35CBB-246A-4BBE-A933-A55C01FAACE5}"/>
                </a:ext>
              </a:extLst>
            </p:cNvPr>
            <p:cNvSpPr txBox="1">
              <a:spLocks noChangeArrowheads="1"/>
            </p:cNvSpPr>
            <p:nvPr/>
          </p:nvSpPr>
          <p:spPr bwMode="auto">
            <a:xfrm>
              <a:off x="3264" y="2736"/>
              <a:ext cx="2208" cy="602"/>
            </a:xfrm>
            <a:prstGeom prst="rect">
              <a:avLst/>
            </a:prstGeom>
            <a:noFill/>
            <a:ln w="9525">
              <a:solidFill>
                <a:srgbClr val="FF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82F1A"/>
                  </a:solidFill>
                  <a:latin typeface="Times New Roman" panose="02020603050405020304" pitchFamily="18" charset="0"/>
                </a:rPr>
                <a:t>subtree with </a:t>
              </a:r>
              <a:r>
                <a:rPr lang="en-US" altLang="en-US" sz="2800" i="1">
                  <a:solidFill>
                    <a:srgbClr val="F82F1A"/>
                  </a:solidFill>
                  <a:latin typeface="Times New Roman" panose="02020603050405020304" pitchFamily="18" charset="0"/>
                </a:rPr>
                <a:t>b</a:t>
              </a:r>
              <a:r>
                <a:rPr lang="en-US" altLang="en-US" sz="2800">
                  <a:solidFill>
                    <a:srgbClr val="F82F1A"/>
                  </a:solidFill>
                  <a:latin typeface="Times New Roman" panose="02020603050405020304" pitchFamily="18" charset="0"/>
                </a:rPr>
                <a:t> as its root</a:t>
              </a:r>
            </a:p>
          </p:txBody>
        </p:sp>
      </p:grpSp>
      <p:grpSp>
        <p:nvGrpSpPr>
          <p:cNvPr id="149547" name="Group 43">
            <a:extLst>
              <a:ext uri="{FF2B5EF4-FFF2-40B4-BE49-F238E27FC236}">
                <a16:creationId xmlns:a16="http://schemas.microsoft.com/office/drawing/2014/main" id="{AA3D5D14-9BE8-4E08-B1DC-808079F21E1D}"/>
              </a:ext>
            </a:extLst>
          </p:cNvPr>
          <p:cNvGrpSpPr>
            <a:grpSpLocks/>
          </p:cNvGrpSpPr>
          <p:nvPr/>
        </p:nvGrpSpPr>
        <p:grpSpPr bwMode="auto">
          <a:xfrm>
            <a:off x="4724400" y="1981200"/>
            <a:ext cx="4114800" cy="4298950"/>
            <a:chOff x="2832" y="1248"/>
            <a:chExt cx="2592" cy="2708"/>
          </a:xfrm>
        </p:grpSpPr>
        <p:sp>
          <p:nvSpPr>
            <p:cNvPr id="149543" name="Text Box 39">
              <a:extLst>
                <a:ext uri="{FF2B5EF4-FFF2-40B4-BE49-F238E27FC236}">
                  <a16:creationId xmlns:a16="http://schemas.microsoft.com/office/drawing/2014/main" id="{149C45D8-7F3D-452A-8123-4460C60BFEC8}"/>
                </a:ext>
              </a:extLst>
            </p:cNvPr>
            <p:cNvSpPr txBox="1">
              <a:spLocks noChangeArrowheads="1"/>
            </p:cNvSpPr>
            <p:nvPr/>
          </p:nvSpPr>
          <p:spPr bwMode="auto">
            <a:xfrm>
              <a:off x="3216" y="3360"/>
              <a:ext cx="2208" cy="5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4C32CE"/>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4C32CE"/>
                  </a:solidFill>
                  <a:latin typeface="Times New Roman" panose="02020603050405020304" pitchFamily="18" charset="0"/>
                </a:rPr>
                <a:t>subtree with </a:t>
              </a:r>
              <a:r>
                <a:rPr lang="en-US" altLang="en-US" sz="2800" i="1">
                  <a:solidFill>
                    <a:srgbClr val="4C32CE"/>
                  </a:solidFill>
                  <a:latin typeface="Times New Roman" panose="02020603050405020304" pitchFamily="18" charset="0"/>
                </a:rPr>
                <a:t>c</a:t>
              </a:r>
              <a:r>
                <a:rPr lang="en-US" altLang="en-US" sz="2800">
                  <a:solidFill>
                    <a:srgbClr val="4C32CE"/>
                  </a:solidFill>
                  <a:latin typeface="Times New Roman" panose="02020603050405020304" pitchFamily="18" charset="0"/>
                </a:rPr>
                <a:t> as its root</a:t>
              </a:r>
              <a:endParaRPr lang="en-US" altLang="en-US" sz="2800">
                <a:latin typeface="Times New Roman" panose="02020603050405020304" pitchFamily="18" charset="0"/>
              </a:endParaRPr>
            </a:p>
          </p:txBody>
        </p:sp>
        <p:sp>
          <p:nvSpPr>
            <p:cNvPr id="149546" name="Oval 42">
              <a:extLst>
                <a:ext uri="{FF2B5EF4-FFF2-40B4-BE49-F238E27FC236}">
                  <a16:creationId xmlns:a16="http://schemas.microsoft.com/office/drawing/2014/main" id="{729A8F02-B23E-4BB4-85CD-79C3612F8AEB}"/>
                </a:ext>
              </a:extLst>
            </p:cNvPr>
            <p:cNvSpPr>
              <a:spLocks noChangeArrowheads="1"/>
            </p:cNvSpPr>
            <p:nvPr/>
          </p:nvSpPr>
          <p:spPr bwMode="auto">
            <a:xfrm>
              <a:off x="2832" y="1248"/>
              <a:ext cx="2112" cy="1584"/>
            </a:xfrm>
            <a:prstGeom prst="ellipse">
              <a:avLst/>
            </a:prstGeom>
            <a:noFill/>
            <a:ln w="9525">
              <a:solidFill>
                <a:srgbClr val="4C32CE"/>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49549" name="Rectangle 45">
            <a:extLst>
              <a:ext uri="{FF2B5EF4-FFF2-40B4-BE49-F238E27FC236}">
                <a16:creationId xmlns:a16="http://schemas.microsoft.com/office/drawing/2014/main" id="{B2EC46B9-6AD9-47F2-A7B0-05D78E8D45AB}"/>
              </a:ext>
            </a:extLst>
          </p:cNvPr>
          <p:cNvSpPr>
            <a:spLocks noChangeArrowheads="1"/>
          </p:cNvSpPr>
          <p:nvPr/>
        </p:nvSpPr>
        <p:spPr bwMode="auto">
          <a:xfrm>
            <a:off x="609600" y="1371600"/>
            <a:ext cx="685800" cy="609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49541"/>
                                        </p:tgtEl>
                                        <p:attrNameLst>
                                          <p:attrName>style.visibility</p:attrName>
                                        </p:attrNameLst>
                                      </p:cBhvr>
                                      <p:to>
                                        <p:strVal val="visible"/>
                                      </p:to>
                                    </p:set>
                                    <p:animEffect transition="in" filter="dissolve">
                                      <p:cBhvr>
                                        <p:cTn id="7" dur="500"/>
                                        <p:tgtEl>
                                          <p:spTgt spid="1495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49547"/>
                                        </p:tgtEl>
                                        <p:attrNameLst>
                                          <p:attrName>style.visibility</p:attrName>
                                        </p:attrNameLst>
                                      </p:cBhvr>
                                      <p:to>
                                        <p:strVal val="visible"/>
                                      </p:to>
                                    </p:set>
                                    <p:animEffect transition="in" filter="dissolve">
                                      <p:cBhvr>
                                        <p:cTn id="12" dur="500"/>
                                        <p:tgtEl>
                                          <p:spTgt spid="1495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12EC9989-ED2C-4BBD-9B47-B4F8485A5513}"/>
              </a:ext>
            </a:extLst>
          </p:cNvPr>
          <p:cNvSpPr>
            <a:spLocks noGrp="1" noChangeArrowheads="1"/>
          </p:cNvSpPr>
          <p:nvPr>
            <p:ph type="title"/>
          </p:nvPr>
        </p:nvSpPr>
        <p:spPr/>
        <p:txBody>
          <a:bodyPr/>
          <a:lstStyle/>
          <a:p>
            <a:r>
              <a:rPr lang="en-US" altLang="en-US" i="1"/>
              <a:t>m</a:t>
            </a:r>
            <a:r>
              <a:rPr lang="en-US" altLang="en-US"/>
              <a:t>-ary trees</a:t>
            </a:r>
          </a:p>
        </p:txBody>
      </p:sp>
      <p:sp>
        <p:nvSpPr>
          <p:cNvPr id="150532" name="Text Box 4">
            <a:extLst>
              <a:ext uri="{FF2B5EF4-FFF2-40B4-BE49-F238E27FC236}">
                <a16:creationId xmlns:a16="http://schemas.microsoft.com/office/drawing/2014/main" id="{2C0D7FF4-C42B-4A66-9005-9A1E17224E0A}"/>
              </a:ext>
            </a:extLst>
          </p:cNvPr>
          <p:cNvSpPr txBox="1">
            <a:spLocks noChangeArrowheads="1"/>
          </p:cNvSpPr>
          <p:nvPr/>
        </p:nvSpPr>
        <p:spPr bwMode="auto">
          <a:xfrm>
            <a:off x="1371600" y="1905000"/>
            <a:ext cx="7010400" cy="301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 rooted tree is called an </a:t>
            </a:r>
            <a:r>
              <a:rPr lang="en-US" altLang="en-US" sz="3200" i="1">
                <a:latin typeface="Times New Roman" panose="02020603050405020304" pitchFamily="18" charset="0"/>
              </a:rPr>
              <a:t>m-ary tree</a:t>
            </a:r>
            <a:r>
              <a:rPr lang="en-US" altLang="en-US" sz="3200">
                <a:latin typeface="Times New Roman" panose="02020603050405020304" pitchFamily="18" charset="0"/>
              </a:rPr>
              <a:t> if every internal vertex has no more than </a:t>
            </a:r>
            <a:r>
              <a:rPr lang="en-US" altLang="en-US" sz="3200" i="1">
                <a:latin typeface="Times New Roman" panose="02020603050405020304" pitchFamily="18" charset="0"/>
              </a:rPr>
              <a:t>m</a:t>
            </a:r>
            <a:r>
              <a:rPr lang="en-US" altLang="en-US" sz="3200">
                <a:latin typeface="Times New Roman" panose="02020603050405020304" pitchFamily="18" charset="0"/>
              </a:rPr>
              <a:t> children.  The tree is called a </a:t>
            </a:r>
            <a:r>
              <a:rPr lang="en-US" altLang="en-US" sz="3200" i="1">
                <a:latin typeface="Times New Roman" panose="02020603050405020304" pitchFamily="18" charset="0"/>
              </a:rPr>
              <a:t>full m-ary</a:t>
            </a:r>
            <a:r>
              <a:rPr lang="en-US" altLang="en-US" sz="3200">
                <a:latin typeface="Times New Roman" panose="02020603050405020304" pitchFamily="18" charset="0"/>
              </a:rPr>
              <a:t> </a:t>
            </a:r>
            <a:r>
              <a:rPr lang="en-US" altLang="en-US" sz="3200" i="1">
                <a:latin typeface="Times New Roman" panose="02020603050405020304" pitchFamily="18" charset="0"/>
              </a:rPr>
              <a:t>tree</a:t>
            </a:r>
            <a:r>
              <a:rPr lang="en-US" altLang="en-US" sz="3200">
                <a:latin typeface="Times New Roman" panose="02020603050405020304" pitchFamily="18" charset="0"/>
              </a:rPr>
              <a:t> if every internal  vertex has exactly </a:t>
            </a:r>
            <a:r>
              <a:rPr lang="en-US" altLang="en-US" sz="3200" i="1">
                <a:latin typeface="Times New Roman" panose="02020603050405020304" pitchFamily="18" charset="0"/>
              </a:rPr>
              <a:t>m</a:t>
            </a:r>
            <a:r>
              <a:rPr lang="en-US" altLang="en-US" sz="3200">
                <a:latin typeface="Times New Roman" panose="02020603050405020304" pitchFamily="18" charset="0"/>
              </a:rPr>
              <a:t> children.  An </a:t>
            </a:r>
            <a:r>
              <a:rPr lang="en-US" altLang="en-US" sz="3200" i="1">
                <a:latin typeface="Times New Roman" panose="02020603050405020304" pitchFamily="18" charset="0"/>
              </a:rPr>
              <a:t>m</a:t>
            </a:r>
            <a:r>
              <a:rPr lang="en-US" altLang="en-US" sz="3200">
                <a:latin typeface="Times New Roman" panose="02020603050405020304" pitchFamily="18" charset="0"/>
              </a:rPr>
              <a:t>-ary tree with </a:t>
            </a:r>
            <a:r>
              <a:rPr lang="en-US" altLang="en-US" sz="3200" i="1">
                <a:latin typeface="Times New Roman" panose="02020603050405020304" pitchFamily="18" charset="0"/>
              </a:rPr>
              <a:t>m</a:t>
            </a:r>
            <a:r>
              <a:rPr lang="en-US" altLang="en-US" sz="3200">
                <a:latin typeface="Times New Roman" panose="02020603050405020304" pitchFamily="18" charset="0"/>
              </a:rPr>
              <a:t>=2 is called a </a:t>
            </a:r>
            <a:r>
              <a:rPr lang="en-US" altLang="en-US" sz="3200" i="1">
                <a:latin typeface="Times New Roman" panose="02020603050405020304" pitchFamily="18" charset="0"/>
              </a:rPr>
              <a:t>binary tree</a:t>
            </a:r>
            <a:r>
              <a:rPr lang="en-US" altLang="en-US" sz="3200">
                <a:latin typeface="Times New Roman" panose="02020603050405020304" pitchFamily="18" charset="0"/>
              </a:rPr>
              <a:t>.</a:t>
            </a:r>
          </a:p>
        </p:txBody>
      </p:sp>
    </p:spTree>
  </p:cSld>
  <p:clrMapOvr>
    <a:masterClrMapping/>
  </p:clrMapOvr>
  <p:transition spd="slow">
    <p:wip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630" name="Rectangle 78">
            <a:extLst>
              <a:ext uri="{FF2B5EF4-FFF2-40B4-BE49-F238E27FC236}">
                <a16:creationId xmlns:a16="http://schemas.microsoft.com/office/drawing/2014/main" id="{913710B6-DA27-4E56-BFEB-159ED1F82822}"/>
              </a:ext>
            </a:extLst>
          </p:cNvPr>
          <p:cNvSpPr>
            <a:spLocks noChangeArrowheads="1"/>
          </p:cNvSpPr>
          <p:nvPr/>
        </p:nvSpPr>
        <p:spPr bwMode="auto">
          <a:xfrm>
            <a:off x="1143000" y="228600"/>
            <a:ext cx="7924800" cy="63246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51567" name="Group 15">
            <a:extLst>
              <a:ext uri="{FF2B5EF4-FFF2-40B4-BE49-F238E27FC236}">
                <a16:creationId xmlns:a16="http://schemas.microsoft.com/office/drawing/2014/main" id="{D2C34D29-0376-4578-81C4-23BB578501D9}"/>
              </a:ext>
            </a:extLst>
          </p:cNvPr>
          <p:cNvGrpSpPr>
            <a:grpSpLocks/>
          </p:cNvGrpSpPr>
          <p:nvPr/>
        </p:nvGrpSpPr>
        <p:grpSpPr bwMode="auto">
          <a:xfrm>
            <a:off x="1371600" y="838200"/>
            <a:ext cx="2286000" cy="2590800"/>
            <a:chOff x="720" y="528"/>
            <a:chExt cx="1440" cy="1632"/>
          </a:xfrm>
        </p:grpSpPr>
        <p:sp>
          <p:nvSpPr>
            <p:cNvPr id="151554" name="Oval 2">
              <a:extLst>
                <a:ext uri="{FF2B5EF4-FFF2-40B4-BE49-F238E27FC236}">
                  <a16:creationId xmlns:a16="http://schemas.microsoft.com/office/drawing/2014/main" id="{28E53A35-C3DA-4983-A961-FA7AB10E4639}"/>
                </a:ext>
              </a:extLst>
            </p:cNvPr>
            <p:cNvSpPr>
              <a:spLocks noChangeArrowheads="1"/>
            </p:cNvSpPr>
            <p:nvPr/>
          </p:nvSpPr>
          <p:spPr bwMode="auto">
            <a:xfrm>
              <a:off x="1632"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55" name="Oval 3">
              <a:extLst>
                <a:ext uri="{FF2B5EF4-FFF2-40B4-BE49-F238E27FC236}">
                  <a16:creationId xmlns:a16="http://schemas.microsoft.com/office/drawing/2014/main" id="{65600991-CA40-45D0-A545-8AE844BD05DA}"/>
                </a:ext>
              </a:extLst>
            </p:cNvPr>
            <p:cNvSpPr>
              <a:spLocks noChangeArrowheads="1"/>
            </p:cNvSpPr>
            <p:nvPr/>
          </p:nvSpPr>
          <p:spPr bwMode="auto">
            <a:xfrm>
              <a:off x="1248"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56" name="Oval 4">
              <a:extLst>
                <a:ext uri="{FF2B5EF4-FFF2-40B4-BE49-F238E27FC236}">
                  <a16:creationId xmlns:a16="http://schemas.microsoft.com/office/drawing/2014/main" id="{DFB2A046-238F-4A7D-9F6F-16601F4958AF}"/>
                </a:ext>
              </a:extLst>
            </p:cNvPr>
            <p:cNvSpPr>
              <a:spLocks noChangeArrowheads="1"/>
            </p:cNvSpPr>
            <p:nvPr/>
          </p:nvSpPr>
          <p:spPr bwMode="auto">
            <a:xfrm>
              <a:off x="2064"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57" name="Oval 5">
              <a:extLst>
                <a:ext uri="{FF2B5EF4-FFF2-40B4-BE49-F238E27FC236}">
                  <a16:creationId xmlns:a16="http://schemas.microsoft.com/office/drawing/2014/main" id="{E89269AA-9D3E-44E7-9306-9ADA6CB689D9}"/>
                </a:ext>
              </a:extLst>
            </p:cNvPr>
            <p:cNvSpPr>
              <a:spLocks noChangeArrowheads="1"/>
            </p:cNvSpPr>
            <p:nvPr/>
          </p:nvSpPr>
          <p:spPr bwMode="auto">
            <a:xfrm>
              <a:off x="960"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58" name="Oval 6">
              <a:extLst>
                <a:ext uri="{FF2B5EF4-FFF2-40B4-BE49-F238E27FC236}">
                  <a16:creationId xmlns:a16="http://schemas.microsoft.com/office/drawing/2014/main" id="{08AC23B2-367B-4B2B-8C12-270462BFA0AB}"/>
                </a:ext>
              </a:extLst>
            </p:cNvPr>
            <p:cNvSpPr>
              <a:spLocks noChangeArrowheads="1"/>
            </p:cNvSpPr>
            <p:nvPr/>
          </p:nvSpPr>
          <p:spPr bwMode="auto">
            <a:xfrm>
              <a:off x="1536"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59" name="Oval 7">
              <a:extLst>
                <a:ext uri="{FF2B5EF4-FFF2-40B4-BE49-F238E27FC236}">
                  <a16:creationId xmlns:a16="http://schemas.microsoft.com/office/drawing/2014/main" id="{8E1109DD-B684-426D-A811-FCE093522A08}"/>
                </a:ext>
              </a:extLst>
            </p:cNvPr>
            <p:cNvSpPr>
              <a:spLocks noChangeArrowheads="1"/>
            </p:cNvSpPr>
            <p:nvPr/>
          </p:nvSpPr>
          <p:spPr bwMode="auto">
            <a:xfrm>
              <a:off x="72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60" name="Oval 8">
              <a:extLst>
                <a:ext uri="{FF2B5EF4-FFF2-40B4-BE49-F238E27FC236}">
                  <a16:creationId xmlns:a16="http://schemas.microsoft.com/office/drawing/2014/main" id="{E28E4FA4-E44E-4E65-B4CF-861834D69B0E}"/>
                </a:ext>
              </a:extLst>
            </p:cNvPr>
            <p:cNvSpPr>
              <a:spLocks noChangeArrowheads="1"/>
            </p:cNvSpPr>
            <p:nvPr/>
          </p:nvSpPr>
          <p:spPr bwMode="auto">
            <a:xfrm>
              <a:off x="1152"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61" name="Line 9">
              <a:extLst>
                <a:ext uri="{FF2B5EF4-FFF2-40B4-BE49-F238E27FC236}">
                  <a16:creationId xmlns:a16="http://schemas.microsoft.com/office/drawing/2014/main" id="{A7347F31-4D05-437B-B708-42491C34AAB6}"/>
                </a:ext>
              </a:extLst>
            </p:cNvPr>
            <p:cNvSpPr>
              <a:spLocks noChangeShapeType="1"/>
            </p:cNvSpPr>
            <p:nvPr/>
          </p:nvSpPr>
          <p:spPr bwMode="auto">
            <a:xfrm flipH="1">
              <a:off x="1296" y="57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62" name="Line 10">
              <a:extLst>
                <a:ext uri="{FF2B5EF4-FFF2-40B4-BE49-F238E27FC236}">
                  <a16:creationId xmlns:a16="http://schemas.microsoft.com/office/drawing/2014/main" id="{74E73E46-61A7-44A5-B2B6-1CDF4F3914DE}"/>
                </a:ext>
              </a:extLst>
            </p:cNvPr>
            <p:cNvSpPr>
              <a:spLocks noChangeShapeType="1"/>
            </p:cNvSpPr>
            <p:nvPr/>
          </p:nvSpPr>
          <p:spPr bwMode="auto">
            <a:xfrm>
              <a:off x="1680" y="57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63" name="Line 11">
              <a:extLst>
                <a:ext uri="{FF2B5EF4-FFF2-40B4-BE49-F238E27FC236}">
                  <a16:creationId xmlns:a16="http://schemas.microsoft.com/office/drawing/2014/main" id="{0DC723D4-5AD1-4665-A89C-25604858B902}"/>
                </a:ext>
              </a:extLst>
            </p:cNvPr>
            <p:cNvSpPr>
              <a:spLocks noChangeShapeType="1"/>
            </p:cNvSpPr>
            <p:nvPr/>
          </p:nvSpPr>
          <p:spPr bwMode="auto">
            <a:xfrm flipH="1">
              <a:off x="1008" y="100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64" name="Line 12">
              <a:extLst>
                <a:ext uri="{FF2B5EF4-FFF2-40B4-BE49-F238E27FC236}">
                  <a16:creationId xmlns:a16="http://schemas.microsoft.com/office/drawing/2014/main" id="{B467C4B4-5508-4AEF-B506-E4C78250B423}"/>
                </a:ext>
              </a:extLst>
            </p:cNvPr>
            <p:cNvSpPr>
              <a:spLocks noChangeShapeType="1"/>
            </p:cNvSpPr>
            <p:nvPr/>
          </p:nvSpPr>
          <p:spPr bwMode="auto">
            <a:xfrm>
              <a:off x="1296" y="100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65" name="Line 13">
              <a:extLst>
                <a:ext uri="{FF2B5EF4-FFF2-40B4-BE49-F238E27FC236}">
                  <a16:creationId xmlns:a16="http://schemas.microsoft.com/office/drawing/2014/main" id="{54543DFF-84F9-4378-839C-EED03F81D479}"/>
                </a:ext>
              </a:extLst>
            </p:cNvPr>
            <p:cNvSpPr>
              <a:spLocks noChangeShapeType="1"/>
            </p:cNvSpPr>
            <p:nvPr/>
          </p:nvSpPr>
          <p:spPr bwMode="auto">
            <a:xfrm flipH="1">
              <a:off x="768"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66" name="Line 14">
              <a:extLst>
                <a:ext uri="{FF2B5EF4-FFF2-40B4-BE49-F238E27FC236}">
                  <a16:creationId xmlns:a16="http://schemas.microsoft.com/office/drawing/2014/main" id="{06027840-C7ED-4D10-9E35-67C187C7CE46}"/>
                </a:ext>
              </a:extLst>
            </p:cNvPr>
            <p:cNvSpPr>
              <a:spLocks noChangeShapeType="1"/>
            </p:cNvSpPr>
            <p:nvPr/>
          </p:nvSpPr>
          <p:spPr bwMode="auto">
            <a:xfrm>
              <a:off x="1008"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51594" name="Group 42">
            <a:extLst>
              <a:ext uri="{FF2B5EF4-FFF2-40B4-BE49-F238E27FC236}">
                <a16:creationId xmlns:a16="http://schemas.microsoft.com/office/drawing/2014/main" id="{0FD17357-C5C4-4B5D-9628-F0D5FD989185}"/>
              </a:ext>
            </a:extLst>
          </p:cNvPr>
          <p:cNvGrpSpPr>
            <a:grpSpLocks/>
          </p:cNvGrpSpPr>
          <p:nvPr/>
        </p:nvGrpSpPr>
        <p:grpSpPr bwMode="auto">
          <a:xfrm>
            <a:off x="5105400" y="838200"/>
            <a:ext cx="2286000" cy="2590800"/>
            <a:chOff x="3072" y="528"/>
            <a:chExt cx="1440" cy="1632"/>
          </a:xfrm>
        </p:grpSpPr>
        <p:sp>
          <p:nvSpPr>
            <p:cNvPr id="151569" name="Oval 17">
              <a:extLst>
                <a:ext uri="{FF2B5EF4-FFF2-40B4-BE49-F238E27FC236}">
                  <a16:creationId xmlns:a16="http://schemas.microsoft.com/office/drawing/2014/main" id="{A879D201-21C9-4E68-AEFA-0F5662ACDDFA}"/>
                </a:ext>
              </a:extLst>
            </p:cNvPr>
            <p:cNvSpPr>
              <a:spLocks noChangeArrowheads="1"/>
            </p:cNvSpPr>
            <p:nvPr/>
          </p:nvSpPr>
          <p:spPr bwMode="auto">
            <a:xfrm>
              <a:off x="3984"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0" name="Oval 18">
              <a:extLst>
                <a:ext uri="{FF2B5EF4-FFF2-40B4-BE49-F238E27FC236}">
                  <a16:creationId xmlns:a16="http://schemas.microsoft.com/office/drawing/2014/main" id="{2D88678C-8183-42CD-8912-7AB7086F5246}"/>
                </a:ext>
              </a:extLst>
            </p:cNvPr>
            <p:cNvSpPr>
              <a:spLocks noChangeArrowheads="1"/>
            </p:cNvSpPr>
            <p:nvPr/>
          </p:nvSpPr>
          <p:spPr bwMode="auto">
            <a:xfrm>
              <a:off x="3600"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1" name="Oval 19">
              <a:extLst>
                <a:ext uri="{FF2B5EF4-FFF2-40B4-BE49-F238E27FC236}">
                  <a16:creationId xmlns:a16="http://schemas.microsoft.com/office/drawing/2014/main" id="{8D667833-A7C3-43E8-824B-C3C4B721C256}"/>
                </a:ext>
              </a:extLst>
            </p:cNvPr>
            <p:cNvSpPr>
              <a:spLocks noChangeArrowheads="1"/>
            </p:cNvSpPr>
            <p:nvPr/>
          </p:nvSpPr>
          <p:spPr bwMode="auto">
            <a:xfrm>
              <a:off x="4416"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2" name="Oval 20">
              <a:extLst>
                <a:ext uri="{FF2B5EF4-FFF2-40B4-BE49-F238E27FC236}">
                  <a16:creationId xmlns:a16="http://schemas.microsoft.com/office/drawing/2014/main" id="{B44FA33C-ADFF-4838-87BC-1AB47C0CE47A}"/>
                </a:ext>
              </a:extLst>
            </p:cNvPr>
            <p:cNvSpPr>
              <a:spLocks noChangeArrowheads="1"/>
            </p:cNvSpPr>
            <p:nvPr/>
          </p:nvSpPr>
          <p:spPr bwMode="auto">
            <a:xfrm>
              <a:off x="331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3" name="Oval 21">
              <a:extLst>
                <a:ext uri="{FF2B5EF4-FFF2-40B4-BE49-F238E27FC236}">
                  <a16:creationId xmlns:a16="http://schemas.microsoft.com/office/drawing/2014/main" id="{EADFA693-6580-4BFD-9DB9-D52973728C5F}"/>
                </a:ext>
              </a:extLst>
            </p:cNvPr>
            <p:cNvSpPr>
              <a:spLocks noChangeArrowheads="1"/>
            </p:cNvSpPr>
            <p:nvPr/>
          </p:nvSpPr>
          <p:spPr bwMode="auto">
            <a:xfrm>
              <a:off x="3888"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4" name="Oval 22">
              <a:extLst>
                <a:ext uri="{FF2B5EF4-FFF2-40B4-BE49-F238E27FC236}">
                  <a16:creationId xmlns:a16="http://schemas.microsoft.com/office/drawing/2014/main" id="{82A61640-3C25-4D72-9BB8-0AD4495A4A65}"/>
                </a:ext>
              </a:extLst>
            </p:cNvPr>
            <p:cNvSpPr>
              <a:spLocks noChangeArrowheads="1"/>
            </p:cNvSpPr>
            <p:nvPr/>
          </p:nvSpPr>
          <p:spPr bwMode="auto">
            <a:xfrm>
              <a:off x="3072"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5" name="Oval 23">
              <a:extLst>
                <a:ext uri="{FF2B5EF4-FFF2-40B4-BE49-F238E27FC236}">
                  <a16:creationId xmlns:a16="http://schemas.microsoft.com/office/drawing/2014/main" id="{0347B7DA-F425-4B18-8DB8-CCA93DA0D703}"/>
                </a:ext>
              </a:extLst>
            </p:cNvPr>
            <p:cNvSpPr>
              <a:spLocks noChangeArrowheads="1"/>
            </p:cNvSpPr>
            <p:nvPr/>
          </p:nvSpPr>
          <p:spPr bwMode="auto">
            <a:xfrm>
              <a:off x="3504"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6" name="Line 24">
              <a:extLst>
                <a:ext uri="{FF2B5EF4-FFF2-40B4-BE49-F238E27FC236}">
                  <a16:creationId xmlns:a16="http://schemas.microsoft.com/office/drawing/2014/main" id="{28C49594-8CED-42FF-A588-1839DEAF00D7}"/>
                </a:ext>
              </a:extLst>
            </p:cNvPr>
            <p:cNvSpPr>
              <a:spLocks noChangeShapeType="1"/>
            </p:cNvSpPr>
            <p:nvPr/>
          </p:nvSpPr>
          <p:spPr bwMode="auto">
            <a:xfrm flipH="1">
              <a:off x="3648" y="57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7" name="Line 25">
              <a:extLst>
                <a:ext uri="{FF2B5EF4-FFF2-40B4-BE49-F238E27FC236}">
                  <a16:creationId xmlns:a16="http://schemas.microsoft.com/office/drawing/2014/main" id="{60E32D04-7146-4F10-836E-F471F43FB76F}"/>
                </a:ext>
              </a:extLst>
            </p:cNvPr>
            <p:cNvSpPr>
              <a:spLocks noChangeShapeType="1"/>
            </p:cNvSpPr>
            <p:nvPr/>
          </p:nvSpPr>
          <p:spPr bwMode="auto">
            <a:xfrm>
              <a:off x="4032" y="57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8" name="Line 26">
              <a:extLst>
                <a:ext uri="{FF2B5EF4-FFF2-40B4-BE49-F238E27FC236}">
                  <a16:creationId xmlns:a16="http://schemas.microsoft.com/office/drawing/2014/main" id="{FA3E93F3-7C12-4A55-B903-4040EA001861}"/>
                </a:ext>
              </a:extLst>
            </p:cNvPr>
            <p:cNvSpPr>
              <a:spLocks noChangeShapeType="1"/>
            </p:cNvSpPr>
            <p:nvPr/>
          </p:nvSpPr>
          <p:spPr bwMode="auto">
            <a:xfrm flipH="1">
              <a:off x="3360" y="100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79" name="Line 27">
              <a:extLst>
                <a:ext uri="{FF2B5EF4-FFF2-40B4-BE49-F238E27FC236}">
                  <a16:creationId xmlns:a16="http://schemas.microsoft.com/office/drawing/2014/main" id="{36597459-B115-4EB0-8268-11A9D36679D8}"/>
                </a:ext>
              </a:extLst>
            </p:cNvPr>
            <p:cNvSpPr>
              <a:spLocks noChangeShapeType="1"/>
            </p:cNvSpPr>
            <p:nvPr/>
          </p:nvSpPr>
          <p:spPr bwMode="auto">
            <a:xfrm>
              <a:off x="3648" y="100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0" name="Line 28">
              <a:extLst>
                <a:ext uri="{FF2B5EF4-FFF2-40B4-BE49-F238E27FC236}">
                  <a16:creationId xmlns:a16="http://schemas.microsoft.com/office/drawing/2014/main" id="{89A90ECB-41BE-46BC-8D41-B998240E315D}"/>
                </a:ext>
              </a:extLst>
            </p:cNvPr>
            <p:cNvSpPr>
              <a:spLocks noChangeShapeType="1"/>
            </p:cNvSpPr>
            <p:nvPr/>
          </p:nvSpPr>
          <p:spPr bwMode="auto">
            <a:xfrm flipH="1">
              <a:off x="3120"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1" name="Line 29">
              <a:extLst>
                <a:ext uri="{FF2B5EF4-FFF2-40B4-BE49-F238E27FC236}">
                  <a16:creationId xmlns:a16="http://schemas.microsoft.com/office/drawing/2014/main" id="{E106EB08-CDEF-416D-BAC0-E354AD7D0676}"/>
                </a:ext>
              </a:extLst>
            </p:cNvPr>
            <p:cNvSpPr>
              <a:spLocks noChangeShapeType="1"/>
            </p:cNvSpPr>
            <p:nvPr/>
          </p:nvSpPr>
          <p:spPr bwMode="auto">
            <a:xfrm>
              <a:off x="3360"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2" name="Oval 30">
              <a:extLst>
                <a:ext uri="{FF2B5EF4-FFF2-40B4-BE49-F238E27FC236}">
                  <a16:creationId xmlns:a16="http://schemas.microsoft.com/office/drawing/2014/main" id="{FB6194D4-2BBB-4ED2-BCF2-5D3D7ACBF13B}"/>
                </a:ext>
              </a:extLst>
            </p:cNvPr>
            <p:cNvSpPr>
              <a:spLocks noChangeArrowheads="1"/>
            </p:cNvSpPr>
            <p:nvPr/>
          </p:nvSpPr>
          <p:spPr bwMode="auto">
            <a:xfrm>
              <a:off x="4032"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3" name="Line 31">
              <a:extLst>
                <a:ext uri="{FF2B5EF4-FFF2-40B4-BE49-F238E27FC236}">
                  <a16:creationId xmlns:a16="http://schemas.microsoft.com/office/drawing/2014/main" id="{41C0E323-2F1D-45FB-9C49-5147E62A0415}"/>
                </a:ext>
              </a:extLst>
            </p:cNvPr>
            <p:cNvSpPr>
              <a:spLocks noChangeShapeType="1"/>
            </p:cNvSpPr>
            <p:nvPr/>
          </p:nvSpPr>
          <p:spPr bwMode="auto">
            <a:xfrm flipH="1" flipV="1">
              <a:off x="4032" y="576"/>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4" name="Oval 32">
              <a:extLst>
                <a:ext uri="{FF2B5EF4-FFF2-40B4-BE49-F238E27FC236}">
                  <a16:creationId xmlns:a16="http://schemas.microsoft.com/office/drawing/2014/main" id="{A0A1E79F-63BF-45D5-8422-01DD8478F104}"/>
                </a:ext>
              </a:extLst>
            </p:cNvPr>
            <p:cNvSpPr>
              <a:spLocks noChangeArrowheads="1"/>
            </p:cNvSpPr>
            <p:nvPr/>
          </p:nvSpPr>
          <p:spPr bwMode="auto">
            <a:xfrm>
              <a:off x="3600" y="14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5" name="Oval 33">
              <a:extLst>
                <a:ext uri="{FF2B5EF4-FFF2-40B4-BE49-F238E27FC236}">
                  <a16:creationId xmlns:a16="http://schemas.microsoft.com/office/drawing/2014/main" id="{8246988B-6465-4CDD-A4B6-B1F14614BA42}"/>
                </a:ext>
              </a:extLst>
            </p:cNvPr>
            <p:cNvSpPr>
              <a:spLocks noChangeArrowheads="1"/>
            </p:cNvSpPr>
            <p:nvPr/>
          </p:nvSpPr>
          <p:spPr bwMode="auto">
            <a:xfrm>
              <a:off x="3264"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6" name="Line 34">
              <a:extLst>
                <a:ext uri="{FF2B5EF4-FFF2-40B4-BE49-F238E27FC236}">
                  <a16:creationId xmlns:a16="http://schemas.microsoft.com/office/drawing/2014/main" id="{60B68547-AB41-40EC-802F-7B558C470B59}"/>
                </a:ext>
              </a:extLst>
            </p:cNvPr>
            <p:cNvSpPr>
              <a:spLocks noChangeShapeType="1"/>
            </p:cNvSpPr>
            <p:nvPr/>
          </p:nvSpPr>
          <p:spPr bwMode="auto">
            <a:xfrm flipH="1">
              <a:off x="3312" y="158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7" name="Line 35">
              <a:extLst>
                <a:ext uri="{FF2B5EF4-FFF2-40B4-BE49-F238E27FC236}">
                  <a16:creationId xmlns:a16="http://schemas.microsoft.com/office/drawing/2014/main" id="{8DE1D982-3152-429B-98CE-3ED0D70973CE}"/>
                </a:ext>
              </a:extLst>
            </p:cNvPr>
            <p:cNvSpPr>
              <a:spLocks noChangeShapeType="1"/>
            </p:cNvSpPr>
            <p:nvPr/>
          </p:nvSpPr>
          <p:spPr bwMode="auto">
            <a:xfrm>
              <a:off x="3648" y="10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8" name="Oval 36">
              <a:extLst>
                <a:ext uri="{FF2B5EF4-FFF2-40B4-BE49-F238E27FC236}">
                  <a16:creationId xmlns:a16="http://schemas.microsoft.com/office/drawing/2014/main" id="{CF3E7418-9912-45C7-A5BA-5D80DB66DA0B}"/>
                </a:ext>
              </a:extLst>
            </p:cNvPr>
            <p:cNvSpPr>
              <a:spLocks noChangeArrowheads="1"/>
            </p:cNvSpPr>
            <p:nvPr/>
          </p:nvSpPr>
          <p:spPr bwMode="auto">
            <a:xfrm>
              <a:off x="3648"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89" name="Oval 37">
              <a:extLst>
                <a:ext uri="{FF2B5EF4-FFF2-40B4-BE49-F238E27FC236}">
                  <a16:creationId xmlns:a16="http://schemas.microsoft.com/office/drawing/2014/main" id="{14D1BE80-9BFC-43B0-861B-9A3A7D576047}"/>
                </a:ext>
              </a:extLst>
            </p:cNvPr>
            <p:cNvSpPr>
              <a:spLocks noChangeArrowheads="1"/>
            </p:cNvSpPr>
            <p:nvPr/>
          </p:nvSpPr>
          <p:spPr bwMode="auto">
            <a:xfrm>
              <a:off x="408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90" name="Line 38">
              <a:extLst>
                <a:ext uri="{FF2B5EF4-FFF2-40B4-BE49-F238E27FC236}">
                  <a16:creationId xmlns:a16="http://schemas.microsoft.com/office/drawing/2014/main" id="{0DD530FD-29AF-4C2F-BAED-3EB66E5F7940}"/>
                </a:ext>
              </a:extLst>
            </p:cNvPr>
            <p:cNvSpPr>
              <a:spLocks noChangeShapeType="1"/>
            </p:cNvSpPr>
            <p:nvPr/>
          </p:nvSpPr>
          <p:spPr bwMode="auto">
            <a:xfrm flipH="1">
              <a:off x="3696"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91" name="Line 39">
              <a:extLst>
                <a:ext uri="{FF2B5EF4-FFF2-40B4-BE49-F238E27FC236}">
                  <a16:creationId xmlns:a16="http://schemas.microsoft.com/office/drawing/2014/main" id="{2554CD6E-751C-4BF5-B2FA-2BF7F43CE68A}"/>
                </a:ext>
              </a:extLst>
            </p:cNvPr>
            <p:cNvSpPr>
              <a:spLocks noChangeShapeType="1"/>
            </p:cNvSpPr>
            <p:nvPr/>
          </p:nvSpPr>
          <p:spPr bwMode="auto">
            <a:xfrm>
              <a:off x="3936"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92" name="Oval 40">
              <a:extLst>
                <a:ext uri="{FF2B5EF4-FFF2-40B4-BE49-F238E27FC236}">
                  <a16:creationId xmlns:a16="http://schemas.microsoft.com/office/drawing/2014/main" id="{097B9540-EC75-47F4-B872-6AA2C35524C6}"/>
                </a:ext>
              </a:extLst>
            </p:cNvPr>
            <p:cNvSpPr>
              <a:spLocks noChangeArrowheads="1"/>
            </p:cNvSpPr>
            <p:nvPr/>
          </p:nvSpPr>
          <p:spPr bwMode="auto">
            <a:xfrm>
              <a:off x="384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93" name="Line 41">
              <a:extLst>
                <a:ext uri="{FF2B5EF4-FFF2-40B4-BE49-F238E27FC236}">
                  <a16:creationId xmlns:a16="http://schemas.microsoft.com/office/drawing/2014/main" id="{82DCADBB-A169-47DB-875C-16DF0DF92AED}"/>
                </a:ext>
              </a:extLst>
            </p:cNvPr>
            <p:cNvSpPr>
              <a:spLocks noChangeShapeType="1"/>
            </p:cNvSpPr>
            <p:nvPr/>
          </p:nvSpPr>
          <p:spPr bwMode="auto">
            <a:xfrm flipH="1">
              <a:off x="3888" y="158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51629" name="Group 77">
            <a:extLst>
              <a:ext uri="{FF2B5EF4-FFF2-40B4-BE49-F238E27FC236}">
                <a16:creationId xmlns:a16="http://schemas.microsoft.com/office/drawing/2014/main" id="{68E72CF6-67F9-4CF7-BEFE-E6DB747DD896}"/>
              </a:ext>
            </a:extLst>
          </p:cNvPr>
          <p:cNvGrpSpPr>
            <a:grpSpLocks/>
          </p:cNvGrpSpPr>
          <p:nvPr/>
        </p:nvGrpSpPr>
        <p:grpSpPr bwMode="auto">
          <a:xfrm>
            <a:off x="2438400" y="3733800"/>
            <a:ext cx="2971800" cy="2667000"/>
            <a:chOff x="1392" y="2352"/>
            <a:chExt cx="1872" cy="1680"/>
          </a:xfrm>
        </p:grpSpPr>
        <p:sp>
          <p:nvSpPr>
            <p:cNvPr id="151596" name="Oval 44">
              <a:extLst>
                <a:ext uri="{FF2B5EF4-FFF2-40B4-BE49-F238E27FC236}">
                  <a16:creationId xmlns:a16="http://schemas.microsoft.com/office/drawing/2014/main" id="{946D4545-70A4-45B6-B85E-B0804BEF9482}"/>
                </a:ext>
              </a:extLst>
            </p:cNvPr>
            <p:cNvSpPr>
              <a:spLocks noChangeArrowheads="1"/>
            </p:cNvSpPr>
            <p:nvPr/>
          </p:nvSpPr>
          <p:spPr bwMode="auto">
            <a:xfrm>
              <a:off x="2304"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97" name="Oval 45">
              <a:extLst>
                <a:ext uri="{FF2B5EF4-FFF2-40B4-BE49-F238E27FC236}">
                  <a16:creationId xmlns:a16="http://schemas.microsoft.com/office/drawing/2014/main" id="{A3221244-39E3-4FF4-8BE5-43C9D3F4F541}"/>
                </a:ext>
              </a:extLst>
            </p:cNvPr>
            <p:cNvSpPr>
              <a:spLocks noChangeArrowheads="1"/>
            </p:cNvSpPr>
            <p:nvPr/>
          </p:nvSpPr>
          <p:spPr bwMode="auto">
            <a:xfrm>
              <a:off x="1920" y="278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98" name="Oval 46">
              <a:extLst>
                <a:ext uri="{FF2B5EF4-FFF2-40B4-BE49-F238E27FC236}">
                  <a16:creationId xmlns:a16="http://schemas.microsoft.com/office/drawing/2014/main" id="{0D6DE2DB-43B4-4ED3-B669-E9E6A07534F3}"/>
                </a:ext>
              </a:extLst>
            </p:cNvPr>
            <p:cNvSpPr>
              <a:spLocks noChangeArrowheads="1"/>
            </p:cNvSpPr>
            <p:nvPr/>
          </p:nvSpPr>
          <p:spPr bwMode="auto">
            <a:xfrm>
              <a:off x="2736" y="278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599" name="Oval 47">
              <a:extLst>
                <a:ext uri="{FF2B5EF4-FFF2-40B4-BE49-F238E27FC236}">
                  <a16:creationId xmlns:a16="http://schemas.microsoft.com/office/drawing/2014/main" id="{5CABB73F-756F-409A-B228-8EF424CA493D}"/>
                </a:ext>
              </a:extLst>
            </p:cNvPr>
            <p:cNvSpPr>
              <a:spLocks noChangeArrowheads="1"/>
            </p:cNvSpPr>
            <p:nvPr/>
          </p:nvSpPr>
          <p:spPr bwMode="auto">
            <a:xfrm>
              <a:off x="1632" y="33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0" name="Oval 48">
              <a:extLst>
                <a:ext uri="{FF2B5EF4-FFF2-40B4-BE49-F238E27FC236}">
                  <a16:creationId xmlns:a16="http://schemas.microsoft.com/office/drawing/2014/main" id="{91192CCE-3740-450F-A6C5-AADB99F5D5BA}"/>
                </a:ext>
              </a:extLst>
            </p:cNvPr>
            <p:cNvSpPr>
              <a:spLocks noChangeArrowheads="1"/>
            </p:cNvSpPr>
            <p:nvPr/>
          </p:nvSpPr>
          <p:spPr bwMode="auto">
            <a:xfrm>
              <a:off x="2208" y="33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1" name="Oval 49">
              <a:extLst>
                <a:ext uri="{FF2B5EF4-FFF2-40B4-BE49-F238E27FC236}">
                  <a16:creationId xmlns:a16="http://schemas.microsoft.com/office/drawing/2014/main" id="{9891ED39-8131-409B-8ED7-01E5CCF254F6}"/>
                </a:ext>
              </a:extLst>
            </p:cNvPr>
            <p:cNvSpPr>
              <a:spLocks noChangeArrowheads="1"/>
            </p:cNvSpPr>
            <p:nvPr/>
          </p:nvSpPr>
          <p:spPr bwMode="auto">
            <a:xfrm>
              <a:off x="1392" y="38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2" name="Oval 50">
              <a:extLst>
                <a:ext uri="{FF2B5EF4-FFF2-40B4-BE49-F238E27FC236}">
                  <a16:creationId xmlns:a16="http://schemas.microsoft.com/office/drawing/2014/main" id="{8FD7B36D-AFE6-4AAB-B683-6834147795CD}"/>
                </a:ext>
              </a:extLst>
            </p:cNvPr>
            <p:cNvSpPr>
              <a:spLocks noChangeArrowheads="1"/>
            </p:cNvSpPr>
            <p:nvPr/>
          </p:nvSpPr>
          <p:spPr bwMode="auto">
            <a:xfrm>
              <a:off x="1824" y="38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3" name="Line 51">
              <a:extLst>
                <a:ext uri="{FF2B5EF4-FFF2-40B4-BE49-F238E27FC236}">
                  <a16:creationId xmlns:a16="http://schemas.microsoft.com/office/drawing/2014/main" id="{27A8714E-F158-4359-96A4-8BD6FDB4CC7E}"/>
                </a:ext>
              </a:extLst>
            </p:cNvPr>
            <p:cNvSpPr>
              <a:spLocks noChangeShapeType="1"/>
            </p:cNvSpPr>
            <p:nvPr/>
          </p:nvSpPr>
          <p:spPr bwMode="auto">
            <a:xfrm flipH="1">
              <a:off x="1968" y="2400"/>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4" name="Line 52">
              <a:extLst>
                <a:ext uri="{FF2B5EF4-FFF2-40B4-BE49-F238E27FC236}">
                  <a16:creationId xmlns:a16="http://schemas.microsoft.com/office/drawing/2014/main" id="{288C1275-6DD2-4C80-B6EF-AC401FC72002}"/>
                </a:ext>
              </a:extLst>
            </p:cNvPr>
            <p:cNvSpPr>
              <a:spLocks noChangeShapeType="1"/>
            </p:cNvSpPr>
            <p:nvPr/>
          </p:nvSpPr>
          <p:spPr bwMode="auto">
            <a:xfrm>
              <a:off x="2352" y="2400"/>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5" name="Line 53">
              <a:extLst>
                <a:ext uri="{FF2B5EF4-FFF2-40B4-BE49-F238E27FC236}">
                  <a16:creationId xmlns:a16="http://schemas.microsoft.com/office/drawing/2014/main" id="{96F2F42B-5E1E-4D7C-9DC4-D83BF76BA938}"/>
                </a:ext>
              </a:extLst>
            </p:cNvPr>
            <p:cNvSpPr>
              <a:spLocks noChangeShapeType="1"/>
            </p:cNvSpPr>
            <p:nvPr/>
          </p:nvSpPr>
          <p:spPr bwMode="auto">
            <a:xfrm flipH="1">
              <a:off x="1680" y="2832"/>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6" name="Line 54">
              <a:extLst>
                <a:ext uri="{FF2B5EF4-FFF2-40B4-BE49-F238E27FC236}">
                  <a16:creationId xmlns:a16="http://schemas.microsoft.com/office/drawing/2014/main" id="{23F1CC53-FF58-497B-8DEA-8608423A977F}"/>
                </a:ext>
              </a:extLst>
            </p:cNvPr>
            <p:cNvSpPr>
              <a:spLocks noChangeShapeType="1"/>
            </p:cNvSpPr>
            <p:nvPr/>
          </p:nvSpPr>
          <p:spPr bwMode="auto">
            <a:xfrm>
              <a:off x="1968" y="2832"/>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7" name="Line 55">
              <a:extLst>
                <a:ext uri="{FF2B5EF4-FFF2-40B4-BE49-F238E27FC236}">
                  <a16:creationId xmlns:a16="http://schemas.microsoft.com/office/drawing/2014/main" id="{E1615EAB-063F-4699-AC37-2707327CCBFA}"/>
                </a:ext>
              </a:extLst>
            </p:cNvPr>
            <p:cNvSpPr>
              <a:spLocks noChangeShapeType="1"/>
            </p:cNvSpPr>
            <p:nvPr/>
          </p:nvSpPr>
          <p:spPr bwMode="auto">
            <a:xfrm flipH="1">
              <a:off x="1440" y="3408"/>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8" name="Line 56">
              <a:extLst>
                <a:ext uri="{FF2B5EF4-FFF2-40B4-BE49-F238E27FC236}">
                  <a16:creationId xmlns:a16="http://schemas.microsoft.com/office/drawing/2014/main" id="{A185D7A1-8523-4E25-89FA-1F9CBA17A3CB}"/>
                </a:ext>
              </a:extLst>
            </p:cNvPr>
            <p:cNvSpPr>
              <a:spLocks noChangeShapeType="1"/>
            </p:cNvSpPr>
            <p:nvPr/>
          </p:nvSpPr>
          <p:spPr bwMode="auto">
            <a:xfrm>
              <a:off x="1680" y="3408"/>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09" name="Oval 57">
              <a:extLst>
                <a:ext uri="{FF2B5EF4-FFF2-40B4-BE49-F238E27FC236}">
                  <a16:creationId xmlns:a16="http://schemas.microsoft.com/office/drawing/2014/main" id="{3FBB90A4-9389-4B84-B080-9D75A3F96358}"/>
                </a:ext>
              </a:extLst>
            </p:cNvPr>
            <p:cNvSpPr>
              <a:spLocks noChangeArrowheads="1"/>
            </p:cNvSpPr>
            <p:nvPr/>
          </p:nvSpPr>
          <p:spPr bwMode="auto">
            <a:xfrm>
              <a:off x="2352" y="278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10" name="Line 58">
              <a:extLst>
                <a:ext uri="{FF2B5EF4-FFF2-40B4-BE49-F238E27FC236}">
                  <a16:creationId xmlns:a16="http://schemas.microsoft.com/office/drawing/2014/main" id="{FA1CAC32-788A-4A2A-A78A-62E2637DBA30}"/>
                </a:ext>
              </a:extLst>
            </p:cNvPr>
            <p:cNvSpPr>
              <a:spLocks noChangeShapeType="1"/>
            </p:cNvSpPr>
            <p:nvPr/>
          </p:nvSpPr>
          <p:spPr bwMode="auto">
            <a:xfrm flipH="1" flipV="1">
              <a:off x="2352" y="2400"/>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12" name="Oval 60">
              <a:extLst>
                <a:ext uri="{FF2B5EF4-FFF2-40B4-BE49-F238E27FC236}">
                  <a16:creationId xmlns:a16="http://schemas.microsoft.com/office/drawing/2014/main" id="{4B1E90D1-0883-4657-9846-8B46FEF4FC0C}"/>
                </a:ext>
              </a:extLst>
            </p:cNvPr>
            <p:cNvSpPr>
              <a:spLocks noChangeArrowheads="1"/>
            </p:cNvSpPr>
            <p:nvPr/>
          </p:nvSpPr>
          <p:spPr bwMode="auto">
            <a:xfrm>
              <a:off x="1584" y="38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13" name="Line 61">
              <a:extLst>
                <a:ext uri="{FF2B5EF4-FFF2-40B4-BE49-F238E27FC236}">
                  <a16:creationId xmlns:a16="http://schemas.microsoft.com/office/drawing/2014/main" id="{EEDBF578-D860-4FF6-8F82-4F5ABE47F4B9}"/>
                </a:ext>
              </a:extLst>
            </p:cNvPr>
            <p:cNvSpPr>
              <a:spLocks noChangeShapeType="1"/>
            </p:cNvSpPr>
            <p:nvPr/>
          </p:nvSpPr>
          <p:spPr bwMode="auto">
            <a:xfrm flipH="1">
              <a:off x="1632" y="3408"/>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15" name="Oval 63">
              <a:extLst>
                <a:ext uri="{FF2B5EF4-FFF2-40B4-BE49-F238E27FC236}">
                  <a16:creationId xmlns:a16="http://schemas.microsoft.com/office/drawing/2014/main" id="{CFA2386F-3449-47D2-B0AA-A357F0B2E4D5}"/>
                </a:ext>
              </a:extLst>
            </p:cNvPr>
            <p:cNvSpPr>
              <a:spLocks noChangeArrowheads="1"/>
            </p:cNvSpPr>
            <p:nvPr/>
          </p:nvSpPr>
          <p:spPr bwMode="auto">
            <a:xfrm>
              <a:off x="1968" y="38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16" name="Oval 64">
              <a:extLst>
                <a:ext uri="{FF2B5EF4-FFF2-40B4-BE49-F238E27FC236}">
                  <a16:creationId xmlns:a16="http://schemas.microsoft.com/office/drawing/2014/main" id="{3D06C9A4-7C56-4F97-9948-EBB946987164}"/>
                </a:ext>
              </a:extLst>
            </p:cNvPr>
            <p:cNvSpPr>
              <a:spLocks noChangeArrowheads="1"/>
            </p:cNvSpPr>
            <p:nvPr/>
          </p:nvSpPr>
          <p:spPr bwMode="auto">
            <a:xfrm>
              <a:off x="2976" y="33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17" name="Line 65">
              <a:extLst>
                <a:ext uri="{FF2B5EF4-FFF2-40B4-BE49-F238E27FC236}">
                  <a16:creationId xmlns:a16="http://schemas.microsoft.com/office/drawing/2014/main" id="{E947DF3B-99B1-4D66-A8D3-0190ABBD02D7}"/>
                </a:ext>
              </a:extLst>
            </p:cNvPr>
            <p:cNvSpPr>
              <a:spLocks noChangeShapeType="1"/>
            </p:cNvSpPr>
            <p:nvPr/>
          </p:nvSpPr>
          <p:spPr bwMode="auto">
            <a:xfrm flipH="1">
              <a:off x="2016" y="3408"/>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18" name="Line 66">
              <a:extLst>
                <a:ext uri="{FF2B5EF4-FFF2-40B4-BE49-F238E27FC236}">
                  <a16:creationId xmlns:a16="http://schemas.microsoft.com/office/drawing/2014/main" id="{B28367E1-B6A0-47AF-BBE8-43C9275313D2}"/>
                </a:ext>
              </a:extLst>
            </p:cNvPr>
            <p:cNvSpPr>
              <a:spLocks noChangeShapeType="1"/>
            </p:cNvSpPr>
            <p:nvPr/>
          </p:nvSpPr>
          <p:spPr bwMode="auto">
            <a:xfrm>
              <a:off x="2832" y="2880"/>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19" name="Oval 67">
              <a:extLst>
                <a:ext uri="{FF2B5EF4-FFF2-40B4-BE49-F238E27FC236}">
                  <a16:creationId xmlns:a16="http://schemas.microsoft.com/office/drawing/2014/main" id="{22928A4A-31B6-4D1C-BE9B-EC31E95B9596}"/>
                </a:ext>
              </a:extLst>
            </p:cNvPr>
            <p:cNvSpPr>
              <a:spLocks noChangeArrowheads="1"/>
            </p:cNvSpPr>
            <p:nvPr/>
          </p:nvSpPr>
          <p:spPr bwMode="auto">
            <a:xfrm>
              <a:off x="2160" y="38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0" name="Line 68">
              <a:extLst>
                <a:ext uri="{FF2B5EF4-FFF2-40B4-BE49-F238E27FC236}">
                  <a16:creationId xmlns:a16="http://schemas.microsoft.com/office/drawing/2014/main" id="{D067EC2A-F7AF-4CB6-A69A-EE8A54F8F75C}"/>
                </a:ext>
              </a:extLst>
            </p:cNvPr>
            <p:cNvSpPr>
              <a:spLocks noChangeShapeType="1"/>
            </p:cNvSpPr>
            <p:nvPr/>
          </p:nvSpPr>
          <p:spPr bwMode="auto">
            <a:xfrm flipH="1">
              <a:off x="2208" y="3408"/>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1" name="Oval 69">
              <a:extLst>
                <a:ext uri="{FF2B5EF4-FFF2-40B4-BE49-F238E27FC236}">
                  <a16:creationId xmlns:a16="http://schemas.microsoft.com/office/drawing/2014/main" id="{B16AFADA-3D5B-4324-A8A5-63E558AF8CCA}"/>
                </a:ext>
              </a:extLst>
            </p:cNvPr>
            <p:cNvSpPr>
              <a:spLocks noChangeArrowheads="1"/>
            </p:cNvSpPr>
            <p:nvPr/>
          </p:nvSpPr>
          <p:spPr bwMode="auto">
            <a:xfrm>
              <a:off x="2400" y="38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2" name="Oval 70">
              <a:extLst>
                <a:ext uri="{FF2B5EF4-FFF2-40B4-BE49-F238E27FC236}">
                  <a16:creationId xmlns:a16="http://schemas.microsoft.com/office/drawing/2014/main" id="{88AB5086-8633-496F-A87F-947AF4CBC506}"/>
                </a:ext>
              </a:extLst>
            </p:cNvPr>
            <p:cNvSpPr>
              <a:spLocks noChangeArrowheads="1"/>
            </p:cNvSpPr>
            <p:nvPr/>
          </p:nvSpPr>
          <p:spPr bwMode="auto">
            <a:xfrm>
              <a:off x="2736" y="39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3" name="Oval 71">
              <a:extLst>
                <a:ext uri="{FF2B5EF4-FFF2-40B4-BE49-F238E27FC236}">
                  <a16:creationId xmlns:a16="http://schemas.microsoft.com/office/drawing/2014/main" id="{E0EB593B-7D48-4A6C-B84C-73AE4F023F90}"/>
                </a:ext>
              </a:extLst>
            </p:cNvPr>
            <p:cNvSpPr>
              <a:spLocks noChangeArrowheads="1"/>
            </p:cNvSpPr>
            <p:nvPr/>
          </p:nvSpPr>
          <p:spPr bwMode="auto">
            <a:xfrm>
              <a:off x="3168" y="39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4" name="Line 72">
              <a:extLst>
                <a:ext uri="{FF2B5EF4-FFF2-40B4-BE49-F238E27FC236}">
                  <a16:creationId xmlns:a16="http://schemas.microsoft.com/office/drawing/2014/main" id="{93B13F6D-2645-4599-803E-245EB40B9662}"/>
                </a:ext>
              </a:extLst>
            </p:cNvPr>
            <p:cNvSpPr>
              <a:spLocks noChangeShapeType="1"/>
            </p:cNvSpPr>
            <p:nvPr/>
          </p:nvSpPr>
          <p:spPr bwMode="auto">
            <a:xfrm flipH="1">
              <a:off x="2784" y="3456"/>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5" name="Line 73">
              <a:extLst>
                <a:ext uri="{FF2B5EF4-FFF2-40B4-BE49-F238E27FC236}">
                  <a16:creationId xmlns:a16="http://schemas.microsoft.com/office/drawing/2014/main" id="{345CDF24-C9FD-48AF-845B-2B700ED31867}"/>
                </a:ext>
              </a:extLst>
            </p:cNvPr>
            <p:cNvSpPr>
              <a:spLocks noChangeShapeType="1"/>
            </p:cNvSpPr>
            <p:nvPr/>
          </p:nvSpPr>
          <p:spPr bwMode="auto">
            <a:xfrm>
              <a:off x="3024" y="3456"/>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6" name="Oval 74">
              <a:extLst>
                <a:ext uri="{FF2B5EF4-FFF2-40B4-BE49-F238E27FC236}">
                  <a16:creationId xmlns:a16="http://schemas.microsoft.com/office/drawing/2014/main" id="{511CA913-ADFC-48F4-99DF-EC54CE8AB6E9}"/>
                </a:ext>
              </a:extLst>
            </p:cNvPr>
            <p:cNvSpPr>
              <a:spLocks noChangeArrowheads="1"/>
            </p:cNvSpPr>
            <p:nvPr/>
          </p:nvSpPr>
          <p:spPr bwMode="auto">
            <a:xfrm>
              <a:off x="2928" y="39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7" name="Line 75">
              <a:extLst>
                <a:ext uri="{FF2B5EF4-FFF2-40B4-BE49-F238E27FC236}">
                  <a16:creationId xmlns:a16="http://schemas.microsoft.com/office/drawing/2014/main" id="{3FC1F9B5-2702-4151-9196-18C9959CFC0D}"/>
                </a:ext>
              </a:extLst>
            </p:cNvPr>
            <p:cNvSpPr>
              <a:spLocks noChangeShapeType="1"/>
            </p:cNvSpPr>
            <p:nvPr/>
          </p:nvSpPr>
          <p:spPr bwMode="auto">
            <a:xfrm flipH="1">
              <a:off x="2976" y="3456"/>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1628" name="Line 76">
              <a:extLst>
                <a:ext uri="{FF2B5EF4-FFF2-40B4-BE49-F238E27FC236}">
                  <a16:creationId xmlns:a16="http://schemas.microsoft.com/office/drawing/2014/main" id="{98A0CF4E-A42D-4C48-8E15-3B4E16DB89FE}"/>
                </a:ext>
              </a:extLst>
            </p:cNvPr>
            <p:cNvSpPr>
              <a:spLocks noChangeShapeType="1"/>
            </p:cNvSpPr>
            <p:nvPr/>
          </p:nvSpPr>
          <p:spPr bwMode="auto">
            <a:xfrm>
              <a:off x="2256" y="3408"/>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51631" name="Rectangle 79">
            <a:extLst>
              <a:ext uri="{FF2B5EF4-FFF2-40B4-BE49-F238E27FC236}">
                <a16:creationId xmlns:a16="http://schemas.microsoft.com/office/drawing/2014/main" id="{FEDA40A8-FFE3-4DA0-8BD0-F012CFE3758E}"/>
              </a:ext>
            </a:extLst>
          </p:cNvPr>
          <p:cNvSpPr>
            <a:spLocks noChangeArrowheads="1"/>
          </p:cNvSpPr>
          <p:nvPr/>
        </p:nvSpPr>
        <p:spPr bwMode="auto">
          <a:xfrm>
            <a:off x="609600" y="1524000"/>
            <a:ext cx="609600" cy="304800"/>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1567"/>
                                        </p:tgtEl>
                                        <p:attrNameLst>
                                          <p:attrName>style.visibility</p:attrName>
                                        </p:attrNameLst>
                                      </p:cBhvr>
                                      <p:to>
                                        <p:strVal val="visible"/>
                                      </p:to>
                                    </p:set>
                                    <p:animEffect transition="in" filter="dissolve">
                                      <p:cBhvr>
                                        <p:cTn id="7" dur="500"/>
                                        <p:tgtEl>
                                          <p:spTgt spid="1515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1594"/>
                                        </p:tgtEl>
                                        <p:attrNameLst>
                                          <p:attrName>style.visibility</p:attrName>
                                        </p:attrNameLst>
                                      </p:cBhvr>
                                      <p:to>
                                        <p:strVal val="visible"/>
                                      </p:to>
                                    </p:set>
                                    <p:animEffect transition="in" filter="dissolve">
                                      <p:cBhvr>
                                        <p:cTn id="12" dur="500"/>
                                        <p:tgtEl>
                                          <p:spTgt spid="15159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1629"/>
                                        </p:tgtEl>
                                        <p:attrNameLst>
                                          <p:attrName>style.visibility</p:attrName>
                                        </p:attrNameLst>
                                      </p:cBhvr>
                                      <p:to>
                                        <p:strVal val="visible"/>
                                      </p:to>
                                    </p:set>
                                    <p:animEffect transition="in" filter="dissolve">
                                      <p:cBhvr>
                                        <p:cTn id="17" dur="500"/>
                                        <p:tgtEl>
                                          <p:spTgt spid="151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29B8814D-C2D4-4E07-99CD-B70269EABE1C}"/>
              </a:ext>
            </a:extLst>
          </p:cNvPr>
          <p:cNvSpPr>
            <a:spLocks noGrp="1" noChangeArrowheads="1"/>
          </p:cNvSpPr>
          <p:nvPr>
            <p:ph type="title"/>
          </p:nvPr>
        </p:nvSpPr>
        <p:spPr/>
        <p:txBody>
          <a:bodyPr/>
          <a:lstStyle/>
          <a:p>
            <a:r>
              <a:rPr lang="en-US" altLang="en-US"/>
              <a:t>Ordered Rooted Tree</a:t>
            </a:r>
          </a:p>
        </p:txBody>
      </p:sp>
      <p:sp>
        <p:nvSpPr>
          <p:cNvPr id="152579" name="Text Box 3">
            <a:extLst>
              <a:ext uri="{FF2B5EF4-FFF2-40B4-BE49-F238E27FC236}">
                <a16:creationId xmlns:a16="http://schemas.microsoft.com/office/drawing/2014/main" id="{401066E3-1F9A-456F-9CE6-A25A6043C922}"/>
              </a:ext>
            </a:extLst>
          </p:cNvPr>
          <p:cNvSpPr txBox="1">
            <a:spLocks noChangeArrowheads="1"/>
          </p:cNvSpPr>
          <p:nvPr/>
        </p:nvSpPr>
        <p:spPr bwMode="auto">
          <a:xfrm>
            <a:off x="1219200" y="2133600"/>
            <a:ext cx="7162800" cy="252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An ordered rooted tree is a rooted tree where the children of each internal vertex are ordered.  Ordered trees are drawn so that the children of each internal vertex are shown in order from left to right.</a:t>
            </a:r>
          </a:p>
        </p:txBody>
      </p:sp>
    </p:spTree>
  </p:cSld>
  <p:clrMapOvr>
    <a:masterClrMapping/>
  </p:clrMapOvr>
  <p:transition spd="slow">
    <p:wip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A6A53A56-82B0-40CF-BDD3-CF88650170AD}"/>
              </a:ext>
            </a:extLst>
          </p:cNvPr>
          <p:cNvSpPr>
            <a:spLocks noGrp="1" noChangeArrowheads="1"/>
          </p:cNvSpPr>
          <p:nvPr>
            <p:ph type="title"/>
          </p:nvPr>
        </p:nvSpPr>
        <p:spPr/>
        <p:txBody>
          <a:bodyPr/>
          <a:lstStyle/>
          <a:p>
            <a:r>
              <a:rPr lang="en-US" altLang="en-US"/>
              <a:t>Properties of Trees</a:t>
            </a:r>
          </a:p>
        </p:txBody>
      </p:sp>
      <p:sp>
        <p:nvSpPr>
          <p:cNvPr id="153603" name="Text Box 3">
            <a:extLst>
              <a:ext uri="{FF2B5EF4-FFF2-40B4-BE49-F238E27FC236}">
                <a16:creationId xmlns:a16="http://schemas.microsoft.com/office/drawing/2014/main" id="{3823506C-2C29-4575-8C6A-2173739224E9}"/>
              </a:ext>
            </a:extLst>
          </p:cNvPr>
          <p:cNvSpPr txBox="1">
            <a:spLocks noChangeArrowheads="1"/>
          </p:cNvSpPr>
          <p:nvPr/>
        </p:nvSpPr>
        <p:spPr bwMode="auto">
          <a:xfrm>
            <a:off x="1143000" y="1981200"/>
            <a:ext cx="74676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 tree with n vertices has n-1 edges.</a:t>
            </a:r>
          </a:p>
        </p:txBody>
      </p:sp>
      <p:grpSp>
        <p:nvGrpSpPr>
          <p:cNvPr id="153630" name="Group 30">
            <a:extLst>
              <a:ext uri="{FF2B5EF4-FFF2-40B4-BE49-F238E27FC236}">
                <a16:creationId xmlns:a16="http://schemas.microsoft.com/office/drawing/2014/main" id="{2D7D950C-ABFF-49D4-A175-83FFEB34F3D5}"/>
              </a:ext>
            </a:extLst>
          </p:cNvPr>
          <p:cNvGrpSpPr>
            <a:grpSpLocks/>
          </p:cNvGrpSpPr>
          <p:nvPr/>
        </p:nvGrpSpPr>
        <p:grpSpPr bwMode="auto">
          <a:xfrm>
            <a:off x="4419600" y="3048000"/>
            <a:ext cx="2286000" cy="2590800"/>
            <a:chOff x="2784" y="1920"/>
            <a:chExt cx="1440" cy="1632"/>
          </a:xfrm>
        </p:grpSpPr>
        <p:sp>
          <p:nvSpPr>
            <p:cNvPr id="153605" name="Oval 5">
              <a:extLst>
                <a:ext uri="{FF2B5EF4-FFF2-40B4-BE49-F238E27FC236}">
                  <a16:creationId xmlns:a16="http://schemas.microsoft.com/office/drawing/2014/main" id="{D1F1CC8F-D934-4260-867E-3A5DEDC14EFA}"/>
                </a:ext>
              </a:extLst>
            </p:cNvPr>
            <p:cNvSpPr>
              <a:spLocks noChangeArrowheads="1"/>
            </p:cNvSpPr>
            <p:nvPr/>
          </p:nvSpPr>
          <p:spPr bwMode="auto">
            <a:xfrm>
              <a:off x="3696" y="192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06" name="Oval 6">
              <a:extLst>
                <a:ext uri="{FF2B5EF4-FFF2-40B4-BE49-F238E27FC236}">
                  <a16:creationId xmlns:a16="http://schemas.microsoft.com/office/drawing/2014/main" id="{4D189AB3-193F-43A7-8F5E-485A8CE85521}"/>
                </a:ext>
              </a:extLst>
            </p:cNvPr>
            <p:cNvSpPr>
              <a:spLocks noChangeArrowheads="1"/>
            </p:cNvSpPr>
            <p:nvPr/>
          </p:nvSpPr>
          <p:spPr bwMode="auto">
            <a:xfrm>
              <a:off x="3312"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07" name="Oval 7">
              <a:extLst>
                <a:ext uri="{FF2B5EF4-FFF2-40B4-BE49-F238E27FC236}">
                  <a16:creationId xmlns:a16="http://schemas.microsoft.com/office/drawing/2014/main" id="{BC7711CB-588B-4C82-B241-E0CD6428DCA0}"/>
                </a:ext>
              </a:extLst>
            </p:cNvPr>
            <p:cNvSpPr>
              <a:spLocks noChangeArrowheads="1"/>
            </p:cNvSpPr>
            <p:nvPr/>
          </p:nvSpPr>
          <p:spPr bwMode="auto">
            <a:xfrm>
              <a:off x="4128"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08" name="Oval 8">
              <a:extLst>
                <a:ext uri="{FF2B5EF4-FFF2-40B4-BE49-F238E27FC236}">
                  <a16:creationId xmlns:a16="http://schemas.microsoft.com/office/drawing/2014/main" id="{1E0D8445-7562-44D2-863A-A49E92EF3463}"/>
                </a:ext>
              </a:extLst>
            </p:cNvPr>
            <p:cNvSpPr>
              <a:spLocks noChangeArrowheads="1"/>
            </p:cNvSpPr>
            <p:nvPr/>
          </p:nvSpPr>
          <p:spPr bwMode="auto">
            <a:xfrm>
              <a:off x="3024"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09" name="Oval 9">
              <a:extLst>
                <a:ext uri="{FF2B5EF4-FFF2-40B4-BE49-F238E27FC236}">
                  <a16:creationId xmlns:a16="http://schemas.microsoft.com/office/drawing/2014/main" id="{5B7EE44C-B35A-42A1-871E-C068B05D7728}"/>
                </a:ext>
              </a:extLst>
            </p:cNvPr>
            <p:cNvSpPr>
              <a:spLocks noChangeArrowheads="1"/>
            </p:cNvSpPr>
            <p:nvPr/>
          </p:nvSpPr>
          <p:spPr bwMode="auto">
            <a:xfrm>
              <a:off x="3600" y="29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0" name="Oval 10">
              <a:extLst>
                <a:ext uri="{FF2B5EF4-FFF2-40B4-BE49-F238E27FC236}">
                  <a16:creationId xmlns:a16="http://schemas.microsoft.com/office/drawing/2014/main" id="{48E9217E-A6EB-4DE4-820C-17BDC5F7E025}"/>
                </a:ext>
              </a:extLst>
            </p:cNvPr>
            <p:cNvSpPr>
              <a:spLocks noChangeArrowheads="1"/>
            </p:cNvSpPr>
            <p:nvPr/>
          </p:nvSpPr>
          <p:spPr bwMode="auto">
            <a:xfrm>
              <a:off x="2784" y="34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1" name="Oval 11">
              <a:extLst>
                <a:ext uri="{FF2B5EF4-FFF2-40B4-BE49-F238E27FC236}">
                  <a16:creationId xmlns:a16="http://schemas.microsoft.com/office/drawing/2014/main" id="{F5F0BC83-6EC4-40B5-B3DA-9FCBBF8835A5}"/>
                </a:ext>
              </a:extLst>
            </p:cNvPr>
            <p:cNvSpPr>
              <a:spLocks noChangeArrowheads="1"/>
            </p:cNvSpPr>
            <p:nvPr/>
          </p:nvSpPr>
          <p:spPr bwMode="auto">
            <a:xfrm>
              <a:off x="3216" y="34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2" name="Line 12">
              <a:extLst>
                <a:ext uri="{FF2B5EF4-FFF2-40B4-BE49-F238E27FC236}">
                  <a16:creationId xmlns:a16="http://schemas.microsoft.com/office/drawing/2014/main" id="{5A358410-3280-4CB2-8617-5AB702C3C700}"/>
                </a:ext>
              </a:extLst>
            </p:cNvPr>
            <p:cNvSpPr>
              <a:spLocks noChangeShapeType="1"/>
            </p:cNvSpPr>
            <p:nvPr/>
          </p:nvSpPr>
          <p:spPr bwMode="auto">
            <a:xfrm flipH="1">
              <a:off x="3360" y="1968"/>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3" name="Line 13">
              <a:extLst>
                <a:ext uri="{FF2B5EF4-FFF2-40B4-BE49-F238E27FC236}">
                  <a16:creationId xmlns:a16="http://schemas.microsoft.com/office/drawing/2014/main" id="{6B037D83-13EE-49B4-80AB-6A6C39C98F70}"/>
                </a:ext>
              </a:extLst>
            </p:cNvPr>
            <p:cNvSpPr>
              <a:spLocks noChangeShapeType="1"/>
            </p:cNvSpPr>
            <p:nvPr/>
          </p:nvSpPr>
          <p:spPr bwMode="auto">
            <a:xfrm>
              <a:off x="3744" y="1968"/>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4" name="Line 14">
              <a:extLst>
                <a:ext uri="{FF2B5EF4-FFF2-40B4-BE49-F238E27FC236}">
                  <a16:creationId xmlns:a16="http://schemas.microsoft.com/office/drawing/2014/main" id="{8E5EA578-0FD2-48CD-8FF6-870AB8BEB01E}"/>
                </a:ext>
              </a:extLst>
            </p:cNvPr>
            <p:cNvSpPr>
              <a:spLocks noChangeShapeType="1"/>
            </p:cNvSpPr>
            <p:nvPr/>
          </p:nvSpPr>
          <p:spPr bwMode="auto">
            <a:xfrm flipH="1">
              <a:off x="3072" y="2400"/>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5" name="Line 15">
              <a:extLst>
                <a:ext uri="{FF2B5EF4-FFF2-40B4-BE49-F238E27FC236}">
                  <a16:creationId xmlns:a16="http://schemas.microsoft.com/office/drawing/2014/main" id="{F85989A4-A28C-4294-B2A7-32BEC56A9DE4}"/>
                </a:ext>
              </a:extLst>
            </p:cNvPr>
            <p:cNvSpPr>
              <a:spLocks noChangeShapeType="1"/>
            </p:cNvSpPr>
            <p:nvPr/>
          </p:nvSpPr>
          <p:spPr bwMode="auto">
            <a:xfrm>
              <a:off x="3360" y="2400"/>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6" name="Line 16">
              <a:extLst>
                <a:ext uri="{FF2B5EF4-FFF2-40B4-BE49-F238E27FC236}">
                  <a16:creationId xmlns:a16="http://schemas.microsoft.com/office/drawing/2014/main" id="{20E34540-B95F-4F3A-835E-74C48F90FB9D}"/>
                </a:ext>
              </a:extLst>
            </p:cNvPr>
            <p:cNvSpPr>
              <a:spLocks noChangeShapeType="1"/>
            </p:cNvSpPr>
            <p:nvPr/>
          </p:nvSpPr>
          <p:spPr bwMode="auto">
            <a:xfrm flipH="1">
              <a:off x="2832" y="2976"/>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7" name="Line 17">
              <a:extLst>
                <a:ext uri="{FF2B5EF4-FFF2-40B4-BE49-F238E27FC236}">
                  <a16:creationId xmlns:a16="http://schemas.microsoft.com/office/drawing/2014/main" id="{8ED59BE9-B68C-415E-A9A2-AD9AEB3DDC5F}"/>
                </a:ext>
              </a:extLst>
            </p:cNvPr>
            <p:cNvSpPr>
              <a:spLocks noChangeShapeType="1"/>
            </p:cNvSpPr>
            <p:nvPr/>
          </p:nvSpPr>
          <p:spPr bwMode="auto">
            <a:xfrm>
              <a:off x="3072" y="2976"/>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8" name="Oval 18">
              <a:extLst>
                <a:ext uri="{FF2B5EF4-FFF2-40B4-BE49-F238E27FC236}">
                  <a16:creationId xmlns:a16="http://schemas.microsoft.com/office/drawing/2014/main" id="{AE643BC8-77C3-45C3-A774-603261D97747}"/>
                </a:ext>
              </a:extLst>
            </p:cNvPr>
            <p:cNvSpPr>
              <a:spLocks noChangeArrowheads="1"/>
            </p:cNvSpPr>
            <p:nvPr/>
          </p:nvSpPr>
          <p:spPr bwMode="auto">
            <a:xfrm>
              <a:off x="3744" y="235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19" name="Line 19">
              <a:extLst>
                <a:ext uri="{FF2B5EF4-FFF2-40B4-BE49-F238E27FC236}">
                  <a16:creationId xmlns:a16="http://schemas.microsoft.com/office/drawing/2014/main" id="{9F00B43C-A7D8-4784-8754-2CD6B4F0D2D0}"/>
                </a:ext>
              </a:extLst>
            </p:cNvPr>
            <p:cNvSpPr>
              <a:spLocks noChangeShapeType="1"/>
            </p:cNvSpPr>
            <p:nvPr/>
          </p:nvSpPr>
          <p:spPr bwMode="auto">
            <a:xfrm flipH="1" flipV="1">
              <a:off x="3744" y="1968"/>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21" name="Oval 21">
              <a:extLst>
                <a:ext uri="{FF2B5EF4-FFF2-40B4-BE49-F238E27FC236}">
                  <a16:creationId xmlns:a16="http://schemas.microsoft.com/office/drawing/2014/main" id="{410421A0-7C79-478C-9C90-D20181FB8577}"/>
                </a:ext>
              </a:extLst>
            </p:cNvPr>
            <p:cNvSpPr>
              <a:spLocks noChangeArrowheads="1"/>
            </p:cNvSpPr>
            <p:nvPr/>
          </p:nvSpPr>
          <p:spPr bwMode="auto">
            <a:xfrm>
              <a:off x="2976" y="34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22" name="Line 22">
              <a:extLst>
                <a:ext uri="{FF2B5EF4-FFF2-40B4-BE49-F238E27FC236}">
                  <a16:creationId xmlns:a16="http://schemas.microsoft.com/office/drawing/2014/main" id="{72B2226E-5A42-4CEC-9765-D451DB897227}"/>
                </a:ext>
              </a:extLst>
            </p:cNvPr>
            <p:cNvSpPr>
              <a:spLocks noChangeShapeType="1"/>
            </p:cNvSpPr>
            <p:nvPr/>
          </p:nvSpPr>
          <p:spPr bwMode="auto">
            <a:xfrm flipH="1">
              <a:off x="3024" y="2976"/>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24" name="Oval 24">
              <a:extLst>
                <a:ext uri="{FF2B5EF4-FFF2-40B4-BE49-F238E27FC236}">
                  <a16:creationId xmlns:a16="http://schemas.microsoft.com/office/drawing/2014/main" id="{98BC38A1-8574-431F-8D58-EBEB75B9ABBF}"/>
                </a:ext>
              </a:extLst>
            </p:cNvPr>
            <p:cNvSpPr>
              <a:spLocks noChangeArrowheads="1"/>
            </p:cNvSpPr>
            <p:nvPr/>
          </p:nvSpPr>
          <p:spPr bwMode="auto">
            <a:xfrm>
              <a:off x="3360" y="34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25" name="Oval 25">
              <a:extLst>
                <a:ext uri="{FF2B5EF4-FFF2-40B4-BE49-F238E27FC236}">
                  <a16:creationId xmlns:a16="http://schemas.microsoft.com/office/drawing/2014/main" id="{0CD37341-B981-40A1-8B82-369716369660}"/>
                </a:ext>
              </a:extLst>
            </p:cNvPr>
            <p:cNvSpPr>
              <a:spLocks noChangeArrowheads="1"/>
            </p:cNvSpPr>
            <p:nvPr/>
          </p:nvSpPr>
          <p:spPr bwMode="auto">
            <a:xfrm>
              <a:off x="3792" y="345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26" name="Line 26">
              <a:extLst>
                <a:ext uri="{FF2B5EF4-FFF2-40B4-BE49-F238E27FC236}">
                  <a16:creationId xmlns:a16="http://schemas.microsoft.com/office/drawing/2014/main" id="{C7944D03-304A-43FF-A0AF-90FFDFB68876}"/>
                </a:ext>
              </a:extLst>
            </p:cNvPr>
            <p:cNvSpPr>
              <a:spLocks noChangeShapeType="1"/>
            </p:cNvSpPr>
            <p:nvPr/>
          </p:nvSpPr>
          <p:spPr bwMode="auto">
            <a:xfrm flipH="1">
              <a:off x="3408" y="2976"/>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3627" name="Line 27">
              <a:extLst>
                <a:ext uri="{FF2B5EF4-FFF2-40B4-BE49-F238E27FC236}">
                  <a16:creationId xmlns:a16="http://schemas.microsoft.com/office/drawing/2014/main" id="{C91284AF-7B6D-4F36-B6EC-B6FB7370D9F7}"/>
                </a:ext>
              </a:extLst>
            </p:cNvPr>
            <p:cNvSpPr>
              <a:spLocks noChangeShapeType="1"/>
            </p:cNvSpPr>
            <p:nvPr/>
          </p:nvSpPr>
          <p:spPr bwMode="auto">
            <a:xfrm>
              <a:off x="3648" y="2976"/>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2">
            <a:extLst>
              <a:ext uri="{FF2B5EF4-FFF2-40B4-BE49-F238E27FC236}">
                <a16:creationId xmlns:a16="http://schemas.microsoft.com/office/drawing/2014/main" id="{D4A2EB99-5B03-4397-9A3B-AE87283186C9}"/>
              </a:ext>
            </a:extLst>
          </p:cNvPr>
          <p:cNvSpPr>
            <a:spLocks noGrp="1" noChangeArrowheads="1"/>
          </p:cNvSpPr>
          <p:nvPr>
            <p:ph type="title"/>
          </p:nvPr>
        </p:nvSpPr>
        <p:spPr/>
        <p:txBody>
          <a:bodyPr/>
          <a:lstStyle/>
          <a:p>
            <a:r>
              <a:rPr lang="en-US" altLang="en-US"/>
              <a:t>Properties of Trees</a:t>
            </a:r>
          </a:p>
        </p:txBody>
      </p:sp>
      <p:sp>
        <p:nvSpPr>
          <p:cNvPr id="154628" name="Text Box 4">
            <a:extLst>
              <a:ext uri="{FF2B5EF4-FFF2-40B4-BE49-F238E27FC236}">
                <a16:creationId xmlns:a16="http://schemas.microsoft.com/office/drawing/2014/main" id="{10DF081E-D9E8-43CD-93DE-3A48B6686DAE}"/>
              </a:ext>
            </a:extLst>
          </p:cNvPr>
          <p:cNvSpPr txBox="1">
            <a:spLocks noChangeArrowheads="1"/>
          </p:cNvSpPr>
          <p:nvPr/>
        </p:nvSpPr>
        <p:spPr bwMode="auto">
          <a:xfrm>
            <a:off x="1143000" y="1905000"/>
            <a:ext cx="7467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 full </a:t>
            </a:r>
            <a:r>
              <a:rPr lang="en-US" altLang="en-US" sz="3200" i="1">
                <a:latin typeface="Times New Roman" panose="02020603050405020304" pitchFamily="18" charset="0"/>
              </a:rPr>
              <a:t>m</a:t>
            </a:r>
            <a:r>
              <a:rPr lang="en-US" altLang="en-US" sz="3200">
                <a:latin typeface="Times New Roman" panose="02020603050405020304" pitchFamily="18" charset="0"/>
              </a:rPr>
              <a:t>-ary tree with </a:t>
            </a:r>
            <a:r>
              <a:rPr lang="en-US" altLang="en-US" sz="3200" i="1">
                <a:latin typeface="Times New Roman" panose="02020603050405020304" pitchFamily="18" charset="0"/>
              </a:rPr>
              <a:t>i</a:t>
            </a:r>
            <a:r>
              <a:rPr lang="en-US" altLang="en-US" sz="3200">
                <a:latin typeface="Times New Roman" panose="02020603050405020304" pitchFamily="18" charset="0"/>
              </a:rPr>
              <a:t> internal vertices contains </a:t>
            </a:r>
            <a:r>
              <a:rPr lang="en-US" altLang="en-US" sz="3200" i="1">
                <a:latin typeface="Times New Roman" panose="02020603050405020304" pitchFamily="18" charset="0"/>
              </a:rPr>
              <a:t>n </a:t>
            </a:r>
            <a:r>
              <a:rPr lang="en-US" altLang="en-US" sz="3200">
                <a:latin typeface="Times New Roman" panose="02020603050405020304" pitchFamily="18" charset="0"/>
              </a:rPr>
              <a:t>= </a:t>
            </a:r>
            <a:r>
              <a:rPr lang="en-US" altLang="en-US" sz="3200" i="1">
                <a:latin typeface="Times New Roman" panose="02020603050405020304" pitchFamily="18" charset="0"/>
              </a:rPr>
              <a:t>mi</a:t>
            </a:r>
            <a:r>
              <a:rPr lang="en-US" altLang="en-US" sz="3200">
                <a:latin typeface="Times New Roman" panose="02020603050405020304" pitchFamily="18" charset="0"/>
              </a:rPr>
              <a:t>+1 vertices.</a:t>
            </a:r>
          </a:p>
        </p:txBody>
      </p:sp>
      <p:grpSp>
        <p:nvGrpSpPr>
          <p:cNvPr id="154629" name="Group 5">
            <a:extLst>
              <a:ext uri="{FF2B5EF4-FFF2-40B4-BE49-F238E27FC236}">
                <a16:creationId xmlns:a16="http://schemas.microsoft.com/office/drawing/2014/main" id="{89403C06-D690-4DB0-A4D2-46DDA4F60B1D}"/>
              </a:ext>
            </a:extLst>
          </p:cNvPr>
          <p:cNvGrpSpPr>
            <a:grpSpLocks/>
          </p:cNvGrpSpPr>
          <p:nvPr/>
        </p:nvGrpSpPr>
        <p:grpSpPr bwMode="auto">
          <a:xfrm>
            <a:off x="3124200" y="3429000"/>
            <a:ext cx="2286000" cy="2590800"/>
            <a:chOff x="3072" y="528"/>
            <a:chExt cx="1440" cy="1632"/>
          </a:xfrm>
        </p:grpSpPr>
        <p:sp>
          <p:nvSpPr>
            <p:cNvPr id="154630" name="Oval 6">
              <a:extLst>
                <a:ext uri="{FF2B5EF4-FFF2-40B4-BE49-F238E27FC236}">
                  <a16:creationId xmlns:a16="http://schemas.microsoft.com/office/drawing/2014/main" id="{AAF4D8C4-44C9-49FC-B937-8546C2665AE8}"/>
                </a:ext>
              </a:extLst>
            </p:cNvPr>
            <p:cNvSpPr>
              <a:spLocks noChangeArrowheads="1"/>
            </p:cNvSpPr>
            <p:nvPr/>
          </p:nvSpPr>
          <p:spPr bwMode="auto">
            <a:xfrm>
              <a:off x="3984"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1" name="Oval 7">
              <a:extLst>
                <a:ext uri="{FF2B5EF4-FFF2-40B4-BE49-F238E27FC236}">
                  <a16:creationId xmlns:a16="http://schemas.microsoft.com/office/drawing/2014/main" id="{86065C9C-0B6C-4C0F-AC47-EDF0ABF12183}"/>
                </a:ext>
              </a:extLst>
            </p:cNvPr>
            <p:cNvSpPr>
              <a:spLocks noChangeArrowheads="1"/>
            </p:cNvSpPr>
            <p:nvPr/>
          </p:nvSpPr>
          <p:spPr bwMode="auto">
            <a:xfrm>
              <a:off x="3600"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2" name="Oval 8">
              <a:extLst>
                <a:ext uri="{FF2B5EF4-FFF2-40B4-BE49-F238E27FC236}">
                  <a16:creationId xmlns:a16="http://schemas.microsoft.com/office/drawing/2014/main" id="{0CF4C954-86FD-446E-8D6A-FB59C4286DA0}"/>
                </a:ext>
              </a:extLst>
            </p:cNvPr>
            <p:cNvSpPr>
              <a:spLocks noChangeArrowheads="1"/>
            </p:cNvSpPr>
            <p:nvPr/>
          </p:nvSpPr>
          <p:spPr bwMode="auto">
            <a:xfrm>
              <a:off x="4416"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3" name="Oval 9">
              <a:extLst>
                <a:ext uri="{FF2B5EF4-FFF2-40B4-BE49-F238E27FC236}">
                  <a16:creationId xmlns:a16="http://schemas.microsoft.com/office/drawing/2014/main" id="{FCF94BA6-08B2-4F2C-AAD0-FE1F45833903}"/>
                </a:ext>
              </a:extLst>
            </p:cNvPr>
            <p:cNvSpPr>
              <a:spLocks noChangeArrowheads="1"/>
            </p:cNvSpPr>
            <p:nvPr/>
          </p:nvSpPr>
          <p:spPr bwMode="auto">
            <a:xfrm>
              <a:off x="331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4" name="Oval 10">
              <a:extLst>
                <a:ext uri="{FF2B5EF4-FFF2-40B4-BE49-F238E27FC236}">
                  <a16:creationId xmlns:a16="http://schemas.microsoft.com/office/drawing/2014/main" id="{6005E2C2-2552-4767-9618-2CB1D7300FAD}"/>
                </a:ext>
              </a:extLst>
            </p:cNvPr>
            <p:cNvSpPr>
              <a:spLocks noChangeArrowheads="1"/>
            </p:cNvSpPr>
            <p:nvPr/>
          </p:nvSpPr>
          <p:spPr bwMode="auto">
            <a:xfrm>
              <a:off x="3888"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5" name="Oval 11">
              <a:extLst>
                <a:ext uri="{FF2B5EF4-FFF2-40B4-BE49-F238E27FC236}">
                  <a16:creationId xmlns:a16="http://schemas.microsoft.com/office/drawing/2014/main" id="{E1EDF421-3BAE-40E3-9A27-F7B177AFC22C}"/>
                </a:ext>
              </a:extLst>
            </p:cNvPr>
            <p:cNvSpPr>
              <a:spLocks noChangeArrowheads="1"/>
            </p:cNvSpPr>
            <p:nvPr/>
          </p:nvSpPr>
          <p:spPr bwMode="auto">
            <a:xfrm>
              <a:off x="3072"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6" name="Oval 12">
              <a:extLst>
                <a:ext uri="{FF2B5EF4-FFF2-40B4-BE49-F238E27FC236}">
                  <a16:creationId xmlns:a16="http://schemas.microsoft.com/office/drawing/2014/main" id="{8C875CA5-BC4F-452C-BDCD-8E1098760F62}"/>
                </a:ext>
              </a:extLst>
            </p:cNvPr>
            <p:cNvSpPr>
              <a:spLocks noChangeArrowheads="1"/>
            </p:cNvSpPr>
            <p:nvPr/>
          </p:nvSpPr>
          <p:spPr bwMode="auto">
            <a:xfrm>
              <a:off x="3504"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7" name="Line 13">
              <a:extLst>
                <a:ext uri="{FF2B5EF4-FFF2-40B4-BE49-F238E27FC236}">
                  <a16:creationId xmlns:a16="http://schemas.microsoft.com/office/drawing/2014/main" id="{FFDDD6CC-7452-4FF6-A664-998F07697517}"/>
                </a:ext>
              </a:extLst>
            </p:cNvPr>
            <p:cNvSpPr>
              <a:spLocks noChangeShapeType="1"/>
            </p:cNvSpPr>
            <p:nvPr/>
          </p:nvSpPr>
          <p:spPr bwMode="auto">
            <a:xfrm flipH="1">
              <a:off x="3648" y="57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8" name="Line 14">
              <a:extLst>
                <a:ext uri="{FF2B5EF4-FFF2-40B4-BE49-F238E27FC236}">
                  <a16:creationId xmlns:a16="http://schemas.microsoft.com/office/drawing/2014/main" id="{8FF819F5-A035-4AEE-825A-52D0E573093C}"/>
                </a:ext>
              </a:extLst>
            </p:cNvPr>
            <p:cNvSpPr>
              <a:spLocks noChangeShapeType="1"/>
            </p:cNvSpPr>
            <p:nvPr/>
          </p:nvSpPr>
          <p:spPr bwMode="auto">
            <a:xfrm>
              <a:off x="4032" y="57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39" name="Line 15">
              <a:extLst>
                <a:ext uri="{FF2B5EF4-FFF2-40B4-BE49-F238E27FC236}">
                  <a16:creationId xmlns:a16="http://schemas.microsoft.com/office/drawing/2014/main" id="{D5D5DC2A-89C6-4BE7-83A8-7DFB48CE95FA}"/>
                </a:ext>
              </a:extLst>
            </p:cNvPr>
            <p:cNvSpPr>
              <a:spLocks noChangeShapeType="1"/>
            </p:cNvSpPr>
            <p:nvPr/>
          </p:nvSpPr>
          <p:spPr bwMode="auto">
            <a:xfrm flipH="1">
              <a:off x="3360" y="100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0" name="Line 16">
              <a:extLst>
                <a:ext uri="{FF2B5EF4-FFF2-40B4-BE49-F238E27FC236}">
                  <a16:creationId xmlns:a16="http://schemas.microsoft.com/office/drawing/2014/main" id="{86363FE7-B366-4D29-B007-CC009A5EFD35}"/>
                </a:ext>
              </a:extLst>
            </p:cNvPr>
            <p:cNvSpPr>
              <a:spLocks noChangeShapeType="1"/>
            </p:cNvSpPr>
            <p:nvPr/>
          </p:nvSpPr>
          <p:spPr bwMode="auto">
            <a:xfrm>
              <a:off x="3648" y="100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1" name="Line 17">
              <a:extLst>
                <a:ext uri="{FF2B5EF4-FFF2-40B4-BE49-F238E27FC236}">
                  <a16:creationId xmlns:a16="http://schemas.microsoft.com/office/drawing/2014/main" id="{B95EDF53-C112-4388-A555-C8FC3BE34600}"/>
                </a:ext>
              </a:extLst>
            </p:cNvPr>
            <p:cNvSpPr>
              <a:spLocks noChangeShapeType="1"/>
            </p:cNvSpPr>
            <p:nvPr/>
          </p:nvSpPr>
          <p:spPr bwMode="auto">
            <a:xfrm flipH="1">
              <a:off x="3120"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2" name="Line 18">
              <a:extLst>
                <a:ext uri="{FF2B5EF4-FFF2-40B4-BE49-F238E27FC236}">
                  <a16:creationId xmlns:a16="http://schemas.microsoft.com/office/drawing/2014/main" id="{46979391-A4CB-4AE9-871F-B4D2F822765E}"/>
                </a:ext>
              </a:extLst>
            </p:cNvPr>
            <p:cNvSpPr>
              <a:spLocks noChangeShapeType="1"/>
            </p:cNvSpPr>
            <p:nvPr/>
          </p:nvSpPr>
          <p:spPr bwMode="auto">
            <a:xfrm>
              <a:off x="3360"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3" name="Oval 19">
              <a:extLst>
                <a:ext uri="{FF2B5EF4-FFF2-40B4-BE49-F238E27FC236}">
                  <a16:creationId xmlns:a16="http://schemas.microsoft.com/office/drawing/2014/main" id="{ED29981D-11F4-495F-9FA3-5869019ABB0B}"/>
                </a:ext>
              </a:extLst>
            </p:cNvPr>
            <p:cNvSpPr>
              <a:spLocks noChangeArrowheads="1"/>
            </p:cNvSpPr>
            <p:nvPr/>
          </p:nvSpPr>
          <p:spPr bwMode="auto">
            <a:xfrm>
              <a:off x="4032"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4" name="Line 20">
              <a:extLst>
                <a:ext uri="{FF2B5EF4-FFF2-40B4-BE49-F238E27FC236}">
                  <a16:creationId xmlns:a16="http://schemas.microsoft.com/office/drawing/2014/main" id="{19680F9B-5A6E-4142-BA2A-7FF11015F1A6}"/>
                </a:ext>
              </a:extLst>
            </p:cNvPr>
            <p:cNvSpPr>
              <a:spLocks noChangeShapeType="1"/>
            </p:cNvSpPr>
            <p:nvPr/>
          </p:nvSpPr>
          <p:spPr bwMode="auto">
            <a:xfrm flipH="1" flipV="1">
              <a:off x="4032" y="576"/>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5" name="Oval 21">
              <a:extLst>
                <a:ext uri="{FF2B5EF4-FFF2-40B4-BE49-F238E27FC236}">
                  <a16:creationId xmlns:a16="http://schemas.microsoft.com/office/drawing/2014/main" id="{442615A3-F934-44FC-84B2-6A2F78A1ECC6}"/>
                </a:ext>
              </a:extLst>
            </p:cNvPr>
            <p:cNvSpPr>
              <a:spLocks noChangeArrowheads="1"/>
            </p:cNvSpPr>
            <p:nvPr/>
          </p:nvSpPr>
          <p:spPr bwMode="auto">
            <a:xfrm>
              <a:off x="3600" y="14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6" name="Oval 22">
              <a:extLst>
                <a:ext uri="{FF2B5EF4-FFF2-40B4-BE49-F238E27FC236}">
                  <a16:creationId xmlns:a16="http://schemas.microsoft.com/office/drawing/2014/main" id="{55C80460-B8BD-4461-8BB1-EA875BFFDB8F}"/>
                </a:ext>
              </a:extLst>
            </p:cNvPr>
            <p:cNvSpPr>
              <a:spLocks noChangeArrowheads="1"/>
            </p:cNvSpPr>
            <p:nvPr/>
          </p:nvSpPr>
          <p:spPr bwMode="auto">
            <a:xfrm>
              <a:off x="3264"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7" name="Line 23">
              <a:extLst>
                <a:ext uri="{FF2B5EF4-FFF2-40B4-BE49-F238E27FC236}">
                  <a16:creationId xmlns:a16="http://schemas.microsoft.com/office/drawing/2014/main" id="{9E98AC34-4802-4D8C-A8F6-E663F23EFEE4}"/>
                </a:ext>
              </a:extLst>
            </p:cNvPr>
            <p:cNvSpPr>
              <a:spLocks noChangeShapeType="1"/>
            </p:cNvSpPr>
            <p:nvPr/>
          </p:nvSpPr>
          <p:spPr bwMode="auto">
            <a:xfrm flipH="1">
              <a:off x="3312" y="158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8" name="Line 24">
              <a:extLst>
                <a:ext uri="{FF2B5EF4-FFF2-40B4-BE49-F238E27FC236}">
                  <a16:creationId xmlns:a16="http://schemas.microsoft.com/office/drawing/2014/main" id="{9D498E4E-1B4F-4C6E-AD06-8B2606363EF4}"/>
                </a:ext>
              </a:extLst>
            </p:cNvPr>
            <p:cNvSpPr>
              <a:spLocks noChangeShapeType="1"/>
            </p:cNvSpPr>
            <p:nvPr/>
          </p:nvSpPr>
          <p:spPr bwMode="auto">
            <a:xfrm>
              <a:off x="3648" y="10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49" name="Oval 25">
              <a:extLst>
                <a:ext uri="{FF2B5EF4-FFF2-40B4-BE49-F238E27FC236}">
                  <a16:creationId xmlns:a16="http://schemas.microsoft.com/office/drawing/2014/main" id="{E9D4B425-C7FF-4580-AE61-36A65455000F}"/>
                </a:ext>
              </a:extLst>
            </p:cNvPr>
            <p:cNvSpPr>
              <a:spLocks noChangeArrowheads="1"/>
            </p:cNvSpPr>
            <p:nvPr/>
          </p:nvSpPr>
          <p:spPr bwMode="auto">
            <a:xfrm>
              <a:off x="3648"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50" name="Oval 26">
              <a:extLst>
                <a:ext uri="{FF2B5EF4-FFF2-40B4-BE49-F238E27FC236}">
                  <a16:creationId xmlns:a16="http://schemas.microsoft.com/office/drawing/2014/main" id="{8A70C82B-C322-4DA1-A1D0-77C73E829E67}"/>
                </a:ext>
              </a:extLst>
            </p:cNvPr>
            <p:cNvSpPr>
              <a:spLocks noChangeArrowheads="1"/>
            </p:cNvSpPr>
            <p:nvPr/>
          </p:nvSpPr>
          <p:spPr bwMode="auto">
            <a:xfrm>
              <a:off x="408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51" name="Line 27">
              <a:extLst>
                <a:ext uri="{FF2B5EF4-FFF2-40B4-BE49-F238E27FC236}">
                  <a16:creationId xmlns:a16="http://schemas.microsoft.com/office/drawing/2014/main" id="{7D608D95-FE61-48F4-B174-6FC9F73047E9}"/>
                </a:ext>
              </a:extLst>
            </p:cNvPr>
            <p:cNvSpPr>
              <a:spLocks noChangeShapeType="1"/>
            </p:cNvSpPr>
            <p:nvPr/>
          </p:nvSpPr>
          <p:spPr bwMode="auto">
            <a:xfrm flipH="1">
              <a:off x="3696"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52" name="Line 28">
              <a:extLst>
                <a:ext uri="{FF2B5EF4-FFF2-40B4-BE49-F238E27FC236}">
                  <a16:creationId xmlns:a16="http://schemas.microsoft.com/office/drawing/2014/main" id="{F97D1D7F-5581-48FD-9F3C-C0E256CF26CE}"/>
                </a:ext>
              </a:extLst>
            </p:cNvPr>
            <p:cNvSpPr>
              <a:spLocks noChangeShapeType="1"/>
            </p:cNvSpPr>
            <p:nvPr/>
          </p:nvSpPr>
          <p:spPr bwMode="auto">
            <a:xfrm>
              <a:off x="3936"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53" name="Oval 29">
              <a:extLst>
                <a:ext uri="{FF2B5EF4-FFF2-40B4-BE49-F238E27FC236}">
                  <a16:creationId xmlns:a16="http://schemas.microsoft.com/office/drawing/2014/main" id="{563C20F8-E201-4C35-ABBE-CA7FE9F06552}"/>
                </a:ext>
              </a:extLst>
            </p:cNvPr>
            <p:cNvSpPr>
              <a:spLocks noChangeArrowheads="1"/>
            </p:cNvSpPr>
            <p:nvPr/>
          </p:nvSpPr>
          <p:spPr bwMode="auto">
            <a:xfrm>
              <a:off x="384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4654" name="Line 30">
              <a:extLst>
                <a:ext uri="{FF2B5EF4-FFF2-40B4-BE49-F238E27FC236}">
                  <a16:creationId xmlns:a16="http://schemas.microsoft.com/office/drawing/2014/main" id="{5CE9E25B-BF49-4B24-8B2A-E585A075F21F}"/>
                </a:ext>
              </a:extLst>
            </p:cNvPr>
            <p:cNvSpPr>
              <a:spLocks noChangeShapeType="1"/>
            </p:cNvSpPr>
            <p:nvPr/>
          </p:nvSpPr>
          <p:spPr bwMode="auto">
            <a:xfrm flipH="1">
              <a:off x="3888" y="158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4629"/>
                                        </p:tgtEl>
                                        <p:attrNameLst>
                                          <p:attrName>style.visibility</p:attrName>
                                        </p:attrNameLst>
                                      </p:cBhvr>
                                      <p:to>
                                        <p:strVal val="visible"/>
                                      </p:to>
                                    </p:set>
                                    <p:animEffect transition="in" filter="dissolve">
                                      <p:cBhvr>
                                        <p:cTn id="7" dur="500"/>
                                        <p:tgtEl>
                                          <p:spTgt spid="1546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a:extLst>
              <a:ext uri="{FF2B5EF4-FFF2-40B4-BE49-F238E27FC236}">
                <a16:creationId xmlns:a16="http://schemas.microsoft.com/office/drawing/2014/main" id="{9ACBF8A0-392E-4DB8-9FBC-A040A7CDF5B6}"/>
              </a:ext>
            </a:extLst>
          </p:cNvPr>
          <p:cNvSpPr>
            <a:spLocks noGrp="1" noChangeArrowheads="1"/>
          </p:cNvSpPr>
          <p:nvPr>
            <p:ph type="title"/>
          </p:nvPr>
        </p:nvSpPr>
        <p:spPr/>
        <p:txBody>
          <a:bodyPr/>
          <a:lstStyle/>
          <a:p>
            <a:r>
              <a:rPr lang="en-US" altLang="en-US"/>
              <a:t>Properties of Trees</a:t>
            </a:r>
          </a:p>
        </p:txBody>
      </p:sp>
      <p:sp>
        <p:nvSpPr>
          <p:cNvPr id="155651" name="Text Box 3">
            <a:extLst>
              <a:ext uri="{FF2B5EF4-FFF2-40B4-BE49-F238E27FC236}">
                <a16:creationId xmlns:a16="http://schemas.microsoft.com/office/drawing/2014/main" id="{FF696202-6EE9-4CB6-BD81-BB84B7E7A337}"/>
              </a:ext>
            </a:extLst>
          </p:cNvPr>
          <p:cNvSpPr txBox="1">
            <a:spLocks noChangeArrowheads="1"/>
          </p:cNvSpPr>
          <p:nvPr/>
        </p:nvSpPr>
        <p:spPr bwMode="auto">
          <a:xfrm>
            <a:off x="1219200" y="1981200"/>
            <a:ext cx="7162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 full </a:t>
            </a:r>
            <a:r>
              <a:rPr lang="en-US" altLang="en-US" sz="3200" i="1">
                <a:latin typeface="Times New Roman" panose="02020603050405020304" pitchFamily="18" charset="0"/>
              </a:rPr>
              <a:t>m</a:t>
            </a:r>
            <a:r>
              <a:rPr lang="en-US" altLang="en-US" sz="3200">
                <a:latin typeface="Times New Roman" panose="02020603050405020304" pitchFamily="18" charset="0"/>
              </a:rPr>
              <a:t>-ary tree with</a:t>
            </a:r>
          </a:p>
        </p:txBody>
      </p:sp>
      <p:sp>
        <p:nvSpPr>
          <p:cNvPr id="155652" name="Text Box 4">
            <a:extLst>
              <a:ext uri="{FF2B5EF4-FFF2-40B4-BE49-F238E27FC236}">
                <a16:creationId xmlns:a16="http://schemas.microsoft.com/office/drawing/2014/main" id="{61462468-4D2F-4956-88F9-2EA7894536BA}"/>
              </a:ext>
            </a:extLst>
          </p:cNvPr>
          <p:cNvSpPr txBox="1">
            <a:spLocks noChangeArrowheads="1"/>
          </p:cNvSpPr>
          <p:nvPr/>
        </p:nvSpPr>
        <p:spPr bwMode="auto">
          <a:xfrm>
            <a:off x="990600" y="2667000"/>
            <a:ext cx="7391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t>
            </a:r>
            <a:r>
              <a:rPr lang="en-US" altLang="en-US" sz="3200" i="1">
                <a:latin typeface="Times New Roman" panose="02020603050405020304" pitchFamily="18" charset="0"/>
              </a:rPr>
              <a:t>i</a:t>
            </a:r>
            <a:r>
              <a:rPr lang="en-US" altLang="en-US" sz="3200">
                <a:latin typeface="Times New Roman" panose="02020603050405020304" pitchFamily="18" charset="0"/>
              </a:rPr>
              <a:t>) </a:t>
            </a:r>
            <a:r>
              <a:rPr lang="en-US" altLang="en-US" sz="3200" i="1">
                <a:latin typeface="Times New Roman" panose="02020603050405020304" pitchFamily="18" charset="0"/>
              </a:rPr>
              <a:t>n</a:t>
            </a:r>
            <a:r>
              <a:rPr lang="en-US" altLang="en-US" sz="3200">
                <a:latin typeface="Times New Roman" panose="02020603050405020304" pitchFamily="18" charset="0"/>
              </a:rPr>
              <a:t> vertices has </a:t>
            </a:r>
            <a:r>
              <a:rPr lang="en-US" altLang="en-US" sz="3200" i="1">
                <a:latin typeface="Times New Roman" panose="02020603050405020304" pitchFamily="18" charset="0"/>
              </a:rPr>
              <a:t>i</a:t>
            </a:r>
            <a:r>
              <a:rPr lang="en-US" altLang="en-US" sz="3200">
                <a:latin typeface="Times New Roman" panose="02020603050405020304" pitchFamily="18" charset="0"/>
              </a:rPr>
              <a:t> = (</a:t>
            </a:r>
            <a:r>
              <a:rPr lang="en-US" altLang="en-US" sz="3200" i="1">
                <a:latin typeface="Times New Roman" panose="02020603050405020304" pitchFamily="18" charset="0"/>
              </a:rPr>
              <a:t>n</a:t>
            </a:r>
            <a:r>
              <a:rPr lang="en-US" altLang="en-US" sz="3200">
                <a:latin typeface="Times New Roman" panose="02020603050405020304" pitchFamily="18" charset="0"/>
              </a:rPr>
              <a:t>-1)/</a:t>
            </a:r>
            <a:r>
              <a:rPr lang="en-US" altLang="en-US" sz="3200" i="1">
                <a:latin typeface="Times New Roman" panose="02020603050405020304" pitchFamily="18" charset="0"/>
              </a:rPr>
              <a:t>m</a:t>
            </a:r>
            <a:r>
              <a:rPr lang="en-US" altLang="en-US" sz="3200">
                <a:latin typeface="Times New Roman" panose="02020603050405020304" pitchFamily="18" charset="0"/>
              </a:rPr>
              <a:t> internal vertices and </a:t>
            </a:r>
            <a:r>
              <a:rPr lang="en-US" altLang="en-US" sz="3200" i="1">
                <a:latin typeface="Times New Roman" panose="02020603050405020304" pitchFamily="18" charset="0"/>
              </a:rPr>
              <a:t>l</a:t>
            </a:r>
            <a:r>
              <a:rPr lang="en-US" altLang="en-US" sz="3200">
                <a:latin typeface="Times New Roman" panose="02020603050405020304" pitchFamily="18" charset="0"/>
              </a:rPr>
              <a:t> = [(</a:t>
            </a:r>
            <a:r>
              <a:rPr lang="en-US" altLang="en-US" sz="3200" i="1">
                <a:latin typeface="Times New Roman" panose="02020603050405020304" pitchFamily="18" charset="0"/>
              </a:rPr>
              <a:t>m</a:t>
            </a:r>
            <a:r>
              <a:rPr lang="en-US" altLang="en-US" sz="3200">
                <a:latin typeface="Times New Roman" panose="02020603050405020304" pitchFamily="18" charset="0"/>
              </a:rPr>
              <a:t>-1)</a:t>
            </a:r>
            <a:r>
              <a:rPr lang="en-US" altLang="en-US" sz="3200" i="1">
                <a:latin typeface="Times New Roman" panose="02020603050405020304" pitchFamily="18" charset="0"/>
              </a:rPr>
              <a:t>n</a:t>
            </a:r>
            <a:r>
              <a:rPr lang="en-US" altLang="en-US" sz="3200">
                <a:latin typeface="Times New Roman" panose="02020603050405020304" pitchFamily="18" charset="0"/>
              </a:rPr>
              <a:t>+1]/</a:t>
            </a:r>
            <a:r>
              <a:rPr lang="en-US" altLang="en-US" sz="3200" i="1">
                <a:latin typeface="Times New Roman" panose="02020603050405020304" pitchFamily="18" charset="0"/>
              </a:rPr>
              <a:t>m</a:t>
            </a:r>
            <a:r>
              <a:rPr lang="en-US" altLang="en-US" sz="3200">
                <a:latin typeface="Times New Roman" panose="02020603050405020304" pitchFamily="18" charset="0"/>
              </a:rPr>
              <a:t> leaves.</a:t>
            </a:r>
          </a:p>
        </p:txBody>
      </p:sp>
      <p:sp>
        <p:nvSpPr>
          <p:cNvPr id="155653" name="Text Box 5">
            <a:extLst>
              <a:ext uri="{FF2B5EF4-FFF2-40B4-BE49-F238E27FC236}">
                <a16:creationId xmlns:a16="http://schemas.microsoft.com/office/drawing/2014/main" id="{12FB9DE6-AD15-41FE-B585-37C0F3E7F876}"/>
              </a:ext>
            </a:extLst>
          </p:cNvPr>
          <p:cNvSpPr txBox="1">
            <a:spLocks noChangeArrowheads="1"/>
          </p:cNvSpPr>
          <p:nvPr/>
        </p:nvSpPr>
        <p:spPr bwMode="auto">
          <a:xfrm>
            <a:off x="990600" y="3886200"/>
            <a:ext cx="72390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t>
            </a:r>
            <a:r>
              <a:rPr lang="en-US" altLang="en-US" sz="3200" i="1">
                <a:latin typeface="Times New Roman" panose="02020603050405020304" pitchFamily="18" charset="0"/>
              </a:rPr>
              <a:t>ii</a:t>
            </a:r>
            <a:r>
              <a:rPr lang="en-US" altLang="en-US" sz="3200">
                <a:latin typeface="Times New Roman" panose="02020603050405020304" pitchFamily="18" charset="0"/>
              </a:rPr>
              <a:t>) </a:t>
            </a:r>
            <a:r>
              <a:rPr lang="en-US" altLang="en-US" sz="3200" i="1">
                <a:latin typeface="Times New Roman" panose="02020603050405020304" pitchFamily="18" charset="0"/>
              </a:rPr>
              <a:t>i</a:t>
            </a:r>
            <a:r>
              <a:rPr lang="en-US" altLang="en-US" sz="3200">
                <a:latin typeface="Times New Roman" panose="02020603050405020304" pitchFamily="18" charset="0"/>
              </a:rPr>
              <a:t> internal vertices has</a:t>
            </a:r>
            <a:r>
              <a:rPr lang="en-US" altLang="en-US" sz="3200" i="1">
                <a:latin typeface="Times New Roman" panose="02020603050405020304" pitchFamily="18" charset="0"/>
              </a:rPr>
              <a:t> n</a:t>
            </a:r>
            <a:r>
              <a:rPr lang="en-US" altLang="en-US" sz="3200">
                <a:latin typeface="Times New Roman" panose="02020603050405020304" pitchFamily="18" charset="0"/>
              </a:rPr>
              <a:t> = </a:t>
            </a:r>
            <a:r>
              <a:rPr lang="en-US" altLang="en-US" sz="3200" i="1">
                <a:latin typeface="Times New Roman" panose="02020603050405020304" pitchFamily="18" charset="0"/>
              </a:rPr>
              <a:t>mi</a:t>
            </a:r>
            <a:r>
              <a:rPr lang="en-US" altLang="en-US" sz="3200">
                <a:latin typeface="Times New Roman" panose="02020603050405020304" pitchFamily="18" charset="0"/>
              </a:rPr>
              <a:t> + 1 vertices and</a:t>
            </a:r>
            <a:r>
              <a:rPr lang="en-US" altLang="en-US" sz="3200" i="1">
                <a:latin typeface="Times New Roman" panose="02020603050405020304" pitchFamily="18" charset="0"/>
              </a:rPr>
              <a:t> l</a:t>
            </a:r>
            <a:r>
              <a:rPr lang="en-US" altLang="en-US" sz="3200">
                <a:latin typeface="Times New Roman" panose="02020603050405020304" pitchFamily="18" charset="0"/>
              </a:rPr>
              <a:t> = (</a:t>
            </a:r>
            <a:r>
              <a:rPr lang="en-US" altLang="en-US" sz="3200" i="1">
                <a:latin typeface="Times New Roman" panose="02020603050405020304" pitchFamily="18" charset="0"/>
              </a:rPr>
              <a:t>m</a:t>
            </a:r>
            <a:r>
              <a:rPr lang="en-US" altLang="en-US" sz="3200">
                <a:latin typeface="Times New Roman" panose="02020603050405020304" pitchFamily="18" charset="0"/>
              </a:rPr>
              <a:t>-1)i + </a:t>
            </a:r>
            <a:r>
              <a:rPr lang="en-US" altLang="en-US" sz="3200" i="1">
                <a:latin typeface="Times New Roman" panose="02020603050405020304" pitchFamily="18" charset="0"/>
              </a:rPr>
              <a:t>1</a:t>
            </a:r>
            <a:r>
              <a:rPr lang="en-US" altLang="en-US" sz="3200">
                <a:latin typeface="Times New Roman" panose="02020603050405020304" pitchFamily="18" charset="0"/>
              </a:rPr>
              <a:t> leaves.</a:t>
            </a:r>
          </a:p>
        </p:txBody>
      </p:sp>
      <p:sp>
        <p:nvSpPr>
          <p:cNvPr id="155654" name="Text Box 6">
            <a:extLst>
              <a:ext uri="{FF2B5EF4-FFF2-40B4-BE49-F238E27FC236}">
                <a16:creationId xmlns:a16="http://schemas.microsoft.com/office/drawing/2014/main" id="{7A1AC9B3-D412-4179-810D-A953BE176BA0}"/>
              </a:ext>
            </a:extLst>
          </p:cNvPr>
          <p:cNvSpPr txBox="1">
            <a:spLocks noChangeArrowheads="1"/>
          </p:cNvSpPr>
          <p:nvPr/>
        </p:nvSpPr>
        <p:spPr bwMode="auto">
          <a:xfrm>
            <a:off x="990600" y="5105400"/>
            <a:ext cx="7467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t>
            </a:r>
            <a:r>
              <a:rPr lang="en-US" altLang="en-US" sz="3200" i="1">
                <a:latin typeface="Times New Roman" panose="02020603050405020304" pitchFamily="18" charset="0"/>
              </a:rPr>
              <a:t>iii</a:t>
            </a:r>
            <a:r>
              <a:rPr lang="en-US" altLang="en-US" sz="3200">
                <a:latin typeface="Times New Roman" panose="02020603050405020304" pitchFamily="18" charset="0"/>
              </a:rPr>
              <a:t>) </a:t>
            </a:r>
            <a:r>
              <a:rPr lang="en-US" altLang="en-US" sz="3200" i="1">
                <a:latin typeface="Times New Roman" panose="02020603050405020304" pitchFamily="18" charset="0"/>
              </a:rPr>
              <a:t>l</a:t>
            </a:r>
            <a:r>
              <a:rPr lang="en-US" altLang="en-US" sz="3200">
                <a:latin typeface="Times New Roman" panose="02020603050405020304" pitchFamily="18" charset="0"/>
              </a:rPr>
              <a:t> leaves has </a:t>
            </a:r>
            <a:r>
              <a:rPr lang="en-US" altLang="en-US" sz="3200" i="1">
                <a:latin typeface="Times New Roman" panose="02020603050405020304" pitchFamily="18" charset="0"/>
              </a:rPr>
              <a:t>n</a:t>
            </a:r>
            <a:r>
              <a:rPr lang="en-US" altLang="en-US" sz="3200">
                <a:latin typeface="Times New Roman" panose="02020603050405020304" pitchFamily="18" charset="0"/>
              </a:rPr>
              <a:t> = (</a:t>
            </a:r>
            <a:r>
              <a:rPr lang="en-US" altLang="en-US" sz="3200" i="1">
                <a:latin typeface="Times New Roman" panose="02020603050405020304" pitchFamily="18" charset="0"/>
              </a:rPr>
              <a:t>ml</a:t>
            </a:r>
            <a:r>
              <a:rPr lang="en-US" altLang="en-US" sz="3200">
                <a:latin typeface="Times New Roman" panose="02020603050405020304" pitchFamily="18" charset="0"/>
              </a:rPr>
              <a:t> - 1)/(</a:t>
            </a:r>
            <a:r>
              <a:rPr lang="en-US" altLang="en-US" sz="3200" i="1">
                <a:latin typeface="Times New Roman" panose="02020603050405020304" pitchFamily="18" charset="0"/>
              </a:rPr>
              <a:t>m</a:t>
            </a:r>
            <a:r>
              <a:rPr lang="en-US" altLang="en-US" sz="3200">
                <a:latin typeface="Times New Roman" panose="02020603050405020304" pitchFamily="18" charset="0"/>
              </a:rPr>
              <a:t>-1) vertices and</a:t>
            </a:r>
            <a:r>
              <a:rPr lang="en-US" altLang="en-US" sz="3200" i="1">
                <a:latin typeface="Times New Roman" panose="02020603050405020304" pitchFamily="18" charset="0"/>
              </a:rPr>
              <a:t> i</a:t>
            </a:r>
            <a:r>
              <a:rPr lang="en-US" altLang="en-US" sz="3200">
                <a:latin typeface="Times New Roman" panose="02020603050405020304" pitchFamily="18" charset="0"/>
              </a:rPr>
              <a:t> = (</a:t>
            </a:r>
            <a:r>
              <a:rPr lang="en-US" altLang="en-US" sz="3200" i="1">
                <a:latin typeface="Times New Roman" panose="02020603050405020304" pitchFamily="18" charset="0"/>
              </a:rPr>
              <a:t>l</a:t>
            </a:r>
            <a:r>
              <a:rPr lang="en-US" altLang="en-US" sz="3200">
                <a:latin typeface="Times New Roman" panose="02020603050405020304" pitchFamily="18" charset="0"/>
              </a:rPr>
              <a:t>-1)/(</a:t>
            </a:r>
            <a:r>
              <a:rPr lang="en-US" altLang="en-US" sz="3200" i="1">
                <a:latin typeface="Times New Roman" panose="02020603050405020304" pitchFamily="18" charset="0"/>
              </a:rPr>
              <a:t>m</a:t>
            </a:r>
            <a:r>
              <a:rPr lang="en-US" altLang="en-US" sz="3200">
                <a:latin typeface="Times New Roman" panose="02020603050405020304" pitchFamily="18" charset="0"/>
              </a:rPr>
              <a:t>-1) internal vertices.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5" fill="hold" grpId="0" nodeType="clickEffect">
                                  <p:stCondLst>
                                    <p:cond delay="0"/>
                                  </p:stCondLst>
                                  <p:childTnLst>
                                    <p:set>
                                      <p:cBhvr>
                                        <p:cTn id="6" dur="1" fill="hold">
                                          <p:stCondLst>
                                            <p:cond delay="0"/>
                                          </p:stCondLst>
                                        </p:cTn>
                                        <p:tgtEl>
                                          <p:spTgt spid="155652"/>
                                        </p:tgtEl>
                                        <p:attrNameLst>
                                          <p:attrName>style.visibility</p:attrName>
                                        </p:attrNameLst>
                                      </p:cBhvr>
                                      <p:to>
                                        <p:strVal val="visible"/>
                                      </p:to>
                                    </p:set>
                                    <p:animEffect transition="in" filter="blinds(vertical)">
                                      <p:cBhvr>
                                        <p:cTn id="7" dur="500"/>
                                        <p:tgtEl>
                                          <p:spTgt spid="15565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5" fill="hold" grpId="0" nodeType="clickEffect">
                                  <p:stCondLst>
                                    <p:cond delay="0"/>
                                  </p:stCondLst>
                                  <p:childTnLst>
                                    <p:set>
                                      <p:cBhvr>
                                        <p:cTn id="11" dur="1" fill="hold">
                                          <p:stCondLst>
                                            <p:cond delay="0"/>
                                          </p:stCondLst>
                                        </p:cTn>
                                        <p:tgtEl>
                                          <p:spTgt spid="155653"/>
                                        </p:tgtEl>
                                        <p:attrNameLst>
                                          <p:attrName>style.visibility</p:attrName>
                                        </p:attrNameLst>
                                      </p:cBhvr>
                                      <p:to>
                                        <p:strVal val="visible"/>
                                      </p:to>
                                    </p:set>
                                    <p:animEffect transition="in" filter="blinds(vertical)">
                                      <p:cBhvr>
                                        <p:cTn id="12" dur="500"/>
                                        <p:tgtEl>
                                          <p:spTgt spid="15565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grpId="0" nodeType="clickEffect">
                                  <p:stCondLst>
                                    <p:cond delay="0"/>
                                  </p:stCondLst>
                                  <p:childTnLst>
                                    <p:set>
                                      <p:cBhvr>
                                        <p:cTn id="16" dur="1" fill="hold">
                                          <p:stCondLst>
                                            <p:cond delay="0"/>
                                          </p:stCondLst>
                                        </p:cTn>
                                        <p:tgtEl>
                                          <p:spTgt spid="155654"/>
                                        </p:tgtEl>
                                        <p:attrNameLst>
                                          <p:attrName>style.visibility</p:attrName>
                                        </p:attrNameLst>
                                      </p:cBhvr>
                                      <p:to>
                                        <p:strVal val="visible"/>
                                      </p:to>
                                    </p:set>
                                    <p:animEffect transition="in" filter="blinds(vertical)">
                                      <p:cBhvr>
                                        <p:cTn id="17" dur="500"/>
                                        <p:tgtEl>
                                          <p:spTgt spid="155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2" grpId="0" autoUpdateAnimBg="0"/>
      <p:bldP spid="155653" grpId="0" autoUpdateAnimBg="0"/>
      <p:bldP spid="155654"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a:extLst>
              <a:ext uri="{FF2B5EF4-FFF2-40B4-BE49-F238E27FC236}">
                <a16:creationId xmlns:a16="http://schemas.microsoft.com/office/drawing/2014/main" id="{A668EE02-3EF4-464D-921D-B09F970C4364}"/>
              </a:ext>
            </a:extLst>
          </p:cNvPr>
          <p:cNvSpPr>
            <a:spLocks noGrp="1" noChangeArrowheads="1"/>
          </p:cNvSpPr>
          <p:nvPr>
            <p:ph type="title"/>
          </p:nvPr>
        </p:nvSpPr>
        <p:spPr/>
        <p:txBody>
          <a:bodyPr/>
          <a:lstStyle/>
          <a:p>
            <a:r>
              <a:rPr lang="en-US" altLang="en-US"/>
              <a:t>Properties of Trees</a:t>
            </a:r>
          </a:p>
        </p:txBody>
      </p:sp>
      <p:sp>
        <p:nvSpPr>
          <p:cNvPr id="156675" name="Text Box 3">
            <a:extLst>
              <a:ext uri="{FF2B5EF4-FFF2-40B4-BE49-F238E27FC236}">
                <a16:creationId xmlns:a16="http://schemas.microsoft.com/office/drawing/2014/main" id="{1C7E9AE2-BB6C-45FA-AE0D-EDEB36C7CC97}"/>
              </a:ext>
            </a:extLst>
          </p:cNvPr>
          <p:cNvSpPr txBox="1">
            <a:spLocks noChangeArrowheads="1"/>
          </p:cNvSpPr>
          <p:nvPr/>
        </p:nvSpPr>
        <p:spPr bwMode="auto">
          <a:xfrm>
            <a:off x="1219200" y="1981200"/>
            <a:ext cx="7239000" cy="1554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The level of a vertex </a:t>
            </a:r>
            <a:r>
              <a:rPr lang="en-US" altLang="en-US" sz="3200" i="1">
                <a:latin typeface="Times New Roman" panose="02020603050405020304" pitchFamily="18" charset="0"/>
              </a:rPr>
              <a:t>v</a:t>
            </a:r>
            <a:r>
              <a:rPr lang="en-US" altLang="en-US" sz="3200">
                <a:latin typeface="Times New Roman" panose="02020603050405020304" pitchFamily="18" charset="0"/>
              </a:rPr>
              <a:t> in a rooted tree is the length of the unique path from the root to this vertex.</a:t>
            </a:r>
          </a:p>
        </p:txBody>
      </p:sp>
      <p:grpSp>
        <p:nvGrpSpPr>
          <p:cNvPr id="156676" name="Group 4">
            <a:extLst>
              <a:ext uri="{FF2B5EF4-FFF2-40B4-BE49-F238E27FC236}">
                <a16:creationId xmlns:a16="http://schemas.microsoft.com/office/drawing/2014/main" id="{3EECFAC0-5393-4B17-983E-D33C86B02A84}"/>
              </a:ext>
            </a:extLst>
          </p:cNvPr>
          <p:cNvGrpSpPr>
            <a:grpSpLocks/>
          </p:cNvGrpSpPr>
          <p:nvPr/>
        </p:nvGrpSpPr>
        <p:grpSpPr bwMode="auto">
          <a:xfrm>
            <a:off x="5181600" y="3352800"/>
            <a:ext cx="2286000" cy="2590800"/>
            <a:chOff x="3072" y="528"/>
            <a:chExt cx="1440" cy="1632"/>
          </a:xfrm>
        </p:grpSpPr>
        <p:sp>
          <p:nvSpPr>
            <p:cNvPr id="156677" name="Oval 5">
              <a:extLst>
                <a:ext uri="{FF2B5EF4-FFF2-40B4-BE49-F238E27FC236}">
                  <a16:creationId xmlns:a16="http://schemas.microsoft.com/office/drawing/2014/main" id="{65D153F5-0746-4F80-A8D9-225F0EEAB4F7}"/>
                </a:ext>
              </a:extLst>
            </p:cNvPr>
            <p:cNvSpPr>
              <a:spLocks noChangeArrowheads="1"/>
            </p:cNvSpPr>
            <p:nvPr/>
          </p:nvSpPr>
          <p:spPr bwMode="auto">
            <a:xfrm>
              <a:off x="3984"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78" name="Oval 6">
              <a:extLst>
                <a:ext uri="{FF2B5EF4-FFF2-40B4-BE49-F238E27FC236}">
                  <a16:creationId xmlns:a16="http://schemas.microsoft.com/office/drawing/2014/main" id="{91FEFB20-8AB4-4969-9A1E-3599B8D7EB51}"/>
                </a:ext>
              </a:extLst>
            </p:cNvPr>
            <p:cNvSpPr>
              <a:spLocks noChangeArrowheads="1"/>
            </p:cNvSpPr>
            <p:nvPr/>
          </p:nvSpPr>
          <p:spPr bwMode="auto">
            <a:xfrm>
              <a:off x="3600"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79" name="Oval 7">
              <a:extLst>
                <a:ext uri="{FF2B5EF4-FFF2-40B4-BE49-F238E27FC236}">
                  <a16:creationId xmlns:a16="http://schemas.microsoft.com/office/drawing/2014/main" id="{3B1B6E3F-3E7A-4A64-BC6F-8EF973AF89AB}"/>
                </a:ext>
              </a:extLst>
            </p:cNvPr>
            <p:cNvSpPr>
              <a:spLocks noChangeArrowheads="1"/>
            </p:cNvSpPr>
            <p:nvPr/>
          </p:nvSpPr>
          <p:spPr bwMode="auto">
            <a:xfrm>
              <a:off x="4416"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0" name="Oval 8">
              <a:extLst>
                <a:ext uri="{FF2B5EF4-FFF2-40B4-BE49-F238E27FC236}">
                  <a16:creationId xmlns:a16="http://schemas.microsoft.com/office/drawing/2014/main" id="{E36B1618-FFBD-4007-ADA5-3C7CD4EC04F4}"/>
                </a:ext>
              </a:extLst>
            </p:cNvPr>
            <p:cNvSpPr>
              <a:spLocks noChangeArrowheads="1"/>
            </p:cNvSpPr>
            <p:nvPr/>
          </p:nvSpPr>
          <p:spPr bwMode="auto">
            <a:xfrm>
              <a:off x="331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1" name="Oval 9">
              <a:extLst>
                <a:ext uri="{FF2B5EF4-FFF2-40B4-BE49-F238E27FC236}">
                  <a16:creationId xmlns:a16="http://schemas.microsoft.com/office/drawing/2014/main" id="{8A728013-C777-4A2B-9D6F-11D96E1BAE17}"/>
                </a:ext>
              </a:extLst>
            </p:cNvPr>
            <p:cNvSpPr>
              <a:spLocks noChangeArrowheads="1"/>
            </p:cNvSpPr>
            <p:nvPr/>
          </p:nvSpPr>
          <p:spPr bwMode="auto">
            <a:xfrm>
              <a:off x="3888"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2" name="Oval 10">
              <a:extLst>
                <a:ext uri="{FF2B5EF4-FFF2-40B4-BE49-F238E27FC236}">
                  <a16:creationId xmlns:a16="http://schemas.microsoft.com/office/drawing/2014/main" id="{75A9A7B7-C665-49D6-96C0-26612D2C3FFB}"/>
                </a:ext>
              </a:extLst>
            </p:cNvPr>
            <p:cNvSpPr>
              <a:spLocks noChangeArrowheads="1"/>
            </p:cNvSpPr>
            <p:nvPr/>
          </p:nvSpPr>
          <p:spPr bwMode="auto">
            <a:xfrm>
              <a:off x="3072"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3" name="Oval 11">
              <a:extLst>
                <a:ext uri="{FF2B5EF4-FFF2-40B4-BE49-F238E27FC236}">
                  <a16:creationId xmlns:a16="http://schemas.microsoft.com/office/drawing/2014/main" id="{F34091C4-96FF-4F52-9E1A-F80E5A264993}"/>
                </a:ext>
              </a:extLst>
            </p:cNvPr>
            <p:cNvSpPr>
              <a:spLocks noChangeArrowheads="1"/>
            </p:cNvSpPr>
            <p:nvPr/>
          </p:nvSpPr>
          <p:spPr bwMode="auto">
            <a:xfrm>
              <a:off x="3504"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4" name="Line 12">
              <a:extLst>
                <a:ext uri="{FF2B5EF4-FFF2-40B4-BE49-F238E27FC236}">
                  <a16:creationId xmlns:a16="http://schemas.microsoft.com/office/drawing/2014/main" id="{CDB806F6-FA51-4641-8E90-2DB8A050F709}"/>
                </a:ext>
              </a:extLst>
            </p:cNvPr>
            <p:cNvSpPr>
              <a:spLocks noChangeShapeType="1"/>
            </p:cNvSpPr>
            <p:nvPr/>
          </p:nvSpPr>
          <p:spPr bwMode="auto">
            <a:xfrm flipH="1">
              <a:off x="3648" y="57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5" name="Line 13">
              <a:extLst>
                <a:ext uri="{FF2B5EF4-FFF2-40B4-BE49-F238E27FC236}">
                  <a16:creationId xmlns:a16="http://schemas.microsoft.com/office/drawing/2014/main" id="{96ACD3B5-3126-4782-93D3-E66CA4C660DE}"/>
                </a:ext>
              </a:extLst>
            </p:cNvPr>
            <p:cNvSpPr>
              <a:spLocks noChangeShapeType="1"/>
            </p:cNvSpPr>
            <p:nvPr/>
          </p:nvSpPr>
          <p:spPr bwMode="auto">
            <a:xfrm>
              <a:off x="4032" y="57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6" name="Line 14">
              <a:extLst>
                <a:ext uri="{FF2B5EF4-FFF2-40B4-BE49-F238E27FC236}">
                  <a16:creationId xmlns:a16="http://schemas.microsoft.com/office/drawing/2014/main" id="{D5BE530A-0ED2-45A5-BBE1-95F61848F979}"/>
                </a:ext>
              </a:extLst>
            </p:cNvPr>
            <p:cNvSpPr>
              <a:spLocks noChangeShapeType="1"/>
            </p:cNvSpPr>
            <p:nvPr/>
          </p:nvSpPr>
          <p:spPr bwMode="auto">
            <a:xfrm flipH="1">
              <a:off x="3360" y="100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7" name="Line 15">
              <a:extLst>
                <a:ext uri="{FF2B5EF4-FFF2-40B4-BE49-F238E27FC236}">
                  <a16:creationId xmlns:a16="http://schemas.microsoft.com/office/drawing/2014/main" id="{66C0EFC6-3433-4A66-84E0-BEB3CE01AA20}"/>
                </a:ext>
              </a:extLst>
            </p:cNvPr>
            <p:cNvSpPr>
              <a:spLocks noChangeShapeType="1"/>
            </p:cNvSpPr>
            <p:nvPr/>
          </p:nvSpPr>
          <p:spPr bwMode="auto">
            <a:xfrm>
              <a:off x="3648" y="100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8" name="Line 16">
              <a:extLst>
                <a:ext uri="{FF2B5EF4-FFF2-40B4-BE49-F238E27FC236}">
                  <a16:creationId xmlns:a16="http://schemas.microsoft.com/office/drawing/2014/main" id="{D74FBA76-814E-4AE7-983F-AED98F9E766C}"/>
                </a:ext>
              </a:extLst>
            </p:cNvPr>
            <p:cNvSpPr>
              <a:spLocks noChangeShapeType="1"/>
            </p:cNvSpPr>
            <p:nvPr/>
          </p:nvSpPr>
          <p:spPr bwMode="auto">
            <a:xfrm flipH="1">
              <a:off x="3120"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89" name="Line 17">
              <a:extLst>
                <a:ext uri="{FF2B5EF4-FFF2-40B4-BE49-F238E27FC236}">
                  <a16:creationId xmlns:a16="http://schemas.microsoft.com/office/drawing/2014/main" id="{6F4236E6-AD7C-4869-911D-B0D4F83EE6DC}"/>
                </a:ext>
              </a:extLst>
            </p:cNvPr>
            <p:cNvSpPr>
              <a:spLocks noChangeShapeType="1"/>
            </p:cNvSpPr>
            <p:nvPr/>
          </p:nvSpPr>
          <p:spPr bwMode="auto">
            <a:xfrm>
              <a:off x="3360"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0" name="Oval 18">
              <a:extLst>
                <a:ext uri="{FF2B5EF4-FFF2-40B4-BE49-F238E27FC236}">
                  <a16:creationId xmlns:a16="http://schemas.microsoft.com/office/drawing/2014/main" id="{6E818EC1-BA8E-4B74-813C-CE8F682D2A3A}"/>
                </a:ext>
              </a:extLst>
            </p:cNvPr>
            <p:cNvSpPr>
              <a:spLocks noChangeArrowheads="1"/>
            </p:cNvSpPr>
            <p:nvPr/>
          </p:nvSpPr>
          <p:spPr bwMode="auto">
            <a:xfrm>
              <a:off x="4032"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1" name="Line 19">
              <a:extLst>
                <a:ext uri="{FF2B5EF4-FFF2-40B4-BE49-F238E27FC236}">
                  <a16:creationId xmlns:a16="http://schemas.microsoft.com/office/drawing/2014/main" id="{97B714F6-6DEA-42B2-A731-8DCDB27543AD}"/>
                </a:ext>
              </a:extLst>
            </p:cNvPr>
            <p:cNvSpPr>
              <a:spLocks noChangeShapeType="1"/>
            </p:cNvSpPr>
            <p:nvPr/>
          </p:nvSpPr>
          <p:spPr bwMode="auto">
            <a:xfrm flipH="1" flipV="1">
              <a:off x="4032" y="576"/>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2" name="Oval 20">
              <a:extLst>
                <a:ext uri="{FF2B5EF4-FFF2-40B4-BE49-F238E27FC236}">
                  <a16:creationId xmlns:a16="http://schemas.microsoft.com/office/drawing/2014/main" id="{AE26DBFC-6E38-4FC2-B487-023EA605CDBA}"/>
                </a:ext>
              </a:extLst>
            </p:cNvPr>
            <p:cNvSpPr>
              <a:spLocks noChangeArrowheads="1"/>
            </p:cNvSpPr>
            <p:nvPr/>
          </p:nvSpPr>
          <p:spPr bwMode="auto">
            <a:xfrm>
              <a:off x="3600" y="14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3" name="Oval 21">
              <a:extLst>
                <a:ext uri="{FF2B5EF4-FFF2-40B4-BE49-F238E27FC236}">
                  <a16:creationId xmlns:a16="http://schemas.microsoft.com/office/drawing/2014/main" id="{54EE21A7-3719-4FD8-9F04-0FC4B0FC9242}"/>
                </a:ext>
              </a:extLst>
            </p:cNvPr>
            <p:cNvSpPr>
              <a:spLocks noChangeArrowheads="1"/>
            </p:cNvSpPr>
            <p:nvPr/>
          </p:nvSpPr>
          <p:spPr bwMode="auto">
            <a:xfrm>
              <a:off x="3264"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4" name="Line 22">
              <a:extLst>
                <a:ext uri="{FF2B5EF4-FFF2-40B4-BE49-F238E27FC236}">
                  <a16:creationId xmlns:a16="http://schemas.microsoft.com/office/drawing/2014/main" id="{804D3A20-5CB0-46C0-B67A-3C618E4F23BA}"/>
                </a:ext>
              </a:extLst>
            </p:cNvPr>
            <p:cNvSpPr>
              <a:spLocks noChangeShapeType="1"/>
            </p:cNvSpPr>
            <p:nvPr/>
          </p:nvSpPr>
          <p:spPr bwMode="auto">
            <a:xfrm flipH="1">
              <a:off x="3312" y="158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5" name="Line 23">
              <a:extLst>
                <a:ext uri="{FF2B5EF4-FFF2-40B4-BE49-F238E27FC236}">
                  <a16:creationId xmlns:a16="http://schemas.microsoft.com/office/drawing/2014/main" id="{9DAB452C-304A-4FFA-8CA1-816682E24B65}"/>
                </a:ext>
              </a:extLst>
            </p:cNvPr>
            <p:cNvSpPr>
              <a:spLocks noChangeShapeType="1"/>
            </p:cNvSpPr>
            <p:nvPr/>
          </p:nvSpPr>
          <p:spPr bwMode="auto">
            <a:xfrm>
              <a:off x="3648" y="10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6" name="Oval 24">
              <a:extLst>
                <a:ext uri="{FF2B5EF4-FFF2-40B4-BE49-F238E27FC236}">
                  <a16:creationId xmlns:a16="http://schemas.microsoft.com/office/drawing/2014/main" id="{30363E41-4A55-46A2-BA31-0EABA52300A5}"/>
                </a:ext>
              </a:extLst>
            </p:cNvPr>
            <p:cNvSpPr>
              <a:spLocks noChangeArrowheads="1"/>
            </p:cNvSpPr>
            <p:nvPr/>
          </p:nvSpPr>
          <p:spPr bwMode="auto">
            <a:xfrm>
              <a:off x="3648"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7" name="Oval 25">
              <a:extLst>
                <a:ext uri="{FF2B5EF4-FFF2-40B4-BE49-F238E27FC236}">
                  <a16:creationId xmlns:a16="http://schemas.microsoft.com/office/drawing/2014/main" id="{765C8FAD-8E8D-4851-8DE1-134A9641F0B6}"/>
                </a:ext>
              </a:extLst>
            </p:cNvPr>
            <p:cNvSpPr>
              <a:spLocks noChangeArrowheads="1"/>
            </p:cNvSpPr>
            <p:nvPr/>
          </p:nvSpPr>
          <p:spPr bwMode="auto">
            <a:xfrm>
              <a:off x="408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8" name="Line 26">
              <a:extLst>
                <a:ext uri="{FF2B5EF4-FFF2-40B4-BE49-F238E27FC236}">
                  <a16:creationId xmlns:a16="http://schemas.microsoft.com/office/drawing/2014/main" id="{ED1E5274-8A68-4325-9514-F7655B0279A0}"/>
                </a:ext>
              </a:extLst>
            </p:cNvPr>
            <p:cNvSpPr>
              <a:spLocks noChangeShapeType="1"/>
            </p:cNvSpPr>
            <p:nvPr/>
          </p:nvSpPr>
          <p:spPr bwMode="auto">
            <a:xfrm flipH="1">
              <a:off x="3696"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699" name="Line 27">
              <a:extLst>
                <a:ext uri="{FF2B5EF4-FFF2-40B4-BE49-F238E27FC236}">
                  <a16:creationId xmlns:a16="http://schemas.microsoft.com/office/drawing/2014/main" id="{11F1960A-3D61-466D-B1B6-6CF17BF3254C}"/>
                </a:ext>
              </a:extLst>
            </p:cNvPr>
            <p:cNvSpPr>
              <a:spLocks noChangeShapeType="1"/>
            </p:cNvSpPr>
            <p:nvPr/>
          </p:nvSpPr>
          <p:spPr bwMode="auto">
            <a:xfrm>
              <a:off x="3936"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700" name="Oval 28">
              <a:extLst>
                <a:ext uri="{FF2B5EF4-FFF2-40B4-BE49-F238E27FC236}">
                  <a16:creationId xmlns:a16="http://schemas.microsoft.com/office/drawing/2014/main" id="{E61A49C6-CA5A-476C-851B-9DE40BC2F710}"/>
                </a:ext>
              </a:extLst>
            </p:cNvPr>
            <p:cNvSpPr>
              <a:spLocks noChangeArrowheads="1"/>
            </p:cNvSpPr>
            <p:nvPr/>
          </p:nvSpPr>
          <p:spPr bwMode="auto">
            <a:xfrm>
              <a:off x="384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6701" name="Line 29">
              <a:extLst>
                <a:ext uri="{FF2B5EF4-FFF2-40B4-BE49-F238E27FC236}">
                  <a16:creationId xmlns:a16="http://schemas.microsoft.com/office/drawing/2014/main" id="{E8F071F8-3CBE-480F-834E-5DF4925AF8B0}"/>
                </a:ext>
              </a:extLst>
            </p:cNvPr>
            <p:cNvSpPr>
              <a:spLocks noChangeShapeType="1"/>
            </p:cNvSpPr>
            <p:nvPr/>
          </p:nvSpPr>
          <p:spPr bwMode="auto">
            <a:xfrm flipH="1">
              <a:off x="3888" y="158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156702" name="Text Box 30">
            <a:extLst>
              <a:ext uri="{FF2B5EF4-FFF2-40B4-BE49-F238E27FC236}">
                <a16:creationId xmlns:a16="http://schemas.microsoft.com/office/drawing/2014/main" id="{2C3007C8-E01A-452D-B359-8E8B3E7B3E18}"/>
              </a:ext>
            </a:extLst>
          </p:cNvPr>
          <p:cNvSpPr txBox="1">
            <a:spLocks noChangeArrowheads="1"/>
          </p:cNvSpPr>
          <p:nvPr/>
        </p:nvSpPr>
        <p:spPr bwMode="auto">
          <a:xfrm>
            <a:off x="2895600" y="4114800"/>
            <a:ext cx="16764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F0000"/>
                </a:solidFill>
                <a:latin typeface="Times New Roman" panose="02020603050405020304" pitchFamily="18" charset="0"/>
              </a:rPr>
              <a:t>level 2</a:t>
            </a:r>
            <a:endParaRPr lang="en-US" altLang="en-US" sz="3200">
              <a:solidFill>
                <a:srgbClr val="FF0000"/>
              </a:solidFill>
              <a:latin typeface="Times New Roman" panose="02020603050405020304" pitchFamily="18" charset="0"/>
            </a:endParaRPr>
          </a:p>
        </p:txBody>
      </p:sp>
      <p:sp>
        <p:nvSpPr>
          <p:cNvPr id="156703" name="Line 31">
            <a:extLst>
              <a:ext uri="{FF2B5EF4-FFF2-40B4-BE49-F238E27FC236}">
                <a16:creationId xmlns:a16="http://schemas.microsoft.com/office/drawing/2014/main" id="{49135DFE-620F-4A32-8DA8-DC0DD9FB7AD8}"/>
              </a:ext>
            </a:extLst>
          </p:cNvPr>
          <p:cNvSpPr>
            <a:spLocks noChangeShapeType="1"/>
          </p:cNvSpPr>
          <p:nvPr/>
        </p:nvSpPr>
        <p:spPr bwMode="auto">
          <a:xfrm>
            <a:off x="4038600" y="4419600"/>
            <a:ext cx="1524000" cy="60960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156707" name="Group 35">
            <a:extLst>
              <a:ext uri="{FF2B5EF4-FFF2-40B4-BE49-F238E27FC236}">
                <a16:creationId xmlns:a16="http://schemas.microsoft.com/office/drawing/2014/main" id="{6CC2584B-7F3C-48C5-89FA-01E93EC52D76}"/>
              </a:ext>
            </a:extLst>
          </p:cNvPr>
          <p:cNvGrpSpPr>
            <a:grpSpLocks/>
          </p:cNvGrpSpPr>
          <p:nvPr/>
        </p:nvGrpSpPr>
        <p:grpSpPr bwMode="auto">
          <a:xfrm>
            <a:off x="2133600" y="5105400"/>
            <a:ext cx="2971800" cy="685800"/>
            <a:chOff x="1296" y="3216"/>
            <a:chExt cx="1872" cy="432"/>
          </a:xfrm>
        </p:grpSpPr>
        <p:sp>
          <p:nvSpPr>
            <p:cNvPr id="156705" name="Text Box 33">
              <a:extLst>
                <a:ext uri="{FF2B5EF4-FFF2-40B4-BE49-F238E27FC236}">
                  <a16:creationId xmlns:a16="http://schemas.microsoft.com/office/drawing/2014/main" id="{6505007A-EB10-4F1D-9422-3B32ED843666}"/>
                </a:ext>
              </a:extLst>
            </p:cNvPr>
            <p:cNvSpPr txBox="1">
              <a:spLocks noChangeArrowheads="1"/>
            </p:cNvSpPr>
            <p:nvPr/>
          </p:nvSpPr>
          <p:spPr bwMode="auto">
            <a:xfrm>
              <a:off x="1296" y="3216"/>
              <a:ext cx="8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800">
                  <a:solidFill>
                    <a:srgbClr val="FF0000"/>
                  </a:solidFill>
                  <a:latin typeface="Times New Roman" panose="02020603050405020304" pitchFamily="18" charset="0"/>
                </a:rPr>
                <a:t>level 3</a:t>
              </a:r>
              <a:endParaRPr lang="en-US" altLang="en-US" sz="3200">
                <a:solidFill>
                  <a:srgbClr val="FF0000"/>
                </a:solidFill>
                <a:latin typeface="Times New Roman" panose="02020603050405020304" pitchFamily="18" charset="0"/>
              </a:endParaRPr>
            </a:p>
          </p:txBody>
        </p:sp>
        <p:sp>
          <p:nvSpPr>
            <p:cNvPr id="156706" name="Line 34">
              <a:extLst>
                <a:ext uri="{FF2B5EF4-FFF2-40B4-BE49-F238E27FC236}">
                  <a16:creationId xmlns:a16="http://schemas.microsoft.com/office/drawing/2014/main" id="{0748466E-94CA-4C47-8B9F-CB6F868AE794}"/>
                </a:ext>
              </a:extLst>
            </p:cNvPr>
            <p:cNvSpPr>
              <a:spLocks noChangeShapeType="1"/>
            </p:cNvSpPr>
            <p:nvPr/>
          </p:nvSpPr>
          <p:spPr bwMode="auto">
            <a:xfrm>
              <a:off x="2016" y="3408"/>
              <a:ext cx="1152" cy="240"/>
            </a:xfrm>
            <a:prstGeom prst="line">
              <a:avLst/>
            </a:prstGeom>
            <a:noFill/>
            <a:ln w="9525">
              <a:solidFill>
                <a:srgbClr val="FF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6676"/>
                                        </p:tgtEl>
                                        <p:attrNameLst>
                                          <p:attrName>style.visibility</p:attrName>
                                        </p:attrNameLst>
                                      </p:cBhvr>
                                      <p:to>
                                        <p:strVal val="visible"/>
                                      </p:to>
                                    </p:set>
                                    <p:animEffect transition="in" filter="dissolve">
                                      <p:cBhvr>
                                        <p:cTn id="7" dur="500"/>
                                        <p:tgtEl>
                                          <p:spTgt spid="15667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6707"/>
                                        </p:tgtEl>
                                        <p:attrNameLst>
                                          <p:attrName>style.visibility</p:attrName>
                                        </p:attrNameLst>
                                      </p:cBhvr>
                                      <p:to>
                                        <p:strVal val="visible"/>
                                      </p:to>
                                    </p:set>
                                    <p:animEffect transition="in" filter="dissolve">
                                      <p:cBhvr>
                                        <p:cTn id="12" dur="500"/>
                                        <p:tgtEl>
                                          <p:spTgt spid="1567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a:extLst>
              <a:ext uri="{FF2B5EF4-FFF2-40B4-BE49-F238E27FC236}">
                <a16:creationId xmlns:a16="http://schemas.microsoft.com/office/drawing/2014/main" id="{9052C9E1-6550-443B-93A8-50DD4186B0E3}"/>
              </a:ext>
            </a:extLst>
          </p:cNvPr>
          <p:cNvSpPr>
            <a:spLocks noGrp="1" noChangeArrowheads="1"/>
          </p:cNvSpPr>
          <p:nvPr>
            <p:ph type="title"/>
          </p:nvPr>
        </p:nvSpPr>
        <p:spPr/>
        <p:txBody>
          <a:bodyPr/>
          <a:lstStyle/>
          <a:p>
            <a:r>
              <a:rPr lang="en-US" altLang="en-US"/>
              <a:t>Properties of Trees</a:t>
            </a:r>
          </a:p>
        </p:txBody>
      </p:sp>
      <p:sp>
        <p:nvSpPr>
          <p:cNvPr id="157699" name="Text Box 3">
            <a:extLst>
              <a:ext uri="{FF2B5EF4-FFF2-40B4-BE49-F238E27FC236}">
                <a16:creationId xmlns:a16="http://schemas.microsoft.com/office/drawing/2014/main" id="{72559919-26FC-46B4-8615-DA632B33B9CB}"/>
              </a:ext>
            </a:extLst>
          </p:cNvPr>
          <p:cNvSpPr txBox="1">
            <a:spLocks noChangeArrowheads="1"/>
          </p:cNvSpPr>
          <p:nvPr/>
        </p:nvSpPr>
        <p:spPr bwMode="auto">
          <a:xfrm>
            <a:off x="1219200" y="2057400"/>
            <a:ext cx="7315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The </a:t>
            </a:r>
            <a:r>
              <a:rPr lang="en-US" altLang="en-US" sz="3200" i="1">
                <a:latin typeface="Times New Roman" panose="02020603050405020304" pitchFamily="18" charset="0"/>
              </a:rPr>
              <a:t>height</a:t>
            </a:r>
            <a:r>
              <a:rPr lang="en-US" altLang="en-US" sz="3200">
                <a:latin typeface="Times New Roman" panose="02020603050405020304" pitchFamily="18" charset="0"/>
              </a:rPr>
              <a:t> of a rooted tree is the maximum of the levels of vertices.</a:t>
            </a:r>
          </a:p>
        </p:txBody>
      </p:sp>
      <p:grpSp>
        <p:nvGrpSpPr>
          <p:cNvPr id="157700" name="Group 4">
            <a:extLst>
              <a:ext uri="{FF2B5EF4-FFF2-40B4-BE49-F238E27FC236}">
                <a16:creationId xmlns:a16="http://schemas.microsoft.com/office/drawing/2014/main" id="{7B9639B8-0F45-4E93-8495-1E992B15CDD0}"/>
              </a:ext>
            </a:extLst>
          </p:cNvPr>
          <p:cNvGrpSpPr>
            <a:grpSpLocks/>
          </p:cNvGrpSpPr>
          <p:nvPr/>
        </p:nvGrpSpPr>
        <p:grpSpPr bwMode="auto">
          <a:xfrm>
            <a:off x="5181600" y="3352800"/>
            <a:ext cx="2286000" cy="2590800"/>
            <a:chOff x="3072" y="528"/>
            <a:chExt cx="1440" cy="1632"/>
          </a:xfrm>
        </p:grpSpPr>
        <p:sp>
          <p:nvSpPr>
            <p:cNvPr id="157701" name="Oval 5">
              <a:extLst>
                <a:ext uri="{FF2B5EF4-FFF2-40B4-BE49-F238E27FC236}">
                  <a16:creationId xmlns:a16="http://schemas.microsoft.com/office/drawing/2014/main" id="{7176E009-1835-41CA-9A0F-D0ED76DCE815}"/>
                </a:ext>
              </a:extLst>
            </p:cNvPr>
            <p:cNvSpPr>
              <a:spLocks noChangeArrowheads="1"/>
            </p:cNvSpPr>
            <p:nvPr/>
          </p:nvSpPr>
          <p:spPr bwMode="auto">
            <a:xfrm>
              <a:off x="3984"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02" name="Oval 6">
              <a:extLst>
                <a:ext uri="{FF2B5EF4-FFF2-40B4-BE49-F238E27FC236}">
                  <a16:creationId xmlns:a16="http://schemas.microsoft.com/office/drawing/2014/main" id="{EC35A9B4-8A93-49DC-953D-7B39C587AE9B}"/>
                </a:ext>
              </a:extLst>
            </p:cNvPr>
            <p:cNvSpPr>
              <a:spLocks noChangeArrowheads="1"/>
            </p:cNvSpPr>
            <p:nvPr/>
          </p:nvSpPr>
          <p:spPr bwMode="auto">
            <a:xfrm>
              <a:off x="3600"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03" name="Oval 7">
              <a:extLst>
                <a:ext uri="{FF2B5EF4-FFF2-40B4-BE49-F238E27FC236}">
                  <a16:creationId xmlns:a16="http://schemas.microsoft.com/office/drawing/2014/main" id="{17B934A6-73BD-4667-BA72-90BAC910A171}"/>
                </a:ext>
              </a:extLst>
            </p:cNvPr>
            <p:cNvSpPr>
              <a:spLocks noChangeArrowheads="1"/>
            </p:cNvSpPr>
            <p:nvPr/>
          </p:nvSpPr>
          <p:spPr bwMode="auto">
            <a:xfrm>
              <a:off x="4416"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04" name="Oval 8">
              <a:extLst>
                <a:ext uri="{FF2B5EF4-FFF2-40B4-BE49-F238E27FC236}">
                  <a16:creationId xmlns:a16="http://schemas.microsoft.com/office/drawing/2014/main" id="{8BD54D04-1497-4D46-ABFE-5D289CE6006E}"/>
                </a:ext>
              </a:extLst>
            </p:cNvPr>
            <p:cNvSpPr>
              <a:spLocks noChangeArrowheads="1"/>
            </p:cNvSpPr>
            <p:nvPr/>
          </p:nvSpPr>
          <p:spPr bwMode="auto">
            <a:xfrm>
              <a:off x="3312"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05" name="Oval 9">
              <a:extLst>
                <a:ext uri="{FF2B5EF4-FFF2-40B4-BE49-F238E27FC236}">
                  <a16:creationId xmlns:a16="http://schemas.microsoft.com/office/drawing/2014/main" id="{82D12FE5-28DF-478C-B5CF-5AF967804E91}"/>
                </a:ext>
              </a:extLst>
            </p:cNvPr>
            <p:cNvSpPr>
              <a:spLocks noChangeArrowheads="1"/>
            </p:cNvSpPr>
            <p:nvPr/>
          </p:nvSpPr>
          <p:spPr bwMode="auto">
            <a:xfrm>
              <a:off x="3888"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06" name="Oval 10">
              <a:extLst>
                <a:ext uri="{FF2B5EF4-FFF2-40B4-BE49-F238E27FC236}">
                  <a16:creationId xmlns:a16="http://schemas.microsoft.com/office/drawing/2014/main" id="{A5115805-E494-4F15-9428-15CD6EEFBF81}"/>
                </a:ext>
              </a:extLst>
            </p:cNvPr>
            <p:cNvSpPr>
              <a:spLocks noChangeArrowheads="1"/>
            </p:cNvSpPr>
            <p:nvPr/>
          </p:nvSpPr>
          <p:spPr bwMode="auto">
            <a:xfrm>
              <a:off x="3072"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07" name="Oval 11">
              <a:extLst>
                <a:ext uri="{FF2B5EF4-FFF2-40B4-BE49-F238E27FC236}">
                  <a16:creationId xmlns:a16="http://schemas.microsoft.com/office/drawing/2014/main" id="{276595CB-A434-47F8-9C49-085664B84437}"/>
                </a:ext>
              </a:extLst>
            </p:cNvPr>
            <p:cNvSpPr>
              <a:spLocks noChangeArrowheads="1"/>
            </p:cNvSpPr>
            <p:nvPr/>
          </p:nvSpPr>
          <p:spPr bwMode="auto">
            <a:xfrm>
              <a:off x="3504"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08" name="Line 12">
              <a:extLst>
                <a:ext uri="{FF2B5EF4-FFF2-40B4-BE49-F238E27FC236}">
                  <a16:creationId xmlns:a16="http://schemas.microsoft.com/office/drawing/2014/main" id="{143251C2-A700-40B8-8452-CC4D291C8445}"/>
                </a:ext>
              </a:extLst>
            </p:cNvPr>
            <p:cNvSpPr>
              <a:spLocks noChangeShapeType="1"/>
            </p:cNvSpPr>
            <p:nvPr/>
          </p:nvSpPr>
          <p:spPr bwMode="auto">
            <a:xfrm flipH="1">
              <a:off x="3648" y="57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09" name="Line 13">
              <a:extLst>
                <a:ext uri="{FF2B5EF4-FFF2-40B4-BE49-F238E27FC236}">
                  <a16:creationId xmlns:a16="http://schemas.microsoft.com/office/drawing/2014/main" id="{74182B9B-61F7-4579-ABC8-3D557651028E}"/>
                </a:ext>
              </a:extLst>
            </p:cNvPr>
            <p:cNvSpPr>
              <a:spLocks noChangeShapeType="1"/>
            </p:cNvSpPr>
            <p:nvPr/>
          </p:nvSpPr>
          <p:spPr bwMode="auto">
            <a:xfrm>
              <a:off x="4032" y="57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0" name="Line 14">
              <a:extLst>
                <a:ext uri="{FF2B5EF4-FFF2-40B4-BE49-F238E27FC236}">
                  <a16:creationId xmlns:a16="http://schemas.microsoft.com/office/drawing/2014/main" id="{9A8ADC66-17AD-4AC3-A178-0279FA951D95}"/>
                </a:ext>
              </a:extLst>
            </p:cNvPr>
            <p:cNvSpPr>
              <a:spLocks noChangeShapeType="1"/>
            </p:cNvSpPr>
            <p:nvPr/>
          </p:nvSpPr>
          <p:spPr bwMode="auto">
            <a:xfrm flipH="1">
              <a:off x="3360" y="100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1" name="Line 15">
              <a:extLst>
                <a:ext uri="{FF2B5EF4-FFF2-40B4-BE49-F238E27FC236}">
                  <a16:creationId xmlns:a16="http://schemas.microsoft.com/office/drawing/2014/main" id="{A6766035-7CCB-407E-88F4-2CD0E369C26E}"/>
                </a:ext>
              </a:extLst>
            </p:cNvPr>
            <p:cNvSpPr>
              <a:spLocks noChangeShapeType="1"/>
            </p:cNvSpPr>
            <p:nvPr/>
          </p:nvSpPr>
          <p:spPr bwMode="auto">
            <a:xfrm>
              <a:off x="3648" y="100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2" name="Line 16">
              <a:extLst>
                <a:ext uri="{FF2B5EF4-FFF2-40B4-BE49-F238E27FC236}">
                  <a16:creationId xmlns:a16="http://schemas.microsoft.com/office/drawing/2014/main" id="{FD51FA7E-A72E-417B-BA5A-27322F3C941E}"/>
                </a:ext>
              </a:extLst>
            </p:cNvPr>
            <p:cNvSpPr>
              <a:spLocks noChangeShapeType="1"/>
            </p:cNvSpPr>
            <p:nvPr/>
          </p:nvSpPr>
          <p:spPr bwMode="auto">
            <a:xfrm flipH="1">
              <a:off x="3120"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3" name="Line 17">
              <a:extLst>
                <a:ext uri="{FF2B5EF4-FFF2-40B4-BE49-F238E27FC236}">
                  <a16:creationId xmlns:a16="http://schemas.microsoft.com/office/drawing/2014/main" id="{F63EFD69-A14E-4092-B837-E8705AB7633B}"/>
                </a:ext>
              </a:extLst>
            </p:cNvPr>
            <p:cNvSpPr>
              <a:spLocks noChangeShapeType="1"/>
            </p:cNvSpPr>
            <p:nvPr/>
          </p:nvSpPr>
          <p:spPr bwMode="auto">
            <a:xfrm>
              <a:off x="3360"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4" name="Oval 18">
              <a:extLst>
                <a:ext uri="{FF2B5EF4-FFF2-40B4-BE49-F238E27FC236}">
                  <a16:creationId xmlns:a16="http://schemas.microsoft.com/office/drawing/2014/main" id="{E147A6CE-62CB-4276-BFCB-7F68691B5F58}"/>
                </a:ext>
              </a:extLst>
            </p:cNvPr>
            <p:cNvSpPr>
              <a:spLocks noChangeArrowheads="1"/>
            </p:cNvSpPr>
            <p:nvPr/>
          </p:nvSpPr>
          <p:spPr bwMode="auto">
            <a:xfrm>
              <a:off x="4032"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5" name="Line 19">
              <a:extLst>
                <a:ext uri="{FF2B5EF4-FFF2-40B4-BE49-F238E27FC236}">
                  <a16:creationId xmlns:a16="http://schemas.microsoft.com/office/drawing/2014/main" id="{1C3060BD-D780-44D4-A070-B83D38DCD366}"/>
                </a:ext>
              </a:extLst>
            </p:cNvPr>
            <p:cNvSpPr>
              <a:spLocks noChangeShapeType="1"/>
            </p:cNvSpPr>
            <p:nvPr/>
          </p:nvSpPr>
          <p:spPr bwMode="auto">
            <a:xfrm flipH="1" flipV="1">
              <a:off x="4032" y="576"/>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6" name="Oval 20">
              <a:extLst>
                <a:ext uri="{FF2B5EF4-FFF2-40B4-BE49-F238E27FC236}">
                  <a16:creationId xmlns:a16="http://schemas.microsoft.com/office/drawing/2014/main" id="{B2DA8065-6B8E-405B-BEEF-37281BC2B9A9}"/>
                </a:ext>
              </a:extLst>
            </p:cNvPr>
            <p:cNvSpPr>
              <a:spLocks noChangeArrowheads="1"/>
            </p:cNvSpPr>
            <p:nvPr/>
          </p:nvSpPr>
          <p:spPr bwMode="auto">
            <a:xfrm>
              <a:off x="3600" y="14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7" name="Oval 21">
              <a:extLst>
                <a:ext uri="{FF2B5EF4-FFF2-40B4-BE49-F238E27FC236}">
                  <a16:creationId xmlns:a16="http://schemas.microsoft.com/office/drawing/2014/main" id="{26431DC3-23D4-4C43-8628-1509D4C4F473}"/>
                </a:ext>
              </a:extLst>
            </p:cNvPr>
            <p:cNvSpPr>
              <a:spLocks noChangeArrowheads="1"/>
            </p:cNvSpPr>
            <p:nvPr/>
          </p:nvSpPr>
          <p:spPr bwMode="auto">
            <a:xfrm>
              <a:off x="3264"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8" name="Line 22">
              <a:extLst>
                <a:ext uri="{FF2B5EF4-FFF2-40B4-BE49-F238E27FC236}">
                  <a16:creationId xmlns:a16="http://schemas.microsoft.com/office/drawing/2014/main" id="{AAE10B93-8D41-43F2-8879-DF1A0811C2D9}"/>
                </a:ext>
              </a:extLst>
            </p:cNvPr>
            <p:cNvSpPr>
              <a:spLocks noChangeShapeType="1"/>
            </p:cNvSpPr>
            <p:nvPr/>
          </p:nvSpPr>
          <p:spPr bwMode="auto">
            <a:xfrm flipH="1">
              <a:off x="3312" y="158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19" name="Line 23">
              <a:extLst>
                <a:ext uri="{FF2B5EF4-FFF2-40B4-BE49-F238E27FC236}">
                  <a16:creationId xmlns:a16="http://schemas.microsoft.com/office/drawing/2014/main" id="{5801A8F0-64D1-4992-B03E-B2963D4989B5}"/>
                </a:ext>
              </a:extLst>
            </p:cNvPr>
            <p:cNvSpPr>
              <a:spLocks noChangeShapeType="1"/>
            </p:cNvSpPr>
            <p:nvPr/>
          </p:nvSpPr>
          <p:spPr bwMode="auto">
            <a:xfrm>
              <a:off x="3648" y="1056"/>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20" name="Oval 24">
              <a:extLst>
                <a:ext uri="{FF2B5EF4-FFF2-40B4-BE49-F238E27FC236}">
                  <a16:creationId xmlns:a16="http://schemas.microsoft.com/office/drawing/2014/main" id="{637F72AB-5742-4FFD-BAC4-BCF2146B24E9}"/>
                </a:ext>
              </a:extLst>
            </p:cNvPr>
            <p:cNvSpPr>
              <a:spLocks noChangeArrowheads="1"/>
            </p:cNvSpPr>
            <p:nvPr/>
          </p:nvSpPr>
          <p:spPr bwMode="auto">
            <a:xfrm>
              <a:off x="3648"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21" name="Oval 25">
              <a:extLst>
                <a:ext uri="{FF2B5EF4-FFF2-40B4-BE49-F238E27FC236}">
                  <a16:creationId xmlns:a16="http://schemas.microsoft.com/office/drawing/2014/main" id="{94076637-DCC5-480C-8CB7-86149CE4D266}"/>
                </a:ext>
              </a:extLst>
            </p:cNvPr>
            <p:cNvSpPr>
              <a:spLocks noChangeArrowheads="1"/>
            </p:cNvSpPr>
            <p:nvPr/>
          </p:nvSpPr>
          <p:spPr bwMode="auto">
            <a:xfrm>
              <a:off x="408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22" name="Line 26">
              <a:extLst>
                <a:ext uri="{FF2B5EF4-FFF2-40B4-BE49-F238E27FC236}">
                  <a16:creationId xmlns:a16="http://schemas.microsoft.com/office/drawing/2014/main" id="{07ECF6F5-77CF-4FB1-8098-503C3AC43164}"/>
                </a:ext>
              </a:extLst>
            </p:cNvPr>
            <p:cNvSpPr>
              <a:spLocks noChangeShapeType="1"/>
            </p:cNvSpPr>
            <p:nvPr/>
          </p:nvSpPr>
          <p:spPr bwMode="auto">
            <a:xfrm flipH="1">
              <a:off x="3696"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23" name="Line 27">
              <a:extLst>
                <a:ext uri="{FF2B5EF4-FFF2-40B4-BE49-F238E27FC236}">
                  <a16:creationId xmlns:a16="http://schemas.microsoft.com/office/drawing/2014/main" id="{1D13C357-1A5F-4BB0-B8C7-1CD172DA800F}"/>
                </a:ext>
              </a:extLst>
            </p:cNvPr>
            <p:cNvSpPr>
              <a:spLocks noChangeShapeType="1"/>
            </p:cNvSpPr>
            <p:nvPr/>
          </p:nvSpPr>
          <p:spPr bwMode="auto">
            <a:xfrm>
              <a:off x="3936"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24" name="Oval 28">
              <a:extLst>
                <a:ext uri="{FF2B5EF4-FFF2-40B4-BE49-F238E27FC236}">
                  <a16:creationId xmlns:a16="http://schemas.microsoft.com/office/drawing/2014/main" id="{76458577-C92F-4615-B236-5AC06D10E3E7}"/>
                </a:ext>
              </a:extLst>
            </p:cNvPr>
            <p:cNvSpPr>
              <a:spLocks noChangeArrowheads="1"/>
            </p:cNvSpPr>
            <p:nvPr/>
          </p:nvSpPr>
          <p:spPr bwMode="auto">
            <a:xfrm>
              <a:off x="384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7725" name="Line 29">
              <a:extLst>
                <a:ext uri="{FF2B5EF4-FFF2-40B4-BE49-F238E27FC236}">
                  <a16:creationId xmlns:a16="http://schemas.microsoft.com/office/drawing/2014/main" id="{EE9150C5-0EB4-481E-A7D9-3DEC77DA579D}"/>
                </a:ext>
              </a:extLst>
            </p:cNvPr>
            <p:cNvSpPr>
              <a:spLocks noChangeShapeType="1"/>
            </p:cNvSpPr>
            <p:nvPr/>
          </p:nvSpPr>
          <p:spPr bwMode="auto">
            <a:xfrm flipH="1">
              <a:off x="3888" y="158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7700"/>
                                        </p:tgtEl>
                                        <p:attrNameLst>
                                          <p:attrName>style.visibility</p:attrName>
                                        </p:attrNameLst>
                                      </p:cBhvr>
                                      <p:to>
                                        <p:strVal val="visible"/>
                                      </p:to>
                                    </p:set>
                                    <p:animEffect transition="in" filter="dissolve">
                                      <p:cBhvr>
                                        <p:cTn id="7" dur="500"/>
                                        <p:tgtEl>
                                          <p:spTgt spid="157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a:extLst>
              <a:ext uri="{FF2B5EF4-FFF2-40B4-BE49-F238E27FC236}">
                <a16:creationId xmlns:a16="http://schemas.microsoft.com/office/drawing/2014/main" id="{5E97CE6D-0BA8-4B09-B8CA-939C872FA140}"/>
              </a:ext>
            </a:extLst>
          </p:cNvPr>
          <p:cNvSpPr>
            <a:spLocks noGrp="1" noChangeArrowheads="1"/>
          </p:cNvSpPr>
          <p:nvPr>
            <p:ph type="title"/>
          </p:nvPr>
        </p:nvSpPr>
        <p:spPr/>
        <p:txBody>
          <a:bodyPr/>
          <a:lstStyle/>
          <a:p>
            <a:r>
              <a:rPr lang="en-US" altLang="en-US"/>
              <a:t>Properties of Trees</a:t>
            </a:r>
          </a:p>
        </p:txBody>
      </p:sp>
      <p:sp>
        <p:nvSpPr>
          <p:cNvPr id="158723" name="Text Box 3">
            <a:extLst>
              <a:ext uri="{FF2B5EF4-FFF2-40B4-BE49-F238E27FC236}">
                <a16:creationId xmlns:a16="http://schemas.microsoft.com/office/drawing/2014/main" id="{110DF86A-F052-46D0-AFBE-4B80BB26EAD4}"/>
              </a:ext>
            </a:extLst>
          </p:cNvPr>
          <p:cNvSpPr txBox="1">
            <a:spLocks noChangeArrowheads="1"/>
          </p:cNvSpPr>
          <p:nvPr/>
        </p:nvSpPr>
        <p:spPr bwMode="auto">
          <a:xfrm>
            <a:off x="533400" y="2057400"/>
            <a:ext cx="7848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A rooted </a:t>
            </a:r>
            <a:r>
              <a:rPr lang="en-US" altLang="en-US" sz="3200" i="1">
                <a:latin typeface="Times New Roman" panose="02020603050405020304" pitchFamily="18" charset="0"/>
              </a:rPr>
              <a:t>m</a:t>
            </a:r>
            <a:r>
              <a:rPr lang="en-US" altLang="en-US" sz="3200">
                <a:latin typeface="Times New Roman" panose="02020603050405020304" pitchFamily="18" charset="0"/>
              </a:rPr>
              <a:t>-ary tree of height</a:t>
            </a:r>
            <a:r>
              <a:rPr lang="en-US" altLang="en-US" sz="3200" i="1">
                <a:latin typeface="Times New Roman" panose="02020603050405020304" pitchFamily="18" charset="0"/>
              </a:rPr>
              <a:t> h</a:t>
            </a:r>
            <a:r>
              <a:rPr lang="en-US" altLang="en-US" sz="3200">
                <a:latin typeface="Times New Roman" panose="02020603050405020304" pitchFamily="18" charset="0"/>
              </a:rPr>
              <a:t> is called </a:t>
            </a:r>
            <a:r>
              <a:rPr lang="en-US" altLang="en-US" sz="3200" i="1">
                <a:latin typeface="Times New Roman" panose="02020603050405020304" pitchFamily="18" charset="0"/>
              </a:rPr>
              <a:t>balanced</a:t>
            </a:r>
            <a:r>
              <a:rPr lang="en-US" altLang="en-US" sz="3200">
                <a:latin typeface="Times New Roman" panose="02020603050405020304" pitchFamily="18" charset="0"/>
              </a:rPr>
              <a:t> if all leaves are at levels </a:t>
            </a:r>
            <a:r>
              <a:rPr lang="en-US" altLang="en-US" sz="3200" i="1">
                <a:latin typeface="Times New Roman" panose="02020603050405020304" pitchFamily="18" charset="0"/>
              </a:rPr>
              <a:t>h</a:t>
            </a:r>
            <a:r>
              <a:rPr lang="en-US" altLang="en-US" sz="3200">
                <a:latin typeface="Times New Roman" panose="02020603050405020304" pitchFamily="18" charset="0"/>
              </a:rPr>
              <a:t> or </a:t>
            </a:r>
            <a:r>
              <a:rPr lang="en-US" altLang="en-US" sz="3200" i="1">
                <a:latin typeface="Times New Roman" panose="02020603050405020304" pitchFamily="18" charset="0"/>
              </a:rPr>
              <a:t>h</a:t>
            </a:r>
            <a:r>
              <a:rPr lang="en-US" altLang="en-US" sz="3200">
                <a:latin typeface="Times New Roman" panose="02020603050405020304" pitchFamily="18" charset="0"/>
              </a:rPr>
              <a:t>-1.</a:t>
            </a:r>
          </a:p>
        </p:txBody>
      </p:sp>
      <p:grpSp>
        <p:nvGrpSpPr>
          <p:cNvPr id="158724" name="Group 4">
            <a:extLst>
              <a:ext uri="{FF2B5EF4-FFF2-40B4-BE49-F238E27FC236}">
                <a16:creationId xmlns:a16="http://schemas.microsoft.com/office/drawing/2014/main" id="{E9F3038E-F6C6-44A7-8D71-A014A5FF20AF}"/>
              </a:ext>
            </a:extLst>
          </p:cNvPr>
          <p:cNvGrpSpPr>
            <a:grpSpLocks/>
          </p:cNvGrpSpPr>
          <p:nvPr/>
        </p:nvGrpSpPr>
        <p:grpSpPr bwMode="auto">
          <a:xfrm>
            <a:off x="1143000" y="4343400"/>
            <a:ext cx="1600200" cy="1600200"/>
            <a:chOff x="720" y="528"/>
            <a:chExt cx="1440" cy="1632"/>
          </a:xfrm>
        </p:grpSpPr>
        <p:sp>
          <p:nvSpPr>
            <p:cNvPr id="158725" name="Oval 5">
              <a:extLst>
                <a:ext uri="{FF2B5EF4-FFF2-40B4-BE49-F238E27FC236}">
                  <a16:creationId xmlns:a16="http://schemas.microsoft.com/office/drawing/2014/main" id="{003FFA2B-E893-4046-9313-035206E9A5D8}"/>
                </a:ext>
              </a:extLst>
            </p:cNvPr>
            <p:cNvSpPr>
              <a:spLocks noChangeArrowheads="1"/>
            </p:cNvSpPr>
            <p:nvPr/>
          </p:nvSpPr>
          <p:spPr bwMode="auto">
            <a:xfrm>
              <a:off x="1632"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26" name="Oval 6">
              <a:extLst>
                <a:ext uri="{FF2B5EF4-FFF2-40B4-BE49-F238E27FC236}">
                  <a16:creationId xmlns:a16="http://schemas.microsoft.com/office/drawing/2014/main" id="{CD7D43F1-1270-4F1E-AF77-EEB68CA8D425}"/>
                </a:ext>
              </a:extLst>
            </p:cNvPr>
            <p:cNvSpPr>
              <a:spLocks noChangeArrowheads="1"/>
            </p:cNvSpPr>
            <p:nvPr/>
          </p:nvSpPr>
          <p:spPr bwMode="auto">
            <a:xfrm>
              <a:off x="1248"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27" name="Oval 7">
              <a:extLst>
                <a:ext uri="{FF2B5EF4-FFF2-40B4-BE49-F238E27FC236}">
                  <a16:creationId xmlns:a16="http://schemas.microsoft.com/office/drawing/2014/main" id="{56546DA4-6264-49DE-BFB9-A8A1BE887885}"/>
                </a:ext>
              </a:extLst>
            </p:cNvPr>
            <p:cNvSpPr>
              <a:spLocks noChangeArrowheads="1"/>
            </p:cNvSpPr>
            <p:nvPr/>
          </p:nvSpPr>
          <p:spPr bwMode="auto">
            <a:xfrm>
              <a:off x="2064"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28" name="Oval 8">
              <a:extLst>
                <a:ext uri="{FF2B5EF4-FFF2-40B4-BE49-F238E27FC236}">
                  <a16:creationId xmlns:a16="http://schemas.microsoft.com/office/drawing/2014/main" id="{6DBCB394-016C-4BAC-834C-85B9E466CB28}"/>
                </a:ext>
              </a:extLst>
            </p:cNvPr>
            <p:cNvSpPr>
              <a:spLocks noChangeArrowheads="1"/>
            </p:cNvSpPr>
            <p:nvPr/>
          </p:nvSpPr>
          <p:spPr bwMode="auto">
            <a:xfrm>
              <a:off x="960"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29" name="Oval 9">
              <a:extLst>
                <a:ext uri="{FF2B5EF4-FFF2-40B4-BE49-F238E27FC236}">
                  <a16:creationId xmlns:a16="http://schemas.microsoft.com/office/drawing/2014/main" id="{E87E1E47-82AB-478C-A2E9-5822008BC1F5}"/>
                </a:ext>
              </a:extLst>
            </p:cNvPr>
            <p:cNvSpPr>
              <a:spLocks noChangeArrowheads="1"/>
            </p:cNvSpPr>
            <p:nvPr/>
          </p:nvSpPr>
          <p:spPr bwMode="auto">
            <a:xfrm>
              <a:off x="1536"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30" name="Oval 10">
              <a:extLst>
                <a:ext uri="{FF2B5EF4-FFF2-40B4-BE49-F238E27FC236}">
                  <a16:creationId xmlns:a16="http://schemas.microsoft.com/office/drawing/2014/main" id="{EB950424-8D29-481C-A690-FB3AFDAF69EE}"/>
                </a:ext>
              </a:extLst>
            </p:cNvPr>
            <p:cNvSpPr>
              <a:spLocks noChangeArrowheads="1"/>
            </p:cNvSpPr>
            <p:nvPr/>
          </p:nvSpPr>
          <p:spPr bwMode="auto">
            <a:xfrm>
              <a:off x="72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31" name="Oval 11">
              <a:extLst>
                <a:ext uri="{FF2B5EF4-FFF2-40B4-BE49-F238E27FC236}">
                  <a16:creationId xmlns:a16="http://schemas.microsoft.com/office/drawing/2014/main" id="{A8C67265-A0A6-4E0B-9EC7-0A8D5907BEC4}"/>
                </a:ext>
              </a:extLst>
            </p:cNvPr>
            <p:cNvSpPr>
              <a:spLocks noChangeArrowheads="1"/>
            </p:cNvSpPr>
            <p:nvPr/>
          </p:nvSpPr>
          <p:spPr bwMode="auto">
            <a:xfrm>
              <a:off x="1152"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32" name="Line 12">
              <a:extLst>
                <a:ext uri="{FF2B5EF4-FFF2-40B4-BE49-F238E27FC236}">
                  <a16:creationId xmlns:a16="http://schemas.microsoft.com/office/drawing/2014/main" id="{FDA6C334-872D-49A6-8C55-2D5D12AA6694}"/>
                </a:ext>
              </a:extLst>
            </p:cNvPr>
            <p:cNvSpPr>
              <a:spLocks noChangeShapeType="1"/>
            </p:cNvSpPr>
            <p:nvPr/>
          </p:nvSpPr>
          <p:spPr bwMode="auto">
            <a:xfrm flipH="1">
              <a:off x="1296" y="57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33" name="Line 13">
              <a:extLst>
                <a:ext uri="{FF2B5EF4-FFF2-40B4-BE49-F238E27FC236}">
                  <a16:creationId xmlns:a16="http://schemas.microsoft.com/office/drawing/2014/main" id="{C156F48B-8638-4CC3-87EA-ECE2FDD0FD2B}"/>
                </a:ext>
              </a:extLst>
            </p:cNvPr>
            <p:cNvSpPr>
              <a:spLocks noChangeShapeType="1"/>
            </p:cNvSpPr>
            <p:nvPr/>
          </p:nvSpPr>
          <p:spPr bwMode="auto">
            <a:xfrm>
              <a:off x="1680" y="57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34" name="Line 14">
              <a:extLst>
                <a:ext uri="{FF2B5EF4-FFF2-40B4-BE49-F238E27FC236}">
                  <a16:creationId xmlns:a16="http://schemas.microsoft.com/office/drawing/2014/main" id="{7F63658E-DFA1-4DA2-990B-1008CA01891F}"/>
                </a:ext>
              </a:extLst>
            </p:cNvPr>
            <p:cNvSpPr>
              <a:spLocks noChangeShapeType="1"/>
            </p:cNvSpPr>
            <p:nvPr/>
          </p:nvSpPr>
          <p:spPr bwMode="auto">
            <a:xfrm flipH="1">
              <a:off x="1008" y="100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35" name="Line 15">
              <a:extLst>
                <a:ext uri="{FF2B5EF4-FFF2-40B4-BE49-F238E27FC236}">
                  <a16:creationId xmlns:a16="http://schemas.microsoft.com/office/drawing/2014/main" id="{0268C899-37CC-42E6-BD80-AD5295E29603}"/>
                </a:ext>
              </a:extLst>
            </p:cNvPr>
            <p:cNvSpPr>
              <a:spLocks noChangeShapeType="1"/>
            </p:cNvSpPr>
            <p:nvPr/>
          </p:nvSpPr>
          <p:spPr bwMode="auto">
            <a:xfrm>
              <a:off x="1296" y="100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36" name="Line 16">
              <a:extLst>
                <a:ext uri="{FF2B5EF4-FFF2-40B4-BE49-F238E27FC236}">
                  <a16:creationId xmlns:a16="http://schemas.microsoft.com/office/drawing/2014/main" id="{6CD2CFF8-6D0A-46AB-AFC0-D10D1F29E091}"/>
                </a:ext>
              </a:extLst>
            </p:cNvPr>
            <p:cNvSpPr>
              <a:spLocks noChangeShapeType="1"/>
            </p:cNvSpPr>
            <p:nvPr/>
          </p:nvSpPr>
          <p:spPr bwMode="auto">
            <a:xfrm flipH="1">
              <a:off x="768"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37" name="Line 17">
              <a:extLst>
                <a:ext uri="{FF2B5EF4-FFF2-40B4-BE49-F238E27FC236}">
                  <a16:creationId xmlns:a16="http://schemas.microsoft.com/office/drawing/2014/main" id="{015ECC32-065D-4AF2-877B-0342F272D701}"/>
                </a:ext>
              </a:extLst>
            </p:cNvPr>
            <p:cNvSpPr>
              <a:spLocks noChangeShapeType="1"/>
            </p:cNvSpPr>
            <p:nvPr/>
          </p:nvSpPr>
          <p:spPr bwMode="auto">
            <a:xfrm>
              <a:off x="1008"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58772" name="Group 52">
            <a:extLst>
              <a:ext uri="{FF2B5EF4-FFF2-40B4-BE49-F238E27FC236}">
                <a16:creationId xmlns:a16="http://schemas.microsoft.com/office/drawing/2014/main" id="{C1278EF0-73DB-42D3-AFDA-F0CE1C1937BF}"/>
              </a:ext>
            </a:extLst>
          </p:cNvPr>
          <p:cNvGrpSpPr>
            <a:grpSpLocks/>
          </p:cNvGrpSpPr>
          <p:nvPr/>
        </p:nvGrpSpPr>
        <p:grpSpPr bwMode="auto">
          <a:xfrm>
            <a:off x="3657600" y="4191000"/>
            <a:ext cx="2362200" cy="1905000"/>
            <a:chOff x="2016" y="2208"/>
            <a:chExt cx="1872" cy="1680"/>
          </a:xfrm>
        </p:grpSpPr>
        <p:sp>
          <p:nvSpPr>
            <p:cNvPr id="158739" name="Oval 19">
              <a:extLst>
                <a:ext uri="{FF2B5EF4-FFF2-40B4-BE49-F238E27FC236}">
                  <a16:creationId xmlns:a16="http://schemas.microsoft.com/office/drawing/2014/main" id="{E6D9096A-120F-40E8-8DD6-7EAF91ADFF29}"/>
                </a:ext>
              </a:extLst>
            </p:cNvPr>
            <p:cNvSpPr>
              <a:spLocks noChangeArrowheads="1"/>
            </p:cNvSpPr>
            <p:nvPr/>
          </p:nvSpPr>
          <p:spPr bwMode="auto">
            <a:xfrm>
              <a:off x="2928" y="220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0" name="Oval 20">
              <a:extLst>
                <a:ext uri="{FF2B5EF4-FFF2-40B4-BE49-F238E27FC236}">
                  <a16:creationId xmlns:a16="http://schemas.microsoft.com/office/drawing/2014/main" id="{EF7BDAD1-970B-4CB0-B294-4EDAE70A59E4}"/>
                </a:ext>
              </a:extLst>
            </p:cNvPr>
            <p:cNvSpPr>
              <a:spLocks noChangeArrowheads="1"/>
            </p:cNvSpPr>
            <p:nvPr/>
          </p:nvSpPr>
          <p:spPr bwMode="auto">
            <a:xfrm>
              <a:off x="2544"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1" name="Oval 21">
              <a:extLst>
                <a:ext uri="{FF2B5EF4-FFF2-40B4-BE49-F238E27FC236}">
                  <a16:creationId xmlns:a16="http://schemas.microsoft.com/office/drawing/2014/main" id="{F48E833F-C292-4BA0-AD8A-87EBB2793654}"/>
                </a:ext>
              </a:extLst>
            </p:cNvPr>
            <p:cNvSpPr>
              <a:spLocks noChangeArrowheads="1"/>
            </p:cNvSpPr>
            <p:nvPr/>
          </p:nvSpPr>
          <p:spPr bwMode="auto">
            <a:xfrm>
              <a:off x="3360"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2" name="Oval 22">
              <a:extLst>
                <a:ext uri="{FF2B5EF4-FFF2-40B4-BE49-F238E27FC236}">
                  <a16:creationId xmlns:a16="http://schemas.microsoft.com/office/drawing/2014/main" id="{E5F95F1A-68B3-4F9B-B8F4-F625C73D83F0}"/>
                </a:ext>
              </a:extLst>
            </p:cNvPr>
            <p:cNvSpPr>
              <a:spLocks noChangeArrowheads="1"/>
            </p:cNvSpPr>
            <p:nvPr/>
          </p:nvSpPr>
          <p:spPr bwMode="auto">
            <a:xfrm>
              <a:off x="2256"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3" name="Oval 23">
              <a:extLst>
                <a:ext uri="{FF2B5EF4-FFF2-40B4-BE49-F238E27FC236}">
                  <a16:creationId xmlns:a16="http://schemas.microsoft.com/office/drawing/2014/main" id="{993EAF62-E4D8-4B87-89B7-32D6483CB3BE}"/>
                </a:ext>
              </a:extLst>
            </p:cNvPr>
            <p:cNvSpPr>
              <a:spLocks noChangeArrowheads="1"/>
            </p:cNvSpPr>
            <p:nvPr/>
          </p:nvSpPr>
          <p:spPr bwMode="auto">
            <a:xfrm>
              <a:off x="2832"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4" name="Oval 24">
              <a:extLst>
                <a:ext uri="{FF2B5EF4-FFF2-40B4-BE49-F238E27FC236}">
                  <a16:creationId xmlns:a16="http://schemas.microsoft.com/office/drawing/2014/main" id="{3CA7B414-0A3B-4FC7-B41C-3BA7DF49EC26}"/>
                </a:ext>
              </a:extLst>
            </p:cNvPr>
            <p:cNvSpPr>
              <a:spLocks noChangeArrowheads="1"/>
            </p:cNvSpPr>
            <p:nvPr/>
          </p:nvSpPr>
          <p:spPr bwMode="auto">
            <a:xfrm>
              <a:off x="2016"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5" name="Oval 25">
              <a:extLst>
                <a:ext uri="{FF2B5EF4-FFF2-40B4-BE49-F238E27FC236}">
                  <a16:creationId xmlns:a16="http://schemas.microsoft.com/office/drawing/2014/main" id="{6EC8811E-C7C7-4BA0-8F63-2C3C13E7C739}"/>
                </a:ext>
              </a:extLst>
            </p:cNvPr>
            <p:cNvSpPr>
              <a:spLocks noChangeArrowheads="1"/>
            </p:cNvSpPr>
            <p:nvPr/>
          </p:nvSpPr>
          <p:spPr bwMode="auto">
            <a:xfrm>
              <a:off x="2448"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6" name="Line 26">
              <a:extLst>
                <a:ext uri="{FF2B5EF4-FFF2-40B4-BE49-F238E27FC236}">
                  <a16:creationId xmlns:a16="http://schemas.microsoft.com/office/drawing/2014/main" id="{7CA9DA08-43A4-49AE-B6A5-6ADF94D34444}"/>
                </a:ext>
              </a:extLst>
            </p:cNvPr>
            <p:cNvSpPr>
              <a:spLocks noChangeShapeType="1"/>
            </p:cNvSpPr>
            <p:nvPr/>
          </p:nvSpPr>
          <p:spPr bwMode="auto">
            <a:xfrm flipH="1">
              <a:off x="2592" y="225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7" name="Line 27">
              <a:extLst>
                <a:ext uri="{FF2B5EF4-FFF2-40B4-BE49-F238E27FC236}">
                  <a16:creationId xmlns:a16="http://schemas.microsoft.com/office/drawing/2014/main" id="{3E32A0F4-A8B7-485F-914F-68E34BCE752E}"/>
                </a:ext>
              </a:extLst>
            </p:cNvPr>
            <p:cNvSpPr>
              <a:spLocks noChangeShapeType="1"/>
            </p:cNvSpPr>
            <p:nvPr/>
          </p:nvSpPr>
          <p:spPr bwMode="auto">
            <a:xfrm>
              <a:off x="2976" y="225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8" name="Line 28">
              <a:extLst>
                <a:ext uri="{FF2B5EF4-FFF2-40B4-BE49-F238E27FC236}">
                  <a16:creationId xmlns:a16="http://schemas.microsoft.com/office/drawing/2014/main" id="{21058644-2D5E-4DF5-A34B-51DF172DB564}"/>
                </a:ext>
              </a:extLst>
            </p:cNvPr>
            <p:cNvSpPr>
              <a:spLocks noChangeShapeType="1"/>
            </p:cNvSpPr>
            <p:nvPr/>
          </p:nvSpPr>
          <p:spPr bwMode="auto">
            <a:xfrm flipH="1">
              <a:off x="2304" y="268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49" name="Line 29">
              <a:extLst>
                <a:ext uri="{FF2B5EF4-FFF2-40B4-BE49-F238E27FC236}">
                  <a16:creationId xmlns:a16="http://schemas.microsoft.com/office/drawing/2014/main" id="{F658B355-3AE2-41F9-9BC9-BD7EFBFB3B4B}"/>
                </a:ext>
              </a:extLst>
            </p:cNvPr>
            <p:cNvSpPr>
              <a:spLocks noChangeShapeType="1"/>
            </p:cNvSpPr>
            <p:nvPr/>
          </p:nvSpPr>
          <p:spPr bwMode="auto">
            <a:xfrm>
              <a:off x="2592" y="268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0" name="Line 30">
              <a:extLst>
                <a:ext uri="{FF2B5EF4-FFF2-40B4-BE49-F238E27FC236}">
                  <a16:creationId xmlns:a16="http://schemas.microsoft.com/office/drawing/2014/main" id="{5C2EA770-2F1B-41BF-9FA6-F07724BF6F0E}"/>
                </a:ext>
              </a:extLst>
            </p:cNvPr>
            <p:cNvSpPr>
              <a:spLocks noChangeShapeType="1"/>
            </p:cNvSpPr>
            <p:nvPr/>
          </p:nvSpPr>
          <p:spPr bwMode="auto">
            <a:xfrm flipH="1">
              <a:off x="2064" y="326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1" name="Line 31">
              <a:extLst>
                <a:ext uri="{FF2B5EF4-FFF2-40B4-BE49-F238E27FC236}">
                  <a16:creationId xmlns:a16="http://schemas.microsoft.com/office/drawing/2014/main" id="{90AAA69D-8856-4A60-8311-28B4DBC9F167}"/>
                </a:ext>
              </a:extLst>
            </p:cNvPr>
            <p:cNvSpPr>
              <a:spLocks noChangeShapeType="1"/>
            </p:cNvSpPr>
            <p:nvPr/>
          </p:nvSpPr>
          <p:spPr bwMode="auto">
            <a:xfrm>
              <a:off x="2304" y="326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2" name="Oval 32">
              <a:extLst>
                <a:ext uri="{FF2B5EF4-FFF2-40B4-BE49-F238E27FC236}">
                  <a16:creationId xmlns:a16="http://schemas.microsoft.com/office/drawing/2014/main" id="{FD532976-D5F9-497D-9A30-E25FE647C988}"/>
                </a:ext>
              </a:extLst>
            </p:cNvPr>
            <p:cNvSpPr>
              <a:spLocks noChangeArrowheads="1"/>
            </p:cNvSpPr>
            <p:nvPr/>
          </p:nvSpPr>
          <p:spPr bwMode="auto">
            <a:xfrm>
              <a:off x="2976"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3" name="Line 33">
              <a:extLst>
                <a:ext uri="{FF2B5EF4-FFF2-40B4-BE49-F238E27FC236}">
                  <a16:creationId xmlns:a16="http://schemas.microsoft.com/office/drawing/2014/main" id="{35D52B0A-2619-46CE-ACC1-FE302EF4F181}"/>
                </a:ext>
              </a:extLst>
            </p:cNvPr>
            <p:cNvSpPr>
              <a:spLocks noChangeShapeType="1"/>
            </p:cNvSpPr>
            <p:nvPr/>
          </p:nvSpPr>
          <p:spPr bwMode="auto">
            <a:xfrm flipH="1" flipV="1">
              <a:off x="2976" y="2256"/>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4" name="Oval 34">
              <a:extLst>
                <a:ext uri="{FF2B5EF4-FFF2-40B4-BE49-F238E27FC236}">
                  <a16:creationId xmlns:a16="http://schemas.microsoft.com/office/drawing/2014/main" id="{CB4CD2CB-544C-464D-8B95-1952155C9CF6}"/>
                </a:ext>
              </a:extLst>
            </p:cNvPr>
            <p:cNvSpPr>
              <a:spLocks noChangeArrowheads="1"/>
            </p:cNvSpPr>
            <p:nvPr/>
          </p:nvSpPr>
          <p:spPr bwMode="auto">
            <a:xfrm>
              <a:off x="2208"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5" name="Line 35">
              <a:extLst>
                <a:ext uri="{FF2B5EF4-FFF2-40B4-BE49-F238E27FC236}">
                  <a16:creationId xmlns:a16="http://schemas.microsoft.com/office/drawing/2014/main" id="{2F56BB01-266B-400D-A511-70C6890CFE19}"/>
                </a:ext>
              </a:extLst>
            </p:cNvPr>
            <p:cNvSpPr>
              <a:spLocks noChangeShapeType="1"/>
            </p:cNvSpPr>
            <p:nvPr/>
          </p:nvSpPr>
          <p:spPr bwMode="auto">
            <a:xfrm flipH="1">
              <a:off x="2256" y="326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6" name="Oval 36">
              <a:extLst>
                <a:ext uri="{FF2B5EF4-FFF2-40B4-BE49-F238E27FC236}">
                  <a16:creationId xmlns:a16="http://schemas.microsoft.com/office/drawing/2014/main" id="{1768B01D-AD4F-4B58-AA7A-12B7529AACB6}"/>
                </a:ext>
              </a:extLst>
            </p:cNvPr>
            <p:cNvSpPr>
              <a:spLocks noChangeArrowheads="1"/>
            </p:cNvSpPr>
            <p:nvPr/>
          </p:nvSpPr>
          <p:spPr bwMode="auto">
            <a:xfrm>
              <a:off x="2592"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7" name="Oval 37">
              <a:extLst>
                <a:ext uri="{FF2B5EF4-FFF2-40B4-BE49-F238E27FC236}">
                  <a16:creationId xmlns:a16="http://schemas.microsoft.com/office/drawing/2014/main" id="{1816351A-6573-4BBA-B790-FF98FF5329A5}"/>
                </a:ext>
              </a:extLst>
            </p:cNvPr>
            <p:cNvSpPr>
              <a:spLocks noChangeArrowheads="1"/>
            </p:cNvSpPr>
            <p:nvPr/>
          </p:nvSpPr>
          <p:spPr bwMode="auto">
            <a:xfrm>
              <a:off x="3600"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8" name="Line 38">
              <a:extLst>
                <a:ext uri="{FF2B5EF4-FFF2-40B4-BE49-F238E27FC236}">
                  <a16:creationId xmlns:a16="http://schemas.microsoft.com/office/drawing/2014/main" id="{928D2986-96A1-4C99-B541-3769E3D999AA}"/>
                </a:ext>
              </a:extLst>
            </p:cNvPr>
            <p:cNvSpPr>
              <a:spLocks noChangeShapeType="1"/>
            </p:cNvSpPr>
            <p:nvPr/>
          </p:nvSpPr>
          <p:spPr bwMode="auto">
            <a:xfrm flipH="1">
              <a:off x="2640" y="326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59" name="Line 39">
              <a:extLst>
                <a:ext uri="{FF2B5EF4-FFF2-40B4-BE49-F238E27FC236}">
                  <a16:creationId xmlns:a16="http://schemas.microsoft.com/office/drawing/2014/main" id="{4A451547-FC1F-4A19-8965-8D100A662DC8}"/>
                </a:ext>
              </a:extLst>
            </p:cNvPr>
            <p:cNvSpPr>
              <a:spLocks noChangeShapeType="1"/>
            </p:cNvSpPr>
            <p:nvPr/>
          </p:nvSpPr>
          <p:spPr bwMode="auto">
            <a:xfrm>
              <a:off x="3456" y="2736"/>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0" name="Oval 40">
              <a:extLst>
                <a:ext uri="{FF2B5EF4-FFF2-40B4-BE49-F238E27FC236}">
                  <a16:creationId xmlns:a16="http://schemas.microsoft.com/office/drawing/2014/main" id="{83DABE45-3D74-4253-B6EC-0BAA689DE015}"/>
                </a:ext>
              </a:extLst>
            </p:cNvPr>
            <p:cNvSpPr>
              <a:spLocks noChangeArrowheads="1"/>
            </p:cNvSpPr>
            <p:nvPr/>
          </p:nvSpPr>
          <p:spPr bwMode="auto">
            <a:xfrm>
              <a:off x="2784"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1" name="Line 41">
              <a:extLst>
                <a:ext uri="{FF2B5EF4-FFF2-40B4-BE49-F238E27FC236}">
                  <a16:creationId xmlns:a16="http://schemas.microsoft.com/office/drawing/2014/main" id="{BE737132-A4CD-424C-B0B0-0A98B06E6C05}"/>
                </a:ext>
              </a:extLst>
            </p:cNvPr>
            <p:cNvSpPr>
              <a:spLocks noChangeShapeType="1"/>
            </p:cNvSpPr>
            <p:nvPr/>
          </p:nvSpPr>
          <p:spPr bwMode="auto">
            <a:xfrm flipH="1">
              <a:off x="2832" y="326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2" name="Oval 42">
              <a:extLst>
                <a:ext uri="{FF2B5EF4-FFF2-40B4-BE49-F238E27FC236}">
                  <a16:creationId xmlns:a16="http://schemas.microsoft.com/office/drawing/2014/main" id="{E6E149C3-80DE-466E-8A6D-EFC0A6D8F133}"/>
                </a:ext>
              </a:extLst>
            </p:cNvPr>
            <p:cNvSpPr>
              <a:spLocks noChangeArrowheads="1"/>
            </p:cNvSpPr>
            <p:nvPr/>
          </p:nvSpPr>
          <p:spPr bwMode="auto">
            <a:xfrm>
              <a:off x="3024"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3" name="Oval 43">
              <a:extLst>
                <a:ext uri="{FF2B5EF4-FFF2-40B4-BE49-F238E27FC236}">
                  <a16:creationId xmlns:a16="http://schemas.microsoft.com/office/drawing/2014/main" id="{C16E9132-E211-485E-AE1F-D04044C6EF21}"/>
                </a:ext>
              </a:extLst>
            </p:cNvPr>
            <p:cNvSpPr>
              <a:spLocks noChangeArrowheads="1"/>
            </p:cNvSpPr>
            <p:nvPr/>
          </p:nvSpPr>
          <p:spPr bwMode="auto">
            <a:xfrm>
              <a:off x="3360"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4" name="Oval 44">
              <a:extLst>
                <a:ext uri="{FF2B5EF4-FFF2-40B4-BE49-F238E27FC236}">
                  <a16:creationId xmlns:a16="http://schemas.microsoft.com/office/drawing/2014/main" id="{9551147F-F649-4C54-BF35-8AFD050913EA}"/>
                </a:ext>
              </a:extLst>
            </p:cNvPr>
            <p:cNvSpPr>
              <a:spLocks noChangeArrowheads="1"/>
            </p:cNvSpPr>
            <p:nvPr/>
          </p:nvSpPr>
          <p:spPr bwMode="auto">
            <a:xfrm>
              <a:off x="379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5" name="Line 45">
              <a:extLst>
                <a:ext uri="{FF2B5EF4-FFF2-40B4-BE49-F238E27FC236}">
                  <a16:creationId xmlns:a16="http://schemas.microsoft.com/office/drawing/2014/main" id="{CB92F2D2-7061-4BA5-9585-2291F71A5845}"/>
                </a:ext>
              </a:extLst>
            </p:cNvPr>
            <p:cNvSpPr>
              <a:spLocks noChangeShapeType="1"/>
            </p:cNvSpPr>
            <p:nvPr/>
          </p:nvSpPr>
          <p:spPr bwMode="auto">
            <a:xfrm flipH="1">
              <a:off x="3408"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6" name="Line 46">
              <a:extLst>
                <a:ext uri="{FF2B5EF4-FFF2-40B4-BE49-F238E27FC236}">
                  <a16:creationId xmlns:a16="http://schemas.microsoft.com/office/drawing/2014/main" id="{DE000212-525F-42AB-8817-7AE3D469B82C}"/>
                </a:ext>
              </a:extLst>
            </p:cNvPr>
            <p:cNvSpPr>
              <a:spLocks noChangeShapeType="1"/>
            </p:cNvSpPr>
            <p:nvPr/>
          </p:nvSpPr>
          <p:spPr bwMode="auto">
            <a:xfrm>
              <a:off x="3648"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7" name="Oval 47">
              <a:extLst>
                <a:ext uri="{FF2B5EF4-FFF2-40B4-BE49-F238E27FC236}">
                  <a16:creationId xmlns:a16="http://schemas.microsoft.com/office/drawing/2014/main" id="{B3B06616-F9F9-4352-ACDE-F13A82EF82F0}"/>
                </a:ext>
              </a:extLst>
            </p:cNvPr>
            <p:cNvSpPr>
              <a:spLocks noChangeArrowheads="1"/>
            </p:cNvSpPr>
            <p:nvPr/>
          </p:nvSpPr>
          <p:spPr bwMode="auto">
            <a:xfrm>
              <a:off x="355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8" name="Line 48">
              <a:extLst>
                <a:ext uri="{FF2B5EF4-FFF2-40B4-BE49-F238E27FC236}">
                  <a16:creationId xmlns:a16="http://schemas.microsoft.com/office/drawing/2014/main" id="{EEB7517E-1929-42CD-AE29-496642AF3673}"/>
                </a:ext>
              </a:extLst>
            </p:cNvPr>
            <p:cNvSpPr>
              <a:spLocks noChangeShapeType="1"/>
            </p:cNvSpPr>
            <p:nvPr/>
          </p:nvSpPr>
          <p:spPr bwMode="auto">
            <a:xfrm flipH="1">
              <a:off x="3600"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69" name="Line 49">
              <a:extLst>
                <a:ext uri="{FF2B5EF4-FFF2-40B4-BE49-F238E27FC236}">
                  <a16:creationId xmlns:a16="http://schemas.microsoft.com/office/drawing/2014/main" id="{9C7B1C5F-3278-4FDF-AA4D-38A494BCD1F0}"/>
                </a:ext>
              </a:extLst>
            </p:cNvPr>
            <p:cNvSpPr>
              <a:spLocks noChangeShapeType="1"/>
            </p:cNvSpPr>
            <p:nvPr/>
          </p:nvSpPr>
          <p:spPr bwMode="auto">
            <a:xfrm>
              <a:off x="2880" y="326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70" name="Oval 50">
              <a:extLst>
                <a:ext uri="{FF2B5EF4-FFF2-40B4-BE49-F238E27FC236}">
                  <a16:creationId xmlns:a16="http://schemas.microsoft.com/office/drawing/2014/main" id="{27B26A58-0A9A-4896-A923-85E253585687}"/>
                </a:ext>
              </a:extLst>
            </p:cNvPr>
            <p:cNvSpPr>
              <a:spLocks noChangeArrowheads="1"/>
            </p:cNvSpPr>
            <p:nvPr/>
          </p:nvSpPr>
          <p:spPr bwMode="auto">
            <a:xfrm>
              <a:off x="3216"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71" name="Line 51">
              <a:extLst>
                <a:ext uri="{FF2B5EF4-FFF2-40B4-BE49-F238E27FC236}">
                  <a16:creationId xmlns:a16="http://schemas.microsoft.com/office/drawing/2014/main" id="{93881B5A-2EE8-411C-A4F5-DDCF427DBE10}"/>
                </a:ext>
              </a:extLst>
            </p:cNvPr>
            <p:cNvSpPr>
              <a:spLocks noChangeShapeType="1"/>
            </p:cNvSpPr>
            <p:nvPr/>
          </p:nvSpPr>
          <p:spPr bwMode="auto">
            <a:xfrm>
              <a:off x="3024" y="2688"/>
              <a:ext cx="24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58799" name="Group 79">
            <a:extLst>
              <a:ext uri="{FF2B5EF4-FFF2-40B4-BE49-F238E27FC236}">
                <a16:creationId xmlns:a16="http://schemas.microsoft.com/office/drawing/2014/main" id="{1EE9A4F6-3738-4F98-A49F-3EEB49EE3808}"/>
              </a:ext>
            </a:extLst>
          </p:cNvPr>
          <p:cNvGrpSpPr>
            <a:grpSpLocks/>
          </p:cNvGrpSpPr>
          <p:nvPr/>
        </p:nvGrpSpPr>
        <p:grpSpPr bwMode="auto">
          <a:xfrm>
            <a:off x="6934200" y="4343400"/>
            <a:ext cx="1600200" cy="1371600"/>
            <a:chOff x="3984" y="2688"/>
            <a:chExt cx="1104" cy="1200"/>
          </a:xfrm>
        </p:grpSpPr>
        <p:sp>
          <p:nvSpPr>
            <p:cNvPr id="158775" name="Oval 55">
              <a:extLst>
                <a:ext uri="{FF2B5EF4-FFF2-40B4-BE49-F238E27FC236}">
                  <a16:creationId xmlns:a16="http://schemas.microsoft.com/office/drawing/2014/main" id="{B40E06F4-95B6-4A59-B4EF-FCA51279078B}"/>
                </a:ext>
              </a:extLst>
            </p:cNvPr>
            <p:cNvSpPr>
              <a:spLocks noChangeArrowheads="1"/>
            </p:cNvSpPr>
            <p:nvPr/>
          </p:nvSpPr>
          <p:spPr bwMode="auto">
            <a:xfrm>
              <a:off x="4512" y="26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77" name="Oval 57">
              <a:extLst>
                <a:ext uri="{FF2B5EF4-FFF2-40B4-BE49-F238E27FC236}">
                  <a16:creationId xmlns:a16="http://schemas.microsoft.com/office/drawing/2014/main" id="{E1D343E7-02BE-4F1C-90ED-E0EF5F38F217}"/>
                </a:ext>
              </a:extLst>
            </p:cNvPr>
            <p:cNvSpPr>
              <a:spLocks noChangeArrowheads="1"/>
            </p:cNvSpPr>
            <p:nvPr/>
          </p:nvSpPr>
          <p:spPr bwMode="auto">
            <a:xfrm>
              <a:off x="4224" y="32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78" name="Oval 58">
              <a:extLst>
                <a:ext uri="{FF2B5EF4-FFF2-40B4-BE49-F238E27FC236}">
                  <a16:creationId xmlns:a16="http://schemas.microsoft.com/office/drawing/2014/main" id="{D3BB4C44-0ED7-4C71-920B-2E2186577356}"/>
                </a:ext>
              </a:extLst>
            </p:cNvPr>
            <p:cNvSpPr>
              <a:spLocks noChangeArrowheads="1"/>
            </p:cNvSpPr>
            <p:nvPr/>
          </p:nvSpPr>
          <p:spPr bwMode="auto">
            <a:xfrm>
              <a:off x="4800" y="32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79" name="Oval 59">
              <a:extLst>
                <a:ext uri="{FF2B5EF4-FFF2-40B4-BE49-F238E27FC236}">
                  <a16:creationId xmlns:a16="http://schemas.microsoft.com/office/drawing/2014/main" id="{7C0B9A8C-504F-4969-989C-3902DF1C2D73}"/>
                </a:ext>
              </a:extLst>
            </p:cNvPr>
            <p:cNvSpPr>
              <a:spLocks noChangeArrowheads="1"/>
            </p:cNvSpPr>
            <p:nvPr/>
          </p:nvSpPr>
          <p:spPr bwMode="auto">
            <a:xfrm>
              <a:off x="3984"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80" name="Oval 60">
              <a:extLst>
                <a:ext uri="{FF2B5EF4-FFF2-40B4-BE49-F238E27FC236}">
                  <a16:creationId xmlns:a16="http://schemas.microsoft.com/office/drawing/2014/main" id="{A703F43D-0003-4C2A-9D2F-A23A31251D5B}"/>
                </a:ext>
              </a:extLst>
            </p:cNvPr>
            <p:cNvSpPr>
              <a:spLocks noChangeArrowheads="1"/>
            </p:cNvSpPr>
            <p:nvPr/>
          </p:nvSpPr>
          <p:spPr bwMode="auto">
            <a:xfrm>
              <a:off x="4416"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83" name="Line 63">
              <a:extLst>
                <a:ext uri="{FF2B5EF4-FFF2-40B4-BE49-F238E27FC236}">
                  <a16:creationId xmlns:a16="http://schemas.microsoft.com/office/drawing/2014/main" id="{37B21088-546B-41BE-A5E0-4F10A2DC0240}"/>
                </a:ext>
              </a:extLst>
            </p:cNvPr>
            <p:cNvSpPr>
              <a:spLocks noChangeShapeType="1"/>
            </p:cNvSpPr>
            <p:nvPr/>
          </p:nvSpPr>
          <p:spPr bwMode="auto">
            <a:xfrm flipH="1">
              <a:off x="4272" y="2736"/>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84" name="Line 64">
              <a:extLst>
                <a:ext uri="{FF2B5EF4-FFF2-40B4-BE49-F238E27FC236}">
                  <a16:creationId xmlns:a16="http://schemas.microsoft.com/office/drawing/2014/main" id="{AD38E4D8-F596-40A8-9255-489862C7C4E1}"/>
                </a:ext>
              </a:extLst>
            </p:cNvPr>
            <p:cNvSpPr>
              <a:spLocks noChangeShapeType="1"/>
            </p:cNvSpPr>
            <p:nvPr/>
          </p:nvSpPr>
          <p:spPr bwMode="auto">
            <a:xfrm>
              <a:off x="4560" y="2736"/>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85" name="Line 65">
              <a:extLst>
                <a:ext uri="{FF2B5EF4-FFF2-40B4-BE49-F238E27FC236}">
                  <a16:creationId xmlns:a16="http://schemas.microsoft.com/office/drawing/2014/main" id="{09289359-5BD5-425B-8833-679F5F54EF55}"/>
                </a:ext>
              </a:extLst>
            </p:cNvPr>
            <p:cNvSpPr>
              <a:spLocks noChangeShapeType="1"/>
            </p:cNvSpPr>
            <p:nvPr/>
          </p:nvSpPr>
          <p:spPr bwMode="auto">
            <a:xfrm flipH="1">
              <a:off x="4032"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86" name="Line 66">
              <a:extLst>
                <a:ext uri="{FF2B5EF4-FFF2-40B4-BE49-F238E27FC236}">
                  <a16:creationId xmlns:a16="http://schemas.microsoft.com/office/drawing/2014/main" id="{948E7BFE-71B6-4AD3-9AF9-785D484A5298}"/>
                </a:ext>
              </a:extLst>
            </p:cNvPr>
            <p:cNvSpPr>
              <a:spLocks noChangeShapeType="1"/>
            </p:cNvSpPr>
            <p:nvPr/>
          </p:nvSpPr>
          <p:spPr bwMode="auto">
            <a:xfrm>
              <a:off x="4272"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89" name="Oval 69">
              <a:extLst>
                <a:ext uri="{FF2B5EF4-FFF2-40B4-BE49-F238E27FC236}">
                  <a16:creationId xmlns:a16="http://schemas.microsoft.com/office/drawing/2014/main" id="{FDB8F7B2-ADFE-467C-9F24-4FE23851891F}"/>
                </a:ext>
              </a:extLst>
            </p:cNvPr>
            <p:cNvSpPr>
              <a:spLocks noChangeArrowheads="1"/>
            </p:cNvSpPr>
            <p:nvPr/>
          </p:nvSpPr>
          <p:spPr bwMode="auto">
            <a:xfrm>
              <a:off x="4512"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0" name="Oval 70">
              <a:extLst>
                <a:ext uri="{FF2B5EF4-FFF2-40B4-BE49-F238E27FC236}">
                  <a16:creationId xmlns:a16="http://schemas.microsoft.com/office/drawing/2014/main" id="{E9570420-0C82-4E9F-82F3-6305CA27C400}"/>
                </a:ext>
              </a:extLst>
            </p:cNvPr>
            <p:cNvSpPr>
              <a:spLocks noChangeArrowheads="1"/>
            </p:cNvSpPr>
            <p:nvPr/>
          </p:nvSpPr>
          <p:spPr bwMode="auto">
            <a:xfrm>
              <a:off x="4176"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1" name="Line 71">
              <a:extLst>
                <a:ext uri="{FF2B5EF4-FFF2-40B4-BE49-F238E27FC236}">
                  <a16:creationId xmlns:a16="http://schemas.microsoft.com/office/drawing/2014/main" id="{D5E579B0-F82F-40E6-A080-06D629796EE2}"/>
                </a:ext>
              </a:extLst>
            </p:cNvPr>
            <p:cNvSpPr>
              <a:spLocks noChangeShapeType="1"/>
            </p:cNvSpPr>
            <p:nvPr/>
          </p:nvSpPr>
          <p:spPr bwMode="auto">
            <a:xfrm flipH="1">
              <a:off x="4224"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2" name="Line 72">
              <a:extLst>
                <a:ext uri="{FF2B5EF4-FFF2-40B4-BE49-F238E27FC236}">
                  <a16:creationId xmlns:a16="http://schemas.microsoft.com/office/drawing/2014/main" id="{A3D6CE1E-BF69-4890-BD5A-80388353405C}"/>
                </a:ext>
              </a:extLst>
            </p:cNvPr>
            <p:cNvSpPr>
              <a:spLocks noChangeShapeType="1"/>
            </p:cNvSpPr>
            <p:nvPr/>
          </p:nvSpPr>
          <p:spPr bwMode="auto">
            <a:xfrm>
              <a:off x="4560" y="2784"/>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3" name="Oval 73">
              <a:extLst>
                <a:ext uri="{FF2B5EF4-FFF2-40B4-BE49-F238E27FC236}">
                  <a16:creationId xmlns:a16="http://schemas.microsoft.com/office/drawing/2014/main" id="{781A54F5-0F02-40EC-AD04-2F24A5A16C0C}"/>
                </a:ext>
              </a:extLst>
            </p:cNvPr>
            <p:cNvSpPr>
              <a:spLocks noChangeArrowheads="1"/>
            </p:cNvSpPr>
            <p:nvPr/>
          </p:nvSpPr>
          <p:spPr bwMode="auto">
            <a:xfrm>
              <a:off x="4560"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4" name="Oval 74">
              <a:extLst>
                <a:ext uri="{FF2B5EF4-FFF2-40B4-BE49-F238E27FC236}">
                  <a16:creationId xmlns:a16="http://schemas.microsoft.com/office/drawing/2014/main" id="{44A07D53-E9B0-4D79-BEB7-F58EE0A2E5E2}"/>
                </a:ext>
              </a:extLst>
            </p:cNvPr>
            <p:cNvSpPr>
              <a:spLocks noChangeArrowheads="1"/>
            </p:cNvSpPr>
            <p:nvPr/>
          </p:nvSpPr>
          <p:spPr bwMode="auto">
            <a:xfrm>
              <a:off x="499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5" name="Line 75">
              <a:extLst>
                <a:ext uri="{FF2B5EF4-FFF2-40B4-BE49-F238E27FC236}">
                  <a16:creationId xmlns:a16="http://schemas.microsoft.com/office/drawing/2014/main" id="{FDCBBECB-C3AB-4134-B00C-C55E86101D71}"/>
                </a:ext>
              </a:extLst>
            </p:cNvPr>
            <p:cNvSpPr>
              <a:spLocks noChangeShapeType="1"/>
            </p:cNvSpPr>
            <p:nvPr/>
          </p:nvSpPr>
          <p:spPr bwMode="auto">
            <a:xfrm flipH="1">
              <a:off x="4608"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6" name="Line 76">
              <a:extLst>
                <a:ext uri="{FF2B5EF4-FFF2-40B4-BE49-F238E27FC236}">
                  <a16:creationId xmlns:a16="http://schemas.microsoft.com/office/drawing/2014/main" id="{E1560597-9EBB-412D-9BB7-D899D083244E}"/>
                </a:ext>
              </a:extLst>
            </p:cNvPr>
            <p:cNvSpPr>
              <a:spLocks noChangeShapeType="1"/>
            </p:cNvSpPr>
            <p:nvPr/>
          </p:nvSpPr>
          <p:spPr bwMode="auto">
            <a:xfrm>
              <a:off x="4848"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7" name="Oval 77">
              <a:extLst>
                <a:ext uri="{FF2B5EF4-FFF2-40B4-BE49-F238E27FC236}">
                  <a16:creationId xmlns:a16="http://schemas.microsoft.com/office/drawing/2014/main" id="{616157D2-3816-4ACF-8F76-459EEA9553EB}"/>
                </a:ext>
              </a:extLst>
            </p:cNvPr>
            <p:cNvSpPr>
              <a:spLocks noChangeArrowheads="1"/>
            </p:cNvSpPr>
            <p:nvPr/>
          </p:nvSpPr>
          <p:spPr bwMode="auto">
            <a:xfrm>
              <a:off x="475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8798" name="Line 78">
              <a:extLst>
                <a:ext uri="{FF2B5EF4-FFF2-40B4-BE49-F238E27FC236}">
                  <a16:creationId xmlns:a16="http://schemas.microsoft.com/office/drawing/2014/main" id="{D71AED56-7F7B-4743-B48C-577EA39701EE}"/>
                </a:ext>
              </a:extLst>
            </p:cNvPr>
            <p:cNvSpPr>
              <a:spLocks noChangeShapeType="1"/>
            </p:cNvSpPr>
            <p:nvPr/>
          </p:nvSpPr>
          <p:spPr bwMode="auto">
            <a:xfrm flipH="1">
              <a:off x="4800"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8724"/>
                                        </p:tgtEl>
                                        <p:attrNameLst>
                                          <p:attrName>style.visibility</p:attrName>
                                        </p:attrNameLst>
                                      </p:cBhvr>
                                      <p:to>
                                        <p:strVal val="visible"/>
                                      </p:to>
                                    </p:set>
                                    <p:animEffect transition="in" filter="dissolve">
                                      <p:cBhvr>
                                        <p:cTn id="7" dur="500"/>
                                        <p:tgtEl>
                                          <p:spTgt spid="1587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58772"/>
                                        </p:tgtEl>
                                        <p:attrNameLst>
                                          <p:attrName>style.visibility</p:attrName>
                                        </p:attrNameLst>
                                      </p:cBhvr>
                                      <p:to>
                                        <p:strVal val="visible"/>
                                      </p:to>
                                    </p:set>
                                    <p:animEffect transition="in" filter="dissolve">
                                      <p:cBhvr>
                                        <p:cTn id="12" dur="500"/>
                                        <p:tgtEl>
                                          <p:spTgt spid="1587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158799"/>
                                        </p:tgtEl>
                                        <p:attrNameLst>
                                          <p:attrName>style.visibility</p:attrName>
                                        </p:attrNameLst>
                                      </p:cBhvr>
                                      <p:to>
                                        <p:strVal val="visible"/>
                                      </p:to>
                                    </p:set>
                                    <p:animEffect transition="in" filter="dissolve">
                                      <p:cBhvr>
                                        <p:cTn id="17" dur="500"/>
                                        <p:tgtEl>
                                          <p:spTgt spid="1587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a:extLst>
              <a:ext uri="{FF2B5EF4-FFF2-40B4-BE49-F238E27FC236}">
                <a16:creationId xmlns:a16="http://schemas.microsoft.com/office/drawing/2014/main" id="{A092A7CB-A5B4-4768-A1E6-3EC4E1333FF5}"/>
              </a:ext>
            </a:extLst>
          </p:cNvPr>
          <p:cNvSpPr>
            <a:spLocks noGrp="1" noChangeArrowheads="1"/>
          </p:cNvSpPr>
          <p:nvPr>
            <p:ph type="title"/>
          </p:nvPr>
        </p:nvSpPr>
        <p:spPr/>
        <p:txBody>
          <a:bodyPr/>
          <a:lstStyle/>
          <a:p>
            <a:r>
              <a:rPr lang="en-US" altLang="en-US"/>
              <a:t>Properties of Trees</a:t>
            </a:r>
          </a:p>
        </p:txBody>
      </p:sp>
      <p:sp>
        <p:nvSpPr>
          <p:cNvPr id="159747" name="Text Box 3">
            <a:extLst>
              <a:ext uri="{FF2B5EF4-FFF2-40B4-BE49-F238E27FC236}">
                <a16:creationId xmlns:a16="http://schemas.microsoft.com/office/drawing/2014/main" id="{64D928B5-AEAF-4FA0-AEF1-EE645C88B286}"/>
              </a:ext>
            </a:extLst>
          </p:cNvPr>
          <p:cNvSpPr txBox="1">
            <a:spLocks noChangeArrowheads="1"/>
          </p:cNvSpPr>
          <p:nvPr/>
        </p:nvSpPr>
        <p:spPr bwMode="auto">
          <a:xfrm>
            <a:off x="1219200" y="2057400"/>
            <a:ext cx="7162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There are at most </a:t>
            </a:r>
            <a:r>
              <a:rPr lang="en-US" altLang="en-US" sz="3200" i="1">
                <a:latin typeface="Times New Roman" panose="02020603050405020304" pitchFamily="18" charset="0"/>
              </a:rPr>
              <a:t>m</a:t>
            </a:r>
            <a:r>
              <a:rPr lang="en-US" altLang="en-US" sz="3200" i="1" baseline="30000">
                <a:latin typeface="Times New Roman" panose="02020603050405020304" pitchFamily="18" charset="0"/>
              </a:rPr>
              <a:t>h</a:t>
            </a:r>
            <a:r>
              <a:rPr lang="en-US" altLang="en-US" sz="3200" i="1">
                <a:latin typeface="Times New Roman" panose="02020603050405020304" pitchFamily="18" charset="0"/>
              </a:rPr>
              <a:t> </a:t>
            </a:r>
            <a:r>
              <a:rPr lang="en-US" altLang="en-US" sz="3200">
                <a:latin typeface="Times New Roman" panose="02020603050405020304" pitchFamily="18" charset="0"/>
              </a:rPr>
              <a:t>leaves in an </a:t>
            </a:r>
            <a:r>
              <a:rPr lang="en-US" altLang="en-US" sz="3200" i="1">
                <a:latin typeface="Times New Roman" panose="02020603050405020304" pitchFamily="18" charset="0"/>
              </a:rPr>
              <a:t>m</a:t>
            </a:r>
            <a:r>
              <a:rPr lang="en-US" altLang="en-US" sz="3200">
                <a:latin typeface="Times New Roman" panose="02020603050405020304" pitchFamily="18" charset="0"/>
              </a:rPr>
              <a:t>-ary tree of height </a:t>
            </a:r>
            <a:r>
              <a:rPr lang="en-US" altLang="en-US" sz="3200" i="1">
                <a:latin typeface="Times New Roman" panose="02020603050405020304" pitchFamily="18" charset="0"/>
              </a:rPr>
              <a:t>h</a:t>
            </a:r>
            <a:r>
              <a:rPr lang="en-US" altLang="en-US" sz="3200">
                <a:latin typeface="Times New Roman" panose="02020603050405020304" pitchFamily="18" charset="0"/>
              </a:rPr>
              <a:t>.</a:t>
            </a:r>
          </a:p>
        </p:txBody>
      </p:sp>
      <p:grpSp>
        <p:nvGrpSpPr>
          <p:cNvPr id="159748" name="Group 4">
            <a:extLst>
              <a:ext uri="{FF2B5EF4-FFF2-40B4-BE49-F238E27FC236}">
                <a16:creationId xmlns:a16="http://schemas.microsoft.com/office/drawing/2014/main" id="{4F168E46-4DF6-412E-A187-1CC47610C33F}"/>
              </a:ext>
            </a:extLst>
          </p:cNvPr>
          <p:cNvGrpSpPr>
            <a:grpSpLocks/>
          </p:cNvGrpSpPr>
          <p:nvPr/>
        </p:nvGrpSpPr>
        <p:grpSpPr bwMode="auto">
          <a:xfrm>
            <a:off x="1143000" y="4343400"/>
            <a:ext cx="1600200" cy="1600200"/>
            <a:chOff x="720" y="528"/>
            <a:chExt cx="1440" cy="1632"/>
          </a:xfrm>
        </p:grpSpPr>
        <p:sp>
          <p:nvSpPr>
            <p:cNvPr id="159749" name="Oval 5">
              <a:extLst>
                <a:ext uri="{FF2B5EF4-FFF2-40B4-BE49-F238E27FC236}">
                  <a16:creationId xmlns:a16="http://schemas.microsoft.com/office/drawing/2014/main" id="{09AAA26B-A361-4688-8F1F-9119870B2459}"/>
                </a:ext>
              </a:extLst>
            </p:cNvPr>
            <p:cNvSpPr>
              <a:spLocks noChangeArrowheads="1"/>
            </p:cNvSpPr>
            <p:nvPr/>
          </p:nvSpPr>
          <p:spPr bwMode="auto">
            <a:xfrm>
              <a:off x="1632"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0" name="Oval 6">
              <a:extLst>
                <a:ext uri="{FF2B5EF4-FFF2-40B4-BE49-F238E27FC236}">
                  <a16:creationId xmlns:a16="http://schemas.microsoft.com/office/drawing/2014/main" id="{C86A56F2-33B4-48E3-8D38-8620DB327608}"/>
                </a:ext>
              </a:extLst>
            </p:cNvPr>
            <p:cNvSpPr>
              <a:spLocks noChangeArrowheads="1"/>
            </p:cNvSpPr>
            <p:nvPr/>
          </p:nvSpPr>
          <p:spPr bwMode="auto">
            <a:xfrm>
              <a:off x="1248"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1" name="Oval 7">
              <a:extLst>
                <a:ext uri="{FF2B5EF4-FFF2-40B4-BE49-F238E27FC236}">
                  <a16:creationId xmlns:a16="http://schemas.microsoft.com/office/drawing/2014/main" id="{9F42E227-940F-4614-92A5-8720F68E9E0A}"/>
                </a:ext>
              </a:extLst>
            </p:cNvPr>
            <p:cNvSpPr>
              <a:spLocks noChangeArrowheads="1"/>
            </p:cNvSpPr>
            <p:nvPr/>
          </p:nvSpPr>
          <p:spPr bwMode="auto">
            <a:xfrm>
              <a:off x="2064"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2" name="Oval 8">
              <a:extLst>
                <a:ext uri="{FF2B5EF4-FFF2-40B4-BE49-F238E27FC236}">
                  <a16:creationId xmlns:a16="http://schemas.microsoft.com/office/drawing/2014/main" id="{907FDFEC-302C-4804-8FFC-2F99F20C0C24}"/>
                </a:ext>
              </a:extLst>
            </p:cNvPr>
            <p:cNvSpPr>
              <a:spLocks noChangeArrowheads="1"/>
            </p:cNvSpPr>
            <p:nvPr/>
          </p:nvSpPr>
          <p:spPr bwMode="auto">
            <a:xfrm>
              <a:off x="960"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3" name="Oval 9">
              <a:extLst>
                <a:ext uri="{FF2B5EF4-FFF2-40B4-BE49-F238E27FC236}">
                  <a16:creationId xmlns:a16="http://schemas.microsoft.com/office/drawing/2014/main" id="{D4A0F3B8-60FB-43A5-AC8E-16DAB416C3F8}"/>
                </a:ext>
              </a:extLst>
            </p:cNvPr>
            <p:cNvSpPr>
              <a:spLocks noChangeArrowheads="1"/>
            </p:cNvSpPr>
            <p:nvPr/>
          </p:nvSpPr>
          <p:spPr bwMode="auto">
            <a:xfrm>
              <a:off x="1536"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4" name="Oval 10">
              <a:extLst>
                <a:ext uri="{FF2B5EF4-FFF2-40B4-BE49-F238E27FC236}">
                  <a16:creationId xmlns:a16="http://schemas.microsoft.com/office/drawing/2014/main" id="{9766E309-B8E2-40DA-9F39-A529173A7EB5}"/>
                </a:ext>
              </a:extLst>
            </p:cNvPr>
            <p:cNvSpPr>
              <a:spLocks noChangeArrowheads="1"/>
            </p:cNvSpPr>
            <p:nvPr/>
          </p:nvSpPr>
          <p:spPr bwMode="auto">
            <a:xfrm>
              <a:off x="72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5" name="Oval 11">
              <a:extLst>
                <a:ext uri="{FF2B5EF4-FFF2-40B4-BE49-F238E27FC236}">
                  <a16:creationId xmlns:a16="http://schemas.microsoft.com/office/drawing/2014/main" id="{C08831FB-67E7-41C6-A194-3B827A9926F1}"/>
                </a:ext>
              </a:extLst>
            </p:cNvPr>
            <p:cNvSpPr>
              <a:spLocks noChangeArrowheads="1"/>
            </p:cNvSpPr>
            <p:nvPr/>
          </p:nvSpPr>
          <p:spPr bwMode="auto">
            <a:xfrm>
              <a:off x="1152"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6" name="Line 12">
              <a:extLst>
                <a:ext uri="{FF2B5EF4-FFF2-40B4-BE49-F238E27FC236}">
                  <a16:creationId xmlns:a16="http://schemas.microsoft.com/office/drawing/2014/main" id="{28679FC6-A2A4-4CE4-AA01-A48B1DBFE520}"/>
                </a:ext>
              </a:extLst>
            </p:cNvPr>
            <p:cNvSpPr>
              <a:spLocks noChangeShapeType="1"/>
            </p:cNvSpPr>
            <p:nvPr/>
          </p:nvSpPr>
          <p:spPr bwMode="auto">
            <a:xfrm flipH="1">
              <a:off x="1296" y="57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7" name="Line 13">
              <a:extLst>
                <a:ext uri="{FF2B5EF4-FFF2-40B4-BE49-F238E27FC236}">
                  <a16:creationId xmlns:a16="http://schemas.microsoft.com/office/drawing/2014/main" id="{3C8A592F-2A26-470B-8453-430EAE4D4BAA}"/>
                </a:ext>
              </a:extLst>
            </p:cNvPr>
            <p:cNvSpPr>
              <a:spLocks noChangeShapeType="1"/>
            </p:cNvSpPr>
            <p:nvPr/>
          </p:nvSpPr>
          <p:spPr bwMode="auto">
            <a:xfrm>
              <a:off x="1680" y="57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8" name="Line 14">
              <a:extLst>
                <a:ext uri="{FF2B5EF4-FFF2-40B4-BE49-F238E27FC236}">
                  <a16:creationId xmlns:a16="http://schemas.microsoft.com/office/drawing/2014/main" id="{B58562AC-75D3-47F4-A5DE-965AF2F2CB34}"/>
                </a:ext>
              </a:extLst>
            </p:cNvPr>
            <p:cNvSpPr>
              <a:spLocks noChangeShapeType="1"/>
            </p:cNvSpPr>
            <p:nvPr/>
          </p:nvSpPr>
          <p:spPr bwMode="auto">
            <a:xfrm flipH="1">
              <a:off x="1008" y="100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59" name="Line 15">
              <a:extLst>
                <a:ext uri="{FF2B5EF4-FFF2-40B4-BE49-F238E27FC236}">
                  <a16:creationId xmlns:a16="http://schemas.microsoft.com/office/drawing/2014/main" id="{89D7F626-B044-4F16-95A8-865AA99BA219}"/>
                </a:ext>
              </a:extLst>
            </p:cNvPr>
            <p:cNvSpPr>
              <a:spLocks noChangeShapeType="1"/>
            </p:cNvSpPr>
            <p:nvPr/>
          </p:nvSpPr>
          <p:spPr bwMode="auto">
            <a:xfrm>
              <a:off x="1296" y="100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60" name="Line 16">
              <a:extLst>
                <a:ext uri="{FF2B5EF4-FFF2-40B4-BE49-F238E27FC236}">
                  <a16:creationId xmlns:a16="http://schemas.microsoft.com/office/drawing/2014/main" id="{29F569E6-4F36-43A2-A202-DC01EE725CCC}"/>
                </a:ext>
              </a:extLst>
            </p:cNvPr>
            <p:cNvSpPr>
              <a:spLocks noChangeShapeType="1"/>
            </p:cNvSpPr>
            <p:nvPr/>
          </p:nvSpPr>
          <p:spPr bwMode="auto">
            <a:xfrm flipH="1">
              <a:off x="768"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61" name="Line 17">
              <a:extLst>
                <a:ext uri="{FF2B5EF4-FFF2-40B4-BE49-F238E27FC236}">
                  <a16:creationId xmlns:a16="http://schemas.microsoft.com/office/drawing/2014/main" id="{D97A8AED-C0D3-4215-BA49-4B05F28A7FCF}"/>
                </a:ext>
              </a:extLst>
            </p:cNvPr>
            <p:cNvSpPr>
              <a:spLocks noChangeShapeType="1"/>
            </p:cNvSpPr>
            <p:nvPr/>
          </p:nvSpPr>
          <p:spPr bwMode="auto">
            <a:xfrm>
              <a:off x="1008"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59762" name="Group 18">
            <a:extLst>
              <a:ext uri="{FF2B5EF4-FFF2-40B4-BE49-F238E27FC236}">
                <a16:creationId xmlns:a16="http://schemas.microsoft.com/office/drawing/2014/main" id="{416041F1-68DB-40CD-A4D4-D1DB0B469D29}"/>
              </a:ext>
            </a:extLst>
          </p:cNvPr>
          <p:cNvGrpSpPr>
            <a:grpSpLocks/>
          </p:cNvGrpSpPr>
          <p:nvPr/>
        </p:nvGrpSpPr>
        <p:grpSpPr bwMode="auto">
          <a:xfrm>
            <a:off x="3657600" y="4191000"/>
            <a:ext cx="2362200" cy="1905000"/>
            <a:chOff x="2016" y="2208"/>
            <a:chExt cx="1872" cy="1680"/>
          </a:xfrm>
        </p:grpSpPr>
        <p:sp>
          <p:nvSpPr>
            <p:cNvPr id="159763" name="Oval 19">
              <a:extLst>
                <a:ext uri="{FF2B5EF4-FFF2-40B4-BE49-F238E27FC236}">
                  <a16:creationId xmlns:a16="http://schemas.microsoft.com/office/drawing/2014/main" id="{18E8D108-233A-48AA-865A-47DD9B0711AC}"/>
                </a:ext>
              </a:extLst>
            </p:cNvPr>
            <p:cNvSpPr>
              <a:spLocks noChangeArrowheads="1"/>
            </p:cNvSpPr>
            <p:nvPr/>
          </p:nvSpPr>
          <p:spPr bwMode="auto">
            <a:xfrm>
              <a:off x="2928" y="220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64" name="Oval 20">
              <a:extLst>
                <a:ext uri="{FF2B5EF4-FFF2-40B4-BE49-F238E27FC236}">
                  <a16:creationId xmlns:a16="http://schemas.microsoft.com/office/drawing/2014/main" id="{EDAD83CC-ED0C-4783-A477-2485F5802D1C}"/>
                </a:ext>
              </a:extLst>
            </p:cNvPr>
            <p:cNvSpPr>
              <a:spLocks noChangeArrowheads="1"/>
            </p:cNvSpPr>
            <p:nvPr/>
          </p:nvSpPr>
          <p:spPr bwMode="auto">
            <a:xfrm>
              <a:off x="2544"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65" name="Oval 21">
              <a:extLst>
                <a:ext uri="{FF2B5EF4-FFF2-40B4-BE49-F238E27FC236}">
                  <a16:creationId xmlns:a16="http://schemas.microsoft.com/office/drawing/2014/main" id="{4D185BD5-BF9D-47B5-9ED6-92CE37A04373}"/>
                </a:ext>
              </a:extLst>
            </p:cNvPr>
            <p:cNvSpPr>
              <a:spLocks noChangeArrowheads="1"/>
            </p:cNvSpPr>
            <p:nvPr/>
          </p:nvSpPr>
          <p:spPr bwMode="auto">
            <a:xfrm>
              <a:off x="3360"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66" name="Oval 22">
              <a:extLst>
                <a:ext uri="{FF2B5EF4-FFF2-40B4-BE49-F238E27FC236}">
                  <a16:creationId xmlns:a16="http://schemas.microsoft.com/office/drawing/2014/main" id="{F33CCA4E-BD93-48BA-873F-717AD08578F2}"/>
                </a:ext>
              </a:extLst>
            </p:cNvPr>
            <p:cNvSpPr>
              <a:spLocks noChangeArrowheads="1"/>
            </p:cNvSpPr>
            <p:nvPr/>
          </p:nvSpPr>
          <p:spPr bwMode="auto">
            <a:xfrm>
              <a:off x="2256"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67" name="Oval 23">
              <a:extLst>
                <a:ext uri="{FF2B5EF4-FFF2-40B4-BE49-F238E27FC236}">
                  <a16:creationId xmlns:a16="http://schemas.microsoft.com/office/drawing/2014/main" id="{C779E5EE-0D07-4407-A3A9-50BAA2FF583D}"/>
                </a:ext>
              </a:extLst>
            </p:cNvPr>
            <p:cNvSpPr>
              <a:spLocks noChangeArrowheads="1"/>
            </p:cNvSpPr>
            <p:nvPr/>
          </p:nvSpPr>
          <p:spPr bwMode="auto">
            <a:xfrm>
              <a:off x="2832"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68" name="Oval 24">
              <a:extLst>
                <a:ext uri="{FF2B5EF4-FFF2-40B4-BE49-F238E27FC236}">
                  <a16:creationId xmlns:a16="http://schemas.microsoft.com/office/drawing/2014/main" id="{4D1F2DD7-9B58-45FB-8E16-E37FC1100E6E}"/>
                </a:ext>
              </a:extLst>
            </p:cNvPr>
            <p:cNvSpPr>
              <a:spLocks noChangeArrowheads="1"/>
            </p:cNvSpPr>
            <p:nvPr/>
          </p:nvSpPr>
          <p:spPr bwMode="auto">
            <a:xfrm>
              <a:off x="2016"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69" name="Oval 25">
              <a:extLst>
                <a:ext uri="{FF2B5EF4-FFF2-40B4-BE49-F238E27FC236}">
                  <a16:creationId xmlns:a16="http://schemas.microsoft.com/office/drawing/2014/main" id="{0A57C228-BD23-47AF-BC97-21630AFB91F6}"/>
                </a:ext>
              </a:extLst>
            </p:cNvPr>
            <p:cNvSpPr>
              <a:spLocks noChangeArrowheads="1"/>
            </p:cNvSpPr>
            <p:nvPr/>
          </p:nvSpPr>
          <p:spPr bwMode="auto">
            <a:xfrm>
              <a:off x="2448"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0" name="Line 26">
              <a:extLst>
                <a:ext uri="{FF2B5EF4-FFF2-40B4-BE49-F238E27FC236}">
                  <a16:creationId xmlns:a16="http://schemas.microsoft.com/office/drawing/2014/main" id="{57446432-DE4F-48F2-A000-52B47EB2C4BC}"/>
                </a:ext>
              </a:extLst>
            </p:cNvPr>
            <p:cNvSpPr>
              <a:spLocks noChangeShapeType="1"/>
            </p:cNvSpPr>
            <p:nvPr/>
          </p:nvSpPr>
          <p:spPr bwMode="auto">
            <a:xfrm flipH="1">
              <a:off x="2592" y="225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1" name="Line 27">
              <a:extLst>
                <a:ext uri="{FF2B5EF4-FFF2-40B4-BE49-F238E27FC236}">
                  <a16:creationId xmlns:a16="http://schemas.microsoft.com/office/drawing/2014/main" id="{CD7962A6-2BBB-4BA8-8E08-6949882CA5AE}"/>
                </a:ext>
              </a:extLst>
            </p:cNvPr>
            <p:cNvSpPr>
              <a:spLocks noChangeShapeType="1"/>
            </p:cNvSpPr>
            <p:nvPr/>
          </p:nvSpPr>
          <p:spPr bwMode="auto">
            <a:xfrm>
              <a:off x="2976" y="225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2" name="Line 28">
              <a:extLst>
                <a:ext uri="{FF2B5EF4-FFF2-40B4-BE49-F238E27FC236}">
                  <a16:creationId xmlns:a16="http://schemas.microsoft.com/office/drawing/2014/main" id="{92CCB104-E8BA-4CA8-9870-56FCE078BD32}"/>
                </a:ext>
              </a:extLst>
            </p:cNvPr>
            <p:cNvSpPr>
              <a:spLocks noChangeShapeType="1"/>
            </p:cNvSpPr>
            <p:nvPr/>
          </p:nvSpPr>
          <p:spPr bwMode="auto">
            <a:xfrm flipH="1">
              <a:off x="2304" y="268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3" name="Line 29">
              <a:extLst>
                <a:ext uri="{FF2B5EF4-FFF2-40B4-BE49-F238E27FC236}">
                  <a16:creationId xmlns:a16="http://schemas.microsoft.com/office/drawing/2014/main" id="{210C74CA-F6E4-4BB0-9E16-ED0BB5084FA1}"/>
                </a:ext>
              </a:extLst>
            </p:cNvPr>
            <p:cNvSpPr>
              <a:spLocks noChangeShapeType="1"/>
            </p:cNvSpPr>
            <p:nvPr/>
          </p:nvSpPr>
          <p:spPr bwMode="auto">
            <a:xfrm>
              <a:off x="2592" y="268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4" name="Line 30">
              <a:extLst>
                <a:ext uri="{FF2B5EF4-FFF2-40B4-BE49-F238E27FC236}">
                  <a16:creationId xmlns:a16="http://schemas.microsoft.com/office/drawing/2014/main" id="{C3CB38E1-A6AE-442B-AB09-21F642EA49FE}"/>
                </a:ext>
              </a:extLst>
            </p:cNvPr>
            <p:cNvSpPr>
              <a:spLocks noChangeShapeType="1"/>
            </p:cNvSpPr>
            <p:nvPr/>
          </p:nvSpPr>
          <p:spPr bwMode="auto">
            <a:xfrm flipH="1">
              <a:off x="2064" y="326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5" name="Line 31">
              <a:extLst>
                <a:ext uri="{FF2B5EF4-FFF2-40B4-BE49-F238E27FC236}">
                  <a16:creationId xmlns:a16="http://schemas.microsoft.com/office/drawing/2014/main" id="{396CD3B1-85AB-43F8-9D2C-DF9F4DDF1C7B}"/>
                </a:ext>
              </a:extLst>
            </p:cNvPr>
            <p:cNvSpPr>
              <a:spLocks noChangeShapeType="1"/>
            </p:cNvSpPr>
            <p:nvPr/>
          </p:nvSpPr>
          <p:spPr bwMode="auto">
            <a:xfrm>
              <a:off x="2304" y="326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6" name="Oval 32">
              <a:extLst>
                <a:ext uri="{FF2B5EF4-FFF2-40B4-BE49-F238E27FC236}">
                  <a16:creationId xmlns:a16="http://schemas.microsoft.com/office/drawing/2014/main" id="{79E368D2-FA83-43C5-92F8-04CEB06E6750}"/>
                </a:ext>
              </a:extLst>
            </p:cNvPr>
            <p:cNvSpPr>
              <a:spLocks noChangeArrowheads="1"/>
            </p:cNvSpPr>
            <p:nvPr/>
          </p:nvSpPr>
          <p:spPr bwMode="auto">
            <a:xfrm>
              <a:off x="2976"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7" name="Line 33">
              <a:extLst>
                <a:ext uri="{FF2B5EF4-FFF2-40B4-BE49-F238E27FC236}">
                  <a16:creationId xmlns:a16="http://schemas.microsoft.com/office/drawing/2014/main" id="{AB5A54F8-5BA7-4B74-8F70-32B6F73CFDCA}"/>
                </a:ext>
              </a:extLst>
            </p:cNvPr>
            <p:cNvSpPr>
              <a:spLocks noChangeShapeType="1"/>
            </p:cNvSpPr>
            <p:nvPr/>
          </p:nvSpPr>
          <p:spPr bwMode="auto">
            <a:xfrm flipH="1" flipV="1">
              <a:off x="2976" y="2256"/>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8" name="Oval 34">
              <a:extLst>
                <a:ext uri="{FF2B5EF4-FFF2-40B4-BE49-F238E27FC236}">
                  <a16:creationId xmlns:a16="http://schemas.microsoft.com/office/drawing/2014/main" id="{703BE426-1920-4E34-A365-442548B9F882}"/>
                </a:ext>
              </a:extLst>
            </p:cNvPr>
            <p:cNvSpPr>
              <a:spLocks noChangeArrowheads="1"/>
            </p:cNvSpPr>
            <p:nvPr/>
          </p:nvSpPr>
          <p:spPr bwMode="auto">
            <a:xfrm>
              <a:off x="2208"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79" name="Line 35">
              <a:extLst>
                <a:ext uri="{FF2B5EF4-FFF2-40B4-BE49-F238E27FC236}">
                  <a16:creationId xmlns:a16="http://schemas.microsoft.com/office/drawing/2014/main" id="{B864E1A5-E4A3-47B0-90A1-F6ADD8FB49BD}"/>
                </a:ext>
              </a:extLst>
            </p:cNvPr>
            <p:cNvSpPr>
              <a:spLocks noChangeShapeType="1"/>
            </p:cNvSpPr>
            <p:nvPr/>
          </p:nvSpPr>
          <p:spPr bwMode="auto">
            <a:xfrm flipH="1">
              <a:off x="2256" y="326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0" name="Oval 36">
              <a:extLst>
                <a:ext uri="{FF2B5EF4-FFF2-40B4-BE49-F238E27FC236}">
                  <a16:creationId xmlns:a16="http://schemas.microsoft.com/office/drawing/2014/main" id="{CA1BAE58-3D12-40E7-AC3B-B3AA99CD401D}"/>
                </a:ext>
              </a:extLst>
            </p:cNvPr>
            <p:cNvSpPr>
              <a:spLocks noChangeArrowheads="1"/>
            </p:cNvSpPr>
            <p:nvPr/>
          </p:nvSpPr>
          <p:spPr bwMode="auto">
            <a:xfrm>
              <a:off x="2592"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1" name="Oval 37">
              <a:extLst>
                <a:ext uri="{FF2B5EF4-FFF2-40B4-BE49-F238E27FC236}">
                  <a16:creationId xmlns:a16="http://schemas.microsoft.com/office/drawing/2014/main" id="{E01F000C-C971-4B1E-B3C5-57CF80528929}"/>
                </a:ext>
              </a:extLst>
            </p:cNvPr>
            <p:cNvSpPr>
              <a:spLocks noChangeArrowheads="1"/>
            </p:cNvSpPr>
            <p:nvPr/>
          </p:nvSpPr>
          <p:spPr bwMode="auto">
            <a:xfrm>
              <a:off x="3600"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2" name="Line 38">
              <a:extLst>
                <a:ext uri="{FF2B5EF4-FFF2-40B4-BE49-F238E27FC236}">
                  <a16:creationId xmlns:a16="http://schemas.microsoft.com/office/drawing/2014/main" id="{EA0B0E9C-27AF-43CD-B8F6-77DF8BA5B7A9}"/>
                </a:ext>
              </a:extLst>
            </p:cNvPr>
            <p:cNvSpPr>
              <a:spLocks noChangeShapeType="1"/>
            </p:cNvSpPr>
            <p:nvPr/>
          </p:nvSpPr>
          <p:spPr bwMode="auto">
            <a:xfrm flipH="1">
              <a:off x="2640" y="326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3" name="Line 39">
              <a:extLst>
                <a:ext uri="{FF2B5EF4-FFF2-40B4-BE49-F238E27FC236}">
                  <a16:creationId xmlns:a16="http://schemas.microsoft.com/office/drawing/2014/main" id="{649D9CEA-5C5F-41CE-9EA2-552565CD4F5A}"/>
                </a:ext>
              </a:extLst>
            </p:cNvPr>
            <p:cNvSpPr>
              <a:spLocks noChangeShapeType="1"/>
            </p:cNvSpPr>
            <p:nvPr/>
          </p:nvSpPr>
          <p:spPr bwMode="auto">
            <a:xfrm>
              <a:off x="3456" y="2736"/>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4" name="Oval 40">
              <a:extLst>
                <a:ext uri="{FF2B5EF4-FFF2-40B4-BE49-F238E27FC236}">
                  <a16:creationId xmlns:a16="http://schemas.microsoft.com/office/drawing/2014/main" id="{84D1175D-7272-479D-B8ED-603D45163C03}"/>
                </a:ext>
              </a:extLst>
            </p:cNvPr>
            <p:cNvSpPr>
              <a:spLocks noChangeArrowheads="1"/>
            </p:cNvSpPr>
            <p:nvPr/>
          </p:nvSpPr>
          <p:spPr bwMode="auto">
            <a:xfrm>
              <a:off x="2784"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5" name="Line 41">
              <a:extLst>
                <a:ext uri="{FF2B5EF4-FFF2-40B4-BE49-F238E27FC236}">
                  <a16:creationId xmlns:a16="http://schemas.microsoft.com/office/drawing/2014/main" id="{37C5987A-A8FF-4768-A70B-FF990B3A4C3A}"/>
                </a:ext>
              </a:extLst>
            </p:cNvPr>
            <p:cNvSpPr>
              <a:spLocks noChangeShapeType="1"/>
            </p:cNvSpPr>
            <p:nvPr/>
          </p:nvSpPr>
          <p:spPr bwMode="auto">
            <a:xfrm flipH="1">
              <a:off x="2832" y="326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6" name="Oval 42">
              <a:extLst>
                <a:ext uri="{FF2B5EF4-FFF2-40B4-BE49-F238E27FC236}">
                  <a16:creationId xmlns:a16="http://schemas.microsoft.com/office/drawing/2014/main" id="{719706A6-F17F-4271-9E46-7FF4601FB05B}"/>
                </a:ext>
              </a:extLst>
            </p:cNvPr>
            <p:cNvSpPr>
              <a:spLocks noChangeArrowheads="1"/>
            </p:cNvSpPr>
            <p:nvPr/>
          </p:nvSpPr>
          <p:spPr bwMode="auto">
            <a:xfrm>
              <a:off x="3024"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7" name="Oval 43">
              <a:extLst>
                <a:ext uri="{FF2B5EF4-FFF2-40B4-BE49-F238E27FC236}">
                  <a16:creationId xmlns:a16="http://schemas.microsoft.com/office/drawing/2014/main" id="{B03AE7F1-C223-41BB-B824-CF3013AE1AFB}"/>
                </a:ext>
              </a:extLst>
            </p:cNvPr>
            <p:cNvSpPr>
              <a:spLocks noChangeArrowheads="1"/>
            </p:cNvSpPr>
            <p:nvPr/>
          </p:nvSpPr>
          <p:spPr bwMode="auto">
            <a:xfrm>
              <a:off x="3360"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8" name="Oval 44">
              <a:extLst>
                <a:ext uri="{FF2B5EF4-FFF2-40B4-BE49-F238E27FC236}">
                  <a16:creationId xmlns:a16="http://schemas.microsoft.com/office/drawing/2014/main" id="{727F145F-63E9-4206-977D-6BA976F20AF8}"/>
                </a:ext>
              </a:extLst>
            </p:cNvPr>
            <p:cNvSpPr>
              <a:spLocks noChangeArrowheads="1"/>
            </p:cNvSpPr>
            <p:nvPr/>
          </p:nvSpPr>
          <p:spPr bwMode="auto">
            <a:xfrm>
              <a:off x="379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89" name="Line 45">
              <a:extLst>
                <a:ext uri="{FF2B5EF4-FFF2-40B4-BE49-F238E27FC236}">
                  <a16:creationId xmlns:a16="http://schemas.microsoft.com/office/drawing/2014/main" id="{98EFA846-A578-4FB5-B587-AF456916909C}"/>
                </a:ext>
              </a:extLst>
            </p:cNvPr>
            <p:cNvSpPr>
              <a:spLocks noChangeShapeType="1"/>
            </p:cNvSpPr>
            <p:nvPr/>
          </p:nvSpPr>
          <p:spPr bwMode="auto">
            <a:xfrm flipH="1">
              <a:off x="3408"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90" name="Line 46">
              <a:extLst>
                <a:ext uri="{FF2B5EF4-FFF2-40B4-BE49-F238E27FC236}">
                  <a16:creationId xmlns:a16="http://schemas.microsoft.com/office/drawing/2014/main" id="{1C711604-89C8-45EA-BAC5-89AFB46D2F91}"/>
                </a:ext>
              </a:extLst>
            </p:cNvPr>
            <p:cNvSpPr>
              <a:spLocks noChangeShapeType="1"/>
            </p:cNvSpPr>
            <p:nvPr/>
          </p:nvSpPr>
          <p:spPr bwMode="auto">
            <a:xfrm>
              <a:off x="3648"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91" name="Oval 47">
              <a:extLst>
                <a:ext uri="{FF2B5EF4-FFF2-40B4-BE49-F238E27FC236}">
                  <a16:creationId xmlns:a16="http://schemas.microsoft.com/office/drawing/2014/main" id="{1E5C1B58-D7E5-42CD-928F-781394F18328}"/>
                </a:ext>
              </a:extLst>
            </p:cNvPr>
            <p:cNvSpPr>
              <a:spLocks noChangeArrowheads="1"/>
            </p:cNvSpPr>
            <p:nvPr/>
          </p:nvSpPr>
          <p:spPr bwMode="auto">
            <a:xfrm>
              <a:off x="355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92" name="Line 48">
              <a:extLst>
                <a:ext uri="{FF2B5EF4-FFF2-40B4-BE49-F238E27FC236}">
                  <a16:creationId xmlns:a16="http://schemas.microsoft.com/office/drawing/2014/main" id="{512C8B19-74CC-45FA-A0F7-B52D0FE832E5}"/>
                </a:ext>
              </a:extLst>
            </p:cNvPr>
            <p:cNvSpPr>
              <a:spLocks noChangeShapeType="1"/>
            </p:cNvSpPr>
            <p:nvPr/>
          </p:nvSpPr>
          <p:spPr bwMode="auto">
            <a:xfrm flipH="1">
              <a:off x="3600"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93" name="Line 49">
              <a:extLst>
                <a:ext uri="{FF2B5EF4-FFF2-40B4-BE49-F238E27FC236}">
                  <a16:creationId xmlns:a16="http://schemas.microsoft.com/office/drawing/2014/main" id="{C59DEE7E-7BFD-43B2-BA06-8A1EBE60B207}"/>
                </a:ext>
              </a:extLst>
            </p:cNvPr>
            <p:cNvSpPr>
              <a:spLocks noChangeShapeType="1"/>
            </p:cNvSpPr>
            <p:nvPr/>
          </p:nvSpPr>
          <p:spPr bwMode="auto">
            <a:xfrm>
              <a:off x="2880" y="326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94" name="Oval 50">
              <a:extLst>
                <a:ext uri="{FF2B5EF4-FFF2-40B4-BE49-F238E27FC236}">
                  <a16:creationId xmlns:a16="http://schemas.microsoft.com/office/drawing/2014/main" id="{DE10232B-9EF3-4132-A370-C83C7CD25870}"/>
                </a:ext>
              </a:extLst>
            </p:cNvPr>
            <p:cNvSpPr>
              <a:spLocks noChangeArrowheads="1"/>
            </p:cNvSpPr>
            <p:nvPr/>
          </p:nvSpPr>
          <p:spPr bwMode="auto">
            <a:xfrm>
              <a:off x="3216"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95" name="Line 51">
              <a:extLst>
                <a:ext uri="{FF2B5EF4-FFF2-40B4-BE49-F238E27FC236}">
                  <a16:creationId xmlns:a16="http://schemas.microsoft.com/office/drawing/2014/main" id="{7FC4BFAA-F65F-4075-B61A-3C9A843D1271}"/>
                </a:ext>
              </a:extLst>
            </p:cNvPr>
            <p:cNvSpPr>
              <a:spLocks noChangeShapeType="1"/>
            </p:cNvSpPr>
            <p:nvPr/>
          </p:nvSpPr>
          <p:spPr bwMode="auto">
            <a:xfrm>
              <a:off x="3024" y="2688"/>
              <a:ext cx="24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59796" name="Group 52">
            <a:extLst>
              <a:ext uri="{FF2B5EF4-FFF2-40B4-BE49-F238E27FC236}">
                <a16:creationId xmlns:a16="http://schemas.microsoft.com/office/drawing/2014/main" id="{0D0389B7-D476-4F0D-865A-47804EAB1484}"/>
              </a:ext>
            </a:extLst>
          </p:cNvPr>
          <p:cNvGrpSpPr>
            <a:grpSpLocks/>
          </p:cNvGrpSpPr>
          <p:nvPr/>
        </p:nvGrpSpPr>
        <p:grpSpPr bwMode="auto">
          <a:xfrm>
            <a:off x="6934200" y="4343400"/>
            <a:ext cx="1600200" cy="1371600"/>
            <a:chOff x="3984" y="2688"/>
            <a:chExt cx="1104" cy="1200"/>
          </a:xfrm>
        </p:grpSpPr>
        <p:sp>
          <p:nvSpPr>
            <p:cNvPr id="159797" name="Oval 53">
              <a:extLst>
                <a:ext uri="{FF2B5EF4-FFF2-40B4-BE49-F238E27FC236}">
                  <a16:creationId xmlns:a16="http://schemas.microsoft.com/office/drawing/2014/main" id="{B04664C9-D3A1-406D-97D5-EEA367D644AC}"/>
                </a:ext>
              </a:extLst>
            </p:cNvPr>
            <p:cNvSpPr>
              <a:spLocks noChangeArrowheads="1"/>
            </p:cNvSpPr>
            <p:nvPr/>
          </p:nvSpPr>
          <p:spPr bwMode="auto">
            <a:xfrm>
              <a:off x="4512" y="26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98" name="Oval 54">
              <a:extLst>
                <a:ext uri="{FF2B5EF4-FFF2-40B4-BE49-F238E27FC236}">
                  <a16:creationId xmlns:a16="http://schemas.microsoft.com/office/drawing/2014/main" id="{443EA425-E8C7-458F-A5B1-4F371B6F7E78}"/>
                </a:ext>
              </a:extLst>
            </p:cNvPr>
            <p:cNvSpPr>
              <a:spLocks noChangeArrowheads="1"/>
            </p:cNvSpPr>
            <p:nvPr/>
          </p:nvSpPr>
          <p:spPr bwMode="auto">
            <a:xfrm>
              <a:off x="4224" y="32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799" name="Oval 55">
              <a:extLst>
                <a:ext uri="{FF2B5EF4-FFF2-40B4-BE49-F238E27FC236}">
                  <a16:creationId xmlns:a16="http://schemas.microsoft.com/office/drawing/2014/main" id="{109B8643-4BCE-4A9F-9E06-A7256CAEE93F}"/>
                </a:ext>
              </a:extLst>
            </p:cNvPr>
            <p:cNvSpPr>
              <a:spLocks noChangeArrowheads="1"/>
            </p:cNvSpPr>
            <p:nvPr/>
          </p:nvSpPr>
          <p:spPr bwMode="auto">
            <a:xfrm>
              <a:off x="4800" y="32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0" name="Oval 56">
              <a:extLst>
                <a:ext uri="{FF2B5EF4-FFF2-40B4-BE49-F238E27FC236}">
                  <a16:creationId xmlns:a16="http://schemas.microsoft.com/office/drawing/2014/main" id="{8F5FA99F-F09B-417E-9CC0-21E3A8103D34}"/>
                </a:ext>
              </a:extLst>
            </p:cNvPr>
            <p:cNvSpPr>
              <a:spLocks noChangeArrowheads="1"/>
            </p:cNvSpPr>
            <p:nvPr/>
          </p:nvSpPr>
          <p:spPr bwMode="auto">
            <a:xfrm>
              <a:off x="3984"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1" name="Oval 57">
              <a:extLst>
                <a:ext uri="{FF2B5EF4-FFF2-40B4-BE49-F238E27FC236}">
                  <a16:creationId xmlns:a16="http://schemas.microsoft.com/office/drawing/2014/main" id="{A9B8189E-58CA-4C67-B41C-FC939DFDC35B}"/>
                </a:ext>
              </a:extLst>
            </p:cNvPr>
            <p:cNvSpPr>
              <a:spLocks noChangeArrowheads="1"/>
            </p:cNvSpPr>
            <p:nvPr/>
          </p:nvSpPr>
          <p:spPr bwMode="auto">
            <a:xfrm>
              <a:off x="4416"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2" name="Line 58">
              <a:extLst>
                <a:ext uri="{FF2B5EF4-FFF2-40B4-BE49-F238E27FC236}">
                  <a16:creationId xmlns:a16="http://schemas.microsoft.com/office/drawing/2014/main" id="{87CE1A87-756F-4582-A92A-1963254FEDEE}"/>
                </a:ext>
              </a:extLst>
            </p:cNvPr>
            <p:cNvSpPr>
              <a:spLocks noChangeShapeType="1"/>
            </p:cNvSpPr>
            <p:nvPr/>
          </p:nvSpPr>
          <p:spPr bwMode="auto">
            <a:xfrm flipH="1">
              <a:off x="4272" y="2736"/>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3" name="Line 59">
              <a:extLst>
                <a:ext uri="{FF2B5EF4-FFF2-40B4-BE49-F238E27FC236}">
                  <a16:creationId xmlns:a16="http://schemas.microsoft.com/office/drawing/2014/main" id="{63DED2FF-E2FD-4345-ADAC-A962EB8837C8}"/>
                </a:ext>
              </a:extLst>
            </p:cNvPr>
            <p:cNvSpPr>
              <a:spLocks noChangeShapeType="1"/>
            </p:cNvSpPr>
            <p:nvPr/>
          </p:nvSpPr>
          <p:spPr bwMode="auto">
            <a:xfrm>
              <a:off x="4560" y="2736"/>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4" name="Line 60">
              <a:extLst>
                <a:ext uri="{FF2B5EF4-FFF2-40B4-BE49-F238E27FC236}">
                  <a16:creationId xmlns:a16="http://schemas.microsoft.com/office/drawing/2014/main" id="{E6777354-356D-463F-8F77-57AFAF360E2A}"/>
                </a:ext>
              </a:extLst>
            </p:cNvPr>
            <p:cNvSpPr>
              <a:spLocks noChangeShapeType="1"/>
            </p:cNvSpPr>
            <p:nvPr/>
          </p:nvSpPr>
          <p:spPr bwMode="auto">
            <a:xfrm flipH="1">
              <a:off x="4032"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5" name="Line 61">
              <a:extLst>
                <a:ext uri="{FF2B5EF4-FFF2-40B4-BE49-F238E27FC236}">
                  <a16:creationId xmlns:a16="http://schemas.microsoft.com/office/drawing/2014/main" id="{BD6DD78C-EC18-45DE-9345-1988FE0D107C}"/>
                </a:ext>
              </a:extLst>
            </p:cNvPr>
            <p:cNvSpPr>
              <a:spLocks noChangeShapeType="1"/>
            </p:cNvSpPr>
            <p:nvPr/>
          </p:nvSpPr>
          <p:spPr bwMode="auto">
            <a:xfrm>
              <a:off x="4272"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6" name="Oval 62">
              <a:extLst>
                <a:ext uri="{FF2B5EF4-FFF2-40B4-BE49-F238E27FC236}">
                  <a16:creationId xmlns:a16="http://schemas.microsoft.com/office/drawing/2014/main" id="{585135EE-1BAB-41D9-90A5-DB92E483FBF5}"/>
                </a:ext>
              </a:extLst>
            </p:cNvPr>
            <p:cNvSpPr>
              <a:spLocks noChangeArrowheads="1"/>
            </p:cNvSpPr>
            <p:nvPr/>
          </p:nvSpPr>
          <p:spPr bwMode="auto">
            <a:xfrm>
              <a:off x="4512"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7" name="Oval 63">
              <a:extLst>
                <a:ext uri="{FF2B5EF4-FFF2-40B4-BE49-F238E27FC236}">
                  <a16:creationId xmlns:a16="http://schemas.microsoft.com/office/drawing/2014/main" id="{0FF0DE95-1945-4F14-9478-EDB4CB766F4D}"/>
                </a:ext>
              </a:extLst>
            </p:cNvPr>
            <p:cNvSpPr>
              <a:spLocks noChangeArrowheads="1"/>
            </p:cNvSpPr>
            <p:nvPr/>
          </p:nvSpPr>
          <p:spPr bwMode="auto">
            <a:xfrm>
              <a:off x="4176"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8" name="Line 64">
              <a:extLst>
                <a:ext uri="{FF2B5EF4-FFF2-40B4-BE49-F238E27FC236}">
                  <a16:creationId xmlns:a16="http://schemas.microsoft.com/office/drawing/2014/main" id="{60D2320D-E337-4FA8-8D06-7FB6D24131C0}"/>
                </a:ext>
              </a:extLst>
            </p:cNvPr>
            <p:cNvSpPr>
              <a:spLocks noChangeShapeType="1"/>
            </p:cNvSpPr>
            <p:nvPr/>
          </p:nvSpPr>
          <p:spPr bwMode="auto">
            <a:xfrm flipH="1">
              <a:off x="4224"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09" name="Line 65">
              <a:extLst>
                <a:ext uri="{FF2B5EF4-FFF2-40B4-BE49-F238E27FC236}">
                  <a16:creationId xmlns:a16="http://schemas.microsoft.com/office/drawing/2014/main" id="{C79C81B6-79AA-41E1-A1B8-6EDC09654B30}"/>
                </a:ext>
              </a:extLst>
            </p:cNvPr>
            <p:cNvSpPr>
              <a:spLocks noChangeShapeType="1"/>
            </p:cNvSpPr>
            <p:nvPr/>
          </p:nvSpPr>
          <p:spPr bwMode="auto">
            <a:xfrm>
              <a:off x="4560" y="2784"/>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10" name="Oval 66">
              <a:extLst>
                <a:ext uri="{FF2B5EF4-FFF2-40B4-BE49-F238E27FC236}">
                  <a16:creationId xmlns:a16="http://schemas.microsoft.com/office/drawing/2014/main" id="{EA905B49-3C77-4783-8CBD-E6475C273F07}"/>
                </a:ext>
              </a:extLst>
            </p:cNvPr>
            <p:cNvSpPr>
              <a:spLocks noChangeArrowheads="1"/>
            </p:cNvSpPr>
            <p:nvPr/>
          </p:nvSpPr>
          <p:spPr bwMode="auto">
            <a:xfrm>
              <a:off x="4560"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11" name="Oval 67">
              <a:extLst>
                <a:ext uri="{FF2B5EF4-FFF2-40B4-BE49-F238E27FC236}">
                  <a16:creationId xmlns:a16="http://schemas.microsoft.com/office/drawing/2014/main" id="{94676F7F-B080-4B97-ABDE-974BB692F160}"/>
                </a:ext>
              </a:extLst>
            </p:cNvPr>
            <p:cNvSpPr>
              <a:spLocks noChangeArrowheads="1"/>
            </p:cNvSpPr>
            <p:nvPr/>
          </p:nvSpPr>
          <p:spPr bwMode="auto">
            <a:xfrm>
              <a:off x="499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12" name="Line 68">
              <a:extLst>
                <a:ext uri="{FF2B5EF4-FFF2-40B4-BE49-F238E27FC236}">
                  <a16:creationId xmlns:a16="http://schemas.microsoft.com/office/drawing/2014/main" id="{824617F2-F020-42EC-90D7-7791CEAC25B5}"/>
                </a:ext>
              </a:extLst>
            </p:cNvPr>
            <p:cNvSpPr>
              <a:spLocks noChangeShapeType="1"/>
            </p:cNvSpPr>
            <p:nvPr/>
          </p:nvSpPr>
          <p:spPr bwMode="auto">
            <a:xfrm flipH="1">
              <a:off x="4608"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13" name="Line 69">
              <a:extLst>
                <a:ext uri="{FF2B5EF4-FFF2-40B4-BE49-F238E27FC236}">
                  <a16:creationId xmlns:a16="http://schemas.microsoft.com/office/drawing/2014/main" id="{4AADCA97-FDB9-4928-8475-D79A1018377C}"/>
                </a:ext>
              </a:extLst>
            </p:cNvPr>
            <p:cNvSpPr>
              <a:spLocks noChangeShapeType="1"/>
            </p:cNvSpPr>
            <p:nvPr/>
          </p:nvSpPr>
          <p:spPr bwMode="auto">
            <a:xfrm>
              <a:off x="4848"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14" name="Oval 70">
              <a:extLst>
                <a:ext uri="{FF2B5EF4-FFF2-40B4-BE49-F238E27FC236}">
                  <a16:creationId xmlns:a16="http://schemas.microsoft.com/office/drawing/2014/main" id="{709FF23E-60C7-4C19-9D2F-1F754C0ED5EF}"/>
                </a:ext>
              </a:extLst>
            </p:cNvPr>
            <p:cNvSpPr>
              <a:spLocks noChangeArrowheads="1"/>
            </p:cNvSpPr>
            <p:nvPr/>
          </p:nvSpPr>
          <p:spPr bwMode="auto">
            <a:xfrm>
              <a:off x="475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9815" name="Line 71">
              <a:extLst>
                <a:ext uri="{FF2B5EF4-FFF2-40B4-BE49-F238E27FC236}">
                  <a16:creationId xmlns:a16="http://schemas.microsoft.com/office/drawing/2014/main" id="{4310428E-0B99-4970-A27F-9105FB59C69D}"/>
                </a:ext>
              </a:extLst>
            </p:cNvPr>
            <p:cNvSpPr>
              <a:spLocks noChangeShapeType="1"/>
            </p:cNvSpPr>
            <p:nvPr/>
          </p:nvSpPr>
          <p:spPr bwMode="auto">
            <a:xfrm flipH="1">
              <a:off x="4800"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ransition spd="slow">
    <p:wip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4FE0FB84-40C6-4FE5-A57C-DD034A6DB70A}"/>
              </a:ext>
            </a:extLst>
          </p:cNvPr>
          <p:cNvSpPr>
            <a:spLocks noGrp="1" noChangeArrowheads="1"/>
          </p:cNvSpPr>
          <p:nvPr>
            <p:ph type="title"/>
          </p:nvPr>
        </p:nvSpPr>
        <p:spPr/>
        <p:txBody>
          <a:bodyPr/>
          <a:lstStyle/>
          <a:p>
            <a:r>
              <a:rPr lang="en-US" altLang="en-US"/>
              <a:t>Properties of Trees</a:t>
            </a:r>
          </a:p>
        </p:txBody>
      </p:sp>
      <p:sp>
        <p:nvSpPr>
          <p:cNvPr id="160771" name="Text Box 3">
            <a:extLst>
              <a:ext uri="{FF2B5EF4-FFF2-40B4-BE49-F238E27FC236}">
                <a16:creationId xmlns:a16="http://schemas.microsoft.com/office/drawing/2014/main" id="{F3886774-B9AE-450F-9DBC-1C15434BF365}"/>
              </a:ext>
            </a:extLst>
          </p:cNvPr>
          <p:cNvSpPr txBox="1">
            <a:spLocks noChangeArrowheads="1"/>
          </p:cNvSpPr>
          <p:nvPr/>
        </p:nvSpPr>
        <p:spPr bwMode="auto">
          <a:xfrm>
            <a:off x="1219200" y="2057400"/>
            <a:ext cx="71628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3200">
                <a:latin typeface="Times New Roman" panose="02020603050405020304" pitchFamily="18" charset="0"/>
              </a:rPr>
              <a:t>If an </a:t>
            </a:r>
            <a:r>
              <a:rPr lang="en-US" altLang="en-US" sz="3200" i="1">
                <a:latin typeface="Times New Roman" panose="02020603050405020304" pitchFamily="18" charset="0"/>
              </a:rPr>
              <a:t>m</a:t>
            </a:r>
            <a:r>
              <a:rPr lang="en-US" altLang="en-US" sz="3200">
                <a:latin typeface="Times New Roman" panose="02020603050405020304" pitchFamily="18" charset="0"/>
              </a:rPr>
              <a:t>-ary tree of height</a:t>
            </a:r>
            <a:r>
              <a:rPr lang="en-US" altLang="en-US" sz="3200" i="1">
                <a:latin typeface="Times New Roman" panose="02020603050405020304" pitchFamily="18" charset="0"/>
              </a:rPr>
              <a:t> h</a:t>
            </a:r>
            <a:r>
              <a:rPr lang="en-US" altLang="en-US" sz="3200">
                <a:latin typeface="Times New Roman" panose="02020603050405020304" pitchFamily="18" charset="0"/>
              </a:rPr>
              <a:t> has </a:t>
            </a:r>
            <a:r>
              <a:rPr lang="en-US" altLang="en-US" sz="3200" i="1">
                <a:latin typeface="Times New Roman" panose="02020603050405020304" pitchFamily="18" charset="0"/>
              </a:rPr>
              <a:t>l </a:t>
            </a:r>
            <a:r>
              <a:rPr lang="en-US" altLang="en-US" sz="3200">
                <a:latin typeface="Times New Roman" panose="02020603050405020304" pitchFamily="18" charset="0"/>
              </a:rPr>
              <a:t>leaves, then</a:t>
            </a:r>
          </a:p>
        </p:txBody>
      </p:sp>
      <p:grpSp>
        <p:nvGrpSpPr>
          <p:cNvPr id="160772" name="Group 4">
            <a:extLst>
              <a:ext uri="{FF2B5EF4-FFF2-40B4-BE49-F238E27FC236}">
                <a16:creationId xmlns:a16="http://schemas.microsoft.com/office/drawing/2014/main" id="{BE41B943-D6DC-4CAD-A0B9-3106F8465379}"/>
              </a:ext>
            </a:extLst>
          </p:cNvPr>
          <p:cNvGrpSpPr>
            <a:grpSpLocks/>
          </p:cNvGrpSpPr>
          <p:nvPr/>
        </p:nvGrpSpPr>
        <p:grpSpPr bwMode="auto">
          <a:xfrm>
            <a:off x="1143000" y="4343400"/>
            <a:ext cx="1600200" cy="1600200"/>
            <a:chOff x="720" y="528"/>
            <a:chExt cx="1440" cy="1632"/>
          </a:xfrm>
        </p:grpSpPr>
        <p:sp>
          <p:nvSpPr>
            <p:cNvPr id="160773" name="Oval 5">
              <a:extLst>
                <a:ext uri="{FF2B5EF4-FFF2-40B4-BE49-F238E27FC236}">
                  <a16:creationId xmlns:a16="http://schemas.microsoft.com/office/drawing/2014/main" id="{C07125FD-1363-4E83-97CC-EEF99539E199}"/>
                </a:ext>
              </a:extLst>
            </p:cNvPr>
            <p:cNvSpPr>
              <a:spLocks noChangeArrowheads="1"/>
            </p:cNvSpPr>
            <p:nvPr/>
          </p:nvSpPr>
          <p:spPr bwMode="auto">
            <a:xfrm>
              <a:off x="1632" y="52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74" name="Oval 6">
              <a:extLst>
                <a:ext uri="{FF2B5EF4-FFF2-40B4-BE49-F238E27FC236}">
                  <a16:creationId xmlns:a16="http://schemas.microsoft.com/office/drawing/2014/main" id="{D20241E2-94B1-4636-A245-6227EAACAA4B}"/>
                </a:ext>
              </a:extLst>
            </p:cNvPr>
            <p:cNvSpPr>
              <a:spLocks noChangeArrowheads="1"/>
            </p:cNvSpPr>
            <p:nvPr/>
          </p:nvSpPr>
          <p:spPr bwMode="auto">
            <a:xfrm>
              <a:off x="1248"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75" name="Oval 7">
              <a:extLst>
                <a:ext uri="{FF2B5EF4-FFF2-40B4-BE49-F238E27FC236}">
                  <a16:creationId xmlns:a16="http://schemas.microsoft.com/office/drawing/2014/main" id="{FC8DE7F7-3A95-4AC7-A172-677FC6C36103}"/>
                </a:ext>
              </a:extLst>
            </p:cNvPr>
            <p:cNvSpPr>
              <a:spLocks noChangeArrowheads="1"/>
            </p:cNvSpPr>
            <p:nvPr/>
          </p:nvSpPr>
          <p:spPr bwMode="auto">
            <a:xfrm>
              <a:off x="2064" y="96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76" name="Oval 8">
              <a:extLst>
                <a:ext uri="{FF2B5EF4-FFF2-40B4-BE49-F238E27FC236}">
                  <a16:creationId xmlns:a16="http://schemas.microsoft.com/office/drawing/2014/main" id="{C22AD70F-7842-4294-B430-D22547053B5A}"/>
                </a:ext>
              </a:extLst>
            </p:cNvPr>
            <p:cNvSpPr>
              <a:spLocks noChangeArrowheads="1"/>
            </p:cNvSpPr>
            <p:nvPr/>
          </p:nvSpPr>
          <p:spPr bwMode="auto">
            <a:xfrm>
              <a:off x="960"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77" name="Oval 9">
              <a:extLst>
                <a:ext uri="{FF2B5EF4-FFF2-40B4-BE49-F238E27FC236}">
                  <a16:creationId xmlns:a16="http://schemas.microsoft.com/office/drawing/2014/main" id="{53C69919-E6C5-405F-BA44-A5F6AEFAE66A}"/>
                </a:ext>
              </a:extLst>
            </p:cNvPr>
            <p:cNvSpPr>
              <a:spLocks noChangeArrowheads="1"/>
            </p:cNvSpPr>
            <p:nvPr/>
          </p:nvSpPr>
          <p:spPr bwMode="auto">
            <a:xfrm>
              <a:off x="1536" y="153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78" name="Oval 10">
              <a:extLst>
                <a:ext uri="{FF2B5EF4-FFF2-40B4-BE49-F238E27FC236}">
                  <a16:creationId xmlns:a16="http://schemas.microsoft.com/office/drawing/2014/main" id="{6248024D-9013-4ED5-A9DF-3594F9C4D9EA}"/>
                </a:ext>
              </a:extLst>
            </p:cNvPr>
            <p:cNvSpPr>
              <a:spLocks noChangeArrowheads="1"/>
            </p:cNvSpPr>
            <p:nvPr/>
          </p:nvSpPr>
          <p:spPr bwMode="auto">
            <a:xfrm>
              <a:off x="720"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79" name="Oval 11">
              <a:extLst>
                <a:ext uri="{FF2B5EF4-FFF2-40B4-BE49-F238E27FC236}">
                  <a16:creationId xmlns:a16="http://schemas.microsoft.com/office/drawing/2014/main" id="{26387BC5-5034-47F6-A6AD-676983E9AD8D}"/>
                </a:ext>
              </a:extLst>
            </p:cNvPr>
            <p:cNvSpPr>
              <a:spLocks noChangeArrowheads="1"/>
            </p:cNvSpPr>
            <p:nvPr/>
          </p:nvSpPr>
          <p:spPr bwMode="auto">
            <a:xfrm>
              <a:off x="1152" y="20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80" name="Line 12">
              <a:extLst>
                <a:ext uri="{FF2B5EF4-FFF2-40B4-BE49-F238E27FC236}">
                  <a16:creationId xmlns:a16="http://schemas.microsoft.com/office/drawing/2014/main" id="{8EAE51B0-37ED-4DD7-8EBE-87B4E4BF85E1}"/>
                </a:ext>
              </a:extLst>
            </p:cNvPr>
            <p:cNvSpPr>
              <a:spLocks noChangeShapeType="1"/>
            </p:cNvSpPr>
            <p:nvPr/>
          </p:nvSpPr>
          <p:spPr bwMode="auto">
            <a:xfrm flipH="1">
              <a:off x="1296" y="57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81" name="Line 13">
              <a:extLst>
                <a:ext uri="{FF2B5EF4-FFF2-40B4-BE49-F238E27FC236}">
                  <a16:creationId xmlns:a16="http://schemas.microsoft.com/office/drawing/2014/main" id="{2CD59D50-F410-400A-A3A5-828DBE45C614}"/>
                </a:ext>
              </a:extLst>
            </p:cNvPr>
            <p:cNvSpPr>
              <a:spLocks noChangeShapeType="1"/>
            </p:cNvSpPr>
            <p:nvPr/>
          </p:nvSpPr>
          <p:spPr bwMode="auto">
            <a:xfrm>
              <a:off x="1680" y="57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82" name="Line 14">
              <a:extLst>
                <a:ext uri="{FF2B5EF4-FFF2-40B4-BE49-F238E27FC236}">
                  <a16:creationId xmlns:a16="http://schemas.microsoft.com/office/drawing/2014/main" id="{8DA4FC29-3145-452A-91C2-A8E8462445B5}"/>
                </a:ext>
              </a:extLst>
            </p:cNvPr>
            <p:cNvSpPr>
              <a:spLocks noChangeShapeType="1"/>
            </p:cNvSpPr>
            <p:nvPr/>
          </p:nvSpPr>
          <p:spPr bwMode="auto">
            <a:xfrm flipH="1">
              <a:off x="1008" y="100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83" name="Line 15">
              <a:extLst>
                <a:ext uri="{FF2B5EF4-FFF2-40B4-BE49-F238E27FC236}">
                  <a16:creationId xmlns:a16="http://schemas.microsoft.com/office/drawing/2014/main" id="{160AA099-1752-473F-B641-49E37C2B4992}"/>
                </a:ext>
              </a:extLst>
            </p:cNvPr>
            <p:cNvSpPr>
              <a:spLocks noChangeShapeType="1"/>
            </p:cNvSpPr>
            <p:nvPr/>
          </p:nvSpPr>
          <p:spPr bwMode="auto">
            <a:xfrm>
              <a:off x="1296" y="100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84" name="Line 16">
              <a:extLst>
                <a:ext uri="{FF2B5EF4-FFF2-40B4-BE49-F238E27FC236}">
                  <a16:creationId xmlns:a16="http://schemas.microsoft.com/office/drawing/2014/main" id="{8FAA5699-1FFA-464C-AC47-25E41230EA24}"/>
                </a:ext>
              </a:extLst>
            </p:cNvPr>
            <p:cNvSpPr>
              <a:spLocks noChangeShapeType="1"/>
            </p:cNvSpPr>
            <p:nvPr/>
          </p:nvSpPr>
          <p:spPr bwMode="auto">
            <a:xfrm flipH="1">
              <a:off x="768" y="158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85" name="Line 17">
              <a:extLst>
                <a:ext uri="{FF2B5EF4-FFF2-40B4-BE49-F238E27FC236}">
                  <a16:creationId xmlns:a16="http://schemas.microsoft.com/office/drawing/2014/main" id="{D02F6034-5CA3-4A56-9299-43A1C0847E2D}"/>
                </a:ext>
              </a:extLst>
            </p:cNvPr>
            <p:cNvSpPr>
              <a:spLocks noChangeShapeType="1"/>
            </p:cNvSpPr>
            <p:nvPr/>
          </p:nvSpPr>
          <p:spPr bwMode="auto">
            <a:xfrm>
              <a:off x="1008" y="158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60786" name="Group 18">
            <a:extLst>
              <a:ext uri="{FF2B5EF4-FFF2-40B4-BE49-F238E27FC236}">
                <a16:creationId xmlns:a16="http://schemas.microsoft.com/office/drawing/2014/main" id="{BFF0FB67-6EF3-47CA-BB6F-22343AEB2CC1}"/>
              </a:ext>
            </a:extLst>
          </p:cNvPr>
          <p:cNvGrpSpPr>
            <a:grpSpLocks/>
          </p:cNvGrpSpPr>
          <p:nvPr/>
        </p:nvGrpSpPr>
        <p:grpSpPr bwMode="auto">
          <a:xfrm>
            <a:off x="3657600" y="4191000"/>
            <a:ext cx="2362200" cy="1905000"/>
            <a:chOff x="2016" y="2208"/>
            <a:chExt cx="1872" cy="1680"/>
          </a:xfrm>
        </p:grpSpPr>
        <p:sp>
          <p:nvSpPr>
            <p:cNvPr id="160787" name="Oval 19">
              <a:extLst>
                <a:ext uri="{FF2B5EF4-FFF2-40B4-BE49-F238E27FC236}">
                  <a16:creationId xmlns:a16="http://schemas.microsoft.com/office/drawing/2014/main" id="{94FA44CD-61C5-4B26-AE5C-5826AF0D10B2}"/>
                </a:ext>
              </a:extLst>
            </p:cNvPr>
            <p:cNvSpPr>
              <a:spLocks noChangeArrowheads="1"/>
            </p:cNvSpPr>
            <p:nvPr/>
          </p:nvSpPr>
          <p:spPr bwMode="auto">
            <a:xfrm>
              <a:off x="2928" y="220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88" name="Oval 20">
              <a:extLst>
                <a:ext uri="{FF2B5EF4-FFF2-40B4-BE49-F238E27FC236}">
                  <a16:creationId xmlns:a16="http://schemas.microsoft.com/office/drawing/2014/main" id="{B1F31360-530E-4FA0-81B3-EE4D4652B028}"/>
                </a:ext>
              </a:extLst>
            </p:cNvPr>
            <p:cNvSpPr>
              <a:spLocks noChangeArrowheads="1"/>
            </p:cNvSpPr>
            <p:nvPr/>
          </p:nvSpPr>
          <p:spPr bwMode="auto">
            <a:xfrm>
              <a:off x="2544"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89" name="Oval 21">
              <a:extLst>
                <a:ext uri="{FF2B5EF4-FFF2-40B4-BE49-F238E27FC236}">
                  <a16:creationId xmlns:a16="http://schemas.microsoft.com/office/drawing/2014/main" id="{25905971-EBEB-4865-B8F2-6CFFF44C87A4}"/>
                </a:ext>
              </a:extLst>
            </p:cNvPr>
            <p:cNvSpPr>
              <a:spLocks noChangeArrowheads="1"/>
            </p:cNvSpPr>
            <p:nvPr/>
          </p:nvSpPr>
          <p:spPr bwMode="auto">
            <a:xfrm>
              <a:off x="3360"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0" name="Oval 22">
              <a:extLst>
                <a:ext uri="{FF2B5EF4-FFF2-40B4-BE49-F238E27FC236}">
                  <a16:creationId xmlns:a16="http://schemas.microsoft.com/office/drawing/2014/main" id="{187C6C23-50B7-438E-B6A8-2540E990A458}"/>
                </a:ext>
              </a:extLst>
            </p:cNvPr>
            <p:cNvSpPr>
              <a:spLocks noChangeArrowheads="1"/>
            </p:cNvSpPr>
            <p:nvPr/>
          </p:nvSpPr>
          <p:spPr bwMode="auto">
            <a:xfrm>
              <a:off x="2256"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1" name="Oval 23">
              <a:extLst>
                <a:ext uri="{FF2B5EF4-FFF2-40B4-BE49-F238E27FC236}">
                  <a16:creationId xmlns:a16="http://schemas.microsoft.com/office/drawing/2014/main" id="{C8A2D2AE-C10D-4C99-BBC7-890CC8CA7307}"/>
                </a:ext>
              </a:extLst>
            </p:cNvPr>
            <p:cNvSpPr>
              <a:spLocks noChangeArrowheads="1"/>
            </p:cNvSpPr>
            <p:nvPr/>
          </p:nvSpPr>
          <p:spPr bwMode="auto">
            <a:xfrm>
              <a:off x="2832"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2" name="Oval 24">
              <a:extLst>
                <a:ext uri="{FF2B5EF4-FFF2-40B4-BE49-F238E27FC236}">
                  <a16:creationId xmlns:a16="http://schemas.microsoft.com/office/drawing/2014/main" id="{6176F6F8-C64C-4DAB-9607-81F12D1B7554}"/>
                </a:ext>
              </a:extLst>
            </p:cNvPr>
            <p:cNvSpPr>
              <a:spLocks noChangeArrowheads="1"/>
            </p:cNvSpPr>
            <p:nvPr/>
          </p:nvSpPr>
          <p:spPr bwMode="auto">
            <a:xfrm>
              <a:off x="2016"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3" name="Oval 25">
              <a:extLst>
                <a:ext uri="{FF2B5EF4-FFF2-40B4-BE49-F238E27FC236}">
                  <a16:creationId xmlns:a16="http://schemas.microsoft.com/office/drawing/2014/main" id="{3BB5DC79-D134-4786-840C-5FE4D6572BDB}"/>
                </a:ext>
              </a:extLst>
            </p:cNvPr>
            <p:cNvSpPr>
              <a:spLocks noChangeArrowheads="1"/>
            </p:cNvSpPr>
            <p:nvPr/>
          </p:nvSpPr>
          <p:spPr bwMode="auto">
            <a:xfrm>
              <a:off x="2448"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4" name="Line 26">
              <a:extLst>
                <a:ext uri="{FF2B5EF4-FFF2-40B4-BE49-F238E27FC236}">
                  <a16:creationId xmlns:a16="http://schemas.microsoft.com/office/drawing/2014/main" id="{F195C5B5-72DF-4F1E-8F46-7B6E509BDB52}"/>
                </a:ext>
              </a:extLst>
            </p:cNvPr>
            <p:cNvSpPr>
              <a:spLocks noChangeShapeType="1"/>
            </p:cNvSpPr>
            <p:nvPr/>
          </p:nvSpPr>
          <p:spPr bwMode="auto">
            <a:xfrm flipH="1">
              <a:off x="2592" y="2256"/>
              <a:ext cx="384"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5" name="Line 27">
              <a:extLst>
                <a:ext uri="{FF2B5EF4-FFF2-40B4-BE49-F238E27FC236}">
                  <a16:creationId xmlns:a16="http://schemas.microsoft.com/office/drawing/2014/main" id="{1E702D71-4185-46F2-B7B5-B718503CB444}"/>
                </a:ext>
              </a:extLst>
            </p:cNvPr>
            <p:cNvSpPr>
              <a:spLocks noChangeShapeType="1"/>
            </p:cNvSpPr>
            <p:nvPr/>
          </p:nvSpPr>
          <p:spPr bwMode="auto">
            <a:xfrm>
              <a:off x="2976" y="2256"/>
              <a:ext cx="432"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6" name="Line 28">
              <a:extLst>
                <a:ext uri="{FF2B5EF4-FFF2-40B4-BE49-F238E27FC236}">
                  <a16:creationId xmlns:a16="http://schemas.microsoft.com/office/drawing/2014/main" id="{84395760-CC15-4C20-AB3C-1C28036077D1}"/>
                </a:ext>
              </a:extLst>
            </p:cNvPr>
            <p:cNvSpPr>
              <a:spLocks noChangeShapeType="1"/>
            </p:cNvSpPr>
            <p:nvPr/>
          </p:nvSpPr>
          <p:spPr bwMode="auto">
            <a:xfrm flipH="1">
              <a:off x="2304" y="2688"/>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7" name="Line 29">
              <a:extLst>
                <a:ext uri="{FF2B5EF4-FFF2-40B4-BE49-F238E27FC236}">
                  <a16:creationId xmlns:a16="http://schemas.microsoft.com/office/drawing/2014/main" id="{612E8198-9D0E-4D7B-992F-03E75FCD6FFE}"/>
                </a:ext>
              </a:extLst>
            </p:cNvPr>
            <p:cNvSpPr>
              <a:spLocks noChangeShapeType="1"/>
            </p:cNvSpPr>
            <p:nvPr/>
          </p:nvSpPr>
          <p:spPr bwMode="auto">
            <a:xfrm>
              <a:off x="2592" y="2688"/>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8" name="Line 30">
              <a:extLst>
                <a:ext uri="{FF2B5EF4-FFF2-40B4-BE49-F238E27FC236}">
                  <a16:creationId xmlns:a16="http://schemas.microsoft.com/office/drawing/2014/main" id="{7907850B-5D6F-4A42-8133-F83F9357E63E}"/>
                </a:ext>
              </a:extLst>
            </p:cNvPr>
            <p:cNvSpPr>
              <a:spLocks noChangeShapeType="1"/>
            </p:cNvSpPr>
            <p:nvPr/>
          </p:nvSpPr>
          <p:spPr bwMode="auto">
            <a:xfrm flipH="1">
              <a:off x="2064" y="326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799" name="Line 31">
              <a:extLst>
                <a:ext uri="{FF2B5EF4-FFF2-40B4-BE49-F238E27FC236}">
                  <a16:creationId xmlns:a16="http://schemas.microsoft.com/office/drawing/2014/main" id="{AC244892-9D21-4E0A-A434-B2106A8DCDA6}"/>
                </a:ext>
              </a:extLst>
            </p:cNvPr>
            <p:cNvSpPr>
              <a:spLocks noChangeShapeType="1"/>
            </p:cNvSpPr>
            <p:nvPr/>
          </p:nvSpPr>
          <p:spPr bwMode="auto">
            <a:xfrm>
              <a:off x="2304" y="326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0" name="Oval 32">
              <a:extLst>
                <a:ext uri="{FF2B5EF4-FFF2-40B4-BE49-F238E27FC236}">
                  <a16:creationId xmlns:a16="http://schemas.microsoft.com/office/drawing/2014/main" id="{99474006-FC73-4180-A0FC-CEC2459D1886}"/>
                </a:ext>
              </a:extLst>
            </p:cNvPr>
            <p:cNvSpPr>
              <a:spLocks noChangeArrowheads="1"/>
            </p:cNvSpPr>
            <p:nvPr/>
          </p:nvSpPr>
          <p:spPr bwMode="auto">
            <a:xfrm>
              <a:off x="2976" y="2640"/>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1" name="Line 33">
              <a:extLst>
                <a:ext uri="{FF2B5EF4-FFF2-40B4-BE49-F238E27FC236}">
                  <a16:creationId xmlns:a16="http://schemas.microsoft.com/office/drawing/2014/main" id="{DC8FEBB7-6251-4A2E-89AF-DE775A6EC3C3}"/>
                </a:ext>
              </a:extLst>
            </p:cNvPr>
            <p:cNvSpPr>
              <a:spLocks noChangeShapeType="1"/>
            </p:cNvSpPr>
            <p:nvPr/>
          </p:nvSpPr>
          <p:spPr bwMode="auto">
            <a:xfrm flipH="1" flipV="1">
              <a:off x="2976" y="2256"/>
              <a:ext cx="48" cy="43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2" name="Oval 34">
              <a:extLst>
                <a:ext uri="{FF2B5EF4-FFF2-40B4-BE49-F238E27FC236}">
                  <a16:creationId xmlns:a16="http://schemas.microsoft.com/office/drawing/2014/main" id="{E2B50143-1F94-48E7-9E24-79622F6974CC}"/>
                </a:ext>
              </a:extLst>
            </p:cNvPr>
            <p:cNvSpPr>
              <a:spLocks noChangeArrowheads="1"/>
            </p:cNvSpPr>
            <p:nvPr/>
          </p:nvSpPr>
          <p:spPr bwMode="auto">
            <a:xfrm>
              <a:off x="2208"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3" name="Line 35">
              <a:extLst>
                <a:ext uri="{FF2B5EF4-FFF2-40B4-BE49-F238E27FC236}">
                  <a16:creationId xmlns:a16="http://schemas.microsoft.com/office/drawing/2014/main" id="{6637713B-B3AC-4CE6-A385-2BC7B3DFAD14}"/>
                </a:ext>
              </a:extLst>
            </p:cNvPr>
            <p:cNvSpPr>
              <a:spLocks noChangeShapeType="1"/>
            </p:cNvSpPr>
            <p:nvPr/>
          </p:nvSpPr>
          <p:spPr bwMode="auto">
            <a:xfrm flipH="1">
              <a:off x="2256" y="326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4" name="Oval 36">
              <a:extLst>
                <a:ext uri="{FF2B5EF4-FFF2-40B4-BE49-F238E27FC236}">
                  <a16:creationId xmlns:a16="http://schemas.microsoft.com/office/drawing/2014/main" id="{6A6D4C4B-CBC5-4F18-B379-3EE6E19C331F}"/>
                </a:ext>
              </a:extLst>
            </p:cNvPr>
            <p:cNvSpPr>
              <a:spLocks noChangeArrowheads="1"/>
            </p:cNvSpPr>
            <p:nvPr/>
          </p:nvSpPr>
          <p:spPr bwMode="auto">
            <a:xfrm>
              <a:off x="2592"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5" name="Oval 37">
              <a:extLst>
                <a:ext uri="{FF2B5EF4-FFF2-40B4-BE49-F238E27FC236}">
                  <a16:creationId xmlns:a16="http://schemas.microsoft.com/office/drawing/2014/main" id="{D547C28B-D6C4-4E3D-822F-3EAE167C5AD5}"/>
                </a:ext>
              </a:extLst>
            </p:cNvPr>
            <p:cNvSpPr>
              <a:spLocks noChangeArrowheads="1"/>
            </p:cNvSpPr>
            <p:nvPr/>
          </p:nvSpPr>
          <p:spPr bwMode="auto">
            <a:xfrm>
              <a:off x="3600"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6" name="Line 38">
              <a:extLst>
                <a:ext uri="{FF2B5EF4-FFF2-40B4-BE49-F238E27FC236}">
                  <a16:creationId xmlns:a16="http://schemas.microsoft.com/office/drawing/2014/main" id="{34533D61-8E6E-492D-9348-3B6BE6CE7E3E}"/>
                </a:ext>
              </a:extLst>
            </p:cNvPr>
            <p:cNvSpPr>
              <a:spLocks noChangeShapeType="1"/>
            </p:cNvSpPr>
            <p:nvPr/>
          </p:nvSpPr>
          <p:spPr bwMode="auto">
            <a:xfrm flipH="1">
              <a:off x="2640" y="3264"/>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7" name="Line 39">
              <a:extLst>
                <a:ext uri="{FF2B5EF4-FFF2-40B4-BE49-F238E27FC236}">
                  <a16:creationId xmlns:a16="http://schemas.microsoft.com/office/drawing/2014/main" id="{C0EA7A0C-DB98-4E8B-94F4-0CD2ADECEF4E}"/>
                </a:ext>
              </a:extLst>
            </p:cNvPr>
            <p:cNvSpPr>
              <a:spLocks noChangeShapeType="1"/>
            </p:cNvSpPr>
            <p:nvPr/>
          </p:nvSpPr>
          <p:spPr bwMode="auto">
            <a:xfrm>
              <a:off x="3456" y="2736"/>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8" name="Oval 40">
              <a:extLst>
                <a:ext uri="{FF2B5EF4-FFF2-40B4-BE49-F238E27FC236}">
                  <a16:creationId xmlns:a16="http://schemas.microsoft.com/office/drawing/2014/main" id="{3726FD25-B8C4-45B7-A754-DCC23521E331}"/>
                </a:ext>
              </a:extLst>
            </p:cNvPr>
            <p:cNvSpPr>
              <a:spLocks noChangeArrowheads="1"/>
            </p:cNvSpPr>
            <p:nvPr/>
          </p:nvSpPr>
          <p:spPr bwMode="auto">
            <a:xfrm>
              <a:off x="2784"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09" name="Line 41">
              <a:extLst>
                <a:ext uri="{FF2B5EF4-FFF2-40B4-BE49-F238E27FC236}">
                  <a16:creationId xmlns:a16="http://schemas.microsoft.com/office/drawing/2014/main" id="{219F58F7-DDF0-4E34-A9F8-FCCC918D38FC}"/>
                </a:ext>
              </a:extLst>
            </p:cNvPr>
            <p:cNvSpPr>
              <a:spLocks noChangeShapeType="1"/>
            </p:cNvSpPr>
            <p:nvPr/>
          </p:nvSpPr>
          <p:spPr bwMode="auto">
            <a:xfrm flipH="1">
              <a:off x="2832" y="3264"/>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0" name="Oval 42">
              <a:extLst>
                <a:ext uri="{FF2B5EF4-FFF2-40B4-BE49-F238E27FC236}">
                  <a16:creationId xmlns:a16="http://schemas.microsoft.com/office/drawing/2014/main" id="{E4A06ED0-F667-4D85-9E76-530E5D3AD279}"/>
                </a:ext>
              </a:extLst>
            </p:cNvPr>
            <p:cNvSpPr>
              <a:spLocks noChangeArrowheads="1"/>
            </p:cNvSpPr>
            <p:nvPr/>
          </p:nvSpPr>
          <p:spPr bwMode="auto">
            <a:xfrm>
              <a:off x="3024" y="374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1" name="Oval 43">
              <a:extLst>
                <a:ext uri="{FF2B5EF4-FFF2-40B4-BE49-F238E27FC236}">
                  <a16:creationId xmlns:a16="http://schemas.microsoft.com/office/drawing/2014/main" id="{7F6BD93C-F4AC-4369-8D5E-A7874275F189}"/>
                </a:ext>
              </a:extLst>
            </p:cNvPr>
            <p:cNvSpPr>
              <a:spLocks noChangeArrowheads="1"/>
            </p:cNvSpPr>
            <p:nvPr/>
          </p:nvSpPr>
          <p:spPr bwMode="auto">
            <a:xfrm>
              <a:off x="3360"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2" name="Oval 44">
              <a:extLst>
                <a:ext uri="{FF2B5EF4-FFF2-40B4-BE49-F238E27FC236}">
                  <a16:creationId xmlns:a16="http://schemas.microsoft.com/office/drawing/2014/main" id="{4BFF480C-5670-469C-B263-3144AEB03FA2}"/>
                </a:ext>
              </a:extLst>
            </p:cNvPr>
            <p:cNvSpPr>
              <a:spLocks noChangeArrowheads="1"/>
            </p:cNvSpPr>
            <p:nvPr/>
          </p:nvSpPr>
          <p:spPr bwMode="auto">
            <a:xfrm>
              <a:off x="379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3" name="Line 45">
              <a:extLst>
                <a:ext uri="{FF2B5EF4-FFF2-40B4-BE49-F238E27FC236}">
                  <a16:creationId xmlns:a16="http://schemas.microsoft.com/office/drawing/2014/main" id="{D45EF099-6CAD-46E1-A4A1-59A6A1780FC2}"/>
                </a:ext>
              </a:extLst>
            </p:cNvPr>
            <p:cNvSpPr>
              <a:spLocks noChangeShapeType="1"/>
            </p:cNvSpPr>
            <p:nvPr/>
          </p:nvSpPr>
          <p:spPr bwMode="auto">
            <a:xfrm flipH="1">
              <a:off x="3408"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4" name="Line 46">
              <a:extLst>
                <a:ext uri="{FF2B5EF4-FFF2-40B4-BE49-F238E27FC236}">
                  <a16:creationId xmlns:a16="http://schemas.microsoft.com/office/drawing/2014/main" id="{DDF97ACA-E906-4066-99AE-38C887BC9F35}"/>
                </a:ext>
              </a:extLst>
            </p:cNvPr>
            <p:cNvSpPr>
              <a:spLocks noChangeShapeType="1"/>
            </p:cNvSpPr>
            <p:nvPr/>
          </p:nvSpPr>
          <p:spPr bwMode="auto">
            <a:xfrm>
              <a:off x="3648"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5" name="Oval 47">
              <a:extLst>
                <a:ext uri="{FF2B5EF4-FFF2-40B4-BE49-F238E27FC236}">
                  <a16:creationId xmlns:a16="http://schemas.microsoft.com/office/drawing/2014/main" id="{60C0B70F-5FA1-47AA-B6C8-EA3A6CDBAF66}"/>
                </a:ext>
              </a:extLst>
            </p:cNvPr>
            <p:cNvSpPr>
              <a:spLocks noChangeArrowheads="1"/>
            </p:cNvSpPr>
            <p:nvPr/>
          </p:nvSpPr>
          <p:spPr bwMode="auto">
            <a:xfrm>
              <a:off x="355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6" name="Line 48">
              <a:extLst>
                <a:ext uri="{FF2B5EF4-FFF2-40B4-BE49-F238E27FC236}">
                  <a16:creationId xmlns:a16="http://schemas.microsoft.com/office/drawing/2014/main" id="{47AB1225-9615-4837-85A0-F8DFF3214211}"/>
                </a:ext>
              </a:extLst>
            </p:cNvPr>
            <p:cNvSpPr>
              <a:spLocks noChangeShapeType="1"/>
            </p:cNvSpPr>
            <p:nvPr/>
          </p:nvSpPr>
          <p:spPr bwMode="auto">
            <a:xfrm flipH="1">
              <a:off x="3600"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7" name="Line 49">
              <a:extLst>
                <a:ext uri="{FF2B5EF4-FFF2-40B4-BE49-F238E27FC236}">
                  <a16:creationId xmlns:a16="http://schemas.microsoft.com/office/drawing/2014/main" id="{2011B29B-A5E4-4C06-810C-A011FB7F8199}"/>
                </a:ext>
              </a:extLst>
            </p:cNvPr>
            <p:cNvSpPr>
              <a:spLocks noChangeShapeType="1"/>
            </p:cNvSpPr>
            <p:nvPr/>
          </p:nvSpPr>
          <p:spPr bwMode="auto">
            <a:xfrm>
              <a:off x="2880" y="3264"/>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8" name="Oval 50">
              <a:extLst>
                <a:ext uri="{FF2B5EF4-FFF2-40B4-BE49-F238E27FC236}">
                  <a16:creationId xmlns:a16="http://schemas.microsoft.com/office/drawing/2014/main" id="{D32DBC02-0643-4524-80A4-E761C4A23BDA}"/>
                </a:ext>
              </a:extLst>
            </p:cNvPr>
            <p:cNvSpPr>
              <a:spLocks noChangeArrowheads="1"/>
            </p:cNvSpPr>
            <p:nvPr/>
          </p:nvSpPr>
          <p:spPr bwMode="auto">
            <a:xfrm>
              <a:off x="3216"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19" name="Line 51">
              <a:extLst>
                <a:ext uri="{FF2B5EF4-FFF2-40B4-BE49-F238E27FC236}">
                  <a16:creationId xmlns:a16="http://schemas.microsoft.com/office/drawing/2014/main" id="{C3F2B5D6-FFF4-4ED6-B03C-40111C2DBF3B}"/>
                </a:ext>
              </a:extLst>
            </p:cNvPr>
            <p:cNvSpPr>
              <a:spLocks noChangeShapeType="1"/>
            </p:cNvSpPr>
            <p:nvPr/>
          </p:nvSpPr>
          <p:spPr bwMode="auto">
            <a:xfrm>
              <a:off x="3024" y="2688"/>
              <a:ext cx="240"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160820" name="Group 52">
            <a:extLst>
              <a:ext uri="{FF2B5EF4-FFF2-40B4-BE49-F238E27FC236}">
                <a16:creationId xmlns:a16="http://schemas.microsoft.com/office/drawing/2014/main" id="{32E3139F-274F-484F-9EA1-EAF9FCC991C5}"/>
              </a:ext>
            </a:extLst>
          </p:cNvPr>
          <p:cNvGrpSpPr>
            <a:grpSpLocks/>
          </p:cNvGrpSpPr>
          <p:nvPr/>
        </p:nvGrpSpPr>
        <p:grpSpPr bwMode="auto">
          <a:xfrm>
            <a:off x="6934200" y="4343400"/>
            <a:ext cx="1600200" cy="1371600"/>
            <a:chOff x="3984" y="2688"/>
            <a:chExt cx="1104" cy="1200"/>
          </a:xfrm>
        </p:grpSpPr>
        <p:sp>
          <p:nvSpPr>
            <p:cNvPr id="160821" name="Oval 53">
              <a:extLst>
                <a:ext uri="{FF2B5EF4-FFF2-40B4-BE49-F238E27FC236}">
                  <a16:creationId xmlns:a16="http://schemas.microsoft.com/office/drawing/2014/main" id="{C185162C-732A-42E2-8047-59C0305CD563}"/>
                </a:ext>
              </a:extLst>
            </p:cNvPr>
            <p:cNvSpPr>
              <a:spLocks noChangeArrowheads="1"/>
            </p:cNvSpPr>
            <p:nvPr/>
          </p:nvSpPr>
          <p:spPr bwMode="auto">
            <a:xfrm>
              <a:off x="4512" y="2688"/>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22" name="Oval 54">
              <a:extLst>
                <a:ext uri="{FF2B5EF4-FFF2-40B4-BE49-F238E27FC236}">
                  <a16:creationId xmlns:a16="http://schemas.microsoft.com/office/drawing/2014/main" id="{5FAAFF69-DC1E-4957-8DA4-3835873E632E}"/>
                </a:ext>
              </a:extLst>
            </p:cNvPr>
            <p:cNvSpPr>
              <a:spLocks noChangeArrowheads="1"/>
            </p:cNvSpPr>
            <p:nvPr/>
          </p:nvSpPr>
          <p:spPr bwMode="auto">
            <a:xfrm>
              <a:off x="4224" y="32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23" name="Oval 55">
              <a:extLst>
                <a:ext uri="{FF2B5EF4-FFF2-40B4-BE49-F238E27FC236}">
                  <a16:creationId xmlns:a16="http://schemas.microsoft.com/office/drawing/2014/main" id="{1853560B-8617-4E05-9D04-BBDB5FA2A354}"/>
                </a:ext>
              </a:extLst>
            </p:cNvPr>
            <p:cNvSpPr>
              <a:spLocks noChangeArrowheads="1"/>
            </p:cNvSpPr>
            <p:nvPr/>
          </p:nvSpPr>
          <p:spPr bwMode="auto">
            <a:xfrm>
              <a:off x="4800" y="3264"/>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24" name="Oval 56">
              <a:extLst>
                <a:ext uri="{FF2B5EF4-FFF2-40B4-BE49-F238E27FC236}">
                  <a16:creationId xmlns:a16="http://schemas.microsoft.com/office/drawing/2014/main" id="{2582D64E-A36F-4E76-81DC-21C3EC7F06FE}"/>
                </a:ext>
              </a:extLst>
            </p:cNvPr>
            <p:cNvSpPr>
              <a:spLocks noChangeArrowheads="1"/>
            </p:cNvSpPr>
            <p:nvPr/>
          </p:nvSpPr>
          <p:spPr bwMode="auto">
            <a:xfrm>
              <a:off x="3984"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25" name="Oval 57">
              <a:extLst>
                <a:ext uri="{FF2B5EF4-FFF2-40B4-BE49-F238E27FC236}">
                  <a16:creationId xmlns:a16="http://schemas.microsoft.com/office/drawing/2014/main" id="{13286721-80B6-4E17-A79D-DAA1130CD31D}"/>
                </a:ext>
              </a:extLst>
            </p:cNvPr>
            <p:cNvSpPr>
              <a:spLocks noChangeArrowheads="1"/>
            </p:cNvSpPr>
            <p:nvPr/>
          </p:nvSpPr>
          <p:spPr bwMode="auto">
            <a:xfrm>
              <a:off x="4416"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26" name="Line 58">
              <a:extLst>
                <a:ext uri="{FF2B5EF4-FFF2-40B4-BE49-F238E27FC236}">
                  <a16:creationId xmlns:a16="http://schemas.microsoft.com/office/drawing/2014/main" id="{D34B27D1-43DD-4276-B88F-CE8C82984D40}"/>
                </a:ext>
              </a:extLst>
            </p:cNvPr>
            <p:cNvSpPr>
              <a:spLocks noChangeShapeType="1"/>
            </p:cNvSpPr>
            <p:nvPr/>
          </p:nvSpPr>
          <p:spPr bwMode="auto">
            <a:xfrm flipH="1">
              <a:off x="4272" y="2736"/>
              <a:ext cx="288"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27" name="Line 59">
              <a:extLst>
                <a:ext uri="{FF2B5EF4-FFF2-40B4-BE49-F238E27FC236}">
                  <a16:creationId xmlns:a16="http://schemas.microsoft.com/office/drawing/2014/main" id="{F4494C42-EE2D-4F6B-BFC9-8DE51CDBA44C}"/>
                </a:ext>
              </a:extLst>
            </p:cNvPr>
            <p:cNvSpPr>
              <a:spLocks noChangeShapeType="1"/>
            </p:cNvSpPr>
            <p:nvPr/>
          </p:nvSpPr>
          <p:spPr bwMode="auto">
            <a:xfrm>
              <a:off x="4560" y="2736"/>
              <a:ext cx="336" cy="57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28" name="Line 60">
              <a:extLst>
                <a:ext uri="{FF2B5EF4-FFF2-40B4-BE49-F238E27FC236}">
                  <a16:creationId xmlns:a16="http://schemas.microsoft.com/office/drawing/2014/main" id="{BF3F0698-1EB8-4DAA-A158-0CC6B50E8392}"/>
                </a:ext>
              </a:extLst>
            </p:cNvPr>
            <p:cNvSpPr>
              <a:spLocks noChangeShapeType="1"/>
            </p:cNvSpPr>
            <p:nvPr/>
          </p:nvSpPr>
          <p:spPr bwMode="auto">
            <a:xfrm flipH="1">
              <a:off x="4032"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29" name="Line 61">
              <a:extLst>
                <a:ext uri="{FF2B5EF4-FFF2-40B4-BE49-F238E27FC236}">
                  <a16:creationId xmlns:a16="http://schemas.microsoft.com/office/drawing/2014/main" id="{2788CEA6-BE93-4CCB-BC3F-79921CA768C0}"/>
                </a:ext>
              </a:extLst>
            </p:cNvPr>
            <p:cNvSpPr>
              <a:spLocks noChangeShapeType="1"/>
            </p:cNvSpPr>
            <p:nvPr/>
          </p:nvSpPr>
          <p:spPr bwMode="auto">
            <a:xfrm>
              <a:off x="4272"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0" name="Oval 62">
              <a:extLst>
                <a:ext uri="{FF2B5EF4-FFF2-40B4-BE49-F238E27FC236}">
                  <a16:creationId xmlns:a16="http://schemas.microsoft.com/office/drawing/2014/main" id="{80EE9065-239F-4856-A135-80206F77549C}"/>
                </a:ext>
              </a:extLst>
            </p:cNvPr>
            <p:cNvSpPr>
              <a:spLocks noChangeArrowheads="1"/>
            </p:cNvSpPr>
            <p:nvPr/>
          </p:nvSpPr>
          <p:spPr bwMode="auto">
            <a:xfrm>
              <a:off x="4512" y="3216"/>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1" name="Oval 63">
              <a:extLst>
                <a:ext uri="{FF2B5EF4-FFF2-40B4-BE49-F238E27FC236}">
                  <a16:creationId xmlns:a16="http://schemas.microsoft.com/office/drawing/2014/main" id="{827A9C66-79BA-4ACD-B00B-E163B6F6582E}"/>
                </a:ext>
              </a:extLst>
            </p:cNvPr>
            <p:cNvSpPr>
              <a:spLocks noChangeArrowheads="1"/>
            </p:cNvSpPr>
            <p:nvPr/>
          </p:nvSpPr>
          <p:spPr bwMode="auto">
            <a:xfrm>
              <a:off x="4176"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2" name="Line 64">
              <a:extLst>
                <a:ext uri="{FF2B5EF4-FFF2-40B4-BE49-F238E27FC236}">
                  <a16:creationId xmlns:a16="http://schemas.microsoft.com/office/drawing/2014/main" id="{1F45EE30-806B-4E9E-B506-6AC662609A68}"/>
                </a:ext>
              </a:extLst>
            </p:cNvPr>
            <p:cNvSpPr>
              <a:spLocks noChangeShapeType="1"/>
            </p:cNvSpPr>
            <p:nvPr/>
          </p:nvSpPr>
          <p:spPr bwMode="auto">
            <a:xfrm flipH="1">
              <a:off x="4224"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3" name="Line 65">
              <a:extLst>
                <a:ext uri="{FF2B5EF4-FFF2-40B4-BE49-F238E27FC236}">
                  <a16:creationId xmlns:a16="http://schemas.microsoft.com/office/drawing/2014/main" id="{13EB3446-5B61-4B5F-A605-734B744724F7}"/>
                </a:ext>
              </a:extLst>
            </p:cNvPr>
            <p:cNvSpPr>
              <a:spLocks noChangeShapeType="1"/>
            </p:cNvSpPr>
            <p:nvPr/>
          </p:nvSpPr>
          <p:spPr bwMode="auto">
            <a:xfrm>
              <a:off x="4560" y="2784"/>
              <a:ext cx="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4" name="Oval 66">
              <a:extLst>
                <a:ext uri="{FF2B5EF4-FFF2-40B4-BE49-F238E27FC236}">
                  <a16:creationId xmlns:a16="http://schemas.microsoft.com/office/drawing/2014/main" id="{CBF2EAD4-D028-4F50-B50E-AD337AFE6699}"/>
                </a:ext>
              </a:extLst>
            </p:cNvPr>
            <p:cNvSpPr>
              <a:spLocks noChangeArrowheads="1"/>
            </p:cNvSpPr>
            <p:nvPr/>
          </p:nvSpPr>
          <p:spPr bwMode="auto">
            <a:xfrm>
              <a:off x="4560"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5" name="Oval 67">
              <a:extLst>
                <a:ext uri="{FF2B5EF4-FFF2-40B4-BE49-F238E27FC236}">
                  <a16:creationId xmlns:a16="http://schemas.microsoft.com/office/drawing/2014/main" id="{28900C75-2A29-4252-AF64-7409D97DAF90}"/>
                </a:ext>
              </a:extLst>
            </p:cNvPr>
            <p:cNvSpPr>
              <a:spLocks noChangeArrowheads="1"/>
            </p:cNvSpPr>
            <p:nvPr/>
          </p:nvSpPr>
          <p:spPr bwMode="auto">
            <a:xfrm>
              <a:off x="499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6" name="Line 68">
              <a:extLst>
                <a:ext uri="{FF2B5EF4-FFF2-40B4-BE49-F238E27FC236}">
                  <a16:creationId xmlns:a16="http://schemas.microsoft.com/office/drawing/2014/main" id="{D822323D-3C1C-4D35-8ED4-F0FBCD29205D}"/>
                </a:ext>
              </a:extLst>
            </p:cNvPr>
            <p:cNvSpPr>
              <a:spLocks noChangeShapeType="1"/>
            </p:cNvSpPr>
            <p:nvPr/>
          </p:nvSpPr>
          <p:spPr bwMode="auto">
            <a:xfrm flipH="1">
              <a:off x="4608" y="3312"/>
              <a:ext cx="240"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7" name="Line 69">
              <a:extLst>
                <a:ext uri="{FF2B5EF4-FFF2-40B4-BE49-F238E27FC236}">
                  <a16:creationId xmlns:a16="http://schemas.microsoft.com/office/drawing/2014/main" id="{6F363C28-6A97-42F8-88BC-330328F8110D}"/>
                </a:ext>
              </a:extLst>
            </p:cNvPr>
            <p:cNvSpPr>
              <a:spLocks noChangeShapeType="1"/>
            </p:cNvSpPr>
            <p:nvPr/>
          </p:nvSpPr>
          <p:spPr bwMode="auto">
            <a:xfrm>
              <a:off x="4848" y="3312"/>
              <a:ext cx="192"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8" name="Oval 70">
              <a:extLst>
                <a:ext uri="{FF2B5EF4-FFF2-40B4-BE49-F238E27FC236}">
                  <a16:creationId xmlns:a16="http://schemas.microsoft.com/office/drawing/2014/main" id="{D9A0FC67-3690-4222-A0C4-FB3D82D8D3E6}"/>
                </a:ext>
              </a:extLst>
            </p:cNvPr>
            <p:cNvSpPr>
              <a:spLocks noChangeArrowheads="1"/>
            </p:cNvSpPr>
            <p:nvPr/>
          </p:nvSpPr>
          <p:spPr bwMode="auto">
            <a:xfrm>
              <a:off x="4752" y="3792"/>
              <a:ext cx="96" cy="96"/>
            </a:xfrm>
            <a:prstGeom prst="ellipse">
              <a:avLst/>
            </a:prstGeom>
            <a:solidFill>
              <a:schemeClr val="tx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0839" name="Line 71">
              <a:extLst>
                <a:ext uri="{FF2B5EF4-FFF2-40B4-BE49-F238E27FC236}">
                  <a16:creationId xmlns:a16="http://schemas.microsoft.com/office/drawing/2014/main" id="{C44D9EF5-6C2F-45B5-A56B-F2C7838FAD43}"/>
                </a:ext>
              </a:extLst>
            </p:cNvPr>
            <p:cNvSpPr>
              <a:spLocks noChangeShapeType="1"/>
            </p:cNvSpPr>
            <p:nvPr/>
          </p:nvSpPr>
          <p:spPr bwMode="auto">
            <a:xfrm flipH="1">
              <a:off x="4800" y="3312"/>
              <a:ext cx="48" cy="52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aphicFrame>
        <p:nvGraphicFramePr>
          <p:cNvPr id="160840" name="Object 72">
            <a:extLst>
              <a:ext uri="{FF2B5EF4-FFF2-40B4-BE49-F238E27FC236}">
                <a16:creationId xmlns:a16="http://schemas.microsoft.com/office/drawing/2014/main" id="{C764838E-E20B-49E9-9518-9F3490930820}"/>
              </a:ext>
            </a:extLst>
          </p:cNvPr>
          <p:cNvGraphicFramePr>
            <a:graphicFrameLocks noChangeAspect="1"/>
          </p:cNvGraphicFramePr>
          <p:nvPr/>
        </p:nvGraphicFramePr>
        <p:xfrm>
          <a:off x="2286000" y="2438400"/>
          <a:ext cx="2133600" cy="755650"/>
        </p:xfrm>
        <a:graphic>
          <a:graphicData uri="http://schemas.openxmlformats.org/presentationml/2006/ole">
            <mc:AlternateContent xmlns:mc="http://schemas.openxmlformats.org/markup-compatibility/2006">
              <mc:Choice xmlns:v="urn:schemas-microsoft-com:vml" Requires="v">
                <p:oleObj name="Equation" r:id="rId3" imgW="749160" imgH="266400" progId="Equation.COEE2">
                  <p:embed/>
                </p:oleObj>
              </mc:Choice>
              <mc:Fallback>
                <p:oleObj name="Equation" r:id="rId3" imgW="749160" imgH="266400" progId="Equation.COEE2">
                  <p:embed/>
                  <p:pic>
                    <p:nvPicPr>
                      <p:cNvPr id="160840" name="Object 72">
                        <a:extLst>
                          <a:ext uri="{FF2B5EF4-FFF2-40B4-BE49-F238E27FC236}">
                            <a16:creationId xmlns:a16="http://schemas.microsoft.com/office/drawing/2014/main" id="{C764838E-E20B-49E9-9518-9F34909308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2438400"/>
                        <a:ext cx="2133600" cy="755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a:extLst>
              <a:ext uri="{FF2B5EF4-FFF2-40B4-BE49-F238E27FC236}">
                <a16:creationId xmlns:a16="http://schemas.microsoft.com/office/drawing/2014/main" id="{4D5D3040-827B-44D7-B2F2-4C0B2D20056E}"/>
              </a:ext>
            </a:extLst>
          </p:cNvPr>
          <p:cNvSpPr>
            <a:spLocks noGrp="1" noChangeArrowheads="1"/>
          </p:cNvSpPr>
          <p:nvPr>
            <p:ph type="title"/>
          </p:nvPr>
        </p:nvSpPr>
        <p:spPr/>
        <p:txBody>
          <a:bodyPr/>
          <a:lstStyle/>
          <a:p>
            <a:r>
              <a:rPr lang="en-US" altLang="en-US"/>
              <a:t>Proof</a:t>
            </a:r>
          </a:p>
        </p:txBody>
      </p:sp>
      <p:sp>
        <p:nvSpPr>
          <p:cNvPr id="169987" name="Rectangle 3">
            <a:extLst>
              <a:ext uri="{FF2B5EF4-FFF2-40B4-BE49-F238E27FC236}">
                <a16:creationId xmlns:a16="http://schemas.microsoft.com/office/drawing/2014/main" id="{8631EA1F-9523-41FB-9E11-5D32AB1EF2AF}"/>
              </a:ext>
            </a:extLst>
          </p:cNvPr>
          <p:cNvSpPr>
            <a:spLocks noGrp="1" noChangeArrowheads="1"/>
          </p:cNvSpPr>
          <p:nvPr>
            <p:ph type="body" sz="half" idx="1"/>
          </p:nvPr>
        </p:nvSpPr>
        <p:spPr>
          <a:xfrm>
            <a:off x="762000" y="1905000"/>
            <a:ext cx="7696200" cy="533400"/>
          </a:xfrm>
        </p:spPr>
        <p:txBody>
          <a:bodyPr/>
          <a:lstStyle/>
          <a:p>
            <a:r>
              <a:rPr lang="en-US" altLang="en-US" sz="2700"/>
              <a:t>From previous theorem: </a:t>
            </a:r>
          </a:p>
        </p:txBody>
      </p:sp>
      <p:graphicFrame>
        <p:nvGraphicFramePr>
          <p:cNvPr id="169988" name="Object 4">
            <a:extLst>
              <a:ext uri="{FF2B5EF4-FFF2-40B4-BE49-F238E27FC236}">
                <a16:creationId xmlns:a16="http://schemas.microsoft.com/office/drawing/2014/main" id="{6F7555DC-AF58-4229-80BB-810390405CFB}"/>
              </a:ext>
            </a:extLst>
          </p:cNvPr>
          <p:cNvGraphicFramePr>
            <a:graphicFrameLocks noGrp="1" noChangeAspect="1"/>
          </p:cNvGraphicFramePr>
          <p:nvPr>
            <p:ph sz="half" idx="2"/>
          </p:nvPr>
        </p:nvGraphicFramePr>
        <p:xfrm>
          <a:off x="1219200" y="2749550"/>
          <a:ext cx="7086600" cy="804863"/>
        </p:xfrm>
        <a:graphic>
          <a:graphicData uri="http://schemas.openxmlformats.org/presentationml/2006/ole">
            <mc:AlternateContent xmlns:mc="http://schemas.openxmlformats.org/markup-compatibility/2006">
              <mc:Choice xmlns:v="urn:schemas-microsoft-com:vml" Requires="v">
                <p:oleObj name="Equation" r:id="rId3" imgW="2120760" imgH="241200" progId="Equation.3">
                  <p:embed/>
                </p:oleObj>
              </mc:Choice>
              <mc:Fallback>
                <p:oleObj name="Equation" r:id="rId3" imgW="2120760" imgH="241200" progId="Equation.3">
                  <p:embed/>
                  <p:pic>
                    <p:nvPicPr>
                      <p:cNvPr id="169988" name="Object 4">
                        <a:extLst>
                          <a:ext uri="{FF2B5EF4-FFF2-40B4-BE49-F238E27FC236}">
                            <a16:creationId xmlns:a16="http://schemas.microsoft.com/office/drawing/2014/main" id="{6F7555DC-AF58-4229-80BB-810390405CF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2749550"/>
                        <a:ext cx="7086600" cy="8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wip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F4314279-2943-4B58-ABD6-8D319FCB1DD6}"/>
              </a:ext>
            </a:extLst>
          </p:cNvPr>
          <p:cNvSpPr>
            <a:spLocks noGrp="1"/>
          </p:cNvSpPr>
          <p:nvPr>
            <p:ph type="title"/>
          </p:nvPr>
        </p:nvSpPr>
        <p:spPr/>
        <p:txBody>
          <a:bodyPr/>
          <a:lstStyle/>
          <a:p>
            <a:r>
              <a:rPr lang="en-US" dirty="0"/>
              <a:t>APPLICATIONS OF TREES</a:t>
            </a:r>
            <a:endParaRPr lang="en-IN" dirty="0"/>
          </a:p>
        </p:txBody>
      </p:sp>
      <p:sp>
        <p:nvSpPr>
          <p:cNvPr id="6" name="Content Placeholder 5">
            <a:extLst>
              <a:ext uri="{FF2B5EF4-FFF2-40B4-BE49-F238E27FC236}">
                <a16:creationId xmlns:a16="http://schemas.microsoft.com/office/drawing/2014/main" id="{742A1458-8077-4884-8BC7-FFE78445FFB4}"/>
              </a:ext>
            </a:extLst>
          </p:cNvPr>
          <p:cNvSpPr>
            <a:spLocks noGrp="1"/>
          </p:cNvSpPr>
          <p:nvPr>
            <p:ph idx="1"/>
          </p:nvPr>
        </p:nvSpPr>
        <p:spPr/>
        <p:txBody>
          <a:bodyPr/>
          <a:lstStyle/>
          <a:p>
            <a:r>
              <a:rPr lang="en-US" dirty="0"/>
              <a:t>CODING</a:t>
            </a:r>
          </a:p>
          <a:p>
            <a:r>
              <a:rPr lang="en-US" dirty="0"/>
              <a:t>MINING SPANNING TREES</a:t>
            </a:r>
            <a:endParaRPr lang="en-IN" dirty="0"/>
          </a:p>
        </p:txBody>
      </p:sp>
    </p:spTree>
    <p:extLst>
      <p:ext uri="{BB962C8B-B14F-4D97-AF65-F5344CB8AC3E}">
        <p14:creationId xmlns:p14="http://schemas.microsoft.com/office/powerpoint/2010/main" val="3156256098"/>
      </p:ext>
    </p:extLst>
  </p:cSld>
  <p:clrMapOvr>
    <a:masterClrMapping/>
  </p:clrMapOvr>
  <p:transition spd="slow">
    <p:wip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4" name="Rectangle 4">
            <a:extLst>
              <a:ext uri="{FF2B5EF4-FFF2-40B4-BE49-F238E27FC236}">
                <a16:creationId xmlns:a16="http://schemas.microsoft.com/office/drawing/2014/main" id="{E42E7A80-CD07-41A3-8C8D-BB264A6D6CF5}"/>
              </a:ext>
            </a:extLst>
          </p:cNvPr>
          <p:cNvSpPr>
            <a:spLocks noGrp="1" noChangeArrowheads="1"/>
          </p:cNvSpPr>
          <p:nvPr>
            <p:ph type="title"/>
          </p:nvPr>
        </p:nvSpPr>
        <p:spPr/>
        <p:txBody>
          <a:bodyPr/>
          <a:lstStyle/>
          <a:p>
            <a:r>
              <a:rPr lang="en-US" altLang="en-US"/>
              <a:t>Encoding messages </a:t>
            </a:r>
          </a:p>
        </p:txBody>
      </p:sp>
      <p:sp>
        <p:nvSpPr>
          <p:cNvPr id="261125" name="Rectangle 5">
            <a:extLst>
              <a:ext uri="{FF2B5EF4-FFF2-40B4-BE49-F238E27FC236}">
                <a16:creationId xmlns:a16="http://schemas.microsoft.com/office/drawing/2014/main" id="{103862CF-6FA2-42F1-9F58-5D6B805A909C}"/>
              </a:ext>
            </a:extLst>
          </p:cNvPr>
          <p:cNvSpPr>
            <a:spLocks noGrp="1" noChangeArrowheads="1"/>
          </p:cNvSpPr>
          <p:nvPr>
            <p:ph type="body" idx="1"/>
          </p:nvPr>
        </p:nvSpPr>
        <p:spPr/>
        <p:txBody>
          <a:bodyPr>
            <a:normAutofit lnSpcReduction="10000"/>
          </a:bodyPr>
          <a:lstStyle/>
          <a:p>
            <a:r>
              <a:rPr lang="en-US" altLang="en-US"/>
              <a:t>Encode a message composed of a string of characters</a:t>
            </a:r>
          </a:p>
          <a:p>
            <a:r>
              <a:rPr lang="en-US" altLang="en-US"/>
              <a:t>Codes used by computer systems</a:t>
            </a:r>
          </a:p>
          <a:p>
            <a:pPr lvl="1"/>
            <a:r>
              <a:rPr lang="en-US" altLang="en-US"/>
              <a:t>ASCII</a:t>
            </a:r>
          </a:p>
          <a:p>
            <a:pPr lvl="2"/>
            <a:r>
              <a:rPr lang="en-US" altLang="en-US"/>
              <a:t>uses 8 bits per character</a:t>
            </a:r>
          </a:p>
          <a:p>
            <a:pPr lvl="2"/>
            <a:r>
              <a:rPr lang="en-US" altLang="en-US"/>
              <a:t>can encode 256 characters</a:t>
            </a:r>
          </a:p>
          <a:p>
            <a:pPr lvl="1"/>
            <a:r>
              <a:rPr lang="en-US" altLang="en-US"/>
              <a:t>Unicode</a:t>
            </a:r>
          </a:p>
          <a:p>
            <a:pPr lvl="2"/>
            <a:r>
              <a:rPr lang="en-US" altLang="en-US"/>
              <a:t>16 bits per character</a:t>
            </a:r>
          </a:p>
          <a:p>
            <a:pPr lvl="2"/>
            <a:r>
              <a:rPr lang="en-US" altLang="en-US"/>
              <a:t>can encode 65536 characters</a:t>
            </a:r>
          </a:p>
          <a:p>
            <a:pPr lvl="2"/>
            <a:r>
              <a:rPr lang="en-US" altLang="en-US"/>
              <a:t>includes all characters encoded by ASCII</a:t>
            </a:r>
          </a:p>
          <a:p>
            <a:r>
              <a:rPr lang="en-US" altLang="en-US"/>
              <a:t>ASCII and Unicode are </a:t>
            </a:r>
            <a:r>
              <a:rPr lang="en-US" altLang="en-US" i="1"/>
              <a:t>fixed-length codes</a:t>
            </a:r>
          </a:p>
          <a:p>
            <a:pPr lvl="1"/>
            <a:r>
              <a:rPr lang="en-US" altLang="en-US"/>
              <a:t>all characters represented by same number of bits</a:t>
            </a:r>
          </a:p>
        </p:txBody>
      </p:sp>
    </p:spTree>
  </p:cSld>
  <p:clrMapOvr>
    <a:masterClrMapping/>
  </p:clrMapOvr>
  <p:transition spd="slow">
    <p:wip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98" name="Rectangle 2">
            <a:extLst>
              <a:ext uri="{FF2B5EF4-FFF2-40B4-BE49-F238E27FC236}">
                <a16:creationId xmlns:a16="http://schemas.microsoft.com/office/drawing/2014/main" id="{C16B0427-C908-4A87-99FE-0A2014BA5A16}"/>
              </a:ext>
            </a:extLst>
          </p:cNvPr>
          <p:cNvSpPr>
            <a:spLocks noGrp="1" noChangeArrowheads="1"/>
          </p:cNvSpPr>
          <p:nvPr>
            <p:ph type="title"/>
          </p:nvPr>
        </p:nvSpPr>
        <p:spPr/>
        <p:txBody>
          <a:bodyPr/>
          <a:lstStyle/>
          <a:p>
            <a:r>
              <a:rPr lang="en-US" altLang="en-US"/>
              <a:t>Problems</a:t>
            </a:r>
          </a:p>
        </p:txBody>
      </p:sp>
      <p:sp>
        <p:nvSpPr>
          <p:cNvPr id="285699" name="Rectangle 3">
            <a:extLst>
              <a:ext uri="{FF2B5EF4-FFF2-40B4-BE49-F238E27FC236}">
                <a16:creationId xmlns:a16="http://schemas.microsoft.com/office/drawing/2014/main" id="{339AAC00-D361-4017-93FF-731A3E46A6F6}"/>
              </a:ext>
            </a:extLst>
          </p:cNvPr>
          <p:cNvSpPr>
            <a:spLocks noGrp="1" noChangeArrowheads="1"/>
          </p:cNvSpPr>
          <p:nvPr>
            <p:ph type="body" idx="1"/>
          </p:nvPr>
        </p:nvSpPr>
        <p:spPr>
          <a:xfrm>
            <a:off x="457200" y="1847088"/>
            <a:ext cx="7620000" cy="5257800"/>
          </a:xfrm>
        </p:spPr>
        <p:txBody>
          <a:bodyPr/>
          <a:lstStyle/>
          <a:p>
            <a:r>
              <a:rPr lang="en-US" altLang="en-US" dirty="0"/>
              <a:t>Suppose that we want to encode a message constructed from the symbols </a:t>
            </a:r>
            <a:r>
              <a:rPr lang="en-US" altLang="en-US" b="1" dirty="0"/>
              <a:t>A</a:t>
            </a:r>
            <a:r>
              <a:rPr lang="en-US" altLang="en-US" dirty="0"/>
              <a:t>, </a:t>
            </a:r>
            <a:r>
              <a:rPr lang="en-US" altLang="en-US" b="1" dirty="0"/>
              <a:t>B</a:t>
            </a:r>
            <a:r>
              <a:rPr lang="en-US" altLang="en-US" dirty="0"/>
              <a:t>, </a:t>
            </a:r>
            <a:r>
              <a:rPr lang="en-US" altLang="en-US" b="1" dirty="0"/>
              <a:t>C</a:t>
            </a:r>
            <a:r>
              <a:rPr lang="en-US" altLang="en-US" dirty="0"/>
              <a:t>, </a:t>
            </a:r>
            <a:r>
              <a:rPr lang="en-US" altLang="en-US" b="1" dirty="0"/>
              <a:t>D</a:t>
            </a:r>
            <a:r>
              <a:rPr lang="en-US" altLang="en-US" dirty="0"/>
              <a:t>, and </a:t>
            </a:r>
            <a:r>
              <a:rPr lang="en-US" altLang="en-US" b="1" dirty="0"/>
              <a:t>E</a:t>
            </a:r>
            <a:r>
              <a:rPr lang="en-US" altLang="en-US" dirty="0"/>
              <a:t> using a fixed-length code</a:t>
            </a:r>
          </a:p>
          <a:p>
            <a:pPr lvl="1"/>
            <a:r>
              <a:rPr lang="en-US" altLang="en-US" dirty="0"/>
              <a:t>How many bits are required to encode each symbol? </a:t>
            </a:r>
          </a:p>
          <a:p>
            <a:pPr lvl="2">
              <a:buSzPct val="70000"/>
              <a:buFont typeface="Wingdings 2" panose="05020102010507070707" pitchFamily="18" charset="2"/>
              <a:buChar char="®"/>
            </a:pPr>
            <a:r>
              <a:rPr lang="en-US" altLang="en-US" dirty="0"/>
              <a:t>at least </a:t>
            </a:r>
            <a:r>
              <a:rPr lang="en-US" altLang="en-US" dirty="0">
                <a:solidFill>
                  <a:srgbClr val="0000FF"/>
                </a:solidFill>
              </a:rPr>
              <a:t>3 bits</a:t>
            </a:r>
            <a:r>
              <a:rPr lang="en-US" altLang="en-US" dirty="0"/>
              <a:t> are required</a:t>
            </a:r>
          </a:p>
          <a:p>
            <a:pPr lvl="2">
              <a:buSzPct val="70000"/>
              <a:buFont typeface="Wingdings 2" panose="05020102010507070707" pitchFamily="18" charset="2"/>
              <a:buChar char="®"/>
            </a:pPr>
            <a:r>
              <a:rPr lang="en-US" altLang="en-US" dirty="0"/>
              <a:t>2 bits are not enough (can only encode four symbols)</a:t>
            </a:r>
          </a:p>
          <a:p>
            <a:pPr lvl="1">
              <a:buSzPct val="70000"/>
              <a:buFont typeface="Wingdings 2" panose="05020102010507070707" pitchFamily="18" charset="2"/>
              <a:buChar char="®"/>
            </a:pPr>
            <a:r>
              <a:rPr lang="en-US" altLang="en-US" dirty="0"/>
              <a:t>How many bits are required to encode the message </a:t>
            </a:r>
            <a:r>
              <a:rPr lang="en-US" altLang="en-US" b="1" dirty="0"/>
              <a:t>DEAACAAAAABA</a:t>
            </a:r>
            <a:r>
              <a:rPr lang="en-US" altLang="en-US" dirty="0"/>
              <a:t>? </a:t>
            </a:r>
          </a:p>
          <a:p>
            <a:pPr lvl="2">
              <a:buSzPct val="70000"/>
              <a:buFont typeface="Wingdings 2" panose="05020102010507070707" pitchFamily="18" charset="2"/>
              <a:buChar char="®"/>
            </a:pPr>
            <a:r>
              <a:rPr lang="en-US" altLang="en-US" dirty="0"/>
              <a:t>there are twelve symbols, each requires 3 bits</a:t>
            </a:r>
          </a:p>
          <a:p>
            <a:pPr lvl="2">
              <a:buSzPct val="70000"/>
              <a:buFont typeface="Wingdings 2" panose="05020102010507070707" pitchFamily="18" charset="2"/>
              <a:buChar char="®"/>
            </a:pPr>
            <a:r>
              <a:rPr lang="en-US" altLang="en-US" dirty="0"/>
              <a:t>12*3 = </a:t>
            </a:r>
            <a:r>
              <a:rPr lang="en-US" altLang="en-US" dirty="0">
                <a:solidFill>
                  <a:srgbClr val="0000FF"/>
                </a:solidFill>
              </a:rPr>
              <a:t>36 bits</a:t>
            </a:r>
            <a:r>
              <a:rPr lang="en-US" altLang="en-US" dirty="0"/>
              <a:t> are required</a:t>
            </a:r>
          </a:p>
          <a:p>
            <a:endParaRPr lang="en-US" altLang="en-US" dirty="0"/>
          </a:p>
        </p:txBody>
      </p:sp>
    </p:spTree>
  </p:cSld>
  <p:clrMapOvr>
    <a:masterClrMapping/>
  </p:clrMapOvr>
  <p:transition spd="slow">
    <p:wip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Rectangle 2">
            <a:extLst>
              <a:ext uri="{FF2B5EF4-FFF2-40B4-BE49-F238E27FC236}">
                <a16:creationId xmlns:a16="http://schemas.microsoft.com/office/drawing/2014/main" id="{A794C976-1803-4BF3-973A-DBAFA774EF4F}"/>
              </a:ext>
            </a:extLst>
          </p:cNvPr>
          <p:cNvSpPr>
            <a:spLocks noGrp="1" noChangeArrowheads="1"/>
          </p:cNvSpPr>
          <p:nvPr>
            <p:ph type="title"/>
          </p:nvPr>
        </p:nvSpPr>
        <p:spPr/>
        <p:txBody>
          <a:bodyPr>
            <a:normAutofit fontScale="90000"/>
          </a:bodyPr>
          <a:lstStyle/>
          <a:p>
            <a:r>
              <a:rPr lang="en-US" altLang="en-US"/>
              <a:t>Drawbacks of fixed-length codes</a:t>
            </a:r>
          </a:p>
        </p:txBody>
      </p:sp>
      <p:sp>
        <p:nvSpPr>
          <p:cNvPr id="262147" name="Rectangle 3">
            <a:extLst>
              <a:ext uri="{FF2B5EF4-FFF2-40B4-BE49-F238E27FC236}">
                <a16:creationId xmlns:a16="http://schemas.microsoft.com/office/drawing/2014/main" id="{56B91E49-CD8C-472D-8881-116335BD5183}"/>
              </a:ext>
            </a:extLst>
          </p:cNvPr>
          <p:cNvSpPr>
            <a:spLocks noGrp="1" noChangeArrowheads="1"/>
          </p:cNvSpPr>
          <p:nvPr>
            <p:ph type="body" idx="1"/>
          </p:nvPr>
        </p:nvSpPr>
        <p:spPr/>
        <p:txBody>
          <a:bodyPr>
            <a:normAutofit lnSpcReduction="10000"/>
          </a:bodyPr>
          <a:lstStyle/>
          <a:p>
            <a:r>
              <a:rPr lang="en-US" altLang="en-US"/>
              <a:t>Wasted space</a:t>
            </a:r>
          </a:p>
          <a:p>
            <a:pPr lvl="1"/>
            <a:r>
              <a:rPr lang="en-US" altLang="en-US"/>
              <a:t>Unicode uses twice as much space as ASCII</a:t>
            </a:r>
          </a:p>
          <a:p>
            <a:pPr lvl="2"/>
            <a:r>
              <a:rPr lang="en-US" altLang="en-US"/>
              <a:t>inefficient for plain-text messages containing only ASCII characters</a:t>
            </a:r>
          </a:p>
          <a:p>
            <a:r>
              <a:rPr lang="en-US" altLang="en-US"/>
              <a:t>Same number of bits used to represent all characters</a:t>
            </a:r>
          </a:p>
          <a:p>
            <a:pPr lvl="1"/>
            <a:r>
              <a:rPr lang="en-US" altLang="en-US"/>
              <a:t>‘a’ and ‘e’ occur more frequently than ‘q’ and ‘z’</a:t>
            </a:r>
          </a:p>
          <a:p>
            <a:endParaRPr lang="en-US" altLang="en-US"/>
          </a:p>
          <a:p>
            <a:r>
              <a:rPr lang="en-US" altLang="en-US" b="1"/>
              <a:t>Potential solution</a:t>
            </a:r>
            <a:r>
              <a:rPr lang="en-US" altLang="en-US"/>
              <a:t>: use variable-length codes</a:t>
            </a:r>
          </a:p>
          <a:p>
            <a:pPr lvl="1"/>
            <a:r>
              <a:rPr lang="en-US" altLang="en-US"/>
              <a:t>variable number of bits to represent characters when frequency of occurrence is known</a:t>
            </a:r>
          </a:p>
          <a:p>
            <a:pPr lvl="1"/>
            <a:r>
              <a:rPr lang="en-US" altLang="en-US"/>
              <a:t>short codes for characters that occur frequently</a:t>
            </a:r>
          </a:p>
        </p:txBody>
      </p:sp>
    </p:spTree>
  </p:cSld>
  <p:clrMapOvr>
    <a:masterClrMapping/>
  </p:clrMapOvr>
  <p:transition spd="slow">
    <p:wip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a:extLst>
              <a:ext uri="{FF2B5EF4-FFF2-40B4-BE49-F238E27FC236}">
                <a16:creationId xmlns:a16="http://schemas.microsoft.com/office/drawing/2014/main" id="{20DDE63C-A4AE-4A3C-A4CC-68AD7D7FB599}"/>
              </a:ext>
            </a:extLst>
          </p:cNvPr>
          <p:cNvSpPr>
            <a:spLocks noGrp="1" noChangeArrowheads="1"/>
          </p:cNvSpPr>
          <p:nvPr>
            <p:ph type="title"/>
          </p:nvPr>
        </p:nvSpPr>
        <p:spPr/>
        <p:txBody>
          <a:bodyPr>
            <a:normAutofit fontScale="90000"/>
          </a:bodyPr>
          <a:lstStyle/>
          <a:p>
            <a:r>
              <a:rPr lang="en-US" altLang="en-US"/>
              <a:t>Advantages of variable-length codes</a:t>
            </a:r>
          </a:p>
        </p:txBody>
      </p:sp>
      <p:sp>
        <p:nvSpPr>
          <p:cNvPr id="281603" name="Rectangle 3">
            <a:extLst>
              <a:ext uri="{FF2B5EF4-FFF2-40B4-BE49-F238E27FC236}">
                <a16:creationId xmlns:a16="http://schemas.microsoft.com/office/drawing/2014/main" id="{10B4A97B-0FE6-49F0-8477-55BF96E178E3}"/>
              </a:ext>
            </a:extLst>
          </p:cNvPr>
          <p:cNvSpPr>
            <a:spLocks noGrp="1" noChangeArrowheads="1"/>
          </p:cNvSpPr>
          <p:nvPr>
            <p:ph type="body" idx="1"/>
          </p:nvPr>
        </p:nvSpPr>
        <p:spPr/>
        <p:txBody>
          <a:bodyPr/>
          <a:lstStyle/>
          <a:p>
            <a:r>
              <a:rPr lang="en-US" altLang="en-US"/>
              <a:t>The advantage of variable-length codes over fixed-length is short codes can be given to characters that occur frequently</a:t>
            </a:r>
          </a:p>
          <a:p>
            <a:pPr lvl="1"/>
            <a:r>
              <a:rPr lang="en-US" altLang="en-US"/>
              <a:t>on average, the length of the encoded message is less than fixed-length encoding</a:t>
            </a:r>
          </a:p>
          <a:p>
            <a:r>
              <a:rPr lang="en-US" altLang="en-US" b="1"/>
              <a:t>Potential problem:</a:t>
            </a:r>
            <a:r>
              <a:rPr lang="en-US" altLang="en-US"/>
              <a:t> how do we know where one character ends and another begins? </a:t>
            </a:r>
          </a:p>
          <a:p>
            <a:pPr lvl="2"/>
            <a:r>
              <a:rPr lang="en-US" altLang="en-US"/>
              <a:t>not a problem if number of bits is fixed!</a:t>
            </a:r>
          </a:p>
        </p:txBody>
      </p:sp>
      <p:sp>
        <p:nvSpPr>
          <p:cNvPr id="281604" name="Text Box 4">
            <a:extLst>
              <a:ext uri="{FF2B5EF4-FFF2-40B4-BE49-F238E27FC236}">
                <a16:creationId xmlns:a16="http://schemas.microsoft.com/office/drawing/2014/main" id="{05DD2CD5-1203-49D9-AD4D-3BEE6E5F0379}"/>
              </a:ext>
            </a:extLst>
          </p:cNvPr>
          <p:cNvSpPr txBox="1">
            <a:spLocks noChangeArrowheads="1"/>
          </p:cNvSpPr>
          <p:nvPr/>
        </p:nvSpPr>
        <p:spPr bwMode="auto">
          <a:xfrm>
            <a:off x="696448" y="5260438"/>
            <a:ext cx="1119188" cy="1581150"/>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A = 00</a:t>
            </a:r>
          </a:p>
          <a:p>
            <a:r>
              <a:rPr lang="en-US" altLang="en-US"/>
              <a:t>B = 01</a:t>
            </a:r>
          </a:p>
          <a:p>
            <a:r>
              <a:rPr lang="en-US" altLang="en-US"/>
              <a:t>C = 10</a:t>
            </a:r>
          </a:p>
          <a:p>
            <a:r>
              <a:rPr lang="en-US" altLang="en-US"/>
              <a:t>D = 11</a:t>
            </a:r>
          </a:p>
        </p:txBody>
      </p:sp>
      <p:sp>
        <p:nvSpPr>
          <p:cNvPr id="281605" name="Text Box 5">
            <a:extLst>
              <a:ext uri="{FF2B5EF4-FFF2-40B4-BE49-F238E27FC236}">
                <a16:creationId xmlns:a16="http://schemas.microsoft.com/office/drawing/2014/main" id="{E5335CCA-F458-4611-BC1B-073C61500E19}"/>
              </a:ext>
            </a:extLst>
          </p:cNvPr>
          <p:cNvSpPr txBox="1">
            <a:spLocks noChangeArrowheads="1"/>
          </p:cNvSpPr>
          <p:nvPr/>
        </p:nvSpPr>
        <p:spPr bwMode="auto">
          <a:xfrm>
            <a:off x="2054884" y="5351717"/>
            <a:ext cx="3949700"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0010110111001111111111</a:t>
            </a:r>
          </a:p>
        </p:txBody>
      </p:sp>
      <p:sp>
        <p:nvSpPr>
          <p:cNvPr id="281606" name="Text Box 6">
            <a:extLst>
              <a:ext uri="{FF2B5EF4-FFF2-40B4-BE49-F238E27FC236}">
                <a16:creationId xmlns:a16="http://schemas.microsoft.com/office/drawing/2014/main" id="{3E91B49B-886F-4F27-AE69-54CF2EDF8C70}"/>
              </a:ext>
            </a:extLst>
          </p:cNvPr>
          <p:cNvSpPr txBox="1">
            <a:spLocks noChangeArrowheads="1"/>
          </p:cNvSpPr>
          <p:nvPr/>
        </p:nvSpPr>
        <p:spPr bwMode="auto">
          <a:xfrm>
            <a:off x="2286000" y="6051013"/>
            <a:ext cx="3208338"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 A C D B A D D D D D</a:t>
            </a:r>
          </a:p>
        </p:txBody>
      </p:sp>
    </p:spTree>
  </p:cSld>
  <p:clrMapOvr>
    <a:masterClrMapping/>
  </p:clrMapOvr>
  <p:transition spd="slow">
    <p:wip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70" name="Rectangle 2">
            <a:extLst>
              <a:ext uri="{FF2B5EF4-FFF2-40B4-BE49-F238E27FC236}">
                <a16:creationId xmlns:a16="http://schemas.microsoft.com/office/drawing/2014/main" id="{4CDA790F-550D-4BA6-8430-6F204C79E9DC}"/>
              </a:ext>
            </a:extLst>
          </p:cNvPr>
          <p:cNvSpPr>
            <a:spLocks noGrp="1" noChangeArrowheads="1"/>
          </p:cNvSpPr>
          <p:nvPr>
            <p:ph type="title"/>
          </p:nvPr>
        </p:nvSpPr>
        <p:spPr>
          <a:xfrm>
            <a:off x="457200" y="704088"/>
            <a:ext cx="8229600" cy="543687"/>
          </a:xfrm>
        </p:spPr>
        <p:txBody>
          <a:bodyPr>
            <a:normAutofit fontScale="90000"/>
          </a:bodyPr>
          <a:lstStyle/>
          <a:p>
            <a:r>
              <a:rPr lang="en-US" altLang="en-US" dirty="0"/>
              <a:t>Prefix property</a:t>
            </a:r>
          </a:p>
        </p:txBody>
      </p:sp>
      <p:sp>
        <p:nvSpPr>
          <p:cNvPr id="263171" name="Rectangle 3">
            <a:extLst>
              <a:ext uri="{FF2B5EF4-FFF2-40B4-BE49-F238E27FC236}">
                <a16:creationId xmlns:a16="http://schemas.microsoft.com/office/drawing/2014/main" id="{D5FE9F89-0810-4487-8FB5-0DDDA5D2E160}"/>
              </a:ext>
            </a:extLst>
          </p:cNvPr>
          <p:cNvSpPr>
            <a:spLocks noGrp="1" noChangeArrowheads="1"/>
          </p:cNvSpPr>
          <p:nvPr>
            <p:ph type="body" idx="1"/>
          </p:nvPr>
        </p:nvSpPr>
        <p:spPr>
          <a:xfrm>
            <a:off x="454855" y="1784721"/>
            <a:ext cx="8229600" cy="4389120"/>
          </a:xfrm>
        </p:spPr>
        <p:txBody>
          <a:bodyPr>
            <a:normAutofit fontScale="92500" lnSpcReduction="20000"/>
          </a:bodyPr>
          <a:lstStyle/>
          <a:p>
            <a:r>
              <a:rPr lang="en-US" altLang="en-US" dirty="0"/>
              <a:t>A code has the </a:t>
            </a:r>
            <a:r>
              <a:rPr lang="en-US" altLang="en-US" b="1" dirty="0"/>
              <a:t>prefix property</a:t>
            </a:r>
            <a:r>
              <a:rPr lang="en-US" altLang="en-US" dirty="0"/>
              <a:t> if no character code is the prefix (start of the code) for another character</a:t>
            </a:r>
          </a:p>
          <a:p>
            <a:r>
              <a:rPr lang="en-US" altLang="en-US" dirty="0"/>
              <a:t>Example:</a:t>
            </a:r>
          </a:p>
          <a:p>
            <a:pPr>
              <a:buFont typeface="Wingdings 2" panose="05020102010507070707" pitchFamily="18" charset="2"/>
              <a:buNone/>
            </a:pPr>
            <a:r>
              <a:rPr lang="en-US" altLang="en-US" dirty="0"/>
              <a:t>			</a:t>
            </a:r>
          </a:p>
          <a:p>
            <a:pPr>
              <a:buFont typeface="Wingdings 2" panose="05020102010507070707" pitchFamily="18" charset="2"/>
              <a:buNone/>
            </a:pPr>
            <a:endParaRPr lang="en-US" altLang="en-US" dirty="0"/>
          </a:p>
          <a:p>
            <a:pPr>
              <a:buFont typeface="Wingdings 2" panose="05020102010507070707" pitchFamily="18" charset="2"/>
              <a:buNone/>
            </a:pPr>
            <a:endParaRPr lang="en-US" altLang="en-US" dirty="0"/>
          </a:p>
          <a:p>
            <a:pPr>
              <a:buFont typeface="Wingdings 2" panose="05020102010507070707" pitchFamily="18" charset="2"/>
              <a:buNone/>
            </a:pPr>
            <a:endParaRPr lang="en-US" altLang="en-US" dirty="0"/>
          </a:p>
          <a:p>
            <a:pPr>
              <a:buFont typeface="Wingdings 2" panose="05020102010507070707" pitchFamily="18" charset="2"/>
              <a:buNone/>
            </a:pPr>
            <a:endParaRPr lang="en-US" altLang="en-US" dirty="0"/>
          </a:p>
          <a:p>
            <a:pPr>
              <a:buFont typeface="Wingdings 2" panose="05020102010507070707" pitchFamily="18" charset="2"/>
              <a:buNone/>
            </a:pPr>
            <a:endParaRPr lang="en-US" altLang="en-US" dirty="0"/>
          </a:p>
          <a:p>
            <a:endParaRPr lang="en-US" altLang="en-US" dirty="0"/>
          </a:p>
          <a:p>
            <a:r>
              <a:rPr lang="en-US" altLang="en-US" dirty="0"/>
              <a:t>000 is not a prefix of 11, 01, 001, or 10</a:t>
            </a:r>
          </a:p>
          <a:p>
            <a:r>
              <a:rPr lang="en-US" altLang="en-US" dirty="0"/>
              <a:t>11 is not a prefix of 000, 01, 001, or 10  …</a:t>
            </a:r>
          </a:p>
        </p:txBody>
      </p:sp>
      <p:graphicFrame>
        <p:nvGraphicFramePr>
          <p:cNvPr id="263172" name="Group 4">
            <a:extLst>
              <a:ext uri="{FF2B5EF4-FFF2-40B4-BE49-F238E27FC236}">
                <a16:creationId xmlns:a16="http://schemas.microsoft.com/office/drawing/2014/main" id="{CAD2B9F3-F53C-4AA7-89AD-9AB4136F5A73}"/>
              </a:ext>
            </a:extLst>
          </p:cNvPr>
          <p:cNvGraphicFramePr>
            <a:graphicFrameLocks noGrp="1"/>
          </p:cNvGraphicFramePr>
          <p:nvPr>
            <p:extLst>
              <p:ext uri="{D42A27DB-BD31-4B8C-83A1-F6EECF244321}">
                <p14:modId xmlns:p14="http://schemas.microsoft.com/office/powerpoint/2010/main" val="3146490939"/>
              </p:ext>
            </p:extLst>
          </p:nvPr>
        </p:nvGraphicFramePr>
        <p:xfrm>
          <a:off x="2133600" y="2590800"/>
          <a:ext cx="2590800" cy="2743200"/>
        </p:xfrm>
        <a:graphic>
          <a:graphicData uri="http://schemas.openxmlformats.org/drawingml/2006/table">
            <a:tbl>
              <a:tblPr/>
              <a:tblGrid>
                <a:gridCol w="1295400">
                  <a:extLst>
                    <a:ext uri="{9D8B030D-6E8A-4147-A177-3AD203B41FA5}">
                      <a16:colId xmlns:a16="http://schemas.microsoft.com/office/drawing/2014/main" val="1541085494"/>
                    </a:ext>
                  </a:extLst>
                </a:gridCol>
                <a:gridCol w="1295400">
                  <a:extLst>
                    <a:ext uri="{9D8B030D-6E8A-4147-A177-3AD203B41FA5}">
                      <a16:colId xmlns:a16="http://schemas.microsoft.com/office/drawing/2014/main" val="2676607154"/>
                    </a:ext>
                  </a:extLst>
                </a:gridCol>
              </a:tblGrid>
              <a:tr h="3937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Symbol</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Code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38904118"/>
                  </a:ext>
                </a:extLst>
              </a:tr>
              <a:tr h="3937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P</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000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88947329"/>
                  </a:ext>
                </a:extLst>
              </a:tr>
              <a:tr h="3937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Q</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64260185"/>
                  </a:ext>
                </a:extLst>
              </a:tr>
              <a:tr h="3937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01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38341570"/>
                  </a:ext>
                </a:extLst>
              </a:tr>
              <a:tr h="3937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001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15590278"/>
                  </a:ext>
                </a:extLst>
              </a:tr>
              <a:tr h="3937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rPr>
                        <a:t>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49137271"/>
                  </a:ext>
                </a:extLst>
              </a:tr>
            </a:tbl>
          </a:graphicData>
        </a:graphic>
      </p:graphicFrame>
      <p:sp>
        <p:nvSpPr>
          <p:cNvPr id="263195" name="Text Box 27">
            <a:extLst>
              <a:ext uri="{FF2B5EF4-FFF2-40B4-BE49-F238E27FC236}">
                <a16:creationId xmlns:a16="http://schemas.microsoft.com/office/drawing/2014/main" id="{85091F8F-68C2-4824-A1A7-320B4E672851}"/>
              </a:ext>
            </a:extLst>
          </p:cNvPr>
          <p:cNvSpPr txBox="1">
            <a:spLocks noChangeArrowheads="1"/>
          </p:cNvSpPr>
          <p:nvPr/>
        </p:nvSpPr>
        <p:spPr bwMode="auto">
          <a:xfrm>
            <a:off x="5181600" y="3200400"/>
            <a:ext cx="2590800"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01001101100010</a:t>
            </a:r>
          </a:p>
        </p:txBody>
      </p:sp>
      <p:sp>
        <p:nvSpPr>
          <p:cNvPr id="263196" name="Text Box 28">
            <a:extLst>
              <a:ext uri="{FF2B5EF4-FFF2-40B4-BE49-F238E27FC236}">
                <a16:creationId xmlns:a16="http://schemas.microsoft.com/office/drawing/2014/main" id="{543FB89F-9FE1-4F40-91A0-58E5C6ADA3D6}"/>
              </a:ext>
            </a:extLst>
          </p:cNvPr>
          <p:cNvSpPr txBox="1">
            <a:spLocks noChangeArrowheads="1"/>
          </p:cNvSpPr>
          <p:nvPr/>
        </p:nvSpPr>
        <p:spPr bwMode="auto">
          <a:xfrm>
            <a:off x="6477000" y="3886200"/>
            <a:ext cx="1868488"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R S T Q P T</a:t>
            </a:r>
          </a:p>
        </p:txBody>
      </p:sp>
    </p:spTree>
  </p:cSld>
  <p:clrMapOvr>
    <a:masterClrMapping/>
  </p:clrMapOvr>
  <p:transition spd="slow">
    <p:wipe/>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4" name="Rectangle 2">
            <a:extLst>
              <a:ext uri="{FF2B5EF4-FFF2-40B4-BE49-F238E27FC236}">
                <a16:creationId xmlns:a16="http://schemas.microsoft.com/office/drawing/2014/main" id="{BC698B48-4D87-4140-836C-1906491C1DFA}"/>
              </a:ext>
            </a:extLst>
          </p:cNvPr>
          <p:cNvSpPr>
            <a:spLocks noGrp="1" noChangeArrowheads="1"/>
          </p:cNvSpPr>
          <p:nvPr>
            <p:ph type="title"/>
          </p:nvPr>
        </p:nvSpPr>
        <p:spPr/>
        <p:txBody>
          <a:bodyPr/>
          <a:lstStyle/>
          <a:p>
            <a:r>
              <a:rPr lang="en-US" altLang="en-US"/>
              <a:t>Code without prefix property</a:t>
            </a:r>
          </a:p>
        </p:txBody>
      </p:sp>
      <p:sp>
        <p:nvSpPr>
          <p:cNvPr id="264195" name="Rectangle 3">
            <a:extLst>
              <a:ext uri="{FF2B5EF4-FFF2-40B4-BE49-F238E27FC236}">
                <a16:creationId xmlns:a16="http://schemas.microsoft.com/office/drawing/2014/main" id="{080FB084-18EF-4DD0-A4FC-E47F8433C3AC}"/>
              </a:ext>
            </a:extLst>
          </p:cNvPr>
          <p:cNvSpPr>
            <a:spLocks noGrp="1" noChangeArrowheads="1"/>
          </p:cNvSpPr>
          <p:nvPr>
            <p:ph type="body" idx="1"/>
          </p:nvPr>
        </p:nvSpPr>
        <p:spPr/>
        <p:txBody>
          <a:bodyPr>
            <a:normAutofit fontScale="92500" lnSpcReduction="10000"/>
          </a:bodyPr>
          <a:lstStyle/>
          <a:p>
            <a:r>
              <a:rPr lang="en-US" altLang="en-US"/>
              <a:t>The following code does </a:t>
            </a:r>
            <a:r>
              <a:rPr lang="en-US" altLang="en-US" b="1"/>
              <a:t>not</a:t>
            </a:r>
            <a:r>
              <a:rPr lang="en-US" altLang="en-US"/>
              <a:t> have prefix property</a:t>
            </a:r>
          </a:p>
          <a:p>
            <a:endParaRPr lang="en-US" altLang="en-US"/>
          </a:p>
          <a:p>
            <a:pPr>
              <a:buFont typeface="Wingdings 2" panose="05020102010507070707" pitchFamily="18" charset="2"/>
              <a:buNone/>
            </a:pPr>
            <a:r>
              <a:rPr lang="en-US" altLang="en-US"/>
              <a:t>			</a:t>
            </a:r>
          </a:p>
          <a:p>
            <a:pPr>
              <a:buFont typeface="Wingdings 2" panose="05020102010507070707" pitchFamily="18" charset="2"/>
              <a:buNone/>
            </a:pPr>
            <a:endParaRPr lang="en-US" altLang="en-US"/>
          </a:p>
          <a:p>
            <a:pPr>
              <a:buFont typeface="Wingdings 2" panose="05020102010507070707" pitchFamily="18" charset="2"/>
              <a:buNone/>
            </a:pPr>
            <a:endParaRPr lang="en-US" altLang="en-US"/>
          </a:p>
          <a:p>
            <a:pPr>
              <a:buFont typeface="Wingdings 2" panose="05020102010507070707" pitchFamily="18" charset="2"/>
              <a:buNone/>
            </a:pPr>
            <a:endParaRPr lang="en-US" altLang="en-US"/>
          </a:p>
          <a:p>
            <a:pPr>
              <a:buFont typeface="Wingdings 2" panose="05020102010507070707" pitchFamily="18" charset="2"/>
              <a:buNone/>
            </a:pPr>
            <a:endParaRPr lang="en-US" altLang="en-US"/>
          </a:p>
          <a:p>
            <a:pPr>
              <a:buFont typeface="Wingdings 2" panose="05020102010507070707" pitchFamily="18" charset="2"/>
              <a:buNone/>
            </a:pPr>
            <a:endParaRPr lang="en-US" altLang="en-US"/>
          </a:p>
          <a:p>
            <a:pPr>
              <a:buFont typeface="Wingdings 2" panose="05020102010507070707" pitchFamily="18" charset="2"/>
              <a:buNone/>
            </a:pPr>
            <a:endParaRPr lang="en-US" altLang="en-US">
              <a:solidFill>
                <a:srgbClr val="0000FF"/>
              </a:solidFill>
            </a:endParaRPr>
          </a:p>
          <a:p>
            <a:r>
              <a:rPr lang="en-US" altLang="en-US"/>
              <a:t>The pattern </a:t>
            </a:r>
            <a:r>
              <a:rPr lang="en-US" altLang="en-US" b="1"/>
              <a:t>1110</a:t>
            </a:r>
            <a:r>
              <a:rPr lang="en-US" altLang="en-US"/>
              <a:t> can be decoded as </a:t>
            </a:r>
            <a:r>
              <a:rPr lang="en-US" altLang="en-US" b="1"/>
              <a:t>QQQP</a:t>
            </a:r>
            <a:r>
              <a:rPr lang="en-US" altLang="en-US"/>
              <a:t>, </a:t>
            </a:r>
            <a:r>
              <a:rPr lang="en-US" altLang="en-US" b="1"/>
              <a:t>QTP</a:t>
            </a:r>
            <a:r>
              <a:rPr lang="en-US" altLang="en-US"/>
              <a:t>,  </a:t>
            </a:r>
            <a:r>
              <a:rPr lang="en-US" altLang="en-US" b="1"/>
              <a:t>QQS</a:t>
            </a:r>
            <a:r>
              <a:rPr lang="en-US" altLang="en-US"/>
              <a:t>, or </a:t>
            </a:r>
            <a:r>
              <a:rPr lang="en-US" altLang="en-US" b="1"/>
              <a:t>TS</a:t>
            </a:r>
            <a:r>
              <a:rPr lang="en-US" altLang="en-US"/>
              <a:t> </a:t>
            </a:r>
          </a:p>
          <a:p>
            <a:endParaRPr lang="en-US" altLang="en-US"/>
          </a:p>
        </p:txBody>
      </p:sp>
      <p:graphicFrame>
        <p:nvGraphicFramePr>
          <p:cNvPr id="264196" name="Group 4">
            <a:extLst>
              <a:ext uri="{FF2B5EF4-FFF2-40B4-BE49-F238E27FC236}">
                <a16:creationId xmlns:a16="http://schemas.microsoft.com/office/drawing/2014/main" id="{E7E6754A-FA30-41DB-AA4B-AFB687DB890F}"/>
              </a:ext>
            </a:extLst>
          </p:cNvPr>
          <p:cNvGraphicFramePr>
            <a:graphicFrameLocks noGrp="1"/>
          </p:cNvGraphicFramePr>
          <p:nvPr>
            <p:extLst>
              <p:ext uri="{D42A27DB-BD31-4B8C-83A1-F6EECF244321}">
                <p14:modId xmlns:p14="http://schemas.microsoft.com/office/powerpoint/2010/main" val="2710386732"/>
              </p:ext>
            </p:extLst>
          </p:nvPr>
        </p:nvGraphicFramePr>
        <p:xfrm>
          <a:off x="2209800" y="2590800"/>
          <a:ext cx="3352800" cy="2743200"/>
        </p:xfrm>
        <a:graphic>
          <a:graphicData uri="http://schemas.openxmlformats.org/drawingml/2006/table">
            <a:tbl>
              <a:tblPr/>
              <a:tblGrid>
                <a:gridCol w="1676400">
                  <a:extLst>
                    <a:ext uri="{9D8B030D-6E8A-4147-A177-3AD203B41FA5}">
                      <a16:colId xmlns:a16="http://schemas.microsoft.com/office/drawing/2014/main" val="1726491425"/>
                    </a:ext>
                  </a:extLst>
                </a:gridCol>
                <a:gridCol w="1676400">
                  <a:extLst>
                    <a:ext uri="{9D8B030D-6E8A-4147-A177-3AD203B41FA5}">
                      <a16:colId xmlns:a16="http://schemas.microsoft.com/office/drawing/2014/main" val="3310983004"/>
                    </a:ext>
                  </a:extLst>
                </a:gridCol>
              </a:tblGrid>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dirty="0">
                          <a:ln>
                            <a:noFill/>
                          </a:ln>
                          <a:solidFill>
                            <a:schemeClr val="tx1"/>
                          </a:solidFill>
                          <a:effectLst/>
                          <a:latin typeface="Arial" panose="020B0604020202020204" pitchFamily="34" charset="0"/>
                        </a:rPr>
                        <a:t>Symbol</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Code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98401577"/>
                  </a:ext>
                </a:extLst>
              </a:tr>
              <a:tr h="442913">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P</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7009421"/>
                  </a:ext>
                </a:extLst>
              </a:tr>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Q</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3492415"/>
                  </a:ext>
                </a:extLst>
              </a:tr>
              <a:tr h="4445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01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378027366"/>
                  </a:ext>
                </a:extLst>
              </a:tr>
              <a:tr h="442913">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39470079"/>
                  </a:ext>
                </a:extLst>
              </a:tr>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dirty="0">
                          <a:ln>
                            <a:noFill/>
                          </a:ln>
                          <a:solidFill>
                            <a:schemeClr val="tx1"/>
                          </a:solidFill>
                          <a:effectLst/>
                          <a:latin typeface="Arial" panose="020B0604020202020204" pitchFamily="34" charset="0"/>
                        </a:rPr>
                        <a:t>11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541860918"/>
                  </a:ext>
                </a:extLst>
              </a:tr>
            </a:tbl>
          </a:graphicData>
        </a:graphic>
      </p:graphicFrame>
    </p:spTree>
  </p:cSld>
  <p:clrMapOvr>
    <a:masterClrMapping/>
  </p:clrMapOvr>
  <p:transition spd="slow">
    <p:wip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674" name="Rectangle 1026">
            <a:extLst>
              <a:ext uri="{FF2B5EF4-FFF2-40B4-BE49-F238E27FC236}">
                <a16:creationId xmlns:a16="http://schemas.microsoft.com/office/drawing/2014/main" id="{C4B8C8AE-071F-4108-B806-1A760005B24E}"/>
              </a:ext>
            </a:extLst>
          </p:cNvPr>
          <p:cNvSpPr>
            <a:spLocks noGrp="1" noChangeArrowheads="1"/>
          </p:cNvSpPr>
          <p:nvPr>
            <p:ph type="title"/>
          </p:nvPr>
        </p:nvSpPr>
        <p:spPr/>
        <p:txBody>
          <a:bodyPr/>
          <a:lstStyle/>
          <a:p>
            <a:r>
              <a:rPr lang="en-US" altLang="en-US"/>
              <a:t>Problem</a:t>
            </a:r>
          </a:p>
        </p:txBody>
      </p:sp>
      <p:sp>
        <p:nvSpPr>
          <p:cNvPr id="284675" name="Rectangle 1027">
            <a:extLst>
              <a:ext uri="{FF2B5EF4-FFF2-40B4-BE49-F238E27FC236}">
                <a16:creationId xmlns:a16="http://schemas.microsoft.com/office/drawing/2014/main" id="{CF1CCD84-57F7-4478-A509-6064DFEFDE75}"/>
              </a:ext>
            </a:extLst>
          </p:cNvPr>
          <p:cNvSpPr>
            <a:spLocks noGrp="1" noChangeArrowheads="1"/>
          </p:cNvSpPr>
          <p:nvPr>
            <p:ph type="body" idx="1"/>
          </p:nvPr>
        </p:nvSpPr>
        <p:spPr/>
        <p:txBody>
          <a:bodyPr>
            <a:normAutofit fontScale="92500"/>
          </a:bodyPr>
          <a:lstStyle/>
          <a:p>
            <a:pPr>
              <a:lnSpc>
                <a:spcPct val="90000"/>
              </a:lnSpc>
            </a:pPr>
            <a:r>
              <a:rPr lang="en-US" altLang="en-US"/>
              <a:t>Design a variable-length prefix-free code such that the message </a:t>
            </a:r>
            <a:r>
              <a:rPr lang="en-US" altLang="en-US" b="1"/>
              <a:t>DEAACAAAAABA</a:t>
            </a:r>
            <a:r>
              <a:rPr lang="en-US" altLang="en-US"/>
              <a:t> can be encoded using 22 bits</a:t>
            </a:r>
          </a:p>
          <a:p>
            <a:pPr>
              <a:lnSpc>
                <a:spcPct val="90000"/>
              </a:lnSpc>
            </a:pPr>
            <a:r>
              <a:rPr lang="en-US" altLang="en-US"/>
              <a:t>Possible solution:</a:t>
            </a:r>
          </a:p>
          <a:p>
            <a:pPr lvl="1">
              <a:lnSpc>
                <a:spcPct val="90000"/>
              </a:lnSpc>
            </a:pPr>
            <a:r>
              <a:rPr lang="en-US" altLang="en-US" b="1"/>
              <a:t>A</a:t>
            </a:r>
            <a:r>
              <a:rPr lang="en-US" altLang="en-US"/>
              <a:t> occurs eight times while </a:t>
            </a:r>
            <a:r>
              <a:rPr lang="en-US" altLang="en-US" b="1"/>
              <a:t>B</a:t>
            </a:r>
            <a:r>
              <a:rPr lang="en-US" altLang="en-US"/>
              <a:t>, </a:t>
            </a:r>
            <a:r>
              <a:rPr lang="en-US" altLang="en-US" b="1"/>
              <a:t>C</a:t>
            </a:r>
            <a:r>
              <a:rPr lang="en-US" altLang="en-US"/>
              <a:t>, </a:t>
            </a:r>
            <a:r>
              <a:rPr lang="en-US" altLang="en-US" b="1"/>
              <a:t>D</a:t>
            </a:r>
            <a:r>
              <a:rPr lang="en-US" altLang="en-US"/>
              <a:t>, and </a:t>
            </a:r>
            <a:r>
              <a:rPr lang="en-US" altLang="en-US" b="1"/>
              <a:t>E</a:t>
            </a:r>
            <a:r>
              <a:rPr lang="en-US" altLang="en-US"/>
              <a:t> each occur once</a:t>
            </a:r>
          </a:p>
          <a:p>
            <a:pPr lvl="1">
              <a:lnSpc>
                <a:spcPct val="90000"/>
              </a:lnSpc>
            </a:pPr>
            <a:r>
              <a:rPr lang="en-US" altLang="en-US"/>
              <a:t>represent </a:t>
            </a:r>
            <a:r>
              <a:rPr lang="en-US" altLang="en-US" b="1"/>
              <a:t>A</a:t>
            </a:r>
            <a:r>
              <a:rPr lang="en-US" altLang="en-US"/>
              <a:t> with a one bit code, say 0</a:t>
            </a:r>
          </a:p>
          <a:p>
            <a:pPr lvl="2">
              <a:lnSpc>
                <a:spcPct val="90000"/>
              </a:lnSpc>
            </a:pPr>
            <a:r>
              <a:rPr lang="en-US" altLang="en-US"/>
              <a:t>remaining codes cannot start with 0</a:t>
            </a:r>
          </a:p>
          <a:p>
            <a:pPr lvl="1">
              <a:lnSpc>
                <a:spcPct val="90000"/>
              </a:lnSpc>
            </a:pPr>
            <a:r>
              <a:rPr lang="en-US" altLang="en-US"/>
              <a:t>represent </a:t>
            </a:r>
            <a:r>
              <a:rPr lang="en-US" altLang="en-US" b="1"/>
              <a:t>B</a:t>
            </a:r>
            <a:r>
              <a:rPr lang="en-US" altLang="en-US"/>
              <a:t> with the two bit code 10</a:t>
            </a:r>
          </a:p>
          <a:p>
            <a:pPr lvl="2">
              <a:lnSpc>
                <a:spcPct val="90000"/>
              </a:lnSpc>
            </a:pPr>
            <a:r>
              <a:rPr lang="en-US" altLang="en-US"/>
              <a:t>remaining codes cannot start with 0 or 10</a:t>
            </a:r>
          </a:p>
          <a:p>
            <a:pPr lvl="1">
              <a:lnSpc>
                <a:spcPct val="90000"/>
              </a:lnSpc>
            </a:pPr>
            <a:r>
              <a:rPr lang="en-US" altLang="en-US"/>
              <a:t>represent </a:t>
            </a:r>
            <a:r>
              <a:rPr lang="en-US" altLang="en-US" b="1"/>
              <a:t>C</a:t>
            </a:r>
            <a:r>
              <a:rPr lang="en-US" altLang="en-US"/>
              <a:t> with 110</a:t>
            </a:r>
          </a:p>
          <a:p>
            <a:pPr lvl="1">
              <a:lnSpc>
                <a:spcPct val="90000"/>
              </a:lnSpc>
            </a:pPr>
            <a:r>
              <a:rPr lang="en-US" altLang="en-US"/>
              <a:t>represent </a:t>
            </a:r>
            <a:r>
              <a:rPr lang="en-US" altLang="en-US" b="1"/>
              <a:t>D</a:t>
            </a:r>
            <a:r>
              <a:rPr lang="en-US" altLang="en-US"/>
              <a:t> with 1110</a:t>
            </a:r>
          </a:p>
          <a:p>
            <a:pPr lvl="1">
              <a:lnSpc>
                <a:spcPct val="90000"/>
              </a:lnSpc>
            </a:pPr>
            <a:r>
              <a:rPr lang="en-US" altLang="en-US"/>
              <a:t>represent </a:t>
            </a:r>
            <a:r>
              <a:rPr lang="en-US" altLang="en-US" b="1"/>
              <a:t>E</a:t>
            </a:r>
            <a:r>
              <a:rPr lang="en-US" altLang="en-US"/>
              <a:t> with 11110</a:t>
            </a:r>
          </a:p>
        </p:txBody>
      </p:sp>
    </p:spTree>
  </p:cSld>
  <p:clrMapOvr>
    <a:masterClrMapping/>
  </p:clrMapOvr>
  <p:transition spd="slow">
    <p:wip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794" name="Rectangle 2">
            <a:extLst>
              <a:ext uri="{FF2B5EF4-FFF2-40B4-BE49-F238E27FC236}">
                <a16:creationId xmlns:a16="http://schemas.microsoft.com/office/drawing/2014/main" id="{472FC2B7-A68E-4C4B-8AB4-43EECE6FC606}"/>
              </a:ext>
            </a:extLst>
          </p:cNvPr>
          <p:cNvSpPr>
            <a:spLocks noGrp="1" noChangeArrowheads="1"/>
          </p:cNvSpPr>
          <p:nvPr>
            <p:ph type="title"/>
          </p:nvPr>
        </p:nvSpPr>
        <p:spPr/>
        <p:txBody>
          <a:bodyPr/>
          <a:lstStyle/>
          <a:p>
            <a:r>
              <a:rPr lang="en-US" altLang="en-US"/>
              <a:t>Encoded message</a:t>
            </a:r>
          </a:p>
        </p:txBody>
      </p:sp>
      <p:graphicFrame>
        <p:nvGraphicFramePr>
          <p:cNvPr id="289795" name="Group 3">
            <a:extLst>
              <a:ext uri="{FF2B5EF4-FFF2-40B4-BE49-F238E27FC236}">
                <a16:creationId xmlns:a16="http://schemas.microsoft.com/office/drawing/2014/main" id="{2FC5BCB3-97A3-422F-9E58-BE6EEDE95E3E}"/>
              </a:ext>
            </a:extLst>
          </p:cNvPr>
          <p:cNvGraphicFramePr>
            <a:graphicFrameLocks noGrp="1"/>
          </p:cNvGraphicFramePr>
          <p:nvPr/>
        </p:nvGraphicFramePr>
        <p:xfrm>
          <a:off x="2819400" y="2362200"/>
          <a:ext cx="3352800" cy="2743200"/>
        </p:xfrm>
        <a:graphic>
          <a:graphicData uri="http://schemas.openxmlformats.org/drawingml/2006/table">
            <a:tbl>
              <a:tblPr/>
              <a:tblGrid>
                <a:gridCol w="1676400">
                  <a:extLst>
                    <a:ext uri="{9D8B030D-6E8A-4147-A177-3AD203B41FA5}">
                      <a16:colId xmlns:a16="http://schemas.microsoft.com/office/drawing/2014/main" val="2358596608"/>
                    </a:ext>
                  </a:extLst>
                </a:gridCol>
                <a:gridCol w="1676400">
                  <a:extLst>
                    <a:ext uri="{9D8B030D-6E8A-4147-A177-3AD203B41FA5}">
                      <a16:colId xmlns:a16="http://schemas.microsoft.com/office/drawing/2014/main" val="3077925067"/>
                    </a:ext>
                  </a:extLst>
                </a:gridCol>
              </a:tblGrid>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Symbol</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Code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67079912"/>
                  </a:ext>
                </a:extLst>
              </a:tr>
              <a:tr h="442913">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31829919"/>
                  </a:ext>
                </a:extLst>
              </a:tr>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B</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18364778"/>
                  </a:ext>
                </a:extLst>
              </a:tr>
              <a:tr h="4445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C</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75458417"/>
                  </a:ext>
                </a:extLst>
              </a:tr>
              <a:tr h="442913">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1110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41627808"/>
                  </a:ext>
                </a:extLst>
              </a:tr>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11110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12257010"/>
                  </a:ext>
                </a:extLst>
              </a:tr>
            </a:tbl>
          </a:graphicData>
        </a:graphic>
      </p:graphicFrame>
      <p:sp>
        <p:nvSpPr>
          <p:cNvPr id="289818" name="Text Box 26">
            <a:extLst>
              <a:ext uri="{FF2B5EF4-FFF2-40B4-BE49-F238E27FC236}">
                <a16:creationId xmlns:a16="http://schemas.microsoft.com/office/drawing/2014/main" id="{59C20E65-16F3-4FAA-9BEC-3566DBFF7073}"/>
              </a:ext>
            </a:extLst>
          </p:cNvPr>
          <p:cNvSpPr txBox="1">
            <a:spLocks noChangeArrowheads="1"/>
          </p:cNvSpPr>
          <p:nvPr/>
        </p:nvSpPr>
        <p:spPr bwMode="auto">
          <a:xfrm>
            <a:off x="228600" y="1890712"/>
            <a:ext cx="2843213"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DEAACAAAAABA</a:t>
            </a:r>
          </a:p>
        </p:txBody>
      </p:sp>
      <p:sp>
        <p:nvSpPr>
          <p:cNvPr id="289819" name="Text Box 27">
            <a:extLst>
              <a:ext uri="{FF2B5EF4-FFF2-40B4-BE49-F238E27FC236}">
                <a16:creationId xmlns:a16="http://schemas.microsoft.com/office/drawing/2014/main" id="{7F05565A-6DA7-4B14-A37D-3846258B8D10}"/>
              </a:ext>
            </a:extLst>
          </p:cNvPr>
          <p:cNvSpPr txBox="1">
            <a:spLocks noChangeArrowheads="1"/>
          </p:cNvSpPr>
          <p:nvPr/>
        </p:nvSpPr>
        <p:spPr bwMode="auto">
          <a:xfrm>
            <a:off x="2514600" y="5334000"/>
            <a:ext cx="3949700"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1110111100011000000100</a:t>
            </a:r>
          </a:p>
        </p:txBody>
      </p:sp>
      <p:sp>
        <p:nvSpPr>
          <p:cNvPr id="289820" name="Text Box 28">
            <a:extLst>
              <a:ext uri="{FF2B5EF4-FFF2-40B4-BE49-F238E27FC236}">
                <a16:creationId xmlns:a16="http://schemas.microsoft.com/office/drawing/2014/main" id="{9AEEEE6B-147D-4D5A-9F76-6B37EBE2CDA4}"/>
              </a:ext>
            </a:extLst>
          </p:cNvPr>
          <p:cNvSpPr txBox="1">
            <a:spLocks noChangeArrowheads="1"/>
          </p:cNvSpPr>
          <p:nvPr/>
        </p:nvSpPr>
        <p:spPr bwMode="auto">
          <a:xfrm>
            <a:off x="6553200" y="5334000"/>
            <a:ext cx="1082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0099"/>
                </a:solidFill>
              </a:rPr>
              <a:t>22 bits</a:t>
            </a:r>
          </a:p>
        </p:txBody>
      </p:sp>
    </p:spTree>
  </p:cSld>
  <p:clrMapOvr>
    <a:masterClrMapping/>
  </p:clrMapOvr>
  <p:transition spd="slow">
    <p:wip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6" name="Rectangle 2">
            <a:extLst>
              <a:ext uri="{FF2B5EF4-FFF2-40B4-BE49-F238E27FC236}">
                <a16:creationId xmlns:a16="http://schemas.microsoft.com/office/drawing/2014/main" id="{A6DC00CF-603F-41E5-BEA2-9351F655F6B8}"/>
              </a:ext>
            </a:extLst>
          </p:cNvPr>
          <p:cNvSpPr>
            <a:spLocks noGrp="1" noChangeArrowheads="1"/>
          </p:cNvSpPr>
          <p:nvPr>
            <p:ph type="title"/>
          </p:nvPr>
        </p:nvSpPr>
        <p:spPr/>
        <p:txBody>
          <a:bodyPr/>
          <a:lstStyle/>
          <a:p>
            <a:r>
              <a:rPr lang="en-US" altLang="en-US"/>
              <a:t>Another possible code</a:t>
            </a:r>
          </a:p>
        </p:txBody>
      </p:sp>
      <p:graphicFrame>
        <p:nvGraphicFramePr>
          <p:cNvPr id="287747" name="Group 3">
            <a:extLst>
              <a:ext uri="{FF2B5EF4-FFF2-40B4-BE49-F238E27FC236}">
                <a16:creationId xmlns:a16="http://schemas.microsoft.com/office/drawing/2014/main" id="{378C70FA-670F-4109-A18F-2618D9D831CA}"/>
              </a:ext>
            </a:extLst>
          </p:cNvPr>
          <p:cNvGraphicFramePr>
            <a:graphicFrameLocks noGrp="1"/>
          </p:cNvGraphicFramePr>
          <p:nvPr/>
        </p:nvGraphicFramePr>
        <p:xfrm>
          <a:off x="2819400" y="2362200"/>
          <a:ext cx="3352800" cy="2743200"/>
        </p:xfrm>
        <a:graphic>
          <a:graphicData uri="http://schemas.openxmlformats.org/drawingml/2006/table">
            <a:tbl>
              <a:tblPr/>
              <a:tblGrid>
                <a:gridCol w="1676400">
                  <a:extLst>
                    <a:ext uri="{9D8B030D-6E8A-4147-A177-3AD203B41FA5}">
                      <a16:colId xmlns:a16="http://schemas.microsoft.com/office/drawing/2014/main" val="1466155791"/>
                    </a:ext>
                  </a:extLst>
                </a:gridCol>
                <a:gridCol w="1676400">
                  <a:extLst>
                    <a:ext uri="{9D8B030D-6E8A-4147-A177-3AD203B41FA5}">
                      <a16:colId xmlns:a16="http://schemas.microsoft.com/office/drawing/2014/main" val="3024815365"/>
                    </a:ext>
                  </a:extLst>
                </a:gridCol>
              </a:tblGrid>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Symbol</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Code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56297529"/>
                  </a:ext>
                </a:extLst>
              </a:tr>
              <a:tr h="442913">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7273172"/>
                  </a:ext>
                </a:extLst>
              </a:tr>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B</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262971820"/>
                  </a:ext>
                </a:extLst>
              </a:tr>
              <a:tr h="4445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C</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101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029860277"/>
                  </a:ext>
                </a:extLst>
              </a:tr>
              <a:tr h="442913">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1101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68142667"/>
                  </a:ext>
                </a:extLst>
              </a:tr>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1111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826789872"/>
                  </a:ext>
                </a:extLst>
              </a:tr>
            </a:tbl>
          </a:graphicData>
        </a:graphic>
      </p:graphicFrame>
      <p:sp>
        <p:nvSpPr>
          <p:cNvPr id="287770" name="Text Box 26">
            <a:extLst>
              <a:ext uri="{FF2B5EF4-FFF2-40B4-BE49-F238E27FC236}">
                <a16:creationId xmlns:a16="http://schemas.microsoft.com/office/drawing/2014/main" id="{C1C71F76-F0EA-403F-AF02-54332A386CE9}"/>
              </a:ext>
            </a:extLst>
          </p:cNvPr>
          <p:cNvSpPr txBox="1">
            <a:spLocks noChangeArrowheads="1"/>
          </p:cNvSpPr>
          <p:nvPr/>
        </p:nvSpPr>
        <p:spPr bwMode="auto">
          <a:xfrm>
            <a:off x="228600" y="1821297"/>
            <a:ext cx="2843213"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DEAACAAAAABA</a:t>
            </a:r>
          </a:p>
        </p:txBody>
      </p:sp>
      <p:sp>
        <p:nvSpPr>
          <p:cNvPr id="287771" name="Text Box 27">
            <a:extLst>
              <a:ext uri="{FF2B5EF4-FFF2-40B4-BE49-F238E27FC236}">
                <a16:creationId xmlns:a16="http://schemas.microsoft.com/office/drawing/2014/main" id="{882EE896-E722-455F-83C7-572CA72C8A4B}"/>
              </a:ext>
            </a:extLst>
          </p:cNvPr>
          <p:cNvSpPr txBox="1">
            <a:spLocks noChangeArrowheads="1"/>
          </p:cNvSpPr>
          <p:nvPr/>
        </p:nvSpPr>
        <p:spPr bwMode="auto">
          <a:xfrm>
            <a:off x="2514600" y="5334000"/>
            <a:ext cx="3949700"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1101111100101000001000</a:t>
            </a:r>
          </a:p>
        </p:txBody>
      </p:sp>
      <p:sp>
        <p:nvSpPr>
          <p:cNvPr id="287772" name="Text Box 28">
            <a:extLst>
              <a:ext uri="{FF2B5EF4-FFF2-40B4-BE49-F238E27FC236}">
                <a16:creationId xmlns:a16="http://schemas.microsoft.com/office/drawing/2014/main" id="{070D53DD-AB23-41A7-B26E-D1F34954554D}"/>
              </a:ext>
            </a:extLst>
          </p:cNvPr>
          <p:cNvSpPr txBox="1">
            <a:spLocks noChangeArrowheads="1"/>
          </p:cNvSpPr>
          <p:nvPr/>
        </p:nvSpPr>
        <p:spPr bwMode="auto">
          <a:xfrm>
            <a:off x="6553200" y="5334000"/>
            <a:ext cx="1082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0099"/>
                </a:solidFill>
              </a:rPr>
              <a:t>22 bits</a:t>
            </a:r>
          </a:p>
        </p:txBody>
      </p:sp>
    </p:spTree>
  </p:cSld>
  <p:clrMapOvr>
    <a:masterClrMapping/>
  </p:clrMapOvr>
  <p:transition spd="slow">
    <p:wip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8770" name="Rectangle 2">
            <a:extLst>
              <a:ext uri="{FF2B5EF4-FFF2-40B4-BE49-F238E27FC236}">
                <a16:creationId xmlns:a16="http://schemas.microsoft.com/office/drawing/2014/main" id="{DDF6CB4B-8B2E-49E8-8FE9-039C52FDDF4A}"/>
              </a:ext>
            </a:extLst>
          </p:cNvPr>
          <p:cNvSpPr>
            <a:spLocks noGrp="1" noChangeArrowheads="1"/>
          </p:cNvSpPr>
          <p:nvPr>
            <p:ph type="title"/>
          </p:nvPr>
        </p:nvSpPr>
        <p:spPr/>
        <p:txBody>
          <a:bodyPr/>
          <a:lstStyle/>
          <a:p>
            <a:r>
              <a:rPr lang="en-US" altLang="en-US"/>
              <a:t>Better code</a:t>
            </a:r>
          </a:p>
        </p:txBody>
      </p:sp>
      <p:graphicFrame>
        <p:nvGraphicFramePr>
          <p:cNvPr id="288771" name="Group 3">
            <a:extLst>
              <a:ext uri="{FF2B5EF4-FFF2-40B4-BE49-F238E27FC236}">
                <a16:creationId xmlns:a16="http://schemas.microsoft.com/office/drawing/2014/main" id="{1991426F-D526-4CE2-A8BB-97C0E431D9D1}"/>
              </a:ext>
            </a:extLst>
          </p:cNvPr>
          <p:cNvGraphicFramePr>
            <a:graphicFrameLocks noGrp="1"/>
          </p:cNvGraphicFramePr>
          <p:nvPr/>
        </p:nvGraphicFramePr>
        <p:xfrm>
          <a:off x="2819400" y="2362200"/>
          <a:ext cx="3352800" cy="2743200"/>
        </p:xfrm>
        <a:graphic>
          <a:graphicData uri="http://schemas.openxmlformats.org/drawingml/2006/table">
            <a:tbl>
              <a:tblPr/>
              <a:tblGrid>
                <a:gridCol w="1676400">
                  <a:extLst>
                    <a:ext uri="{9D8B030D-6E8A-4147-A177-3AD203B41FA5}">
                      <a16:colId xmlns:a16="http://schemas.microsoft.com/office/drawing/2014/main" val="1001360519"/>
                    </a:ext>
                  </a:extLst>
                </a:gridCol>
                <a:gridCol w="1676400">
                  <a:extLst>
                    <a:ext uri="{9D8B030D-6E8A-4147-A177-3AD203B41FA5}">
                      <a16:colId xmlns:a16="http://schemas.microsoft.com/office/drawing/2014/main" val="737289472"/>
                    </a:ext>
                  </a:extLst>
                </a:gridCol>
              </a:tblGrid>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Symbol</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Code</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47873802"/>
                  </a:ext>
                </a:extLst>
              </a:tr>
              <a:tr h="442913">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3760834"/>
                  </a:ext>
                </a:extLst>
              </a:tr>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B</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100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08082392"/>
                  </a:ext>
                </a:extLst>
              </a:tr>
              <a:tr h="4445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C</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101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56293413"/>
                  </a:ext>
                </a:extLst>
              </a:tr>
              <a:tr h="442913">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110</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32797354"/>
                  </a:ext>
                </a:extLst>
              </a:tr>
              <a:tr h="446088">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0" i="0" u="none" strike="noStrike" cap="none" normalizeH="0" baseline="0">
                          <a:ln>
                            <a:noFill/>
                          </a:ln>
                          <a:solidFill>
                            <a:schemeClr val="tx1"/>
                          </a:solidFill>
                          <a:effectLst/>
                          <a:latin typeface="Arial" panose="020B0604020202020204" pitchFamily="34" charset="0"/>
                        </a:rPr>
                        <a:t>111</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816222138"/>
                  </a:ext>
                </a:extLst>
              </a:tr>
            </a:tbl>
          </a:graphicData>
        </a:graphic>
      </p:graphicFrame>
      <p:sp>
        <p:nvSpPr>
          <p:cNvPr id="288794" name="Text Box 26">
            <a:extLst>
              <a:ext uri="{FF2B5EF4-FFF2-40B4-BE49-F238E27FC236}">
                <a16:creationId xmlns:a16="http://schemas.microsoft.com/office/drawing/2014/main" id="{7A18BE88-D4C4-4242-9D9F-7B1759139399}"/>
              </a:ext>
            </a:extLst>
          </p:cNvPr>
          <p:cNvSpPr txBox="1">
            <a:spLocks noChangeArrowheads="1"/>
          </p:cNvSpPr>
          <p:nvPr/>
        </p:nvSpPr>
        <p:spPr bwMode="auto">
          <a:xfrm>
            <a:off x="3048000" y="1676400"/>
            <a:ext cx="2843213"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DEAACAAAAABA</a:t>
            </a:r>
          </a:p>
        </p:txBody>
      </p:sp>
      <p:sp>
        <p:nvSpPr>
          <p:cNvPr id="288795" name="Text Box 27">
            <a:extLst>
              <a:ext uri="{FF2B5EF4-FFF2-40B4-BE49-F238E27FC236}">
                <a16:creationId xmlns:a16="http://schemas.microsoft.com/office/drawing/2014/main" id="{8FABA289-63B3-463D-A3CC-EA71CEE83135}"/>
              </a:ext>
            </a:extLst>
          </p:cNvPr>
          <p:cNvSpPr txBox="1">
            <a:spLocks noChangeArrowheads="1"/>
          </p:cNvSpPr>
          <p:nvPr/>
        </p:nvSpPr>
        <p:spPr bwMode="auto">
          <a:xfrm>
            <a:off x="2667000" y="5334000"/>
            <a:ext cx="3609975"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t>11011100101000001000</a:t>
            </a:r>
          </a:p>
        </p:txBody>
      </p:sp>
      <p:sp>
        <p:nvSpPr>
          <p:cNvPr id="288796" name="Text Box 28">
            <a:extLst>
              <a:ext uri="{FF2B5EF4-FFF2-40B4-BE49-F238E27FC236}">
                <a16:creationId xmlns:a16="http://schemas.microsoft.com/office/drawing/2014/main" id="{A4009B75-4EE2-4338-97C7-27319816DC81}"/>
              </a:ext>
            </a:extLst>
          </p:cNvPr>
          <p:cNvSpPr txBox="1">
            <a:spLocks noChangeArrowheads="1"/>
          </p:cNvSpPr>
          <p:nvPr/>
        </p:nvSpPr>
        <p:spPr bwMode="auto">
          <a:xfrm>
            <a:off x="6477000" y="5334000"/>
            <a:ext cx="10826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CC0099"/>
                </a:solidFill>
              </a:rPr>
              <a:t>20 bits</a:t>
            </a:r>
          </a:p>
        </p:txBody>
      </p:sp>
    </p:spTree>
  </p:cSld>
  <p:clrMapOvr>
    <a:masterClrMapping/>
  </p:clrMapOvr>
  <p:transition spd="slow">
    <p:wip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8" name="Rectangle 2">
            <a:extLst>
              <a:ext uri="{FF2B5EF4-FFF2-40B4-BE49-F238E27FC236}">
                <a16:creationId xmlns:a16="http://schemas.microsoft.com/office/drawing/2014/main" id="{2A00077E-81BD-4D49-B38F-FC7FA2B392D8}"/>
              </a:ext>
            </a:extLst>
          </p:cNvPr>
          <p:cNvSpPr>
            <a:spLocks noGrp="1" noChangeArrowheads="1"/>
          </p:cNvSpPr>
          <p:nvPr>
            <p:ph type="title"/>
          </p:nvPr>
        </p:nvSpPr>
        <p:spPr/>
        <p:txBody>
          <a:bodyPr/>
          <a:lstStyle/>
          <a:p>
            <a:r>
              <a:rPr lang="en-US" altLang="en-US"/>
              <a:t>What code to use?</a:t>
            </a:r>
          </a:p>
        </p:txBody>
      </p:sp>
      <p:sp>
        <p:nvSpPr>
          <p:cNvPr id="265219" name="Rectangle 3">
            <a:extLst>
              <a:ext uri="{FF2B5EF4-FFF2-40B4-BE49-F238E27FC236}">
                <a16:creationId xmlns:a16="http://schemas.microsoft.com/office/drawing/2014/main" id="{43609D1D-C511-423B-BD8D-09C9B956A355}"/>
              </a:ext>
            </a:extLst>
          </p:cNvPr>
          <p:cNvSpPr>
            <a:spLocks noGrp="1" noChangeArrowheads="1"/>
          </p:cNvSpPr>
          <p:nvPr>
            <p:ph type="body" idx="1"/>
          </p:nvPr>
        </p:nvSpPr>
        <p:spPr/>
        <p:txBody>
          <a:bodyPr/>
          <a:lstStyle/>
          <a:p>
            <a:r>
              <a:rPr lang="en-US" altLang="en-US"/>
              <a:t>Question: Is there a variable-length code that makes the most efficient use of space?</a:t>
            </a:r>
          </a:p>
          <a:p>
            <a:endParaRPr lang="en-US" altLang="en-US"/>
          </a:p>
          <a:p>
            <a:endParaRPr lang="en-US" altLang="en-US"/>
          </a:p>
        </p:txBody>
      </p:sp>
      <p:sp>
        <p:nvSpPr>
          <p:cNvPr id="265220" name="Text Box 4">
            <a:extLst>
              <a:ext uri="{FF2B5EF4-FFF2-40B4-BE49-F238E27FC236}">
                <a16:creationId xmlns:a16="http://schemas.microsoft.com/office/drawing/2014/main" id="{1C260884-24FF-4388-A8CB-D0014C601BBA}"/>
              </a:ext>
            </a:extLst>
          </p:cNvPr>
          <p:cNvSpPr txBox="1">
            <a:spLocks noChangeArrowheads="1"/>
          </p:cNvSpPr>
          <p:nvPr/>
        </p:nvSpPr>
        <p:spPr bwMode="auto">
          <a:xfrm>
            <a:off x="3657600" y="3429000"/>
            <a:ext cx="2144713"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20000"/>
              </a:spcBef>
              <a:buClr>
                <a:srgbClr val="CC0099"/>
              </a:buClr>
              <a:buSzPct val="80000"/>
              <a:buFont typeface="Wingdings 2" panose="05020102010507070707" pitchFamily="18" charset="2"/>
              <a:buNone/>
            </a:pPr>
            <a:r>
              <a:rPr lang="en-US" altLang="en-US" b="1"/>
              <a:t>Answer: Yes!</a:t>
            </a:r>
            <a:endParaRPr lang="en-US" altLang="en-US"/>
          </a:p>
        </p:txBody>
      </p:sp>
    </p:spTree>
  </p:cSld>
  <p:clrMapOvr>
    <a:masterClrMapping/>
  </p:clrMapOvr>
  <p:transition spd="slow">
    <p:wip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2" name="Rectangle 2">
            <a:extLst>
              <a:ext uri="{FF2B5EF4-FFF2-40B4-BE49-F238E27FC236}">
                <a16:creationId xmlns:a16="http://schemas.microsoft.com/office/drawing/2014/main" id="{9AAB5652-2B05-4930-968A-E725F02CA67E}"/>
              </a:ext>
            </a:extLst>
          </p:cNvPr>
          <p:cNvSpPr>
            <a:spLocks noGrp="1" noChangeArrowheads="1"/>
          </p:cNvSpPr>
          <p:nvPr>
            <p:ph type="title"/>
          </p:nvPr>
        </p:nvSpPr>
        <p:spPr/>
        <p:txBody>
          <a:bodyPr/>
          <a:lstStyle/>
          <a:p>
            <a:r>
              <a:rPr lang="en-US" altLang="en-US"/>
              <a:t>Huffman coding tree</a:t>
            </a:r>
          </a:p>
        </p:txBody>
      </p:sp>
      <p:sp>
        <p:nvSpPr>
          <p:cNvPr id="266243" name="Rectangle 3">
            <a:extLst>
              <a:ext uri="{FF2B5EF4-FFF2-40B4-BE49-F238E27FC236}">
                <a16:creationId xmlns:a16="http://schemas.microsoft.com/office/drawing/2014/main" id="{37F898FE-0CF8-4666-B051-BCD85BD4FF5E}"/>
              </a:ext>
            </a:extLst>
          </p:cNvPr>
          <p:cNvSpPr>
            <a:spLocks noGrp="1" noChangeArrowheads="1"/>
          </p:cNvSpPr>
          <p:nvPr>
            <p:ph type="body" idx="1"/>
          </p:nvPr>
        </p:nvSpPr>
        <p:spPr/>
        <p:txBody>
          <a:bodyPr>
            <a:normAutofit lnSpcReduction="10000"/>
          </a:bodyPr>
          <a:lstStyle/>
          <a:p>
            <a:r>
              <a:rPr lang="en-US" altLang="en-US"/>
              <a:t>Binary tree</a:t>
            </a:r>
          </a:p>
          <a:p>
            <a:pPr lvl="1"/>
            <a:r>
              <a:rPr lang="en-US" altLang="en-US"/>
              <a:t>each leaf contains symbol (character)</a:t>
            </a:r>
          </a:p>
          <a:p>
            <a:pPr lvl="1"/>
            <a:r>
              <a:rPr lang="en-US" altLang="en-US"/>
              <a:t>label edge from node to left child with 0</a:t>
            </a:r>
          </a:p>
          <a:p>
            <a:pPr lvl="1"/>
            <a:r>
              <a:rPr lang="en-US" altLang="en-US"/>
              <a:t>label edge from node to right child with 1</a:t>
            </a:r>
          </a:p>
          <a:p>
            <a:r>
              <a:rPr lang="en-US" altLang="en-US"/>
              <a:t>Code for any symbol obtained by following path from root to the leaf containing symbol</a:t>
            </a:r>
          </a:p>
          <a:p>
            <a:r>
              <a:rPr lang="en-US" altLang="en-US"/>
              <a:t>Code has prefix property</a:t>
            </a:r>
          </a:p>
          <a:p>
            <a:pPr lvl="1"/>
            <a:r>
              <a:rPr lang="en-US" altLang="en-US"/>
              <a:t>leaf node cannot appear on path to another leaf</a:t>
            </a:r>
          </a:p>
          <a:p>
            <a:pPr lvl="1"/>
            <a:r>
              <a:rPr lang="en-US" altLang="en-US" i="1"/>
              <a:t>note</a:t>
            </a:r>
            <a:r>
              <a:rPr lang="en-US" altLang="en-US"/>
              <a:t>: fixed-length codes are represented by a complete Huffman tree and clearly have the prefix property</a:t>
            </a:r>
          </a:p>
        </p:txBody>
      </p:sp>
    </p:spTree>
  </p:cSld>
  <p:clrMapOvr>
    <a:masterClrMapping/>
  </p:clrMapOvr>
  <p:transition spd="slow">
    <p:wipe/>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8" name="Rectangle 4">
            <a:extLst>
              <a:ext uri="{FF2B5EF4-FFF2-40B4-BE49-F238E27FC236}">
                <a16:creationId xmlns:a16="http://schemas.microsoft.com/office/drawing/2014/main" id="{FF7E4C68-C042-421D-A2E1-A879FC418743}"/>
              </a:ext>
            </a:extLst>
          </p:cNvPr>
          <p:cNvSpPr>
            <a:spLocks noGrp="1" noChangeArrowheads="1"/>
          </p:cNvSpPr>
          <p:nvPr>
            <p:ph type="title"/>
          </p:nvPr>
        </p:nvSpPr>
        <p:spPr/>
        <p:txBody>
          <a:bodyPr/>
          <a:lstStyle/>
          <a:p>
            <a:r>
              <a:rPr lang="en-US" altLang="en-US"/>
              <a:t>Building a Huffman tree</a:t>
            </a:r>
          </a:p>
        </p:txBody>
      </p:sp>
      <p:sp>
        <p:nvSpPr>
          <p:cNvPr id="267269" name="Rectangle 5">
            <a:extLst>
              <a:ext uri="{FF2B5EF4-FFF2-40B4-BE49-F238E27FC236}">
                <a16:creationId xmlns:a16="http://schemas.microsoft.com/office/drawing/2014/main" id="{F479B0F7-61A1-48A9-9747-EBB8C0685603}"/>
              </a:ext>
            </a:extLst>
          </p:cNvPr>
          <p:cNvSpPr>
            <a:spLocks noGrp="1" noChangeArrowheads="1"/>
          </p:cNvSpPr>
          <p:nvPr>
            <p:ph type="body" idx="1"/>
          </p:nvPr>
        </p:nvSpPr>
        <p:spPr/>
        <p:txBody>
          <a:bodyPr>
            <a:normAutofit lnSpcReduction="10000"/>
          </a:bodyPr>
          <a:lstStyle/>
          <a:p>
            <a:r>
              <a:rPr lang="en-US" altLang="en-US"/>
              <a:t>Find frequencies of each symbol occurring in message</a:t>
            </a:r>
          </a:p>
          <a:p>
            <a:r>
              <a:rPr lang="en-US" altLang="en-US"/>
              <a:t>Begin with a forest of single node trees</a:t>
            </a:r>
          </a:p>
          <a:p>
            <a:pPr lvl="1"/>
            <a:r>
              <a:rPr lang="en-US" altLang="en-US"/>
              <a:t>each contain symbol and its frequency</a:t>
            </a:r>
          </a:p>
          <a:p>
            <a:r>
              <a:rPr lang="en-US" altLang="en-US"/>
              <a:t>Do recursively </a:t>
            </a:r>
          </a:p>
          <a:p>
            <a:pPr lvl="1"/>
            <a:r>
              <a:rPr lang="en-US" altLang="en-US"/>
              <a:t>select two trees with smallest frequency at the root </a:t>
            </a:r>
          </a:p>
          <a:p>
            <a:pPr lvl="1"/>
            <a:r>
              <a:rPr lang="en-US" altLang="en-US"/>
              <a:t>produce a new binary tree with the selected trees as children and store the sum of their frequencies in the root</a:t>
            </a:r>
          </a:p>
          <a:p>
            <a:r>
              <a:rPr lang="en-US" altLang="en-US"/>
              <a:t>Recursion ends when there is one tree</a:t>
            </a:r>
          </a:p>
          <a:p>
            <a:pPr lvl="1"/>
            <a:r>
              <a:rPr lang="en-US" altLang="en-US"/>
              <a:t>this is the Huffman coding tree</a:t>
            </a:r>
          </a:p>
        </p:txBody>
      </p:sp>
    </p:spTree>
  </p:cSld>
  <p:clrMapOvr>
    <a:masterClrMapping/>
  </p:clrMapOvr>
  <p:transition spd="slow">
    <p:wipe/>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Rectangle 2">
            <a:extLst>
              <a:ext uri="{FF2B5EF4-FFF2-40B4-BE49-F238E27FC236}">
                <a16:creationId xmlns:a16="http://schemas.microsoft.com/office/drawing/2014/main" id="{90F37C21-7D0F-4A1A-B7AB-707B3E230AA3}"/>
              </a:ext>
            </a:extLst>
          </p:cNvPr>
          <p:cNvSpPr>
            <a:spLocks noGrp="1" noChangeArrowheads="1"/>
          </p:cNvSpPr>
          <p:nvPr>
            <p:ph type="title"/>
          </p:nvPr>
        </p:nvSpPr>
        <p:spPr/>
        <p:txBody>
          <a:bodyPr/>
          <a:lstStyle/>
          <a:p>
            <a:r>
              <a:rPr lang="en-US" altLang="en-US"/>
              <a:t>Example</a:t>
            </a:r>
          </a:p>
        </p:txBody>
      </p:sp>
      <p:sp>
        <p:nvSpPr>
          <p:cNvPr id="268291" name="Rectangle 3">
            <a:extLst>
              <a:ext uri="{FF2B5EF4-FFF2-40B4-BE49-F238E27FC236}">
                <a16:creationId xmlns:a16="http://schemas.microsoft.com/office/drawing/2014/main" id="{3032FEFC-EA8D-49E8-81E6-060459B8B996}"/>
              </a:ext>
            </a:extLst>
          </p:cNvPr>
          <p:cNvSpPr>
            <a:spLocks noGrp="1" noChangeArrowheads="1"/>
          </p:cNvSpPr>
          <p:nvPr>
            <p:ph type="body" idx="1"/>
          </p:nvPr>
        </p:nvSpPr>
        <p:spPr/>
        <p:txBody>
          <a:bodyPr/>
          <a:lstStyle/>
          <a:p>
            <a:r>
              <a:rPr lang="en-US" altLang="en-US" dirty="0"/>
              <a:t>Build the Huffman coding tree for the message</a:t>
            </a:r>
          </a:p>
          <a:p>
            <a:pPr algn="ctr">
              <a:buFont typeface="Wingdings 2" panose="05020102010507070707" pitchFamily="18" charset="2"/>
              <a:buNone/>
            </a:pPr>
            <a:r>
              <a:rPr lang="en-US" altLang="en-US" i="1" dirty="0"/>
              <a:t>This is his message</a:t>
            </a:r>
          </a:p>
          <a:p>
            <a:r>
              <a:rPr lang="en-US" altLang="en-US" dirty="0"/>
              <a:t>Character frequencies</a:t>
            </a:r>
          </a:p>
          <a:p>
            <a:endParaRPr lang="en-US" altLang="en-US" dirty="0"/>
          </a:p>
          <a:p>
            <a:endParaRPr lang="en-US" altLang="en-US" dirty="0"/>
          </a:p>
          <a:p>
            <a:endParaRPr lang="en-US" altLang="en-US" dirty="0"/>
          </a:p>
        </p:txBody>
      </p:sp>
      <p:graphicFrame>
        <p:nvGraphicFramePr>
          <p:cNvPr id="268391" name="Group 103">
            <a:extLst>
              <a:ext uri="{FF2B5EF4-FFF2-40B4-BE49-F238E27FC236}">
                <a16:creationId xmlns:a16="http://schemas.microsoft.com/office/drawing/2014/main" id="{D73F9C62-0D45-4A76-89E9-B9C2BE3F43D8}"/>
              </a:ext>
            </a:extLst>
          </p:cNvPr>
          <p:cNvGraphicFramePr>
            <a:graphicFrameLocks noGrp="1"/>
          </p:cNvGraphicFramePr>
          <p:nvPr>
            <p:extLst>
              <p:ext uri="{D42A27DB-BD31-4B8C-83A1-F6EECF244321}">
                <p14:modId xmlns:p14="http://schemas.microsoft.com/office/powerpoint/2010/main" val="1668607377"/>
              </p:ext>
            </p:extLst>
          </p:nvPr>
        </p:nvGraphicFramePr>
        <p:xfrm>
          <a:off x="968375" y="3519182"/>
          <a:ext cx="6096000" cy="1371600"/>
        </p:xfrm>
        <a:graphic>
          <a:graphicData uri="http://schemas.openxmlformats.org/drawingml/2006/table">
            <a:tbl>
              <a:tblPr/>
              <a:tblGrid>
                <a:gridCol w="677863">
                  <a:extLst>
                    <a:ext uri="{9D8B030D-6E8A-4147-A177-3AD203B41FA5}">
                      <a16:colId xmlns:a16="http://schemas.microsoft.com/office/drawing/2014/main" val="2889669919"/>
                    </a:ext>
                  </a:extLst>
                </a:gridCol>
                <a:gridCol w="676275">
                  <a:extLst>
                    <a:ext uri="{9D8B030D-6E8A-4147-A177-3AD203B41FA5}">
                      <a16:colId xmlns:a16="http://schemas.microsoft.com/office/drawing/2014/main" val="1237901975"/>
                    </a:ext>
                  </a:extLst>
                </a:gridCol>
                <a:gridCol w="677862">
                  <a:extLst>
                    <a:ext uri="{9D8B030D-6E8A-4147-A177-3AD203B41FA5}">
                      <a16:colId xmlns:a16="http://schemas.microsoft.com/office/drawing/2014/main" val="3587826407"/>
                    </a:ext>
                  </a:extLst>
                </a:gridCol>
                <a:gridCol w="677863">
                  <a:extLst>
                    <a:ext uri="{9D8B030D-6E8A-4147-A177-3AD203B41FA5}">
                      <a16:colId xmlns:a16="http://schemas.microsoft.com/office/drawing/2014/main" val="656397544"/>
                    </a:ext>
                  </a:extLst>
                </a:gridCol>
                <a:gridCol w="676275">
                  <a:extLst>
                    <a:ext uri="{9D8B030D-6E8A-4147-A177-3AD203B41FA5}">
                      <a16:colId xmlns:a16="http://schemas.microsoft.com/office/drawing/2014/main" val="575514074"/>
                    </a:ext>
                  </a:extLst>
                </a:gridCol>
                <a:gridCol w="677862">
                  <a:extLst>
                    <a:ext uri="{9D8B030D-6E8A-4147-A177-3AD203B41FA5}">
                      <a16:colId xmlns:a16="http://schemas.microsoft.com/office/drawing/2014/main" val="2258874457"/>
                    </a:ext>
                  </a:extLst>
                </a:gridCol>
                <a:gridCol w="677863">
                  <a:extLst>
                    <a:ext uri="{9D8B030D-6E8A-4147-A177-3AD203B41FA5}">
                      <a16:colId xmlns:a16="http://schemas.microsoft.com/office/drawing/2014/main" val="2229448161"/>
                    </a:ext>
                  </a:extLst>
                </a:gridCol>
                <a:gridCol w="676275">
                  <a:extLst>
                    <a:ext uri="{9D8B030D-6E8A-4147-A177-3AD203B41FA5}">
                      <a16:colId xmlns:a16="http://schemas.microsoft.com/office/drawing/2014/main" val="351347869"/>
                    </a:ext>
                  </a:extLst>
                </a:gridCol>
                <a:gridCol w="677862">
                  <a:extLst>
                    <a:ext uri="{9D8B030D-6E8A-4147-A177-3AD203B41FA5}">
                      <a16:colId xmlns:a16="http://schemas.microsoft.com/office/drawing/2014/main" val="431424702"/>
                    </a:ext>
                  </a:extLst>
                </a:gridCol>
              </a:tblGrid>
              <a:tr h="6858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A</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E</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_</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I</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S</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rgbClr val="CC0099"/>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760618163"/>
                  </a:ext>
                </a:extLst>
              </a:tr>
              <a:tr h="685800">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1</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a:ln>
                            <a:noFill/>
                          </a:ln>
                          <a:solidFill>
                            <a:schemeClr val="tx1"/>
                          </a:solidFill>
                          <a:effectLst/>
                          <a:latin typeface="Arial" panose="020B0604020202020204" pitchFamily="34"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rgbClr val="CC0099"/>
                        </a:buClr>
                        <a:buSzPct val="80000"/>
                        <a:buFont typeface="Wingdings 2" panose="05020102010507070707" pitchFamily="18" charset="2"/>
                        <a:defRPr sz="2000">
                          <a:solidFill>
                            <a:schemeClr val="tx1"/>
                          </a:solidFill>
                          <a:latin typeface="Arial" panose="020B0604020202020204" pitchFamily="34" charset="0"/>
                        </a:defRPr>
                      </a:lvl1pPr>
                      <a:lvl2pPr>
                        <a:spcBef>
                          <a:spcPct val="20000"/>
                        </a:spcBef>
                        <a:buClr>
                          <a:srgbClr val="0000FF"/>
                        </a:buClr>
                        <a:buSzPct val="95000"/>
                        <a:buFont typeface="Wingdings" panose="05000000000000000000" pitchFamily="2" charset="2"/>
                        <a:defRPr sz="2000">
                          <a:solidFill>
                            <a:schemeClr val="tx1"/>
                          </a:solidFill>
                          <a:latin typeface="Arial" panose="020B0604020202020204" pitchFamily="34" charset="0"/>
                        </a:defRPr>
                      </a:lvl2pPr>
                      <a:lvl3pPr>
                        <a:spcBef>
                          <a:spcPct val="20000"/>
                        </a:spcBef>
                        <a:buClr>
                          <a:srgbClr val="9900CC"/>
                        </a:buClr>
                        <a:buFont typeface="Arial" panose="020B0604020202020204" pitchFamily="34" charset="0"/>
                        <a:defRPr sz="2000">
                          <a:solidFill>
                            <a:schemeClr val="tx1"/>
                          </a:solidFill>
                          <a:latin typeface="Arial" panose="020B0604020202020204" pitchFamily="34" charset="0"/>
                        </a:defRPr>
                      </a:lvl3pPr>
                      <a:lvl4pPr>
                        <a:spcBef>
                          <a:spcPct val="20000"/>
                        </a:spcBef>
                        <a:buClr>
                          <a:schemeClr val="tx1"/>
                        </a:buClr>
                        <a:buSzPct val="60000"/>
                        <a:buFont typeface="Wingdings" panose="05000000000000000000" pitchFamily="2" charset="2"/>
                        <a:defRPr sz="2000">
                          <a:solidFill>
                            <a:schemeClr val="tx1"/>
                          </a:solidFill>
                          <a:latin typeface="Arial" panose="020B0604020202020204" pitchFamily="34" charset="0"/>
                        </a:defRPr>
                      </a:lvl4pPr>
                      <a:lvl5pPr>
                        <a:spcBef>
                          <a:spcPct val="20000"/>
                        </a:spcBef>
                        <a:defRPr sz="2000">
                          <a:solidFill>
                            <a:schemeClr val="tx1"/>
                          </a:solidFill>
                          <a:latin typeface="Arial" panose="020B0604020202020204" pitchFamily="34" charset="0"/>
                        </a:defRPr>
                      </a:lvl5pPr>
                      <a:lvl6pPr fontAlgn="base">
                        <a:spcBef>
                          <a:spcPct val="20000"/>
                        </a:spcBef>
                        <a:spcAft>
                          <a:spcPct val="0"/>
                        </a:spcAft>
                        <a:defRPr sz="2000">
                          <a:solidFill>
                            <a:schemeClr val="tx1"/>
                          </a:solidFill>
                          <a:latin typeface="Arial" panose="020B0604020202020204" pitchFamily="34" charset="0"/>
                        </a:defRPr>
                      </a:lvl6pPr>
                      <a:lvl7pPr fontAlgn="base">
                        <a:spcBef>
                          <a:spcPct val="20000"/>
                        </a:spcBef>
                        <a:spcAft>
                          <a:spcPct val="0"/>
                        </a:spcAft>
                        <a:defRPr sz="2000">
                          <a:solidFill>
                            <a:schemeClr val="tx1"/>
                          </a:solidFill>
                          <a:latin typeface="Arial" panose="020B0604020202020204" pitchFamily="34" charset="0"/>
                        </a:defRPr>
                      </a:lvl7pPr>
                      <a:lvl8pPr fontAlgn="base">
                        <a:spcBef>
                          <a:spcPct val="20000"/>
                        </a:spcBef>
                        <a:spcAft>
                          <a:spcPct val="0"/>
                        </a:spcAft>
                        <a:defRPr sz="2000">
                          <a:solidFill>
                            <a:schemeClr val="tx1"/>
                          </a:solidFill>
                          <a:latin typeface="Arial" panose="020B0604020202020204" pitchFamily="34" charset="0"/>
                        </a:defRPr>
                      </a:lvl8pPr>
                      <a:lvl9pPr fontAlgn="base">
                        <a:spcBef>
                          <a:spcPct val="20000"/>
                        </a:spcBef>
                        <a:spcAft>
                          <a:spcPct val="0"/>
                        </a:spcAft>
                        <a:defRPr sz="2000">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20000"/>
                        </a:spcBef>
                        <a:spcAft>
                          <a:spcPct val="0"/>
                        </a:spcAft>
                        <a:buClr>
                          <a:srgbClr val="CC0099"/>
                        </a:buClr>
                        <a:buSzPct val="80000"/>
                        <a:buFont typeface="Wingdings 2" panose="05020102010507070707" pitchFamily="18" charset="2"/>
                        <a:buNone/>
                        <a:tabLst/>
                      </a:pPr>
                      <a:r>
                        <a:rPr kumimoji="0" lang="en-US" altLang="en-US" sz="2400" b="1" i="0" u="none" strike="noStrike" cap="none" normalizeH="0" baseline="0" dirty="0">
                          <a:ln>
                            <a:noFill/>
                          </a:ln>
                          <a:solidFill>
                            <a:schemeClr val="tx1"/>
                          </a:solidFill>
                          <a:effectLst/>
                          <a:latin typeface="Arial" panose="020B0604020202020204" pitchFamily="34" charset="0"/>
                        </a:rPr>
                        <a:t>5</a:t>
                      </a: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rgbClr val="CC0099"/>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10164172"/>
                  </a:ext>
                </a:extLst>
              </a:tr>
            </a:tbl>
          </a:graphicData>
        </a:graphic>
      </p:graphicFrame>
      <p:sp>
        <p:nvSpPr>
          <p:cNvPr id="268324" name="AutoShape 36">
            <a:extLst>
              <a:ext uri="{FF2B5EF4-FFF2-40B4-BE49-F238E27FC236}">
                <a16:creationId xmlns:a16="http://schemas.microsoft.com/office/drawing/2014/main" id="{167DB3C3-6D61-41D0-86D7-BEE744B34447}"/>
              </a:ext>
            </a:extLst>
          </p:cNvPr>
          <p:cNvSpPr>
            <a:spLocks noChangeArrowheads="1"/>
          </p:cNvSpPr>
          <p:nvPr/>
        </p:nvSpPr>
        <p:spPr bwMode="auto">
          <a:xfrm>
            <a:off x="3352800"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68325" name="AutoShape 37">
            <a:extLst>
              <a:ext uri="{FF2B5EF4-FFF2-40B4-BE49-F238E27FC236}">
                <a16:creationId xmlns:a16="http://schemas.microsoft.com/office/drawing/2014/main" id="{24A08AF4-9D05-461D-B12C-891148CC410E}"/>
              </a:ext>
            </a:extLst>
          </p:cNvPr>
          <p:cNvSpPr>
            <a:spLocks noChangeArrowheads="1"/>
          </p:cNvSpPr>
          <p:nvPr/>
        </p:nvSpPr>
        <p:spPr bwMode="auto">
          <a:xfrm>
            <a:off x="668338"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68326" name="AutoShape 38">
            <a:extLst>
              <a:ext uri="{FF2B5EF4-FFF2-40B4-BE49-F238E27FC236}">
                <a16:creationId xmlns:a16="http://schemas.microsoft.com/office/drawing/2014/main" id="{421D05DC-6622-41F6-9DA9-A4F4E7CE5DCD}"/>
              </a:ext>
            </a:extLst>
          </p:cNvPr>
          <p:cNvSpPr>
            <a:spLocks noChangeArrowheads="1"/>
          </p:cNvSpPr>
          <p:nvPr/>
        </p:nvSpPr>
        <p:spPr bwMode="auto">
          <a:xfrm>
            <a:off x="6065838"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68327" name="AutoShape 39">
            <a:extLst>
              <a:ext uri="{FF2B5EF4-FFF2-40B4-BE49-F238E27FC236}">
                <a16:creationId xmlns:a16="http://schemas.microsoft.com/office/drawing/2014/main" id="{7B9E7422-2ECB-4EF7-9A97-3DE3827C6507}"/>
              </a:ext>
            </a:extLst>
          </p:cNvPr>
          <p:cNvSpPr>
            <a:spLocks noChangeArrowheads="1"/>
          </p:cNvSpPr>
          <p:nvPr/>
        </p:nvSpPr>
        <p:spPr bwMode="auto">
          <a:xfrm>
            <a:off x="2478088"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68328" name="AutoShape 40">
            <a:extLst>
              <a:ext uri="{FF2B5EF4-FFF2-40B4-BE49-F238E27FC236}">
                <a16:creationId xmlns:a16="http://schemas.microsoft.com/office/drawing/2014/main" id="{8018469D-1491-43C1-9308-ECA647464D9C}"/>
              </a:ext>
            </a:extLst>
          </p:cNvPr>
          <p:cNvSpPr>
            <a:spLocks noChangeArrowheads="1"/>
          </p:cNvSpPr>
          <p:nvPr/>
        </p:nvSpPr>
        <p:spPr bwMode="auto">
          <a:xfrm>
            <a:off x="4267200"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68329" name="AutoShape 41">
            <a:extLst>
              <a:ext uri="{FF2B5EF4-FFF2-40B4-BE49-F238E27FC236}">
                <a16:creationId xmlns:a16="http://schemas.microsoft.com/office/drawing/2014/main" id="{DF35072A-D455-407C-A196-877D7EB4AD78}"/>
              </a:ext>
            </a:extLst>
          </p:cNvPr>
          <p:cNvSpPr>
            <a:spLocks noChangeArrowheads="1"/>
          </p:cNvSpPr>
          <p:nvPr/>
        </p:nvSpPr>
        <p:spPr bwMode="auto">
          <a:xfrm>
            <a:off x="1573213"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dirty="0"/>
              <a:t>1</a:t>
            </a:r>
          </a:p>
        </p:txBody>
      </p:sp>
      <p:sp>
        <p:nvSpPr>
          <p:cNvPr id="268330" name="AutoShape 42">
            <a:extLst>
              <a:ext uri="{FF2B5EF4-FFF2-40B4-BE49-F238E27FC236}">
                <a16:creationId xmlns:a16="http://schemas.microsoft.com/office/drawing/2014/main" id="{5B808504-018B-4A6B-80A1-59EACFB1BFED}"/>
              </a:ext>
            </a:extLst>
          </p:cNvPr>
          <p:cNvSpPr>
            <a:spLocks noChangeArrowheads="1"/>
          </p:cNvSpPr>
          <p:nvPr/>
        </p:nvSpPr>
        <p:spPr bwMode="auto">
          <a:xfrm>
            <a:off x="5164138"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68331" name="AutoShape 43">
            <a:extLst>
              <a:ext uri="{FF2B5EF4-FFF2-40B4-BE49-F238E27FC236}">
                <a16:creationId xmlns:a16="http://schemas.microsoft.com/office/drawing/2014/main" id="{DC9148CB-F760-4BAD-8684-B9ADB41DE81D}"/>
              </a:ext>
            </a:extLst>
          </p:cNvPr>
          <p:cNvSpPr>
            <a:spLocks noChangeArrowheads="1"/>
          </p:cNvSpPr>
          <p:nvPr/>
        </p:nvSpPr>
        <p:spPr bwMode="auto">
          <a:xfrm>
            <a:off x="6970713"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68332" name="AutoShape 44">
            <a:extLst>
              <a:ext uri="{FF2B5EF4-FFF2-40B4-BE49-F238E27FC236}">
                <a16:creationId xmlns:a16="http://schemas.microsoft.com/office/drawing/2014/main" id="{6450E285-3FBA-47A8-BE07-4F5A5A6E5387}"/>
              </a:ext>
            </a:extLst>
          </p:cNvPr>
          <p:cNvSpPr>
            <a:spLocks noChangeArrowheads="1"/>
          </p:cNvSpPr>
          <p:nvPr/>
        </p:nvSpPr>
        <p:spPr bwMode="auto">
          <a:xfrm>
            <a:off x="7875588" y="5105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68333" name="Text Box 45">
            <a:extLst>
              <a:ext uri="{FF2B5EF4-FFF2-40B4-BE49-F238E27FC236}">
                <a16:creationId xmlns:a16="http://schemas.microsoft.com/office/drawing/2014/main" id="{FA9D5607-AFC8-4F9A-B25D-1E4D712E28A1}"/>
              </a:ext>
            </a:extLst>
          </p:cNvPr>
          <p:cNvSpPr txBox="1">
            <a:spLocks noChangeArrowheads="1"/>
          </p:cNvSpPr>
          <p:nvPr/>
        </p:nvSpPr>
        <p:spPr bwMode="auto">
          <a:xfrm>
            <a:off x="720725" y="5602288"/>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68334" name="Text Box 46">
            <a:extLst>
              <a:ext uri="{FF2B5EF4-FFF2-40B4-BE49-F238E27FC236}">
                <a16:creationId xmlns:a16="http://schemas.microsoft.com/office/drawing/2014/main" id="{0D60F4CC-721C-4F7A-8D16-C77A9BABD99F}"/>
              </a:ext>
            </a:extLst>
          </p:cNvPr>
          <p:cNvSpPr txBox="1">
            <a:spLocks noChangeArrowheads="1"/>
          </p:cNvSpPr>
          <p:nvPr/>
        </p:nvSpPr>
        <p:spPr bwMode="auto">
          <a:xfrm>
            <a:off x="1609725" y="5602288"/>
            <a:ext cx="4206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68335" name="Text Box 47">
            <a:extLst>
              <a:ext uri="{FF2B5EF4-FFF2-40B4-BE49-F238E27FC236}">
                <a16:creationId xmlns:a16="http://schemas.microsoft.com/office/drawing/2014/main" id="{8729528B-9D57-4D8F-ADAF-CF90A6D56632}"/>
              </a:ext>
            </a:extLst>
          </p:cNvPr>
          <p:cNvSpPr txBox="1">
            <a:spLocks noChangeArrowheads="1"/>
          </p:cNvSpPr>
          <p:nvPr/>
        </p:nvSpPr>
        <p:spPr bwMode="auto">
          <a:xfrm>
            <a:off x="7064375" y="5602288"/>
            <a:ext cx="2682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68336" name="Text Box 48">
            <a:extLst>
              <a:ext uri="{FF2B5EF4-FFF2-40B4-BE49-F238E27FC236}">
                <a16:creationId xmlns:a16="http://schemas.microsoft.com/office/drawing/2014/main" id="{80960102-B273-4276-8F5A-B341539C92E8}"/>
              </a:ext>
            </a:extLst>
          </p:cNvPr>
          <p:cNvSpPr txBox="1">
            <a:spLocks noChangeArrowheads="1"/>
          </p:cNvSpPr>
          <p:nvPr/>
        </p:nvSpPr>
        <p:spPr bwMode="auto">
          <a:xfrm>
            <a:off x="7910513" y="56022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68337" name="Text Box 49">
            <a:extLst>
              <a:ext uri="{FF2B5EF4-FFF2-40B4-BE49-F238E27FC236}">
                <a16:creationId xmlns:a16="http://schemas.microsoft.com/office/drawing/2014/main" id="{101B1BD5-A406-4328-A7BE-49DE8508A938}"/>
              </a:ext>
            </a:extLst>
          </p:cNvPr>
          <p:cNvSpPr txBox="1">
            <a:spLocks noChangeArrowheads="1"/>
          </p:cNvSpPr>
          <p:nvPr/>
        </p:nvSpPr>
        <p:spPr bwMode="auto">
          <a:xfrm>
            <a:off x="2497138" y="5602288"/>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68338" name="Text Box 50">
            <a:extLst>
              <a:ext uri="{FF2B5EF4-FFF2-40B4-BE49-F238E27FC236}">
                <a16:creationId xmlns:a16="http://schemas.microsoft.com/office/drawing/2014/main" id="{8D60C93B-5F7B-412A-BA2B-7461B3679C6C}"/>
              </a:ext>
            </a:extLst>
          </p:cNvPr>
          <p:cNvSpPr txBox="1">
            <a:spLocks noChangeArrowheads="1"/>
          </p:cNvSpPr>
          <p:nvPr/>
        </p:nvSpPr>
        <p:spPr bwMode="auto">
          <a:xfrm>
            <a:off x="3440113" y="5602288"/>
            <a:ext cx="3698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68339" name="Text Box 51">
            <a:extLst>
              <a:ext uri="{FF2B5EF4-FFF2-40B4-BE49-F238E27FC236}">
                <a16:creationId xmlns:a16="http://schemas.microsoft.com/office/drawing/2014/main" id="{E146A91F-7C91-44F5-8F9D-45FC49C3F09B}"/>
              </a:ext>
            </a:extLst>
          </p:cNvPr>
          <p:cNvSpPr txBox="1">
            <a:spLocks noChangeArrowheads="1"/>
          </p:cNvSpPr>
          <p:nvPr/>
        </p:nvSpPr>
        <p:spPr bwMode="auto">
          <a:xfrm>
            <a:off x="4337050" y="56022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68340" name="Text Box 52">
            <a:extLst>
              <a:ext uri="{FF2B5EF4-FFF2-40B4-BE49-F238E27FC236}">
                <a16:creationId xmlns:a16="http://schemas.microsoft.com/office/drawing/2014/main" id="{EAD6C5B7-0586-4380-8E19-27B00F49C3C1}"/>
              </a:ext>
            </a:extLst>
          </p:cNvPr>
          <p:cNvSpPr txBox="1">
            <a:spLocks noChangeArrowheads="1"/>
          </p:cNvSpPr>
          <p:nvPr/>
        </p:nvSpPr>
        <p:spPr bwMode="auto">
          <a:xfrm>
            <a:off x="5216525" y="5602288"/>
            <a:ext cx="40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sp>
        <p:nvSpPr>
          <p:cNvPr id="268341" name="Text Box 53">
            <a:extLst>
              <a:ext uri="{FF2B5EF4-FFF2-40B4-BE49-F238E27FC236}">
                <a16:creationId xmlns:a16="http://schemas.microsoft.com/office/drawing/2014/main" id="{C75D87BB-E9AD-4531-90AE-C4ADDCFB34E9}"/>
              </a:ext>
            </a:extLst>
          </p:cNvPr>
          <p:cNvSpPr txBox="1">
            <a:spLocks noChangeArrowheads="1"/>
          </p:cNvSpPr>
          <p:nvPr/>
        </p:nvSpPr>
        <p:spPr bwMode="auto">
          <a:xfrm>
            <a:off x="6169025" y="56022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Tree>
  </p:cSld>
  <p:clrMapOvr>
    <a:masterClrMapping/>
  </p:clrMapOvr>
  <p:transition spd="slow">
    <p:wipe/>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Rectangle 2">
            <a:extLst>
              <a:ext uri="{FF2B5EF4-FFF2-40B4-BE49-F238E27FC236}">
                <a16:creationId xmlns:a16="http://schemas.microsoft.com/office/drawing/2014/main" id="{BEB1AE15-0751-4394-8079-C305D86FB0B5}"/>
              </a:ext>
            </a:extLst>
          </p:cNvPr>
          <p:cNvSpPr>
            <a:spLocks noGrp="1" noChangeArrowheads="1"/>
          </p:cNvSpPr>
          <p:nvPr>
            <p:ph type="title"/>
          </p:nvPr>
        </p:nvSpPr>
        <p:spPr/>
        <p:txBody>
          <a:bodyPr/>
          <a:lstStyle/>
          <a:p>
            <a:r>
              <a:rPr lang="en-US" altLang="en-US"/>
              <a:t>Step 1</a:t>
            </a:r>
          </a:p>
        </p:txBody>
      </p:sp>
      <p:cxnSp>
        <p:nvCxnSpPr>
          <p:cNvPr id="269315" name="AutoShape 3">
            <a:extLst>
              <a:ext uri="{FF2B5EF4-FFF2-40B4-BE49-F238E27FC236}">
                <a16:creationId xmlns:a16="http://schemas.microsoft.com/office/drawing/2014/main" id="{9EA63B2C-AE2D-4E6F-8DDC-EE4DCC208C65}"/>
              </a:ext>
            </a:extLst>
          </p:cNvPr>
          <p:cNvCxnSpPr>
            <a:cxnSpLocks noChangeShapeType="1"/>
          </p:cNvCxnSpPr>
          <p:nvPr/>
        </p:nvCxnSpPr>
        <p:spPr bwMode="auto">
          <a:xfrm flipV="1">
            <a:off x="91440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9316" name="AutoShape 4">
            <a:extLst>
              <a:ext uri="{FF2B5EF4-FFF2-40B4-BE49-F238E27FC236}">
                <a16:creationId xmlns:a16="http://schemas.microsoft.com/office/drawing/2014/main" id="{CFE07C6F-E4AE-4C12-A7D7-E0A25AAB1E3D}"/>
              </a:ext>
            </a:extLst>
          </p:cNvPr>
          <p:cNvCxnSpPr>
            <a:cxnSpLocks noChangeShapeType="1"/>
          </p:cNvCxnSpPr>
          <p:nvPr/>
        </p:nvCxnSpPr>
        <p:spPr bwMode="auto">
          <a:xfrm flipH="1" flipV="1">
            <a:off x="137160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69317" name="AutoShape 5">
            <a:extLst>
              <a:ext uri="{FF2B5EF4-FFF2-40B4-BE49-F238E27FC236}">
                <a16:creationId xmlns:a16="http://schemas.microsoft.com/office/drawing/2014/main" id="{8884375C-2783-4165-AA0D-8EF3F208A0D8}"/>
              </a:ext>
            </a:extLst>
          </p:cNvPr>
          <p:cNvSpPr>
            <a:spLocks noChangeArrowheads="1"/>
          </p:cNvSpPr>
          <p:nvPr/>
        </p:nvSpPr>
        <p:spPr bwMode="auto">
          <a:xfrm>
            <a:off x="3370263"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69318" name="AutoShape 6">
            <a:extLst>
              <a:ext uri="{FF2B5EF4-FFF2-40B4-BE49-F238E27FC236}">
                <a16:creationId xmlns:a16="http://schemas.microsoft.com/office/drawing/2014/main" id="{C329F799-4AB5-4897-A682-07EF7EE9856A}"/>
              </a:ext>
            </a:extLst>
          </p:cNvPr>
          <p:cNvSpPr>
            <a:spLocks noChangeArrowheads="1"/>
          </p:cNvSpPr>
          <p:nvPr/>
        </p:nvSpPr>
        <p:spPr bwMode="auto">
          <a:xfrm>
            <a:off x="6858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69319" name="AutoShape 7">
            <a:extLst>
              <a:ext uri="{FF2B5EF4-FFF2-40B4-BE49-F238E27FC236}">
                <a16:creationId xmlns:a16="http://schemas.microsoft.com/office/drawing/2014/main" id="{534AB220-3145-484C-81F4-66FE26D84985}"/>
              </a:ext>
            </a:extLst>
          </p:cNvPr>
          <p:cNvSpPr>
            <a:spLocks noChangeArrowheads="1"/>
          </p:cNvSpPr>
          <p:nvPr/>
        </p:nvSpPr>
        <p:spPr bwMode="auto">
          <a:xfrm>
            <a:off x="60833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69320" name="AutoShape 8">
            <a:extLst>
              <a:ext uri="{FF2B5EF4-FFF2-40B4-BE49-F238E27FC236}">
                <a16:creationId xmlns:a16="http://schemas.microsoft.com/office/drawing/2014/main" id="{FCB8DEA8-BE93-473C-BE51-DDA48C208EDD}"/>
              </a:ext>
            </a:extLst>
          </p:cNvPr>
          <p:cNvSpPr>
            <a:spLocks noChangeArrowheads="1"/>
          </p:cNvSpPr>
          <p:nvPr/>
        </p:nvSpPr>
        <p:spPr bwMode="auto">
          <a:xfrm>
            <a:off x="24955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69321" name="AutoShape 9">
            <a:extLst>
              <a:ext uri="{FF2B5EF4-FFF2-40B4-BE49-F238E27FC236}">
                <a16:creationId xmlns:a16="http://schemas.microsoft.com/office/drawing/2014/main" id="{22945331-442F-425F-93FB-0E2291BFDBC4}"/>
              </a:ext>
            </a:extLst>
          </p:cNvPr>
          <p:cNvSpPr>
            <a:spLocks noChangeArrowheads="1"/>
          </p:cNvSpPr>
          <p:nvPr/>
        </p:nvSpPr>
        <p:spPr bwMode="auto">
          <a:xfrm>
            <a:off x="4284663"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69322" name="AutoShape 10">
            <a:extLst>
              <a:ext uri="{FF2B5EF4-FFF2-40B4-BE49-F238E27FC236}">
                <a16:creationId xmlns:a16="http://schemas.microsoft.com/office/drawing/2014/main" id="{39B5A9E8-547F-4F54-B0EE-CF91C6B4A649}"/>
              </a:ext>
            </a:extLst>
          </p:cNvPr>
          <p:cNvSpPr>
            <a:spLocks noChangeArrowheads="1"/>
          </p:cNvSpPr>
          <p:nvPr/>
        </p:nvSpPr>
        <p:spPr bwMode="auto">
          <a:xfrm>
            <a:off x="15906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69323" name="AutoShape 11">
            <a:extLst>
              <a:ext uri="{FF2B5EF4-FFF2-40B4-BE49-F238E27FC236}">
                <a16:creationId xmlns:a16="http://schemas.microsoft.com/office/drawing/2014/main" id="{AF973ADE-D134-413E-BBB0-C283394BF27A}"/>
              </a:ext>
            </a:extLst>
          </p:cNvPr>
          <p:cNvSpPr>
            <a:spLocks noChangeArrowheads="1"/>
          </p:cNvSpPr>
          <p:nvPr/>
        </p:nvSpPr>
        <p:spPr bwMode="auto">
          <a:xfrm>
            <a:off x="51816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69324" name="AutoShape 12">
            <a:extLst>
              <a:ext uri="{FF2B5EF4-FFF2-40B4-BE49-F238E27FC236}">
                <a16:creationId xmlns:a16="http://schemas.microsoft.com/office/drawing/2014/main" id="{152FCAE5-A64A-44F5-BABF-FD2C86FB7C45}"/>
              </a:ext>
            </a:extLst>
          </p:cNvPr>
          <p:cNvSpPr>
            <a:spLocks noChangeArrowheads="1"/>
          </p:cNvSpPr>
          <p:nvPr/>
        </p:nvSpPr>
        <p:spPr bwMode="auto">
          <a:xfrm>
            <a:off x="69881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69325" name="AutoShape 13">
            <a:extLst>
              <a:ext uri="{FF2B5EF4-FFF2-40B4-BE49-F238E27FC236}">
                <a16:creationId xmlns:a16="http://schemas.microsoft.com/office/drawing/2014/main" id="{79E53004-20D9-408E-9D8A-8EFBC4E1B86F}"/>
              </a:ext>
            </a:extLst>
          </p:cNvPr>
          <p:cNvSpPr>
            <a:spLocks noChangeArrowheads="1"/>
          </p:cNvSpPr>
          <p:nvPr/>
        </p:nvSpPr>
        <p:spPr bwMode="auto">
          <a:xfrm>
            <a:off x="78930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69326" name="Text Box 14">
            <a:extLst>
              <a:ext uri="{FF2B5EF4-FFF2-40B4-BE49-F238E27FC236}">
                <a16:creationId xmlns:a16="http://schemas.microsoft.com/office/drawing/2014/main" id="{2C87301A-3F39-4C67-9039-20BAA117AC32}"/>
              </a:ext>
            </a:extLst>
          </p:cNvPr>
          <p:cNvSpPr txBox="1">
            <a:spLocks noChangeArrowheads="1"/>
          </p:cNvSpPr>
          <p:nvPr/>
        </p:nvSpPr>
        <p:spPr bwMode="auto">
          <a:xfrm>
            <a:off x="738188" y="605948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69327" name="Text Box 15">
            <a:extLst>
              <a:ext uri="{FF2B5EF4-FFF2-40B4-BE49-F238E27FC236}">
                <a16:creationId xmlns:a16="http://schemas.microsoft.com/office/drawing/2014/main" id="{8FA5F7A0-E513-45B7-BFF3-0F2E4DBADAF4}"/>
              </a:ext>
            </a:extLst>
          </p:cNvPr>
          <p:cNvSpPr txBox="1">
            <a:spLocks noChangeArrowheads="1"/>
          </p:cNvSpPr>
          <p:nvPr/>
        </p:nvSpPr>
        <p:spPr bwMode="auto">
          <a:xfrm>
            <a:off x="1627188" y="6059488"/>
            <a:ext cx="42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69328" name="Text Box 16">
            <a:extLst>
              <a:ext uri="{FF2B5EF4-FFF2-40B4-BE49-F238E27FC236}">
                <a16:creationId xmlns:a16="http://schemas.microsoft.com/office/drawing/2014/main" id="{F0069765-689B-41C9-B064-764F20FD5F65}"/>
              </a:ext>
            </a:extLst>
          </p:cNvPr>
          <p:cNvSpPr txBox="1">
            <a:spLocks noChangeArrowheads="1"/>
          </p:cNvSpPr>
          <p:nvPr/>
        </p:nvSpPr>
        <p:spPr bwMode="auto">
          <a:xfrm>
            <a:off x="7081838" y="605948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69329" name="Text Box 17">
            <a:extLst>
              <a:ext uri="{FF2B5EF4-FFF2-40B4-BE49-F238E27FC236}">
                <a16:creationId xmlns:a16="http://schemas.microsoft.com/office/drawing/2014/main" id="{85706321-1DD6-4C5D-881D-6B8536EED564}"/>
              </a:ext>
            </a:extLst>
          </p:cNvPr>
          <p:cNvSpPr txBox="1">
            <a:spLocks noChangeArrowheads="1"/>
          </p:cNvSpPr>
          <p:nvPr/>
        </p:nvSpPr>
        <p:spPr bwMode="auto">
          <a:xfrm>
            <a:off x="7927975" y="60594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69330" name="Text Box 18">
            <a:extLst>
              <a:ext uri="{FF2B5EF4-FFF2-40B4-BE49-F238E27FC236}">
                <a16:creationId xmlns:a16="http://schemas.microsoft.com/office/drawing/2014/main" id="{67774EF2-2C29-4C47-93E4-258872E4E4A1}"/>
              </a:ext>
            </a:extLst>
          </p:cNvPr>
          <p:cNvSpPr txBox="1">
            <a:spLocks noChangeArrowheads="1"/>
          </p:cNvSpPr>
          <p:nvPr/>
        </p:nvSpPr>
        <p:spPr bwMode="auto">
          <a:xfrm>
            <a:off x="2514600" y="6059488"/>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69331" name="Text Box 19">
            <a:extLst>
              <a:ext uri="{FF2B5EF4-FFF2-40B4-BE49-F238E27FC236}">
                <a16:creationId xmlns:a16="http://schemas.microsoft.com/office/drawing/2014/main" id="{79FD16E2-1F1F-4EF7-B332-23CBCA650AB6}"/>
              </a:ext>
            </a:extLst>
          </p:cNvPr>
          <p:cNvSpPr txBox="1">
            <a:spLocks noChangeArrowheads="1"/>
          </p:cNvSpPr>
          <p:nvPr/>
        </p:nvSpPr>
        <p:spPr bwMode="auto">
          <a:xfrm>
            <a:off x="3457575" y="6059488"/>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69332" name="Text Box 20">
            <a:extLst>
              <a:ext uri="{FF2B5EF4-FFF2-40B4-BE49-F238E27FC236}">
                <a16:creationId xmlns:a16="http://schemas.microsoft.com/office/drawing/2014/main" id="{7025D934-16BE-4DC4-8899-2BE5D7C5D82A}"/>
              </a:ext>
            </a:extLst>
          </p:cNvPr>
          <p:cNvSpPr txBox="1">
            <a:spLocks noChangeArrowheads="1"/>
          </p:cNvSpPr>
          <p:nvPr/>
        </p:nvSpPr>
        <p:spPr bwMode="auto">
          <a:xfrm>
            <a:off x="4354513" y="60594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69333" name="Text Box 21">
            <a:extLst>
              <a:ext uri="{FF2B5EF4-FFF2-40B4-BE49-F238E27FC236}">
                <a16:creationId xmlns:a16="http://schemas.microsoft.com/office/drawing/2014/main" id="{0E4E030D-1AD8-4921-B463-D281AE1BE5B5}"/>
              </a:ext>
            </a:extLst>
          </p:cNvPr>
          <p:cNvSpPr txBox="1">
            <a:spLocks noChangeArrowheads="1"/>
          </p:cNvSpPr>
          <p:nvPr/>
        </p:nvSpPr>
        <p:spPr bwMode="auto">
          <a:xfrm>
            <a:off x="5233988" y="605948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sp>
        <p:nvSpPr>
          <p:cNvPr id="269334" name="Text Box 22">
            <a:extLst>
              <a:ext uri="{FF2B5EF4-FFF2-40B4-BE49-F238E27FC236}">
                <a16:creationId xmlns:a16="http://schemas.microsoft.com/office/drawing/2014/main" id="{DE948349-B327-475F-858C-61DEE68F6135}"/>
              </a:ext>
            </a:extLst>
          </p:cNvPr>
          <p:cNvSpPr txBox="1">
            <a:spLocks noChangeArrowheads="1"/>
          </p:cNvSpPr>
          <p:nvPr/>
        </p:nvSpPr>
        <p:spPr bwMode="auto">
          <a:xfrm>
            <a:off x="6186488" y="60594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69335" name="AutoShape 23">
            <a:extLst>
              <a:ext uri="{FF2B5EF4-FFF2-40B4-BE49-F238E27FC236}">
                <a16:creationId xmlns:a16="http://schemas.microsoft.com/office/drawing/2014/main" id="{71780AF8-36A3-4CC1-BD2E-0E48E272C497}"/>
              </a:ext>
            </a:extLst>
          </p:cNvPr>
          <p:cNvSpPr>
            <a:spLocks noChangeArrowheads="1"/>
          </p:cNvSpPr>
          <p:nvPr/>
        </p:nvSpPr>
        <p:spPr bwMode="auto">
          <a:xfrm>
            <a:off x="11334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Tree>
  </p:cSld>
  <p:clrMapOvr>
    <a:masterClrMapping/>
  </p:clrMapOvr>
  <p:transition spd="slow">
    <p:wipe/>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Rectangle 2">
            <a:extLst>
              <a:ext uri="{FF2B5EF4-FFF2-40B4-BE49-F238E27FC236}">
                <a16:creationId xmlns:a16="http://schemas.microsoft.com/office/drawing/2014/main" id="{C353B082-F6C7-48EE-9DC6-8780132E50EB}"/>
              </a:ext>
            </a:extLst>
          </p:cNvPr>
          <p:cNvSpPr>
            <a:spLocks noGrp="1" noChangeArrowheads="1"/>
          </p:cNvSpPr>
          <p:nvPr>
            <p:ph type="title"/>
          </p:nvPr>
        </p:nvSpPr>
        <p:spPr/>
        <p:txBody>
          <a:bodyPr/>
          <a:lstStyle/>
          <a:p>
            <a:r>
              <a:rPr lang="en-US" altLang="en-US"/>
              <a:t>Step 2</a:t>
            </a:r>
          </a:p>
        </p:txBody>
      </p:sp>
      <p:cxnSp>
        <p:nvCxnSpPr>
          <p:cNvPr id="270339" name="AutoShape 3">
            <a:extLst>
              <a:ext uri="{FF2B5EF4-FFF2-40B4-BE49-F238E27FC236}">
                <a16:creationId xmlns:a16="http://schemas.microsoft.com/office/drawing/2014/main" id="{92E9426B-F31E-49EC-BA77-4CCD5C0D8660}"/>
              </a:ext>
            </a:extLst>
          </p:cNvPr>
          <p:cNvCxnSpPr>
            <a:cxnSpLocks noChangeShapeType="1"/>
          </p:cNvCxnSpPr>
          <p:nvPr/>
        </p:nvCxnSpPr>
        <p:spPr bwMode="auto">
          <a:xfrm flipV="1">
            <a:off x="91440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40" name="AutoShape 4">
            <a:extLst>
              <a:ext uri="{FF2B5EF4-FFF2-40B4-BE49-F238E27FC236}">
                <a16:creationId xmlns:a16="http://schemas.microsoft.com/office/drawing/2014/main" id="{31E6926E-4809-47E5-B6A9-DFAF5E943E0C}"/>
              </a:ext>
            </a:extLst>
          </p:cNvPr>
          <p:cNvCxnSpPr>
            <a:cxnSpLocks noChangeShapeType="1"/>
          </p:cNvCxnSpPr>
          <p:nvPr/>
        </p:nvCxnSpPr>
        <p:spPr bwMode="auto">
          <a:xfrm flipH="1" flipV="1">
            <a:off x="137160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0341" name="AutoShape 5">
            <a:extLst>
              <a:ext uri="{FF2B5EF4-FFF2-40B4-BE49-F238E27FC236}">
                <a16:creationId xmlns:a16="http://schemas.microsoft.com/office/drawing/2014/main" id="{1F19E27E-66F0-40C0-9327-EAC226172E23}"/>
              </a:ext>
            </a:extLst>
          </p:cNvPr>
          <p:cNvSpPr>
            <a:spLocks noChangeArrowheads="1"/>
          </p:cNvSpPr>
          <p:nvPr/>
        </p:nvSpPr>
        <p:spPr bwMode="auto">
          <a:xfrm>
            <a:off x="3370263"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0342" name="AutoShape 6">
            <a:extLst>
              <a:ext uri="{FF2B5EF4-FFF2-40B4-BE49-F238E27FC236}">
                <a16:creationId xmlns:a16="http://schemas.microsoft.com/office/drawing/2014/main" id="{ED5E4FD4-BE4D-4124-92FA-2AEA9D0BF0C2}"/>
              </a:ext>
            </a:extLst>
          </p:cNvPr>
          <p:cNvSpPr>
            <a:spLocks noChangeArrowheads="1"/>
          </p:cNvSpPr>
          <p:nvPr/>
        </p:nvSpPr>
        <p:spPr bwMode="auto">
          <a:xfrm>
            <a:off x="6858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0343" name="AutoShape 7">
            <a:extLst>
              <a:ext uri="{FF2B5EF4-FFF2-40B4-BE49-F238E27FC236}">
                <a16:creationId xmlns:a16="http://schemas.microsoft.com/office/drawing/2014/main" id="{74F043E7-471C-4283-9F04-461EA1FC78B8}"/>
              </a:ext>
            </a:extLst>
          </p:cNvPr>
          <p:cNvSpPr>
            <a:spLocks noChangeArrowheads="1"/>
          </p:cNvSpPr>
          <p:nvPr/>
        </p:nvSpPr>
        <p:spPr bwMode="auto">
          <a:xfrm>
            <a:off x="60833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70344" name="AutoShape 8">
            <a:extLst>
              <a:ext uri="{FF2B5EF4-FFF2-40B4-BE49-F238E27FC236}">
                <a16:creationId xmlns:a16="http://schemas.microsoft.com/office/drawing/2014/main" id="{07DA2FBC-FA05-4138-B164-988969477980}"/>
              </a:ext>
            </a:extLst>
          </p:cNvPr>
          <p:cNvSpPr>
            <a:spLocks noChangeArrowheads="1"/>
          </p:cNvSpPr>
          <p:nvPr/>
        </p:nvSpPr>
        <p:spPr bwMode="auto">
          <a:xfrm>
            <a:off x="24955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0345" name="AutoShape 9">
            <a:extLst>
              <a:ext uri="{FF2B5EF4-FFF2-40B4-BE49-F238E27FC236}">
                <a16:creationId xmlns:a16="http://schemas.microsoft.com/office/drawing/2014/main" id="{34C4272F-105E-4BC9-BEDC-6856EE15BE89}"/>
              </a:ext>
            </a:extLst>
          </p:cNvPr>
          <p:cNvSpPr>
            <a:spLocks noChangeArrowheads="1"/>
          </p:cNvSpPr>
          <p:nvPr/>
        </p:nvSpPr>
        <p:spPr bwMode="auto">
          <a:xfrm>
            <a:off x="4284663"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0346" name="AutoShape 10">
            <a:extLst>
              <a:ext uri="{FF2B5EF4-FFF2-40B4-BE49-F238E27FC236}">
                <a16:creationId xmlns:a16="http://schemas.microsoft.com/office/drawing/2014/main" id="{967E473D-AFE2-443B-898A-B502ABE2222A}"/>
              </a:ext>
            </a:extLst>
          </p:cNvPr>
          <p:cNvSpPr>
            <a:spLocks noChangeArrowheads="1"/>
          </p:cNvSpPr>
          <p:nvPr/>
        </p:nvSpPr>
        <p:spPr bwMode="auto">
          <a:xfrm>
            <a:off x="15906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0347" name="AutoShape 11">
            <a:extLst>
              <a:ext uri="{FF2B5EF4-FFF2-40B4-BE49-F238E27FC236}">
                <a16:creationId xmlns:a16="http://schemas.microsoft.com/office/drawing/2014/main" id="{0AFE8296-5422-47B3-AAF8-18D14609BA77}"/>
              </a:ext>
            </a:extLst>
          </p:cNvPr>
          <p:cNvSpPr>
            <a:spLocks noChangeArrowheads="1"/>
          </p:cNvSpPr>
          <p:nvPr/>
        </p:nvSpPr>
        <p:spPr bwMode="auto">
          <a:xfrm>
            <a:off x="51816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0348" name="AutoShape 12">
            <a:extLst>
              <a:ext uri="{FF2B5EF4-FFF2-40B4-BE49-F238E27FC236}">
                <a16:creationId xmlns:a16="http://schemas.microsoft.com/office/drawing/2014/main" id="{36BE2890-D2F1-42A1-BCB2-66E732DD73FD}"/>
              </a:ext>
            </a:extLst>
          </p:cNvPr>
          <p:cNvSpPr>
            <a:spLocks noChangeArrowheads="1"/>
          </p:cNvSpPr>
          <p:nvPr/>
        </p:nvSpPr>
        <p:spPr bwMode="auto">
          <a:xfrm>
            <a:off x="69881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70349" name="AutoShape 13">
            <a:extLst>
              <a:ext uri="{FF2B5EF4-FFF2-40B4-BE49-F238E27FC236}">
                <a16:creationId xmlns:a16="http://schemas.microsoft.com/office/drawing/2014/main" id="{B1FA0501-0876-435D-AFDC-5F677AA909CB}"/>
              </a:ext>
            </a:extLst>
          </p:cNvPr>
          <p:cNvSpPr>
            <a:spLocks noChangeArrowheads="1"/>
          </p:cNvSpPr>
          <p:nvPr/>
        </p:nvSpPr>
        <p:spPr bwMode="auto">
          <a:xfrm>
            <a:off x="78930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70350" name="Text Box 14">
            <a:extLst>
              <a:ext uri="{FF2B5EF4-FFF2-40B4-BE49-F238E27FC236}">
                <a16:creationId xmlns:a16="http://schemas.microsoft.com/office/drawing/2014/main" id="{6B8C2DC7-9695-4406-B6D3-1FC6E551AC97}"/>
              </a:ext>
            </a:extLst>
          </p:cNvPr>
          <p:cNvSpPr txBox="1">
            <a:spLocks noChangeArrowheads="1"/>
          </p:cNvSpPr>
          <p:nvPr/>
        </p:nvSpPr>
        <p:spPr bwMode="auto">
          <a:xfrm>
            <a:off x="738188" y="605948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70351" name="Text Box 15">
            <a:extLst>
              <a:ext uri="{FF2B5EF4-FFF2-40B4-BE49-F238E27FC236}">
                <a16:creationId xmlns:a16="http://schemas.microsoft.com/office/drawing/2014/main" id="{36252997-4F15-4D0E-B350-6C55FC78648C}"/>
              </a:ext>
            </a:extLst>
          </p:cNvPr>
          <p:cNvSpPr txBox="1">
            <a:spLocks noChangeArrowheads="1"/>
          </p:cNvSpPr>
          <p:nvPr/>
        </p:nvSpPr>
        <p:spPr bwMode="auto">
          <a:xfrm>
            <a:off x="1627188" y="6059488"/>
            <a:ext cx="42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70352" name="Text Box 16">
            <a:extLst>
              <a:ext uri="{FF2B5EF4-FFF2-40B4-BE49-F238E27FC236}">
                <a16:creationId xmlns:a16="http://schemas.microsoft.com/office/drawing/2014/main" id="{1D3A7FA0-DDEE-4847-A418-3F895B5E0FCF}"/>
              </a:ext>
            </a:extLst>
          </p:cNvPr>
          <p:cNvSpPr txBox="1">
            <a:spLocks noChangeArrowheads="1"/>
          </p:cNvSpPr>
          <p:nvPr/>
        </p:nvSpPr>
        <p:spPr bwMode="auto">
          <a:xfrm>
            <a:off x="7081838" y="605948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70353" name="Text Box 17">
            <a:extLst>
              <a:ext uri="{FF2B5EF4-FFF2-40B4-BE49-F238E27FC236}">
                <a16:creationId xmlns:a16="http://schemas.microsoft.com/office/drawing/2014/main" id="{44018144-D5BC-4E86-8B01-CEACFD318774}"/>
              </a:ext>
            </a:extLst>
          </p:cNvPr>
          <p:cNvSpPr txBox="1">
            <a:spLocks noChangeArrowheads="1"/>
          </p:cNvSpPr>
          <p:nvPr/>
        </p:nvSpPr>
        <p:spPr bwMode="auto">
          <a:xfrm>
            <a:off x="7927975" y="60594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70354" name="Text Box 18">
            <a:extLst>
              <a:ext uri="{FF2B5EF4-FFF2-40B4-BE49-F238E27FC236}">
                <a16:creationId xmlns:a16="http://schemas.microsoft.com/office/drawing/2014/main" id="{CBBA5AC9-C576-41C6-92D7-3B629799DEA7}"/>
              </a:ext>
            </a:extLst>
          </p:cNvPr>
          <p:cNvSpPr txBox="1">
            <a:spLocks noChangeArrowheads="1"/>
          </p:cNvSpPr>
          <p:nvPr/>
        </p:nvSpPr>
        <p:spPr bwMode="auto">
          <a:xfrm>
            <a:off x="2514600" y="6059488"/>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70355" name="Text Box 19">
            <a:extLst>
              <a:ext uri="{FF2B5EF4-FFF2-40B4-BE49-F238E27FC236}">
                <a16:creationId xmlns:a16="http://schemas.microsoft.com/office/drawing/2014/main" id="{1C88132C-A6E2-4952-9BAE-024F5BBF0510}"/>
              </a:ext>
            </a:extLst>
          </p:cNvPr>
          <p:cNvSpPr txBox="1">
            <a:spLocks noChangeArrowheads="1"/>
          </p:cNvSpPr>
          <p:nvPr/>
        </p:nvSpPr>
        <p:spPr bwMode="auto">
          <a:xfrm>
            <a:off x="3457575" y="6059488"/>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70356" name="Text Box 20">
            <a:extLst>
              <a:ext uri="{FF2B5EF4-FFF2-40B4-BE49-F238E27FC236}">
                <a16:creationId xmlns:a16="http://schemas.microsoft.com/office/drawing/2014/main" id="{92D896D6-E3F9-4E5D-A2EE-E6B5988FF2FE}"/>
              </a:ext>
            </a:extLst>
          </p:cNvPr>
          <p:cNvSpPr txBox="1">
            <a:spLocks noChangeArrowheads="1"/>
          </p:cNvSpPr>
          <p:nvPr/>
        </p:nvSpPr>
        <p:spPr bwMode="auto">
          <a:xfrm>
            <a:off x="4354513" y="60594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70357" name="Text Box 21">
            <a:extLst>
              <a:ext uri="{FF2B5EF4-FFF2-40B4-BE49-F238E27FC236}">
                <a16:creationId xmlns:a16="http://schemas.microsoft.com/office/drawing/2014/main" id="{A16DF910-458F-4400-BBA8-3FAAC7723093}"/>
              </a:ext>
            </a:extLst>
          </p:cNvPr>
          <p:cNvSpPr txBox="1">
            <a:spLocks noChangeArrowheads="1"/>
          </p:cNvSpPr>
          <p:nvPr/>
        </p:nvSpPr>
        <p:spPr bwMode="auto">
          <a:xfrm>
            <a:off x="5233988" y="605948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sp>
        <p:nvSpPr>
          <p:cNvPr id="270358" name="Text Box 22">
            <a:extLst>
              <a:ext uri="{FF2B5EF4-FFF2-40B4-BE49-F238E27FC236}">
                <a16:creationId xmlns:a16="http://schemas.microsoft.com/office/drawing/2014/main" id="{9DAACA44-1C65-4C37-A3B3-752DE7C4011A}"/>
              </a:ext>
            </a:extLst>
          </p:cNvPr>
          <p:cNvSpPr txBox="1">
            <a:spLocks noChangeArrowheads="1"/>
          </p:cNvSpPr>
          <p:nvPr/>
        </p:nvSpPr>
        <p:spPr bwMode="auto">
          <a:xfrm>
            <a:off x="6186488" y="60594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70359" name="AutoShape 23">
            <a:extLst>
              <a:ext uri="{FF2B5EF4-FFF2-40B4-BE49-F238E27FC236}">
                <a16:creationId xmlns:a16="http://schemas.microsoft.com/office/drawing/2014/main" id="{82D57483-CB0D-4C9B-ADA3-F9096E5BC817}"/>
              </a:ext>
            </a:extLst>
          </p:cNvPr>
          <p:cNvSpPr>
            <a:spLocks noChangeArrowheads="1"/>
          </p:cNvSpPr>
          <p:nvPr/>
        </p:nvSpPr>
        <p:spPr bwMode="auto">
          <a:xfrm>
            <a:off x="11334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0360" name="AutoShape 24">
            <a:extLst>
              <a:ext uri="{FF2B5EF4-FFF2-40B4-BE49-F238E27FC236}">
                <a16:creationId xmlns:a16="http://schemas.microsoft.com/office/drawing/2014/main" id="{A28FDF9D-6C26-461C-9F8F-ACB131363FE3}"/>
              </a:ext>
            </a:extLst>
          </p:cNvPr>
          <p:cNvCxnSpPr>
            <a:cxnSpLocks noChangeShapeType="1"/>
          </p:cNvCxnSpPr>
          <p:nvPr/>
        </p:nvCxnSpPr>
        <p:spPr bwMode="auto">
          <a:xfrm flipV="1">
            <a:off x="272415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0361" name="AutoShape 25">
            <a:extLst>
              <a:ext uri="{FF2B5EF4-FFF2-40B4-BE49-F238E27FC236}">
                <a16:creationId xmlns:a16="http://schemas.microsoft.com/office/drawing/2014/main" id="{27F784FD-81CB-4DF3-9D1C-A79B13407762}"/>
              </a:ext>
            </a:extLst>
          </p:cNvPr>
          <p:cNvCxnSpPr>
            <a:cxnSpLocks noChangeShapeType="1"/>
          </p:cNvCxnSpPr>
          <p:nvPr/>
        </p:nvCxnSpPr>
        <p:spPr bwMode="auto">
          <a:xfrm flipH="1" flipV="1">
            <a:off x="318135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0362" name="AutoShape 26">
            <a:extLst>
              <a:ext uri="{FF2B5EF4-FFF2-40B4-BE49-F238E27FC236}">
                <a16:creationId xmlns:a16="http://schemas.microsoft.com/office/drawing/2014/main" id="{9E676ED4-AF76-4564-B8B5-13F9A2484F02}"/>
              </a:ext>
            </a:extLst>
          </p:cNvPr>
          <p:cNvSpPr>
            <a:spLocks noChangeArrowheads="1"/>
          </p:cNvSpPr>
          <p:nvPr/>
        </p:nvSpPr>
        <p:spPr bwMode="auto">
          <a:xfrm>
            <a:off x="295275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Tree>
  </p:cSld>
  <p:clrMapOvr>
    <a:masterClrMapping/>
  </p:clrMapOvr>
  <p:transition spd="slow">
    <p:wip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2" name="Rectangle 2">
            <a:extLst>
              <a:ext uri="{FF2B5EF4-FFF2-40B4-BE49-F238E27FC236}">
                <a16:creationId xmlns:a16="http://schemas.microsoft.com/office/drawing/2014/main" id="{8DF1A671-EE12-4F6E-B5DC-949C82C1BA08}"/>
              </a:ext>
            </a:extLst>
          </p:cNvPr>
          <p:cNvSpPr>
            <a:spLocks noGrp="1" noChangeArrowheads="1"/>
          </p:cNvSpPr>
          <p:nvPr>
            <p:ph type="title"/>
          </p:nvPr>
        </p:nvSpPr>
        <p:spPr/>
        <p:txBody>
          <a:bodyPr/>
          <a:lstStyle/>
          <a:p>
            <a:r>
              <a:rPr lang="en-US" altLang="en-US"/>
              <a:t>Step 3</a:t>
            </a:r>
          </a:p>
        </p:txBody>
      </p:sp>
      <p:cxnSp>
        <p:nvCxnSpPr>
          <p:cNvPr id="271363" name="AutoShape 3">
            <a:extLst>
              <a:ext uri="{FF2B5EF4-FFF2-40B4-BE49-F238E27FC236}">
                <a16:creationId xmlns:a16="http://schemas.microsoft.com/office/drawing/2014/main" id="{9ADC36C0-2D4E-44B6-BB2A-DC14CF0698D3}"/>
              </a:ext>
            </a:extLst>
          </p:cNvPr>
          <p:cNvCxnSpPr>
            <a:cxnSpLocks noChangeShapeType="1"/>
          </p:cNvCxnSpPr>
          <p:nvPr/>
        </p:nvCxnSpPr>
        <p:spPr bwMode="auto">
          <a:xfrm flipV="1">
            <a:off x="91440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364" name="AutoShape 4">
            <a:extLst>
              <a:ext uri="{FF2B5EF4-FFF2-40B4-BE49-F238E27FC236}">
                <a16:creationId xmlns:a16="http://schemas.microsoft.com/office/drawing/2014/main" id="{5D3F53D5-1FE0-4235-BFD8-17238040C43F}"/>
              </a:ext>
            </a:extLst>
          </p:cNvPr>
          <p:cNvCxnSpPr>
            <a:cxnSpLocks noChangeShapeType="1"/>
          </p:cNvCxnSpPr>
          <p:nvPr/>
        </p:nvCxnSpPr>
        <p:spPr bwMode="auto">
          <a:xfrm flipH="1" flipV="1">
            <a:off x="137160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1365" name="AutoShape 5">
            <a:extLst>
              <a:ext uri="{FF2B5EF4-FFF2-40B4-BE49-F238E27FC236}">
                <a16:creationId xmlns:a16="http://schemas.microsoft.com/office/drawing/2014/main" id="{AC4E811F-8482-4BD6-AAC0-40181CA0AA8E}"/>
              </a:ext>
            </a:extLst>
          </p:cNvPr>
          <p:cNvSpPr>
            <a:spLocks noChangeArrowheads="1"/>
          </p:cNvSpPr>
          <p:nvPr/>
        </p:nvSpPr>
        <p:spPr bwMode="auto">
          <a:xfrm>
            <a:off x="3370263"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1366" name="AutoShape 6">
            <a:extLst>
              <a:ext uri="{FF2B5EF4-FFF2-40B4-BE49-F238E27FC236}">
                <a16:creationId xmlns:a16="http://schemas.microsoft.com/office/drawing/2014/main" id="{BBB157FA-BE17-4992-97B8-937DF6D9681F}"/>
              </a:ext>
            </a:extLst>
          </p:cNvPr>
          <p:cNvSpPr>
            <a:spLocks noChangeArrowheads="1"/>
          </p:cNvSpPr>
          <p:nvPr/>
        </p:nvSpPr>
        <p:spPr bwMode="auto">
          <a:xfrm>
            <a:off x="6858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1367" name="AutoShape 7">
            <a:extLst>
              <a:ext uri="{FF2B5EF4-FFF2-40B4-BE49-F238E27FC236}">
                <a16:creationId xmlns:a16="http://schemas.microsoft.com/office/drawing/2014/main" id="{A40A060D-0F0A-4852-ACFA-C9AB5A430B6D}"/>
              </a:ext>
            </a:extLst>
          </p:cNvPr>
          <p:cNvSpPr>
            <a:spLocks noChangeArrowheads="1"/>
          </p:cNvSpPr>
          <p:nvPr/>
        </p:nvSpPr>
        <p:spPr bwMode="auto">
          <a:xfrm>
            <a:off x="60833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71368" name="AutoShape 8">
            <a:extLst>
              <a:ext uri="{FF2B5EF4-FFF2-40B4-BE49-F238E27FC236}">
                <a16:creationId xmlns:a16="http://schemas.microsoft.com/office/drawing/2014/main" id="{F5C4167D-EF03-4E26-817B-05BB713CD15F}"/>
              </a:ext>
            </a:extLst>
          </p:cNvPr>
          <p:cNvSpPr>
            <a:spLocks noChangeArrowheads="1"/>
          </p:cNvSpPr>
          <p:nvPr/>
        </p:nvSpPr>
        <p:spPr bwMode="auto">
          <a:xfrm>
            <a:off x="24955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1369" name="AutoShape 9">
            <a:extLst>
              <a:ext uri="{FF2B5EF4-FFF2-40B4-BE49-F238E27FC236}">
                <a16:creationId xmlns:a16="http://schemas.microsoft.com/office/drawing/2014/main" id="{E0E66290-1FB1-4D9D-927D-E5E17D195F3A}"/>
              </a:ext>
            </a:extLst>
          </p:cNvPr>
          <p:cNvSpPr>
            <a:spLocks noChangeArrowheads="1"/>
          </p:cNvSpPr>
          <p:nvPr/>
        </p:nvSpPr>
        <p:spPr bwMode="auto">
          <a:xfrm>
            <a:off x="15906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1370" name="AutoShape 10">
            <a:extLst>
              <a:ext uri="{FF2B5EF4-FFF2-40B4-BE49-F238E27FC236}">
                <a16:creationId xmlns:a16="http://schemas.microsoft.com/office/drawing/2014/main" id="{09A98E59-2A58-4C37-B6E7-46E2384E19B1}"/>
              </a:ext>
            </a:extLst>
          </p:cNvPr>
          <p:cNvSpPr>
            <a:spLocks noChangeArrowheads="1"/>
          </p:cNvSpPr>
          <p:nvPr/>
        </p:nvSpPr>
        <p:spPr bwMode="auto">
          <a:xfrm>
            <a:off x="69881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71371" name="AutoShape 11">
            <a:extLst>
              <a:ext uri="{FF2B5EF4-FFF2-40B4-BE49-F238E27FC236}">
                <a16:creationId xmlns:a16="http://schemas.microsoft.com/office/drawing/2014/main" id="{6B4FE88E-F7EC-4E48-AE1D-D3A7DCF4412E}"/>
              </a:ext>
            </a:extLst>
          </p:cNvPr>
          <p:cNvSpPr>
            <a:spLocks noChangeArrowheads="1"/>
          </p:cNvSpPr>
          <p:nvPr/>
        </p:nvSpPr>
        <p:spPr bwMode="auto">
          <a:xfrm>
            <a:off x="78930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71372" name="Text Box 12">
            <a:extLst>
              <a:ext uri="{FF2B5EF4-FFF2-40B4-BE49-F238E27FC236}">
                <a16:creationId xmlns:a16="http://schemas.microsoft.com/office/drawing/2014/main" id="{22E9709B-CFCE-4A33-A098-41DA2AB885BF}"/>
              </a:ext>
            </a:extLst>
          </p:cNvPr>
          <p:cNvSpPr txBox="1">
            <a:spLocks noChangeArrowheads="1"/>
          </p:cNvSpPr>
          <p:nvPr/>
        </p:nvSpPr>
        <p:spPr bwMode="auto">
          <a:xfrm>
            <a:off x="738188" y="605948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71373" name="Text Box 13">
            <a:extLst>
              <a:ext uri="{FF2B5EF4-FFF2-40B4-BE49-F238E27FC236}">
                <a16:creationId xmlns:a16="http://schemas.microsoft.com/office/drawing/2014/main" id="{C62C62FD-3DCC-4BF6-8BFD-E8D580B34062}"/>
              </a:ext>
            </a:extLst>
          </p:cNvPr>
          <p:cNvSpPr txBox="1">
            <a:spLocks noChangeArrowheads="1"/>
          </p:cNvSpPr>
          <p:nvPr/>
        </p:nvSpPr>
        <p:spPr bwMode="auto">
          <a:xfrm>
            <a:off x="1627188" y="6059488"/>
            <a:ext cx="42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71374" name="Text Box 14">
            <a:extLst>
              <a:ext uri="{FF2B5EF4-FFF2-40B4-BE49-F238E27FC236}">
                <a16:creationId xmlns:a16="http://schemas.microsoft.com/office/drawing/2014/main" id="{84CD1406-E362-4C19-9737-409B6D693D98}"/>
              </a:ext>
            </a:extLst>
          </p:cNvPr>
          <p:cNvSpPr txBox="1">
            <a:spLocks noChangeArrowheads="1"/>
          </p:cNvSpPr>
          <p:nvPr/>
        </p:nvSpPr>
        <p:spPr bwMode="auto">
          <a:xfrm>
            <a:off x="7081838" y="605948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71375" name="Text Box 15">
            <a:extLst>
              <a:ext uri="{FF2B5EF4-FFF2-40B4-BE49-F238E27FC236}">
                <a16:creationId xmlns:a16="http://schemas.microsoft.com/office/drawing/2014/main" id="{3CFCC654-6CAF-4704-A271-051A06AAA3FE}"/>
              </a:ext>
            </a:extLst>
          </p:cNvPr>
          <p:cNvSpPr txBox="1">
            <a:spLocks noChangeArrowheads="1"/>
          </p:cNvSpPr>
          <p:nvPr/>
        </p:nvSpPr>
        <p:spPr bwMode="auto">
          <a:xfrm>
            <a:off x="7927975" y="60594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71376" name="Text Box 16">
            <a:extLst>
              <a:ext uri="{FF2B5EF4-FFF2-40B4-BE49-F238E27FC236}">
                <a16:creationId xmlns:a16="http://schemas.microsoft.com/office/drawing/2014/main" id="{1E059779-ED58-4F3D-A839-51ABEE4B0A93}"/>
              </a:ext>
            </a:extLst>
          </p:cNvPr>
          <p:cNvSpPr txBox="1">
            <a:spLocks noChangeArrowheads="1"/>
          </p:cNvSpPr>
          <p:nvPr/>
        </p:nvSpPr>
        <p:spPr bwMode="auto">
          <a:xfrm>
            <a:off x="2514600" y="6059488"/>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71377" name="Text Box 17">
            <a:extLst>
              <a:ext uri="{FF2B5EF4-FFF2-40B4-BE49-F238E27FC236}">
                <a16:creationId xmlns:a16="http://schemas.microsoft.com/office/drawing/2014/main" id="{996A565F-C96E-492D-8BAB-BFED74DBE75D}"/>
              </a:ext>
            </a:extLst>
          </p:cNvPr>
          <p:cNvSpPr txBox="1">
            <a:spLocks noChangeArrowheads="1"/>
          </p:cNvSpPr>
          <p:nvPr/>
        </p:nvSpPr>
        <p:spPr bwMode="auto">
          <a:xfrm>
            <a:off x="3457575" y="6059488"/>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71378" name="Text Box 18">
            <a:extLst>
              <a:ext uri="{FF2B5EF4-FFF2-40B4-BE49-F238E27FC236}">
                <a16:creationId xmlns:a16="http://schemas.microsoft.com/office/drawing/2014/main" id="{CA07D94B-F8D2-4E78-BE40-20BEE8EFE8E3}"/>
              </a:ext>
            </a:extLst>
          </p:cNvPr>
          <p:cNvSpPr txBox="1">
            <a:spLocks noChangeArrowheads="1"/>
          </p:cNvSpPr>
          <p:nvPr/>
        </p:nvSpPr>
        <p:spPr bwMode="auto">
          <a:xfrm>
            <a:off x="6186488" y="60594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71379" name="AutoShape 19">
            <a:extLst>
              <a:ext uri="{FF2B5EF4-FFF2-40B4-BE49-F238E27FC236}">
                <a16:creationId xmlns:a16="http://schemas.microsoft.com/office/drawing/2014/main" id="{695BCFEE-E5BB-4870-B337-37BF97AE7E2E}"/>
              </a:ext>
            </a:extLst>
          </p:cNvPr>
          <p:cNvSpPr>
            <a:spLocks noChangeArrowheads="1"/>
          </p:cNvSpPr>
          <p:nvPr/>
        </p:nvSpPr>
        <p:spPr bwMode="auto">
          <a:xfrm>
            <a:off x="11334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1380" name="AutoShape 20">
            <a:extLst>
              <a:ext uri="{FF2B5EF4-FFF2-40B4-BE49-F238E27FC236}">
                <a16:creationId xmlns:a16="http://schemas.microsoft.com/office/drawing/2014/main" id="{757A0BAC-13A0-47A4-A80E-982B3959903B}"/>
              </a:ext>
            </a:extLst>
          </p:cNvPr>
          <p:cNvCxnSpPr>
            <a:cxnSpLocks noChangeShapeType="1"/>
          </p:cNvCxnSpPr>
          <p:nvPr/>
        </p:nvCxnSpPr>
        <p:spPr bwMode="auto">
          <a:xfrm flipV="1">
            <a:off x="272415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381" name="AutoShape 21">
            <a:extLst>
              <a:ext uri="{FF2B5EF4-FFF2-40B4-BE49-F238E27FC236}">
                <a16:creationId xmlns:a16="http://schemas.microsoft.com/office/drawing/2014/main" id="{186F66F4-4954-40AF-A804-5CBD8B262B92}"/>
              </a:ext>
            </a:extLst>
          </p:cNvPr>
          <p:cNvCxnSpPr>
            <a:cxnSpLocks noChangeShapeType="1"/>
          </p:cNvCxnSpPr>
          <p:nvPr/>
        </p:nvCxnSpPr>
        <p:spPr bwMode="auto">
          <a:xfrm flipH="1" flipV="1">
            <a:off x="318135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1382" name="AutoShape 22">
            <a:extLst>
              <a:ext uri="{FF2B5EF4-FFF2-40B4-BE49-F238E27FC236}">
                <a16:creationId xmlns:a16="http://schemas.microsoft.com/office/drawing/2014/main" id="{E99AC396-EE11-4956-B4F7-078E028A6731}"/>
              </a:ext>
            </a:extLst>
          </p:cNvPr>
          <p:cNvSpPr>
            <a:spLocks noChangeArrowheads="1"/>
          </p:cNvSpPr>
          <p:nvPr/>
        </p:nvSpPr>
        <p:spPr bwMode="auto">
          <a:xfrm>
            <a:off x="295275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grpSp>
        <p:nvGrpSpPr>
          <p:cNvPr id="271383" name="Group 23">
            <a:extLst>
              <a:ext uri="{FF2B5EF4-FFF2-40B4-BE49-F238E27FC236}">
                <a16:creationId xmlns:a16="http://schemas.microsoft.com/office/drawing/2014/main" id="{7723E34B-FDCD-4ED8-9EC4-31F82764AC24}"/>
              </a:ext>
            </a:extLst>
          </p:cNvPr>
          <p:cNvGrpSpPr>
            <a:grpSpLocks/>
          </p:cNvGrpSpPr>
          <p:nvPr/>
        </p:nvGrpSpPr>
        <p:grpSpPr bwMode="auto">
          <a:xfrm>
            <a:off x="4284663" y="4371975"/>
            <a:ext cx="1354137" cy="2144713"/>
            <a:chOff x="2699" y="2754"/>
            <a:chExt cx="853" cy="1351"/>
          </a:xfrm>
        </p:grpSpPr>
        <p:sp>
          <p:nvSpPr>
            <p:cNvPr id="271384" name="AutoShape 24">
              <a:extLst>
                <a:ext uri="{FF2B5EF4-FFF2-40B4-BE49-F238E27FC236}">
                  <a16:creationId xmlns:a16="http://schemas.microsoft.com/office/drawing/2014/main" id="{494CD0D5-BBF1-4A03-9A3E-A278B9FF81D6}"/>
                </a:ext>
              </a:extLst>
            </p:cNvPr>
            <p:cNvSpPr>
              <a:spLocks noChangeArrowheads="1"/>
            </p:cNvSpPr>
            <p:nvPr/>
          </p:nvSpPr>
          <p:spPr bwMode="auto">
            <a:xfrm>
              <a:off x="2699"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1385" name="AutoShape 25">
              <a:extLst>
                <a:ext uri="{FF2B5EF4-FFF2-40B4-BE49-F238E27FC236}">
                  <a16:creationId xmlns:a16="http://schemas.microsoft.com/office/drawing/2014/main" id="{5899D10C-CED8-4F57-8E02-F966A20A630B}"/>
                </a:ext>
              </a:extLst>
            </p:cNvPr>
            <p:cNvSpPr>
              <a:spLocks noChangeArrowheads="1"/>
            </p:cNvSpPr>
            <p:nvPr/>
          </p:nvSpPr>
          <p:spPr bwMode="auto">
            <a:xfrm>
              <a:off x="3264"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1386" name="Text Box 26">
              <a:extLst>
                <a:ext uri="{FF2B5EF4-FFF2-40B4-BE49-F238E27FC236}">
                  <a16:creationId xmlns:a16="http://schemas.microsoft.com/office/drawing/2014/main" id="{BF4FACB5-0ADC-4F8A-A68E-1E245CA4B26B}"/>
                </a:ext>
              </a:extLst>
            </p:cNvPr>
            <p:cNvSpPr txBox="1">
              <a:spLocks noChangeArrowheads="1"/>
            </p:cNvSpPr>
            <p:nvPr/>
          </p:nvSpPr>
          <p:spPr bwMode="auto">
            <a:xfrm>
              <a:off x="2743" y="3817"/>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71387" name="Text Box 27">
              <a:extLst>
                <a:ext uri="{FF2B5EF4-FFF2-40B4-BE49-F238E27FC236}">
                  <a16:creationId xmlns:a16="http://schemas.microsoft.com/office/drawing/2014/main" id="{01D237FD-EF52-4923-B572-AD429B9B706A}"/>
                </a:ext>
              </a:extLst>
            </p:cNvPr>
            <p:cNvSpPr txBox="1">
              <a:spLocks noChangeArrowheads="1"/>
            </p:cNvSpPr>
            <p:nvPr/>
          </p:nvSpPr>
          <p:spPr bwMode="auto">
            <a:xfrm>
              <a:off x="3297" y="381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cxnSp>
          <p:nvCxnSpPr>
            <p:cNvPr id="271388" name="AutoShape 28">
              <a:extLst>
                <a:ext uri="{FF2B5EF4-FFF2-40B4-BE49-F238E27FC236}">
                  <a16:creationId xmlns:a16="http://schemas.microsoft.com/office/drawing/2014/main" id="{BD38E4DC-8C62-4B14-803D-495A40DA224A}"/>
                </a:ext>
              </a:extLst>
            </p:cNvPr>
            <p:cNvCxnSpPr>
              <a:cxnSpLocks noChangeShapeType="1"/>
            </p:cNvCxnSpPr>
            <p:nvPr/>
          </p:nvCxnSpPr>
          <p:spPr bwMode="auto">
            <a:xfrm flipV="1">
              <a:off x="2843"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1389" name="AutoShape 29">
              <a:extLst>
                <a:ext uri="{FF2B5EF4-FFF2-40B4-BE49-F238E27FC236}">
                  <a16:creationId xmlns:a16="http://schemas.microsoft.com/office/drawing/2014/main" id="{85B2B483-7904-4765-BD79-DCFB7FEF856F}"/>
                </a:ext>
              </a:extLst>
            </p:cNvPr>
            <p:cNvCxnSpPr>
              <a:cxnSpLocks noChangeShapeType="1"/>
            </p:cNvCxnSpPr>
            <p:nvPr/>
          </p:nvCxnSpPr>
          <p:spPr bwMode="auto">
            <a:xfrm flipH="1" flipV="1">
              <a:off x="3131"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1390" name="AutoShape 30">
              <a:extLst>
                <a:ext uri="{FF2B5EF4-FFF2-40B4-BE49-F238E27FC236}">
                  <a16:creationId xmlns:a16="http://schemas.microsoft.com/office/drawing/2014/main" id="{3048DF41-9855-4208-B750-CAE8549D04D9}"/>
                </a:ext>
              </a:extLst>
            </p:cNvPr>
            <p:cNvSpPr>
              <a:spLocks noChangeArrowheads="1"/>
            </p:cNvSpPr>
            <p:nvPr/>
          </p:nvSpPr>
          <p:spPr bwMode="auto">
            <a:xfrm>
              <a:off x="2976"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spTree>
  </p:cSld>
  <p:clrMapOvr>
    <a:masterClrMapping/>
  </p:clrMapOvr>
  <p:transition spd="slow">
    <p:wip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2">
            <a:extLst>
              <a:ext uri="{FF2B5EF4-FFF2-40B4-BE49-F238E27FC236}">
                <a16:creationId xmlns:a16="http://schemas.microsoft.com/office/drawing/2014/main" id="{20928629-1BD6-4774-809A-ED950841D4DF}"/>
              </a:ext>
            </a:extLst>
          </p:cNvPr>
          <p:cNvSpPr>
            <a:spLocks noGrp="1" noChangeArrowheads="1"/>
          </p:cNvSpPr>
          <p:nvPr>
            <p:ph type="title"/>
          </p:nvPr>
        </p:nvSpPr>
        <p:spPr/>
        <p:txBody>
          <a:bodyPr/>
          <a:lstStyle/>
          <a:p>
            <a:r>
              <a:rPr lang="en-US" altLang="en-US"/>
              <a:t>Step 4</a:t>
            </a:r>
          </a:p>
        </p:txBody>
      </p:sp>
      <p:cxnSp>
        <p:nvCxnSpPr>
          <p:cNvPr id="272387" name="AutoShape 3">
            <a:extLst>
              <a:ext uri="{FF2B5EF4-FFF2-40B4-BE49-F238E27FC236}">
                <a16:creationId xmlns:a16="http://schemas.microsoft.com/office/drawing/2014/main" id="{D1B1DA6E-5612-4008-B634-434C227BE07D}"/>
              </a:ext>
            </a:extLst>
          </p:cNvPr>
          <p:cNvCxnSpPr>
            <a:cxnSpLocks noChangeShapeType="1"/>
          </p:cNvCxnSpPr>
          <p:nvPr/>
        </p:nvCxnSpPr>
        <p:spPr bwMode="auto">
          <a:xfrm flipV="1">
            <a:off x="91440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388" name="AutoShape 4">
            <a:extLst>
              <a:ext uri="{FF2B5EF4-FFF2-40B4-BE49-F238E27FC236}">
                <a16:creationId xmlns:a16="http://schemas.microsoft.com/office/drawing/2014/main" id="{28F17ED5-8A1F-446D-8CBB-792BEE48F78A}"/>
              </a:ext>
            </a:extLst>
          </p:cNvPr>
          <p:cNvCxnSpPr>
            <a:cxnSpLocks noChangeShapeType="1"/>
          </p:cNvCxnSpPr>
          <p:nvPr/>
        </p:nvCxnSpPr>
        <p:spPr bwMode="auto">
          <a:xfrm flipH="1" flipV="1">
            <a:off x="137160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2389" name="AutoShape 5">
            <a:extLst>
              <a:ext uri="{FF2B5EF4-FFF2-40B4-BE49-F238E27FC236}">
                <a16:creationId xmlns:a16="http://schemas.microsoft.com/office/drawing/2014/main" id="{284B6784-FA56-43DE-9B6A-F5BC6090DE91}"/>
              </a:ext>
            </a:extLst>
          </p:cNvPr>
          <p:cNvSpPr>
            <a:spLocks noChangeArrowheads="1"/>
          </p:cNvSpPr>
          <p:nvPr/>
        </p:nvSpPr>
        <p:spPr bwMode="auto">
          <a:xfrm>
            <a:off x="3370263"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2390" name="AutoShape 6">
            <a:extLst>
              <a:ext uri="{FF2B5EF4-FFF2-40B4-BE49-F238E27FC236}">
                <a16:creationId xmlns:a16="http://schemas.microsoft.com/office/drawing/2014/main" id="{042C86E0-4F35-4320-8E30-4307D49E0C52}"/>
              </a:ext>
            </a:extLst>
          </p:cNvPr>
          <p:cNvSpPr>
            <a:spLocks noChangeArrowheads="1"/>
          </p:cNvSpPr>
          <p:nvPr/>
        </p:nvSpPr>
        <p:spPr bwMode="auto">
          <a:xfrm>
            <a:off x="6858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2391" name="AutoShape 7">
            <a:extLst>
              <a:ext uri="{FF2B5EF4-FFF2-40B4-BE49-F238E27FC236}">
                <a16:creationId xmlns:a16="http://schemas.microsoft.com/office/drawing/2014/main" id="{DF2325C0-D0FC-42CE-8861-8E934A7ACABD}"/>
              </a:ext>
            </a:extLst>
          </p:cNvPr>
          <p:cNvSpPr>
            <a:spLocks noChangeArrowheads="1"/>
          </p:cNvSpPr>
          <p:nvPr/>
        </p:nvSpPr>
        <p:spPr bwMode="auto">
          <a:xfrm>
            <a:off x="60833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72392" name="AutoShape 8">
            <a:extLst>
              <a:ext uri="{FF2B5EF4-FFF2-40B4-BE49-F238E27FC236}">
                <a16:creationId xmlns:a16="http://schemas.microsoft.com/office/drawing/2014/main" id="{74FEE8B7-A212-4F29-A417-EA2DAA6D24EC}"/>
              </a:ext>
            </a:extLst>
          </p:cNvPr>
          <p:cNvSpPr>
            <a:spLocks noChangeArrowheads="1"/>
          </p:cNvSpPr>
          <p:nvPr/>
        </p:nvSpPr>
        <p:spPr bwMode="auto">
          <a:xfrm>
            <a:off x="24955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2393" name="AutoShape 9">
            <a:extLst>
              <a:ext uri="{FF2B5EF4-FFF2-40B4-BE49-F238E27FC236}">
                <a16:creationId xmlns:a16="http://schemas.microsoft.com/office/drawing/2014/main" id="{4380B533-973D-4934-9E87-C8CA9DCAECA1}"/>
              </a:ext>
            </a:extLst>
          </p:cNvPr>
          <p:cNvSpPr>
            <a:spLocks noChangeArrowheads="1"/>
          </p:cNvSpPr>
          <p:nvPr/>
        </p:nvSpPr>
        <p:spPr bwMode="auto">
          <a:xfrm>
            <a:off x="15906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2394" name="AutoShape 10">
            <a:extLst>
              <a:ext uri="{FF2B5EF4-FFF2-40B4-BE49-F238E27FC236}">
                <a16:creationId xmlns:a16="http://schemas.microsoft.com/office/drawing/2014/main" id="{FCC25B3F-D44F-479B-BE4E-A862CBDE89D5}"/>
              </a:ext>
            </a:extLst>
          </p:cNvPr>
          <p:cNvSpPr>
            <a:spLocks noChangeArrowheads="1"/>
          </p:cNvSpPr>
          <p:nvPr/>
        </p:nvSpPr>
        <p:spPr bwMode="auto">
          <a:xfrm>
            <a:off x="69881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72395" name="AutoShape 11">
            <a:extLst>
              <a:ext uri="{FF2B5EF4-FFF2-40B4-BE49-F238E27FC236}">
                <a16:creationId xmlns:a16="http://schemas.microsoft.com/office/drawing/2014/main" id="{2E66F308-C0BD-4426-8847-06B09BF9590E}"/>
              </a:ext>
            </a:extLst>
          </p:cNvPr>
          <p:cNvSpPr>
            <a:spLocks noChangeArrowheads="1"/>
          </p:cNvSpPr>
          <p:nvPr/>
        </p:nvSpPr>
        <p:spPr bwMode="auto">
          <a:xfrm>
            <a:off x="78930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72396" name="Text Box 12">
            <a:extLst>
              <a:ext uri="{FF2B5EF4-FFF2-40B4-BE49-F238E27FC236}">
                <a16:creationId xmlns:a16="http://schemas.microsoft.com/office/drawing/2014/main" id="{A778B8E3-3AD6-47D8-BB02-E0A74391C27C}"/>
              </a:ext>
            </a:extLst>
          </p:cNvPr>
          <p:cNvSpPr txBox="1">
            <a:spLocks noChangeArrowheads="1"/>
          </p:cNvSpPr>
          <p:nvPr/>
        </p:nvSpPr>
        <p:spPr bwMode="auto">
          <a:xfrm>
            <a:off x="738188" y="605948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72397" name="Text Box 13">
            <a:extLst>
              <a:ext uri="{FF2B5EF4-FFF2-40B4-BE49-F238E27FC236}">
                <a16:creationId xmlns:a16="http://schemas.microsoft.com/office/drawing/2014/main" id="{0BDE3D84-F119-44F9-8C3B-01745E194470}"/>
              </a:ext>
            </a:extLst>
          </p:cNvPr>
          <p:cNvSpPr txBox="1">
            <a:spLocks noChangeArrowheads="1"/>
          </p:cNvSpPr>
          <p:nvPr/>
        </p:nvSpPr>
        <p:spPr bwMode="auto">
          <a:xfrm>
            <a:off x="1627188" y="6059488"/>
            <a:ext cx="42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72398" name="Text Box 14">
            <a:extLst>
              <a:ext uri="{FF2B5EF4-FFF2-40B4-BE49-F238E27FC236}">
                <a16:creationId xmlns:a16="http://schemas.microsoft.com/office/drawing/2014/main" id="{B3A91CDD-3C95-4428-A020-326791B596CE}"/>
              </a:ext>
            </a:extLst>
          </p:cNvPr>
          <p:cNvSpPr txBox="1">
            <a:spLocks noChangeArrowheads="1"/>
          </p:cNvSpPr>
          <p:nvPr/>
        </p:nvSpPr>
        <p:spPr bwMode="auto">
          <a:xfrm>
            <a:off x="7081838" y="605948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72399" name="Text Box 15">
            <a:extLst>
              <a:ext uri="{FF2B5EF4-FFF2-40B4-BE49-F238E27FC236}">
                <a16:creationId xmlns:a16="http://schemas.microsoft.com/office/drawing/2014/main" id="{51D2DD81-8E92-48C3-9200-62E4A2733ECE}"/>
              </a:ext>
            </a:extLst>
          </p:cNvPr>
          <p:cNvSpPr txBox="1">
            <a:spLocks noChangeArrowheads="1"/>
          </p:cNvSpPr>
          <p:nvPr/>
        </p:nvSpPr>
        <p:spPr bwMode="auto">
          <a:xfrm>
            <a:off x="7927975" y="60594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72400" name="Text Box 16">
            <a:extLst>
              <a:ext uri="{FF2B5EF4-FFF2-40B4-BE49-F238E27FC236}">
                <a16:creationId xmlns:a16="http://schemas.microsoft.com/office/drawing/2014/main" id="{745F64AB-152A-41B4-9DD6-34FACC636070}"/>
              </a:ext>
            </a:extLst>
          </p:cNvPr>
          <p:cNvSpPr txBox="1">
            <a:spLocks noChangeArrowheads="1"/>
          </p:cNvSpPr>
          <p:nvPr/>
        </p:nvSpPr>
        <p:spPr bwMode="auto">
          <a:xfrm>
            <a:off x="2514600" y="6059488"/>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72401" name="Text Box 17">
            <a:extLst>
              <a:ext uri="{FF2B5EF4-FFF2-40B4-BE49-F238E27FC236}">
                <a16:creationId xmlns:a16="http://schemas.microsoft.com/office/drawing/2014/main" id="{4B40B5A3-5501-403F-8AC8-4A3E422DAD30}"/>
              </a:ext>
            </a:extLst>
          </p:cNvPr>
          <p:cNvSpPr txBox="1">
            <a:spLocks noChangeArrowheads="1"/>
          </p:cNvSpPr>
          <p:nvPr/>
        </p:nvSpPr>
        <p:spPr bwMode="auto">
          <a:xfrm>
            <a:off x="3457575" y="6059488"/>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72402" name="Text Box 18">
            <a:extLst>
              <a:ext uri="{FF2B5EF4-FFF2-40B4-BE49-F238E27FC236}">
                <a16:creationId xmlns:a16="http://schemas.microsoft.com/office/drawing/2014/main" id="{E9719FED-18A0-4B1E-B30F-CEA389F77460}"/>
              </a:ext>
            </a:extLst>
          </p:cNvPr>
          <p:cNvSpPr txBox="1">
            <a:spLocks noChangeArrowheads="1"/>
          </p:cNvSpPr>
          <p:nvPr/>
        </p:nvSpPr>
        <p:spPr bwMode="auto">
          <a:xfrm>
            <a:off x="6186488" y="60594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72403" name="AutoShape 19">
            <a:extLst>
              <a:ext uri="{FF2B5EF4-FFF2-40B4-BE49-F238E27FC236}">
                <a16:creationId xmlns:a16="http://schemas.microsoft.com/office/drawing/2014/main" id="{8E0EF699-FB46-41F8-B74A-5BA4620CA29F}"/>
              </a:ext>
            </a:extLst>
          </p:cNvPr>
          <p:cNvSpPr>
            <a:spLocks noChangeArrowheads="1"/>
          </p:cNvSpPr>
          <p:nvPr/>
        </p:nvSpPr>
        <p:spPr bwMode="auto">
          <a:xfrm>
            <a:off x="11334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2404" name="AutoShape 20">
            <a:extLst>
              <a:ext uri="{FF2B5EF4-FFF2-40B4-BE49-F238E27FC236}">
                <a16:creationId xmlns:a16="http://schemas.microsoft.com/office/drawing/2014/main" id="{4C487C21-D836-4124-954C-9E7180FFC8AA}"/>
              </a:ext>
            </a:extLst>
          </p:cNvPr>
          <p:cNvCxnSpPr>
            <a:cxnSpLocks noChangeShapeType="1"/>
          </p:cNvCxnSpPr>
          <p:nvPr/>
        </p:nvCxnSpPr>
        <p:spPr bwMode="auto">
          <a:xfrm flipV="1">
            <a:off x="272415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405" name="AutoShape 21">
            <a:extLst>
              <a:ext uri="{FF2B5EF4-FFF2-40B4-BE49-F238E27FC236}">
                <a16:creationId xmlns:a16="http://schemas.microsoft.com/office/drawing/2014/main" id="{B6D330F3-F1E6-423A-B6C5-4277CDAE1F19}"/>
              </a:ext>
            </a:extLst>
          </p:cNvPr>
          <p:cNvCxnSpPr>
            <a:cxnSpLocks noChangeShapeType="1"/>
          </p:cNvCxnSpPr>
          <p:nvPr/>
        </p:nvCxnSpPr>
        <p:spPr bwMode="auto">
          <a:xfrm flipH="1" flipV="1">
            <a:off x="318135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2406" name="AutoShape 22">
            <a:extLst>
              <a:ext uri="{FF2B5EF4-FFF2-40B4-BE49-F238E27FC236}">
                <a16:creationId xmlns:a16="http://schemas.microsoft.com/office/drawing/2014/main" id="{839F1DBB-7064-47C6-BFF4-046C0A0D7466}"/>
              </a:ext>
            </a:extLst>
          </p:cNvPr>
          <p:cNvSpPr>
            <a:spLocks noChangeArrowheads="1"/>
          </p:cNvSpPr>
          <p:nvPr/>
        </p:nvSpPr>
        <p:spPr bwMode="auto">
          <a:xfrm>
            <a:off x="295275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grpSp>
        <p:nvGrpSpPr>
          <p:cNvPr id="272407" name="Group 23">
            <a:extLst>
              <a:ext uri="{FF2B5EF4-FFF2-40B4-BE49-F238E27FC236}">
                <a16:creationId xmlns:a16="http://schemas.microsoft.com/office/drawing/2014/main" id="{1D11CAB3-B308-432E-B7CD-603545F1F3A0}"/>
              </a:ext>
            </a:extLst>
          </p:cNvPr>
          <p:cNvGrpSpPr>
            <a:grpSpLocks/>
          </p:cNvGrpSpPr>
          <p:nvPr/>
        </p:nvGrpSpPr>
        <p:grpSpPr bwMode="auto">
          <a:xfrm>
            <a:off x="4284663" y="4371975"/>
            <a:ext cx="1354137" cy="2144713"/>
            <a:chOff x="2699" y="2754"/>
            <a:chExt cx="853" cy="1351"/>
          </a:xfrm>
        </p:grpSpPr>
        <p:sp>
          <p:nvSpPr>
            <p:cNvPr id="272408" name="AutoShape 24">
              <a:extLst>
                <a:ext uri="{FF2B5EF4-FFF2-40B4-BE49-F238E27FC236}">
                  <a16:creationId xmlns:a16="http://schemas.microsoft.com/office/drawing/2014/main" id="{C000161E-5C7A-4692-BF22-D284B57FB2CF}"/>
                </a:ext>
              </a:extLst>
            </p:cNvPr>
            <p:cNvSpPr>
              <a:spLocks noChangeArrowheads="1"/>
            </p:cNvSpPr>
            <p:nvPr/>
          </p:nvSpPr>
          <p:spPr bwMode="auto">
            <a:xfrm>
              <a:off x="2699"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2409" name="AutoShape 25">
              <a:extLst>
                <a:ext uri="{FF2B5EF4-FFF2-40B4-BE49-F238E27FC236}">
                  <a16:creationId xmlns:a16="http://schemas.microsoft.com/office/drawing/2014/main" id="{75104B62-4BBA-4451-A667-89103FB57BD7}"/>
                </a:ext>
              </a:extLst>
            </p:cNvPr>
            <p:cNvSpPr>
              <a:spLocks noChangeArrowheads="1"/>
            </p:cNvSpPr>
            <p:nvPr/>
          </p:nvSpPr>
          <p:spPr bwMode="auto">
            <a:xfrm>
              <a:off x="3264"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2410" name="Text Box 26">
              <a:extLst>
                <a:ext uri="{FF2B5EF4-FFF2-40B4-BE49-F238E27FC236}">
                  <a16:creationId xmlns:a16="http://schemas.microsoft.com/office/drawing/2014/main" id="{79F89394-5A2B-4B48-9B75-127B450D78A5}"/>
                </a:ext>
              </a:extLst>
            </p:cNvPr>
            <p:cNvSpPr txBox="1">
              <a:spLocks noChangeArrowheads="1"/>
            </p:cNvSpPr>
            <p:nvPr/>
          </p:nvSpPr>
          <p:spPr bwMode="auto">
            <a:xfrm>
              <a:off x="2743" y="3817"/>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72411" name="Text Box 27">
              <a:extLst>
                <a:ext uri="{FF2B5EF4-FFF2-40B4-BE49-F238E27FC236}">
                  <a16:creationId xmlns:a16="http://schemas.microsoft.com/office/drawing/2014/main" id="{088BDEC6-8B2E-4440-8C04-70D153066AF0}"/>
                </a:ext>
              </a:extLst>
            </p:cNvPr>
            <p:cNvSpPr txBox="1">
              <a:spLocks noChangeArrowheads="1"/>
            </p:cNvSpPr>
            <p:nvPr/>
          </p:nvSpPr>
          <p:spPr bwMode="auto">
            <a:xfrm>
              <a:off x="3297" y="381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cxnSp>
          <p:nvCxnSpPr>
            <p:cNvPr id="272412" name="AutoShape 28">
              <a:extLst>
                <a:ext uri="{FF2B5EF4-FFF2-40B4-BE49-F238E27FC236}">
                  <a16:creationId xmlns:a16="http://schemas.microsoft.com/office/drawing/2014/main" id="{890ADAEB-ADDC-404E-87F3-D24E88F0A4AC}"/>
                </a:ext>
              </a:extLst>
            </p:cNvPr>
            <p:cNvCxnSpPr>
              <a:cxnSpLocks noChangeShapeType="1"/>
            </p:cNvCxnSpPr>
            <p:nvPr/>
          </p:nvCxnSpPr>
          <p:spPr bwMode="auto">
            <a:xfrm flipV="1">
              <a:off x="2843"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413" name="AutoShape 29">
              <a:extLst>
                <a:ext uri="{FF2B5EF4-FFF2-40B4-BE49-F238E27FC236}">
                  <a16:creationId xmlns:a16="http://schemas.microsoft.com/office/drawing/2014/main" id="{9E4E94EA-97CF-4CA4-A2EF-B49C63D7956F}"/>
                </a:ext>
              </a:extLst>
            </p:cNvPr>
            <p:cNvCxnSpPr>
              <a:cxnSpLocks noChangeShapeType="1"/>
            </p:cNvCxnSpPr>
            <p:nvPr/>
          </p:nvCxnSpPr>
          <p:spPr bwMode="auto">
            <a:xfrm flipH="1" flipV="1">
              <a:off x="3131"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2414" name="AutoShape 30">
              <a:extLst>
                <a:ext uri="{FF2B5EF4-FFF2-40B4-BE49-F238E27FC236}">
                  <a16:creationId xmlns:a16="http://schemas.microsoft.com/office/drawing/2014/main" id="{8E512363-46D6-4F81-A133-37F265020723}"/>
                </a:ext>
              </a:extLst>
            </p:cNvPr>
            <p:cNvSpPr>
              <a:spLocks noChangeArrowheads="1"/>
            </p:cNvSpPr>
            <p:nvPr/>
          </p:nvSpPr>
          <p:spPr bwMode="auto">
            <a:xfrm>
              <a:off x="2976"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cxnSp>
        <p:nvCxnSpPr>
          <p:cNvPr id="272415" name="AutoShape 31">
            <a:extLst>
              <a:ext uri="{FF2B5EF4-FFF2-40B4-BE49-F238E27FC236}">
                <a16:creationId xmlns:a16="http://schemas.microsoft.com/office/drawing/2014/main" id="{C0FE9AF3-B8E1-4507-9A74-C40B31242E9F}"/>
              </a:ext>
            </a:extLst>
          </p:cNvPr>
          <p:cNvCxnSpPr>
            <a:cxnSpLocks noChangeShapeType="1"/>
          </p:cNvCxnSpPr>
          <p:nvPr/>
        </p:nvCxnSpPr>
        <p:spPr bwMode="auto">
          <a:xfrm flipV="1">
            <a:off x="1357313" y="3657600"/>
            <a:ext cx="923925" cy="714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2416" name="AutoShape 32">
            <a:extLst>
              <a:ext uri="{FF2B5EF4-FFF2-40B4-BE49-F238E27FC236}">
                <a16:creationId xmlns:a16="http://schemas.microsoft.com/office/drawing/2014/main" id="{D188CAE1-BD11-48E8-92BF-7BFBDC7CC1B4}"/>
              </a:ext>
            </a:extLst>
          </p:cNvPr>
          <p:cNvCxnSpPr>
            <a:cxnSpLocks noChangeShapeType="1"/>
          </p:cNvCxnSpPr>
          <p:nvPr/>
        </p:nvCxnSpPr>
        <p:spPr bwMode="auto">
          <a:xfrm flipH="1" flipV="1">
            <a:off x="2281238" y="3657600"/>
            <a:ext cx="900112" cy="714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2417" name="AutoShape 33">
            <a:extLst>
              <a:ext uri="{FF2B5EF4-FFF2-40B4-BE49-F238E27FC236}">
                <a16:creationId xmlns:a16="http://schemas.microsoft.com/office/drawing/2014/main" id="{235772FA-FFD9-4CF2-91A4-152F532E49E2}"/>
              </a:ext>
            </a:extLst>
          </p:cNvPr>
          <p:cNvSpPr>
            <a:spLocks noChangeArrowheads="1"/>
          </p:cNvSpPr>
          <p:nvPr/>
        </p:nvSpPr>
        <p:spPr bwMode="auto">
          <a:xfrm>
            <a:off x="2038350"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spTree>
  </p:cSld>
  <p:clrMapOvr>
    <a:masterClrMapping/>
  </p:clrMapOvr>
  <p:transition spd="slow">
    <p:wip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10" name="Rectangle 2">
            <a:extLst>
              <a:ext uri="{FF2B5EF4-FFF2-40B4-BE49-F238E27FC236}">
                <a16:creationId xmlns:a16="http://schemas.microsoft.com/office/drawing/2014/main" id="{5D077AA8-690E-4C16-8774-97C0694108DA}"/>
              </a:ext>
            </a:extLst>
          </p:cNvPr>
          <p:cNvSpPr>
            <a:spLocks noGrp="1" noChangeArrowheads="1"/>
          </p:cNvSpPr>
          <p:nvPr>
            <p:ph type="title"/>
          </p:nvPr>
        </p:nvSpPr>
        <p:spPr/>
        <p:txBody>
          <a:bodyPr/>
          <a:lstStyle/>
          <a:p>
            <a:r>
              <a:rPr lang="en-US" altLang="en-US"/>
              <a:t>Step 5</a:t>
            </a:r>
          </a:p>
        </p:txBody>
      </p:sp>
      <p:cxnSp>
        <p:nvCxnSpPr>
          <p:cNvPr id="273411" name="AutoShape 3">
            <a:extLst>
              <a:ext uri="{FF2B5EF4-FFF2-40B4-BE49-F238E27FC236}">
                <a16:creationId xmlns:a16="http://schemas.microsoft.com/office/drawing/2014/main" id="{02717312-7F47-49E3-8110-A3A35E8E5BC8}"/>
              </a:ext>
            </a:extLst>
          </p:cNvPr>
          <p:cNvCxnSpPr>
            <a:cxnSpLocks noChangeShapeType="1"/>
          </p:cNvCxnSpPr>
          <p:nvPr/>
        </p:nvCxnSpPr>
        <p:spPr bwMode="auto">
          <a:xfrm flipV="1">
            <a:off x="91440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412" name="AutoShape 4">
            <a:extLst>
              <a:ext uri="{FF2B5EF4-FFF2-40B4-BE49-F238E27FC236}">
                <a16:creationId xmlns:a16="http://schemas.microsoft.com/office/drawing/2014/main" id="{A9C338EF-EB59-4D5C-88BC-F0BAA81ED12A}"/>
              </a:ext>
            </a:extLst>
          </p:cNvPr>
          <p:cNvCxnSpPr>
            <a:cxnSpLocks noChangeShapeType="1"/>
          </p:cNvCxnSpPr>
          <p:nvPr/>
        </p:nvCxnSpPr>
        <p:spPr bwMode="auto">
          <a:xfrm flipH="1" flipV="1">
            <a:off x="137160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413" name="AutoShape 5">
            <a:extLst>
              <a:ext uri="{FF2B5EF4-FFF2-40B4-BE49-F238E27FC236}">
                <a16:creationId xmlns:a16="http://schemas.microsoft.com/office/drawing/2014/main" id="{A6D6EBB1-FAB9-4025-89DC-4335B9ABB95F}"/>
              </a:ext>
            </a:extLst>
          </p:cNvPr>
          <p:cNvSpPr>
            <a:spLocks noChangeArrowheads="1"/>
          </p:cNvSpPr>
          <p:nvPr/>
        </p:nvSpPr>
        <p:spPr bwMode="auto">
          <a:xfrm>
            <a:off x="3370263"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3414" name="AutoShape 6">
            <a:extLst>
              <a:ext uri="{FF2B5EF4-FFF2-40B4-BE49-F238E27FC236}">
                <a16:creationId xmlns:a16="http://schemas.microsoft.com/office/drawing/2014/main" id="{386D781B-1EA3-48AD-A195-B13005DA67F5}"/>
              </a:ext>
            </a:extLst>
          </p:cNvPr>
          <p:cNvSpPr>
            <a:spLocks noChangeArrowheads="1"/>
          </p:cNvSpPr>
          <p:nvPr/>
        </p:nvSpPr>
        <p:spPr bwMode="auto">
          <a:xfrm>
            <a:off x="6858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3415" name="AutoShape 7">
            <a:extLst>
              <a:ext uri="{FF2B5EF4-FFF2-40B4-BE49-F238E27FC236}">
                <a16:creationId xmlns:a16="http://schemas.microsoft.com/office/drawing/2014/main" id="{93F4D22C-9383-41F7-883C-F01AE49DFF63}"/>
              </a:ext>
            </a:extLst>
          </p:cNvPr>
          <p:cNvSpPr>
            <a:spLocks noChangeArrowheads="1"/>
          </p:cNvSpPr>
          <p:nvPr/>
        </p:nvSpPr>
        <p:spPr bwMode="auto">
          <a:xfrm>
            <a:off x="60833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73416" name="AutoShape 8">
            <a:extLst>
              <a:ext uri="{FF2B5EF4-FFF2-40B4-BE49-F238E27FC236}">
                <a16:creationId xmlns:a16="http://schemas.microsoft.com/office/drawing/2014/main" id="{CAE31F2B-1C5F-46D2-B91B-5CB397E02BA2}"/>
              </a:ext>
            </a:extLst>
          </p:cNvPr>
          <p:cNvSpPr>
            <a:spLocks noChangeArrowheads="1"/>
          </p:cNvSpPr>
          <p:nvPr/>
        </p:nvSpPr>
        <p:spPr bwMode="auto">
          <a:xfrm>
            <a:off x="24955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3417" name="AutoShape 9">
            <a:extLst>
              <a:ext uri="{FF2B5EF4-FFF2-40B4-BE49-F238E27FC236}">
                <a16:creationId xmlns:a16="http://schemas.microsoft.com/office/drawing/2014/main" id="{0940347A-3768-44CB-A6F4-86E9265EB502}"/>
              </a:ext>
            </a:extLst>
          </p:cNvPr>
          <p:cNvSpPr>
            <a:spLocks noChangeArrowheads="1"/>
          </p:cNvSpPr>
          <p:nvPr/>
        </p:nvSpPr>
        <p:spPr bwMode="auto">
          <a:xfrm>
            <a:off x="15906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3418" name="AutoShape 10">
            <a:extLst>
              <a:ext uri="{FF2B5EF4-FFF2-40B4-BE49-F238E27FC236}">
                <a16:creationId xmlns:a16="http://schemas.microsoft.com/office/drawing/2014/main" id="{709AC640-2244-4074-BA8C-E79F25246B69}"/>
              </a:ext>
            </a:extLst>
          </p:cNvPr>
          <p:cNvSpPr>
            <a:spLocks noChangeArrowheads="1"/>
          </p:cNvSpPr>
          <p:nvPr/>
        </p:nvSpPr>
        <p:spPr bwMode="auto">
          <a:xfrm>
            <a:off x="69881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73419" name="AutoShape 11">
            <a:extLst>
              <a:ext uri="{FF2B5EF4-FFF2-40B4-BE49-F238E27FC236}">
                <a16:creationId xmlns:a16="http://schemas.microsoft.com/office/drawing/2014/main" id="{984C3CA7-A989-4AF9-8687-51A294CA1AB4}"/>
              </a:ext>
            </a:extLst>
          </p:cNvPr>
          <p:cNvSpPr>
            <a:spLocks noChangeArrowheads="1"/>
          </p:cNvSpPr>
          <p:nvPr/>
        </p:nvSpPr>
        <p:spPr bwMode="auto">
          <a:xfrm>
            <a:off x="78930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73420" name="Text Box 12">
            <a:extLst>
              <a:ext uri="{FF2B5EF4-FFF2-40B4-BE49-F238E27FC236}">
                <a16:creationId xmlns:a16="http://schemas.microsoft.com/office/drawing/2014/main" id="{17E56D48-C84C-42F7-9338-7CE7C43C7E71}"/>
              </a:ext>
            </a:extLst>
          </p:cNvPr>
          <p:cNvSpPr txBox="1">
            <a:spLocks noChangeArrowheads="1"/>
          </p:cNvSpPr>
          <p:nvPr/>
        </p:nvSpPr>
        <p:spPr bwMode="auto">
          <a:xfrm>
            <a:off x="738188" y="6059488"/>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73421" name="Text Box 13">
            <a:extLst>
              <a:ext uri="{FF2B5EF4-FFF2-40B4-BE49-F238E27FC236}">
                <a16:creationId xmlns:a16="http://schemas.microsoft.com/office/drawing/2014/main" id="{27B19E02-64ED-455C-8208-3FE57B388F13}"/>
              </a:ext>
            </a:extLst>
          </p:cNvPr>
          <p:cNvSpPr txBox="1">
            <a:spLocks noChangeArrowheads="1"/>
          </p:cNvSpPr>
          <p:nvPr/>
        </p:nvSpPr>
        <p:spPr bwMode="auto">
          <a:xfrm>
            <a:off x="1627188" y="6059488"/>
            <a:ext cx="4206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73422" name="Text Box 14">
            <a:extLst>
              <a:ext uri="{FF2B5EF4-FFF2-40B4-BE49-F238E27FC236}">
                <a16:creationId xmlns:a16="http://schemas.microsoft.com/office/drawing/2014/main" id="{CC8A9E74-DB2D-4CFC-8B27-34D3DA811736}"/>
              </a:ext>
            </a:extLst>
          </p:cNvPr>
          <p:cNvSpPr txBox="1">
            <a:spLocks noChangeArrowheads="1"/>
          </p:cNvSpPr>
          <p:nvPr/>
        </p:nvSpPr>
        <p:spPr bwMode="auto">
          <a:xfrm>
            <a:off x="7081838" y="605948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73423" name="Text Box 15">
            <a:extLst>
              <a:ext uri="{FF2B5EF4-FFF2-40B4-BE49-F238E27FC236}">
                <a16:creationId xmlns:a16="http://schemas.microsoft.com/office/drawing/2014/main" id="{B6BFF1D1-CB33-481F-BCDD-C5B4F3E63A46}"/>
              </a:ext>
            </a:extLst>
          </p:cNvPr>
          <p:cNvSpPr txBox="1">
            <a:spLocks noChangeArrowheads="1"/>
          </p:cNvSpPr>
          <p:nvPr/>
        </p:nvSpPr>
        <p:spPr bwMode="auto">
          <a:xfrm>
            <a:off x="7927975" y="60594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73424" name="Text Box 16">
            <a:extLst>
              <a:ext uri="{FF2B5EF4-FFF2-40B4-BE49-F238E27FC236}">
                <a16:creationId xmlns:a16="http://schemas.microsoft.com/office/drawing/2014/main" id="{6B8BA139-5F56-4662-8D85-526BADB7B04C}"/>
              </a:ext>
            </a:extLst>
          </p:cNvPr>
          <p:cNvSpPr txBox="1">
            <a:spLocks noChangeArrowheads="1"/>
          </p:cNvSpPr>
          <p:nvPr/>
        </p:nvSpPr>
        <p:spPr bwMode="auto">
          <a:xfrm>
            <a:off x="2514600" y="6059488"/>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73425" name="Text Box 17">
            <a:extLst>
              <a:ext uri="{FF2B5EF4-FFF2-40B4-BE49-F238E27FC236}">
                <a16:creationId xmlns:a16="http://schemas.microsoft.com/office/drawing/2014/main" id="{2FE690B8-8157-4D56-BA2A-DC5C128EAA46}"/>
              </a:ext>
            </a:extLst>
          </p:cNvPr>
          <p:cNvSpPr txBox="1">
            <a:spLocks noChangeArrowheads="1"/>
          </p:cNvSpPr>
          <p:nvPr/>
        </p:nvSpPr>
        <p:spPr bwMode="auto">
          <a:xfrm>
            <a:off x="3457575" y="6059488"/>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73426" name="Text Box 18">
            <a:extLst>
              <a:ext uri="{FF2B5EF4-FFF2-40B4-BE49-F238E27FC236}">
                <a16:creationId xmlns:a16="http://schemas.microsoft.com/office/drawing/2014/main" id="{2CB061A3-FA9D-41BE-9557-BAD064D7E7D6}"/>
              </a:ext>
            </a:extLst>
          </p:cNvPr>
          <p:cNvSpPr txBox="1">
            <a:spLocks noChangeArrowheads="1"/>
          </p:cNvSpPr>
          <p:nvPr/>
        </p:nvSpPr>
        <p:spPr bwMode="auto">
          <a:xfrm>
            <a:off x="6186488" y="60594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73427" name="AutoShape 19">
            <a:extLst>
              <a:ext uri="{FF2B5EF4-FFF2-40B4-BE49-F238E27FC236}">
                <a16:creationId xmlns:a16="http://schemas.microsoft.com/office/drawing/2014/main" id="{147DDADD-CCE1-40CF-AEEB-7F8F1E043448}"/>
              </a:ext>
            </a:extLst>
          </p:cNvPr>
          <p:cNvSpPr>
            <a:spLocks noChangeArrowheads="1"/>
          </p:cNvSpPr>
          <p:nvPr/>
        </p:nvSpPr>
        <p:spPr bwMode="auto">
          <a:xfrm>
            <a:off x="11334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3428" name="AutoShape 20">
            <a:extLst>
              <a:ext uri="{FF2B5EF4-FFF2-40B4-BE49-F238E27FC236}">
                <a16:creationId xmlns:a16="http://schemas.microsoft.com/office/drawing/2014/main" id="{6B3572EA-20AD-4E09-AEA9-014926B4A1AE}"/>
              </a:ext>
            </a:extLst>
          </p:cNvPr>
          <p:cNvCxnSpPr>
            <a:cxnSpLocks noChangeShapeType="1"/>
          </p:cNvCxnSpPr>
          <p:nvPr/>
        </p:nvCxnSpPr>
        <p:spPr bwMode="auto">
          <a:xfrm flipV="1">
            <a:off x="272415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429" name="AutoShape 21">
            <a:extLst>
              <a:ext uri="{FF2B5EF4-FFF2-40B4-BE49-F238E27FC236}">
                <a16:creationId xmlns:a16="http://schemas.microsoft.com/office/drawing/2014/main" id="{DEF5E119-B6BF-4BC4-B5F3-82D43C0A8AEE}"/>
              </a:ext>
            </a:extLst>
          </p:cNvPr>
          <p:cNvCxnSpPr>
            <a:cxnSpLocks noChangeShapeType="1"/>
          </p:cNvCxnSpPr>
          <p:nvPr/>
        </p:nvCxnSpPr>
        <p:spPr bwMode="auto">
          <a:xfrm flipH="1" flipV="1">
            <a:off x="318135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430" name="AutoShape 22">
            <a:extLst>
              <a:ext uri="{FF2B5EF4-FFF2-40B4-BE49-F238E27FC236}">
                <a16:creationId xmlns:a16="http://schemas.microsoft.com/office/drawing/2014/main" id="{EFAB1168-6D34-409D-8AF4-19656C728CB0}"/>
              </a:ext>
            </a:extLst>
          </p:cNvPr>
          <p:cNvSpPr>
            <a:spLocks noChangeArrowheads="1"/>
          </p:cNvSpPr>
          <p:nvPr/>
        </p:nvSpPr>
        <p:spPr bwMode="auto">
          <a:xfrm>
            <a:off x="295275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grpSp>
        <p:nvGrpSpPr>
          <p:cNvPr id="273431" name="Group 23">
            <a:extLst>
              <a:ext uri="{FF2B5EF4-FFF2-40B4-BE49-F238E27FC236}">
                <a16:creationId xmlns:a16="http://schemas.microsoft.com/office/drawing/2014/main" id="{51A57986-FDBA-4DE5-995A-7AAA659FFA43}"/>
              </a:ext>
            </a:extLst>
          </p:cNvPr>
          <p:cNvGrpSpPr>
            <a:grpSpLocks/>
          </p:cNvGrpSpPr>
          <p:nvPr/>
        </p:nvGrpSpPr>
        <p:grpSpPr bwMode="auto">
          <a:xfrm>
            <a:off x="4284663" y="4371975"/>
            <a:ext cx="1354137" cy="2144713"/>
            <a:chOff x="2699" y="2754"/>
            <a:chExt cx="853" cy="1351"/>
          </a:xfrm>
        </p:grpSpPr>
        <p:sp>
          <p:nvSpPr>
            <p:cNvPr id="273432" name="AutoShape 24">
              <a:extLst>
                <a:ext uri="{FF2B5EF4-FFF2-40B4-BE49-F238E27FC236}">
                  <a16:creationId xmlns:a16="http://schemas.microsoft.com/office/drawing/2014/main" id="{ADCEA11A-27E3-479D-BC16-13916DC40DDF}"/>
                </a:ext>
              </a:extLst>
            </p:cNvPr>
            <p:cNvSpPr>
              <a:spLocks noChangeArrowheads="1"/>
            </p:cNvSpPr>
            <p:nvPr/>
          </p:nvSpPr>
          <p:spPr bwMode="auto">
            <a:xfrm>
              <a:off x="2699"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3433" name="AutoShape 25">
              <a:extLst>
                <a:ext uri="{FF2B5EF4-FFF2-40B4-BE49-F238E27FC236}">
                  <a16:creationId xmlns:a16="http://schemas.microsoft.com/office/drawing/2014/main" id="{8DB3B66E-800F-44D8-9593-28D63D7BD52B}"/>
                </a:ext>
              </a:extLst>
            </p:cNvPr>
            <p:cNvSpPr>
              <a:spLocks noChangeArrowheads="1"/>
            </p:cNvSpPr>
            <p:nvPr/>
          </p:nvSpPr>
          <p:spPr bwMode="auto">
            <a:xfrm>
              <a:off x="3264"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3434" name="Text Box 26">
              <a:extLst>
                <a:ext uri="{FF2B5EF4-FFF2-40B4-BE49-F238E27FC236}">
                  <a16:creationId xmlns:a16="http://schemas.microsoft.com/office/drawing/2014/main" id="{8B8239CD-068F-4644-AA08-2C7ED096D293}"/>
                </a:ext>
              </a:extLst>
            </p:cNvPr>
            <p:cNvSpPr txBox="1">
              <a:spLocks noChangeArrowheads="1"/>
            </p:cNvSpPr>
            <p:nvPr/>
          </p:nvSpPr>
          <p:spPr bwMode="auto">
            <a:xfrm>
              <a:off x="2743" y="3817"/>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73435" name="Text Box 27">
              <a:extLst>
                <a:ext uri="{FF2B5EF4-FFF2-40B4-BE49-F238E27FC236}">
                  <a16:creationId xmlns:a16="http://schemas.microsoft.com/office/drawing/2014/main" id="{C2DDB6EE-B52B-448B-9B15-8B4F82BFBB16}"/>
                </a:ext>
              </a:extLst>
            </p:cNvPr>
            <p:cNvSpPr txBox="1">
              <a:spLocks noChangeArrowheads="1"/>
            </p:cNvSpPr>
            <p:nvPr/>
          </p:nvSpPr>
          <p:spPr bwMode="auto">
            <a:xfrm>
              <a:off x="3297" y="381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cxnSp>
          <p:nvCxnSpPr>
            <p:cNvPr id="273436" name="AutoShape 28">
              <a:extLst>
                <a:ext uri="{FF2B5EF4-FFF2-40B4-BE49-F238E27FC236}">
                  <a16:creationId xmlns:a16="http://schemas.microsoft.com/office/drawing/2014/main" id="{1376CB74-9310-4117-9CC8-6ECDFBFC0178}"/>
                </a:ext>
              </a:extLst>
            </p:cNvPr>
            <p:cNvCxnSpPr>
              <a:cxnSpLocks noChangeShapeType="1"/>
            </p:cNvCxnSpPr>
            <p:nvPr/>
          </p:nvCxnSpPr>
          <p:spPr bwMode="auto">
            <a:xfrm flipV="1">
              <a:off x="2843"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437" name="AutoShape 29">
              <a:extLst>
                <a:ext uri="{FF2B5EF4-FFF2-40B4-BE49-F238E27FC236}">
                  <a16:creationId xmlns:a16="http://schemas.microsoft.com/office/drawing/2014/main" id="{B833770E-A6A3-43CA-9B39-F37D272D63ED}"/>
                </a:ext>
              </a:extLst>
            </p:cNvPr>
            <p:cNvCxnSpPr>
              <a:cxnSpLocks noChangeShapeType="1"/>
            </p:cNvCxnSpPr>
            <p:nvPr/>
          </p:nvCxnSpPr>
          <p:spPr bwMode="auto">
            <a:xfrm flipH="1" flipV="1">
              <a:off x="3131"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438" name="AutoShape 30">
              <a:extLst>
                <a:ext uri="{FF2B5EF4-FFF2-40B4-BE49-F238E27FC236}">
                  <a16:creationId xmlns:a16="http://schemas.microsoft.com/office/drawing/2014/main" id="{81C98C28-52CD-4B41-A3F8-BBF06BA8BE0B}"/>
                </a:ext>
              </a:extLst>
            </p:cNvPr>
            <p:cNvSpPr>
              <a:spLocks noChangeArrowheads="1"/>
            </p:cNvSpPr>
            <p:nvPr/>
          </p:nvSpPr>
          <p:spPr bwMode="auto">
            <a:xfrm>
              <a:off x="2976"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cxnSp>
        <p:nvCxnSpPr>
          <p:cNvPr id="273439" name="AutoShape 31">
            <a:extLst>
              <a:ext uri="{FF2B5EF4-FFF2-40B4-BE49-F238E27FC236}">
                <a16:creationId xmlns:a16="http://schemas.microsoft.com/office/drawing/2014/main" id="{7008C84E-4F03-4EDF-B5D6-B55B17553B5A}"/>
              </a:ext>
            </a:extLst>
          </p:cNvPr>
          <p:cNvCxnSpPr>
            <a:cxnSpLocks noChangeShapeType="1"/>
          </p:cNvCxnSpPr>
          <p:nvPr/>
        </p:nvCxnSpPr>
        <p:spPr bwMode="auto">
          <a:xfrm flipV="1">
            <a:off x="1357313" y="3657600"/>
            <a:ext cx="923925" cy="714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440" name="AutoShape 32">
            <a:extLst>
              <a:ext uri="{FF2B5EF4-FFF2-40B4-BE49-F238E27FC236}">
                <a16:creationId xmlns:a16="http://schemas.microsoft.com/office/drawing/2014/main" id="{FAFE2C42-D92B-4039-A98F-B3CA19B0454A}"/>
              </a:ext>
            </a:extLst>
          </p:cNvPr>
          <p:cNvCxnSpPr>
            <a:cxnSpLocks noChangeShapeType="1"/>
          </p:cNvCxnSpPr>
          <p:nvPr/>
        </p:nvCxnSpPr>
        <p:spPr bwMode="auto">
          <a:xfrm flipH="1" flipV="1">
            <a:off x="2281238" y="3657600"/>
            <a:ext cx="900112" cy="71437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441" name="AutoShape 33">
            <a:extLst>
              <a:ext uri="{FF2B5EF4-FFF2-40B4-BE49-F238E27FC236}">
                <a16:creationId xmlns:a16="http://schemas.microsoft.com/office/drawing/2014/main" id="{95772F26-776B-4AA8-A035-AC22C4BC69B4}"/>
              </a:ext>
            </a:extLst>
          </p:cNvPr>
          <p:cNvSpPr>
            <a:spLocks noChangeArrowheads="1"/>
          </p:cNvSpPr>
          <p:nvPr/>
        </p:nvSpPr>
        <p:spPr bwMode="auto">
          <a:xfrm>
            <a:off x="2038350"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cxnSp>
        <p:nvCxnSpPr>
          <p:cNvPr id="273442" name="AutoShape 34">
            <a:extLst>
              <a:ext uri="{FF2B5EF4-FFF2-40B4-BE49-F238E27FC236}">
                <a16:creationId xmlns:a16="http://schemas.microsoft.com/office/drawing/2014/main" id="{2EC953F8-18C3-4C32-9B49-A68C56DDC037}"/>
              </a:ext>
            </a:extLst>
          </p:cNvPr>
          <p:cNvCxnSpPr>
            <a:cxnSpLocks noChangeShapeType="1"/>
          </p:cNvCxnSpPr>
          <p:nvPr/>
        </p:nvCxnSpPr>
        <p:spPr bwMode="auto">
          <a:xfrm flipV="1">
            <a:off x="631190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3443" name="AutoShape 35">
            <a:extLst>
              <a:ext uri="{FF2B5EF4-FFF2-40B4-BE49-F238E27FC236}">
                <a16:creationId xmlns:a16="http://schemas.microsoft.com/office/drawing/2014/main" id="{5F85D58C-3337-4ABD-9B78-1CB54A641A99}"/>
              </a:ext>
            </a:extLst>
          </p:cNvPr>
          <p:cNvCxnSpPr>
            <a:cxnSpLocks noChangeShapeType="1"/>
          </p:cNvCxnSpPr>
          <p:nvPr/>
        </p:nvCxnSpPr>
        <p:spPr bwMode="auto">
          <a:xfrm flipH="1" flipV="1">
            <a:off x="676910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3444" name="AutoShape 36">
            <a:extLst>
              <a:ext uri="{FF2B5EF4-FFF2-40B4-BE49-F238E27FC236}">
                <a16:creationId xmlns:a16="http://schemas.microsoft.com/office/drawing/2014/main" id="{9823556A-D392-43BD-AC3B-4678AC18CAC9}"/>
              </a:ext>
            </a:extLst>
          </p:cNvPr>
          <p:cNvSpPr>
            <a:spLocks noChangeArrowheads="1"/>
          </p:cNvSpPr>
          <p:nvPr/>
        </p:nvSpPr>
        <p:spPr bwMode="auto">
          <a:xfrm>
            <a:off x="65309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6</a:t>
            </a:r>
          </a:p>
        </p:txBody>
      </p:sp>
    </p:spTree>
  </p:cSld>
  <p:clrMapOvr>
    <a:masterClrMapping/>
  </p:clrMapOvr>
  <p:transition spd="slow">
    <p:wip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434" name="Rectangle 2">
            <a:extLst>
              <a:ext uri="{FF2B5EF4-FFF2-40B4-BE49-F238E27FC236}">
                <a16:creationId xmlns:a16="http://schemas.microsoft.com/office/drawing/2014/main" id="{FE23F6F3-E35A-41A5-BE76-0406A1303A11}"/>
              </a:ext>
            </a:extLst>
          </p:cNvPr>
          <p:cNvSpPr>
            <a:spLocks noGrp="1" noChangeArrowheads="1"/>
          </p:cNvSpPr>
          <p:nvPr>
            <p:ph type="title"/>
          </p:nvPr>
        </p:nvSpPr>
        <p:spPr/>
        <p:txBody>
          <a:bodyPr/>
          <a:lstStyle/>
          <a:p>
            <a:r>
              <a:rPr lang="en-US" altLang="en-US"/>
              <a:t>Step 6</a:t>
            </a:r>
          </a:p>
        </p:txBody>
      </p:sp>
      <p:sp>
        <p:nvSpPr>
          <p:cNvPr id="274435" name="AutoShape 3">
            <a:extLst>
              <a:ext uri="{FF2B5EF4-FFF2-40B4-BE49-F238E27FC236}">
                <a16:creationId xmlns:a16="http://schemas.microsoft.com/office/drawing/2014/main" id="{5956528D-1CD3-4C23-B06F-205BBBEF5C1C}"/>
              </a:ext>
            </a:extLst>
          </p:cNvPr>
          <p:cNvSpPr>
            <a:spLocks noChangeArrowheads="1"/>
          </p:cNvSpPr>
          <p:nvPr/>
        </p:nvSpPr>
        <p:spPr bwMode="auto">
          <a:xfrm>
            <a:off x="608330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74436" name="AutoShape 4">
            <a:extLst>
              <a:ext uri="{FF2B5EF4-FFF2-40B4-BE49-F238E27FC236}">
                <a16:creationId xmlns:a16="http://schemas.microsoft.com/office/drawing/2014/main" id="{6520C660-A510-4809-884A-2877B67F6866}"/>
              </a:ext>
            </a:extLst>
          </p:cNvPr>
          <p:cNvSpPr>
            <a:spLocks noChangeArrowheads="1"/>
          </p:cNvSpPr>
          <p:nvPr/>
        </p:nvSpPr>
        <p:spPr bwMode="auto">
          <a:xfrm>
            <a:off x="6988175"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74437" name="AutoShape 5">
            <a:extLst>
              <a:ext uri="{FF2B5EF4-FFF2-40B4-BE49-F238E27FC236}">
                <a16:creationId xmlns:a16="http://schemas.microsoft.com/office/drawing/2014/main" id="{B6CDCCB9-10FD-492F-87D6-C862A359C255}"/>
              </a:ext>
            </a:extLst>
          </p:cNvPr>
          <p:cNvSpPr>
            <a:spLocks noChangeArrowheads="1"/>
          </p:cNvSpPr>
          <p:nvPr/>
        </p:nvSpPr>
        <p:spPr bwMode="auto">
          <a:xfrm>
            <a:off x="7893050" y="55626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74438" name="Text Box 6">
            <a:extLst>
              <a:ext uri="{FF2B5EF4-FFF2-40B4-BE49-F238E27FC236}">
                <a16:creationId xmlns:a16="http://schemas.microsoft.com/office/drawing/2014/main" id="{56B55E35-3589-45BE-BB09-D3EB667200B6}"/>
              </a:ext>
            </a:extLst>
          </p:cNvPr>
          <p:cNvSpPr txBox="1">
            <a:spLocks noChangeArrowheads="1"/>
          </p:cNvSpPr>
          <p:nvPr/>
        </p:nvSpPr>
        <p:spPr bwMode="auto">
          <a:xfrm>
            <a:off x="7081838" y="6059488"/>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74439" name="Text Box 7">
            <a:extLst>
              <a:ext uri="{FF2B5EF4-FFF2-40B4-BE49-F238E27FC236}">
                <a16:creationId xmlns:a16="http://schemas.microsoft.com/office/drawing/2014/main" id="{F39F7565-1053-4EDE-9040-A01285DF17EA}"/>
              </a:ext>
            </a:extLst>
          </p:cNvPr>
          <p:cNvSpPr txBox="1">
            <a:spLocks noChangeArrowheads="1"/>
          </p:cNvSpPr>
          <p:nvPr/>
        </p:nvSpPr>
        <p:spPr bwMode="auto">
          <a:xfrm>
            <a:off x="7927975" y="60594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74440" name="Text Box 8">
            <a:extLst>
              <a:ext uri="{FF2B5EF4-FFF2-40B4-BE49-F238E27FC236}">
                <a16:creationId xmlns:a16="http://schemas.microsoft.com/office/drawing/2014/main" id="{66B20C7E-3340-4704-A0C3-14F6CD5AAC04}"/>
              </a:ext>
            </a:extLst>
          </p:cNvPr>
          <p:cNvSpPr txBox="1">
            <a:spLocks noChangeArrowheads="1"/>
          </p:cNvSpPr>
          <p:nvPr/>
        </p:nvSpPr>
        <p:spPr bwMode="auto">
          <a:xfrm>
            <a:off x="6186488" y="60594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74441" name="AutoShape 9">
            <a:extLst>
              <a:ext uri="{FF2B5EF4-FFF2-40B4-BE49-F238E27FC236}">
                <a16:creationId xmlns:a16="http://schemas.microsoft.com/office/drawing/2014/main" id="{611F4487-8A01-4F95-B329-3D088F0F316D}"/>
              </a:ext>
            </a:extLst>
          </p:cNvPr>
          <p:cNvSpPr>
            <a:spLocks noChangeArrowheads="1"/>
          </p:cNvSpPr>
          <p:nvPr/>
        </p:nvSpPr>
        <p:spPr bwMode="auto">
          <a:xfrm>
            <a:off x="4284663"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4442" name="AutoShape 10">
            <a:extLst>
              <a:ext uri="{FF2B5EF4-FFF2-40B4-BE49-F238E27FC236}">
                <a16:creationId xmlns:a16="http://schemas.microsoft.com/office/drawing/2014/main" id="{08AFE4AC-2D81-4914-9F01-8C95A73DE1A3}"/>
              </a:ext>
            </a:extLst>
          </p:cNvPr>
          <p:cNvSpPr>
            <a:spLocks noChangeArrowheads="1"/>
          </p:cNvSpPr>
          <p:nvPr/>
        </p:nvSpPr>
        <p:spPr bwMode="auto">
          <a:xfrm>
            <a:off x="518160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4443" name="Text Box 11">
            <a:extLst>
              <a:ext uri="{FF2B5EF4-FFF2-40B4-BE49-F238E27FC236}">
                <a16:creationId xmlns:a16="http://schemas.microsoft.com/office/drawing/2014/main" id="{8F1FFBFE-B06C-463B-8652-294C121896C8}"/>
              </a:ext>
            </a:extLst>
          </p:cNvPr>
          <p:cNvSpPr txBox="1">
            <a:spLocks noChangeArrowheads="1"/>
          </p:cNvSpPr>
          <p:nvPr/>
        </p:nvSpPr>
        <p:spPr bwMode="auto">
          <a:xfrm>
            <a:off x="4354513" y="4887913"/>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74444" name="Text Box 12">
            <a:extLst>
              <a:ext uri="{FF2B5EF4-FFF2-40B4-BE49-F238E27FC236}">
                <a16:creationId xmlns:a16="http://schemas.microsoft.com/office/drawing/2014/main" id="{0E856871-710D-4476-94BE-139233B1063C}"/>
              </a:ext>
            </a:extLst>
          </p:cNvPr>
          <p:cNvSpPr txBox="1">
            <a:spLocks noChangeArrowheads="1"/>
          </p:cNvSpPr>
          <p:nvPr/>
        </p:nvSpPr>
        <p:spPr bwMode="auto">
          <a:xfrm>
            <a:off x="5233988" y="4887913"/>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cxnSp>
        <p:nvCxnSpPr>
          <p:cNvPr id="274445" name="AutoShape 13">
            <a:extLst>
              <a:ext uri="{FF2B5EF4-FFF2-40B4-BE49-F238E27FC236}">
                <a16:creationId xmlns:a16="http://schemas.microsoft.com/office/drawing/2014/main" id="{DB86B362-5870-4FED-911B-6BC80F21F1B6}"/>
              </a:ext>
            </a:extLst>
          </p:cNvPr>
          <p:cNvCxnSpPr>
            <a:cxnSpLocks noChangeShapeType="1"/>
          </p:cNvCxnSpPr>
          <p:nvPr/>
        </p:nvCxnSpPr>
        <p:spPr bwMode="auto">
          <a:xfrm flipV="1">
            <a:off x="4513263" y="3657600"/>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446" name="AutoShape 14">
            <a:extLst>
              <a:ext uri="{FF2B5EF4-FFF2-40B4-BE49-F238E27FC236}">
                <a16:creationId xmlns:a16="http://schemas.microsoft.com/office/drawing/2014/main" id="{43F90885-1B42-4A52-893E-14CC74EBEFF4}"/>
              </a:ext>
            </a:extLst>
          </p:cNvPr>
          <p:cNvCxnSpPr>
            <a:cxnSpLocks noChangeShapeType="1"/>
          </p:cNvCxnSpPr>
          <p:nvPr/>
        </p:nvCxnSpPr>
        <p:spPr bwMode="auto">
          <a:xfrm flipH="1" flipV="1">
            <a:off x="4970463" y="3657600"/>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47" name="AutoShape 15">
            <a:extLst>
              <a:ext uri="{FF2B5EF4-FFF2-40B4-BE49-F238E27FC236}">
                <a16:creationId xmlns:a16="http://schemas.microsoft.com/office/drawing/2014/main" id="{F7605576-63E8-4273-8B54-B6329B32C841}"/>
              </a:ext>
            </a:extLst>
          </p:cNvPr>
          <p:cNvSpPr>
            <a:spLocks noChangeArrowheads="1"/>
          </p:cNvSpPr>
          <p:nvPr/>
        </p:nvSpPr>
        <p:spPr bwMode="auto">
          <a:xfrm>
            <a:off x="4724400"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nvGrpSpPr>
          <p:cNvPr id="274448" name="Group 16">
            <a:extLst>
              <a:ext uri="{FF2B5EF4-FFF2-40B4-BE49-F238E27FC236}">
                <a16:creationId xmlns:a16="http://schemas.microsoft.com/office/drawing/2014/main" id="{A11E1655-A50F-45EE-AE9A-1FF733EA0D0F}"/>
              </a:ext>
            </a:extLst>
          </p:cNvPr>
          <p:cNvGrpSpPr>
            <a:grpSpLocks/>
          </p:cNvGrpSpPr>
          <p:nvPr/>
        </p:nvGrpSpPr>
        <p:grpSpPr bwMode="auto">
          <a:xfrm>
            <a:off x="685800" y="3200400"/>
            <a:ext cx="3141663" cy="3316288"/>
            <a:chOff x="432" y="2016"/>
            <a:chExt cx="1979" cy="2089"/>
          </a:xfrm>
        </p:grpSpPr>
        <p:cxnSp>
          <p:nvCxnSpPr>
            <p:cNvPr id="274449" name="AutoShape 17">
              <a:extLst>
                <a:ext uri="{FF2B5EF4-FFF2-40B4-BE49-F238E27FC236}">
                  <a16:creationId xmlns:a16="http://schemas.microsoft.com/office/drawing/2014/main" id="{AF9F6371-E5B9-44CC-BA23-F02E0531375A}"/>
                </a:ext>
              </a:extLst>
            </p:cNvPr>
            <p:cNvCxnSpPr>
              <a:cxnSpLocks noChangeShapeType="1"/>
            </p:cNvCxnSpPr>
            <p:nvPr/>
          </p:nvCxnSpPr>
          <p:spPr bwMode="auto">
            <a:xfrm flipV="1">
              <a:off x="576"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450" name="AutoShape 18">
              <a:extLst>
                <a:ext uri="{FF2B5EF4-FFF2-40B4-BE49-F238E27FC236}">
                  <a16:creationId xmlns:a16="http://schemas.microsoft.com/office/drawing/2014/main" id="{6092C2A2-A76B-4EE3-B1AB-F984FD03498E}"/>
                </a:ext>
              </a:extLst>
            </p:cNvPr>
            <p:cNvCxnSpPr>
              <a:cxnSpLocks noChangeShapeType="1"/>
            </p:cNvCxnSpPr>
            <p:nvPr/>
          </p:nvCxnSpPr>
          <p:spPr bwMode="auto">
            <a:xfrm flipH="1" flipV="1">
              <a:off x="864"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51" name="AutoShape 19">
              <a:extLst>
                <a:ext uri="{FF2B5EF4-FFF2-40B4-BE49-F238E27FC236}">
                  <a16:creationId xmlns:a16="http://schemas.microsoft.com/office/drawing/2014/main" id="{78AE3566-49D0-45FF-BF68-EB5F5DE81CD3}"/>
                </a:ext>
              </a:extLst>
            </p:cNvPr>
            <p:cNvSpPr>
              <a:spLocks noChangeArrowheads="1"/>
            </p:cNvSpPr>
            <p:nvPr/>
          </p:nvSpPr>
          <p:spPr bwMode="auto">
            <a:xfrm>
              <a:off x="2123"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4452" name="AutoShape 20">
              <a:extLst>
                <a:ext uri="{FF2B5EF4-FFF2-40B4-BE49-F238E27FC236}">
                  <a16:creationId xmlns:a16="http://schemas.microsoft.com/office/drawing/2014/main" id="{D66811AA-0E2C-49D7-BE56-EC8F85969848}"/>
                </a:ext>
              </a:extLst>
            </p:cNvPr>
            <p:cNvSpPr>
              <a:spLocks noChangeArrowheads="1"/>
            </p:cNvSpPr>
            <p:nvPr/>
          </p:nvSpPr>
          <p:spPr bwMode="auto">
            <a:xfrm>
              <a:off x="43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4453" name="AutoShape 21">
              <a:extLst>
                <a:ext uri="{FF2B5EF4-FFF2-40B4-BE49-F238E27FC236}">
                  <a16:creationId xmlns:a16="http://schemas.microsoft.com/office/drawing/2014/main" id="{D451474A-A33F-4023-AB91-53D7575CE251}"/>
                </a:ext>
              </a:extLst>
            </p:cNvPr>
            <p:cNvSpPr>
              <a:spLocks noChangeArrowheads="1"/>
            </p:cNvSpPr>
            <p:nvPr/>
          </p:nvSpPr>
          <p:spPr bwMode="auto">
            <a:xfrm>
              <a:off x="157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4454" name="AutoShape 22">
              <a:extLst>
                <a:ext uri="{FF2B5EF4-FFF2-40B4-BE49-F238E27FC236}">
                  <a16:creationId xmlns:a16="http://schemas.microsoft.com/office/drawing/2014/main" id="{EA785DB0-8825-4C84-8FAF-C68B64A65D4A}"/>
                </a:ext>
              </a:extLst>
            </p:cNvPr>
            <p:cNvSpPr>
              <a:spLocks noChangeArrowheads="1"/>
            </p:cNvSpPr>
            <p:nvPr/>
          </p:nvSpPr>
          <p:spPr bwMode="auto">
            <a:xfrm>
              <a:off x="100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4455" name="Text Box 23">
              <a:extLst>
                <a:ext uri="{FF2B5EF4-FFF2-40B4-BE49-F238E27FC236}">
                  <a16:creationId xmlns:a16="http://schemas.microsoft.com/office/drawing/2014/main" id="{4218C238-8F90-4507-9535-D682C27C4ED9}"/>
                </a:ext>
              </a:extLst>
            </p:cNvPr>
            <p:cNvSpPr txBox="1">
              <a:spLocks noChangeArrowheads="1"/>
            </p:cNvSpPr>
            <p:nvPr/>
          </p:nvSpPr>
          <p:spPr bwMode="auto">
            <a:xfrm>
              <a:off x="465" y="381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74456" name="Text Box 24">
              <a:extLst>
                <a:ext uri="{FF2B5EF4-FFF2-40B4-BE49-F238E27FC236}">
                  <a16:creationId xmlns:a16="http://schemas.microsoft.com/office/drawing/2014/main" id="{0848FDF0-0363-463B-A8AE-3C5FB3DE9DD0}"/>
                </a:ext>
              </a:extLst>
            </p:cNvPr>
            <p:cNvSpPr txBox="1">
              <a:spLocks noChangeArrowheads="1"/>
            </p:cNvSpPr>
            <p:nvPr/>
          </p:nvSpPr>
          <p:spPr bwMode="auto">
            <a:xfrm>
              <a:off x="1025" y="3817"/>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74457" name="Text Box 25">
              <a:extLst>
                <a:ext uri="{FF2B5EF4-FFF2-40B4-BE49-F238E27FC236}">
                  <a16:creationId xmlns:a16="http://schemas.microsoft.com/office/drawing/2014/main" id="{8C84AFAE-CBFD-45F9-9094-92B87B81A766}"/>
                </a:ext>
              </a:extLst>
            </p:cNvPr>
            <p:cNvSpPr txBox="1">
              <a:spLocks noChangeArrowheads="1"/>
            </p:cNvSpPr>
            <p:nvPr/>
          </p:nvSpPr>
          <p:spPr bwMode="auto">
            <a:xfrm>
              <a:off x="1584" y="3817"/>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74458" name="Text Box 26">
              <a:extLst>
                <a:ext uri="{FF2B5EF4-FFF2-40B4-BE49-F238E27FC236}">
                  <a16:creationId xmlns:a16="http://schemas.microsoft.com/office/drawing/2014/main" id="{E0082ED3-E25A-44C7-97C7-C05286D5394F}"/>
                </a:ext>
              </a:extLst>
            </p:cNvPr>
            <p:cNvSpPr txBox="1">
              <a:spLocks noChangeArrowheads="1"/>
            </p:cNvSpPr>
            <p:nvPr/>
          </p:nvSpPr>
          <p:spPr bwMode="auto">
            <a:xfrm>
              <a:off x="2178" y="3817"/>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74459" name="AutoShape 27">
              <a:extLst>
                <a:ext uri="{FF2B5EF4-FFF2-40B4-BE49-F238E27FC236}">
                  <a16:creationId xmlns:a16="http://schemas.microsoft.com/office/drawing/2014/main" id="{CF8E03EC-A440-494C-9342-E4D28B839D73}"/>
                </a:ext>
              </a:extLst>
            </p:cNvPr>
            <p:cNvSpPr>
              <a:spLocks noChangeArrowheads="1"/>
            </p:cNvSpPr>
            <p:nvPr/>
          </p:nvSpPr>
          <p:spPr bwMode="auto">
            <a:xfrm>
              <a:off x="714"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4460" name="AutoShape 28">
              <a:extLst>
                <a:ext uri="{FF2B5EF4-FFF2-40B4-BE49-F238E27FC236}">
                  <a16:creationId xmlns:a16="http://schemas.microsoft.com/office/drawing/2014/main" id="{A734E938-5ED1-4921-90B9-035FDCB4F4FB}"/>
                </a:ext>
              </a:extLst>
            </p:cNvPr>
            <p:cNvCxnSpPr>
              <a:cxnSpLocks noChangeShapeType="1"/>
            </p:cNvCxnSpPr>
            <p:nvPr/>
          </p:nvCxnSpPr>
          <p:spPr bwMode="auto">
            <a:xfrm flipV="1">
              <a:off x="1716"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461" name="AutoShape 29">
              <a:extLst>
                <a:ext uri="{FF2B5EF4-FFF2-40B4-BE49-F238E27FC236}">
                  <a16:creationId xmlns:a16="http://schemas.microsoft.com/office/drawing/2014/main" id="{D6167248-4C5F-4E4A-AABF-DB600ED79E96}"/>
                </a:ext>
              </a:extLst>
            </p:cNvPr>
            <p:cNvCxnSpPr>
              <a:cxnSpLocks noChangeShapeType="1"/>
            </p:cNvCxnSpPr>
            <p:nvPr/>
          </p:nvCxnSpPr>
          <p:spPr bwMode="auto">
            <a:xfrm flipH="1" flipV="1">
              <a:off x="2004"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62" name="AutoShape 30">
              <a:extLst>
                <a:ext uri="{FF2B5EF4-FFF2-40B4-BE49-F238E27FC236}">
                  <a16:creationId xmlns:a16="http://schemas.microsoft.com/office/drawing/2014/main" id="{F3D84778-F3FA-45A4-8D94-2C0EAB49DF39}"/>
                </a:ext>
              </a:extLst>
            </p:cNvPr>
            <p:cNvSpPr>
              <a:spLocks noChangeArrowheads="1"/>
            </p:cNvSpPr>
            <p:nvPr/>
          </p:nvSpPr>
          <p:spPr bwMode="auto">
            <a:xfrm>
              <a:off x="1860"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4463" name="AutoShape 31">
              <a:extLst>
                <a:ext uri="{FF2B5EF4-FFF2-40B4-BE49-F238E27FC236}">
                  <a16:creationId xmlns:a16="http://schemas.microsoft.com/office/drawing/2014/main" id="{854F1F62-11CC-4C61-9329-CBE02C77BE14}"/>
                </a:ext>
              </a:extLst>
            </p:cNvPr>
            <p:cNvCxnSpPr>
              <a:cxnSpLocks noChangeShapeType="1"/>
            </p:cNvCxnSpPr>
            <p:nvPr/>
          </p:nvCxnSpPr>
          <p:spPr bwMode="auto">
            <a:xfrm flipV="1">
              <a:off x="855" y="2304"/>
              <a:ext cx="582" cy="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464" name="AutoShape 32">
              <a:extLst>
                <a:ext uri="{FF2B5EF4-FFF2-40B4-BE49-F238E27FC236}">
                  <a16:creationId xmlns:a16="http://schemas.microsoft.com/office/drawing/2014/main" id="{175352D9-B4F6-4BE7-8A54-D0040C51E936}"/>
                </a:ext>
              </a:extLst>
            </p:cNvPr>
            <p:cNvCxnSpPr>
              <a:cxnSpLocks noChangeShapeType="1"/>
            </p:cNvCxnSpPr>
            <p:nvPr/>
          </p:nvCxnSpPr>
          <p:spPr bwMode="auto">
            <a:xfrm flipH="1" flipV="1">
              <a:off x="1437" y="2304"/>
              <a:ext cx="567" cy="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65" name="AutoShape 33">
              <a:extLst>
                <a:ext uri="{FF2B5EF4-FFF2-40B4-BE49-F238E27FC236}">
                  <a16:creationId xmlns:a16="http://schemas.microsoft.com/office/drawing/2014/main" id="{713F4910-F7FE-49EC-BDB9-1AA9598FC3D0}"/>
                </a:ext>
              </a:extLst>
            </p:cNvPr>
            <p:cNvSpPr>
              <a:spLocks noChangeArrowheads="1"/>
            </p:cNvSpPr>
            <p:nvPr/>
          </p:nvSpPr>
          <p:spPr bwMode="auto">
            <a:xfrm>
              <a:off x="1284" y="2016"/>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cxnSp>
        <p:nvCxnSpPr>
          <p:cNvPr id="274466" name="AutoShape 34">
            <a:extLst>
              <a:ext uri="{FF2B5EF4-FFF2-40B4-BE49-F238E27FC236}">
                <a16:creationId xmlns:a16="http://schemas.microsoft.com/office/drawing/2014/main" id="{530D3B37-0954-4E87-AA33-2CBBC2BF69B3}"/>
              </a:ext>
            </a:extLst>
          </p:cNvPr>
          <p:cNvCxnSpPr>
            <a:cxnSpLocks noChangeShapeType="1"/>
            <a:endCxn id="274471" idx="4"/>
          </p:cNvCxnSpPr>
          <p:nvPr/>
        </p:nvCxnSpPr>
        <p:spPr bwMode="auto">
          <a:xfrm flipV="1">
            <a:off x="2286000" y="2481263"/>
            <a:ext cx="1400175" cy="7191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467" name="AutoShape 35">
            <a:extLst>
              <a:ext uri="{FF2B5EF4-FFF2-40B4-BE49-F238E27FC236}">
                <a16:creationId xmlns:a16="http://schemas.microsoft.com/office/drawing/2014/main" id="{98373ACD-2523-4D0A-8914-01DDCBC8481C}"/>
              </a:ext>
            </a:extLst>
          </p:cNvPr>
          <p:cNvCxnSpPr>
            <a:cxnSpLocks noChangeShapeType="1"/>
            <a:endCxn id="274471" idx="4"/>
          </p:cNvCxnSpPr>
          <p:nvPr/>
        </p:nvCxnSpPr>
        <p:spPr bwMode="auto">
          <a:xfrm flipH="1" flipV="1">
            <a:off x="3686175" y="2481263"/>
            <a:ext cx="1262063" cy="7191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468" name="AutoShape 36">
            <a:extLst>
              <a:ext uri="{FF2B5EF4-FFF2-40B4-BE49-F238E27FC236}">
                <a16:creationId xmlns:a16="http://schemas.microsoft.com/office/drawing/2014/main" id="{F42FE8A9-7FBB-4547-A799-45C151F4DF84}"/>
              </a:ext>
            </a:extLst>
          </p:cNvPr>
          <p:cNvCxnSpPr>
            <a:cxnSpLocks noChangeShapeType="1"/>
          </p:cNvCxnSpPr>
          <p:nvPr/>
        </p:nvCxnSpPr>
        <p:spPr bwMode="auto">
          <a:xfrm flipV="1">
            <a:off x="6311900" y="4829175"/>
            <a:ext cx="457200"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4469" name="AutoShape 37">
            <a:extLst>
              <a:ext uri="{FF2B5EF4-FFF2-40B4-BE49-F238E27FC236}">
                <a16:creationId xmlns:a16="http://schemas.microsoft.com/office/drawing/2014/main" id="{D308C1BF-100A-4F78-B629-2E8C640D4EAA}"/>
              </a:ext>
            </a:extLst>
          </p:cNvPr>
          <p:cNvCxnSpPr>
            <a:cxnSpLocks noChangeShapeType="1"/>
          </p:cNvCxnSpPr>
          <p:nvPr/>
        </p:nvCxnSpPr>
        <p:spPr bwMode="auto">
          <a:xfrm flipH="1" flipV="1">
            <a:off x="6769100" y="4829175"/>
            <a:ext cx="447675" cy="7334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70" name="AutoShape 38">
            <a:extLst>
              <a:ext uri="{FF2B5EF4-FFF2-40B4-BE49-F238E27FC236}">
                <a16:creationId xmlns:a16="http://schemas.microsoft.com/office/drawing/2014/main" id="{48CAAB60-F93B-4B7D-A2F5-ED8B9FEF9787}"/>
              </a:ext>
            </a:extLst>
          </p:cNvPr>
          <p:cNvSpPr>
            <a:spLocks noChangeArrowheads="1"/>
          </p:cNvSpPr>
          <p:nvPr/>
        </p:nvSpPr>
        <p:spPr bwMode="auto">
          <a:xfrm>
            <a:off x="65309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6</a:t>
            </a:r>
          </a:p>
        </p:txBody>
      </p:sp>
      <p:sp>
        <p:nvSpPr>
          <p:cNvPr id="274471" name="AutoShape 39">
            <a:extLst>
              <a:ext uri="{FF2B5EF4-FFF2-40B4-BE49-F238E27FC236}">
                <a16:creationId xmlns:a16="http://schemas.microsoft.com/office/drawing/2014/main" id="{ADA27542-E5EF-4936-A587-B4C01C31F3B3}"/>
              </a:ext>
            </a:extLst>
          </p:cNvPr>
          <p:cNvSpPr>
            <a:spLocks noChangeArrowheads="1"/>
          </p:cNvSpPr>
          <p:nvPr/>
        </p:nvSpPr>
        <p:spPr bwMode="auto">
          <a:xfrm>
            <a:off x="3457575" y="20097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8</a:t>
            </a:r>
          </a:p>
        </p:txBody>
      </p:sp>
    </p:spTree>
  </p:cSld>
  <p:clrMapOvr>
    <a:masterClrMapping/>
  </p:clrMapOvr>
  <p:transition spd="slow">
    <p:wip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458" name="Rectangle 2">
            <a:extLst>
              <a:ext uri="{FF2B5EF4-FFF2-40B4-BE49-F238E27FC236}">
                <a16:creationId xmlns:a16="http://schemas.microsoft.com/office/drawing/2014/main" id="{9A7A64AE-B2BE-43D6-BE4E-8B0A18CA578F}"/>
              </a:ext>
            </a:extLst>
          </p:cNvPr>
          <p:cNvSpPr>
            <a:spLocks noGrp="1" noChangeArrowheads="1"/>
          </p:cNvSpPr>
          <p:nvPr>
            <p:ph type="title"/>
          </p:nvPr>
        </p:nvSpPr>
        <p:spPr/>
        <p:txBody>
          <a:bodyPr/>
          <a:lstStyle/>
          <a:p>
            <a:r>
              <a:rPr lang="en-US" altLang="en-US"/>
              <a:t>Step 7</a:t>
            </a:r>
          </a:p>
        </p:txBody>
      </p:sp>
      <p:sp>
        <p:nvSpPr>
          <p:cNvPr id="275459" name="AutoShape 3">
            <a:extLst>
              <a:ext uri="{FF2B5EF4-FFF2-40B4-BE49-F238E27FC236}">
                <a16:creationId xmlns:a16="http://schemas.microsoft.com/office/drawing/2014/main" id="{4289E954-3949-40AC-A8C4-60550775511B}"/>
              </a:ext>
            </a:extLst>
          </p:cNvPr>
          <p:cNvSpPr>
            <a:spLocks noChangeArrowheads="1"/>
          </p:cNvSpPr>
          <p:nvPr/>
        </p:nvSpPr>
        <p:spPr bwMode="auto">
          <a:xfrm>
            <a:off x="608330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75460" name="AutoShape 4">
            <a:extLst>
              <a:ext uri="{FF2B5EF4-FFF2-40B4-BE49-F238E27FC236}">
                <a16:creationId xmlns:a16="http://schemas.microsoft.com/office/drawing/2014/main" id="{5499A60B-9642-41EA-8002-C4F09112D567}"/>
              </a:ext>
            </a:extLst>
          </p:cNvPr>
          <p:cNvSpPr>
            <a:spLocks noChangeArrowheads="1"/>
          </p:cNvSpPr>
          <p:nvPr/>
        </p:nvSpPr>
        <p:spPr bwMode="auto">
          <a:xfrm>
            <a:off x="69881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75461" name="AutoShape 5">
            <a:extLst>
              <a:ext uri="{FF2B5EF4-FFF2-40B4-BE49-F238E27FC236}">
                <a16:creationId xmlns:a16="http://schemas.microsoft.com/office/drawing/2014/main" id="{51F55158-39A0-417E-844B-213274C2F242}"/>
              </a:ext>
            </a:extLst>
          </p:cNvPr>
          <p:cNvSpPr>
            <a:spLocks noChangeArrowheads="1"/>
          </p:cNvSpPr>
          <p:nvPr/>
        </p:nvSpPr>
        <p:spPr bwMode="auto">
          <a:xfrm>
            <a:off x="7470775" y="3186113"/>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75462" name="Text Box 6">
            <a:extLst>
              <a:ext uri="{FF2B5EF4-FFF2-40B4-BE49-F238E27FC236}">
                <a16:creationId xmlns:a16="http://schemas.microsoft.com/office/drawing/2014/main" id="{E2CE7660-1350-457E-B9EE-AE5AD49C54A2}"/>
              </a:ext>
            </a:extLst>
          </p:cNvPr>
          <p:cNvSpPr txBox="1">
            <a:spLocks noChangeArrowheads="1"/>
          </p:cNvSpPr>
          <p:nvPr/>
        </p:nvSpPr>
        <p:spPr bwMode="auto">
          <a:xfrm>
            <a:off x="7081838" y="48879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75463" name="Text Box 7">
            <a:extLst>
              <a:ext uri="{FF2B5EF4-FFF2-40B4-BE49-F238E27FC236}">
                <a16:creationId xmlns:a16="http://schemas.microsoft.com/office/drawing/2014/main" id="{EF07F2AE-EEDB-4075-B26A-125488275016}"/>
              </a:ext>
            </a:extLst>
          </p:cNvPr>
          <p:cNvSpPr txBox="1">
            <a:spLocks noChangeArrowheads="1"/>
          </p:cNvSpPr>
          <p:nvPr/>
        </p:nvSpPr>
        <p:spPr bwMode="auto">
          <a:xfrm>
            <a:off x="7540625" y="36718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75464" name="Text Box 8">
            <a:extLst>
              <a:ext uri="{FF2B5EF4-FFF2-40B4-BE49-F238E27FC236}">
                <a16:creationId xmlns:a16="http://schemas.microsoft.com/office/drawing/2014/main" id="{64053ABE-8D8D-4D30-BC32-465E4C810D32}"/>
              </a:ext>
            </a:extLst>
          </p:cNvPr>
          <p:cNvSpPr txBox="1">
            <a:spLocks noChangeArrowheads="1"/>
          </p:cNvSpPr>
          <p:nvPr/>
        </p:nvSpPr>
        <p:spPr bwMode="auto">
          <a:xfrm>
            <a:off x="6083300" y="488791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75465" name="AutoShape 9">
            <a:extLst>
              <a:ext uri="{FF2B5EF4-FFF2-40B4-BE49-F238E27FC236}">
                <a16:creationId xmlns:a16="http://schemas.microsoft.com/office/drawing/2014/main" id="{A9603F1A-6D85-4D56-8495-E519CBB9D85C}"/>
              </a:ext>
            </a:extLst>
          </p:cNvPr>
          <p:cNvSpPr>
            <a:spLocks noChangeArrowheads="1"/>
          </p:cNvSpPr>
          <p:nvPr/>
        </p:nvSpPr>
        <p:spPr bwMode="auto">
          <a:xfrm>
            <a:off x="4284663"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5466" name="AutoShape 10">
            <a:extLst>
              <a:ext uri="{FF2B5EF4-FFF2-40B4-BE49-F238E27FC236}">
                <a16:creationId xmlns:a16="http://schemas.microsoft.com/office/drawing/2014/main" id="{E01F8F43-BA8D-4C68-8E7A-4907E9638239}"/>
              </a:ext>
            </a:extLst>
          </p:cNvPr>
          <p:cNvSpPr>
            <a:spLocks noChangeArrowheads="1"/>
          </p:cNvSpPr>
          <p:nvPr/>
        </p:nvSpPr>
        <p:spPr bwMode="auto">
          <a:xfrm>
            <a:off x="518160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5467" name="Text Box 11">
            <a:extLst>
              <a:ext uri="{FF2B5EF4-FFF2-40B4-BE49-F238E27FC236}">
                <a16:creationId xmlns:a16="http://schemas.microsoft.com/office/drawing/2014/main" id="{02D0DBFB-D430-41B6-9D95-98B31E067716}"/>
              </a:ext>
            </a:extLst>
          </p:cNvPr>
          <p:cNvSpPr txBox="1">
            <a:spLocks noChangeArrowheads="1"/>
          </p:cNvSpPr>
          <p:nvPr/>
        </p:nvSpPr>
        <p:spPr bwMode="auto">
          <a:xfrm>
            <a:off x="4354513" y="4887913"/>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75468" name="Text Box 12">
            <a:extLst>
              <a:ext uri="{FF2B5EF4-FFF2-40B4-BE49-F238E27FC236}">
                <a16:creationId xmlns:a16="http://schemas.microsoft.com/office/drawing/2014/main" id="{DE218A24-2D94-4578-A14F-76898DC29995}"/>
              </a:ext>
            </a:extLst>
          </p:cNvPr>
          <p:cNvSpPr txBox="1">
            <a:spLocks noChangeArrowheads="1"/>
          </p:cNvSpPr>
          <p:nvPr/>
        </p:nvSpPr>
        <p:spPr bwMode="auto">
          <a:xfrm>
            <a:off x="5233988" y="4887913"/>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cxnSp>
        <p:nvCxnSpPr>
          <p:cNvPr id="275469" name="AutoShape 13">
            <a:extLst>
              <a:ext uri="{FF2B5EF4-FFF2-40B4-BE49-F238E27FC236}">
                <a16:creationId xmlns:a16="http://schemas.microsoft.com/office/drawing/2014/main" id="{8FD83082-3CA8-45FF-9DD4-D0C07FD1B62F}"/>
              </a:ext>
            </a:extLst>
          </p:cNvPr>
          <p:cNvCxnSpPr>
            <a:cxnSpLocks noChangeShapeType="1"/>
            <a:stCxn id="275465" idx="0"/>
            <a:endCxn id="275471" idx="4"/>
          </p:cNvCxnSpPr>
          <p:nvPr/>
        </p:nvCxnSpPr>
        <p:spPr bwMode="auto">
          <a:xfrm flipV="1">
            <a:off x="4513263" y="3671888"/>
            <a:ext cx="439737"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470" name="AutoShape 14">
            <a:extLst>
              <a:ext uri="{FF2B5EF4-FFF2-40B4-BE49-F238E27FC236}">
                <a16:creationId xmlns:a16="http://schemas.microsoft.com/office/drawing/2014/main" id="{E70594B8-B823-418D-9E77-56E2E6E8E7D5}"/>
              </a:ext>
            </a:extLst>
          </p:cNvPr>
          <p:cNvCxnSpPr>
            <a:cxnSpLocks noChangeShapeType="1"/>
            <a:stCxn id="275466" idx="0"/>
            <a:endCxn id="275471" idx="4"/>
          </p:cNvCxnSpPr>
          <p:nvPr/>
        </p:nvCxnSpPr>
        <p:spPr bwMode="auto">
          <a:xfrm flipH="1" flipV="1">
            <a:off x="4953000" y="3671888"/>
            <a:ext cx="457200"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5471" name="AutoShape 15">
            <a:extLst>
              <a:ext uri="{FF2B5EF4-FFF2-40B4-BE49-F238E27FC236}">
                <a16:creationId xmlns:a16="http://schemas.microsoft.com/office/drawing/2014/main" id="{A41979E3-B88C-46B0-982A-8E1969C2DE73}"/>
              </a:ext>
            </a:extLst>
          </p:cNvPr>
          <p:cNvSpPr>
            <a:spLocks noChangeArrowheads="1"/>
          </p:cNvSpPr>
          <p:nvPr/>
        </p:nvSpPr>
        <p:spPr bwMode="auto">
          <a:xfrm>
            <a:off x="4724400"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nvGrpSpPr>
          <p:cNvPr id="275472" name="Group 16">
            <a:extLst>
              <a:ext uri="{FF2B5EF4-FFF2-40B4-BE49-F238E27FC236}">
                <a16:creationId xmlns:a16="http://schemas.microsoft.com/office/drawing/2014/main" id="{DE01A1B6-D368-4EEA-9F7E-F84E78165BE2}"/>
              </a:ext>
            </a:extLst>
          </p:cNvPr>
          <p:cNvGrpSpPr>
            <a:grpSpLocks/>
          </p:cNvGrpSpPr>
          <p:nvPr/>
        </p:nvGrpSpPr>
        <p:grpSpPr bwMode="auto">
          <a:xfrm>
            <a:off x="685800" y="3200400"/>
            <a:ext cx="3141663" cy="3316288"/>
            <a:chOff x="432" y="2016"/>
            <a:chExt cx="1979" cy="2089"/>
          </a:xfrm>
        </p:grpSpPr>
        <p:cxnSp>
          <p:nvCxnSpPr>
            <p:cNvPr id="275473" name="AutoShape 17">
              <a:extLst>
                <a:ext uri="{FF2B5EF4-FFF2-40B4-BE49-F238E27FC236}">
                  <a16:creationId xmlns:a16="http://schemas.microsoft.com/office/drawing/2014/main" id="{46CC03C5-CD89-4405-81AE-45C943350994}"/>
                </a:ext>
              </a:extLst>
            </p:cNvPr>
            <p:cNvCxnSpPr>
              <a:cxnSpLocks noChangeShapeType="1"/>
            </p:cNvCxnSpPr>
            <p:nvPr/>
          </p:nvCxnSpPr>
          <p:spPr bwMode="auto">
            <a:xfrm flipV="1">
              <a:off x="576"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474" name="AutoShape 18">
              <a:extLst>
                <a:ext uri="{FF2B5EF4-FFF2-40B4-BE49-F238E27FC236}">
                  <a16:creationId xmlns:a16="http://schemas.microsoft.com/office/drawing/2014/main" id="{1DD22DF9-A30C-417F-8300-D6597D6EB64D}"/>
                </a:ext>
              </a:extLst>
            </p:cNvPr>
            <p:cNvCxnSpPr>
              <a:cxnSpLocks noChangeShapeType="1"/>
            </p:cNvCxnSpPr>
            <p:nvPr/>
          </p:nvCxnSpPr>
          <p:spPr bwMode="auto">
            <a:xfrm flipH="1" flipV="1">
              <a:off x="864"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5475" name="AutoShape 19">
              <a:extLst>
                <a:ext uri="{FF2B5EF4-FFF2-40B4-BE49-F238E27FC236}">
                  <a16:creationId xmlns:a16="http://schemas.microsoft.com/office/drawing/2014/main" id="{40B5E16F-52D1-4259-BA06-6EACA9BE800D}"/>
                </a:ext>
              </a:extLst>
            </p:cNvPr>
            <p:cNvSpPr>
              <a:spLocks noChangeArrowheads="1"/>
            </p:cNvSpPr>
            <p:nvPr/>
          </p:nvSpPr>
          <p:spPr bwMode="auto">
            <a:xfrm>
              <a:off x="2123"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5476" name="AutoShape 20">
              <a:extLst>
                <a:ext uri="{FF2B5EF4-FFF2-40B4-BE49-F238E27FC236}">
                  <a16:creationId xmlns:a16="http://schemas.microsoft.com/office/drawing/2014/main" id="{5BE7FBCA-588D-45FB-9D18-70AD10359091}"/>
                </a:ext>
              </a:extLst>
            </p:cNvPr>
            <p:cNvSpPr>
              <a:spLocks noChangeArrowheads="1"/>
            </p:cNvSpPr>
            <p:nvPr/>
          </p:nvSpPr>
          <p:spPr bwMode="auto">
            <a:xfrm>
              <a:off x="43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5477" name="AutoShape 21">
              <a:extLst>
                <a:ext uri="{FF2B5EF4-FFF2-40B4-BE49-F238E27FC236}">
                  <a16:creationId xmlns:a16="http://schemas.microsoft.com/office/drawing/2014/main" id="{35977FEE-F157-4083-A256-FCD704F0021B}"/>
                </a:ext>
              </a:extLst>
            </p:cNvPr>
            <p:cNvSpPr>
              <a:spLocks noChangeArrowheads="1"/>
            </p:cNvSpPr>
            <p:nvPr/>
          </p:nvSpPr>
          <p:spPr bwMode="auto">
            <a:xfrm>
              <a:off x="157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5478" name="AutoShape 22">
              <a:extLst>
                <a:ext uri="{FF2B5EF4-FFF2-40B4-BE49-F238E27FC236}">
                  <a16:creationId xmlns:a16="http://schemas.microsoft.com/office/drawing/2014/main" id="{7F132E1E-DF75-4434-9B8F-19C3C12A2DDE}"/>
                </a:ext>
              </a:extLst>
            </p:cNvPr>
            <p:cNvSpPr>
              <a:spLocks noChangeArrowheads="1"/>
            </p:cNvSpPr>
            <p:nvPr/>
          </p:nvSpPr>
          <p:spPr bwMode="auto">
            <a:xfrm>
              <a:off x="100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5479" name="Text Box 23">
              <a:extLst>
                <a:ext uri="{FF2B5EF4-FFF2-40B4-BE49-F238E27FC236}">
                  <a16:creationId xmlns:a16="http://schemas.microsoft.com/office/drawing/2014/main" id="{031EE958-13C9-4B90-A593-FF54B9587F49}"/>
                </a:ext>
              </a:extLst>
            </p:cNvPr>
            <p:cNvSpPr txBox="1">
              <a:spLocks noChangeArrowheads="1"/>
            </p:cNvSpPr>
            <p:nvPr/>
          </p:nvSpPr>
          <p:spPr bwMode="auto">
            <a:xfrm>
              <a:off x="465" y="381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75480" name="Text Box 24">
              <a:extLst>
                <a:ext uri="{FF2B5EF4-FFF2-40B4-BE49-F238E27FC236}">
                  <a16:creationId xmlns:a16="http://schemas.microsoft.com/office/drawing/2014/main" id="{517FC4C9-068F-4EB4-91D8-05E092B0ACA5}"/>
                </a:ext>
              </a:extLst>
            </p:cNvPr>
            <p:cNvSpPr txBox="1">
              <a:spLocks noChangeArrowheads="1"/>
            </p:cNvSpPr>
            <p:nvPr/>
          </p:nvSpPr>
          <p:spPr bwMode="auto">
            <a:xfrm>
              <a:off x="1025" y="3817"/>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75481" name="Text Box 25">
              <a:extLst>
                <a:ext uri="{FF2B5EF4-FFF2-40B4-BE49-F238E27FC236}">
                  <a16:creationId xmlns:a16="http://schemas.microsoft.com/office/drawing/2014/main" id="{148C2818-D28F-4049-927C-A10A486EED5B}"/>
                </a:ext>
              </a:extLst>
            </p:cNvPr>
            <p:cNvSpPr txBox="1">
              <a:spLocks noChangeArrowheads="1"/>
            </p:cNvSpPr>
            <p:nvPr/>
          </p:nvSpPr>
          <p:spPr bwMode="auto">
            <a:xfrm>
              <a:off x="1584" y="3817"/>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75482" name="Text Box 26">
              <a:extLst>
                <a:ext uri="{FF2B5EF4-FFF2-40B4-BE49-F238E27FC236}">
                  <a16:creationId xmlns:a16="http://schemas.microsoft.com/office/drawing/2014/main" id="{58FEE9C9-A2E6-40AF-9F68-D0045AEA20D2}"/>
                </a:ext>
              </a:extLst>
            </p:cNvPr>
            <p:cNvSpPr txBox="1">
              <a:spLocks noChangeArrowheads="1"/>
            </p:cNvSpPr>
            <p:nvPr/>
          </p:nvSpPr>
          <p:spPr bwMode="auto">
            <a:xfrm>
              <a:off x="2178" y="3817"/>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75483" name="AutoShape 27">
              <a:extLst>
                <a:ext uri="{FF2B5EF4-FFF2-40B4-BE49-F238E27FC236}">
                  <a16:creationId xmlns:a16="http://schemas.microsoft.com/office/drawing/2014/main" id="{9266099C-E91B-4E06-8F91-0A5A944B0FFD}"/>
                </a:ext>
              </a:extLst>
            </p:cNvPr>
            <p:cNvSpPr>
              <a:spLocks noChangeArrowheads="1"/>
            </p:cNvSpPr>
            <p:nvPr/>
          </p:nvSpPr>
          <p:spPr bwMode="auto">
            <a:xfrm>
              <a:off x="714"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5484" name="AutoShape 28">
              <a:extLst>
                <a:ext uri="{FF2B5EF4-FFF2-40B4-BE49-F238E27FC236}">
                  <a16:creationId xmlns:a16="http://schemas.microsoft.com/office/drawing/2014/main" id="{D181C168-5951-43AE-A219-E1E9CACB9794}"/>
                </a:ext>
              </a:extLst>
            </p:cNvPr>
            <p:cNvCxnSpPr>
              <a:cxnSpLocks noChangeShapeType="1"/>
            </p:cNvCxnSpPr>
            <p:nvPr/>
          </p:nvCxnSpPr>
          <p:spPr bwMode="auto">
            <a:xfrm flipV="1">
              <a:off x="1716"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485" name="AutoShape 29">
              <a:extLst>
                <a:ext uri="{FF2B5EF4-FFF2-40B4-BE49-F238E27FC236}">
                  <a16:creationId xmlns:a16="http://schemas.microsoft.com/office/drawing/2014/main" id="{23288DAE-B0EB-4C19-BA36-2C06E3BFE338}"/>
                </a:ext>
              </a:extLst>
            </p:cNvPr>
            <p:cNvCxnSpPr>
              <a:cxnSpLocks noChangeShapeType="1"/>
            </p:cNvCxnSpPr>
            <p:nvPr/>
          </p:nvCxnSpPr>
          <p:spPr bwMode="auto">
            <a:xfrm flipH="1" flipV="1">
              <a:off x="2004"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5486" name="AutoShape 30">
              <a:extLst>
                <a:ext uri="{FF2B5EF4-FFF2-40B4-BE49-F238E27FC236}">
                  <a16:creationId xmlns:a16="http://schemas.microsoft.com/office/drawing/2014/main" id="{B2B093B5-BD9B-41D5-BB7C-AAA0C81ED80D}"/>
                </a:ext>
              </a:extLst>
            </p:cNvPr>
            <p:cNvSpPr>
              <a:spLocks noChangeArrowheads="1"/>
            </p:cNvSpPr>
            <p:nvPr/>
          </p:nvSpPr>
          <p:spPr bwMode="auto">
            <a:xfrm>
              <a:off x="1860"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5487" name="AutoShape 31">
              <a:extLst>
                <a:ext uri="{FF2B5EF4-FFF2-40B4-BE49-F238E27FC236}">
                  <a16:creationId xmlns:a16="http://schemas.microsoft.com/office/drawing/2014/main" id="{3CFD0D41-1C00-4D3F-B4FD-05F1103DE2F9}"/>
                </a:ext>
              </a:extLst>
            </p:cNvPr>
            <p:cNvCxnSpPr>
              <a:cxnSpLocks noChangeShapeType="1"/>
            </p:cNvCxnSpPr>
            <p:nvPr/>
          </p:nvCxnSpPr>
          <p:spPr bwMode="auto">
            <a:xfrm flipV="1">
              <a:off x="855" y="2304"/>
              <a:ext cx="582" cy="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488" name="AutoShape 32">
              <a:extLst>
                <a:ext uri="{FF2B5EF4-FFF2-40B4-BE49-F238E27FC236}">
                  <a16:creationId xmlns:a16="http://schemas.microsoft.com/office/drawing/2014/main" id="{900FC0A0-F710-4840-95D7-917A95F3C284}"/>
                </a:ext>
              </a:extLst>
            </p:cNvPr>
            <p:cNvCxnSpPr>
              <a:cxnSpLocks noChangeShapeType="1"/>
            </p:cNvCxnSpPr>
            <p:nvPr/>
          </p:nvCxnSpPr>
          <p:spPr bwMode="auto">
            <a:xfrm flipH="1" flipV="1">
              <a:off x="1437" y="2304"/>
              <a:ext cx="567" cy="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5489" name="AutoShape 33">
              <a:extLst>
                <a:ext uri="{FF2B5EF4-FFF2-40B4-BE49-F238E27FC236}">
                  <a16:creationId xmlns:a16="http://schemas.microsoft.com/office/drawing/2014/main" id="{EF921308-6B04-42C8-B86D-7B0ED445C2C7}"/>
                </a:ext>
              </a:extLst>
            </p:cNvPr>
            <p:cNvSpPr>
              <a:spLocks noChangeArrowheads="1"/>
            </p:cNvSpPr>
            <p:nvPr/>
          </p:nvSpPr>
          <p:spPr bwMode="auto">
            <a:xfrm>
              <a:off x="1284" y="2016"/>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cxnSp>
        <p:nvCxnSpPr>
          <p:cNvPr id="275490" name="AutoShape 34">
            <a:extLst>
              <a:ext uri="{FF2B5EF4-FFF2-40B4-BE49-F238E27FC236}">
                <a16:creationId xmlns:a16="http://schemas.microsoft.com/office/drawing/2014/main" id="{07627E8D-8299-4B11-A61D-86A5A20C2D13}"/>
              </a:ext>
            </a:extLst>
          </p:cNvPr>
          <p:cNvCxnSpPr>
            <a:cxnSpLocks noChangeShapeType="1"/>
            <a:stCxn id="275489" idx="0"/>
            <a:endCxn id="275495" idx="4"/>
          </p:cNvCxnSpPr>
          <p:nvPr/>
        </p:nvCxnSpPr>
        <p:spPr bwMode="auto">
          <a:xfrm flipV="1">
            <a:off x="2266950" y="2481263"/>
            <a:ext cx="1419225" cy="7048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491" name="AutoShape 35">
            <a:extLst>
              <a:ext uri="{FF2B5EF4-FFF2-40B4-BE49-F238E27FC236}">
                <a16:creationId xmlns:a16="http://schemas.microsoft.com/office/drawing/2014/main" id="{6E9D4F51-AF83-4C66-B8CB-D3FFB605B892}"/>
              </a:ext>
            </a:extLst>
          </p:cNvPr>
          <p:cNvCxnSpPr>
            <a:cxnSpLocks noChangeShapeType="1"/>
            <a:stCxn id="275471" idx="0"/>
            <a:endCxn id="275495" idx="4"/>
          </p:cNvCxnSpPr>
          <p:nvPr/>
        </p:nvCxnSpPr>
        <p:spPr bwMode="auto">
          <a:xfrm flipH="1" flipV="1">
            <a:off x="3686175" y="2481263"/>
            <a:ext cx="1266825" cy="7048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492" name="AutoShape 36">
            <a:extLst>
              <a:ext uri="{FF2B5EF4-FFF2-40B4-BE49-F238E27FC236}">
                <a16:creationId xmlns:a16="http://schemas.microsoft.com/office/drawing/2014/main" id="{09F87576-BFE3-4240-A333-BFF809273CD2}"/>
              </a:ext>
            </a:extLst>
          </p:cNvPr>
          <p:cNvCxnSpPr>
            <a:cxnSpLocks noChangeShapeType="1"/>
            <a:stCxn id="275459" idx="0"/>
            <a:endCxn id="275494" idx="4"/>
          </p:cNvCxnSpPr>
          <p:nvPr/>
        </p:nvCxnSpPr>
        <p:spPr bwMode="auto">
          <a:xfrm flipV="1">
            <a:off x="6311900" y="3671888"/>
            <a:ext cx="447675"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493" name="AutoShape 37">
            <a:extLst>
              <a:ext uri="{FF2B5EF4-FFF2-40B4-BE49-F238E27FC236}">
                <a16:creationId xmlns:a16="http://schemas.microsoft.com/office/drawing/2014/main" id="{CCB2D651-349C-4910-978A-2B7FEC112EE7}"/>
              </a:ext>
            </a:extLst>
          </p:cNvPr>
          <p:cNvCxnSpPr>
            <a:cxnSpLocks noChangeShapeType="1"/>
            <a:stCxn id="275460" idx="0"/>
            <a:endCxn id="275494" idx="4"/>
          </p:cNvCxnSpPr>
          <p:nvPr/>
        </p:nvCxnSpPr>
        <p:spPr bwMode="auto">
          <a:xfrm flipH="1" flipV="1">
            <a:off x="6759575" y="3671888"/>
            <a:ext cx="457200"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5494" name="AutoShape 38">
            <a:extLst>
              <a:ext uri="{FF2B5EF4-FFF2-40B4-BE49-F238E27FC236}">
                <a16:creationId xmlns:a16="http://schemas.microsoft.com/office/drawing/2014/main" id="{5756BF0C-72CF-44F3-94C3-8A64025DE394}"/>
              </a:ext>
            </a:extLst>
          </p:cNvPr>
          <p:cNvSpPr>
            <a:spLocks noChangeArrowheads="1"/>
          </p:cNvSpPr>
          <p:nvPr/>
        </p:nvSpPr>
        <p:spPr bwMode="auto">
          <a:xfrm>
            <a:off x="6530975"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6</a:t>
            </a:r>
          </a:p>
        </p:txBody>
      </p:sp>
      <p:sp>
        <p:nvSpPr>
          <p:cNvPr id="275495" name="AutoShape 39">
            <a:extLst>
              <a:ext uri="{FF2B5EF4-FFF2-40B4-BE49-F238E27FC236}">
                <a16:creationId xmlns:a16="http://schemas.microsoft.com/office/drawing/2014/main" id="{23DF7B87-E631-4E6E-A0F6-46405D523242}"/>
              </a:ext>
            </a:extLst>
          </p:cNvPr>
          <p:cNvSpPr>
            <a:spLocks noChangeArrowheads="1"/>
          </p:cNvSpPr>
          <p:nvPr/>
        </p:nvSpPr>
        <p:spPr bwMode="auto">
          <a:xfrm>
            <a:off x="3457575" y="20097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8</a:t>
            </a:r>
          </a:p>
        </p:txBody>
      </p:sp>
      <p:cxnSp>
        <p:nvCxnSpPr>
          <p:cNvPr id="275496" name="AutoShape 40">
            <a:extLst>
              <a:ext uri="{FF2B5EF4-FFF2-40B4-BE49-F238E27FC236}">
                <a16:creationId xmlns:a16="http://schemas.microsoft.com/office/drawing/2014/main" id="{B9CF3A21-0292-468D-BAB5-3974F6B6F7C5}"/>
              </a:ext>
            </a:extLst>
          </p:cNvPr>
          <p:cNvCxnSpPr>
            <a:cxnSpLocks noChangeShapeType="1"/>
            <a:stCxn id="275494" idx="0"/>
            <a:endCxn id="275498" idx="4"/>
          </p:cNvCxnSpPr>
          <p:nvPr/>
        </p:nvCxnSpPr>
        <p:spPr bwMode="auto">
          <a:xfrm flipV="1">
            <a:off x="6759575" y="2514600"/>
            <a:ext cx="447675" cy="6715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5497" name="AutoShape 41">
            <a:extLst>
              <a:ext uri="{FF2B5EF4-FFF2-40B4-BE49-F238E27FC236}">
                <a16:creationId xmlns:a16="http://schemas.microsoft.com/office/drawing/2014/main" id="{0796156E-5F74-40DA-A00F-CD8FF6CE174A}"/>
              </a:ext>
            </a:extLst>
          </p:cNvPr>
          <p:cNvCxnSpPr>
            <a:cxnSpLocks noChangeShapeType="1"/>
            <a:stCxn id="275461" idx="0"/>
            <a:endCxn id="275498" idx="4"/>
          </p:cNvCxnSpPr>
          <p:nvPr/>
        </p:nvCxnSpPr>
        <p:spPr bwMode="auto">
          <a:xfrm flipH="1" flipV="1">
            <a:off x="7207250" y="2514600"/>
            <a:ext cx="492125" cy="6572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5498" name="AutoShape 42">
            <a:extLst>
              <a:ext uri="{FF2B5EF4-FFF2-40B4-BE49-F238E27FC236}">
                <a16:creationId xmlns:a16="http://schemas.microsoft.com/office/drawing/2014/main" id="{AB77DE70-32B1-4050-8396-B1FE3C1015D5}"/>
              </a:ext>
            </a:extLst>
          </p:cNvPr>
          <p:cNvSpPr>
            <a:spLocks noChangeArrowheads="1"/>
          </p:cNvSpPr>
          <p:nvPr/>
        </p:nvSpPr>
        <p:spPr bwMode="auto">
          <a:xfrm>
            <a:off x="6978650" y="2043113"/>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11</a:t>
            </a:r>
          </a:p>
        </p:txBody>
      </p:sp>
    </p:spTree>
  </p:cSld>
  <p:clrMapOvr>
    <a:masterClrMapping/>
  </p:clrMapOvr>
  <p:transition spd="slow">
    <p:wip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82" name="Rectangle 2">
            <a:extLst>
              <a:ext uri="{FF2B5EF4-FFF2-40B4-BE49-F238E27FC236}">
                <a16:creationId xmlns:a16="http://schemas.microsoft.com/office/drawing/2014/main" id="{579A45ED-2535-448A-8150-0587BA3AC0FE}"/>
              </a:ext>
            </a:extLst>
          </p:cNvPr>
          <p:cNvSpPr>
            <a:spLocks noGrp="1" noChangeArrowheads="1"/>
          </p:cNvSpPr>
          <p:nvPr>
            <p:ph type="title"/>
          </p:nvPr>
        </p:nvSpPr>
        <p:spPr/>
        <p:txBody>
          <a:bodyPr/>
          <a:lstStyle/>
          <a:p>
            <a:r>
              <a:rPr lang="en-US" altLang="en-US"/>
              <a:t>Step 8</a:t>
            </a:r>
          </a:p>
        </p:txBody>
      </p:sp>
      <p:sp>
        <p:nvSpPr>
          <p:cNvPr id="276483" name="AutoShape 3">
            <a:extLst>
              <a:ext uri="{FF2B5EF4-FFF2-40B4-BE49-F238E27FC236}">
                <a16:creationId xmlns:a16="http://schemas.microsoft.com/office/drawing/2014/main" id="{BE5C88FB-9C45-4FA0-9132-C7AAEDE03B2C}"/>
              </a:ext>
            </a:extLst>
          </p:cNvPr>
          <p:cNvSpPr>
            <a:spLocks noChangeArrowheads="1"/>
          </p:cNvSpPr>
          <p:nvPr/>
        </p:nvSpPr>
        <p:spPr bwMode="auto">
          <a:xfrm>
            <a:off x="608330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76484" name="AutoShape 4">
            <a:extLst>
              <a:ext uri="{FF2B5EF4-FFF2-40B4-BE49-F238E27FC236}">
                <a16:creationId xmlns:a16="http://schemas.microsoft.com/office/drawing/2014/main" id="{C04FB029-4A9E-46D8-9DE6-3DFE1DE0ADB9}"/>
              </a:ext>
            </a:extLst>
          </p:cNvPr>
          <p:cNvSpPr>
            <a:spLocks noChangeArrowheads="1"/>
          </p:cNvSpPr>
          <p:nvPr/>
        </p:nvSpPr>
        <p:spPr bwMode="auto">
          <a:xfrm>
            <a:off x="69881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76485" name="AutoShape 5">
            <a:extLst>
              <a:ext uri="{FF2B5EF4-FFF2-40B4-BE49-F238E27FC236}">
                <a16:creationId xmlns:a16="http://schemas.microsoft.com/office/drawing/2014/main" id="{2EBC3113-E064-49CF-AED3-5F6D72F88D95}"/>
              </a:ext>
            </a:extLst>
          </p:cNvPr>
          <p:cNvSpPr>
            <a:spLocks noChangeArrowheads="1"/>
          </p:cNvSpPr>
          <p:nvPr/>
        </p:nvSpPr>
        <p:spPr bwMode="auto">
          <a:xfrm>
            <a:off x="7470775" y="3186113"/>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76486" name="Text Box 6">
            <a:extLst>
              <a:ext uri="{FF2B5EF4-FFF2-40B4-BE49-F238E27FC236}">
                <a16:creationId xmlns:a16="http://schemas.microsoft.com/office/drawing/2014/main" id="{D909148F-02B8-4318-8D2A-B2D4914F282D}"/>
              </a:ext>
            </a:extLst>
          </p:cNvPr>
          <p:cNvSpPr txBox="1">
            <a:spLocks noChangeArrowheads="1"/>
          </p:cNvSpPr>
          <p:nvPr/>
        </p:nvSpPr>
        <p:spPr bwMode="auto">
          <a:xfrm>
            <a:off x="7081838" y="48879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76487" name="Text Box 7">
            <a:extLst>
              <a:ext uri="{FF2B5EF4-FFF2-40B4-BE49-F238E27FC236}">
                <a16:creationId xmlns:a16="http://schemas.microsoft.com/office/drawing/2014/main" id="{4E49722D-1B03-4CA4-8A06-090D638B9C5B}"/>
              </a:ext>
            </a:extLst>
          </p:cNvPr>
          <p:cNvSpPr txBox="1">
            <a:spLocks noChangeArrowheads="1"/>
          </p:cNvSpPr>
          <p:nvPr/>
        </p:nvSpPr>
        <p:spPr bwMode="auto">
          <a:xfrm>
            <a:off x="7540625" y="36718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76488" name="Text Box 8">
            <a:extLst>
              <a:ext uri="{FF2B5EF4-FFF2-40B4-BE49-F238E27FC236}">
                <a16:creationId xmlns:a16="http://schemas.microsoft.com/office/drawing/2014/main" id="{915C4487-DDFB-44A1-8030-BE4B936342BB}"/>
              </a:ext>
            </a:extLst>
          </p:cNvPr>
          <p:cNvSpPr txBox="1">
            <a:spLocks noChangeArrowheads="1"/>
          </p:cNvSpPr>
          <p:nvPr/>
        </p:nvSpPr>
        <p:spPr bwMode="auto">
          <a:xfrm>
            <a:off x="6083300" y="488791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76489" name="AutoShape 9">
            <a:extLst>
              <a:ext uri="{FF2B5EF4-FFF2-40B4-BE49-F238E27FC236}">
                <a16:creationId xmlns:a16="http://schemas.microsoft.com/office/drawing/2014/main" id="{F5445BFB-CA91-4D0A-9687-63630DAD2392}"/>
              </a:ext>
            </a:extLst>
          </p:cNvPr>
          <p:cNvSpPr>
            <a:spLocks noChangeArrowheads="1"/>
          </p:cNvSpPr>
          <p:nvPr/>
        </p:nvSpPr>
        <p:spPr bwMode="auto">
          <a:xfrm>
            <a:off x="4284663"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6490" name="AutoShape 10">
            <a:extLst>
              <a:ext uri="{FF2B5EF4-FFF2-40B4-BE49-F238E27FC236}">
                <a16:creationId xmlns:a16="http://schemas.microsoft.com/office/drawing/2014/main" id="{CC2B84FB-FAE2-446F-AC71-29D295355CD8}"/>
              </a:ext>
            </a:extLst>
          </p:cNvPr>
          <p:cNvSpPr>
            <a:spLocks noChangeArrowheads="1"/>
          </p:cNvSpPr>
          <p:nvPr/>
        </p:nvSpPr>
        <p:spPr bwMode="auto">
          <a:xfrm>
            <a:off x="518160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6491" name="Text Box 11">
            <a:extLst>
              <a:ext uri="{FF2B5EF4-FFF2-40B4-BE49-F238E27FC236}">
                <a16:creationId xmlns:a16="http://schemas.microsoft.com/office/drawing/2014/main" id="{23011030-161A-47AE-AE40-AE301AAE17E2}"/>
              </a:ext>
            </a:extLst>
          </p:cNvPr>
          <p:cNvSpPr txBox="1">
            <a:spLocks noChangeArrowheads="1"/>
          </p:cNvSpPr>
          <p:nvPr/>
        </p:nvSpPr>
        <p:spPr bwMode="auto">
          <a:xfrm>
            <a:off x="4354513" y="4887913"/>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76492" name="Text Box 12">
            <a:extLst>
              <a:ext uri="{FF2B5EF4-FFF2-40B4-BE49-F238E27FC236}">
                <a16:creationId xmlns:a16="http://schemas.microsoft.com/office/drawing/2014/main" id="{E625E44A-254C-4B7D-9E3E-FD4EEF856311}"/>
              </a:ext>
            </a:extLst>
          </p:cNvPr>
          <p:cNvSpPr txBox="1">
            <a:spLocks noChangeArrowheads="1"/>
          </p:cNvSpPr>
          <p:nvPr/>
        </p:nvSpPr>
        <p:spPr bwMode="auto">
          <a:xfrm>
            <a:off x="5233988" y="4887913"/>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cxnSp>
        <p:nvCxnSpPr>
          <p:cNvPr id="276493" name="AutoShape 13">
            <a:extLst>
              <a:ext uri="{FF2B5EF4-FFF2-40B4-BE49-F238E27FC236}">
                <a16:creationId xmlns:a16="http://schemas.microsoft.com/office/drawing/2014/main" id="{4008546D-D10B-4F27-AC9A-219F01EAFA66}"/>
              </a:ext>
            </a:extLst>
          </p:cNvPr>
          <p:cNvCxnSpPr>
            <a:cxnSpLocks noChangeShapeType="1"/>
            <a:stCxn id="276489" idx="0"/>
            <a:endCxn id="276495" idx="4"/>
          </p:cNvCxnSpPr>
          <p:nvPr/>
        </p:nvCxnSpPr>
        <p:spPr bwMode="auto">
          <a:xfrm flipV="1">
            <a:off x="4513263" y="3671888"/>
            <a:ext cx="439737"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494" name="AutoShape 14">
            <a:extLst>
              <a:ext uri="{FF2B5EF4-FFF2-40B4-BE49-F238E27FC236}">
                <a16:creationId xmlns:a16="http://schemas.microsoft.com/office/drawing/2014/main" id="{9DCD46FB-2C21-4B50-83D7-792930C3F245}"/>
              </a:ext>
            </a:extLst>
          </p:cNvPr>
          <p:cNvCxnSpPr>
            <a:cxnSpLocks noChangeShapeType="1"/>
            <a:stCxn id="276490" idx="0"/>
            <a:endCxn id="276495" idx="4"/>
          </p:cNvCxnSpPr>
          <p:nvPr/>
        </p:nvCxnSpPr>
        <p:spPr bwMode="auto">
          <a:xfrm flipH="1" flipV="1">
            <a:off x="4953000" y="3671888"/>
            <a:ext cx="457200"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495" name="AutoShape 15">
            <a:extLst>
              <a:ext uri="{FF2B5EF4-FFF2-40B4-BE49-F238E27FC236}">
                <a16:creationId xmlns:a16="http://schemas.microsoft.com/office/drawing/2014/main" id="{282C05BC-FAF4-47BD-9065-44FDBFDA87A3}"/>
              </a:ext>
            </a:extLst>
          </p:cNvPr>
          <p:cNvSpPr>
            <a:spLocks noChangeArrowheads="1"/>
          </p:cNvSpPr>
          <p:nvPr/>
        </p:nvSpPr>
        <p:spPr bwMode="auto">
          <a:xfrm>
            <a:off x="4724400"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nvGrpSpPr>
          <p:cNvPr id="276496" name="Group 16">
            <a:extLst>
              <a:ext uri="{FF2B5EF4-FFF2-40B4-BE49-F238E27FC236}">
                <a16:creationId xmlns:a16="http://schemas.microsoft.com/office/drawing/2014/main" id="{270DA280-DBD0-42E2-80A6-697412923138}"/>
              </a:ext>
            </a:extLst>
          </p:cNvPr>
          <p:cNvGrpSpPr>
            <a:grpSpLocks/>
          </p:cNvGrpSpPr>
          <p:nvPr/>
        </p:nvGrpSpPr>
        <p:grpSpPr bwMode="auto">
          <a:xfrm>
            <a:off x="685800" y="3200400"/>
            <a:ext cx="3141663" cy="3316288"/>
            <a:chOff x="432" y="2016"/>
            <a:chExt cx="1979" cy="2089"/>
          </a:xfrm>
        </p:grpSpPr>
        <p:cxnSp>
          <p:nvCxnSpPr>
            <p:cNvPr id="276497" name="AutoShape 17">
              <a:extLst>
                <a:ext uri="{FF2B5EF4-FFF2-40B4-BE49-F238E27FC236}">
                  <a16:creationId xmlns:a16="http://schemas.microsoft.com/office/drawing/2014/main" id="{2FF2CF63-7C62-4883-A7E0-83DBFB4E5B7B}"/>
                </a:ext>
              </a:extLst>
            </p:cNvPr>
            <p:cNvCxnSpPr>
              <a:cxnSpLocks noChangeShapeType="1"/>
            </p:cNvCxnSpPr>
            <p:nvPr/>
          </p:nvCxnSpPr>
          <p:spPr bwMode="auto">
            <a:xfrm flipV="1">
              <a:off x="576"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498" name="AutoShape 18">
              <a:extLst>
                <a:ext uri="{FF2B5EF4-FFF2-40B4-BE49-F238E27FC236}">
                  <a16:creationId xmlns:a16="http://schemas.microsoft.com/office/drawing/2014/main" id="{510BFA9F-4600-4688-B18B-583DE4EA0741}"/>
                </a:ext>
              </a:extLst>
            </p:cNvPr>
            <p:cNvCxnSpPr>
              <a:cxnSpLocks noChangeShapeType="1"/>
            </p:cNvCxnSpPr>
            <p:nvPr/>
          </p:nvCxnSpPr>
          <p:spPr bwMode="auto">
            <a:xfrm flipH="1" flipV="1">
              <a:off x="864"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499" name="AutoShape 19">
              <a:extLst>
                <a:ext uri="{FF2B5EF4-FFF2-40B4-BE49-F238E27FC236}">
                  <a16:creationId xmlns:a16="http://schemas.microsoft.com/office/drawing/2014/main" id="{0EBF2C10-210C-4F54-96AD-1A5E34483DAD}"/>
                </a:ext>
              </a:extLst>
            </p:cNvPr>
            <p:cNvSpPr>
              <a:spLocks noChangeArrowheads="1"/>
            </p:cNvSpPr>
            <p:nvPr/>
          </p:nvSpPr>
          <p:spPr bwMode="auto">
            <a:xfrm>
              <a:off x="2123"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6500" name="AutoShape 20">
              <a:extLst>
                <a:ext uri="{FF2B5EF4-FFF2-40B4-BE49-F238E27FC236}">
                  <a16:creationId xmlns:a16="http://schemas.microsoft.com/office/drawing/2014/main" id="{7A45EE49-2C1F-4730-B5A5-774FD5B366C2}"/>
                </a:ext>
              </a:extLst>
            </p:cNvPr>
            <p:cNvSpPr>
              <a:spLocks noChangeArrowheads="1"/>
            </p:cNvSpPr>
            <p:nvPr/>
          </p:nvSpPr>
          <p:spPr bwMode="auto">
            <a:xfrm>
              <a:off x="43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6501" name="AutoShape 21">
              <a:extLst>
                <a:ext uri="{FF2B5EF4-FFF2-40B4-BE49-F238E27FC236}">
                  <a16:creationId xmlns:a16="http://schemas.microsoft.com/office/drawing/2014/main" id="{71E4D2F2-E569-4A89-8E6B-F8AE169B204A}"/>
                </a:ext>
              </a:extLst>
            </p:cNvPr>
            <p:cNvSpPr>
              <a:spLocks noChangeArrowheads="1"/>
            </p:cNvSpPr>
            <p:nvPr/>
          </p:nvSpPr>
          <p:spPr bwMode="auto">
            <a:xfrm>
              <a:off x="157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6502" name="AutoShape 22">
              <a:extLst>
                <a:ext uri="{FF2B5EF4-FFF2-40B4-BE49-F238E27FC236}">
                  <a16:creationId xmlns:a16="http://schemas.microsoft.com/office/drawing/2014/main" id="{EB90B7F9-F119-49B1-B0CB-56124312DB1A}"/>
                </a:ext>
              </a:extLst>
            </p:cNvPr>
            <p:cNvSpPr>
              <a:spLocks noChangeArrowheads="1"/>
            </p:cNvSpPr>
            <p:nvPr/>
          </p:nvSpPr>
          <p:spPr bwMode="auto">
            <a:xfrm>
              <a:off x="100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6503" name="Text Box 23">
              <a:extLst>
                <a:ext uri="{FF2B5EF4-FFF2-40B4-BE49-F238E27FC236}">
                  <a16:creationId xmlns:a16="http://schemas.microsoft.com/office/drawing/2014/main" id="{033B2CA8-CE58-42A1-9F0A-2930E90B1CB4}"/>
                </a:ext>
              </a:extLst>
            </p:cNvPr>
            <p:cNvSpPr txBox="1">
              <a:spLocks noChangeArrowheads="1"/>
            </p:cNvSpPr>
            <p:nvPr/>
          </p:nvSpPr>
          <p:spPr bwMode="auto">
            <a:xfrm>
              <a:off x="465" y="381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76504" name="Text Box 24">
              <a:extLst>
                <a:ext uri="{FF2B5EF4-FFF2-40B4-BE49-F238E27FC236}">
                  <a16:creationId xmlns:a16="http://schemas.microsoft.com/office/drawing/2014/main" id="{B82CB270-C753-4381-938A-891A25A5EE97}"/>
                </a:ext>
              </a:extLst>
            </p:cNvPr>
            <p:cNvSpPr txBox="1">
              <a:spLocks noChangeArrowheads="1"/>
            </p:cNvSpPr>
            <p:nvPr/>
          </p:nvSpPr>
          <p:spPr bwMode="auto">
            <a:xfrm>
              <a:off x="1025" y="3817"/>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76505" name="Text Box 25">
              <a:extLst>
                <a:ext uri="{FF2B5EF4-FFF2-40B4-BE49-F238E27FC236}">
                  <a16:creationId xmlns:a16="http://schemas.microsoft.com/office/drawing/2014/main" id="{E7BB7FD6-44CF-4D78-89A7-03416EDC05CD}"/>
                </a:ext>
              </a:extLst>
            </p:cNvPr>
            <p:cNvSpPr txBox="1">
              <a:spLocks noChangeArrowheads="1"/>
            </p:cNvSpPr>
            <p:nvPr/>
          </p:nvSpPr>
          <p:spPr bwMode="auto">
            <a:xfrm>
              <a:off x="1584" y="3817"/>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76506" name="Text Box 26">
              <a:extLst>
                <a:ext uri="{FF2B5EF4-FFF2-40B4-BE49-F238E27FC236}">
                  <a16:creationId xmlns:a16="http://schemas.microsoft.com/office/drawing/2014/main" id="{838561F4-7688-4B8B-B1FC-BC9488628683}"/>
                </a:ext>
              </a:extLst>
            </p:cNvPr>
            <p:cNvSpPr txBox="1">
              <a:spLocks noChangeArrowheads="1"/>
            </p:cNvSpPr>
            <p:nvPr/>
          </p:nvSpPr>
          <p:spPr bwMode="auto">
            <a:xfrm>
              <a:off x="2178" y="3817"/>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76507" name="AutoShape 27">
              <a:extLst>
                <a:ext uri="{FF2B5EF4-FFF2-40B4-BE49-F238E27FC236}">
                  <a16:creationId xmlns:a16="http://schemas.microsoft.com/office/drawing/2014/main" id="{B393DD1B-C3F9-482C-9791-E9980EA6C9E2}"/>
                </a:ext>
              </a:extLst>
            </p:cNvPr>
            <p:cNvSpPr>
              <a:spLocks noChangeArrowheads="1"/>
            </p:cNvSpPr>
            <p:nvPr/>
          </p:nvSpPr>
          <p:spPr bwMode="auto">
            <a:xfrm>
              <a:off x="714"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6508" name="AutoShape 28">
              <a:extLst>
                <a:ext uri="{FF2B5EF4-FFF2-40B4-BE49-F238E27FC236}">
                  <a16:creationId xmlns:a16="http://schemas.microsoft.com/office/drawing/2014/main" id="{4EE96799-571C-4BB5-BDE4-64D79D0672F3}"/>
                </a:ext>
              </a:extLst>
            </p:cNvPr>
            <p:cNvCxnSpPr>
              <a:cxnSpLocks noChangeShapeType="1"/>
            </p:cNvCxnSpPr>
            <p:nvPr/>
          </p:nvCxnSpPr>
          <p:spPr bwMode="auto">
            <a:xfrm flipV="1">
              <a:off x="1716"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09" name="AutoShape 29">
              <a:extLst>
                <a:ext uri="{FF2B5EF4-FFF2-40B4-BE49-F238E27FC236}">
                  <a16:creationId xmlns:a16="http://schemas.microsoft.com/office/drawing/2014/main" id="{95AE8B25-6583-42C7-8768-A0819B92D3B3}"/>
                </a:ext>
              </a:extLst>
            </p:cNvPr>
            <p:cNvCxnSpPr>
              <a:cxnSpLocks noChangeShapeType="1"/>
            </p:cNvCxnSpPr>
            <p:nvPr/>
          </p:nvCxnSpPr>
          <p:spPr bwMode="auto">
            <a:xfrm flipH="1" flipV="1">
              <a:off x="2004"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10" name="AutoShape 30">
              <a:extLst>
                <a:ext uri="{FF2B5EF4-FFF2-40B4-BE49-F238E27FC236}">
                  <a16:creationId xmlns:a16="http://schemas.microsoft.com/office/drawing/2014/main" id="{3ADC8B6A-1D09-48BE-9865-712E3F48891E}"/>
                </a:ext>
              </a:extLst>
            </p:cNvPr>
            <p:cNvSpPr>
              <a:spLocks noChangeArrowheads="1"/>
            </p:cNvSpPr>
            <p:nvPr/>
          </p:nvSpPr>
          <p:spPr bwMode="auto">
            <a:xfrm>
              <a:off x="1860"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6511" name="AutoShape 31">
              <a:extLst>
                <a:ext uri="{FF2B5EF4-FFF2-40B4-BE49-F238E27FC236}">
                  <a16:creationId xmlns:a16="http://schemas.microsoft.com/office/drawing/2014/main" id="{D0C48672-10AB-4EEA-8315-4CF67DB88604}"/>
                </a:ext>
              </a:extLst>
            </p:cNvPr>
            <p:cNvCxnSpPr>
              <a:cxnSpLocks noChangeShapeType="1"/>
            </p:cNvCxnSpPr>
            <p:nvPr/>
          </p:nvCxnSpPr>
          <p:spPr bwMode="auto">
            <a:xfrm flipV="1">
              <a:off x="855" y="2304"/>
              <a:ext cx="582" cy="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12" name="AutoShape 32">
              <a:extLst>
                <a:ext uri="{FF2B5EF4-FFF2-40B4-BE49-F238E27FC236}">
                  <a16:creationId xmlns:a16="http://schemas.microsoft.com/office/drawing/2014/main" id="{4CF0FE78-2D78-460A-B5BA-A096DCD590E7}"/>
                </a:ext>
              </a:extLst>
            </p:cNvPr>
            <p:cNvCxnSpPr>
              <a:cxnSpLocks noChangeShapeType="1"/>
            </p:cNvCxnSpPr>
            <p:nvPr/>
          </p:nvCxnSpPr>
          <p:spPr bwMode="auto">
            <a:xfrm flipH="1" flipV="1">
              <a:off x="1437" y="2304"/>
              <a:ext cx="567" cy="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13" name="AutoShape 33">
              <a:extLst>
                <a:ext uri="{FF2B5EF4-FFF2-40B4-BE49-F238E27FC236}">
                  <a16:creationId xmlns:a16="http://schemas.microsoft.com/office/drawing/2014/main" id="{4FE966F9-1599-4393-B558-BD2E8783DF1B}"/>
                </a:ext>
              </a:extLst>
            </p:cNvPr>
            <p:cNvSpPr>
              <a:spLocks noChangeArrowheads="1"/>
            </p:cNvSpPr>
            <p:nvPr/>
          </p:nvSpPr>
          <p:spPr bwMode="auto">
            <a:xfrm>
              <a:off x="1284" y="2016"/>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cxnSp>
        <p:nvCxnSpPr>
          <p:cNvPr id="276514" name="AutoShape 34">
            <a:extLst>
              <a:ext uri="{FF2B5EF4-FFF2-40B4-BE49-F238E27FC236}">
                <a16:creationId xmlns:a16="http://schemas.microsoft.com/office/drawing/2014/main" id="{F46137AA-134D-4463-B781-2EF4D4479CAF}"/>
              </a:ext>
            </a:extLst>
          </p:cNvPr>
          <p:cNvCxnSpPr>
            <a:cxnSpLocks noChangeShapeType="1"/>
            <a:stCxn id="276513" idx="0"/>
            <a:endCxn id="276519" idx="4"/>
          </p:cNvCxnSpPr>
          <p:nvPr/>
        </p:nvCxnSpPr>
        <p:spPr bwMode="auto">
          <a:xfrm flipV="1">
            <a:off x="2266950" y="2481263"/>
            <a:ext cx="1419225" cy="7048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15" name="AutoShape 35">
            <a:extLst>
              <a:ext uri="{FF2B5EF4-FFF2-40B4-BE49-F238E27FC236}">
                <a16:creationId xmlns:a16="http://schemas.microsoft.com/office/drawing/2014/main" id="{0B31F59F-04BA-4DAE-9938-2E044A0D6477}"/>
              </a:ext>
            </a:extLst>
          </p:cNvPr>
          <p:cNvCxnSpPr>
            <a:cxnSpLocks noChangeShapeType="1"/>
            <a:stCxn id="276495" idx="0"/>
            <a:endCxn id="276519" idx="4"/>
          </p:cNvCxnSpPr>
          <p:nvPr/>
        </p:nvCxnSpPr>
        <p:spPr bwMode="auto">
          <a:xfrm flipH="1" flipV="1">
            <a:off x="3686175" y="2481263"/>
            <a:ext cx="1266825" cy="7048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16" name="AutoShape 36">
            <a:extLst>
              <a:ext uri="{FF2B5EF4-FFF2-40B4-BE49-F238E27FC236}">
                <a16:creationId xmlns:a16="http://schemas.microsoft.com/office/drawing/2014/main" id="{F23EE15F-C756-4171-B6DA-0359EFAEB763}"/>
              </a:ext>
            </a:extLst>
          </p:cNvPr>
          <p:cNvCxnSpPr>
            <a:cxnSpLocks noChangeShapeType="1"/>
            <a:stCxn id="276483" idx="0"/>
            <a:endCxn id="276518" idx="4"/>
          </p:cNvCxnSpPr>
          <p:nvPr/>
        </p:nvCxnSpPr>
        <p:spPr bwMode="auto">
          <a:xfrm flipV="1">
            <a:off x="6311900" y="3671888"/>
            <a:ext cx="447675"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17" name="AutoShape 37">
            <a:extLst>
              <a:ext uri="{FF2B5EF4-FFF2-40B4-BE49-F238E27FC236}">
                <a16:creationId xmlns:a16="http://schemas.microsoft.com/office/drawing/2014/main" id="{CF149659-F80D-49BE-B1AF-06FD01DD0570}"/>
              </a:ext>
            </a:extLst>
          </p:cNvPr>
          <p:cNvCxnSpPr>
            <a:cxnSpLocks noChangeShapeType="1"/>
            <a:stCxn id="276484" idx="0"/>
            <a:endCxn id="276518" idx="4"/>
          </p:cNvCxnSpPr>
          <p:nvPr/>
        </p:nvCxnSpPr>
        <p:spPr bwMode="auto">
          <a:xfrm flipH="1" flipV="1">
            <a:off x="6759575" y="3671888"/>
            <a:ext cx="457200"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18" name="AutoShape 38">
            <a:extLst>
              <a:ext uri="{FF2B5EF4-FFF2-40B4-BE49-F238E27FC236}">
                <a16:creationId xmlns:a16="http://schemas.microsoft.com/office/drawing/2014/main" id="{57791F48-4AFC-441D-9E64-D42893DD6980}"/>
              </a:ext>
            </a:extLst>
          </p:cNvPr>
          <p:cNvSpPr>
            <a:spLocks noChangeArrowheads="1"/>
          </p:cNvSpPr>
          <p:nvPr/>
        </p:nvSpPr>
        <p:spPr bwMode="auto">
          <a:xfrm>
            <a:off x="6530975"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6</a:t>
            </a:r>
          </a:p>
        </p:txBody>
      </p:sp>
      <p:sp>
        <p:nvSpPr>
          <p:cNvPr id="276519" name="AutoShape 39">
            <a:extLst>
              <a:ext uri="{FF2B5EF4-FFF2-40B4-BE49-F238E27FC236}">
                <a16:creationId xmlns:a16="http://schemas.microsoft.com/office/drawing/2014/main" id="{36342364-AAA9-4805-AB0B-607B2B1B7BBB}"/>
              </a:ext>
            </a:extLst>
          </p:cNvPr>
          <p:cNvSpPr>
            <a:spLocks noChangeArrowheads="1"/>
          </p:cNvSpPr>
          <p:nvPr/>
        </p:nvSpPr>
        <p:spPr bwMode="auto">
          <a:xfrm>
            <a:off x="3457575" y="20097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8</a:t>
            </a:r>
          </a:p>
        </p:txBody>
      </p:sp>
      <p:cxnSp>
        <p:nvCxnSpPr>
          <p:cNvPr id="276520" name="AutoShape 40">
            <a:extLst>
              <a:ext uri="{FF2B5EF4-FFF2-40B4-BE49-F238E27FC236}">
                <a16:creationId xmlns:a16="http://schemas.microsoft.com/office/drawing/2014/main" id="{21F08C18-206F-48C2-87F2-079A0A6C4C71}"/>
              </a:ext>
            </a:extLst>
          </p:cNvPr>
          <p:cNvCxnSpPr>
            <a:cxnSpLocks noChangeShapeType="1"/>
            <a:stCxn id="276518" idx="0"/>
            <a:endCxn id="276522" idx="4"/>
          </p:cNvCxnSpPr>
          <p:nvPr/>
        </p:nvCxnSpPr>
        <p:spPr bwMode="auto">
          <a:xfrm flipV="1">
            <a:off x="6759575" y="2514600"/>
            <a:ext cx="447675" cy="6715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21" name="AutoShape 41">
            <a:extLst>
              <a:ext uri="{FF2B5EF4-FFF2-40B4-BE49-F238E27FC236}">
                <a16:creationId xmlns:a16="http://schemas.microsoft.com/office/drawing/2014/main" id="{7A37A340-2AE9-4844-B875-D7748E43E870}"/>
              </a:ext>
            </a:extLst>
          </p:cNvPr>
          <p:cNvCxnSpPr>
            <a:cxnSpLocks noChangeShapeType="1"/>
            <a:stCxn id="276485" idx="0"/>
            <a:endCxn id="276522" idx="4"/>
          </p:cNvCxnSpPr>
          <p:nvPr/>
        </p:nvCxnSpPr>
        <p:spPr bwMode="auto">
          <a:xfrm flipH="1" flipV="1">
            <a:off x="7207250" y="2514600"/>
            <a:ext cx="492125" cy="6572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6522" name="AutoShape 42">
            <a:extLst>
              <a:ext uri="{FF2B5EF4-FFF2-40B4-BE49-F238E27FC236}">
                <a16:creationId xmlns:a16="http://schemas.microsoft.com/office/drawing/2014/main" id="{ADA97239-1F80-4BF8-BB79-3EA1F378F8F5}"/>
              </a:ext>
            </a:extLst>
          </p:cNvPr>
          <p:cNvSpPr>
            <a:spLocks noChangeArrowheads="1"/>
          </p:cNvSpPr>
          <p:nvPr/>
        </p:nvSpPr>
        <p:spPr bwMode="auto">
          <a:xfrm>
            <a:off x="6978650" y="2043113"/>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11</a:t>
            </a:r>
          </a:p>
        </p:txBody>
      </p:sp>
      <p:sp>
        <p:nvSpPr>
          <p:cNvPr id="276523" name="AutoShape 43">
            <a:extLst>
              <a:ext uri="{FF2B5EF4-FFF2-40B4-BE49-F238E27FC236}">
                <a16:creationId xmlns:a16="http://schemas.microsoft.com/office/drawing/2014/main" id="{12AFF28D-D008-4CE6-9EA7-E7A3BCBC64DE}"/>
              </a:ext>
            </a:extLst>
          </p:cNvPr>
          <p:cNvSpPr>
            <a:spLocks noChangeArrowheads="1"/>
          </p:cNvSpPr>
          <p:nvPr/>
        </p:nvSpPr>
        <p:spPr bwMode="auto">
          <a:xfrm>
            <a:off x="5233988" y="8382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19</a:t>
            </a:r>
          </a:p>
        </p:txBody>
      </p:sp>
      <p:cxnSp>
        <p:nvCxnSpPr>
          <p:cNvPr id="276524" name="AutoShape 44">
            <a:extLst>
              <a:ext uri="{FF2B5EF4-FFF2-40B4-BE49-F238E27FC236}">
                <a16:creationId xmlns:a16="http://schemas.microsoft.com/office/drawing/2014/main" id="{BCDAF4EB-D710-4E06-8B7F-CD8A3E2B3A58}"/>
              </a:ext>
            </a:extLst>
          </p:cNvPr>
          <p:cNvCxnSpPr>
            <a:cxnSpLocks noChangeShapeType="1"/>
            <a:stCxn id="276519" idx="0"/>
            <a:endCxn id="276523" idx="4"/>
          </p:cNvCxnSpPr>
          <p:nvPr/>
        </p:nvCxnSpPr>
        <p:spPr bwMode="auto">
          <a:xfrm flipV="1">
            <a:off x="3686175" y="1309688"/>
            <a:ext cx="1776413"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6525" name="AutoShape 45">
            <a:extLst>
              <a:ext uri="{FF2B5EF4-FFF2-40B4-BE49-F238E27FC236}">
                <a16:creationId xmlns:a16="http://schemas.microsoft.com/office/drawing/2014/main" id="{B732B270-FD88-402C-9A4F-EBC31D98C630}"/>
              </a:ext>
            </a:extLst>
          </p:cNvPr>
          <p:cNvCxnSpPr>
            <a:cxnSpLocks noChangeShapeType="1"/>
            <a:stCxn id="276522" idx="0"/>
            <a:endCxn id="276523" idx="4"/>
          </p:cNvCxnSpPr>
          <p:nvPr/>
        </p:nvCxnSpPr>
        <p:spPr bwMode="auto">
          <a:xfrm flipH="1" flipV="1">
            <a:off x="5462588" y="1309688"/>
            <a:ext cx="1744662" cy="71913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ransition spd="slow">
    <p:wip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506" name="Rectangle 2">
            <a:extLst>
              <a:ext uri="{FF2B5EF4-FFF2-40B4-BE49-F238E27FC236}">
                <a16:creationId xmlns:a16="http://schemas.microsoft.com/office/drawing/2014/main" id="{44A0881E-4813-4D23-AFC9-56DF14B31ED8}"/>
              </a:ext>
            </a:extLst>
          </p:cNvPr>
          <p:cNvSpPr>
            <a:spLocks noGrp="1" noChangeArrowheads="1"/>
          </p:cNvSpPr>
          <p:nvPr>
            <p:ph type="title"/>
          </p:nvPr>
        </p:nvSpPr>
        <p:spPr/>
        <p:txBody>
          <a:bodyPr/>
          <a:lstStyle/>
          <a:p>
            <a:r>
              <a:rPr lang="en-US" altLang="en-US"/>
              <a:t>Label edges</a:t>
            </a:r>
          </a:p>
        </p:txBody>
      </p:sp>
      <p:sp>
        <p:nvSpPr>
          <p:cNvPr id="277507" name="AutoShape 3">
            <a:extLst>
              <a:ext uri="{FF2B5EF4-FFF2-40B4-BE49-F238E27FC236}">
                <a16:creationId xmlns:a16="http://schemas.microsoft.com/office/drawing/2014/main" id="{6A5CE19A-1C71-4816-A0C0-3DAEF72C1811}"/>
              </a:ext>
            </a:extLst>
          </p:cNvPr>
          <p:cNvSpPr>
            <a:spLocks noChangeArrowheads="1"/>
          </p:cNvSpPr>
          <p:nvPr/>
        </p:nvSpPr>
        <p:spPr bwMode="auto">
          <a:xfrm>
            <a:off x="608330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3</a:t>
            </a:r>
          </a:p>
        </p:txBody>
      </p:sp>
      <p:sp>
        <p:nvSpPr>
          <p:cNvPr id="277508" name="AutoShape 4">
            <a:extLst>
              <a:ext uri="{FF2B5EF4-FFF2-40B4-BE49-F238E27FC236}">
                <a16:creationId xmlns:a16="http://schemas.microsoft.com/office/drawing/2014/main" id="{26690A2C-EDA9-4F93-A24C-9E004CEFCB15}"/>
              </a:ext>
            </a:extLst>
          </p:cNvPr>
          <p:cNvSpPr>
            <a:spLocks noChangeArrowheads="1"/>
          </p:cNvSpPr>
          <p:nvPr/>
        </p:nvSpPr>
        <p:spPr bwMode="auto">
          <a:xfrm>
            <a:off x="6988175"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3</a:t>
            </a:r>
          </a:p>
        </p:txBody>
      </p:sp>
      <p:sp>
        <p:nvSpPr>
          <p:cNvPr id="277509" name="AutoShape 5">
            <a:extLst>
              <a:ext uri="{FF2B5EF4-FFF2-40B4-BE49-F238E27FC236}">
                <a16:creationId xmlns:a16="http://schemas.microsoft.com/office/drawing/2014/main" id="{C2BD758A-BFF4-4F97-A404-02BF820D42AA}"/>
              </a:ext>
            </a:extLst>
          </p:cNvPr>
          <p:cNvSpPr>
            <a:spLocks noChangeArrowheads="1"/>
          </p:cNvSpPr>
          <p:nvPr/>
        </p:nvSpPr>
        <p:spPr bwMode="auto">
          <a:xfrm>
            <a:off x="7470775" y="3186113"/>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5</a:t>
            </a:r>
          </a:p>
        </p:txBody>
      </p:sp>
      <p:sp>
        <p:nvSpPr>
          <p:cNvPr id="277510" name="Text Box 6">
            <a:extLst>
              <a:ext uri="{FF2B5EF4-FFF2-40B4-BE49-F238E27FC236}">
                <a16:creationId xmlns:a16="http://schemas.microsoft.com/office/drawing/2014/main" id="{EA10A352-24CD-48D7-9273-5F70829E7C2C}"/>
              </a:ext>
            </a:extLst>
          </p:cNvPr>
          <p:cNvSpPr txBox="1">
            <a:spLocks noChangeArrowheads="1"/>
          </p:cNvSpPr>
          <p:nvPr/>
        </p:nvSpPr>
        <p:spPr bwMode="auto">
          <a:xfrm>
            <a:off x="7081838" y="4887913"/>
            <a:ext cx="2682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I</a:t>
            </a:r>
          </a:p>
        </p:txBody>
      </p:sp>
      <p:sp>
        <p:nvSpPr>
          <p:cNvPr id="277511" name="Text Box 7">
            <a:extLst>
              <a:ext uri="{FF2B5EF4-FFF2-40B4-BE49-F238E27FC236}">
                <a16:creationId xmlns:a16="http://schemas.microsoft.com/office/drawing/2014/main" id="{0D393D6E-F77D-42DA-8A41-E47F5FEC47AF}"/>
              </a:ext>
            </a:extLst>
          </p:cNvPr>
          <p:cNvSpPr txBox="1">
            <a:spLocks noChangeArrowheads="1"/>
          </p:cNvSpPr>
          <p:nvPr/>
        </p:nvSpPr>
        <p:spPr bwMode="auto">
          <a:xfrm>
            <a:off x="7540625" y="3671888"/>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S</a:t>
            </a:r>
          </a:p>
        </p:txBody>
      </p:sp>
      <p:sp>
        <p:nvSpPr>
          <p:cNvPr id="277512" name="Text Box 8">
            <a:extLst>
              <a:ext uri="{FF2B5EF4-FFF2-40B4-BE49-F238E27FC236}">
                <a16:creationId xmlns:a16="http://schemas.microsoft.com/office/drawing/2014/main" id="{682EF4F3-070E-4E35-944E-99E4241F02F1}"/>
              </a:ext>
            </a:extLst>
          </p:cNvPr>
          <p:cNvSpPr txBox="1">
            <a:spLocks noChangeArrowheads="1"/>
          </p:cNvSpPr>
          <p:nvPr/>
        </p:nvSpPr>
        <p:spPr bwMode="auto">
          <a:xfrm>
            <a:off x="6083300" y="488791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_</a:t>
            </a:r>
          </a:p>
        </p:txBody>
      </p:sp>
      <p:sp>
        <p:nvSpPr>
          <p:cNvPr id="277513" name="AutoShape 9">
            <a:extLst>
              <a:ext uri="{FF2B5EF4-FFF2-40B4-BE49-F238E27FC236}">
                <a16:creationId xmlns:a16="http://schemas.microsoft.com/office/drawing/2014/main" id="{611A37F5-E8BD-414B-892B-24FF899EB513}"/>
              </a:ext>
            </a:extLst>
          </p:cNvPr>
          <p:cNvSpPr>
            <a:spLocks noChangeArrowheads="1"/>
          </p:cNvSpPr>
          <p:nvPr/>
        </p:nvSpPr>
        <p:spPr bwMode="auto">
          <a:xfrm>
            <a:off x="4284663"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7514" name="AutoShape 10">
            <a:extLst>
              <a:ext uri="{FF2B5EF4-FFF2-40B4-BE49-F238E27FC236}">
                <a16:creationId xmlns:a16="http://schemas.microsoft.com/office/drawing/2014/main" id="{137DD752-1DE9-4375-AAA9-2CD3A3533C97}"/>
              </a:ext>
            </a:extLst>
          </p:cNvPr>
          <p:cNvSpPr>
            <a:spLocks noChangeArrowheads="1"/>
          </p:cNvSpPr>
          <p:nvPr/>
        </p:nvSpPr>
        <p:spPr bwMode="auto">
          <a:xfrm>
            <a:off x="5181600" y="4371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sp>
        <p:nvSpPr>
          <p:cNvPr id="277515" name="Text Box 11">
            <a:extLst>
              <a:ext uri="{FF2B5EF4-FFF2-40B4-BE49-F238E27FC236}">
                <a16:creationId xmlns:a16="http://schemas.microsoft.com/office/drawing/2014/main" id="{1F285BC4-ED63-44DD-BC49-33B8270C09A4}"/>
              </a:ext>
            </a:extLst>
          </p:cNvPr>
          <p:cNvSpPr txBox="1">
            <a:spLocks noChangeArrowheads="1"/>
          </p:cNvSpPr>
          <p:nvPr/>
        </p:nvSpPr>
        <p:spPr bwMode="auto">
          <a:xfrm>
            <a:off x="4354513" y="4887913"/>
            <a:ext cx="38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E</a:t>
            </a:r>
          </a:p>
        </p:txBody>
      </p:sp>
      <p:sp>
        <p:nvSpPr>
          <p:cNvPr id="277516" name="Text Box 12">
            <a:extLst>
              <a:ext uri="{FF2B5EF4-FFF2-40B4-BE49-F238E27FC236}">
                <a16:creationId xmlns:a16="http://schemas.microsoft.com/office/drawing/2014/main" id="{DCEDB078-881A-43E7-9985-1591668B8BFD}"/>
              </a:ext>
            </a:extLst>
          </p:cNvPr>
          <p:cNvSpPr txBox="1">
            <a:spLocks noChangeArrowheads="1"/>
          </p:cNvSpPr>
          <p:nvPr/>
        </p:nvSpPr>
        <p:spPr bwMode="auto">
          <a:xfrm>
            <a:off x="5233988" y="4887913"/>
            <a:ext cx="4048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H</a:t>
            </a:r>
          </a:p>
        </p:txBody>
      </p:sp>
      <p:cxnSp>
        <p:nvCxnSpPr>
          <p:cNvPr id="277517" name="AutoShape 13">
            <a:extLst>
              <a:ext uri="{FF2B5EF4-FFF2-40B4-BE49-F238E27FC236}">
                <a16:creationId xmlns:a16="http://schemas.microsoft.com/office/drawing/2014/main" id="{5538DD19-EB87-4B34-8E0C-041E0B8F4FB9}"/>
              </a:ext>
            </a:extLst>
          </p:cNvPr>
          <p:cNvCxnSpPr>
            <a:cxnSpLocks noChangeShapeType="1"/>
            <a:stCxn id="277513" idx="0"/>
            <a:endCxn id="277519" idx="4"/>
          </p:cNvCxnSpPr>
          <p:nvPr/>
        </p:nvCxnSpPr>
        <p:spPr bwMode="auto">
          <a:xfrm flipV="1">
            <a:off x="4513263" y="3671888"/>
            <a:ext cx="439737"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18" name="AutoShape 14">
            <a:extLst>
              <a:ext uri="{FF2B5EF4-FFF2-40B4-BE49-F238E27FC236}">
                <a16:creationId xmlns:a16="http://schemas.microsoft.com/office/drawing/2014/main" id="{C5EFD8C2-4DB2-494E-8248-9FF19A4DA53F}"/>
              </a:ext>
            </a:extLst>
          </p:cNvPr>
          <p:cNvCxnSpPr>
            <a:cxnSpLocks noChangeShapeType="1"/>
            <a:stCxn id="277514" idx="0"/>
            <a:endCxn id="277519" idx="4"/>
          </p:cNvCxnSpPr>
          <p:nvPr/>
        </p:nvCxnSpPr>
        <p:spPr bwMode="auto">
          <a:xfrm flipH="1" flipV="1">
            <a:off x="4953000" y="3671888"/>
            <a:ext cx="457200"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519" name="AutoShape 15">
            <a:extLst>
              <a:ext uri="{FF2B5EF4-FFF2-40B4-BE49-F238E27FC236}">
                <a16:creationId xmlns:a16="http://schemas.microsoft.com/office/drawing/2014/main" id="{21F9A02B-1767-4D76-9192-EAFC7FADB03D}"/>
              </a:ext>
            </a:extLst>
          </p:cNvPr>
          <p:cNvSpPr>
            <a:spLocks noChangeArrowheads="1"/>
          </p:cNvSpPr>
          <p:nvPr/>
        </p:nvSpPr>
        <p:spPr bwMode="auto">
          <a:xfrm>
            <a:off x="4724400"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nvGrpSpPr>
          <p:cNvPr id="277520" name="Group 16">
            <a:extLst>
              <a:ext uri="{FF2B5EF4-FFF2-40B4-BE49-F238E27FC236}">
                <a16:creationId xmlns:a16="http://schemas.microsoft.com/office/drawing/2014/main" id="{F1B6BEE4-787C-43B7-8FC5-8B8BD53BD94C}"/>
              </a:ext>
            </a:extLst>
          </p:cNvPr>
          <p:cNvGrpSpPr>
            <a:grpSpLocks/>
          </p:cNvGrpSpPr>
          <p:nvPr/>
        </p:nvGrpSpPr>
        <p:grpSpPr bwMode="auto">
          <a:xfrm>
            <a:off x="685800" y="3200400"/>
            <a:ext cx="3141663" cy="3316288"/>
            <a:chOff x="432" y="2016"/>
            <a:chExt cx="1979" cy="2089"/>
          </a:xfrm>
        </p:grpSpPr>
        <p:cxnSp>
          <p:nvCxnSpPr>
            <p:cNvPr id="277521" name="AutoShape 17">
              <a:extLst>
                <a:ext uri="{FF2B5EF4-FFF2-40B4-BE49-F238E27FC236}">
                  <a16:creationId xmlns:a16="http://schemas.microsoft.com/office/drawing/2014/main" id="{5815E925-89ED-41BE-830B-BC746E4FCA0D}"/>
                </a:ext>
              </a:extLst>
            </p:cNvPr>
            <p:cNvCxnSpPr>
              <a:cxnSpLocks noChangeShapeType="1"/>
            </p:cNvCxnSpPr>
            <p:nvPr/>
          </p:nvCxnSpPr>
          <p:spPr bwMode="auto">
            <a:xfrm flipV="1">
              <a:off x="576"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22" name="AutoShape 18">
              <a:extLst>
                <a:ext uri="{FF2B5EF4-FFF2-40B4-BE49-F238E27FC236}">
                  <a16:creationId xmlns:a16="http://schemas.microsoft.com/office/drawing/2014/main" id="{977A3E3B-7ED0-4584-9FB7-77A04D8D0988}"/>
                </a:ext>
              </a:extLst>
            </p:cNvPr>
            <p:cNvCxnSpPr>
              <a:cxnSpLocks noChangeShapeType="1"/>
            </p:cNvCxnSpPr>
            <p:nvPr/>
          </p:nvCxnSpPr>
          <p:spPr bwMode="auto">
            <a:xfrm flipH="1" flipV="1">
              <a:off x="864"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523" name="AutoShape 19">
              <a:extLst>
                <a:ext uri="{FF2B5EF4-FFF2-40B4-BE49-F238E27FC236}">
                  <a16:creationId xmlns:a16="http://schemas.microsoft.com/office/drawing/2014/main" id="{ED3CE0B5-AF55-474C-961F-34A052E7EE16}"/>
                </a:ext>
              </a:extLst>
            </p:cNvPr>
            <p:cNvSpPr>
              <a:spLocks noChangeArrowheads="1"/>
            </p:cNvSpPr>
            <p:nvPr/>
          </p:nvSpPr>
          <p:spPr bwMode="auto">
            <a:xfrm>
              <a:off x="2123"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7524" name="AutoShape 20">
              <a:extLst>
                <a:ext uri="{FF2B5EF4-FFF2-40B4-BE49-F238E27FC236}">
                  <a16:creationId xmlns:a16="http://schemas.microsoft.com/office/drawing/2014/main" id="{E03637D7-45D3-48E4-A663-728EE8B5759F}"/>
                </a:ext>
              </a:extLst>
            </p:cNvPr>
            <p:cNvSpPr>
              <a:spLocks noChangeArrowheads="1"/>
            </p:cNvSpPr>
            <p:nvPr/>
          </p:nvSpPr>
          <p:spPr bwMode="auto">
            <a:xfrm>
              <a:off x="43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7525" name="AutoShape 21">
              <a:extLst>
                <a:ext uri="{FF2B5EF4-FFF2-40B4-BE49-F238E27FC236}">
                  <a16:creationId xmlns:a16="http://schemas.microsoft.com/office/drawing/2014/main" id="{FF1EB5ED-9E0F-4245-9C90-D73F02333BF8}"/>
                </a:ext>
              </a:extLst>
            </p:cNvPr>
            <p:cNvSpPr>
              <a:spLocks noChangeArrowheads="1"/>
            </p:cNvSpPr>
            <p:nvPr/>
          </p:nvSpPr>
          <p:spPr bwMode="auto">
            <a:xfrm>
              <a:off x="157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1</a:t>
              </a:r>
            </a:p>
          </p:txBody>
        </p:sp>
        <p:sp>
          <p:nvSpPr>
            <p:cNvPr id="277526" name="AutoShape 22">
              <a:extLst>
                <a:ext uri="{FF2B5EF4-FFF2-40B4-BE49-F238E27FC236}">
                  <a16:creationId xmlns:a16="http://schemas.microsoft.com/office/drawing/2014/main" id="{95D7722A-3FA6-4813-AB54-C0FDDB452782}"/>
                </a:ext>
              </a:extLst>
            </p:cNvPr>
            <p:cNvSpPr>
              <a:spLocks noChangeArrowheads="1"/>
            </p:cNvSpPr>
            <p:nvPr/>
          </p:nvSpPr>
          <p:spPr bwMode="auto">
            <a:xfrm>
              <a:off x="1002" y="350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a:t>
              </a:r>
            </a:p>
          </p:txBody>
        </p:sp>
        <p:sp>
          <p:nvSpPr>
            <p:cNvPr id="277527" name="Text Box 23">
              <a:extLst>
                <a:ext uri="{FF2B5EF4-FFF2-40B4-BE49-F238E27FC236}">
                  <a16:creationId xmlns:a16="http://schemas.microsoft.com/office/drawing/2014/main" id="{31B47A36-DF8C-4A07-8FC8-5C3205BD72E2}"/>
                </a:ext>
              </a:extLst>
            </p:cNvPr>
            <p:cNvSpPr txBox="1">
              <a:spLocks noChangeArrowheads="1"/>
            </p:cNvSpPr>
            <p:nvPr/>
          </p:nvSpPr>
          <p:spPr bwMode="auto">
            <a:xfrm>
              <a:off x="465" y="3817"/>
              <a:ext cx="25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A</a:t>
              </a:r>
            </a:p>
          </p:txBody>
        </p:sp>
        <p:sp>
          <p:nvSpPr>
            <p:cNvPr id="277528" name="Text Box 24">
              <a:extLst>
                <a:ext uri="{FF2B5EF4-FFF2-40B4-BE49-F238E27FC236}">
                  <a16:creationId xmlns:a16="http://schemas.microsoft.com/office/drawing/2014/main" id="{51D562A2-432F-465C-952A-CC0C72DFAFB7}"/>
                </a:ext>
              </a:extLst>
            </p:cNvPr>
            <p:cNvSpPr txBox="1">
              <a:spLocks noChangeArrowheads="1"/>
            </p:cNvSpPr>
            <p:nvPr/>
          </p:nvSpPr>
          <p:spPr bwMode="auto">
            <a:xfrm>
              <a:off x="1025" y="3817"/>
              <a:ext cx="265"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G</a:t>
              </a:r>
            </a:p>
          </p:txBody>
        </p:sp>
        <p:sp>
          <p:nvSpPr>
            <p:cNvPr id="277529" name="Text Box 25">
              <a:extLst>
                <a:ext uri="{FF2B5EF4-FFF2-40B4-BE49-F238E27FC236}">
                  <a16:creationId xmlns:a16="http://schemas.microsoft.com/office/drawing/2014/main" id="{9455A543-F52E-4820-8C3B-FB1354CA072B}"/>
                </a:ext>
              </a:extLst>
            </p:cNvPr>
            <p:cNvSpPr txBox="1">
              <a:spLocks noChangeArrowheads="1"/>
            </p:cNvSpPr>
            <p:nvPr/>
          </p:nvSpPr>
          <p:spPr bwMode="auto">
            <a:xfrm>
              <a:off x="1584" y="3817"/>
              <a:ext cx="276"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00FF"/>
                  </a:solidFill>
                </a:rPr>
                <a:t>M</a:t>
              </a:r>
            </a:p>
          </p:txBody>
        </p:sp>
        <p:sp>
          <p:nvSpPr>
            <p:cNvPr id="277530" name="Text Box 26">
              <a:extLst>
                <a:ext uri="{FF2B5EF4-FFF2-40B4-BE49-F238E27FC236}">
                  <a16:creationId xmlns:a16="http://schemas.microsoft.com/office/drawing/2014/main" id="{FC260503-10B4-45CF-8721-249828B763F2}"/>
                </a:ext>
              </a:extLst>
            </p:cNvPr>
            <p:cNvSpPr txBox="1">
              <a:spLocks noChangeArrowheads="1"/>
            </p:cNvSpPr>
            <p:nvPr/>
          </p:nvSpPr>
          <p:spPr bwMode="auto">
            <a:xfrm>
              <a:off x="2178" y="3817"/>
              <a:ext cx="233"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0000FF"/>
                  </a:solidFill>
                </a:rPr>
                <a:t>T</a:t>
              </a:r>
            </a:p>
          </p:txBody>
        </p:sp>
        <p:sp>
          <p:nvSpPr>
            <p:cNvPr id="277531" name="AutoShape 27">
              <a:extLst>
                <a:ext uri="{FF2B5EF4-FFF2-40B4-BE49-F238E27FC236}">
                  <a16:creationId xmlns:a16="http://schemas.microsoft.com/office/drawing/2014/main" id="{AF70E06F-8F79-4BB6-A212-BF79B6D615E4}"/>
                </a:ext>
              </a:extLst>
            </p:cNvPr>
            <p:cNvSpPr>
              <a:spLocks noChangeArrowheads="1"/>
            </p:cNvSpPr>
            <p:nvPr/>
          </p:nvSpPr>
          <p:spPr bwMode="auto">
            <a:xfrm>
              <a:off x="714"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7532" name="AutoShape 28">
              <a:extLst>
                <a:ext uri="{FF2B5EF4-FFF2-40B4-BE49-F238E27FC236}">
                  <a16:creationId xmlns:a16="http://schemas.microsoft.com/office/drawing/2014/main" id="{D9301BFC-E031-49FB-856B-ECDBBB7A0894}"/>
                </a:ext>
              </a:extLst>
            </p:cNvPr>
            <p:cNvCxnSpPr>
              <a:cxnSpLocks noChangeShapeType="1"/>
            </p:cNvCxnSpPr>
            <p:nvPr/>
          </p:nvCxnSpPr>
          <p:spPr bwMode="auto">
            <a:xfrm flipV="1">
              <a:off x="1716" y="3042"/>
              <a:ext cx="288"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33" name="AutoShape 29">
              <a:extLst>
                <a:ext uri="{FF2B5EF4-FFF2-40B4-BE49-F238E27FC236}">
                  <a16:creationId xmlns:a16="http://schemas.microsoft.com/office/drawing/2014/main" id="{36971C7F-CC2A-48F3-A416-4504AD72DF76}"/>
                </a:ext>
              </a:extLst>
            </p:cNvPr>
            <p:cNvCxnSpPr>
              <a:cxnSpLocks noChangeShapeType="1"/>
            </p:cNvCxnSpPr>
            <p:nvPr/>
          </p:nvCxnSpPr>
          <p:spPr bwMode="auto">
            <a:xfrm flipH="1" flipV="1">
              <a:off x="2004" y="3042"/>
              <a:ext cx="282" cy="4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534" name="AutoShape 30">
              <a:extLst>
                <a:ext uri="{FF2B5EF4-FFF2-40B4-BE49-F238E27FC236}">
                  <a16:creationId xmlns:a16="http://schemas.microsoft.com/office/drawing/2014/main" id="{52D9036C-CF97-4B28-98D3-BCD082D044C6}"/>
                </a:ext>
              </a:extLst>
            </p:cNvPr>
            <p:cNvSpPr>
              <a:spLocks noChangeArrowheads="1"/>
            </p:cNvSpPr>
            <p:nvPr/>
          </p:nvSpPr>
          <p:spPr bwMode="auto">
            <a:xfrm>
              <a:off x="1860" y="2754"/>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2</a:t>
              </a:r>
            </a:p>
          </p:txBody>
        </p:sp>
        <p:cxnSp>
          <p:nvCxnSpPr>
            <p:cNvPr id="277535" name="AutoShape 31">
              <a:extLst>
                <a:ext uri="{FF2B5EF4-FFF2-40B4-BE49-F238E27FC236}">
                  <a16:creationId xmlns:a16="http://schemas.microsoft.com/office/drawing/2014/main" id="{E813F91B-A03F-434B-B2E0-7AE1C95D3266}"/>
                </a:ext>
              </a:extLst>
            </p:cNvPr>
            <p:cNvCxnSpPr>
              <a:cxnSpLocks noChangeShapeType="1"/>
            </p:cNvCxnSpPr>
            <p:nvPr/>
          </p:nvCxnSpPr>
          <p:spPr bwMode="auto">
            <a:xfrm flipV="1">
              <a:off x="855" y="2304"/>
              <a:ext cx="582" cy="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36" name="AutoShape 32">
              <a:extLst>
                <a:ext uri="{FF2B5EF4-FFF2-40B4-BE49-F238E27FC236}">
                  <a16:creationId xmlns:a16="http://schemas.microsoft.com/office/drawing/2014/main" id="{4ACDB4D1-742A-4832-8C9A-F58A87E35561}"/>
                </a:ext>
              </a:extLst>
            </p:cNvPr>
            <p:cNvCxnSpPr>
              <a:cxnSpLocks noChangeShapeType="1"/>
            </p:cNvCxnSpPr>
            <p:nvPr/>
          </p:nvCxnSpPr>
          <p:spPr bwMode="auto">
            <a:xfrm flipH="1" flipV="1">
              <a:off x="1437" y="2304"/>
              <a:ext cx="567" cy="4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537" name="AutoShape 33">
              <a:extLst>
                <a:ext uri="{FF2B5EF4-FFF2-40B4-BE49-F238E27FC236}">
                  <a16:creationId xmlns:a16="http://schemas.microsoft.com/office/drawing/2014/main" id="{724D625C-D2FB-437A-9C60-4EFEDAE2A5F6}"/>
                </a:ext>
              </a:extLst>
            </p:cNvPr>
            <p:cNvSpPr>
              <a:spLocks noChangeArrowheads="1"/>
            </p:cNvSpPr>
            <p:nvPr/>
          </p:nvSpPr>
          <p:spPr bwMode="auto">
            <a:xfrm>
              <a:off x="1284" y="2016"/>
              <a:ext cx="288" cy="288"/>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4</a:t>
              </a:r>
            </a:p>
          </p:txBody>
        </p:sp>
      </p:grpSp>
      <p:cxnSp>
        <p:nvCxnSpPr>
          <p:cNvPr id="277538" name="AutoShape 34">
            <a:extLst>
              <a:ext uri="{FF2B5EF4-FFF2-40B4-BE49-F238E27FC236}">
                <a16:creationId xmlns:a16="http://schemas.microsoft.com/office/drawing/2014/main" id="{B2A1938A-B51D-4DA4-86EF-DC2E93AA7721}"/>
              </a:ext>
            </a:extLst>
          </p:cNvPr>
          <p:cNvCxnSpPr>
            <a:cxnSpLocks noChangeShapeType="1"/>
            <a:stCxn id="277537" idx="0"/>
            <a:endCxn id="277543" idx="4"/>
          </p:cNvCxnSpPr>
          <p:nvPr/>
        </p:nvCxnSpPr>
        <p:spPr bwMode="auto">
          <a:xfrm flipV="1">
            <a:off x="2266950" y="2481263"/>
            <a:ext cx="1419225" cy="7048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39" name="AutoShape 35">
            <a:extLst>
              <a:ext uri="{FF2B5EF4-FFF2-40B4-BE49-F238E27FC236}">
                <a16:creationId xmlns:a16="http://schemas.microsoft.com/office/drawing/2014/main" id="{14EBF850-1496-4AD0-837D-169C10861709}"/>
              </a:ext>
            </a:extLst>
          </p:cNvPr>
          <p:cNvCxnSpPr>
            <a:cxnSpLocks noChangeShapeType="1"/>
            <a:stCxn id="277519" idx="0"/>
            <a:endCxn id="277543" idx="4"/>
          </p:cNvCxnSpPr>
          <p:nvPr/>
        </p:nvCxnSpPr>
        <p:spPr bwMode="auto">
          <a:xfrm flipH="1" flipV="1">
            <a:off x="3686175" y="2481263"/>
            <a:ext cx="1266825" cy="7048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40" name="AutoShape 36">
            <a:extLst>
              <a:ext uri="{FF2B5EF4-FFF2-40B4-BE49-F238E27FC236}">
                <a16:creationId xmlns:a16="http://schemas.microsoft.com/office/drawing/2014/main" id="{37785A4A-43D8-4DBB-A3F3-C7ADF457490A}"/>
              </a:ext>
            </a:extLst>
          </p:cNvPr>
          <p:cNvCxnSpPr>
            <a:cxnSpLocks noChangeShapeType="1"/>
            <a:stCxn id="277507" idx="0"/>
            <a:endCxn id="277542" idx="4"/>
          </p:cNvCxnSpPr>
          <p:nvPr/>
        </p:nvCxnSpPr>
        <p:spPr bwMode="auto">
          <a:xfrm flipV="1">
            <a:off x="6311900" y="3671888"/>
            <a:ext cx="447675"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41" name="AutoShape 37">
            <a:extLst>
              <a:ext uri="{FF2B5EF4-FFF2-40B4-BE49-F238E27FC236}">
                <a16:creationId xmlns:a16="http://schemas.microsoft.com/office/drawing/2014/main" id="{8BB5FBFD-DE1E-469D-9427-06B286BDB534}"/>
              </a:ext>
            </a:extLst>
          </p:cNvPr>
          <p:cNvCxnSpPr>
            <a:cxnSpLocks noChangeShapeType="1"/>
            <a:stCxn id="277508" idx="0"/>
            <a:endCxn id="277542" idx="4"/>
          </p:cNvCxnSpPr>
          <p:nvPr/>
        </p:nvCxnSpPr>
        <p:spPr bwMode="auto">
          <a:xfrm flipH="1" flipV="1">
            <a:off x="6759575" y="3671888"/>
            <a:ext cx="457200" cy="685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542" name="AutoShape 38">
            <a:extLst>
              <a:ext uri="{FF2B5EF4-FFF2-40B4-BE49-F238E27FC236}">
                <a16:creationId xmlns:a16="http://schemas.microsoft.com/office/drawing/2014/main" id="{87569444-53FE-4D1E-9ACA-B958E81CF646}"/>
              </a:ext>
            </a:extLst>
          </p:cNvPr>
          <p:cNvSpPr>
            <a:spLocks noChangeArrowheads="1"/>
          </p:cNvSpPr>
          <p:nvPr/>
        </p:nvSpPr>
        <p:spPr bwMode="auto">
          <a:xfrm>
            <a:off x="6530975" y="3200400"/>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6</a:t>
            </a:r>
          </a:p>
        </p:txBody>
      </p:sp>
      <p:sp>
        <p:nvSpPr>
          <p:cNvPr id="277543" name="AutoShape 39">
            <a:extLst>
              <a:ext uri="{FF2B5EF4-FFF2-40B4-BE49-F238E27FC236}">
                <a16:creationId xmlns:a16="http://schemas.microsoft.com/office/drawing/2014/main" id="{A537D259-774D-4BC4-9E73-A3CA77DBFEFE}"/>
              </a:ext>
            </a:extLst>
          </p:cNvPr>
          <p:cNvSpPr>
            <a:spLocks noChangeArrowheads="1"/>
          </p:cNvSpPr>
          <p:nvPr/>
        </p:nvSpPr>
        <p:spPr bwMode="auto">
          <a:xfrm>
            <a:off x="3457575" y="20097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r>
              <a:rPr lang="en-US" altLang="en-US" b="1"/>
              <a:t>8</a:t>
            </a:r>
          </a:p>
        </p:txBody>
      </p:sp>
      <p:cxnSp>
        <p:nvCxnSpPr>
          <p:cNvPr id="277544" name="AutoShape 40">
            <a:extLst>
              <a:ext uri="{FF2B5EF4-FFF2-40B4-BE49-F238E27FC236}">
                <a16:creationId xmlns:a16="http://schemas.microsoft.com/office/drawing/2014/main" id="{091481D6-DD18-4196-BB17-A0AAC3BD0059}"/>
              </a:ext>
            </a:extLst>
          </p:cNvPr>
          <p:cNvCxnSpPr>
            <a:cxnSpLocks noChangeShapeType="1"/>
            <a:stCxn id="277542" idx="0"/>
            <a:endCxn id="277546" idx="4"/>
          </p:cNvCxnSpPr>
          <p:nvPr/>
        </p:nvCxnSpPr>
        <p:spPr bwMode="auto">
          <a:xfrm flipV="1">
            <a:off x="6759575" y="2514600"/>
            <a:ext cx="447675" cy="6715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45" name="AutoShape 41">
            <a:extLst>
              <a:ext uri="{FF2B5EF4-FFF2-40B4-BE49-F238E27FC236}">
                <a16:creationId xmlns:a16="http://schemas.microsoft.com/office/drawing/2014/main" id="{5A2EED27-1BC7-4590-A4E5-ADFC283ABF32}"/>
              </a:ext>
            </a:extLst>
          </p:cNvPr>
          <p:cNvCxnSpPr>
            <a:cxnSpLocks noChangeShapeType="1"/>
            <a:stCxn id="277509" idx="0"/>
            <a:endCxn id="277546" idx="4"/>
          </p:cNvCxnSpPr>
          <p:nvPr/>
        </p:nvCxnSpPr>
        <p:spPr bwMode="auto">
          <a:xfrm flipH="1" flipV="1">
            <a:off x="7207250" y="2514600"/>
            <a:ext cx="492125" cy="6572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546" name="AutoShape 42">
            <a:extLst>
              <a:ext uri="{FF2B5EF4-FFF2-40B4-BE49-F238E27FC236}">
                <a16:creationId xmlns:a16="http://schemas.microsoft.com/office/drawing/2014/main" id="{218086B8-384B-4CEF-B015-3306A25FF078}"/>
              </a:ext>
            </a:extLst>
          </p:cNvPr>
          <p:cNvSpPr>
            <a:spLocks noChangeArrowheads="1"/>
          </p:cNvSpPr>
          <p:nvPr/>
        </p:nvSpPr>
        <p:spPr bwMode="auto">
          <a:xfrm>
            <a:off x="6978650" y="2043113"/>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11</a:t>
            </a:r>
          </a:p>
        </p:txBody>
      </p:sp>
      <p:sp>
        <p:nvSpPr>
          <p:cNvPr id="277547" name="AutoShape 43">
            <a:extLst>
              <a:ext uri="{FF2B5EF4-FFF2-40B4-BE49-F238E27FC236}">
                <a16:creationId xmlns:a16="http://schemas.microsoft.com/office/drawing/2014/main" id="{311146A5-ECA4-47C0-A473-715AC91BC440}"/>
              </a:ext>
            </a:extLst>
          </p:cNvPr>
          <p:cNvSpPr>
            <a:spLocks noChangeArrowheads="1"/>
          </p:cNvSpPr>
          <p:nvPr/>
        </p:nvSpPr>
        <p:spPr bwMode="auto">
          <a:xfrm>
            <a:off x="5233988" y="942975"/>
            <a:ext cx="457200" cy="457200"/>
          </a:xfrm>
          <a:prstGeom prst="flowChartConnector">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b="1"/>
              <a:t>19</a:t>
            </a:r>
          </a:p>
        </p:txBody>
      </p:sp>
      <p:cxnSp>
        <p:nvCxnSpPr>
          <p:cNvPr id="277548" name="AutoShape 44">
            <a:extLst>
              <a:ext uri="{FF2B5EF4-FFF2-40B4-BE49-F238E27FC236}">
                <a16:creationId xmlns:a16="http://schemas.microsoft.com/office/drawing/2014/main" id="{702C6B1D-3C60-497A-A2CB-06E60BC82562}"/>
              </a:ext>
            </a:extLst>
          </p:cNvPr>
          <p:cNvCxnSpPr>
            <a:cxnSpLocks noChangeShapeType="1"/>
            <a:stCxn id="277543" idx="0"/>
            <a:endCxn id="277547" idx="4"/>
          </p:cNvCxnSpPr>
          <p:nvPr/>
        </p:nvCxnSpPr>
        <p:spPr bwMode="auto">
          <a:xfrm flipV="1">
            <a:off x="3686175" y="1414463"/>
            <a:ext cx="1776413" cy="58102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77549" name="AutoShape 45">
            <a:extLst>
              <a:ext uri="{FF2B5EF4-FFF2-40B4-BE49-F238E27FC236}">
                <a16:creationId xmlns:a16="http://schemas.microsoft.com/office/drawing/2014/main" id="{2D70F2E8-477E-43B7-9734-3ABADE4537F4}"/>
              </a:ext>
            </a:extLst>
          </p:cNvPr>
          <p:cNvCxnSpPr>
            <a:cxnSpLocks noChangeShapeType="1"/>
            <a:stCxn id="277546" idx="0"/>
            <a:endCxn id="277547" idx="4"/>
          </p:cNvCxnSpPr>
          <p:nvPr/>
        </p:nvCxnSpPr>
        <p:spPr bwMode="auto">
          <a:xfrm flipH="1" flipV="1">
            <a:off x="5462588" y="1414463"/>
            <a:ext cx="1744662" cy="61436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7550" name="Text Box 46">
            <a:extLst>
              <a:ext uri="{FF2B5EF4-FFF2-40B4-BE49-F238E27FC236}">
                <a16:creationId xmlns:a16="http://schemas.microsoft.com/office/drawing/2014/main" id="{138F8632-2B59-453E-891D-A731978D1BE1}"/>
              </a:ext>
            </a:extLst>
          </p:cNvPr>
          <p:cNvSpPr txBox="1">
            <a:spLocks noChangeArrowheads="1"/>
          </p:cNvSpPr>
          <p:nvPr/>
        </p:nvSpPr>
        <p:spPr bwMode="auto">
          <a:xfrm>
            <a:off x="6540500" y="25288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0</a:t>
            </a:r>
          </a:p>
        </p:txBody>
      </p:sp>
      <p:sp>
        <p:nvSpPr>
          <p:cNvPr id="277551" name="Text Box 47">
            <a:extLst>
              <a:ext uri="{FF2B5EF4-FFF2-40B4-BE49-F238E27FC236}">
                <a16:creationId xmlns:a16="http://schemas.microsoft.com/office/drawing/2014/main" id="{AFE84BC0-7331-4C03-A288-C5B614714D59}"/>
              </a:ext>
            </a:extLst>
          </p:cNvPr>
          <p:cNvSpPr txBox="1">
            <a:spLocks noChangeArrowheads="1"/>
          </p:cNvSpPr>
          <p:nvPr/>
        </p:nvSpPr>
        <p:spPr bwMode="auto">
          <a:xfrm>
            <a:off x="6083300" y="3671888"/>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0</a:t>
            </a:r>
          </a:p>
        </p:txBody>
      </p:sp>
      <p:sp>
        <p:nvSpPr>
          <p:cNvPr id="277552" name="Text Box 48">
            <a:extLst>
              <a:ext uri="{FF2B5EF4-FFF2-40B4-BE49-F238E27FC236}">
                <a16:creationId xmlns:a16="http://schemas.microsoft.com/office/drawing/2014/main" id="{76BE30E9-5258-43B0-B6C4-7CF215D49BF9}"/>
              </a:ext>
            </a:extLst>
          </p:cNvPr>
          <p:cNvSpPr txBox="1">
            <a:spLocks noChangeArrowheads="1"/>
          </p:cNvSpPr>
          <p:nvPr/>
        </p:nvSpPr>
        <p:spPr bwMode="auto">
          <a:xfrm>
            <a:off x="4284663" y="36718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0</a:t>
            </a:r>
          </a:p>
        </p:txBody>
      </p:sp>
      <p:sp>
        <p:nvSpPr>
          <p:cNvPr id="277553" name="Text Box 49">
            <a:extLst>
              <a:ext uri="{FF2B5EF4-FFF2-40B4-BE49-F238E27FC236}">
                <a16:creationId xmlns:a16="http://schemas.microsoft.com/office/drawing/2014/main" id="{CECB7052-1ECE-404D-8389-1D20195E615A}"/>
              </a:ext>
            </a:extLst>
          </p:cNvPr>
          <p:cNvSpPr txBox="1">
            <a:spLocks noChangeArrowheads="1"/>
          </p:cNvSpPr>
          <p:nvPr/>
        </p:nvSpPr>
        <p:spPr bwMode="auto">
          <a:xfrm>
            <a:off x="2495550" y="48291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0</a:t>
            </a:r>
          </a:p>
        </p:txBody>
      </p:sp>
      <p:sp>
        <p:nvSpPr>
          <p:cNvPr id="277554" name="Text Box 50">
            <a:extLst>
              <a:ext uri="{FF2B5EF4-FFF2-40B4-BE49-F238E27FC236}">
                <a16:creationId xmlns:a16="http://schemas.microsoft.com/office/drawing/2014/main" id="{B872AEAE-F946-47D3-9718-2ED879175733}"/>
              </a:ext>
            </a:extLst>
          </p:cNvPr>
          <p:cNvSpPr txBox="1">
            <a:spLocks noChangeArrowheads="1"/>
          </p:cNvSpPr>
          <p:nvPr/>
        </p:nvSpPr>
        <p:spPr bwMode="auto">
          <a:xfrm>
            <a:off x="711200" y="48291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0</a:t>
            </a:r>
          </a:p>
        </p:txBody>
      </p:sp>
      <p:sp>
        <p:nvSpPr>
          <p:cNvPr id="277555" name="Text Box 51">
            <a:extLst>
              <a:ext uri="{FF2B5EF4-FFF2-40B4-BE49-F238E27FC236}">
                <a16:creationId xmlns:a16="http://schemas.microsoft.com/office/drawing/2014/main" id="{82C2EE1A-D2FB-42C7-B617-1BA4AECF539F}"/>
              </a:ext>
            </a:extLst>
          </p:cNvPr>
          <p:cNvSpPr txBox="1">
            <a:spLocks noChangeArrowheads="1"/>
          </p:cNvSpPr>
          <p:nvPr/>
        </p:nvSpPr>
        <p:spPr bwMode="auto">
          <a:xfrm>
            <a:off x="1395413" y="3643313"/>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0</a:t>
            </a:r>
          </a:p>
        </p:txBody>
      </p:sp>
      <p:sp>
        <p:nvSpPr>
          <p:cNvPr id="277556" name="Text Box 52">
            <a:extLst>
              <a:ext uri="{FF2B5EF4-FFF2-40B4-BE49-F238E27FC236}">
                <a16:creationId xmlns:a16="http://schemas.microsoft.com/office/drawing/2014/main" id="{5C44E6E7-824B-41D8-BFDD-C0674F765C78}"/>
              </a:ext>
            </a:extLst>
          </p:cNvPr>
          <p:cNvSpPr txBox="1">
            <a:spLocks noChangeArrowheads="1"/>
          </p:cNvSpPr>
          <p:nvPr/>
        </p:nvSpPr>
        <p:spPr bwMode="auto">
          <a:xfrm>
            <a:off x="4284663" y="1185863"/>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0</a:t>
            </a:r>
          </a:p>
        </p:txBody>
      </p:sp>
      <p:sp>
        <p:nvSpPr>
          <p:cNvPr id="277557" name="Text Box 53">
            <a:extLst>
              <a:ext uri="{FF2B5EF4-FFF2-40B4-BE49-F238E27FC236}">
                <a16:creationId xmlns:a16="http://schemas.microsoft.com/office/drawing/2014/main" id="{9EE29F08-12CB-413C-8349-0C23CFEDBD4C}"/>
              </a:ext>
            </a:extLst>
          </p:cNvPr>
          <p:cNvSpPr txBox="1">
            <a:spLocks noChangeArrowheads="1"/>
          </p:cNvSpPr>
          <p:nvPr/>
        </p:nvSpPr>
        <p:spPr bwMode="auto">
          <a:xfrm>
            <a:off x="2598738" y="23764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b="1">
                <a:solidFill>
                  <a:srgbClr val="CC0099"/>
                </a:solidFill>
              </a:rPr>
              <a:t>0</a:t>
            </a:r>
          </a:p>
        </p:txBody>
      </p:sp>
      <p:sp>
        <p:nvSpPr>
          <p:cNvPr id="277558" name="Text Box 54">
            <a:extLst>
              <a:ext uri="{FF2B5EF4-FFF2-40B4-BE49-F238E27FC236}">
                <a16:creationId xmlns:a16="http://schemas.microsoft.com/office/drawing/2014/main" id="{EE182CF2-1D0A-4707-9B37-B89E9A4CC2DD}"/>
              </a:ext>
            </a:extLst>
          </p:cNvPr>
          <p:cNvSpPr txBox="1">
            <a:spLocks noChangeArrowheads="1"/>
          </p:cNvSpPr>
          <p:nvPr/>
        </p:nvSpPr>
        <p:spPr bwMode="auto">
          <a:xfrm>
            <a:off x="5232400" y="3657600"/>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1</a:t>
            </a:r>
          </a:p>
        </p:txBody>
      </p:sp>
      <p:sp>
        <p:nvSpPr>
          <p:cNvPr id="277559" name="Text Box 55">
            <a:extLst>
              <a:ext uri="{FF2B5EF4-FFF2-40B4-BE49-F238E27FC236}">
                <a16:creationId xmlns:a16="http://schemas.microsoft.com/office/drawing/2014/main" id="{6AA0DC31-C22F-4FE5-A20D-41FDDE11CF9A}"/>
              </a:ext>
            </a:extLst>
          </p:cNvPr>
          <p:cNvSpPr txBox="1">
            <a:spLocks noChangeArrowheads="1"/>
          </p:cNvSpPr>
          <p:nvPr/>
        </p:nvSpPr>
        <p:spPr bwMode="auto">
          <a:xfrm>
            <a:off x="3451225" y="48291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1</a:t>
            </a:r>
          </a:p>
        </p:txBody>
      </p:sp>
      <p:sp>
        <p:nvSpPr>
          <p:cNvPr id="277560" name="Text Box 56">
            <a:extLst>
              <a:ext uri="{FF2B5EF4-FFF2-40B4-BE49-F238E27FC236}">
                <a16:creationId xmlns:a16="http://schemas.microsoft.com/office/drawing/2014/main" id="{DED0F744-C028-4760-B656-8861020AEB1D}"/>
              </a:ext>
            </a:extLst>
          </p:cNvPr>
          <p:cNvSpPr txBox="1">
            <a:spLocks noChangeArrowheads="1"/>
          </p:cNvSpPr>
          <p:nvPr/>
        </p:nvSpPr>
        <p:spPr bwMode="auto">
          <a:xfrm>
            <a:off x="1641475" y="4829175"/>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1</a:t>
            </a:r>
          </a:p>
        </p:txBody>
      </p:sp>
      <p:sp>
        <p:nvSpPr>
          <p:cNvPr id="277561" name="Text Box 57">
            <a:extLst>
              <a:ext uri="{FF2B5EF4-FFF2-40B4-BE49-F238E27FC236}">
                <a16:creationId xmlns:a16="http://schemas.microsoft.com/office/drawing/2014/main" id="{2DBEB373-D6A2-47B4-8A6E-C508D0270AA6}"/>
              </a:ext>
            </a:extLst>
          </p:cNvPr>
          <p:cNvSpPr txBox="1">
            <a:spLocks noChangeArrowheads="1"/>
          </p:cNvSpPr>
          <p:nvPr/>
        </p:nvSpPr>
        <p:spPr bwMode="auto">
          <a:xfrm>
            <a:off x="2849563" y="36718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1</a:t>
            </a:r>
          </a:p>
        </p:txBody>
      </p:sp>
      <p:sp>
        <p:nvSpPr>
          <p:cNvPr id="277562" name="Text Box 58">
            <a:extLst>
              <a:ext uri="{FF2B5EF4-FFF2-40B4-BE49-F238E27FC236}">
                <a16:creationId xmlns:a16="http://schemas.microsoft.com/office/drawing/2014/main" id="{7DDFCC56-2BE5-43ED-A5F5-5B0C3BF6B6B0}"/>
              </a:ext>
            </a:extLst>
          </p:cNvPr>
          <p:cNvSpPr txBox="1">
            <a:spLocks noChangeArrowheads="1"/>
          </p:cNvSpPr>
          <p:nvPr/>
        </p:nvSpPr>
        <p:spPr bwMode="auto">
          <a:xfrm>
            <a:off x="7081838" y="36718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1</a:t>
            </a:r>
          </a:p>
        </p:txBody>
      </p:sp>
      <p:sp>
        <p:nvSpPr>
          <p:cNvPr id="277563" name="Text Box 59">
            <a:extLst>
              <a:ext uri="{FF2B5EF4-FFF2-40B4-BE49-F238E27FC236}">
                <a16:creationId xmlns:a16="http://schemas.microsoft.com/office/drawing/2014/main" id="{BC7FF4E1-F75E-4125-91E0-C325E0953C0C}"/>
              </a:ext>
            </a:extLst>
          </p:cNvPr>
          <p:cNvSpPr txBox="1">
            <a:spLocks noChangeArrowheads="1"/>
          </p:cNvSpPr>
          <p:nvPr/>
        </p:nvSpPr>
        <p:spPr bwMode="auto">
          <a:xfrm>
            <a:off x="7573963" y="25288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1</a:t>
            </a:r>
          </a:p>
        </p:txBody>
      </p:sp>
      <p:sp>
        <p:nvSpPr>
          <p:cNvPr id="277564" name="Text Box 60">
            <a:extLst>
              <a:ext uri="{FF2B5EF4-FFF2-40B4-BE49-F238E27FC236}">
                <a16:creationId xmlns:a16="http://schemas.microsoft.com/office/drawing/2014/main" id="{C2931133-87BF-46C5-AD2B-6FD23B6203A8}"/>
              </a:ext>
            </a:extLst>
          </p:cNvPr>
          <p:cNvSpPr txBox="1">
            <a:spLocks noChangeArrowheads="1"/>
          </p:cNvSpPr>
          <p:nvPr/>
        </p:nvSpPr>
        <p:spPr bwMode="auto">
          <a:xfrm>
            <a:off x="4284663" y="2376488"/>
            <a:ext cx="3540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1</a:t>
            </a:r>
          </a:p>
        </p:txBody>
      </p:sp>
      <p:sp>
        <p:nvSpPr>
          <p:cNvPr id="277565" name="Text Box 61">
            <a:extLst>
              <a:ext uri="{FF2B5EF4-FFF2-40B4-BE49-F238E27FC236}">
                <a16:creationId xmlns:a16="http://schemas.microsoft.com/office/drawing/2014/main" id="{658E24E1-6DBC-4ADF-8D18-0F5B9E1E86DF}"/>
              </a:ext>
            </a:extLst>
          </p:cNvPr>
          <p:cNvSpPr txBox="1">
            <a:spLocks noChangeArrowheads="1"/>
          </p:cNvSpPr>
          <p:nvPr/>
        </p:nvSpPr>
        <p:spPr bwMode="auto">
          <a:xfrm>
            <a:off x="6134100" y="1185863"/>
            <a:ext cx="3540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a:solidFill>
                  <a:srgbClr val="CC0099"/>
                </a:solidFill>
              </a:rPr>
              <a:t>1</a:t>
            </a:r>
          </a:p>
        </p:txBody>
      </p:sp>
    </p:spTree>
  </p:cSld>
  <p:clrMapOvr>
    <a:masterClrMapping/>
  </p:clrMapOvr>
  <p:transition spd="slow">
    <p:wip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2">
            <a:extLst>
              <a:ext uri="{FF2B5EF4-FFF2-40B4-BE49-F238E27FC236}">
                <a16:creationId xmlns:a16="http://schemas.microsoft.com/office/drawing/2014/main" id="{76E5F4D1-9F38-4AD5-8A60-D134436EAE82}"/>
              </a:ext>
            </a:extLst>
          </p:cNvPr>
          <p:cNvSpPr>
            <a:spLocks noGrp="1" noChangeArrowheads="1"/>
          </p:cNvSpPr>
          <p:nvPr>
            <p:ph type="title"/>
          </p:nvPr>
        </p:nvSpPr>
        <p:spPr>
          <a:xfrm>
            <a:off x="457200" y="704088"/>
            <a:ext cx="8305800" cy="362712"/>
          </a:xfrm>
        </p:spPr>
        <p:txBody>
          <a:bodyPr>
            <a:normAutofit fontScale="90000"/>
          </a:bodyPr>
          <a:lstStyle/>
          <a:p>
            <a:r>
              <a:rPr lang="en-US" altLang="en-US" dirty="0"/>
              <a:t>Huffman code &amp; encoded message</a:t>
            </a:r>
          </a:p>
        </p:txBody>
      </p:sp>
      <p:sp>
        <p:nvSpPr>
          <p:cNvPr id="278532" name="Text Box 4">
            <a:extLst>
              <a:ext uri="{FF2B5EF4-FFF2-40B4-BE49-F238E27FC236}">
                <a16:creationId xmlns:a16="http://schemas.microsoft.com/office/drawing/2014/main" id="{36D7E52B-EB08-4279-9EB6-B5DE1C5E9A4B}"/>
              </a:ext>
            </a:extLst>
          </p:cNvPr>
          <p:cNvSpPr txBox="1">
            <a:spLocks noChangeArrowheads="1"/>
          </p:cNvSpPr>
          <p:nvPr/>
        </p:nvSpPr>
        <p:spPr bwMode="auto">
          <a:xfrm>
            <a:off x="3200400" y="1752600"/>
            <a:ext cx="2759075" cy="3990975"/>
          </a:xfrm>
          <a:prstGeom prst="rect">
            <a:avLst/>
          </a:prstGeom>
          <a:noFill/>
          <a:ln w="28575">
            <a:solidFill>
              <a:srgbClr val="0000FF"/>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rgbClr val="CC0099"/>
              </a:buClr>
              <a:buSzPct val="80000"/>
              <a:buFont typeface="Wingdings 2" panose="05020102010507070707" pitchFamily="18" charset="2"/>
              <a:buNone/>
            </a:pPr>
            <a:r>
              <a:rPr lang="en-US" altLang="en-US"/>
              <a:t>S		    11</a:t>
            </a:r>
          </a:p>
          <a:p>
            <a:pPr>
              <a:spcBef>
                <a:spcPct val="20000"/>
              </a:spcBef>
              <a:buClr>
                <a:srgbClr val="CC0099"/>
              </a:buClr>
              <a:buSzPct val="80000"/>
              <a:buFont typeface="Wingdings 2" panose="05020102010507070707" pitchFamily="18" charset="2"/>
              <a:buNone/>
            </a:pPr>
            <a:r>
              <a:rPr lang="en-US" altLang="en-US"/>
              <a:t>E	  	  010</a:t>
            </a:r>
          </a:p>
          <a:p>
            <a:pPr>
              <a:spcBef>
                <a:spcPct val="20000"/>
              </a:spcBef>
              <a:buClr>
                <a:srgbClr val="CC0099"/>
              </a:buClr>
              <a:buSzPct val="80000"/>
              <a:buFont typeface="Wingdings 2" panose="05020102010507070707" pitchFamily="18" charset="2"/>
              <a:buNone/>
            </a:pPr>
            <a:r>
              <a:rPr lang="en-US" altLang="en-US"/>
              <a:t>H		  011</a:t>
            </a:r>
          </a:p>
          <a:p>
            <a:pPr>
              <a:spcBef>
                <a:spcPct val="20000"/>
              </a:spcBef>
              <a:buClr>
                <a:srgbClr val="CC0099"/>
              </a:buClr>
              <a:buSzPct val="80000"/>
              <a:buFont typeface="Wingdings 2" panose="05020102010507070707" pitchFamily="18" charset="2"/>
              <a:buNone/>
            </a:pPr>
            <a:r>
              <a:rPr lang="en-US" altLang="en-US"/>
              <a:t>_		  100</a:t>
            </a:r>
          </a:p>
          <a:p>
            <a:pPr>
              <a:spcBef>
                <a:spcPct val="20000"/>
              </a:spcBef>
              <a:buClr>
                <a:srgbClr val="CC0099"/>
              </a:buClr>
              <a:buSzPct val="80000"/>
              <a:buFont typeface="Wingdings 2" panose="05020102010507070707" pitchFamily="18" charset="2"/>
              <a:buNone/>
            </a:pPr>
            <a:r>
              <a:rPr lang="en-US" altLang="en-US"/>
              <a:t>I		  101</a:t>
            </a:r>
          </a:p>
          <a:p>
            <a:pPr>
              <a:spcBef>
                <a:spcPct val="20000"/>
              </a:spcBef>
              <a:buClr>
                <a:srgbClr val="CC0099"/>
              </a:buClr>
              <a:buSzPct val="80000"/>
              <a:buFont typeface="Wingdings 2" panose="05020102010507070707" pitchFamily="18" charset="2"/>
              <a:buNone/>
            </a:pPr>
            <a:r>
              <a:rPr lang="en-US" altLang="en-US"/>
              <a:t>A		0000</a:t>
            </a:r>
          </a:p>
          <a:p>
            <a:pPr>
              <a:spcBef>
                <a:spcPct val="20000"/>
              </a:spcBef>
              <a:buClr>
                <a:srgbClr val="CC0099"/>
              </a:buClr>
              <a:buSzPct val="80000"/>
              <a:buFont typeface="Wingdings 2" panose="05020102010507070707" pitchFamily="18" charset="2"/>
              <a:buNone/>
            </a:pPr>
            <a:r>
              <a:rPr lang="en-US" altLang="en-US"/>
              <a:t>G		0001</a:t>
            </a:r>
          </a:p>
          <a:p>
            <a:pPr>
              <a:spcBef>
                <a:spcPct val="20000"/>
              </a:spcBef>
              <a:buClr>
                <a:srgbClr val="CC0099"/>
              </a:buClr>
              <a:buSzPct val="80000"/>
              <a:buFont typeface="Wingdings 2" panose="05020102010507070707" pitchFamily="18" charset="2"/>
              <a:buNone/>
            </a:pPr>
            <a:r>
              <a:rPr lang="en-US" altLang="en-US"/>
              <a:t>M		0010</a:t>
            </a:r>
          </a:p>
          <a:p>
            <a:pPr>
              <a:spcBef>
                <a:spcPct val="20000"/>
              </a:spcBef>
              <a:buClr>
                <a:srgbClr val="CC0099"/>
              </a:buClr>
              <a:buSzPct val="80000"/>
              <a:buFont typeface="Wingdings 2" panose="05020102010507070707" pitchFamily="18" charset="2"/>
              <a:buNone/>
            </a:pPr>
            <a:r>
              <a:rPr lang="en-US" altLang="en-US"/>
              <a:t>T		0011</a:t>
            </a:r>
          </a:p>
        </p:txBody>
      </p:sp>
      <p:sp>
        <p:nvSpPr>
          <p:cNvPr id="278533" name="Text Box 5">
            <a:extLst>
              <a:ext uri="{FF2B5EF4-FFF2-40B4-BE49-F238E27FC236}">
                <a16:creationId xmlns:a16="http://schemas.microsoft.com/office/drawing/2014/main" id="{82E3495C-BA25-482A-B71F-73A76BDFF213}"/>
              </a:ext>
            </a:extLst>
          </p:cNvPr>
          <p:cNvSpPr txBox="1">
            <a:spLocks noChangeArrowheads="1"/>
          </p:cNvSpPr>
          <p:nvPr/>
        </p:nvSpPr>
        <p:spPr bwMode="auto">
          <a:xfrm>
            <a:off x="3048000" y="1066800"/>
            <a:ext cx="2974975" cy="485775"/>
          </a:xfrm>
          <a:prstGeom prst="rect">
            <a:avLst/>
          </a:prstGeom>
          <a:noFill/>
          <a:ln w="28575">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spcBef>
                <a:spcPct val="20000"/>
              </a:spcBef>
              <a:buClr>
                <a:srgbClr val="CC0099"/>
              </a:buClr>
              <a:buSzPct val="80000"/>
              <a:buFont typeface="Wingdings 2" panose="05020102010507070707" pitchFamily="18" charset="2"/>
              <a:buNone/>
            </a:pPr>
            <a:r>
              <a:rPr lang="en-US" altLang="en-US" i="1"/>
              <a:t>This is his message </a:t>
            </a:r>
            <a:endParaRPr lang="en-US" altLang="en-US"/>
          </a:p>
        </p:txBody>
      </p:sp>
      <p:sp>
        <p:nvSpPr>
          <p:cNvPr id="278536" name="Text Box 8">
            <a:extLst>
              <a:ext uri="{FF2B5EF4-FFF2-40B4-BE49-F238E27FC236}">
                <a16:creationId xmlns:a16="http://schemas.microsoft.com/office/drawing/2014/main" id="{54F1702C-07F4-4B7B-B483-6B4F499C3513}"/>
              </a:ext>
            </a:extLst>
          </p:cNvPr>
          <p:cNvSpPr txBox="1">
            <a:spLocks noChangeArrowheads="1"/>
          </p:cNvSpPr>
          <p:nvPr/>
        </p:nvSpPr>
        <p:spPr bwMode="auto">
          <a:xfrm>
            <a:off x="90488" y="5943600"/>
            <a:ext cx="8934450" cy="465138"/>
          </a:xfrm>
          <a:prstGeom prst="rect">
            <a:avLst/>
          </a:prstGeom>
          <a:noFill/>
          <a:ln w="38100">
            <a:solidFill>
              <a:srgbClr val="CC0099"/>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200" b="1"/>
              <a:t>00110111011110010111100011101111000010010111100000001010</a:t>
            </a:r>
          </a:p>
        </p:txBody>
      </p:sp>
    </p:spTree>
  </p:cSld>
  <p:clrMapOvr>
    <a:masterClrMapping/>
  </p:clrMapOvr>
  <p:transition spd="slow">
    <p:wip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Slide Number Placeholder 3">
            <a:extLst>
              <a:ext uri="{FF2B5EF4-FFF2-40B4-BE49-F238E27FC236}">
                <a16:creationId xmlns:a16="http://schemas.microsoft.com/office/drawing/2014/main" id="{352ED1D3-F94B-4612-ABDD-BBC2B16C01C1}"/>
              </a:ext>
            </a:extLst>
          </p:cNvPr>
          <p:cNvSpPr>
            <a:spLocks noGrp="1"/>
          </p:cNvSpPr>
          <p:nvPr>
            <p:ph type="sldNum" sz="quarter" idx="10"/>
          </p:nvPr>
        </p:nvSpPr>
        <p:spPr/>
        <p:txBody>
          <a:bodyPr/>
          <a:lstStyle/>
          <a:p>
            <a:fld id="{468CA915-2A7B-477A-BA31-4050D3B352DB}" type="slidenum">
              <a:rPr lang="en-US" altLang="en-US"/>
              <a:pPr/>
              <a:t>124</a:t>
            </a:fld>
            <a:endParaRPr lang="en-US" altLang="en-US" dirty="0"/>
          </a:p>
        </p:txBody>
      </p:sp>
      <p:sp>
        <p:nvSpPr>
          <p:cNvPr id="8194" name="Rectangle 2">
            <a:extLst>
              <a:ext uri="{FF2B5EF4-FFF2-40B4-BE49-F238E27FC236}">
                <a16:creationId xmlns:a16="http://schemas.microsoft.com/office/drawing/2014/main" id="{FD88D0F0-209C-4494-B96C-0D27A801C5F1}"/>
              </a:ext>
            </a:extLst>
          </p:cNvPr>
          <p:cNvSpPr>
            <a:spLocks noGrp="1" noChangeArrowheads="1"/>
          </p:cNvSpPr>
          <p:nvPr>
            <p:ph type="title"/>
          </p:nvPr>
        </p:nvSpPr>
        <p:spPr>
          <a:xfrm>
            <a:off x="468923" y="-32543"/>
            <a:ext cx="8229600" cy="1143000"/>
          </a:xfrm>
        </p:spPr>
        <p:txBody>
          <a:bodyPr/>
          <a:lstStyle/>
          <a:p>
            <a:r>
              <a:rPr lang="en-US" altLang="en-US" dirty="0"/>
              <a:t>Spanning trees</a:t>
            </a:r>
          </a:p>
        </p:txBody>
      </p:sp>
      <p:sp>
        <p:nvSpPr>
          <p:cNvPr id="8195" name="Rectangle 3">
            <a:extLst>
              <a:ext uri="{FF2B5EF4-FFF2-40B4-BE49-F238E27FC236}">
                <a16:creationId xmlns:a16="http://schemas.microsoft.com/office/drawing/2014/main" id="{049D55C2-4CA8-4D3D-B7E7-3A2F4339F374}"/>
              </a:ext>
            </a:extLst>
          </p:cNvPr>
          <p:cNvSpPr>
            <a:spLocks noGrp="1" noChangeArrowheads="1"/>
          </p:cNvSpPr>
          <p:nvPr>
            <p:ph type="body" idx="1"/>
          </p:nvPr>
        </p:nvSpPr>
        <p:spPr>
          <a:xfrm>
            <a:off x="381000" y="1142998"/>
            <a:ext cx="8574088" cy="2220913"/>
          </a:xfrm>
        </p:spPr>
        <p:txBody>
          <a:bodyPr/>
          <a:lstStyle/>
          <a:p>
            <a:pPr>
              <a:lnSpc>
                <a:spcPct val="90000"/>
              </a:lnSpc>
            </a:pPr>
            <a:r>
              <a:rPr lang="en-US" altLang="en-US" dirty="0"/>
              <a:t>Suppose you have a connected undirected graph</a:t>
            </a:r>
          </a:p>
          <a:p>
            <a:pPr lvl="1">
              <a:lnSpc>
                <a:spcPct val="90000"/>
              </a:lnSpc>
            </a:pPr>
            <a:r>
              <a:rPr lang="en-US" altLang="en-US" dirty="0"/>
              <a:t>Connected: every node is reachable from every other node</a:t>
            </a:r>
          </a:p>
          <a:p>
            <a:pPr lvl="1">
              <a:lnSpc>
                <a:spcPct val="90000"/>
              </a:lnSpc>
            </a:pPr>
            <a:r>
              <a:rPr lang="en-US" altLang="en-US" dirty="0"/>
              <a:t>Undirected: edges do not have an associated direction</a:t>
            </a:r>
            <a:endParaRPr lang="en-US" altLang="en-US" sz="2800" dirty="0"/>
          </a:p>
          <a:p>
            <a:pPr>
              <a:lnSpc>
                <a:spcPct val="90000"/>
              </a:lnSpc>
            </a:pPr>
            <a:r>
              <a:rPr lang="en-US" altLang="en-US" dirty="0"/>
              <a:t>...then a </a:t>
            </a:r>
            <a:r>
              <a:rPr lang="en-US" altLang="en-US" dirty="0">
                <a:solidFill>
                  <a:schemeClr val="tx2"/>
                </a:solidFill>
              </a:rPr>
              <a:t>spanning tree</a:t>
            </a:r>
            <a:r>
              <a:rPr lang="en-US" altLang="en-US" dirty="0"/>
              <a:t> of the graph is a connected subgraph in which there are no cycles</a:t>
            </a:r>
            <a:endParaRPr lang="en-US" altLang="en-US" sz="3200" dirty="0"/>
          </a:p>
        </p:txBody>
      </p:sp>
      <p:grpSp>
        <p:nvGrpSpPr>
          <p:cNvPr id="8249" name="Group 57">
            <a:extLst>
              <a:ext uri="{FF2B5EF4-FFF2-40B4-BE49-F238E27FC236}">
                <a16:creationId xmlns:a16="http://schemas.microsoft.com/office/drawing/2014/main" id="{FDBD18F7-4078-4EE6-ADAA-3B1E49267187}"/>
              </a:ext>
            </a:extLst>
          </p:cNvPr>
          <p:cNvGrpSpPr>
            <a:grpSpLocks/>
          </p:cNvGrpSpPr>
          <p:nvPr/>
        </p:nvGrpSpPr>
        <p:grpSpPr bwMode="auto">
          <a:xfrm>
            <a:off x="609600" y="3494090"/>
            <a:ext cx="2057400" cy="1768475"/>
            <a:chOff x="384" y="2592"/>
            <a:chExt cx="1296" cy="1114"/>
          </a:xfrm>
        </p:grpSpPr>
        <p:sp>
          <p:nvSpPr>
            <p:cNvPr id="8196" name="Oval 4">
              <a:extLst>
                <a:ext uri="{FF2B5EF4-FFF2-40B4-BE49-F238E27FC236}">
                  <a16:creationId xmlns:a16="http://schemas.microsoft.com/office/drawing/2014/main" id="{9DDA9068-4E86-4241-B29E-42A17A06175E}"/>
                </a:ext>
              </a:extLst>
            </p:cNvPr>
            <p:cNvSpPr>
              <a:spLocks noChangeArrowheads="1"/>
            </p:cNvSpPr>
            <p:nvPr/>
          </p:nvSpPr>
          <p:spPr bwMode="auto">
            <a:xfrm>
              <a:off x="672" y="2592"/>
              <a:ext cx="193" cy="191"/>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197" name="Oval 5">
              <a:extLst>
                <a:ext uri="{FF2B5EF4-FFF2-40B4-BE49-F238E27FC236}">
                  <a16:creationId xmlns:a16="http://schemas.microsoft.com/office/drawing/2014/main" id="{AC0DD5EE-04B2-431E-9BA6-E75925276240}"/>
                </a:ext>
              </a:extLst>
            </p:cNvPr>
            <p:cNvSpPr>
              <a:spLocks noChangeArrowheads="1"/>
            </p:cNvSpPr>
            <p:nvPr/>
          </p:nvSpPr>
          <p:spPr bwMode="auto">
            <a:xfrm>
              <a:off x="672"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198" name="Oval 6">
              <a:extLst>
                <a:ext uri="{FF2B5EF4-FFF2-40B4-BE49-F238E27FC236}">
                  <a16:creationId xmlns:a16="http://schemas.microsoft.com/office/drawing/2014/main" id="{F0CBEF27-BD7C-4B4B-97FB-9A561105C7FE}"/>
                </a:ext>
              </a:extLst>
            </p:cNvPr>
            <p:cNvSpPr>
              <a:spLocks noChangeArrowheads="1"/>
            </p:cNvSpPr>
            <p:nvPr/>
          </p:nvSpPr>
          <p:spPr bwMode="auto">
            <a:xfrm>
              <a:off x="1200"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199" name="Oval 7">
              <a:extLst>
                <a:ext uri="{FF2B5EF4-FFF2-40B4-BE49-F238E27FC236}">
                  <a16:creationId xmlns:a16="http://schemas.microsoft.com/office/drawing/2014/main" id="{B690B6DA-A166-468D-A460-2CD12E6A5E57}"/>
                </a:ext>
              </a:extLst>
            </p:cNvPr>
            <p:cNvSpPr>
              <a:spLocks noChangeArrowheads="1"/>
            </p:cNvSpPr>
            <p:nvPr/>
          </p:nvSpPr>
          <p:spPr bwMode="auto">
            <a:xfrm>
              <a:off x="1200" y="259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1" name="Line 9">
              <a:extLst>
                <a:ext uri="{FF2B5EF4-FFF2-40B4-BE49-F238E27FC236}">
                  <a16:creationId xmlns:a16="http://schemas.microsoft.com/office/drawing/2014/main" id="{CA6C3215-6FD6-469A-840A-E9DBEDF67034}"/>
                </a:ext>
              </a:extLst>
            </p:cNvPr>
            <p:cNvSpPr>
              <a:spLocks noChangeShapeType="1"/>
            </p:cNvSpPr>
            <p:nvPr/>
          </p:nvSpPr>
          <p:spPr bwMode="auto">
            <a:xfrm>
              <a:off x="768" y="2784"/>
              <a:ext cx="0"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2" name="Line 10">
              <a:extLst>
                <a:ext uri="{FF2B5EF4-FFF2-40B4-BE49-F238E27FC236}">
                  <a16:creationId xmlns:a16="http://schemas.microsoft.com/office/drawing/2014/main" id="{E08E1252-E519-426D-A4B8-96AF227B47AF}"/>
                </a:ext>
              </a:extLst>
            </p:cNvPr>
            <p:cNvSpPr>
              <a:spLocks noChangeShapeType="1"/>
            </p:cNvSpPr>
            <p:nvPr/>
          </p:nvSpPr>
          <p:spPr bwMode="auto">
            <a:xfrm>
              <a:off x="1296" y="2784"/>
              <a:ext cx="0"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3" name="Line 11">
              <a:extLst>
                <a:ext uri="{FF2B5EF4-FFF2-40B4-BE49-F238E27FC236}">
                  <a16:creationId xmlns:a16="http://schemas.microsoft.com/office/drawing/2014/main" id="{7F774FB2-F375-438F-8447-D286E454E5AE}"/>
                </a:ext>
              </a:extLst>
            </p:cNvPr>
            <p:cNvSpPr>
              <a:spLocks noChangeShapeType="1"/>
            </p:cNvSpPr>
            <p:nvPr/>
          </p:nvSpPr>
          <p:spPr bwMode="auto">
            <a:xfrm>
              <a:off x="864" y="2688"/>
              <a:ext cx="3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4" name="Line 12">
              <a:extLst>
                <a:ext uri="{FF2B5EF4-FFF2-40B4-BE49-F238E27FC236}">
                  <a16:creationId xmlns:a16="http://schemas.microsoft.com/office/drawing/2014/main" id="{8BB3A372-45EE-4C03-9AEA-CB0301A34450}"/>
                </a:ext>
              </a:extLst>
            </p:cNvPr>
            <p:cNvSpPr>
              <a:spLocks noChangeShapeType="1"/>
            </p:cNvSpPr>
            <p:nvPr/>
          </p:nvSpPr>
          <p:spPr bwMode="auto">
            <a:xfrm>
              <a:off x="864" y="3120"/>
              <a:ext cx="3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5" name="Line 13">
              <a:extLst>
                <a:ext uri="{FF2B5EF4-FFF2-40B4-BE49-F238E27FC236}">
                  <a16:creationId xmlns:a16="http://schemas.microsoft.com/office/drawing/2014/main" id="{04E89C24-F1AB-4EC2-B0B1-4462FF281EF4}"/>
                </a:ext>
              </a:extLst>
            </p:cNvPr>
            <p:cNvSpPr>
              <a:spLocks noChangeShapeType="1"/>
            </p:cNvSpPr>
            <p:nvPr/>
          </p:nvSpPr>
          <p:spPr bwMode="auto">
            <a:xfrm flipV="1">
              <a:off x="816" y="2736"/>
              <a:ext cx="38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6" name="Line 14">
              <a:extLst>
                <a:ext uri="{FF2B5EF4-FFF2-40B4-BE49-F238E27FC236}">
                  <a16:creationId xmlns:a16="http://schemas.microsoft.com/office/drawing/2014/main" id="{B4A17001-D412-4EAE-8C30-6B14251E04C8}"/>
                </a:ext>
              </a:extLst>
            </p:cNvPr>
            <p:cNvSpPr>
              <a:spLocks noChangeShapeType="1"/>
            </p:cNvSpPr>
            <p:nvPr/>
          </p:nvSpPr>
          <p:spPr bwMode="auto">
            <a:xfrm>
              <a:off x="864" y="2736"/>
              <a:ext cx="38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7" name="Text Box 15">
              <a:extLst>
                <a:ext uri="{FF2B5EF4-FFF2-40B4-BE49-F238E27FC236}">
                  <a16:creationId xmlns:a16="http://schemas.microsoft.com/office/drawing/2014/main" id="{EA9F72BE-5BFA-4198-AF86-2C1156D7FF7A}"/>
                </a:ext>
              </a:extLst>
            </p:cNvPr>
            <p:cNvSpPr txBox="1">
              <a:spLocks noChangeArrowheads="1"/>
            </p:cNvSpPr>
            <p:nvPr/>
          </p:nvSpPr>
          <p:spPr bwMode="auto">
            <a:xfrm>
              <a:off x="384" y="3264"/>
              <a:ext cx="1296" cy="4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latin typeface="Times New Roman" panose="02020603050405020304" pitchFamily="18" charset="0"/>
                </a:rPr>
                <a:t>A connected,</a:t>
              </a:r>
              <a:br>
                <a:rPr lang="en-US" altLang="en-US" sz="2000">
                  <a:latin typeface="Times New Roman" panose="02020603050405020304" pitchFamily="18" charset="0"/>
                </a:rPr>
              </a:br>
              <a:r>
                <a:rPr lang="en-US" altLang="en-US" sz="2000">
                  <a:latin typeface="Times New Roman" panose="02020603050405020304" pitchFamily="18" charset="0"/>
                </a:rPr>
                <a:t>undirected graph</a:t>
              </a:r>
            </a:p>
          </p:txBody>
        </p:sp>
      </p:grpSp>
      <p:grpSp>
        <p:nvGrpSpPr>
          <p:cNvPr id="8250" name="Group 58">
            <a:extLst>
              <a:ext uri="{FF2B5EF4-FFF2-40B4-BE49-F238E27FC236}">
                <a16:creationId xmlns:a16="http://schemas.microsoft.com/office/drawing/2014/main" id="{91C33A60-1973-4FD0-AD30-65379DA6BB2D}"/>
              </a:ext>
            </a:extLst>
          </p:cNvPr>
          <p:cNvGrpSpPr>
            <a:grpSpLocks/>
          </p:cNvGrpSpPr>
          <p:nvPr/>
        </p:nvGrpSpPr>
        <p:grpSpPr bwMode="auto">
          <a:xfrm>
            <a:off x="2741612" y="3618075"/>
            <a:ext cx="5562600" cy="1463675"/>
            <a:chOff x="1680" y="2592"/>
            <a:chExt cx="3504" cy="922"/>
          </a:xfrm>
        </p:grpSpPr>
        <p:sp>
          <p:nvSpPr>
            <p:cNvPr id="8208" name="Oval 16">
              <a:extLst>
                <a:ext uri="{FF2B5EF4-FFF2-40B4-BE49-F238E27FC236}">
                  <a16:creationId xmlns:a16="http://schemas.microsoft.com/office/drawing/2014/main" id="{A4F5C2F9-365D-44E3-919F-04DD2C87741E}"/>
                </a:ext>
              </a:extLst>
            </p:cNvPr>
            <p:cNvSpPr>
              <a:spLocks noChangeArrowheads="1"/>
            </p:cNvSpPr>
            <p:nvPr/>
          </p:nvSpPr>
          <p:spPr bwMode="auto">
            <a:xfrm>
              <a:off x="1680" y="2592"/>
              <a:ext cx="193" cy="191"/>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09" name="Oval 17">
              <a:extLst>
                <a:ext uri="{FF2B5EF4-FFF2-40B4-BE49-F238E27FC236}">
                  <a16:creationId xmlns:a16="http://schemas.microsoft.com/office/drawing/2014/main" id="{53B4FED1-4615-4464-B249-77BABDACF563}"/>
                </a:ext>
              </a:extLst>
            </p:cNvPr>
            <p:cNvSpPr>
              <a:spLocks noChangeArrowheads="1"/>
            </p:cNvSpPr>
            <p:nvPr/>
          </p:nvSpPr>
          <p:spPr bwMode="auto">
            <a:xfrm>
              <a:off x="1680"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0" name="Oval 18">
              <a:extLst>
                <a:ext uri="{FF2B5EF4-FFF2-40B4-BE49-F238E27FC236}">
                  <a16:creationId xmlns:a16="http://schemas.microsoft.com/office/drawing/2014/main" id="{4A53BE4A-F45E-4100-8323-5B28370A7796}"/>
                </a:ext>
              </a:extLst>
            </p:cNvPr>
            <p:cNvSpPr>
              <a:spLocks noChangeArrowheads="1"/>
            </p:cNvSpPr>
            <p:nvPr/>
          </p:nvSpPr>
          <p:spPr bwMode="auto">
            <a:xfrm>
              <a:off x="2208"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1" name="Oval 19">
              <a:extLst>
                <a:ext uri="{FF2B5EF4-FFF2-40B4-BE49-F238E27FC236}">
                  <a16:creationId xmlns:a16="http://schemas.microsoft.com/office/drawing/2014/main" id="{FCB556D1-C6CA-4BB8-9E72-C2C0975FF88A}"/>
                </a:ext>
              </a:extLst>
            </p:cNvPr>
            <p:cNvSpPr>
              <a:spLocks noChangeArrowheads="1"/>
            </p:cNvSpPr>
            <p:nvPr/>
          </p:nvSpPr>
          <p:spPr bwMode="auto">
            <a:xfrm>
              <a:off x="2208" y="259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2" name="Line 20">
              <a:extLst>
                <a:ext uri="{FF2B5EF4-FFF2-40B4-BE49-F238E27FC236}">
                  <a16:creationId xmlns:a16="http://schemas.microsoft.com/office/drawing/2014/main" id="{5B59B954-9CEC-4774-9797-3F5202412422}"/>
                </a:ext>
              </a:extLst>
            </p:cNvPr>
            <p:cNvSpPr>
              <a:spLocks noChangeShapeType="1"/>
            </p:cNvSpPr>
            <p:nvPr/>
          </p:nvSpPr>
          <p:spPr bwMode="auto">
            <a:xfrm>
              <a:off x="1776" y="2784"/>
              <a:ext cx="0"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3" name="Line 21">
              <a:extLst>
                <a:ext uri="{FF2B5EF4-FFF2-40B4-BE49-F238E27FC236}">
                  <a16:creationId xmlns:a16="http://schemas.microsoft.com/office/drawing/2014/main" id="{C5375A99-7EA7-40C8-AE9B-991DBF7338B3}"/>
                </a:ext>
              </a:extLst>
            </p:cNvPr>
            <p:cNvSpPr>
              <a:spLocks noChangeShapeType="1"/>
            </p:cNvSpPr>
            <p:nvPr/>
          </p:nvSpPr>
          <p:spPr bwMode="auto">
            <a:xfrm>
              <a:off x="2304" y="2784"/>
              <a:ext cx="0"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4" name="Line 22">
              <a:extLst>
                <a:ext uri="{FF2B5EF4-FFF2-40B4-BE49-F238E27FC236}">
                  <a16:creationId xmlns:a16="http://schemas.microsoft.com/office/drawing/2014/main" id="{00D0649F-0761-46D8-B716-9D00BD09F3C1}"/>
                </a:ext>
              </a:extLst>
            </p:cNvPr>
            <p:cNvSpPr>
              <a:spLocks noChangeShapeType="1"/>
            </p:cNvSpPr>
            <p:nvPr/>
          </p:nvSpPr>
          <p:spPr bwMode="auto">
            <a:xfrm>
              <a:off x="1872" y="2688"/>
              <a:ext cx="3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8" name="Oval 26">
              <a:extLst>
                <a:ext uri="{FF2B5EF4-FFF2-40B4-BE49-F238E27FC236}">
                  <a16:creationId xmlns:a16="http://schemas.microsoft.com/office/drawing/2014/main" id="{19627909-CDEC-4411-92CD-B6412275267E}"/>
                </a:ext>
              </a:extLst>
            </p:cNvPr>
            <p:cNvSpPr>
              <a:spLocks noChangeArrowheads="1"/>
            </p:cNvSpPr>
            <p:nvPr/>
          </p:nvSpPr>
          <p:spPr bwMode="auto">
            <a:xfrm>
              <a:off x="2640" y="2592"/>
              <a:ext cx="193" cy="191"/>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19" name="Oval 27">
              <a:extLst>
                <a:ext uri="{FF2B5EF4-FFF2-40B4-BE49-F238E27FC236}">
                  <a16:creationId xmlns:a16="http://schemas.microsoft.com/office/drawing/2014/main" id="{943B8958-4F4F-45B2-9122-F70D3E3C7C16}"/>
                </a:ext>
              </a:extLst>
            </p:cNvPr>
            <p:cNvSpPr>
              <a:spLocks noChangeArrowheads="1"/>
            </p:cNvSpPr>
            <p:nvPr/>
          </p:nvSpPr>
          <p:spPr bwMode="auto">
            <a:xfrm>
              <a:off x="2640"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0" name="Oval 28">
              <a:extLst>
                <a:ext uri="{FF2B5EF4-FFF2-40B4-BE49-F238E27FC236}">
                  <a16:creationId xmlns:a16="http://schemas.microsoft.com/office/drawing/2014/main" id="{AA3500F5-3EB3-4ACD-8DEC-8B9C73C06742}"/>
                </a:ext>
              </a:extLst>
            </p:cNvPr>
            <p:cNvSpPr>
              <a:spLocks noChangeArrowheads="1"/>
            </p:cNvSpPr>
            <p:nvPr/>
          </p:nvSpPr>
          <p:spPr bwMode="auto">
            <a:xfrm>
              <a:off x="3168"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1" name="Oval 29">
              <a:extLst>
                <a:ext uri="{FF2B5EF4-FFF2-40B4-BE49-F238E27FC236}">
                  <a16:creationId xmlns:a16="http://schemas.microsoft.com/office/drawing/2014/main" id="{77B9ED98-B298-4690-81BD-59AE7D5BB875}"/>
                </a:ext>
              </a:extLst>
            </p:cNvPr>
            <p:cNvSpPr>
              <a:spLocks noChangeArrowheads="1"/>
            </p:cNvSpPr>
            <p:nvPr/>
          </p:nvSpPr>
          <p:spPr bwMode="auto">
            <a:xfrm>
              <a:off x="3168" y="259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2" name="Line 30">
              <a:extLst>
                <a:ext uri="{FF2B5EF4-FFF2-40B4-BE49-F238E27FC236}">
                  <a16:creationId xmlns:a16="http://schemas.microsoft.com/office/drawing/2014/main" id="{6884F244-17F9-4165-AB08-7871ED7E6F7F}"/>
                </a:ext>
              </a:extLst>
            </p:cNvPr>
            <p:cNvSpPr>
              <a:spLocks noChangeShapeType="1"/>
            </p:cNvSpPr>
            <p:nvPr/>
          </p:nvSpPr>
          <p:spPr bwMode="auto">
            <a:xfrm>
              <a:off x="2736" y="2784"/>
              <a:ext cx="0"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5" name="Line 33">
              <a:extLst>
                <a:ext uri="{FF2B5EF4-FFF2-40B4-BE49-F238E27FC236}">
                  <a16:creationId xmlns:a16="http://schemas.microsoft.com/office/drawing/2014/main" id="{B7FBE124-3D08-42E2-89D3-946FEDD3EAA4}"/>
                </a:ext>
              </a:extLst>
            </p:cNvPr>
            <p:cNvSpPr>
              <a:spLocks noChangeShapeType="1"/>
            </p:cNvSpPr>
            <p:nvPr/>
          </p:nvSpPr>
          <p:spPr bwMode="auto">
            <a:xfrm>
              <a:off x="2832" y="3120"/>
              <a:ext cx="3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6" name="Line 34">
              <a:extLst>
                <a:ext uri="{FF2B5EF4-FFF2-40B4-BE49-F238E27FC236}">
                  <a16:creationId xmlns:a16="http://schemas.microsoft.com/office/drawing/2014/main" id="{7DBE23C8-086F-4BD9-8304-37AEA34A4A98}"/>
                </a:ext>
              </a:extLst>
            </p:cNvPr>
            <p:cNvSpPr>
              <a:spLocks noChangeShapeType="1"/>
            </p:cNvSpPr>
            <p:nvPr/>
          </p:nvSpPr>
          <p:spPr bwMode="auto">
            <a:xfrm flipV="1">
              <a:off x="2784" y="2736"/>
              <a:ext cx="38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8" name="Oval 36">
              <a:extLst>
                <a:ext uri="{FF2B5EF4-FFF2-40B4-BE49-F238E27FC236}">
                  <a16:creationId xmlns:a16="http://schemas.microsoft.com/office/drawing/2014/main" id="{5489137F-ED51-48D9-B57A-C71585806C46}"/>
                </a:ext>
              </a:extLst>
            </p:cNvPr>
            <p:cNvSpPr>
              <a:spLocks noChangeArrowheads="1"/>
            </p:cNvSpPr>
            <p:nvPr/>
          </p:nvSpPr>
          <p:spPr bwMode="auto">
            <a:xfrm>
              <a:off x="3552" y="2592"/>
              <a:ext cx="193" cy="191"/>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29" name="Oval 37">
              <a:extLst>
                <a:ext uri="{FF2B5EF4-FFF2-40B4-BE49-F238E27FC236}">
                  <a16:creationId xmlns:a16="http://schemas.microsoft.com/office/drawing/2014/main" id="{6B05E767-E424-40EA-9316-F40729C3F8BA}"/>
                </a:ext>
              </a:extLst>
            </p:cNvPr>
            <p:cNvSpPr>
              <a:spLocks noChangeArrowheads="1"/>
            </p:cNvSpPr>
            <p:nvPr/>
          </p:nvSpPr>
          <p:spPr bwMode="auto">
            <a:xfrm>
              <a:off x="3552"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30" name="Oval 38">
              <a:extLst>
                <a:ext uri="{FF2B5EF4-FFF2-40B4-BE49-F238E27FC236}">
                  <a16:creationId xmlns:a16="http://schemas.microsoft.com/office/drawing/2014/main" id="{A87DA219-E158-4EC7-8792-C984B556C46E}"/>
                </a:ext>
              </a:extLst>
            </p:cNvPr>
            <p:cNvSpPr>
              <a:spLocks noChangeArrowheads="1"/>
            </p:cNvSpPr>
            <p:nvPr/>
          </p:nvSpPr>
          <p:spPr bwMode="auto">
            <a:xfrm>
              <a:off x="4080"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31" name="Oval 39">
              <a:extLst>
                <a:ext uri="{FF2B5EF4-FFF2-40B4-BE49-F238E27FC236}">
                  <a16:creationId xmlns:a16="http://schemas.microsoft.com/office/drawing/2014/main" id="{49893997-EAA1-42A8-B56A-882A66C4DA67}"/>
                </a:ext>
              </a:extLst>
            </p:cNvPr>
            <p:cNvSpPr>
              <a:spLocks noChangeArrowheads="1"/>
            </p:cNvSpPr>
            <p:nvPr/>
          </p:nvSpPr>
          <p:spPr bwMode="auto">
            <a:xfrm>
              <a:off x="4080" y="259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32" name="Line 40">
              <a:extLst>
                <a:ext uri="{FF2B5EF4-FFF2-40B4-BE49-F238E27FC236}">
                  <a16:creationId xmlns:a16="http://schemas.microsoft.com/office/drawing/2014/main" id="{AE78E3BC-56B5-477C-AF87-E7E6ECEBAD7A}"/>
                </a:ext>
              </a:extLst>
            </p:cNvPr>
            <p:cNvSpPr>
              <a:spLocks noChangeShapeType="1"/>
            </p:cNvSpPr>
            <p:nvPr/>
          </p:nvSpPr>
          <p:spPr bwMode="auto">
            <a:xfrm>
              <a:off x="3648" y="2784"/>
              <a:ext cx="0"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33" name="Line 41">
              <a:extLst>
                <a:ext uri="{FF2B5EF4-FFF2-40B4-BE49-F238E27FC236}">
                  <a16:creationId xmlns:a16="http://schemas.microsoft.com/office/drawing/2014/main" id="{F220AD6E-6E16-4BFD-A1A1-7F9163BD67E2}"/>
                </a:ext>
              </a:extLst>
            </p:cNvPr>
            <p:cNvSpPr>
              <a:spLocks noChangeShapeType="1"/>
            </p:cNvSpPr>
            <p:nvPr/>
          </p:nvSpPr>
          <p:spPr bwMode="auto">
            <a:xfrm>
              <a:off x="4176" y="2784"/>
              <a:ext cx="0"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37" name="Line 45">
              <a:extLst>
                <a:ext uri="{FF2B5EF4-FFF2-40B4-BE49-F238E27FC236}">
                  <a16:creationId xmlns:a16="http://schemas.microsoft.com/office/drawing/2014/main" id="{59A730BC-6399-44FD-AB10-7BF1077073E8}"/>
                </a:ext>
              </a:extLst>
            </p:cNvPr>
            <p:cNvSpPr>
              <a:spLocks noChangeShapeType="1"/>
            </p:cNvSpPr>
            <p:nvPr/>
          </p:nvSpPr>
          <p:spPr bwMode="auto">
            <a:xfrm>
              <a:off x="3744" y="2736"/>
              <a:ext cx="38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38" name="Oval 46">
              <a:extLst>
                <a:ext uri="{FF2B5EF4-FFF2-40B4-BE49-F238E27FC236}">
                  <a16:creationId xmlns:a16="http://schemas.microsoft.com/office/drawing/2014/main" id="{DF917FC6-BFE7-4CC7-A4DC-9A453AD6F356}"/>
                </a:ext>
              </a:extLst>
            </p:cNvPr>
            <p:cNvSpPr>
              <a:spLocks noChangeArrowheads="1"/>
            </p:cNvSpPr>
            <p:nvPr/>
          </p:nvSpPr>
          <p:spPr bwMode="auto">
            <a:xfrm>
              <a:off x="4464" y="2592"/>
              <a:ext cx="193" cy="191"/>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39" name="Oval 47">
              <a:extLst>
                <a:ext uri="{FF2B5EF4-FFF2-40B4-BE49-F238E27FC236}">
                  <a16:creationId xmlns:a16="http://schemas.microsoft.com/office/drawing/2014/main" id="{DE3DAECA-494D-4A1C-A3A0-FB4BC2283C7A}"/>
                </a:ext>
              </a:extLst>
            </p:cNvPr>
            <p:cNvSpPr>
              <a:spLocks noChangeArrowheads="1"/>
            </p:cNvSpPr>
            <p:nvPr/>
          </p:nvSpPr>
          <p:spPr bwMode="auto">
            <a:xfrm>
              <a:off x="4464"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40" name="Oval 48">
              <a:extLst>
                <a:ext uri="{FF2B5EF4-FFF2-40B4-BE49-F238E27FC236}">
                  <a16:creationId xmlns:a16="http://schemas.microsoft.com/office/drawing/2014/main" id="{7FCA1D03-952C-4015-9FAB-22D49BC79DE8}"/>
                </a:ext>
              </a:extLst>
            </p:cNvPr>
            <p:cNvSpPr>
              <a:spLocks noChangeArrowheads="1"/>
            </p:cNvSpPr>
            <p:nvPr/>
          </p:nvSpPr>
          <p:spPr bwMode="auto">
            <a:xfrm>
              <a:off x="4992" y="302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41" name="Oval 49">
              <a:extLst>
                <a:ext uri="{FF2B5EF4-FFF2-40B4-BE49-F238E27FC236}">
                  <a16:creationId xmlns:a16="http://schemas.microsoft.com/office/drawing/2014/main" id="{0B5A676A-E601-4C20-88D8-5CD8ACC90C59}"/>
                </a:ext>
              </a:extLst>
            </p:cNvPr>
            <p:cNvSpPr>
              <a:spLocks noChangeArrowheads="1"/>
            </p:cNvSpPr>
            <p:nvPr/>
          </p:nvSpPr>
          <p:spPr bwMode="auto">
            <a:xfrm>
              <a:off x="4992" y="259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43" name="Line 51">
              <a:extLst>
                <a:ext uri="{FF2B5EF4-FFF2-40B4-BE49-F238E27FC236}">
                  <a16:creationId xmlns:a16="http://schemas.microsoft.com/office/drawing/2014/main" id="{45448585-A8CF-4192-88C8-90C8C9ECED1F}"/>
                </a:ext>
              </a:extLst>
            </p:cNvPr>
            <p:cNvSpPr>
              <a:spLocks noChangeShapeType="1"/>
            </p:cNvSpPr>
            <p:nvPr/>
          </p:nvSpPr>
          <p:spPr bwMode="auto">
            <a:xfrm>
              <a:off x="5088" y="2784"/>
              <a:ext cx="0"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44" name="Line 52">
              <a:extLst>
                <a:ext uri="{FF2B5EF4-FFF2-40B4-BE49-F238E27FC236}">
                  <a16:creationId xmlns:a16="http://schemas.microsoft.com/office/drawing/2014/main" id="{A2F1C851-DF37-4A9D-A127-DFCF00D5C4A0}"/>
                </a:ext>
              </a:extLst>
            </p:cNvPr>
            <p:cNvSpPr>
              <a:spLocks noChangeShapeType="1"/>
            </p:cNvSpPr>
            <p:nvPr/>
          </p:nvSpPr>
          <p:spPr bwMode="auto">
            <a:xfrm>
              <a:off x="4656" y="2688"/>
              <a:ext cx="3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45" name="Line 53">
              <a:extLst>
                <a:ext uri="{FF2B5EF4-FFF2-40B4-BE49-F238E27FC236}">
                  <a16:creationId xmlns:a16="http://schemas.microsoft.com/office/drawing/2014/main" id="{AF6924EF-0DE1-46FA-BC9F-1D239C1836C1}"/>
                </a:ext>
              </a:extLst>
            </p:cNvPr>
            <p:cNvSpPr>
              <a:spLocks noChangeShapeType="1"/>
            </p:cNvSpPr>
            <p:nvPr/>
          </p:nvSpPr>
          <p:spPr bwMode="auto">
            <a:xfrm>
              <a:off x="4656" y="3120"/>
              <a:ext cx="336"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8248" name="Text Box 56">
              <a:extLst>
                <a:ext uri="{FF2B5EF4-FFF2-40B4-BE49-F238E27FC236}">
                  <a16:creationId xmlns:a16="http://schemas.microsoft.com/office/drawing/2014/main" id="{84C60C3F-8574-4496-A696-21E34C9C2B86}"/>
                </a:ext>
              </a:extLst>
            </p:cNvPr>
            <p:cNvSpPr txBox="1">
              <a:spLocks noChangeArrowheads="1"/>
            </p:cNvSpPr>
            <p:nvPr/>
          </p:nvSpPr>
          <p:spPr bwMode="auto">
            <a:xfrm>
              <a:off x="1680" y="3264"/>
              <a:ext cx="32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en-US" altLang="en-US" sz="2000">
                  <a:latin typeface="Times New Roman" panose="02020603050405020304" pitchFamily="18" charset="0"/>
                </a:rPr>
                <a:t>Four of the spanning trees of the graph</a:t>
              </a:r>
            </a:p>
          </p:txBody>
        </p:sp>
      </p:grpSp>
      <p:sp>
        <p:nvSpPr>
          <p:cNvPr id="2" name="Rectangle 1">
            <a:extLst>
              <a:ext uri="{FF2B5EF4-FFF2-40B4-BE49-F238E27FC236}">
                <a16:creationId xmlns:a16="http://schemas.microsoft.com/office/drawing/2014/main" id="{2C1A4198-1A91-483C-B48F-C323838112AD}"/>
              </a:ext>
            </a:extLst>
          </p:cNvPr>
          <p:cNvSpPr/>
          <p:nvPr/>
        </p:nvSpPr>
        <p:spPr>
          <a:xfrm>
            <a:off x="664368" y="5252017"/>
            <a:ext cx="8345488" cy="13112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0" i="0" dirty="0">
                <a:solidFill>
                  <a:schemeClr val="bg1"/>
                </a:solidFill>
                <a:effectLst/>
                <a:latin typeface="urw-din"/>
              </a:rPr>
              <a:t>If a graph is a complete graph with n vertices, then total number of spanning trees is n</a:t>
            </a:r>
            <a:r>
              <a:rPr lang="en-US" sz="2400" b="0" i="0" baseline="30000" dirty="0">
                <a:solidFill>
                  <a:schemeClr val="bg1"/>
                </a:solidFill>
                <a:effectLst/>
                <a:latin typeface="urw-din"/>
              </a:rPr>
              <a:t>(n-2)</a:t>
            </a:r>
            <a:r>
              <a:rPr lang="en-US" sz="2400" b="0" i="0" dirty="0">
                <a:solidFill>
                  <a:schemeClr val="bg1"/>
                </a:solidFill>
                <a:effectLst/>
                <a:latin typeface="urw-din"/>
              </a:rPr>
              <a:t> where n is the number of nodes in the graph.</a:t>
            </a:r>
            <a:endParaRPr lang="en-IN" sz="2400" dirty="0">
              <a:solidFill>
                <a:schemeClr val="bg1"/>
              </a:solidFill>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8249"/>
                                        </p:tgtEl>
                                        <p:attrNameLst>
                                          <p:attrName>style.visibility</p:attrName>
                                        </p:attrNameLst>
                                      </p:cBhvr>
                                      <p:to>
                                        <p:strVal val="visible"/>
                                      </p:to>
                                    </p:set>
                                    <p:animEffect transition="in" filter="dissolve">
                                      <p:cBhvr>
                                        <p:cTn id="7" dur="500"/>
                                        <p:tgtEl>
                                          <p:spTgt spid="824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8250"/>
                                        </p:tgtEl>
                                        <p:attrNameLst>
                                          <p:attrName>style.visibility</p:attrName>
                                        </p:attrNameLst>
                                      </p:cBhvr>
                                      <p:to>
                                        <p:strVal val="visible"/>
                                      </p:to>
                                    </p:set>
                                    <p:animEffect transition="in" filter="dissolve">
                                      <p:cBhvr>
                                        <p:cTn id="12" dur="500"/>
                                        <p:tgtEl>
                                          <p:spTgt spid="82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Slide Number Placeholder 3">
            <a:extLst>
              <a:ext uri="{FF2B5EF4-FFF2-40B4-BE49-F238E27FC236}">
                <a16:creationId xmlns:a16="http://schemas.microsoft.com/office/drawing/2014/main" id="{7A59C7AA-F276-4306-A408-9D4DEBA84AAD}"/>
              </a:ext>
            </a:extLst>
          </p:cNvPr>
          <p:cNvSpPr>
            <a:spLocks noGrp="1"/>
          </p:cNvSpPr>
          <p:nvPr>
            <p:ph type="sldNum" sz="quarter" idx="10"/>
          </p:nvPr>
        </p:nvSpPr>
        <p:spPr/>
        <p:txBody>
          <a:bodyPr/>
          <a:lstStyle/>
          <a:p>
            <a:fld id="{F1A2108E-5848-45C7-9B11-3792C999F9EE}" type="slidenum">
              <a:rPr lang="en-US" altLang="en-US"/>
              <a:pPr/>
              <a:t>125</a:t>
            </a:fld>
            <a:endParaRPr lang="en-US" altLang="en-US"/>
          </a:p>
        </p:txBody>
      </p:sp>
      <p:sp>
        <p:nvSpPr>
          <p:cNvPr id="9218" name="Rectangle 2">
            <a:extLst>
              <a:ext uri="{FF2B5EF4-FFF2-40B4-BE49-F238E27FC236}">
                <a16:creationId xmlns:a16="http://schemas.microsoft.com/office/drawing/2014/main" id="{0030C3AB-1C86-4BD2-A9A9-01D293F9CF0F}"/>
              </a:ext>
            </a:extLst>
          </p:cNvPr>
          <p:cNvSpPr>
            <a:spLocks noGrp="1" noChangeArrowheads="1"/>
          </p:cNvSpPr>
          <p:nvPr>
            <p:ph type="title"/>
          </p:nvPr>
        </p:nvSpPr>
        <p:spPr/>
        <p:txBody>
          <a:bodyPr/>
          <a:lstStyle/>
          <a:p>
            <a:r>
              <a:rPr lang="en-US" altLang="en-US" dirty="0"/>
              <a:t>Finding a spanning tree</a:t>
            </a:r>
          </a:p>
        </p:txBody>
      </p:sp>
      <p:sp>
        <p:nvSpPr>
          <p:cNvPr id="9219" name="Rectangle 3">
            <a:extLst>
              <a:ext uri="{FF2B5EF4-FFF2-40B4-BE49-F238E27FC236}">
                <a16:creationId xmlns:a16="http://schemas.microsoft.com/office/drawing/2014/main" id="{CD03B810-0A19-4271-86BA-B96CA5571A41}"/>
              </a:ext>
            </a:extLst>
          </p:cNvPr>
          <p:cNvSpPr>
            <a:spLocks noGrp="1" noChangeArrowheads="1"/>
          </p:cNvSpPr>
          <p:nvPr>
            <p:ph type="body" idx="1"/>
          </p:nvPr>
        </p:nvSpPr>
        <p:spPr>
          <a:xfrm>
            <a:off x="665956" y="1998633"/>
            <a:ext cx="8574088" cy="2419350"/>
          </a:xfrm>
        </p:spPr>
        <p:txBody>
          <a:bodyPr/>
          <a:lstStyle/>
          <a:p>
            <a:r>
              <a:rPr lang="en-US" altLang="en-US" sz="2400" dirty="0"/>
              <a:t>To find a spanning tree of a graph,</a:t>
            </a:r>
            <a:endParaRPr lang="en-US" altLang="en-US" sz="1800" dirty="0"/>
          </a:p>
          <a:p>
            <a:pPr lvl="1">
              <a:buClr>
                <a:srgbClr val="FFFF99"/>
              </a:buClr>
              <a:buFontTx/>
              <a:buChar char=" "/>
            </a:pPr>
            <a:r>
              <a:rPr lang="en-US" altLang="en-US" sz="1800" dirty="0">
                <a:solidFill>
                  <a:schemeClr val="accent2"/>
                </a:solidFill>
                <a:latin typeface="Verdana" panose="020B0604030504040204" pitchFamily="34" charset="0"/>
              </a:rPr>
              <a:t>pick an initial node and call it part of the spanning tree</a:t>
            </a:r>
          </a:p>
          <a:p>
            <a:pPr lvl="1">
              <a:buClr>
                <a:srgbClr val="FFFF99"/>
              </a:buClr>
              <a:buFontTx/>
              <a:buChar char=" "/>
            </a:pPr>
            <a:r>
              <a:rPr lang="en-US" altLang="en-US" sz="1800" dirty="0">
                <a:solidFill>
                  <a:schemeClr val="accent2"/>
                </a:solidFill>
                <a:latin typeface="Verdana" panose="020B0604030504040204" pitchFamily="34" charset="0"/>
              </a:rPr>
              <a:t>do a search from the initial node:</a:t>
            </a:r>
          </a:p>
          <a:p>
            <a:pPr lvl="2">
              <a:buClr>
                <a:srgbClr val="FFFF99"/>
              </a:buClr>
              <a:buFontTx/>
              <a:buChar char=" "/>
            </a:pPr>
            <a:r>
              <a:rPr lang="en-US" altLang="en-US" sz="1600" dirty="0">
                <a:solidFill>
                  <a:schemeClr val="accent2"/>
                </a:solidFill>
                <a:latin typeface="Verdana" panose="020B0604030504040204" pitchFamily="34" charset="0"/>
              </a:rPr>
              <a:t>each time you find a node that is not in the spanning tree, add to the spanning tree both the new node </a:t>
            </a:r>
            <a:r>
              <a:rPr lang="en-US" altLang="en-US" sz="1600" i="1" dirty="0">
                <a:solidFill>
                  <a:schemeClr val="accent2"/>
                </a:solidFill>
                <a:latin typeface="Verdana" panose="020B0604030504040204" pitchFamily="34" charset="0"/>
              </a:rPr>
              <a:t>and</a:t>
            </a:r>
            <a:r>
              <a:rPr lang="en-US" altLang="en-US" sz="1600" dirty="0">
                <a:solidFill>
                  <a:schemeClr val="accent2"/>
                </a:solidFill>
                <a:latin typeface="Verdana" panose="020B0604030504040204" pitchFamily="34" charset="0"/>
              </a:rPr>
              <a:t> the edge you followed to get to it</a:t>
            </a:r>
            <a:endParaRPr lang="en-US" altLang="en-US" dirty="0">
              <a:solidFill>
                <a:schemeClr val="accent2"/>
              </a:solidFill>
            </a:endParaRPr>
          </a:p>
        </p:txBody>
      </p:sp>
      <p:grpSp>
        <p:nvGrpSpPr>
          <p:cNvPr id="9288" name="Group 72">
            <a:extLst>
              <a:ext uri="{FF2B5EF4-FFF2-40B4-BE49-F238E27FC236}">
                <a16:creationId xmlns:a16="http://schemas.microsoft.com/office/drawing/2014/main" id="{1C7EDA54-4C78-4477-B028-86426FBFE969}"/>
              </a:ext>
            </a:extLst>
          </p:cNvPr>
          <p:cNvGrpSpPr>
            <a:grpSpLocks/>
          </p:cNvGrpSpPr>
          <p:nvPr/>
        </p:nvGrpSpPr>
        <p:grpSpPr bwMode="auto">
          <a:xfrm>
            <a:off x="990600" y="3814763"/>
            <a:ext cx="2286000" cy="2419350"/>
            <a:chOff x="816" y="2400"/>
            <a:chExt cx="1440" cy="1767"/>
          </a:xfrm>
        </p:grpSpPr>
        <p:sp>
          <p:nvSpPr>
            <p:cNvPr id="9220" name="Oval 4">
              <a:extLst>
                <a:ext uri="{FF2B5EF4-FFF2-40B4-BE49-F238E27FC236}">
                  <a16:creationId xmlns:a16="http://schemas.microsoft.com/office/drawing/2014/main" id="{17AA4810-AD91-4ABD-A872-446DAED3A717}"/>
                </a:ext>
              </a:extLst>
            </p:cNvPr>
            <p:cNvSpPr>
              <a:spLocks noChangeArrowheads="1"/>
            </p:cNvSpPr>
            <p:nvPr/>
          </p:nvSpPr>
          <p:spPr bwMode="auto">
            <a:xfrm>
              <a:off x="1392" y="2400"/>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21" name="Oval 5">
              <a:extLst>
                <a:ext uri="{FF2B5EF4-FFF2-40B4-BE49-F238E27FC236}">
                  <a16:creationId xmlns:a16="http://schemas.microsoft.com/office/drawing/2014/main" id="{CB927A23-EE76-42CE-B212-D757B1F95582}"/>
                </a:ext>
              </a:extLst>
            </p:cNvPr>
            <p:cNvSpPr>
              <a:spLocks noChangeArrowheads="1"/>
            </p:cNvSpPr>
            <p:nvPr/>
          </p:nvSpPr>
          <p:spPr bwMode="auto">
            <a:xfrm>
              <a:off x="864" y="283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22" name="Oval 6">
              <a:extLst>
                <a:ext uri="{FF2B5EF4-FFF2-40B4-BE49-F238E27FC236}">
                  <a16:creationId xmlns:a16="http://schemas.microsoft.com/office/drawing/2014/main" id="{2970F16D-D840-450C-AC6D-F5EA7C3166C6}"/>
                </a:ext>
              </a:extLst>
            </p:cNvPr>
            <p:cNvSpPr>
              <a:spLocks noChangeArrowheads="1"/>
            </p:cNvSpPr>
            <p:nvPr/>
          </p:nvSpPr>
          <p:spPr bwMode="auto">
            <a:xfrm>
              <a:off x="1200" y="283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23" name="Oval 7">
              <a:extLst>
                <a:ext uri="{FF2B5EF4-FFF2-40B4-BE49-F238E27FC236}">
                  <a16:creationId xmlns:a16="http://schemas.microsoft.com/office/drawing/2014/main" id="{90A8C4F2-1F75-46C4-A150-95BB6E3E2D9D}"/>
                </a:ext>
              </a:extLst>
            </p:cNvPr>
            <p:cNvSpPr>
              <a:spLocks noChangeArrowheads="1"/>
            </p:cNvSpPr>
            <p:nvPr/>
          </p:nvSpPr>
          <p:spPr bwMode="auto">
            <a:xfrm>
              <a:off x="1536" y="283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24" name="Oval 8">
              <a:extLst>
                <a:ext uri="{FF2B5EF4-FFF2-40B4-BE49-F238E27FC236}">
                  <a16:creationId xmlns:a16="http://schemas.microsoft.com/office/drawing/2014/main" id="{D4EC15BA-7BBD-44F0-9272-B86E12A01B80}"/>
                </a:ext>
              </a:extLst>
            </p:cNvPr>
            <p:cNvSpPr>
              <a:spLocks noChangeArrowheads="1"/>
            </p:cNvSpPr>
            <p:nvPr/>
          </p:nvSpPr>
          <p:spPr bwMode="auto">
            <a:xfrm>
              <a:off x="1872" y="283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25" name="Oval 9">
              <a:extLst>
                <a:ext uri="{FF2B5EF4-FFF2-40B4-BE49-F238E27FC236}">
                  <a16:creationId xmlns:a16="http://schemas.microsoft.com/office/drawing/2014/main" id="{71FA92BB-E122-423A-BB29-B92934654736}"/>
                </a:ext>
              </a:extLst>
            </p:cNvPr>
            <p:cNvSpPr>
              <a:spLocks noChangeArrowheads="1"/>
            </p:cNvSpPr>
            <p:nvPr/>
          </p:nvSpPr>
          <p:spPr bwMode="auto">
            <a:xfrm>
              <a:off x="1056" y="331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26" name="Oval 10">
              <a:extLst>
                <a:ext uri="{FF2B5EF4-FFF2-40B4-BE49-F238E27FC236}">
                  <a16:creationId xmlns:a16="http://schemas.microsoft.com/office/drawing/2014/main" id="{09DC58D9-2EFD-472F-9BC7-23A2581C8FBF}"/>
                </a:ext>
              </a:extLst>
            </p:cNvPr>
            <p:cNvSpPr>
              <a:spLocks noChangeArrowheads="1"/>
            </p:cNvSpPr>
            <p:nvPr/>
          </p:nvSpPr>
          <p:spPr bwMode="auto">
            <a:xfrm>
              <a:off x="1392" y="331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27" name="Oval 11">
              <a:extLst>
                <a:ext uri="{FF2B5EF4-FFF2-40B4-BE49-F238E27FC236}">
                  <a16:creationId xmlns:a16="http://schemas.microsoft.com/office/drawing/2014/main" id="{0AB6788A-17E2-40E6-B3FF-CE6D71A46EFC}"/>
                </a:ext>
              </a:extLst>
            </p:cNvPr>
            <p:cNvSpPr>
              <a:spLocks noChangeArrowheads="1"/>
            </p:cNvSpPr>
            <p:nvPr/>
          </p:nvSpPr>
          <p:spPr bwMode="auto">
            <a:xfrm>
              <a:off x="1728" y="331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28" name="Oval 12">
              <a:extLst>
                <a:ext uri="{FF2B5EF4-FFF2-40B4-BE49-F238E27FC236}">
                  <a16:creationId xmlns:a16="http://schemas.microsoft.com/office/drawing/2014/main" id="{18DF2F6B-2B4B-42A6-9DD7-2353210AA907}"/>
                </a:ext>
              </a:extLst>
            </p:cNvPr>
            <p:cNvSpPr>
              <a:spLocks noChangeArrowheads="1"/>
            </p:cNvSpPr>
            <p:nvPr/>
          </p:nvSpPr>
          <p:spPr bwMode="auto">
            <a:xfrm>
              <a:off x="1392" y="3696"/>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32" name="Line 16">
              <a:extLst>
                <a:ext uri="{FF2B5EF4-FFF2-40B4-BE49-F238E27FC236}">
                  <a16:creationId xmlns:a16="http://schemas.microsoft.com/office/drawing/2014/main" id="{84759CAF-1948-436F-A02D-9465E5098086}"/>
                </a:ext>
              </a:extLst>
            </p:cNvPr>
            <p:cNvSpPr>
              <a:spLocks noChangeShapeType="1"/>
            </p:cNvSpPr>
            <p:nvPr/>
          </p:nvSpPr>
          <p:spPr bwMode="auto">
            <a:xfrm flipH="1">
              <a:off x="1008" y="2544"/>
              <a:ext cx="38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33" name="Line 17">
              <a:extLst>
                <a:ext uri="{FF2B5EF4-FFF2-40B4-BE49-F238E27FC236}">
                  <a16:creationId xmlns:a16="http://schemas.microsoft.com/office/drawing/2014/main" id="{B77E1F74-8642-4877-9BAA-ECA7D04E3348}"/>
                </a:ext>
              </a:extLst>
            </p:cNvPr>
            <p:cNvSpPr>
              <a:spLocks noChangeShapeType="1"/>
            </p:cNvSpPr>
            <p:nvPr/>
          </p:nvSpPr>
          <p:spPr bwMode="auto">
            <a:xfrm flipV="1">
              <a:off x="1296" y="2592"/>
              <a:ext cx="144"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34" name="Line 18">
              <a:extLst>
                <a:ext uri="{FF2B5EF4-FFF2-40B4-BE49-F238E27FC236}">
                  <a16:creationId xmlns:a16="http://schemas.microsoft.com/office/drawing/2014/main" id="{44BA11C5-4C1D-42CF-AC83-C5E70C295861}"/>
                </a:ext>
              </a:extLst>
            </p:cNvPr>
            <p:cNvSpPr>
              <a:spLocks noChangeShapeType="1"/>
            </p:cNvSpPr>
            <p:nvPr/>
          </p:nvSpPr>
          <p:spPr bwMode="auto">
            <a:xfrm flipH="1" flipV="1">
              <a:off x="1536" y="2592"/>
              <a:ext cx="96"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35" name="Line 19">
              <a:extLst>
                <a:ext uri="{FF2B5EF4-FFF2-40B4-BE49-F238E27FC236}">
                  <a16:creationId xmlns:a16="http://schemas.microsoft.com/office/drawing/2014/main" id="{2C8FAC87-6C10-4DF8-B9DA-4E703518BB56}"/>
                </a:ext>
              </a:extLst>
            </p:cNvPr>
            <p:cNvSpPr>
              <a:spLocks noChangeShapeType="1"/>
            </p:cNvSpPr>
            <p:nvPr/>
          </p:nvSpPr>
          <p:spPr bwMode="auto">
            <a:xfrm flipH="1" flipV="1">
              <a:off x="1584" y="2544"/>
              <a:ext cx="33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36" name="Line 20">
              <a:extLst>
                <a:ext uri="{FF2B5EF4-FFF2-40B4-BE49-F238E27FC236}">
                  <a16:creationId xmlns:a16="http://schemas.microsoft.com/office/drawing/2014/main" id="{B53B2F26-9037-4AA7-BA06-17C974F411D6}"/>
                </a:ext>
              </a:extLst>
            </p:cNvPr>
            <p:cNvSpPr>
              <a:spLocks noChangeShapeType="1"/>
            </p:cNvSpPr>
            <p:nvPr/>
          </p:nvSpPr>
          <p:spPr bwMode="auto">
            <a:xfrm flipH="1" flipV="1">
              <a:off x="960" y="3024"/>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39" name="Line 23">
              <a:extLst>
                <a:ext uri="{FF2B5EF4-FFF2-40B4-BE49-F238E27FC236}">
                  <a16:creationId xmlns:a16="http://schemas.microsoft.com/office/drawing/2014/main" id="{5D6B013E-70E8-4B94-AA7A-FCACEBC12727}"/>
                </a:ext>
              </a:extLst>
            </p:cNvPr>
            <p:cNvSpPr>
              <a:spLocks noChangeShapeType="1"/>
            </p:cNvSpPr>
            <p:nvPr/>
          </p:nvSpPr>
          <p:spPr bwMode="auto">
            <a:xfrm flipH="1">
              <a:off x="1824" y="3024"/>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0" name="Line 24">
              <a:extLst>
                <a:ext uri="{FF2B5EF4-FFF2-40B4-BE49-F238E27FC236}">
                  <a16:creationId xmlns:a16="http://schemas.microsoft.com/office/drawing/2014/main" id="{61D1CD63-ECE6-4EAC-86FC-82B5A5B58F55}"/>
                </a:ext>
              </a:extLst>
            </p:cNvPr>
            <p:cNvSpPr>
              <a:spLocks noChangeShapeType="1"/>
            </p:cNvSpPr>
            <p:nvPr/>
          </p:nvSpPr>
          <p:spPr bwMode="auto">
            <a:xfrm flipH="1">
              <a:off x="1200" y="3024"/>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1" name="Line 25">
              <a:extLst>
                <a:ext uri="{FF2B5EF4-FFF2-40B4-BE49-F238E27FC236}">
                  <a16:creationId xmlns:a16="http://schemas.microsoft.com/office/drawing/2014/main" id="{6FA92DCD-7FE3-4FB5-B11E-B804D87BC34C}"/>
                </a:ext>
              </a:extLst>
            </p:cNvPr>
            <p:cNvSpPr>
              <a:spLocks noChangeShapeType="1"/>
            </p:cNvSpPr>
            <p:nvPr/>
          </p:nvSpPr>
          <p:spPr bwMode="auto">
            <a:xfrm>
              <a:off x="1632" y="3024"/>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2" name="Line 26">
              <a:extLst>
                <a:ext uri="{FF2B5EF4-FFF2-40B4-BE49-F238E27FC236}">
                  <a16:creationId xmlns:a16="http://schemas.microsoft.com/office/drawing/2014/main" id="{2DDD5FAE-5FBB-4D1D-B7BA-5A58AA6BA663}"/>
                </a:ext>
              </a:extLst>
            </p:cNvPr>
            <p:cNvSpPr>
              <a:spLocks noChangeShapeType="1"/>
            </p:cNvSpPr>
            <p:nvPr/>
          </p:nvSpPr>
          <p:spPr bwMode="auto">
            <a:xfrm flipH="1">
              <a:off x="1536" y="3504"/>
              <a:ext cx="240" cy="19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3" name="Line 27">
              <a:extLst>
                <a:ext uri="{FF2B5EF4-FFF2-40B4-BE49-F238E27FC236}">
                  <a16:creationId xmlns:a16="http://schemas.microsoft.com/office/drawing/2014/main" id="{4562DDEA-CAFE-4C7A-97CC-B074E77E08D5}"/>
                </a:ext>
              </a:extLst>
            </p:cNvPr>
            <p:cNvSpPr>
              <a:spLocks noChangeShapeType="1"/>
            </p:cNvSpPr>
            <p:nvPr/>
          </p:nvSpPr>
          <p:spPr bwMode="auto">
            <a:xfrm>
              <a:off x="1200" y="3504"/>
              <a:ext cx="240" cy="19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4" name="Line 28">
              <a:extLst>
                <a:ext uri="{FF2B5EF4-FFF2-40B4-BE49-F238E27FC236}">
                  <a16:creationId xmlns:a16="http://schemas.microsoft.com/office/drawing/2014/main" id="{78BC49A8-D897-4E00-A1EE-5EE6D0B80800}"/>
                </a:ext>
              </a:extLst>
            </p:cNvPr>
            <p:cNvSpPr>
              <a:spLocks noChangeShapeType="1"/>
            </p:cNvSpPr>
            <p:nvPr/>
          </p:nvSpPr>
          <p:spPr bwMode="auto">
            <a:xfrm>
              <a:off x="1488" y="3504"/>
              <a:ext cx="0" cy="19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85" name="Text Box 69">
              <a:extLst>
                <a:ext uri="{FF2B5EF4-FFF2-40B4-BE49-F238E27FC236}">
                  <a16:creationId xmlns:a16="http://schemas.microsoft.com/office/drawing/2014/main" id="{CE2BD01F-6BE9-4328-8E23-7A7077520C68}"/>
                </a:ext>
              </a:extLst>
            </p:cNvPr>
            <p:cNvSpPr txBox="1">
              <a:spLocks noChangeArrowheads="1"/>
            </p:cNvSpPr>
            <p:nvPr/>
          </p:nvSpPr>
          <p:spPr bwMode="auto">
            <a:xfrm>
              <a:off x="816" y="3936"/>
              <a:ext cx="144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Times New Roman" panose="02020603050405020304" pitchFamily="18" charset="0"/>
                </a:rPr>
                <a:t>An undirected graph</a:t>
              </a:r>
            </a:p>
          </p:txBody>
        </p:sp>
      </p:grpSp>
      <p:grpSp>
        <p:nvGrpSpPr>
          <p:cNvPr id="9291" name="Group 75">
            <a:extLst>
              <a:ext uri="{FF2B5EF4-FFF2-40B4-BE49-F238E27FC236}">
                <a16:creationId xmlns:a16="http://schemas.microsoft.com/office/drawing/2014/main" id="{5730D9C2-789F-4372-83D8-E4CDADCC6632}"/>
              </a:ext>
            </a:extLst>
          </p:cNvPr>
          <p:cNvGrpSpPr>
            <a:grpSpLocks/>
          </p:cNvGrpSpPr>
          <p:nvPr/>
        </p:nvGrpSpPr>
        <p:grpSpPr bwMode="auto">
          <a:xfrm>
            <a:off x="3581400" y="3814762"/>
            <a:ext cx="1905000" cy="2968625"/>
            <a:chOff x="2256" y="2352"/>
            <a:chExt cx="1200" cy="2113"/>
          </a:xfrm>
        </p:grpSpPr>
        <p:sp>
          <p:nvSpPr>
            <p:cNvPr id="9245" name="Oval 29">
              <a:extLst>
                <a:ext uri="{FF2B5EF4-FFF2-40B4-BE49-F238E27FC236}">
                  <a16:creationId xmlns:a16="http://schemas.microsoft.com/office/drawing/2014/main" id="{33A89350-6230-4823-9C76-3D129C86F5EB}"/>
                </a:ext>
              </a:extLst>
            </p:cNvPr>
            <p:cNvSpPr>
              <a:spLocks noChangeArrowheads="1"/>
            </p:cNvSpPr>
            <p:nvPr/>
          </p:nvSpPr>
          <p:spPr bwMode="auto">
            <a:xfrm>
              <a:off x="2784" y="235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6" name="Oval 30">
              <a:extLst>
                <a:ext uri="{FF2B5EF4-FFF2-40B4-BE49-F238E27FC236}">
                  <a16:creationId xmlns:a16="http://schemas.microsoft.com/office/drawing/2014/main" id="{58616965-7951-4DA9-AC79-4247F0DF9DF7}"/>
                </a:ext>
              </a:extLst>
            </p:cNvPr>
            <p:cNvSpPr>
              <a:spLocks noChangeArrowheads="1"/>
            </p:cNvSpPr>
            <p:nvPr/>
          </p:nvSpPr>
          <p:spPr bwMode="auto">
            <a:xfrm>
              <a:off x="2256" y="278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7" name="Oval 31">
              <a:extLst>
                <a:ext uri="{FF2B5EF4-FFF2-40B4-BE49-F238E27FC236}">
                  <a16:creationId xmlns:a16="http://schemas.microsoft.com/office/drawing/2014/main" id="{EE333A7F-0B94-4D2D-AEEF-C87A4B8D19C5}"/>
                </a:ext>
              </a:extLst>
            </p:cNvPr>
            <p:cNvSpPr>
              <a:spLocks noChangeArrowheads="1"/>
            </p:cNvSpPr>
            <p:nvPr/>
          </p:nvSpPr>
          <p:spPr bwMode="auto">
            <a:xfrm>
              <a:off x="2592" y="278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8" name="Oval 32">
              <a:extLst>
                <a:ext uri="{FF2B5EF4-FFF2-40B4-BE49-F238E27FC236}">
                  <a16:creationId xmlns:a16="http://schemas.microsoft.com/office/drawing/2014/main" id="{58A513C7-28C0-4857-B97E-775340D24F3D}"/>
                </a:ext>
              </a:extLst>
            </p:cNvPr>
            <p:cNvSpPr>
              <a:spLocks noChangeArrowheads="1"/>
            </p:cNvSpPr>
            <p:nvPr/>
          </p:nvSpPr>
          <p:spPr bwMode="auto">
            <a:xfrm>
              <a:off x="2928" y="278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49" name="Oval 33">
              <a:extLst>
                <a:ext uri="{FF2B5EF4-FFF2-40B4-BE49-F238E27FC236}">
                  <a16:creationId xmlns:a16="http://schemas.microsoft.com/office/drawing/2014/main" id="{994610DD-BD3E-4B28-9D69-AD3E283EB674}"/>
                </a:ext>
              </a:extLst>
            </p:cNvPr>
            <p:cNvSpPr>
              <a:spLocks noChangeArrowheads="1"/>
            </p:cNvSpPr>
            <p:nvPr/>
          </p:nvSpPr>
          <p:spPr bwMode="auto">
            <a:xfrm>
              <a:off x="3264" y="278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0" name="Oval 34">
              <a:extLst>
                <a:ext uri="{FF2B5EF4-FFF2-40B4-BE49-F238E27FC236}">
                  <a16:creationId xmlns:a16="http://schemas.microsoft.com/office/drawing/2014/main" id="{E297DF24-0F15-4FD8-A59F-E500EF0156DF}"/>
                </a:ext>
              </a:extLst>
            </p:cNvPr>
            <p:cNvSpPr>
              <a:spLocks noChangeArrowheads="1"/>
            </p:cNvSpPr>
            <p:nvPr/>
          </p:nvSpPr>
          <p:spPr bwMode="auto">
            <a:xfrm>
              <a:off x="2448" y="326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1" name="Oval 35">
              <a:extLst>
                <a:ext uri="{FF2B5EF4-FFF2-40B4-BE49-F238E27FC236}">
                  <a16:creationId xmlns:a16="http://schemas.microsoft.com/office/drawing/2014/main" id="{22DA2D88-A6D7-4E5B-A3C7-6DEA7DAE13DE}"/>
                </a:ext>
              </a:extLst>
            </p:cNvPr>
            <p:cNvSpPr>
              <a:spLocks noChangeArrowheads="1"/>
            </p:cNvSpPr>
            <p:nvPr/>
          </p:nvSpPr>
          <p:spPr bwMode="auto">
            <a:xfrm>
              <a:off x="2784" y="326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2" name="Oval 36">
              <a:extLst>
                <a:ext uri="{FF2B5EF4-FFF2-40B4-BE49-F238E27FC236}">
                  <a16:creationId xmlns:a16="http://schemas.microsoft.com/office/drawing/2014/main" id="{7BE0E01C-43F3-4282-832D-1552F12828F5}"/>
                </a:ext>
              </a:extLst>
            </p:cNvPr>
            <p:cNvSpPr>
              <a:spLocks noChangeArrowheads="1"/>
            </p:cNvSpPr>
            <p:nvPr/>
          </p:nvSpPr>
          <p:spPr bwMode="auto">
            <a:xfrm>
              <a:off x="3120" y="3264"/>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3" name="Oval 37">
              <a:extLst>
                <a:ext uri="{FF2B5EF4-FFF2-40B4-BE49-F238E27FC236}">
                  <a16:creationId xmlns:a16="http://schemas.microsoft.com/office/drawing/2014/main" id="{0248ACA6-F4A4-4234-9818-98F2E38A950F}"/>
                </a:ext>
              </a:extLst>
            </p:cNvPr>
            <p:cNvSpPr>
              <a:spLocks noChangeArrowheads="1"/>
            </p:cNvSpPr>
            <p:nvPr/>
          </p:nvSpPr>
          <p:spPr bwMode="auto">
            <a:xfrm>
              <a:off x="2784" y="3648"/>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4" name="Line 38">
              <a:extLst>
                <a:ext uri="{FF2B5EF4-FFF2-40B4-BE49-F238E27FC236}">
                  <a16:creationId xmlns:a16="http://schemas.microsoft.com/office/drawing/2014/main" id="{416897AB-508E-48D5-AE70-8B2983D32D82}"/>
                </a:ext>
              </a:extLst>
            </p:cNvPr>
            <p:cNvSpPr>
              <a:spLocks noChangeShapeType="1"/>
            </p:cNvSpPr>
            <p:nvPr/>
          </p:nvSpPr>
          <p:spPr bwMode="auto">
            <a:xfrm flipH="1">
              <a:off x="2400" y="2496"/>
              <a:ext cx="38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5" name="Line 39">
              <a:extLst>
                <a:ext uri="{FF2B5EF4-FFF2-40B4-BE49-F238E27FC236}">
                  <a16:creationId xmlns:a16="http://schemas.microsoft.com/office/drawing/2014/main" id="{B1E18306-55AF-4ED2-84CC-CD06F2FC7342}"/>
                </a:ext>
              </a:extLst>
            </p:cNvPr>
            <p:cNvSpPr>
              <a:spLocks noChangeShapeType="1"/>
            </p:cNvSpPr>
            <p:nvPr/>
          </p:nvSpPr>
          <p:spPr bwMode="auto">
            <a:xfrm flipV="1">
              <a:off x="2688" y="2544"/>
              <a:ext cx="144"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6" name="Line 40">
              <a:extLst>
                <a:ext uri="{FF2B5EF4-FFF2-40B4-BE49-F238E27FC236}">
                  <a16:creationId xmlns:a16="http://schemas.microsoft.com/office/drawing/2014/main" id="{866765C1-CBAD-4F7B-8149-0D1BA769ACA5}"/>
                </a:ext>
              </a:extLst>
            </p:cNvPr>
            <p:cNvSpPr>
              <a:spLocks noChangeShapeType="1"/>
            </p:cNvSpPr>
            <p:nvPr/>
          </p:nvSpPr>
          <p:spPr bwMode="auto">
            <a:xfrm flipH="1" flipV="1">
              <a:off x="2928" y="2544"/>
              <a:ext cx="96"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7" name="Line 41">
              <a:extLst>
                <a:ext uri="{FF2B5EF4-FFF2-40B4-BE49-F238E27FC236}">
                  <a16:creationId xmlns:a16="http://schemas.microsoft.com/office/drawing/2014/main" id="{C9AC3F7A-9710-4728-8E0B-7A0D335B00BA}"/>
                </a:ext>
              </a:extLst>
            </p:cNvPr>
            <p:cNvSpPr>
              <a:spLocks noChangeShapeType="1"/>
            </p:cNvSpPr>
            <p:nvPr/>
          </p:nvSpPr>
          <p:spPr bwMode="auto">
            <a:xfrm flipH="1" flipV="1">
              <a:off x="2976" y="2496"/>
              <a:ext cx="33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8" name="Line 42">
              <a:extLst>
                <a:ext uri="{FF2B5EF4-FFF2-40B4-BE49-F238E27FC236}">
                  <a16:creationId xmlns:a16="http://schemas.microsoft.com/office/drawing/2014/main" id="{8F5147B1-F5AD-4F29-BF60-B0049A6B68A4}"/>
                </a:ext>
              </a:extLst>
            </p:cNvPr>
            <p:cNvSpPr>
              <a:spLocks noChangeShapeType="1"/>
            </p:cNvSpPr>
            <p:nvPr/>
          </p:nvSpPr>
          <p:spPr bwMode="auto">
            <a:xfrm flipH="1" flipV="1">
              <a:off x="2352" y="2976"/>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59" name="Line 43">
              <a:extLst>
                <a:ext uri="{FF2B5EF4-FFF2-40B4-BE49-F238E27FC236}">
                  <a16:creationId xmlns:a16="http://schemas.microsoft.com/office/drawing/2014/main" id="{7648BFE0-E863-42CC-AC85-B6EA487B5698}"/>
                </a:ext>
              </a:extLst>
            </p:cNvPr>
            <p:cNvSpPr>
              <a:spLocks noChangeShapeType="1"/>
            </p:cNvSpPr>
            <p:nvPr/>
          </p:nvSpPr>
          <p:spPr bwMode="auto">
            <a:xfrm>
              <a:off x="3072" y="2976"/>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63" name="Line 47">
              <a:extLst>
                <a:ext uri="{FF2B5EF4-FFF2-40B4-BE49-F238E27FC236}">
                  <a16:creationId xmlns:a16="http://schemas.microsoft.com/office/drawing/2014/main" id="{48CC7D2D-31FD-4F23-9919-35506BA6B34A}"/>
                </a:ext>
              </a:extLst>
            </p:cNvPr>
            <p:cNvSpPr>
              <a:spLocks noChangeShapeType="1"/>
            </p:cNvSpPr>
            <p:nvPr/>
          </p:nvSpPr>
          <p:spPr bwMode="auto">
            <a:xfrm>
              <a:off x="2592" y="3456"/>
              <a:ext cx="240" cy="19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64" name="Line 48">
              <a:extLst>
                <a:ext uri="{FF2B5EF4-FFF2-40B4-BE49-F238E27FC236}">
                  <a16:creationId xmlns:a16="http://schemas.microsoft.com/office/drawing/2014/main" id="{FD85AEBC-D92B-4FBE-994F-86DED5E9ADBD}"/>
                </a:ext>
              </a:extLst>
            </p:cNvPr>
            <p:cNvSpPr>
              <a:spLocks noChangeShapeType="1"/>
            </p:cNvSpPr>
            <p:nvPr/>
          </p:nvSpPr>
          <p:spPr bwMode="auto">
            <a:xfrm>
              <a:off x="2880" y="3456"/>
              <a:ext cx="0" cy="19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86" name="Text Box 70">
              <a:extLst>
                <a:ext uri="{FF2B5EF4-FFF2-40B4-BE49-F238E27FC236}">
                  <a16:creationId xmlns:a16="http://schemas.microsoft.com/office/drawing/2014/main" id="{6E5550ED-3B8B-46BF-9A54-6E95D1FAEDAF}"/>
                </a:ext>
              </a:extLst>
            </p:cNvPr>
            <p:cNvSpPr txBox="1">
              <a:spLocks noChangeArrowheads="1"/>
            </p:cNvSpPr>
            <p:nvPr/>
          </p:nvSpPr>
          <p:spPr bwMode="auto">
            <a:xfrm>
              <a:off x="2304" y="3888"/>
              <a:ext cx="1152"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Times New Roman" panose="02020603050405020304" pitchFamily="18" charset="0"/>
                </a:rPr>
                <a:t>One possible result of a BFS</a:t>
              </a:r>
              <a:br>
                <a:rPr lang="en-US" altLang="en-US" sz="1800">
                  <a:latin typeface="Times New Roman" panose="02020603050405020304" pitchFamily="18" charset="0"/>
                </a:rPr>
              </a:br>
              <a:r>
                <a:rPr lang="en-US" altLang="en-US" sz="1800">
                  <a:latin typeface="Times New Roman" panose="02020603050405020304" pitchFamily="18" charset="0"/>
                </a:rPr>
                <a:t>starting from top</a:t>
              </a:r>
            </a:p>
          </p:txBody>
        </p:sp>
      </p:grpSp>
      <p:grpSp>
        <p:nvGrpSpPr>
          <p:cNvPr id="9290" name="Group 74">
            <a:extLst>
              <a:ext uri="{FF2B5EF4-FFF2-40B4-BE49-F238E27FC236}">
                <a16:creationId xmlns:a16="http://schemas.microsoft.com/office/drawing/2014/main" id="{0181825C-E4CA-4A8B-AFEF-420AF29EB84F}"/>
              </a:ext>
            </a:extLst>
          </p:cNvPr>
          <p:cNvGrpSpPr>
            <a:grpSpLocks/>
          </p:cNvGrpSpPr>
          <p:nvPr/>
        </p:nvGrpSpPr>
        <p:grpSpPr bwMode="auto">
          <a:xfrm>
            <a:off x="6019800" y="3814762"/>
            <a:ext cx="1905000" cy="2968626"/>
            <a:chOff x="3744" y="2400"/>
            <a:chExt cx="1200" cy="2113"/>
          </a:xfrm>
        </p:grpSpPr>
        <p:sp>
          <p:nvSpPr>
            <p:cNvPr id="9265" name="Oval 49">
              <a:extLst>
                <a:ext uri="{FF2B5EF4-FFF2-40B4-BE49-F238E27FC236}">
                  <a16:creationId xmlns:a16="http://schemas.microsoft.com/office/drawing/2014/main" id="{6BACF018-ABF6-4221-A7D9-15D9E1D1E2F2}"/>
                </a:ext>
              </a:extLst>
            </p:cNvPr>
            <p:cNvSpPr>
              <a:spLocks noChangeArrowheads="1"/>
            </p:cNvSpPr>
            <p:nvPr/>
          </p:nvSpPr>
          <p:spPr bwMode="auto">
            <a:xfrm>
              <a:off x="4272" y="2400"/>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66" name="Oval 50">
              <a:extLst>
                <a:ext uri="{FF2B5EF4-FFF2-40B4-BE49-F238E27FC236}">
                  <a16:creationId xmlns:a16="http://schemas.microsoft.com/office/drawing/2014/main" id="{99747759-C78A-444E-A182-3E3898765C1A}"/>
                </a:ext>
              </a:extLst>
            </p:cNvPr>
            <p:cNvSpPr>
              <a:spLocks noChangeArrowheads="1"/>
            </p:cNvSpPr>
            <p:nvPr/>
          </p:nvSpPr>
          <p:spPr bwMode="auto">
            <a:xfrm>
              <a:off x="3744" y="283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67" name="Oval 51">
              <a:extLst>
                <a:ext uri="{FF2B5EF4-FFF2-40B4-BE49-F238E27FC236}">
                  <a16:creationId xmlns:a16="http://schemas.microsoft.com/office/drawing/2014/main" id="{E970C031-D870-4597-8E08-4EF218EC01CB}"/>
                </a:ext>
              </a:extLst>
            </p:cNvPr>
            <p:cNvSpPr>
              <a:spLocks noChangeArrowheads="1"/>
            </p:cNvSpPr>
            <p:nvPr/>
          </p:nvSpPr>
          <p:spPr bwMode="auto">
            <a:xfrm>
              <a:off x="4080" y="283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68" name="Oval 52">
              <a:extLst>
                <a:ext uri="{FF2B5EF4-FFF2-40B4-BE49-F238E27FC236}">
                  <a16:creationId xmlns:a16="http://schemas.microsoft.com/office/drawing/2014/main" id="{A32A1369-C4B9-476E-BE71-395953F95946}"/>
                </a:ext>
              </a:extLst>
            </p:cNvPr>
            <p:cNvSpPr>
              <a:spLocks noChangeArrowheads="1"/>
            </p:cNvSpPr>
            <p:nvPr/>
          </p:nvSpPr>
          <p:spPr bwMode="auto">
            <a:xfrm>
              <a:off x="4416" y="283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69" name="Oval 53">
              <a:extLst>
                <a:ext uri="{FF2B5EF4-FFF2-40B4-BE49-F238E27FC236}">
                  <a16:creationId xmlns:a16="http://schemas.microsoft.com/office/drawing/2014/main" id="{E96B555F-7B40-40EB-ABF5-283A83C79EA8}"/>
                </a:ext>
              </a:extLst>
            </p:cNvPr>
            <p:cNvSpPr>
              <a:spLocks noChangeArrowheads="1"/>
            </p:cNvSpPr>
            <p:nvPr/>
          </p:nvSpPr>
          <p:spPr bwMode="auto">
            <a:xfrm>
              <a:off x="4752" y="283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70" name="Oval 54">
              <a:extLst>
                <a:ext uri="{FF2B5EF4-FFF2-40B4-BE49-F238E27FC236}">
                  <a16:creationId xmlns:a16="http://schemas.microsoft.com/office/drawing/2014/main" id="{947DCEAD-4067-4D65-A3A2-CB874CA4EA04}"/>
                </a:ext>
              </a:extLst>
            </p:cNvPr>
            <p:cNvSpPr>
              <a:spLocks noChangeArrowheads="1"/>
            </p:cNvSpPr>
            <p:nvPr/>
          </p:nvSpPr>
          <p:spPr bwMode="auto">
            <a:xfrm>
              <a:off x="3936" y="331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71" name="Oval 55">
              <a:extLst>
                <a:ext uri="{FF2B5EF4-FFF2-40B4-BE49-F238E27FC236}">
                  <a16:creationId xmlns:a16="http://schemas.microsoft.com/office/drawing/2014/main" id="{076E0243-8ECC-4AF3-9D35-6BCA416071A0}"/>
                </a:ext>
              </a:extLst>
            </p:cNvPr>
            <p:cNvSpPr>
              <a:spLocks noChangeArrowheads="1"/>
            </p:cNvSpPr>
            <p:nvPr/>
          </p:nvSpPr>
          <p:spPr bwMode="auto">
            <a:xfrm>
              <a:off x="4272" y="331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72" name="Oval 56">
              <a:extLst>
                <a:ext uri="{FF2B5EF4-FFF2-40B4-BE49-F238E27FC236}">
                  <a16:creationId xmlns:a16="http://schemas.microsoft.com/office/drawing/2014/main" id="{E4F5E021-F744-476A-BC0C-94CDE17A99C9}"/>
                </a:ext>
              </a:extLst>
            </p:cNvPr>
            <p:cNvSpPr>
              <a:spLocks noChangeArrowheads="1"/>
            </p:cNvSpPr>
            <p:nvPr/>
          </p:nvSpPr>
          <p:spPr bwMode="auto">
            <a:xfrm>
              <a:off x="4608" y="3312"/>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73" name="Oval 57">
              <a:extLst>
                <a:ext uri="{FF2B5EF4-FFF2-40B4-BE49-F238E27FC236}">
                  <a16:creationId xmlns:a16="http://schemas.microsoft.com/office/drawing/2014/main" id="{6DC0A1AE-D266-410A-886A-23973A83EEDC}"/>
                </a:ext>
              </a:extLst>
            </p:cNvPr>
            <p:cNvSpPr>
              <a:spLocks noChangeArrowheads="1"/>
            </p:cNvSpPr>
            <p:nvPr/>
          </p:nvSpPr>
          <p:spPr bwMode="auto">
            <a:xfrm>
              <a:off x="4272" y="3696"/>
              <a:ext cx="192" cy="192"/>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74" name="Line 58">
              <a:extLst>
                <a:ext uri="{FF2B5EF4-FFF2-40B4-BE49-F238E27FC236}">
                  <a16:creationId xmlns:a16="http://schemas.microsoft.com/office/drawing/2014/main" id="{611DD365-6159-44E1-8CCF-5746D0BE43E3}"/>
                </a:ext>
              </a:extLst>
            </p:cNvPr>
            <p:cNvSpPr>
              <a:spLocks noChangeShapeType="1"/>
            </p:cNvSpPr>
            <p:nvPr/>
          </p:nvSpPr>
          <p:spPr bwMode="auto">
            <a:xfrm flipH="1">
              <a:off x="3888" y="2544"/>
              <a:ext cx="38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78" name="Line 62">
              <a:extLst>
                <a:ext uri="{FF2B5EF4-FFF2-40B4-BE49-F238E27FC236}">
                  <a16:creationId xmlns:a16="http://schemas.microsoft.com/office/drawing/2014/main" id="{D19F8930-0FDF-4A4E-A2AB-8FBACCBA22C8}"/>
                </a:ext>
              </a:extLst>
            </p:cNvPr>
            <p:cNvSpPr>
              <a:spLocks noChangeShapeType="1"/>
            </p:cNvSpPr>
            <p:nvPr/>
          </p:nvSpPr>
          <p:spPr bwMode="auto">
            <a:xfrm flipH="1" flipV="1">
              <a:off x="3840" y="3024"/>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79" name="Line 63">
              <a:extLst>
                <a:ext uri="{FF2B5EF4-FFF2-40B4-BE49-F238E27FC236}">
                  <a16:creationId xmlns:a16="http://schemas.microsoft.com/office/drawing/2014/main" id="{C26D4787-8BF0-4E84-89B1-E7B371A0772F}"/>
                </a:ext>
              </a:extLst>
            </p:cNvPr>
            <p:cNvSpPr>
              <a:spLocks noChangeShapeType="1"/>
            </p:cNvSpPr>
            <p:nvPr/>
          </p:nvSpPr>
          <p:spPr bwMode="auto">
            <a:xfrm flipH="1">
              <a:off x="4704" y="3024"/>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80" name="Line 64">
              <a:extLst>
                <a:ext uri="{FF2B5EF4-FFF2-40B4-BE49-F238E27FC236}">
                  <a16:creationId xmlns:a16="http://schemas.microsoft.com/office/drawing/2014/main" id="{6D2826C6-0203-4D54-8406-DFF70D3C046C}"/>
                </a:ext>
              </a:extLst>
            </p:cNvPr>
            <p:cNvSpPr>
              <a:spLocks noChangeShapeType="1"/>
            </p:cNvSpPr>
            <p:nvPr/>
          </p:nvSpPr>
          <p:spPr bwMode="auto">
            <a:xfrm flipH="1">
              <a:off x="4080" y="3024"/>
              <a:ext cx="9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81" name="Line 65">
              <a:extLst>
                <a:ext uri="{FF2B5EF4-FFF2-40B4-BE49-F238E27FC236}">
                  <a16:creationId xmlns:a16="http://schemas.microsoft.com/office/drawing/2014/main" id="{16B0D106-17DB-4798-97B8-8A511E7C685B}"/>
                </a:ext>
              </a:extLst>
            </p:cNvPr>
            <p:cNvSpPr>
              <a:spLocks noChangeShapeType="1"/>
            </p:cNvSpPr>
            <p:nvPr/>
          </p:nvSpPr>
          <p:spPr bwMode="auto">
            <a:xfrm>
              <a:off x="4512" y="3024"/>
              <a:ext cx="144"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82" name="Line 66">
              <a:extLst>
                <a:ext uri="{FF2B5EF4-FFF2-40B4-BE49-F238E27FC236}">
                  <a16:creationId xmlns:a16="http://schemas.microsoft.com/office/drawing/2014/main" id="{481C794A-B6C6-4F2B-83BD-C8091E6920C0}"/>
                </a:ext>
              </a:extLst>
            </p:cNvPr>
            <p:cNvSpPr>
              <a:spLocks noChangeShapeType="1"/>
            </p:cNvSpPr>
            <p:nvPr/>
          </p:nvSpPr>
          <p:spPr bwMode="auto">
            <a:xfrm flipH="1">
              <a:off x="4416" y="3504"/>
              <a:ext cx="240" cy="19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83" name="Line 67">
              <a:extLst>
                <a:ext uri="{FF2B5EF4-FFF2-40B4-BE49-F238E27FC236}">
                  <a16:creationId xmlns:a16="http://schemas.microsoft.com/office/drawing/2014/main" id="{C0283759-F675-42E6-9695-B08B2FFD5CC8}"/>
                </a:ext>
              </a:extLst>
            </p:cNvPr>
            <p:cNvSpPr>
              <a:spLocks noChangeShapeType="1"/>
            </p:cNvSpPr>
            <p:nvPr/>
          </p:nvSpPr>
          <p:spPr bwMode="auto">
            <a:xfrm>
              <a:off x="4080" y="3504"/>
              <a:ext cx="240" cy="19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84" name="Line 68">
              <a:extLst>
                <a:ext uri="{FF2B5EF4-FFF2-40B4-BE49-F238E27FC236}">
                  <a16:creationId xmlns:a16="http://schemas.microsoft.com/office/drawing/2014/main" id="{F22DE24E-8C35-4EBF-AB14-655FE48418E4}"/>
                </a:ext>
              </a:extLst>
            </p:cNvPr>
            <p:cNvSpPr>
              <a:spLocks noChangeShapeType="1"/>
            </p:cNvSpPr>
            <p:nvPr/>
          </p:nvSpPr>
          <p:spPr bwMode="auto">
            <a:xfrm>
              <a:off x="4368" y="3504"/>
              <a:ext cx="0" cy="192"/>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9287" name="Text Box 71">
              <a:extLst>
                <a:ext uri="{FF2B5EF4-FFF2-40B4-BE49-F238E27FC236}">
                  <a16:creationId xmlns:a16="http://schemas.microsoft.com/office/drawing/2014/main" id="{4B4350A8-C465-40F1-8CA9-F58A87324C4D}"/>
                </a:ext>
              </a:extLst>
            </p:cNvPr>
            <p:cNvSpPr txBox="1">
              <a:spLocks noChangeArrowheads="1"/>
            </p:cNvSpPr>
            <p:nvPr/>
          </p:nvSpPr>
          <p:spPr bwMode="auto">
            <a:xfrm>
              <a:off x="3792" y="3936"/>
              <a:ext cx="1152" cy="5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Times New Roman" panose="02020603050405020304" pitchFamily="18" charset="0"/>
                </a:rPr>
                <a:t>One possible result of a DFS</a:t>
              </a:r>
              <a:br>
                <a:rPr lang="en-US" altLang="en-US" sz="1800">
                  <a:latin typeface="Times New Roman" panose="02020603050405020304" pitchFamily="18" charset="0"/>
                </a:rPr>
              </a:br>
              <a:r>
                <a:rPr lang="en-US" altLang="en-US" sz="1800">
                  <a:latin typeface="Times New Roman" panose="02020603050405020304" pitchFamily="18" charset="0"/>
                </a:rPr>
                <a:t>starting from top</a:t>
              </a: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9288"/>
                                        </p:tgtEl>
                                        <p:attrNameLst>
                                          <p:attrName>style.visibility</p:attrName>
                                        </p:attrNameLst>
                                      </p:cBhvr>
                                      <p:to>
                                        <p:strVal val="visible"/>
                                      </p:to>
                                    </p:set>
                                    <p:animEffect transition="in" filter="dissolve">
                                      <p:cBhvr>
                                        <p:cTn id="7" dur="500"/>
                                        <p:tgtEl>
                                          <p:spTgt spid="928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9291"/>
                                        </p:tgtEl>
                                        <p:attrNameLst>
                                          <p:attrName>style.visibility</p:attrName>
                                        </p:attrNameLst>
                                      </p:cBhvr>
                                      <p:to>
                                        <p:strVal val="visible"/>
                                      </p:to>
                                    </p:set>
                                    <p:animEffect transition="in" filter="dissolve">
                                      <p:cBhvr>
                                        <p:cTn id="12" dur="500"/>
                                        <p:tgtEl>
                                          <p:spTgt spid="92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9290"/>
                                        </p:tgtEl>
                                        <p:attrNameLst>
                                          <p:attrName>style.visibility</p:attrName>
                                        </p:attrNameLst>
                                      </p:cBhvr>
                                      <p:to>
                                        <p:strVal val="visible"/>
                                      </p:to>
                                    </p:set>
                                    <p:animEffect transition="in" filter="dissolve">
                                      <p:cBhvr>
                                        <p:cTn id="17" dur="500"/>
                                        <p:tgtEl>
                                          <p:spTgt spid="9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92AC62F-EA5F-48BF-A15B-874DC15C686F}"/>
              </a:ext>
            </a:extLst>
          </p:cNvPr>
          <p:cNvSpPr>
            <a:spLocks noGrp="1"/>
          </p:cNvSpPr>
          <p:nvPr>
            <p:ph type="sldNum" sz="quarter" idx="10"/>
          </p:nvPr>
        </p:nvSpPr>
        <p:spPr/>
        <p:txBody>
          <a:bodyPr/>
          <a:lstStyle/>
          <a:p>
            <a:fld id="{B0E691B9-E0C6-4160-B634-FF78A0343E71}" type="slidenum">
              <a:rPr lang="en-US" altLang="en-US"/>
              <a:pPr/>
              <a:t>126</a:t>
            </a:fld>
            <a:endParaRPr lang="en-US" altLang="en-US"/>
          </a:p>
        </p:txBody>
      </p:sp>
      <p:sp>
        <p:nvSpPr>
          <p:cNvPr id="10242" name="Rectangle 2">
            <a:extLst>
              <a:ext uri="{FF2B5EF4-FFF2-40B4-BE49-F238E27FC236}">
                <a16:creationId xmlns:a16="http://schemas.microsoft.com/office/drawing/2014/main" id="{CC1E6DF0-5E70-4DAC-9DAF-74D03E7700AD}"/>
              </a:ext>
            </a:extLst>
          </p:cNvPr>
          <p:cNvSpPr>
            <a:spLocks noGrp="1" noChangeArrowheads="1"/>
          </p:cNvSpPr>
          <p:nvPr>
            <p:ph type="title"/>
          </p:nvPr>
        </p:nvSpPr>
        <p:spPr/>
        <p:txBody>
          <a:bodyPr/>
          <a:lstStyle/>
          <a:p>
            <a:r>
              <a:rPr lang="en-US" altLang="en-US"/>
              <a:t>Minimizing costs</a:t>
            </a:r>
          </a:p>
        </p:txBody>
      </p:sp>
      <p:sp>
        <p:nvSpPr>
          <p:cNvPr id="10243" name="Rectangle 3">
            <a:extLst>
              <a:ext uri="{FF2B5EF4-FFF2-40B4-BE49-F238E27FC236}">
                <a16:creationId xmlns:a16="http://schemas.microsoft.com/office/drawing/2014/main" id="{A1D4359B-AFAD-4B4F-8C35-26DFC0DE184F}"/>
              </a:ext>
            </a:extLst>
          </p:cNvPr>
          <p:cNvSpPr>
            <a:spLocks noGrp="1" noChangeArrowheads="1"/>
          </p:cNvSpPr>
          <p:nvPr>
            <p:ph type="body" idx="1"/>
          </p:nvPr>
        </p:nvSpPr>
        <p:spPr/>
        <p:txBody>
          <a:bodyPr>
            <a:normAutofit lnSpcReduction="10000"/>
          </a:bodyPr>
          <a:lstStyle/>
          <a:p>
            <a:pPr>
              <a:lnSpc>
                <a:spcPct val="90000"/>
              </a:lnSpc>
            </a:pPr>
            <a:r>
              <a:rPr lang="en-US" altLang="en-US"/>
              <a:t>Suppose you want to supply a set of houses (say, in a new subdivision) with:</a:t>
            </a:r>
          </a:p>
          <a:p>
            <a:pPr lvl="1">
              <a:lnSpc>
                <a:spcPct val="90000"/>
              </a:lnSpc>
            </a:pPr>
            <a:r>
              <a:rPr lang="en-US" altLang="en-US"/>
              <a:t>electric power</a:t>
            </a:r>
          </a:p>
          <a:p>
            <a:pPr lvl="1">
              <a:lnSpc>
                <a:spcPct val="90000"/>
              </a:lnSpc>
            </a:pPr>
            <a:r>
              <a:rPr lang="en-US" altLang="en-US"/>
              <a:t>water</a:t>
            </a:r>
          </a:p>
          <a:p>
            <a:pPr lvl="1">
              <a:lnSpc>
                <a:spcPct val="90000"/>
              </a:lnSpc>
            </a:pPr>
            <a:r>
              <a:rPr lang="en-US" altLang="en-US"/>
              <a:t>sewage lines</a:t>
            </a:r>
          </a:p>
          <a:p>
            <a:pPr lvl="1">
              <a:lnSpc>
                <a:spcPct val="90000"/>
              </a:lnSpc>
            </a:pPr>
            <a:r>
              <a:rPr lang="en-US" altLang="en-US"/>
              <a:t>telephone lines</a:t>
            </a:r>
            <a:endParaRPr lang="en-US" altLang="en-US" sz="2800"/>
          </a:p>
          <a:p>
            <a:pPr>
              <a:lnSpc>
                <a:spcPct val="90000"/>
              </a:lnSpc>
            </a:pPr>
            <a:r>
              <a:rPr lang="en-US" altLang="en-US"/>
              <a:t>To keep costs down, you could connect these houses with a spanning tree (of, for example, power lines)</a:t>
            </a:r>
          </a:p>
          <a:p>
            <a:pPr lvl="1">
              <a:lnSpc>
                <a:spcPct val="90000"/>
              </a:lnSpc>
            </a:pPr>
            <a:r>
              <a:rPr lang="en-US" altLang="en-US"/>
              <a:t>However, the houses are not all equal distances apart</a:t>
            </a:r>
          </a:p>
          <a:p>
            <a:pPr>
              <a:lnSpc>
                <a:spcPct val="90000"/>
              </a:lnSpc>
            </a:pPr>
            <a:r>
              <a:rPr lang="en-US" altLang="en-US"/>
              <a:t>To reduce costs even further, you could connect the houses with a </a:t>
            </a:r>
            <a:r>
              <a:rPr lang="en-US" altLang="en-US" i="1"/>
              <a:t>minimum-cost</a:t>
            </a:r>
            <a:r>
              <a:rPr lang="en-US" altLang="en-US"/>
              <a:t> spanning tree</a:t>
            </a:r>
            <a:endParaRPr lang="en-US" altLang="en-US" sz="3200"/>
          </a:p>
        </p:txBody>
      </p:sp>
    </p:spTree>
  </p:cSld>
  <p:clrMapOvr>
    <a:masterClrMapping/>
  </p:clrMapOvr>
  <p:transition spd="slow">
    <p:wip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Slide Number Placeholder 3">
            <a:extLst>
              <a:ext uri="{FF2B5EF4-FFF2-40B4-BE49-F238E27FC236}">
                <a16:creationId xmlns:a16="http://schemas.microsoft.com/office/drawing/2014/main" id="{2664583E-5CB8-422C-AE38-DB51013015B1}"/>
              </a:ext>
            </a:extLst>
          </p:cNvPr>
          <p:cNvSpPr>
            <a:spLocks noGrp="1"/>
          </p:cNvSpPr>
          <p:nvPr>
            <p:ph type="sldNum" sz="quarter" idx="10"/>
          </p:nvPr>
        </p:nvSpPr>
        <p:spPr/>
        <p:txBody>
          <a:bodyPr/>
          <a:lstStyle/>
          <a:p>
            <a:fld id="{E3848CCA-2D2E-4D07-8819-62CA67F7F200}" type="slidenum">
              <a:rPr lang="en-US" altLang="en-US"/>
              <a:pPr/>
              <a:t>127</a:t>
            </a:fld>
            <a:endParaRPr lang="en-US" altLang="en-US"/>
          </a:p>
        </p:txBody>
      </p:sp>
      <p:sp>
        <p:nvSpPr>
          <p:cNvPr id="11266" name="Rectangle 2">
            <a:extLst>
              <a:ext uri="{FF2B5EF4-FFF2-40B4-BE49-F238E27FC236}">
                <a16:creationId xmlns:a16="http://schemas.microsoft.com/office/drawing/2014/main" id="{16B339A5-D58B-46AC-8BA1-E29CEE53BC0D}"/>
              </a:ext>
            </a:extLst>
          </p:cNvPr>
          <p:cNvSpPr>
            <a:spLocks noGrp="1" noChangeArrowheads="1"/>
          </p:cNvSpPr>
          <p:nvPr>
            <p:ph type="title"/>
          </p:nvPr>
        </p:nvSpPr>
        <p:spPr>
          <a:xfrm>
            <a:off x="457200" y="704088"/>
            <a:ext cx="8229600" cy="607187"/>
          </a:xfrm>
        </p:spPr>
        <p:txBody>
          <a:bodyPr>
            <a:normAutofit fontScale="90000"/>
          </a:bodyPr>
          <a:lstStyle/>
          <a:p>
            <a:r>
              <a:rPr lang="en-US" altLang="en-US" dirty="0"/>
              <a:t>Minimum-cost spanning trees</a:t>
            </a:r>
          </a:p>
        </p:txBody>
      </p:sp>
      <p:sp>
        <p:nvSpPr>
          <p:cNvPr id="11267" name="Rectangle 3">
            <a:extLst>
              <a:ext uri="{FF2B5EF4-FFF2-40B4-BE49-F238E27FC236}">
                <a16:creationId xmlns:a16="http://schemas.microsoft.com/office/drawing/2014/main" id="{09444B39-851A-4F35-A43D-028131F45B25}"/>
              </a:ext>
            </a:extLst>
          </p:cNvPr>
          <p:cNvSpPr>
            <a:spLocks noGrp="1" noChangeArrowheads="1"/>
          </p:cNvSpPr>
          <p:nvPr>
            <p:ph type="body" idx="1"/>
          </p:nvPr>
        </p:nvSpPr>
        <p:spPr>
          <a:xfrm>
            <a:off x="381000" y="1449388"/>
            <a:ext cx="8574088" cy="2497137"/>
          </a:xfrm>
        </p:spPr>
        <p:txBody>
          <a:bodyPr/>
          <a:lstStyle/>
          <a:p>
            <a:r>
              <a:rPr lang="en-US" altLang="en-US" sz="2400"/>
              <a:t>Suppose you have a connected undirected graph with a </a:t>
            </a:r>
            <a:r>
              <a:rPr lang="en-US" altLang="en-US" sz="2400">
                <a:solidFill>
                  <a:schemeClr val="tx2"/>
                </a:solidFill>
              </a:rPr>
              <a:t>weight</a:t>
            </a:r>
            <a:r>
              <a:rPr lang="en-US" altLang="en-US" sz="2400"/>
              <a:t> (or </a:t>
            </a:r>
            <a:r>
              <a:rPr lang="en-US" altLang="en-US" sz="2400">
                <a:solidFill>
                  <a:schemeClr val="tx2"/>
                </a:solidFill>
              </a:rPr>
              <a:t>cost</a:t>
            </a:r>
            <a:r>
              <a:rPr lang="en-US" altLang="en-US" sz="2400"/>
              <a:t>) associated with each edge</a:t>
            </a:r>
          </a:p>
          <a:p>
            <a:r>
              <a:rPr lang="en-US" altLang="en-US" sz="2400"/>
              <a:t>The cost of a spanning tree would be the sum of the costs of its edges</a:t>
            </a:r>
          </a:p>
          <a:p>
            <a:r>
              <a:rPr lang="en-US" altLang="en-US" sz="2400"/>
              <a:t>A </a:t>
            </a:r>
            <a:r>
              <a:rPr lang="en-US" altLang="en-US" sz="2400">
                <a:solidFill>
                  <a:schemeClr val="tx2"/>
                </a:solidFill>
              </a:rPr>
              <a:t>minimum-cost spanning tree</a:t>
            </a:r>
            <a:r>
              <a:rPr lang="en-US" altLang="en-US" sz="2400"/>
              <a:t> is a spanning tree that has the lowest cost</a:t>
            </a:r>
            <a:endParaRPr lang="en-US" altLang="en-US"/>
          </a:p>
        </p:txBody>
      </p:sp>
      <p:grpSp>
        <p:nvGrpSpPr>
          <p:cNvPr id="11338" name="Group 74">
            <a:extLst>
              <a:ext uri="{FF2B5EF4-FFF2-40B4-BE49-F238E27FC236}">
                <a16:creationId xmlns:a16="http://schemas.microsoft.com/office/drawing/2014/main" id="{71624B97-E058-4A39-A8B1-BD00AF3E30B3}"/>
              </a:ext>
            </a:extLst>
          </p:cNvPr>
          <p:cNvGrpSpPr>
            <a:grpSpLocks/>
          </p:cNvGrpSpPr>
          <p:nvPr/>
        </p:nvGrpSpPr>
        <p:grpSpPr bwMode="auto">
          <a:xfrm>
            <a:off x="609600" y="4038600"/>
            <a:ext cx="3429000" cy="2362200"/>
            <a:chOff x="384" y="2544"/>
            <a:chExt cx="2160" cy="1488"/>
          </a:xfrm>
        </p:grpSpPr>
        <p:sp>
          <p:nvSpPr>
            <p:cNvPr id="11268" name="Oval 4">
              <a:extLst>
                <a:ext uri="{FF2B5EF4-FFF2-40B4-BE49-F238E27FC236}">
                  <a16:creationId xmlns:a16="http://schemas.microsoft.com/office/drawing/2014/main" id="{1A319A12-1AC7-4788-98AA-5F0D8DED8B00}"/>
                </a:ext>
              </a:extLst>
            </p:cNvPr>
            <p:cNvSpPr>
              <a:spLocks noChangeArrowheads="1"/>
            </p:cNvSpPr>
            <p:nvPr/>
          </p:nvSpPr>
          <p:spPr bwMode="auto">
            <a:xfrm>
              <a:off x="816" y="264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A</a:t>
              </a:r>
              <a:endParaRPr lang="en-US" altLang="en-US">
                <a:latin typeface="Times New Roman" panose="02020603050405020304" pitchFamily="18" charset="0"/>
              </a:endParaRPr>
            </a:p>
          </p:txBody>
        </p:sp>
        <p:sp>
          <p:nvSpPr>
            <p:cNvPr id="11269" name="Oval 5">
              <a:extLst>
                <a:ext uri="{FF2B5EF4-FFF2-40B4-BE49-F238E27FC236}">
                  <a16:creationId xmlns:a16="http://schemas.microsoft.com/office/drawing/2014/main" id="{12B9FDB4-FD2F-469A-9EE3-1B07257B0D78}"/>
                </a:ext>
              </a:extLst>
            </p:cNvPr>
            <p:cNvSpPr>
              <a:spLocks noChangeArrowheads="1"/>
            </p:cNvSpPr>
            <p:nvPr/>
          </p:nvSpPr>
          <p:spPr bwMode="auto">
            <a:xfrm>
              <a:off x="1776" y="264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B</a:t>
              </a:r>
              <a:endParaRPr lang="en-US" altLang="en-US">
                <a:latin typeface="Times New Roman" panose="02020603050405020304" pitchFamily="18" charset="0"/>
              </a:endParaRPr>
            </a:p>
          </p:txBody>
        </p:sp>
        <p:sp>
          <p:nvSpPr>
            <p:cNvPr id="11270" name="Oval 6">
              <a:extLst>
                <a:ext uri="{FF2B5EF4-FFF2-40B4-BE49-F238E27FC236}">
                  <a16:creationId xmlns:a16="http://schemas.microsoft.com/office/drawing/2014/main" id="{86A41BE0-51F4-48A8-8790-C2638E49D042}"/>
                </a:ext>
              </a:extLst>
            </p:cNvPr>
            <p:cNvSpPr>
              <a:spLocks noChangeArrowheads="1"/>
            </p:cNvSpPr>
            <p:nvPr/>
          </p:nvSpPr>
          <p:spPr bwMode="auto">
            <a:xfrm>
              <a:off x="816" y="3504"/>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E</a:t>
              </a:r>
              <a:endParaRPr lang="en-US" altLang="en-US">
                <a:latin typeface="Times New Roman" panose="02020603050405020304" pitchFamily="18" charset="0"/>
              </a:endParaRPr>
            </a:p>
          </p:txBody>
        </p:sp>
        <p:sp>
          <p:nvSpPr>
            <p:cNvPr id="11271" name="Oval 7">
              <a:extLst>
                <a:ext uri="{FF2B5EF4-FFF2-40B4-BE49-F238E27FC236}">
                  <a16:creationId xmlns:a16="http://schemas.microsoft.com/office/drawing/2014/main" id="{7C8E8C2E-F5D1-4FD8-815A-6944AB5C29F3}"/>
                </a:ext>
              </a:extLst>
            </p:cNvPr>
            <p:cNvSpPr>
              <a:spLocks noChangeArrowheads="1"/>
            </p:cNvSpPr>
            <p:nvPr/>
          </p:nvSpPr>
          <p:spPr bwMode="auto">
            <a:xfrm>
              <a:off x="1776" y="3504"/>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D</a:t>
              </a:r>
              <a:endParaRPr lang="en-US" altLang="en-US">
                <a:latin typeface="Times New Roman" panose="02020603050405020304" pitchFamily="18" charset="0"/>
              </a:endParaRPr>
            </a:p>
          </p:txBody>
        </p:sp>
        <p:sp>
          <p:nvSpPr>
            <p:cNvPr id="11272" name="Oval 8">
              <a:extLst>
                <a:ext uri="{FF2B5EF4-FFF2-40B4-BE49-F238E27FC236}">
                  <a16:creationId xmlns:a16="http://schemas.microsoft.com/office/drawing/2014/main" id="{F2A25C68-75E2-48E6-8DD8-BC4387A359CD}"/>
                </a:ext>
              </a:extLst>
            </p:cNvPr>
            <p:cNvSpPr>
              <a:spLocks noChangeArrowheads="1"/>
            </p:cNvSpPr>
            <p:nvPr/>
          </p:nvSpPr>
          <p:spPr bwMode="auto">
            <a:xfrm>
              <a:off x="1296" y="307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F</a:t>
              </a:r>
              <a:endParaRPr lang="en-US" altLang="en-US">
                <a:latin typeface="Times New Roman" panose="02020603050405020304" pitchFamily="18" charset="0"/>
              </a:endParaRPr>
            </a:p>
          </p:txBody>
        </p:sp>
        <p:sp>
          <p:nvSpPr>
            <p:cNvPr id="11273" name="Oval 9">
              <a:extLst>
                <a:ext uri="{FF2B5EF4-FFF2-40B4-BE49-F238E27FC236}">
                  <a16:creationId xmlns:a16="http://schemas.microsoft.com/office/drawing/2014/main" id="{F1069CFB-ED6B-4B49-91B1-54524AB27623}"/>
                </a:ext>
              </a:extLst>
            </p:cNvPr>
            <p:cNvSpPr>
              <a:spLocks noChangeArrowheads="1"/>
            </p:cNvSpPr>
            <p:nvPr/>
          </p:nvSpPr>
          <p:spPr bwMode="auto">
            <a:xfrm>
              <a:off x="2208" y="307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C</a:t>
              </a:r>
              <a:endParaRPr lang="en-US" altLang="en-US">
                <a:latin typeface="Times New Roman" panose="02020603050405020304" pitchFamily="18" charset="0"/>
              </a:endParaRPr>
            </a:p>
          </p:txBody>
        </p:sp>
        <p:sp>
          <p:nvSpPr>
            <p:cNvPr id="11287" name="Text Box 23">
              <a:extLst>
                <a:ext uri="{FF2B5EF4-FFF2-40B4-BE49-F238E27FC236}">
                  <a16:creationId xmlns:a16="http://schemas.microsoft.com/office/drawing/2014/main" id="{EE27C093-8E00-4F8B-8F7C-71BC4AB0141D}"/>
                </a:ext>
              </a:extLst>
            </p:cNvPr>
            <p:cNvSpPr txBox="1">
              <a:spLocks noChangeArrowheads="1"/>
            </p:cNvSpPr>
            <p:nvPr/>
          </p:nvSpPr>
          <p:spPr bwMode="auto">
            <a:xfrm>
              <a:off x="1296" y="254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16</a:t>
              </a:r>
              <a:endParaRPr lang="en-US" altLang="en-US" sz="2000">
                <a:latin typeface="Verdana" panose="020B0604030504040204" pitchFamily="34" charset="0"/>
              </a:endParaRPr>
            </a:p>
          </p:txBody>
        </p:sp>
        <p:sp>
          <p:nvSpPr>
            <p:cNvPr id="11290" name="Line 26">
              <a:extLst>
                <a:ext uri="{FF2B5EF4-FFF2-40B4-BE49-F238E27FC236}">
                  <a16:creationId xmlns:a16="http://schemas.microsoft.com/office/drawing/2014/main" id="{9F322175-9B70-41C9-9B1B-B9878DDBD6F4}"/>
                </a:ext>
              </a:extLst>
            </p:cNvPr>
            <p:cNvSpPr>
              <a:spLocks noChangeShapeType="1"/>
            </p:cNvSpPr>
            <p:nvPr/>
          </p:nvSpPr>
          <p:spPr bwMode="auto">
            <a:xfrm>
              <a:off x="912" y="2880"/>
              <a:ext cx="0" cy="62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1" name="Line 27">
              <a:extLst>
                <a:ext uri="{FF2B5EF4-FFF2-40B4-BE49-F238E27FC236}">
                  <a16:creationId xmlns:a16="http://schemas.microsoft.com/office/drawing/2014/main" id="{2387E233-417E-44D2-BAA2-23DBFB6DAA83}"/>
                </a:ext>
              </a:extLst>
            </p:cNvPr>
            <p:cNvSpPr>
              <a:spLocks noChangeShapeType="1"/>
            </p:cNvSpPr>
            <p:nvPr/>
          </p:nvSpPr>
          <p:spPr bwMode="auto">
            <a:xfrm>
              <a:off x="1056" y="2736"/>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2" name="Line 28">
              <a:extLst>
                <a:ext uri="{FF2B5EF4-FFF2-40B4-BE49-F238E27FC236}">
                  <a16:creationId xmlns:a16="http://schemas.microsoft.com/office/drawing/2014/main" id="{B325D447-836D-474E-9049-5A25B2F672A8}"/>
                </a:ext>
              </a:extLst>
            </p:cNvPr>
            <p:cNvSpPr>
              <a:spLocks noChangeShapeType="1"/>
            </p:cNvSpPr>
            <p:nvPr/>
          </p:nvSpPr>
          <p:spPr bwMode="auto">
            <a:xfrm>
              <a:off x="1920" y="2880"/>
              <a:ext cx="0" cy="62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3" name="Line 29">
              <a:extLst>
                <a:ext uri="{FF2B5EF4-FFF2-40B4-BE49-F238E27FC236}">
                  <a16:creationId xmlns:a16="http://schemas.microsoft.com/office/drawing/2014/main" id="{B3FFB2D6-8E4F-405D-9E17-98348AA7EA52}"/>
                </a:ext>
              </a:extLst>
            </p:cNvPr>
            <p:cNvSpPr>
              <a:spLocks noChangeShapeType="1"/>
            </p:cNvSpPr>
            <p:nvPr/>
          </p:nvSpPr>
          <p:spPr bwMode="auto">
            <a:xfrm>
              <a:off x="1056" y="3648"/>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4" name="Line 30">
              <a:extLst>
                <a:ext uri="{FF2B5EF4-FFF2-40B4-BE49-F238E27FC236}">
                  <a16:creationId xmlns:a16="http://schemas.microsoft.com/office/drawing/2014/main" id="{A1E7BEFC-7188-4BCB-8311-E7749D3303F3}"/>
                </a:ext>
              </a:extLst>
            </p:cNvPr>
            <p:cNvSpPr>
              <a:spLocks noChangeShapeType="1"/>
            </p:cNvSpPr>
            <p:nvPr/>
          </p:nvSpPr>
          <p:spPr bwMode="auto">
            <a:xfrm flipV="1">
              <a:off x="1008" y="3264"/>
              <a:ext cx="288"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5" name="Line 31">
              <a:extLst>
                <a:ext uri="{FF2B5EF4-FFF2-40B4-BE49-F238E27FC236}">
                  <a16:creationId xmlns:a16="http://schemas.microsoft.com/office/drawing/2014/main" id="{6D8E6842-9234-4C39-BFB4-5BFFD2667498}"/>
                </a:ext>
              </a:extLst>
            </p:cNvPr>
            <p:cNvSpPr>
              <a:spLocks noChangeShapeType="1"/>
            </p:cNvSpPr>
            <p:nvPr/>
          </p:nvSpPr>
          <p:spPr bwMode="auto">
            <a:xfrm flipH="1" flipV="1">
              <a:off x="1488" y="3264"/>
              <a:ext cx="33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6" name="Line 32">
              <a:extLst>
                <a:ext uri="{FF2B5EF4-FFF2-40B4-BE49-F238E27FC236}">
                  <a16:creationId xmlns:a16="http://schemas.microsoft.com/office/drawing/2014/main" id="{7AF1AB5B-BE5D-49FF-B262-2A7ACC6979EE}"/>
                </a:ext>
              </a:extLst>
            </p:cNvPr>
            <p:cNvSpPr>
              <a:spLocks noChangeShapeType="1"/>
            </p:cNvSpPr>
            <p:nvPr/>
          </p:nvSpPr>
          <p:spPr bwMode="auto">
            <a:xfrm>
              <a:off x="1008" y="2832"/>
              <a:ext cx="336"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7" name="Line 33">
              <a:extLst>
                <a:ext uri="{FF2B5EF4-FFF2-40B4-BE49-F238E27FC236}">
                  <a16:creationId xmlns:a16="http://schemas.microsoft.com/office/drawing/2014/main" id="{B08B365D-D591-4632-8DBB-92FBC07A506B}"/>
                </a:ext>
              </a:extLst>
            </p:cNvPr>
            <p:cNvSpPr>
              <a:spLocks noChangeShapeType="1"/>
            </p:cNvSpPr>
            <p:nvPr/>
          </p:nvSpPr>
          <p:spPr bwMode="auto">
            <a:xfrm flipH="1">
              <a:off x="1488" y="2832"/>
              <a:ext cx="288"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8" name="Line 34">
              <a:extLst>
                <a:ext uri="{FF2B5EF4-FFF2-40B4-BE49-F238E27FC236}">
                  <a16:creationId xmlns:a16="http://schemas.microsoft.com/office/drawing/2014/main" id="{F0A9981A-DE7A-4ABD-8C30-D28645050C5D}"/>
                </a:ext>
              </a:extLst>
            </p:cNvPr>
            <p:cNvSpPr>
              <a:spLocks noChangeShapeType="1"/>
            </p:cNvSpPr>
            <p:nvPr/>
          </p:nvSpPr>
          <p:spPr bwMode="auto">
            <a:xfrm flipV="1">
              <a:off x="2016" y="3312"/>
              <a:ext cx="288"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299" name="Line 35">
              <a:extLst>
                <a:ext uri="{FF2B5EF4-FFF2-40B4-BE49-F238E27FC236}">
                  <a16:creationId xmlns:a16="http://schemas.microsoft.com/office/drawing/2014/main" id="{3AE97B4B-475E-4FB6-9EF5-E3DF2ADCB075}"/>
                </a:ext>
              </a:extLst>
            </p:cNvPr>
            <p:cNvSpPr>
              <a:spLocks noChangeShapeType="1"/>
            </p:cNvSpPr>
            <p:nvPr/>
          </p:nvSpPr>
          <p:spPr bwMode="auto">
            <a:xfrm>
              <a:off x="2016" y="2784"/>
              <a:ext cx="24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300" name="Text Box 36">
              <a:extLst>
                <a:ext uri="{FF2B5EF4-FFF2-40B4-BE49-F238E27FC236}">
                  <a16:creationId xmlns:a16="http://schemas.microsoft.com/office/drawing/2014/main" id="{41A909F3-9ADB-41C3-ACBA-5DA614278880}"/>
                </a:ext>
              </a:extLst>
            </p:cNvPr>
            <p:cNvSpPr txBox="1">
              <a:spLocks noChangeArrowheads="1"/>
            </p:cNvSpPr>
            <p:nvPr/>
          </p:nvSpPr>
          <p:spPr bwMode="auto">
            <a:xfrm>
              <a:off x="624" y="3033"/>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19</a:t>
              </a:r>
              <a:endParaRPr lang="en-US" altLang="en-US" sz="2000">
                <a:latin typeface="Verdana" panose="020B0604030504040204" pitchFamily="34" charset="0"/>
              </a:endParaRPr>
            </a:p>
          </p:txBody>
        </p:sp>
        <p:sp>
          <p:nvSpPr>
            <p:cNvPr id="11301" name="Text Box 37">
              <a:extLst>
                <a:ext uri="{FF2B5EF4-FFF2-40B4-BE49-F238E27FC236}">
                  <a16:creationId xmlns:a16="http://schemas.microsoft.com/office/drawing/2014/main" id="{BA669E7F-C7B4-412A-A683-42B85D53BE05}"/>
                </a:ext>
              </a:extLst>
            </p:cNvPr>
            <p:cNvSpPr txBox="1">
              <a:spLocks noChangeArrowheads="1"/>
            </p:cNvSpPr>
            <p:nvPr/>
          </p:nvSpPr>
          <p:spPr bwMode="auto">
            <a:xfrm>
              <a:off x="1104" y="2745"/>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21</a:t>
              </a:r>
              <a:endParaRPr lang="en-US" altLang="en-US" sz="2000">
                <a:latin typeface="Verdana" panose="020B0604030504040204" pitchFamily="34" charset="0"/>
              </a:endParaRPr>
            </a:p>
          </p:txBody>
        </p:sp>
        <p:sp>
          <p:nvSpPr>
            <p:cNvPr id="11302" name="Text Box 38">
              <a:extLst>
                <a:ext uri="{FF2B5EF4-FFF2-40B4-BE49-F238E27FC236}">
                  <a16:creationId xmlns:a16="http://schemas.microsoft.com/office/drawing/2014/main" id="{41E2545D-9F02-4CF5-8419-0D4C751C439C}"/>
                </a:ext>
              </a:extLst>
            </p:cNvPr>
            <p:cNvSpPr txBox="1">
              <a:spLocks noChangeArrowheads="1"/>
            </p:cNvSpPr>
            <p:nvPr/>
          </p:nvSpPr>
          <p:spPr bwMode="auto">
            <a:xfrm>
              <a:off x="1440" y="2745"/>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11</a:t>
              </a:r>
              <a:endParaRPr lang="en-US" altLang="en-US" sz="2000">
                <a:latin typeface="Verdana" panose="020B0604030504040204" pitchFamily="34" charset="0"/>
              </a:endParaRPr>
            </a:p>
          </p:txBody>
        </p:sp>
        <p:sp>
          <p:nvSpPr>
            <p:cNvPr id="11303" name="Text Box 39">
              <a:extLst>
                <a:ext uri="{FF2B5EF4-FFF2-40B4-BE49-F238E27FC236}">
                  <a16:creationId xmlns:a16="http://schemas.microsoft.com/office/drawing/2014/main" id="{F3559FFF-87FD-4300-A24F-EB9F46E6E123}"/>
                </a:ext>
              </a:extLst>
            </p:cNvPr>
            <p:cNvSpPr txBox="1">
              <a:spLocks noChangeArrowheads="1"/>
            </p:cNvSpPr>
            <p:nvPr/>
          </p:nvSpPr>
          <p:spPr bwMode="auto">
            <a:xfrm>
              <a:off x="960" y="3177"/>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33</a:t>
              </a:r>
              <a:endParaRPr lang="en-US" altLang="en-US" sz="2000">
                <a:latin typeface="Verdana" panose="020B0604030504040204" pitchFamily="34" charset="0"/>
              </a:endParaRPr>
            </a:p>
          </p:txBody>
        </p:sp>
        <p:sp>
          <p:nvSpPr>
            <p:cNvPr id="11304" name="Text Box 40">
              <a:extLst>
                <a:ext uri="{FF2B5EF4-FFF2-40B4-BE49-F238E27FC236}">
                  <a16:creationId xmlns:a16="http://schemas.microsoft.com/office/drawing/2014/main" id="{9B9B862C-A4C3-45DB-8F6B-E1FEB46E977B}"/>
                </a:ext>
              </a:extLst>
            </p:cNvPr>
            <p:cNvSpPr txBox="1">
              <a:spLocks noChangeArrowheads="1"/>
            </p:cNvSpPr>
            <p:nvPr/>
          </p:nvSpPr>
          <p:spPr bwMode="auto">
            <a:xfrm>
              <a:off x="1536" y="3168"/>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14</a:t>
              </a:r>
              <a:endParaRPr lang="en-US" altLang="en-US" sz="2000">
                <a:latin typeface="Verdana" panose="020B0604030504040204" pitchFamily="34" charset="0"/>
              </a:endParaRPr>
            </a:p>
          </p:txBody>
        </p:sp>
        <p:sp>
          <p:nvSpPr>
            <p:cNvPr id="11305" name="Text Box 41">
              <a:extLst>
                <a:ext uri="{FF2B5EF4-FFF2-40B4-BE49-F238E27FC236}">
                  <a16:creationId xmlns:a16="http://schemas.microsoft.com/office/drawing/2014/main" id="{7C2208F0-451B-4731-B9E1-18EFCB9D155D}"/>
                </a:ext>
              </a:extLst>
            </p:cNvPr>
            <p:cNvSpPr txBox="1">
              <a:spLocks noChangeArrowheads="1"/>
            </p:cNvSpPr>
            <p:nvPr/>
          </p:nvSpPr>
          <p:spPr bwMode="auto">
            <a:xfrm>
              <a:off x="1296"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18</a:t>
              </a:r>
              <a:endParaRPr lang="en-US" altLang="en-US" sz="2000">
                <a:latin typeface="Verdana" panose="020B0604030504040204" pitchFamily="34" charset="0"/>
              </a:endParaRPr>
            </a:p>
          </p:txBody>
        </p:sp>
        <p:sp>
          <p:nvSpPr>
            <p:cNvPr id="11306" name="Text Box 42">
              <a:extLst>
                <a:ext uri="{FF2B5EF4-FFF2-40B4-BE49-F238E27FC236}">
                  <a16:creationId xmlns:a16="http://schemas.microsoft.com/office/drawing/2014/main" id="{DE019D56-7FEC-4FF3-9EAE-18AA2E3CFD7F}"/>
                </a:ext>
              </a:extLst>
            </p:cNvPr>
            <p:cNvSpPr txBox="1">
              <a:spLocks noChangeArrowheads="1"/>
            </p:cNvSpPr>
            <p:nvPr/>
          </p:nvSpPr>
          <p:spPr bwMode="auto">
            <a:xfrm>
              <a:off x="2160" y="3369"/>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10</a:t>
              </a:r>
              <a:endParaRPr lang="en-US" altLang="en-US" sz="2000">
                <a:latin typeface="Verdana" panose="020B0604030504040204" pitchFamily="34" charset="0"/>
              </a:endParaRPr>
            </a:p>
          </p:txBody>
        </p:sp>
        <p:sp>
          <p:nvSpPr>
            <p:cNvPr id="11307" name="Text Box 43">
              <a:extLst>
                <a:ext uri="{FF2B5EF4-FFF2-40B4-BE49-F238E27FC236}">
                  <a16:creationId xmlns:a16="http://schemas.microsoft.com/office/drawing/2014/main" id="{76BBB612-6B3E-4016-A4BD-DA8B44C1B901}"/>
                </a:ext>
              </a:extLst>
            </p:cNvPr>
            <p:cNvSpPr txBox="1">
              <a:spLocks noChangeArrowheads="1"/>
            </p:cNvSpPr>
            <p:nvPr/>
          </p:nvSpPr>
          <p:spPr bwMode="auto">
            <a:xfrm>
              <a:off x="2064" y="273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6</a:t>
              </a:r>
              <a:endParaRPr lang="en-US" altLang="en-US" sz="2000">
                <a:latin typeface="Verdana" panose="020B0604030504040204" pitchFamily="34" charset="0"/>
              </a:endParaRPr>
            </a:p>
          </p:txBody>
        </p:sp>
        <p:sp>
          <p:nvSpPr>
            <p:cNvPr id="11309" name="Text Box 45">
              <a:extLst>
                <a:ext uri="{FF2B5EF4-FFF2-40B4-BE49-F238E27FC236}">
                  <a16:creationId xmlns:a16="http://schemas.microsoft.com/office/drawing/2014/main" id="{9AA4722A-8202-4B23-9C40-4551CF76149C}"/>
                </a:ext>
              </a:extLst>
            </p:cNvPr>
            <p:cNvSpPr txBox="1">
              <a:spLocks noChangeArrowheads="1"/>
            </p:cNvSpPr>
            <p:nvPr/>
          </p:nvSpPr>
          <p:spPr bwMode="auto">
            <a:xfrm>
              <a:off x="1728" y="2985"/>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5</a:t>
              </a:r>
              <a:endParaRPr lang="en-US" altLang="en-US" sz="2000">
                <a:latin typeface="Verdana" panose="020B0604030504040204" pitchFamily="34" charset="0"/>
              </a:endParaRPr>
            </a:p>
          </p:txBody>
        </p:sp>
        <p:sp>
          <p:nvSpPr>
            <p:cNvPr id="11336" name="Rectangle 72">
              <a:extLst>
                <a:ext uri="{FF2B5EF4-FFF2-40B4-BE49-F238E27FC236}">
                  <a16:creationId xmlns:a16="http://schemas.microsoft.com/office/drawing/2014/main" id="{3DCB5DF0-FD07-4239-88B0-6AC9283D4DDB}"/>
                </a:ext>
              </a:extLst>
            </p:cNvPr>
            <p:cNvSpPr>
              <a:spLocks noChangeArrowheads="1"/>
            </p:cNvSpPr>
            <p:nvPr/>
          </p:nvSpPr>
          <p:spPr bwMode="auto">
            <a:xfrm>
              <a:off x="384" y="3782"/>
              <a:ext cx="2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latin typeface="Times New Roman" panose="02020603050405020304" pitchFamily="18" charset="0"/>
                </a:rPr>
                <a:t>A connected, undirected graph</a:t>
              </a:r>
            </a:p>
          </p:txBody>
        </p:sp>
      </p:grpSp>
      <p:grpSp>
        <p:nvGrpSpPr>
          <p:cNvPr id="11339" name="Group 75">
            <a:extLst>
              <a:ext uri="{FF2B5EF4-FFF2-40B4-BE49-F238E27FC236}">
                <a16:creationId xmlns:a16="http://schemas.microsoft.com/office/drawing/2014/main" id="{6A188DE1-7F72-44E5-BF95-A2211C13A29B}"/>
              </a:ext>
            </a:extLst>
          </p:cNvPr>
          <p:cNvGrpSpPr>
            <a:grpSpLocks/>
          </p:cNvGrpSpPr>
          <p:nvPr/>
        </p:nvGrpSpPr>
        <p:grpSpPr bwMode="auto">
          <a:xfrm>
            <a:off x="4441825" y="4038600"/>
            <a:ext cx="3330575" cy="2362200"/>
            <a:chOff x="2798" y="2544"/>
            <a:chExt cx="2098" cy="1488"/>
          </a:xfrm>
        </p:grpSpPr>
        <p:sp>
          <p:nvSpPr>
            <p:cNvPr id="11310" name="Oval 46">
              <a:extLst>
                <a:ext uri="{FF2B5EF4-FFF2-40B4-BE49-F238E27FC236}">
                  <a16:creationId xmlns:a16="http://schemas.microsoft.com/office/drawing/2014/main" id="{61AFE16F-7478-49C5-91FE-EC3BD41A65AD}"/>
                </a:ext>
              </a:extLst>
            </p:cNvPr>
            <p:cNvSpPr>
              <a:spLocks noChangeArrowheads="1"/>
            </p:cNvSpPr>
            <p:nvPr/>
          </p:nvSpPr>
          <p:spPr bwMode="auto">
            <a:xfrm>
              <a:off x="3024" y="264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A</a:t>
              </a:r>
              <a:endParaRPr lang="en-US" altLang="en-US">
                <a:latin typeface="Times New Roman" panose="02020603050405020304" pitchFamily="18" charset="0"/>
              </a:endParaRPr>
            </a:p>
          </p:txBody>
        </p:sp>
        <p:sp>
          <p:nvSpPr>
            <p:cNvPr id="11311" name="Oval 47">
              <a:extLst>
                <a:ext uri="{FF2B5EF4-FFF2-40B4-BE49-F238E27FC236}">
                  <a16:creationId xmlns:a16="http://schemas.microsoft.com/office/drawing/2014/main" id="{94FBC2AD-BB15-4219-BAD8-2E7F923656F6}"/>
                </a:ext>
              </a:extLst>
            </p:cNvPr>
            <p:cNvSpPr>
              <a:spLocks noChangeArrowheads="1"/>
            </p:cNvSpPr>
            <p:nvPr/>
          </p:nvSpPr>
          <p:spPr bwMode="auto">
            <a:xfrm>
              <a:off x="3984" y="264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B</a:t>
              </a:r>
              <a:endParaRPr lang="en-US" altLang="en-US">
                <a:latin typeface="Times New Roman" panose="02020603050405020304" pitchFamily="18" charset="0"/>
              </a:endParaRPr>
            </a:p>
          </p:txBody>
        </p:sp>
        <p:sp>
          <p:nvSpPr>
            <p:cNvPr id="11312" name="Oval 48">
              <a:extLst>
                <a:ext uri="{FF2B5EF4-FFF2-40B4-BE49-F238E27FC236}">
                  <a16:creationId xmlns:a16="http://schemas.microsoft.com/office/drawing/2014/main" id="{29B7044F-5B9D-4D8E-B478-E22C2FD8E2E0}"/>
                </a:ext>
              </a:extLst>
            </p:cNvPr>
            <p:cNvSpPr>
              <a:spLocks noChangeArrowheads="1"/>
            </p:cNvSpPr>
            <p:nvPr/>
          </p:nvSpPr>
          <p:spPr bwMode="auto">
            <a:xfrm>
              <a:off x="3024" y="3504"/>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E</a:t>
              </a:r>
              <a:endParaRPr lang="en-US" altLang="en-US">
                <a:latin typeface="Times New Roman" panose="02020603050405020304" pitchFamily="18" charset="0"/>
              </a:endParaRPr>
            </a:p>
          </p:txBody>
        </p:sp>
        <p:sp>
          <p:nvSpPr>
            <p:cNvPr id="11313" name="Oval 49">
              <a:extLst>
                <a:ext uri="{FF2B5EF4-FFF2-40B4-BE49-F238E27FC236}">
                  <a16:creationId xmlns:a16="http://schemas.microsoft.com/office/drawing/2014/main" id="{57B33924-302A-4980-8842-25E30F4BBA40}"/>
                </a:ext>
              </a:extLst>
            </p:cNvPr>
            <p:cNvSpPr>
              <a:spLocks noChangeArrowheads="1"/>
            </p:cNvSpPr>
            <p:nvPr/>
          </p:nvSpPr>
          <p:spPr bwMode="auto">
            <a:xfrm>
              <a:off x="3984" y="3504"/>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D</a:t>
              </a:r>
              <a:endParaRPr lang="en-US" altLang="en-US">
                <a:latin typeface="Times New Roman" panose="02020603050405020304" pitchFamily="18" charset="0"/>
              </a:endParaRPr>
            </a:p>
          </p:txBody>
        </p:sp>
        <p:sp>
          <p:nvSpPr>
            <p:cNvPr id="11314" name="Oval 50">
              <a:extLst>
                <a:ext uri="{FF2B5EF4-FFF2-40B4-BE49-F238E27FC236}">
                  <a16:creationId xmlns:a16="http://schemas.microsoft.com/office/drawing/2014/main" id="{0AB68300-85E3-4164-851D-91E2B4691A57}"/>
                </a:ext>
              </a:extLst>
            </p:cNvPr>
            <p:cNvSpPr>
              <a:spLocks noChangeArrowheads="1"/>
            </p:cNvSpPr>
            <p:nvPr/>
          </p:nvSpPr>
          <p:spPr bwMode="auto">
            <a:xfrm>
              <a:off x="3504" y="307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F</a:t>
              </a:r>
              <a:endParaRPr lang="en-US" altLang="en-US">
                <a:latin typeface="Times New Roman" panose="02020603050405020304" pitchFamily="18" charset="0"/>
              </a:endParaRPr>
            </a:p>
          </p:txBody>
        </p:sp>
        <p:sp>
          <p:nvSpPr>
            <p:cNvPr id="11315" name="Oval 51">
              <a:extLst>
                <a:ext uri="{FF2B5EF4-FFF2-40B4-BE49-F238E27FC236}">
                  <a16:creationId xmlns:a16="http://schemas.microsoft.com/office/drawing/2014/main" id="{F95868AF-D9D0-4E04-9864-0F9BAE8D31FF}"/>
                </a:ext>
              </a:extLst>
            </p:cNvPr>
            <p:cNvSpPr>
              <a:spLocks noChangeArrowheads="1"/>
            </p:cNvSpPr>
            <p:nvPr/>
          </p:nvSpPr>
          <p:spPr bwMode="auto">
            <a:xfrm>
              <a:off x="4416" y="307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C</a:t>
              </a:r>
              <a:endParaRPr lang="en-US" altLang="en-US">
                <a:latin typeface="Times New Roman" panose="02020603050405020304" pitchFamily="18" charset="0"/>
              </a:endParaRPr>
            </a:p>
          </p:txBody>
        </p:sp>
        <p:sp>
          <p:nvSpPr>
            <p:cNvPr id="11316" name="Text Box 52">
              <a:extLst>
                <a:ext uri="{FF2B5EF4-FFF2-40B4-BE49-F238E27FC236}">
                  <a16:creationId xmlns:a16="http://schemas.microsoft.com/office/drawing/2014/main" id="{0845B6E4-7C1E-44C2-A092-3225AC565DD3}"/>
                </a:ext>
              </a:extLst>
            </p:cNvPr>
            <p:cNvSpPr txBox="1">
              <a:spLocks noChangeArrowheads="1"/>
            </p:cNvSpPr>
            <p:nvPr/>
          </p:nvSpPr>
          <p:spPr bwMode="auto">
            <a:xfrm>
              <a:off x="3504" y="254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16</a:t>
              </a:r>
              <a:endParaRPr lang="en-US" altLang="en-US" sz="2000">
                <a:latin typeface="Verdana" panose="020B0604030504040204" pitchFamily="34" charset="0"/>
              </a:endParaRPr>
            </a:p>
          </p:txBody>
        </p:sp>
        <p:sp>
          <p:nvSpPr>
            <p:cNvPr id="11318" name="Line 54">
              <a:extLst>
                <a:ext uri="{FF2B5EF4-FFF2-40B4-BE49-F238E27FC236}">
                  <a16:creationId xmlns:a16="http://schemas.microsoft.com/office/drawing/2014/main" id="{8AFDBAB3-2171-4933-9DA4-2862F22DC6EB}"/>
                </a:ext>
              </a:extLst>
            </p:cNvPr>
            <p:cNvSpPr>
              <a:spLocks noChangeShapeType="1"/>
            </p:cNvSpPr>
            <p:nvPr/>
          </p:nvSpPr>
          <p:spPr bwMode="auto">
            <a:xfrm>
              <a:off x="3264" y="2736"/>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319" name="Line 55">
              <a:extLst>
                <a:ext uri="{FF2B5EF4-FFF2-40B4-BE49-F238E27FC236}">
                  <a16:creationId xmlns:a16="http://schemas.microsoft.com/office/drawing/2014/main" id="{8ED83646-1C89-4A7D-8AD4-214C70FBB03E}"/>
                </a:ext>
              </a:extLst>
            </p:cNvPr>
            <p:cNvSpPr>
              <a:spLocks noChangeShapeType="1"/>
            </p:cNvSpPr>
            <p:nvPr/>
          </p:nvSpPr>
          <p:spPr bwMode="auto">
            <a:xfrm>
              <a:off x="4128" y="2880"/>
              <a:ext cx="0" cy="62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320" name="Line 56">
              <a:extLst>
                <a:ext uri="{FF2B5EF4-FFF2-40B4-BE49-F238E27FC236}">
                  <a16:creationId xmlns:a16="http://schemas.microsoft.com/office/drawing/2014/main" id="{E59AF052-E161-4235-BC10-C804227FC754}"/>
                </a:ext>
              </a:extLst>
            </p:cNvPr>
            <p:cNvSpPr>
              <a:spLocks noChangeShapeType="1"/>
            </p:cNvSpPr>
            <p:nvPr/>
          </p:nvSpPr>
          <p:spPr bwMode="auto">
            <a:xfrm>
              <a:off x="3264" y="3648"/>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324" name="Line 60">
              <a:extLst>
                <a:ext uri="{FF2B5EF4-FFF2-40B4-BE49-F238E27FC236}">
                  <a16:creationId xmlns:a16="http://schemas.microsoft.com/office/drawing/2014/main" id="{A8DF5A86-966A-4A63-ACAC-E99B6AE89647}"/>
                </a:ext>
              </a:extLst>
            </p:cNvPr>
            <p:cNvSpPr>
              <a:spLocks noChangeShapeType="1"/>
            </p:cNvSpPr>
            <p:nvPr/>
          </p:nvSpPr>
          <p:spPr bwMode="auto">
            <a:xfrm flipH="1">
              <a:off x="3696" y="2832"/>
              <a:ext cx="288"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326" name="Line 62">
              <a:extLst>
                <a:ext uri="{FF2B5EF4-FFF2-40B4-BE49-F238E27FC236}">
                  <a16:creationId xmlns:a16="http://schemas.microsoft.com/office/drawing/2014/main" id="{CCF62E28-B2BB-4D55-ADC2-83B5920A3B44}"/>
                </a:ext>
              </a:extLst>
            </p:cNvPr>
            <p:cNvSpPr>
              <a:spLocks noChangeShapeType="1"/>
            </p:cNvSpPr>
            <p:nvPr/>
          </p:nvSpPr>
          <p:spPr bwMode="auto">
            <a:xfrm>
              <a:off x="4224" y="2784"/>
              <a:ext cx="24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1329" name="Text Box 65">
              <a:extLst>
                <a:ext uri="{FF2B5EF4-FFF2-40B4-BE49-F238E27FC236}">
                  <a16:creationId xmlns:a16="http://schemas.microsoft.com/office/drawing/2014/main" id="{8E8B1D1B-8FFE-482A-B3D7-A1482BA4BC2C}"/>
                </a:ext>
              </a:extLst>
            </p:cNvPr>
            <p:cNvSpPr txBox="1">
              <a:spLocks noChangeArrowheads="1"/>
            </p:cNvSpPr>
            <p:nvPr/>
          </p:nvSpPr>
          <p:spPr bwMode="auto">
            <a:xfrm>
              <a:off x="3648" y="2745"/>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11</a:t>
              </a:r>
              <a:endParaRPr lang="en-US" altLang="en-US" sz="2000">
                <a:latin typeface="Verdana" panose="020B0604030504040204" pitchFamily="34" charset="0"/>
              </a:endParaRPr>
            </a:p>
          </p:txBody>
        </p:sp>
        <p:sp>
          <p:nvSpPr>
            <p:cNvPr id="11332" name="Text Box 68">
              <a:extLst>
                <a:ext uri="{FF2B5EF4-FFF2-40B4-BE49-F238E27FC236}">
                  <a16:creationId xmlns:a16="http://schemas.microsoft.com/office/drawing/2014/main" id="{C1123BE3-FAC9-4D17-BB1A-3C0F0596CC05}"/>
                </a:ext>
              </a:extLst>
            </p:cNvPr>
            <p:cNvSpPr txBox="1">
              <a:spLocks noChangeArrowheads="1"/>
            </p:cNvSpPr>
            <p:nvPr/>
          </p:nvSpPr>
          <p:spPr bwMode="auto">
            <a:xfrm>
              <a:off x="3504"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18</a:t>
              </a:r>
              <a:endParaRPr lang="en-US" altLang="en-US" sz="2000">
                <a:latin typeface="Verdana" panose="020B0604030504040204" pitchFamily="34" charset="0"/>
              </a:endParaRPr>
            </a:p>
          </p:txBody>
        </p:sp>
        <p:sp>
          <p:nvSpPr>
            <p:cNvPr id="11334" name="Text Box 70">
              <a:extLst>
                <a:ext uri="{FF2B5EF4-FFF2-40B4-BE49-F238E27FC236}">
                  <a16:creationId xmlns:a16="http://schemas.microsoft.com/office/drawing/2014/main" id="{D75A8660-FCAD-40A6-9351-EE4C1C1AC1AC}"/>
                </a:ext>
              </a:extLst>
            </p:cNvPr>
            <p:cNvSpPr txBox="1">
              <a:spLocks noChangeArrowheads="1"/>
            </p:cNvSpPr>
            <p:nvPr/>
          </p:nvSpPr>
          <p:spPr bwMode="auto">
            <a:xfrm>
              <a:off x="4272" y="273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6</a:t>
              </a:r>
              <a:endParaRPr lang="en-US" altLang="en-US" sz="2000">
                <a:latin typeface="Verdana" panose="020B0604030504040204" pitchFamily="34" charset="0"/>
              </a:endParaRPr>
            </a:p>
          </p:txBody>
        </p:sp>
        <p:sp>
          <p:nvSpPr>
            <p:cNvPr id="11335" name="Text Box 71">
              <a:extLst>
                <a:ext uri="{FF2B5EF4-FFF2-40B4-BE49-F238E27FC236}">
                  <a16:creationId xmlns:a16="http://schemas.microsoft.com/office/drawing/2014/main" id="{52591067-CCC2-40A9-A5FE-EE7289DCFDD7}"/>
                </a:ext>
              </a:extLst>
            </p:cNvPr>
            <p:cNvSpPr txBox="1">
              <a:spLocks noChangeArrowheads="1"/>
            </p:cNvSpPr>
            <p:nvPr/>
          </p:nvSpPr>
          <p:spPr bwMode="auto">
            <a:xfrm>
              <a:off x="3936" y="297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5</a:t>
              </a:r>
              <a:endParaRPr lang="en-US" altLang="en-US" sz="2000">
                <a:latin typeface="Verdana" panose="020B0604030504040204" pitchFamily="34" charset="0"/>
              </a:endParaRPr>
            </a:p>
          </p:txBody>
        </p:sp>
        <p:sp>
          <p:nvSpPr>
            <p:cNvPr id="11337" name="Rectangle 73">
              <a:extLst>
                <a:ext uri="{FF2B5EF4-FFF2-40B4-BE49-F238E27FC236}">
                  <a16:creationId xmlns:a16="http://schemas.microsoft.com/office/drawing/2014/main" id="{A50DB192-E21C-442C-B401-5D1F1D32EA95}"/>
                </a:ext>
              </a:extLst>
            </p:cNvPr>
            <p:cNvSpPr>
              <a:spLocks noChangeArrowheads="1"/>
            </p:cNvSpPr>
            <p:nvPr/>
          </p:nvSpPr>
          <p:spPr bwMode="auto">
            <a:xfrm>
              <a:off x="2798" y="3782"/>
              <a:ext cx="20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rPr>
                <a:t>A minimum-cost spanning tree</a:t>
              </a:r>
            </a:p>
          </p:txBody>
        </p:sp>
      </p:gr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1338"/>
                                        </p:tgtEl>
                                        <p:attrNameLst>
                                          <p:attrName>style.visibility</p:attrName>
                                        </p:attrNameLst>
                                      </p:cBhvr>
                                      <p:to>
                                        <p:strVal val="visible"/>
                                      </p:to>
                                    </p:set>
                                    <p:animEffect transition="in" filter="dissolve">
                                      <p:cBhvr>
                                        <p:cTn id="7" dur="500"/>
                                        <p:tgtEl>
                                          <p:spTgt spid="113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11339"/>
                                        </p:tgtEl>
                                        <p:attrNameLst>
                                          <p:attrName>style.visibility</p:attrName>
                                        </p:attrNameLst>
                                      </p:cBhvr>
                                      <p:to>
                                        <p:strVal val="visible"/>
                                      </p:to>
                                    </p:set>
                                    <p:animEffect transition="in" filter="dissolve">
                                      <p:cBhvr>
                                        <p:cTn id="12" dur="500"/>
                                        <p:tgtEl>
                                          <p:spTgt spid="113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2662E80-F2F8-4310-8394-4FF60D3DD662}"/>
              </a:ext>
            </a:extLst>
          </p:cNvPr>
          <p:cNvSpPr>
            <a:spLocks noGrp="1"/>
          </p:cNvSpPr>
          <p:nvPr>
            <p:ph type="sldNum" sz="quarter" idx="10"/>
          </p:nvPr>
        </p:nvSpPr>
        <p:spPr/>
        <p:txBody>
          <a:bodyPr/>
          <a:lstStyle/>
          <a:p>
            <a:fld id="{F70DA8EE-B839-405D-A731-9D9B89AE7465}" type="slidenum">
              <a:rPr lang="en-US" altLang="en-US"/>
              <a:pPr/>
              <a:t>128</a:t>
            </a:fld>
            <a:endParaRPr lang="en-US" altLang="en-US"/>
          </a:p>
        </p:txBody>
      </p:sp>
      <p:sp>
        <p:nvSpPr>
          <p:cNvPr id="46082" name="Rectangle 2">
            <a:extLst>
              <a:ext uri="{FF2B5EF4-FFF2-40B4-BE49-F238E27FC236}">
                <a16:creationId xmlns:a16="http://schemas.microsoft.com/office/drawing/2014/main" id="{33EC9DD3-ED07-4C17-9768-8DC0B7C88190}"/>
              </a:ext>
            </a:extLst>
          </p:cNvPr>
          <p:cNvSpPr>
            <a:spLocks noGrp="1" noChangeArrowheads="1"/>
          </p:cNvSpPr>
          <p:nvPr>
            <p:ph type="title"/>
          </p:nvPr>
        </p:nvSpPr>
        <p:spPr/>
        <p:txBody>
          <a:bodyPr/>
          <a:lstStyle/>
          <a:p>
            <a:r>
              <a:rPr lang="en-US" altLang="en-US"/>
              <a:t>Finding spanning trees</a:t>
            </a:r>
          </a:p>
        </p:txBody>
      </p:sp>
      <p:sp>
        <p:nvSpPr>
          <p:cNvPr id="46083" name="Rectangle 3">
            <a:extLst>
              <a:ext uri="{FF2B5EF4-FFF2-40B4-BE49-F238E27FC236}">
                <a16:creationId xmlns:a16="http://schemas.microsoft.com/office/drawing/2014/main" id="{29D11A88-D68A-4745-AF9F-4E70EE03CF93}"/>
              </a:ext>
            </a:extLst>
          </p:cNvPr>
          <p:cNvSpPr>
            <a:spLocks noGrp="1" noChangeArrowheads="1"/>
          </p:cNvSpPr>
          <p:nvPr>
            <p:ph type="body" idx="1"/>
          </p:nvPr>
        </p:nvSpPr>
        <p:spPr>
          <a:xfrm>
            <a:off x="457200" y="1847088"/>
            <a:ext cx="8382000" cy="4760913"/>
          </a:xfrm>
        </p:spPr>
        <p:txBody>
          <a:bodyPr>
            <a:normAutofit lnSpcReduction="10000"/>
          </a:bodyPr>
          <a:lstStyle/>
          <a:p>
            <a:r>
              <a:rPr lang="en-US" altLang="en-US" sz="2400" dirty="0"/>
              <a:t>There are two basic algorithms for finding minimum-cost spanning trees, and both are greedy algorithms</a:t>
            </a:r>
            <a:br>
              <a:rPr lang="en-US" altLang="en-US" sz="2400" dirty="0"/>
            </a:br>
            <a:endParaRPr lang="en-US" altLang="en-US" sz="2400" dirty="0"/>
          </a:p>
          <a:p>
            <a:r>
              <a:rPr lang="en-US" altLang="en-US" sz="2400" b="1" dirty="0"/>
              <a:t>Kruskal’s algorithm: </a:t>
            </a:r>
            <a:r>
              <a:rPr lang="en-US" altLang="en-US" sz="2400" dirty="0"/>
              <a:t>Start with </a:t>
            </a:r>
            <a:r>
              <a:rPr lang="en-US" altLang="en-US" sz="2400" i="1" dirty="0"/>
              <a:t>no</a:t>
            </a:r>
            <a:r>
              <a:rPr lang="en-US" altLang="en-US" sz="2400" dirty="0"/>
              <a:t> nodes or edges in the spanning tree, and repeatedly add the cheapest edge that does not create a cycle</a:t>
            </a:r>
          </a:p>
          <a:p>
            <a:pPr lvl="1"/>
            <a:r>
              <a:rPr lang="en-US" altLang="en-US" sz="2000" dirty="0"/>
              <a:t>Here, we consider the spanning tree to consist of edges only</a:t>
            </a:r>
            <a:br>
              <a:rPr lang="en-US" altLang="en-US" sz="2000" dirty="0"/>
            </a:br>
            <a:endParaRPr lang="en-US" altLang="en-US" sz="2000" dirty="0"/>
          </a:p>
          <a:p>
            <a:r>
              <a:rPr lang="en-US" altLang="en-US" sz="2400" b="1" dirty="0"/>
              <a:t>Prim’s algorithm: </a:t>
            </a:r>
            <a:r>
              <a:rPr lang="en-US" altLang="en-US" sz="2400" dirty="0"/>
              <a:t>Start with any </a:t>
            </a:r>
            <a:r>
              <a:rPr lang="en-US" altLang="en-US" sz="2400" i="1" dirty="0"/>
              <a:t>one node</a:t>
            </a:r>
            <a:r>
              <a:rPr lang="en-US" altLang="en-US" sz="2400" dirty="0"/>
              <a:t> in the spanning tree, and repeatedly add the cheapest edge, and the node it leads to, for which the node is not already in the spanning tree.</a:t>
            </a:r>
          </a:p>
          <a:p>
            <a:pPr lvl="1"/>
            <a:r>
              <a:rPr lang="en-US" altLang="en-US" sz="2000" dirty="0"/>
              <a:t>Here, we consider the spanning tree to consist of both nodes and edges</a:t>
            </a:r>
          </a:p>
        </p:txBody>
      </p:sp>
    </p:spTree>
  </p:cSld>
  <p:clrMapOvr>
    <a:masterClrMapping/>
  </p:clrMapOvr>
  <p:transition spd="slow">
    <p:wip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6C4C23-06E9-4DFF-ADAD-89A0C9016863}"/>
              </a:ext>
            </a:extLst>
          </p:cNvPr>
          <p:cNvSpPr>
            <a:spLocks noGrp="1"/>
          </p:cNvSpPr>
          <p:nvPr>
            <p:ph type="sldNum" sz="quarter" idx="10"/>
          </p:nvPr>
        </p:nvSpPr>
        <p:spPr/>
        <p:txBody>
          <a:bodyPr/>
          <a:lstStyle/>
          <a:p>
            <a:fld id="{413CE40F-56BF-419F-A521-FA58B9C0AAB7}" type="slidenum">
              <a:rPr lang="en-US" altLang="en-US"/>
              <a:pPr/>
              <a:t>129</a:t>
            </a:fld>
            <a:endParaRPr lang="en-US" altLang="en-US"/>
          </a:p>
        </p:txBody>
      </p:sp>
      <p:sp>
        <p:nvSpPr>
          <p:cNvPr id="12290" name="Rectangle 2">
            <a:extLst>
              <a:ext uri="{FF2B5EF4-FFF2-40B4-BE49-F238E27FC236}">
                <a16:creationId xmlns:a16="http://schemas.microsoft.com/office/drawing/2014/main" id="{DBE3EF31-B1E0-43AE-90CF-B49FA08F6071}"/>
              </a:ext>
            </a:extLst>
          </p:cNvPr>
          <p:cNvSpPr>
            <a:spLocks noGrp="1" noChangeArrowheads="1"/>
          </p:cNvSpPr>
          <p:nvPr>
            <p:ph type="title"/>
          </p:nvPr>
        </p:nvSpPr>
        <p:spPr>
          <a:xfrm>
            <a:off x="457200" y="704088"/>
            <a:ext cx="8229600" cy="743712"/>
          </a:xfrm>
        </p:spPr>
        <p:txBody>
          <a:bodyPr>
            <a:normAutofit fontScale="90000"/>
          </a:bodyPr>
          <a:lstStyle/>
          <a:p>
            <a:r>
              <a:rPr lang="en-US" altLang="en-US" dirty="0"/>
              <a:t>Kruskal’s algorithm</a:t>
            </a:r>
          </a:p>
        </p:txBody>
      </p:sp>
      <p:sp>
        <p:nvSpPr>
          <p:cNvPr id="12291" name="Rectangle 3">
            <a:extLst>
              <a:ext uri="{FF2B5EF4-FFF2-40B4-BE49-F238E27FC236}">
                <a16:creationId xmlns:a16="http://schemas.microsoft.com/office/drawing/2014/main" id="{B7350644-BBB5-4EDA-9409-E497DE8F5016}"/>
              </a:ext>
            </a:extLst>
          </p:cNvPr>
          <p:cNvSpPr>
            <a:spLocks noGrp="1" noChangeArrowheads="1"/>
          </p:cNvSpPr>
          <p:nvPr>
            <p:ph type="body" idx="1"/>
          </p:nvPr>
        </p:nvSpPr>
        <p:spPr>
          <a:xfrm>
            <a:off x="685800" y="1447800"/>
            <a:ext cx="7772400" cy="4876800"/>
          </a:xfrm>
        </p:spPr>
        <p:txBody>
          <a:bodyPr>
            <a:normAutofit lnSpcReduction="10000"/>
          </a:bodyPr>
          <a:lstStyle/>
          <a:p>
            <a:pPr>
              <a:lnSpc>
                <a:spcPct val="90000"/>
              </a:lnSpc>
              <a:buClr>
                <a:srgbClr val="FFFF99"/>
              </a:buClr>
              <a:buFontTx/>
              <a:buChar char=" "/>
            </a:pPr>
            <a:r>
              <a:rPr lang="en-US" altLang="en-US" sz="2000" dirty="0">
                <a:solidFill>
                  <a:schemeClr val="accent2"/>
                </a:solidFill>
                <a:latin typeface="Verdana" panose="020B0604030504040204" pitchFamily="34" charset="0"/>
              </a:rPr>
              <a:t>T = empty spanning tree;</a:t>
            </a:r>
            <a:br>
              <a:rPr lang="en-US" altLang="en-US" sz="2000" dirty="0">
                <a:solidFill>
                  <a:schemeClr val="accent2"/>
                </a:solidFill>
                <a:latin typeface="Verdana" panose="020B0604030504040204" pitchFamily="34" charset="0"/>
              </a:rPr>
            </a:br>
            <a:r>
              <a:rPr lang="en-US" altLang="en-US" sz="2000" dirty="0">
                <a:solidFill>
                  <a:schemeClr val="accent2"/>
                </a:solidFill>
                <a:latin typeface="Verdana" panose="020B0604030504040204" pitchFamily="34" charset="0"/>
              </a:rPr>
              <a:t>E = set of edges;</a:t>
            </a:r>
            <a:br>
              <a:rPr lang="en-US" altLang="en-US" sz="2000" dirty="0">
                <a:solidFill>
                  <a:schemeClr val="accent2"/>
                </a:solidFill>
                <a:latin typeface="Verdana" panose="020B0604030504040204" pitchFamily="34" charset="0"/>
              </a:rPr>
            </a:br>
            <a:r>
              <a:rPr lang="en-US" altLang="en-US" sz="2000" dirty="0">
                <a:solidFill>
                  <a:schemeClr val="accent2"/>
                </a:solidFill>
                <a:latin typeface="Verdana" panose="020B0604030504040204" pitchFamily="34" charset="0"/>
              </a:rPr>
              <a:t>N = number of nodes in graph;</a:t>
            </a:r>
          </a:p>
          <a:p>
            <a:pPr>
              <a:lnSpc>
                <a:spcPct val="90000"/>
              </a:lnSpc>
              <a:buClr>
                <a:srgbClr val="FFFF99"/>
              </a:buClr>
              <a:buFontTx/>
              <a:buChar char=" "/>
            </a:pPr>
            <a:r>
              <a:rPr lang="en-US" altLang="en-US" sz="2000" dirty="0">
                <a:solidFill>
                  <a:schemeClr val="accent2"/>
                </a:solidFill>
                <a:latin typeface="Verdana" panose="020B0604030504040204" pitchFamily="34" charset="0"/>
              </a:rPr>
              <a:t>while T has fewer than N - 1 edges {</a:t>
            </a:r>
          </a:p>
          <a:p>
            <a:pPr lvl="1">
              <a:lnSpc>
                <a:spcPct val="90000"/>
              </a:lnSpc>
              <a:buClr>
                <a:srgbClr val="FFFF99"/>
              </a:buClr>
              <a:buFontTx/>
              <a:buChar char=" "/>
            </a:pPr>
            <a:r>
              <a:rPr lang="en-US" altLang="en-US" sz="2000" dirty="0">
                <a:solidFill>
                  <a:schemeClr val="accent2"/>
                </a:solidFill>
                <a:latin typeface="Verdana" panose="020B0604030504040204" pitchFamily="34" charset="0"/>
              </a:rPr>
              <a:t>remove an edge (v, w) of lowest cost from E</a:t>
            </a:r>
          </a:p>
          <a:p>
            <a:pPr lvl="1">
              <a:lnSpc>
                <a:spcPct val="90000"/>
              </a:lnSpc>
              <a:buClr>
                <a:srgbClr val="FFFF99"/>
              </a:buClr>
              <a:buFontTx/>
              <a:buChar char=" "/>
            </a:pPr>
            <a:r>
              <a:rPr lang="en-US" altLang="en-US" sz="2000" dirty="0">
                <a:solidFill>
                  <a:schemeClr val="accent2"/>
                </a:solidFill>
                <a:latin typeface="Verdana" panose="020B0604030504040204" pitchFamily="34" charset="0"/>
              </a:rPr>
              <a:t>if adding (v, w) to T would create a cycle</a:t>
            </a:r>
          </a:p>
          <a:p>
            <a:pPr lvl="2">
              <a:lnSpc>
                <a:spcPct val="90000"/>
              </a:lnSpc>
              <a:buClr>
                <a:srgbClr val="FFFF99"/>
              </a:buClr>
              <a:buFontTx/>
              <a:buChar char=" "/>
            </a:pPr>
            <a:r>
              <a:rPr lang="en-US" altLang="en-US" dirty="0">
                <a:solidFill>
                  <a:schemeClr val="accent2"/>
                </a:solidFill>
                <a:latin typeface="Verdana" panose="020B0604030504040204" pitchFamily="34" charset="0"/>
              </a:rPr>
              <a:t>then discard (v, w)</a:t>
            </a:r>
          </a:p>
          <a:p>
            <a:pPr lvl="2">
              <a:lnSpc>
                <a:spcPct val="90000"/>
              </a:lnSpc>
              <a:buClr>
                <a:srgbClr val="FFFF99"/>
              </a:buClr>
              <a:buFontTx/>
              <a:buChar char=" "/>
            </a:pPr>
            <a:r>
              <a:rPr lang="en-US" altLang="en-US" dirty="0">
                <a:solidFill>
                  <a:schemeClr val="accent2"/>
                </a:solidFill>
                <a:latin typeface="Verdana" panose="020B0604030504040204" pitchFamily="34" charset="0"/>
              </a:rPr>
              <a:t>else add (v, w) to T</a:t>
            </a:r>
          </a:p>
          <a:p>
            <a:pPr>
              <a:lnSpc>
                <a:spcPct val="90000"/>
              </a:lnSpc>
              <a:buClr>
                <a:srgbClr val="FFFF99"/>
              </a:buClr>
              <a:buFontTx/>
              <a:buChar char=" "/>
            </a:pPr>
            <a:r>
              <a:rPr lang="en-US" altLang="en-US" sz="2000" dirty="0">
                <a:solidFill>
                  <a:schemeClr val="accent2"/>
                </a:solidFill>
                <a:latin typeface="Verdana" panose="020B0604030504040204" pitchFamily="34" charset="0"/>
              </a:rPr>
              <a:t>}</a:t>
            </a:r>
            <a:endParaRPr lang="en-US" altLang="en-US" sz="2400" dirty="0">
              <a:solidFill>
                <a:schemeClr val="accent2"/>
              </a:solidFill>
              <a:latin typeface="Verdana" panose="020B0604030504040204" pitchFamily="34" charset="0"/>
            </a:endParaRPr>
          </a:p>
          <a:p>
            <a:pPr>
              <a:lnSpc>
                <a:spcPct val="90000"/>
              </a:lnSpc>
            </a:pPr>
            <a:r>
              <a:rPr lang="en-US" altLang="en-US" sz="2400" dirty="0"/>
              <a:t>Finding an edge of lowest cost can be done just by sorting the edges</a:t>
            </a:r>
            <a:endParaRPr lang="en-US" altLang="en-US" sz="2400" dirty="0">
              <a:solidFill>
                <a:srgbClr val="FFFF99"/>
              </a:solidFill>
              <a:latin typeface="Verdana" panose="020B0604030504040204" pitchFamily="34" charset="0"/>
            </a:endParaRPr>
          </a:p>
          <a:p>
            <a:pPr>
              <a:lnSpc>
                <a:spcPct val="90000"/>
              </a:lnSpc>
            </a:pPr>
            <a:r>
              <a:rPr lang="en-US" altLang="en-US" sz="2400" dirty="0"/>
              <a:t>Efficient testing for a cycle requires a fairly complex algorithm (</a:t>
            </a:r>
            <a:r>
              <a:rPr lang="en-US" altLang="en-US" sz="2400" dirty="0">
                <a:solidFill>
                  <a:schemeClr val="tx2"/>
                </a:solidFill>
              </a:rPr>
              <a:t>UNION-FIND</a:t>
            </a:r>
            <a:r>
              <a:rPr lang="en-US" altLang="en-US" sz="2400" dirty="0"/>
              <a:t>) which we don’t cover in this course…. There is no cycle has to build why </a:t>
            </a:r>
            <a:r>
              <a:rPr lang="en-US" altLang="en-US" sz="2400" dirty="0" err="1"/>
              <a:t>selctiing</a:t>
            </a:r>
            <a:r>
              <a:rPr lang="en-US" altLang="en-US" sz="2400"/>
              <a:t> edges</a:t>
            </a:r>
            <a:endParaRPr lang="en-US" altLang="en-US" sz="2400" dirty="0"/>
          </a:p>
        </p:txBody>
      </p:sp>
    </p:spTree>
  </p:cSld>
  <p:clrMapOvr>
    <a:masterClrMapping/>
  </p:clrMapOvr>
  <p:transition spd="slow">
    <p:wip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FDD1F9A-B50F-4EF6-9AF0-6AB4A3AB3F3E}"/>
              </a:ext>
            </a:extLst>
          </p:cNvPr>
          <p:cNvSpPr>
            <a:spLocks noGrp="1"/>
          </p:cNvSpPr>
          <p:nvPr>
            <p:ph type="sldNum" sz="quarter" idx="10"/>
          </p:nvPr>
        </p:nvSpPr>
        <p:spPr/>
        <p:txBody>
          <a:bodyPr/>
          <a:lstStyle/>
          <a:p>
            <a:fld id="{19CC10E0-7603-4E75-B56D-32D8359C610B}" type="slidenum">
              <a:rPr lang="en-US" altLang="en-US"/>
              <a:pPr/>
              <a:t>130</a:t>
            </a:fld>
            <a:endParaRPr lang="en-US" altLang="en-US"/>
          </a:p>
        </p:txBody>
      </p:sp>
      <p:sp>
        <p:nvSpPr>
          <p:cNvPr id="13314" name="Rectangle 2">
            <a:extLst>
              <a:ext uri="{FF2B5EF4-FFF2-40B4-BE49-F238E27FC236}">
                <a16:creationId xmlns:a16="http://schemas.microsoft.com/office/drawing/2014/main" id="{47F8030D-4A69-4154-9460-3BB387553F86}"/>
              </a:ext>
            </a:extLst>
          </p:cNvPr>
          <p:cNvSpPr>
            <a:spLocks noGrp="1" noChangeArrowheads="1"/>
          </p:cNvSpPr>
          <p:nvPr>
            <p:ph type="title"/>
          </p:nvPr>
        </p:nvSpPr>
        <p:spPr>
          <a:xfrm>
            <a:off x="457200" y="704088"/>
            <a:ext cx="8229600" cy="743712"/>
          </a:xfrm>
        </p:spPr>
        <p:txBody>
          <a:bodyPr>
            <a:normAutofit fontScale="90000"/>
          </a:bodyPr>
          <a:lstStyle/>
          <a:p>
            <a:r>
              <a:rPr lang="en-US" altLang="en-US" dirty="0"/>
              <a:t>Prim’s algorithm</a:t>
            </a:r>
          </a:p>
        </p:txBody>
      </p:sp>
      <p:sp>
        <p:nvSpPr>
          <p:cNvPr id="13315" name="Rectangle 3">
            <a:extLst>
              <a:ext uri="{FF2B5EF4-FFF2-40B4-BE49-F238E27FC236}">
                <a16:creationId xmlns:a16="http://schemas.microsoft.com/office/drawing/2014/main" id="{70B23AAD-6E67-401C-A63A-3AF747C6BF36}"/>
              </a:ext>
            </a:extLst>
          </p:cNvPr>
          <p:cNvSpPr>
            <a:spLocks noGrp="1" noChangeArrowheads="1"/>
          </p:cNvSpPr>
          <p:nvPr>
            <p:ph type="body" idx="1"/>
          </p:nvPr>
        </p:nvSpPr>
        <p:spPr>
          <a:xfrm>
            <a:off x="304800" y="1391309"/>
            <a:ext cx="8935244" cy="5181600"/>
          </a:xfrm>
        </p:spPr>
        <p:txBody>
          <a:bodyPr/>
          <a:lstStyle/>
          <a:p>
            <a:pPr>
              <a:buClr>
                <a:srgbClr val="FFFF99"/>
              </a:buClr>
              <a:buFontTx/>
              <a:buChar char=" "/>
            </a:pPr>
            <a:r>
              <a:rPr lang="en-US" altLang="en-US" sz="2000" dirty="0">
                <a:solidFill>
                  <a:schemeClr val="accent2"/>
                </a:solidFill>
                <a:latin typeface="Verdana" panose="020B0604030504040204" pitchFamily="34" charset="0"/>
              </a:rPr>
              <a:t>T = a spanning tree containing a single node s;</a:t>
            </a:r>
            <a:br>
              <a:rPr lang="en-US" altLang="en-US" sz="2000" dirty="0">
                <a:solidFill>
                  <a:schemeClr val="accent2"/>
                </a:solidFill>
                <a:latin typeface="Verdana" panose="020B0604030504040204" pitchFamily="34" charset="0"/>
              </a:rPr>
            </a:br>
            <a:r>
              <a:rPr lang="en-US" altLang="en-US" sz="2000" dirty="0">
                <a:solidFill>
                  <a:schemeClr val="accent2"/>
                </a:solidFill>
                <a:latin typeface="Verdana" panose="020B0604030504040204" pitchFamily="34" charset="0"/>
              </a:rPr>
              <a:t>E = set of edges adjacent to s;</a:t>
            </a:r>
            <a:br>
              <a:rPr lang="en-US" altLang="en-US" sz="2000" dirty="0">
                <a:solidFill>
                  <a:schemeClr val="accent2"/>
                </a:solidFill>
                <a:latin typeface="Verdana" panose="020B0604030504040204" pitchFamily="34" charset="0"/>
              </a:rPr>
            </a:br>
            <a:r>
              <a:rPr lang="en-US" altLang="en-US" sz="2000" dirty="0">
                <a:solidFill>
                  <a:schemeClr val="accent2"/>
                </a:solidFill>
                <a:latin typeface="Verdana" panose="020B0604030504040204" pitchFamily="34" charset="0"/>
              </a:rPr>
              <a:t>while T does not contain all the nodes {</a:t>
            </a:r>
          </a:p>
          <a:p>
            <a:pPr lvl="1">
              <a:buClr>
                <a:srgbClr val="FFFF99"/>
              </a:buClr>
              <a:buFontTx/>
              <a:buChar char=" "/>
            </a:pPr>
            <a:r>
              <a:rPr lang="en-US" altLang="en-US" sz="2000" dirty="0">
                <a:solidFill>
                  <a:schemeClr val="accent2"/>
                </a:solidFill>
                <a:latin typeface="Verdana" panose="020B0604030504040204" pitchFamily="34" charset="0"/>
              </a:rPr>
              <a:t>remove an edge (v, w) of lowest cost from E</a:t>
            </a:r>
          </a:p>
          <a:p>
            <a:pPr lvl="1">
              <a:buClr>
                <a:srgbClr val="FFFF99"/>
              </a:buClr>
              <a:buFontTx/>
              <a:buChar char=" "/>
            </a:pPr>
            <a:r>
              <a:rPr lang="en-US" altLang="en-US" sz="2000" dirty="0">
                <a:solidFill>
                  <a:schemeClr val="accent2"/>
                </a:solidFill>
                <a:latin typeface="Verdana" panose="020B0604030504040204" pitchFamily="34" charset="0"/>
              </a:rPr>
              <a:t>if w is already in T then discard edge (v, w)</a:t>
            </a:r>
          </a:p>
          <a:p>
            <a:pPr lvl="1">
              <a:buClr>
                <a:srgbClr val="FFFF99"/>
              </a:buClr>
              <a:buFontTx/>
              <a:buChar char=" "/>
            </a:pPr>
            <a:r>
              <a:rPr lang="en-US" altLang="en-US" sz="2000" dirty="0">
                <a:solidFill>
                  <a:schemeClr val="accent2"/>
                </a:solidFill>
                <a:latin typeface="Verdana" panose="020B0604030504040204" pitchFamily="34" charset="0"/>
              </a:rPr>
              <a:t>else {</a:t>
            </a:r>
          </a:p>
          <a:p>
            <a:pPr lvl="2">
              <a:buClr>
                <a:srgbClr val="FFFF99"/>
              </a:buClr>
              <a:buFontTx/>
              <a:buChar char=" "/>
            </a:pPr>
            <a:r>
              <a:rPr lang="en-US" altLang="en-US" dirty="0">
                <a:solidFill>
                  <a:schemeClr val="accent2"/>
                </a:solidFill>
                <a:latin typeface="Verdana" panose="020B0604030504040204" pitchFamily="34" charset="0"/>
              </a:rPr>
              <a:t>add edge (v, w) and node w to T</a:t>
            </a:r>
          </a:p>
          <a:p>
            <a:pPr lvl="2">
              <a:buClr>
                <a:srgbClr val="FFFF99"/>
              </a:buClr>
              <a:buFontTx/>
              <a:buChar char=" "/>
            </a:pPr>
            <a:r>
              <a:rPr lang="en-US" altLang="en-US" dirty="0">
                <a:solidFill>
                  <a:schemeClr val="accent2"/>
                </a:solidFill>
                <a:latin typeface="Verdana" panose="020B0604030504040204" pitchFamily="34" charset="0"/>
              </a:rPr>
              <a:t>add to E the edges adjacent to w</a:t>
            </a:r>
          </a:p>
          <a:p>
            <a:pPr lvl="1">
              <a:buClr>
                <a:srgbClr val="FFFF99"/>
              </a:buClr>
              <a:buFontTx/>
              <a:buChar char=" "/>
            </a:pPr>
            <a:r>
              <a:rPr lang="en-US" altLang="en-US" sz="2000" dirty="0">
                <a:solidFill>
                  <a:schemeClr val="accent2"/>
                </a:solidFill>
                <a:latin typeface="Verdana" panose="020B0604030504040204" pitchFamily="34" charset="0"/>
              </a:rPr>
              <a:t>}</a:t>
            </a:r>
          </a:p>
          <a:p>
            <a:pPr>
              <a:buClr>
                <a:srgbClr val="FFFF99"/>
              </a:buClr>
              <a:buFontTx/>
              <a:buChar char=" "/>
            </a:pPr>
            <a:r>
              <a:rPr lang="en-US" altLang="en-US" sz="2000" dirty="0">
                <a:solidFill>
                  <a:schemeClr val="accent2"/>
                </a:solidFill>
                <a:latin typeface="Verdana" panose="020B0604030504040204" pitchFamily="34" charset="0"/>
              </a:rPr>
              <a:t>}</a:t>
            </a:r>
            <a:endParaRPr lang="en-US" altLang="en-US" sz="2400" dirty="0">
              <a:solidFill>
                <a:schemeClr val="accent2"/>
              </a:solidFill>
              <a:latin typeface="Verdana" panose="020B0604030504040204" pitchFamily="34" charset="0"/>
            </a:endParaRPr>
          </a:p>
          <a:p>
            <a:r>
              <a:rPr lang="en-US" altLang="en-US" sz="2400" dirty="0"/>
              <a:t>An edge of lowest cost can be found with a priority queue</a:t>
            </a:r>
            <a:endParaRPr lang="en-US" altLang="en-US" sz="2400" dirty="0">
              <a:solidFill>
                <a:srgbClr val="FFFF99"/>
              </a:solidFill>
              <a:latin typeface="Verdana" panose="020B0604030504040204" pitchFamily="34" charset="0"/>
            </a:endParaRPr>
          </a:p>
          <a:p>
            <a:r>
              <a:rPr lang="en-US" altLang="en-US" sz="2400" dirty="0"/>
              <a:t>Testing for a cycle is automatic</a:t>
            </a:r>
          </a:p>
          <a:p>
            <a:pPr lvl="1"/>
            <a:r>
              <a:rPr lang="en-US" altLang="en-US" sz="2000" dirty="0"/>
              <a:t>Hence, Prim’s algorithm is far simpler to implement than Kruskal’s algorithm</a:t>
            </a:r>
          </a:p>
        </p:txBody>
      </p:sp>
    </p:spTree>
  </p:cSld>
  <p:clrMapOvr>
    <a:masterClrMapping/>
  </p:clrMapOvr>
  <p:transition spd="slow">
    <p:wip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1A8DD-BF61-4D7B-A6FD-7633DB1C087C}"/>
              </a:ext>
            </a:extLst>
          </p:cNvPr>
          <p:cNvSpPr>
            <a:spLocks noGrp="1"/>
          </p:cNvSpPr>
          <p:nvPr>
            <p:ph type="title"/>
          </p:nvPr>
        </p:nvSpPr>
        <p:spPr/>
        <p:txBody>
          <a:bodyPr/>
          <a:lstStyle/>
          <a:p>
            <a:r>
              <a:rPr lang="en-US" dirty="0"/>
              <a:t>Example</a:t>
            </a:r>
            <a:endParaRPr lang="en-IN" dirty="0"/>
          </a:p>
        </p:txBody>
      </p:sp>
      <p:sp>
        <p:nvSpPr>
          <p:cNvPr id="3" name="Content Placeholder 2">
            <a:extLst>
              <a:ext uri="{FF2B5EF4-FFF2-40B4-BE49-F238E27FC236}">
                <a16:creationId xmlns:a16="http://schemas.microsoft.com/office/drawing/2014/main" id="{94D1E620-F648-488A-8718-5D936F17223D}"/>
              </a:ext>
            </a:extLst>
          </p:cNvPr>
          <p:cNvSpPr>
            <a:spLocks noGrp="1"/>
          </p:cNvSpPr>
          <p:nvPr>
            <p:ph idx="1"/>
          </p:nvPr>
        </p:nvSpPr>
        <p:spPr/>
        <p:txBody>
          <a:bodyPr/>
          <a:lstStyle/>
          <a:p>
            <a:r>
              <a:rPr lang="en-US" dirty="0"/>
              <a:t>Apply PRIMs and KRUSKAL to find MST.</a:t>
            </a:r>
            <a:endParaRPr lang="en-IN" dirty="0"/>
          </a:p>
        </p:txBody>
      </p:sp>
      <p:grpSp>
        <p:nvGrpSpPr>
          <p:cNvPr id="4" name="Group 74">
            <a:extLst>
              <a:ext uri="{FF2B5EF4-FFF2-40B4-BE49-F238E27FC236}">
                <a16:creationId xmlns:a16="http://schemas.microsoft.com/office/drawing/2014/main" id="{44670EA3-64A2-4CF3-997A-A6AE195A90ED}"/>
              </a:ext>
            </a:extLst>
          </p:cNvPr>
          <p:cNvGrpSpPr>
            <a:grpSpLocks/>
          </p:cNvGrpSpPr>
          <p:nvPr/>
        </p:nvGrpSpPr>
        <p:grpSpPr bwMode="auto">
          <a:xfrm>
            <a:off x="571500" y="2732430"/>
            <a:ext cx="3429000" cy="2362200"/>
            <a:chOff x="384" y="2544"/>
            <a:chExt cx="2160" cy="1488"/>
          </a:xfrm>
        </p:grpSpPr>
        <p:sp>
          <p:nvSpPr>
            <p:cNvPr id="5" name="Oval 4">
              <a:extLst>
                <a:ext uri="{FF2B5EF4-FFF2-40B4-BE49-F238E27FC236}">
                  <a16:creationId xmlns:a16="http://schemas.microsoft.com/office/drawing/2014/main" id="{26EC2B86-DC8E-42A6-933D-5CB062909438}"/>
                </a:ext>
              </a:extLst>
            </p:cNvPr>
            <p:cNvSpPr>
              <a:spLocks noChangeArrowheads="1"/>
            </p:cNvSpPr>
            <p:nvPr/>
          </p:nvSpPr>
          <p:spPr bwMode="auto">
            <a:xfrm>
              <a:off x="816" y="264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A</a:t>
              </a:r>
              <a:endParaRPr lang="en-US" altLang="en-US">
                <a:latin typeface="Times New Roman" panose="02020603050405020304" pitchFamily="18" charset="0"/>
              </a:endParaRPr>
            </a:p>
          </p:txBody>
        </p:sp>
        <p:sp>
          <p:nvSpPr>
            <p:cNvPr id="6" name="Oval 5">
              <a:extLst>
                <a:ext uri="{FF2B5EF4-FFF2-40B4-BE49-F238E27FC236}">
                  <a16:creationId xmlns:a16="http://schemas.microsoft.com/office/drawing/2014/main" id="{FBF69F7A-4DD3-4CF0-A81E-4CB8F3A5F13D}"/>
                </a:ext>
              </a:extLst>
            </p:cNvPr>
            <p:cNvSpPr>
              <a:spLocks noChangeArrowheads="1"/>
            </p:cNvSpPr>
            <p:nvPr/>
          </p:nvSpPr>
          <p:spPr bwMode="auto">
            <a:xfrm>
              <a:off x="1776" y="264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B</a:t>
              </a:r>
              <a:endParaRPr lang="en-US" altLang="en-US">
                <a:latin typeface="Times New Roman" panose="02020603050405020304" pitchFamily="18" charset="0"/>
              </a:endParaRPr>
            </a:p>
          </p:txBody>
        </p:sp>
        <p:sp>
          <p:nvSpPr>
            <p:cNvPr id="7" name="Oval 6">
              <a:extLst>
                <a:ext uri="{FF2B5EF4-FFF2-40B4-BE49-F238E27FC236}">
                  <a16:creationId xmlns:a16="http://schemas.microsoft.com/office/drawing/2014/main" id="{92217483-BB9A-48B1-B733-603CEBDCF06D}"/>
                </a:ext>
              </a:extLst>
            </p:cNvPr>
            <p:cNvSpPr>
              <a:spLocks noChangeArrowheads="1"/>
            </p:cNvSpPr>
            <p:nvPr/>
          </p:nvSpPr>
          <p:spPr bwMode="auto">
            <a:xfrm>
              <a:off x="816" y="3504"/>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E</a:t>
              </a:r>
              <a:endParaRPr lang="en-US" altLang="en-US">
                <a:latin typeface="Times New Roman" panose="02020603050405020304" pitchFamily="18" charset="0"/>
              </a:endParaRPr>
            </a:p>
          </p:txBody>
        </p:sp>
        <p:sp>
          <p:nvSpPr>
            <p:cNvPr id="8" name="Oval 7">
              <a:extLst>
                <a:ext uri="{FF2B5EF4-FFF2-40B4-BE49-F238E27FC236}">
                  <a16:creationId xmlns:a16="http://schemas.microsoft.com/office/drawing/2014/main" id="{7F616921-0DE2-4CFF-8445-67CAD39923DF}"/>
                </a:ext>
              </a:extLst>
            </p:cNvPr>
            <p:cNvSpPr>
              <a:spLocks noChangeArrowheads="1"/>
            </p:cNvSpPr>
            <p:nvPr/>
          </p:nvSpPr>
          <p:spPr bwMode="auto">
            <a:xfrm>
              <a:off x="1776" y="3504"/>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D</a:t>
              </a:r>
              <a:endParaRPr lang="en-US" altLang="en-US">
                <a:latin typeface="Times New Roman" panose="02020603050405020304" pitchFamily="18" charset="0"/>
              </a:endParaRPr>
            </a:p>
          </p:txBody>
        </p:sp>
        <p:sp>
          <p:nvSpPr>
            <p:cNvPr id="9" name="Oval 8">
              <a:extLst>
                <a:ext uri="{FF2B5EF4-FFF2-40B4-BE49-F238E27FC236}">
                  <a16:creationId xmlns:a16="http://schemas.microsoft.com/office/drawing/2014/main" id="{03FCF9BF-A32A-4E23-9CEF-0F5D7F2E6FC9}"/>
                </a:ext>
              </a:extLst>
            </p:cNvPr>
            <p:cNvSpPr>
              <a:spLocks noChangeArrowheads="1"/>
            </p:cNvSpPr>
            <p:nvPr/>
          </p:nvSpPr>
          <p:spPr bwMode="auto">
            <a:xfrm>
              <a:off x="1296" y="307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F</a:t>
              </a:r>
              <a:endParaRPr lang="en-US" altLang="en-US">
                <a:latin typeface="Times New Roman" panose="02020603050405020304" pitchFamily="18" charset="0"/>
              </a:endParaRPr>
            </a:p>
          </p:txBody>
        </p:sp>
        <p:sp>
          <p:nvSpPr>
            <p:cNvPr id="10" name="Oval 9">
              <a:extLst>
                <a:ext uri="{FF2B5EF4-FFF2-40B4-BE49-F238E27FC236}">
                  <a16:creationId xmlns:a16="http://schemas.microsoft.com/office/drawing/2014/main" id="{6A449AB3-B323-44AC-A18D-0D71AEE0F07B}"/>
                </a:ext>
              </a:extLst>
            </p:cNvPr>
            <p:cNvSpPr>
              <a:spLocks noChangeArrowheads="1"/>
            </p:cNvSpPr>
            <p:nvPr/>
          </p:nvSpPr>
          <p:spPr bwMode="auto">
            <a:xfrm>
              <a:off x="2208" y="307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C</a:t>
              </a:r>
              <a:endParaRPr lang="en-US" altLang="en-US">
                <a:latin typeface="Times New Roman" panose="02020603050405020304" pitchFamily="18" charset="0"/>
              </a:endParaRPr>
            </a:p>
          </p:txBody>
        </p:sp>
        <p:sp>
          <p:nvSpPr>
            <p:cNvPr id="11" name="Text Box 23">
              <a:extLst>
                <a:ext uri="{FF2B5EF4-FFF2-40B4-BE49-F238E27FC236}">
                  <a16:creationId xmlns:a16="http://schemas.microsoft.com/office/drawing/2014/main" id="{52F593C2-0603-453A-8058-3C0CA648AB34}"/>
                </a:ext>
              </a:extLst>
            </p:cNvPr>
            <p:cNvSpPr txBox="1">
              <a:spLocks noChangeArrowheads="1"/>
            </p:cNvSpPr>
            <p:nvPr/>
          </p:nvSpPr>
          <p:spPr bwMode="auto">
            <a:xfrm>
              <a:off x="1296" y="254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16</a:t>
              </a:r>
              <a:endParaRPr lang="en-US" altLang="en-US" sz="2000">
                <a:latin typeface="Verdana" panose="020B0604030504040204" pitchFamily="34" charset="0"/>
              </a:endParaRPr>
            </a:p>
          </p:txBody>
        </p:sp>
        <p:sp>
          <p:nvSpPr>
            <p:cNvPr id="12" name="Line 26">
              <a:extLst>
                <a:ext uri="{FF2B5EF4-FFF2-40B4-BE49-F238E27FC236}">
                  <a16:creationId xmlns:a16="http://schemas.microsoft.com/office/drawing/2014/main" id="{22049D59-CDC0-4C5C-B77E-E9B7CB0BC66C}"/>
                </a:ext>
              </a:extLst>
            </p:cNvPr>
            <p:cNvSpPr>
              <a:spLocks noChangeShapeType="1"/>
            </p:cNvSpPr>
            <p:nvPr/>
          </p:nvSpPr>
          <p:spPr bwMode="auto">
            <a:xfrm>
              <a:off x="912" y="2880"/>
              <a:ext cx="0" cy="62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3" name="Line 27">
              <a:extLst>
                <a:ext uri="{FF2B5EF4-FFF2-40B4-BE49-F238E27FC236}">
                  <a16:creationId xmlns:a16="http://schemas.microsoft.com/office/drawing/2014/main" id="{38BD4EBC-17E5-47A6-BB54-6BE5820371DD}"/>
                </a:ext>
              </a:extLst>
            </p:cNvPr>
            <p:cNvSpPr>
              <a:spLocks noChangeShapeType="1"/>
            </p:cNvSpPr>
            <p:nvPr/>
          </p:nvSpPr>
          <p:spPr bwMode="auto">
            <a:xfrm>
              <a:off x="1056" y="2736"/>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4" name="Line 28">
              <a:extLst>
                <a:ext uri="{FF2B5EF4-FFF2-40B4-BE49-F238E27FC236}">
                  <a16:creationId xmlns:a16="http://schemas.microsoft.com/office/drawing/2014/main" id="{8ADC25BC-24E7-411A-A896-1315C063AC5F}"/>
                </a:ext>
              </a:extLst>
            </p:cNvPr>
            <p:cNvSpPr>
              <a:spLocks noChangeShapeType="1"/>
            </p:cNvSpPr>
            <p:nvPr/>
          </p:nvSpPr>
          <p:spPr bwMode="auto">
            <a:xfrm>
              <a:off x="1920" y="2880"/>
              <a:ext cx="0" cy="62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5" name="Line 29">
              <a:extLst>
                <a:ext uri="{FF2B5EF4-FFF2-40B4-BE49-F238E27FC236}">
                  <a16:creationId xmlns:a16="http://schemas.microsoft.com/office/drawing/2014/main" id="{C52F58F9-2FE3-4C05-AD96-75D22217180D}"/>
                </a:ext>
              </a:extLst>
            </p:cNvPr>
            <p:cNvSpPr>
              <a:spLocks noChangeShapeType="1"/>
            </p:cNvSpPr>
            <p:nvPr/>
          </p:nvSpPr>
          <p:spPr bwMode="auto">
            <a:xfrm>
              <a:off x="1056" y="3648"/>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6" name="Line 30">
              <a:extLst>
                <a:ext uri="{FF2B5EF4-FFF2-40B4-BE49-F238E27FC236}">
                  <a16:creationId xmlns:a16="http://schemas.microsoft.com/office/drawing/2014/main" id="{EE8798F4-8DC3-4FA6-9C0E-5EF4F7C1918B}"/>
                </a:ext>
              </a:extLst>
            </p:cNvPr>
            <p:cNvSpPr>
              <a:spLocks noChangeShapeType="1"/>
            </p:cNvSpPr>
            <p:nvPr/>
          </p:nvSpPr>
          <p:spPr bwMode="auto">
            <a:xfrm flipV="1">
              <a:off x="1008" y="3264"/>
              <a:ext cx="288"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7" name="Line 31">
              <a:extLst>
                <a:ext uri="{FF2B5EF4-FFF2-40B4-BE49-F238E27FC236}">
                  <a16:creationId xmlns:a16="http://schemas.microsoft.com/office/drawing/2014/main" id="{0E1059FB-D5B4-49B0-AC30-3F531C521E45}"/>
                </a:ext>
              </a:extLst>
            </p:cNvPr>
            <p:cNvSpPr>
              <a:spLocks noChangeShapeType="1"/>
            </p:cNvSpPr>
            <p:nvPr/>
          </p:nvSpPr>
          <p:spPr bwMode="auto">
            <a:xfrm flipH="1" flipV="1">
              <a:off x="1488" y="3264"/>
              <a:ext cx="336"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8" name="Line 32">
              <a:extLst>
                <a:ext uri="{FF2B5EF4-FFF2-40B4-BE49-F238E27FC236}">
                  <a16:creationId xmlns:a16="http://schemas.microsoft.com/office/drawing/2014/main" id="{32C20A39-8F34-4B86-A18D-EC2F92DE14D4}"/>
                </a:ext>
              </a:extLst>
            </p:cNvPr>
            <p:cNvSpPr>
              <a:spLocks noChangeShapeType="1"/>
            </p:cNvSpPr>
            <p:nvPr/>
          </p:nvSpPr>
          <p:spPr bwMode="auto">
            <a:xfrm>
              <a:off x="1008" y="2832"/>
              <a:ext cx="336"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19" name="Line 33">
              <a:extLst>
                <a:ext uri="{FF2B5EF4-FFF2-40B4-BE49-F238E27FC236}">
                  <a16:creationId xmlns:a16="http://schemas.microsoft.com/office/drawing/2014/main" id="{069EDC4F-65CE-4D3B-AE7D-F2905DC45637}"/>
                </a:ext>
              </a:extLst>
            </p:cNvPr>
            <p:cNvSpPr>
              <a:spLocks noChangeShapeType="1"/>
            </p:cNvSpPr>
            <p:nvPr/>
          </p:nvSpPr>
          <p:spPr bwMode="auto">
            <a:xfrm flipH="1">
              <a:off x="1488" y="2832"/>
              <a:ext cx="288"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 name="Line 34">
              <a:extLst>
                <a:ext uri="{FF2B5EF4-FFF2-40B4-BE49-F238E27FC236}">
                  <a16:creationId xmlns:a16="http://schemas.microsoft.com/office/drawing/2014/main" id="{702A59EC-4C3E-44E4-ABBA-87EFC925970C}"/>
                </a:ext>
              </a:extLst>
            </p:cNvPr>
            <p:cNvSpPr>
              <a:spLocks noChangeShapeType="1"/>
            </p:cNvSpPr>
            <p:nvPr/>
          </p:nvSpPr>
          <p:spPr bwMode="auto">
            <a:xfrm flipV="1">
              <a:off x="2016" y="3312"/>
              <a:ext cx="288"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 name="Line 35">
              <a:extLst>
                <a:ext uri="{FF2B5EF4-FFF2-40B4-BE49-F238E27FC236}">
                  <a16:creationId xmlns:a16="http://schemas.microsoft.com/office/drawing/2014/main" id="{9528BC84-752B-4EB0-8083-5BF0BF46C5FF}"/>
                </a:ext>
              </a:extLst>
            </p:cNvPr>
            <p:cNvSpPr>
              <a:spLocks noChangeShapeType="1"/>
            </p:cNvSpPr>
            <p:nvPr/>
          </p:nvSpPr>
          <p:spPr bwMode="auto">
            <a:xfrm>
              <a:off x="2016" y="2784"/>
              <a:ext cx="24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 name="Text Box 36">
              <a:extLst>
                <a:ext uri="{FF2B5EF4-FFF2-40B4-BE49-F238E27FC236}">
                  <a16:creationId xmlns:a16="http://schemas.microsoft.com/office/drawing/2014/main" id="{4DC323D9-0E9A-4F48-84A8-5990FE2B188F}"/>
                </a:ext>
              </a:extLst>
            </p:cNvPr>
            <p:cNvSpPr txBox="1">
              <a:spLocks noChangeArrowheads="1"/>
            </p:cNvSpPr>
            <p:nvPr/>
          </p:nvSpPr>
          <p:spPr bwMode="auto">
            <a:xfrm>
              <a:off x="624" y="3033"/>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19</a:t>
              </a:r>
              <a:endParaRPr lang="en-US" altLang="en-US" sz="2000">
                <a:latin typeface="Verdana" panose="020B0604030504040204" pitchFamily="34" charset="0"/>
              </a:endParaRPr>
            </a:p>
          </p:txBody>
        </p:sp>
        <p:sp>
          <p:nvSpPr>
            <p:cNvPr id="23" name="Text Box 37">
              <a:extLst>
                <a:ext uri="{FF2B5EF4-FFF2-40B4-BE49-F238E27FC236}">
                  <a16:creationId xmlns:a16="http://schemas.microsoft.com/office/drawing/2014/main" id="{9DF6E660-2A51-4D45-A21D-0A247D33DDAB}"/>
                </a:ext>
              </a:extLst>
            </p:cNvPr>
            <p:cNvSpPr txBox="1">
              <a:spLocks noChangeArrowheads="1"/>
            </p:cNvSpPr>
            <p:nvPr/>
          </p:nvSpPr>
          <p:spPr bwMode="auto">
            <a:xfrm>
              <a:off x="1104" y="2745"/>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dirty="0">
                  <a:latin typeface="Verdana" panose="020B0604030504040204" pitchFamily="34" charset="0"/>
                </a:rPr>
                <a:t>21</a:t>
              </a:r>
              <a:endParaRPr lang="en-US" altLang="en-US" sz="2000" dirty="0">
                <a:latin typeface="Verdana" panose="020B0604030504040204" pitchFamily="34" charset="0"/>
              </a:endParaRPr>
            </a:p>
          </p:txBody>
        </p:sp>
        <p:sp>
          <p:nvSpPr>
            <p:cNvPr id="24" name="Text Box 38">
              <a:extLst>
                <a:ext uri="{FF2B5EF4-FFF2-40B4-BE49-F238E27FC236}">
                  <a16:creationId xmlns:a16="http://schemas.microsoft.com/office/drawing/2014/main" id="{1065B883-9DCD-4EBF-ABD5-1E0BB17F5CF2}"/>
                </a:ext>
              </a:extLst>
            </p:cNvPr>
            <p:cNvSpPr txBox="1">
              <a:spLocks noChangeArrowheads="1"/>
            </p:cNvSpPr>
            <p:nvPr/>
          </p:nvSpPr>
          <p:spPr bwMode="auto">
            <a:xfrm>
              <a:off x="1440" y="2745"/>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11</a:t>
              </a:r>
              <a:endParaRPr lang="en-US" altLang="en-US" sz="2000">
                <a:latin typeface="Verdana" panose="020B0604030504040204" pitchFamily="34" charset="0"/>
              </a:endParaRPr>
            </a:p>
          </p:txBody>
        </p:sp>
        <p:sp>
          <p:nvSpPr>
            <p:cNvPr id="25" name="Text Box 39">
              <a:extLst>
                <a:ext uri="{FF2B5EF4-FFF2-40B4-BE49-F238E27FC236}">
                  <a16:creationId xmlns:a16="http://schemas.microsoft.com/office/drawing/2014/main" id="{0B722BEC-9645-44D3-8BC0-B499E75CC923}"/>
                </a:ext>
              </a:extLst>
            </p:cNvPr>
            <p:cNvSpPr txBox="1">
              <a:spLocks noChangeArrowheads="1"/>
            </p:cNvSpPr>
            <p:nvPr/>
          </p:nvSpPr>
          <p:spPr bwMode="auto">
            <a:xfrm>
              <a:off x="960" y="3177"/>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33</a:t>
              </a:r>
              <a:endParaRPr lang="en-US" altLang="en-US" sz="2000">
                <a:latin typeface="Verdana" panose="020B0604030504040204" pitchFamily="34" charset="0"/>
              </a:endParaRPr>
            </a:p>
          </p:txBody>
        </p:sp>
        <p:sp>
          <p:nvSpPr>
            <p:cNvPr id="26" name="Text Box 40">
              <a:extLst>
                <a:ext uri="{FF2B5EF4-FFF2-40B4-BE49-F238E27FC236}">
                  <a16:creationId xmlns:a16="http://schemas.microsoft.com/office/drawing/2014/main" id="{20C6B695-D355-4F2F-B0D6-62014BA5C313}"/>
                </a:ext>
              </a:extLst>
            </p:cNvPr>
            <p:cNvSpPr txBox="1">
              <a:spLocks noChangeArrowheads="1"/>
            </p:cNvSpPr>
            <p:nvPr/>
          </p:nvSpPr>
          <p:spPr bwMode="auto">
            <a:xfrm>
              <a:off x="1536" y="3168"/>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14</a:t>
              </a:r>
              <a:endParaRPr lang="en-US" altLang="en-US" sz="2000">
                <a:latin typeface="Verdana" panose="020B0604030504040204" pitchFamily="34" charset="0"/>
              </a:endParaRPr>
            </a:p>
          </p:txBody>
        </p:sp>
        <p:sp>
          <p:nvSpPr>
            <p:cNvPr id="27" name="Text Box 41">
              <a:extLst>
                <a:ext uri="{FF2B5EF4-FFF2-40B4-BE49-F238E27FC236}">
                  <a16:creationId xmlns:a16="http://schemas.microsoft.com/office/drawing/2014/main" id="{1DC3B17C-2F4C-4565-A135-99540BECE7BE}"/>
                </a:ext>
              </a:extLst>
            </p:cNvPr>
            <p:cNvSpPr txBox="1">
              <a:spLocks noChangeArrowheads="1"/>
            </p:cNvSpPr>
            <p:nvPr/>
          </p:nvSpPr>
          <p:spPr bwMode="auto">
            <a:xfrm>
              <a:off x="1296"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18</a:t>
              </a:r>
              <a:endParaRPr lang="en-US" altLang="en-US" sz="2000">
                <a:latin typeface="Verdana" panose="020B0604030504040204" pitchFamily="34" charset="0"/>
              </a:endParaRPr>
            </a:p>
          </p:txBody>
        </p:sp>
        <p:sp>
          <p:nvSpPr>
            <p:cNvPr id="28" name="Text Box 42">
              <a:extLst>
                <a:ext uri="{FF2B5EF4-FFF2-40B4-BE49-F238E27FC236}">
                  <a16:creationId xmlns:a16="http://schemas.microsoft.com/office/drawing/2014/main" id="{150AEB86-8E3B-42F1-A715-2A5DA756DD85}"/>
                </a:ext>
              </a:extLst>
            </p:cNvPr>
            <p:cNvSpPr txBox="1">
              <a:spLocks noChangeArrowheads="1"/>
            </p:cNvSpPr>
            <p:nvPr/>
          </p:nvSpPr>
          <p:spPr bwMode="auto">
            <a:xfrm>
              <a:off x="2160" y="3369"/>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10</a:t>
              </a:r>
              <a:endParaRPr lang="en-US" altLang="en-US" sz="2000">
                <a:latin typeface="Verdana" panose="020B0604030504040204" pitchFamily="34" charset="0"/>
              </a:endParaRPr>
            </a:p>
          </p:txBody>
        </p:sp>
        <p:sp>
          <p:nvSpPr>
            <p:cNvPr id="29" name="Text Box 43">
              <a:extLst>
                <a:ext uri="{FF2B5EF4-FFF2-40B4-BE49-F238E27FC236}">
                  <a16:creationId xmlns:a16="http://schemas.microsoft.com/office/drawing/2014/main" id="{6F827989-C45E-4934-B2DC-96C60A4168E5}"/>
                </a:ext>
              </a:extLst>
            </p:cNvPr>
            <p:cNvSpPr txBox="1">
              <a:spLocks noChangeArrowheads="1"/>
            </p:cNvSpPr>
            <p:nvPr/>
          </p:nvSpPr>
          <p:spPr bwMode="auto">
            <a:xfrm>
              <a:off x="2064" y="273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6</a:t>
              </a:r>
              <a:endParaRPr lang="en-US" altLang="en-US" sz="2000">
                <a:latin typeface="Verdana" panose="020B0604030504040204" pitchFamily="34" charset="0"/>
              </a:endParaRPr>
            </a:p>
          </p:txBody>
        </p:sp>
        <p:sp>
          <p:nvSpPr>
            <p:cNvPr id="30" name="Text Box 45">
              <a:extLst>
                <a:ext uri="{FF2B5EF4-FFF2-40B4-BE49-F238E27FC236}">
                  <a16:creationId xmlns:a16="http://schemas.microsoft.com/office/drawing/2014/main" id="{10C87552-3EFA-47A7-8EF9-3B55A7C1EED9}"/>
                </a:ext>
              </a:extLst>
            </p:cNvPr>
            <p:cNvSpPr txBox="1">
              <a:spLocks noChangeArrowheads="1"/>
            </p:cNvSpPr>
            <p:nvPr/>
          </p:nvSpPr>
          <p:spPr bwMode="auto">
            <a:xfrm>
              <a:off x="1728" y="2985"/>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5</a:t>
              </a:r>
              <a:endParaRPr lang="en-US" altLang="en-US" sz="2000">
                <a:latin typeface="Verdana" panose="020B0604030504040204" pitchFamily="34" charset="0"/>
              </a:endParaRPr>
            </a:p>
          </p:txBody>
        </p:sp>
        <p:sp>
          <p:nvSpPr>
            <p:cNvPr id="31" name="Rectangle 72">
              <a:extLst>
                <a:ext uri="{FF2B5EF4-FFF2-40B4-BE49-F238E27FC236}">
                  <a16:creationId xmlns:a16="http://schemas.microsoft.com/office/drawing/2014/main" id="{3056CB82-2544-46A1-ADBE-1F713FE94E1D}"/>
                </a:ext>
              </a:extLst>
            </p:cNvPr>
            <p:cNvSpPr>
              <a:spLocks noChangeArrowheads="1"/>
            </p:cNvSpPr>
            <p:nvPr/>
          </p:nvSpPr>
          <p:spPr bwMode="auto">
            <a:xfrm>
              <a:off x="384" y="3782"/>
              <a:ext cx="216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000">
                  <a:latin typeface="Times New Roman" panose="02020603050405020304" pitchFamily="18" charset="0"/>
                </a:rPr>
                <a:t>A connected, undirected graph</a:t>
              </a:r>
            </a:p>
          </p:txBody>
        </p:sp>
      </p:grpSp>
      <p:grpSp>
        <p:nvGrpSpPr>
          <p:cNvPr id="32" name="Group 75">
            <a:extLst>
              <a:ext uri="{FF2B5EF4-FFF2-40B4-BE49-F238E27FC236}">
                <a16:creationId xmlns:a16="http://schemas.microsoft.com/office/drawing/2014/main" id="{EF2B5500-28B6-4404-8B18-93661F730A57}"/>
              </a:ext>
            </a:extLst>
          </p:cNvPr>
          <p:cNvGrpSpPr>
            <a:grpSpLocks/>
          </p:cNvGrpSpPr>
          <p:nvPr/>
        </p:nvGrpSpPr>
        <p:grpSpPr bwMode="auto">
          <a:xfrm>
            <a:off x="4640262" y="2618131"/>
            <a:ext cx="3330575" cy="2362200"/>
            <a:chOff x="2798" y="2544"/>
            <a:chExt cx="2098" cy="1488"/>
          </a:xfrm>
        </p:grpSpPr>
        <p:sp>
          <p:nvSpPr>
            <p:cNvPr id="33" name="Oval 46">
              <a:extLst>
                <a:ext uri="{FF2B5EF4-FFF2-40B4-BE49-F238E27FC236}">
                  <a16:creationId xmlns:a16="http://schemas.microsoft.com/office/drawing/2014/main" id="{07D336D2-96A8-43C3-AD01-A4ADCC028E7D}"/>
                </a:ext>
              </a:extLst>
            </p:cNvPr>
            <p:cNvSpPr>
              <a:spLocks noChangeArrowheads="1"/>
            </p:cNvSpPr>
            <p:nvPr/>
          </p:nvSpPr>
          <p:spPr bwMode="auto">
            <a:xfrm>
              <a:off x="3024" y="264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A</a:t>
              </a:r>
              <a:endParaRPr lang="en-US" altLang="en-US">
                <a:latin typeface="Times New Roman" panose="02020603050405020304" pitchFamily="18" charset="0"/>
              </a:endParaRPr>
            </a:p>
          </p:txBody>
        </p:sp>
        <p:sp>
          <p:nvSpPr>
            <p:cNvPr id="34" name="Oval 47">
              <a:extLst>
                <a:ext uri="{FF2B5EF4-FFF2-40B4-BE49-F238E27FC236}">
                  <a16:creationId xmlns:a16="http://schemas.microsoft.com/office/drawing/2014/main" id="{741B2910-E7DB-4ABE-89C1-D695063945E3}"/>
                </a:ext>
              </a:extLst>
            </p:cNvPr>
            <p:cNvSpPr>
              <a:spLocks noChangeArrowheads="1"/>
            </p:cNvSpPr>
            <p:nvPr/>
          </p:nvSpPr>
          <p:spPr bwMode="auto">
            <a:xfrm>
              <a:off x="3984" y="2640"/>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B</a:t>
              </a:r>
              <a:endParaRPr lang="en-US" altLang="en-US">
                <a:latin typeface="Times New Roman" panose="02020603050405020304" pitchFamily="18" charset="0"/>
              </a:endParaRPr>
            </a:p>
          </p:txBody>
        </p:sp>
        <p:sp>
          <p:nvSpPr>
            <p:cNvPr id="35" name="Oval 48">
              <a:extLst>
                <a:ext uri="{FF2B5EF4-FFF2-40B4-BE49-F238E27FC236}">
                  <a16:creationId xmlns:a16="http://schemas.microsoft.com/office/drawing/2014/main" id="{6E893D8E-3FBE-4D8A-AF86-25749311B5AD}"/>
                </a:ext>
              </a:extLst>
            </p:cNvPr>
            <p:cNvSpPr>
              <a:spLocks noChangeArrowheads="1"/>
            </p:cNvSpPr>
            <p:nvPr/>
          </p:nvSpPr>
          <p:spPr bwMode="auto">
            <a:xfrm>
              <a:off x="3024" y="3504"/>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E</a:t>
              </a:r>
              <a:endParaRPr lang="en-US" altLang="en-US">
                <a:latin typeface="Times New Roman" panose="02020603050405020304" pitchFamily="18" charset="0"/>
              </a:endParaRPr>
            </a:p>
          </p:txBody>
        </p:sp>
        <p:sp>
          <p:nvSpPr>
            <p:cNvPr id="36" name="Oval 49">
              <a:extLst>
                <a:ext uri="{FF2B5EF4-FFF2-40B4-BE49-F238E27FC236}">
                  <a16:creationId xmlns:a16="http://schemas.microsoft.com/office/drawing/2014/main" id="{5031FA70-30DA-4D4C-AA22-52923521E458}"/>
                </a:ext>
              </a:extLst>
            </p:cNvPr>
            <p:cNvSpPr>
              <a:spLocks noChangeArrowheads="1"/>
            </p:cNvSpPr>
            <p:nvPr/>
          </p:nvSpPr>
          <p:spPr bwMode="auto">
            <a:xfrm>
              <a:off x="3984" y="3504"/>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D</a:t>
              </a:r>
              <a:endParaRPr lang="en-US" altLang="en-US">
                <a:latin typeface="Times New Roman" panose="02020603050405020304" pitchFamily="18" charset="0"/>
              </a:endParaRPr>
            </a:p>
          </p:txBody>
        </p:sp>
        <p:sp>
          <p:nvSpPr>
            <p:cNvPr id="37" name="Oval 50">
              <a:extLst>
                <a:ext uri="{FF2B5EF4-FFF2-40B4-BE49-F238E27FC236}">
                  <a16:creationId xmlns:a16="http://schemas.microsoft.com/office/drawing/2014/main" id="{A83F00A5-86A1-4DB6-A94B-BEAA4EB85010}"/>
                </a:ext>
              </a:extLst>
            </p:cNvPr>
            <p:cNvSpPr>
              <a:spLocks noChangeArrowheads="1"/>
            </p:cNvSpPr>
            <p:nvPr/>
          </p:nvSpPr>
          <p:spPr bwMode="auto">
            <a:xfrm>
              <a:off x="3504" y="307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F</a:t>
              </a:r>
              <a:endParaRPr lang="en-US" altLang="en-US">
                <a:latin typeface="Times New Roman" panose="02020603050405020304" pitchFamily="18" charset="0"/>
              </a:endParaRPr>
            </a:p>
          </p:txBody>
        </p:sp>
        <p:sp>
          <p:nvSpPr>
            <p:cNvPr id="38" name="Oval 51">
              <a:extLst>
                <a:ext uri="{FF2B5EF4-FFF2-40B4-BE49-F238E27FC236}">
                  <a16:creationId xmlns:a16="http://schemas.microsoft.com/office/drawing/2014/main" id="{9A58A0E6-F3BE-4D63-8561-5A3C1DFCE4BC}"/>
                </a:ext>
              </a:extLst>
            </p:cNvPr>
            <p:cNvSpPr>
              <a:spLocks noChangeArrowheads="1"/>
            </p:cNvSpPr>
            <p:nvPr/>
          </p:nvSpPr>
          <p:spPr bwMode="auto">
            <a:xfrm>
              <a:off x="4416" y="3072"/>
              <a:ext cx="240" cy="240"/>
            </a:xfrm>
            <a:prstGeom prst="ellipse">
              <a:avLst/>
            </a:prstGeom>
            <a:noFill/>
            <a:ln w="158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000">
                  <a:latin typeface="Verdana" panose="020B0604030504040204" pitchFamily="34" charset="0"/>
                </a:rPr>
                <a:t>C</a:t>
              </a:r>
              <a:endParaRPr lang="en-US" altLang="en-US">
                <a:latin typeface="Times New Roman" panose="02020603050405020304" pitchFamily="18" charset="0"/>
              </a:endParaRPr>
            </a:p>
          </p:txBody>
        </p:sp>
        <p:sp>
          <p:nvSpPr>
            <p:cNvPr id="39" name="Text Box 52">
              <a:extLst>
                <a:ext uri="{FF2B5EF4-FFF2-40B4-BE49-F238E27FC236}">
                  <a16:creationId xmlns:a16="http://schemas.microsoft.com/office/drawing/2014/main" id="{1249BC88-800A-442D-9569-671A32BF7D25}"/>
                </a:ext>
              </a:extLst>
            </p:cNvPr>
            <p:cNvSpPr txBox="1">
              <a:spLocks noChangeArrowheads="1"/>
            </p:cNvSpPr>
            <p:nvPr/>
          </p:nvSpPr>
          <p:spPr bwMode="auto">
            <a:xfrm>
              <a:off x="3504" y="2544"/>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16</a:t>
              </a:r>
              <a:endParaRPr lang="en-US" altLang="en-US" sz="2000">
                <a:latin typeface="Verdana" panose="020B0604030504040204" pitchFamily="34" charset="0"/>
              </a:endParaRPr>
            </a:p>
          </p:txBody>
        </p:sp>
        <p:sp>
          <p:nvSpPr>
            <p:cNvPr id="40" name="Line 54">
              <a:extLst>
                <a:ext uri="{FF2B5EF4-FFF2-40B4-BE49-F238E27FC236}">
                  <a16:creationId xmlns:a16="http://schemas.microsoft.com/office/drawing/2014/main" id="{C0443B0D-93A0-47A2-8613-FC2A2263BDB4}"/>
                </a:ext>
              </a:extLst>
            </p:cNvPr>
            <p:cNvSpPr>
              <a:spLocks noChangeShapeType="1"/>
            </p:cNvSpPr>
            <p:nvPr/>
          </p:nvSpPr>
          <p:spPr bwMode="auto">
            <a:xfrm>
              <a:off x="3264" y="2736"/>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1" name="Line 55">
              <a:extLst>
                <a:ext uri="{FF2B5EF4-FFF2-40B4-BE49-F238E27FC236}">
                  <a16:creationId xmlns:a16="http://schemas.microsoft.com/office/drawing/2014/main" id="{13AEED84-45CB-45CE-BFA4-BBB75FDA873A}"/>
                </a:ext>
              </a:extLst>
            </p:cNvPr>
            <p:cNvSpPr>
              <a:spLocks noChangeShapeType="1"/>
            </p:cNvSpPr>
            <p:nvPr/>
          </p:nvSpPr>
          <p:spPr bwMode="auto">
            <a:xfrm>
              <a:off x="4128" y="2880"/>
              <a:ext cx="0" cy="624"/>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2" name="Line 56">
              <a:extLst>
                <a:ext uri="{FF2B5EF4-FFF2-40B4-BE49-F238E27FC236}">
                  <a16:creationId xmlns:a16="http://schemas.microsoft.com/office/drawing/2014/main" id="{D143FCB2-EE48-46FC-8824-B23325BA3765}"/>
                </a:ext>
              </a:extLst>
            </p:cNvPr>
            <p:cNvSpPr>
              <a:spLocks noChangeShapeType="1"/>
            </p:cNvSpPr>
            <p:nvPr/>
          </p:nvSpPr>
          <p:spPr bwMode="auto">
            <a:xfrm>
              <a:off x="3264" y="3648"/>
              <a:ext cx="720" cy="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3" name="Line 60">
              <a:extLst>
                <a:ext uri="{FF2B5EF4-FFF2-40B4-BE49-F238E27FC236}">
                  <a16:creationId xmlns:a16="http://schemas.microsoft.com/office/drawing/2014/main" id="{C478561A-7257-4B8E-B70B-9B9E3AF53124}"/>
                </a:ext>
              </a:extLst>
            </p:cNvPr>
            <p:cNvSpPr>
              <a:spLocks noChangeShapeType="1"/>
            </p:cNvSpPr>
            <p:nvPr/>
          </p:nvSpPr>
          <p:spPr bwMode="auto">
            <a:xfrm flipH="1">
              <a:off x="3696" y="2832"/>
              <a:ext cx="288" cy="240"/>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4" name="Line 62">
              <a:extLst>
                <a:ext uri="{FF2B5EF4-FFF2-40B4-BE49-F238E27FC236}">
                  <a16:creationId xmlns:a16="http://schemas.microsoft.com/office/drawing/2014/main" id="{B2E8AB94-769A-47CA-9988-797325422CD6}"/>
                </a:ext>
              </a:extLst>
            </p:cNvPr>
            <p:cNvSpPr>
              <a:spLocks noChangeShapeType="1"/>
            </p:cNvSpPr>
            <p:nvPr/>
          </p:nvSpPr>
          <p:spPr bwMode="auto">
            <a:xfrm>
              <a:off x="4224" y="2784"/>
              <a:ext cx="240" cy="288"/>
            </a:xfrm>
            <a:prstGeom prst="line">
              <a:avLst/>
            </a:prstGeom>
            <a:noFill/>
            <a:ln w="158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45" name="Text Box 65">
              <a:extLst>
                <a:ext uri="{FF2B5EF4-FFF2-40B4-BE49-F238E27FC236}">
                  <a16:creationId xmlns:a16="http://schemas.microsoft.com/office/drawing/2014/main" id="{167177C9-3FAE-4645-8AE8-2AD6CDE40A6C}"/>
                </a:ext>
              </a:extLst>
            </p:cNvPr>
            <p:cNvSpPr txBox="1">
              <a:spLocks noChangeArrowheads="1"/>
            </p:cNvSpPr>
            <p:nvPr/>
          </p:nvSpPr>
          <p:spPr bwMode="auto">
            <a:xfrm>
              <a:off x="3648" y="2745"/>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11</a:t>
              </a:r>
              <a:endParaRPr lang="en-US" altLang="en-US" sz="2000">
                <a:latin typeface="Verdana" panose="020B0604030504040204" pitchFamily="34" charset="0"/>
              </a:endParaRPr>
            </a:p>
          </p:txBody>
        </p:sp>
        <p:sp>
          <p:nvSpPr>
            <p:cNvPr id="46" name="Text Box 68">
              <a:extLst>
                <a:ext uri="{FF2B5EF4-FFF2-40B4-BE49-F238E27FC236}">
                  <a16:creationId xmlns:a16="http://schemas.microsoft.com/office/drawing/2014/main" id="{0A6164E3-7592-42D7-A32E-1FB51691400D}"/>
                </a:ext>
              </a:extLst>
            </p:cNvPr>
            <p:cNvSpPr txBox="1">
              <a:spLocks noChangeArrowheads="1"/>
            </p:cNvSpPr>
            <p:nvPr/>
          </p:nvSpPr>
          <p:spPr bwMode="auto">
            <a:xfrm>
              <a:off x="3504" y="345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18</a:t>
              </a:r>
              <a:endParaRPr lang="en-US" altLang="en-US" sz="2000">
                <a:latin typeface="Verdana" panose="020B0604030504040204" pitchFamily="34" charset="0"/>
              </a:endParaRPr>
            </a:p>
          </p:txBody>
        </p:sp>
        <p:sp>
          <p:nvSpPr>
            <p:cNvPr id="47" name="Text Box 70">
              <a:extLst>
                <a:ext uri="{FF2B5EF4-FFF2-40B4-BE49-F238E27FC236}">
                  <a16:creationId xmlns:a16="http://schemas.microsoft.com/office/drawing/2014/main" id="{00FAF8AD-0DCC-4EE3-BA8F-F533CA5E8067}"/>
                </a:ext>
              </a:extLst>
            </p:cNvPr>
            <p:cNvSpPr txBox="1">
              <a:spLocks noChangeArrowheads="1"/>
            </p:cNvSpPr>
            <p:nvPr/>
          </p:nvSpPr>
          <p:spPr bwMode="auto">
            <a:xfrm>
              <a:off x="4272" y="273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6</a:t>
              </a:r>
              <a:endParaRPr lang="en-US" altLang="en-US" sz="2000">
                <a:latin typeface="Verdana" panose="020B0604030504040204" pitchFamily="34" charset="0"/>
              </a:endParaRPr>
            </a:p>
          </p:txBody>
        </p:sp>
        <p:sp>
          <p:nvSpPr>
            <p:cNvPr id="48" name="Text Box 71">
              <a:extLst>
                <a:ext uri="{FF2B5EF4-FFF2-40B4-BE49-F238E27FC236}">
                  <a16:creationId xmlns:a16="http://schemas.microsoft.com/office/drawing/2014/main" id="{C2EB975F-FA85-4136-ABBC-B89BCFF791A5}"/>
                </a:ext>
              </a:extLst>
            </p:cNvPr>
            <p:cNvSpPr txBox="1">
              <a:spLocks noChangeArrowheads="1"/>
            </p:cNvSpPr>
            <p:nvPr/>
          </p:nvSpPr>
          <p:spPr bwMode="auto">
            <a:xfrm>
              <a:off x="3936" y="2976"/>
              <a:ext cx="33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1800">
                  <a:latin typeface="Verdana" panose="020B0604030504040204" pitchFamily="34" charset="0"/>
                </a:rPr>
                <a:t>5</a:t>
              </a:r>
              <a:endParaRPr lang="en-US" altLang="en-US" sz="2000">
                <a:latin typeface="Verdana" panose="020B0604030504040204" pitchFamily="34" charset="0"/>
              </a:endParaRPr>
            </a:p>
          </p:txBody>
        </p:sp>
        <p:sp>
          <p:nvSpPr>
            <p:cNvPr id="49" name="Rectangle 73">
              <a:extLst>
                <a:ext uri="{FF2B5EF4-FFF2-40B4-BE49-F238E27FC236}">
                  <a16:creationId xmlns:a16="http://schemas.microsoft.com/office/drawing/2014/main" id="{9346D727-AF20-42E7-B99C-9F62C6268A49}"/>
                </a:ext>
              </a:extLst>
            </p:cNvPr>
            <p:cNvSpPr>
              <a:spLocks noChangeArrowheads="1"/>
            </p:cNvSpPr>
            <p:nvPr/>
          </p:nvSpPr>
          <p:spPr bwMode="auto">
            <a:xfrm>
              <a:off x="2798" y="3782"/>
              <a:ext cx="2098"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rPr>
                <a:t>A minimum-cost spanning tree</a:t>
              </a:r>
            </a:p>
          </p:txBody>
        </p:sp>
      </p:grpSp>
    </p:spTree>
    <p:extLst>
      <p:ext uri="{BB962C8B-B14F-4D97-AF65-F5344CB8AC3E}">
        <p14:creationId xmlns:p14="http://schemas.microsoft.com/office/powerpoint/2010/main" val="248528414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 calcmode="lin" valueType="num">
                                      <p:cBhvr additive="base">
                                        <p:cTn id="12" dur="500" fill="hold"/>
                                        <p:tgtEl>
                                          <p:spTgt spid="32"/>
                                        </p:tgtEl>
                                        <p:attrNameLst>
                                          <p:attrName>ppt_x</p:attrName>
                                        </p:attrNameLst>
                                      </p:cBhvr>
                                      <p:tavLst>
                                        <p:tav tm="0">
                                          <p:val>
                                            <p:strVal val="#ppt_x"/>
                                          </p:val>
                                        </p:tav>
                                        <p:tav tm="100000">
                                          <p:val>
                                            <p:strVal val="#ppt_x"/>
                                          </p:val>
                                        </p:tav>
                                      </p:tavLst>
                                    </p:anim>
                                    <p:anim calcmode="lin" valueType="num">
                                      <p:cBhvr additive="base">
                                        <p:cTn id="13"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N(A) = \bigcup_{v \in A} N(v).$&#10;&#10;&#10;\end{document}"/>
  <p:tag name="IGUANATEXSIZE" val="20"/>
</p:tagLst>
</file>

<file path=ppt/tags/tag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 &#10;2m = \sum_{v \in V} \mbox{deg}(v) = \sum_{v \in V_1} \mbox{deg}(v) + \sum_{v \in V_2} \mbox{deg}(v).&#10;$$&#10;&#10;&#10;\end{document}"/>
  <p:tag name="IGUANATEXSIZE" val="20"/>
</p:tagLst>
</file>

<file path=ppt/tags/tag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 |E| = \sum_{v \in V} deg^{-}(v) = \sum_{v \in V}deg^{+}(v).$$&#10;&#10;\end{document}"/>
  <p:tag name="IGUANATEXSIZE" val="30"/>
</p:tagLst>
</file>

<file path=ppt/tags/tag4.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ij} = \left\{\begin{array}{ll}&#10;1 &amp; \mbox{if} \; \{v_i, v_j\}\; \mbox{is an edge of }\; G,\\&#10;0 &amp; \mbox{otherwise}.\\&#10;\end{array}&#10;\right.&#10;$$&#10;&#10;&#10;\end{document}"/>
  <p:tag name="IGUANATEXSIZE" val="20"/>
</p:tagLst>
</file>

<file path=ppt/tags/tag5.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1\\&#10;1 &amp; 0 &amp; 1 &amp; 0\\&#10;1 &amp; 1 &amp; 0 &amp; 0\\&#10;1 &amp; 0 &amp; 0&amp; 0\\ &#10;&#10;\end{array}&#10;\right]&#10;$$&#10;&#10;&#10;\end{document}"/>
  <p:tag name="IGUANATEXSIZE" val="15"/>
</p:tagLst>
</file>

<file path=ppt/tags/tag6.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0\\&#10;1 &amp; 0 &amp; 0 &amp; 1\\&#10;1 &amp; 0 &amp; 0 &amp; 1\\&#10;0 &amp; 1 &amp; 1&amp; 0\\ &#10;&#10;\end{array}&#10;\right]&#10;$$&#10;&#10;&#10;\end{document}"/>
  <p:tag name="IGUANATEXSIZE" val="15"/>
</p:tagLst>
</file>

<file path=ppt/tags/tag7.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3 &amp; 0 &amp;2\\&#10;3 &amp; 0 &amp; 1 &amp; 1\\&#10;0 &amp; 1 &amp; 1 &amp; 2\\&#10;2 &amp; 1 &amp; 2&amp; 0\\ &#10;&#10;\end{array}&#10;\right]&#10;$$&#10;&#10;&#10;\end{document}"/>
  <p:tag name="IGUANATEXSIZE" val="15"/>
</p:tagLst>
</file>

<file path=ppt/tags/tag8.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a_{ij} = \left\{\begin{array}{ll}&#10;1 &amp; \mbox{if} \; \{v_i, v_j\}\; \mbox{is an edge of }\; G,\\&#10;0 &amp; \mbox{otherwise}.\\&#10;\end{array}&#10;\right.&#10;$$&#10;&#10;&#10;\end{document}"/>
  <p:tag name="IGUANATEXSIZE" val="20"/>
</p:tagLst>
</file>

<file path=ppt/tags/tag9.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ll}&#10;1 &amp; 1 &amp; 0 &amp;0 &amp; 0 &amp;0\\&#10;0 &amp; 0 &amp; 1 &amp; 1 &amp; 0 &amp; 1\\&#10;0 &amp; 0 &amp; 0 &amp; 0&amp; 1 &amp; 1\\&#10;1 &amp; 0 &amp; 1 &amp; 0&amp; 0 &amp; 0 \\&#10;0 &amp; 1 &amp; 0&amp; 1&amp; 1&amp; 0\\ &#10;&#10;\end{array}&#10;\right]&#10;$$&#10;&#10;&#10;\end{document}"/>
  <p:tag name="IGUANATEXSIZE" val="15"/>
</p:tagLst>
</file>

<file path=ppt/tags/tag10.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llll}&#10;1 &amp; 1 &amp; 1 &amp;0 &amp; 0 &amp;0&amp; 0 &amp; 0\\&#10;0 &amp; 1 &amp; 1 &amp; 1 &amp; 0 &amp; 1&amp; 1 &amp; 0\\&#10;0 &amp; 0 &amp; 0 &amp; 1&amp; 1 &amp; 0 &amp; 0 &amp; 0\\&#10;0 &amp; 0 &amp; 0 &amp; 0&amp; 0 &amp; 0 &amp; 1 &amp; 1\\&#10;0 &amp; 0 &amp; 0&amp; 0&amp; 1&amp; 1&amp; 0 &amp;0\\ &#10;&#10;\end{array}&#10;\right]&#10;$$&#10;&#10;&#10;\end{document}"/>
  <p:tag name="IGUANATEXSIZE" val="15"/>
</p:tagLst>
</file>

<file path=ppt/tags/tag11.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m_{ij} = \left\{\begin{array}{ll}&#10;1 &amp; \mbox{when edge } e_j\; \mbox{is incident with }\; v_i,\\&#10;0 &amp; \mbox{otherwise}.\\&#10;\end{array}&#10;\right.&#10;$$&#10;&#10;&#10;\end{document}"/>
  <p:tag name="IGUANATEXSIZE" val="20"/>
</p:tagLst>
</file>

<file path=ppt/tags/tag12.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0 &amp; 1 &amp; 1 &amp;0\\&#10;1 &amp; 0 &amp; 0 &amp; 1\\&#10;1 &amp; 0 &amp; 0 &amp; 1\\&#10;0 &amp; 1 &amp; 1&amp; 0\\ &#10;&#10;\end{array}&#10;\right]&#10;$$&#10;&#10;&#10;\end{document}"/>
  <p:tag name="IGUANATEXSIZE" val="15"/>
</p:tagLst>
</file>

<file path=ppt/tags/tag13.xml><?xml version="1.0" encoding="utf-8"?>
<p:tagLst xmlns:a="http://schemas.openxmlformats.org/drawingml/2006/main" xmlns:r="http://schemas.openxmlformats.org/officeDocument/2006/relationships" xmlns:p="http://schemas.openxmlformats.org/presentationml/2006/main">
  <p:tag name="LATEXADDIN" val="\documentclass{article}&#10;\usepackage{amsmath}&#10;\pagestyle{empty}&#10;\begin{document}&#10;&#10;$$&#10;\left[&#10;\begin{array}{llll}&#10;8 &amp; 0 &amp;0 &amp;8\\&#10;0 &amp; 8 &amp; 8 &amp; 0\\&#10;0 &amp; 8 &amp; 8 &amp; 0\\&#10;8 &amp; 0 &amp; 0&amp; 8\\ &#10;&#10;\end{array}&#10;\right]&#10;$$&#10;&#10;&#10;\end{document}"/>
  <p:tag name="IGUANATEXSIZE" val="15"/>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19010</TotalTime>
  <Words>9174</Words>
  <Application>Microsoft Macintosh PowerPoint</Application>
  <PresentationFormat>On-screen Show (4:3)</PresentationFormat>
  <Paragraphs>1283</Paragraphs>
  <Slides>131</Slides>
  <Notes>33</Notes>
  <HiddenSlides>0</HiddenSlides>
  <MMClips>0</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131</vt:i4>
      </vt:variant>
    </vt:vector>
  </HeadingPairs>
  <TitlesOfParts>
    <vt:vector size="144" baseType="lpstr">
      <vt:lpstr>Arial</vt:lpstr>
      <vt:lpstr>Book Antiqua</vt:lpstr>
      <vt:lpstr>Calibri</vt:lpstr>
      <vt:lpstr>Cambria</vt:lpstr>
      <vt:lpstr>Cambria Math</vt:lpstr>
      <vt:lpstr>Constantia</vt:lpstr>
      <vt:lpstr>Symbol</vt:lpstr>
      <vt:lpstr>Times New Roman</vt:lpstr>
      <vt:lpstr>urw-din</vt:lpstr>
      <vt:lpstr>Verdana</vt:lpstr>
      <vt:lpstr>Wingdings 2</vt:lpstr>
      <vt:lpstr>Flow</vt:lpstr>
      <vt:lpstr>Equation</vt:lpstr>
      <vt:lpstr>Unit-VI- Graphs and Trees</vt:lpstr>
      <vt:lpstr>PART I- GRAPHS AND THEIR TERMINOLOGIES</vt:lpstr>
      <vt:lpstr>Disclaimer </vt:lpstr>
      <vt:lpstr>Outline</vt:lpstr>
      <vt:lpstr>Topics for Self Study</vt:lpstr>
      <vt:lpstr>Introduction and Motivation</vt:lpstr>
      <vt:lpstr>Graph Models:  Computer Networks (continued)</vt:lpstr>
      <vt:lpstr>Introduction and Motivation</vt:lpstr>
      <vt:lpstr>Introduction and Motivation </vt:lpstr>
      <vt:lpstr>Graph Terminology</vt:lpstr>
      <vt:lpstr>Graph Terminology</vt:lpstr>
      <vt:lpstr>Directed Graphs</vt:lpstr>
      <vt:lpstr>Some Terminology (continued)</vt:lpstr>
      <vt:lpstr>Basic Terminology</vt:lpstr>
      <vt:lpstr>Degrees and Neighborhoods of Vertices</vt:lpstr>
      <vt:lpstr>Degrees of Vertices</vt:lpstr>
      <vt:lpstr>Handshaking Theorem</vt:lpstr>
      <vt:lpstr>Degree of Vertices (continued)</vt:lpstr>
      <vt:lpstr>Directed Graphs and relations</vt:lpstr>
      <vt:lpstr>Directed Graphs (continued)</vt:lpstr>
      <vt:lpstr>Directed Graphs (continued)</vt:lpstr>
      <vt:lpstr>Special Types of Simple Graphs: Complete Graphs</vt:lpstr>
      <vt:lpstr>Special Types of Simple Graphs: Cycles and Wheels</vt:lpstr>
      <vt:lpstr>Bipartite Graphs</vt:lpstr>
      <vt:lpstr>Bipartite Graphs (continued)</vt:lpstr>
      <vt:lpstr>Complete Bipartite Graphs</vt:lpstr>
      <vt:lpstr>Bipartite Graphs and Matchings</vt:lpstr>
      <vt:lpstr>PowerPoint Presentation</vt:lpstr>
      <vt:lpstr>New Graphs from Old </vt:lpstr>
      <vt:lpstr>Isomorphism of Graphs</vt:lpstr>
      <vt:lpstr>Isomorphism of Graphs (cont.)</vt:lpstr>
      <vt:lpstr>Isomorphism of Graphs (cont.)</vt:lpstr>
      <vt:lpstr>Isomorphism of Graphs (cont.)</vt:lpstr>
      <vt:lpstr>Representing Graphs:  Adjacency Lists</vt:lpstr>
      <vt:lpstr>Representation of Graphs: Adjacency Matrices</vt:lpstr>
      <vt:lpstr>Adjacency Matrices (continued)</vt:lpstr>
      <vt:lpstr>Adjacency Matrices (continued)</vt:lpstr>
      <vt:lpstr>Adjacency Matrices (continued)</vt:lpstr>
      <vt:lpstr>Incidence Matrices (continued)</vt:lpstr>
      <vt:lpstr>Representation of Graphs: Incidence Matrices</vt:lpstr>
      <vt:lpstr>New Graphs from Old (continued)</vt:lpstr>
      <vt:lpstr>PowerPoint Presentation</vt:lpstr>
      <vt:lpstr>PowerPoint Presentation</vt:lpstr>
      <vt:lpstr>PowerPoint Presentation</vt:lpstr>
      <vt:lpstr>PowerPoint Presentation</vt:lpstr>
      <vt:lpstr>Paths and Circuits</vt:lpstr>
      <vt:lpstr>Paths</vt:lpstr>
      <vt:lpstr>Paths (continued)</vt:lpstr>
      <vt:lpstr>Connectedness in Undirected Graphs</vt:lpstr>
      <vt:lpstr>Connected Components</vt:lpstr>
      <vt:lpstr>Connectedness in Directed Graphs</vt:lpstr>
      <vt:lpstr>Connectedness in Directed Graphs (continued)</vt:lpstr>
      <vt:lpstr>Counting Paths between Vertices (continued)</vt:lpstr>
      <vt:lpstr>Euler Paths and Circuits</vt:lpstr>
      <vt:lpstr>Euler Paths and Circuits (continued)</vt:lpstr>
      <vt:lpstr>Necessary Conditions for Euler Circuits and Paths</vt:lpstr>
      <vt:lpstr>Sufficient Conditions for Euler Circuits and Paths</vt:lpstr>
      <vt:lpstr>Sufficient Conditions for Euler Circuits and Paths (continued)</vt:lpstr>
      <vt:lpstr>Necessary and Sufficient Conditions for Euler Circuits and Paths (continued)</vt:lpstr>
      <vt:lpstr>Euler Circuits and Paths </vt:lpstr>
      <vt:lpstr>Applications of Euler Paths and Circuits</vt:lpstr>
      <vt:lpstr>Hamilton Paths and Circuits</vt:lpstr>
      <vt:lpstr>Hamilton Paths and Circuits</vt:lpstr>
      <vt:lpstr>Hamilton Paths and Circuits (continued)</vt:lpstr>
      <vt:lpstr>Necessary Conditions for Hamilton Circuits</vt:lpstr>
      <vt:lpstr>Applications of Hamilton Paths and Circuits</vt:lpstr>
      <vt:lpstr>Planar Graphs</vt:lpstr>
      <vt:lpstr>Planar Graphs</vt:lpstr>
      <vt:lpstr>Planar Graphs</vt:lpstr>
      <vt:lpstr>Corollary 1</vt:lpstr>
      <vt:lpstr>Corollary 2</vt:lpstr>
      <vt:lpstr>Examples</vt:lpstr>
      <vt:lpstr>Kuratwoski’s Theorm</vt:lpstr>
      <vt:lpstr>PART-II TREES </vt:lpstr>
      <vt:lpstr>Definition:</vt:lpstr>
      <vt:lpstr>PowerPoint Presentation</vt:lpstr>
      <vt:lpstr>Tournament Trees</vt:lpstr>
      <vt:lpstr>A Family Tree</vt:lpstr>
      <vt:lpstr>Ancestor Tree</vt:lpstr>
      <vt:lpstr>Forest</vt:lpstr>
      <vt:lpstr>Theorem</vt:lpstr>
      <vt:lpstr>Rooted Trees</vt:lpstr>
      <vt:lpstr>Rooted Trees</vt:lpstr>
      <vt:lpstr>PowerPoint Presentation</vt:lpstr>
      <vt:lpstr>PowerPoint Presentation</vt:lpstr>
      <vt:lpstr>PowerPoint Presentation</vt:lpstr>
      <vt:lpstr>m-ary trees</vt:lpstr>
      <vt:lpstr>PowerPoint Presentation</vt:lpstr>
      <vt:lpstr>Ordered Rooted Tree</vt:lpstr>
      <vt:lpstr>Properties of Trees</vt:lpstr>
      <vt:lpstr>Properties of Trees</vt:lpstr>
      <vt:lpstr>Properties of Trees</vt:lpstr>
      <vt:lpstr>Properties of Trees</vt:lpstr>
      <vt:lpstr>Properties of Trees</vt:lpstr>
      <vt:lpstr>Properties of Trees</vt:lpstr>
      <vt:lpstr>Properties of Trees</vt:lpstr>
      <vt:lpstr>Properties of Trees</vt:lpstr>
      <vt:lpstr>Proof</vt:lpstr>
      <vt:lpstr>APPLICATIONS OF TREES</vt:lpstr>
      <vt:lpstr>Encoding messages </vt:lpstr>
      <vt:lpstr>Problems</vt:lpstr>
      <vt:lpstr>Drawbacks of fixed-length codes</vt:lpstr>
      <vt:lpstr>Advantages of variable-length codes</vt:lpstr>
      <vt:lpstr>Prefix property</vt:lpstr>
      <vt:lpstr>Code without prefix property</vt:lpstr>
      <vt:lpstr>Problem</vt:lpstr>
      <vt:lpstr>Encoded message</vt:lpstr>
      <vt:lpstr>Another possible code</vt:lpstr>
      <vt:lpstr>Better code</vt:lpstr>
      <vt:lpstr>What code to use?</vt:lpstr>
      <vt:lpstr>Huffman coding tree</vt:lpstr>
      <vt:lpstr>Building a Huffman tree</vt:lpstr>
      <vt:lpstr>Example</vt:lpstr>
      <vt:lpstr>Step 1</vt:lpstr>
      <vt:lpstr>Step 2</vt:lpstr>
      <vt:lpstr>Step 3</vt:lpstr>
      <vt:lpstr>Step 4</vt:lpstr>
      <vt:lpstr>Step 5</vt:lpstr>
      <vt:lpstr>Step 6</vt:lpstr>
      <vt:lpstr>Step 7</vt:lpstr>
      <vt:lpstr>Step 8</vt:lpstr>
      <vt:lpstr>Label edges</vt:lpstr>
      <vt:lpstr>Huffman code &amp; encoded message</vt:lpstr>
      <vt:lpstr>Spanning trees</vt:lpstr>
      <vt:lpstr>Finding a spanning tree</vt:lpstr>
      <vt:lpstr>Minimizing costs</vt:lpstr>
      <vt:lpstr>Minimum-cost spanning trees</vt:lpstr>
      <vt:lpstr>Finding spanning trees</vt:lpstr>
      <vt:lpstr>Kruskal’s algorithm</vt:lpstr>
      <vt:lpstr>Prim’s algorithm</vt:lpstr>
      <vt:lpstr>Example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Induction and recursion</dc:title>
  <dc:creator>Richard Scherl</dc:creator>
  <cp:lastModifiedBy>khushpithva@gmail.com</cp:lastModifiedBy>
  <cp:revision>777</cp:revision>
  <dcterms:created xsi:type="dcterms:W3CDTF">2011-03-27T19:58:04Z</dcterms:created>
  <dcterms:modified xsi:type="dcterms:W3CDTF">2025-11-16T11:11:58Z</dcterms:modified>
</cp:coreProperties>
</file>