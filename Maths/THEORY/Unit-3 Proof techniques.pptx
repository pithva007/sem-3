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6" r:id="rId2"/>
    <p:sldId id="300" r:id="rId3"/>
    <p:sldId id="271" r:id="rId4"/>
    <p:sldId id="270" r:id="rId5"/>
    <p:sldId id="301" r:id="rId6"/>
    <p:sldId id="273" r:id="rId7"/>
    <p:sldId id="302" r:id="rId8"/>
    <p:sldId id="275" r:id="rId9"/>
    <p:sldId id="274" r:id="rId10"/>
    <p:sldId id="276" r:id="rId11"/>
    <p:sldId id="277" r:id="rId12"/>
    <p:sldId id="285" r:id="rId13"/>
    <p:sldId id="278" r:id="rId14"/>
    <p:sldId id="281" r:id="rId15"/>
    <p:sldId id="296" r:id="rId16"/>
    <p:sldId id="282" r:id="rId17"/>
    <p:sldId id="286" r:id="rId18"/>
    <p:sldId id="293" r:id="rId19"/>
    <p:sldId id="303" r:id="rId20"/>
    <p:sldId id="290" r:id="rId21"/>
    <p:sldId id="291" r:id="rId22"/>
    <p:sldId id="292" r:id="rId23"/>
    <p:sldId id="304" r:id="rId2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E5"/>
    <a:srgbClr val="FBF1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8" autoAdjust="0"/>
  </p:normalViewPr>
  <p:slideViewPr>
    <p:cSldViewPr>
      <p:cViewPr varScale="1">
        <p:scale>
          <a:sx n="62" d="100"/>
          <a:sy n="62" d="100"/>
        </p:scale>
        <p:origin x="1424" y="44"/>
      </p:cViewPr>
      <p:guideLst>
        <p:guide orient="horz" pos="2160"/>
        <p:guide pos="2880"/>
      </p:guideLst>
    </p:cSldViewPr>
  </p:slideViewPr>
  <p:outlineViewPr>
    <p:cViewPr>
      <p:scale>
        <a:sx n="33" d="100"/>
        <a:sy n="33" d="100"/>
      </p:scale>
      <p:origin x="0" y="-341"/>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F9B95816-F61B-4E05-B3F8-36ED5A9EFAD6}" type="datetimeFigureOut">
              <a:rPr lang="en-US" smtClean="0"/>
              <a:pPr/>
              <a:t>12/6/2023</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BDA282CF-2E79-40F0-B4FA-66CBAFF0F8A5}" type="slidenum">
              <a:rPr lang="en-US" smtClean="0"/>
              <a:pPr/>
              <a:t>‹#›</a:t>
            </a:fld>
            <a:endParaRPr lang="en-US"/>
          </a:p>
        </p:txBody>
      </p:sp>
    </p:spTree>
    <p:extLst>
      <p:ext uri="{BB962C8B-B14F-4D97-AF65-F5344CB8AC3E}">
        <p14:creationId xmlns:p14="http://schemas.microsoft.com/office/powerpoint/2010/main" val="617440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1219200" y="2569465"/>
            <a:ext cx="7315200" cy="213359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2057400" y="3200400"/>
            <a:ext cx="5715000" cy="1371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a:t>Click to edit Master subtitle style</a:t>
            </a:r>
          </a:p>
        </p:txBody>
      </p:sp>
      <p:sp>
        <p:nvSpPr>
          <p:cNvPr id="28" name="Date Placeholder 27"/>
          <p:cNvSpPr>
            <a:spLocks noGrp="1"/>
          </p:cNvSpPr>
          <p:nvPr>
            <p:ph type="dt" sz="half" idx="10"/>
          </p:nvPr>
        </p:nvSpPr>
        <p:spPr/>
        <p:txBody>
          <a:bodyPr/>
          <a:lstStyle/>
          <a:p>
            <a:fld id="{8E149BD4-7D0E-4010-9255-0C69C0AC7FA5}" type="datetime1">
              <a:rPr lang="en-US" smtClean="0"/>
              <a:t>12/6/2023</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472940" y="6167008"/>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562856" y="628669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559808" y="6276340"/>
            <a:ext cx="457200" cy="441325"/>
          </a:xfrm>
          <a:prstGeom prst="rect">
            <a:avLst/>
          </a:prstGeom>
        </p:spPr>
        <p:txBody>
          <a:bodyPr/>
          <a:lstStyle>
            <a:lvl1pPr>
              <a:defRPr>
                <a:solidFill>
                  <a:schemeClr val="accent3">
                    <a:shade val="75000"/>
                  </a:schemeClr>
                </a:solidFill>
              </a:defRPr>
            </a:lvl1pPr>
          </a:lstStyle>
          <a:p>
            <a:fld id="{3D0D8AA9-AE61-49D3-AE4E-15A81A7BE0AE}" type="slidenum">
              <a:rPr lang="en-US" smtClean="0"/>
              <a:pPr/>
              <a:t>‹#›</a:t>
            </a:fld>
            <a:endParaRPr lang="en-US"/>
          </a:p>
        </p:txBody>
      </p:sp>
      <p:sp>
        <p:nvSpPr>
          <p:cNvPr id="8" name="Title 7"/>
          <p:cNvSpPr>
            <a:spLocks noGrp="1"/>
          </p:cNvSpPr>
          <p:nvPr>
            <p:ph type="ctrTitle"/>
          </p:nvPr>
        </p:nvSpPr>
        <p:spPr>
          <a:xfrm>
            <a:off x="1702308" y="783442"/>
            <a:ext cx="6172200" cy="1308496"/>
          </a:xfrm>
        </p:spPr>
        <p:txBody>
          <a:bodyPr anchor="b"/>
          <a:lstStyle>
            <a:lvl1pPr>
              <a:defRPr sz="4200">
                <a:solidFill>
                  <a:schemeClr val="accent1"/>
                </a:solidFill>
              </a:defRPr>
            </a:lvl1pPr>
          </a:lstStyle>
          <a:p>
            <a:r>
              <a:rPr kumimoji="0" lang="en-US" dirty="0"/>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E0C6C5FC-EE47-4812-9AD0-9E85A2405657}"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81500" y="6221633"/>
            <a:ext cx="457200" cy="441325"/>
          </a:xfrm>
          <a:prstGeom prst="rect">
            <a:avLst/>
          </a:prstGeom>
        </p:spPr>
        <p:txBody>
          <a:bodyPr/>
          <a:lstStyle/>
          <a:p>
            <a:fld id="{3D0D8AA9-AE61-49D3-AE4E-15A81A7BE0AE}" type="slidenum">
              <a:rPr lang="en-US" smtClean="0"/>
              <a:pPr/>
              <a:t>‹#›</a:t>
            </a:fld>
            <a:endParaRPr lang="en-US" dirty="0"/>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a:t>Click to edit Master title style</a:t>
            </a:r>
          </a:p>
        </p:txBody>
      </p:sp>
      <p:sp>
        <p:nvSpPr>
          <p:cNvPr id="5" name="Date Placeholder 4"/>
          <p:cNvSpPr>
            <a:spLocks noGrp="1"/>
          </p:cNvSpPr>
          <p:nvPr>
            <p:ph type="dt" sz="half" idx="10"/>
          </p:nvPr>
        </p:nvSpPr>
        <p:spPr>
          <a:xfrm>
            <a:off x="5791200" y="6409944"/>
            <a:ext cx="3044952" cy="365760"/>
          </a:xfrm>
        </p:spPr>
        <p:txBody>
          <a:bodyPr/>
          <a:lstStyle/>
          <a:p>
            <a:fld id="{66818658-61E8-4599-AD58-4A0D22743136}"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341181" y="1038688"/>
            <a:ext cx="459419" cy="442812"/>
          </a:xfrm>
          <a:prstGeom prst="rect">
            <a:avLst/>
          </a:prstGeom>
        </p:spPr>
        <p:txBody>
          <a:bodyPr/>
          <a:lstStyle/>
          <a:p>
            <a:fld id="{3D0D8AA9-AE61-49D3-AE4E-15A81A7BE0AE}"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00200" y="381000"/>
            <a:ext cx="6251448" cy="6858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fld id="{421DABAD-6372-404F-9B91-F2C6716F6B02}" type="datetime1">
              <a:rPr lang="en-US" smtClean="0"/>
              <a:t>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419600" y="6236647"/>
            <a:ext cx="457200" cy="441325"/>
          </a:xfrm>
          <a:prstGeom prst="rect">
            <a:avLst/>
          </a:prstGeom>
        </p:spPr>
        <p:txBody>
          <a:bodyPr/>
          <a:lstStyle/>
          <a:p>
            <a:fld id="{3D0D8AA9-AE61-49D3-AE4E-15A81A7BE0A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56B4513A-AB1D-4428-B12E-5B2B72876890}" type="datetime1">
              <a:rPr lang="en-US" smtClean="0"/>
              <a:t>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a:prstGeom prst="rect">
            <a:avLst/>
          </a:prstGeom>
        </p:spPr>
        <p:txBody>
          <a:bodyPr/>
          <a:lstStyle>
            <a:lvl1pPr>
              <a:defRPr>
                <a:solidFill>
                  <a:srgbClr val="FFFFFF"/>
                </a:solidFill>
              </a:defRPr>
            </a:lvl1pPr>
          </a:lstStyle>
          <a:p>
            <a:fld id="{3D0D8AA9-AE61-49D3-AE4E-15A81A7BE0A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6F1E7B4-FE79-4EA5-A2B0-14E8622C5960}" type="datetime1">
              <a:rPr lang="en-US" smtClean="0"/>
              <a:t>12/6/2023</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userDrawn="1"/>
        </p:nvSpPr>
        <p:spPr>
          <a:xfrm>
            <a:off x="4374383" y="616068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userDrawn="1"/>
        </p:nvSpPr>
        <p:spPr>
          <a:xfrm>
            <a:off x="4456176" y="627175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428744" y="6233519"/>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D0D8AA9-AE61-49D3-AE4E-15A81A7BE0AE}" type="slidenum">
              <a:rPr lang="en-US" smtClean="0"/>
              <a:pPr/>
              <a:t>‹#›</a:t>
            </a:fld>
            <a:endParaRPr lang="en-US" dirty="0"/>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عنوان فرعي 2"/>
          <p:cNvSpPr txBox="1">
            <a:spLocks/>
          </p:cNvSpPr>
          <p:nvPr/>
        </p:nvSpPr>
        <p:spPr>
          <a:xfrm>
            <a:off x="1600200" y="2895600"/>
            <a:ext cx="6552728" cy="1512168"/>
          </a:xfrm>
          <a:prstGeom prst="rect">
            <a:avLst/>
          </a:prstGeom>
        </p:spPr>
        <p:txBody>
          <a:bodyPr vert="horz">
            <a:normAutofit fontScale="70000" lnSpcReduction="20000"/>
          </a:bodyPr>
          <a:lstStyle>
            <a:lvl1pPr marL="0" indent="0" algn="ctr" rtl="0" eaLnBrk="1" latinLnBrk="0" hangingPunct="1">
              <a:spcBef>
                <a:spcPct val="20000"/>
              </a:spcBef>
              <a:buClr>
                <a:schemeClr val="accent1"/>
              </a:buClr>
              <a:buSzPct val="85000"/>
              <a:buFont typeface="Wingdings 2"/>
              <a:buNone/>
              <a:defRPr kumimoji="0" sz="1600" b="1" kern="1200" cap="all" spc="250" baseline="0">
                <a:solidFill>
                  <a:schemeClr val="tx2"/>
                </a:solidFill>
                <a:latin typeface="+mn-lt"/>
                <a:ea typeface="+mn-ea"/>
                <a:cs typeface="+mn-cs"/>
              </a:defRPr>
            </a:lvl1pPr>
            <a:lvl2pPr marL="457200" indent="0" algn="ctr" rtl="0" eaLnBrk="1" latinLnBrk="0" hangingPunct="1">
              <a:spcBef>
                <a:spcPct val="20000"/>
              </a:spcBef>
              <a:buClr>
                <a:schemeClr val="accent2"/>
              </a:buClr>
              <a:buSzPct val="70000"/>
              <a:buFont typeface="Wingdings"/>
              <a:buNone/>
              <a:defRPr kumimoji="0" sz="2200" kern="1200">
                <a:solidFill>
                  <a:schemeClr val="tx2"/>
                </a:solidFill>
                <a:latin typeface="+mn-lt"/>
                <a:ea typeface="+mn-ea"/>
                <a:cs typeface="+mn-cs"/>
              </a:defRPr>
            </a:lvl2pPr>
            <a:lvl3pPr marL="914400" indent="0" algn="ctr" rtl="0" eaLnBrk="1" latinLnBrk="0" hangingPunct="1">
              <a:spcBef>
                <a:spcPct val="20000"/>
              </a:spcBef>
              <a:buClr>
                <a:schemeClr val="accent3"/>
              </a:buClr>
              <a:buSzPct val="75000"/>
              <a:buFont typeface="Wingdings 2"/>
              <a:buNone/>
              <a:defRPr kumimoji="0" sz="2000" kern="1200">
                <a:solidFill>
                  <a:schemeClr val="tx1"/>
                </a:solidFill>
                <a:latin typeface="+mn-lt"/>
                <a:ea typeface="+mn-ea"/>
                <a:cs typeface="+mn-cs"/>
              </a:defRPr>
            </a:lvl3pPr>
            <a:lvl4pPr marL="1371600" indent="0" algn="ctr" rtl="0" eaLnBrk="1" latinLnBrk="0" hangingPunct="1">
              <a:spcBef>
                <a:spcPct val="20000"/>
              </a:spcBef>
              <a:buClr>
                <a:schemeClr val="accent4"/>
              </a:buClr>
              <a:buSzPct val="70000"/>
              <a:buFont typeface="Wingdings"/>
              <a:buNone/>
              <a:defRPr kumimoji="0" sz="2000" kern="1200">
                <a:solidFill>
                  <a:schemeClr val="tx2"/>
                </a:solidFill>
                <a:latin typeface="+mn-lt"/>
                <a:ea typeface="+mn-ea"/>
                <a:cs typeface="+mn-cs"/>
              </a:defRPr>
            </a:lvl4pPr>
            <a:lvl5pPr marL="1828800" indent="0" algn="ctr" rtl="0" eaLnBrk="1" latinLnBrk="0" hangingPunct="1">
              <a:spcBef>
                <a:spcPct val="20000"/>
              </a:spcBef>
              <a:buClr>
                <a:schemeClr val="accent5"/>
              </a:buClr>
              <a:buFontTx/>
              <a:buNone/>
              <a:defRPr kumimoji="0" sz="1800" kern="1200">
                <a:solidFill>
                  <a:schemeClr val="tx1"/>
                </a:solidFill>
                <a:latin typeface="+mn-lt"/>
                <a:ea typeface="+mn-ea"/>
                <a:cs typeface="+mn-cs"/>
              </a:defRPr>
            </a:lvl5pPr>
            <a:lvl6pPr marL="2286000" indent="0" algn="ctr" rtl="0" eaLnBrk="1" latinLnBrk="0" hangingPunct="1">
              <a:spcBef>
                <a:spcPct val="20000"/>
              </a:spcBef>
              <a:buClr>
                <a:schemeClr val="accent6"/>
              </a:buClr>
              <a:buSzPct val="80000"/>
              <a:buFont typeface="Wingdings 2"/>
              <a:buNone/>
              <a:defRPr kumimoji="0" sz="1800" kern="1200">
                <a:solidFill>
                  <a:schemeClr val="tx1"/>
                </a:solidFill>
                <a:latin typeface="+mn-lt"/>
                <a:ea typeface="+mn-ea"/>
                <a:cs typeface="+mn-cs"/>
              </a:defRPr>
            </a:lvl6pPr>
            <a:lvl7pPr marL="2743200" indent="0" algn="ctr" rtl="0" eaLnBrk="1" latinLnBrk="0" hangingPunct="1">
              <a:spcBef>
                <a:spcPct val="20000"/>
              </a:spcBef>
              <a:buClr>
                <a:schemeClr val="accent1">
                  <a:shade val="75000"/>
                </a:schemeClr>
              </a:buClr>
              <a:buSzPct val="90000"/>
              <a:buNone/>
              <a:defRPr kumimoji="0" sz="1600" kern="1200" baseline="0">
                <a:solidFill>
                  <a:schemeClr val="tx1"/>
                </a:solidFill>
                <a:latin typeface="+mn-lt"/>
                <a:ea typeface="+mn-ea"/>
                <a:cs typeface="+mn-cs"/>
              </a:defRPr>
            </a:lvl7pPr>
            <a:lvl8pPr marL="3200400" indent="0" algn="ctr" rtl="0" eaLnBrk="1" latinLnBrk="0" hangingPunct="1">
              <a:spcBef>
                <a:spcPct val="20000"/>
              </a:spcBef>
              <a:buClr>
                <a:schemeClr val="accent4">
                  <a:shade val="75000"/>
                </a:schemeClr>
              </a:buClr>
              <a:buNone/>
              <a:defRPr kumimoji="0" sz="1600" kern="1200">
                <a:solidFill>
                  <a:schemeClr val="tx1"/>
                </a:solidFill>
                <a:latin typeface="+mn-lt"/>
                <a:ea typeface="+mn-ea"/>
                <a:cs typeface="+mn-cs"/>
              </a:defRPr>
            </a:lvl8pPr>
            <a:lvl9pPr marL="3657600" indent="0" algn="ctr" rtl="0" eaLnBrk="1" latinLnBrk="0" hangingPunct="1">
              <a:spcBef>
                <a:spcPct val="20000"/>
              </a:spcBef>
              <a:buClr>
                <a:schemeClr val="accent2">
                  <a:shade val="75000"/>
                </a:schemeClr>
              </a:buClr>
              <a:buSzPct val="90000"/>
              <a:buNone/>
              <a:defRPr kumimoji="0" sz="1400" kern="1200" cap="all" baseline="0">
                <a:solidFill>
                  <a:schemeClr val="tx1"/>
                </a:solidFill>
                <a:latin typeface="+mn-lt"/>
                <a:ea typeface="+mn-ea"/>
                <a:cs typeface="+mn-cs"/>
              </a:defRPr>
            </a:lvl9pPr>
          </a:lstStyle>
          <a:p>
            <a:r>
              <a:rPr lang="en-US" sz="7800" cap="none" dirty="0">
                <a:solidFill>
                  <a:schemeClr val="tx1"/>
                </a:solidFill>
              </a:rPr>
              <a:t>Proof Techniques</a:t>
            </a:r>
            <a:endParaRPr lang="ar-SA" sz="7800" cap="none" dirty="0">
              <a:solidFill>
                <a:schemeClr val="tx1"/>
              </a:solidFill>
            </a:endParaRPr>
          </a:p>
        </p:txBody>
      </p:sp>
      <p:sp>
        <p:nvSpPr>
          <p:cNvPr id="4" name="Title 3">
            <a:extLst>
              <a:ext uri="{FF2B5EF4-FFF2-40B4-BE49-F238E27FC236}">
                <a16:creationId xmlns:a16="http://schemas.microsoft.com/office/drawing/2014/main" id="{1BCEE139-AFA2-83BA-B907-BC43E8898432}"/>
              </a:ext>
            </a:extLst>
          </p:cNvPr>
          <p:cNvSpPr>
            <a:spLocks noGrp="1"/>
          </p:cNvSpPr>
          <p:nvPr>
            <p:ph type="ctrTitle"/>
          </p:nvPr>
        </p:nvSpPr>
        <p:spPr/>
        <p:txBody>
          <a:bodyPr/>
          <a:lstStyle/>
          <a:p>
            <a:r>
              <a:rPr lang="en-IN" dirty="0"/>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3600" dirty="0">
                <a:solidFill>
                  <a:schemeClr val="accent1"/>
                </a:solidFill>
                <a:latin typeface="Comic Sans MS" pitchFamily="66" charset="0"/>
              </a:rPr>
              <a:t>Introduction to Proofs</a:t>
            </a:r>
            <a:endParaRPr lang="en-US" sz="32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2</a:t>
            </a:fld>
            <a:endParaRPr lang="en-US"/>
          </a:p>
        </p:txBody>
      </p:sp>
      <p:sp>
        <p:nvSpPr>
          <p:cNvPr id="27" name="Footer Placeholder 26"/>
          <p:cNvSpPr>
            <a:spLocks noGrp="1"/>
          </p:cNvSpPr>
          <p:nvPr>
            <p:ph type="ftr" sz="quarter" idx="11"/>
          </p:nvPr>
        </p:nvSpPr>
        <p:spPr/>
        <p:txBody>
          <a:bodyPr/>
          <a:lstStyle/>
          <a:p>
            <a:endParaRPr lang="en-US"/>
          </a:p>
        </p:txBody>
      </p:sp>
      <p:sp>
        <p:nvSpPr>
          <p:cNvPr id="4" name="مربع نص 3"/>
          <p:cNvSpPr txBox="1"/>
          <p:nvPr/>
        </p:nvSpPr>
        <p:spPr>
          <a:xfrm>
            <a:off x="228600" y="1620083"/>
            <a:ext cx="8763000" cy="3831818"/>
          </a:xfrm>
          <a:prstGeom prst="rect">
            <a:avLst/>
          </a:prstGeom>
          <a:noFill/>
        </p:spPr>
        <p:txBody>
          <a:bodyPr wrap="square" rtlCol="1">
            <a:spAutoFit/>
          </a:bodyPr>
          <a:lstStyle/>
          <a:p>
            <a:pPr>
              <a:lnSpc>
                <a:spcPct val="150000"/>
              </a:lnSpc>
            </a:pPr>
            <a:r>
              <a:rPr lang="en-US" b="1" dirty="0">
                <a:solidFill>
                  <a:schemeClr val="accent1"/>
                </a:solidFill>
                <a:latin typeface="Comic Sans MS" pitchFamily="66" charset="0"/>
              </a:rPr>
              <a:t>A proof : </a:t>
            </a:r>
            <a:r>
              <a:rPr lang="en-US" dirty="0">
                <a:solidFill>
                  <a:schemeClr val="accent3">
                    <a:lumMod val="75000"/>
                  </a:schemeClr>
                </a:solidFill>
                <a:latin typeface="Comic Sans MS" pitchFamily="66" charset="0"/>
              </a:rPr>
              <a:t>is a valid argument that establishes the truth of a mathematical statement.</a:t>
            </a:r>
          </a:p>
          <a:p>
            <a:pPr>
              <a:lnSpc>
                <a:spcPct val="150000"/>
              </a:lnSpc>
            </a:pPr>
            <a:endParaRPr lang="en-US" dirty="0">
              <a:solidFill>
                <a:schemeClr val="accent3">
                  <a:lumMod val="75000"/>
                </a:schemeClr>
              </a:solidFill>
              <a:latin typeface="Comic Sans MS" pitchFamily="66" charset="0"/>
            </a:endParaRPr>
          </a:p>
          <a:p>
            <a:pPr>
              <a:lnSpc>
                <a:spcPct val="150000"/>
              </a:lnSpc>
            </a:pPr>
            <a:r>
              <a:rPr lang="en-US" b="1" dirty="0">
                <a:solidFill>
                  <a:schemeClr val="accent1"/>
                </a:solidFill>
                <a:latin typeface="Comic Sans MS" pitchFamily="66" charset="0"/>
              </a:rPr>
              <a:t>There are two types of proofs : </a:t>
            </a:r>
          </a:p>
          <a:p>
            <a:pPr marL="742950" lvl="1" indent="-285750">
              <a:lnSpc>
                <a:spcPct val="150000"/>
              </a:lnSpc>
              <a:buFont typeface="Wingdings" panose="05000000000000000000" pitchFamily="2" charset="2"/>
              <a:buChar char="Ø"/>
            </a:pPr>
            <a:r>
              <a:rPr lang="en-US" dirty="0">
                <a:solidFill>
                  <a:srgbClr val="002060"/>
                </a:solidFill>
                <a:latin typeface="Comic Sans MS" pitchFamily="66" charset="0"/>
              </a:rPr>
              <a:t>Formal proof : </a:t>
            </a:r>
            <a:r>
              <a:rPr lang="en-US" dirty="0">
                <a:solidFill>
                  <a:schemeClr val="accent3">
                    <a:lumMod val="75000"/>
                  </a:schemeClr>
                </a:solidFill>
                <a:latin typeface="Comic Sans MS" pitchFamily="66" charset="0"/>
              </a:rPr>
              <a:t>where all steps are supplied and the rules for each step in the argument are given </a:t>
            </a:r>
          </a:p>
          <a:p>
            <a:pPr marL="742950" lvl="1" indent="-285750">
              <a:lnSpc>
                <a:spcPct val="150000"/>
              </a:lnSpc>
              <a:buFont typeface="Wingdings" panose="05000000000000000000" pitchFamily="2" charset="2"/>
              <a:buChar char="Ø"/>
            </a:pPr>
            <a:r>
              <a:rPr lang="en-US" dirty="0">
                <a:solidFill>
                  <a:srgbClr val="002060"/>
                </a:solidFill>
                <a:latin typeface="Comic Sans MS" pitchFamily="66" charset="0"/>
              </a:rPr>
              <a:t>Informal proof : </a:t>
            </a:r>
            <a:r>
              <a:rPr lang="en-US" dirty="0">
                <a:solidFill>
                  <a:schemeClr val="accent3">
                    <a:lumMod val="75000"/>
                  </a:schemeClr>
                </a:solidFill>
                <a:latin typeface="Comic Sans MS" pitchFamily="66" charset="0"/>
              </a:rPr>
              <a:t>where more than one rule of inference may be used in each step, where steps may be skipped, where the axioms being assumed and rule of inference used are not explicitly stated. </a:t>
            </a:r>
            <a:r>
              <a:rPr lang="en-US" dirty="0"/>
              <a:t> </a:t>
            </a:r>
            <a:endParaRPr lang="ar-SA" dirty="0"/>
          </a:p>
        </p:txBody>
      </p:sp>
    </p:spTree>
    <p:extLst>
      <p:ext uri="{BB962C8B-B14F-4D97-AF65-F5344CB8AC3E}">
        <p14:creationId xmlns:p14="http://schemas.microsoft.com/office/powerpoint/2010/main" val="2560743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3600" dirty="0">
                <a:solidFill>
                  <a:schemeClr val="accent1"/>
                </a:solidFill>
                <a:latin typeface="Comic Sans MS" pitchFamily="66" charset="0"/>
              </a:rPr>
              <a:t>Introduction to Proofs (Cont.)</a:t>
            </a:r>
            <a:endParaRPr lang="en-US" sz="32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3</a:t>
            </a:fld>
            <a:endParaRPr lang="en-US"/>
          </a:p>
        </p:txBody>
      </p:sp>
      <p:sp>
        <p:nvSpPr>
          <p:cNvPr id="6" name="Rectangle 5"/>
          <p:cNvSpPr>
            <a:spLocks noChangeArrowheads="1"/>
          </p:cNvSpPr>
          <p:nvPr/>
        </p:nvSpPr>
        <p:spPr bwMode="auto">
          <a:xfrm>
            <a:off x="304800" y="1219200"/>
            <a:ext cx="8458200" cy="2354491"/>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rPr>
              <a:t>A theorem</a:t>
            </a:r>
            <a:r>
              <a:rPr lang="en-US" dirty="0">
                <a:solidFill>
                  <a:schemeClr val="accent1"/>
                </a:solidFill>
                <a:latin typeface="Comic Sans MS" pitchFamily="66" charset="0"/>
              </a:rPr>
              <a:t> </a:t>
            </a:r>
            <a:r>
              <a:rPr lang="en-US" sz="1600" dirty="0">
                <a:solidFill>
                  <a:schemeClr val="accent3">
                    <a:lumMod val="75000"/>
                  </a:schemeClr>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is a statement that can be shown to be true</a:t>
            </a:r>
            <a:r>
              <a:rPr lang="en-US" sz="1600" dirty="0">
                <a:solidFill>
                  <a:schemeClr val="accent3">
                    <a:lumMod val="75000"/>
                  </a:schemeClr>
                </a:solidFill>
                <a:latin typeface="Comic Sans MS" pitchFamily="66" charset="0"/>
                <a:sym typeface="Symbol" pitchFamily="18" charset="2"/>
              </a:rPr>
              <a:t>. </a:t>
            </a:r>
          </a:p>
          <a:p>
            <a:pPr lvl="1">
              <a:lnSpc>
                <a:spcPct val="150000"/>
              </a:lnSpc>
              <a:buFont typeface="Wingdings" pitchFamily="2" charset="2"/>
              <a:buChar char="q"/>
            </a:pPr>
            <a:r>
              <a:rPr lang="en-US" sz="1600" dirty="0">
                <a:solidFill>
                  <a:srgbClr val="002060"/>
                </a:solidFill>
                <a:latin typeface="Comic Sans MS" pitchFamily="66" charset="0"/>
                <a:sym typeface="Symbol" pitchFamily="18" charset="2"/>
              </a:rPr>
              <a:t> Less important theorems sometimes are called </a:t>
            </a:r>
            <a:r>
              <a:rPr lang="en-US" sz="1600" i="1" u="sng" dirty="0">
                <a:solidFill>
                  <a:srgbClr val="C00000"/>
                </a:solidFill>
                <a:latin typeface="Comic Sans MS" pitchFamily="66" charset="0"/>
                <a:sym typeface="Symbol" pitchFamily="18" charset="2"/>
              </a:rPr>
              <a:t>propositions. </a:t>
            </a:r>
            <a:endParaRPr lang="en-US" sz="1600" dirty="0">
              <a:solidFill>
                <a:srgbClr val="002060"/>
              </a:solidFill>
              <a:latin typeface="Comic Sans MS" pitchFamily="66" charset="0"/>
              <a:sym typeface="Symbol" pitchFamily="18" charset="2"/>
            </a:endParaRPr>
          </a:p>
          <a:p>
            <a:pPr lvl="1">
              <a:lnSpc>
                <a:spcPct val="150000"/>
              </a:lnSpc>
              <a:buFont typeface="Wingdings" pitchFamily="2" charset="2"/>
              <a:buChar char="q"/>
            </a:pPr>
            <a:r>
              <a:rPr lang="en-US" sz="1600" dirty="0">
                <a:solidFill>
                  <a:srgbClr val="002060"/>
                </a:solidFill>
                <a:latin typeface="Comic Sans MS" pitchFamily="66" charset="0"/>
                <a:sym typeface="Symbol" pitchFamily="18" charset="2"/>
              </a:rPr>
              <a:t>(Theorems can also be referred to as </a:t>
            </a:r>
            <a:r>
              <a:rPr lang="en-US" sz="1600" dirty="0">
                <a:solidFill>
                  <a:srgbClr val="0070C0"/>
                </a:solidFill>
                <a:latin typeface="Comic Sans MS" pitchFamily="66" charset="0"/>
                <a:sym typeface="Symbol" pitchFamily="18" charset="2"/>
              </a:rPr>
              <a:t>facts</a:t>
            </a:r>
            <a:r>
              <a:rPr lang="en-US" sz="1600" dirty="0">
                <a:solidFill>
                  <a:srgbClr val="002060"/>
                </a:solidFill>
                <a:latin typeface="Comic Sans MS" pitchFamily="66" charset="0"/>
                <a:sym typeface="Symbol" pitchFamily="18" charset="2"/>
              </a:rPr>
              <a:t> or </a:t>
            </a:r>
            <a:r>
              <a:rPr lang="en-US" sz="1600" dirty="0">
                <a:solidFill>
                  <a:srgbClr val="0070C0"/>
                </a:solidFill>
                <a:latin typeface="Comic Sans MS" pitchFamily="66" charset="0"/>
                <a:sym typeface="Symbol" pitchFamily="18" charset="2"/>
              </a:rPr>
              <a:t>results</a:t>
            </a:r>
            <a:r>
              <a:rPr lang="en-US" sz="1600" dirty="0">
                <a:solidFill>
                  <a:srgbClr val="002060"/>
                </a:solidFill>
                <a:latin typeface="Comic Sans MS" pitchFamily="66" charset="0"/>
                <a:sym typeface="Symbol" pitchFamily="18" charset="2"/>
              </a:rPr>
              <a:t>.) </a:t>
            </a:r>
          </a:p>
          <a:p>
            <a:pPr lvl="1">
              <a:lnSpc>
                <a:spcPct val="150000"/>
              </a:lnSpc>
              <a:buFont typeface="Wingdings" pitchFamily="2" charset="2"/>
              <a:buChar char="q"/>
            </a:pPr>
            <a:r>
              <a:rPr lang="en-US" sz="1600" dirty="0">
                <a:solidFill>
                  <a:srgbClr val="002060"/>
                </a:solidFill>
                <a:latin typeface="Comic Sans MS" pitchFamily="66" charset="0"/>
                <a:sym typeface="Symbol" pitchFamily="18" charset="2"/>
              </a:rPr>
              <a:t> it may be the universal quantification of a conditional statement with one or more premises and a conclusion, or it may be another type of logical statements.</a:t>
            </a:r>
            <a:endParaRPr lang="en-US" sz="1600" dirty="0">
              <a:solidFill>
                <a:schemeClr val="accent3">
                  <a:lumMod val="75000"/>
                </a:schemeClr>
              </a:solidFill>
              <a:latin typeface="Comic Sans MS" pitchFamily="66" charset="0"/>
              <a:sym typeface="Symbol" pitchFamily="18" charset="2"/>
            </a:endParaRPr>
          </a:p>
          <a:p>
            <a:pPr>
              <a:lnSpc>
                <a:spcPct val="150000"/>
              </a:lnSpc>
              <a:buFont typeface="Wingdings" pitchFamily="2" charset="2"/>
              <a:buChar char="q"/>
            </a:pPr>
            <a:endParaRPr lang="en-US" sz="1600" dirty="0">
              <a:solidFill>
                <a:schemeClr val="accent3">
                  <a:lumMod val="75000"/>
                </a:schemeClr>
              </a:solidFill>
              <a:latin typeface="Comic Sans MS" pitchFamily="66" charset="0"/>
              <a:sym typeface="Symbol" pitchFamily="18" charset="2"/>
            </a:endParaRPr>
          </a:p>
        </p:txBody>
      </p:sp>
      <p:sp>
        <p:nvSpPr>
          <p:cNvPr id="7" name="Rectangle 6"/>
          <p:cNvSpPr>
            <a:spLocks noChangeArrowheads="1"/>
          </p:cNvSpPr>
          <p:nvPr/>
        </p:nvSpPr>
        <p:spPr bwMode="auto">
          <a:xfrm>
            <a:off x="228600" y="3048000"/>
            <a:ext cx="8458200" cy="877356"/>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rPr>
              <a:t>Proof</a:t>
            </a:r>
            <a:r>
              <a:rPr lang="en-US" dirty="0">
                <a:solidFill>
                  <a:schemeClr val="accent1"/>
                </a:solidFill>
                <a:latin typeface="Comic Sans MS" pitchFamily="66" charset="0"/>
              </a:rPr>
              <a:t> </a:t>
            </a:r>
            <a:r>
              <a:rPr lang="en-US" dirty="0">
                <a:solidFill>
                  <a:schemeClr val="accent3">
                    <a:lumMod val="75000"/>
                  </a:schemeClr>
                </a:solidFill>
                <a:latin typeface="Comic Sans MS" pitchFamily="66" charset="0"/>
                <a:sym typeface="Symbol" pitchFamily="18" charset="2"/>
              </a:rPr>
              <a:t> is a valid argument (sequence of statements)  that establishes the </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truth of a theorem. And </a:t>
            </a:r>
            <a:r>
              <a:rPr lang="en-US" dirty="0">
                <a:solidFill>
                  <a:srgbClr val="002060"/>
                </a:solidFill>
                <a:latin typeface="Comic Sans MS" pitchFamily="66" charset="0"/>
                <a:sym typeface="Symbol" pitchFamily="18" charset="2"/>
              </a:rPr>
              <a:t>the statements to be used in proofs include:</a:t>
            </a:r>
          </a:p>
        </p:txBody>
      </p:sp>
      <p:sp>
        <p:nvSpPr>
          <p:cNvPr id="9" name="Rectangle 8"/>
          <p:cNvSpPr>
            <a:spLocks noChangeArrowheads="1"/>
          </p:cNvSpPr>
          <p:nvPr/>
        </p:nvSpPr>
        <p:spPr bwMode="auto">
          <a:xfrm>
            <a:off x="533399" y="3886200"/>
            <a:ext cx="5988851" cy="2677656"/>
          </a:xfrm>
          <a:prstGeom prst="rect">
            <a:avLst/>
          </a:prstGeom>
          <a:noFill/>
          <a:ln w="9525">
            <a:noFill/>
            <a:miter lim="800000"/>
            <a:headEnd/>
            <a:tailEnd/>
          </a:ln>
        </p:spPr>
        <p:txBody>
          <a:bodyPr wrap="square">
            <a:spAutoFit/>
          </a:bodyPr>
          <a:lstStyle/>
          <a:p>
            <a:pPr>
              <a:lnSpc>
                <a:spcPct val="150000"/>
              </a:lnSpc>
              <a:buClr>
                <a:srgbClr val="002060"/>
              </a:buClr>
              <a:buFont typeface="Wingdings" pitchFamily="2" charset="2"/>
              <a:buChar char="v"/>
            </a:pPr>
            <a:r>
              <a:rPr lang="en-US" sz="1600" dirty="0">
                <a:solidFill>
                  <a:srgbClr val="D16349"/>
                </a:solidFill>
              </a:rPr>
              <a:t>  </a:t>
            </a:r>
            <a:r>
              <a:rPr lang="en-US" sz="1600" b="1" u="sng" dirty="0">
                <a:solidFill>
                  <a:srgbClr val="C00000"/>
                </a:solidFill>
                <a:latin typeface="Comic Sans MS" pitchFamily="66" charset="0"/>
              </a:rPr>
              <a:t>Axioms</a:t>
            </a:r>
            <a:r>
              <a:rPr lang="en-US" sz="1600" dirty="0">
                <a:solidFill>
                  <a:srgbClr val="D16349"/>
                </a:solidFill>
                <a:latin typeface="Comic Sans MS" pitchFamily="66" charset="0"/>
              </a:rPr>
              <a:t>  </a:t>
            </a:r>
            <a:r>
              <a:rPr lang="en-US" sz="1600" dirty="0">
                <a:solidFill>
                  <a:srgbClr val="0070C0"/>
                </a:solidFill>
                <a:latin typeface="Comic Sans MS" pitchFamily="66" charset="0"/>
              </a:rPr>
              <a:t>or</a:t>
            </a:r>
            <a:r>
              <a:rPr lang="en-US" sz="1600" dirty="0">
                <a:solidFill>
                  <a:srgbClr val="D16349"/>
                </a:solidFill>
                <a:latin typeface="Comic Sans MS" pitchFamily="66" charset="0"/>
              </a:rPr>
              <a:t>  </a:t>
            </a:r>
            <a:r>
              <a:rPr lang="en-US" sz="1600" b="1" u="sng" dirty="0">
                <a:solidFill>
                  <a:srgbClr val="C00000"/>
                </a:solidFill>
                <a:latin typeface="Comic Sans MS" pitchFamily="66" charset="0"/>
              </a:rPr>
              <a:t>postulates</a:t>
            </a:r>
            <a:r>
              <a:rPr lang="en-US" sz="1600" dirty="0">
                <a:solidFill>
                  <a:srgbClr val="D16349"/>
                </a:solidFill>
                <a:latin typeface="Comic Sans MS" pitchFamily="66" charset="0"/>
              </a:rPr>
              <a:t> (</a:t>
            </a:r>
            <a:r>
              <a:rPr lang="en-US" sz="1600" dirty="0">
                <a:solidFill>
                  <a:srgbClr val="0070C0"/>
                </a:solidFill>
                <a:latin typeface="Comic Sans MS" pitchFamily="66" charset="0"/>
              </a:rPr>
              <a:t>statement assumed to be true without proof</a:t>
            </a:r>
            <a:r>
              <a:rPr lang="en-US" sz="1600" dirty="0">
                <a:solidFill>
                  <a:srgbClr val="D16349"/>
                </a:solidFill>
                <a:latin typeface="Comic Sans MS" pitchFamily="66" charset="0"/>
              </a:rPr>
              <a:t>)</a:t>
            </a:r>
          </a:p>
          <a:p>
            <a:pPr>
              <a:lnSpc>
                <a:spcPct val="150000"/>
              </a:lnSpc>
              <a:buClr>
                <a:srgbClr val="002060"/>
              </a:buClr>
            </a:pPr>
            <a:r>
              <a:rPr lang="en-US" sz="1600" dirty="0">
                <a:solidFill>
                  <a:srgbClr val="D16349"/>
                </a:solidFill>
              </a:rPr>
              <a:t> </a:t>
            </a:r>
          </a:p>
          <a:p>
            <a:pPr>
              <a:lnSpc>
                <a:spcPct val="150000"/>
              </a:lnSpc>
              <a:buClr>
                <a:srgbClr val="002060"/>
              </a:buClr>
              <a:buFont typeface="Wingdings" pitchFamily="2" charset="2"/>
              <a:buChar char="v"/>
            </a:pPr>
            <a:r>
              <a:rPr lang="en-US" sz="1600" dirty="0">
                <a:solidFill>
                  <a:srgbClr val="D16349"/>
                </a:solidFill>
                <a:latin typeface="Comic Sans MS" pitchFamily="66" charset="0"/>
                <a:sym typeface="Symbol" pitchFamily="18" charset="2"/>
              </a:rPr>
              <a:t>  </a:t>
            </a:r>
            <a:r>
              <a:rPr lang="en-US" sz="1600" b="1" u="sng" dirty="0">
                <a:solidFill>
                  <a:srgbClr val="C00000"/>
                </a:solidFill>
                <a:latin typeface="Comic Sans MS" pitchFamily="66" charset="0"/>
                <a:sym typeface="Symbol" pitchFamily="18" charset="2"/>
              </a:rPr>
              <a:t>Hypothesis</a:t>
            </a:r>
            <a:r>
              <a:rPr lang="en-US" sz="1600" dirty="0">
                <a:solidFill>
                  <a:srgbClr val="D16349"/>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(premises) of the theorem</a:t>
            </a:r>
          </a:p>
          <a:p>
            <a:pPr>
              <a:lnSpc>
                <a:spcPct val="150000"/>
              </a:lnSpc>
              <a:buClr>
                <a:srgbClr val="002060"/>
              </a:buClr>
              <a:buFont typeface="Wingdings" pitchFamily="2" charset="2"/>
              <a:buChar char="v"/>
            </a:pPr>
            <a:r>
              <a:rPr lang="en-US" sz="1600" dirty="0">
                <a:solidFill>
                  <a:srgbClr val="D16349"/>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Previously  proven </a:t>
            </a:r>
            <a:r>
              <a:rPr lang="en-US" sz="1600" b="1" u="sng" dirty="0">
                <a:solidFill>
                  <a:srgbClr val="C00000"/>
                </a:solidFill>
                <a:latin typeface="Comic Sans MS" pitchFamily="66" charset="0"/>
                <a:sym typeface="Symbol" pitchFamily="18" charset="2"/>
              </a:rPr>
              <a:t>theorems </a:t>
            </a:r>
          </a:p>
          <a:p>
            <a:pPr>
              <a:lnSpc>
                <a:spcPct val="150000"/>
              </a:lnSpc>
              <a:buClr>
                <a:srgbClr val="002060"/>
              </a:buClr>
              <a:buFont typeface="Wingdings" pitchFamily="2" charset="2"/>
              <a:buChar char="v"/>
            </a:pPr>
            <a:r>
              <a:rPr lang="en-US" sz="1600" dirty="0">
                <a:solidFill>
                  <a:srgbClr val="D16349"/>
                </a:solidFill>
                <a:latin typeface="Comic Sans MS" pitchFamily="66" charset="0"/>
                <a:sym typeface="Symbol" pitchFamily="18" charset="2"/>
              </a:rPr>
              <a:t> </a:t>
            </a:r>
            <a:r>
              <a:rPr lang="en-US" sz="1600" b="1" u="sng" dirty="0">
                <a:solidFill>
                  <a:srgbClr val="C00000"/>
                </a:solidFill>
                <a:latin typeface="Comic Sans MS" pitchFamily="66" charset="0"/>
                <a:sym typeface="Symbol" pitchFamily="18" charset="2"/>
              </a:rPr>
              <a:t>Rules of inference </a:t>
            </a:r>
            <a:r>
              <a:rPr lang="en-US" sz="1600" dirty="0">
                <a:solidFill>
                  <a:srgbClr val="0070C0"/>
                </a:solidFill>
                <a:latin typeface="Comic Sans MS" pitchFamily="66" charset="0"/>
                <a:sym typeface="Symbol" pitchFamily="18" charset="2"/>
              </a:rPr>
              <a:t>used to draw conclusions and </a:t>
            </a:r>
            <a:br>
              <a:rPr lang="en-US" sz="1600" dirty="0">
                <a:solidFill>
                  <a:srgbClr val="0070C0"/>
                </a:solidFill>
                <a:latin typeface="Comic Sans MS" pitchFamily="66" charset="0"/>
                <a:sym typeface="Symbol" pitchFamily="18" charset="2"/>
              </a:rPr>
            </a:br>
            <a:r>
              <a:rPr lang="en-US" sz="1600" dirty="0">
                <a:solidFill>
                  <a:srgbClr val="0070C0"/>
                </a:solidFill>
                <a:latin typeface="Comic Sans MS" pitchFamily="66" charset="0"/>
                <a:sym typeface="Symbol" pitchFamily="18" charset="2"/>
              </a:rPr>
              <a:t>    to move from one step to  another</a:t>
            </a:r>
          </a:p>
        </p:txBody>
      </p:sp>
      <p:sp>
        <p:nvSpPr>
          <p:cNvPr id="10" name="Rectangle 9"/>
          <p:cNvSpPr>
            <a:spLocks noChangeArrowheads="1"/>
          </p:cNvSpPr>
          <p:nvPr/>
        </p:nvSpPr>
        <p:spPr bwMode="auto">
          <a:xfrm>
            <a:off x="685800" y="4614446"/>
            <a:ext cx="5486400" cy="338554"/>
          </a:xfrm>
          <a:prstGeom prst="rect">
            <a:avLst/>
          </a:prstGeom>
          <a:noFill/>
          <a:ln w="9525">
            <a:noFill/>
            <a:miter lim="800000"/>
            <a:headEnd/>
            <a:tailEnd/>
          </a:ln>
        </p:spPr>
        <p:txBody>
          <a:bodyPr wrap="square">
            <a:spAutoFit/>
          </a:bodyPr>
          <a:lstStyle/>
          <a:p>
            <a:pPr marL="0" lvl="2">
              <a:buClr>
                <a:srgbClr val="C00000"/>
              </a:buClr>
              <a:buFont typeface="Courier New" pitchFamily="49" charset="0"/>
              <a:buChar char="o"/>
            </a:pPr>
            <a:r>
              <a:rPr lang="en-US" sz="1600" dirty="0">
                <a:solidFill>
                  <a:srgbClr val="D16349"/>
                </a:solidFill>
              </a:rPr>
              <a:t>  </a:t>
            </a:r>
            <a:r>
              <a:rPr lang="en-US" sz="1400" dirty="0">
                <a:solidFill>
                  <a:schemeClr val="accent3">
                    <a:lumMod val="75000"/>
                  </a:schemeClr>
                </a:solidFill>
                <a:latin typeface="Comic Sans MS" pitchFamily="66" charset="0"/>
              </a:rPr>
              <a:t>Ex: If x is positive integer then x+1 is positive integer.</a:t>
            </a:r>
            <a:endParaRPr lang="en-US" sz="1600" dirty="0">
              <a:solidFill>
                <a:schemeClr val="accent3">
                  <a:lumMod val="75000"/>
                </a:schemeClr>
              </a:solidFill>
              <a:latin typeface="Comic Sans MS" pitchFamily="66" charset="0"/>
            </a:endParaRPr>
          </a:p>
        </p:txBody>
      </p:sp>
      <p:grpSp>
        <p:nvGrpSpPr>
          <p:cNvPr id="26" name="Group 25"/>
          <p:cNvGrpSpPr/>
          <p:nvPr/>
        </p:nvGrpSpPr>
        <p:grpSpPr>
          <a:xfrm>
            <a:off x="6674651" y="4177842"/>
            <a:ext cx="2240749" cy="2222957"/>
            <a:chOff x="6324600" y="3352800"/>
            <a:chExt cx="2316949" cy="2438400"/>
          </a:xfrm>
        </p:grpSpPr>
        <p:grpSp>
          <p:nvGrpSpPr>
            <p:cNvPr id="24" name="Group 23"/>
            <p:cNvGrpSpPr/>
            <p:nvPr/>
          </p:nvGrpSpPr>
          <p:grpSpPr>
            <a:xfrm>
              <a:off x="6400800" y="3352800"/>
              <a:ext cx="2240749" cy="2430706"/>
              <a:chOff x="6400800" y="3352800"/>
              <a:chExt cx="2240749" cy="2430706"/>
            </a:xfrm>
          </p:grpSpPr>
          <p:sp>
            <p:nvSpPr>
              <p:cNvPr id="11" name="Rounded Rectangle 10"/>
              <p:cNvSpPr/>
              <p:nvPr/>
            </p:nvSpPr>
            <p:spPr>
              <a:xfrm>
                <a:off x="6477000" y="4191000"/>
                <a:ext cx="1981200" cy="9144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cxnSp>
            <p:nvCxnSpPr>
              <p:cNvPr id="13" name="Straight Arrow Connector 12"/>
              <p:cNvCxnSpPr/>
              <p:nvPr/>
            </p:nvCxnSpPr>
            <p:spPr>
              <a:xfrm>
                <a:off x="8153400" y="37338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7467600" y="37338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6781800" y="37338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6400800" y="3505200"/>
                <a:ext cx="662361" cy="261610"/>
              </a:xfrm>
              <a:prstGeom prst="rect">
                <a:avLst/>
              </a:prstGeom>
            </p:spPr>
            <p:txBody>
              <a:bodyPr wrap="none">
                <a:spAutoFit/>
              </a:bodyPr>
              <a:lstStyle/>
              <a:p>
                <a:r>
                  <a:rPr lang="en-US" sz="1100" b="1" dirty="0">
                    <a:solidFill>
                      <a:schemeClr val="accent3">
                        <a:lumMod val="75000"/>
                      </a:schemeClr>
                    </a:solidFill>
                    <a:latin typeface="Comic Sans MS" pitchFamily="66" charset="0"/>
                  </a:rPr>
                  <a:t>Axioms</a:t>
                </a:r>
                <a:endParaRPr lang="en-US" sz="1100" b="1" dirty="0">
                  <a:solidFill>
                    <a:schemeClr val="accent3">
                      <a:lumMod val="75000"/>
                    </a:schemeClr>
                  </a:solidFill>
                </a:endParaRPr>
              </a:p>
            </p:txBody>
          </p:sp>
          <p:sp>
            <p:nvSpPr>
              <p:cNvPr id="19" name="Rectangle 18"/>
              <p:cNvSpPr/>
              <p:nvPr/>
            </p:nvSpPr>
            <p:spPr>
              <a:xfrm>
                <a:off x="6934200" y="3505200"/>
                <a:ext cx="925253" cy="261610"/>
              </a:xfrm>
              <a:prstGeom prst="rect">
                <a:avLst/>
              </a:prstGeom>
            </p:spPr>
            <p:txBody>
              <a:bodyPr wrap="none">
                <a:spAutoFit/>
              </a:bodyPr>
              <a:lstStyle/>
              <a:p>
                <a:r>
                  <a:rPr lang="en-US" sz="1050" b="1" dirty="0">
                    <a:solidFill>
                      <a:schemeClr val="accent3">
                        <a:lumMod val="75000"/>
                      </a:schemeClr>
                    </a:solidFill>
                    <a:latin typeface="Comic Sans MS" pitchFamily="66" charset="0"/>
                    <a:sym typeface="Symbol" pitchFamily="18" charset="2"/>
                  </a:rPr>
                  <a:t>Hypothesis</a:t>
                </a:r>
                <a:endParaRPr lang="en-US" sz="1050" b="1" dirty="0">
                  <a:solidFill>
                    <a:schemeClr val="accent3">
                      <a:lumMod val="75000"/>
                    </a:schemeClr>
                  </a:solidFill>
                </a:endParaRPr>
              </a:p>
            </p:txBody>
          </p:sp>
          <p:sp>
            <p:nvSpPr>
              <p:cNvPr id="20" name="Rectangle 19"/>
              <p:cNvSpPr/>
              <p:nvPr/>
            </p:nvSpPr>
            <p:spPr>
              <a:xfrm>
                <a:off x="7772400" y="3352800"/>
                <a:ext cx="869149" cy="430887"/>
              </a:xfrm>
              <a:prstGeom prst="rect">
                <a:avLst/>
              </a:prstGeom>
            </p:spPr>
            <p:txBody>
              <a:bodyPr wrap="none">
                <a:spAutoFit/>
              </a:bodyPr>
              <a:lstStyle/>
              <a:p>
                <a:pPr algn="ctr"/>
                <a:r>
                  <a:rPr lang="en-US" sz="1100" b="1" dirty="0">
                    <a:solidFill>
                      <a:schemeClr val="accent3">
                        <a:lumMod val="75000"/>
                      </a:schemeClr>
                    </a:solidFill>
                    <a:latin typeface="Comic Sans MS" pitchFamily="66" charset="0"/>
                    <a:sym typeface="Symbol" pitchFamily="18" charset="2"/>
                  </a:rPr>
                  <a:t>Proven </a:t>
                </a:r>
                <a:br>
                  <a:rPr lang="en-US" sz="1100" b="1" dirty="0">
                    <a:solidFill>
                      <a:schemeClr val="accent3">
                        <a:lumMod val="75000"/>
                      </a:schemeClr>
                    </a:solidFill>
                    <a:latin typeface="Comic Sans MS" pitchFamily="66" charset="0"/>
                    <a:sym typeface="Symbol" pitchFamily="18" charset="2"/>
                  </a:rPr>
                </a:br>
                <a:r>
                  <a:rPr lang="en-US" sz="1100" b="1" dirty="0">
                    <a:solidFill>
                      <a:schemeClr val="accent3">
                        <a:lumMod val="75000"/>
                      </a:schemeClr>
                    </a:solidFill>
                    <a:latin typeface="Comic Sans MS" pitchFamily="66" charset="0"/>
                    <a:sym typeface="Symbol" pitchFamily="18" charset="2"/>
                  </a:rPr>
                  <a:t>theorems </a:t>
                </a:r>
                <a:endParaRPr lang="en-US" sz="1100" b="1" dirty="0">
                  <a:solidFill>
                    <a:schemeClr val="accent3">
                      <a:lumMod val="75000"/>
                    </a:schemeClr>
                  </a:solidFill>
                </a:endParaRPr>
              </a:p>
            </p:txBody>
          </p:sp>
          <p:cxnSp>
            <p:nvCxnSpPr>
              <p:cNvPr id="21" name="Straight Arrow Connector 20"/>
              <p:cNvCxnSpPr/>
              <p:nvPr/>
            </p:nvCxnSpPr>
            <p:spPr>
              <a:xfrm>
                <a:off x="7467600" y="5105400"/>
                <a:ext cx="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6932335" y="5529590"/>
                <a:ext cx="1144865" cy="253916"/>
              </a:xfrm>
              <a:prstGeom prst="rect">
                <a:avLst/>
              </a:prstGeom>
            </p:spPr>
            <p:txBody>
              <a:bodyPr wrap="none">
                <a:spAutoFit/>
              </a:bodyPr>
              <a:lstStyle/>
              <a:p>
                <a:r>
                  <a:rPr lang="en-US" sz="1050" b="1" dirty="0">
                    <a:solidFill>
                      <a:schemeClr val="accent3">
                        <a:lumMod val="75000"/>
                      </a:schemeClr>
                    </a:solidFill>
                    <a:latin typeface="Comic Sans MS" pitchFamily="66" charset="0"/>
                    <a:sym typeface="Symbol" pitchFamily="18" charset="2"/>
                  </a:rPr>
                  <a:t>New Theorems</a:t>
                </a:r>
                <a:endParaRPr lang="en-US" sz="1050" b="1" dirty="0">
                  <a:solidFill>
                    <a:schemeClr val="accent3">
                      <a:lumMod val="75000"/>
                    </a:schemeClr>
                  </a:solidFill>
                </a:endParaRPr>
              </a:p>
            </p:txBody>
          </p:sp>
          <p:sp>
            <p:nvSpPr>
              <p:cNvPr id="23" name="Rectangle 22"/>
              <p:cNvSpPr/>
              <p:nvPr/>
            </p:nvSpPr>
            <p:spPr>
              <a:xfrm>
                <a:off x="6591983" y="4495800"/>
                <a:ext cx="1866217" cy="307777"/>
              </a:xfrm>
              <a:prstGeom prst="rect">
                <a:avLst/>
              </a:prstGeom>
            </p:spPr>
            <p:txBody>
              <a:bodyPr wrap="none">
                <a:spAutoFit/>
              </a:bodyPr>
              <a:lstStyle/>
              <a:p>
                <a:r>
                  <a:rPr lang="en-US" sz="1400" b="1" dirty="0">
                    <a:solidFill>
                      <a:schemeClr val="accent1"/>
                    </a:solidFill>
                    <a:latin typeface="Comic Sans MS" pitchFamily="66" charset="0"/>
                    <a:sym typeface="Symbol" pitchFamily="18" charset="2"/>
                  </a:rPr>
                  <a:t>Rules of inference </a:t>
                </a:r>
                <a:endParaRPr lang="en-US" sz="1400" dirty="0">
                  <a:solidFill>
                    <a:schemeClr val="accent1"/>
                  </a:solidFill>
                </a:endParaRPr>
              </a:p>
            </p:txBody>
          </p:sp>
        </p:grpSp>
        <p:sp>
          <p:nvSpPr>
            <p:cNvPr id="25" name="Rectangle 24"/>
            <p:cNvSpPr/>
            <p:nvPr/>
          </p:nvSpPr>
          <p:spPr>
            <a:xfrm>
              <a:off x="6324600" y="3352800"/>
              <a:ext cx="2286000" cy="2438400"/>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ooter Placeholder 26"/>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3600" dirty="0">
                <a:solidFill>
                  <a:schemeClr val="accent1"/>
                </a:solidFill>
                <a:latin typeface="Comic Sans MS" pitchFamily="66" charset="0"/>
              </a:rPr>
              <a:t>Introduction to Proofs </a:t>
            </a:r>
            <a:r>
              <a:rPr lang="en-US" sz="3200" dirty="0">
                <a:solidFill>
                  <a:schemeClr val="accent1"/>
                </a:solidFill>
                <a:latin typeface="Comic Sans MS" pitchFamily="66" charset="0"/>
              </a:rPr>
              <a:t>(Cont.)</a:t>
            </a:r>
            <a:endParaRPr lang="en-US" sz="32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4</a:t>
            </a:fld>
            <a:endParaRPr lang="en-US"/>
          </a:p>
        </p:txBody>
      </p:sp>
      <p:sp>
        <p:nvSpPr>
          <p:cNvPr id="6" name="Rectangle 5"/>
          <p:cNvSpPr>
            <a:spLocks noChangeArrowheads="1"/>
          </p:cNvSpPr>
          <p:nvPr/>
        </p:nvSpPr>
        <p:spPr bwMode="auto">
          <a:xfrm>
            <a:off x="304800" y="1524000"/>
            <a:ext cx="8458200" cy="877356"/>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rPr>
              <a:t> Lemma </a:t>
            </a:r>
            <a:r>
              <a:rPr lang="en-US" sz="1600" dirty="0">
                <a:solidFill>
                  <a:schemeClr val="accent3">
                    <a:lumMod val="75000"/>
                  </a:schemeClr>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is a less important theorem that is helpful in the proof of other </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results</a:t>
            </a:r>
            <a:endParaRPr lang="en-US" sz="1600" dirty="0">
              <a:solidFill>
                <a:schemeClr val="accent3">
                  <a:lumMod val="75000"/>
                </a:schemeClr>
              </a:solidFill>
              <a:latin typeface="Comic Sans MS" pitchFamily="66" charset="0"/>
              <a:sym typeface="Symbol" pitchFamily="18" charset="2"/>
            </a:endParaRPr>
          </a:p>
        </p:txBody>
      </p:sp>
      <p:sp>
        <p:nvSpPr>
          <p:cNvPr id="7" name="Rectangle 6"/>
          <p:cNvSpPr>
            <a:spLocks noChangeArrowheads="1"/>
          </p:cNvSpPr>
          <p:nvPr/>
        </p:nvSpPr>
        <p:spPr bwMode="auto">
          <a:xfrm>
            <a:off x="304800" y="2399244"/>
            <a:ext cx="8458200" cy="877356"/>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rPr>
              <a:t>A corollary</a:t>
            </a:r>
            <a:r>
              <a:rPr lang="en-US" dirty="0">
                <a:solidFill>
                  <a:schemeClr val="accent1"/>
                </a:solidFill>
                <a:latin typeface="Comic Sans MS" pitchFamily="66" charset="0"/>
              </a:rPr>
              <a:t> </a:t>
            </a:r>
            <a:r>
              <a:rPr lang="en-US" dirty="0">
                <a:solidFill>
                  <a:schemeClr val="accent3">
                    <a:lumMod val="75000"/>
                  </a:schemeClr>
                </a:solidFill>
                <a:latin typeface="Comic Sans MS" pitchFamily="66" charset="0"/>
                <a:sym typeface="Symbol" pitchFamily="18" charset="2"/>
              </a:rPr>
              <a:t> is a theorem that can be established directly from a theorem </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that has been proved.</a:t>
            </a:r>
          </a:p>
        </p:txBody>
      </p:sp>
      <p:sp>
        <p:nvSpPr>
          <p:cNvPr id="11" name="Rectangle 10"/>
          <p:cNvSpPr>
            <a:spLocks noChangeArrowheads="1"/>
          </p:cNvSpPr>
          <p:nvPr/>
        </p:nvSpPr>
        <p:spPr bwMode="auto">
          <a:xfrm>
            <a:off x="304800" y="3276599"/>
            <a:ext cx="8458200" cy="2169825"/>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rPr>
              <a:t>A conjuncture</a:t>
            </a:r>
            <a:r>
              <a:rPr lang="en-US" dirty="0">
                <a:solidFill>
                  <a:schemeClr val="accent1"/>
                </a:solidFill>
                <a:latin typeface="Comic Sans MS" pitchFamily="66" charset="0"/>
              </a:rPr>
              <a:t> </a:t>
            </a:r>
          </a:p>
          <a:p>
            <a:pPr marL="285750" indent="-285750">
              <a:lnSpc>
                <a:spcPct val="150000"/>
              </a:lnSpc>
              <a:buFont typeface="Arial" panose="020B0604020202020204" pitchFamily="34" charset="0"/>
              <a:buChar char="•"/>
            </a:pPr>
            <a:r>
              <a:rPr lang="en-US" dirty="0">
                <a:solidFill>
                  <a:schemeClr val="accent3">
                    <a:lumMod val="75000"/>
                  </a:schemeClr>
                </a:solidFill>
                <a:latin typeface="Comic Sans MS" pitchFamily="66" charset="0"/>
              </a:rPr>
              <a:t>is a statement that is being proposed to be a true  statement, usually on the basis of some partial evidence.</a:t>
            </a:r>
          </a:p>
          <a:p>
            <a:pPr marL="285750" indent="-285750">
              <a:lnSpc>
                <a:spcPct val="150000"/>
              </a:lnSpc>
              <a:buFont typeface="Arial" panose="020B0604020202020204" pitchFamily="34" charset="0"/>
              <a:buChar char="•"/>
            </a:pPr>
            <a:r>
              <a:rPr lang="en-US" dirty="0">
                <a:solidFill>
                  <a:schemeClr val="accent3">
                    <a:lumMod val="75000"/>
                  </a:schemeClr>
                </a:solidFill>
                <a:latin typeface="Comic Sans MS" pitchFamily="66" charset="0"/>
                <a:sym typeface="Symbol" pitchFamily="18" charset="2"/>
              </a:rPr>
              <a:t>When a </a:t>
            </a:r>
            <a:r>
              <a:rPr lang="en-US" dirty="0">
                <a:solidFill>
                  <a:srgbClr val="002060"/>
                </a:solidFill>
                <a:latin typeface="Comic Sans MS" pitchFamily="66" charset="0"/>
                <a:sym typeface="Symbol" pitchFamily="18" charset="2"/>
              </a:rPr>
              <a:t>proof</a:t>
            </a:r>
            <a:r>
              <a:rPr lang="en-US" dirty="0">
                <a:solidFill>
                  <a:schemeClr val="accent3">
                    <a:lumMod val="75000"/>
                  </a:schemeClr>
                </a:solidFill>
                <a:latin typeface="Comic Sans MS" pitchFamily="66" charset="0"/>
                <a:sym typeface="Symbol" pitchFamily="18" charset="2"/>
              </a:rPr>
              <a:t> of a conjuncture is </a:t>
            </a:r>
            <a:r>
              <a:rPr lang="en-US" dirty="0">
                <a:solidFill>
                  <a:srgbClr val="002060"/>
                </a:solidFill>
                <a:latin typeface="Comic Sans MS" pitchFamily="66" charset="0"/>
                <a:sym typeface="Symbol" pitchFamily="18" charset="2"/>
              </a:rPr>
              <a:t>found</a:t>
            </a:r>
            <a:r>
              <a:rPr lang="en-US" dirty="0">
                <a:solidFill>
                  <a:schemeClr val="accent3">
                    <a:lumMod val="75000"/>
                  </a:schemeClr>
                </a:solidFill>
                <a:latin typeface="Comic Sans MS" pitchFamily="66" charset="0"/>
                <a:sym typeface="Symbol" pitchFamily="18" charset="2"/>
              </a:rPr>
              <a:t>, the conjuncture becomes a  </a:t>
            </a:r>
            <a:r>
              <a:rPr lang="en-US" dirty="0">
                <a:solidFill>
                  <a:srgbClr val="002060"/>
                </a:solidFill>
                <a:latin typeface="Comic Sans MS" pitchFamily="66" charset="0"/>
                <a:sym typeface="Symbol" pitchFamily="18" charset="2"/>
              </a:rPr>
              <a:t>theorem</a:t>
            </a:r>
          </a:p>
        </p:txBody>
      </p:sp>
      <p:sp>
        <p:nvSpPr>
          <p:cNvPr id="9" name="Footer Placeholder 8"/>
          <p:cNvSpPr>
            <a:spLocks noGrp="1"/>
          </p:cNvSpPr>
          <p:nvPr>
            <p:ph type="ftr" sz="quarter" idx="11"/>
          </p:nvPr>
        </p:nvSpPr>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normAutofit fontScale="90000"/>
          </a:bodyPr>
          <a:lstStyle/>
          <a:p>
            <a:r>
              <a:rPr lang="en-US" sz="3600" dirty="0">
                <a:solidFill>
                  <a:schemeClr val="accent1"/>
                </a:solidFill>
                <a:latin typeface="Comic Sans MS" pitchFamily="66" charset="0"/>
              </a:rPr>
              <a:t>Introduction to Proofs (Cont.)</a:t>
            </a:r>
            <a:endParaRPr lang="ar-SA" sz="3600" dirty="0"/>
          </a:p>
        </p:txBody>
      </p:sp>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3D0D8AA9-AE61-49D3-AE4E-15A81A7BE0AE}" type="slidenum">
              <a:rPr lang="en-US" smtClean="0"/>
              <a:pPr/>
              <a:t>5</a:t>
            </a:fld>
            <a:endParaRPr lang="en-US"/>
          </a:p>
        </p:txBody>
      </p:sp>
      <p:sp>
        <p:nvSpPr>
          <p:cNvPr id="5" name="Rectangle 6"/>
          <p:cNvSpPr>
            <a:spLocks noChangeArrowheads="1"/>
          </p:cNvSpPr>
          <p:nvPr/>
        </p:nvSpPr>
        <p:spPr bwMode="auto">
          <a:xfrm>
            <a:off x="282146" y="1752600"/>
            <a:ext cx="8458200" cy="46185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dirty="0">
                <a:solidFill>
                  <a:schemeClr val="accent1"/>
                </a:solidFill>
                <a:latin typeface="Comic Sans MS" pitchFamily="66" charset="0"/>
              </a:rPr>
              <a:t>Methods of proving theorems: </a:t>
            </a:r>
            <a:endParaRPr lang="en-US" dirty="0">
              <a:solidFill>
                <a:schemeClr val="accent3">
                  <a:lumMod val="75000"/>
                </a:schemeClr>
              </a:solidFill>
              <a:latin typeface="Comic Sans MS" pitchFamily="66" charset="0"/>
              <a:sym typeface="Symbol" pitchFamily="18" charset="2"/>
            </a:endParaRPr>
          </a:p>
        </p:txBody>
      </p:sp>
      <p:sp>
        <p:nvSpPr>
          <p:cNvPr id="6" name="Rectangle 8"/>
          <p:cNvSpPr>
            <a:spLocks noChangeArrowheads="1"/>
          </p:cNvSpPr>
          <p:nvPr/>
        </p:nvSpPr>
        <p:spPr bwMode="auto">
          <a:xfrm>
            <a:off x="533400" y="2286000"/>
            <a:ext cx="8305800" cy="2585323"/>
          </a:xfrm>
          <a:prstGeom prst="rect">
            <a:avLst/>
          </a:prstGeom>
          <a:noFill/>
          <a:ln w="9525">
            <a:noFill/>
            <a:miter lim="800000"/>
            <a:headEnd/>
            <a:tailEnd/>
          </a:ln>
        </p:spPr>
        <p:txBody>
          <a:bodyPr>
            <a:spAutoFit/>
          </a:bodyPr>
          <a:lstStyle/>
          <a:p>
            <a:pPr>
              <a:lnSpc>
                <a:spcPct val="150000"/>
              </a:lnSpc>
              <a:buFont typeface="Wingdings" pitchFamily="2" charset="2"/>
              <a:buChar char="Ø"/>
            </a:pPr>
            <a:r>
              <a:rPr lang="en-US" dirty="0">
                <a:solidFill>
                  <a:srgbClr val="D16349"/>
                </a:solidFill>
              </a:rPr>
              <a:t>  </a:t>
            </a:r>
            <a:r>
              <a:rPr lang="en-US" dirty="0">
                <a:solidFill>
                  <a:schemeClr val="accent3">
                    <a:lumMod val="75000"/>
                  </a:schemeClr>
                </a:solidFill>
                <a:latin typeface="Comic Sans MS" pitchFamily="66" charset="0"/>
                <a:sym typeface="Symbol" pitchFamily="18" charset="2"/>
              </a:rPr>
              <a:t>Direct proofs</a:t>
            </a:r>
            <a:endParaRPr lang="en-US" dirty="0">
              <a:solidFill>
                <a:srgbClr val="D16349"/>
              </a:solidFill>
            </a:endParaRPr>
          </a:p>
          <a:p>
            <a:pPr>
              <a:lnSpc>
                <a:spcPct val="150000"/>
              </a:lnSpc>
              <a:buFont typeface="Wingdings" pitchFamily="2" charset="2"/>
              <a:buChar char="Ø"/>
            </a:pPr>
            <a:r>
              <a:rPr lang="en-US" dirty="0">
                <a:solidFill>
                  <a:srgbClr val="D16349"/>
                </a:solidFill>
                <a:sym typeface="Symbol" pitchFamily="18" charset="2"/>
              </a:rPr>
              <a:t>  </a:t>
            </a:r>
            <a:r>
              <a:rPr lang="en-US" dirty="0">
                <a:solidFill>
                  <a:schemeClr val="accent3">
                    <a:lumMod val="75000"/>
                  </a:schemeClr>
                </a:solidFill>
                <a:latin typeface="Comic Sans MS" pitchFamily="66" charset="0"/>
                <a:sym typeface="Symbol" pitchFamily="18" charset="2"/>
              </a:rPr>
              <a:t>Proof by Contraposition</a:t>
            </a:r>
          </a:p>
          <a:p>
            <a:pPr>
              <a:lnSpc>
                <a:spcPct val="150000"/>
              </a:lnSpc>
              <a:buFont typeface="Wingdings" pitchFamily="2" charset="2"/>
              <a:buChar char="Ø"/>
            </a:pPr>
            <a:r>
              <a:rPr lang="en-US" dirty="0">
                <a:solidFill>
                  <a:schemeClr val="accent1"/>
                </a:solidFill>
                <a:latin typeface="Comic Sans MS" pitchFamily="66" charset="0"/>
              </a:rPr>
              <a:t>  </a:t>
            </a:r>
            <a:r>
              <a:rPr lang="en-US" dirty="0">
                <a:solidFill>
                  <a:schemeClr val="accent3">
                    <a:lumMod val="75000"/>
                  </a:schemeClr>
                </a:solidFill>
                <a:latin typeface="Comic Sans MS" pitchFamily="66" charset="0"/>
              </a:rPr>
              <a:t>Vacuous Proofs</a:t>
            </a:r>
          </a:p>
          <a:p>
            <a:pPr>
              <a:lnSpc>
                <a:spcPct val="150000"/>
              </a:lnSpc>
              <a:buFont typeface="Wingdings" pitchFamily="2" charset="2"/>
              <a:buChar char="Ø"/>
            </a:pPr>
            <a:r>
              <a:rPr lang="en-US" dirty="0">
                <a:solidFill>
                  <a:schemeClr val="accent1"/>
                </a:solidFill>
                <a:latin typeface="Comic Sans MS" pitchFamily="66" charset="0"/>
              </a:rPr>
              <a:t>  </a:t>
            </a:r>
            <a:r>
              <a:rPr lang="en-US" dirty="0">
                <a:solidFill>
                  <a:schemeClr val="accent3">
                    <a:lumMod val="75000"/>
                  </a:schemeClr>
                </a:solidFill>
                <a:latin typeface="Comic Sans MS" pitchFamily="66" charset="0"/>
              </a:rPr>
              <a:t>Trivial Proofs</a:t>
            </a:r>
            <a:endParaRPr lang="en-US" dirty="0">
              <a:solidFill>
                <a:schemeClr val="accent3">
                  <a:lumMod val="75000"/>
                </a:schemeClr>
              </a:solidFill>
              <a:latin typeface="Comic Sans MS" pitchFamily="66" charset="0"/>
              <a:sym typeface="Symbol" pitchFamily="18" charset="2"/>
            </a:endParaRPr>
          </a:p>
          <a:p>
            <a:pPr>
              <a:lnSpc>
                <a:spcPct val="150000"/>
              </a:lnSpc>
              <a:buFont typeface="Wingdings" pitchFamily="2" charset="2"/>
              <a:buChar char="Ø"/>
            </a:pPr>
            <a:r>
              <a:rPr lang="en-US" dirty="0">
                <a:solidFill>
                  <a:srgbClr val="D16349"/>
                </a:solidFill>
                <a:sym typeface="Symbol" pitchFamily="18" charset="2"/>
              </a:rPr>
              <a:t>  </a:t>
            </a:r>
            <a:r>
              <a:rPr lang="en-US" dirty="0">
                <a:solidFill>
                  <a:schemeClr val="accent3">
                    <a:lumMod val="75000"/>
                  </a:schemeClr>
                </a:solidFill>
                <a:latin typeface="Comic Sans MS" pitchFamily="66" charset="0"/>
                <a:sym typeface="Symbol" pitchFamily="18" charset="2"/>
              </a:rPr>
              <a:t>Proofs by Contradiction</a:t>
            </a:r>
          </a:p>
          <a:p>
            <a:pPr>
              <a:lnSpc>
                <a:spcPct val="150000"/>
              </a:lnSpc>
              <a:buFont typeface="Wingdings" pitchFamily="2" charset="2"/>
              <a:buChar char="Ø"/>
            </a:pPr>
            <a:r>
              <a:rPr lang="en-US" dirty="0">
                <a:solidFill>
                  <a:srgbClr val="D16349"/>
                </a:solidFill>
              </a:rPr>
              <a:t>  </a:t>
            </a:r>
            <a:r>
              <a:rPr lang="en-US" dirty="0">
                <a:solidFill>
                  <a:schemeClr val="accent3">
                    <a:lumMod val="75000"/>
                  </a:schemeClr>
                </a:solidFill>
                <a:latin typeface="Comic Sans MS" pitchFamily="66" charset="0"/>
                <a:sym typeface="Symbol" pitchFamily="18" charset="2"/>
              </a:rPr>
              <a:t>Proof by cases</a:t>
            </a:r>
          </a:p>
        </p:txBody>
      </p:sp>
    </p:spTree>
    <p:extLst>
      <p:ext uri="{BB962C8B-B14F-4D97-AF65-F5344CB8AC3E}">
        <p14:creationId xmlns:p14="http://schemas.microsoft.com/office/powerpoint/2010/main" val="1390577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3200" dirty="0">
                <a:solidFill>
                  <a:schemeClr val="accent1"/>
                </a:solidFill>
                <a:latin typeface="Comic Sans MS" pitchFamily="66" charset="0"/>
              </a:rPr>
              <a:t>Methods of proving theorems –</a:t>
            </a:r>
            <a:r>
              <a:rPr lang="en-US" sz="2800" dirty="0">
                <a:solidFill>
                  <a:schemeClr val="accent1"/>
                </a:solidFill>
                <a:latin typeface="Comic Sans MS" pitchFamily="66" charset="0"/>
              </a:rPr>
              <a:t> Direct proofs</a:t>
            </a:r>
            <a:endParaRPr lang="en-US" sz="32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6</a:t>
            </a:fld>
            <a:endParaRPr lang="en-US"/>
          </a:p>
        </p:txBody>
      </p:sp>
      <p:sp>
        <p:nvSpPr>
          <p:cNvPr id="6" name="Rectangle 5"/>
          <p:cNvSpPr>
            <a:spLocks noChangeArrowheads="1"/>
          </p:cNvSpPr>
          <p:nvPr/>
        </p:nvSpPr>
        <p:spPr bwMode="auto">
          <a:xfrm>
            <a:off x="323335" y="1654582"/>
            <a:ext cx="8458200" cy="383181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A direct proof </a:t>
            </a:r>
            <a:r>
              <a:rPr lang="en-US" dirty="0">
                <a:solidFill>
                  <a:schemeClr val="accent3">
                    <a:lumMod val="75000"/>
                  </a:schemeClr>
                </a:solidFill>
                <a:latin typeface="Comic Sans MS" pitchFamily="66" charset="0"/>
                <a:sym typeface="Symbol" pitchFamily="18" charset="2"/>
              </a:rPr>
              <a:t>of a conditional statement </a:t>
            </a:r>
            <a:r>
              <a:rPr lang="en-US" dirty="0" err="1">
                <a:latin typeface="Comic Sans MS" pitchFamily="66" charset="0"/>
                <a:sym typeface="Symbol" pitchFamily="18" charset="2"/>
              </a:rPr>
              <a:t>pq</a:t>
            </a:r>
            <a:r>
              <a:rPr lang="en-US" dirty="0">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is constructed when the first step is the assumption that </a:t>
            </a:r>
            <a:r>
              <a:rPr lang="en-US" dirty="0">
                <a:latin typeface="Comic Sans MS" pitchFamily="66" charset="0"/>
                <a:sym typeface="Symbol" pitchFamily="18" charset="2"/>
              </a:rPr>
              <a:t>p</a:t>
            </a:r>
            <a:r>
              <a:rPr lang="en-US" dirty="0">
                <a:solidFill>
                  <a:schemeClr val="accent3">
                    <a:lumMod val="75000"/>
                  </a:schemeClr>
                </a:solidFill>
                <a:latin typeface="Comic Sans MS" pitchFamily="66" charset="0"/>
                <a:sym typeface="Symbol" pitchFamily="18" charset="2"/>
              </a:rPr>
              <a:t> is </a:t>
            </a:r>
            <a:r>
              <a:rPr lang="en-US" dirty="0">
                <a:solidFill>
                  <a:srgbClr val="0070C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 subsequent steps are constructed using rules of  inference, with the final step showing that </a:t>
            </a:r>
            <a:r>
              <a:rPr lang="en-US" dirty="0">
                <a:latin typeface="Comic Sans MS" pitchFamily="66" charset="0"/>
                <a:sym typeface="Symbol" pitchFamily="18" charset="2"/>
              </a:rPr>
              <a:t>q</a:t>
            </a:r>
            <a:r>
              <a:rPr lang="en-US" dirty="0">
                <a:solidFill>
                  <a:schemeClr val="accent3">
                    <a:lumMod val="75000"/>
                  </a:schemeClr>
                </a:solidFill>
                <a:latin typeface="Comic Sans MS" pitchFamily="66" charset="0"/>
                <a:sym typeface="Symbol" pitchFamily="18" charset="2"/>
              </a:rPr>
              <a:t> must also be </a:t>
            </a:r>
            <a:r>
              <a:rPr lang="en-US" dirty="0">
                <a:solidFill>
                  <a:srgbClr val="0070C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a:t>
            </a:r>
          </a:p>
          <a:p>
            <a:pPr marL="285750" indent="-285750">
              <a:lnSpc>
                <a:spcPct val="150000"/>
              </a:lnSpc>
              <a:buFont typeface="Arial" panose="020B0604020202020204" pitchFamily="34" charset="0"/>
              <a:buChar char="•"/>
            </a:pPr>
            <a:r>
              <a:rPr lang="en-US" dirty="0">
                <a:solidFill>
                  <a:schemeClr val="accent1"/>
                </a:solidFill>
                <a:latin typeface="Comic Sans MS" pitchFamily="66" charset="0"/>
                <a:sym typeface="Symbol" pitchFamily="18" charset="2"/>
              </a:rPr>
              <a:t>A</a:t>
            </a:r>
            <a:r>
              <a:rPr lang="en-US" dirty="0">
                <a:solidFill>
                  <a:schemeClr val="accent3">
                    <a:lumMod val="75000"/>
                  </a:schemeClr>
                </a:solidFill>
                <a:latin typeface="Comic Sans MS" pitchFamily="66" charset="0"/>
                <a:sym typeface="Symbol" pitchFamily="18" charset="2"/>
              </a:rPr>
              <a:t> </a:t>
            </a:r>
            <a:r>
              <a:rPr lang="en-US" dirty="0">
                <a:solidFill>
                  <a:schemeClr val="accent1"/>
                </a:solidFill>
                <a:latin typeface="Comic Sans MS" pitchFamily="66" charset="0"/>
                <a:sym typeface="Symbol" pitchFamily="18" charset="2"/>
              </a:rPr>
              <a:t>direct proof </a:t>
            </a:r>
            <a:r>
              <a:rPr lang="en-US" dirty="0">
                <a:solidFill>
                  <a:schemeClr val="accent3">
                    <a:lumMod val="75000"/>
                  </a:schemeClr>
                </a:solidFill>
                <a:latin typeface="Comic Sans MS" pitchFamily="66" charset="0"/>
                <a:sym typeface="Symbol" pitchFamily="18" charset="2"/>
              </a:rPr>
              <a:t>shows that </a:t>
            </a:r>
            <a:r>
              <a:rPr lang="en-US" dirty="0">
                <a:solidFill>
                  <a:srgbClr val="002060"/>
                </a:solidFill>
                <a:latin typeface="Comic Sans MS" pitchFamily="66" charset="0"/>
                <a:sym typeface="Symbol" pitchFamily="18" charset="2"/>
              </a:rPr>
              <a:t>a conditional statement </a:t>
            </a:r>
            <a:r>
              <a:rPr lang="en-US" dirty="0" err="1">
                <a:solidFill>
                  <a:srgbClr val="002060"/>
                </a:solidFill>
                <a:latin typeface="Comic Sans MS" pitchFamily="66" charset="0"/>
                <a:sym typeface="Symbol" pitchFamily="18" charset="2"/>
              </a:rPr>
              <a:t>pq</a:t>
            </a:r>
            <a:r>
              <a:rPr lang="en-US" dirty="0">
                <a:solidFill>
                  <a:srgbClr val="002060"/>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is </a:t>
            </a:r>
            <a:r>
              <a:rPr lang="en-US" dirty="0">
                <a:solidFill>
                  <a:srgbClr val="00206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 by showing that if </a:t>
            </a:r>
            <a:r>
              <a:rPr lang="en-US" dirty="0">
                <a:solidFill>
                  <a:srgbClr val="002060"/>
                </a:solidFill>
                <a:latin typeface="Comic Sans MS" pitchFamily="66" charset="0"/>
                <a:sym typeface="Symbol" pitchFamily="18" charset="2"/>
              </a:rPr>
              <a:t>p</a:t>
            </a:r>
            <a:r>
              <a:rPr lang="en-US" dirty="0">
                <a:solidFill>
                  <a:schemeClr val="accent3">
                    <a:lumMod val="75000"/>
                  </a:schemeClr>
                </a:solidFill>
                <a:latin typeface="Comic Sans MS" pitchFamily="66" charset="0"/>
                <a:sym typeface="Symbol" pitchFamily="18" charset="2"/>
              </a:rPr>
              <a:t> is </a:t>
            </a:r>
            <a:r>
              <a:rPr lang="en-US" dirty="0">
                <a:solidFill>
                  <a:srgbClr val="00206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 then </a:t>
            </a:r>
            <a:r>
              <a:rPr lang="en-US" dirty="0">
                <a:solidFill>
                  <a:srgbClr val="002060"/>
                </a:solidFill>
                <a:latin typeface="Comic Sans MS" pitchFamily="66" charset="0"/>
                <a:sym typeface="Symbol" pitchFamily="18" charset="2"/>
              </a:rPr>
              <a:t>q</a:t>
            </a:r>
            <a:r>
              <a:rPr lang="en-US" dirty="0">
                <a:solidFill>
                  <a:schemeClr val="accent3">
                    <a:lumMod val="75000"/>
                  </a:schemeClr>
                </a:solidFill>
                <a:latin typeface="Comic Sans MS" pitchFamily="66" charset="0"/>
                <a:sym typeface="Symbol" pitchFamily="18" charset="2"/>
              </a:rPr>
              <a:t> must also be </a:t>
            </a:r>
            <a:r>
              <a:rPr lang="en-US" dirty="0">
                <a:solidFill>
                  <a:srgbClr val="00206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 </a:t>
            </a:r>
          </a:p>
          <a:p>
            <a:pPr marL="285750" indent="-285750">
              <a:lnSpc>
                <a:spcPct val="150000"/>
              </a:lnSpc>
              <a:buFont typeface="Arial" panose="020B0604020202020204" pitchFamily="34" charset="0"/>
              <a:buChar char="•"/>
            </a:pPr>
            <a:r>
              <a:rPr lang="en-US" dirty="0">
                <a:solidFill>
                  <a:schemeClr val="accent3">
                    <a:lumMod val="75000"/>
                  </a:schemeClr>
                </a:solidFill>
                <a:latin typeface="Comic Sans MS" pitchFamily="66" charset="0"/>
                <a:sym typeface="Symbol" pitchFamily="18" charset="2"/>
              </a:rPr>
              <a:t>In a direct proof, we assume that p is true and use </a:t>
            </a:r>
            <a:r>
              <a:rPr lang="en-US" dirty="0">
                <a:solidFill>
                  <a:srgbClr val="002060"/>
                </a:solidFill>
                <a:latin typeface="Comic Sans MS" pitchFamily="66" charset="0"/>
                <a:sym typeface="Symbol" pitchFamily="18" charset="2"/>
              </a:rPr>
              <a:t>axioms, definitions</a:t>
            </a:r>
            <a:r>
              <a:rPr lang="en-US" dirty="0">
                <a:solidFill>
                  <a:schemeClr val="accent3">
                    <a:lumMod val="75000"/>
                  </a:schemeClr>
                </a:solidFill>
                <a:latin typeface="Comic Sans MS" pitchFamily="66" charset="0"/>
                <a:sym typeface="Symbol" pitchFamily="18" charset="2"/>
              </a:rPr>
              <a:t>, and </a:t>
            </a:r>
            <a:r>
              <a:rPr lang="en-US" dirty="0">
                <a:solidFill>
                  <a:srgbClr val="002060"/>
                </a:solidFill>
                <a:latin typeface="Comic Sans MS" pitchFamily="66" charset="0"/>
                <a:sym typeface="Symbol" pitchFamily="18" charset="2"/>
              </a:rPr>
              <a:t>previously proven theorems</a:t>
            </a:r>
            <a:r>
              <a:rPr lang="en-US" dirty="0">
                <a:solidFill>
                  <a:schemeClr val="accent3">
                    <a:lumMod val="75000"/>
                  </a:schemeClr>
                </a:solidFill>
                <a:latin typeface="Comic Sans MS" pitchFamily="66" charset="0"/>
                <a:sym typeface="Symbol" pitchFamily="18" charset="2"/>
              </a:rPr>
              <a:t>, together with </a:t>
            </a:r>
            <a:r>
              <a:rPr lang="en-US" dirty="0">
                <a:solidFill>
                  <a:srgbClr val="002060"/>
                </a:solidFill>
                <a:latin typeface="Comic Sans MS" pitchFamily="66" charset="0"/>
                <a:sym typeface="Symbol" pitchFamily="18" charset="2"/>
              </a:rPr>
              <a:t>rules of inference</a:t>
            </a:r>
            <a:r>
              <a:rPr lang="en-US" dirty="0">
                <a:solidFill>
                  <a:schemeClr val="accent3">
                    <a:lumMod val="75000"/>
                  </a:schemeClr>
                </a:solidFill>
                <a:latin typeface="Comic Sans MS" pitchFamily="66" charset="0"/>
                <a:sym typeface="Symbol" pitchFamily="18" charset="2"/>
              </a:rPr>
              <a:t>, to show that q must also be true. </a:t>
            </a:r>
          </a:p>
        </p:txBody>
      </p:sp>
      <p:sp>
        <p:nvSpPr>
          <p:cNvPr id="9" name="Footer Placeholder 8"/>
          <p:cNvSpPr>
            <a:spLocks noGrp="1"/>
          </p:cNvSpPr>
          <p:nvPr>
            <p:ph type="ftr" sz="quarter" idx="11"/>
          </p:nvPr>
        </p:nvSpPr>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صر نائب للتذييل 2"/>
          <p:cNvSpPr>
            <a:spLocks noGrp="1"/>
          </p:cNvSpPr>
          <p:nvPr>
            <p:ph type="ftr" sz="quarter" idx="11"/>
          </p:nvPr>
        </p:nvSpPr>
        <p:spPr/>
        <p:txBody>
          <a:bodyPr/>
          <a:lstStyle/>
          <a:p>
            <a:endParaRPr lang="en-US"/>
          </a:p>
        </p:txBody>
      </p:sp>
      <p:sp>
        <p:nvSpPr>
          <p:cNvPr id="4" name="عنصر نائب لرقم الشريحة 3"/>
          <p:cNvSpPr>
            <a:spLocks noGrp="1"/>
          </p:cNvSpPr>
          <p:nvPr>
            <p:ph type="sldNum" sz="quarter" idx="12"/>
          </p:nvPr>
        </p:nvSpPr>
        <p:spPr/>
        <p:txBody>
          <a:bodyPr/>
          <a:lstStyle/>
          <a:p>
            <a:fld id="{3D0D8AA9-AE61-49D3-AE4E-15A81A7BE0AE}" type="slidenum">
              <a:rPr lang="en-US" smtClean="0"/>
              <a:pPr/>
              <a:t>7</a:t>
            </a:fld>
            <a:endParaRPr lang="en-US"/>
          </a:p>
        </p:txBody>
      </p:sp>
      <p:sp>
        <p:nvSpPr>
          <p:cNvPr id="5" name="Rectangle 10"/>
          <p:cNvSpPr>
            <a:spLocks noChangeArrowheads="1"/>
          </p:cNvSpPr>
          <p:nvPr/>
        </p:nvSpPr>
        <p:spPr bwMode="auto">
          <a:xfrm>
            <a:off x="329514" y="1600200"/>
            <a:ext cx="8458200" cy="923330"/>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Definition : </a:t>
            </a:r>
            <a:r>
              <a:rPr lang="en-US" dirty="0">
                <a:solidFill>
                  <a:schemeClr val="accent3">
                    <a:lumMod val="75000"/>
                  </a:schemeClr>
                </a:solidFill>
                <a:latin typeface="Comic Sans MS" pitchFamily="66" charset="0"/>
                <a:sym typeface="Symbol" pitchFamily="18" charset="2"/>
              </a:rPr>
              <a:t>The integer </a:t>
            </a:r>
            <a:r>
              <a:rPr lang="en-US" dirty="0">
                <a:solidFill>
                  <a:srgbClr val="C00000"/>
                </a:solidFill>
                <a:latin typeface="Comic Sans MS" pitchFamily="66" charset="0"/>
                <a:sym typeface="Symbol" pitchFamily="18" charset="2"/>
              </a:rPr>
              <a:t>n</a:t>
            </a:r>
            <a:r>
              <a:rPr lang="en-US" dirty="0">
                <a:solidFill>
                  <a:schemeClr val="accent3">
                    <a:lumMod val="75000"/>
                  </a:schemeClr>
                </a:solidFill>
                <a:latin typeface="Comic Sans MS" pitchFamily="66" charset="0"/>
                <a:sym typeface="Symbol" pitchFamily="18" charset="2"/>
              </a:rPr>
              <a:t> is </a:t>
            </a:r>
            <a:r>
              <a:rPr lang="en-US" dirty="0">
                <a:solidFill>
                  <a:srgbClr val="0070C0"/>
                </a:solidFill>
                <a:latin typeface="Comic Sans MS" pitchFamily="66" charset="0"/>
                <a:sym typeface="Symbol" pitchFamily="18" charset="2"/>
              </a:rPr>
              <a:t>even</a:t>
            </a:r>
            <a:r>
              <a:rPr lang="en-US" dirty="0">
                <a:solidFill>
                  <a:schemeClr val="accent3">
                    <a:lumMod val="75000"/>
                  </a:schemeClr>
                </a:solidFill>
                <a:latin typeface="Comic Sans MS" pitchFamily="66" charset="0"/>
                <a:sym typeface="Symbol" pitchFamily="18" charset="2"/>
              </a:rPr>
              <a:t> if there exists an integer </a:t>
            </a:r>
            <a:r>
              <a:rPr lang="en-US" dirty="0">
                <a:solidFill>
                  <a:srgbClr val="C00000"/>
                </a:solidFill>
                <a:latin typeface="Comic Sans MS" pitchFamily="66" charset="0"/>
                <a:sym typeface="Symbol" pitchFamily="18" charset="2"/>
              </a:rPr>
              <a:t>k</a:t>
            </a:r>
            <a:r>
              <a:rPr lang="en-US" dirty="0">
                <a:solidFill>
                  <a:schemeClr val="accent3">
                    <a:lumMod val="75000"/>
                  </a:schemeClr>
                </a:solidFill>
                <a:latin typeface="Comic Sans MS" pitchFamily="66" charset="0"/>
                <a:sym typeface="Symbol" pitchFamily="18" charset="2"/>
              </a:rPr>
              <a:t> such that </a:t>
            </a:r>
            <a:r>
              <a:rPr lang="en-US" dirty="0">
                <a:solidFill>
                  <a:srgbClr val="C00000"/>
                </a:solidFill>
                <a:latin typeface="Comic Sans MS" pitchFamily="66" charset="0"/>
                <a:sym typeface="Symbol" pitchFamily="18" charset="2"/>
              </a:rPr>
              <a:t>n = 2k</a:t>
            </a:r>
            <a:r>
              <a:rPr lang="en-US" dirty="0">
                <a:solidFill>
                  <a:schemeClr val="accent3">
                    <a:lumMod val="75000"/>
                  </a:schemeClr>
                </a:solidFill>
                <a:latin typeface="Comic Sans MS" pitchFamily="66" charset="0"/>
                <a:sym typeface="Symbol" pitchFamily="18" charset="2"/>
              </a:rPr>
              <a:t>, and </a:t>
            </a:r>
            <a:r>
              <a:rPr lang="en-US" dirty="0">
                <a:solidFill>
                  <a:srgbClr val="C00000"/>
                </a:solidFill>
                <a:latin typeface="Comic Sans MS" pitchFamily="66" charset="0"/>
                <a:sym typeface="Symbol" pitchFamily="18" charset="2"/>
              </a:rPr>
              <a:t>n</a:t>
            </a:r>
            <a:r>
              <a:rPr lang="en-US" dirty="0">
                <a:solidFill>
                  <a:schemeClr val="accent3">
                    <a:lumMod val="75000"/>
                  </a:schemeClr>
                </a:solidFill>
                <a:latin typeface="Comic Sans MS" pitchFamily="66" charset="0"/>
                <a:sym typeface="Symbol" pitchFamily="18" charset="2"/>
              </a:rPr>
              <a:t> is </a:t>
            </a:r>
            <a:r>
              <a:rPr lang="en-US" dirty="0">
                <a:solidFill>
                  <a:srgbClr val="0070C0"/>
                </a:solidFill>
                <a:latin typeface="Comic Sans MS" pitchFamily="66" charset="0"/>
                <a:sym typeface="Symbol" pitchFamily="18" charset="2"/>
              </a:rPr>
              <a:t>odd</a:t>
            </a:r>
            <a:r>
              <a:rPr lang="en-US" dirty="0">
                <a:solidFill>
                  <a:schemeClr val="accent3">
                    <a:lumMod val="75000"/>
                  </a:schemeClr>
                </a:solidFill>
                <a:latin typeface="Comic Sans MS" pitchFamily="66" charset="0"/>
                <a:sym typeface="Symbol" pitchFamily="18" charset="2"/>
              </a:rPr>
              <a:t> if there exists an integer </a:t>
            </a:r>
            <a:r>
              <a:rPr lang="en-US" dirty="0">
                <a:solidFill>
                  <a:srgbClr val="C00000"/>
                </a:solidFill>
                <a:latin typeface="Comic Sans MS" pitchFamily="66" charset="0"/>
                <a:sym typeface="Symbol" pitchFamily="18" charset="2"/>
              </a:rPr>
              <a:t>k</a:t>
            </a:r>
            <a:r>
              <a:rPr lang="en-US" dirty="0">
                <a:solidFill>
                  <a:schemeClr val="accent3">
                    <a:lumMod val="75000"/>
                  </a:schemeClr>
                </a:solidFill>
                <a:latin typeface="Comic Sans MS" pitchFamily="66" charset="0"/>
                <a:sym typeface="Symbol" pitchFamily="18" charset="2"/>
              </a:rPr>
              <a:t> such that n = </a:t>
            </a:r>
            <a:r>
              <a:rPr lang="en-US" dirty="0">
                <a:solidFill>
                  <a:srgbClr val="C00000"/>
                </a:solidFill>
                <a:latin typeface="Comic Sans MS" pitchFamily="66" charset="0"/>
                <a:sym typeface="Symbol" pitchFamily="18" charset="2"/>
              </a:rPr>
              <a:t>2k + 1</a:t>
            </a:r>
            <a:r>
              <a:rPr lang="en-US" dirty="0">
                <a:solidFill>
                  <a:schemeClr val="accent3">
                    <a:lumMod val="75000"/>
                  </a:schemeClr>
                </a:solidFill>
                <a:latin typeface="Comic Sans MS" pitchFamily="66" charset="0"/>
                <a:sym typeface="Symbol" pitchFamily="18" charset="2"/>
              </a:rPr>
              <a:t>. </a:t>
            </a:r>
          </a:p>
        </p:txBody>
      </p:sp>
      <p:sp>
        <p:nvSpPr>
          <p:cNvPr id="6" name="Rectangle 11"/>
          <p:cNvSpPr>
            <a:spLocks noChangeArrowheads="1"/>
          </p:cNvSpPr>
          <p:nvPr/>
        </p:nvSpPr>
        <p:spPr bwMode="auto">
          <a:xfrm>
            <a:off x="301752" y="2662189"/>
            <a:ext cx="8305800" cy="923330"/>
          </a:xfrm>
          <a:prstGeom prst="rect">
            <a:avLst/>
          </a:prstGeom>
          <a:noFill/>
          <a:ln w="9525">
            <a:noFill/>
            <a:miter lim="800000"/>
            <a:headEnd/>
            <a:tailEnd/>
          </a:ln>
        </p:spPr>
        <p:txBody>
          <a:bodyPr>
            <a:spAutoFit/>
          </a:bodyPr>
          <a:lstStyle/>
          <a:p>
            <a:pPr>
              <a:lnSpc>
                <a:spcPct val="150000"/>
              </a:lnSpc>
              <a:buFont typeface="Wingdings" pitchFamily="2" charset="2"/>
              <a:buChar char="Ø"/>
            </a:pPr>
            <a:r>
              <a:rPr lang="en-US" dirty="0">
                <a:solidFill>
                  <a:srgbClr val="D16349"/>
                </a:solidFill>
              </a:rPr>
              <a:t>  </a:t>
            </a:r>
            <a:r>
              <a:rPr lang="en-US" dirty="0">
                <a:solidFill>
                  <a:schemeClr val="accent3">
                    <a:lumMod val="75000"/>
                  </a:schemeClr>
                </a:solidFill>
                <a:latin typeface="Comic Sans MS" pitchFamily="66" charset="0"/>
                <a:sym typeface="Symbol" pitchFamily="18" charset="2"/>
              </a:rPr>
              <a:t>Note that every integer is either even or odd, and no integer is both even and odd.</a:t>
            </a:r>
          </a:p>
        </p:txBody>
      </p:sp>
      <p:sp>
        <p:nvSpPr>
          <p:cNvPr id="7" name="Rectangle 12"/>
          <p:cNvSpPr>
            <a:spLocks noChangeArrowheads="1"/>
          </p:cNvSpPr>
          <p:nvPr/>
        </p:nvSpPr>
        <p:spPr bwMode="auto">
          <a:xfrm>
            <a:off x="329514" y="3581400"/>
            <a:ext cx="8305800" cy="877356"/>
          </a:xfrm>
          <a:prstGeom prst="rect">
            <a:avLst/>
          </a:prstGeom>
          <a:noFill/>
          <a:ln w="9525">
            <a:noFill/>
            <a:miter lim="800000"/>
            <a:headEnd/>
            <a:tailEnd/>
          </a:ln>
        </p:spPr>
        <p:txBody>
          <a:bodyPr>
            <a:spAutoFit/>
          </a:bodyPr>
          <a:lstStyle/>
          <a:p>
            <a:pPr>
              <a:lnSpc>
                <a:spcPct val="150000"/>
              </a:lnSpc>
              <a:buFont typeface="Wingdings" pitchFamily="2" charset="2"/>
              <a:buChar char="Ø"/>
            </a:pPr>
            <a:r>
              <a:rPr lang="en-US" dirty="0">
                <a:solidFill>
                  <a:srgbClr val="D16349"/>
                </a:solidFill>
              </a:rPr>
              <a:t>  </a:t>
            </a:r>
            <a:r>
              <a:rPr lang="en-US" dirty="0">
                <a:solidFill>
                  <a:schemeClr val="accent3">
                    <a:lumMod val="75000"/>
                  </a:schemeClr>
                </a:solidFill>
                <a:latin typeface="Comic Sans MS" pitchFamily="66" charset="0"/>
                <a:sym typeface="Symbol" pitchFamily="18" charset="2"/>
              </a:rPr>
              <a:t>Two integers have the </a:t>
            </a:r>
            <a:r>
              <a:rPr lang="en-US" dirty="0">
                <a:solidFill>
                  <a:srgbClr val="002060"/>
                </a:solidFill>
                <a:latin typeface="Comic Sans MS" pitchFamily="66" charset="0"/>
                <a:sym typeface="Symbol" pitchFamily="18" charset="2"/>
              </a:rPr>
              <a:t>same parity </a:t>
            </a:r>
            <a:r>
              <a:rPr lang="en-US" dirty="0">
                <a:solidFill>
                  <a:schemeClr val="accent3">
                    <a:lumMod val="75000"/>
                  </a:schemeClr>
                </a:solidFill>
                <a:latin typeface="Comic Sans MS" pitchFamily="66" charset="0"/>
                <a:sym typeface="Symbol" pitchFamily="18" charset="2"/>
              </a:rPr>
              <a:t>when </a:t>
            </a:r>
            <a:r>
              <a:rPr lang="en-US" dirty="0">
                <a:solidFill>
                  <a:srgbClr val="002060"/>
                </a:solidFill>
                <a:latin typeface="Comic Sans MS" pitchFamily="66" charset="0"/>
                <a:sym typeface="Symbol" pitchFamily="18" charset="2"/>
              </a:rPr>
              <a:t>both</a:t>
            </a:r>
            <a:r>
              <a:rPr lang="en-US" dirty="0">
                <a:solidFill>
                  <a:schemeClr val="accent3">
                    <a:lumMod val="75000"/>
                  </a:schemeClr>
                </a:solidFill>
                <a:latin typeface="Comic Sans MS" pitchFamily="66" charset="0"/>
                <a:sym typeface="Symbol" pitchFamily="18" charset="2"/>
              </a:rPr>
              <a:t> are even or both are odd; they have opposite parity when one is even and the other is odd.</a:t>
            </a:r>
          </a:p>
        </p:txBody>
      </p:sp>
      <p:sp>
        <p:nvSpPr>
          <p:cNvPr id="9" name="Title 1"/>
          <p:cNvSpPr txBox="1">
            <a:spLocks/>
          </p:cNvSpPr>
          <p:nvPr/>
        </p:nvSpPr>
        <p:spPr>
          <a:xfrm>
            <a:off x="301752" y="228600"/>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3200" dirty="0">
                <a:solidFill>
                  <a:schemeClr val="accent1"/>
                </a:solidFill>
                <a:latin typeface="Comic Sans MS" pitchFamily="66" charset="0"/>
              </a:rPr>
              <a:t>Methods of proving theorems –</a:t>
            </a:r>
            <a:r>
              <a:rPr lang="en-US" sz="2800" dirty="0">
                <a:solidFill>
                  <a:schemeClr val="accent1"/>
                </a:solidFill>
                <a:latin typeface="Comic Sans MS" pitchFamily="66" charset="0"/>
              </a:rPr>
              <a:t> Direct proofs</a:t>
            </a:r>
            <a:endParaRPr lang="en-US" sz="3200" dirty="0"/>
          </a:p>
        </p:txBody>
      </p:sp>
    </p:spTree>
    <p:extLst>
      <p:ext uri="{BB962C8B-B14F-4D97-AF65-F5344CB8AC3E}">
        <p14:creationId xmlns:p14="http://schemas.microsoft.com/office/powerpoint/2010/main" val="696290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3200" dirty="0">
                <a:solidFill>
                  <a:schemeClr val="accent1"/>
                </a:solidFill>
                <a:latin typeface="Comic Sans MS" pitchFamily="66" charset="0"/>
              </a:rPr>
              <a:t>Methods of proving theorems –</a:t>
            </a:r>
            <a:r>
              <a:rPr lang="en-US" sz="2800" dirty="0">
                <a:solidFill>
                  <a:schemeClr val="accent1"/>
                </a:solidFill>
                <a:latin typeface="Comic Sans MS" pitchFamily="66" charset="0"/>
              </a:rPr>
              <a:t> Direct proofs</a:t>
            </a:r>
            <a:endParaRPr lang="en-US" sz="32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8</a:t>
            </a:fld>
            <a:endParaRPr lang="en-US"/>
          </a:p>
        </p:txBody>
      </p:sp>
      <p:sp>
        <p:nvSpPr>
          <p:cNvPr id="6" name="Rectangle 5"/>
          <p:cNvSpPr>
            <a:spLocks noChangeArrowheads="1"/>
          </p:cNvSpPr>
          <p:nvPr/>
        </p:nvSpPr>
        <p:spPr bwMode="auto">
          <a:xfrm>
            <a:off x="304800" y="1371600"/>
            <a:ext cx="8458200" cy="877163"/>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dirty="0">
                <a:solidFill>
                  <a:schemeClr val="accent1"/>
                </a:solidFill>
                <a:latin typeface="Comic Sans MS" pitchFamily="66" charset="0"/>
                <a:sym typeface="Symbol" pitchFamily="18" charset="2"/>
              </a:rPr>
              <a:t>Example</a:t>
            </a:r>
            <a:r>
              <a:rPr lang="en-US" sz="1600" u="sng" dirty="0">
                <a:solidFill>
                  <a:schemeClr val="accent1"/>
                </a:solidFill>
                <a:latin typeface="Comic Sans MS" pitchFamily="66" charset="0"/>
                <a:sym typeface="Symbol" pitchFamily="18" charset="2"/>
              </a:rPr>
              <a:t> </a:t>
            </a:r>
            <a:r>
              <a:rPr lang="en-US" sz="1600" dirty="0">
                <a:solidFill>
                  <a:schemeClr val="accent3">
                    <a:lumMod val="75000"/>
                  </a:schemeClr>
                </a:solidFill>
                <a:latin typeface="Comic Sans MS" pitchFamily="66" charset="0"/>
                <a:sym typeface="Symbol" pitchFamily="18" charset="2"/>
              </a:rPr>
              <a:t>Give a direct proof of the theorem :</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a:t>
            </a:r>
            <a:r>
              <a:rPr lang="en-US" sz="1600" dirty="0">
                <a:solidFill>
                  <a:srgbClr val="C00000"/>
                </a:solidFill>
                <a:latin typeface="Comic Sans MS" pitchFamily="66" charset="0"/>
                <a:sym typeface="Symbol" pitchFamily="18" charset="2"/>
              </a:rPr>
              <a:t>If n is an odd integer, then </a:t>
            </a:r>
            <a:r>
              <a:rPr lang="en-US" sz="1600" dirty="0">
                <a:solidFill>
                  <a:srgbClr val="C00000"/>
                </a:solidFill>
                <a:latin typeface="Comic Sans MS" pitchFamily="66" charset="0"/>
              </a:rPr>
              <a:t>n</a:t>
            </a:r>
            <a:r>
              <a:rPr lang="en-US" sz="1600" baseline="30000" dirty="0">
                <a:solidFill>
                  <a:srgbClr val="C00000"/>
                </a:solidFill>
                <a:latin typeface="Comic Sans MS" pitchFamily="66" charset="0"/>
              </a:rPr>
              <a:t>2</a:t>
            </a:r>
            <a:r>
              <a:rPr lang="en-US" sz="1600" dirty="0">
                <a:solidFill>
                  <a:srgbClr val="C00000"/>
                </a:solidFill>
                <a:latin typeface="Comic Sans MS" pitchFamily="66" charset="0"/>
                <a:sym typeface="Symbol" pitchFamily="18" charset="2"/>
              </a:rPr>
              <a:t> is odd</a:t>
            </a:r>
            <a:r>
              <a:rPr lang="en-US" sz="1600" dirty="0">
                <a:solidFill>
                  <a:schemeClr val="accent3">
                    <a:lumMod val="75000"/>
                  </a:schemeClr>
                </a:solidFill>
                <a:latin typeface="Comic Sans MS" pitchFamily="66" charset="0"/>
                <a:sym typeface="Symbol" pitchFamily="18" charset="2"/>
              </a:rPr>
              <a:t>.”</a:t>
            </a:r>
          </a:p>
        </p:txBody>
      </p:sp>
      <p:sp>
        <p:nvSpPr>
          <p:cNvPr id="12" name="Rectangle 11"/>
          <p:cNvSpPr>
            <a:spLocks noChangeArrowheads="1"/>
          </p:cNvSpPr>
          <p:nvPr/>
        </p:nvSpPr>
        <p:spPr bwMode="auto">
          <a:xfrm>
            <a:off x="457200" y="2209800"/>
            <a:ext cx="8305800" cy="338554"/>
          </a:xfrm>
          <a:prstGeom prst="rect">
            <a:avLst/>
          </a:prstGeom>
          <a:noFill/>
          <a:ln w="9525">
            <a:noFill/>
            <a:miter lim="800000"/>
            <a:headEnd/>
            <a:tailEnd/>
          </a:ln>
        </p:spPr>
        <p:txBody>
          <a:bodyPr>
            <a:spAutoFit/>
          </a:bodyPr>
          <a:lstStyle/>
          <a:p>
            <a:pPr>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p>
        </p:txBody>
      </p:sp>
      <p:sp>
        <p:nvSpPr>
          <p:cNvPr id="9" name="Rectangle 8"/>
          <p:cNvSpPr>
            <a:spLocks noChangeArrowheads="1"/>
          </p:cNvSpPr>
          <p:nvPr/>
        </p:nvSpPr>
        <p:spPr bwMode="auto">
          <a:xfrm>
            <a:off x="1447800" y="2438400"/>
            <a:ext cx="30480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We assume that </a:t>
            </a:r>
            <a:r>
              <a:rPr lang="en-US" dirty="0">
                <a:solidFill>
                  <a:srgbClr val="C00000"/>
                </a:solidFill>
                <a:latin typeface="Comic Sans MS" pitchFamily="66" charset="0"/>
              </a:rPr>
              <a:t>n</a:t>
            </a:r>
            <a:r>
              <a:rPr lang="en-US" dirty="0">
                <a:solidFill>
                  <a:srgbClr val="0070C0"/>
                </a:solidFill>
                <a:latin typeface="Comic Sans MS" pitchFamily="66" charset="0"/>
              </a:rPr>
              <a:t> is odd.</a:t>
            </a:r>
            <a:endParaRPr lang="en-US" dirty="0">
              <a:solidFill>
                <a:srgbClr val="0070C0"/>
              </a:solidFill>
              <a:latin typeface="Comic Sans MS" pitchFamily="66" charset="0"/>
              <a:sym typeface="Symbol" pitchFamily="18" charset="2"/>
            </a:endParaRPr>
          </a:p>
        </p:txBody>
      </p:sp>
      <p:sp>
        <p:nvSpPr>
          <p:cNvPr id="14" name="Rectangle 13"/>
          <p:cNvSpPr/>
          <p:nvPr/>
        </p:nvSpPr>
        <p:spPr>
          <a:xfrm>
            <a:off x="4267200" y="2450068"/>
            <a:ext cx="1380506"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hypothesis</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15" name="Rectangle 14"/>
          <p:cNvSpPr>
            <a:spLocks noChangeArrowheads="1"/>
          </p:cNvSpPr>
          <p:nvPr/>
        </p:nvSpPr>
        <p:spPr bwMode="auto">
          <a:xfrm>
            <a:off x="1447800" y="2819400"/>
            <a:ext cx="46482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n = 2k + 1, where k is some integer.</a:t>
            </a:r>
            <a:endParaRPr lang="en-US" dirty="0">
              <a:solidFill>
                <a:srgbClr val="0070C0"/>
              </a:solidFill>
              <a:latin typeface="Comic Sans MS" pitchFamily="66" charset="0"/>
              <a:sym typeface="Symbol" pitchFamily="18" charset="2"/>
            </a:endParaRPr>
          </a:p>
        </p:txBody>
      </p:sp>
      <p:sp>
        <p:nvSpPr>
          <p:cNvPr id="16" name="Rectangle 15"/>
          <p:cNvSpPr/>
          <p:nvPr/>
        </p:nvSpPr>
        <p:spPr>
          <a:xfrm>
            <a:off x="5562600" y="2819400"/>
            <a:ext cx="2731838"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definition of odd number</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19" name="Rectangle 18"/>
          <p:cNvSpPr>
            <a:spLocks noChangeArrowheads="1"/>
          </p:cNvSpPr>
          <p:nvPr/>
        </p:nvSpPr>
        <p:spPr bwMode="auto">
          <a:xfrm>
            <a:off x="1452006" y="3962400"/>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a:t>
            </a:r>
            <a:r>
              <a:rPr lang="en-US" dirty="0">
                <a:solidFill>
                  <a:srgbClr val="0070C0"/>
                </a:solidFill>
                <a:latin typeface="Comic Sans MS" pitchFamily="66" charset="0"/>
                <a:sym typeface="Symbol" pitchFamily="18" charset="2"/>
              </a:rPr>
              <a:t>n</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(2k+1)</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4k</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 + 4k + 1 = 2(2k</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+2k)+1 </a:t>
            </a:r>
          </a:p>
        </p:txBody>
      </p:sp>
      <p:sp>
        <p:nvSpPr>
          <p:cNvPr id="20" name="Rectangle 19"/>
          <p:cNvSpPr/>
          <p:nvPr/>
        </p:nvSpPr>
        <p:spPr>
          <a:xfrm>
            <a:off x="6176406" y="3974068"/>
            <a:ext cx="1446230"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By squaring</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1" name="Rectangle 20"/>
          <p:cNvSpPr>
            <a:spLocks noChangeArrowheads="1"/>
          </p:cNvSpPr>
          <p:nvPr/>
        </p:nvSpPr>
        <p:spPr bwMode="auto">
          <a:xfrm>
            <a:off x="1447800" y="4355068"/>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Since  r = 2k</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+2k is an integer   </a:t>
            </a:r>
          </a:p>
        </p:txBody>
      </p:sp>
      <p:sp>
        <p:nvSpPr>
          <p:cNvPr id="22" name="Rectangle 21"/>
          <p:cNvSpPr/>
          <p:nvPr/>
        </p:nvSpPr>
        <p:spPr>
          <a:xfrm>
            <a:off x="4953000" y="4343400"/>
            <a:ext cx="950901"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Axiom</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3" name="Rectangle 22"/>
          <p:cNvSpPr>
            <a:spLocks noChangeArrowheads="1"/>
          </p:cNvSpPr>
          <p:nvPr/>
        </p:nvSpPr>
        <p:spPr bwMode="auto">
          <a:xfrm>
            <a:off x="1447800" y="4812268"/>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a:t>
            </a:r>
            <a:r>
              <a:rPr lang="en-US" dirty="0">
                <a:solidFill>
                  <a:srgbClr val="0070C0"/>
                </a:solidFill>
                <a:latin typeface="Comic Sans MS" pitchFamily="66" charset="0"/>
                <a:sym typeface="Symbol" pitchFamily="18" charset="2"/>
              </a:rPr>
              <a:t>n</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2r+1  is odd. </a:t>
            </a:r>
          </a:p>
        </p:txBody>
      </p:sp>
      <p:sp>
        <p:nvSpPr>
          <p:cNvPr id="25" name="Rectangle 24"/>
          <p:cNvSpPr>
            <a:spLocks noChangeArrowheads="1"/>
          </p:cNvSpPr>
          <p:nvPr/>
        </p:nvSpPr>
        <p:spPr bwMode="auto">
          <a:xfrm>
            <a:off x="228600" y="5334000"/>
            <a:ext cx="8458200" cy="877163"/>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sym typeface="Symbol" pitchFamily="18" charset="2"/>
              </a:rPr>
              <a:t> </a:t>
            </a:r>
            <a:r>
              <a:rPr lang="en-US" sz="1600" dirty="0">
                <a:solidFill>
                  <a:srgbClr val="D16349"/>
                </a:solidFill>
                <a:latin typeface="Comic Sans MS" pitchFamily="66" charset="0"/>
                <a:sym typeface="Symbol" pitchFamily="18" charset="2"/>
              </a:rPr>
              <a:t>Example </a:t>
            </a:r>
            <a:r>
              <a:rPr lang="en-US" dirty="0">
                <a:solidFill>
                  <a:srgbClr val="D16349"/>
                </a:solidFill>
                <a:latin typeface="Comic Sans MS" pitchFamily="66" charset="0"/>
                <a:sym typeface="Symbol" pitchFamily="18" charset="2"/>
              </a:rPr>
              <a:t>:</a:t>
            </a:r>
            <a:r>
              <a:rPr lang="en-US" sz="1600" dirty="0">
                <a:solidFill>
                  <a:schemeClr val="accent3">
                    <a:lumMod val="75000"/>
                  </a:schemeClr>
                </a:solidFill>
                <a:latin typeface="Comic Sans MS" pitchFamily="66" charset="0"/>
                <a:sym typeface="Symbol" pitchFamily="18" charset="2"/>
              </a:rPr>
              <a:t>Use a direct proof to show that :</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a:t>
            </a:r>
            <a:r>
              <a:rPr lang="en-US" sz="1600" dirty="0">
                <a:solidFill>
                  <a:srgbClr val="C00000"/>
                </a:solidFill>
                <a:latin typeface="Comic Sans MS" pitchFamily="66" charset="0"/>
                <a:sym typeface="Symbol" pitchFamily="18" charset="2"/>
              </a:rPr>
              <a:t>If n is an even integer, then  </a:t>
            </a:r>
            <a:r>
              <a:rPr lang="en-US" sz="1600" dirty="0">
                <a:solidFill>
                  <a:srgbClr val="C00000"/>
                </a:solidFill>
                <a:latin typeface="Comic Sans MS" pitchFamily="66" charset="0"/>
              </a:rPr>
              <a:t>n</a:t>
            </a:r>
            <a:r>
              <a:rPr lang="en-US" sz="1600" baseline="30000" dirty="0">
                <a:solidFill>
                  <a:srgbClr val="C00000"/>
                </a:solidFill>
                <a:latin typeface="Comic Sans MS" pitchFamily="66" charset="0"/>
              </a:rPr>
              <a:t>2</a:t>
            </a:r>
            <a:r>
              <a:rPr lang="en-US" sz="1600" dirty="0">
                <a:solidFill>
                  <a:srgbClr val="C00000"/>
                </a:solidFill>
                <a:latin typeface="Comic Sans MS" pitchFamily="66" charset="0"/>
                <a:sym typeface="Symbol" pitchFamily="18" charset="2"/>
              </a:rPr>
              <a:t> is even</a:t>
            </a:r>
            <a:r>
              <a:rPr lang="en-US" sz="1600" dirty="0">
                <a:solidFill>
                  <a:schemeClr val="accent3">
                    <a:lumMod val="75000"/>
                  </a:schemeClr>
                </a:solidFill>
                <a:latin typeface="Comic Sans MS" pitchFamily="66" charset="0"/>
                <a:sym typeface="Symbol" pitchFamily="18" charset="2"/>
              </a:rPr>
              <a:t>.”</a:t>
            </a:r>
          </a:p>
        </p:txBody>
      </p:sp>
      <p:sp>
        <p:nvSpPr>
          <p:cNvPr id="24" name="Footer Placeholder 23"/>
          <p:cNvSpPr>
            <a:spLocks noGrp="1"/>
          </p:cNvSpPr>
          <p:nvPr>
            <p:ph type="ftr" sz="quarter" idx="11"/>
          </p:nvPr>
        </p:nvSpPr>
        <p:spPr/>
        <p:txBody>
          <a:bodyPr/>
          <a:lstStyle/>
          <a:p>
            <a:endParaRPr lang="en-US"/>
          </a:p>
        </p:txBody>
      </p:sp>
      <p:sp>
        <p:nvSpPr>
          <p:cNvPr id="4" name="مربع نص 3"/>
          <p:cNvSpPr txBox="1"/>
          <p:nvPr/>
        </p:nvSpPr>
        <p:spPr>
          <a:xfrm>
            <a:off x="1600200" y="3124200"/>
            <a:ext cx="5105400" cy="830997"/>
          </a:xfrm>
          <a:prstGeom prst="rect">
            <a:avLst/>
          </a:prstGeom>
          <a:noFill/>
        </p:spPr>
        <p:txBody>
          <a:bodyPr wrap="square" rtlCol="1">
            <a:spAutoFit/>
          </a:bodyPr>
          <a:lstStyle/>
          <a:p>
            <a:pPr>
              <a:lnSpc>
                <a:spcPct val="150000"/>
              </a:lnSpc>
            </a:pPr>
            <a:r>
              <a:rPr lang="en-US" sz="1600" dirty="0">
                <a:solidFill>
                  <a:srgbClr val="0070C0"/>
                </a:solidFill>
                <a:latin typeface="Comic Sans MS" pitchFamily="66" charset="0"/>
              </a:rPr>
              <a:t>We can square both sides of the equation n = 2k + 1 to obtain a new equation that expresses n</a:t>
            </a:r>
            <a:r>
              <a:rPr lang="en-US" sz="1600" baseline="30000" dirty="0">
                <a:solidFill>
                  <a:srgbClr val="0070C0"/>
                </a:solidFill>
                <a:latin typeface="Comic Sans MS" pitchFamily="66" charset="0"/>
              </a:rPr>
              <a:t>2</a:t>
            </a:r>
            <a:endParaRPr lang="ar-SA" sz="1600" dirty="0">
              <a:solidFill>
                <a:srgbClr val="0070C0"/>
              </a:solidFill>
            </a:endParaRPr>
          </a:p>
        </p:txBody>
      </p:sp>
      <p:pic>
        <p:nvPicPr>
          <p:cNvPr id="26" name="صورة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3644" y="5238478"/>
            <a:ext cx="1054025" cy="10682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p:bldP spid="14" grpId="0"/>
      <p:bldP spid="15" grpId="0"/>
      <p:bldP spid="16" grpId="0"/>
      <p:bldP spid="19" grpId="0"/>
      <p:bldP spid="20" grpId="0"/>
      <p:bldP spid="21" grpId="0"/>
      <p:bldP spid="22" grpId="0"/>
      <p:bldP spid="23"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685800"/>
          </a:xfrm>
        </p:spPr>
        <p:txBody>
          <a:bodyPr>
            <a:noAutofit/>
          </a:bodyPr>
          <a:lstStyle/>
          <a:p>
            <a:r>
              <a:rPr lang="en-US" sz="2800" dirty="0">
                <a:solidFill>
                  <a:schemeClr val="accent1"/>
                </a:solidFill>
                <a:latin typeface="Comic Sans MS" pitchFamily="66" charset="0"/>
              </a:rPr>
              <a:t>Methods of proving theorems –</a:t>
            </a:r>
            <a:r>
              <a:rPr lang="en-US" sz="2400" dirty="0">
                <a:solidFill>
                  <a:schemeClr val="accent1"/>
                </a:solidFill>
                <a:latin typeface="Comic Sans MS" pitchFamily="66" charset="0"/>
              </a:rPr>
              <a:t> Direct proofs</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9</a:t>
            </a:fld>
            <a:endParaRPr lang="en-US"/>
          </a:p>
        </p:txBody>
      </p:sp>
      <p:sp>
        <p:nvSpPr>
          <p:cNvPr id="20" name="Rectangle 19"/>
          <p:cNvSpPr/>
          <p:nvPr/>
        </p:nvSpPr>
        <p:spPr>
          <a:xfrm>
            <a:off x="457200" y="4343400"/>
            <a:ext cx="8001000" cy="338554"/>
          </a:xfrm>
          <a:prstGeom prst="rect">
            <a:avLst/>
          </a:prstGeom>
        </p:spPr>
        <p:txBody>
          <a:bodyPr wrap="square">
            <a:spAutoFit/>
          </a:bodyPr>
          <a:lstStyle/>
          <a:p>
            <a:pPr marL="285750" indent="-285750">
              <a:buClr>
                <a:schemeClr val="accent1"/>
              </a:buClr>
              <a:buFont typeface="Wingdings" panose="05000000000000000000" pitchFamily="2" charset="2"/>
              <a:buChar char="q"/>
            </a:pPr>
            <a:r>
              <a:rPr lang="en-US" sz="1600" dirty="0">
                <a:solidFill>
                  <a:schemeClr val="accent1"/>
                </a:solidFill>
                <a:latin typeface="Comic Sans MS" pitchFamily="66" charset="0"/>
              </a:rPr>
              <a:t>Can we use this methodology to prove theorems of the form </a:t>
            </a:r>
            <a:r>
              <a:rPr lang="en-US" sz="1600" dirty="0">
                <a:solidFill>
                  <a:srgbClr val="C00000"/>
                </a:solidFill>
              </a:rPr>
              <a:t>∀</a:t>
            </a:r>
            <a:r>
              <a:rPr lang="en-US" sz="1600" i="1" dirty="0">
                <a:solidFill>
                  <a:srgbClr val="C00000"/>
                </a:solidFill>
              </a:rPr>
              <a:t>x(P(x) → Q(x))</a:t>
            </a:r>
            <a:r>
              <a:rPr lang="en-US" sz="1600" dirty="0">
                <a:solidFill>
                  <a:schemeClr val="accent1"/>
                </a:solidFill>
                <a:latin typeface="Comic Sans MS" pitchFamily="66" charset="0"/>
              </a:rPr>
              <a:t> ?</a:t>
            </a:r>
            <a:endParaRPr lang="en-US" sz="1600" dirty="0">
              <a:solidFill>
                <a:schemeClr val="accent1"/>
              </a:solidFill>
            </a:endParaRPr>
          </a:p>
        </p:txBody>
      </p:sp>
      <p:sp>
        <p:nvSpPr>
          <p:cNvPr id="22" name="Rectangle 21"/>
          <p:cNvSpPr/>
          <p:nvPr/>
        </p:nvSpPr>
        <p:spPr>
          <a:xfrm>
            <a:off x="609600" y="4747736"/>
            <a:ext cx="8001000" cy="790153"/>
          </a:xfrm>
          <a:prstGeom prst="rect">
            <a:avLst/>
          </a:prstGeom>
        </p:spPr>
        <p:txBody>
          <a:bodyPr wrap="square">
            <a:spAutoFit/>
          </a:bodyPr>
          <a:lstStyle/>
          <a:p>
            <a:pPr>
              <a:lnSpc>
                <a:spcPct val="150000"/>
              </a:lnSpc>
            </a:pPr>
            <a:r>
              <a:rPr lang="en-US" sz="1600" dirty="0">
                <a:solidFill>
                  <a:srgbClr val="002060"/>
                </a:solidFill>
                <a:latin typeface="Comic Sans MS" pitchFamily="66" charset="0"/>
              </a:rPr>
              <a:t>Proofs of theorems of this type that are not direct proofs, that is, that do not start with the premises and end with the conclusion are called </a:t>
            </a:r>
            <a:r>
              <a:rPr lang="en-US" sz="1600" dirty="0">
                <a:solidFill>
                  <a:srgbClr val="00B050"/>
                </a:solidFill>
                <a:latin typeface="Comic Sans MS" pitchFamily="66" charset="0"/>
              </a:rPr>
              <a:t>indirect proof</a:t>
            </a:r>
            <a:r>
              <a:rPr lang="en-US" sz="1600" dirty="0">
                <a:solidFill>
                  <a:srgbClr val="002060"/>
                </a:solidFill>
                <a:latin typeface="Comic Sans MS" pitchFamily="66" charset="0"/>
              </a:rPr>
              <a:t>. </a:t>
            </a:r>
          </a:p>
        </p:txBody>
      </p:sp>
      <p:sp>
        <p:nvSpPr>
          <p:cNvPr id="19" name="Footer Placeholder 18"/>
          <p:cNvSpPr>
            <a:spLocks noGrp="1"/>
          </p:cNvSpPr>
          <p:nvPr>
            <p:ph type="ftr" sz="quarter" idx="11"/>
          </p:nvPr>
        </p:nvSpPr>
        <p:spPr/>
        <p:txBody>
          <a:bodyPr/>
          <a:lstStyle/>
          <a:p>
            <a:endParaRPr lang="en-US"/>
          </a:p>
        </p:txBody>
      </p:sp>
      <p:sp>
        <p:nvSpPr>
          <p:cNvPr id="21" name="Rectangle 5"/>
          <p:cNvSpPr>
            <a:spLocks noChangeArrowheads="1"/>
          </p:cNvSpPr>
          <p:nvPr/>
        </p:nvSpPr>
        <p:spPr bwMode="auto">
          <a:xfrm>
            <a:off x="304800" y="1371600"/>
            <a:ext cx="8458200" cy="1246495"/>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dirty="0">
                <a:solidFill>
                  <a:schemeClr val="accent1"/>
                </a:solidFill>
                <a:latin typeface="Comic Sans MS" pitchFamily="66" charset="0"/>
                <a:sym typeface="Symbol" pitchFamily="18" charset="2"/>
              </a:rPr>
              <a:t>Example  </a:t>
            </a:r>
            <a:r>
              <a:rPr lang="en-US" sz="1600" dirty="0">
                <a:solidFill>
                  <a:schemeClr val="accent3">
                    <a:lumMod val="75000"/>
                  </a:schemeClr>
                </a:solidFill>
                <a:latin typeface="Comic Sans MS" pitchFamily="66" charset="0"/>
                <a:sym typeface="Symbol" pitchFamily="18" charset="2"/>
              </a:rPr>
              <a:t>Give a direct proof of the theorem :</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a:t>
            </a:r>
            <a:r>
              <a:rPr lang="en-US" sz="1600" dirty="0">
                <a:solidFill>
                  <a:srgbClr val="C00000"/>
                </a:solidFill>
                <a:latin typeface="Comic Sans MS" pitchFamily="66" charset="0"/>
                <a:sym typeface="Symbol" pitchFamily="18" charset="2"/>
              </a:rPr>
              <a:t>if m and n are both perfect squares, then nm is also perfect</a:t>
            </a:r>
            <a:r>
              <a:rPr lang="en-US" sz="1600" dirty="0">
                <a:solidFill>
                  <a:schemeClr val="accent3">
                    <a:lumMod val="75000"/>
                  </a:schemeClr>
                </a:solidFill>
                <a:latin typeface="Comic Sans MS" pitchFamily="66" charset="0"/>
                <a:sym typeface="Symbol" pitchFamily="18" charset="2"/>
              </a:rPr>
              <a:t>”</a:t>
            </a:r>
          </a:p>
          <a:p>
            <a:pPr>
              <a:lnSpc>
                <a:spcPct val="150000"/>
              </a:lnSpc>
            </a:pPr>
            <a:endParaRPr lang="en-US" sz="1600" dirty="0">
              <a:solidFill>
                <a:schemeClr val="accent3">
                  <a:lumMod val="75000"/>
                </a:schemeClr>
              </a:solidFill>
              <a:latin typeface="Comic Sans MS" pitchFamily="66" charset="0"/>
              <a:sym typeface="Symbol" pitchFamily="18" charset="2"/>
            </a:endParaRPr>
          </a:p>
        </p:txBody>
      </p:sp>
      <p:sp>
        <p:nvSpPr>
          <p:cNvPr id="23" name="Rectangle 11"/>
          <p:cNvSpPr>
            <a:spLocks noChangeArrowheads="1"/>
          </p:cNvSpPr>
          <p:nvPr/>
        </p:nvSpPr>
        <p:spPr bwMode="auto">
          <a:xfrm>
            <a:off x="457200" y="2209800"/>
            <a:ext cx="8305800" cy="338554"/>
          </a:xfrm>
          <a:prstGeom prst="rect">
            <a:avLst/>
          </a:prstGeom>
          <a:noFill/>
          <a:ln w="9525">
            <a:noFill/>
            <a:miter lim="800000"/>
            <a:headEnd/>
            <a:tailEnd/>
          </a:ln>
        </p:spPr>
        <p:txBody>
          <a:bodyPr>
            <a:spAutoFit/>
          </a:bodyPr>
          <a:lstStyle/>
          <a:p>
            <a:pPr>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p>
        </p:txBody>
      </p:sp>
      <p:sp>
        <p:nvSpPr>
          <p:cNvPr id="24" name="Rectangle 8"/>
          <p:cNvSpPr>
            <a:spLocks noChangeArrowheads="1"/>
          </p:cNvSpPr>
          <p:nvPr/>
        </p:nvSpPr>
        <p:spPr bwMode="auto">
          <a:xfrm>
            <a:off x="1447800" y="2438400"/>
            <a:ext cx="5715000" cy="1754326"/>
          </a:xfrm>
          <a:prstGeom prst="rect">
            <a:avLst/>
          </a:prstGeom>
          <a:noFill/>
          <a:ln w="9525">
            <a:noFill/>
            <a:miter lim="800000"/>
            <a:headEnd/>
            <a:tailEnd/>
          </a:ln>
        </p:spPr>
        <p:txBody>
          <a:bodyPr wrap="square">
            <a:spAutoFit/>
          </a:bodyPr>
          <a:lstStyle/>
          <a:p>
            <a:pPr>
              <a:lnSpc>
                <a:spcPct val="150000"/>
              </a:lnSpc>
            </a:pPr>
            <a:r>
              <a:rPr lang="en-US" dirty="0">
                <a:solidFill>
                  <a:srgbClr val="0070C0"/>
                </a:solidFill>
                <a:latin typeface="Comic Sans MS" pitchFamily="66" charset="0"/>
              </a:rPr>
              <a:t>We assume that m and n are both perfect squares :</a:t>
            </a:r>
          </a:p>
          <a:p>
            <a:pPr>
              <a:lnSpc>
                <a:spcPct val="150000"/>
              </a:lnSpc>
            </a:pPr>
            <a:r>
              <a:rPr lang="en-US" dirty="0">
                <a:solidFill>
                  <a:srgbClr val="0070C0"/>
                </a:solidFill>
                <a:latin typeface="Comic Sans MS" pitchFamily="66" charset="0"/>
                <a:sym typeface="Symbol" pitchFamily="18" charset="2"/>
              </a:rPr>
              <a:t>m = s</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and n = t</a:t>
            </a:r>
            <a:r>
              <a:rPr lang="en-US" baseline="30000" dirty="0">
                <a:solidFill>
                  <a:srgbClr val="0070C0"/>
                </a:solidFill>
                <a:latin typeface="Comic Sans MS" pitchFamily="66" charset="0"/>
                <a:sym typeface="Symbol" pitchFamily="18" charset="2"/>
              </a:rPr>
              <a:t>2</a:t>
            </a:r>
          </a:p>
          <a:p>
            <a:pPr>
              <a:lnSpc>
                <a:spcPct val="150000"/>
              </a:lnSpc>
            </a:pPr>
            <a:r>
              <a:rPr lang="en-US" dirty="0" err="1">
                <a:solidFill>
                  <a:srgbClr val="0070C0"/>
                </a:solidFill>
                <a:latin typeface="Comic Sans MS" pitchFamily="66" charset="0"/>
                <a:sym typeface="Symbol" pitchFamily="18" charset="2"/>
              </a:rPr>
              <a:t>m.n</a:t>
            </a:r>
            <a:r>
              <a:rPr lang="en-US" dirty="0">
                <a:solidFill>
                  <a:srgbClr val="0070C0"/>
                </a:solidFill>
                <a:latin typeface="Comic Sans MS" pitchFamily="66" charset="0"/>
                <a:sym typeface="Symbol" pitchFamily="18" charset="2"/>
              </a:rPr>
              <a:t> = s</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t</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a:t>
            </a:r>
            <a:r>
              <a:rPr lang="en-US" dirty="0" err="1">
                <a:solidFill>
                  <a:srgbClr val="0070C0"/>
                </a:solidFill>
                <a:latin typeface="Comic Sans MS" pitchFamily="66" charset="0"/>
                <a:sym typeface="Symbol" pitchFamily="18" charset="2"/>
              </a:rPr>
              <a:t>st</a:t>
            </a:r>
            <a:r>
              <a:rPr lang="en-US" dirty="0">
                <a:solidFill>
                  <a:srgbClr val="0070C0"/>
                </a:solidFill>
                <a:latin typeface="Comic Sans MS" pitchFamily="66" charset="0"/>
                <a:sym typeface="Symbol" pitchFamily="18" charset="2"/>
              </a:rPr>
              <a:t>)</a:t>
            </a:r>
            <a:r>
              <a:rPr lang="en-US" baseline="30000" dirty="0">
                <a:solidFill>
                  <a:srgbClr val="0070C0"/>
                </a:solidFill>
                <a:latin typeface="Comic Sans MS" pitchFamily="66" charset="0"/>
                <a:sym typeface="Symbol" pitchFamily="18" charset="2"/>
              </a:rPr>
              <a:t>2</a:t>
            </a:r>
          </a:p>
          <a:p>
            <a:pPr>
              <a:lnSpc>
                <a:spcPct val="150000"/>
              </a:lnSpc>
            </a:pPr>
            <a:r>
              <a:rPr lang="en-US" dirty="0" err="1">
                <a:solidFill>
                  <a:srgbClr val="0070C0"/>
                </a:solidFill>
                <a:latin typeface="Comic Sans MS" pitchFamily="66" charset="0"/>
                <a:sym typeface="Symbol" pitchFamily="18" charset="2"/>
              </a:rPr>
              <a:t>m.n</a:t>
            </a:r>
            <a:r>
              <a:rPr lang="en-US" dirty="0">
                <a:solidFill>
                  <a:srgbClr val="0070C0"/>
                </a:solidFill>
                <a:latin typeface="Comic Sans MS" pitchFamily="66" charset="0"/>
                <a:sym typeface="Symbol" pitchFamily="18" charset="2"/>
              </a:rPr>
              <a:t> is also perfect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P spid="2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152400"/>
            <a:ext cx="8534400" cy="914400"/>
          </a:xfrm>
        </p:spPr>
        <p:txBody>
          <a:bodyPr>
            <a:noAutofit/>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Contrapositio</a:t>
            </a:r>
            <a:r>
              <a:rPr lang="en-US" sz="2800" dirty="0">
                <a:solidFill>
                  <a:schemeClr val="accent1"/>
                </a:solidFill>
                <a:latin typeface="Comic Sans MS" pitchFamily="66" charset="0"/>
              </a:rPr>
              <a:t>n</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10</a:t>
            </a:fld>
            <a:endParaRPr lang="en-US"/>
          </a:p>
        </p:txBody>
      </p:sp>
      <p:sp>
        <p:nvSpPr>
          <p:cNvPr id="18" name="Rectangle 17"/>
          <p:cNvSpPr>
            <a:spLocks noChangeArrowheads="1"/>
          </p:cNvSpPr>
          <p:nvPr/>
        </p:nvSpPr>
        <p:spPr bwMode="auto">
          <a:xfrm>
            <a:off x="304800" y="1295400"/>
            <a:ext cx="8458200" cy="923330"/>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dirty="0">
                <a:solidFill>
                  <a:schemeClr val="accent3">
                    <a:lumMod val="75000"/>
                  </a:schemeClr>
                </a:solidFill>
                <a:latin typeface="Comic Sans MS" pitchFamily="66" charset="0"/>
                <a:sym typeface="Symbol" pitchFamily="18" charset="2"/>
              </a:rPr>
              <a:t>An extremely useful type of indirect proof is known as proof by</a:t>
            </a:r>
            <a:r>
              <a:rPr lang="en-US" sz="1600" dirty="0">
                <a:solidFill>
                  <a:srgbClr val="C00000"/>
                </a:solidFill>
                <a:latin typeface="Comic Sans MS" pitchFamily="66" charset="0"/>
                <a:sym typeface="Symbol" pitchFamily="18" charset="2"/>
              </a:rPr>
              <a:t> contraposition </a:t>
            </a:r>
          </a:p>
          <a:p>
            <a:pPr>
              <a:lnSpc>
                <a:spcPct val="150000"/>
              </a:lnSpc>
            </a:pPr>
            <a:r>
              <a:rPr lang="en-US" sz="1600" dirty="0">
                <a:solidFill>
                  <a:srgbClr val="C00000"/>
                </a:solidFill>
                <a:latin typeface="Comic Sans MS" pitchFamily="66" charset="0"/>
                <a:sym typeface="Symbol" pitchFamily="18" charset="2"/>
              </a:rPr>
              <a:t>    ( </a:t>
            </a:r>
            <a:r>
              <a:rPr lang="en-US" sz="1600" i="1" dirty="0">
                <a:solidFill>
                  <a:srgbClr val="002060"/>
                </a:solidFill>
              </a:rPr>
              <a:t>p → q </a:t>
            </a:r>
            <a:r>
              <a:rPr lang="en-US" sz="1600" dirty="0">
                <a:solidFill>
                  <a:srgbClr val="002060"/>
                </a:solidFill>
              </a:rPr>
              <a:t> </a:t>
            </a:r>
            <a:r>
              <a:rPr lang="en-US" sz="1600" dirty="0">
                <a:solidFill>
                  <a:srgbClr val="002060"/>
                </a:solidFill>
                <a:latin typeface="Comic Sans MS" pitchFamily="66" charset="0"/>
              </a:rPr>
              <a:t>equivalent to  </a:t>
            </a:r>
            <a:r>
              <a:rPr lang="en-US" sz="1600" dirty="0">
                <a:solidFill>
                  <a:srgbClr val="002060"/>
                </a:solidFill>
              </a:rPr>
              <a:t>￢</a:t>
            </a:r>
            <a:r>
              <a:rPr lang="en-US" sz="1600" i="1" dirty="0">
                <a:solidFill>
                  <a:srgbClr val="002060"/>
                </a:solidFill>
              </a:rPr>
              <a:t>q →￢p</a:t>
            </a:r>
            <a:r>
              <a:rPr lang="en-US" sz="1600" dirty="0">
                <a:solidFill>
                  <a:srgbClr val="002060"/>
                </a:solidFill>
                <a:latin typeface="Comic Sans MS" pitchFamily="66" charset="0"/>
                <a:sym typeface="Symbol" pitchFamily="18" charset="2"/>
              </a:rPr>
              <a:t> </a:t>
            </a:r>
            <a:r>
              <a:rPr lang="en-US" dirty="0">
                <a:solidFill>
                  <a:srgbClr val="C00000"/>
                </a:solidFill>
                <a:latin typeface="Comic Sans MS" pitchFamily="66" charset="0"/>
                <a:sym typeface="Symbol" pitchFamily="18" charset="2"/>
              </a:rPr>
              <a:t>)</a:t>
            </a:r>
          </a:p>
        </p:txBody>
      </p:sp>
      <p:sp>
        <p:nvSpPr>
          <p:cNvPr id="25" name="Rectangle 24"/>
          <p:cNvSpPr>
            <a:spLocks noChangeArrowheads="1"/>
          </p:cNvSpPr>
          <p:nvPr/>
        </p:nvSpPr>
        <p:spPr bwMode="auto">
          <a:xfrm>
            <a:off x="304800" y="2127647"/>
            <a:ext cx="8458200" cy="833049"/>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u="sng" dirty="0">
                <a:solidFill>
                  <a:schemeClr val="accent1"/>
                </a:solidFill>
                <a:latin typeface="Comic Sans MS" pitchFamily="66" charset="0"/>
                <a:sym typeface="Symbol" pitchFamily="18" charset="2"/>
              </a:rPr>
              <a:t>Methodology of Proof by Contraposition : </a:t>
            </a:r>
            <a:r>
              <a:rPr lang="en-US" sz="1600" dirty="0">
                <a:solidFill>
                  <a:schemeClr val="accent3">
                    <a:lumMod val="75000"/>
                  </a:schemeClr>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 </a:t>
            </a:r>
            <a:r>
              <a:rPr lang="en-US" sz="1600" dirty="0">
                <a:solidFill>
                  <a:schemeClr val="accent3">
                    <a:lumMod val="75000"/>
                  </a:schemeClr>
                </a:solidFill>
                <a:latin typeface="Comic Sans MS" pitchFamily="66" charset="0"/>
                <a:sym typeface="Symbol" pitchFamily="18" charset="2"/>
              </a:rPr>
              <a:t>It is proving the conditional statement</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p → q </a:t>
            </a:r>
            <a:r>
              <a:rPr lang="en-US" sz="1600" dirty="0">
                <a:solidFill>
                  <a:schemeClr val="accent3">
                    <a:lumMod val="75000"/>
                  </a:schemeClr>
                </a:solidFill>
                <a:latin typeface="Comic Sans MS" pitchFamily="66" charset="0"/>
                <a:sym typeface="Symbol" pitchFamily="18" charset="2"/>
              </a:rPr>
              <a:t>by showing that its </a:t>
            </a:r>
            <a:r>
              <a:rPr lang="en-US" sz="1600" dirty="0">
                <a:solidFill>
                  <a:srgbClr val="002060"/>
                </a:solidFill>
                <a:latin typeface="Comic Sans MS" pitchFamily="66" charset="0"/>
                <a:sym typeface="Symbol" pitchFamily="18" charset="2"/>
              </a:rPr>
              <a:t>contrapositive, ￢q →￢p, is true</a:t>
            </a:r>
          </a:p>
        </p:txBody>
      </p:sp>
      <p:grpSp>
        <p:nvGrpSpPr>
          <p:cNvPr id="75" name="Group 74"/>
          <p:cNvGrpSpPr/>
          <p:nvPr/>
        </p:nvGrpSpPr>
        <p:grpSpPr>
          <a:xfrm>
            <a:off x="1154818" y="2971800"/>
            <a:ext cx="6934200" cy="3657600"/>
            <a:chOff x="1066800" y="2590800"/>
            <a:chExt cx="6934200" cy="3657600"/>
          </a:xfrm>
        </p:grpSpPr>
        <p:grpSp>
          <p:nvGrpSpPr>
            <p:cNvPr id="73" name="Group 72"/>
            <p:cNvGrpSpPr/>
            <p:nvPr/>
          </p:nvGrpSpPr>
          <p:grpSpPr>
            <a:xfrm>
              <a:off x="1168904" y="2667000"/>
              <a:ext cx="6063109" cy="3505200"/>
              <a:chOff x="1168904" y="2667000"/>
              <a:chExt cx="6063109" cy="3505200"/>
            </a:xfrm>
          </p:grpSpPr>
          <p:grpSp>
            <p:nvGrpSpPr>
              <p:cNvPr id="51" name="Group 50"/>
              <p:cNvGrpSpPr/>
              <p:nvPr/>
            </p:nvGrpSpPr>
            <p:grpSpPr>
              <a:xfrm>
                <a:off x="1219200" y="2667000"/>
                <a:ext cx="6012813" cy="2853154"/>
                <a:chOff x="1219200" y="2971800"/>
                <a:chExt cx="6012813" cy="2853154"/>
              </a:xfrm>
            </p:grpSpPr>
            <p:sp>
              <p:nvSpPr>
                <p:cNvPr id="28" name="Rectangle 27"/>
                <p:cNvSpPr/>
                <p:nvPr/>
              </p:nvSpPr>
              <p:spPr>
                <a:xfrm>
                  <a:off x="2274182" y="3048000"/>
                  <a:ext cx="1454244" cy="338554"/>
                </a:xfrm>
                <a:prstGeom prst="rect">
                  <a:avLst/>
                </a:prstGeom>
              </p:spPr>
              <p:txBody>
                <a:bodyPr wrap="none">
                  <a:spAutoFit/>
                </a:bodyPr>
                <a:lstStyle/>
                <a:p>
                  <a:r>
                    <a:rPr lang="en-US" sz="1600" dirty="0">
                      <a:solidFill>
                        <a:srgbClr val="002060"/>
                      </a:solidFill>
                      <a:latin typeface="Comic Sans MS" pitchFamily="66" charset="0"/>
                    </a:rPr>
                    <a:t>to prove that</a:t>
                  </a:r>
                </a:p>
              </p:txBody>
            </p:sp>
            <p:grpSp>
              <p:nvGrpSpPr>
                <p:cNvPr id="43" name="Group 42"/>
                <p:cNvGrpSpPr/>
                <p:nvPr/>
              </p:nvGrpSpPr>
              <p:grpSpPr>
                <a:xfrm>
                  <a:off x="3657600" y="2971800"/>
                  <a:ext cx="1524000" cy="1143000"/>
                  <a:chOff x="3657600" y="3505200"/>
                  <a:chExt cx="1524000" cy="1143000"/>
                </a:xfrm>
              </p:grpSpPr>
              <p:sp>
                <p:nvSpPr>
                  <p:cNvPr id="27" name="Rectangle 26"/>
                  <p:cNvSpPr/>
                  <p:nvPr/>
                </p:nvSpPr>
                <p:spPr>
                  <a:xfrm>
                    <a:off x="3657600" y="3505200"/>
                    <a:ext cx="1524000" cy="457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i="1" dirty="0">
                        <a:solidFill>
                          <a:schemeClr val="accent3">
                            <a:lumMod val="75000"/>
                          </a:schemeClr>
                        </a:solidFill>
                      </a:rPr>
                      <a:t>p → q</a:t>
                    </a:r>
                    <a:endParaRPr lang="en-US" sz="2400" dirty="0">
                      <a:solidFill>
                        <a:schemeClr val="accent3">
                          <a:lumMod val="75000"/>
                        </a:schemeClr>
                      </a:solidFill>
                    </a:endParaRPr>
                  </a:p>
                </p:txBody>
              </p:sp>
              <p:sp>
                <p:nvSpPr>
                  <p:cNvPr id="30" name="Oval 29"/>
                  <p:cNvSpPr/>
                  <p:nvPr/>
                </p:nvSpPr>
                <p:spPr>
                  <a:xfrm>
                    <a:off x="4572000" y="3581400"/>
                    <a:ext cx="304800" cy="3810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p:cNvCxnSpPr>
                    <a:stCxn id="30" idx="4"/>
                  </p:cNvCxnSpPr>
                  <p:nvPr/>
                </p:nvCxnSpPr>
                <p:spPr>
                  <a:xfrm>
                    <a:off x="4724400" y="3962400"/>
                    <a:ext cx="0" cy="304800"/>
                  </a:xfrm>
                  <a:prstGeom prst="straightConnector1">
                    <a:avLst/>
                  </a:prstGeom>
                  <a:ln w="127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419600" y="4267200"/>
                    <a:ext cx="6858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000" dirty="0">
                        <a:solidFill>
                          <a:schemeClr val="accent3">
                            <a:lumMod val="75000"/>
                          </a:schemeClr>
                        </a:solidFill>
                      </a:rPr>
                      <a:t>￢ </a:t>
                    </a:r>
                    <a:r>
                      <a:rPr lang="en-US" sz="2000" i="1" dirty="0">
                        <a:solidFill>
                          <a:schemeClr val="accent3">
                            <a:lumMod val="75000"/>
                          </a:schemeClr>
                        </a:solidFill>
                      </a:rPr>
                      <a:t>q</a:t>
                    </a:r>
                    <a:endParaRPr lang="en-US" sz="2000" dirty="0">
                      <a:solidFill>
                        <a:schemeClr val="accent3">
                          <a:lumMod val="75000"/>
                        </a:schemeClr>
                      </a:solidFill>
                    </a:endParaRPr>
                  </a:p>
                </p:txBody>
              </p:sp>
            </p:grpSp>
            <p:sp>
              <p:nvSpPr>
                <p:cNvPr id="35" name="Rectangle 34"/>
                <p:cNvSpPr/>
                <p:nvPr/>
              </p:nvSpPr>
              <p:spPr>
                <a:xfrm>
                  <a:off x="3276600" y="3733800"/>
                  <a:ext cx="1236236" cy="338554"/>
                </a:xfrm>
                <a:prstGeom prst="rect">
                  <a:avLst/>
                </a:prstGeom>
              </p:spPr>
              <p:txBody>
                <a:bodyPr wrap="none">
                  <a:spAutoFit/>
                </a:bodyPr>
                <a:lstStyle/>
                <a:p>
                  <a:r>
                    <a:rPr lang="en-US" sz="1600" dirty="0">
                      <a:solidFill>
                        <a:srgbClr val="002060"/>
                      </a:solidFill>
                      <a:latin typeface="Comic Sans MS" pitchFamily="66" charset="0"/>
                    </a:rPr>
                    <a:t>Begin with </a:t>
                  </a:r>
                </a:p>
              </p:txBody>
            </p:sp>
            <p:sp>
              <p:nvSpPr>
                <p:cNvPr id="36" name="Rectangle 35"/>
                <p:cNvSpPr/>
                <p:nvPr/>
              </p:nvSpPr>
              <p:spPr>
                <a:xfrm>
                  <a:off x="5110920" y="3733800"/>
                  <a:ext cx="2121093" cy="338554"/>
                </a:xfrm>
                <a:prstGeom prst="rect">
                  <a:avLst/>
                </a:prstGeom>
              </p:spPr>
              <p:txBody>
                <a:bodyPr wrap="none">
                  <a:spAutoFit/>
                </a:bodyPr>
                <a:lstStyle/>
                <a:p>
                  <a:r>
                    <a:rPr lang="en-US" sz="1600" dirty="0">
                      <a:solidFill>
                        <a:srgbClr val="002060"/>
                      </a:solidFill>
                      <a:latin typeface="Comic Sans MS" pitchFamily="66" charset="0"/>
                      <a:sym typeface="Symbol" pitchFamily="18" charset="2"/>
                    </a:rPr>
                    <a:t> is true as a premise</a:t>
                  </a:r>
                  <a:endParaRPr lang="en-US" sz="1600" dirty="0">
                    <a:solidFill>
                      <a:srgbClr val="002060"/>
                    </a:solidFill>
                  </a:endParaRPr>
                </a:p>
              </p:txBody>
            </p:sp>
            <p:cxnSp>
              <p:nvCxnSpPr>
                <p:cNvPr id="40" name="Straight Arrow Connector 39"/>
                <p:cNvCxnSpPr/>
                <p:nvPr/>
              </p:nvCxnSpPr>
              <p:spPr>
                <a:xfrm>
                  <a:off x="4724400" y="4114800"/>
                  <a:ext cx="0" cy="1295400"/>
                </a:xfrm>
                <a:prstGeom prst="straightConnector1">
                  <a:avLst/>
                </a:prstGeom>
                <a:ln w="12700">
                  <a:solidFill>
                    <a:schemeClr val="accent3">
                      <a:lumMod val="75000"/>
                    </a:schemeClr>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1219200" y="4495800"/>
                  <a:ext cx="3429000" cy="553998"/>
                </a:xfrm>
                <a:prstGeom prst="rect">
                  <a:avLst/>
                </a:prstGeom>
              </p:spPr>
              <p:txBody>
                <a:bodyPr wrap="square">
                  <a:spAutoFit/>
                </a:bodyPr>
                <a:lstStyle/>
                <a:p>
                  <a:r>
                    <a:rPr lang="en-US" sz="1600" dirty="0">
                      <a:solidFill>
                        <a:srgbClr val="002060"/>
                      </a:solidFill>
                      <a:latin typeface="Comic Sans MS" pitchFamily="66" charset="0"/>
                      <a:sym typeface="Symbol" pitchFamily="18" charset="2"/>
                    </a:rPr>
                    <a:t>using</a:t>
                  </a:r>
                  <a:r>
                    <a:rPr lang="en-US" sz="1400" dirty="0">
                      <a:solidFill>
                        <a:srgbClr val="002060"/>
                      </a:solidFill>
                      <a:latin typeface="Comic Sans MS" pitchFamily="66" charset="0"/>
                      <a:sym typeface="Symbol" pitchFamily="18" charset="2"/>
                    </a:rPr>
                    <a:t>  (</a:t>
                  </a:r>
                  <a:r>
                    <a:rPr lang="en-US" sz="1200" b="1" dirty="0">
                      <a:solidFill>
                        <a:srgbClr val="002060"/>
                      </a:solidFill>
                      <a:latin typeface="Comic Sans MS" pitchFamily="66" charset="0"/>
                      <a:sym typeface="Symbol" pitchFamily="18" charset="2"/>
                    </a:rPr>
                    <a:t>axioms, definitions previously proven theorems with rules of inference</a:t>
                  </a:r>
                  <a:r>
                    <a:rPr lang="en-US" sz="1400" dirty="0">
                      <a:solidFill>
                        <a:srgbClr val="002060"/>
                      </a:solidFill>
                      <a:latin typeface="Comic Sans MS" pitchFamily="66" charset="0"/>
                      <a:sym typeface="Symbol" pitchFamily="18" charset="2"/>
                    </a:rPr>
                    <a:t>) </a:t>
                  </a:r>
                  <a:endParaRPr lang="en-US" sz="1400" dirty="0">
                    <a:solidFill>
                      <a:srgbClr val="002060"/>
                    </a:solidFill>
                  </a:endParaRPr>
                </a:p>
              </p:txBody>
            </p:sp>
            <p:sp>
              <p:nvSpPr>
                <p:cNvPr id="46" name="Left Brace 45"/>
                <p:cNvSpPr/>
                <p:nvPr/>
              </p:nvSpPr>
              <p:spPr>
                <a:xfrm>
                  <a:off x="4267200" y="4267200"/>
                  <a:ext cx="381000" cy="990600"/>
                </a:xfrm>
                <a:prstGeom prst="leftBrace">
                  <a:avLst>
                    <a:gd name="adj1" fmla="val 36446"/>
                    <a:gd name="adj2" fmla="val 50000"/>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Rectangle 47"/>
                <p:cNvSpPr/>
                <p:nvPr/>
              </p:nvSpPr>
              <p:spPr>
                <a:xfrm>
                  <a:off x="4419600" y="5410200"/>
                  <a:ext cx="6858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sz="2000" dirty="0">
                      <a:solidFill>
                        <a:schemeClr val="accent3">
                          <a:lumMod val="75000"/>
                        </a:schemeClr>
                      </a:solidFill>
                    </a:rPr>
                    <a:t>￢ </a:t>
                  </a:r>
                  <a:r>
                    <a:rPr lang="en-US" sz="2000" i="1" dirty="0">
                      <a:solidFill>
                        <a:schemeClr val="accent3">
                          <a:lumMod val="75000"/>
                        </a:schemeClr>
                      </a:solidFill>
                    </a:rPr>
                    <a:t>p</a:t>
                  </a:r>
                  <a:endParaRPr lang="en-US" sz="2000" dirty="0">
                    <a:solidFill>
                      <a:schemeClr val="accent3">
                        <a:lumMod val="75000"/>
                      </a:schemeClr>
                    </a:solidFill>
                  </a:endParaRPr>
                </a:p>
              </p:txBody>
            </p:sp>
            <p:sp>
              <p:nvSpPr>
                <p:cNvPr id="50" name="Rectangle 49"/>
                <p:cNvSpPr/>
                <p:nvPr/>
              </p:nvSpPr>
              <p:spPr>
                <a:xfrm>
                  <a:off x="5121283" y="5486400"/>
                  <a:ext cx="1846980" cy="338554"/>
                </a:xfrm>
                <a:prstGeom prst="rect">
                  <a:avLst/>
                </a:prstGeom>
              </p:spPr>
              <p:txBody>
                <a:bodyPr wrap="none">
                  <a:spAutoFit/>
                </a:bodyPr>
                <a:lstStyle/>
                <a:p>
                  <a:r>
                    <a:rPr lang="en-US" sz="1600" dirty="0">
                      <a:solidFill>
                        <a:srgbClr val="002060"/>
                      </a:solidFill>
                      <a:latin typeface="Comic Sans MS" pitchFamily="66" charset="0"/>
                    </a:rPr>
                    <a:t>must be also true</a:t>
                  </a:r>
                </a:p>
              </p:txBody>
            </p:sp>
          </p:grpSp>
          <p:sp>
            <p:nvSpPr>
              <p:cNvPr id="52" name="Left Brace 51"/>
              <p:cNvSpPr/>
              <p:nvPr/>
            </p:nvSpPr>
            <p:spPr>
              <a:xfrm rot="16200000">
                <a:off x="4533900" y="3771900"/>
                <a:ext cx="381000" cy="3657600"/>
              </a:xfrm>
              <a:prstGeom prst="leftBrace">
                <a:avLst>
                  <a:gd name="adj1" fmla="val 26561"/>
                  <a:gd name="adj2" fmla="val 50000"/>
                </a:avLst>
              </a:prstGeom>
              <a:ln>
                <a:solidFill>
                  <a:srgbClr val="C0000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Rectangle 52"/>
              <p:cNvSpPr/>
              <p:nvPr/>
            </p:nvSpPr>
            <p:spPr>
              <a:xfrm>
                <a:off x="1168904" y="5788223"/>
                <a:ext cx="2962671" cy="307777"/>
              </a:xfrm>
              <a:prstGeom prst="rect">
                <a:avLst/>
              </a:prstGeom>
            </p:spPr>
            <p:txBody>
              <a:bodyPr wrap="none">
                <a:spAutoFit/>
              </a:bodyPr>
              <a:lstStyle/>
              <a:p>
                <a:r>
                  <a:rPr lang="en-US" sz="1400" b="1" dirty="0">
                    <a:solidFill>
                      <a:srgbClr val="002060"/>
                    </a:solidFill>
                    <a:latin typeface="Comic Sans MS" pitchFamily="66" charset="0"/>
                    <a:sym typeface="Symbol" pitchFamily="18" charset="2"/>
                  </a:rPr>
                  <a:t>It is showing the contrapositive</a:t>
                </a:r>
                <a:endParaRPr lang="en-US" sz="1400" b="1" dirty="0">
                  <a:solidFill>
                    <a:srgbClr val="002060"/>
                  </a:solidFill>
                </a:endParaRPr>
              </a:p>
            </p:txBody>
          </p:sp>
          <p:sp>
            <p:nvSpPr>
              <p:cNvPr id="54" name="Rectangle 53"/>
              <p:cNvSpPr/>
              <p:nvPr/>
            </p:nvSpPr>
            <p:spPr>
              <a:xfrm>
                <a:off x="4026782" y="5791200"/>
                <a:ext cx="1524000" cy="381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600" b="1" dirty="0">
                    <a:solidFill>
                      <a:schemeClr val="accent3">
                        <a:lumMod val="75000"/>
                      </a:schemeClr>
                    </a:solidFill>
                  </a:rPr>
                  <a:t>￢</a:t>
                </a:r>
                <a:r>
                  <a:rPr lang="en-US" sz="1600" b="1" i="1" dirty="0">
                    <a:solidFill>
                      <a:schemeClr val="accent3">
                        <a:lumMod val="75000"/>
                      </a:schemeClr>
                    </a:solidFill>
                  </a:rPr>
                  <a:t>q →￢p</a:t>
                </a:r>
                <a:endParaRPr lang="en-US" sz="1600" b="1" dirty="0">
                  <a:solidFill>
                    <a:schemeClr val="accent3">
                      <a:lumMod val="75000"/>
                    </a:schemeClr>
                  </a:solidFill>
                </a:endParaRPr>
              </a:p>
            </p:txBody>
          </p:sp>
          <p:sp>
            <p:nvSpPr>
              <p:cNvPr id="55" name="Rectangle 54"/>
              <p:cNvSpPr/>
              <p:nvPr/>
            </p:nvSpPr>
            <p:spPr>
              <a:xfrm>
                <a:off x="5546225" y="5791200"/>
                <a:ext cx="766557" cy="307777"/>
              </a:xfrm>
              <a:prstGeom prst="rect">
                <a:avLst/>
              </a:prstGeom>
            </p:spPr>
            <p:txBody>
              <a:bodyPr wrap="none">
                <a:spAutoFit/>
              </a:bodyPr>
              <a:lstStyle/>
              <a:p>
                <a:r>
                  <a:rPr lang="en-US" sz="1400" b="1" dirty="0">
                    <a:solidFill>
                      <a:srgbClr val="002060"/>
                    </a:solidFill>
                    <a:latin typeface="Comic Sans MS" pitchFamily="66" charset="0"/>
                    <a:sym typeface="Symbol" pitchFamily="18" charset="2"/>
                  </a:rPr>
                  <a:t>is true</a:t>
                </a:r>
                <a:endParaRPr lang="en-US" sz="1400" b="1" dirty="0">
                  <a:solidFill>
                    <a:srgbClr val="002060"/>
                  </a:solidFill>
                </a:endParaRPr>
              </a:p>
            </p:txBody>
          </p:sp>
        </p:grpSp>
        <p:sp>
          <p:nvSpPr>
            <p:cNvPr id="74" name="Rectangle 73"/>
            <p:cNvSpPr/>
            <p:nvPr/>
          </p:nvSpPr>
          <p:spPr>
            <a:xfrm>
              <a:off x="1066800" y="2590800"/>
              <a:ext cx="6934200" cy="3657600"/>
            </a:xfrm>
            <a:prstGeom prst="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 name="Footer Placeholder 33"/>
          <p:cNvSpPr>
            <a:spLocks noGrp="1"/>
          </p:cNvSpPr>
          <p:nvPr>
            <p:ph type="ftr" sz="quarter" idx="11"/>
          </p:nvPr>
        </p:nvSpPr>
        <p:spPr/>
        <p:txBody>
          <a:bodyPr/>
          <a:lstStyle/>
          <a:p>
            <a:endParaRPr lang="en-US"/>
          </a:p>
        </p:txBody>
      </p:sp>
      <p:sp>
        <p:nvSpPr>
          <p:cNvPr id="37" name="Rectangle 34"/>
          <p:cNvSpPr/>
          <p:nvPr/>
        </p:nvSpPr>
        <p:spPr>
          <a:xfrm>
            <a:off x="3271382" y="5524273"/>
            <a:ext cx="1015021" cy="338554"/>
          </a:xfrm>
          <a:prstGeom prst="rect">
            <a:avLst/>
          </a:prstGeom>
        </p:spPr>
        <p:txBody>
          <a:bodyPr wrap="none">
            <a:spAutoFit/>
          </a:bodyPr>
          <a:lstStyle/>
          <a:p>
            <a:r>
              <a:rPr lang="en-US" sz="1600" dirty="0">
                <a:solidFill>
                  <a:srgbClr val="002060"/>
                </a:solidFill>
                <a:latin typeface="Comic Sans MS" pitchFamily="66" charset="0"/>
              </a:rPr>
              <a:t>End with</a:t>
            </a:r>
          </a:p>
        </p:txBody>
      </p:sp>
      <p:sp>
        <p:nvSpPr>
          <p:cNvPr id="38" name="Rectangle 34"/>
          <p:cNvSpPr/>
          <p:nvPr/>
        </p:nvSpPr>
        <p:spPr>
          <a:xfrm>
            <a:off x="5399403" y="3124200"/>
            <a:ext cx="817853" cy="338554"/>
          </a:xfrm>
          <a:prstGeom prst="rect">
            <a:avLst/>
          </a:prstGeom>
        </p:spPr>
        <p:txBody>
          <a:bodyPr wrap="none">
            <a:spAutoFit/>
          </a:bodyPr>
          <a:lstStyle/>
          <a:p>
            <a:r>
              <a:rPr lang="en-US" sz="1600" dirty="0">
                <a:solidFill>
                  <a:srgbClr val="002060"/>
                </a:solidFill>
                <a:latin typeface="Comic Sans MS" pitchFamily="66" charset="0"/>
              </a:rPr>
              <a:t>is true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D0D8AA9-AE61-49D3-AE4E-15A81A7BE0AE}" type="slidenum">
              <a:rPr lang="en-US" smtClean="0"/>
              <a:pPr/>
              <a:t>11</a:t>
            </a:fld>
            <a:endParaRPr lang="en-US"/>
          </a:p>
        </p:txBody>
      </p:sp>
      <p:sp>
        <p:nvSpPr>
          <p:cNvPr id="6" name="Rectangle 5"/>
          <p:cNvSpPr>
            <a:spLocks noChangeArrowheads="1"/>
          </p:cNvSpPr>
          <p:nvPr/>
        </p:nvSpPr>
        <p:spPr bwMode="auto">
          <a:xfrm>
            <a:off x="304800" y="1371600"/>
            <a:ext cx="8458200" cy="507831"/>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u="sng" dirty="0">
                <a:solidFill>
                  <a:schemeClr val="accent1"/>
                </a:solidFill>
                <a:latin typeface="Comic Sans MS" pitchFamily="66" charset="0"/>
                <a:sym typeface="Symbol" pitchFamily="18" charset="2"/>
              </a:rPr>
              <a:t>Example </a:t>
            </a:r>
            <a:r>
              <a:rPr lang="en-US" sz="1600" dirty="0">
                <a:solidFill>
                  <a:schemeClr val="accent1"/>
                </a:solidFill>
                <a:latin typeface="Comic Sans MS" pitchFamily="66" charset="0"/>
                <a:sym typeface="Symbol" pitchFamily="18" charset="2"/>
              </a:rPr>
              <a:t> </a:t>
            </a:r>
            <a:r>
              <a:rPr lang="en-US" sz="1600" dirty="0">
                <a:solidFill>
                  <a:schemeClr val="accent3">
                    <a:lumMod val="75000"/>
                  </a:schemeClr>
                </a:solidFill>
                <a:latin typeface="Comic Sans MS" pitchFamily="66" charset="0"/>
                <a:sym typeface="Symbol" pitchFamily="18" charset="2"/>
              </a:rPr>
              <a:t>Prove that if </a:t>
            </a:r>
            <a:r>
              <a:rPr lang="en-US" sz="1600" dirty="0">
                <a:solidFill>
                  <a:srgbClr val="C00000"/>
                </a:solidFill>
                <a:latin typeface="Comic Sans MS" pitchFamily="66" charset="0"/>
                <a:sym typeface="Symbol" pitchFamily="18" charset="2"/>
              </a:rPr>
              <a:t>n</a:t>
            </a:r>
            <a:r>
              <a:rPr lang="en-US" sz="1600" dirty="0">
                <a:solidFill>
                  <a:schemeClr val="accent3">
                    <a:lumMod val="75000"/>
                  </a:schemeClr>
                </a:solidFill>
                <a:latin typeface="Comic Sans MS" pitchFamily="66" charset="0"/>
                <a:sym typeface="Symbol" pitchFamily="18" charset="2"/>
              </a:rPr>
              <a:t> is an integer and </a:t>
            </a:r>
            <a:r>
              <a:rPr lang="en-US" sz="1600" dirty="0">
                <a:solidFill>
                  <a:srgbClr val="C00000"/>
                </a:solidFill>
                <a:latin typeface="Comic Sans MS" pitchFamily="66" charset="0"/>
                <a:sym typeface="Symbol" pitchFamily="18" charset="2"/>
              </a:rPr>
              <a:t>3n + 2 </a:t>
            </a:r>
            <a:r>
              <a:rPr lang="en-US" sz="1600" dirty="0">
                <a:solidFill>
                  <a:schemeClr val="accent3">
                    <a:lumMod val="75000"/>
                  </a:schemeClr>
                </a:solidFill>
                <a:latin typeface="Comic Sans MS" pitchFamily="66" charset="0"/>
                <a:sym typeface="Symbol" pitchFamily="18" charset="2"/>
              </a:rPr>
              <a:t>is odd, then n is odd. </a:t>
            </a:r>
          </a:p>
        </p:txBody>
      </p:sp>
      <p:sp>
        <p:nvSpPr>
          <p:cNvPr id="12" name="Rectangle 11"/>
          <p:cNvSpPr>
            <a:spLocks noChangeArrowheads="1"/>
          </p:cNvSpPr>
          <p:nvPr/>
        </p:nvSpPr>
        <p:spPr bwMode="auto">
          <a:xfrm>
            <a:off x="457200" y="1828800"/>
            <a:ext cx="8305800" cy="338554"/>
          </a:xfrm>
          <a:prstGeom prst="rect">
            <a:avLst/>
          </a:prstGeom>
          <a:noFill/>
          <a:ln w="9525">
            <a:noFill/>
            <a:miter lim="800000"/>
            <a:headEnd/>
            <a:tailEnd/>
          </a:ln>
        </p:spPr>
        <p:txBody>
          <a:bodyPr>
            <a:spAutoFit/>
          </a:bodyPr>
          <a:lstStyle/>
          <a:p>
            <a:pPr>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p>
        </p:txBody>
      </p:sp>
      <p:sp>
        <p:nvSpPr>
          <p:cNvPr id="9" name="Rectangle 8"/>
          <p:cNvSpPr>
            <a:spLocks noChangeArrowheads="1"/>
          </p:cNvSpPr>
          <p:nvPr/>
        </p:nvSpPr>
        <p:spPr bwMode="auto">
          <a:xfrm>
            <a:off x="1447800" y="2133600"/>
            <a:ext cx="6934200" cy="646331"/>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We assume that the conclusion of the conditional statement </a:t>
            </a:r>
            <a:br>
              <a:rPr lang="en-US" dirty="0">
                <a:solidFill>
                  <a:srgbClr val="0070C0"/>
                </a:solidFill>
                <a:latin typeface="Comic Sans MS" pitchFamily="66" charset="0"/>
              </a:rPr>
            </a:br>
            <a:r>
              <a:rPr lang="en-US" dirty="0">
                <a:solidFill>
                  <a:srgbClr val="0070C0"/>
                </a:solidFill>
                <a:latin typeface="Comic Sans MS" pitchFamily="66" charset="0"/>
              </a:rPr>
              <a:t>   “</a:t>
            </a:r>
            <a:r>
              <a:rPr lang="en-US" dirty="0">
                <a:solidFill>
                  <a:srgbClr val="00B0F0"/>
                </a:solidFill>
                <a:latin typeface="Comic Sans MS" pitchFamily="66" charset="0"/>
              </a:rPr>
              <a:t>if </a:t>
            </a:r>
            <a:r>
              <a:rPr lang="en-US" dirty="0">
                <a:solidFill>
                  <a:srgbClr val="C00000"/>
                </a:solidFill>
                <a:latin typeface="Comic Sans MS" pitchFamily="66" charset="0"/>
                <a:sym typeface="Symbol" pitchFamily="18" charset="2"/>
              </a:rPr>
              <a:t>3n + 2 </a:t>
            </a:r>
            <a:r>
              <a:rPr lang="en-US" dirty="0">
                <a:solidFill>
                  <a:srgbClr val="00B0F0"/>
                </a:solidFill>
                <a:latin typeface="Comic Sans MS" pitchFamily="66" charset="0"/>
                <a:sym typeface="Symbol" pitchFamily="18" charset="2"/>
              </a:rPr>
              <a:t>is odd, then </a:t>
            </a:r>
            <a:r>
              <a:rPr lang="en-US" dirty="0">
                <a:solidFill>
                  <a:srgbClr val="C00000"/>
                </a:solidFill>
                <a:latin typeface="Comic Sans MS" pitchFamily="66" charset="0"/>
                <a:sym typeface="Symbol" pitchFamily="18" charset="2"/>
              </a:rPr>
              <a:t>n</a:t>
            </a:r>
            <a:r>
              <a:rPr lang="en-US" dirty="0">
                <a:solidFill>
                  <a:srgbClr val="00B0F0"/>
                </a:solidFill>
                <a:latin typeface="Comic Sans MS" pitchFamily="66" charset="0"/>
                <a:sym typeface="Symbol" pitchFamily="18" charset="2"/>
              </a:rPr>
              <a:t> is odd</a:t>
            </a:r>
            <a:r>
              <a:rPr lang="en-US" dirty="0">
                <a:solidFill>
                  <a:srgbClr val="0070C0"/>
                </a:solidFill>
                <a:latin typeface="Comic Sans MS" pitchFamily="66" charset="0"/>
                <a:sym typeface="Symbol" pitchFamily="18" charset="2"/>
              </a:rPr>
              <a:t>”</a:t>
            </a:r>
            <a:r>
              <a:rPr lang="en-US" dirty="0">
                <a:solidFill>
                  <a:schemeClr val="accent3">
                    <a:lumMod val="75000"/>
                  </a:schemeClr>
                </a:solidFill>
                <a:latin typeface="Comic Sans MS" pitchFamily="66" charset="0"/>
                <a:sym typeface="Symbol" pitchFamily="18" charset="2"/>
              </a:rPr>
              <a:t> </a:t>
            </a:r>
            <a:r>
              <a:rPr lang="en-US" dirty="0">
                <a:solidFill>
                  <a:srgbClr val="0070C0"/>
                </a:solidFill>
                <a:latin typeface="Comic Sans MS" pitchFamily="66" charset="0"/>
              </a:rPr>
              <a:t>is false</a:t>
            </a:r>
            <a:r>
              <a:rPr lang="en-US" dirty="0">
                <a:solidFill>
                  <a:schemeClr val="accent3">
                    <a:lumMod val="75000"/>
                  </a:schemeClr>
                </a:solidFill>
                <a:latin typeface="Comic Sans MS" pitchFamily="66" charset="0"/>
                <a:sym typeface="Symbol" pitchFamily="18" charset="2"/>
              </a:rPr>
              <a:t> </a:t>
            </a:r>
            <a:r>
              <a:rPr lang="en-US" dirty="0">
                <a:solidFill>
                  <a:srgbClr val="0070C0"/>
                </a:solidFill>
                <a:latin typeface="Comic Sans MS" pitchFamily="66" charset="0"/>
              </a:rPr>
              <a:t> .</a:t>
            </a:r>
            <a:endParaRPr lang="en-US" dirty="0">
              <a:solidFill>
                <a:srgbClr val="0070C0"/>
              </a:solidFill>
              <a:latin typeface="Comic Sans MS" pitchFamily="66" charset="0"/>
              <a:sym typeface="Symbol" pitchFamily="18" charset="2"/>
            </a:endParaRPr>
          </a:p>
        </p:txBody>
      </p:sp>
      <p:sp>
        <p:nvSpPr>
          <p:cNvPr id="15" name="Rectangle 14"/>
          <p:cNvSpPr>
            <a:spLocks noChangeArrowheads="1"/>
          </p:cNvSpPr>
          <p:nvPr/>
        </p:nvSpPr>
        <p:spPr bwMode="auto">
          <a:xfrm>
            <a:off x="1371600" y="3200400"/>
            <a:ext cx="46482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n = 2k , where k is some integer.</a:t>
            </a:r>
            <a:endParaRPr lang="en-US" dirty="0">
              <a:solidFill>
                <a:srgbClr val="0070C0"/>
              </a:solidFill>
              <a:latin typeface="Comic Sans MS" pitchFamily="66" charset="0"/>
              <a:sym typeface="Symbol" pitchFamily="18" charset="2"/>
            </a:endParaRPr>
          </a:p>
        </p:txBody>
      </p:sp>
      <p:sp>
        <p:nvSpPr>
          <p:cNvPr id="16" name="Rectangle 15"/>
          <p:cNvSpPr/>
          <p:nvPr/>
        </p:nvSpPr>
        <p:spPr>
          <a:xfrm>
            <a:off x="5192962" y="3181176"/>
            <a:ext cx="2815194"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definition of even number</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19" name="Rectangle 18"/>
          <p:cNvSpPr>
            <a:spLocks noChangeArrowheads="1"/>
          </p:cNvSpPr>
          <p:nvPr/>
        </p:nvSpPr>
        <p:spPr bwMode="auto">
          <a:xfrm>
            <a:off x="1375806" y="3897868"/>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a:t>
            </a:r>
            <a:r>
              <a:rPr lang="pt-BR" dirty="0">
                <a:solidFill>
                  <a:srgbClr val="0070C0"/>
                </a:solidFill>
                <a:latin typeface="Comic Sans MS" pitchFamily="66" charset="0"/>
                <a:sym typeface="Symbol" pitchFamily="18" charset="2"/>
              </a:rPr>
              <a:t>3n + 2 = 3(2k) + 2 = 6k + 2 = 2(3k + 1)</a:t>
            </a:r>
            <a:endParaRPr lang="en-US" dirty="0">
              <a:solidFill>
                <a:srgbClr val="0070C0"/>
              </a:solidFill>
              <a:latin typeface="Comic Sans MS" pitchFamily="66" charset="0"/>
              <a:sym typeface="Symbol" pitchFamily="18" charset="2"/>
            </a:endParaRPr>
          </a:p>
        </p:txBody>
      </p:sp>
      <p:sp>
        <p:nvSpPr>
          <p:cNvPr id="20" name="Rectangle 19"/>
          <p:cNvSpPr/>
          <p:nvPr/>
        </p:nvSpPr>
        <p:spPr>
          <a:xfrm>
            <a:off x="5867400" y="3897868"/>
            <a:ext cx="2390398"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Substituting 2k for n</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1" name="Rectangle 20"/>
          <p:cNvSpPr>
            <a:spLocks noChangeArrowheads="1"/>
          </p:cNvSpPr>
          <p:nvPr/>
        </p:nvSpPr>
        <p:spPr bwMode="auto">
          <a:xfrm>
            <a:off x="1375806" y="4267200"/>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Since  r = </a:t>
            </a:r>
            <a:r>
              <a:rPr lang="pt-BR" dirty="0">
                <a:solidFill>
                  <a:srgbClr val="0070C0"/>
                </a:solidFill>
                <a:latin typeface="Comic Sans MS" pitchFamily="66" charset="0"/>
                <a:sym typeface="Symbol" pitchFamily="18" charset="2"/>
              </a:rPr>
              <a:t>3k + 1</a:t>
            </a:r>
            <a:r>
              <a:rPr lang="en-US" dirty="0">
                <a:solidFill>
                  <a:srgbClr val="0070C0"/>
                </a:solidFill>
                <a:latin typeface="Comic Sans MS" pitchFamily="66" charset="0"/>
                <a:sym typeface="Symbol" pitchFamily="18" charset="2"/>
              </a:rPr>
              <a:t> is an integer   </a:t>
            </a:r>
          </a:p>
        </p:txBody>
      </p:sp>
      <p:sp>
        <p:nvSpPr>
          <p:cNvPr id="22" name="Rectangle 21"/>
          <p:cNvSpPr/>
          <p:nvPr/>
        </p:nvSpPr>
        <p:spPr>
          <a:xfrm>
            <a:off x="4687899" y="4267200"/>
            <a:ext cx="950901"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Axiom</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3" name="Rectangle 22"/>
          <p:cNvSpPr>
            <a:spLocks noChangeArrowheads="1"/>
          </p:cNvSpPr>
          <p:nvPr/>
        </p:nvSpPr>
        <p:spPr bwMode="auto">
          <a:xfrm>
            <a:off x="1375806" y="4659868"/>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a:t>
            </a:r>
            <a:r>
              <a:rPr lang="pt-BR" dirty="0">
                <a:solidFill>
                  <a:srgbClr val="0070C0"/>
                </a:solidFill>
                <a:latin typeface="Comic Sans MS" pitchFamily="66" charset="0"/>
                <a:sym typeface="Symbol" pitchFamily="18" charset="2"/>
              </a:rPr>
              <a:t> 3n + 2 </a:t>
            </a:r>
            <a:r>
              <a:rPr lang="en-US" dirty="0">
                <a:solidFill>
                  <a:srgbClr val="0070C0"/>
                </a:solidFill>
                <a:latin typeface="Comic Sans MS" pitchFamily="66" charset="0"/>
                <a:sym typeface="Symbol" pitchFamily="18" charset="2"/>
              </a:rPr>
              <a:t>= 2r  is even . </a:t>
            </a:r>
          </a:p>
        </p:txBody>
      </p:sp>
      <p:sp>
        <p:nvSpPr>
          <p:cNvPr id="24" name="Rectangle 23"/>
          <p:cNvSpPr>
            <a:spLocks noChangeArrowheads="1"/>
          </p:cNvSpPr>
          <p:nvPr/>
        </p:nvSpPr>
        <p:spPr bwMode="auto">
          <a:xfrm>
            <a:off x="1371600" y="2819400"/>
            <a:ext cx="36576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We assume that </a:t>
            </a:r>
            <a:r>
              <a:rPr lang="en-US" dirty="0">
                <a:solidFill>
                  <a:srgbClr val="C00000"/>
                </a:solidFill>
                <a:latin typeface="Comic Sans MS" pitchFamily="66" charset="0"/>
              </a:rPr>
              <a:t>n</a:t>
            </a:r>
            <a:r>
              <a:rPr lang="en-US" dirty="0">
                <a:solidFill>
                  <a:srgbClr val="0070C0"/>
                </a:solidFill>
                <a:latin typeface="Comic Sans MS" pitchFamily="66" charset="0"/>
              </a:rPr>
              <a:t> is even.</a:t>
            </a:r>
            <a:endParaRPr lang="en-US" dirty="0">
              <a:solidFill>
                <a:srgbClr val="0070C0"/>
              </a:solidFill>
              <a:latin typeface="Comic Sans MS" pitchFamily="66" charset="0"/>
              <a:sym typeface="Symbol" pitchFamily="18" charset="2"/>
            </a:endParaRPr>
          </a:p>
        </p:txBody>
      </p:sp>
      <p:sp>
        <p:nvSpPr>
          <p:cNvPr id="26" name="Rectangle 25"/>
          <p:cNvSpPr/>
          <p:nvPr/>
        </p:nvSpPr>
        <p:spPr>
          <a:xfrm>
            <a:off x="4648200" y="2819400"/>
            <a:ext cx="1380506"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hypothesis</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7" name="Rectangle 26"/>
          <p:cNvSpPr/>
          <p:nvPr/>
        </p:nvSpPr>
        <p:spPr>
          <a:xfrm>
            <a:off x="3810000" y="4659868"/>
            <a:ext cx="2815194"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definition of even number</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8" name="Rectangle 27"/>
          <p:cNvSpPr>
            <a:spLocks noChangeArrowheads="1"/>
          </p:cNvSpPr>
          <p:nvPr/>
        </p:nvSpPr>
        <p:spPr bwMode="auto">
          <a:xfrm>
            <a:off x="609600" y="5029200"/>
            <a:ext cx="8305800" cy="790153"/>
          </a:xfrm>
          <a:prstGeom prst="rect">
            <a:avLst/>
          </a:prstGeom>
          <a:noFill/>
          <a:ln w="9525">
            <a:noFill/>
            <a:miter lim="800000"/>
            <a:headEnd/>
            <a:tailEnd/>
          </a:ln>
        </p:spPr>
        <p:txBody>
          <a:bodyPr wrap="square">
            <a:spAutoFit/>
          </a:bodyPr>
          <a:lstStyle/>
          <a:p>
            <a:pPr>
              <a:lnSpc>
                <a:spcPct val="150000"/>
              </a:lnSpc>
            </a:pPr>
            <a:r>
              <a:rPr lang="en-US" sz="1600" dirty="0">
                <a:solidFill>
                  <a:srgbClr val="0070C0"/>
                </a:solidFill>
                <a:latin typeface="Comic Sans MS" pitchFamily="66" charset="0"/>
              </a:rPr>
              <a:t>Because the negation of the conclusion of the conditional statement implies that the hypothesis is false, the original conditional statement is true.</a:t>
            </a:r>
          </a:p>
        </p:txBody>
      </p:sp>
      <p:sp>
        <p:nvSpPr>
          <p:cNvPr id="30" name="Rectangle 29"/>
          <p:cNvSpPr/>
          <p:nvPr/>
        </p:nvSpPr>
        <p:spPr>
          <a:xfrm>
            <a:off x="1371600" y="5867400"/>
            <a:ext cx="7162800" cy="338554"/>
          </a:xfrm>
          <a:prstGeom prst="rect">
            <a:avLst/>
          </a:prstGeom>
        </p:spPr>
        <p:txBody>
          <a:bodyPr wrap="square">
            <a:spAutoFit/>
          </a:bodyPr>
          <a:lstStyle/>
          <a:p>
            <a:r>
              <a:rPr lang="en-US" sz="1600" dirty="0">
                <a:solidFill>
                  <a:schemeClr val="accent3">
                    <a:lumMod val="75000"/>
                  </a:schemeClr>
                </a:solidFill>
                <a:latin typeface="Comic Sans MS" pitchFamily="66" charset="0"/>
              </a:rPr>
              <a:t>We have proved the theorem “</a:t>
            </a:r>
            <a:r>
              <a:rPr lang="en-US" sz="1600" dirty="0">
                <a:solidFill>
                  <a:srgbClr val="00B0F0"/>
                </a:solidFill>
                <a:latin typeface="Comic Sans MS" pitchFamily="66" charset="0"/>
              </a:rPr>
              <a:t>if </a:t>
            </a:r>
            <a:r>
              <a:rPr lang="en-US" sz="1600" dirty="0">
                <a:solidFill>
                  <a:srgbClr val="C00000"/>
                </a:solidFill>
                <a:latin typeface="Comic Sans MS" pitchFamily="66" charset="0"/>
                <a:sym typeface="Symbol" pitchFamily="18" charset="2"/>
              </a:rPr>
              <a:t>3n + 2 </a:t>
            </a:r>
            <a:r>
              <a:rPr lang="en-US" sz="1600" dirty="0">
                <a:solidFill>
                  <a:srgbClr val="00B0F0"/>
                </a:solidFill>
                <a:latin typeface="Comic Sans MS" pitchFamily="66" charset="0"/>
                <a:sym typeface="Symbol" pitchFamily="18" charset="2"/>
              </a:rPr>
              <a:t>is odd, then </a:t>
            </a:r>
            <a:r>
              <a:rPr lang="en-US" sz="1600" dirty="0">
                <a:solidFill>
                  <a:srgbClr val="C00000"/>
                </a:solidFill>
                <a:latin typeface="Comic Sans MS" pitchFamily="66" charset="0"/>
                <a:sym typeface="Symbol" pitchFamily="18" charset="2"/>
              </a:rPr>
              <a:t>n</a:t>
            </a:r>
            <a:r>
              <a:rPr lang="en-US" sz="1600" dirty="0">
                <a:solidFill>
                  <a:srgbClr val="00B0F0"/>
                </a:solidFill>
                <a:latin typeface="Comic Sans MS" pitchFamily="66" charset="0"/>
                <a:sym typeface="Symbol" pitchFamily="18" charset="2"/>
              </a:rPr>
              <a:t> is odd</a:t>
            </a:r>
            <a:r>
              <a:rPr lang="en-US" sz="1600" dirty="0">
                <a:solidFill>
                  <a:schemeClr val="accent3">
                    <a:lumMod val="75000"/>
                  </a:schemeClr>
                </a:solidFill>
                <a:latin typeface="Comic Sans MS" pitchFamily="66" charset="0"/>
              </a:rPr>
              <a:t>”</a:t>
            </a:r>
          </a:p>
        </p:txBody>
      </p:sp>
      <p:sp>
        <p:nvSpPr>
          <p:cNvPr id="25" name="Footer Placeholder 24"/>
          <p:cNvSpPr>
            <a:spLocks noGrp="1"/>
          </p:cNvSpPr>
          <p:nvPr>
            <p:ph type="ftr" sz="quarter" idx="11"/>
          </p:nvPr>
        </p:nvSpPr>
        <p:spPr/>
        <p:txBody>
          <a:bodyPr/>
          <a:lstStyle/>
          <a:p>
            <a:endParaRPr lang="en-US"/>
          </a:p>
        </p:txBody>
      </p:sp>
      <p:sp>
        <p:nvSpPr>
          <p:cNvPr id="31" name="Title 1"/>
          <p:cNvSpPr txBox="1">
            <a:spLocks/>
          </p:cNvSpPr>
          <p:nvPr/>
        </p:nvSpPr>
        <p:spPr>
          <a:xfrm>
            <a:off x="266700" y="304800"/>
            <a:ext cx="8534400" cy="914400"/>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Contrapositio</a:t>
            </a:r>
            <a:r>
              <a:rPr lang="en-US" sz="2800" dirty="0">
                <a:solidFill>
                  <a:schemeClr val="accent1"/>
                </a:solidFill>
                <a:latin typeface="Comic Sans MS" pitchFamily="66" charset="0"/>
              </a:rPr>
              <a:t>n</a:t>
            </a:r>
            <a:endParaRPr lang="en-US" sz="2800" dirty="0"/>
          </a:p>
        </p:txBody>
      </p:sp>
      <p:sp>
        <p:nvSpPr>
          <p:cNvPr id="2" name="مربع نص 1"/>
          <p:cNvSpPr txBox="1"/>
          <p:nvPr/>
        </p:nvSpPr>
        <p:spPr>
          <a:xfrm>
            <a:off x="1524000" y="3569732"/>
            <a:ext cx="4800600" cy="338554"/>
          </a:xfrm>
          <a:prstGeom prst="rect">
            <a:avLst/>
          </a:prstGeom>
          <a:noFill/>
        </p:spPr>
        <p:txBody>
          <a:bodyPr wrap="square" rtlCol="1">
            <a:spAutoFit/>
          </a:bodyPr>
          <a:lstStyle/>
          <a:p>
            <a:r>
              <a:rPr lang="en-US" sz="1600" dirty="0">
                <a:solidFill>
                  <a:srgbClr val="0070C0"/>
                </a:solidFill>
                <a:latin typeface="Comic Sans MS" pitchFamily="66" charset="0"/>
                <a:sym typeface="Symbol" pitchFamily="18" charset="2"/>
              </a:rPr>
              <a:t>( </a:t>
            </a:r>
            <a:r>
              <a:rPr lang="en-US" sz="1600" dirty="0">
                <a:solidFill>
                  <a:srgbClr val="C00000"/>
                </a:solidFill>
                <a:latin typeface="Comic Sans MS" pitchFamily="66" charset="0"/>
              </a:rPr>
              <a:t>Substituting 2k for n in </a:t>
            </a:r>
            <a:r>
              <a:rPr lang="en-US" sz="1600" dirty="0" err="1">
                <a:solidFill>
                  <a:srgbClr val="C00000"/>
                </a:solidFill>
                <a:latin typeface="Comic Sans MS" pitchFamily="66" charset="0"/>
              </a:rPr>
              <a:t>hypthesis</a:t>
            </a:r>
            <a:r>
              <a:rPr lang="en-US" sz="1600" dirty="0">
                <a:solidFill>
                  <a:srgbClr val="C00000"/>
                </a:solidFill>
                <a:latin typeface="Comic Sans MS" pitchFamily="66" charset="0"/>
              </a:rPr>
              <a:t> : 3n+2</a:t>
            </a:r>
            <a:r>
              <a:rPr lang="en-US" sz="1600" dirty="0">
                <a:solidFill>
                  <a:srgbClr val="0070C0"/>
                </a:solidFill>
                <a:latin typeface="Comic Sans MS" pitchFamily="66" charset="0"/>
                <a:sym typeface="Symbol" pitchFamily="18" charset="2"/>
              </a:rPr>
              <a:t> )</a:t>
            </a:r>
            <a:r>
              <a:rPr lang="en-US" sz="1600" dirty="0">
                <a:solidFill>
                  <a:srgbClr val="C00000"/>
                </a:solidFill>
                <a:latin typeface="Comic Sans MS" pitchFamily="66"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childTnLst>
                          </p:cTn>
                        </p:par>
                        <p:par>
                          <p:cTn id="45" fill="hold">
                            <p:stCondLst>
                              <p:cond delay="500"/>
                            </p:stCondLst>
                            <p:childTnLst>
                              <p:par>
                                <p:cTn id="46" presetID="10" presetClass="entr" presetSubtype="0" fill="hold" grpId="0"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par>
                          <p:cTn id="54" fill="hold">
                            <p:stCondLst>
                              <p:cond delay="500"/>
                            </p:stCondLst>
                            <p:childTnLst>
                              <p:par>
                                <p:cTn id="55" presetID="10" presetClass="entr" presetSubtype="0"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p:bldP spid="15" grpId="0"/>
      <p:bldP spid="16" grpId="0"/>
      <p:bldP spid="19" grpId="0"/>
      <p:bldP spid="20" grpId="0"/>
      <p:bldP spid="21" grpId="0"/>
      <p:bldP spid="22" grpId="0"/>
      <p:bldP spid="23" grpId="0"/>
      <p:bldP spid="24" grpId="0"/>
      <p:bldP spid="26" grpId="0"/>
      <p:bldP spid="27" grpId="0"/>
      <p:bldP spid="28" grpId="0"/>
      <p:bldP spid="3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D0D8AA9-AE61-49D3-AE4E-15A81A7BE0AE}" type="slidenum">
              <a:rPr lang="en-US" smtClean="0"/>
              <a:pPr/>
              <a:t>12</a:t>
            </a:fld>
            <a:endParaRPr lang="en-US"/>
          </a:p>
        </p:txBody>
      </p:sp>
      <p:sp>
        <p:nvSpPr>
          <p:cNvPr id="6" name="Rectangle 5"/>
          <p:cNvSpPr>
            <a:spLocks noChangeArrowheads="1"/>
          </p:cNvSpPr>
          <p:nvPr/>
        </p:nvSpPr>
        <p:spPr bwMode="auto">
          <a:xfrm>
            <a:off x="304800" y="1447800"/>
            <a:ext cx="8458200" cy="46185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u="sng" dirty="0">
                <a:solidFill>
                  <a:schemeClr val="accent1"/>
                </a:solidFill>
                <a:latin typeface="Comic Sans MS" pitchFamily="66" charset="0"/>
                <a:sym typeface="Symbol" pitchFamily="18" charset="2"/>
              </a:rPr>
              <a:t>Example </a:t>
            </a:r>
            <a:r>
              <a:rPr lang="en-US" sz="1600" dirty="0">
                <a:solidFill>
                  <a:schemeClr val="accent1"/>
                </a:solidFill>
                <a:latin typeface="Comic Sans MS" pitchFamily="66" charset="0"/>
                <a:sym typeface="Symbol" pitchFamily="18" charset="2"/>
              </a:rPr>
              <a:t> </a:t>
            </a:r>
            <a:r>
              <a:rPr lang="en-US" sz="1600" dirty="0">
                <a:solidFill>
                  <a:schemeClr val="accent3">
                    <a:lumMod val="75000"/>
                  </a:schemeClr>
                </a:solidFill>
                <a:latin typeface="Comic Sans MS" pitchFamily="66" charset="0"/>
                <a:sym typeface="Symbol" pitchFamily="18" charset="2"/>
              </a:rPr>
              <a:t>Use an indirect proof to show that “</a:t>
            </a:r>
            <a:r>
              <a:rPr lang="en-US" sz="1600" dirty="0">
                <a:solidFill>
                  <a:srgbClr val="002060"/>
                </a:solidFill>
                <a:latin typeface="Comic Sans MS" pitchFamily="66" charset="0"/>
                <a:sym typeface="Symbol" pitchFamily="18" charset="2"/>
              </a:rPr>
              <a:t>if n</a:t>
            </a:r>
            <a:r>
              <a:rPr lang="en-US" sz="1600" baseline="30000" dirty="0">
                <a:solidFill>
                  <a:srgbClr val="002060"/>
                </a:solidFill>
                <a:latin typeface="Comic Sans MS" pitchFamily="66" charset="0"/>
                <a:sym typeface="Symbol" pitchFamily="18" charset="2"/>
              </a:rPr>
              <a:t>2</a:t>
            </a:r>
            <a:r>
              <a:rPr lang="en-US" sz="1600" dirty="0">
                <a:solidFill>
                  <a:srgbClr val="002060"/>
                </a:solidFill>
                <a:latin typeface="Comic Sans MS" pitchFamily="66" charset="0"/>
                <a:sym typeface="Symbol" pitchFamily="18" charset="2"/>
              </a:rPr>
              <a:t> is odd then n is odd</a:t>
            </a:r>
            <a:r>
              <a:rPr lang="en-US" sz="1600" dirty="0">
                <a:solidFill>
                  <a:schemeClr val="accent3">
                    <a:lumMod val="75000"/>
                  </a:schemeClr>
                </a:solidFill>
                <a:latin typeface="Comic Sans MS" pitchFamily="66" charset="0"/>
                <a:sym typeface="Symbol" pitchFamily="18" charset="2"/>
              </a:rPr>
              <a:t>” </a:t>
            </a:r>
          </a:p>
        </p:txBody>
      </p:sp>
      <p:sp>
        <p:nvSpPr>
          <p:cNvPr id="12" name="Rectangle 11"/>
          <p:cNvSpPr>
            <a:spLocks noChangeArrowheads="1"/>
          </p:cNvSpPr>
          <p:nvPr/>
        </p:nvSpPr>
        <p:spPr bwMode="auto">
          <a:xfrm>
            <a:off x="457200" y="1981200"/>
            <a:ext cx="8305800" cy="338554"/>
          </a:xfrm>
          <a:prstGeom prst="rect">
            <a:avLst/>
          </a:prstGeom>
          <a:noFill/>
          <a:ln w="9525">
            <a:noFill/>
            <a:miter lim="800000"/>
            <a:headEnd/>
            <a:tailEnd/>
          </a:ln>
        </p:spPr>
        <p:txBody>
          <a:bodyPr>
            <a:spAutoFit/>
          </a:bodyPr>
          <a:lstStyle/>
          <a:p>
            <a:pPr>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p>
        </p:txBody>
      </p:sp>
      <p:sp>
        <p:nvSpPr>
          <p:cNvPr id="9" name="Rectangle 8"/>
          <p:cNvSpPr>
            <a:spLocks noChangeArrowheads="1"/>
          </p:cNvSpPr>
          <p:nvPr/>
        </p:nvSpPr>
        <p:spPr bwMode="auto">
          <a:xfrm>
            <a:off x="1295400" y="2286000"/>
            <a:ext cx="69342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The  contraposition is “</a:t>
            </a:r>
            <a:r>
              <a:rPr lang="en-US" dirty="0">
                <a:solidFill>
                  <a:srgbClr val="002060"/>
                </a:solidFill>
                <a:latin typeface="Comic Sans MS" pitchFamily="66" charset="0"/>
                <a:sym typeface="Symbol" pitchFamily="18" charset="2"/>
              </a:rPr>
              <a:t>if n is not odd then n</a:t>
            </a:r>
            <a:r>
              <a:rPr lang="en-US" baseline="30000" dirty="0">
                <a:solidFill>
                  <a:srgbClr val="002060"/>
                </a:solidFill>
                <a:latin typeface="Comic Sans MS" pitchFamily="66" charset="0"/>
                <a:sym typeface="Symbol" pitchFamily="18" charset="2"/>
              </a:rPr>
              <a:t>2</a:t>
            </a:r>
            <a:r>
              <a:rPr lang="en-US" dirty="0">
                <a:solidFill>
                  <a:srgbClr val="002060"/>
                </a:solidFill>
                <a:latin typeface="Comic Sans MS" pitchFamily="66" charset="0"/>
                <a:sym typeface="Symbol" pitchFamily="18" charset="2"/>
              </a:rPr>
              <a:t> is not odd </a:t>
            </a:r>
            <a:r>
              <a:rPr lang="en-US" dirty="0">
                <a:solidFill>
                  <a:srgbClr val="0070C0"/>
                </a:solidFill>
                <a:latin typeface="Comic Sans MS" pitchFamily="66" charset="0"/>
                <a:sym typeface="Symbol" pitchFamily="18" charset="2"/>
              </a:rPr>
              <a:t>”</a:t>
            </a:r>
          </a:p>
        </p:txBody>
      </p:sp>
      <p:sp>
        <p:nvSpPr>
          <p:cNvPr id="15" name="Rectangle 14"/>
          <p:cNvSpPr>
            <a:spLocks noChangeArrowheads="1"/>
          </p:cNvSpPr>
          <p:nvPr/>
        </p:nvSpPr>
        <p:spPr bwMode="auto">
          <a:xfrm>
            <a:off x="1371600" y="3048000"/>
            <a:ext cx="46482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n = 2k , where k is some integer.</a:t>
            </a:r>
            <a:endParaRPr lang="en-US" dirty="0">
              <a:solidFill>
                <a:srgbClr val="0070C0"/>
              </a:solidFill>
              <a:latin typeface="Comic Sans MS" pitchFamily="66" charset="0"/>
              <a:sym typeface="Symbol" pitchFamily="18" charset="2"/>
            </a:endParaRPr>
          </a:p>
        </p:txBody>
      </p:sp>
      <p:sp>
        <p:nvSpPr>
          <p:cNvPr id="16" name="Rectangle 15"/>
          <p:cNvSpPr/>
          <p:nvPr/>
        </p:nvSpPr>
        <p:spPr>
          <a:xfrm>
            <a:off x="5192962" y="3048000"/>
            <a:ext cx="2815194"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definition of even number</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19" name="Rectangle 18"/>
          <p:cNvSpPr>
            <a:spLocks noChangeArrowheads="1"/>
          </p:cNvSpPr>
          <p:nvPr/>
        </p:nvSpPr>
        <p:spPr bwMode="auto">
          <a:xfrm>
            <a:off x="1375806" y="3429000"/>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a:t>
            </a:r>
            <a:r>
              <a:rPr lang="en-US" dirty="0">
                <a:solidFill>
                  <a:srgbClr val="0070C0"/>
                </a:solidFill>
                <a:latin typeface="Comic Sans MS" pitchFamily="66" charset="0"/>
                <a:sym typeface="Symbol" pitchFamily="18" charset="2"/>
              </a:rPr>
              <a:t>n</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(2k)</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4k</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2(2k</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a:t>
            </a:r>
            <a:r>
              <a:rPr lang="en-US" baseline="30000" dirty="0">
                <a:solidFill>
                  <a:srgbClr val="0070C0"/>
                </a:solidFill>
                <a:latin typeface="Comic Sans MS" pitchFamily="66" charset="0"/>
                <a:sym typeface="Symbol" pitchFamily="18" charset="2"/>
              </a:rPr>
              <a:t> </a:t>
            </a:r>
            <a:endParaRPr lang="en-US" dirty="0">
              <a:solidFill>
                <a:srgbClr val="0070C0"/>
              </a:solidFill>
              <a:latin typeface="Comic Sans MS" pitchFamily="66" charset="0"/>
              <a:sym typeface="Symbol" pitchFamily="18" charset="2"/>
            </a:endParaRPr>
          </a:p>
        </p:txBody>
      </p:sp>
      <p:sp>
        <p:nvSpPr>
          <p:cNvPr id="21" name="Rectangle 20"/>
          <p:cNvSpPr>
            <a:spLocks noChangeArrowheads="1"/>
          </p:cNvSpPr>
          <p:nvPr/>
        </p:nvSpPr>
        <p:spPr bwMode="auto">
          <a:xfrm>
            <a:off x="1375806" y="3810000"/>
            <a:ext cx="64727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Since  r = </a:t>
            </a:r>
            <a:r>
              <a:rPr lang="pt-BR"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k</a:t>
            </a:r>
            <a:r>
              <a:rPr lang="en-US" baseline="30000" dirty="0">
                <a:solidFill>
                  <a:srgbClr val="0070C0"/>
                </a:solidFill>
                <a:latin typeface="Comic Sans MS" pitchFamily="66" charset="0"/>
                <a:sym typeface="Symbol" pitchFamily="18" charset="2"/>
              </a:rPr>
              <a:t>2</a:t>
            </a:r>
            <a:r>
              <a:rPr lang="pt-BR" dirty="0">
                <a:solidFill>
                  <a:srgbClr val="0070C0"/>
                </a:solidFill>
                <a:latin typeface="Comic Sans MS" pitchFamily="66" charset="0"/>
                <a:sym typeface="Symbol" pitchFamily="18" charset="2"/>
              </a:rPr>
              <a:t> </a:t>
            </a:r>
            <a:r>
              <a:rPr lang="en-US" dirty="0">
                <a:solidFill>
                  <a:srgbClr val="0070C0"/>
                </a:solidFill>
                <a:latin typeface="Comic Sans MS" pitchFamily="66" charset="0"/>
                <a:sym typeface="Symbol" pitchFamily="18" charset="2"/>
              </a:rPr>
              <a:t> is an integer   </a:t>
            </a:r>
          </a:p>
        </p:txBody>
      </p:sp>
      <p:sp>
        <p:nvSpPr>
          <p:cNvPr id="22" name="Rectangle 21"/>
          <p:cNvSpPr/>
          <p:nvPr/>
        </p:nvSpPr>
        <p:spPr>
          <a:xfrm>
            <a:off x="4687899" y="3810000"/>
            <a:ext cx="950901"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Axiom</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3" name="Rectangle 22"/>
          <p:cNvSpPr>
            <a:spLocks noChangeArrowheads="1"/>
          </p:cNvSpPr>
          <p:nvPr/>
        </p:nvSpPr>
        <p:spPr bwMode="auto">
          <a:xfrm>
            <a:off x="1375806" y="4191000"/>
            <a:ext cx="1976994"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a:t>
            </a:r>
            <a:r>
              <a:rPr lang="pt-BR" dirty="0">
                <a:solidFill>
                  <a:srgbClr val="0070C0"/>
                </a:solidFill>
                <a:latin typeface="Comic Sans MS" pitchFamily="66" charset="0"/>
                <a:sym typeface="Symbol" pitchFamily="18" charset="2"/>
              </a:rPr>
              <a:t> </a:t>
            </a:r>
            <a:r>
              <a:rPr lang="en-US" dirty="0">
                <a:solidFill>
                  <a:srgbClr val="0070C0"/>
                </a:solidFill>
                <a:latin typeface="Comic Sans MS" pitchFamily="66" charset="0"/>
                <a:sym typeface="Symbol" pitchFamily="18" charset="2"/>
              </a:rPr>
              <a:t>n</a:t>
            </a:r>
            <a:r>
              <a:rPr lang="en-US" baseline="30000" dirty="0">
                <a:solidFill>
                  <a:srgbClr val="0070C0"/>
                </a:solidFill>
                <a:latin typeface="Comic Sans MS" pitchFamily="66" charset="0"/>
                <a:sym typeface="Symbol" pitchFamily="18" charset="2"/>
              </a:rPr>
              <a:t>2 </a:t>
            </a:r>
            <a:r>
              <a:rPr lang="en-US" dirty="0">
                <a:solidFill>
                  <a:srgbClr val="0070C0"/>
                </a:solidFill>
                <a:latin typeface="Comic Sans MS" pitchFamily="66" charset="0"/>
                <a:sym typeface="Symbol" pitchFamily="18" charset="2"/>
              </a:rPr>
              <a:t>= 2r  </a:t>
            </a:r>
          </a:p>
        </p:txBody>
      </p:sp>
      <p:sp>
        <p:nvSpPr>
          <p:cNvPr id="24" name="Rectangle 23"/>
          <p:cNvSpPr>
            <a:spLocks noChangeArrowheads="1"/>
          </p:cNvSpPr>
          <p:nvPr/>
        </p:nvSpPr>
        <p:spPr bwMode="auto">
          <a:xfrm>
            <a:off x="1295400" y="2667000"/>
            <a:ext cx="49530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=&gt; We Assume that n is not odd i.e., n is even </a:t>
            </a:r>
            <a:endParaRPr lang="en-US" dirty="0">
              <a:solidFill>
                <a:srgbClr val="0070C0"/>
              </a:solidFill>
              <a:latin typeface="Comic Sans MS" pitchFamily="66" charset="0"/>
              <a:sym typeface="Symbol" pitchFamily="18" charset="2"/>
            </a:endParaRPr>
          </a:p>
        </p:txBody>
      </p:sp>
      <p:sp>
        <p:nvSpPr>
          <p:cNvPr id="26" name="Rectangle 25"/>
          <p:cNvSpPr/>
          <p:nvPr/>
        </p:nvSpPr>
        <p:spPr>
          <a:xfrm>
            <a:off x="6239494" y="2667000"/>
            <a:ext cx="1380506"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hypothesis</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27" name="Rectangle 26"/>
          <p:cNvSpPr/>
          <p:nvPr/>
        </p:nvSpPr>
        <p:spPr>
          <a:xfrm>
            <a:off x="3276600" y="4191000"/>
            <a:ext cx="3103735" cy="369332"/>
          </a:xfrm>
          <a:prstGeom prst="rect">
            <a:avLst/>
          </a:prstGeom>
        </p:spPr>
        <p:txBody>
          <a:bodyPr wrap="none">
            <a:spAutoFit/>
          </a:bodyPr>
          <a:lstStyle/>
          <a:p>
            <a:r>
              <a:rPr lang="en-US"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definition of not odd number</a:t>
            </a:r>
            <a:r>
              <a:rPr lang="en-US" dirty="0">
                <a:solidFill>
                  <a:srgbClr val="0070C0"/>
                </a:solidFill>
                <a:latin typeface="Comic Sans MS" pitchFamily="66" charset="0"/>
                <a:sym typeface="Symbol" pitchFamily="18" charset="2"/>
              </a:rPr>
              <a:t>)</a:t>
            </a:r>
            <a:endParaRPr lang="en-US" dirty="0">
              <a:solidFill>
                <a:srgbClr val="0070C0"/>
              </a:solidFill>
            </a:endParaRPr>
          </a:p>
        </p:txBody>
      </p:sp>
      <p:sp>
        <p:nvSpPr>
          <p:cNvPr id="17" name="Footer Placeholder 16"/>
          <p:cNvSpPr>
            <a:spLocks noGrp="1"/>
          </p:cNvSpPr>
          <p:nvPr>
            <p:ph type="ftr" sz="quarter" idx="11"/>
          </p:nvPr>
        </p:nvSpPr>
        <p:spPr/>
        <p:txBody>
          <a:bodyPr/>
          <a:lstStyle/>
          <a:p>
            <a:endParaRPr lang="en-US"/>
          </a:p>
        </p:txBody>
      </p:sp>
      <p:sp>
        <p:nvSpPr>
          <p:cNvPr id="18" name="Title 1"/>
          <p:cNvSpPr>
            <a:spLocks noGrp="1"/>
          </p:cNvSpPr>
          <p:nvPr>
            <p:ph type="title"/>
          </p:nvPr>
        </p:nvSpPr>
        <p:spPr>
          <a:xfrm>
            <a:off x="301752" y="152400"/>
            <a:ext cx="8534400" cy="914400"/>
          </a:xfrm>
        </p:spPr>
        <p:txBody>
          <a:bodyPr>
            <a:noAutofit/>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Contrapositio</a:t>
            </a:r>
            <a:r>
              <a:rPr lang="en-US" sz="2800" dirty="0">
                <a:solidFill>
                  <a:schemeClr val="accent1"/>
                </a:solidFill>
                <a:latin typeface="Comic Sans MS" pitchFamily="66" charset="0"/>
              </a:rPr>
              <a:t>n</a:t>
            </a:r>
            <a:endParaRPr lang="en-US" sz="2800" dirty="0"/>
          </a:p>
        </p:txBody>
      </p:sp>
      <p:sp>
        <p:nvSpPr>
          <p:cNvPr id="20" name="Rectangle 22"/>
          <p:cNvSpPr>
            <a:spLocks noChangeArrowheads="1"/>
          </p:cNvSpPr>
          <p:nvPr/>
        </p:nvSpPr>
        <p:spPr bwMode="auto">
          <a:xfrm>
            <a:off x="1447800" y="4572000"/>
            <a:ext cx="4711288"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rPr>
              <a:t>Thus , if </a:t>
            </a:r>
            <a:r>
              <a:rPr lang="en-US" dirty="0">
                <a:solidFill>
                  <a:srgbClr val="0070C0"/>
                </a:solidFill>
                <a:latin typeface="Comic Sans MS" pitchFamily="66" charset="0"/>
                <a:sym typeface="Symbol" pitchFamily="18" charset="2"/>
              </a:rPr>
              <a:t>n</a:t>
            </a:r>
            <a:r>
              <a:rPr lang="en-US" baseline="30000" dirty="0">
                <a:solidFill>
                  <a:srgbClr val="0070C0"/>
                </a:solidFill>
                <a:latin typeface="Comic Sans MS" pitchFamily="66" charset="0"/>
                <a:sym typeface="Symbol" pitchFamily="18" charset="2"/>
              </a:rPr>
              <a:t>2</a:t>
            </a:r>
            <a:r>
              <a:rPr lang="en-US" dirty="0">
                <a:solidFill>
                  <a:srgbClr val="0070C0"/>
                </a:solidFill>
                <a:latin typeface="Comic Sans MS" pitchFamily="66" charset="0"/>
                <a:sym typeface="Symbol" pitchFamily="18" charset="2"/>
              </a:rPr>
              <a:t> is odd then n is odd is true </a:t>
            </a:r>
            <a:r>
              <a:rPr lang="en-US" dirty="0">
                <a:solidFill>
                  <a:srgbClr val="0070C0"/>
                </a:solidFill>
                <a:latin typeface="Comic Sans MS" pitchFamily="66" charset="0"/>
              </a:rPr>
              <a:t> </a:t>
            </a:r>
            <a:endParaRPr lang="en-US" dirty="0">
              <a:solidFill>
                <a:srgbClr val="0070C0"/>
              </a:solidFill>
              <a:latin typeface="Comic Sans MS" pitchFamily="66" charset="0"/>
              <a:sym typeface="Symbol" pitchFamily="18" charset="2"/>
            </a:endParaRPr>
          </a:p>
        </p:txBody>
      </p:sp>
      <p:pic>
        <p:nvPicPr>
          <p:cNvPr id="28" name="صورة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2462" y="3994666"/>
            <a:ext cx="1054025" cy="106820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p:bldP spid="15" grpId="0"/>
      <p:bldP spid="16" grpId="0"/>
      <p:bldP spid="19" grpId="0"/>
      <p:bldP spid="21" grpId="0"/>
      <p:bldP spid="22" grpId="0"/>
      <p:bldP spid="23" grpId="0"/>
      <p:bldP spid="24" grpId="0"/>
      <p:bldP spid="26" grpId="0"/>
      <p:bldP spid="27" grpId="0"/>
      <p:bldP spid="2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D0D8AA9-AE61-49D3-AE4E-15A81A7BE0AE}" type="slidenum">
              <a:rPr lang="en-US" smtClean="0"/>
              <a:pPr/>
              <a:t>13</a:t>
            </a:fld>
            <a:endParaRPr lang="en-US"/>
          </a:p>
        </p:txBody>
      </p:sp>
      <p:sp>
        <p:nvSpPr>
          <p:cNvPr id="6" name="Rectangle 5"/>
          <p:cNvSpPr>
            <a:spLocks noChangeArrowheads="1"/>
          </p:cNvSpPr>
          <p:nvPr/>
        </p:nvSpPr>
        <p:spPr bwMode="auto">
          <a:xfrm>
            <a:off x="304800" y="1295400"/>
            <a:ext cx="8686800" cy="923330"/>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 </a:t>
            </a:r>
            <a:r>
              <a:rPr lang="en-US" dirty="0">
                <a:solidFill>
                  <a:schemeClr val="accent3">
                    <a:lumMod val="75000"/>
                  </a:schemeClr>
                </a:solidFill>
                <a:latin typeface="Comic Sans MS" pitchFamily="66" charset="0"/>
                <a:sym typeface="Symbol" pitchFamily="18" charset="2"/>
              </a:rPr>
              <a:t>Prove that if </a:t>
            </a:r>
            <a:r>
              <a:rPr lang="en-US" dirty="0">
                <a:solidFill>
                  <a:srgbClr val="C00000"/>
                </a:solidFill>
                <a:latin typeface="Comic Sans MS" pitchFamily="66" charset="0"/>
                <a:sym typeface="Symbol" pitchFamily="18" charset="2"/>
              </a:rPr>
              <a:t>n = </a:t>
            </a:r>
            <a:r>
              <a:rPr lang="en-US" dirty="0" err="1">
                <a:solidFill>
                  <a:srgbClr val="C00000"/>
                </a:solidFill>
                <a:latin typeface="Comic Sans MS" pitchFamily="66" charset="0"/>
                <a:sym typeface="Symbol" pitchFamily="18" charset="2"/>
              </a:rPr>
              <a:t>ab</a:t>
            </a:r>
            <a:r>
              <a:rPr lang="en-US" dirty="0">
                <a:solidFill>
                  <a:srgbClr val="C00000"/>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where </a:t>
            </a:r>
            <a:r>
              <a:rPr lang="en-US" dirty="0">
                <a:solidFill>
                  <a:srgbClr val="C00000"/>
                </a:solidFill>
                <a:latin typeface="Comic Sans MS" pitchFamily="66" charset="0"/>
                <a:sym typeface="Symbol" pitchFamily="18" charset="2"/>
              </a:rPr>
              <a:t>a</a:t>
            </a:r>
            <a:r>
              <a:rPr lang="en-US" dirty="0">
                <a:solidFill>
                  <a:schemeClr val="accent3">
                    <a:lumMod val="75000"/>
                  </a:schemeClr>
                </a:solidFill>
                <a:latin typeface="Comic Sans MS" pitchFamily="66" charset="0"/>
                <a:sym typeface="Symbol" pitchFamily="18" charset="2"/>
              </a:rPr>
              <a:t> and </a:t>
            </a:r>
            <a:r>
              <a:rPr lang="en-US" dirty="0">
                <a:solidFill>
                  <a:srgbClr val="C00000"/>
                </a:solidFill>
                <a:latin typeface="Comic Sans MS" pitchFamily="66" charset="0"/>
                <a:sym typeface="Symbol" pitchFamily="18" charset="2"/>
              </a:rPr>
              <a:t>b</a:t>
            </a:r>
            <a:r>
              <a:rPr lang="en-US" dirty="0">
                <a:solidFill>
                  <a:schemeClr val="accent3">
                    <a:lumMod val="75000"/>
                  </a:schemeClr>
                </a:solidFill>
                <a:latin typeface="Comic Sans MS" pitchFamily="66" charset="0"/>
                <a:sym typeface="Symbol" pitchFamily="18" charset="2"/>
              </a:rPr>
              <a:t> are positive integers then </a:t>
            </a:r>
            <a:r>
              <a:rPr lang="en-US" dirty="0">
                <a:solidFill>
                  <a:srgbClr val="C00000"/>
                </a:solidFill>
                <a:latin typeface="Comic Sans MS" pitchFamily="66" charset="0"/>
                <a:sym typeface="Symbol" pitchFamily="18" charset="2"/>
              </a:rPr>
              <a:t>a  n </a:t>
            </a:r>
            <a:r>
              <a:rPr lang="en-US" dirty="0">
                <a:solidFill>
                  <a:schemeClr val="accent3">
                    <a:lumMod val="75000"/>
                  </a:schemeClr>
                </a:solidFill>
                <a:latin typeface="Comic Sans MS" pitchFamily="66" charset="0"/>
                <a:sym typeface="Symbol" pitchFamily="18" charset="2"/>
              </a:rPr>
              <a:t>or </a:t>
            </a:r>
            <a:r>
              <a:rPr lang="en-US" dirty="0">
                <a:solidFill>
                  <a:srgbClr val="C00000"/>
                </a:solidFill>
                <a:latin typeface="Comic Sans MS" pitchFamily="66" charset="0"/>
                <a:sym typeface="Symbol" pitchFamily="18" charset="2"/>
              </a:rPr>
              <a:t>b  n</a:t>
            </a:r>
            <a:endParaRPr lang="en-US" dirty="0">
              <a:solidFill>
                <a:schemeClr val="accent3">
                  <a:lumMod val="75000"/>
                </a:schemeClr>
              </a:solidFill>
              <a:latin typeface="Comic Sans MS" pitchFamily="66" charset="0"/>
              <a:sym typeface="Symbol" pitchFamily="18" charset="2"/>
            </a:endParaRPr>
          </a:p>
        </p:txBody>
      </p:sp>
      <p:sp>
        <p:nvSpPr>
          <p:cNvPr id="12" name="Rectangle 11"/>
          <p:cNvSpPr>
            <a:spLocks noChangeArrowheads="1"/>
          </p:cNvSpPr>
          <p:nvPr/>
        </p:nvSpPr>
        <p:spPr bwMode="auto">
          <a:xfrm>
            <a:off x="533400" y="2069068"/>
            <a:ext cx="8305800" cy="369332"/>
          </a:xfrm>
          <a:prstGeom prst="rect">
            <a:avLst/>
          </a:prstGeom>
          <a:noFill/>
          <a:ln w="9525">
            <a:noFill/>
            <a:miter lim="800000"/>
            <a:headEnd/>
            <a:tailEnd/>
          </a:ln>
        </p:spPr>
        <p:txBody>
          <a:bodyPr>
            <a:spAutoFit/>
          </a:bodyPr>
          <a:lstStyle/>
          <a:p>
            <a:pPr>
              <a:buFont typeface="Wingdings" pitchFamily="2" charset="2"/>
              <a:buChar char="Ø"/>
            </a:pPr>
            <a:r>
              <a:rPr lang="en-US" dirty="0">
                <a:solidFill>
                  <a:srgbClr val="D16349"/>
                </a:solidFill>
              </a:rPr>
              <a:t>  </a:t>
            </a:r>
            <a:r>
              <a:rPr lang="en-US" dirty="0">
                <a:solidFill>
                  <a:srgbClr val="002060"/>
                </a:solidFill>
                <a:latin typeface="Comic Sans MS" pitchFamily="66" charset="0"/>
                <a:sym typeface="Symbol" pitchFamily="18" charset="2"/>
              </a:rPr>
              <a:t>Proof:   </a:t>
            </a:r>
            <a:r>
              <a:rPr lang="en-US" dirty="0">
                <a:solidFill>
                  <a:srgbClr val="0070C0"/>
                </a:solidFill>
                <a:latin typeface="Comic Sans MS" pitchFamily="66" charset="0"/>
                <a:sym typeface="Symbol" pitchFamily="18" charset="2"/>
              </a:rPr>
              <a:t>Let </a:t>
            </a:r>
            <a:r>
              <a:rPr lang="en-US" dirty="0">
                <a:solidFill>
                  <a:srgbClr val="00B050"/>
                </a:solidFill>
                <a:latin typeface="Comic Sans MS" pitchFamily="66" charset="0"/>
                <a:sym typeface="Symbol" pitchFamily="18" charset="2"/>
              </a:rPr>
              <a:t>p</a:t>
            </a:r>
            <a:r>
              <a:rPr lang="en-US" dirty="0">
                <a:solidFill>
                  <a:srgbClr val="C00000"/>
                </a:solidFill>
                <a:latin typeface="Comic Sans MS" pitchFamily="66" charset="0"/>
                <a:sym typeface="Symbol" pitchFamily="18" charset="2"/>
              </a:rPr>
              <a:t>=“an”</a:t>
            </a:r>
            <a:r>
              <a:rPr lang="en-US" dirty="0">
                <a:solidFill>
                  <a:srgbClr val="0070C0"/>
                </a:solidFill>
                <a:latin typeface="Comic Sans MS" pitchFamily="66" charset="0"/>
                <a:sym typeface="Symbol" pitchFamily="18" charset="2"/>
              </a:rPr>
              <a:t>, </a:t>
            </a:r>
            <a:r>
              <a:rPr lang="en-US" dirty="0">
                <a:solidFill>
                  <a:srgbClr val="00B050"/>
                </a:solidFill>
                <a:latin typeface="Comic Sans MS" pitchFamily="66" charset="0"/>
                <a:sym typeface="Symbol" pitchFamily="18" charset="2"/>
              </a:rPr>
              <a:t>q</a:t>
            </a:r>
            <a:r>
              <a:rPr lang="en-US" dirty="0">
                <a:solidFill>
                  <a:srgbClr val="C00000"/>
                </a:solidFill>
                <a:latin typeface="Comic Sans MS" pitchFamily="66" charset="0"/>
                <a:sym typeface="Symbol" pitchFamily="18" charset="2"/>
              </a:rPr>
              <a:t>=“bn”</a:t>
            </a:r>
            <a:r>
              <a:rPr lang="en-US" dirty="0">
                <a:solidFill>
                  <a:srgbClr val="0070C0"/>
                </a:solidFill>
                <a:latin typeface="Comic Sans MS" pitchFamily="66" charset="0"/>
                <a:sym typeface="Symbol" pitchFamily="18" charset="2"/>
              </a:rPr>
              <a:t> and </a:t>
            </a:r>
            <a:r>
              <a:rPr lang="en-US" dirty="0">
                <a:solidFill>
                  <a:srgbClr val="00B050"/>
                </a:solidFill>
                <a:latin typeface="Comic Sans MS" pitchFamily="66" charset="0"/>
                <a:sym typeface="Symbol" pitchFamily="18" charset="2"/>
              </a:rPr>
              <a:t>r</a:t>
            </a:r>
            <a:r>
              <a:rPr lang="en-US" dirty="0">
                <a:solidFill>
                  <a:srgbClr val="C00000"/>
                </a:solidFill>
                <a:latin typeface="Comic Sans MS" pitchFamily="66" charset="0"/>
                <a:sym typeface="Symbol" pitchFamily="18" charset="2"/>
              </a:rPr>
              <a:t>=“n=</a:t>
            </a:r>
            <a:r>
              <a:rPr lang="en-US" dirty="0" err="1">
                <a:solidFill>
                  <a:srgbClr val="C00000"/>
                </a:solidFill>
                <a:latin typeface="Comic Sans MS" pitchFamily="66" charset="0"/>
                <a:sym typeface="Symbol" pitchFamily="18" charset="2"/>
              </a:rPr>
              <a:t>ab</a:t>
            </a:r>
            <a:r>
              <a:rPr lang="en-US" dirty="0">
                <a:solidFill>
                  <a:srgbClr val="C00000"/>
                </a:solidFill>
                <a:latin typeface="Comic Sans MS" pitchFamily="66" charset="0"/>
                <a:sym typeface="Symbol" pitchFamily="18" charset="2"/>
              </a:rPr>
              <a:t>”</a:t>
            </a:r>
            <a:r>
              <a:rPr lang="en-US" dirty="0">
                <a:solidFill>
                  <a:srgbClr val="002060"/>
                </a:solidFill>
                <a:latin typeface="Comic Sans MS" pitchFamily="66" charset="0"/>
                <a:sym typeface="Symbol" pitchFamily="18" charset="2"/>
              </a:rPr>
              <a:t> </a:t>
            </a:r>
          </a:p>
        </p:txBody>
      </p:sp>
      <p:sp>
        <p:nvSpPr>
          <p:cNvPr id="32" name="Rectangle 31"/>
          <p:cNvSpPr/>
          <p:nvPr/>
        </p:nvSpPr>
        <p:spPr>
          <a:xfrm>
            <a:off x="1066800" y="2409379"/>
            <a:ext cx="7924800" cy="3000821"/>
          </a:xfrm>
          <a:prstGeom prst="rect">
            <a:avLst/>
          </a:prstGeom>
        </p:spPr>
        <p:txBody>
          <a:bodyPr wrap="square">
            <a:spAutoFit/>
          </a:bodyPr>
          <a:lstStyle/>
          <a:p>
            <a:pPr marL="457200" indent="-457200">
              <a:lnSpc>
                <a:spcPct val="150000"/>
              </a:lnSpc>
              <a:buClr>
                <a:schemeClr val="accent2"/>
              </a:buClr>
            </a:pPr>
            <a:r>
              <a:rPr lang="en-US" dirty="0">
                <a:solidFill>
                  <a:srgbClr val="0070C0"/>
                </a:solidFill>
                <a:latin typeface="Comic Sans MS" pitchFamily="66" charset="0"/>
                <a:sym typeface="Symbol" pitchFamily="18" charset="2"/>
              </a:rPr>
              <a:t>	We want to prove that  r </a:t>
            </a:r>
            <a:r>
              <a:rPr lang="en-US" dirty="0" err="1">
                <a:solidFill>
                  <a:srgbClr val="0070C0"/>
                </a:solidFill>
                <a:latin typeface="Comic Sans MS" pitchFamily="66" charset="0"/>
                <a:sym typeface="Symbol" pitchFamily="18" charset="2"/>
              </a:rPr>
              <a:t>pq</a:t>
            </a:r>
            <a:endParaRPr lang="en-US" dirty="0">
              <a:solidFill>
                <a:srgbClr val="0070C0"/>
              </a:solidFill>
              <a:latin typeface="Comic Sans MS" pitchFamily="66" charset="0"/>
              <a:sym typeface="Symbol" pitchFamily="18" charset="2"/>
            </a:endParaRPr>
          </a:p>
          <a:p>
            <a:pPr marL="457200" indent="-457200">
              <a:lnSpc>
                <a:spcPct val="150000"/>
              </a:lnSpc>
              <a:buClr>
                <a:schemeClr val="accent2"/>
              </a:buClr>
            </a:pPr>
            <a:r>
              <a:rPr lang="en-US" dirty="0">
                <a:solidFill>
                  <a:srgbClr val="0070C0"/>
                </a:solidFill>
                <a:latin typeface="Comic Sans MS" pitchFamily="66" charset="0"/>
                <a:sym typeface="Symbol" pitchFamily="18" charset="2"/>
              </a:rPr>
              <a:t>	=&gt; The contraposition is (</a:t>
            </a:r>
            <a:r>
              <a:rPr lang="en-US" dirty="0" err="1">
                <a:solidFill>
                  <a:srgbClr val="0070C0"/>
                </a:solidFill>
                <a:latin typeface="Comic Sans MS" pitchFamily="66" charset="0"/>
                <a:sym typeface="Symbol" pitchFamily="18" charset="2"/>
              </a:rPr>
              <a:t>pq</a:t>
            </a:r>
            <a:r>
              <a:rPr lang="en-US" dirty="0">
                <a:solidFill>
                  <a:srgbClr val="0070C0"/>
                </a:solidFill>
                <a:latin typeface="Comic Sans MS" pitchFamily="66" charset="0"/>
                <a:sym typeface="Symbol" pitchFamily="18" charset="2"/>
              </a:rPr>
              <a:t> )   r   (</a:t>
            </a:r>
            <a:r>
              <a:rPr lang="en-US" dirty="0">
                <a:solidFill>
                  <a:srgbClr val="C00000"/>
                </a:solidFill>
                <a:latin typeface="Comic Sans MS" pitchFamily="66" charset="0"/>
                <a:sym typeface="Symbol" pitchFamily="18" charset="2"/>
              </a:rPr>
              <a:t>By definition</a:t>
            </a:r>
            <a:r>
              <a:rPr lang="en-US" dirty="0">
                <a:solidFill>
                  <a:srgbClr val="0070C0"/>
                </a:solidFill>
                <a:latin typeface="Comic Sans MS" pitchFamily="66" charset="0"/>
                <a:sym typeface="Symbol" pitchFamily="18" charset="2"/>
              </a:rPr>
              <a:t>)</a:t>
            </a:r>
          </a:p>
          <a:p>
            <a:pPr marL="457200" indent="-457200">
              <a:lnSpc>
                <a:spcPct val="150000"/>
              </a:lnSpc>
              <a:buClr>
                <a:schemeClr val="accent2"/>
              </a:buClr>
            </a:pPr>
            <a:r>
              <a:rPr lang="en-US" dirty="0">
                <a:solidFill>
                  <a:srgbClr val="0070C0"/>
                </a:solidFill>
                <a:latin typeface="Comic Sans MS" pitchFamily="66" charset="0"/>
                <a:sym typeface="Symbol" pitchFamily="18" charset="2"/>
              </a:rPr>
              <a:t>	=&gt; p  q   r  (</a:t>
            </a:r>
            <a:r>
              <a:rPr lang="en-US" dirty="0">
                <a:solidFill>
                  <a:srgbClr val="C00000"/>
                </a:solidFill>
                <a:latin typeface="Comic Sans MS" pitchFamily="66" charset="0"/>
                <a:sym typeface="Symbol" pitchFamily="18" charset="2"/>
              </a:rPr>
              <a:t>De Morgan’s law</a:t>
            </a:r>
            <a:r>
              <a:rPr lang="en-US" dirty="0">
                <a:solidFill>
                  <a:srgbClr val="0070C0"/>
                </a:solidFill>
                <a:latin typeface="Comic Sans MS" pitchFamily="66" charset="0"/>
                <a:sym typeface="Symbol" pitchFamily="18" charset="2"/>
              </a:rPr>
              <a:t>)</a:t>
            </a:r>
          </a:p>
          <a:p>
            <a:pPr marL="457200" indent="-457200">
              <a:lnSpc>
                <a:spcPct val="150000"/>
              </a:lnSpc>
              <a:buClr>
                <a:schemeClr val="accent2"/>
              </a:buClr>
            </a:pPr>
            <a:r>
              <a:rPr lang="en-US" dirty="0">
                <a:solidFill>
                  <a:srgbClr val="0070C0"/>
                </a:solidFill>
                <a:latin typeface="Comic Sans MS" pitchFamily="66" charset="0"/>
                <a:sym typeface="Symbol" pitchFamily="18" charset="2"/>
              </a:rPr>
              <a:t>	Now, assume that an and bn (p  q)</a:t>
            </a:r>
          </a:p>
          <a:p>
            <a:pPr marL="457200" indent="-457200">
              <a:lnSpc>
                <a:spcPct val="150000"/>
              </a:lnSpc>
              <a:buClr>
                <a:schemeClr val="accent2"/>
              </a:buClr>
            </a:pPr>
            <a:r>
              <a:rPr lang="en-US" dirty="0">
                <a:solidFill>
                  <a:srgbClr val="0070C0"/>
                </a:solidFill>
                <a:latin typeface="Comic Sans MS" pitchFamily="66" charset="0"/>
                <a:sym typeface="Symbol" pitchFamily="18" charset="2"/>
              </a:rPr>
              <a:t>	=&gt; </a:t>
            </a:r>
            <a:r>
              <a:rPr lang="en-US" dirty="0" err="1">
                <a:solidFill>
                  <a:srgbClr val="0070C0"/>
                </a:solidFill>
                <a:latin typeface="Comic Sans MS" pitchFamily="66" charset="0"/>
                <a:sym typeface="Symbol" pitchFamily="18" charset="2"/>
              </a:rPr>
              <a:t>a.b</a:t>
            </a:r>
            <a:r>
              <a:rPr lang="en-US" dirty="0">
                <a:solidFill>
                  <a:srgbClr val="0070C0"/>
                </a:solidFill>
                <a:latin typeface="Comic Sans MS" pitchFamily="66" charset="0"/>
                <a:sym typeface="Symbol" pitchFamily="18" charset="2"/>
              </a:rPr>
              <a:t>  </a:t>
            </a:r>
            <a:r>
              <a:rPr lang="en-US" dirty="0" err="1">
                <a:solidFill>
                  <a:srgbClr val="0070C0"/>
                </a:solidFill>
                <a:latin typeface="Comic Sans MS" pitchFamily="66" charset="0"/>
                <a:sym typeface="Symbol" pitchFamily="18" charset="2"/>
              </a:rPr>
              <a:t>n.n</a:t>
            </a:r>
            <a:r>
              <a:rPr lang="en-US" dirty="0">
                <a:solidFill>
                  <a:srgbClr val="0070C0"/>
                </a:solidFill>
                <a:latin typeface="Comic Sans MS" pitchFamily="66" charset="0"/>
                <a:sym typeface="Symbol" pitchFamily="18" charset="2"/>
              </a:rPr>
              <a:t> = n  (</a:t>
            </a:r>
            <a:r>
              <a:rPr lang="en-US" dirty="0">
                <a:solidFill>
                  <a:srgbClr val="C00000"/>
                </a:solidFill>
                <a:latin typeface="Comic Sans MS" pitchFamily="66" charset="0"/>
                <a:sym typeface="Symbol" pitchFamily="18" charset="2"/>
              </a:rPr>
              <a:t>by multiplying above twos</a:t>
            </a:r>
            <a:r>
              <a:rPr lang="en-US" dirty="0">
                <a:solidFill>
                  <a:srgbClr val="0070C0"/>
                </a:solidFill>
                <a:latin typeface="Comic Sans MS" pitchFamily="66" charset="0"/>
                <a:sym typeface="Symbol" pitchFamily="18" charset="2"/>
              </a:rPr>
              <a:t>)</a:t>
            </a:r>
          </a:p>
          <a:p>
            <a:pPr marL="457200" indent="-457200">
              <a:lnSpc>
                <a:spcPct val="150000"/>
              </a:lnSpc>
              <a:buClr>
                <a:schemeClr val="accent2"/>
              </a:buClr>
            </a:pPr>
            <a:r>
              <a:rPr lang="en-US" dirty="0">
                <a:solidFill>
                  <a:srgbClr val="0070C0"/>
                </a:solidFill>
                <a:latin typeface="Comic Sans MS" pitchFamily="66" charset="0"/>
                <a:sym typeface="Symbol" pitchFamily="18" charset="2"/>
              </a:rPr>
              <a:t>	=&gt; </a:t>
            </a:r>
            <a:r>
              <a:rPr lang="en-US" dirty="0" err="1">
                <a:solidFill>
                  <a:srgbClr val="0070C0"/>
                </a:solidFill>
                <a:latin typeface="Comic Sans MS" pitchFamily="66" charset="0"/>
                <a:sym typeface="Symbol" pitchFamily="18" charset="2"/>
              </a:rPr>
              <a:t>ab</a:t>
            </a:r>
            <a:r>
              <a:rPr lang="en-US" dirty="0">
                <a:solidFill>
                  <a:srgbClr val="0070C0"/>
                </a:solidFill>
                <a:latin typeface="Comic Sans MS" pitchFamily="66" charset="0"/>
                <a:sym typeface="Symbol" pitchFamily="18" charset="2"/>
              </a:rPr>
              <a:t>  n </a:t>
            </a:r>
          </a:p>
          <a:p>
            <a:pPr marL="457200" indent="-457200">
              <a:lnSpc>
                <a:spcPct val="150000"/>
              </a:lnSpc>
              <a:buClr>
                <a:schemeClr val="accent2"/>
              </a:buClr>
            </a:pPr>
            <a:r>
              <a:rPr lang="en-US" dirty="0">
                <a:solidFill>
                  <a:srgbClr val="0070C0"/>
                </a:solidFill>
                <a:latin typeface="Comic Sans MS" pitchFamily="66" charset="0"/>
                <a:sym typeface="Symbol" pitchFamily="18" charset="2"/>
              </a:rPr>
              <a:t>	=&gt;  r  which contradicts the statement n = </a:t>
            </a:r>
            <a:r>
              <a:rPr lang="en-US" dirty="0" err="1">
                <a:solidFill>
                  <a:srgbClr val="0070C0"/>
                </a:solidFill>
                <a:latin typeface="Comic Sans MS" pitchFamily="66" charset="0"/>
                <a:sym typeface="Symbol" pitchFamily="18" charset="2"/>
              </a:rPr>
              <a:t>ab</a:t>
            </a:r>
            <a:endParaRPr lang="en-US" sz="1600" dirty="0">
              <a:solidFill>
                <a:srgbClr val="0070C0"/>
              </a:solidFill>
              <a:latin typeface="Comic Sans MS" pitchFamily="66" charset="0"/>
            </a:endParaRPr>
          </a:p>
        </p:txBody>
      </p:sp>
      <p:sp>
        <p:nvSpPr>
          <p:cNvPr id="33" name="Rectangle 32"/>
          <p:cNvSpPr>
            <a:spLocks noChangeArrowheads="1"/>
          </p:cNvSpPr>
          <p:nvPr/>
        </p:nvSpPr>
        <p:spPr bwMode="auto">
          <a:xfrm>
            <a:off x="533400" y="5305847"/>
            <a:ext cx="8305800" cy="790153"/>
          </a:xfrm>
          <a:prstGeom prst="rect">
            <a:avLst/>
          </a:prstGeom>
          <a:noFill/>
          <a:ln w="9525">
            <a:noFill/>
            <a:miter lim="800000"/>
            <a:headEnd/>
            <a:tailEnd/>
          </a:ln>
        </p:spPr>
        <p:txBody>
          <a:bodyPr wrap="square">
            <a:spAutoFit/>
          </a:bodyPr>
          <a:lstStyle/>
          <a:p>
            <a:pPr>
              <a:lnSpc>
                <a:spcPct val="150000"/>
              </a:lnSpc>
            </a:pPr>
            <a:r>
              <a:rPr lang="en-US" sz="1600" dirty="0">
                <a:solidFill>
                  <a:srgbClr val="0070C0"/>
                </a:solidFill>
                <a:latin typeface="Comic Sans MS" pitchFamily="66" charset="0"/>
              </a:rPr>
              <a:t>Because the negation of the conclusion of the conditional statement implies that the hypothesis is false, the original conditional statement is true.</a:t>
            </a:r>
          </a:p>
        </p:txBody>
      </p:sp>
      <p:sp>
        <p:nvSpPr>
          <p:cNvPr id="9" name="Footer Placeholder 8"/>
          <p:cNvSpPr>
            <a:spLocks noGrp="1"/>
          </p:cNvSpPr>
          <p:nvPr>
            <p:ph type="ftr" sz="quarter" idx="11"/>
          </p:nvPr>
        </p:nvSpPr>
        <p:spPr/>
        <p:txBody>
          <a:bodyPr/>
          <a:lstStyle/>
          <a:p>
            <a:endParaRPr lang="en-US"/>
          </a:p>
        </p:txBody>
      </p:sp>
      <p:sp>
        <p:nvSpPr>
          <p:cNvPr id="11" name="Title 1"/>
          <p:cNvSpPr>
            <a:spLocks noGrp="1"/>
          </p:cNvSpPr>
          <p:nvPr>
            <p:ph type="title"/>
          </p:nvPr>
        </p:nvSpPr>
        <p:spPr>
          <a:xfrm>
            <a:off x="301752" y="152400"/>
            <a:ext cx="8534400" cy="914400"/>
          </a:xfrm>
        </p:spPr>
        <p:txBody>
          <a:bodyPr>
            <a:noAutofit/>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Contrapositio</a:t>
            </a:r>
            <a:r>
              <a:rPr lang="en-US" sz="2800" dirty="0">
                <a:solidFill>
                  <a:schemeClr val="accent1"/>
                </a:solidFill>
                <a:latin typeface="Comic Sans MS" pitchFamily="66" charset="0"/>
              </a:rPr>
              <a:t>n (Indirect Proof)</a:t>
            </a:r>
            <a:endParaRPr 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20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2" grpId="0"/>
      <p:bldP spid="3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2800" dirty="0">
                <a:solidFill>
                  <a:schemeClr val="accent1"/>
                </a:solidFill>
                <a:latin typeface="Comic Sans MS" pitchFamily="66" charset="0"/>
              </a:rPr>
              <a:t>Methods of proving theorems –</a:t>
            </a:r>
            <a:r>
              <a:rPr lang="en-US" sz="2400" dirty="0">
                <a:solidFill>
                  <a:schemeClr val="accent1"/>
                </a:solidFill>
                <a:latin typeface="Comic Sans MS" pitchFamily="66" charset="0"/>
              </a:rPr>
              <a:t> </a:t>
            </a:r>
            <a:r>
              <a:rPr lang="en-US" sz="2000" dirty="0">
                <a:solidFill>
                  <a:schemeClr val="accent1"/>
                </a:solidFill>
                <a:latin typeface="Comic Sans MS" pitchFamily="66" charset="0"/>
              </a:rPr>
              <a:t>Proofs by Contradiction</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14</a:t>
            </a:fld>
            <a:endParaRPr lang="en-US"/>
          </a:p>
        </p:txBody>
      </p:sp>
      <mc:AlternateContent xmlns:mc="http://schemas.openxmlformats.org/markup-compatibility/2006" xmlns:a14="http://schemas.microsoft.com/office/drawing/2010/main">
        <mc:Choice Requires="a14">
          <p:sp>
            <p:nvSpPr>
              <p:cNvPr id="6" name="Rectangle 5"/>
              <p:cNvSpPr>
                <a:spLocks noChangeArrowheads="1"/>
              </p:cNvSpPr>
              <p:nvPr/>
            </p:nvSpPr>
            <p:spPr bwMode="auto">
              <a:xfrm>
                <a:off x="228600" y="1295400"/>
                <a:ext cx="8839200" cy="861774"/>
              </a:xfrm>
              <a:prstGeom prst="rect">
                <a:avLst/>
              </a:prstGeom>
              <a:noFill/>
              <a:ln w="9525">
                <a:noFill/>
                <a:miter lim="800000"/>
                <a:headEnd/>
                <a:tailEnd/>
              </a:ln>
            </p:spPr>
            <p:txBody>
              <a:bodyPr wrap="square">
                <a:spAutoFit/>
              </a:bodyPr>
              <a:lstStyle/>
              <a:p>
                <a:pPr>
                  <a:buFont typeface="Wingdings" pitchFamily="2" charset="2"/>
                  <a:buChar char="q"/>
                </a:pPr>
                <a:r>
                  <a:rPr lang="en-US" dirty="0">
                    <a:solidFill>
                      <a:srgbClr val="D16349"/>
                    </a:solidFill>
                    <a:latin typeface="Comic Sans MS" pitchFamily="66" charset="0"/>
                  </a:rPr>
                  <a:t> </a:t>
                </a:r>
                <a:r>
                  <a:rPr lang="en-US" sz="1600" dirty="0">
                    <a:solidFill>
                      <a:schemeClr val="accent1"/>
                    </a:solidFill>
                    <a:latin typeface="Comic Sans MS" pitchFamily="66" charset="0"/>
                  </a:rPr>
                  <a:t>Proofs by Contradiction</a:t>
                </a:r>
              </a:p>
              <a:p>
                <a:r>
                  <a:rPr lang="en-US" sz="1600" dirty="0">
                    <a:solidFill>
                      <a:schemeClr val="accent3">
                        <a:lumMod val="75000"/>
                      </a:schemeClr>
                    </a:solidFill>
                    <a:latin typeface="Comic Sans MS" pitchFamily="66" charset="0"/>
                  </a:rPr>
                  <a:t>Let p be the statement we want to prove is true</a:t>
                </a:r>
                <a:r>
                  <a:rPr lang="en-US" sz="1600" dirty="0">
                    <a:solidFill>
                      <a:schemeClr val="accent3">
                        <a:lumMod val="75000"/>
                      </a:schemeClr>
                    </a:solidFill>
                    <a:latin typeface="Comic Sans MS" pitchFamily="66" charset="0"/>
                    <a:sym typeface="Symbol" pitchFamily="18" charset="2"/>
                  </a:rPr>
                  <a:t>, assuming not p (</a:t>
                </a:r>
                <a:r>
                  <a:rPr lang="en-US" sz="1600" dirty="0">
                    <a:solidFill>
                      <a:srgbClr val="C00000"/>
                    </a:solidFill>
                    <a:latin typeface="Comic Sans MS" pitchFamily="66" charset="0"/>
                    <a:sym typeface="Symbol" pitchFamily="18" charset="2"/>
                  </a:rPr>
                  <a:t>p </a:t>
                </a:r>
                <a:r>
                  <a:rPr lang="en-US" sz="1600" dirty="0">
                    <a:solidFill>
                      <a:schemeClr val="accent3">
                        <a:lumMod val="75000"/>
                      </a:schemeClr>
                    </a:solidFill>
                    <a:latin typeface="Comic Sans MS" pitchFamily="66" charset="0"/>
                    <a:sym typeface="Symbol" pitchFamily="18" charset="2"/>
                  </a:rPr>
                  <a:t>)and show a contradiction  </a:t>
                </a:r>
                <a14:m>
                  <m:oMath xmlns:m="http://schemas.openxmlformats.org/officeDocument/2006/math">
                    <m:r>
                      <a:rPr lang="en-US" sz="1600" i="1">
                        <a:solidFill>
                          <a:schemeClr val="accent3">
                            <a:lumMod val="75000"/>
                          </a:schemeClr>
                        </a:solidFill>
                        <a:latin typeface="Cambria Math"/>
                        <a:ea typeface="Cambria Math"/>
                        <a:sym typeface="Symbol" pitchFamily="18" charset="2"/>
                      </a:rPr>
                      <m:t>¬</m:t>
                    </m:r>
                  </m:oMath>
                </a14:m>
                <a:r>
                  <a:rPr lang="en-US" sz="1600" dirty="0">
                    <a:solidFill>
                      <a:schemeClr val="accent3">
                        <a:lumMod val="75000"/>
                      </a:schemeClr>
                    </a:solidFill>
                    <a:latin typeface="Comic Sans MS" pitchFamily="66" charset="0"/>
                    <a:sym typeface="Symbol" pitchFamily="18" charset="2"/>
                  </a:rPr>
                  <a:t>p </a:t>
                </a:r>
                <a14:m>
                  <m:oMath xmlns:m="http://schemas.openxmlformats.org/officeDocument/2006/math">
                    <m:r>
                      <a:rPr lang="en-US" sz="1600" i="1">
                        <a:solidFill>
                          <a:schemeClr val="accent3">
                            <a:lumMod val="75000"/>
                          </a:schemeClr>
                        </a:solidFill>
                        <a:latin typeface="Cambria Math"/>
                        <a:ea typeface="Cambria Math"/>
                        <a:sym typeface="Symbol" pitchFamily="18" charset="2"/>
                      </a:rPr>
                      <m:t>→</m:t>
                    </m:r>
                  </m:oMath>
                </a14:m>
                <a:r>
                  <a:rPr lang="en-US" sz="1600" dirty="0">
                    <a:solidFill>
                      <a:schemeClr val="accent3">
                        <a:lumMod val="75000"/>
                      </a:schemeClr>
                    </a:solidFill>
                    <a:latin typeface="Comic Sans MS" pitchFamily="66" charset="0"/>
                    <a:sym typeface="Symbol" pitchFamily="18" charset="2"/>
                  </a:rPr>
                  <a:t> q</a:t>
                </a:r>
              </a:p>
            </p:txBody>
          </p:sp>
        </mc:Choice>
        <mc:Fallback xmlns="">
          <p:sp>
            <p:nvSpPr>
              <p:cNvPr id="6" name="Rectangle 5"/>
              <p:cNvSpPr>
                <a:spLocks noRot="1" noChangeAspect="1" noMove="1" noResize="1" noEditPoints="1" noAdjustHandles="1" noChangeArrowheads="1" noChangeShapeType="1" noTextEdit="1"/>
              </p:cNvSpPr>
              <p:nvPr/>
            </p:nvSpPr>
            <p:spPr bwMode="auto">
              <a:xfrm>
                <a:off x="228600" y="1295400"/>
                <a:ext cx="8839200" cy="861774"/>
              </a:xfrm>
              <a:prstGeom prst="rect">
                <a:avLst/>
              </a:prstGeom>
              <a:blipFill rotWithShape="0">
                <a:blip r:embed="rId2"/>
                <a:stretch>
                  <a:fillRect l="-483" t="-1418" b="-8511"/>
                </a:stretch>
              </a:blipFill>
              <a:ln w="9525">
                <a:noFill/>
                <a:miter lim="800000"/>
                <a:headEnd/>
                <a:tailEnd/>
              </a:ln>
            </p:spPr>
            <p:txBody>
              <a:bodyPr/>
              <a:lstStyle/>
              <a:p>
                <a:r>
                  <a:rPr lang="ar-SA">
                    <a:noFill/>
                  </a:rPr>
                  <a:t> </a:t>
                </a:r>
              </a:p>
            </p:txBody>
          </p:sp>
        </mc:Fallback>
      </mc:AlternateContent>
      <p:sp>
        <p:nvSpPr>
          <p:cNvPr id="15" name="Rectangle 14"/>
          <p:cNvSpPr>
            <a:spLocks noChangeArrowheads="1"/>
          </p:cNvSpPr>
          <p:nvPr/>
        </p:nvSpPr>
        <p:spPr bwMode="auto">
          <a:xfrm>
            <a:off x="228600" y="3342972"/>
            <a:ext cx="8686800" cy="46185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u="sng" dirty="0">
                <a:solidFill>
                  <a:schemeClr val="accent1"/>
                </a:solidFill>
                <a:latin typeface="Comic Sans MS" pitchFamily="66" charset="0"/>
                <a:sym typeface="Symbol" pitchFamily="18" charset="2"/>
              </a:rPr>
              <a:t>Example</a:t>
            </a:r>
            <a:r>
              <a:rPr lang="en-US" sz="1600" dirty="0">
                <a:solidFill>
                  <a:schemeClr val="accent1"/>
                </a:solidFill>
                <a:latin typeface="Comic Sans MS" pitchFamily="66" charset="0"/>
                <a:sym typeface="Symbol" pitchFamily="18" charset="2"/>
              </a:rPr>
              <a:t> </a:t>
            </a:r>
            <a:r>
              <a:rPr lang="en-US" sz="1600" dirty="0">
                <a:solidFill>
                  <a:schemeClr val="accent3">
                    <a:lumMod val="75000"/>
                  </a:schemeClr>
                </a:solidFill>
                <a:latin typeface="Comic Sans MS" pitchFamily="66" charset="0"/>
                <a:sym typeface="Symbol" pitchFamily="18" charset="2"/>
              </a:rPr>
              <a:t> Prove that </a:t>
            </a:r>
            <a:r>
              <a:rPr lang="en-US" sz="1600" dirty="0">
                <a:solidFill>
                  <a:srgbClr val="C00000"/>
                </a:solidFill>
                <a:latin typeface="Comic Sans MS" pitchFamily="66" charset="0"/>
                <a:sym typeface="Symbol" pitchFamily="18" charset="2"/>
              </a:rPr>
              <a:t>2 </a:t>
            </a:r>
            <a:r>
              <a:rPr lang="en-US" sz="1600" dirty="0">
                <a:solidFill>
                  <a:schemeClr val="accent3">
                    <a:lumMod val="75000"/>
                  </a:schemeClr>
                </a:solidFill>
                <a:latin typeface="Comic Sans MS" pitchFamily="66" charset="0"/>
                <a:sym typeface="Symbol" pitchFamily="18" charset="2"/>
              </a:rPr>
              <a:t>is irrational by giving a proof by contradiction.</a:t>
            </a:r>
          </a:p>
        </p:txBody>
      </p:sp>
      <p:sp>
        <p:nvSpPr>
          <p:cNvPr id="17" name="Rectangle 16"/>
          <p:cNvSpPr>
            <a:spLocks noChangeArrowheads="1"/>
          </p:cNvSpPr>
          <p:nvPr/>
        </p:nvSpPr>
        <p:spPr bwMode="auto">
          <a:xfrm>
            <a:off x="304800" y="3817709"/>
            <a:ext cx="8763000" cy="1523494"/>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r>
              <a:rPr lang="en-US" sz="1600" dirty="0">
                <a:solidFill>
                  <a:srgbClr val="0070C0"/>
                </a:solidFill>
                <a:latin typeface="Comic Sans MS" pitchFamily="66" charset="0"/>
              </a:rPr>
              <a:t> </a:t>
            </a:r>
            <a:r>
              <a:rPr lang="en-US" sz="1600" dirty="0">
                <a:solidFill>
                  <a:srgbClr val="0070C0"/>
                </a:solidFill>
                <a:latin typeface="Comic Sans MS" pitchFamily="66" charset="0"/>
                <a:sym typeface="Symbol" pitchFamily="18" charset="2"/>
              </a:rPr>
              <a:t>Let p is “2  is irrational </a:t>
            </a:r>
            <a:r>
              <a:rPr lang="en-US" sz="1400" dirty="0">
                <a:solidFill>
                  <a:srgbClr val="0070C0"/>
                </a:solidFill>
                <a:latin typeface="Comic Sans MS" pitchFamily="66" charset="0"/>
                <a:sym typeface="Symbol" pitchFamily="18" charset="2"/>
              </a:rPr>
              <a:t>“</a:t>
            </a:r>
          </a:p>
          <a:p>
            <a:pPr>
              <a:lnSpc>
                <a:spcPct val="150000"/>
              </a:lnSpc>
            </a:pPr>
            <a:r>
              <a:rPr lang="en-US" sz="1600" dirty="0">
                <a:solidFill>
                  <a:srgbClr val="0070C0"/>
                </a:solidFill>
                <a:latin typeface="Comic Sans MS" pitchFamily="66" charset="0"/>
                <a:sym typeface="Symbol" pitchFamily="18" charset="2"/>
              </a:rPr>
              <a:t>  </a:t>
            </a:r>
            <a:r>
              <a:rPr lang="en-US" sz="1600" dirty="0">
                <a:solidFill>
                  <a:srgbClr val="0070C0"/>
                </a:solidFill>
                <a:latin typeface="Comic Sans MS" pitchFamily="66" charset="0"/>
              </a:rPr>
              <a:t>To start a proof by contradiction, we suppose that ￢p is true , "It is not the case that is irrational</a:t>
            </a:r>
            <a:r>
              <a:rPr lang="en-US" sz="1600" i="1" dirty="0">
                <a:solidFill>
                  <a:srgbClr val="0070C0"/>
                </a:solidFill>
                <a:latin typeface="Comic Sans MS" pitchFamily="66" charset="0"/>
              </a:rPr>
              <a:t>”</a:t>
            </a:r>
            <a:endParaRPr lang="en-US" sz="1600" dirty="0">
              <a:solidFill>
                <a:srgbClr val="0070C0"/>
              </a:solidFill>
              <a:latin typeface="Comic Sans MS" pitchFamily="66" charset="0"/>
            </a:endParaRPr>
          </a:p>
          <a:p>
            <a:pPr>
              <a:lnSpc>
                <a:spcPct val="150000"/>
              </a:lnSpc>
              <a:buFont typeface="Wingdings" pitchFamily="2" charset="2"/>
              <a:buChar char="Ø"/>
            </a:pPr>
            <a:endParaRPr lang="en-US" sz="1400" dirty="0">
              <a:solidFill>
                <a:srgbClr val="0070C0"/>
              </a:solidFill>
              <a:latin typeface="Comic Sans MS" pitchFamily="66" charset="0"/>
              <a:sym typeface="Symbol" pitchFamily="18" charset="2"/>
            </a:endParaRPr>
          </a:p>
        </p:txBody>
      </p:sp>
      <p:sp>
        <p:nvSpPr>
          <p:cNvPr id="22" name="Rectangle 21"/>
          <p:cNvSpPr>
            <a:spLocks noChangeArrowheads="1"/>
          </p:cNvSpPr>
          <p:nvPr/>
        </p:nvSpPr>
        <p:spPr bwMode="auto">
          <a:xfrm>
            <a:off x="911352" y="4988543"/>
            <a:ext cx="3657600" cy="338554"/>
          </a:xfrm>
          <a:prstGeom prst="rect">
            <a:avLst/>
          </a:prstGeom>
          <a:noFill/>
          <a:ln w="9525">
            <a:noFill/>
            <a:miter lim="800000"/>
            <a:headEnd/>
            <a:tailEnd/>
          </a:ln>
        </p:spPr>
        <p:txBody>
          <a:bodyPr wrap="square">
            <a:spAutoFit/>
          </a:bodyPr>
          <a:lstStyle/>
          <a:p>
            <a:r>
              <a:rPr lang="en-US" sz="1600" dirty="0">
                <a:solidFill>
                  <a:srgbClr val="0070C0"/>
                </a:solidFill>
                <a:latin typeface="Comic Sans MS" pitchFamily="66" charset="0"/>
              </a:rPr>
              <a:t>Let</a:t>
            </a:r>
            <a:r>
              <a:rPr lang="en-US" sz="1600" dirty="0">
                <a:solidFill>
                  <a:srgbClr val="0070C0"/>
                </a:solidFill>
                <a:latin typeface="Comic Sans MS" pitchFamily="66" charset="0"/>
                <a:sym typeface="Symbol" pitchFamily="18" charset="2"/>
              </a:rPr>
              <a:t> p is 2  is rational </a:t>
            </a:r>
          </a:p>
        </p:txBody>
      </p:sp>
      <p:sp>
        <p:nvSpPr>
          <p:cNvPr id="23" name="Rectangle 22"/>
          <p:cNvSpPr/>
          <p:nvPr/>
        </p:nvSpPr>
        <p:spPr>
          <a:xfrm>
            <a:off x="3411964" y="4988543"/>
            <a:ext cx="1236236"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400" dirty="0">
                <a:solidFill>
                  <a:srgbClr val="C00000"/>
                </a:solidFill>
                <a:latin typeface="Comic Sans MS" pitchFamily="66" charset="0"/>
                <a:sym typeface="Symbol" pitchFamily="18" charset="2"/>
              </a:rPr>
              <a:t>hypothesis</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
        <p:nvSpPr>
          <p:cNvPr id="24" name="Rectangle 23"/>
          <p:cNvSpPr>
            <a:spLocks noChangeArrowheads="1"/>
          </p:cNvSpPr>
          <p:nvPr/>
        </p:nvSpPr>
        <p:spPr bwMode="auto">
          <a:xfrm>
            <a:off x="558464" y="5370342"/>
            <a:ext cx="7818402" cy="1077218"/>
          </a:xfrm>
          <a:prstGeom prst="rect">
            <a:avLst/>
          </a:prstGeom>
          <a:noFill/>
          <a:ln w="9525">
            <a:noFill/>
            <a:miter lim="800000"/>
            <a:headEnd/>
            <a:tailEnd/>
          </a:ln>
        </p:spPr>
        <p:txBody>
          <a:bodyPr wrap="square">
            <a:spAutoFit/>
          </a:bodyPr>
          <a:lstStyle/>
          <a:p>
            <a:pPr>
              <a:lnSpc>
                <a:spcPct val="150000"/>
              </a:lnSpc>
            </a:pPr>
            <a:r>
              <a:rPr lang="en-US" sz="1600" dirty="0">
                <a:solidFill>
                  <a:srgbClr val="0070C0"/>
                </a:solidFill>
                <a:latin typeface="Comic Sans MS" pitchFamily="66" charset="0"/>
                <a:sym typeface="Symbol" pitchFamily="18" charset="2"/>
              </a:rPr>
              <a:t>2 = a/b for some integers a and b (b0) and a and b have no common factors    </a:t>
            </a:r>
            <a:r>
              <a:rPr lang="en-US" sz="1600" dirty="0">
                <a:solidFill>
                  <a:srgbClr val="0070C0"/>
                </a:solidFill>
                <a:latin typeface="Comic Sans MS" pitchFamily="66" charset="0"/>
              </a:rPr>
              <a:t>We can square both sides of the equation </a:t>
            </a:r>
            <a:r>
              <a:rPr lang="en-US" sz="1600" dirty="0">
                <a:solidFill>
                  <a:srgbClr val="0070C0"/>
                </a:solidFill>
                <a:latin typeface="Comic Sans MS" pitchFamily="66" charset="0"/>
                <a:sym typeface="Symbol" pitchFamily="18" charset="2"/>
              </a:rPr>
              <a:t>2 = a/b </a:t>
            </a:r>
            <a:endParaRPr lang="en-US" sz="1600" dirty="0">
              <a:solidFill>
                <a:srgbClr val="0070C0"/>
              </a:solidFill>
              <a:latin typeface="Comic Sans MS" pitchFamily="66" charset="0"/>
            </a:endParaRPr>
          </a:p>
          <a:p>
            <a:endParaRPr lang="en-US" sz="1600" dirty="0">
              <a:solidFill>
                <a:srgbClr val="0070C0"/>
              </a:solidFill>
              <a:latin typeface="Comic Sans MS" pitchFamily="66" charset="0"/>
              <a:sym typeface="Symbol" pitchFamily="18" charset="2"/>
            </a:endParaRPr>
          </a:p>
        </p:txBody>
      </p:sp>
      <p:sp>
        <p:nvSpPr>
          <p:cNvPr id="27" name="Rectangle 26"/>
          <p:cNvSpPr>
            <a:spLocks noChangeArrowheads="1"/>
          </p:cNvSpPr>
          <p:nvPr/>
        </p:nvSpPr>
        <p:spPr bwMode="auto">
          <a:xfrm>
            <a:off x="5410200" y="5867400"/>
            <a:ext cx="1828800" cy="338554"/>
          </a:xfrm>
          <a:prstGeom prst="rect">
            <a:avLst/>
          </a:prstGeom>
          <a:noFill/>
          <a:ln w="9525">
            <a:noFill/>
            <a:miter lim="800000"/>
            <a:headEnd/>
            <a:tailEnd/>
          </a:ln>
        </p:spPr>
        <p:txBody>
          <a:bodyPr wrap="square">
            <a:spAutoFit/>
          </a:bodyPr>
          <a:lstStyle/>
          <a:p>
            <a:r>
              <a:rPr lang="en-US" sz="1600" dirty="0">
                <a:solidFill>
                  <a:srgbClr val="0070C0"/>
                </a:solidFill>
                <a:latin typeface="Comic Sans MS" pitchFamily="66" charset="0"/>
                <a:sym typeface="Symbol" pitchFamily="18" charset="2"/>
              </a:rPr>
              <a:t>=&gt; 2 = a</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/b</a:t>
            </a:r>
            <a:r>
              <a:rPr lang="en-US" sz="1600" baseline="30000" dirty="0">
                <a:solidFill>
                  <a:srgbClr val="0070C0"/>
                </a:solidFill>
                <a:latin typeface="Comic Sans MS" pitchFamily="66" charset="0"/>
                <a:sym typeface="Symbol" pitchFamily="18" charset="2"/>
              </a:rPr>
              <a:t>2</a:t>
            </a:r>
            <a:endParaRPr lang="en-US" sz="1600" dirty="0">
              <a:solidFill>
                <a:srgbClr val="0070C0"/>
              </a:solidFill>
              <a:latin typeface="Comic Sans MS" pitchFamily="66" charset="0"/>
              <a:sym typeface="Symbol" pitchFamily="18" charset="2"/>
            </a:endParaRPr>
          </a:p>
        </p:txBody>
      </p:sp>
      <p:sp>
        <p:nvSpPr>
          <p:cNvPr id="28" name="Footer Placeholder 27"/>
          <p:cNvSpPr>
            <a:spLocks noGrp="1"/>
          </p:cNvSpPr>
          <p:nvPr>
            <p:ph type="ftr" sz="quarter" idx="11"/>
          </p:nvPr>
        </p:nvSpPr>
        <p:spPr/>
        <p:txBody>
          <a:bodyPr/>
          <a:lstStyle/>
          <a:p>
            <a:endParaRPr lang="en-US"/>
          </a:p>
        </p:txBody>
      </p:sp>
      <p:sp>
        <p:nvSpPr>
          <p:cNvPr id="4" name="مستطيل 3"/>
          <p:cNvSpPr/>
          <p:nvPr/>
        </p:nvSpPr>
        <p:spPr>
          <a:xfrm>
            <a:off x="200465" y="2165741"/>
            <a:ext cx="8534400" cy="1200329"/>
          </a:xfrm>
          <a:prstGeom prst="rect">
            <a:avLst/>
          </a:prstGeom>
        </p:spPr>
        <p:txBody>
          <a:bodyPr wrap="square">
            <a:spAutoFit/>
          </a:bodyPr>
          <a:lstStyle/>
          <a:p>
            <a:pPr>
              <a:lnSpc>
                <a:spcPct val="150000"/>
              </a:lnSpc>
            </a:pPr>
            <a:r>
              <a:rPr lang="en-US" sz="1600" dirty="0">
                <a:solidFill>
                  <a:schemeClr val="accent1"/>
                </a:solidFill>
                <a:latin typeface="Comic Sans MS" pitchFamily="66" charset="0"/>
              </a:rPr>
              <a:t>Definition:</a:t>
            </a:r>
            <a:r>
              <a:rPr lang="en-US" sz="1600" dirty="0">
                <a:solidFill>
                  <a:srgbClr val="002060"/>
                </a:solidFill>
                <a:latin typeface="Comic Sans MS" pitchFamily="66" charset="0"/>
              </a:rPr>
              <a:t> The real number r is rational if there exist integers p and q with q</a:t>
            </a:r>
            <a:r>
              <a:rPr lang="en-US" sz="1600" i="1" dirty="0">
                <a:solidFill>
                  <a:srgbClr val="002060"/>
                </a:solidFill>
                <a:sym typeface="Symbol" pitchFamily="18" charset="2"/>
              </a:rPr>
              <a:t> </a:t>
            </a:r>
            <a:r>
              <a:rPr lang="en-US" sz="1600" i="1" dirty="0">
                <a:solidFill>
                  <a:srgbClr val="002060"/>
                </a:solidFill>
                <a:latin typeface="Symbol" pitchFamily="18" charset="2"/>
                <a:sym typeface="Symbol" pitchFamily="18" charset="2"/>
              </a:rPr>
              <a:t></a:t>
            </a:r>
            <a:r>
              <a:rPr lang="en-US" sz="1600" i="1" dirty="0">
                <a:solidFill>
                  <a:srgbClr val="002060"/>
                </a:solidFill>
                <a:sym typeface="Symbol" pitchFamily="18" charset="2"/>
              </a:rPr>
              <a:t> </a:t>
            </a:r>
            <a:r>
              <a:rPr lang="en-US" sz="1600" dirty="0">
                <a:solidFill>
                  <a:srgbClr val="002060"/>
                </a:solidFill>
                <a:latin typeface="Comic Sans MS" pitchFamily="66" charset="0"/>
              </a:rPr>
              <a:t> 0 such that r = p/q and </a:t>
            </a:r>
            <a:r>
              <a:rPr lang="en-US" sz="1600" dirty="0">
                <a:solidFill>
                  <a:srgbClr val="002060"/>
                </a:solidFill>
                <a:latin typeface="Comic Sans MS" pitchFamily="66" charset="0"/>
                <a:sym typeface="Symbol" pitchFamily="18" charset="2"/>
              </a:rPr>
              <a:t>p and q have no common factors</a:t>
            </a:r>
            <a:r>
              <a:rPr lang="en-US" sz="1600" dirty="0">
                <a:solidFill>
                  <a:srgbClr val="002060"/>
                </a:solidFill>
                <a:latin typeface="Comic Sans MS" pitchFamily="66" charset="0"/>
              </a:rPr>
              <a:t> A real number that is not rational is called irrational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fad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22" grpId="0"/>
      <p:bldP spid="23" grpId="0"/>
      <p:bldP spid="24" grpId="0"/>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231648"/>
            <a:ext cx="8534400" cy="758952"/>
          </a:xfrm>
        </p:spPr>
        <p:txBody>
          <a:bodyPr>
            <a:noAutofit/>
          </a:bodyPr>
          <a:lstStyle/>
          <a:p>
            <a:r>
              <a:rPr lang="en-US" sz="2800" dirty="0">
                <a:solidFill>
                  <a:schemeClr val="accent1"/>
                </a:solidFill>
                <a:latin typeface="Comic Sans MS" pitchFamily="66" charset="0"/>
              </a:rPr>
              <a:t>Methods of proving theorems –</a:t>
            </a:r>
            <a:r>
              <a:rPr lang="en-US" sz="2400" dirty="0">
                <a:solidFill>
                  <a:schemeClr val="accent1"/>
                </a:solidFill>
                <a:latin typeface="Comic Sans MS" pitchFamily="66" charset="0"/>
              </a:rPr>
              <a:t> </a:t>
            </a:r>
            <a:r>
              <a:rPr lang="en-US" sz="2000" dirty="0">
                <a:solidFill>
                  <a:schemeClr val="accent1"/>
                </a:solidFill>
                <a:latin typeface="Comic Sans MS" pitchFamily="66" charset="0"/>
              </a:rPr>
              <a:t>Proofs by Contradiction</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15</a:t>
            </a:fld>
            <a:endParaRPr lang="en-US"/>
          </a:p>
        </p:txBody>
      </p:sp>
      <p:sp>
        <p:nvSpPr>
          <p:cNvPr id="36" name="Rectangle 35"/>
          <p:cNvSpPr/>
          <p:nvPr/>
        </p:nvSpPr>
        <p:spPr>
          <a:xfrm>
            <a:off x="383058" y="3027859"/>
            <a:ext cx="8382000" cy="1200329"/>
          </a:xfrm>
          <a:prstGeom prst="rect">
            <a:avLst/>
          </a:prstGeom>
        </p:spPr>
        <p:txBody>
          <a:bodyPr wrap="square">
            <a:spAutoFit/>
          </a:bodyPr>
          <a:lstStyle/>
          <a:p>
            <a:pPr>
              <a:lnSpc>
                <a:spcPct val="150000"/>
              </a:lnSpc>
            </a:pPr>
            <a:r>
              <a:rPr lang="en-US" sz="1600" dirty="0">
                <a:solidFill>
                  <a:srgbClr val="0070C0"/>
                </a:solidFill>
                <a:latin typeface="Comic Sans MS" pitchFamily="66" charset="0"/>
              </a:rPr>
              <a:t>We have now shown that the assumption of ￢p leads to the equation √2 = a/b, where </a:t>
            </a:r>
          </a:p>
          <a:p>
            <a:pPr>
              <a:lnSpc>
                <a:spcPct val="150000"/>
              </a:lnSpc>
              <a:buClr>
                <a:srgbClr val="C00000"/>
              </a:buClr>
              <a:buFont typeface="Wingdings" pitchFamily="2" charset="2"/>
              <a:buChar char="Ø"/>
            </a:pPr>
            <a:r>
              <a:rPr lang="en-US" sz="1600" dirty="0">
                <a:solidFill>
                  <a:srgbClr val="0070C0"/>
                </a:solidFill>
                <a:latin typeface="Comic Sans MS" pitchFamily="66" charset="0"/>
              </a:rPr>
              <a:t> a and b have no common factors, </a:t>
            </a:r>
          </a:p>
          <a:p>
            <a:pPr>
              <a:lnSpc>
                <a:spcPct val="150000"/>
              </a:lnSpc>
              <a:buClr>
                <a:srgbClr val="C00000"/>
              </a:buClr>
              <a:buFont typeface="Wingdings" pitchFamily="2" charset="2"/>
              <a:buChar char="Ø"/>
            </a:pPr>
            <a:r>
              <a:rPr lang="en-US" sz="1600" dirty="0">
                <a:solidFill>
                  <a:srgbClr val="0070C0"/>
                </a:solidFill>
                <a:latin typeface="Comic Sans MS" pitchFamily="66" charset="0"/>
              </a:rPr>
              <a:t> but both a and b are even ( </a:t>
            </a:r>
            <a:r>
              <a:rPr lang="en-US" sz="1600" dirty="0">
                <a:solidFill>
                  <a:srgbClr val="C00000"/>
                </a:solidFill>
                <a:latin typeface="Comic Sans MS" pitchFamily="66" charset="0"/>
              </a:rPr>
              <a:t>that is, 2 divides both a and b</a:t>
            </a:r>
            <a:r>
              <a:rPr lang="en-US" sz="1600" dirty="0">
                <a:solidFill>
                  <a:srgbClr val="0070C0"/>
                </a:solidFill>
                <a:latin typeface="Comic Sans MS" pitchFamily="66" charset="0"/>
              </a:rPr>
              <a:t>)</a:t>
            </a:r>
          </a:p>
        </p:txBody>
      </p:sp>
      <p:sp>
        <p:nvSpPr>
          <p:cNvPr id="42" name="Rectangle 41"/>
          <p:cNvSpPr/>
          <p:nvPr/>
        </p:nvSpPr>
        <p:spPr>
          <a:xfrm>
            <a:off x="304800" y="4343400"/>
            <a:ext cx="8610600" cy="790153"/>
          </a:xfrm>
          <a:prstGeom prst="rect">
            <a:avLst/>
          </a:prstGeom>
        </p:spPr>
        <p:txBody>
          <a:bodyPr wrap="square">
            <a:spAutoFit/>
          </a:bodyPr>
          <a:lstStyle/>
          <a:p>
            <a:pPr>
              <a:lnSpc>
                <a:spcPct val="150000"/>
              </a:lnSpc>
            </a:pPr>
            <a:r>
              <a:rPr lang="en-US" sz="1600" dirty="0">
                <a:solidFill>
                  <a:srgbClr val="0070C0"/>
                </a:solidFill>
                <a:latin typeface="Comic Sans MS" pitchFamily="66" charset="0"/>
              </a:rPr>
              <a:t>That is our assumption of </a:t>
            </a:r>
            <a:r>
              <a:rPr lang="en-US" sz="1600" dirty="0">
                <a:solidFill>
                  <a:srgbClr val="002060"/>
                </a:solidFill>
                <a:latin typeface="Comic Sans MS" pitchFamily="66" charset="0"/>
              </a:rPr>
              <a:t>￢p leads to the contradiction, ￢p must be false.</a:t>
            </a:r>
          </a:p>
          <a:p>
            <a:pPr>
              <a:lnSpc>
                <a:spcPct val="150000"/>
              </a:lnSpc>
            </a:pPr>
            <a:r>
              <a:rPr lang="en-US" sz="1600" dirty="0">
                <a:solidFill>
                  <a:srgbClr val="0070C0"/>
                </a:solidFill>
                <a:latin typeface="Comic Sans MS" pitchFamily="66" charset="0"/>
              </a:rPr>
              <a:t>That is, </a:t>
            </a:r>
            <a:r>
              <a:rPr lang="en-US" sz="1600" dirty="0">
                <a:solidFill>
                  <a:srgbClr val="002060"/>
                </a:solidFill>
                <a:latin typeface="Comic Sans MS" pitchFamily="66" charset="0"/>
              </a:rPr>
              <a:t>the statement p, “ √2 is irrational,” is true</a:t>
            </a:r>
            <a:r>
              <a:rPr lang="en-US" sz="1600" dirty="0">
                <a:solidFill>
                  <a:srgbClr val="0070C0"/>
                </a:solidFill>
                <a:latin typeface="Comic Sans MS" pitchFamily="66" charset="0"/>
              </a:rPr>
              <a:t>. We have proved that √2 is irrational.</a:t>
            </a:r>
          </a:p>
        </p:txBody>
      </p:sp>
      <p:sp>
        <p:nvSpPr>
          <p:cNvPr id="28" name="Footer Placeholder 27"/>
          <p:cNvSpPr>
            <a:spLocks noGrp="1"/>
          </p:cNvSpPr>
          <p:nvPr>
            <p:ph type="ftr" sz="quarter" idx="11"/>
          </p:nvPr>
        </p:nvSpPr>
        <p:spPr/>
        <p:txBody>
          <a:bodyPr/>
          <a:lstStyle/>
          <a:p>
            <a:endParaRPr lang="en-US"/>
          </a:p>
        </p:txBody>
      </p:sp>
      <p:grpSp>
        <p:nvGrpSpPr>
          <p:cNvPr id="4" name="مجموعة 3"/>
          <p:cNvGrpSpPr/>
          <p:nvPr/>
        </p:nvGrpSpPr>
        <p:grpSpPr>
          <a:xfrm>
            <a:off x="383058" y="1415071"/>
            <a:ext cx="8382001" cy="1590483"/>
            <a:chOff x="1142999" y="5300246"/>
            <a:chExt cx="8382001" cy="1590483"/>
          </a:xfrm>
        </p:grpSpPr>
        <p:sp>
          <p:nvSpPr>
            <p:cNvPr id="7" name="Rectangle 28"/>
            <p:cNvSpPr>
              <a:spLocks noChangeArrowheads="1"/>
            </p:cNvSpPr>
            <p:nvPr/>
          </p:nvSpPr>
          <p:spPr bwMode="auto">
            <a:xfrm>
              <a:off x="1143000" y="5300246"/>
              <a:ext cx="7772400" cy="790153"/>
            </a:xfrm>
            <a:prstGeom prst="rect">
              <a:avLst/>
            </a:prstGeom>
            <a:noFill/>
            <a:ln w="9525">
              <a:noFill/>
              <a:miter lim="800000"/>
              <a:headEnd/>
              <a:tailEnd/>
            </a:ln>
          </p:spPr>
          <p:txBody>
            <a:bodyPr wrap="square">
              <a:spAutoFit/>
            </a:bodyPr>
            <a:lstStyle/>
            <a:p>
              <a:pPr>
                <a:lnSpc>
                  <a:spcPct val="150000"/>
                </a:lnSpc>
              </a:pPr>
              <a:r>
                <a:rPr lang="en-US" sz="1600" dirty="0">
                  <a:solidFill>
                    <a:srgbClr val="0070C0"/>
                  </a:solidFill>
                  <a:latin typeface="Comic Sans MS" pitchFamily="66" charset="0"/>
                  <a:sym typeface="Symbol" pitchFamily="18" charset="2"/>
                </a:rPr>
                <a:t>=&gt; 2b</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a</a:t>
              </a:r>
              <a:r>
                <a:rPr lang="en-US" sz="1600" baseline="30000" dirty="0">
                  <a:solidFill>
                    <a:srgbClr val="0070C0"/>
                  </a:solidFill>
                  <a:latin typeface="Comic Sans MS" pitchFamily="66" charset="0"/>
                  <a:sym typeface="Symbol" pitchFamily="18" charset="2"/>
                </a:rPr>
                <a:t>2      </a:t>
              </a:r>
              <a:r>
                <a:rPr lang="en-US" sz="1600" dirty="0">
                  <a:solidFill>
                    <a:srgbClr val="0070C0"/>
                  </a:solidFill>
                  <a:latin typeface="Comic Sans MS" pitchFamily="66" charset="0"/>
                </a:rPr>
                <a:t>By the definition of an even integer it follows that </a:t>
              </a:r>
              <a:r>
                <a:rPr lang="en-US" sz="1600" dirty="0">
                  <a:solidFill>
                    <a:srgbClr val="0070C0"/>
                  </a:solidFill>
                  <a:latin typeface="Comic Sans MS" pitchFamily="66" charset="0"/>
                  <a:sym typeface="Symbol" pitchFamily="18" charset="2"/>
                </a:rPr>
                <a:t>a</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rPr>
                <a:t> is even, so we can substituting with  a = 2c for some integer </a:t>
              </a:r>
              <a:endParaRPr lang="en-US" sz="1600" dirty="0">
                <a:solidFill>
                  <a:srgbClr val="0070C0"/>
                </a:solidFill>
                <a:latin typeface="Comic Sans MS" pitchFamily="66" charset="0"/>
                <a:sym typeface="Symbol" pitchFamily="18" charset="2"/>
              </a:endParaRPr>
            </a:p>
          </p:txBody>
        </p:sp>
        <p:sp>
          <p:nvSpPr>
            <p:cNvPr id="8" name="Rectangle 30"/>
            <p:cNvSpPr>
              <a:spLocks noChangeArrowheads="1"/>
            </p:cNvSpPr>
            <p:nvPr/>
          </p:nvSpPr>
          <p:spPr bwMode="auto">
            <a:xfrm>
              <a:off x="1143000" y="6131588"/>
              <a:ext cx="2895600" cy="338554"/>
            </a:xfrm>
            <a:prstGeom prst="rect">
              <a:avLst/>
            </a:prstGeom>
            <a:noFill/>
            <a:ln w="9525">
              <a:noFill/>
              <a:miter lim="800000"/>
              <a:headEnd/>
              <a:tailEnd/>
            </a:ln>
          </p:spPr>
          <p:txBody>
            <a:bodyPr wrap="square">
              <a:spAutoFit/>
            </a:bodyPr>
            <a:lstStyle/>
            <a:p>
              <a:r>
                <a:rPr lang="en-US" sz="1600" dirty="0">
                  <a:solidFill>
                    <a:srgbClr val="0070C0"/>
                  </a:solidFill>
                  <a:latin typeface="Comic Sans MS" pitchFamily="66" charset="0"/>
                  <a:sym typeface="Symbol" pitchFamily="18" charset="2"/>
                </a:rPr>
                <a:t>=&gt; 2b</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(2c)</a:t>
              </a:r>
              <a:r>
                <a:rPr lang="en-US" sz="1600" baseline="30000" dirty="0">
                  <a:solidFill>
                    <a:srgbClr val="0070C0"/>
                  </a:solidFill>
                  <a:latin typeface="Comic Sans MS" pitchFamily="66" charset="0"/>
                  <a:sym typeface="Symbol" pitchFamily="18" charset="2"/>
                </a:rPr>
                <a:t>2 </a:t>
              </a:r>
              <a:r>
                <a:rPr lang="en-US" sz="1600" dirty="0">
                  <a:solidFill>
                    <a:srgbClr val="0070C0"/>
                  </a:solidFill>
                  <a:latin typeface="Comic Sans MS" pitchFamily="66" charset="0"/>
                  <a:sym typeface="Symbol" pitchFamily="18" charset="2"/>
                </a:rPr>
                <a:t>= 4c</a:t>
              </a:r>
              <a:r>
                <a:rPr lang="en-US" sz="1600" baseline="30000" dirty="0">
                  <a:solidFill>
                    <a:srgbClr val="0070C0"/>
                  </a:solidFill>
                  <a:latin typeface="Comic Sans MS" pitchFamily="66" charset="0"/>
                  <a:sym typeface="Symbol" pitchFamily="18" charset="2"/>
                </a:rPr>
                <a:t>2</a:t>
              </a:r>
              <a:endParaRPr lang="en-US" sz="1600" dirty="0">
                <a:solidFill>
                  <a:srgbClr val="0070C0"/>
                </a:solidFill>
                <a:latin typeface="Comic Sans MS" pitchFamily="66" charset="0"/>
                <a:sym typeface="Symbol" pitchFamily="18" charset="2"/>
              </a:endParaRPr>
            </a:p>
          </p:txBody>
        </p:sp>
        <p:sp>
          <p:nvSpPr>
            <p:cNvPr id="9" name="Rectangle 32"/>
            <p:cNvSpPr>
              <a:spLocks noChangeArrowheads="1"/>
            </p:cNvSpPr>
            <p:nvPr/>
          </p:nvSpPr>
          <p:spPr bwMode="auto">
            <a:xfrm>
              <a:off x="1142999" y="6552175"/>
              <a:ext cx="8382001" cy="338554"/>
            </a:xfrm>
            <a:prstGeom prst="rect">
              <a:avLst/>
            </a:prstGeom>
            <a:noFill/>
            <a:ln w="9525">
              <a:noFill/>
              <a:miter lim="800000"/>
              <a:headEnd/>
              <a:tailEnd/>
            </a:ln>
          </p:spPr>
          <p:txBody>
            <a:bodyPr wrap="square">
              <a:spAutoFit/>
            </a:bodyPr>
            <a:lstStyle/>
            <a:p>
              <a:pPr marL="285750" indent="-285750">
                <a:buFont typeface="Symbol" pitchFamily="18" charset="2"/>
                <a:buChar char="Þ"/>
              </a:pPr>
              <a:r>
                <a:rPr lang="en-US" sz="1600" dirty="0">
                  <a:solidFill>
                    <a:srgbClr val="0070C0"/>
                  </a:solidFill>
                  <a:latin typeface="Comic Sans MS" pitchFamily="66" charset="0"/>
                  <a:sym typeface="Symbol" pitchFamily="18" charset="2"/>
                </a:rPr>
                <a:t>b</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2c</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a:t>
              </a:r>
              <a:r>
                <a:rPr lang="en-US" sz="1600" dirty="0">
                  <a:solidFill>
                    <a:srgbClr val="0070C0"/>
                  </a:solidFill>
                  <a:latin typeface="Comic Sans MS" pitchFamily="66" charset="0"/>
                </a:rPr>
                <a:t>By the definition of an even integer it follows that </a:t>
              </a:r>
              <a:r>
                <a:rPr lang="en-US" sz="1600" dirty="0">
                  <a:solidFill>
                    <a:srgbClr val="0070C0"/>
                  </a:solidFill>
                  <a:latin typeface="Comic Sans MS" pitchFamily="66" charset="0"/>
                  <a:sym typeface="Symbol" pitchFamily="18" charset="2"/>
                </a:rPr>
                <a:t>b</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rPr>
                <a:t> is even , i.e. b is even</a:t>
              </a:r>
              <a:endParaRPr lang="en-US" sz="1600" baseline="30000" dirty="0">
                <a:solidFill>
                  <a:srgbClr val="0070C0"/>
                </a:solidFill>
                <a:latin typeface="Comic Sans MS" pitchFamily="66" charset="0"/>
                <a:sym typeface="Symbol" pitchFamily="18" charset="2"/>
              </a:endParaRPr>
            </a:p>
          </p:txBody>
        </p:sp>
      </p:grpSp>
      <p:sp>
        <p:nvSpPr>
          <p:cNvPr id="11" name="Rectangle 33"/>
          <p:cNvSpPr/>
          <p:nvPr/>
        </p:nvSpPr>
        <p:spPr>
          <a:xfrm>
            <a:off x="2743200" y="2209800"/>
            <a:ext cx="3704860"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400" dirty="0">
                <a:solidFill>
                  <a:srgbClr val="C00000"/>
                </a:solidFill>
                <a:latin typeface="Comic Sans MS" pitchFamily="66" charset="0"/>
                <a:sym typeface="Symbol" pitchFamily="18" charset="2"/>
              </a:rPr>
              <a:t>Dividing both sides of this equation by 2</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Tree>
    <p:extLst>
      <p:ext uri="{BB962C8B-B14F-4D97-AF65-F5344CB8AC3E}">
        <p14:creationId xmlns:p14="http://schemas.microsoft.com/office/powerpoint/2010/main" val="284825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500"/>
                                        <p:tgtEl>
                                          <p:spTgt spid="42"/>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2"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752" y="304800"/>
            <a:ext cx="8534400" cy="758952"/>
          </a:xfrm>
        </p:spPr>
        <p:txBody>
          <a:bodyPr>
            <a:noAutofit/>
          </a:bodyPr>
          <a:lstStyle/>
          <a:p>
            <a:r>
              <a:rPr lang="en-US" sz="2800" dirty="0">
                <a:solidFill>
                  <a:schemeClr val="accent1"/>
                </a:solidFill>
                <a:latin typeface="Comic Sans MS" pitchFamily="66" charset="0"/>
              </a:rPr>
              <a:t>Methods of proving theorems –</a:t>
            </a:r>
            <a:r>
              <a:rPr lang="en-US" sz="2400" dirty="0">
                <a:solidFill>
                  <a:schemeClr val="accent1"/>
                </a:solidFill>
                <a:latin typeface="Comic Sans MS" pitchFamily="66" charset="0"/>
              </a:rPr>
              <a:t> </a:t>
            </a:r>
            <a:r>
              <a:rPr lang="en-US" sz="2000" dirty="0">
                <a:solidFill>
                  <a:schemeClr val="accent1"/>
                </a:solidFill>
                <a:latin typeface="Comic Sans MS" pitchFamily="66" charset="0"/>
              </a:rPr>
              <a:t>Proofs by Contradiction</a:t>
            </a:r>
            <a:endParaRPr lang="en-US" sz="2800" dirty="0"/>
          </a:p>
        </p:txBody>
      </p:sp>
      <p:sp>
        <p:nvSpPr>
          <p:cNvPr id="3" name="Slide Number Placeholder 2"/>
          <p:cNvSpPr>
            <a:spLocks noGrp="1"/>
          </p:cNvSpPr>
          <p:nvPr>
            <p:ph type="sldNum" sz="quarter" idx="12"/>
          </p:nvPr>
        </p:nvSpPr>
        <p:spPr>
          <a:xfrm>
            <a:off x="4343400" y="990600"/>
            <a:ext cx="457200" cy="441325"/>
          </a:xfrm>
        </p:spPr>
        <p:txBody>
          <a:bodyPr/>
          <a:lstStyle/>
          <a:p>
            <a:fld id="{3D0D8AA9-AE61-49D3-AE4E-15A81A7BE0AE}" type="slidenum">
              <a:rPr lang="en-US" smtClean="0"/>
              <a:pPr/>
              <a:t>16</a:t>
            </a:fld>
            <a:endParaRPr lang="en-US"/>
          </a:p>
        </p:txBody>
      </p:sp>
      <p:sp>
        <p:nvSpPr>
          <p:cNvPr id="5" name="Rectangle 4"/>
          <p:cNvSpPr>
            <a:spLocks noChangeArrowheads="1"/>
          </p:cNvSpPr>
          <p:nvPr/>
        </p:nvSpPr>
        <p:spPr bwMode="auto">
          <a:xfrm>
            <a:off x="228600" y="1371600"/>
            <a:ext cx="8839200" cy="921855"/>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sz="2000" dirty="0">
                <a:solidFill>
                  <a:srgbClr val="D16349"/>
                </a:solidFill>
                <a:latin typeface="Comic Sans MS" pitchFamily="66" charset="0"/>
              </a:rPr>
              <a:t> </a:t>
            </a:r>
            <a:r>
              <a:rPr lang="en-US" dirty="0">
                <a:solidFill>
                  <a:schemeClr val="accent3">
                    <a:lumMod val="75000"/>
                  </a:schemeClr>
                </a:solidFill>
                <a:latin typeface="Comic Sans MS" pitchFamily="66" charset="0"/>
                <a:sym typeface="Symbol" pitchFamily="18" charset="2"/>
              </a:rPr>
              <a:t>To prove a conditional statement </a:t>
            </a:r>
            <a:r>
              <a:rPr lang="en-US" dirty="0">
                <a:solidFill>
                  <a:srgbClr val="C00000"/>
                </a:solidFill>
                <a:latin typeface="Comic Sans MS" pitchFamily="66" charset="0"/>
                <a:sym typeface="Symbol" pitchFamily="18" charset="2"/>
              </a:rPr>
              <a:t>p  q </a:t>
            </a:r>
            <a:r>
              <a:rPr lang="en-US" dirty="0">
                <a:solidFill>
                  <a:schemeClr val="accent3">
                    <a:lumMod val="75000"/>
                  </a:schemeClr>
                </a:solidFill>
                <a:latin typeface="Comic Sans MS" pitchFamily="66" charset="0"/>
                <a:sym typeface="Symbol" pitchFamily="18" charset="2"/>
              </a:rPr>
              <a:t>by contradiction we prove that:</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 </a:t>
            </a:r>
            <a:r>
              <a:rPr lang="en-US" dirty="0">
                <a:solidFill>
                  <a:srgbClr val="C00000"/>
                </a:solidFill>
                <a:latin typeface="Comic Sans MS" pitchFamily="66" charset="0"/>
                <a:sym typeface="Symbol" pitchFamily="18" charset="2"/>
              </a:rPr>
              <a:t>p  q F </a:t>
            </a:r>
            <a:r>
              <a:rPr lang="en-US" dirty="0">
                <a:solidFill>
                  <a:schemeClr val="accent3">
                    <a:lumMod val="75000"/>
                  </a:schemeClr>
                </a:solidFill>
                <a:latin typeface="Comic Sans MS" pitchFamily="66" charset="0"/>
                <a:sym typeface="Symbol" pitchFamily="18" charset="2"/>
              </a:rPr>
              <a:t>is </a:t>
            </a:r>
            <a:r>
              <a:rPr lang="en-US" dirty="0">
                <a:solidFill>
                  <a:srgbClr val="0070C0"/>
                </a:solidFill>
                <a:latin typeface="Comic Sans MS" pitchFamily="66" charset="0"/>
                <a:sym typeface="Symbol" pitchFamily="18" charset="2"/>
              </a:rPr>
              <a:t>true</a:t>
            </a:r>
            <a:r>
              <a:rPr lang="en-US" dirty="0">
                <a:solidFill>
                  <a:schemeClr val="accent3">
                    <a:lumMod val="75000"/>
                  </a:schemeClr>
                </a:solidFill>
                <a:latin typeface="Comic Sans MS" pitchFamily="66" charset="0"/>
                <a:sym typeface="Symbol" pitchFamily="18" charset="2"/>
              </a:rPr>
              <a:t> ) which is equivalent to   </a:t>
            </a:r>
            <a:r>
              <a:rPr lang="en-US" dirty="0">
                <a:solidFill>
                  <a:srgbClr val="C00000"/>
                </a:solidFill>
                <a:latin typeface="Comic Sans MS" pitchFamily="66" charset="0"/>
                <a:sym typeface="Symbol" pitchFamily="18" charset="2"/>
              </a:rPr>
              <a:t>p  q </a:t>
            </a:r>
            <a:r>
              <a:rPr lang="en-US" dirty="0">
                <a:solidFill>
                  <a:schemeClr val="accent3">
                    <a:lumMod val="75000"/>
                  </a:schemeClr>
                </a:solidFill>
                <a:latin typeface="Comic Sans MS" pitchFamily="66" charset="0"/>
                <a:sym typeface="Symbol" pitchFamily="18" charset="2"/>
              </a:rPr>
              <a:t>.</a:t>
            </a:r>
          </a:p>
        </p:txBody>
      </p:sp>
      <p:sp>
        <p:nvSpPr>
          <p:cNvPr id="6" name="Rectangle 5"/>
          <p:cNvSpPr>
            <a:spLocks noChangeArrowheads="1"/>
          </p:cNvSpPr>
          <p:nvPr/>
        </p:nvSpPr>
        <p:spPr bwMode="auto">
          <a:xfrm>
            <a:off x="228600" y="2286000"/>
            <a:ext cx="8686800" cy="923330"/>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a:t>
            </a:r>
            <a:r>
              <a:rPr lang="en-US" dirty="0">
                <a:solidFill>
                  <a:schemeClr val="accent1"/>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 Give a proof by contradiction of the theorem :</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a:t>
            </a:r>
            <a:r>
              <a:rPr lang="en-US" dirty="0">
                <a:solidFill>
                  <a:srgbClr val="002060"/>
                </a:solidFill>
                <a:latin typeface="Comic Sans MS" pitchFamily="66" charset="0"/>
                <a:sym typeface="Symbol" pitchFamily="18" charset="2"/>
              </a:rPr>
              <a:t>If </a:t>
            </a:r>
            <a:r>
              <a:rPr lang="en-US" dirty="0">
                <a:solidFill>
                  <a:srgbClr val="C00000"/>
                </a:solidFill>
                <a:latin typeface="Comic Sans MS" pitchFamily="66" charset="0"/>
                <a:sym typeface="Symbol" pitchFamily="18" charset="2"/>
              </a:rPr>
              <a:t>3n + 2 </a:t>
            </a:r>
            <a:r>
              <a:rPr lang="en-US" dirty="0">
                <a:solidFill>
                  <a:srgbClr val="002060"/>
                </a:solidFill>
                <a:latin typeface="Comic Sans MS" pitchFamily="66" charset="0"/>
                <a:sym typeface="Symbol" pitchFamily="18" charset="2"/>
              </a:rPr>
              <a:t>is odd, then </a:t>
            </a:r>
            <a:r>
              <a:rPr lang="en-US" dirty="0">
                <a:solidFill>
                  <a:srgbClr val="C00000"/>
                </a:solidFill>
                <a:latin typeface="Comic Sans MS" pitchFamily="66" charset="0"/>
                <a:sym typeface="Symbol" pitchFamily="18" charset="2"/>
              </a:rPr>
              <a:t>n</a:t>
            </a:r>
            <a:r>
              <a:rPr lang="en-US" dirty="0">
                <a:solidFill>
                  <a:srgbClr val="002060"/>
                </a:solidFill>
                <a:latin typeface="Comic Sans MS" pitchFamily="66" charset="0"/>
                <a:sym typeface="Symbol" pitchFamily="18" charset="2"/>
              </a:rPr>
              <a:t> is odd</a:t>
            </a:r>
            <a:r>
              <a:rPr lang="en-US" dirty="0">
                <a:solidFill>
                  <a:schemeClr val="accent3">
                    <a:lumMod val="75000"/>
                  </a:schemeClr>
                </a:solidFill>
                <a:latin typeface="Comic Sans MS" pitchFamily="66" charset="0"/>
                <a:sym typeface="Symbol" pitchFamily="18" charset="2"/>
              </a:rPr>
              <a:t>.”</a:t>
            </a:r>
            <a:endParaRPr lang="en-US" dirty="0">
              <a:solidFill>
                <a:schemeClr val="accent3">
                  <a:lumMod val="75000"/>
                </a:schemeClr>
              </a:solidFill>
              <a:latin typeface="Comic Sans MS" pitchFamily="66" charset="0"/>
            </a:endParaRPr>
          </a:p>
        </p:txBody>
      </p:sp>
      <p:sp>
        <p:nvSpPr>
          <p:cNvPr id="7" name="Rectangle 6"/>
          <p:cNvSpPr>
            <a:spLocks noChangeArrowheads="1"/>
          </p:cNvSpPr>
          <p:nvPr/>
        </p:nvSpPr>
        <p:spPr bwMode="auto">
          <a:xfrm>
            <a:off x="659834" y="3129392"/>
            <a:ext cx="8763000" cy="460191"/>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dirty="0">
                <a:solidFill>
                  <a:srgbClr val="D16349"/>
                </a:solidFill>
              </a:rPr>
              <a:t>  </a:t>
            </a:r>
            <a:r>
              <a:rPr lang="en-US" dirty="0">
                <a:solidFill>
                  <a:srgbClr val="002060"/>
                </a:solidFill>
                <a:latin typeface="Comic Sans MS" pitchFamily="66" charset="0"/>
                <a:sym typeface="Symbol" pitchFamily="18" charset="2"/>
              </a:rPr>
              <a:t>Proof: </a:t>
            </a:r>
            <a:r>
              <a:rPr lang="en-US" dirty="0">
                <a:solidFill>
                  <a:srgbClr val="0070C0"/>
                </a:solidFill>
                <a:latin typeface="Comic Sans MS" pitchFamily="66" charset="0"/>
                <a:sym typeface="Symbol" pitchFamily="18" charset="2"/>
              </a:rPr>
              <a:t> Suppose that 3n+2 is odd and n is even [p  q] </a:t>
            </a:r>
          </a:p>
        </p:txBody>
      </p:sp>
      <p:sp>
        <p:nvSpPr>
          <p:cNvPr id="8" name="Rectangle 7"/>
          <p:cNvSpPr>
            <a:spLocks noChangeArrowheads="1"/>
          </p:cNvSpPr>
          <p:nvPr/>
        </p:nvSpPr>
        <p:spPr bwMode="auto">
          <a:xfrm>
            <a:off x="1574234" y="3586592"/>
            <a:ext cx="1245166"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=&gt; n = 2r</a:t>
            </a:r>
          </a:p>
        </p:txBody>
      </p:sp>
      <p:sp>
        <p:nvSpPr>
          <p:cNvPr id="9" name="Rectangle 8"/>
          <p:cNvSpPr/>
          <p:nvPr/>
        </p:nvSpPr>
        <p:spPr>
          <a:xfrm>
            <a:off x="3267526" y="3586592"/>
            <a:ext cx="4352474"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hypothesis q, definition of even numbers</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
        <p:nvSpPr>
          <p:cNvPr id="10" name="Rectangle 9"/>
          <p:cNvSpPr>
            <a:spLocks noChangeArrowheads="1"/>
          </p:cNvSpPr>
          <p:nvPr/>
        </p:nvSpPr>
        <p:spPr bwMode="auto">
          <a:xfrm>
            <a:off x="1452032" y="3967592"/>
            <a:ext cx="1367368"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  =&gt;3n = 6r</a:t>
            </a:r>
          </a:p>
        </p:txBody>
      </p:sp>
      <p:sp>
        <p:nvSpPr>
          <p:cNvPr id="11" name="Rectangle 10"/>
          <p:cNvSpPr/>
          <p:nvPr/>
        </p:nvSpPr>
        <p:spPr>
          <a:xfrm>
            <a:off x="3276600" y="3967592"/>
            <a:ext cx="2614818"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multiply both sides by 3</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
        <p:nvSpPr>
          <p:cNvPr id="13" name="Rectangle 12"/>
          <p:cNvSpPr>
            <a:spLocks noChangeArrowheads="1"/>
          </p:cNvSpPr>
          <p:nvPr/>
        </p:nvSpPr>
        <p:spPr bwMode="auto">
          <a:xfrm>
            <a:off x="1447800" y="4314838"/>
            <a:ext cx="17526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  =&gt; 3n+2=2+6r </a:t>
            </a:r>
          </a:p>
        </p:txBody>
      </p:sp>
      <p:sp>
        <p:nvSpPr>
          <p:cNvPr id="14" name="Rectangle 13"/>
          <p:cNvSpPr/>
          <p:nvPr/>
        </p:nvSpPr>
        <p:spPr>
          <a:xfrm>
            <a:off x="3276600" y="4314838"/>
            <a:ext cx="2186817"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add 2 to both sides</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
        <p:nvSpPr>
          <p:cNvPr id="15" name="Rectangle 14"/>
          <p:cNvSpPr>
            <a:spLocks noChangeArrowheads="1"/>
          </p:cNvSpPr>
          <p:nvPr/>
        </p:nvSpPr>
        <p:spPr bwMode="auto">
          <a:xfrm>
            <a:off x="1447800" y="4695838"/>
            <a:ext cx="22098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  =&gt; 3n+2=2(1+3r) </a:t>
            </a:r>
          </a:p>
        </p:txBody>
      </p:sp>
      <p:sp>
        <p:nvSpPr>
          <p:cNvPr id="17" name="Rectangle 16"/>
          <p:cNvSpPr>
            <a:spLocks noChangeArrowheads="1"/>
          </p:cNvSpPr>
          <p:nvPr/>
        </p:nvSpPr>
        <p:spPr bwMode="auto">
          <a:xfrm>
            <a:off x="1447800" y="5034392"/>
            <a:ext cx="1752600" cy="369332"/>
          </a:xfrm>
          <a:prstGeom prst="rect">
            <a:avLst/>
          </a:prstGeom>
          <a:noFill/>
          <a:ln w="9525">
            <a:noFill/>
            <a:miter lim="800000"/>
            <a:headEnd/>
            <a:tailEnd/>
          </a:ln>
        </p:spPr>
        <p:txBody>
          <a:bodyPr wrap="square">
            <a:spAutoFit/>
          </a:bodyPr>
          <a:lstStyle/>
          <a:p>
            <a:r>
              <a:rPr lang="en-US" dirty="0">
                <a:solidFill>
                  <a:srgbClr val="0070C0"/>
                </a:solidFill>
                <a:latin typeface="Comic Sans MS" pitchFamily="66" charset="0"/>
                <a:sym typeface="Symbol" pitchFamily="18" charset="2"/>
              </a:rPr>
              <a:t>  =&gt; 3n+2=2k  </a:t>
            </a:r>
          </a:p>
        </p:txBody>
      </p:sp>
      <p:sp>
        <p:nvSpPr>
          <p:cNvPr id="18" name="Rectangle 17"/>
          <p:cNvSpPr/>
          <p:nvPr/>
        </p:nvSpPr>
        <p:spPr>
          <a:xfrm>
            <a:off x="3352800" y="5071646"/>
            <a:ext cx="1350050" cy="338554"/>
          </a:xfrm>
          <a:prstGeom prst="rect">
            <a:avLst/>
          </a:prstGeom>
        </p:spPr>
        <p:txBody>
          <a:bodyPr wrap="none">
            <a:spAutoFit/>
          </a:bodyPr>
          <a:lstStyle/>
          <a:p>
            <a:r>
              <a:rPr lang="en-US" sz="1600" dirty="0">
                <a:solidFill>
                  <a:srgbClr val="0070C0"/>
                </a:solidFill>
                <a:latin typeface="Comic Sans MS" pitchFamily="66" charset="0"/>
                <a:sym typeface="Symbol" pitchFamily="18" charset="2"/>
              </a:rPr>
              <a:t>(</a:t>
            </a:r>
            <a:r>
              <a:rPr lang="en-US" sz="1600" dirty="0">
                <a:solidFill>
                  <a:srgbClr val="C00000"/>
                </a:solidFill>
                <a:latin typeface="Comic Sans MS" pitchFamily="66" charset="0"/>
                <a:sym typeface="Symbol" pitchFamily="18" charset="2"/>
              </a:rPr>
              <a:t>Let k=1+3r</a:t>
            </a:r>
            <a:r>
              <a:rPr lang="en-US" sz="1600" dirty="0">
                <a:solidFill>
                  <a:srgbClr val="0070C0"/>
                </a:solidFill>
                <a:latin typeface="Comic Sans MS" pitchFamily="66" charset="0"/>
                <a:sym typeface="Symbol" pitchFamily="18" charset="2"/>
              </a:rPr>
              <a:t>)</a:t>
            </a:r>
            <a:endParaRPr lang="en-US" sz="1600" dirty="0">
              <a:solidFill>
                <a:srgbClr val="0070C0"/>
              </a:solidFill>
            </a:endParaRPr>
          </a:p>
        </p:txBody>
      </p:sp>
      <p:sp>
        <p:nvSpPr>
          <p:cNvPr id="19" name="Rectangle 18"/>
          <p:cNvSpPr/>
          <p:nvPr/>
        </p:nvSpPr>
        <p:spPr>
          <a:xfrm>
            <a:off x="1524000" y="5339192"/>
            <a:ext cx="6629400" cy="877356"/>
          </a:xfrm>
          <a:prstGeom prst="rect">
            <a:avLst/>
          </a:prstGeom>
        </p:spPr>
        <p:txBody>
          <a:bodyPr wrap="square">
            <a:spAutoFit/>
          </a:bodyPr>
          <a:lstStyle/>
          <a:p>
            <a:pPr>
              <a:lnSpc>
                <a:spcPct val="150000"/>
              </a:lnSpc>
            </a:pPr>
            <a:r>
              <a:rPr lang="en-US" dirty="0">
                <a:solidFill>
                  <a:srgbClr val="0070C0"/>
                </a:solidFill>
                <a:latin typeface="Comic Sans MS" pitchFamily="66" charset="0"/>
              </a:rPr>
              <a:t>=&gt; Thus 3n+2 is even which is false (a contradiction !) </a:t>
            </a:r>
          </a:p>
          <a:p>
            <a:pPr>
              <a:lnSpc>
                <a:spcPct val="150000"/>
              </a:lnSpc>
            </a:pPr>
            <a:r>
              <a:rPr lang="en-US" dirty="0">
                <a:solidFill>
                  <a:srgbClr val="0070C0"/>
                </a:solidFill>
                <a:latin typeface="Comic Sans MS" pitchFamily="66" charset="0"/>
              </a:rPr>
              <a:t>Therefore the implication is true.</a:t>
            </a:r>
          </a:p>
        </p:txBody>
      </p:sp>
      <p:sp>
        <p:nvSpPr>
          <p:cNvPr id="20" name="Footer Placeholder 19"/>
          <p:cNvSpPr>
            <a:spLocks noGrp="1"/>
          </p:cNvSpPr>
          <p:nvPr>
            <p:ph type="ftr" sz="quarter" idx="11"/>
          </p:nvPr>
        </p:nvSpPr>
        <p:spPr>
          <a:xfrm>
            <a:off x="304800" y="6797040"/>
            <a:ext cx="3581400" cy="365760"/>
          </a:xfrm>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par>
                          <p:cTn id="50" fill="hold">
                            <p:stCondLst>
                              <p:cond delay="500"/>
                            </p:stCondLst>
                            <p:childTnLst>
                              <p:par>
                                <p:cTn id="51" presetID="10" presetClass="entr" presetSubtype="0"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3" grpId="0"/>
      <p:bldP spid="14" grpId="0"/>
      <p:bldP spid="15" grpId="0"/>
      <p:bldP spid="17" grpId="0"/>
      <p:bldP spid="18" grpId="0"/>
      <p:bldP spid="1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Counterexample</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17</a:t>
            </a:fld>
            <a:endParaRPr lang="en-US"/>
          </a:p>
        </p:txBody>
      </p:sp>
      <p:sp>
        <p:nvSpPr>
          <p:cNvPr id="4" name="Rectangle 3"/>
          <p:cNvSpPr>
            <a:spLocks noChangeArrowheads="1"/>
          </p:cNvSpPr>
          <p:nvPr/>
        </p:nvSpPr>
        <p:spPr bwMode="auto">
          <a:xfrm>
            <a:off x="228600" y="1447800"/>
            <a:ext cx="8839200" cy="877163"/>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dirty="0">
                <a:solidFill>
                  <a:schemeClr val="accent1"/>
                </a:solidFill>
                <a:latin typeface="Comic Sans MS" pitchFamily="66" charset="0"/>
              </a:rPr>
              <a:t>Counterexample</a:t>
            </a:r>
            <a:r>
              <a:rPr lang="en-US" sz="1600" dirty="0">
                <a:solidFill>
                  <a:schemeClr val="accent1"/>
                </a:solidFill>
                <a:latin typeface="Comic Sans MS" pitchFamily="66" charset="0"/>
              </a:rPr>
              <a:t> : </a:t>
            </a:r>
            <a:r>
              <a:rPr lang="en-US" sz="1600" dirty="0">
                <a:solidFill>
                  <a:schemeClr val="accent3">
                    <a:lumMod val="75000"/>
                  </a:schemeClr>
                </a:solidFill>
                <a:latin typeface="Comic Sans MS" pitchFamily="66" charset="0"/>
              </a:rPr>
              <a:t>To show that a statement of the form </a:t>
            </a:r>
            <a:r>
              <a:rPr lang="en-US" sz="1600" dirty="0">
                <a:solidFill>
                  <a:srgbClr val="C00000"/>
                </a:solidFill>
                <a:latin typeface="Comic Sans MS" pitchFamily="66" charset="0"/>
              </a:rPr>
              <a:t>∀</a:t>
            </a:r>
            <a:r>
              <a:rPr lang="en-US" sz="1600" dirty="0" err="1">
                <a:solidFill>
                  <a:srgbClr val="C00000"/>
                </a:solidFill>
                <a:latin typeface="Comic Sans MS" pitchFamily="66" charset="0"/>
              </a:rPr>
              <a:t>xP</a:t>
            </a:r>
            <a:r>
              <a:rPr lang="en-US" sz="1600" dirty="0">
                <a:solidFill>
                  <a:srgbClr val="C00000"/>
                </a:solidFill>
                <a:latin typeface="Comic Sans MS" pitchFamily="66" charset="0"/>
              </a:rPr>
              <a:t>(x) </a:t>
            </a:r>
            <a:r>
              <a:rPr lang="en-US" sz="1600" dirty="0">
                <a:solidFill>
                  <a:schemeClr val="accent3">
                    <a:lumMod val="75000"/>
                  </a:schemeClr>
                </a:solidFill>
                <a:latin typeface="Comic Sans MS" pitchFamily="66" charset="0"/>
              </a:rPr>
              <a:t>is false, we need only find a counterexample, that is, an example</a:t>
            </a:r>
            <a:r>
              <a:rPr lang="en-US" sz="1600" dirty="0">
                <a:solidFill>
                  <a:srgbClr val="C00000"/>
                </a:solidFill>
                <a:latin typeface="Comic Sans MS" pitchFamily="66" charset="0"/>
              </a:rPr>
              <a:t> x </a:t>
            </a:r>
            <a:r>
              <a:rPr lang="en-US" sz="1600" dirty="0">
                <a:solidFill>
                  <a:schemeClr val="accent3">
                    <a:lumMod val="75000"/>
                  </a:schemeClr>
                </a:solidFill>
                <a:latin typeface="Comic Sans MS" pitchFamily="66" charset="0"/>
              </a:rPr>
              <a:t>for which </a:t>
            </a:r>
            <a:r>
              <a:rPr lang="en-US" sz="1600" dirty="0">
                <a:solidFill>
                  <a:srgbClr val="C00000"/>
                </a:solidFill>
                <a:latin typeface="Comic Sans MS" pitchFamily="66" charset="0"/>
              </a:rPr>
              <a:t>P(x) </a:t>
            </a:r>
            <a:r>
              <a:rPr lang="en-US" sz="1600" dirty="0">
                <a:solidFill>
                  <a:schemeClr val="accent3">
                    <a:lumMod val="75000"/>
                  </a:schemeClr>
                </a:solidFill>
                <a:latin typeface="Comic Sans MS" pitchFamily="66" charset="0"/>
              </a:rPr>
              <a:t>is false.</a:t>
            </a:r>
          </a:p>
        </p:txBody>
      </p:sp>
      <p:sp>
        <p:nvSpPr>
          <p:cNvPr id="6" name="Rectangle 5"/>
          <p:cNvSpPr>
            <a:spLocks noChangeArrowheads="1"/>
          </p:cNvSpPr>
          <p:nvPr/>
        </p:nvSpPr>
        <p:spPr bwMode="auto">
          <a:xfrm>
            <a:off x="685800" y="2282240"/>
            <a:ext cx="8763000" cy="460960"/>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dirty="0">
                <a:solidFill>
                  <a:srgbClr val="D16349"/>
                </a:solidFill>
              </a:rPr>
              <a:t> </a:t>
            </a:r>
            <a:r>
              <a:rPr lang="en-US" dirty="0">
                <a:solidFill>
                  <a:srgbClr val="D16349"/>
                </a:solidFill>
                <a:latin typeface="Comic Sans MS" pitchFamily="66" charset="0"/>
              </a:rPr>
              <a:t>E.g. </a:t>
            </a:r>
            <a:r>
              <a:rPr lang="en-US" dirty="0">
                <a:solidFill>
                  <a:srgbClr val="002060"/>
                </a:solidFill>
                <a:latin typeface="Comic Sans MS" pitchFamily="66" charset="0"/>
                <a:sym typeface="Symbol" pitchFamily="18" charset="2"/>
              </a:rPr>
              <a:t> </a:t>
            </a:r>
            <a:r>
              <a:rPr lang="en-US" dirty="0">
                <a:solidFill>
                  <a:schemeClr val="accent1">
                    <a:lumMod val="75000"/>
                  </a:schemeClr>
                </a:solidFill>
                <a:latin typeface="Comic Sans MS" pitchFamily="66" charset="0"/>
              </a:rPr>
              <a:t>Prove that “For all real numbers x</a:t>
            </a:r>
            <a:r>
              <a:rPr lang="en-US" baseline="30000" dirty="0">
                <a:solidFill>
                  <a:schemeClr val="accent1">
                    <a:lumMod val="75000"/>
                  </a:schemeClr>
                </a:solidFill>
                <a:latin typeface="Comic Sans MS" pitchFamily="66" charset="0"/>
              </a:rPr>
              <a:t>2 </a:t>
            </a:r>
            <a:r>
              <a:rPr lang="en-US" dirty="0">
                <a:solidFill>
                  <a:schemeClr val="accent1">
                    <a:lumMod val="75000"/>
                  </a:schemeClr>
                </a:solidFill>
                <a:latin typeface="Comic Sans MS" pitchFamily="66" charset="0"/>
              </a:rPr>
              <a:t>&gt; x” is false</a:t>
            </a:r>
            <a:endParaRPr lang="en-US" dirty="0">
              <a:solidFill>
                <a:schemeClr val="accent1">
                  <a:lumMod val="75000"/>
                </a:schemeClr>
              </a:solidFill>
              <a:latin typeface="Comic Sans MS" pitchFamily="66" charset="0"/>
              <a:sym typeface="Symbol" pitchFamily="18" charset="2"/>
            </a:endParaRPr>
          </a:p>
        </p:txBody>
      </p:sp>
      <p:sp>
        <p:nvSpPr>
          <p:cNvPr id="7" name="Rectangle 6"/>
          <p:cNvSpPr>
            <a:spLocks noChangeArrowheads="1"/>
          </p:cNvSpPr>
          <p:nvPr/>
        </p:nvSpPr>
        <p:spPr bwMode="auto">
          <a:xfrm>
            <a:off x="762000" y="2667000"/>
            <a:ext cx="8763000" cy="461858"/>
          </a:xfrm>
          <a:prstGeom prst="rect">
            <a:avLst/>
          </a:prstGeom>
          <a:noFill/>
          <a:ln w="9525">
            <a:noFill/>
            <a:miter lim="800000"/>
            <a:headEnd/>
            <a:tailEnd/>
          </a:ln>
        </p:spPr>
        <p:txBody>
          <a:bodyPr wrap="square">
            <a:spAutoFit/>
          </a:bodyPr>
          <a:lstStyle/>
          <a:p>
            <a:pPr marL="0" lvl="1">
              <a:lnSpc>
                <a:spcPct val="150000"/>
              </a:lnSpc>
            </a:pPr>
            <a:r>
              <a:rPr lang="en-US" dirty="0">
                <a:solidFill>
                  <a:srgbClr val="0070C0"/>
                </a:solidFill>
                <a:latin typeface="Comic Sans MS" pitchFamily="66" charset="0"/>
                <a:sym typeface="Symbol" pitchFamily="18" charset="2"/>
              </a:rPr>
              <a:t> </a:t>
            </a:r>
            <a:r>
              <a:rPr lang="en-US" sz="1600" dirty="0">
                <a:solidFill>
                  <a:srgbClr val="0070C0"/>
                </a:solidFill>
                <a:latin typeface="Comic Sans MS" pitchFamily="66" charset="0"/>
              </a:rPr>
              <a:t>X=0.5 is a counterexample since 0.5</a:t>
            </a:r>
            <a:r>
              <a:rPr lang="en-US" sz="1600" baseline="30000" dirty="0">
                <a:solidFill>
                  <a:srgbClr val="0070C0"/>
                </a:solidFill>
                <a:latin typeface="Comic Sans MS" pitchFamily="66" charset="0"/>
              </a:rPr>
              <a:t>2 </a:t>
            </a:r>
            <a:r>
              <a:rPr lang="en-US" sz="1600" dirty="0">
                <a:solidFill>
                  <a:srgbClr val="0070C0"/>
                </a:solidFill>
                <a:latin typeface="Comic Sans MS" pitchFamily="66" charset="0"/>
              </a:rPr>
              <a:t>&gt; 0.5 is not true</a:t>
            </a:r>
          </a:p>
        </p:txBody>
      </p:sp>
      <p:sp>
        <p:nvSpPr>
          <p:cNvPr id="8" name="Rectangle 7"/>
          <p:cNvSpPr>
            <a:spLocks noChangeArrowheads="1"/>
          </p:cNvSpPr>
          <p:nvPr/>
        </p:nvSpPr>
        <p:spPr bwMode="auto">
          <a:xfrm>
            <a:off x="609600" y="4022973"/>
            <a:ext cx="8153400" cy="1615827"/>
          </a:xfrm>
          <a:prstGeom prst="rect">
            <a:avLst/>
          </a:prstGeom>
          <a:noFill/>
          <a:ln w="9525">
            <a:noFill/>
            <a:miter lim="800000"/>
            <a:headEnd/>
            <a:tailEnd/>
          </a:ln>
        </p:spPr>
        <p:txBody>
          <a:bodyPr wrap="square">
            <a:spAutoFit/>
          </a:bodyPr>
          <a:lstStyle/>
          <a:p>
            <a:pPr marL="0" lvl="1">
              <a:lnSpc>
                <a:spcPct val="150000"/>
              </a:lnSpc>
              <a:buFont typeface="Wingdings" pitchFamily="2" charset="2"/>
              <a:buChar char="Ø"/>
            </a:pPr>
            <a:r>
              <a:rPr lang="en-US" dirty="0">
                <a:solidFill>
                  <a:srgbClr val="D16349"/>
                </a:solidFill>
              </a:rPr>
              <a:t> </a:t>
            </a:r>
            <a:r>
              <a:rPr lang="en-US" sz="1600" dirty="0">
                <a:solidFill>
                  <a:srgbClr val="0070C0"/>
                </a:solidFill>
                <a:latin typeface="Comic Sans MS" pitchFamily="66" charset="0"/>
                <a:sym typeface="Symbol" pitchFamily="18" charset="2"/>
              </a:rPr>
              <a:t>To show that this statement is false, we look for a counterexample which is 3 because we cannot write 3 as the sum of the squares of two integers. </a:t>
            </a:r>
            <a:br>
              <a:rPr lang="en-US" sz="1600" dirty="0">
                <a:solidFill>
                  <a:srgbClr val="0070C0"/>
                </a:solidFill>
                <a:latin typeface="Comic Sans MS" pitchFamily="66" charset="0"/>
                <a:sym typeface="Symbol" pitchFamily="18" charset="2"/>
              </a:rPr>
            </a:br>
            <a:r>
              <a:rPr lang="en-US" sz="1600" dirty="0">
                <a:solidFill>
                  <a:srgbClr val="0070C0"/>
                </a:solidFill>
                <a:latin typeface="Comic Sans MS" pitchFamily="66" charset="0"/>
                <a:sym typeface="Symbol" pitchFamily="18" charset="2"/>
              </a:rPr>
              <a:t>To show this is the case, note that the only perfect squares not exceeding 3 are:</a:t>
            </a:r>
            <a:br>
              <a:rPr lang="en-US" sz="1600" dirty="0">
                <a:solidFill>
                  <a:srgbClr val="0070C0"/>
                </a:solidFill>
                <a:latin typeface="Comic Sans MS" pitchFamily="66" charset="0"/>
                <a:sym typeface="Symbol" pitchFamily="18" charset="2"/>
              </a:rPr>
            </a:br>
            <a:r>
              <a:rPr lang="en-US" sz="1600" dirty="0">
                <a:solidFill>
                  <a:srgbClr val="0070C0"/>
                </a:solidFill>
                <a:latin typeface="Comic Sans MS" pitchFamily="66" charset="0"/>
                <a:sym typeface="Symbol" pitchFamily="18" charset="2"/>
              </a:rPr>
              <a:t> (0</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0 &amp; 1</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1), but 3 </a:t>
            </a:r>
            <a:r>
              <a:rPr lang="en-US" sz="1600" b="1" i="1" dirty="0">
                <a:solidFill>
                  <a:srgbClr val="0070C0"/>
                </a:solidFill>
                <a:latin typeface="Symbol" pitchFamily="18" charset="2"/>
                <a:sym typeface="Symbol" pitchFamily="18" charset="2"/>
              </a:rPr>
              <a:t></a:t>
            </a:r>
            <a:r>
              <a:rPr lang="en-US" sz="1600" b="1" i="1" dirty="0">
                <a:solidFill>
                  <a:srgbClr val="0070C0"/>
                </a:solidFill>
                <a:sym typeface="Symbol" pitchFamily="18" charset="2"/>
              </a:rPr>
              <a:t>  </a:t>
            </a:r>
            <a:r>
              <a:rPr lang="en-US" sz="1600" dirty="0">
                <a:solidFill>
                  <a:srgbClr val="0070C0"/>
                </a:solidFill>
                <a:latin typeface="Comic Sans MS" pitchFamily="66" charset="0"/>
                <a:sym typeface="Symbol" pitchFamily="18" charset="2"/>
              </a:rPr>
              <a:t>1+0. Therefore the statement is false </a:t>
            </a:r>
            <a:endParaRPr lang="en-US" sz="2400" dirty="0">
              <a:solidFill>
                <a:srgbClr val="0070C0"/>
              </a:solidFill>
              <a:latin typeface="Comic Sans MS" pitchFamily="66" charset="0"/>
              <a:sym typeface="Symbol" pitchFamily="18" charset="2"/>
            </a:endParaRPr>
          </a:p>
        </p:txBody>
      </p:sp>
      <p:sp>
        <p:nvSpPr>
          <p:cNvPr id="11" name="Rectangle 10"/>
          <p:cNvSpPr>
            <a:spLocks noChangeArrowheads="1"/>
          </p:cNvSpPr>
          <p:nvPr/>
        </p:nvSpPr>
        <p:spPr bwMode="auto">
          <a:xfrm>
            <a:off x="228600" y="3124200"/>
            <a:ext cx="8686800" cy="877356"/>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 </a:t>
            </a:r>
            <a:r>
              <a:rPr lang="en-US" dirty="0">
                <a:solidFill>
                  <a:schemeClr val="accent1"/>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Show that the statement: “</a:t>
            </a:r>
            <a:r>
              <a:rPr lang="en-US" dirty="0">
                <a:solidFill>
                  <a:srgbClr val="002060"/>
                </a:solidFill>
                <a:latin typeface="Comic Sans MS" pitchFamily="66" charset="0"/>
                <a:sym typeface="Symbol" pitchFamily="18" charset="2"/>
              </a:rPr>
              <a:t>Every positive integer is the sum of the squares of two integers</a:t>
            </a:r>
            <a:r>
              <a:rPr lang="en-US" dirty="0">
                <a:solidFill>
                  <a:schemeClr val="accent3">
                    <a:lumMod val="75000"/>
                  </a:schemeClr>
                </a:solidFill>
                <a:latin typeface="Comic Sans MS" pitchFamily="66" charset="0"/>
                <a:sym typeface="Symbol" pitchFamily="18" charset="2"/>
              </a:rPr>
              <a:t>” is false.</a:t>
            </a:r>
            <a:endParaRPr lang="en-US" dirty="0">
              <a:solidFill>
                <a:srgbClr val="002060"/>
              </a:solidFill>
              <a:latin typeface="Comic Sans MS" pitchFamily="66" charset="0"/>
            </a:endParaRPr>
          </a:p>
        </p:txBody>
      </p:sp>
      <p:sp>
        <p:nvSpPr>
          <p:cNvPr id="9" name="Footer Placeholder 8"/>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cases </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18</a:t>
            </a:fld>
            <a:endParaRPr lang="en-US"/>
          </a:p>
        </p:txBody>
      </p:sp>
      <p:sp>
        <p:nvSpPr>
          <p:cNvPr id="4" name="Rectangle 3"/>
          <p:cNvSpPr>
            <a:spLocks noChangeArrowheads="1"/>
          </p:cNvSpPr>
          <p:nvPr/>
        </p:nvSpPr>
        <p:spPr bwMode="auto">
          <a:xfrm>
            <a:off x="228600" y="1828800"/>
            <a:ext cx="8839200" cy="1015663"/>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dirty="0">
                <a:solidFill>
                  <a:schemeClr val="accent1"/>
                </a:solidFill>
                <a:latin typeface="Comic Sans MS" pitchFamily="66" charset="0"/>
              </a:rPr>
              <a:t>Proof by cases </a:t>
            </a:r>
            <a:r>
              <a:rPr lang="en-US" sz="1600" dirty="0">
                <a:solidFill>
                  <a:schemeClr val="accent1"/>
                </a:solidFill>
                <a:latin typeface="Comic Sans MS" pitchFamily="66" charset="0"/>
              </a:rPr>
              <a:t>: </a:t>
            </a:r>
            <a:r>
              <a:rPr lang="en-US" sz="2000" dirty="0">
                <a:solidFill>
                  <a:schemeClr val="accent3">
                    <a:lumMod val="75000"/>
                  </a:schemeClr>
                </a:solidFill>
                <a:latin typeface="Comic Sans MS" pitchFamily="66" charset="0"/>
              </a:rPr>
              <a:t>A proof by cases must cover all possible cases that arise in a theorem. Each case may cover an infinite number of instances</a:t>
            </a:r>
          </a:p>
        </p:txBody>
      </p:sp>
      <p:sp>
        <p:nvSpPr>
          <p:cNvPr id="11" name="Rectangle 10"/>
          <p:cNvSpPr>
            <a:spLocks noChangeArrowheads="1"/>
          </p:cNvSpPr>
          <p:nvPr/>
        </p:nvSpPr>
        <p:spPr bwMode="auto">
          <a:xfrm>
            <a:off x="228600" y="2912402"/>
            <a:ext cx="8686800" cy="46185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 </a:t>
            </a:r>
            <a:r>
              <a:rPr lang="en-US" dirty="0">
                <a:solidFill>
                  <a:schemeClr val="accent1"/>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Prove "</a:t>
            </a:r>
            <a:r>
              <a:rPr lang="en-US" dirty="0">
                <a:solidFill>
                  <a:srgbClr val="002060"/>
                </a:solidFill>
                <a:latin typeface="Comic Sans MS" pitchFamily="66" charset="0"/>
                <a:sym typeface="Symbol" pitchFamily="18" charset="2"/>
              </a:rPr>
              <a:t>if n is an integer then n</a:t>
            </a:r>
            <a:r>
              <a:rPr lang="en-US" baseline="30000" dirty="0">
                <a:solidFill>
                  <a:srgbClr val="002060"/>
                </a:solidFill>
                <a:latin typeface="Comic Sans MS" pitchFamily="66" charset="0"/>
                <a:sym typeface="Symbol" pitchFamily="18" charset="2"/>
              </a:rPr>
              <a:t>2</a:t>
            </a:r>
            <a:r>
              <a:rPr lang="en-US" dirty="0">
                <a:solidFill>
                  <a:srgbClr val="002060"/>
                </a:solidFill>
                <a:latin typeface="Comic Sans MS" pitchFamily="66" charset="0"/>
                <a:sym typeface="Symbol" pitchFamily="18" charset="2"/>
              </a:rPr>
              <a:t> ≥ n</a:t>
            </a:r>
            <a:r>
              <a:rPr lang="en-US" dirty="0">
                <a:solidFill>
                  <a:schemeClr val="accent3">
                    <a:lumMod val="75000"/>
                  </a:schemeClr>
                </a:solidFill>
                <a:latin typeface="Comic Sans MS" pitchFamily="66" charset="0"/>
                <a:sym typeface="Symbol" pitchFamily="18" charset="2"/>
              </a:rPr>
              <a:t>".</a:t>
            </a:r>
          </a:p>
        </p:txBody>
      </p:sp>
      <p:sp>
        <p:nvSpPr>
          <p:cNvPr id="9" name="Footer Placeholder 8"/>
          <p:cNvSpPr>
            <a:spLocks noGrp="1"/>
          </p:cNvSpPr>
          <p:nvPr>
            <p:ph type="ftr" sz="quarter" idx="11"/>
          </p:nvPr>
        </p:nvSpPr>
        <p:spPr/>
        <p:txBody>
          <a:bodyPr/>
          <a:lstStyle/>
          <a:p>
            <a:endParaRPr lang="en-US"/>
          </a:p>
        </p:txBody>
      </p:sp>
      <p:sp>
        <p:nvSpPr>
          <p:cNvPr id="10" name="Rectangle 9"/>
          <p:cNvSpPr>
            <a:spLocks noChangeArrowheads="1"/>
          </p:cNvSpPr>
          <p:nvPr/>
        </p:nvSpPr>
        <p:spPr bwMode="auto">
          <a:xfrm>
            <a:off x="659834" y="3360509"/>
            <a:ext cx="8763000" cy="2354491"/>
          </a:xfrm>
          <a:prstGeom prst="rect">
            <a:avLst/>
          </a:prstGeom>
          <a:noFill/>
          <a:ln w="9525">
            <a:noFill/>
            <a:miter lim="800000"/>
            <a:headEnd/>
            <a:tailEnd/>
          </a:ln>
        </p:spPr>
        <p:txBody>
          <a:bodyPr wrap="square">
            <a:spAutoFit/>
          </a:bodyPr>
          <a:lstStyle/>
          <a:p>
            <a:pPr marL="349250" indent="-349250">
              <a:lnSpc>
                <a:spcPct val="150000"/>
              </a:lnSpc>
              <a:buClr>
                <a:schemeClr val="accent1"/>
              </a:buClr>
              <a:buFont typeface="Wingdings" pitchFamily="2" charset="2"/>
              <a:buChar char="Ø"/>
              <a:defRPr/>
            </a:pPr>
            <a:r>
              <a:rPr lang="en-US" sz="1600" dirty="0">
                <a:solidFill>
                  <a:srgbClr val="D16349"/>
                </a:solidFill>
              </a:rPr>
              <a:t>  </a:t>
            </a:r>
            <a:r>
              <a:rPr lang="en-US" sz="1600" dirty="0">
                <a:solidFill>
                  <a:srgbClr val="002060"/>
                </a:solidFill>
                <a:latin typeface="Comic Sans MS" pitchFamily="66" charset="0"/>
                <a:sym typeface="Symbol" pitchFamily="18" charset="2"/>
              </a:rPr>
              <a:t>Proof: </a:t>
            </a:r>
            <a:r>
              <a:rPr lang="en-US" sz="1600" dirty="0">
                <a:solidFill>
                  <a:srgbClr val="0070C0"/>
                </a:solidFill>
                <a:latin typeface="Comic Sans MS" pitchFamily="66" charset="0"/>
                <a:sym typeface="Symbol" pitchFamily="18" charset="2"/>
              </a:rPr>
              <a:t>  We can prove that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n for every integer by considering three cases,</a:t>
            </a:r>
            <a:br>
              <a:rPr lang="en-US" sz="1600" dirty="0">
                <a:solidFill>
                  <a:srgbClr val="0070C0"/>
                </a:solidFill>
                <a:latin typeface="Comic Sans MS" pitchFamily="66" charset="0"/>
                <a:sym typeface="Symbol" pitchFamily="18" charset="2"/>
              </a:rPr>
            </a:br>
            <a:r>
              <a:rPr lang="en-US" sz="1600" dirty="0">
                <a:solidFill>
                  <a:srgbClr val="0070C0"/>
                </a:solidFill>
                <a:latin typeface="Comic Sans MS" pitchFamily="66" charset="0"/>
                <a:sym typeface="Symbol" pitchFamily="18" charset="2"/>
              </a:rPr>
              <a:t>             when n = 0, when n ≥ 1, and when n ≤ -1.</a:t>
            </a:r>
          </a:p>
          <a:p>
            <a:pPr marL="349250" indent="-349250">
              <a:lnSpc>
                <a:spcPct val="150000"/>
              </a:lnSpc>
              <a:buClr>
                <a:schemeClr val="accent2"/>
              </a:buClr>
              <a:defRPr/>
            </a:pPr>
            <a:r>
              <a:rPr lang="en-US" sz="1600" dirty="0">
                <a:solidFill>
                  <a:srgbClr val="0070C0"/>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Case 1: </a:t>
            </a:r>
            <a:r>
              <a:rPr lang="en-US" sz="1600" dirty="0">
                <a:solidFill>
                  <a:srgbClr val="0070C0"/>
                </a:solidFill>
                <a:latin typeface="Comic Sans MS" pitchFamily="66" charset="0"/>
                <a:sym typeface="Symbol" pitchFamily="18" charset="2"/>
              </a:rPr>
              <a:t>When n = 0, since 0</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0, 0</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&gt;= 0. So,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n is true.</a:t>
            </a:r>
          </a:p>
          <a:p>
            <a:pPr marL="349250" indent="-349250">
              <a:lnSpc>
                <a:spcPct val="150000"/>
              </a:lnSpc>
              <a:buClr>
                <a:schemeClr val="accent2"/>
              </a:buClr>
              <a:defRPr/>
            </a:pPr>
            <a:r>
              <a:rPr lang="en-US" sz="1600" dirty="0">
                <a:solidFill>
                  <a:srgbClr val="0070C0"/>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Case 2: </a:t>
            </a:r>
            <a:r>
              <a:rPr lang="en-US" sz="1600" dirty="0">
                <a:solidFill>
                  <a:srgbClr val="0070C0"/>
                </a:solidFill>
                <a:latin typeface="Comic Sans MS" pitchFamily="66" charset="0"/>
                <a:sym typeface="Symbol" pitchFamily="18" charset="2"/>
              </a:rPr>
              <a:t>When n  ≥ 1, From n  ≥ 1, we get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n (by multiplying with n). </a:t>
            </a:r>
          </a:p>
          <a:p>
            <a:pPr marL="349250" indent="-349250">
              <a:lnSpc>
                <a:spcPct val="150000"/>
              </a:lnSpc>
              <a:buClr>
                <a:schemeClr val="accent2"/>
              </a:buClr>
              <a:defRPr/>
            </a:pPr>
            <a:r>
              <a:rPr lang="en-US" sz="1600" dirty="0">
                <a:solidFill>
                  <a:srgbClr val="0070C0"/>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Case 3: </a:t>
            </a:r>
            <a:r>
              <a:rPr lang="en-US" sz="1600" dirty="0">
                <a:solidFill>
                  <a:srgbClr val="0070C0"/>
                </a:solidFill>
                <a:latin typeface="Comic Sans MS" pitchFamily="66" charset="0"/>
                <a:sym typeface="Symbol" pitchFamily="18" charset="2"/>
              </a:rPr>
              <a:t>When n ≤ -1, since n is negative,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is positive, so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n.</a:t>
            </a:r>
          </a:p>
          <a:p>
            <a:pPr marL="349250" indent="-349250">
              <a:lnSpc>
                <a:spcPct val="150000"/>
              </a:lnSpc>
              <a:buClr>
                <a:schemeClr val="accent2"/>
              </a:buClr>
              <a:defRPr/>
            </a:pPr>
            <a:r>
              <a:rPr lang="en-US" sz="1600" dirty="0">
                <a:solidFill>
                  <a:srgbClr val="0070C0"/>
                </a:solidFill>
                <a:latin typeface="Comic Sans MS" pitchFamily="66" charset="0"/>
                <a:sym typeface="Symbol" pitchFamily="18" charset="2"/>
              </a:rPr>
              <a:t>	Hence, if n is an integer then n</a:t>
            </a:r>
            <a:r>
              <a:rPr lang="en-US" sz="1600" baseline="30000" dirty="0">
                <a:solidFill>
                  <a:srgbClr val="0070C0"/>
                </a:solidFill>
                <a:latin typeface="Comic Sans MS" pitchFamily="66" charset="0"/>
                <a:sym typeface="Symbol" pitchFamily="18" charset="2"/>
              </a:rPr>
              <a:t>2</a:t>
            </a:r>
            <a:r>
              <a:rPr lang="en-US" sz="1600" dirty="0">
                <a:solidFill>
                  <a:srgbClr val="0070C0"/>
                </a:solidFill>
                <a:latin typeface="Comic Sans MS" pitchFamily="66" charset="0"/>
                <a:sym typeface="Symbol" pitchFamily="18" charset="2"/>
              </a:rPr>
              <a:t> ≥ n.</a:t>
            </a:r>
          </a:p>
        </p:txBody>
      </p:sp>
    </p:spTree>
    <p:extLst>
      <p:ext uri="{BB962C8B-B14F-4D97-AF65-F5344CB8AC3E}">
        <p14:creationId xmlns:p14="http://schemas.microsoft.com/office/powerpoint/2010/main" val="316522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dirty="0">
                <a:solidFill>
                  <a:schemeClr val="accent1"/>
                </a:solidFill>
                <a:latin typeface="Comic Sans MS" pitchFamily="66" charset="0"/>
              </a:rPr>
              <a:t>Methods of proving theorems – </a:t>
            </a:r>
            <a:r>
              <a:rPr lang="en-US" sz="2400" dirty="0">
                <a:solidFill>
                  <a:schemeClr val="accent1"/>
                </a:solidFill>
                <a:latin typeface="Comic Sans MS" pitchFamily="66" charset="0"/>
              </a:rPr>
              <a:t>proof by cases </a:t>
            </a:r>
            <a:endParaRPr lang="en-US" sz="2800" dirty="0"/>
          </a:p>
        </p:txBody>
      </p:sp>
      <p:sp>
        <p:nvSpPr>
          <p:cNvPr id="3" name="Slide Number Placeholder 2"/>
          <p:cNvSpPr>
            <a:spLocks noGrp="1"/>
          </p:cNvSpPr>
          <p:nvPr>
            <p:ph type="sldNum" sz="quarter" idx="12"/>
          </p:nvPr>
        </p:nvSpPr>
        <p:spPr/>
        <p:txBody>
          <a:bodyPr/>
          <a:lstStyle/>
          <a:p>
            <a:fld id="{3D0D8AA9-AE61-49D3-AE4E-15A81A7BE0AE}" type="slidenum">
              <a:rPr lang="en-US" smtClean="0"/>
              <a:pPr/>
              <a:t>19</a:t>
            </a:fld>
            <a:endParaRPr lang="en-US"/>
          </a:p>
        </p:txBody>
      </p:sp>
      <p:sp>
        <p:nvSpPr>
          <p:cNvPr id="9" name="Footer Placeholder 8"/>
          <p:cNvSpPr>
            <a:spLocks noGrp="1"/>
          </p:cNvSpPr>
          <p:nvPr>
            <p:ph type="ftr" sz="quarter" idx="11"/>
          </p:nvPr>
        </p:nvSpPr>
        <p:spPr/>
        <p:txBody>
          <a:bodyPr/>
          <a:lstStyle/>
          <a:p>
            <a:endParaRPr lang="en-US"/>
          </a:p>
        </p:txBody>
      </p:sp>
      <p:sp>
        <p:nvSpPr>
          <p:cNvPr id="12" name="Rectangle 11"/>
          <p:cNvSpPr>
            <a:spLocks noChangeArrowheads="1"/>
          </p:cNvSpPr>
          <p:nvPr/>
        </p:nvSpPr>
        <p:spPr bwMode="auto">
          <a:xfrm>
            <a:off x="208005" y="1524000"/>
            <a:ext cx="8458200" cy="836319"/>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u="sng" dirty="0">
                <a:solidFill>
                  <a:schemeClr val="accent1"/>
                </a:solidFill>
                <a:latin typeface="Comic Sans MS" pitchFamily="66" charset="0"/>
                <a:sym typeface="Symbol" pitchFamily="18" charset="2"/>
              </a:rPr>
              <a:t>Example </a:t>
            </a:r>
            <a:r>
              <a:rPr lang="en-US" sz="1600" dirty="0">
                <a:solidFill>
                  <a:schemeClr val="accent3">
                    <a:lumMod val="75000"/>
                  </a:schemeClr>
                </a:solidFill>
                <a:latin typeface="Comic Sans MS" pitchFamily="66" charset="0"/>
                <a:sym typeface="Symbol" pitchFamily="18" charset="2"/>
              </a:rPr>
              <a:t>Use a proof by cases to prove that |</a:t>
            </a:r>
            <a:r>
              <a:rPr lang="en-US" sz="1600" dirty="0" err="1">
                <a:solidFill>
                  <a:schemeClr val="accent3">
                    <a:lumMod val="75000"/>
                  </a:schemeClr>
                </a:solidFill>
                <a:latin typeface="Comic Sans MS" pitchFamily="66" charset="0"/>
                <a:sym typeface="Symbol" pitchFamily="18" charset="2"/>
              </a:rPr>
              <a:t>xy</a:t>
            </a:r>
            <a:r>
              <a:rPr lang="en-US" sz="1600" dirty="0">
                <a:solidFill>
                  <a:schemeClr val="accent3">
                    <a:lumMod val="75000"/>
                  </a:schemeClr>
                </a:solidFill>
                <a:latin typeface="Comic Sans MS" pitchFamily="66" charset="0"/>
                <a:sym typeface="Symbol" pitchFamily="18" charset="2"/>
              </a:rPr>
              <a:t>| = |x||y|, where x and y real numbers.</a:t>
            </a:r>
          </a:p>
        </p:txBody>
      </p:sp>
      <p:sp>
        <p:nvSpPr>
          <p:cNvPr id="13" name="Rectangle 12"/>
          <p:cNvSpPr>
            <a:spLocks noChangeArrowheads="1"/>
          </p:cNvSpPr>
          <p:nvPr/>
        </p:nvSpPr>
        <p:spPr bwMode="auto">
          <a:xfrm>
            <a:off x="1143000" y="1943527"/>
            <a:ext cx="8763000" cy="420821"/>
          </a:xfrm>
          <a:prstGeom prst="rect">
            <a:avLst/>
          </a:prstGeom>
          <a:noFill/>
          <a:ln w="9525">
            <a:noFill/>
            <a:miter lim="800000"/>
            <a:headEnd/>
            <a:tailEnd/>
          </a:ln>
        </p:spPr>
        <p:txBody>
          <a:bodyPr wrap="square">
            <a:spAutoFit/>
          </a:bodyPr>
          <a:lstStyle/>
          <a:p>
            <a:pPr>
              <a:lnSpc>
                <a:spcPct val="150000"/>
              </a:lnSpc>
            </a:pPr>
            <a:r>
              <a:rPr lang="en-US" sz="1600" dirty="0">
                <a:solidFill>
                  <a:schemeClr val="accent3">
                    <a:lumMod val="75000"/>
                  </a:schemeClr>
                </a:solidFill>
                <a:latin typeface="Comic Sans MS" pitchFamily="66" charset="0"/>
                <a:sym typeface="Symbol" pitchFamily="18" charset="2"/>
              </a:rPr>
              <a:t>Hint: Consider all 4 cases: x and y positive or negative</a:t>
            </a:r>
          </a:p>
        </p:txBody>
      </p:sp>
      <mc:AlternateContent xmlns:mc="http://schemas.openxmlformats.org/markup-compatibility/2006" xmlns:a14="http://schemas.microsoft.com/office/drawing/2010/main">
        <mc:Choice Requires="a14">
          <p:sp>
            <p:nvSpPr>
              <p:cNvPr id="16" name="Rectangle 9"/>
              <p:cNvSpPr>
                <a:spLocks noChangeArrowheads="1"/>
              </p:cNvSpPr>
              <p:nvPr/>
            </p:nvSpPr>
            <p:spPr bwMode="auto">
              <a:xfrm>
                <a:off x="381000" y="2492276"/>
                <a:ext cx="8763000" cy="2308324"/>
              </a:xfrm>
              <a:prstGeom prst="rect">
                <a:avLst/>
              </a:prstGeom>
              <a:noFill/>
              <a:ln w="9525">
                <a:noFill/>
                <a:miter lim="800000"/>
                <a:headEnd/>
                <a:tailEnd/>
              </a:ln>
            </p:spPr>
            <p:txBody>
              <a:bodyPr wrap="square">
                <a:spAutoFit/>
              </a:bodyPr>
              <a:lstStyle/>
              <a:p>
                <a:pPr marL="349250" indent="-349250">
                  <a:lnSpc>
                    <a:spcPct val="150000"/>
                  </a:lnSpc>
                  <a:buClr>
                    <a:schemeClr val="accent1"/>
                  </a:buClr>
                  <a:buFont typeface="Wingdings" pitchFamily="2" charset="2"/>
                  <a:buChar char="Ø"/>
                  <a:defRPr/>
                </a:pPr>
                <a:r>
                  <a:rPr lang="en-US" sz="1600" dirty="0">
                    <a:solidFill>
                      <a:srgbClr val="D16349"/>
                    </a:solidFill>
                  </a:rPr>
                  <a:t>  </a:t>
                </a:r>
                <a:r>
                  <a:rPr lang="en-US" sz="1600" dirty="0">
                    <a:solidFill>
                      <a:srgbClr val="002060"/>
                    </a:solidFill>
                    <a:latin typeface="Comic Sans MS" pitchFamily="66" charset="0"/>
                    <a:sym typeface="Symbol" pitchFamily="18" charset="2"/>
                  </a:rPr>
                  <a:t>Proof: using the fact that |a| = a if a </a:t>
                </a:r>
                <a14:m>
                  <m:oMath xmlns:m="http://schemas.openxmlformats.org/officeDocument/2006/math">
                    <m:r>
                      <a:rPr lang="en-US" sz="1600" i="1" smtClean="0">
                        <a:solidFill>
                          <a:srgbClr val="002060"/>
                        </a:solidFill>
                        <a:latin typeface="Cambria Math"/>
                        <a:ea typeface="Cambria Math"/>
                        <a:sym typeface="Symbol" pitchFamily="18" charset="2"/>
                      </a:rPr>
                      <m:t>≥</m:t>
                    </m:r>
                  </m:oMath>
                </a14:m>
                <a:r>
                  <a:rPr lang="en-US" sz="1600" dirty="0">
                    <a:solidFill>
                      <a:srgbClr val="002060"/>
                    </a:solidFill>
                    <a:latin typeface="Comic Sans MS" pitchFamily="66" charset="0"/>
                    <a:sym typeface="Symbol" pitchFamily="18" charset="2"/>
                  </a:rPr>
                  <a:t> 0 and |a| = -a if a </a:t>
                </a:r>
                <a14:m>
                  <m:oMath xmlns:m="http://schemas.openxmlformats.org/officeDocument/2006/math">
                    <m:r>
                      <a:rPr lang="en-US" sz="1600" i="1" smtClean="0">
                        <a:solidFill>
                          <a:srgbClr val="002060"/>
                        </a:solidFill>
                        <a:latin typeface="Cambria Math"/>
                        <a:ea typeface="Cambria Math"/>
                        <a:sym typeface="Symbol" pitchFamily="18" charset="2"/>
                      </a:rPr>
                      <m:t>&lt;</m:t>
                    </m:r>
                  </m:oMath>
                </a14:m>
                <a:r>
                  <a:rPr lang="en-US" sz="1600" dirty="0">
                    <a:solidFill>
                      <a:srgbClr val="002060"/>
                    </a:solidFill>
                    <a:latin typeface="Comic Sans MS" pitchFamily="66" charset="0"/>
                    <a:sym typeface="Symbol" pitchFamily="18" charset="2"/>
                  </a:rPr>
                  <a:t> 0 , there are four cases for x and y : </a:t>
                </a:r>
              </a:p>
              <a:p>
                <a:pPr>
                  <a:lnSpc>
                    <a:spcPct val="150000"/>
                  </a:lnSpc>
                  <a:buClr>
                    <a:schemeClr val="accent1"/>
                  </a:buClr>
                  <a:defRPr/>
                </a:pPr>
                <a:r>
                  <a:rPr lang="en-US" sz="1600" dirty="0">
                    <a:solidFill>
                      <a:srgbClr val="002060"/>
                    </a:solidFill>
                    <a:latin typeface="Comic Sans MS" pitchFamily="66" charset="0"/>
                    <a:sym typeface="Symbol" pitchFamily="18" charset="2"/>
                  </a:rPr>
                  <a:t>Case 1: x and y both are nonnegative: </a:t>
                </a:r>
                <a:r>
                  <a:rPr lang="en-US" sz="1600" dirty="0" err="1">
                    <a:solidFill>
                      <a:srgbClr val="002060"/>
                    </a:solidFill>
                    <a:latin typeface="Comic Sans MS" pitchFamily="66" charset="0"/>
                    <a:sym typeface="Symbol" pitchFamily="18" charset="2"/>
                  </a:rPr>
                  <a:t>xy</a:t>
                </a:r>
                <a:r>
                  <a:rPr lang="en-US" sz="1600" dirty="0">
                    <a:solidFill>
                      <a:srgbClr val="002060"/>
                    </a:solidFill>
                    <a:ea typeface="Cambria Math"/>
                    <a:sym typeface="Symbol" pitchFamily="18" charset="2"/>
                  </a:rPr>
                  <a:t> </a:t>
                </a:r>
                <a14:m>
                  <m:oMath xmlns:m="http://schemas.openxmlformats.org/officeDocument/2006/math">
                    <m:r>
                      <a:rPr lang="en-US" sz="1600" i="1">
                        <a:solidFill>
                          <a:srgbClr val="002060"/>
                        </a:solidFill>
                        <a:latin typeface="Cambria Math"/>
                        <a:ea typeface="Cambria Math"/>
                        <a:sym typeface="Symbol" pitchFamily="18" charset="2"/>
                      </a:rPr>
                      <m:t>≥</m:t>
                    </m:r>
                  </m:oMath>
                </a14:m>
                <a:r>
                  <a:rPr lang="en-US" sz="1600" dirty="0">
                    <a:solidFill>
                      <a:srgbClr val="002060"/>
                    </a:solidFill>
                    <a:latin typeface="Comic Sans MS" pitchFamily="66" charset="0"/>
                    <a:sym typeface="Symbol" pitchFamily="18" charset="2"/>
                  </a:rPr>
                  <a:t> 0 so that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|x||y| </a:t>
                </a:r>
              </a:p>
              <a:p>
                <a:pPr>
                  <a:lnSpc>
                    <a:spcPct val="150000"/>
                  </a:lnSpc>
                  <a:buClr>
                    <a:schemeClr val="accent1"/>
                  </a:buClr>
                  <a:defRPr/>
                </a:pPr>
                <a:r>
                  <a:rPr lang="en-US" sz="1600" dirty="0">
                    <a:solidFill>
                      <a:srgbClr val="002060"/>
                    </a:solidFill>
                    <a:latin typeface="Comic Sans MS" pitchFamily="66" charset="0"/>
                    <a:sym typeface="Symbol" pitchFamily="18" charset="2"/>
                  </a:rPr>
                  <a:t>Case 2 : x is nonnegative and y is negative: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a:t>
                </a:r>
                <a14:m>
                  <m:oMath xmlns:m="http://schemas.openxmlformats.org/officeDocument/2006/math">
                    <m:r>
                      <a:rPr lang="en-US" sz="1600" i="1" smtClean="0">
                        <a:solidFill>
                          <a:srgbClr val="002060"/>
                        </a:solidFill>
                        <a:latin typeface="Cambria Math"/>
                        <a:ea typeface="Cambria Math"/>
                        <a:sym typeface="Symbol" pitchFamily="18" charset="2"/>
                      </a:rPr>
                      <m:t>≤</m:t>
                    </m:r>
                    <m:r>
                      <a:rPr lang="en-US" sz="1600" b="0" i="0" smtClean="0">
                        <a:solidFill>
                          <a:srgbClr val="002060"/>
                        </a:solidFill>
                        <a:latin typeface="Cambria Math"/>
                        <a:ea typeface="Cambria Math"/>
                        <a:sym typeface="Symbol" pitchFamily="18" charset="2"/>
                      </a:rPr>
                      <m:t> </m:t>
                    </m:r>
                  </m:oMath>
                </a14:m>
                <a:r>
                  <a:rPr lang="en-US" sz="1600" dirty="0">
                    <a:solidFill>
                      <a:srgbClr val="002060"/>
                    </a:solidFill>
                    <a:latin typeface="Comic Sans MS" pitchFamily="66" charset="0"/>
                    <a:sym typeface="Symbol" pitchFamily="18" charset="2"/>
                  </a:rPr>
                  <a:t>0 so that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x(-y) = |x||y|</a:t>
                </a:r>
              </a:p>
              <a:p>
                <a:pPr>
                  <a:lnSpc>
                    <a:spcPct val="150000"/>
                  </a:lnSpc>
                  <a:buClr>
                    <a:schemeClr val="accent1"/>
                  </a:buClr>
                  <a:defRPr/>
                </a:pPr>
                <a:r>
                  <a:rPr lang="en-US" sz="1600" dirty="0">
                    <a:solidFill>
                      <a:srgbClr val="002060"/>
                    </a:solidFill>
                    <a:latin typeface="Comic Sans MS" pitchFamily="66" charset="0"/>
                    <a:sym typeface="Symbol" pitchFamily="18" charset="2"/>
                  </a:rPr>
                  <a:t>Case 3 : x is negative and y is nonnegative: xy </a:t>
                </a:r>
                <a14:m>
                  <m:oMath xmlns:m="http://schemas.openxmlformats.org/officeDocument/2006/math">
                    <m:r>
                      <a:rPr lang="en-US" sz="1600" i="1">
                        <a:solidFill>
                          <a:srgbClr val="002060"/>
                        </a:solidFill>
                        <a:latin typeface="Cambria Math"/>
                        <a:ea typeface="Cambria Math"/>
                        <a:sym typeface="Symbol" pitchFamily="18" charset="2"/>
                      </a:rPr>
                      <m:t>≤</m:t>
                    </m:r>
                    <m:r>
                      <a:rPr lang="en-US" sz="1600">
                        <a:solidFill>
                          <a:srgbClr val="002060"/>
                        </a:solidFill>
                        <a:latin typeface="Cambria Math"/>
                        <a:ea typeface="Cambria Math"/>
                        <a:sym typeface="Symbol" pitchFamily="18" charset="2"/>
                      </a:rPr>
                      <m:t> </m:t>
                    </m:r>
                  </m:oMath>
                </a14:m>
                <a:r>
                  <a:rPr lang="en-US" sz="1600" dirty="0">
                    <a:solidFill>
                      <a:srgbClr val="002060"/>
                    </a:solidFill>
                    <a:latin typeface="Comic Sans MS" pitchFamily="66" charset="0"/>
                    <a:sym typeface="Symbol" pitchFamily="18" charset="2"/>
                  </a:rPr>
                  <a:t>0 so that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(-x)y = |x||y| </a:t>
                </a:r>
              </a:p>
              <a:p>
                <a:pPr>
                  <a:lnSpc>
                    <a:spcPct val="150000"/>
                  </a:lnSpc>
                  <a:buClr>
                    <a:schemeClr val="accent1"/>
                  </a:buClr>
                  <a:defRPr/>
                </a:pPr>
                <a:r>
                  <a:rPr lang="en-US" sz="1600" dirty="0">
                    <a:solidFill>
                      <a:srgbClr val="002060"/>
                    </a:solidFill>
                    <a:latin typeface="Comic Sans MS" pitchFamily="66" charset="0"/>
                    <a:sym typeface="Symbol" pitchFamily="18" charset="2"/>
                  </a:rPr>
                  <a:t>Case 4 : x and y both are negative xy </a:t>
                </a:r>
                <a14:m>
                  <m:oMath xmlns:m="http://schemas.openxmlformats.org/officeDocument/2006/math">
                    <m:r>
                      <a:rPr lang="en-US" sz="1600" i="1" smtClean="0">
                        <a:solidFill>
                          <a:srgbClr val="002060"/>
                        </a:solidFill>
                        <a:latin typeface="Cambria Math"/>
                        <a:ea typeface="Cambria Math"/>
                        <a:sym typeface="Symbol" pitchFamily="18" charset="2"/>
                      </a:rPr>
                      <m:t>&gt;</m:t>
                    </m:r>
                    <m:r>
                      <a:rPr lang="en-US" sz="1600">
                        <a:solidFill>
                          <a:srgbClr val="002060"/>
                        </a:solidFill>
                        <a:latin typeface="Cambria Math"/>
                        <a:ea typeface="Cambria Math"/>
                        <a:sym typeface="Symbol" pitchFamily="18" charset="2"/>
                      </a:rPr>
                      <m:t> </m:t>
                    </m:r>
                  </m:oMath>
                </a14:m>
                <a:r>
                  <a:rPr lang="en-US" sz="1600" dirty="0">
                    <a:solidFill>
                      <a:srgbClr val="002060"/>
                    </a:solidFill>
                    <a:latin typeface="Comic Sans MS" pitchFamily="66" charset="0"/>
                    <a:sym typeface="Symbol" pitchFamily="18" charset="2"/>
                  </a:rPr>
                  <a:t>0 so that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a:t>
                </a:r>
                <a:r>
                  <a:rPr lang="en-US" sz="1600" dirty="0" err="1">
                    <a:solidFill>
                      <a:srgbClr val="002060"/>
                    </a:solidFill>
                    <a:latin typeface="Comic Sans MS" pitchFamily="66" charset="0"/>
                    <a:sym typeface="Symbol" pitchFamily="18" charset="2"/>
                  </a:rPr>
                  <a:t>xy</a:t>
                </a:r>
                <a:r>
                  <a:rPr lang="en-US" sz="1600" dirty="0">
                    <a:solidFill>
                      <a:srgbClr val="002060"/>
                    </a:solidFill>
                    <a:latin typeface="Comic Sans MS" pitchFamily="66" charset="0"/>
                    <a:sym typeface="Symbol" pitchFamily="18" charset="2"/>
                  </a:rPr>
                  <a:t> = (-x)(-y) = |x||y|</a:t>
                </a:r>
              </a:p>
            </p:txBody>
          </p:sp>
        </mc:Choice>
        <mc:Fallback xmlns="">
          <p:sp>
            <p:nvSpPr>
              <p:cNvPr id="16" name="Rectangle 9"/>
              <p:cNvSpPr>
                <a:spLocks noRot="1" noChangeAspect="1" noMove="1" noResize="1" noEditPoints="1" noAdjustHandles="1" noChangeArrowheads="1" noChangeShapeType="1" noTextEdit="1"/>
              </p:cNvSpPr>
              <p:nvPr/>
            </p:nvSpPr>
            <p:spPr bwMode="auto">
              <a:xfrm>
                <a:off x="381000" y="2492276"/>
                <a:ext cx="8763000" cy="2308324"/>
              </a:xfrm>
              <a:prstGeom prst="rect">
                <a:avLst/>
              </a:prstGeom>
              <a:blipFill rotWithShape="1">
                <a:blip r:embed="rId2"/>
                <a:stretch>
                  <a:fillRect l="-418" b="-792"/>
                </a:stretch>
              </a:blipFill>
              <a:ln w="9525">
                <a:noFill/>
                <a:miter lim="800000"/>
                <a:headEnd/>
                <a:tailEnd/>
              </a:ln>
            </p:spPr>
            <p:txBody>
              <a:bodyPr/>
              <a:lstStyle/>
              <a:p>
                <a:r>
                  <a:rPr lang="ar-SA">
                    <a:noFill/>
                  </a:rPr>
                  <a:t> </a:t>
                </a:r>
              </a:p>
            </p:txBody>
          </p:sp>
        </mc:Fallback>
      </mc:AlternateContent>
    </p:spTree>
    <p:extLst>
      <p:ext uri="{BB962C8B-B14F-4D97-AF65-F5344CB8AC3E}">
        <p14:creationId xmlns:p14="http://schemas.microsoft.com/office/powerpoint/2010/main" val="235570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latin typeface="Comic Sans MS" pitchFamily="66" charset="0"/>
              </a:rPr>
              <a:t>Mistakes in Proofs</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0D8AA9-AE61-49D3-AE4E-15A81A7BE0AE}" type="slidenum">
              <a:rPr lang="en-US" smtClean="0"/>
              <a:pPr/>
              <a:t>20</a:t>
            </a:fld>
            <a:endParaRPr lang="en-US"/>
          </a:p>
        </p:txBody>
      </p:sp>
      <p:sp>
        <p:nvSpPr>
          <p:cNvPr id="5" name="Rectangle 4"/>
          <p:cNvSpPr>
            <a:spLocks noChangeArrowheads="1"/>
          </p:cNvSpPr>
          <p:nvPr/>
        </p:nvSpPr>
        <p:spPr bwMode="auto">
          <a:xfrm>
            <a:off x="228600" y="1572905"/>
            <a:ext cx="8839200" cy="1123384"/>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dirty="0">
                <a:solidFill>
                  <a:schemeClr val="accent3">
                    <a:lumMod val="75000"/>
                  </a:schemeClr>
                </a:solidFill>
                <a:latin typeface="Comic Sans MS" pitchFamily="66" charset="0"/>
                <a:sym typeface="Symbol" pitchFamily="18" charset="2"/>
              </a:rPr>
              <a:t>There are many common errors made in constructing mathematical and the most </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common errors are mistakes in </a:t>
            </a:r>
            <a:r>
              <a:rPr lang="en-US" sz="1600" i="1" dirty="0">
                <a:solidFill>
                  <a:srgbClr val="C00000"/>
                </a:solidFill>
                <a:latin typeface="Comic Sans MS" pitchFamily="66" charset="0"/>
                <a:sym typeface="Symbol" pitchFamily="18" charset="2"/>
              </a:rPr>
              <a:t>arithmetic </a:t>
            </a:r>
            <a:r>
              <a:rPr lang="en-US" sz="1600" dirty="0">
                <a:solidFill>
                  <a:schemeClr val="accent3">
                    <a:lumMod val="75000"/>
                  </a:schemeClr>
                </a:solidFill>
                <a:latin typeface="Comic Sans MS" pitchFamily="66" charset="0"/>
                <a:sym typeface="Symbol" pitchFamily="18" charset="2"/>
              </a:rPr>
              <a:t>and </a:t>
            </a:r>
            <a:r>
              <a:rPr lang="en-US" sz="1600" i="1" dirty="0">
                <a:solidFill>
                  <a:srgbClr val="C00000"/>
                </a:solidFill>
                <a:latin typeface="Comic Sans MS" pitchFamily="66" charset="0"/>
                <a:sym typeface="Symbol" pitchFamily="18" charset="2"/>
              </a:rPr>
              <a:t>basic algebra</a:t>
            </a:r>
            <a:r>
              <a:rPr lang="en-US" sz="1600" dirty="0">
                <a:solidFill>
                  <a:schemeClr val="accent3">
                    <a:lumMod val="75000"/>
                  </a:schemeClr>
                </a:solidFill>
                <a:latin typeface="Comic Sans MS" pitchFamily="66" charset="0"/>
                <a:sym typeface="Symbol" pitchFamily="18" charset="2"/>
              </a:rPr>
              <a:t>.</a:t>
            </a:r>
          </a:p>
          <a:p>
            <a:pPr>
              <a:buFont typeface="Wingdings" pitchFamily="2" charset="2"/>
              <a:buChar char="q"/>
            </a:pPr>
            <a:endParaRPr lang="en-US" sz="1600" dirty="0">
              <a:solidFill>
                <a:schemeClr val="accent3">
                  <a:lumMod val="75000"/>
                </a:schemeClr>
              </a:solidFill>
              <a:latin typeface="Comic Sans MS" pitchFamily="66" charset="0"/>
              <a:sym typeface="Symbol" pitchFamily="18" charset="2"/>
            </a:endParaRPr>
          </a:p>
        </p:txBody>
      </p:sp>
      <p:sp>
        <p:nvSpPr>
          <p:cNvPr id="6" name="Rectangle 5"/>
          <p:cNvSpPr>
            <a:spLocks noChangeArrowheads="1"/>
          </p:cNvSpPr>
          <p:nvPr/>
        </p:nvSpPr>
        <p:spPr bwMode="auto">
          <a:xfrm>
            <a:off x="228600" y="2643426"/>
            <a:ext cx="8839200" cy="1123384"/>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sz="1600" dirty="0">
                <a:solidFill>
                  <a:schemeClr val="accent3">
                    <a:lumMod val="75000"/>
                  </a:schemeClr>
                </a:solidFill>
                <a:latin typeface="Comic Sans MS" pitchFamily="66" charset="0"/>
                <a:sym typeface="Symbol" pitchFamily="18" charset="2"/>
              </a:rPr>
              <a:t>Each step of a mathematical proof needs to be correct and the conclusion needs to </a:t>
            </a:r>
            <a:br>
              <a:rPr lang="en-US" sz="1600" dirty="0">
                <a:solidFill>
                  <a:schemeClr val="accent3">
                    <a:lumMod val="75000"/>
                  </a:schemeClr>
                </a:solidFill>
                <a:latin typeface="Comic Sans MS" pitchFamily="66" charset="0"/>
                <a:sym typeface="Symbol" pitchFamily="18" charset="2"/>
              </a:rPr>
            </a:br>
            <a:r>
              <a:rPr lang="en-US" sz="1600" dirty="0">
                <a:solidFill>
                  <a:schemeClr val="accent3">
                    <a:lumMod val="75000"/>
                  </a:schemeClr>
                </a:solidFill>
                <a:latin typeface="Comic Sans MS" pitchFamily="66" charset="0"/>
                <a:sym typeface="Symbol" pitchFamily="18" charset="2"/>
              </a:rPr>
              <a:t>    follow logically from the steps that precede it.</a:t>
            </a:r>
          </a:p>
          <a:p>
            <a:pPr>
              <a:buFont typeface="Wingdings" pitchFamily="2" charset="2"/>
              <a:buChar char="q"/>
            </a:pPr>
            <a:endParaRPr lang="en-US" sz="1600" dirty="0">
              <a:solidFill>
                <a:schemeClr val="accent3">
                  <a:lumMod val="75000"/>
                </a:schemeClr>
              </a:solidFill>
              <a:latin typeface="Comic Sans MS" pitchFamily="66" charset="0"/>
              <a:sym typeface="Symbol" pitchFamily="18" charset="2"/>
            </a:endParaRPr>
          </a:p>
        </p:txBody>
      </p:sp>
      <p:sp>
        <p:nvSpPr>
          <p:cNvPr id="7" name="Rectangle 6"/>
          <p:cNvSpPr/>
          <p:nvPr/>
        </p:nvSpPr>
        <p:spPr>
          <a:xfrm>
            <a:off x="914400" y="3733800"/>
            <a:ext cx="7315200" cy="1828800"/>
          </a:xfrm>
          <a:prstGeom prst="rect">
            <a:avLst/>
          </a:prstGeom>
          <a:solidFill>
            <a:srgbClr val="FFFCE5"/>
          </a:solidFill>
          <a:ln/>
        </p:spPr>
        <p:style>
          <a:lnRef idx="2">
            <a:schemeClr val="accent5"/>
          </a:lnRef>
          <a:fillRef idx="1">
            <a:schemeClr val="lt1"/>
          </a:fillRef>
          <a:effectRef idx="0">
            <a:schemeClr val="accent5"/>
          </a:effectRef>
          <a:fontRef idx="minor">
            <a:schemeClr val="dk1"/>
          </a:fontRef>
        </p:style>
        <p:txBody>
          <a:bodyPr rtlCol="0" anchor="ctr"/>
          <a:lstStyle/>
          <a:p>
            <a:pPr>
              <a:lnSpc>
                <a:spcPct val="150000"/>
              </a:lnSpc>
            </a:pPr>
            <a:r>
              <a:rPr lang="en-US" sz="2000" b="1" u="sng" dirty="0">
                <a:solidFill>
                  <a:srgbClr val="C00000"/>
                </a:solidFill>
                <a:latin typeface="Comic Sans MS" pitchFamily="66" charset="0"/>
              </a:rPr>
              <a:t>Be careful! </a:t>
            </a:r>
          </a:p>
          <a:p>
            <a:pPr>
              <a:lnSpc>
                <a:spcPct val="150000"/>
              </a:lnSpc>
            </a:pPr>
            <a:r>
              <a:rPr lang="en-US" sz="2000" dirty="0">
                <a:solidFill>
                  <a:schemeClr val="tx1"/>
                </a:solidFill>
                <a:latin typeface="Comic Sans MS" pitchFamily="66" charset="0"/>
              </a:rPr>
              <a:t>   </a:t>
            </a:r>
            <a:r>
              <a:rPr lang="en-US" sz="2000" dirty="0">
                <a:solidFill>
                  <a:srgbClr val="002060"/>
                </a:solidFill>
                <a:latin typeface="Comic Sans MS" pitchFamily="66" charset="0"/>
              </a:rPr>
              <a:t>Many mistakes result from the introduction of steps that </a:t>
            </a:r>
            <a:br>
              <a:rPr lang="en-US" sz="2000" dirty="0">
                <a:solidFill>
                  <a:srgbClr val="002060"/>
                </a:solidFill>
                <a:latin typeface="Comic Sans MS" pitchFamily="66" charset="0"/>
              </a:rPr>
            </a:br>
            <a:r>
              <a:rPr lang="en-US" sz="2000" dirty="0">
                <a:solidFill>
                  <a:srgbClr val="002060"/>
                </a:solidFill>
                <a:latin typeface="Comic Sans MS" pitchFamily="66" charset="0"/>
              </a:rPr>
              <a:t>       do not logically follow from those that precede it</a:t>
            </a:r>
            <a:br>
              <a:rPr lang="en-US" sz="2000" dirty="0">
                <a:solidFill>
                  <a:schemeClr val="tx1"/>
                </a:solidFill>
                <a:latin typeface="Comic Sans MS" pitchFamily="66" charset="0"/>
              </a:rPr>
            </a:br>
            <a:endParaRPr lang="en-US" sz="2000" dirty="0">
              <a:solidFill>
                <a:schemeClr val="tx1"/>
              </a:solidFill>
              <a:latin typeface="Comic Sans MS"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latin typeface="Comic Sans MS" pitchFamily="66" charset="0"/>
              </a:rPr>
              <a:t>Mistakes in Proofs</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0D8AA9-AE61-49D3-AE4E-15A81A7BE0AE}" type="slidenum">
              <a:rPr lang="en-US" smtClean="0"/>
              <a:pPr/>
              <a:t>21</a:t>
            </a:fld>
            <a:endParaRPr lang="en-US"/>
          </a:p>
        </p:txBody>
      </p:sp>
      <p:sp>
        <p:nvSpPr>
          <p:cNvPr id="8" name="Rectangle 7"/>
          <p:cNvSpPr>
            <a:spLocks noChangeArrowheads="1"/>
          </p:cNvSpPr>
          <p:nvPr/>
        </p:nvSpPr>
        <p:spPr bwMode="auto">
          <a:xfrm>
            <a:off x="228600" y="1549569"/>
            <a:ext cx="8686800" cy="461858"/>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 </a:t>
            </a:r>
            <a:r>
              <a:rPr lang="en-US" dirty="0">
                <a:solidFill>
                  <a:schemeClr val="accent1"/>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What is wrong with this famous supposed “</a:t>
            </a:r>
            <a:r>
              <a:rPr lang="en-US" dirty="0">
                <a:solidFill>
                  <a:srgbClr val="002060"/>
                </a:solidFill>
                <a:latin typeface="Comic Sans MS" pitchFamily="66" charset="0"/>
                <a:sym typeface="Symbol" pitchFamily="18" charset="2"/>
              </a:rPr>
              <a:t>proof</a:t>
            </a:r>
            <a:r>
              <a:rPr lang="en-US" dirty="0">
                <a:solidFill>
                  <a:schemeClr val="accent3">
                    <a:lumMod val="75000"/>
                  </a:schemeClr>
                </a:solidFill>
                <a:latin typeface="Comic Sans MS" pitchFamily="66" charset="0"/>
                <a:sym typeface="Symbol" pitchFamily="18" charset="2"/>
              </a:rPr>
              <a:t>” that </a:t>
            </a:r>
            <a:r>
              <a:rPr lang="en-US" dirty="0">
                <a:solidFill>
                  <a:srgbClr val="C00000"/>
                </a:solidFill>
                <a:latin typeface="Comic Sans MS" pitchFamily="66" charset="0"/>
                <a:sym typeface="Symbol" pitchFamily="18" charset="2"/>
              </a:rPr>
              <a:t>1 = 2 </a:t>
            </a:r>
            <a:r>
              <a:rPr lang="en-US" dirty="0">
                <a:solidFill>
                  <a:schemeClr val="accent3">
                    <a:lumMod val="75000"/>
                  </a:schemeClr>
                </a:solidFill>
                <a:latin typeface="Comic Sans MS" pitchFamily="66" charset="0"/>
                <a:sym typeface="Symbol" pitchFamily="18" charset="2"/>
              </a:rPr>
              <a:t>?</a:t>
            </a:r>
          </a:p>
        </p:txBody>
      </p:sp>
      <p:sp>
        <p:nvSpPr>
          <p:cNvPr id="9" name="Rectangle 8"/>
          <p:cNvSpPr>
            <a:spLocks noChangeArrowheads="1"/>
          </p:cNvSpPr>
          <p:nvPr/>
        </p:nvSpPr>
        <p:spPr bwMode="auto">
          <a:xfrm>
            <a:off x="762000" y="2057400"/>
            <a:ext cx="8763000" cy="419346"/>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r>
              <a:rPr lang="en-US" sz="1600" dirty="0">
                <a:solidFill>
                  <a:srgbClr val="0070C0"/>
                </a:solidFill>
                <a:latin typeface="Comic Sans MS" pitchFamily="66" charset="0"/>
                <a:sym typeface="Symbol" pitchFamily="18" charset="2"/>
              </a:rPr>
              <a:t> Suppose a and b are two equal positive integers.</a:t>
            </a:r>
          </a:p>
        </p:txBody>
      </p:sp>
      <p:grpSp>
        <p:nvGrpSpPr>
          <p:cNvPr id="12" name="Group 11"/>
          <p:cNvGrpSpPr/>
          <p:nvPr/>
        </p:nvGrpSpPr>
        <p:grpSpPr>
          <a:xfrm>
            <a:off x="1219200" y="2438400"/>
            <a:ext cx="7620000" cy="3046988"/>
            <a:chOff x="1219200" y="2590800"/>
            <a:chExt cx="7620000" cy="3046988"/>
          </a:xfrm>
        </p:grpSpPr>
        <p:sp>
          <p:nvSpPr>
            <p:cNvPr id="10" name="Rectangle 9"/>
            <p:cNvSpPr>
              <a:spLocks noChangeArrowheads="1"/>
            </p:cNvSpPr>
            <p:nvPr/>
          </p:nvSpPr>
          <p:spPr bwMode="auto">
            <a:xfrm>
              <a:off x="1219200" y="2590800"/>
              <a:ext cx="2971800" cy="3046988"/>
            </a:xfrm>
            <a:prstGeom prst="rect">
              <a:avLst/>
            </a:prstGeom>
            <a:noFill/>
            <a:ln w="9525">
              <a:noFill/>
              <a:miter lim="800000"/>
              <a:headEnd/>
              <a:tailEnd/>
            </a:ln>
          </p:spPr>
          <p:txBody>
            <a:bodyPr wrap="square">
              <a:spAutoFit/>
            </a:bodyPr>
            <a:lstStyle/>
            <a:p>
              <a:pPr>
                <a:lnSpc>
                  <a:spcPct val="150000"/>
                </a:lnSpc>
              </a:pPr>
              <a:r>
                <a:rPr lang="en-US" sz="1600" dirty="0">
                  <a:solidFill>
                    <a:srgbClr val="002060"/>
                  </a:solidFill>
                  <a:latin typeface="Comic Sans MS" pitchFamily="66" charset="0"/>
                  <a:sym typeface="Symbol" pitchFamily="18" charset="2"/>
                </a:rPr>
                <a:t>Steps : </a:t>
              </a: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a = b </a:t>
              </a:r>
              <a:endParaRPr lang="en-US" sz="1600" dirty="0">
                <a:solidFill>
                  <a:srgbClr val="002060"/>
                </a:solidFill>
                <a:latin typeface="Comic Sans MS" pitchFamily="66" charset="0"/>
                <a:sym typeface="Symbol" pitchFamily="18" charset="2"/>
              </a:endParaRP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a</a:t>
              </a:r>
              <a:r>
                <a:rPr lang="en-US" sz="1600" baseline="30000" dirty="0">
                  <a:solidFill>
                    <a:srgbClr val="0070C0"/>
                  </a:solidFill>
                  <a:latin typeface="Comic Sans MS" pitchFamily="66" charset="0"/>
                </a:rPr>
                <a:t>2 </a:t>
              </a:r>
              <a:r>
                <a:rPr lang="en-US" sz="1600" dirty="0">
                  <a:solidFill>
                    <a:srgbClr val="0070C0"/>
                  </a:solidFill>
                  <a:latin typeface="Comic Sans MS" pitchFamily="66" charset="0"/>
                  <a:sym typeface="Symbol" pitchFamily="18" charset="2"/>
                </a:rPr>
                <a:t>= </a:t>
              </a:r>
              <a:r>
                <a:rPr lang="en-US" sz="1600" dirty="0" err="1">
                  <a:solidFill>
                    <a:srgbClr val="0070C0"/>
                  </a:solidFill>
                  <a:latin typeface="Comic Sans MS" pitchFamily="66" charset="0"/>
                  <a:sym typeface="Symbol" pitchFamily="18" charset="2"/>
                </a:rPr>
                <a:t>ab</a:t>
              </a:r>
              <a:endParaRPr lang="en-US" sz="1600" dirty="0">
                <a:solidFill>
                  <a:srgbClr val="0070C0"/>
                </a:solidFill>
                <a:latin typeface="Comic Sans MS" pitchFamily="66" charset="0"/>
                <a:sym typeface="Symbol" pitchFamily="18" charset="2"/>
              </a:endParaRP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a</a:t>
              </a:r>
              <a:r>
                <a:rPr lang="en-US" sz="1600" baseline="30000" dirty="0">
                  <a:solidFill>
                    <a:srgbClr val="0070C0"/>
                  </a:solidFill>
                  <a:latin typeface="Comic Sans MS" pitchFamily="66" charset="0"/>
                </a:rPr>
                <a:t>2  </a:t>
              </a:r>
              <a:r>
                <a:rPr lang="en-US" sz="1600" dirty="0">
                  <a:solidFill>
                    <a:srgbClr val="0070C0"/>
                  </a:solidFill>
                  <a:latin typeface="Comic Sans MS" pitchFamily="66" charset="0"/>
                  <a:sym typeface="Symbol" pitchFamily="18" charset="2"/>
                </a:rPr>
                <a:t>-</a:t>
              </a: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b</a:t>
              </a:r>
              <a:r>
                <a:rPr lang="en-US" sz="1600" baseline="30000" dirty="0">
                  <a:solidFill>
                    <a:srgbClr val="0070C0"/>
                  </a:solidFill>
                  <a:latin typeface="Comic Sans MS" pitchFamily="66" charset="0"/>
                </a:rPr>
                <a:t>2 </a:t>
              </a:r>
              <a:r>
                <a:rPr lang="en-US" sz="1600" dirty="0">
                  <a:solidFill>
                    <a:srgbClr val="0070C0"/>
                  </a:solidFill>
                  <a:latin typeface="Comic Sans MS" pitchFamily="66" charset="0"/>
                  <a:sym typeface="Symbol" pitchFamily="18" charset="2"/>
                </a:rPr>
                <a:t>= </a:t>
              </a:r>
              <a:r>
                <a:rPr lang="en-US" sz="1600" dirty="0" err="1">
                  <a:solidFill>
                    <a:srgbClr val="0070C0"/>
                  </a:solidFill>
                  <a:latin typeface="Comic Sans MS" pitchFamily="66" charset="0"/>
                  <a:sym typeface="Symbol" pitchFamily="18" charset="2"/>
                </a:rPr>
                <a:t>ab</a:t>
              </a:r>
              <a:r>
                <a:rPr lang="en-US" sz="1600" dirty="0">
                  <a:solidFill>
                    <a:srgbClr val="0070C0"/>
                  </a:solidFill>
                  <a:latin typeface="Comic Sans MS" pitchFamily="66" charset="0"/>
                  <a:sym typeface="Symbol" pitchFamily="18" charset="2"/>
                </a:rPr>
                <a:t> - b</a:t>
              </a:r>
              <a:r>
                <a:rPr lang="en-US" sz="1600" baseline="30000" dirty="0">
                  <a:solidFill>
                    <a:srgbClr val="0070C0"/>
                  </a:solidFill>
                  <a:latin typeface="Comic Sans MS" pitchFamily="66" charset="0"/>
                </a:rPr>
                <a:t>2</a:t>
              </a:r>
              <a:endParaRPr lang="en-US" sz="1600" dirty="0">
                <a:solidFill>
                  <a:srgbClr val="002060"/>
                </a:solidFill>
                <a:latin typeface="Comic Sans MS" pitchFamily="66" charset="0"/>
                <a:sym typeface="Symbol" pitchFamily="18" charset="2"/>
              </a:endParaRP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pt-BR" sz="1600" dirty="0">
                  <a:solidFill>
                    <a:srgbClr val="0070C0"/>
                  </a:solidFill>
                  <a:latin typeface="Comic Sans MS" pitchFamily="66" charset="0"/>
                  <a:sym typeface="Symbol" pitchFamily="18" charset="2"/>
                </a:rPr>
                <a:t>(a − b)(a + b) = b(a − b)</a:t>
              </a:r>
              <a:endParaRPr lang="en-US" sz="1600" dirty="0">
                <a:solidFill>
                  <a:srgbClr val="0070C0"/>
                </a:solidFill>
                <a:latin typeface="Comic Sans MS" pitchFamily="66" charset="0"/>
                <a:sym typeface="Symbol" pitchFamily="18" charset="2"/>
              </a:endParaRP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a + b = b</a:t>
              </a: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2b = b</a:t>
              </a:r>
            </a:p>
            <a:p>
              <a:pPr marL="342900" indent="-342900">
                <a:lnSpc>
                  <a:spcPct val="150000"/>
                </a:lnSpc>
                <a:buFont typeface="+mj-lt"/>
                <a:buAutoNum type="arabicPeriod"/>
              </a:pPr>
              <a:r>
                <a:rPr lang="en-US" sz="1600" dirty="0">
                  <a:solidFill>
                    <a:srgbClr val="00206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2 =  1</a:t>
              </a:r>
            </a:p>
          </p:txBody>
        </p:sp>
        <p:sp>
          <p:nvSpPr>
            <p:cNvPr id="11" name="Rectangle 10"/>
            <p:cNvSpPr>
              <a:spLocks noChangeArrowheads="1"/>
            </p:cNvSpPr>
            <p:nvPr/>
          </p:nvSpPr>
          <p:spPr bwMode="auto">
            <a:xfrm>
              <a:off x="4038600" y="2590800"/>
              <a:ext cx="4800600" cy="3046988"/>
            </a:xfrm>
            <a:prstGeom prst="rect">
              <a:avLst/>
            </a:prstGeom>
            <a:noFill/>
            <a:ln w="9525">
              <a:noFill/>
              <a:miter lim="800000"/>
              <a:headEnd/>
              <a:tailEnd/>
            </a:ln>
          </p:spPr>
          <p:txBody>
            <a:bodyPr wrap="square">
              <a:spAutoFit/>
            </a:bodyPr>
            <a:lstStyle/>
            <a:p>
              <a:pPr>
                <a:lnSpc>
                  <a:spcPct val="150000"/>
                </a:lnSpc>
              </a:pPr>
              <a:r>
                <a:rPr lang="en-US" sz="1600" dirty="0">
                  <a:solidFill>
                    <a:srgbClr val="002060"/>
                  </a:solidFill>
                  <a:latin typeface="Comic Sans MS" pitchFamily="66" charset="0"/>
                  <a:sym typeface="Symbol" pitchFamily="18" charset="2"/>
                </a:rPr>
                <a:t>Reason  </a:t>
              </a: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rgbClr val="002060"/>
                  </a:solidFill>
                  <a:latin typeface="Comic Sans MS" pitchFamily="66" charset="0"/>
                  <a:sym typeface="Symbol" pitchFamily="18" charset="2"/>
                </a:rPr>
                <a:t> </a:t>
              </a:r>
              <a:r>
                <a:rPr lang="en-US" sz="1600" dirty="0">
                  <a:solidFill>
                    <a:schemeClr val="accent5">
                      <a:lumMod val="50000"/>
                    </a:schemeClr>
                  </a:solidFill>
                  <a:latin typeface="Comic Sans MS" pitchFamily="66" charset="0"/>
                  <a:sym typeface="Symbol" pitchFamily="18" charset="2"/>
                </a:rPr>
                <a:t>Given</a:t>
              </a:r>
              <a:r>
                <a:rPr lang="en-US" sz="1600" dirty="0">
                  <a:solidFill>
                    <a:srgbClr val="0070C0"/>
                  </a:solidFill>
                  <a:latin typeface="Comic Sans MS" pitchFamily="66" charset="0"/>
                  <a:sym typeface="Symbol" pitchFamily="18" charset="2"/>
                </a:rPr>
                <a:t>)  </a:t>
              </a: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chemeClr val="accent5">
                      <a:lumMod val="50000"/>
                    </a:schemeClr>
                  </a:solidFill>
                  <a:latin typeface="Comic Sans MS" pitchFamily="66" charset="0"/>
                  <a:sym typeface="Symbol" pitchFamily="18" charset="2"/>
                </a:rPr>
                <a:t>Multiply both sides of (1) by a</a:t>
              </a:r>
              <a:r>
                <a:rPr lang="en-US" sz="1600" dirty="0">
                  <a:solidFill>
                    <a:srgbClr val="0070C0"/>
                  </a:solidFill>
                  <a:latin typeface="Comic Sans MS" pitchFamily="66" charset="0"/>
                  <a:sym typeface="Symbol" pitchFamily="18" charset="2"/>
                </a:rPr>
                <a:t>)</a:t>
              </a: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chemeClr val="accent5">
                      <a:lumMod val="50000"/>
                    </a:schemeClr>
                  </a:solidFill>
                  <a:latin typeface="Comic Sans MS" pitchFamily="66" charset="0"/>
                  <a:sym typeface="Symbol" pitchFamily="18" charset="2"/>
                </a:rPr>
                <a:t>Subtract b2 from both sides of (2)</a:t>
              </a:r>
              <a:r>
                <a:rPr lang="en-US" sz="1600" dirty="0">
                  <a:solidFill>
                    <a:srgbClr val="0070C0"/>
                  </a:solidFill>
                  <a:latin typeface="Comic Sans MS" pitchFamily="66" charset="0"/>
                  <a:sym typeface="Symbol" pitchFamily="18" charset="2"/>
                </a:rPr>
                <a:t>)</a:t>
              </a:r>
              <a:endParaRPr lang="en-US" sz="1600" dirty="0">
                <a:solidFill>
                  <a:srgbClr val="002060"/>
                </a:solidFill>
                <a:latin typeface="Comic Sans MS" pitchFamily="66" charset="0"/>
                <a:sym typeface="Symbol" pitchFamily="18" charset="2"/>
              </a:endParaRPr>
            </a:p>
            <a:p>
              <a:pPr marL="342900" indent="-342900">
                <a:lnSpc>
                  <a:spcPct val="150000"/>
                </a:lnSpc>
              </a:pPr>
              <a:r>
                <a:rPr lang="pt-BR" sz="1600" dirty="0">
                  <a:solidFill>
                    <a:srgbClr val="0070C0"/>
                  </a:solidFill>
                  <a:latin typeface="Comic Sans MS" pitchFamily="66" charset="0"/>
                  <a:sym typeface="Symbol" pitchFamily="18" charset="2"/>
                </a:rPr>
                <a:t> (</a:t>
              </a:r>
              <a:r>
                <a:rPr lang="en-US" sz="1600" dirty="0">
                  <a:solidFill>
                    <a:schemeClr val="accent5">
                      <a:lumMod val="50000"/>
                    </a:schemeClr>
                  </a:solidFill>
                  <a:latin typeface="Comic Sans MS" pitchFamily="66" charset="0"/>
                  <a:sym typeface="Symbol" pitchFamily="18" charset="2"/>
                </a:rPr>
                <a:t>Factor both sides of (3)</a:t>
              </a:r>
              <a:r>
                <a:rPr lang="pt-BR" sz="1600" dirty="0">
                  <a:solidFill>
                    <a:srgbClr val="0070C0"/>
                  </a:solidFill>
                  <a:latin typeface="Comic Sans MS" pitchFamily="66" charset="0"/>
                  <a:sym typeface="Symbol" pitchFamily="18" charset="2"/>
                </a:rPr>
                <a:t>)</a:t>
              </a:r>
              <a:endParaRPr lang="en-US" sz="1600" dirty="0">
                <a:solidFill>
                  <a:srgbClr val="0070C0"/>
                </a:solidFill>
                <a:latin typeface="Comic Sans MS" pitchFamily="66" charset="0"/>
                <a:sym typeface="Symbol" pitchFamily="18" charset="2"/>
              </a:endParaRP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chemeClr val="accent5">
                      <a:lumMod val="50000"/>
                    </a:schemeClr>
                  </a:solidFill>
                  <a:latin typeface="Comic Sans MS" pitchFamily="66" charset="0"/>
                  <a:sym typeface="Symbol" pitchFamily="18" charset="2"/>
                </a:rPr>
                <a:t>Divide both sides of (4) by a − b</a:t>
              </a:r>
              <a:r>
                <a:rPr lang="en-US" sz="1600" dirty="0">
                  <a:solidFill>
                    <a:srgbClr val="C00000"/>
                  </a:solidFill>
                  <a:latin typeface="Comic Sans MS" pitchFamily="66" charset="0"/>
                  <a:sym typeface="Symbol" pitchFamily="18" charset="2"/>
                </a:rPr>
                <a:t> </a:t>
              </a:r>
              <a:r>
                <a:rPr lang="en-US" sz="1600" dirty="0">
                  <a:solidFill>
                    <a:srgbClr val="0070C0"/>
                  </a:solidFill>
                  <a:latin typeface="Comic Sans MS" pitchFamily="66" charset="0"/>
                  <a:sym typeface="Symbol" pitchFamily="18" charset="2"/>
                </a:rPr>
                <a:t>)</a:t>
              </a: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chemeClr val="accent5">
                      <a:lumMod val="50000"/>
                    </a:schemeClr>
                  </a:solidFill>
                  <a:latin typeface="Comic Sans MS" pitchFamily="66" charset="0"/>
                  <a:sym typeface="Symbol" pitchFamily="18" charset="2"/>
                </a:rPr>
                <a:t>Replace a by b in (5) because a = b &amp; simplify</a:t>
              </a:r>
              <a:r>
                <a:rPr lang="en-US" sz="1600" dirty="0">
                  <a:solidFill>
                    <a:srgbClr val="0070C0"/>
                  </a:solidFill>
                  <a:latin typeface="Comic Sans MS" pitchFamily="66" charset="0"/>
                  <a:sym typeface="Symbol" pitchFamily="18" charset="2"/>
                </a:rPr>
                <a:t>)</a:t>
              </a:r>
            </a:p>
            <a:p>
              <a:pPr marL="342900" indent="-342900">
                <a:lnSpc>
                  <a:spcPct val="150000"/>
                </a:lnSpc>
              </a:pPr>
              <a:r>
                <a:rPr lang="en-US" sz="1600" dirty="0">
                  <a:solidFill>
                    <a:srgbClr val="0070C0"/>
                  </a:solidFill>
                  <a:latin typeface="Comic Sans MS" pitchFamily="66" charset="0"/>
                  <a:sym typeface="Symbol" pitchFamily="18" charset="2"/>
                </a:rPr>
                <a:t>(</a:t>
              </a:r>
              <a:r>
                <a:rPr lang="en-US" sz="1600" dirty="0">
                  <a:solidFill>
                    <a:schemeClr val="accent5">
                      <a:lumMod val="50000"/>
                    </a:schemeClr>
                  </a:solidFill>
                  <a:latin typeface="Comic Sans MS" pitchFamily="66" charset="0"/>
                  <a:sym typeface="Symbol" pitchFamily="18" charset="2"/>
                </a:rPr>
                <a:t>Divide both sides of (6) by b</a:t>
              </a:r>
              <a:r>
                <a:rPr lang="en-US" sz="1600" dirty="0">
                  <a:solidFill>
                    <a:srgbClr val="0070C0"/>
                  </a:solidFill>
                  <a:latin typeface="Comic Sans MS" pitchFamily="66" charset="0"/>
                  <a:sym typeface="Symbol" pitchFamily="18" charset="2"/>
                </a:rPr>
                <a:t>)</a:t>
              </a:r>
            </a:p>
          </p:txBody>
        </p:sp>
      </p:grpSp>
      <p:sp>
        <p:nvSpPr>
          <p:cNvPr id="13" name="Rectangle 12"/>
          <p:cNvSpPr/>
          <p:nvPr/>
        </p:nvSpPr>
        <p:spPr>
          <a:xfrm>
            <a:off x="609600" y="5486400"/>
            <a:ext cx="3610284" cy="340158"/>
          </a:xfrm>
          <a:prstGeom prst="rect">
            <a:avLst/>
          </a:prstGeom>
        </p:spPr>
        <p:txBody>
          <a:bodyPr wrap="none">
            <a:spAutoFit/>
          </a:bodyPr>
          <a:lstStyle/>
          <a:p>
            <a:pPr marL="457200" indent="-457200">
              <a:lnSpc>
                <a:spcPct val="80000"/>
              </a:lnSpc>
              <a:buClr>
                <a:schemeClr val="accent1"/>
              </a:buClr>
              <a:buFont typeface="Wingdings" pitchFamily="2" charset="2"/>
              <a:buChar char="Ø"/>
            </a:pPr>
            <a:r>
              <a:rPr lang="en-US" sz="2000" dirty="0">
                <a:solidFill>
                  <a:srgbClr val="C00000"/>
                </a:solidFill>
                <a:latin typeface="Comic Sans MS" pitchFamily="66" charset="0"/>
                <a:sym typeface="Symbol" pitchFamily="18" charset="2"/>
              </a:rPr>
              <a:t>Can you find the error </a:t>
            </a:r>
            <a:r>
              <a:rPr lang="en-US" sz="2000" dirty="0">
                <a:solidFill>
                  <a:srgbClr val="C00000"/>
                </a:solidFill>
                <a:latin typeface="Comic Sans MS" pitchFamily="66" charset="0"/>
                <a:sym typeface="Wingdings" pitchFamily="2" charset="2"/>
              </a:rPr>
              <a:t></a:t>
            </a:r>
            <a:endParaRPr lang="en-US" sz="2000" dirty="0">
              <a:solidFill>
                <a:srgbClr val="C00000"/>
              </a:solidFill>
              <a:latin typeface="Comic Sans MS" pitchFamily="66" charset="0"/>
              <a:sym typeface="Symbol" pitchFamily="18" charset="2"/>
            </a:endParaRPr>
          </a:p>
        </p:txBody>
      </p:sp>
      <p:sp>
        <p:nvSpPr>
          <p:cNvPr id="15" name="Line Callout 1 14"/>
          <p:cNvSpPr/>
          <p:nvPr/>
        </p:nvSpPr>
        <p:spPr>
          <a:xfrm>
            <a:off x="6438900" y="2057400"/>
            <a:ext cx="2628900" cy="1219200"/>
          </a:xfrm>
          <a:prstGeom prst="borderCallout1">
            <a:avLst>
              <a:gd name="adj1" fmla="val 1028"/>
              <a:gd name="adj2" fmla="val -316"/>
              <a:gd name="adj3" fmla="val 109761"/>
              <a:gd name="adj4" fmla="val -9870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omic Sans MS" pitchFamily="66" charset="0"/>
              </a:rPr>
              <a:t>The error is that a − b equals zero; division of both sides of an equation by the same quantity is valid as long as this quantity is not zero</a:t>
            </a:r>
            <a:r>
              <a:rPr lang="en-US" sz="1200" b="1" dirty="0">
                <a:solidFill>
                  <a:schemeClr val="tx1"/>
                </a:solidFill>
                <a:latin typeface="Comic Sans MS" pitchFamily="66" charset="0"/>
              </a:rPr>
              <a:t>.</a:t>
            </a:r>
          </a:p>
        </p:txBody>
      </p:sp>
      <p:sp>
        <p:nvSpPr>
          <p:cNvPr id="16" name="Rectangle 15"/>
          <p:cNvSpPr/>
          <p:nvPr/>
        </p:nvSpPr>
        <p:spPr>
          <a:xfrm>
            <a:off x="762000" y="5791200"/>
            <a:ext cx="7696200" cy="338554"/>
          </a:xfrm>
          <a:prstGeom prst="rect">
            <a:avLst/>
          </a:prstGeom>
        </p:spPr>
        <p:txBody>
          <a:bodyPr wrap="square">
            <a:spAutoFit/>
          </a:bodyPr>
          <a:lstStyle/>
          <a:p>
            <a:r>
              <a:rPr lang="en-US" sz="1600" dirty="0">
                <a:solidFill>
                  <a:srgbClr val="002060"/>
                </a:solidFill>
                <a:latin typeface="Comic Sans MS" pitchFamily="66" charset="0"/>
              </a:rPr>
              <a:t>Every step is valid except for one, step 5 where we divided both sides by a −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15"/>
                                        </p:tgtEl>
                                      </p:cBhvr>
                                    </p:animEffect>
                                    <p:set>
                                      <p:cBhvr>
                                        <p:cTn id="17"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1"/>
                </a:solidFill>
                <a:latin typeface="Comic Sans MS" pitchFamily="66" charset="0"/>
              </a:rPr>
              <a:t>Mistakes in Proofs</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0D8AA9-AE61-49D3-AE4E-15A81A7BE0AE}" type="slidenum">
              <a:rPr lang="en-US" smtClean="0"/>
              <a:pPr/>
              <a:t>22</a:t>
            </a:fld>
            <a:endParaRPr lang="en-US"/>
          </a:p>
        </p:txBody>
      </p:sp>
      <p:sp>
        <p:nvSpPr>
          <p:cNvPr id="8" name="Rectangle 7"/>
          <p:cNvSpPr>
            <a:spLocks noChangeArrowheads="1"/>
          </p:cNvSpPr>
          <p:nvPr/>
        </p:nvSpPr>
        <p:spPr bwMode="auto">
          <a:xfrm>
            <a:off x="228600" y="1549569"/>
            <a:ext cx="8686800" cy="923330"/>
          </a:xfrm>
          <a:prstGeom prst="rect">
            <a:avLst/>
          </a:prstGeom>
          <a:noFill/>
          <a:ln w="9525">
            <a:noFill/>
            <a:miter lim="800000"/>
            <a:headEnd/>
            <a:tailEnd/>
          </a:ln>
        </p:spPr>
        <p:txBody>
          <a:bodyPr wrap="square">
            <a:spAutoFit/>
          </a:bodyPr>
          <a:lstStyle/>
          <a:p>
            <a:pPr>
              <a:lnSpc>
                <a:spcPct val="150000"/>
              </a:lnSpc>
              <a:buFont typeface="Wingdings" pitchFamily="2" charset="2"/>
              <a:buChar char="q"/>
            </a:pPr>
            <a:r>
              <a:rPr lang="en-US" dirty="0">
                <a:solidFill>
                  <a:srgbClr val="D16349"/>
                </a:solidFill>
                <a:latin typeface="Comic Sans MS" pitchFamily="66" charset="0"/>
              </a:rPr>
              <a:t> </a:t>
            </a:r>
            <a:r>
              <a:rPr lang="en-US" u="sng" dirty="0">
                <a:solidFill>
                  <a:schemeClr val="accent1"/>
                </a:solidFill>
                <a:latin typeface="Comic Sans MS" pitchFamily="66" charset="0"/>
                <a:sym typeface="Symbol" pitchFamily="18" charset="2"/>
              </a:rPr>
              <a:t>Example</a:t>
            </a:r>
            <a:r>
              <a:rPr lang="en-US" dirty="0">
                <a:solidFill>
                  <a:schemeClr val="accent1"/>
                </a:solidFill>
                <a:latin typeface="Comic Sans MS" pitchFamily="66" charset="0"/>
                <a:sym typeface="Symbol" pitchFamily="18" charset="2"/>
              </a:rPr>
              <a:t> </a:t>
            </a:r>
            <a:r>
              <a:rPr lang="en-US" dirty="0">
                <a:solidFill>
                  <a:schemeClr val="accent3">
                    <a:lumMod val="75000"/>
                  </a:schemeClr>
                </a:solidFill>
                <a:latin typeface="Comic Sans MS" pitchFamily="66" charset="0"/>
                <a:sym typeface="Symbol" pitchFamily="18" charset="2"/>
              </a:rPr>
              <a:t>What is wrong with this “</a:t>
            </a:r>
            <a:r>
              <a:rPr lang="en-US" dirty="0">
                <a:solidFill>
                  <a:srgbClr val="002060"/>
                </a:solidFill>
                <a:latin typeface="Comic Sans MS" pitchFamily="66" charset="0"/>
                <a:sym typeface="Symbol" pitchFamily="18" charset="2"/>
              </a:rPr>
              <a:t>proof</a:t>
            </a:r>
            <a:r>
              <a:rPr lang="en-US" dirty="0">
                <a:solidFill>
                  <a:schemeClr val="accent3">
                    <a:lumMod val="75000"/>
                  </a:schemeClr>
                </a:solidFill>
                <a:latin typeface="Comic Sans MS" pitchFamily="66" charset="0"/>
                <a:sym typeface="Symbol" pitchFamily="18" charset="2"/>
              </a:rPr>
              <a:t>” ?</a:t>
            </a:r>
            <a:br>
              <a:rPr lang="en-US" dirty="0">
                <a:solidFill>
                  <a:schemeClr val="accent3">
                    <a:lumMod val="75000"/>
                  </a:schemeClr>
                </a:solidFill>
                <a:latin typeface="Comic Sans MS" pitchFamily="66" charset="0"/>
                <a:sym typeface="Symbol" pitchFamily="18" charset="2"/>
              </a:rPr>
            </a:br>
            <a:r>
              <a:rPr lang="en-US" dirty="0">
                <a:solidFill>
                  <a:schemeClr val="accent3">
                    <a:lumMod val="75000"/>
                  </a:schemeClr>
                </a:solidFill>
                <a:latin typeface="Comic Sans MS" pitchFamily="66" charset="0"/>
                <a:sym typeface="Symbol" pitchFamily="18" charset="2"/>
              </a:rPr>
              <a:t>                “</a:t>
            </a:r>
            <a:r>
              <a:rPr lang="en-US" dirty="0">
                <a:solidFill>
                  <a:srgbClr val="002060"/>
                </a:solidFill>
                <a:latin typeface="Comic Sans MS" pitchFamily="66" charset="0"/>
                <a:sym typeface="Symbol" pitchFamily="18" charset="2"/>
              </a:rPr>
              <a:t>Theorem</a:t>
            </a:r>
            <a:r>
              <a:rPr lang="en-US" dirty="0">
                <a:solidFill>
                  <a:schemeClr val="accent3">
                    <a:lumMod val="75000"/>
                  </a:schemeClr>
                </a:solidFill>
                <a:latin typeface="Comic Sans MS" pitchFamily="66" charset="0"/>
                <a:sym typeface="Symbol" pitchFamily="18" charset="2"/>
              </a:rPr>
              <a:t>:” </a:t>
            </a:r>
            <a:r>
              <a:rPr lang="en-US" dirty="0">
                <a:solidFill>
                  <a:schemeClr val="accent1">
                    <a:lumMod val="75000"/>
                  </a:schemeClr>
                </a:solidFill>
                <a:latin typeface="Comic Sans MS" pitchFamily="66" charset="0"/>
                <a:sym typeface="Symbol" pitchFamily="18" charset="2"/>
              </a:rPr>
              <a:t>If n</a:t>
            </a:r>
            <a:r>
              <a:rPr lang="en-US" baseline="30000" dirty="0">
                <a:solidFill>
                  <a:schemeClr val="accent1">
                    <a:lumMod val="75000"/>
                  </a:schemeClr>
                </a:solidFill>
                <a:latin typeface="Comic Sans MS" pitchFamily="66" charset="0"/>
              </a:rPr>
              <a:t>2</a:t>
            </a:r>
            <a:r>
              <a:rPr lang="en-US" dirty="0">
                <a:solidFill>
                  <a:schemeClr val="accent1">
                    <a:lumMod val="75000"/>
                  </a:schemeClr>
                </a:solidFill>
                <a:latin typeface="Comic Sans MS" pitchFamily="66" charset="0"/>
                <a:sym typeface="Symbol" pitchFamily="18" charset="2"/>
              </a:rPr>
              <a:t> is positive, then n is positive</a:t>
            </a:r>
            <a:r>
              <a:rPr lang="en-US" dirty="0">
                <a:solidFill>
                  <a:schemeClr val="accent3">
                    <a:lumMod val="75000"/>
                  </a:schemeClr>
                </a:solidFill>
                <a:latin typeface="Comic Sans MS" pitchFamily="66" charset="0"/>
                <a:sym typeface="Symbol" pitchFamily="18" charset="2"/>
              </a:rPr>
              <a:t>.</a:t>
            </a:r>
          </a:p>
        </p:txBody>
      </p:sp>
      <p:sp>
        <p:nvSpPr>
          <p:cNvPr id="9" name="Rectangle 8"/>
          <p:cNvSpPr>
            <a:spLocks noChangeArrowheads="1"/>
          </p:cNvSpPr>
          <p:nvPr/>
        </p:nvSpPr>
        <p:spPr bwMode="auto">
          <a:xfrm>
            <a:off x="609600" y="2438400"/>
            <a:ext cx="7772400" cy="830997"/>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Proof: </a:t>
            </a:r>
            <a:r>
              <a:rPr lang="en-US" sz="1600" dirty="0">
                <a:solidFill>
                  <a:srgbClr val="0070C0"/>
                </a:solidFill>
                <a:latin typeface="Comic Sans MS" pitchFamily="66" charset="0"/>
                <a:sym typeface="Symbol" pitchFamily="18" charset="2"/>
              </a:rPr>
              <a:t> Suppose  that n</a:t>
            </a:r>
            <a:r>
              <a:rPr lang="en-US" sz="1600" baseline="30000" dirty="0">
                <a:solidFill>
                  <a:srgbClr val="0070C0"/>
                </a:solidFill>
                <a:latin typeface="Comic Sans MS" pitchFamily="66" charset="0"/>
              </a:rPr>
              <a:t>2</a:t>
            </a:r>
            <a:r>
              <a:rPr lang="en-US" sz="1600" dirty="0">
                <a:solidFill>
                  <a:srgbClr val="0070C0"/>
                </a:solidFill>
                <a:latin typeface="Comic Sans MS" pitchFamily="66" charset="0"/>
                <a:sym typeface="Symbol" pitchFamily="18" charset="2"/>
              </a:rPr>
              <a:t> is positive. Because the conditional statement :</a:t>
            </a:r>
            <a:br>
              <a:rPr lang="en-US" sz="1600" dirty="0">
                <a:solidFill>
                  <a:srgbClr val="0070C0"/>
                </a:solidFill>
                <a:latin typeface="Comic Sans MS" pitchFamily="66" charset="0"/>
                <a:sym typeface="Symbol" pitchFamily="18" charset="2"/>
              </a:rPr>
            </a:br>
            <a:r>
              <a:rPr lang="en-US" sz="1600" dirty="0">
                <a:solidFill>
                  <a:srgbClr val="0070C0"/>
                </a:solidFill>
                <a:latin typeface="Comic Sans MS" pitchFamily="66" charset="0"/>
                <a:sym typeface="Symbol" pitchFamily="18" charset="2"/>
              </a:rPr>
              <a:t>  “</a:t>
            </a:r>
            <a:r>
              <a:rPr lang="en-US" sz="1600" dirty="0">
                <a:solidFill>
                  <a:srgbClr val="002060"/>
                </a:solidFill>
                <a:latin typeface="Comic Sans MS" pitchFamily="66" charset="0"/>
                <a:sym typeface="Symbol" pitchFamily="18" charset="2"/>
              </a:rPr>
              <a:t>If n is positive, then n</a:t>
            </a:r>
            <a:r>
              <a:rPr lang="en-US" sz="1600" baseline="30000" dirty="0">
                <a:solidFill>
                  <a:srgbClr val="002060"/>
                </a:solidFill>
                <a:latin typeface="Comic Sans MS" pitchFamily="66" charset="0"/>
              </a:rPr>
              <a:t>2</a:t>
            </a:r>
            <a:r>
              <a:rPr lang="en-US" sz="1600" dirty="0">
                <a:solidFill>
                  <a:srgbClr val="002060"/>
                </a:solidFill>
                <a:latin typeface="Comic Sans MS" pitchFamily="66" charset="0"/>
                <a:sym typeface="Symbol" pitchFamily="18" charset="2"/>
              </a:rPr>
              <a:t> is positive</a:t>
            </a:r>
            <a:r>
              <a:rPr lang="en-US" sz="1600" dirty="0">
                <a:solidFill>
                  <a:srgbClr val="0070C0"/>
                </a:solidFill>
                <a:latin typeface="Comic Sans MS" pitchFamily="66" charset="0"/>
                <a:sym typeface="Symbol" pitchFamily="18" charset="2"/>
              </a:rPr>
              <a:t>” is true, we can conclude that n is positive.</a:t>
            </a:r>
          </a:p>
        </p:txBody>
      </p:sp>
      <p:sp>
        <p:nvSpPr>
          <p:cNvPr id="16" name="Rectangle 15"/>
          <p:cNvSpPr/>
          <p:nvPr/>
        </p:nvSpPr>
        <p:spPr>
          <a:xfrm>
            <a:off x="1752600" y="3733800"/>
            <a:ext cx="4800600" cy="338554"/>
          </a:xfrm>
          <a:prstGeom prst="rect">
            <a:avLst/>
          </a:prstGeom>
        </p:spPr>
        <p:txBody>
          <a:bodyPr wrap="square">
            <a:spAutoFit/>
          </a:bodyPr>
          <a:lstStyle/>
          <a:p>
            <a:r>
              <a:rPr lang="en-US" sz="1600" dirty="0">
                <a:solidFill>
                  <a:srgbClr val="0070C0"/>
                </a:solidFill>
                <a:latin typeface="Comic Sans MS" pitchFamily="66" charset="0"/>
              </a:rPr>
              <a:t>Then our hypothesis is </a:t>
            </a:r>
            <a:r>
              <a:rPr lang="en-US" sz="1600" dirty="0">
                <a:solidFill>
                  <a:srgbClr val="C00000"/>
                </a:solidFill>
                <a:latin typeface="Comic Sans MS" pitchFamily="66" charset="0"/>
              </a:rPr>
              <a:t>Q(n)</a:t>
            </a:r>
            <a:r>
              <a:rPr lang="en-US" sz="1600" dirty="0">
                <a:solidFill>
                  <a:srgbClr val="0070C0"/>
                </a:solidFill>
                <a:latin typeface="Comic Sans MS" pitchFamily="66" charset="0"/>
              </a:rPr>
              <a:t>.                  (1)</a:t>
            </a:r>
          </a:p>
        </p:txBody>
      </p:sp>
      <p:sp>
        <p:nvSpPr>
          <p:cNvPr id="14" name="Rectangle 13"/>
          <p:cNvSpPr>
            <a:spLocks noChangeArrowheads="1"/>
          </p:cNvSpPr>
          <p:nvPr/>
        </p:nvSpPr>
        <p:spPr bwMode="auto">
          <a:xfrm>
            <a:off x="609600" y="3276600"/>
            <a:ext cx="7772400" cy="419987"/>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sz="1600" dirty="0">
                <a:solidFill>
                  <a:srgbClr val="D16349"/>
                </a:solidFill>
              </a:rPr>
              <a:t>  </a:t>
            </a:r>
            <a:r>
              <a:rPr lang="en-US" sz="1600" dirty="0">
                <a:solidFill>
                  <a:srgbClr val="002060"/>
                </a:solidFill>
                <a:latin typeface="Comic Sans MS" pitchFamily="66" charset="0"/>
                <a:sym typeface="Symbol" pitchFamily="18" charset="2"/>
              </a:rPr>
              <a:t>Solution : </a:t>
            </a:r>
            <a:r>
              <a:rPr lang="en-US" sz="1600" dirty="0">
                <a:solidFill>
                  <a:srgbClr val="0070C0"/>
                </a:solidFill>
                <a:latin typeface="Comic Sans MS" pitchFamily="66" charset="0"/>
                <a:sym typeface="Symbol" pitchFamily="18" charset="2"/>
              </a:rPr>
              <a:t>  Let </a:t>
            </a:r>
            <a:r>
              <a:rPr lang="en-US" sz="1600" dirty="0">
                <a:solidFill>
                  <a:srgbClr val="C00000"/>
                </a:solidFill>
                <a:latin typeface="Comic Sans MS" pitchFamily="66" charset="0"/>
                <a:sym typeface="Symbol" pitchFamily="18" charset="2"/>
              </a:rPr>
              <a:t>P(n) </a:t>
            </a:r>
            <a:r>
              <a:rPr lang="en-US" sz="1600" dirty="0">
                <a:solidFill>
                  <a:srgbClr val="0070C0"/>
                </a:solidFill>
                <a:latin typeface="Comic Sans MS" pitchFamily="66" charset="0"/>
                <a:sym typeface="Symbol" pitchFamily="18" charset="2"/>
              </a:rPr>
              <a:t>be “</a:t>
            </a:r>
            <a:r>
              <a:rPr lang="en-US" sz="1600" dirty="0">
                <a:solidFill>
                  <a:srgbClr val="002060"/>
                </a:solidFill>
                <a:latin typeface="Comic Sans MS" pitchFamily="66" charset="0"/>
                <a:sym typeface="Symbol" pitchFamily="18" charset="2"/>
              </a:rPr>
              <a:t>n is positive</a:t>
            </a:r>
            <a:r>
              <a:rPr lang="en-US" sz="1600" dirty="0">
                <a:solidFill>
                  <a:srgbClr val="0070C0"/>
                </a:solidFill>
                <a:latin typeface="Comic Sans MS" pitchFamily="66" charset="0"/>
                <a:sym typeface="Symbol" pitchFamily="18" charset="2"/>
              </a:rPr>
              <a:t>” and </a:t>
            </a:r>
            <a:r>
              <a:rPr lang="en-US" sz="1600" dirty="0">
                <a:solidFill>
                  <a:srgbClr val="C00000"/>
                </a:solidFill>
                <a:latin typeface="Comic Sans MS" pitchFamily="66" charset="0"/>
                <a:sym typeface="Symbol" pitchFamily="18" charset="2"/>
              </a:rPr>
              <a:t>Q(n) </a:t>
            </a:r>
            <a:r>
              <a:rPr lang="en-US" sz="1600" dirty="0">
                <a:solidFill>
                  <a:srgbClr val="0070C0"/>
                </a:solidFill>
                <a:latin typeface="Comic Sans MS" pitchFamily="66" charset="0"/>
                <a:sym typeface="Symbol" pitchFamily="18" charset="2"/>
              </a:rPr>
              <a:t>be “</a:t>
            </a:r>
            <a:r>
              <a:rPr lang="en-US" sz="1600" dirty="0">
                <a:solidFill>
                  <a:srgbClr val="002060"/>
                </a:solidFill>
                <a:latin typeface="Comic Sans MS" pitchFamily="66" charset="0"/>
                <a:sym typeface="Symbol" pitchFamily="18" charset="2"/>
              </a:rPr>
              <a:t>n</a:t>
            </a:r>
            <a:r>
              <a:rPr lang="en-US" sz="1600" baseline="30000" dirty="0">
                <a:solidFill>
                  <a:srgbClr val="002060"/>
                </a:solidFill>
                <a:latin typeface="Comic Sans MS" pitchFamily="66" charset="0"/>
              </a:rPr>
              <a:t>2</a:t>
            </a:r>
            <a:r>
              <a:rPr lang="en-US" sz="1600" dirty="0">
                <a:solidFill>
                  <a:srgbClr val="002060"/>
                </a:solidFill>
                <a:latin typeface="Comic Sans MS" pitchFamily="66" charset="0"/>
                <a:sym typeface="Symbol" pitchFamily="18" charset="2"/>
              </a:rPr>
              <a:t> is positive.”</a:t>
            </a:r>
          </a:p>
        </p:txBody>
      </p:sp>
      <p:sp>
        <p:nvSpPr>
          <p:cNvPr id="17" name="Rectangle 16"/>
          <p:cNvSpPr/>
          <p:nvPr/>
        </p:nvSpPr>
        <p:spPr>
          <a:xfrm>
            <a:off x="1752600" y="4081046"/>
            <a:ext cx="6934200" cy="789190"/>
          </a:xfrm>
          <a:prstGeom prst="rect">
            <a:avLst/>
          </a:prstGeom>
        </p:spPr>
        <p:txBody>
          <a:bodyPr wrap="square">
            <a:spAutoFit/>
          </a:bodyPr>
          <a:lstStyle/>
          <a:p>
            <a:pPr>
              <a:lnSpc>
                <a:spcPct val="150000"/>
              </a:lnSpc>
            </a:pPr>
            <a:r>
              <a:rPr lang="en-US" sz="1600" dirty="0">
                <a:solidFill>
                  <a:srgbClr val="0070C0"/>
                </a:solidFill>
                <a:latin typeface="Comic Sans MS" pitchFamily="66" charset="0"/>
              </a:rPr>
              <a:t>This statement “</a:t>
            </a:r>
            <a:r>
              <a:rPr lang="en-US" sz="1600" dirty="0">
                <a:solidFill>
                  <a:srgbClr val="002060"/>
                </a:solidFill>
                <a:latin typeface="Comic Sans MS" pitchFamily="66" charset="0"/>
              </a:rPr>
              <a:t>If n is positive, then </a:t>
            </a:r>
            <a:r>
              <a:rPr lang="en-US" sz="1600" dirty="0">
                <a:solidFill>
                  <a:srgbClr val="002060"/>
                </a:solidFill>
                <a:latin typeface="Comic Sans MS" pitchFamily="66" charset="0"/>
                <a:sym typeface="Symbol" pitchFamily="18" charset="2"/>
              </a:rPr>
              <a:t>n</a:t>
            </a:r>
            <a:r>
              <a:rPr lang="en-US" sz="1600" baseline="30000" dirty="0">
                <a:solidFill>
                  <a:srgbClr val="002060"/>
                </a:solidFill>
                <a:latin typeface="Comic Sans MS" pitchFamily="66" charset="0"/>
              </a:rPr>
              <a:t>2</a:t>
            </a:r>
            <a:r>
              <a:rPr lang="en-US" sz="1600" dirty="0">
                <a:solidFill>
                  <a:srgbClr val="002060"/>
                </a:solidFill>
                <a:latin typeface="Comic Sans MS" pitchFamily="66" charset="0"/>
              </a:rPr>
              <a:t> is positive</a:t>
            </a:r>
            <a:r>
              <a:rPr lang="en-US" sz="1600" dirty="0">
                <a:solidFill>
                  <a:srgbClr val="0070C0"/>
                </a:solidFill>
                <a:latin typeface="Comic Sans MS" pitchFamily="66" charset="0"/>
              </a:rPr>
              <a:t>” is the statement:</a:t>
            </a:r>
            <a:br>
              <a:rPr lang="en-US" sz="1600" dirty="0">
                <a:solidFill>
                  <a:srgbClr val="0070C0"/>
                </a:solidFill>
                <a:latin typeface="Comic Sans MS" pitchFamily="66" charset="0"/>
              </a:rPr>
            </a:br>
            <a:r>
              <a:rPr lang="en-US" sz="1600" dirty="0">
                <a:solidFill>
                  <a:srgbClr val="0070C0"/>
                </a:solidFill>
                <a:latin typeface="Comic Sans MS" pitchFamily="66" charset="0"/>
              </a:rPr>
              <a:t> </a:t>
            </a:r>
            <a:r>
              <a:rPr lang="en-US" sz="1600" dirty="0">
                <a:solidFill>
                  <a:srgbClr val="C00000"/>
                </a:solidFill>
                <a:latin typeface="Comic Sans MS" pitchFamily="66" charset="0"/>
              </a:rPr>
              <a:t>∀n(P (n) → Q(n))</a:t>
            </a:r>
            <a:r>
              <a:rPr lang="en-US" sz="1600" dirty="0">
                <a:solidFill>
                  <a:srgbClr val="0070C0"/>
                </a:solidFill>
                <a:latin typeface="Comic Sans MS" pitchFamily="66" charset="0"/>
              </a:rPr>
              <a:t>.                   (2)</a:t>
            </a:r>
          </a:p>
        </p:txBody>
      </p:sp>
      <p:sp>
        <p:nvSpPr>
          <p:cNvPr id="18" name="Rectangle 17"/>
          <p:cNvSpPr/>
          <p:nvPr/>
        </p:nvSpPr>
        <p:spPr>
          <a:xfrm>
            <a:off x="1752600" y="4924847"/>
            <a:ext cx="6934200" cy="830997"/>
          </a:xfrm>
          <a:prstGeom prst="rect">
            <a:avLst/>
          </a:prstGeom>
        </p:spPr>
        <p:txBody>
          <a:bodyPr wrap="square">
            <a:spAutoFit/>
          </a:bodyPr>
          <a:lstStyle/>
          <a:p>
            <a:pPr>
              <a:lnSpc>
                <a:spcPct val="150000"/>
              </a:lnSpc>
            </a:pPr>
            <a:r>
              <a:rPr lang="en-US" sz="1600" dirty="0">
                <a:solidFill>
                  <a:srgbClr val="0070C0"/>
                </a:solidFill>
                <a:latin typeface="Comic Sans MS" pitchFamily="66" charset="0"/>
              </a:rPr>
              <a:t> From the hypothesis (1) and the statement (2):</a:t>
            </a:r>
            <a:br>
              <a:rPr lang="en-US" sz="1600" dirty="0">
                <a:solidFill>
                  <a:srgbClr val="0070C0"/>
                </a:solidFill>
                <a:latin typeface="Comic Sans MS" pitchFamily="66" charset="0"/>
              </a:rPr>
            </a:br>
            <a:r>
              <a:rPr lang="en-US" sz="1600" dirty="0">
                <a:solidFill>
                  <a:srgbClr val="0070C0"/>
                </a:solidFill>
                <a:latin typeface="Comic Sans MS" pitchFamily="66" charset="0"/>
              </a:rPr>
              <a:t> We cannot conclude </a:t>
            </a:r>
            <a:r>
              <a:rPr lang="en-US" sz="1600" dirty="0">
                <a:solidFill>
                  <a:srgbClr val="C00000"/>
                </a:solidFill>
                <a:latin typeface="Comic Sans MS" pitchFamily="66" charset="0"/>
              </a:rPr>
              <a:t>P(n)</a:t>
            </a:r>
          </a:p>
        </p:txBody>
      </p:sp>
      <p:cxnSp>
        <p:nvCxnSpPr>
          <p:cNvPr id="20" name="Straight Arrow Connector 19"/>
          <p:cNvCxnSpPr/>
          <p:nvPr/>
        </p:nvCxnSpPr>
        <p:spPr>
          <a:xfrm>
            <a:off x="4648200" y="3962400"/>
            <a:ext cx="762000"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3733800" y="4724400"/>
            <a:ext cx="762000" cy="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2" name="Line Callout 1 21"/>
          <p:cNvSpPr/>
          <p:nvPr/>
        </p:nvSpPr>
        <p:spPr>
          <a:xfrm>
            <a:off x="6477000" y="4495800"/>
            <a:ext cx="1981200" cy="990600"/>
          </a:xfrm>
          <a:prstGeom prst="borderCallout1">
            <a:avLst>
              <a:gd name="adj1" fmla="val 1028"/>
              <a:gd name="adj2" fmla="val -316"/>
              <a:gd name="adj3" fmla="val 97752"/>
              <a:gd name="adj4" fmla="val -11142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omic Sans MS" pitchFamily="66" charset="0"/>
              </a:rPr>
              <a:t>because we are not using a valid rule of inference</a:t>
            </a:r>
            <a:r>
              <a:rPr lang="en-US" sz="1600" dirty="0">
                <a:solidFill>
                  <a:schemeClr val="tx1"/>
                </a:solidFill>
                <a:latin typeface="Comic Sans MS" pitchFamily="66" charset="0"/>
              </a:rPr>
              <a:t>.</a:t>
            </a:r>
            <a:endParaRPr lang="en-US" sz="1400" b="1" dirty="0">
              <a:solidFill>
                <a:schemeClr val="tx1"/>
              </a:solidFill>
              <a:latin typeface="Comic Sans MS" pitchFamily="66" charset="0"/>
            </a:endParaRPr>
          </a:p>
        </p:txBody>
      </p:sp>
      <p:sp>
        <p:nvSpPr>
          <p:cNvPr id="23" name="Rectangle 22"/>
          <p:cNvSpPr/>
          <p:nvPr/>
        </p:nvSpPr>
        <p:spPr>
          <a:xfrm>
            <a:off x="1752600" y="5791200"/>
            <a:ext cx="5715000" cy="338554"/>
          </a:xfrm>
          <a:prstGeom prst="rect">
            <a:avLst/>
          </a:prstGeom>
        </p:spPr>
        <p:txBody>
          <a:bodyPr wrap="square">
            <a:spAutoFit/>
          </a:bodyPr>
          <a:lstStyle/>
          <a:p>
            <a:r>
              <a:rPr lang="en-US" sz="1600" dirty="0">
                <a:solidFill>
                  <a:srgbClr val="0070C0"/>
                </a:solidFill>
                <a:latin typeface="Comic Sans MS" pitchFamily="66" charset="0"/>
              </a:rPr>
              <a:t>Instead, we can prove that by using counterexample</a:t>
            </a:r>
          </a:p>
        </p:txBody>
      </p:sp>
      <p:sp>
        <p:nvSpPr>
          <p:cNvPr id="24" name="Line Callout 1 23"/>
          <p:cNvSpPr/>
          <p:nvPr/>
        </p:nvSpPr>
        <p:spPr>
          <a:xfrm>
            <a:off x="6781800" y="5558254"/>
            <a:ext cx="2209800" cy="1143000"/>
          </a:xfrm>
          <a:prstGeom prst="borderCallout1">
            <a:avLst>
              <a:gd name="adj1" fmla="val 1028"/>
              <a:gd name="adj2" fmla="val -316"/>
              <a:gd name="adj3" fmla="val 24662"/>
              <a:gd name="adj4" fmla="val -26996"/>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Comic Sans MS" pitchFamily="66" charset="0"/>
              </a:rPr>
              <a:t>A counterexample supplied by n = −1 for which </a:t>
            </a:r>
            <a:r>
              <a:rPr lang="en-US" sz="1400" dirty="0">
                <a:solidFill>
                  <a:schemeClr val="tx1"/>
                </a:solidFill>
                <a:latin typeface="Comic Sans MS" pitchFamily="66" charset="0"/>
                <a:sym typeface="Symbol" pitchFamily="18" charset="2"/>
              </a:rPr>
              <a:t>n</a:t>
            </a:r>
            <a:r>
              <a:rPr lang="en-US" sz="1400" baseline="30000" dirty="0">
                <a:solidFill>
                  <a:schemeClr val="tx1"/>
                </a:solidFill>
                <a:latin typeface="Comic Sans MS" pitchFamily="66" charset="0"/>
              </a:rPr>
              <a:t>2</a:t>
            </a:r>
            <a:r>
              <a:rPr lang="en-US" sz="1400" dirty="0">
                <a:solidFill>
                  <a:schemeClr val="tx1"/>
                </a:solidFill>
                <a:latin typeface="Comic Sans MS" pitchFamily="66" charset="0"/>
              </a:rPr>
              <a:t> = 1 is positive, but n is negative.</a:t>
            </a:r>
            <a:endParaRPr lang="en-US" sz="1400" b="1" dirty="0">
              <a:solidFill>
                <a:schemeClr val="tx1"/>
              </a:solidFill>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par>
                                <p:cTn id="13" presetID="10"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500"/>
                                        <p:tgtEl>
                                          <p:spTgt spid="17"/>
                                        </p:tgtEl>
                                      </p:cBhvr>
                                    </p:animEffect>
                                  </p:childTnLst>
                                </p:cTn>
                              </p:par>
                              <p:par>
                                <p:cTn id="21" presetID="10"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00"/>
                                        <p:tgtEl>
                                          <p:spTgt spid="22"/>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grpId="1" nodeType="clickEffect">
                                  <p:stCondLst>
                                    <p:cond delay="0"/>
                                  </p:stCondLst>
                                  <p:childTnLst>
                                    <p:animEffect transition="out" filter="fade">
                                      <p:cBhvr>
                                        <p:cTn id="37" dur="500"/>
                                        <p:tgtEl>
                                          <p:spTgt spid="22"/>
                                        </p:tgtEl>
                                      </p:cBhvr>
                                    </p:animEffect>
                                    <p:set>
                                      <p:cBhvr>
                                        <p:cTn id="38" dur="1" fill="hold">
                                          <p:stCondLst>
                                            <p:cond delay="499"/>
                                          </p:stCondLst>
                                        </p:cTn>
                                        <p:tgtEl>
                                          <p:spTgt spid="2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500"/>
                                        <p:tgtEl>
                                          <p:spTgt spid="2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grpId="1" nodeType="clickEffect">
                                  <p:stCondLst>
                                    <p:cond delay="0"/>
                                  </p:stCondLst>
                                  <p:childTnLst>
                                    <p:animEffect transition="out" filter="fade">
                                      <p:cBhvr>
                                        <p:cTn id="52" dur="500"/>
                                        <p:tgtEl>
                                          <p:spTgt spid="24"/>
                                        </p:tgtEl>
                                      </p:cBhvr>
                                    </p:animEffect>
                                    <p:set>
                                      <p:cBhvr>
                                        <p:cTn id="53"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4" grpId="0"/>
      <p:bldP spid="17" grpId="0"/>
      <p:bldP spid="18" grpId="0"/>
      <p:bldP spid="22" grpId="0" animBg="1"/>
      <p:bldP spid="22" grpId="1" animBg="1"/>
      <p:bldP spid="23" grpId="0"/>
      <p:bldP spid="24" grpId="0" animBg="1"/>
      <p:bldP spid="24"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FF3A6-8B5C-41F7-BB4B-3C574744D943}"/>
              </a:ext>
            </a:extLst>
          </p:cNvPr>
          <p:cNvSpPr>
            <a:spLocks noGrp="1"/>
          </p:cNvSpPr>
          <p:nvPr>
            <p:ph type="title"/>
          </p:nvPr>
        </p:nvSpPr>
        <p:spPr/>
        <p:txBody>
          <a:bodyPr/>
          <a:lstStyle/>
          <a:p>
            <a:endParaRPr lang="en-IN"/>
          </a:p>
        </p:txBody>
      </p:sp>
      <p:sp>
        <p:nvSpPr>
          <p:cNvPr id="3" name="Footer Placeholder 2">
            <a:extLst>
              <a:ext uri="{FF2B5EF4-FFF2-40B4-BE49-F238E27FC236}">
                <a16:creationId xmlns:a16="http://schemas.microsoft.com/office/drawing/2014/main" id="{50167453-970A-47B7-9E5E-205E0ACBB7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D89231-3C0D-4EA7-B213-32C1D71C4177}"/>
              </a:ext>
            </a:extLst>
          </p:cNvPr>
          <p:cNvSpPr>
            <a:spLocks noGrp="1"/>
          </p:cNvSpPr>
          <p:nvPr>
            <p:ph type="sldNum" sz="quarter" idx="12"/>
          </p:nvPr>
        </p:nvSpPr>
        <p:spPr/>
        <p:txBody>
          <a:bodyPr/>
          <a:lstStyle/>
          <a:p>
            <a:fld id="{3D0D8AA9-AE61-49D3-AE4E-15A81A7BE0AE}" type="slidenum">
              <a:rPr lang="en-US" smtClean="0"/>
              <a:pPr/>
              <a:t>23</a:t>
            </a:fld>
            <a:endParaRPr lang="en-US" dirty="0"/>
          </a:p>
        </p:txBody>
      </p:sp>
      <p:pic>
        <p:nvPicPr>
          <p:cNvPr id="1026" name="Picture 2" descr="Disclaimer">
            <a:extLst>
              <a:ext uri="{FF2B5EF4-FFF2-40B4-BE49-F238E27FC236}">
                <a16:creationId xmlns:a16="http://schemas.microsoft.com/office/drawing/2014/main" id="{8C78363C-61FE-4015-851B-B41356CD1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290763"/>
            <a:ext cx="788670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69889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12387</TotalTime>
  <Words>3089</Words>
  <Application>Microsoft Office PowerPoint</Application>
  <PresentationFormat>On-screen Show (4:3)</PresentationFormat>
  <Paragraphs>246</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Cambria Math</vt:lpstr>
      <vt:lpstr>Comic Sans MS</vt:lpstr>
      <vt:lpstr>Courier New</vt:lpstr>
      <vt:lpstr>Georgia</vt:lpstr>
      <vt:lpstr>Symbol</vt:lpstr>
      <vt:lpstr>Wingdings</vt:lpstr>
      <vt:lpstr>Wingdings 2</vt:lpstr>
      <vt:lpstr>Civic</vt:lpstr>
      <vt:lpstr> </vt:lpstr>
      <vt:lpstr>Introduction to Proofs</vt:lpstr>
      <vt:lpstr>Introduction to Proofs (Cont.)</vt:lpstr>
      <vt:lpstr>Introduction to Proofs (Cont.)</vt:lpstr>
      <vt:lpstr>Introduction to Proofs (Cont.)</vt:lpstr>
      <vt:lpstr>Methods of proving theorems – Direct proofs</vt:lpstr>
      <vt:lpstr>PowerPoint Presentation</vt:lpstr>
      <vt:lpstr>Methods of proving theorems – Direct proofs</vt:lpstr>
      <vt:lpstr>Methods of proving theorems – Direct proofs</vt:lpstr>
      <vt:lpstr>Methods of proving theorems – Proof by Contraposition</vt:lpstr>
      <vt:lpstr>PowerPoint Presentation</vt:lpstr>
      <vt:lpstr>Methods of proving theorems – Proof by Contraposition</vt:lpstr>
      <vt:lpstr>Methods of proving theorems – Proof by Contraposition (Indirect Proof)</vt:lpstr>
      <vt:lpstr>Methods of proving theorems – Proofs by Contradiction</vt:lpstr>
      <vt:lpstr>Methods of proving theorems – Proofs by Contradiction</vt:lpstr>
      <vt:lpstr>Methods of proving theorems – Proofs by Contradiction</vt:lpstr>
      <vt:lpstr>Methods of proving theorems – Counterexample</vt:lpstr>
      <vt:lpstr>Methods of proving theorems – proof by cases </vt:lpstr>
      <vt:lpstr>Methods of proving theorems – proof by cases </vt:lpstr>
      <vt:lpstr>Mistakes in Proofs</vt:lpstr>
      <vt:lpstr>Mistakes in Proofs</vt:lpstr>
      <vt:lpstr>Mistakes in Proofs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CS104:Discrete Structures</dc:title>
  <dc:creator>Madawi</dc:creator>
  <cp:lastModifiedBy>Chandan Trivedi</cp:lastModifiedBy>
  <cp:revision>165</cp:revision>
  <cp:lastPrinted>2013-09-30T21:54:42Z</cp:lastPrinted>
  <dcterms:created xsi:type="dcterms:W3CDTF">2013-03-05T15:40:15Z</dcterms:created>
  <dcterms:modified xsi:type="dcterms:W3CDTF">2023-12-06T05:18:14Z</dcterms:modified>
</cp:coreProperties>
</file>