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442" r:id="rId2"/>
    <p:sldId id="405" r:id="rId3"/>
    <p:sldId id="406" r:id="rId4"/>
    <p:sldId id="407" r:id="rId5"/>
    <p:sldId id="409" r:id="rId6"/>
    <p:sldId id="410" r:id="rId7"/>
    <p:sldId id="411" r:id="rId8"/>
    <p:sldId id="412" r:id="rId9"/>
    <p:sldId id="369" r:id="rId10"/>
    <p:sldId id="370" r:id="rId11"/>
    <p:sldId id="420" r:id="rId12"/>
    <p:sldId id="373" r:id="rId13"/>
    <p:sldId id="372" r:id="rId14"/>
    <p:sldId id="374" r:id="rId15"/>
    <p:sldId id="375" r:id="rId16"/>
    <p:sldId id="392" r:id="rId17"/>
    <p:sldId id="413" r:id="rId18"/>
    <p:sldId id="377" r:id="rId19"/>
    <p:sldId id="378" r:id="rId20"/>
    <p:sldId id="379" r:id="rId21"/>
    <p:sldId id="381" r:id="rId22"/>
    <p:sldId id="383" r:id="rId23"/>
    <p:sldId id="444" r:id="rId24"/>
    <p:sldId id="445" r:id="rId25"/>
    <p:sldId id="436" r:id="rId26"/>
    <p:sldId id="437" r:id="rId27"/>
    <p:sldId id="438" r:id="rId28"/>
    <p:sldId id="439" r:id="rId29"/>
    <p:sldId id="440" r:id="rId30"/>
    <p:sldId id="441" r:id="rId31"/>
    <p:sldId id="384" r:id="rId32"/>
    <p:sldId id="380" r:id="rId33"/>
    <p:sldId id="385" r:id="rId34"/>
    <p:sldId id="386" r:id="rId35"/>
    <p:sldId id="387" r:id="rId36"/>
    <p:sldId id="388" r:id="rId37"/>
    <p:sldId id="416" r:id="rId38"/>
    <p:sldId id="417" r:id="rId39"/>
    <p:sldId id="418" r:id="rId40"/>
    <p:sldId id="419" r:id="rId41"/>
    <p:sldId id="446" r:id="rId42"/>
    <p:sldId id="421" r:id="rId43"/>
    <p:sldId id="422" r:id="rId44"/>
    <p:sldId id="423" r:id="rId45"/>
    <p:sldId id="424" r:id="rId46"/>
    <p:sldId id="425" r:id="rId47"/>
    <p:sldId id="426" r:id="rId48"/>
    <p:sldId id="427" r:id="rId49"/>
    <p:sldId id="428" r:id="rId50"/>
    <p:sldId id="429" r:id="rId51"/>
    <p:sldId id="430" r:id="rId52"/>
    <p:sldId id="431" r:id="rId53"/>
    <p:sldId id="432" r:id="rId54"/>
    <p:sldId id="433" r:id="rId55"/>
    <p:sldId id="434" r:id="rId56"/>
    <p:sldId id="435" r:id="rId57"/>
  </p:sldIdLst>
  <p:sldSz cx="12192000" cy="6858000"/>
  <p:notesSz cx="6858000" cy="9144000"/>
  <p:embeddedFontLst>
    <p:embeddedFont>
      <p:font typeface="Calibri" panose="020F0502020204030204" pitchFamily="34" charset="0"/>
      <p:regular r:id="rId60"/>
      <p:bold r:id="rId61"/>
      <p:italic r:id="rId62"/>
      <p:boldItalic r:id="rId63"/>
    </p:embeddedFont>
    <p:embeddedFont>
      <p:font typeface="Cambria Math" panose="02040503050406030204" pitchFamily="18" charset="0"/>
      <p:regular r:id="rId64"/>
    </p:embeddedFont>
    <p:embeddedFont>
      <p:font typeface="Consolas" panose="020B0609020204030204" pitchFamily="49" charset="0"/>
      <p:regular r:id="rId65"/>
      <p:bold r:id="rId66"/>
      <p:italic r:id="rId67"/>
      <p:boldItalic r:id="rId68"/>
    </p:embeddedFont>
    <p:embeddedFont>
      <p:font typeface="MS Gothic" panose="020B0609070205080204" pitchFamily="49" charset="-128"/>
      <p:regular r:id="rId69"/>
    </p:embeddedFont>
    <p:embeddedFont>
      <p:font typeface="Roboto Condensed" pitchFamily="2" charset="0"/>
      <p:regular r:id="rId70"/>
      <p:bold r:id="rId71"/>
      <p:italic r:id="rId72"/>
      <p:boldItalic r:id="rId73"/>
    </p:embeddedFont>
    <p:embeddedFont>
      <p:font typeface="Wingdings 3" panose="05040102010807070707" pitchFamily="18" charset="2"/>
      <p:regular r:id="rId7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B84742"/>
    <a:srgbClr val="9A0000"/>
    <a:srgbClr val="0000FF"/>
    <a:srgbClr val="16745B"/>
    <a:srgbClr val="007D8E"/>
    <a:srgbClr val="0F5140"/>
    <a:srgbClr val="007635"/>
    <a:srgbClr val="2FA0AE"/>
    <a:srgbClr val="558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03" autoAdjust="0"/>
    <p:restoredTop sz="94660"/>
  </p:normalViewPr>
  <p:slideViewPr>
    <p:cSldViewPr snapToGrid="0">
      <p:cViewPr varScale="1">
        <p:scale>
          <a:sx n="66" d="100"/>
          <a:sy n="66" d="100"/>
        </p:scale>
        <p:origin x="81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78"/>
    </p:cViewPr>
  </p:sorterViewPr>
  <p:notesViewPr>
    <p:cSldViewPr snapToGrid="0">
      <p:cViewPr varScale="1">
        <p:scale>
          <a:sx n="54" d="100"/>
          <a:sy n="54" d="100"/>
        </p:scale>
        <p:origin x="194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4.fntdata"/><Relationship Id="rId68" Type="http://schemas.openxmlformats.org/officeDocument/2006/relationships/font" Target="fonts/font9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7.fntdata"/><Relationship Id="rId74" Type="http://schemas.openxmlformats.org/officeDocument/2006/relationships/font" Target="fonts/font15.fntdata"/><Relationship Id="rId5" Type="http://schemas.openxmlformats.org/officeDocument/2006/relationships/slide" Target="slides/slide4.xml"/><Relationship Id="rId61" Type="http://schemas.openxmlformats.org/officeDocument/2006/relationships/font" Target="fonts/font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5.fntdata"/><Relationship Id="rId69" Type="http://schemas.openxmlformats.org/officeDocument/2006/relationships/font" Target="fonts/font10.fntdata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67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3.fntdata"/><Relationship Id="rId70" Type="http://schemas.openxmlformats.org/officeDocument/2006/relationships/font" Target="fonts/font11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73" Type="http://schemas.openxmlformats.org/officeDocument/2006/relationships/font" Target="fonts/font14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font" Target="fonts/font12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6194" y="1609868"/>
            <a:ext cx="2694401" cy="328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2834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7" y="862318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lnSpc>
                <a:spcPct val="114000"/>
              </a:lnSpc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lnSpc>
                <a:spcPct val="114000"/>
              </a:lnSpc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lnSpc>
                <a:spcPct val="114000"/>
              </a:lnSpc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lnSpc>
                <a:spcPct val="114000"/>
              </a:lnSpc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lnSpc>
                <a:spcPct val="114000"/>
              </a:lnSpc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61193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628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82695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717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9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0.png"/><Relationship Id="rId2" Type="http://schemas.openxmlformats.org/officeDocument/2006/relationships/image" Target="../media/image108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1.png"/><Relationship Id="rId2" Type="http://schemas.openxmlformats.org/officeDocument/2006/relationships/image" Target="../media/image142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0.png"/><Relationship Id="rId2" Type="http://schemas.openxmlformats.org/officeDocument/2006/relationships/image" Target="../media/image143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60.png"/><Relationship Id="rId4" Type="http://schemas.openxmlformats.org/officeDocument/2006/relationships/image" Target="../media/image145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0.png"/><Relationship Id="rId3" Type="http://schemas.openxmlformats.org/officeDocument/2006/relationships/image" Target="../media/image1480.png"/><Relationship Id="rId7" Type="http://schemas.openxmlformats.org/officeDocument/2006/relationships/image" Target="../media/image1520.png"/><Relationship Id="rId2" Type="http://schemas.openxmlformats.org/officeDocument/2006/relationships/image" Target="../media/image14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10.png"/><Relationship Id="rId5" Type="http://schemas.openxmlformats.org/officeDocument/2006/relationships/image" Target="../media/image1500.png"/><Relationship Id="rId10" Type="http://schemas.openxmlformats.org/officeDocument/2006/relationships/image" Target="../media/image1550.png"/><Relationship Id="rId4" Type="http://schemas.openxmlformats.org/officeDocument/2006/relationships/image" Target="../media/image1490.png"/><Relationship Id="rId9" Type="http://schemas.openxmlformats.org/officeDocument/2006/relationships/image" Target="../media/image154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0.png"/><Relationship Id="rId3" Type="http://schemas.openxmlformats.org/officeDocument/2006/relationships/image" Target="../media/image1570.png"/><Relationship Id="rId7" Type="http://schemas.openxmlformats.org/officeDocument/2006/relationships/image" Target="../media/image1610.png"/><Relationship Id="rId2" Type="http://schemas.openxmlformats.org/officeDocument/2006/relationships/image" Target="../media/image15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00.png"/><Relationship Id="rId5" Type="http://schemas.openxmlformats.org/officeDocument/2006/relationships/image" Target="../media/image1590.png"/><Relationship Id="rId10" Type="http://schemas.openxmlformats.org/officeDocument/2006/relationships/image" Target="../media/image1640.png"/><Relationship Id="rId4" Type="http://schemas.openxmlformats.org/officeDocument/2006/relationships/image" Target="../media/image1580.png"/><Relationship Id="rId9" Type="http://schemas.openxmlformats.org/officeDocument/2006/relationships/image" Target="../media/image163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0.png"/><Relationship Id="rId3" Type="http://schemas.openxmlformats.org/officeDocument/2006/relationships/image" Target="../media/image1660.png"/><Relationship Id="rId7" Type="http://schemas.openxmlformats.org/officeDocument/2006/relationships/image" Target="../media/image1700.png"/><Relationship Id="rId2" Type="http://schemas.openxmlformats.org/officeDocument/2006/relationships/image" Target="../media/image1650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1710.png"/><Relationship Id="rId10" Type="http://schemas.openxmlformats.org/officeDocument/2006/relationships/image" Target="../media/image1690.png"/><Relationship Id="rId4" Type="http://schemas.openxmlformats.org/officeDocument/2006/relationships/image" Target="../media/image1670.png"/><Relationship Id="rId9" Type="http://schemas.openxmlformats.org/officeDocument/2006/relationships/image" Target="../media/image17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2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6.png"/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12" Type="http://schemas.openxmlformats.org/officeDocument/2006/relationships/image" Target="../media/image185.png"/><Relationship Id="rId2" Type="http://schemas.openxmlformats.org/officeDocument/2006/relationships/image" Target="../media/image17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5" Type="http://schemas.openxmlformats.org/officeDocument/2006/relationships/image" Target="../media/image178.png"/><Relationship Id="rId10" Type="http://schemas.openxmlformats.org/officeDocument/2006/relationships/image" Target="../media/image183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Relationship Id="rId14" Type="http://schemas.openxmlformats.org/officeDocument/2006/relationships/image" Target="../media/image187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3674" y="2758659"/>
            <a:ext cx="7280145" cy="2563094"/>
          </a:xfrm>
        </p:spPr>
        <p:txBody>
          <a:bodyPr/>
          <a:lstStyle/>
          <a:p>
            <a:r>
              <a:rPr lang="en-US" sz="6000" dirty="0"/>
              <a:t>Searching &amp; </a:t>
            </a:r>
            <a:br>
              <a:rPr lang="en-US" sz="6000" dirty="0"/>
            </a:br>
            <a:r>
              <a:rPr lang="en-US" sz="6000" dirty="0"/>
              <a:t>Sorting</a:t>
            </a:r>
            <a:endParaRPr lang="en-US" sz="60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29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Sorting &amp; Searching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Searching</a:t>
            </a:r>
          </a:p>
          <a:p>
            <a:pPr lvl="1"/>
            <a:r>
              <a:rPr lang="en-US" dirty="0"/>
              <a:t>Linear/Sequential Search</a:t>
            </a:r>
          </a:p>
          <a:p>
            <a:pPr lvl="1"/>
            <a:r>
              <a:rPr lang="en-US" dirty="0"/>
              <a:t>Binary Search</a:t>
            </a:r>
          </a:p>
          <a:p>
            <a:r>
              <a:rPr lang="en-IN" dirty="0"/>
              <a:t>Sorting</a:t>
            </a:r>
          </a:p>
          <a:p>
            <a:pPr lvl="1"/>
            <a:r>
              <a:rPr lang="fr-FR" dirty="0" err="1"/>
              <a:t>Bubble</a:t>
            </a:r>
            <a:r>
              <a:rPr lang="fr-FR" dirty="0"/>
              <a:t> sort</a:t>
            </a:r>
          </a:p>
          <a:p>
            <a:pPr lvl="1"/>
            <a:r>
              <a:rPr lang="fr-FR" dirty="0" err="1"/>
              <a:t>Selection</a:t>
            </a:r>
            <a:r>
              <a:rPr lang="fr-FR" dirty="0"/>
              <a:t> Sort</a:t>
            </a:r>
          </a:p>
          <a:p>
            <a:pPr lvl="1"/>
            <a:r>
              <a:rPr lang="fr-FR" dirty="0"/>
              <a:t>Insertion Sort</a:t>
            </a:r>
          </a:p>
          <a:p>
            <a:pPr lvl="1"/>
            <a:r>
              <a:rPr lang="fr-FR" dirty="0" err="1"/>
              <a:t>Heapsort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247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Linear/Sequential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computer science, </a:t>
            </a:r>
            <a:r>
              <a:rPr lang="en-IN" b="1" dirty="0">
                <a:solidFill>
                  <a:srgbClr val="C00000"/>
                </a:solidFill>
              </a:rPr>
              <a:t>linear search </a:t>
            </a:r>
            <a:r>
              <a:rPr lang="en-IN" dirty="0"/>
              <a:t>or </a:t>
            </a:r>
            <a:r>
              <a:rPr lang="en-IN" b="1" dirty="0">
                <a:solidFill>
                  <a:srgbClr val="C00000"/>
                </a:solidFill>
              </a:rPr>
              <a:t>sequential search </a:t>
            </a:r>
            <a:r>
              <a:rPr lang="en-IN" dirty="0"/>
              <a:t>is a method for finding a particular value in a list that consists of </a:t>
            </a:r>
            <a:r>
              <a:rPr lang="en-IN" b="1" dirty="0">
                <a:solidFill>
                  <a:srgbClr val="C00000"/>
                </a:solidFill>
              </a:rPr>
              <a:t>checking every </a:t>
            </a:r>
            <a:r>
              <a:rPr lang="en-IN" dirty="0"/>
              <a:t>one of its </a:t>
            </a:r>
            <a:r>
              <a:rPr lang="en-IN" b="1" dirty="0">
                <a:solidFill>
                  <a:srgbClr val="C00000"/>
                </a:solidFill>
              </a:rPr>
              <a:t>elements</a:t>
            </a:r>
            <a:r>
              <a:rPr lang="en-IN" dirty="0"/>
              <a:t>, </a:t>
            </a:r>
            <a:r>
              <a:rPr lang="en-IN" b="1" dirty="0">
                <a:solidFill>
                  <a:srgbClr val="C00000"/>
                </a:solidFill>
              </a:rPr>
              <a:t>one at a time </a:t>
            </a:r>
            <a:r>
              <a:rPr lang="en-IN" dirty="0"/>
              <a:t>and in sequence, </a:t>
            </a:r>
            <a:r>
              <a:rPr lang="en-IN" b="1" dirty="0">
                <a:solidFill>
                  <a:srgbClr val="C00000"/>
                </a:solidFill>
              </a:rPr>
              <a:t>until the desired one is found</a:t>
            </a:r>
            <a:r>
              <a:rPr lang="en-IN" dirty="0"/>
              <a:t>. </a:t>
            </a:r>
          </a:p>
          <a:p>
            <a:r>
              <a:rPr lang="en-IN" dirty="0"/>
              <a:t>Linear search is the simplest search algorithm.</a:t>
            </a:r>
          </a:p>
          <a:p>
            <a:r>
              <a:rPr lang="en-IN" dirty="0"/>
              <a:t>It is a special case of brute-force search. </a:t>
            </a:r>
          </a:p>
          <a:p>
            <a:r>
              <a:rPr lang="en-IN" dirty="0"/>
              <a:t>Its </a:t>
            </a:r>
            <a:r>
              <a:rPr lang="en-IN" b="1" dirty="0">
                <a:solidFill>
                  <a:srgbClr val="C00000"/>
                </a:solidFill>
              </a:rPr>
              <a:t>worst case cost </a:t>
            </a:r>
            <a:r>
              <a:rPr lang="en-IN" dirty="0"/>
              <a:t>is proportional to the </a:t>
            </a:r>
            <a:r>
              <a:rPr lang="en-IN" b="1" dirty="0">
                <a:solidFill>
                  <a:srgbClr val="C00000"/>
                </a:solidFill>
              </a:rPr>
              <a:t>number of elements in the list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80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Search – Algorithm &amp;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36" y="914400"/>
            <a:ext cx="4390251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Input: Array A, integer key</a:t>
            </a:r>
          </a:p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Output: first index of key in A </a:t>
            </a:r>
          </a:p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or -1 if not found </a:t>
            </a:r>
            <a:r>
              <a:rPr lang="en-IN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	</a:t>
            </a:r>
          </a:p>
          <a:p>
            <a:endParaRPr lang="en-IN" b="1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IN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Linear_Search</a:t>
            </a:r>
            <a:endParaRPr lang="en-IN" b="1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for i = 0 to last index of A: 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	 if A[i] equals key: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		 return i</a:t>
            </a:r>
          </a:p>
          <a:p>
            <a:endParaRPr lang="en-IN" dirty="0">
              <a:latin typeface="Consolas" pitchFamily="49" charset="0"/>
              <a:cs typeface="Consolas" pitchFamily="49" charset="0"/>
            </a:endParaRP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return 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65064" y="914400"/>
            <a:ext cx="35700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/>
              <a:t>Search for </a:t>
            </a:r>
            <a:r>
              <a:rPr lang="en-IN" sz="2400" b="1" dirty="0">
                <a:solidFill>
                  <a:srgbClr val="C00000"/>
                </a:solidFill>
              </a:rPr>
              <a:t>1 </a:t>
            </a:r>
            <a:r>
              <a:rPr lang="en-IN" sz="2400" b="1" dirty="0"/>
              <a:t>in given array</a:t>
            </a:r>
            <a:endParaRPr lang="en-US" sz="2400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936329"/>
              </p:ext>
            </p:extLst>
          </p:nvPr>
        </p:nvGraphicFramePr>
        <p:xfrm>
          <a:off x="8749380" y="959811"/>
          <a:ext cx="31736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4455464" y="1523999"/>
            <a:ext cx="770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455464" y="1676400"/>
            <a:ext cx="75662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Comparing value of </a:t>
            </a:r>
            <a:r>
              <a:rPr lang="en-IN" b="1" dirty="0" err="1"/>
              <a:t>i</a:t>
            </a:r>
            <a:r>
              <a:rPr lang="en-IN" b="1" baseline="30000" dirty="0" err="1"/>
              <a:t>th</a:t>
            </a:r>
            <a:r>
              <a:rPr lang="en-IN" b="1" dirty="0"/>
              <a:t> index with element to be search one by one until we get searched element or end of the array</a:t>
            </a:r>
            <a:endParaRPr lang="en-US" b="1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455464" y="2362199"/>
            <a:ext cx="770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55464" y="2362199"/>
            <a:ext cx="118532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1: i=0</a:t>
            </a:r>
            <a:endParaRPr lang="en-US" b="1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113153"/>
              </p:ext>
            </p:extLst>
          </p:nvPr>
        </p:nvGraphicFramePr>
        <p:xfrm>
          <a:off x="5167980" y="2895599"/>
          <a:ext cx="31736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5396579" y="3352800"/>
            <a:ext cx="260008" cy="614065"/>
            <a:chOff x="457200" y="3505200"/>
            <a:chExt cx="260008" cy="614065"/>
          </a:xfrm>
        </p:grpSpPr>
        <p:sp>
          <p:nvSpPr>
            <p:cNvPr id="13" name="TextBox 12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4455464" y="4271664"/>
            <a:ext cx="4038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72402" y="4287004"/>
            <a:ext cx="118532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1: i=1</a:t>
            </a:r>
            <a:endParaRPr lang="en-US" b="1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051268"/>
              </p:ext>
            </p:extLst>
          </p:nvPr>
        </p:nvGraphicFramePr>
        <p:xfrm>
          <a:off x="5127765" y="4796134"/>
          <a:ext cx="31736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5356364" y="5253335"/>
            <a:ext cx="260008" cy="614065"/>
            <a:chOff x="457200" y="3505200"/>
            <a:chExt cx="260008" cy="614065"/>
          </a:xfrm>
        </p:grpSpPr>
        <p:sp>
          <p:nvSpPr>
            <p:cNvPr id="19" name="TextBox 18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/>
          <p:cNvCxnSpPr/>
          <p:nvPr/>
        </p:nvCxnSpPr>
        <p:spPr>
          <a:xfrm>
            <a:off x="8494064" y="2362199"/>
            <a:ext cx="0" cy="3886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05639" y="2373774"/>
            <a:ext cx="118532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1: i=2</a:t>
            </a:r>
            <a:endParaRPr lang="en-US" b="1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253651"/>
              </p:ext>
            </p:extLst>
          </p:nvPr>
        </p:nvGraphicFramePr>
        <p:xfrm>
          <a:off x="8825580" y="2895599"/>
          <a:ext cx="31736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4" name="Group 23"/>
          <p:cNvGrpSpPr/>
          <p:nvPr/>
        </p:nvGrpSpPr>
        <p:grpSpPr>
          <a:xfrm>
            <a:off x="9644663" y="3352800"/>
            <a:ext cx="260008" cy="614065"/>
            <a:chOff x="457200" y="3505200"/>
            <a:chExt cx="260008" cy="614065"/>
          </a:xfrm>
        </p:grpSpPr>
        <p:sp>
          <p:nvSpPr>
            <p:cNvPr id="25" name="TextBox 24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27" name="Straight Connector 26"/>
          <p:cNvCxnSpPr/>
          <p:nvPr/>
        </p:nvCxnSpPr>
        <p:spPr>
          <a:xfrm>
            <a:off x="8494064" y="4264554"/>
            <a:ext cx="3665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94064" y="4267199"/>
            <a:ext cx="118532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1: i=3</a:t>
            </a:r>
            <a:endParaRPr lang="en-US" b="1" dirty="0"/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505076"/>
              </p:ext>
            </p:extLst>
          </p:nvPr>
        </p:nvGraphicFramePr>
        <p:xfrm>
          <a:off x="8814005" y="4789024"/>
          <a:ext cx="31736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10269814" y="5263587"/>
            <a:ext cx="260008" cy="614065"/>
            <a:chOff x="457200" y="3505200"/>
            <a:chExt cx="260008" cy="614065"/>
          </a:xfrm>
        </p:grpSpPr>
        <p:sp>
          <p:nvSpPr>
            <p:cNvPr id="31" name="TextBox 30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3" name="Rectangle 32"/>
          <p:cNvSpPr/>
          <p:nvPr/>
        </p:nvSpPr>
        <p:spPr>
          <a:xfrm>
            <a:off x="10867839" y="4789025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</a:rPr>
              <a:t>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951265" y="5879067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Element found at </a:t>
            </a:r>
            <a:r>
              <a:rPr lang="en-IN" b="1" dirty="0" err="1"/>
              <a:t>i</a:t>
            </a:r>
            <a:r>
              <a:rPr lang="en-IN" b="1" baseline="30000" dirty="0" err="1"/>
              <a:t>th</a:t>
            </a:r>
            <a:r>
              <a:rPr lang="en-IN" b="1" dirty="0"/>
              <a:t> index, i=3</a:t>
            </a:r>
            <a:endParaRPr lang="en-US" b="1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4445394" y="711201"/>
            <a:ext cx="0" cy="58443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57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85185E-6 L 0.05195 1.85185E-6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4.81481E-6 L 0.0513 -4.81481E-6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1.48148E-6 L 0.05508 1.48148E-6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8" grpId="0"/>
      <p:bldP spid="10" grpId="0" animBg="1"/>
      <p:bldP spid="16" grpId="0" animBg="1"/>
      <p:bldP spid="22" grpId="0" animBg="1"/>
      <p:bldP spid="28" grpId="0" animBg="1"/>
      <p:bldP spid="33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we have an </a:t>
            </a:r>
            <a:r>
              <a:rPr lang="en-IN" b="1" dirty="0">
                <a:solidFill>
                  <a:srgbClr val="C00000"/>
                </a:solidFill>
              </a:rPr>
              <a:t>array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that is </a:t>
            </a:r>
            <a:r>
              <a:rPr lang="en-IN" b="1" dirty="0">
                <a:solidFill>
                  <a:srgbClr val="C00000"/>
                </a:solidFill>
              </a:rPr>
              <a:t>sorted</a:t>
            </a:r>
            <a:r>
              <a:rPr lang="en-IN" dirty="0"/>
              <a:t>, we can use a much more </a:t>
            </a:r>
            <a:r>
              <a:rPr lang="en-IN" b="1" dirty="0">
                <a:solidFill>
                  <a:srgbClr val="C00000"/>
                </a:solidFill>
              </a:rPr>
              <a:t>efficient algorithm </a:t>
            </a:r>
            <a:r>
              <a:rPr lang="en-IN" dirty="0"/>
              <a:t>called a </a:t>
            </a:r>
            <a:r>
              <a:rPr lang="en-IN" b="1" dirty="0">
                <a:solidFill>
                  <a:srgbClr val="C00000"/>
                </a:solidFill>
              </a:rPr>
              <a:t>Binary Search</a:t>
            </a:r>
            <a:r>
              <a:rPr lang="en-IN" dirty="0"/>
              <a:t>.</a:t>
            </a:r>
          </a:p>
          <a:p>
            <a:r>
              <a:rPr lang="en-IN" dirty="0"/>
              <a:t>In binary search </a:t>
            </a:r>
            <a:r>
              <a:rPr lang="en-IN" b="1" dirty="0">
                <a:solidFill>
                  <a:srgbClr val="C00000"/>
                </a:solidFill>
              </a:rPr>
              <a:t>each time </a:t>
            </a:r>
            <a:r>
              <a:rPr lang="en-IN" dirty="0"/>
              <a:t>we </a:t>
            </a:r>
            <a:r>
              <a:rPr lang="en-IN" b="1" dirty="0">
                <a:solidFill>
                  <a:srgbClr val="C00000"/>
                </a:solidFill>
              </a:rPr>
              <a:t>divide array </a:t>
            </a:r>
            <a:r>
              <a:rPr lang="en-IN" dirty="0"/>
              <a:t>into </a:t>
            </a:r>
            <a:r>
              <a:rPr lang="en-IN" b="1" dirty="0">
                <a:solidFill>
                  <a:srgbClr val="C00000"/>
                </a:solidFill>
              </a:rPr>
              <a:t>two equal half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compare middle element </a:t>
            </a:r>
            <a:r>
              <a:rPr lang="en-IN" dirty="0"/>
              <a:t>with </a:t>
            </a:r>
            <a:r>
              <a:rPr lang="en-IN" b="1" dirty="0">
                <a:solidFill>
                  <a:srgbClr val="C00000"/>
                </a:solidFill>
              </a:rPr>
              <a:t>search element</a:t>
            </a:r>
            <a:r>
              <a:rPr lang="en-IN" dirty="0"/>
              <a:t>.</a:t>
            </a:r>
          </a:p>
          <a:p>
            <a:r>
              <a:rPr lang="en-IN" dirty="0"/>
              <a:t>Searching Logic</a:t>
            </a:r>
          </a:p>
          <a:p>
            <a:pPr lvl="1"/>
            <a:r>
              <a:rPr lang="en-IN" dirty="0"/>
              <a:t>If </a:t>
            </a:r>
            <a:r>
              <a:rPr lang="en-IN" b="1" dirty="0">
                <a:solidFill>
                  <a:srgbClr val="C00000"/>
                </a:solidFill>
              </a:rPr>
              <a:t>middle element </a:t>
            </a:r>
            <a:r>
              <a:rPr lang="en-IN" dirty="0"/>
              <a:t>is </a:t>
            </a:r>
            <a:r>
              <a:rPr lang="en-IN" b="1" dirty="0">
                <a:solidFill>
                  <a:srgbClr val="C00000"/>
                </a:solidFill>
              </a:rPr>
              <a:t>equal to search element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then we got that element and </a:t>
            </a:r>
            <a:r>
              <a:rPr lang="en-IN" b="1" dirty="0">
                <a:solidFill>
                  <a:srgbClr val="C00000"/>
                </a:solidFill>
              </a:rPr>
              <a:t>return that index</a:t>
            </a:r>
          </a:p>
          <a:p>
            <a:pPr lvl="1"/>
            <a:r>
              <a:rPr lang="en-IN" dirty="0"/>
              <a:t>if </a:t>
            </a:r>
            <a:r>
              <a:rPr lang="en-IN" b="1" dirty="0">
                <a:solidFill>
                  <a:srgbClr val="C00000"/>
                </a:solidFill>
              </a:rPr>
              <a:t>middle element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</a:t>
            </a:r>
            <a:r>
              <a:rPr lang="en-IN" b="1" dirty="0">
                <a:solidFill>
                  <a:srgbClr val="C00000"/>
                </a:solidFill>
              </a:rPr>
              <a:t>less than search element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we </a:t>
            </a:r>
            <a:r>
              <a:rPr lang="en-IN" b="1" dirty="0">
                <a:solidFill>
                  <a:srgbClr val="C00000"/>
                </a:solidFill>
              </a:rPr>
              <a:t>look right part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of array</a:t>
            </a:r>
          </a:p>
          <a:p>
            <a:pPr lvl="1"/>
            <a:r>
              <a:rPr lang="en-IN" dirty="0"/>
              <a:t>if </a:t>
            </a:r>
            <a:r>
              <a:rPr lang="en-IN" b="1" dirty="0">
                <a:solidFill>
                  <a:srgbClr val="C00000"/>
                </a:solidFill>
              </a:rPr>
              <a:t>middle element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</a:t>
            </a:r>
            <a:r>
              <a:rPr lang="en-IN" b="1" dirty="0">
                <a:solidFill>
                  <a:srgbClr val="C00000"/>
                </a:solidFill>
              </a:rPr>
              <a:t>greater than search element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we look </a:t>
            </a:r>
            <a:r>
              <a:rPr lang="en-IN" b="1" dirty="0">
                <a:solidFill>
                  <a:srgbClr val="C00000"/>
                </a:solidFill>
              </a:rPr>
              <a:t>left part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of array.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191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-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06826"/>
            <a:ext cx="9189720" cy="52629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Input: Sorted Array A, integer key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Output: Index of key in A, 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or -1 if not found </a:t>
            </a:r>
          </a:p>
          <a:p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sz="2400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Binary_Search</a:t>
            </a: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(A, left, right)</a:t>
            </a:r>
          </a:p>
          <a:p>
            <a:r>
              <a:rPr lang="en-IN" sz="2400" b="1" dirty="0">
                <a:latin typeface="Consolas" pitchFamily="49" charset="0"/>
                <a:cs typeface="Consolas" pitchFamily="49" charset="0"/>
              </a:rPr>
              <a:t>left = 0, right = n-1</a:t>
            </a:r>
          </a:p>
          <a:p>
            <a:r>
              <a:rPr lang="en-IN" sz="2400" b="1" dirty="0">
                <a:latin typeface="Consolas" pitchFamily="49" charset="0"/>
                <a:cs typeface="Consolas" pitchFamily="49" charset="0"/>
              </a:rPr>
              <a:t>while left &lt; right 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middle =(</a:t>
            </a:r>
            <a:r>
              <a:rPr lang="en-IN" sz="2400" dirty="0" err="1">
                <a:latin typeface="Consolas" pitchFamily="49" charset="0"/>
                <a:cs typeface="Consolas" pitchFamily="49" charset="0"/>
              </a:rPr>
              <a:t>left+right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)/2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if A[middle] matches key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return middle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else if key less than A[middle]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right = middle -1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else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left = middle + 1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return -1</a:t>
            </a:r>
          </a:p>
        </p:txBody>
      </p:sp>
    </p:spTree>
    <p:extLst>
      <p:ext uri="{BB962C8B-B14F-4D97-AF65-F5344CB8AC3E}">
        <p14:creationId xmlns:p14="http://schemas.microsoft.com/office/powerpoint/2010/main" val="303215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-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1752600" y="811365"/>
            <a:ext cx="8763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Search for </a:t>
            </a:r>
            <a:r>
              <a:rPr lang="en-IN" sz="2400" b="1" dirty="0">
                <a:solidFill>
                  <a:srgbClr val="C00000"/>
                </a:solidFill>
              </a:rPr>
              <a:t>6 </a:t>
            </a:r>
            <a:r>
              <a:rPr lang="en-IN" sz="2400" b="1" dirty="0"/>
              <a:t>in given array</a:t>
            </a:r>
            <a:endParaRPr lang="en-US" sz="24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22890"/>
              </p:ext>
            </p:extLst>
          </p:nvPr>
        </p:nvGraphicFramePr>
        <p:xfrm>
          <a:off x="2666999" y="1407460"/>
          <a:ext cx="7848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-1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114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1752600" y="3160060"/>
            <a:ext cx="8763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52800" y="3155596"/>
            <a:ext cx="6002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Key=6, No of Elements = 10, so left = 0, right=9</a:t>
            </a:r>
            <a:endParaRPr lang="en-US" sz="24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3617260"/>
            <a:ext cx="8763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663604"/>
              </p:ext>
            </p:extLst>
          </p:nvPr>
        </p:nvGraphicFramePr>
        <p:xfrm>
          <a:off x="2667000" y="1910960"/>
          <a:ext cx="7848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752600" y="1917710"/>
            <a:ext cx="71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Index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46551" y="3684530"/>
            <a:ext cx="76747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middle index =</a:t>
            </a:r>
            <a:r>
              <a:rPr lang="en-IN" dirty="0"/>
              <a:t> (left + right) /2 = (0+9)/2 </a:t>
            </a:r>
            <a:r>
              <a:rPr lang="en-IN" b="1" dirty="0">
                <a:solidFill>
                  <a:srgbClr val="C00000"/>
                </a:solidFill>
              </a:rPr>
              <a:t>= 4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middle element value </a:t>
            </a:r>
            <a:r>
              <a:rPr lang="en-IN" dirty="0"/>
              <a:t>= a[4] = </a:t>
            </a:r>
            <a:r>
              <a:rPr lang="en-IN" b="1" dirty="0">
                <a:solidFill>
                  <a:srgbClr val="C00000"/>
                </a:solidFill>
              </a:rPr>
              <a:t>19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Key=6</a:t>
            </a:r>
            <a:r>
              <a:rPr lang="en-IN" dirty="0"/>
              <a:t> is </a:t>
            </a:r>
            <a:r>
              <a:rPr lang="en-IN" b="1" dirty="0">
                <a:solidFill>
                  <a:srgbClr val="C00000"/>
                </a:solidFill>
              </a:rPr>
              <a:t>less than </a:t>
            </a:r>
            <a:r>
              <a:rPr lang="en-IN" dirty="0"/>
              <a:t>middle element = </a:t>
            </a:r>
            <a:r>
              <a:rPr lang="en-IN" b="1" dirty="0">
                <a:solidFill>
                  <a:srgbClr val="C00000"/>
                </a:solidFill>
              </a:rPr>
              <a:t>19</a:t>
            </a:r>
            <a:r>
              <a:rPr lang="en-IN" dirty="0"/>
              <a:t>, so </a:t>
            </a:r>
            <a:r>
              <a:rPr lang="en-IN" b="1" dirty="0"/>
              <a:t>right</a:t>
            </a:r>
            <a:r>
              <a:rPr lang="en-IN" dirty="0"/>
              <a:t> = middle – 1 = 4 – 1 = </a:t>
            </a:r>
            <a:r>
              <a:rPr lang="en-IN" b="1" dirty="0">
                <a:solidFill>
                  <a:srgbClr val="C00000"/>
                </a:solidFill>
              </a:rPr>
              <a:t>3, left = 0 </a:t>
            </a:r>
            <a:endParaRPr 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23747"/>
              </p:ext>
            </p:extLst>
          </p:nvPr>
        </p:nvGraphicFramePr>
        <p:xfrm>
          <a:off x="2462665" y="4694640"/>
          <a:ext cx="7848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-1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114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672964"/>
              </p:ext>
            </p:extLst>
          </p:nvPr>
        </p:nvGraphicFramePr>
        <p:xfrm>
          <a:off x="2462666" y="5198140"/>
          <a:ext cx="7848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548266" y="5204890"/>
            <a:ext cx="71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Index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514501" y="5552038"/>
            <a:ext cx="618439" cy="614065"/>
            <a:chOff x="277985" y="3505200"/>
            <a:chExt cx="618439" cy="614065"/>
          </a:xfrm>
        </p:grpSpPr>
        <p:sp>
          <p:nvSpPr>
            <p:cNvPr id="18" name="TextBox 17"/>
            <p:cNvSpPr txBox="1"/>
            <p:nvPr/>
          </p:nvSpPr>
          <p:spPr>
            <a:xfrm>
              <a:off x="277985" y="3657600"/>
              <a:ext cx="6184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left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4793765" y="5605571"/>
            <a:ext cx="784510" cy="614065"/>
            <a:chOff x="194950" y="3505200"/>
            <a:chExt cx="784510" cy="614065"/>
          </a:xfrm>
        </p:grpSpPr>
        <p:sp>
          <p:nvSpPr>
            <p:cNvPr id="21" name="TextBox 20"/>
            <p:cNvSpPr txBox="1"/>
            <p:nvPr/>
          </p:nvSpPr>
          <p:spPr>
            <a:xfrm>
              <a:off x="194950" y="3657600"/>
              <a:ext cx="78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right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2727426" y="2416263"/>
            <a:ext cx="618439" cy="614065"/>
            <a:chOff x="277985" y="3505200"/>
            <a:chExt cx="618439" cy="614065"/>
          </a:xfrm>
        </p:grpSpPr>
        <p:sp>
          <p:nvSpPr>
            <p:cNvPr id="24" name="TextBox 23"/>
            <p:cNvSpPr txBox="1"/>
            <p:nvPr/>
          </p:nvSpPr>
          <p:spPr>
            <a:xfrm>
              <a:off x="277985" y="3657600"/>
              <a:ext cx="6184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left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9731090" y="2469796"/>
            <a:ext cx="784510" cy="614065"/>
            <a:chOff x="194950" y="3505200"/>
            <a:chExt cx="784510" cy="614065"/>
          </a:xfrm>
        </p:grpSpPr>
        <p:sp>
          <p:nvSpPr>
            <p:cNvPr id="27" name="TextBox 26"/>
            <p:cNvSpPr txBox="1"/>
            <p:nvPr/>
          </p:nvSpPr>
          <p:spPr>
            <a:xfrm>
              <a:off x="194950" y="3657600"/>
              <a:ext cx="78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right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1752601" y="3617260"/>
            <a:ext cx="84388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82032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2" grpId="0"/>
      <p:bldP spid="16" grpId="0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-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0208" y="923400"/>
            <a:ext cx="76674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middle index =</a:t>
            </a:r>
            <a:r>
              <a:rPr lang="en-IN" dirty="0"/>
              <a:t> (left + right) /2 = (0+3)/2 </a:t>
            </a:r>
            <a:r>
              <a:rPr lang="en-IN" b="1" dirty="0">
                <a:solidFill>
                  <a:srgbClr val="C00000"/>
                </a:solidFill>
              </a:rPr>
              <a:t>= 1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middle element value </a:t>
            </a:r>
            <a:r>
              <a:rPr lang="en-IN" dirty="0"/>
              <a:t>= a[1] = </a:t>
            </a:r>
            <a:r>
              <a:rPr lang="en-IN" b="1" dirty="0">
                <a:solidFill>
                  <a:srgbClr val="C00000"/>
                </a:solidFill>
              </a:rPr>
              <a:t>5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Key=6</a:t>
            </a:r>
            <a:r>
              <a:rPr lang="en-IN" dirty="0"/>
              <a:t> is </a:t>
            </a:r>
            <a:r>
              <a:rPr lang="en-IN" b="1" dirty="0">
                <a:solidFill>
                  <a:srgbClr val="C00000"/>
                </a:solidFill>
              </a:rPr>
              <a:t>greater than </a:t>
            </a:r>
            <a:r>
              <a:rPr lang="en-IN" dirty="0"/>
              <a:t>middle element = </a:t>
            </a:r>
            <a:r>
              <a:rPr lang="en-IN" b="1" dirty="0">
                <a:solidFill>
                  <a:srgbClr val="C00000"/>
                </a:solidFill>
              </a:rPr>
              <a:t>5</a:t>
            </a:r>
            <a:r>
              <a:rPr lang="en-IN" dirty="0"/>
              <a:t>, so </a:t>
            </a:r>
            <a:r>
              <a:rPr lang="en-IN" b="1" dirty="0"/>
              <a:t>left </a:t>
            </a:r>
            <a:r>
              <a:rPr lang="en-IN" dirty="0"/>
              <a:t>= middle + 1 =1 + 1 = </a:t>
            </a:r>
            <a:r>
              <a:rPr lang="en-IN" b="1" dirty="0">
                <a:solidFill>
                  <a:srgbClr val="C00000"/>
                </a:solidFill>
              </a:rPr>
              <a:t>2, right = 3 </a:t>
            </a:r>
            <a:endParaRPr 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965278"/>
              </p:ext>
            </p:extLst>
          </p:nvPr>
        </p:nvGraphicFramePr>
        <p:xfrm>
          <a:off x="2462665" y="1933510"/>
          <a:ext cx="7848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-1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114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718805"/>
              </p:ext>
            </p:extLst>
          </p:nvPr>
        </p:nvGraphicFramePr>
        <p:xfrm>
          <a:off x="2462666" y="2437010"/>
          <a:ext cx="7848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548266" y="2443760"/>
            <a:ext cx="71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Index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105962" y="2832866"/>
            <a:ext cx="618439" cy="614065"/>
            <a:chOff x="277985" y="3505200"/>
            <a:chExt cx="618439" cy="614065"/>
          </a:xfrm>
        </p:grpSpPr>
        <p:sp>
          <p:nvSpPr>
            <p:cNvPr id="10" name="TextBox 9"/>
            <p:cNvSpPr txBox="1"/>
            <p:nvPr/>
          </p:nvSpPr>
          <p:spPr>
            <a:xfrm>
              <a:off x="277985" y="3657600"/>
              <a:ext cx="6184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left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4793765" y="2844441"/>
            <a:ext cx="784510" cy="614065"/>
            <a:chOff x="194950" y="3505200"/>
            <a:chExt cx="784510" cy="614065"/>
          </a:xfrm>
        </p:grpSpPr>
        <p:sp>
          <p:nvSpPr>
            <p:cNvPr id="13" name="TextBox 12"/>
            <p:cNvSpPr txBox="1"/>
            <p:nvPr/>
          </p:nvSpPr>
          <p:spPr>
            <a:xfrm>
              <a:off x="194950" y="3657600"/>
              <a:ext cx="78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right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1752601" y="879280"/>
            <a:ext cx="84388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2:</a:t>
            </a:r>
            <a:endParaRPr lang="en-US" b="1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52600" y="3599330"/>
            <a:ext cx="8763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1493" y="3666600"/>
            <a:ext cx="55449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middle index =</a:t>
            </a:r>
            <a:r>
              <a:rPr lang="en-IN" dirty="0"/>
              <a:t> (left + right) /2 = (2+3)/2 </a:t>
            </a:r>
            <a:r>
              <a:rPr lang="en-IN" b="1" dirty="0">
                <a:solidFill>
                  <a:srgbClr val="C00000"/>
                </a:solidFill>
              </a:rPr>
              <a:t>= 2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middle element value </a:t>
            </a:r>
            <a:r>
              <a:rPr lang="en-IN" dirty="0"/>
              <a:t>= a[2] = </a:t>
            </a:r>
            <a:r>
              <a:rPr lang="en-IN" b="1" dirty="0">
                <a:solidFill>
                  <a:srgbClr val="C00000"/>
                </a:solidFill>
              </a:rPr>
              <a:t>6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Key=6</a:t>
            </a:r>
            <a:r>
              <a:rPr lang="en-IN" dirty="0"/>
              <a:t> is </a:t>
            </a:r>
            <a:r>
              <a:rPr lang="en-IN" b="1" dirty="0">
                <a:solidFill>
                  <a:srgbClr val="C00000"/>
                </a:solidFill>
              </a:rPr>
              <a:t>equals to </a:t>
            </a:r>
            <a:r>
              <a:rPr lang="en-IN" dirty="0"/>
              <a:t>middle element = </a:t>
            </a:r>
            <a:r>
              <a:rPr lang="en-IN" b="1" dirty="0">
                <a:solidFill>
                  <a:srgbClr val="C00000"/>
                </a:solidFill>
              </a:rPr>
              <a:t>6</a:t>
            </a:r>
            <a:r>
              <a:rPr lang="en-IN" dirty="0"/>
              <a:t>, so </a:t>
            </a:r>
            <a:r>
              <a:rPr lang="en-IN" b="1" dirty="0"/>
              <a:t>element found</a:t>
            </a:r>
            <a:endParaRPr 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907251"/>
              </p:ext>
            </p:extLst>
          </p:nvPr>
        </p:nvGraphicFramePr>
        <p:xfrm>
          <a:off x="2462665" y="4676710"/>
          <a:ext cx="7848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-1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114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563914"/>
              </p:ext>
            </p:extLst>
          </p:nvPr>
        </p:nvGraphicFramePr>
        <p:xfrm>
          <a:off x="2462666" y="5180210"/>
          <a:ext cx="7848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548266" y="5186960"/>
            <a:ext cx="71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Index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3419581" y="5534108"/>
            <a:ext cx="2008883" cy="614065"/>
            <a:chOff x="-417235" y="3505200"/>
            <a:chExt cx="2008883" cy="614065"/>
          </a:xfrm>
        </p:grpSpPr>
        <p:sp>
          <p:nvSpPr>
            <p:cNvPr id="22" name="TextBox 21"/>
            <p:cNvSpPr txBox="1"/>
            <p:nvPr/>
          </p:nvSpPr>
          <p:spPr>
            <a:xfrm>
              <a:off x="-417235" y="3657600"/>
              <a:ext cx="20088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Element Found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1752601" y="3599330"/>
            <a:ext cx="84388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3: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4256676" y="467770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6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59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 animBg="1"/>
      <p:bldP spid="20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Sorting Algorithms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831850" y="4589463"/>
            <a:ext cx="10515600" cy="1500187"/>
          </a:xfrm>
        </p:spPr>
        <p:txBody>
          <a:bodyPr/>
          <a:lstStyle/>
          <a:p>
            <a:r>
              <a:rPr lang="en-US" dirty="0"/>
              <a:t>Bubble Sort, Selection Sort, Insertion Sort</a:t>
            </a:r>
          </a:p>
        </p:txBody>
      </p:sp>
    </p:spTree>
    <p:extLst>
      <p:ext uri="{BB962C8B-B14F-4D97-AF65-F5344CB8AC3E}">
        <p14:creationId xmlns:p14="http://schemas.microsoft.com/office/powerpoint/2010/main" val="777879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Sorting is any process of arranging items systematically or arranging items in a sequence ordered by some criterion.</a:t>
            </a:r>
          </a:p>
          <a:p>
            <a:r>
              <a:rPr lang="en-US" dirty="0"/>
              <a:t>Applications of Sorting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Phone Bill: the calls made are date wise sorted.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Bank statement or Credit card Bill: transactions made are date wise sorted.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Filling forms online: “select country” drop down box will have the name of countries sorted in Alphabetical order.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Online shopping: the items can be sorted price wise, date wise or relevance wise.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Files or folders on your desktop are sorted date wise.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01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Unlike </a:t>
            </a:r>
            <a:r>
              <a:rPr lang="en-US" b="1" dirty="0">
                <a:solidFill>
                  <a:srgbClr val="C00000"/>
                </a:solidFill>
              </a:rPr>
              <a:t>selection sort</a:t>
            </a:r>
            <a:r>
              <a:rPr lang="en-US" dirty="0"/>
              <a:t>, </a:t>
            </a:r>
            <a:r>
              <a:rPr lang="en-US" b="1" dirty="0"/>
              <a:t>instead of finding the smallest record</a:t>
            </a:r>
            <a:r>
              <a:rPr lang="en-US" dirty="0"/>
              <a:t> and performing the interchange, two records are </a:t>
            </a:r>
            <a:r>
              <a:rPr lang="en-US" b="1" dirty="0">
                <a:solidFill>
                  <a:srgbClr val="C00000"/>
                </a:solidFill>
              </a:rPr>
              <a:t>interchanged immediately</a:t>
            </a:r>
            <a:r>
              <a:rPr lang="en-US" dirty="0"/>
              <a:t> upon discovering that they are out of order</a:t>
            </a:r>
          </a:p>
          <a:p>
            <a:r>
              <a:rPr lang="en-US" dirty="0"/>
              <a:t>During the </a:t>
            </a:r>
            <a:r>
              <a:rPr lang="en-US" b="1" dirty="0">
                <a:solidFill>
                  <a:srgbClr val="C00000"/>
                </a:solidFill>
              </a:rPr>
              <a:t>first pass R</a:t>
            </a:r>
            <a:r>
              <a:rPr lang="en-US" b="1" baseline="-25000" dirty="0">
                <a:solidFill>
                  <a:srgbClr val="C00000"/>
                </a:solidFill>
              </a:rPr>
              <a:t>1</a:t>
            </a:r>
            <a:r>
              <a:rPr lang="en-US" b="1" dirty="0">
                <a:solidFill>
                  <a:srgbClr val="C00000"/>
                </a:solidFill>
              </a:rPr>
              <a:t> and R</a:t>
            </a:r>
            <a:r>
              <a:rPr lang="en-US" b="1" baseline="-25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 are compared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interchanged in case of our of order</a:t>
            </a:r>
            <a:r>
              <a:rPr lang="en-US" dirty="0"/>
              <a:t>, this process is repeated for records </a:t>
            </a:r>
            <a:r>
              <a:rPr lang="en-US" b="1" dirty="0">
                <a:solidFill>
                  <a:srgbClr val="C00000"/>
                </a:solidFill>
              </a:rPr>
              <a:t>R</a:t>
            </a:r>
            <a:r>
              <a:rPr lang="en-US" b="1" baseline="-25000" dirty="0">
                <a:solidFill>
                  <a:srgbClr val="C00000"/>
                </a:solidFill>
              </a:rPr>
              <a:t>2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R</a:t>
            </a:r>
            <a:r>
              <a:rPr lang="en-US" b="1" baseline="-25000" dirty="0">
                <a:solidFill>
                  <a:srgbClr val="C00000"/>
                </a:solidFill>
              </a:rPr>
              <a:t>3</a:t>
            </a:r>
            <a:r>
              <a:rPr lang="en-US" dirty="0"/>
              <a:t>, and so on.</a:t>
            </a:r>
          </a:p>
          <a:p>
            <a:r>
              <a:rPr lang="en-US" dirty="0"/>
              <a:t>This method will cause records with </a:t>
            </a:r>
            <a:r>
              <a:rPr lang="en-US" b="1" dirty="0">
                <a:solidFill>
                  <a:srgbClr val="C00000"/>
                </a:solidFill>
              </a:rPr>
              <a:t>small key to move “bubble up”, </a:t>
            </a:r>
          </a:p>
          <a:p>
            <a:r>
              <a:rPr lang="en-US" b="1" dirty="0"/>
              <a:t>After</a:t>
            </a:r>
            <a:r>
              <a:rPr lang="en-US" dirty="0"/>
              <a:t> the </a:t>
            </a:r>
            <a:r>
              <a:rPr lang="en-US" b="1" dirty="0"/>
              <a:t>first pass</a:t>
            </a:r>
            <a:r>
              <a:rPr lang="en-US" dirty="0"/>
              <a:t>, the record with </a:t>
            </a:r>
            <a:r>
              <a:rPr lang="en-US" b="1" dirty="0">
                <a:solidFill>
                  <a:srgbClr val="C00000"/>
                </a:solidFill>
              </a:rPr>
              <a:t>largest key</a:t>
            </a:r>
            <a:r>
              <a:rPr lang="en-US" dirty="0"/>
              <a:t> will be in the n</a:t>
            </a:r>
            <a:r>
              <a:rPr lang="en-US" b="1" baseline="30000" dirty="0"/>
              <a:t>th</a:t>
            </a:r>
            <a:r>
              <a:rPr lang="en-US" dirty="0"/>
              <a:t> position.</a:t>
            </a:r>
          </a:p>
          <a:p>
            <a:r>
              <a:rPr lang="en-US" dirty="0"/>
              <a:t>On each successive pass, the records with the next largest key will be placed in position n-1, n-2 ….., 2 respectively</a:t>
            </a:r>
          </a:p>
          <a:p>
            <a:r>
              <a:rPr lang="en-US" dirty="0"/>
              <a:t>This approached required at most n–1 passes, The </a:t>
            </a:r>
            <a:r>
              <a:rPr lang="en-US" b="1" dirty="0">
                <a:solidFill>
                  <a:srgbClr val="FF0000"/>
                </a:solidFill>
              </a:rPr>
              <a:t>complexity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of bubble sort is </a:t>
            </a:r>
            <a:r>
              <a:rPr lang="en-US" b="1" dirty="0">
                <a:solidFill>
                  <a:srgbClr val="FF0000"/>
                </a:solidFill>
              </a:rPr>
              <a:t>O(n</a:t>
            </a:r>
            <a:r>
              <a:rPr lang="en-US" b="1" baseline="30000" dirty="0">
                <a:solidFill>
                  <a:srgbClr val="FF0000"/>
                </a:solidFill>
              </a:rPr>
              <a:t>2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071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– Example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29892" y="1600200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56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28444" y="1066800"/>
            <a:ext cx="5717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Sort the following array in Ascending order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896292" y="2286000"/>
            <a:ext cx="838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96292" y="228600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1 :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2124892" y="2819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2124892" y="3200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24892" y="3581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24892" y="3962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4892" y="4343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4175" y="2819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4175" y="3200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44175" y="3581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44175" y="3962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44175" y="4343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63458" y="2819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63458" y="3200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63458" y="3581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63458" y="3962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63458" y="4343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85267" y="2819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5267" y="3200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5267" y="3581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5267" y="3962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5267" y="4343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8" name="Freeform 27"/>
          <p:cNvSpPr/>
          <p:nvPr/>
        </p:nvSpPr>
        <p:spPr>
          <a:xfrm>
            <a:off x="2648056" y="2975212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124892" y="2819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24892" y="3200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20401" y="2924771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32" name="Freeform 31"/>
          <p:cNvSpPr/>
          <p:nvPr/>
        </p:nvSpPr>
        <p:spPr>
          <a:xfrm>
            <a:off x="5296858" y="3731667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461771" y="3669399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63458" y="3581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63458" y="3962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36" name="Freeform 35"/>
          <p:cNvSpPr/>
          <p:nvPr/>
        </p:nvSpPr>
        <p:spPr>
          <a:xfrm>
            <a:off x="6830242" y="4118212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6980000" y="4052133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85267" y="3962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5267" y="43434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4141126" y="5350599"/>
                <a:ext cx="3994857" cy="984885"/>
              </a:xfrm>
              <a:prstGeom prst="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𝑖𝑓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] &gt; 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+1])</m:t>
                      </m:r>
                    </m:oMath>
                  </m:oMathPara>
                </a14:m>
                <a:endParaRPr lang="en-US" sz="2400" dirty="0">
                  <a:solidFill>
                    <a:srgbClr val="A71160"/>
                  </a:solidFill>
                  <a:cs typeface="Consolas" pitchFamily="49" charset="0"/>
                </a:endParaRPr>
              </a:p>
              <a:p>
                <a:pPr lvl="2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𝑠𝑤𝑎𝑝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],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+1])</m:t>
                      </m:r>
                    </m:oMath>
                  </m:oMathPara>
                </a14:m>
                <a:endParaRPr lang="en-US" sz="2400" dirty="0">
                  <a:solidFill>
                    <a:srgbClr val="A71160"/>
                  </a:solidFill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126" y="5350599"/>
                <a:ext cx="3994857" cy="9848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209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DDDDD"/>
                                      </p:to>
                                    </p:animClr>
                                    <p:set>
                                      <p:cBhvr>
                                        <p:cTn id="41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DDDDD"/>
                                      </p:to>
                                    </p:animClr>
                                    <p:set>
                                      <p:cBhvr>
                                        <p:cTn id="45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1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5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18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22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63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67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– Example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5540" y="91440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2 :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1532722" y="1447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1532722" y="1828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2722" y="2209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1532722" y="2590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2722" y="2971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974285" y="3692769"/>
            <a:ext cx="103327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904322" y="1447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4322" y="1828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04322" y="2209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04322" y="2590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04322" y="2971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8322" y="1447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28322" y="1828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28322" y="2209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8322" y="2590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28322" y="2971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24679" y="1447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24679" y="1828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24679" y="2209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24679" y="2590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24679" y="2971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26" name="Freeform 25"/>
          <p:cNvSpPr/>
          <p:nvPr/>
        </p:nvSpPr>
        <p:spPr>
          <a:xfrm>
            <a:off x="3450052" y="2009975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614965" y="1947707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04322" y="1828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04322" y="2209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30" name="Freeform 29"/>
          <p:cNvSpPr/>
          <p:nvPr/>
        </p:nvSpPr>
        <p:spPr>
          <a:xfrm>
            <a:off x="4979913" y="2380851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5144826" y="2318583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28322" y="2209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28322" y="2590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8671" y="91440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3 :</a:t>
            </a:r>
            <a:endParaRPr lang="en-US" b="1" dirty="0"/>
          </a:p>
        </p:txBody>
      </p:sp>
      <p:cxnSp>
        <p:nvCxnSpPr>
          <p:cNvPr id="35" name="Straight Connector 34"/>
          <p:cNvCxnSpPr/>
          <p:nvPr/>
        </p:nvCxnSpPr>
        <p:spPr>
          <a:xfrm flipV="1">
            <a:off x="5738963" y="984738"/>
            <a:ext cx="0" cy="2702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890819" y="14448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90819" y="18258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90819" y="22068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90819" y="25878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90819" y="29688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1002" y="1447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41002" y="1828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1002" y="2209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41002" y="2590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41002" y="2971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46" name="Freeform 45"/>
          <p:cNvSpPr/>
          <p:nvPr/>
        </p:nvSpPr>
        <p:spPr>
          <a:xfrm>
            <a:off x="6968989" y="1613017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7133902" y="1550749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24679" y="1447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24679" y="1828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50" name="Freeform 49"/>
          <p:cNvSpPr/>
          <p:nvPr/>
        </p:nvSpPr>
        <p:spPr>
          <a:xfrm>
            <a:off x="8433905" y="1945533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8598818" y="1883265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90819" y="18258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90819" y="22068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87300" y="91440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4 :</a:t>
            </a:r>
            <a:endParaRPr lang="en-US" b="1" dirty="0"/>
          </a:p>
        </p:txBody>
      </p:sp>
      <p:cxnSp>
        <p:nvCxnSpPr>
          <p:cNvPr id="55" name="Straight Connector 54"/>
          <p:cNvCxnSpPr/>
          <p:nvPr/>
        </p:nvCxnSpPr>
        <p:spPr>
          <a:xfrm flipV="1">
            <a:off x="9323714" y="984738"/>
            <a:ext cx="0" cy="2702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0574402" y="1605528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10739315" y="1543260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41002" y="1447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41002" y="1828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4141126" y="5350599"/>
                <a:ext cx="3994857" cy="984885"/>
              </a:xfrm>
              <a:prstGeom prst="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𝑖𝑓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] &gt; 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+1])</m:t>
                      </m:r>
                    </m:oMath>
                  </m:oMathPara>
                </a14:m>
                <a:endParaRPr lang="en-US" sz="2400" dirty="0">
                  <a:solidFill>
                    <a:srgbClr val="A71160"/>
                  </a:solidFill>
                  <a:cs typeface="Consolas" pitchFamily="49" charset="0"/>
                </a:endParaRPr>
              </a:p>
              <a:p>
                <a:pPr lvl="2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𝑠𝑤𝑎𝑝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],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+1])</m:t>
                      </m:r>
                    </m:oMath>
                  </m:oMathPara>
                </a14:m>
                <a:endParaRPr lang="en-US" sz="2400" dirty="0">
                  <a:solidFill>
                    <a:srgbClr val="A71160"/>
                  </a:solidFill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126" y="5350599"/>
                <a:ext cx="3994857" cy="9848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794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8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2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5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9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00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04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58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62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03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07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5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56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7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60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52" grpId="0" animBg="1"/>
      <p:bldP spid="53" grpId="0" animBg="1"/>
      <p:bldP spid="54" grpId="0" animBg="1"/>
      <p:bldP spid="56" grpId="0" animBg="1"/>
      <p:bldP spid="58" grpId="0" animBg="1"/>
      <p:bldP spid="5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- Algorithm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70369" y="863444"/>
            <a:ext cx="11929641" cy="5590565"/>
          </a:xfrm>
          <a:solidFill>
            <a:srgbClr val="424242"/>
          </a:solidFill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Input: Array A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Output: Sorted array A</a:t>
            </a:r>
          </a:p>
          <a:p>
            <a:pPr marL="0" indent="0">
              <a:buNone/>
            </a:pPr>
            <a:endParaRPr lang="en-IN" b="1" dirty="0">
              <a:solidFill>
                <a:schemeClr val="tx2">
                  <a:lumMod val="60000"/>
                  <a:lumOff val="4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Bubble_Sort</a:t>
            </a:r>
            <a:r>
              <a:rPr lang="en-IN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(A)</a:t>
            </a:r>
          </a:p>
          <a:p>
            <a:pPr marL="0" indent="0">
              <a:buNone/>
            </a:pPr>
            <a:r>
              <a:rPr lang="pt-BR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for i ← 1 to n-1 do</a:t>
            </a:r>
          </a:p>
          <a:p>
            <a:pPr marL="0" indent="0">
              <a:buNone/>
            </a:pPr>
            <a:r>
              <a:rPr lang="en-IN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pt-BR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for j ← 1 to n-i </a:t>
            </a:r>
            <a:r>
              <a:rPr lang="pt-BR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do</a:t>
            </a:r>
          </a:p>
          <a:p>
            <a:pPr marL="0" indent="0">
              <a:buNone/>
            </a:pPr>
            <a:r>
              <a:rPr lang="en-IN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     </a:t>
            </a:r>
            <a:r>
              <a:rPr lang="en-IN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if  A[j] &gt; A[j+1] then</a:t>
            </a:r>
          </a:p>
          <a:p>
            <a:pPr marL="0" indent="0">
              <a:buNone/>
            </a:pPr>
            <a:r>
              <a:rPr lang="en-IN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 		</a:t>
            </a:r>
            <a:r>
              <a:rPr lang="en-IN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swap(A[j], A[j+1])</a:t>
            </a:r>
          </a:p>
          <a:p>
            <a:pPr marL="0" indent="0">
              <a:buNone/>
            </a:pPr>
            <a:endParaRPr lang="en-IN" dirty="0">
              <a:solidFill>
                <a:srgbClr val="FCE0EE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707778" y="3980329"/>
            <a:ext cx="3478175" cy="1573306"/>
          </a:xfrm>
          <a:prstGeom prst="rect">
            <a:avLst/>
          </a:prstGeom>
          <a:solidFill>
            <a:srgbClr val="424242"/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IN" sz="2400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temp ← A[j]</a:t>
            </a:r>
          </a:p>
          <a:p>
            <a:r>
              <a:rPr lang="en-IN" sz="2400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A[j] ← A[j+1]</a:t>
            </a:r>
          </a:p>
          <a:p>
            <a:r>
              <a:rPr lang="en-IN" sz="2400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A[j+1] ← temp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6187" y="3146613"/>
            <a:ext cx="6382872" cy="2339788"/>
          </a:xfrm>
          <a:prstGeom prst="round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878541" y="3585883"/>
            <a:ext cx="4421332" cy="1652944"/>
          </a:xfrm>
          <a:prstGeom prst="round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ounded Rectangular Callout 33"/>
              <p:cNvSpPr/>
              <p:nvPr/>
            </p:nvSpPr>
            <p:spPr>
              <a:xfrm>
                <a:off x="4894729" y="2601559"/>
                <a:ext cx="762000" cy="457200"/>
              </a:xfrm>
              <a:prstGeom prst="wedgeRoundRectCallout">
                <a:avLst>
                  <a:gd name="adj1" fmla="val -20833"/>
                  <a:gd name="adj2" fmla="val 66721"/>
                  <a:gd name="adj3" fmla="val 16667"/>
                </a:avLst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𝐧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4" name="Rounded Rectangular Callout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729" y="2601559"/>
                <a:ext cx="762000" cy="457200"/>
              </a:xfrm>
              <a:prstGeom prst="wedgeRoundRectCallout">
                <a:avLst>
                  <a:gd name="adj1" fmla="val -20833"/>
                  <a:gd name="adj2" fmla="val 66721"/>
                  <a:gd name="adj3" fmla="val 16667"/>
                </a:avLst>
              </a:prstGeom>
              <a:blipFill>
                <a:blip r:embed="rId2"/>
                <a:stretch>
                  <a:fillRect l="-8661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ounded Rectangular Callout 34"/>
              <p:cNvSpPr/>
              <p:nvPr/>
            </p:nvSpPr>
            <p:spPr>
              <a:xfrm>
                <a:off x="5516221" y="4136334"/>
                <a:ext cx="914400" cy="457200"/>
              </a:xfrm>
              <a:prstGeom prst="wedgeRoundRectCallout">
                <a:avLst>
                  <a:gd name="adj1" fmla="val -71901"/>
                  <a:gd name="adj2" fmla="val -15165"/>
                  <a:gd name="adj3" fmla="val 16667"/>
                </a:avLst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ED52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ED524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rgbClr val="ED524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 smtClean="0">
                                  <a:solidFill>
                                    <a:srgbClr val="ED524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𝐧</m:t>
                              </m:r>
                            </m:e>
                            <m:sup>
                              <m:r>
                                <a:rPr lang="en-US" sz="2400" b="1" i="0" smtClean="0">
                                  <a:solidFill>
                                    <a:srgbClr val="ED524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ED524F"/>
                  </a:solidFill>
                </a:endParaRPr>
              </a:p>
            </p:txBody>
          </p:sp>
        </mc:Choice>
        <mc:Fallback xmlns="">
          <p:sp>
            <p:nvSpPr>
              <p:cNvPr id="35" name="Rounded Rectangular Callout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221" y="4136334"/>
                <a:ext cx="914400" cy="457200"/>
              </a:xfrm>
              <a:prstGeom prst="wedgeRoundRectCallout">
                <a:avLst>
                  <a:gd name="adj1" fmla="val -71901"/>
                  <a:gd name="adj2" fmla="val -15165"/>
                  <a:gd name="adj3" fmla="val 16667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63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It is a simple sorting algorithm that works by </a:t>
                </a:r>
                <a:r>
                  <a:rPr lang="en-US" dirty="0">
                    <a:solidFill>
                      <a:srgbClr val="A71160"/>
                    </a:solidFill>
                  </a:rPr>
                  <a:t>comparing each pair of adjacent items </a:t>
                </a:r>
                <a:r>
                  <a:rPr lang="en-US" dirty="0"/>
                  <a:t>and swapping them if they are in the wrong order.</a:t>
                </a:r>
              </a:p>
              <a:p>
                <a:r>
                  <a:rPr lang="en-US" dirty="0"/>
                  <a:t>The pass through the list is repeated </a:t>
                </a:r>
                <a:r>
                  <a:rPr lang="en-US" dirty="0">
                    <a:solidFill>
                      <a:srgbClr val="A71160"/>
                    </a:solidFill>
                  </a:rPr>
                  <a:t>until no swaps are needed</a:t>
                </a:r>
                <a:r>
                  <a:rPr lang="en-US" dirty="0"/>
                  <a:t>, which indicates that the list is sorted.</a:t>
                </a:r>
              </a:p>
              <a:p>
                <a:r>
                  <a:rPr lang="en-US" dirty="0"/>
                  <a:t>As it only uses comparisons to operate on elements, it is a </a:t>
                </a:r>
                <a:r>
                  <a:rPr lang="en-US" dirty="0">
                    <a:solidFill>
                      <a:srgbClr val="A71160"/>
                    </a:solidFill>
                  </a:rPr>
                  <a:t>comparison sort.</a:t>
                </a:r>
              </a:p>
              <a:p>
                <a:r>
                  <a:rPr lang="en-US" dirty="0"/>
                  <a:t>Although the algorithm is simple, it is </a:t>
                </a:r>
                <a:r>
                  <a:rPr lang="en-US" dirty="0">
                    <a:solidFill>
                      <a:srgbClr val="A71160"/>
                    </a:solidFill>
                  </a:rPr>
                  <a:t>too slow </a:t>
                </a:r>
                <a:r>
                  <a:rPr lang="en-US" dirty="0"/>
                  <a:t>for practical use.</a:t>
                </a:r>
              </a:p>
              <a:p>
                <a:r>
                  <a:rPr lang="en-US" dirty="0"/>
                  <a:t>The time complexity of bubble sort is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b="1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solidFill>
                                  <a:srgbClr val="A711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A711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A711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6" t="-1418" r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478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Algorithm – Best Case Analysis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0" y="711200"/>
            <a:ext cx="12191999" cy="5978358"/>
          </a:xfrm>
          <a:solidFill>
            <a:srgbClr val="424242"/>
          </a:solidFill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Input: Array A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Output: Sorted array A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Bubble_Sort</a:t>
            </a:r>
            <a:r>
              <a:rPr lang="en-IN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(A)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 flag=1;</a:t>
            </a:r>
          </a:p>
          <a:p>
            <a:pPr marL="0" indent="0">
              <a:buNone/>
            </a:pPr>
            <a:r>
              <a:rPr lang="pt-BR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for i ← 1 to n-1 do</a:t>
            </a:r>
          </a:p>
          <a:p>
            <a:pPr marL="0" indent="0">
              <a:buNone/>
            </a:pPr>
            <a:r>
              <a:rPr lang="pt-BR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	for j ← 1 to n-i </a:t>
            </a:r>
            <a:r>
              <a:rPr lang="pt-BR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do</a:t>
            </a:r>
          </a:p>
          <a:p>
            <a:pPr marL="0" indent="0">
              <a:buNone/>
            </a:pPr>
            <a:r>
              <a:rPr lang="en-IN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   		</a:t>
            </a:r>
            <a:r>
              <a:rPr lang="en-IN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if  A[j] &gt; A[j+1] then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			flag = 0;</a:t>
            </a:r>
          </a:p>
          <a:p>
            <a:pPr marL="0" indent="0">
              <a:buNone/>
            </a:pPr>
            <a:r>
              <a:rPr lang="en-IN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 			</a:t>
            </a:r>
            <a:r>
              <a:rPr lang="en-IN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swap(A[j],A[j+1])</a:t>
            </a:r>
          </a:p>
          <a:p>
            <a:pPr marL="0" indent="-87312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	if(flag == 1)</a:t>
            </a:r>
          </a:p>
          <a:p>
            <a:pPr marL="581025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US" sz="2400" b="1" dirty="0" err="1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cout</a:t>
            </a:r>
            <a:r>
              <a:rPr lang="en-US" sz="2400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&lt;&lt;"already sorted"&lt;&lt;</a:t>
            </a:r>
            <a:r>
              <a:rPr lang="en-US" sz="2400" b="1" dirty="0" err="1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endl</a:t>
            </a:r>
            <a:endParaRPr lang="en-US" sz="2400" b="1" dirty="0">
              <a:solidFill>
                <a:srgbClr val="FCE0EE"/>
              </a:solidFill>
              <a:latin typeface="Consolas" pitchFamily="49" charset="0"/>
              <a:cs typeface="Consolas" pitchFamily="49" charset="0"/>
            </a:endParaRPr>
          </a:p>
          <a:p>
            <a:pPr marL="581025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		break; </a:t>
            </a:r>
            <a:endParaRPr lang="en-IN" sz="2400" b="1" dirty="0">
              <a:solidFill>
                <a:srgbClr val="FCE0EE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IN" b="1" dirty="0">
              <a:solidFill>
                <a:srgbClr val="FCE0E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IN" dirty="0">
              <a:solidFill>
                <a:srgbClr val="FCE0EE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447692" y="1011469"/>
            <a:ext cx="920445" cy="369332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3"/>
                </a:solidFill>
              </a:rPr>
              <a:t>Pass 1 :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676292" y="23068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76292" y="26878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76292" y="30688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76292" y="1543474"/>
            <a:ext cx="5334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76292" y="1925869"/>
            <a:ext cx="5334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96821" y="1011469"/>
            <a:ext cx="817853" cy="369332"/>
          </a:xfrm>
          <a:prstGeom prst="rect">
            <a:avLst/>
          </a:prstGeom>
          <a:noFill/>
          <a:ln w="28575">
            <a:solidFill>
              <a:srgbClr val="ED524F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 err="1">
                <a:solidFill>
                  <a:srgbClr val="ED524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b="1" dirty="0">
                <a:solidFill>
                  <a:srgbClr val="ED524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</a:t>
            </a:r>
            <a:endParaRPr lang="en-US" b="1" dirty="0">
              <a:solidFill>
                <a:srgbClr val="ED524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587481" y="3493700"/>
            <a:ext cx="2377440" cy="457200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0496821" y="1532544"/>
            <a:ext cx="817853" cy="369332"/>
          </a:xfrm>
          <a:prstGeom prst="rect">
            <a:avLst/>
          </a:prstGeom>
          <a:noFill/>
          <a:ln w="12700">
            <a:solidFill>
              <a:srgbClr val="ED524F"/>
            </a:solidFill>
          </a:ln>
        </p:spPr>
        <p:txBody>
          <a:bodyPr wrap="none" rtlCol="0" anchor="ctr" anchorCtr="0">
            <a:spAutoFit/>
          </a:bodyPr>
          <a:lstStyle/>
          <a:p>
            <a:r>
              <a:rPr lang="en-IN" b="1" dirty="0">
                <a:solidFill>
                  <a:srgbClr val="ED524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 = 1</a:t>
            </a:r>
            <a:endParaRPr lang="en-US" b="1" dirty="0">
              <a:solidFill>
                <a:srgbClr val="ED524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496821" y="1912949"/>
            <a:ext cx="817853" cy="369332"/>
          </a:xfrm>
          <a:prstGeom prst="rect">
            <a:avLst/>
          </a:prstGeom>
          <a:noFill/>
          <a:ln w="12700">
            <a:solidFill>
              <a:srgbClr val="ED524F"/>
            </a:solidFill>
          </a:ln>
        </p:spPr>
        <p:txBody>
          <a:bodyPr wrap="none" rtlCol="0" anchor="ctr" anchorCtr="0">
            <a:spAutoFit/>
          </a:bodyPr>
          <a:lstStyle/>
          <a:p>
            <a:r>
              <a:rPr lang="en-IN" b="1" dirty="0">
                <a:solidFill>
                  <a:srgbClr val="ED524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 = 2</a:t>
            </a:r>
            <a:endParaRPr lang="en-US" b="1" dirty="0">
              <a:solidFill>
                <a:srgbClr val="ED524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488649" y="2295541"/>
            <a:ext cx="817853" cy="369332"/>
          </a:xfrm>
          <a:prstGeom prst="rect">
            <a:avLst/>
          </a:prstGeom>
          <a:noFill/>
          <a:ln w="12700">
            <a:solidFill>
              <a:srgbClr val="ED524F"/>
            </a:solidFill>
          </a:ln>
        </p:spPr>
        <p:txBody>
          <a:bodyPr wrap="none" rtlCol="0" anchor="ctr" anchorCtr="0">
            <a:spAutoFit/>
          </a:bodyPr>
          <a:lstStyle/>
          <a:p>
            <a:r>
              <a:rPr lang="en-IN" b="1" dirty="0">
                <a:solidFill>
                  <a:srgbClr val="ED524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 = 3</a:t>
            </a:r>
            <a:endParaRPr lang="en-US" b="1" dirty="0">
              <a:solidFill>
                <a:srgbClr val="ED524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488649" y="2689009"/>
            <a:ext cx="817853" cy="369332"/>
          </a:xfrm>
          <a:prstGeom prst="rect">
            <a:avLst/>
          </a:prstGeom>
          <a:noFill/>
          <a:ln w="12700">
            <a:solidFill>
              <a:srgbClr val="ED524F"/>
            </a:solidFill>
          </a:ln>
        </p:spPr>
        <p:txBody>
          <a:bodyPr wrap="none" rtlCol="0" anchor="ctr" anchorCtr="0">
            <a:spAutoFit/>
          </a:bodyPr>
          <a:lstStyle/>
          <a:p>
            <a:r>
              <a:rPr lang="en-IN" b="1" dirty="0">
                <a:solidFill>
                  <a:srgbClr val="ED524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 = 4</a:t>
            </a:r>
            <a:endParaRPr lang="en-US" b="1" dirty="0">
              <a:solidFill>
                <a:srgbClr val="ED524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9261566" y="3616234"/>
                <a:ext cx="2644140" cy="830997"/>
              </a:xfrm>
              <a:prstGeom prst="rect">
                <a:avLst/>
              </a:prstGeom>
              <a:noFill/>
              <a:ln>
                <a:solidFill>
                  <a:srgbClr val="FDEDF5"/>
                </a:solidFill>
                <a:prstDash val="sys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3"/>
                    </a:solidFill>
                    <a:ea typeface="Cambria Math" panose="02040503050406030204" pitchFamily="18" charset="0"/>
                  </a:rPr>
                  <a:t>Best case time complexity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566" y="3616234"/>
                <a:ext cx="2644140" cy="830997"/>
              </a:xfrm>
              <a:prstGeom prst="rect">
                <a:avLst/>
              </a:prstGeom>
              <a:blipFill>
                <a:blip r:embed="rId2"/>
                <a:stretch>
                  <a:fillRect t="-4317" b="-15108"/>
                </a:stretch>
              </a:blipFill>
              <a:ln>
                <a:solidFill>
                  <a:srgbClr val="FDEDF5"/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ounded Rectangular Callout 23"/>
          <p:cNvSpPr/>
          <p:nvPr/>
        </p:nvSpPr>
        <p:spPr>
          <a:xfrm>
            <a:off x="4752705" y="2486484"/>
            <a:ext cx="1981200" cy="903328"/>
          </a:xfrm>
          <a:prstGeom prst="wedgeRoundRectCallout">
            <a:avLst>
              <a:gd name="adj1" fmla="val -36599"/>
              <a:gd name="adj2" fmla="val 74735"/>
              <a:gd name="adj3" fmla="val 16667"/>
            </a:avLst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C</a:t>
            </a:r>
            <a:r>
              <a:rPr lang="en-US" sz="2000" dirty="0">
                <a:solidFill>
                  <a:schemeClr val="accent5"/>
                </a:solidFill>
              </a:rPr>
              <a:t>ondition never becomes true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853BDA-30C5-4C63-A2EC-A9A2ED45BC9E}"/>
              </a:ext>
            </a:extLst>
          </p:cNvPr>
          <p:cNvSpPr/>
          <p:nvPr/>
        </p:nvSpPr>
        <p:spPr>
          <a:xfrm>
            <a:off x="1344445" y="5627348"/>
            <a:ext cx="1831892" cy="45720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Elbow Connector 24">
            <a:extLst>
              <a:ext uri="{FF2B5EF4-FFF2-40B4-BE49-F238E27FC236}">
                <a16:creationId xmlns:a16="http://schemas.microsoft.com/office/drawing/2014/main" id="{5E220AB4-F0B1-4A0F-A02D-5FE6892A5572}"/>
              </a:ext>
            </a:extLst>
          </p:cNvPr>
          <p:cNvCxnSpPr>
            <a:endCxn id="26" idx="1"/>
          </p:cNvCxnSpPr>
          <p:nvPr/>
        </p:nvCxnSpPr>
        <p:spPr>
          <a:xfrm rot="16200000" flipH="1">
            <a:off x="642699" y="5154202"/>
            <a:ext cx="708982" cy="694510"/>
          </a:xfrm>
          <a:prstGeom prst="bentConnector2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99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36C09"/>
                                      </p:to>
                                    </p:animClr>
                                    <p:set>
                                      <p:cBhvr>
                                        <p:cTn id="8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36C09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EECE1"/>
                                      </p:to>
                                    </p:animClr>
                                    <p:set>
                                      <p:cBhvr>
                                        <p:cTn id="10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36C09"/>
                                      </p:to>
                                    </p:animClr>
                                    <p:set>
                                      <p:cBhvr>
                                        <p:cTn id="1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EECE1"/>
                                      </p:to>
                                    </p:animClr>
                                    <p:set>
                                      <p:cBhvr>
                                        <p:cTn id="12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36C09"/>
                                      </p:to>
                                    </p:animClr>
                                    <p:set>
                                      <p:cBhvr>
                                        <p:cTn id="12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EECE1"/>
                                      </p:to>
                                    </p:animClr>
                                    <p:set>
                                      <p:cBhvr>
                                        <p:cTn id="13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36C09"/>
                                      </p:to>
                                    </p:animClr>
                                    <p:set>
                                      <p:cBhvr>
                                        <p:cTn id="14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4.81481E-6 L -0.13021 0.19513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10" y="97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00"/>
                            </p:stCondLst>
                            <p:childTnLst>
                              <p:par>
                                <p:cTn id="1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2" grpId="0" animBg="1"/>
      <p:bldP spid="24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Selection sort is a simple sorting algorithm. 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list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divided into two parts</a:t>
            </a:r>
            <a:r>
              <a:rPr lang="en-US" dirty="0"/>
              <a:t>, 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sorted part </a:t>
            </a:r>
            <a:r>
              <a:rPr lang="en-US" dirty="0"/>
              <a:t>at the </a:t>
            </a:r>
            <a:r>
              <a:rPr lang="en-US" b="1" dirty="0">
                <a:solidFill>
                  <a:srgbClr val="C00000"/>
                </a:solidFill>
              </a:rPr>
              <a:t>left end </a:t>
            </a:r>
            <a:r>
              <a:rPr lang="en-US" dirty="0"/>
              <a:t>and 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unsorted part </a:t>
            </a:r>
            <a:r>
              <a:rPr lang="en-US" dirty="0"/>
              <a:t>at the </a:t>
            </a:r>
            <a:r>
              <a:rPr lang="en-US" b="1" dirty="0">
                <a:solidFill>
                  <a:srgbClr val="C00000"/>
                </a:solidFill>
              </a:rPr>
              <a:t>right end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Initially, the sorted part is empty and the unsorted part is the entire list.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smallest element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selected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from the </a:t>
            </a:r>
            <a:r>
              <a:rPr lang="en-US" b="1" dirty="0">
                <a:solidFill>
                  <a:srgbClr val="C00000"/>
                </a:solidFill>
              </a:rPr>
              <a:t>unsorted array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swapped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with the </a:t>
            </a:r>
            <a:r>
              <a:rPr lang="en-US" b="1" dirty="0">
                <a:solidFill>
                  <a:srgbClr val="C00000"/>
                </a:solidFill>
              </a:rPr>
              <a:t>leftmost element</a:t>
            </a:r>
            <a:r>
              <a:rPr lang="en-US" dirty="0"/>
              <a:t>, and that element becomes a part of the sorted array. </a:t>
            </a:r>
          </a:p>
          <a:p>
            <a:r>
              <a:rPr lang="en-US" dirty="0"/>
              <a:t>This process continues moving unsorted array boundary by one element to the right.</a:t>
            </a:r>
          </a:p>
          <a:p>
            <a:r>
              <a:rPr lang="en-US" dirty="0"/>
              <a:t>This algorithm is </a:t>
            </a:r>
            <a:r>
              <a:rPr lang="en-US" b="1" dirty="0">
                <a:solidFill>
                  <a:srgbClr val="C00000"/>
                </a:solidFill>
              </a:rPr>
              <a:t>not suitable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</a:t>
            </a:r>
            <a:r>
              <a:rPr lang="en-US" b="1" dirty="0">
                <a:solidFill>
                  <a:srgbClr val="C00000"/>
                </a:solidFill>
              </a:rPr>
              <a:t>large data sets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as its average and worst case complexities are of </a:t>
            </a:r>
            <a:r>
              <a:rPr lang="en-US" b="1" dirty="0">
                <a:solidFill>
                  <a:srgbClr val="C00000"/>
                </a:solidFill>
              </a:rPr>
              <a:t>Ο(n</a:t>
            </a:r>
            <a:r>
              <a:rPr lang="en-US" b="1" baseline="30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dirty="0"/>
              <a:t>, where n is the number of items.</a:t>
            </a:r>
          </a:p>
        </p:txBody>
      </p:sp>
    </p:spTree>
    <p:extLst>
      <p:ext uri="{BB962C8B-B14F-4D97-AF65-F5344CB8AC3E}">
        <p14:creationId xmlns:p14="http://schemas.microsoft.com/office/powerpoint/2010/main" val="30399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– Example 1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0046" y="1528465"/>
          <a:ext cx="521547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533400" y="2286000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3400" y="2286000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</a:t>
            </a:r>
            <a:endParaRPr lang="en-US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1928" y="3032760"/>
          <a:ext cx="521547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135076" y="2571095"/>
            <a:ext cx="2130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1928" y="3566160"/>
          <a:ext cx="5215472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533400" y="4202668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3400" y="420266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</a:t>
            </a:r>
            <a:endParaRPr lang="en-US" b="1" dirty="0"/>
          </a:p>
        </p:txBody>
      </p:sp>
      <p:sp>
        <p:nvSpPr>
          <p:cNvPr id="13" name="Rectangle 12"/>
          <p:cNvSpPr/>
          <p:nvPr/>
        </p:nvSpPr>
        <p:spPr>
          <a:xfrm>
            <a:off x="762000" y="5127812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5400" y="5127812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36336" y="5127812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69736" y="5127812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03136" y="5127812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36536" y="5127812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9936" y="5127812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3336" y="5127812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95400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36336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69736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03136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36536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69936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03336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86846" y="4339479"/>
            <a:ext cx="5930537" cy="1754326"/>
          </a:xfrm>
          <a:prstGeom prst="rect">
            <a:avLst/>
          </a:prstGeom>
          <a:solidFill>
            <a:srgbClr val="FCE0EE"/>
          </a:solidFill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dirty="0" err="1"/>
              <a:t>Min_i</a:t>
            </a:r>
            <a:r>
              <a:rPr lang="en-US" dirty="0"/>
              <a:t> denotes the current index and </a:t>
            </a:r>
            <a:r>
              <a:rPr lang="en-US" b="1" dirty="0" err="1"/>
              <a:t>Min_v</a:t>
            </a:r>
            <a:r>
              <a:rPr lang="en-US" dirty="0"/>
              <a:t> is the value stored at current index.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dirty="0"/>
              <a:t>So, </a:t>
            </a:r>
            <a:r>
              <a:rPr lang="en-US" b="1" dirty="0" err="1"/>
              <a:t>Min_i</a:t>
            </a:r>
            <a:r>
              <a:rPr lang="en-US" b="1" dirty="0"/>
              <a:t> = 1, </a:t>
            </a:r>
            <a:r>
              <a:rPr lang="en-US" b="1" dirty="0" err="1"/>
              <a:t>Min_v</a:t>
            </a:r>
            <a:r>
              <a:rPr lang="en-US" b="1" dirty="0"/>
              <a:t> = 5</a:t>
            </a: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/>
              <a:t>Assume that currently </a:t>
            </a:r>
            <a:r>
              <a:rPr lang="en-US" b="1" dirty="0"/>
              <a:t>Minx</a:t>
            </a:r>
            <a:r>
              <a:rPr lang="en-US" dirty="0"/>
              <a:t> is the smallest value.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/>
              <a:t>Now find the smallest value from the remaining entire Unsorted array.</a:t>
            </a:r>
          </a:p>
        </p:txBody>
      </p:sp>
      <p:sp>
        <p:nvSpPr>
          <p:cNvPr id="30" name="Freeform 29"/>
          <p:cNvSpPr/>
          <p:nvPr/>
        </p:nvSpPr>
        <p:spPr>
          <a:xfrm rot="10800000" flipV="1">
            <a:off x="1289637" y="4915377"/>
            <a:ext cx="3734440" cy="178355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289637" y="4572000"/>
            <a:ext cx="373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Unsorted Array (elements 2 to 8)</a:t>
            </a:r>
          </a:p>
        </p:txBody>
      </p:sp>
      <p:sp>
        <p:nvSpPr>
          <p:cNvPr id="32" name="Freeform 31"/>
          <p:cNvSpPr/>
          <p:nvPr/>
        </p:nvSpPr>
        <p:spPr>
          <a:xfrm>
            <a:off x="1018674" y="5867400"/>
            <a:ext cx="1636294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1385429" y="6096000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Swap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2000" y="5127812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69736" y="5127812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82144" y="6061167"/>
            <a:ext cx="2399118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A71160"/>
                </a:solidFill>
              </a:rPr>
              <a:t>Index = 4, value = -5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84618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</p:spTree>
    <p:extLst>
      <p:ext uri="{BB962C8B-B14F-4D97-AF65-F5344CB8AC3E}">
        <p14:creationId xmlns:p14="http://schemas.microsoft.com/office/powerpoint/2010/main" val="4381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91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133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1" grpId="1" animBg="1"/>
      <p:bldP spid="22" grpId="0" animBg="1"/>
      <p:bldP spid="23" grpId="0" animBg="1"/>
      <p:bldP spid="24" grpId="0" animBg="1"/>
      <p:bldP spid="24" grpId="1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 animBg="1"/>
      <p:bldP spid="33" grpId="0"/>
      <p:bldP spid="34" grpId="0" animBg="1"/>
      <p:bldP spid="35" grpId="0" animBg="1"/>
      <p:bldP spid="3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– Example 1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693" y="1252559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3 :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525782" y="1979455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9182" y="1979455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118" y="1979455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133518" y="1979455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2666918" y="1979455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318" y="1979455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3718" y="1979455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7118" y="1979455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2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9182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118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33518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66918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318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718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118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21" name="Freeform 20"/>
          <p:cNvSpPr/>
          <p:nvPr/>
        </p:nvSpPr>
        <p:spPr>
          <a:xfrm>
            <a:off x="1592582" y="1793329"/>
            <a:ext cx="3207937" cy="146657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484294" y="144040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Unsorted Array (elements 3 to 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1834" y="1487466"/>
            <a:ext cx="3618999" cy="923330"/>
          </a:xfrm>
          <a:prstGeom prst="rect">
            <a:avLst/>
          </a:prstGeom>
          <a:solidFill>
            <a:srgbClr val="FCE0E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Now </a:t>
            </a:r>
            <a:r>
              <a:rPr lang="en-US" b="1" dirty="0" err="1"/>
              <a:t>Min_i</a:t>
            </a:r>
            <a:r>
              <a:rPr lang="en-US" b="1" dirty="0"/>
              <a:t> = 2, </a:t>
            </a:r>
            <a:r>
              <a:rPr lang="en-US" b="1" dirty="0" err="1"/>
              <a:t>Min_v</a:t>
            </a:r>
            <a:r>
              <a:rPr lang="en-US" b="1" dirty="0"/>
              <a:t> = 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Find min value from remaining unsorted  array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507" y="3059668"/>
            <a:ext cx="6343404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No Swapping as min value is already at right place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9182" y="1979455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525782" y="3593068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5782" y="359306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4 :</a:t>
            </a: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525782" y="4753637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9182" y="4753637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00118" y="47536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33518" y="47536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66918" y="47536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318" y="47536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33718" y="47536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7118" y="47536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782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9182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00118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33518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66918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318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33718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7118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45" name="Freeform 44"/>
          <p:cNvSpPr/>
          <p:nvPr/>
        </p:nvSpPr>
        <p:spPr>
          <a:xfrm>
            <a:off x="2133518" y="4560141"/>
            <a:ext cx="2667001" cy="101472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1516382" y="3874341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A71160"/>
                </a:solidFill>
              </a:rPr>
              <a:t>(elements 4 to 8)</a:t>
            </a:r>
          </a:p>
        </p:txBody>
      </p:sp>
      <p:sp>
        <p:nvSpPr>
          <p:cNvPr id="49" name="Freeform 48"/>
          <p:cNvSpPr/>
          <p:nvPr/>
        </p:nvSpPr>
        <p:spPr>
          <a:xfrm>
            <a:off x="1848771" y="5574268"/>
            <a:ext cx="1636294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2215526" y="5802868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Swap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00118" y="4753637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318" y="47536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cxnSp>
        <p:nvCxnSpPr>
          <p:cNvPr id="53" name="Straight Connector 52"/>
          <p:cNvCxnSpPr/>
          <p:nvPr/>
        </p:nvCxnSpPr>
        <p:spPr>
          <a:xfrm>
            <a:off x="491693" y="1250462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321834" y="3847488"/>
            <a:ext cx="3618999" cy="923330"/>
          </a:xfrm>
          <a:prstGeom prst="rect">
            <a:avLst/>
          </a:prstGeom>
          <a:solidFill>
            <a:srgbClr val="FCE0E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Min_i</a:t>
            </a:r>
            <a:r>
              <a:rPr lang="en-US" b="1" dirty="0"/>
              <a:t> = 3, </a:t>
            </a:r>
            <a:r>
              <a:rPr lang="en-US" b="1" dirty="0" err="1"/>
              <a:t>Min_v</a:t>
            </a:r>
            <a:r>
              <a:rPr lang="en-US" b="1" dirty="0"/>
              <a:t> = 12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Find min value from remaining unsorted  array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1834" y="2521133"/>
            <a:ext cx="2399118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A71160"/>
                </a:solidFill>
              </a:rPr>
              <a:t>Index = 2, value = 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1834" y="4855031"/>
            <a:ext cx="2399118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A71160"/>
                </a:solidFill>
              </a:rPr>
              <a:t>Index = 6, value = 2</a:t>
            </a:r>
          </a:p>
        </p:txBody>
      </p:sp>
    </p:spTree>
    <p:extLst>
      <p:ext uri="{BB962C8B-B14F-4D97-AF65-F5344CB8AC3E}">
        <p14:creationId xmlns:p14="http://schemas.microsoft.com/office/powerpoint/2010/main" val="302126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70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163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179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0"/>
                            </p:stCondLst>
                            <p:childTnLst>
                              <p:par>
                                <p:cTn id="1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4" grpId="1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39" grpId="1" animBg="1"/>
      <p:bldP spid="40" grpId="0" animBg="1"/>
      <p:bldP spid="41" grpId="0" animBg="1"/>
      <p:bldP spid="42" grpId="0" animBg="1"/>
      <p:bldP spid="42" grpId="1" animBg="1"/>
      <p:bldP spid="43" grpId="0" animBg="1"/>
      <p:bldP spid="44" grpId="0" animBg="1"/>
      <p:bldP spid="45" grpId="0" animBg="1"/>
      <p:bldP spid="46" grpId="0"/>
      <p:bldP spid="49" grpId="0" animBg="1"/>
      <p:bldP spid="50" grpId="0"/>
      <p:bldP spid="51" grpId="0" animBg="1"/>
      <p:bldP spid="52" grpId="0" animBg="1"/>
      <p:bldP spid="54" grpId="0" animBg="1"/>
      <p:bldP spid="55" grpId="0" animBg="1"/>
      <p:bldP spid="5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– Example 1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693" y="1252559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5 :</a:t>
            </a:r>
            <a:endParaRPr lang="en-US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25782" y="3593068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5782" y="359306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6 :</a:t>
            </a:r>
            <a:endParaRPr lang="en-US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91693" y="1250462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2181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5581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6517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9917" y="22273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3317" y="22273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6717" y="22273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60117" y="22273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3517" y="22273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2181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5581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26517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59917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6746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26717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60117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93517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24" name="Freeform 23"/>
          <p:cNvSpPr/>
          <p:nvPr/>
        </p:nvSpPr>
        <p:spPr>
          <a:xfrm>
            <a:off x="2793316" y="2033873"/>
            <a:ext cx="2133601" cy="124247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52181" y="5210837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5581" y="5210837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26517" y="5210837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59917" y="5210837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93317" y="52108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26717" y="52108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60117" y="52108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93517" y="52108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2181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85581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26517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59917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93317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26717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60117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93517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43" name="Freeform 42"/>
          <p:cNvSpPr/>
          <p:nvPr/>
        </p:nvSpPr>
        <p:spPr>
          <a:xfrm>
            <a:off x="3326716" y="5017341"/>
            <a:ext cx="1600201" cy="126159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45"/>
          <p:cNvSpPr/>
          <p:nvPr/>
        </p:nvSpPr>
        <p:spPr>
          <a:xfrm>
            <a:off x="3058307" y="5943057"/>
            <a:ext cx="533400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2874100" y="6171657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Swap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70654" y="1348073"/>
            <a:ext cx="180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A71160"/>
                </a:solidFill>
              </a:rPr>
              <a:t>(elements 5 to 8)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59917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4881" y="4303673"/>
            <a:ext cx="180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A71160"/>
                </a:solidFill>
              </a:rPr>
              <a:t>(elements 6 to 8)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93317" y="5210837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26717" y="5210837"/>
            <a:ext cx="533400" cy="381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15891" y="1487466"/>
            <a:ext cx="3618999" cy="923330"/>
          </a:xfrm>
          <a:prstGeom prst="rect">
            <a:avLst/>
          </a:prstGeom>
          <a:solidFill>
            <a:srgbClr val="FCE0E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Now </a:t>
            </a:r>
            <a:r>
              <a:rPr lang="en-US" b="1" dirty="0" err="1"/>
              <a:t>Min_i</a:t>
            </a:r>
            <a:r>
              <a:rPr lang="en-US" b="1" dirty="0"/>
              <a:t> = 4, </a:t>
            </a:r>
            <a:r>
              <a:rPr lang="en-US" b="1" dirty="0" err="1"/>
              <a:t>Min_v</a:t>
            </a:r>
            <a:r>
              <a:rPr lang="en-US" b="1" dirty="0"/>
              <a:t> = 5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Find min value from remaining unsorted  array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47507" y="3059668"/>
            <a:ext cx="6343404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No Swapping as min value is already at right place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1834" y="3847488"/>
            <a:ext cx="3618999" cy="923330"/>
          </a:xfrm>
          <a:prstGeom prst="rect">
            <a:avLst/>
          </a:prstGeom>
          <a:solidFill>
            <a:srgbClr val="FCE0E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Min_i</a:t>
            </a:r>
            <a:r>
              <a:rPr lang="en-US" b="1" dirty="0"/>
              <a:t> = 5, </a:t>
            </a:r>
            <a:r>
              <a:rPr lang="en-US" b="1" dirty="0" err="1"/>
              <a:t>Min_v</a:t>
            </a:r>
            <a:r>
              <a:rPr lang="en-US" b="1" dirty="0"/>
              <a:t> = 16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Find min value from remaining unsorted  array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15891" y="2534195"/>
            <a:ext cx="2399118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A71160"/>
                </a:solidFill>
              </a:rPr>
              <a:t>Index = 4, value = 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1834" y="4924698"/>
            <a:ext cx="2399118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A71160"/>
                </a:solidFill>
              </a:rPr>
              <a:t>Index = 6, value = 12</a:t>
            </a:r>
          </a:p>
        </p:txBody>
      </p:sp>
    </p:spTree>
    <p:extLst>
      <p:ext uri="{BB962C8B-B14F-4D97-AF65-F5344CB8AC3E}">
        <p14:creationId xmlns:p14="http://schemas.microsoft.com/office/powerpoint/2010/main" val="133185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70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161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181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19" grpId="1" animBg="1"/>
      <p:bldP spid="20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2" grpId="0" animBg="1"/>
      <p:bldP spid="43" grpId="0" animBg="1"/>
      <p:bldP spid="46" grpId="0" animBg="1"/>
      <p:bldP spid="47" grpId="0"/>
      <p:bldP spid="48" grpId="0"/>
      <p:bldP spid="50" grpId="0" animBg="1"/>
      <p:bldP spid="51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– Example 1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693" y="1252559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7 :</a:t>
            </a:r>
            <a:endParaRPr lang="en-US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25782" y="3854328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5782" y="385432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8 :</a:t>
            </a:r>
            <a:endParaRPr lang="en-US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91693" y="1250462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6412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9812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0748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4148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7548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0948" y="22273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64348" y="22273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7748" y="22273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6412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9812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0748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64148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97548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0948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64348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97748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24" name="Freeform 23"/>
          <p:cNvSpPr/>
          <p:nvPr/>
        </p:nvSpPr>
        <p:spPr>
          <a:xfrm>
            <a:off x="3864348" y="2033873"/>
            <a:ext cx="1066801" cy="164513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/>
          <p:cNvSpPr/>
          <p:nvPr/>
        </p:nvSpPr>
        <p:spPr>
          <a:xfrm>
            <a:off x="3600258" y="2983452"/>
            <a:ext cx="520883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431886" y="3212052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Swap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0948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64348" y="2227369"/>
            <a:ext cx="533400" cy="381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4871" y="1375875"/>
            <a:ext cx="180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A71160"/>
                </a:solidFill>
              </a:rPr>
              <a:t>(elements 7 to 8)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6412" y="50467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89812" y="50467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0748" y="50467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64148" y="50467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97548" y="50467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0948" y="50467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64348" y="50467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97748" y="50467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6412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89812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30748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64148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97548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0948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64348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97748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48" name="Freeform 47"/>
          <p:cNvSpPr/>
          <p:nvPr/>
        </p:nvSpPr>
        <p:spPr>
          <a:xfrm>
            <a:off x="4397749" y="4853273"/>
            <a:ext cx="533400" cy="126159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 50"/>
          <p:cNvSpPr/>
          <p:nvPr/>
        </p:nvSpPr>
        <p:spPr>
          <a:xfrm>
            <a:off x="4126264" y="5802852"/>
            <a:ext cx="520883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933012" y="6031452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Swap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64348" y="50467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97748" y="50467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50816" y="4177959"/>
            <a:ext cx="1693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A71160"/>
                </a:solidFill>
              </a:rPr>
              <a:t>(element 8)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1834" y="1487466"/>
            <a:ext cx="3618999" cy="923330"/>
          </a:xfrm>
          <a:prstGeom prst="rect">
            <a:avLst/>
          </a:prstGeom>
          <a:solidFill>
            <a:srgbClr val="FCE0E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Now </a:t>
            </a:r>
            <a:r>
              <a:rPr lang="en-US" b="1" dirty="0" err="1"/>
              <a:t>Min_i</a:t>
            </a:r>
            <a:r>
              <a:rPr lang="en-US" b="1" dirty="0"/>
              <a:t> = 6, </a:t>
            </a:r>
            <a:r>
              <a:rPr lang="en-US" b="1" dirty="0" err="1"/>
              <a:t>Min_v</a:t>
            </a:r>
            <a:r>
              <a:rPr lang="en-US" b="1" dirty="0"/>
              <a:t> = 16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Find min value from remaining unsorted  array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1834" y="4147936"/>
            <a:ext cx="3618999" cy="923330"/>
          </a:xfrm>
          <a:prstGeom prst="rect">
            <a:avLst/>
          </a:prstGeom>
          <a:solidFill>
            <a:srgbClr val="FCE0E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Min_i</a:t>
            </a:r>
            <a:r>
              <a:rPr lang="en-US" b="1" dirty="0"/>
              <a:t> = 7, </a:t>
            </a:r>
            <a:r>
              <a:rPr lang="en-US" b="1" dirty="0" err="1"/>
              <a:t>Min_v</a:t>
            </a:r>
            <a:r>
              <a:rPr lang="en-US" b="1" dirty="0"/>
              <a:t> = 16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Find min value from remaining unsorted  array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1834" y="2547261"/>
            <a:ext cx="2399118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A71160"/>
                </a:solidFill>
              </a:rPr>
              <a:t>Index = 7, value = 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21834" y="5212084"/>
            <a:ext cx="2399118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A71160"/>
                </a:solidFill>
              </a:rPr>
              <a:t>Index = 8, value = 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72891" y="5995851"/>
            <a:ext cx="4767942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890E4F"/>
                </a:solidFill>
              </a:rPr>
              <a:t>The entire array is sorted now.</a:t>
            </a:r>
          </a:p>
        </p:txBody>
      </p:sp>
    </p:spTree>
    <p:extLst>
      <p:ext uri="{BB962C8B-B14F-4D97-AF65-F5344CB8AC3E}">
        <p14:creationId xmlns:p14="http://schemas.microsoft.com/office/powerpoint/2010/main" val="115445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70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90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10"/>
                            </p:stCondLst>
                            <p:childTnLst>
                              <p:par>
                                <p:cTn id="93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179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10"/>
                            </p:stCondLst>
                            <p:childTnLst>
                              <p:par>
                                <p:cTn id="182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3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200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3" dur="1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1" grpId="1" animBg="1"/>
      <p:bldP spid="22" grpId="0" animBg="1"/>
      <p:bldP spid="22" grpId="1" animBg="1"/>
      <p:bldP spid="23" grpId="0" animBg="1"/>
      <p:bldP spid="24" grpId="0" animBg="1"/>
      <p:bldP spid="27" grpId="0" animBg="1"/>
      <p:bldP spid="28" grpId="0"/>
      <p:bldP spid="29" grpId="0" animBg="1"/>
      <p:bldP spid="30" grpId="0" animBg="1"/>
      <p:bldP spid="31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6" grpId="1" animBg="1"/>
      <p:bldP spid="47" grpId="0" animBg="1"/>
      <p:bldP spid="47" grpId="1" animBg="1"/>
      <p:bldP spid="48" grpId="0" animBg="1"/>
      <p:bldP spid="51" grpId="0" animBg="1"/>
      <p:bldP spid="52" grpId="0"/>
      <p:bldP spid="53" grpId="0" animBg="1"/>
      <p:bldP spid="54" grpId="0" animBg="1"/>
      <p:bldP spid="55" grpId="0"/>
      <p:bldP spid="56" grpId="0" animBg="1"/>
      <p:bldP spid="57" grpId="0" animBg="1"/>
      <p:bldP spid="58" grpId="0" animBg="1"/>
      <p:bldP spid="59" grpId="0" animBg="1"/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- Algorithm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0" y="711200"/>
            <a:ext cx="12191999" cy="5882105"/>
          </a:xfrm>
          <a:solidFill>
            <a:srgbClr val="424242"/>
          </a:solidFill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Input: Array A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Output: Sorted array A</a:t>
            </a:r>
          </a:p>
          <a:p>
            <a:pPr marL="0" indent="0">
              <a:spcBef>
                <a:spcPts val="600"/>
              </a:spcBef>
              <a:buNone/>
            </a:pPr>
            <a:endParaRPr lang="en-IN" b="1" dirty="0">
              <a:solidFill>
                <a:srgbClr val="FBD9EB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Selection_Sort</a:t>
            </a:r>
            <a:r>
              <a:rPr lang="en-IN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(A)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pt-BR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for </a:t>
            </a:r>
            <a:r>
              <a:rPr lang="pt-BR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 ← 1 to n-1 </a:t>
            </a:r>
            <a:r>
              <a:rPr lang="pt-BR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do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Min_i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r>
              <a:rPr lang="en-IN" sz="2400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;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Min_v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← </a:t>
            </a:r>
            <a:r>
              <a:rPr lang="pt-BR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A[i];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endParaRPr lang="en-IN" sz="2400" dirty="0">
              <a:solidFill>
                <a:srgbClr val="FBD9EB"/>
              </a:solidFill>
              <a:latin typeface="Consolas" pitchFamily="49" charset="0"/>
              <a:cs typeface="Consolas" pitchFamily="49" charset="0"/>
            </a:endParaRPr>
          </a:p>
          <a:p>
            <a:pPr marL="914400" lvl="2" indent="0">
              <a:spcBef>
                <a:spcPts val="600"/>
              </a:spcBef>
              <a:buNone/>
            </a:pP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for </a:t>
            </a:r>
            <a:r>
              <a:rPr lang="pt-BR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j ← i + 1 to n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do</a:t>
            </a:r>
          </a:p>
          <a:p>
            <a:pPr marL="1828800" lvl="4" indent="0">
              <a:spcBef>
                <a:spcPts val="600"/>
              </a:spcBef>
              <a:buNone/>
            </a:pPr>
            <a:r>
              <a:rPr lang="en-IN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if 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A[j] &lt; minx </a:t>
            </a:r>
            <a:r>
              <a:rPr lang="en-IN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then</a:t>
            </a:r>
          </a:p>
          <a:p>
            <a:pPr marL="2743200" lvl="6" indent="0">
              <a:spcBef>
                <a:spcPts val="600"/>
              </a:spcBef>
              <a:buNone/>
            </a:pPr>
            <a:r>
              <a:rPr lang="en-IN" sz="2400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Min_i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← 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j;</a:t>
            </a:r>
          </a:p>
          <a:p>
            <a:pPr marL="2743200" lvl="6" indent="0">
              <a:spcBef>
                <a:spcPts val="600"/>
              </a:spcBef>
              <a:buNone/>
            </a:pPr>
            <a:r>
              <a:rPr lang="en-IN" sz="2400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Min_v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A[j];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A[</a:t>
            </a:r>
            <a:r>
              <a:rPr lang="en-IN" sz="2400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]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A[</a:t>
            </a:r>
            <a:r>
              <a:rPr lang="en-IN" sz="2400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];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A[</a:t>
            </a:r>
            <a:r>
              <a:rPr lang="en-IN" sz="2400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]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minx;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2" name="Rounded Rectangle 31"/>
          <p:cNvSpPr/>
          <p:nvPr/>
        </p:nvSpPr>
        <p:spPr>
          <a:xfrm>
            <a:off x="441322" y="2823628"/>
            <a:ext cx="6382872" cy="3625298"/>
          </a:xfrm>
          <a:prstGeom prst="round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1701501" y="4121461"/>
            <a:ext cx="3749040" cy="1826952"/>
          </a:xfrm>
          <a:prstGeom prst="round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ounded Rectangular Callout 33"/>
              <p:cNvSpPr/>
              <p:nvPr/>
            </p:nvSpPr>
            <p:spPr>
              <a:xfrm>
                <a:off x="5534809" y="2366427"/>
                <a:ext cx="762000" cy="457200"/>
              </a:xfrm>
              <a:prstGeom prst="wedgeRoundRectCallout">
                <a:avLst>
                  <a:gd name="adj1" fmla="val -20833"/>
                  <a:gd name="adj2" fmla="val 66721"/>
                  <a:gd name="adj3" fmla="val 16667"/>
                </a:avLst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𝐧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4" name="Rounded Rectangular Callout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809" y="2366427"/>
                <a:ext cx="762000" cy="457200"/>
              </a:xfrm>
              <a:prstGeom prst="wedgeRoundRectCallout">
                <a:avLst>
                  <a:gd name="adj1" fmla="val -20833"/>
                  <a:gd name="adj2" fmla="val 66721"/>
                  <a:gd name="adj3" fmla="val 16667"/>
                </a:avLst>
              </a:prstGeom>
              <a:blipFill>
                <a:blip r:embed="rId2"/>
                <a:stretch>
                  <a:fillRect l="-8661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ounded Rectangular Callout 34"/>
              <p:cNvSpPr/>
              <p:nvPr/>
            </p:nvSpPr>
            <p:spPr>
              <a:xfrm>
                <a:off x="5659912" y="4384529"/>
                <a:ext cx="914400" cy="457200"/>
              </a:xfrm>
              <a:prstGeom prst="wedgeRoundRectCallout">
                <a:avLst>
                  <a:gd name="adj1" fmla="val -71901"/>
                  <a:gd name="adj2" fmla="val -15165"/>
                  <a:gd name="adj3" fmla="val 16667"/>
                </a:avLst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ED52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ED524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rgbClr val="ED524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 smtClean="0">
                                  <a:solidFill>
                                    <a:srgbClr val="ED524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𝐧</m:t>
                              </m:r>
                            </m:e>
                            <m:sup>
                              <m:r>
                                <a:rPr lang="en-US" sz="2400" b="1" i="0" smtClean="0">
                                  <a:solidFill>
                                    <a:srgbClr val="ED524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ED524F"/>
                  </a:solidFill>
                </a:endParaRPr>
              </a:p>
            </p:txBody>
          </p:sp>
        </mc:Choice>
        <mc:Fallback xmlns="">
          <p:sp>
            <p:nvSpPr>
              <p:cNvPr id="35" name="Rounded Rectangular Callout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912" y="4384529"/>
                <a:ext cx="914400" cy="457200"/>
              </a:xfrm>
              <a:prstGeom prst="wedgeRoundRectCallout">
                <a:avLst>
                  <a:gd name="adj1" fmla="val -71901"/>
                  <a:gd name="adj2" fmla="val -15165"/>
                  <a:gd name="adj3" fmla="val 16667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54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– Example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894803"/>
            <a:ext cx="5181600" cy="3093154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2000" b="1" dirty="0">
                <a:solidFill>
                  <a:srgbClr val="A7116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sz="2000" b="1" dirty="0" err="1">
                <a:solidFill>
                  <a:srgbClr val="A71160"/>
                </a:solidFill>
                <a:latin typeface="Consolas" pitchFamily="49" charset="0"/>
                <a:cs typeface="Consolas" pitchFamily="49" charset="0"/>
              </a:rPr>
              <a:t>Selection_Sort</a:t>
            </a:r>
            <a:r>
              <a:rPr lang="en-IN" sz="2000" b="1" dirty="0">
                <a:solidFill>
                  <a:srgbClr val="A71160"/>
                </a:solidFill>
                <a:latin typeface="Consolas" pitchFamily="49" charset="0"/>
                <a:cs typeface="Consolas" pitchFamily="49" charset="0"/>
              </a:rPr>
              <a:t>(A)</a:t>
            </a:r>
          </a:p>
          <a:p>
            <a:pPr>
              <a:spcBef>
                <a:spcPts val="600"/>
              </a:spcBef>
            </a:pPr>
            <a:r>
              <a:rPr lang="pt-BR" sz="2000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i ← </a:t>
            </a:r>
            <a:r>
              <a:rPr lang="pt-BR" sz="20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 to </a:t>
            </a:r>
            <a:r>
              <a:rPr lang="pt-BR" sz="20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n-1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1">
              <a:spcBef>
                <a:spcPts val="600"/>
              </a:spcBef>
            </a:pPr>
            <a:r>
              <a:rPr lang="en-IN" sz="2000" dirty="0" err="1">
                <a:latin typeface="Consolas" pitchFamily="49" charset="0"/>
                <a:cs typeface="Consolas" pitchFamily="49" charset="0"/>
              </a:rPr>
              <a:t>Min_i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r>
              <a:rPr lang="en-IN" sz="2000" dirty="0" err="1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; </a:t>
            </a:r>
            <a:r>
              <a:rPr lang="en-IN" sz="2000" dirty="0" err="1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min_v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 ←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A[i];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endParaRPr lang="en-IN" sz="2000" dirty="0">
              <a:latin typeface="Consolas" pitchFamily="49" charset="0"/>
              <a:cs typeface="Consolas" pitchFamily="49" charset="0"/>
            </a:endParaRPr>
          </a:p>
          <a:p>
            <a:pPr lvl="1">
              <a:spcBef>
                <a:spcPts val="600"/>
              </a:spcBef>
            </a:pPr>
            <a:r>
              <a:rPr lang="pt-BR" sz="2000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j ← </a:t>
            </a:r>
            <a:r>
              <a:rPr lang="pt-BR" sz="20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 + 1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to </a:t>
            </a:r>
            <a:r>
              <a:rPr lang="pt-BR" sz="20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2">
              <a:spcBef>
                <a:spcPts val="600"/>
              </a:spcBef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if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A[j] &lt; </a:t>
            </a:r>
            <a:r>
              <a:rPr lang="en-IN" sz="2000" dirty="0" err="1">
                <a:latin typeface="Consolas" pitchFamily="49" charset="0"/>
                <a:cs typeface="Consolas" pitchFamily="49" charset="0"/>
              </a:rPr>
              <a:t>min_v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then</a:t>
            </a:r>
          </a:p>
          <a:p>
            <a:pPr lvl="3">
              <a:spcBef>
                <a:spcPts val="600"/>
              </a:spcBef>
            </a:pPr>
            <a:r>
              <a:rPr lang="en-IN" sz="2000" dirty="0" err="1">
                <a:latin typeface="Consolas" pitchFamily="49" charset="0"/>
                <a:cs typeface="Consolas" pitchFamily="49" charset="0"/>
              </a:rPr>
              <a:t>Min_i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j ; </a:t>
            </a:r>
            <a:r>
              <a:rPr lang="en-IN" sz="2000" dirty="0" err="1">
                <a:latin typeface="Consolas" pitchFamily="49" charset="0"/>
                <a:cs typeface="Consolas" pitchFamily="49" charset="0"/>
              </a:rPr>
              <a:t>min_v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A[j];</a:t>
            </a:r>
          </a:p>
          <a:p>
            <a:pPr lvl="1">
              <a:spcBef>
                <a:spcPts val="600"/>
              </a:spcBef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A[</a:t>
            </a:r>
            <a:r>
              <a:rPr lang="en-IN" sz="2000" dirty="0" err="1">
                <a:latin typeface="Consolas" pitchFamily="49" charset="0"/>
                <a:cs typeface="Consolas" pitchFamily="49" charset="0"/>
              </a:rPr>
              <a:t>min_i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]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A[</a:t>
            </a:r>
            <a:r>
              <a:rPr lang="en-IN" sz="20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];</a:t>
            </a:r>
          </a:p>
          <a:p>
            <a:pPr lvl="1">
              <a:spcBef>
                <a:spcPts val="600"/>
              </a:spcBef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A[</a:t>
            </a:r>
            <a:r>
              <a:rPr lang="en-IN" sz="20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]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2000" dirty="0" err="1">
                <a:latin typeface="Consolas" pitchFamily="49" charset="0"/>
                <a:cs typeface="Consolas" pitchFamily="49" charset="0"/>
              </a:rPr>
              <a:t>min_v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;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4114800"/>
            <a:ext cx="10972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505303" y="914400"/>
            <a:ext cx="0" cy="3200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01635" y="4839788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495800" y="4161291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Sort in Ascending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9633" y="1620596"/>
            <a:ext cx="1108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A711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A711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633" y="2152447"/>
            <a:ext cx="2625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latin typeface="Consolas" pitchFamily="49" charset="0"/>
                <a:cs typeface="Consolas" pitchFamily="49" charset="0"/>
              </a:rPr>
              <a:t>Min_i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1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7059633" y="2622742"/>
            <a:ext cx="3392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Min_v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45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7059633" y="3090316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 =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1028" y="108002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1 :</a:t>
            </a:r>
            <a:endParaRPr lang="en-US" b="1" dirty="0"/>
          </a:p>
        </p:txBody>
      </p:sp>
      <p:sp>
        <p:nvSpPr>
          <p:cNvPr id="14" name="Rounded Rectangle 13"/>
          <p:cNvSpPr/>
          <p:nvPr/>
        </p:nvSpPr>
        <p:spPr>
          <a:xfrm>
            <a:off x="304799" y="1293039"/>
            <a:ext cx="3108960" cy="381680"/>
          </a:xfrm>
          <a:prstGeom prst="roundRect">
            <a:avLst/>
          </a:prstGeom>
          <a:noFill/>
          <a:ln w="63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101635" y="5291751"/>
          <a:ext cx="3810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101635" y="4839788"/>
            <a:ext cx="762000" cy="4572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313" y="2066341"/>
            <a:ext cx="3000103" cy="370709"/>
          </a:xfrm>
          <a:prstGeom prst="round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1219200" y="2463175"/>
            <a:ext cx="4191000" cy="748110"/>
          </a:xfrm>
          <a:prstGeom prst="round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016035" y="4835027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032481" y="2617984"/>
            <a:ext cx="548640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2481" y="2118787"/>
            <a:ext cx="36576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0202" y="3090316"/>
            <a:ext cx="46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2481" y="2617984"/>
            <a:ext cx="548640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633" y="3624888"/>
            <a:ext cx="1783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A[j] = 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412" y="3634602"/>
            <a:ext cx="53789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4218" y="2622677"/>
            <a:ext cx="1184366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 Change</a:t>
            </a:r>
          </a:p>
        </p:txBody>
      </p:sp>
    </p:spTree>
    <p:extLst>
      <p:ext uri="{BB962C8B-B14F-4D97-AF65-F5344CB8AC3E}">
        <p14:creationId xmlns:p14="http://schemas.microsoft.com/office/powerpoint/2010/main" val="256122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4.81481E-6 L 0.04141 0.05208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0" y="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4.07407E-6 L 0.06185 0.00069 " pathEditMode="relative" rAng="0" ptsTypes="AA">
                                      <p:cBhvr>
                                        <p:cTn id="9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86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 animBg="1"/>
      <p:bldP spid="14" grpId="0" animBg="1"/>
      <p:bldP spid="14" grpId="1" animBg="1"/>
      <p:bldP spid="14" grpId="2" animBg="1"/>
      <p:bldP spid="16" grpId="0" animBg="1"/>
      <p:bldP spid="17" grpId="0" animBg="1"/>
      <p:bldP spid="17" grpId="1" animBg="1"/>
      <p:bldP spid="18" grpId="0" animBg="1"/>
      <p:bldP spid="19" grpId="0" animBg="1"/>
      <p:bldP spid="19" grpId="1" animBg="1"/>
      <p:bldP spid="20" grpId="0" animBg="1"/>
      <p:bldP spid="21" grpId="0" animBg="1"/>
      <p:bldP spid="22" grpId="0"/>
      <p:bldP spid="24" grpId="0" animBg="1"/>
      <p:bldP spid="25" grpId="0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– Example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894803"/>
            <a:ext cx="5181600" cy="3093154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2000" b="1" dirty="0">
                <a:solidFill>
                  <a:srgbClr val="A7116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sz="2000" b="1" dirty="0" err="1">
                <a:solidFill>
                  <a:srgbClr val="A71160"/>
                </a:solidFill>
                <a:latin typeface="Consolas" pitchFamily="49" charset="0"/>
                <a:cs typeface="Consolas" pitchFamily="49" charset="0"/>
              </a:rPr>
              <a:t>Selection_Sort</a:t>
            </a:r>
            <a:r>
              <a:rPr lang="en-IN" sz="2000" b="1" dirty="0">
                <a:solidFill>
                  <a:srgbClr val="A71160"/>
                </a:solidFill>
                <a:latin typeface="Consolas" pitchFamily="49" charset="0"/>
                <a:cs typeface="Consolas" pitchFamily="49" charset="0"/>
              </a:rPr>
              <a:t>(A)</a:t>
            </a:r>
          </a:p>
          <a:p>
            <a:pPr>
              <a:spcBef>
                <a:spcPts val="600"/>
              </a:spcBef>
            </a:pPr>
            <a:r>
              <a:rPr lang="pt-BR" sz="2000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i ← </a:t>
            </a:r>
            <a:r>
              <a:rPr lang="pt-BR" sz="20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 to </a:t>
            </a:r>
            <a:r>
              <a:rPr lang="pt-BR" sz="20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n-1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1">
              <a:spcBef>
                <a:spcPts val="600"/>
              </a:spcBef>
            </a:pPr>
            <a:r>
              <a:rPr lang="en-IN" sz="2000" dirty="0" err="1">
                <a:latin typeface="Consolas" pitchFamily="49" charset="0"/>
                <a:cs typeface="Consolas" pitchFamily="49" charset="0"/>
              </a:rPr>
              <a:t>Min_i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r>
              <a:rPr lang="en-IN" sz="2000" dirty="0" err="1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; </a:t>
            </a:r>
            <a:r>
              <a:rPr lang="en-IN" sz="2000" dirty="0" err="1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min_v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 ←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A[i];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endParaRPr lang="en-IN" sz="2000" dirty="0">
              <a:latin typeface="Consolas" pitchFamily="49" charset="0"/>
              <a:cs typeface="Consolas" pitchFamily="49" charset="0"/>
            </a:endParaRPr>
          </a:p>
          <a:p>
            <a:pPr lvl="1">
              <a:spcBef>
                <a:spcPts val="600"/>
              </a:spcBef>
            </a:pPr>
            <a:r>
              <a:rPr lang="pt-BR" sz="2000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j ← </a:t>
            </a:r>
            <a:r>
              <a:rPr lang="pt-BR" sz="20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 + 1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to </a:t>
            </a:r>
            <a:r>
              <a:rPr lang="pt-BR" sz="20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2">
              <a:spcBef>
                <a:spcPts val="600"/>
              </a:spcBef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if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A[j] &lt; </a:t>
            </a:r>
            <a:r>
              <a:rPr lang="en-IN" sz="2000" dirty="0" err="1">
                <a:latin typeface="Consolas" pitchFamily="49" charset="0"/>
                <a:cs typeface="Consolas" pitchFamily="49" charset="0"/>
              </a:rPr>
              <a:t>min_v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then</a:t>
            </a:r>
          </a:p>
          <a:p>
            <a:pPr lvl="3">
              <a:spcBef>
                <a:spcPts val="600"/>
              </a:spcBef>
            </a:pPr>
            <a:r>
              <a:rPr lang="en-IN" sz="2000" dirty="0" err="1">
                <a:latin typeface="Consolas" pitchFamily="49" charset="0"/>
                <a:cs typeface="Consolas" pitchFamily="49" charset="0"/>
              </a:rPr>
              <a:t>Min_i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j ; </a:t>
            </a:r>
            <a:r>
              <a:rPr lang="en-IN" sz="2000" dirty="0" err="1">
                <a:latin typeface="Consolas" pitchFamily="49" charset="0"/>
                <a:cs typeface="Consolas" pitchFamily="49" charset="0"/>
              </a:rPr>
              <a:t>min_v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A[j];</a:t>
            </a:r>
          </a:p>
          <a:p>
            <a:pPr lvl="1">
              <a:spcBef>
                <a:spcPts val="600"/>
              </a:spcBef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A[</a:t>
            </a:r>
            <a:r>
              <a:rPr lang="en-IN" sz="2000" dirty="0" err="1">
                <a:latin typeface="Consolas" pitchFamily="49" charset="0"/>
                <a:cs typeface="Consolas" pitchFamily="49" charset="0"/>
              </a:rPr>
              <a:t>min_i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]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A[</a:t>
            </a:r>
            <a:r>
              <a:rPr lang="en-IN" sz="20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];</a:t>
            </a:r>
          </a:p>
          <a:p>
            <a:pPr lvl="1">
              <a:spcBef>
                <a:spcPts val="600"/>
              </a:spcBef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A[</a:t>
            </a:r>
            <a:r>
              <a:rPr lang="en-IN" sz="20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]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2000" dirty="0" err="1">
                <a:latin typeface="Consolas" pitchFamily="49" charset="0"/>
                <a:cs typeface="Consolas" pitchFamily="49" charset="0"/>
              </a:rPr>
              <a:t>min_v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;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4114800"/>
            <a:ext cx="10972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505303" y="914400"/>
            <a:ext cx="0" cy="3200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01635" y="4839788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495800" y="4161291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Sort in Ascending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9633" y="1620596"/>
            <a:ext cx="1108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A711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A711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633" y="2152447"/>
            <a:ext cx="2625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latin typeface="Consolas" pitchFamily="49" charset="0"/>
                <a:cs typeface="Consolas" pitchFamily="49" charset="0"/>
              </a:rPr>
              <a:t>Min_i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2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7059633" y="2622742"/>
            <a:ext cx="3392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Min_v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34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7059633" y="3090316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 =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1028" y="108002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1 :</a:t>
            </a:r>
            <a:endParaRPr lang="en-US" b="1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101635" y="5291751"/>
          <a:ext cx="3810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101635" y="4839788"/>
            <a:ext cx="762000" cy="4572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8935" y="2024743"/>
            <a:ext cx="4293327" cy="1186542"/>
          </a:xfrm>
          <a:prstGeom prst="round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3544389" y="4835027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032482" y="2631046"/>
            <a:ext cx="548640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2482" y="2144913"/>
            <a:ext cx="36576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7950" y="3090316"/>
            <a:ext cx="46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2481" y="2631046"/>
            <a:ext cx="548640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633" y="3624888"/>
            <a:ext cx="1783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A[j] = 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7286" y="3634602"/>
            <a:ext cx="53789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356" y="3090316"/>
            <a:ext cx="46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cxnSp>
        <p:nvCxnSpPr>
          <p:cNvPr id="23" name="Straight Connector 22"/>
          <p:cNvCxnSpPr/>
          <p:nvPr/>
        </p:nvCxnSpPr>
        <p:spPr>
          <a:xfrm flipV="1">
            <a:off x="1658983" y="3135086"/>
            <a:ext cx="32004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810762" y="3090316"/>
            <a:ext cx="46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126" y="2153620"/>
            <a:ext cx="36576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685185" y="4839788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685185" y="5265626"/>
          <a:ext cx="3810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10733185" y="4845013"/>
            <a:ext cx="749808" cy="438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5185" y="4848932"/>
            <a:ext cx="762000" cy="448056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5" name="Freeform 34"/>
          <p:cNvSpPr/>
          <p:nvPr/>
        </p:nvSpPr>
        <p:spPr>
          <a:xfrm>
            <a:off x="8495381" y="4648938"/>
            <a:ext cx="2976289" cy="142822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9261539" y="4239668"/>
            <a:ext cx="1577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Unsorted Array</a:t>
            </a:r>
          </a:p>
        </p:txBody>
      </p:sp>
      <p:sp>
        <p:nvSpPr>
          <p:cNvPr id="37" name="Freeform 36"/>
          <p:cNvSpPr/>
          <p:nvPr/>
        </p:nvSpPr>
        <p:spPr>
          <a:xfrm>
            <a:off x="1489166" y="5574267"/>
            <a:ext cx="3043645" cy="27789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2424531" y="5855120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Swap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4364658" y="6035792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" name="Rectangle 39"/>
          <p:cNvSpPr/>
          <p:nvPr/>
        </p:nvSpPr>
        <p:spPr>
          <a:xfrm>
            <a:off x="4364658" y="6035792"/>
            <a:ext cx="762000" cy="457200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2254" y="6035792"/>
            <a:ext cx="762000" cy="457200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0658" y="6033560"/>
            <a:ext cx="79952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50658" y="6032939"/>
            <a:ext cx="817140" cy="46290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56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50509" y="6034650"/>
            <a:ext cx="758952" cy="459485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24057" y="6035792"/>
            <a:ext cx="758952" cy="457200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56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79850" y="6033558"/>
            <a:ext cx="762000" cy="457200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34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4435" y="3220823"/>
            <a:ext cx="2516776" cy="748110"/>
          </a:xfrm>
          <a:prstGeom prst="round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53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07407E-6 L 0.06223 0.00069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12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0" grpId="0" animBg="1"/>
      <p:bldP spid="21" grpId="0" animBg="1"/>
      <p:bldP spid="24" grpId="0" animBg="1"/>
      <p:bldP spid="25" grpId="0"/>
      <p:bldP spid="26" grpId="0" animBg="1"/>
      <p:bldP spid="28" grpId="0"/>
      <p:bldP spid="29" grpId="0"/>
      <p:bldP spid="30" grpId="0" animBg="1"/>
      <p:bldP spid="33" grpId="0" animBg="1"/>
      <p:bldP spid="34" grpId="0" animBg="1"/>
      <p:bldP spid="35" grpId="0" animBg="1"/>
      <p:bldP spid="36" grpId="0"/>
      <p:bldP spid="37" grpId="0" animBg="1"/>
      <p:bldP spid="38" grpId="0"/>
      <p:bldP spid="40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3" grpId="0" animBg="1"/>
      <p:bldP spid="4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Insertion Sort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33082" y="851649"/>
            <a:ext cx="117258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In insertion sort, </a:t>
            </a:r>
            <a:r>
              <a:rPr lang="en-IN" sz="2400" b="1" dirty="0"/>
              <a:t>every iteration moves</a:t>
            </a:r>
            <a:r>
              <a:rPr lang="en-IN" sz="2400" dirty="0"/>
              <a:t> an </a:t>
            </a:r>
            <a:r>
              <a:rPr lang="en-IN" sz="2400" b="1" dirty="0"/>
              <a:t>element</a:t>
            </a:r>
            <a:r>
              <a:rPr lang="en-IN" sz="2400" dirty="0"/>
              <a:t> from </a:t>
            </a:r>
            <a:r>
              <a:rPr lang="en-IN" sz="2400" b="1" dirty="0"/>
              <a:t>unsorted portion</a:t>
            </a:r>
            <a:r>
              <a:rPr lang="en-IN" sz="2400" dirty="0"/>
              <a:t> to </a:t>
            </a:r>
            <a:r>
              <a:rPr lang="en-IN" sz="2400" b="1" dirty="0"/>
              <a:t>sorted portion</a:t>
            </a:r>
            <a:r>
              <a:rPr lang="en-IN" sz="2400" dirty="0"/>
              <a:t> until all the elements are sorted in the list.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98611" y="1761566"/>
            <a:ext cx="11998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33082" y="1976720"/>
            <a:ext cx="11725836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sz="2400" b="1" dirty="0"/>
              <a:t>Steps for Insertion Sort</a:t>
            </a:r>
            <a:endParaRPr lang="en-US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233082" y="2451078"/>
            <a:ext cx="533907" cy="83571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</a:t>
            </a:r>
            <a:endParaRPr lang="en-US" sz="2400" b="1" dirty="0"/>
          </a:p>
        </p:txBody>
      </p:sp>
      <p:sp>
        <p:nvSpPr>
          <p:cNvPr id="9" name="Rectangle 8"/>
          <p:cNvSpPr/>
          <p:nvPr/>
        </p:nvSpPr>
        <p:spPr>
          <a:xfrm>
            <a:off x="766989" y="2451078"/>
            <a:ext cx="11191929" cy="83099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IN" sz="2400" dirty="0"/>
              <a:t>Assume that </a:t>
            </a:r>
            <a:r>
              <a:rPr lang="en-IN" sz="2400" b="1" dirty="0">
                <a:solidFill>
                  <a:srgbClr val="C00000"/>
                </a:solidFill>
              </a:rPr>
              <a:t>first element</a:t>
            </a:r>
            <a:r>
              <a:rPr lang="en-IN" sz="2400" dirty="0"/>
              <a:t> in the list is in </a:t>
            </a:r>
            <a:r>
              <a:rPr lang="en-IN" sz="2400" b="1" dirty="0">
                <a:solidFill>
                  <a:srgbClr val="C00000"/>
                </a:solidFill>
              </a:rPr>
              <a:t>sorted portion</a:t>
            </a:r>
            <a:r>
              <a:rPr lang="en-IN" sz="2400" dirty="0"/>
              <a:t> of the list and </a:t>
            </a:r>
            <a:r>
              <a:rPr lang="en-IN" sz="2400" b="1" dirty="0">
                <a:solidFill>
                  <a:srgbClr val="C00000"/>
                </a:solidFill>
              </a:rPr>
              <a:t>remaining all elements </a:t>
            </a:r>
            <a:r>
              <a:rPr lang="en-IN" sz="2400" dirty="0"/>
              <a:t>are in </a:t>
            </a:r>
            <a:r>
              <a:rPr lang="en-IN" sz="2400" b="1" dirty="0">
                <a:solidFill>
                  <a:srgbClr val="C00000"/>
                </a:solidFill>
              </a:rPr>
              <a:t>unsorted portion</a:t>
            </a:r>
            <a:r>
              <a:rPr lang="en-IN" sz="2400" dirty="0"/>
              <a:t>.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233081" y="3294768"/>
            <a:ext cx="533907" cy="83571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11" name="Rectangle 10"/>
          <p:cNvSpPr/>
          <p:nvPr/>
        </p:nvSpPr>
        <p:spPr>
          <a:xfrm>
            <a:off x="766988" y="3294768"/>
            <a:ext cx="11191929" cy="83099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IN" sz="2400" dirty="0"/>
              <a:t>Select </a:t>
            </a:r>
            <a:r>
              <a:rPr lang="en-IN" sz="2400" b="1" dirty="0">
                <a:solidFill>
                  <a:srgbClr val="C00000"/>
                </a:solidFill>
              </a:rPr>
              <a:t>first element</a:t>
            </a:r>
            <a:r>
              <a:rPr lang="en-IN" sz="2400" dirty="0"/>
              <a:t> from the </a:t>
            </a:r>
            <a:r>
              <a:rPr lang="en-IN" sz="2400" b="1" dirty="0">
                <a:solidFill>
                  <a:srgbClr val="C00000"/>
                </a:solidFill>
              </a:rPr>
              <a:t>unsorted list</a:t>
            </a:r>
            <a:r>
              <a:rPr lang="en-IN" sz="2400" dirty="0"/>
              <a:t> and </a:t>
            </a:r>
            <a:r>
              <a:rPr lang="en-IN" sz="2400" b="1" dirty="0">
                <a:solidFill>
                  <a:srgbClr val="C00000"/>
                </a:solidFill>
              </a:rPr>
              <a:t>insert</a:t>
            </a:r>
            <a:r>
              <a:rPr lang="en-IN" sz="2400" dirty="0"/>
              <a:t> that element </a:t>
            </a:r>
            <a:r>
              <a:rPr lang="en-IN" sz="2400" b="1" dirty="0">
                <a:solidFill>
                  <a:srgbClr val="C00000"/>
                </a:solidFill>
              </a:rPr>
              <a:t>into the sorted </a:t>
            </a:r>
            <a:r>
              <a:rPr lang="en-IN" sz="2400" dirty="0"/>
              <a:t>list in </a:t>
            </a:r>
            <a:r>
              <a:rPr lang="en-IN" sz="2400" b="1" dirty="0">
                <a:solidFill>
                  <a:srgbClr val="C00000"/>
                </a:solidFill>
              </a:rPr>
              <a:t>order specified</a:t>
            </a:r>
            <a:r>
              <a:rPr lang="en-IN" sz="2400" dirty="0"/>
              <a:t>.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233080" y="4125765"/>
            <a:ext cx="533907" cy="83571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</a:t>
            </a:r>
            <a:endParaRPr lang="en-US" sz="2400" b="1" dirty="0"/>
          </a:p>
        </p:txBody>
      </p:sp>
      <p:sp>
        <p:nvSpPr>
          <p:cNvPr id="13" name="Rectangle 12"/>
          <p:cNvSpPr/>
          <p:nvPr/>
        </p:nvSpPr>
        <p:spPr>
          <a:xfrm>
            <a:off x="766987" y="4125765"/>
            <a:ext cx="11191928" cy="83099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IN" sz="2400" b="1" dirty="0">
                <a:solidFill>
                  <a:srgbClr val="C00000"/>
                </a:solidFill>
              </a:rPr>
              <a:t>Repeat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/>
              <a:t>the above process </a:t>
            </a:r>
            <a:r>
              <a:rPr lang="en-IN" sz="2400" b="1" dirty="0">
                <a:solidFill>
                  <a:srgbClr val="C00000"/>
                </a:solidFill>
              </a:rPr>
              <a:t>until all </a:t>
            </a:r>
            <a:r>
              <a:rPr lang="en-IN" sz="2400" dirty="0"/>
              <a:t>the </a:t>
            </a:r>
            <a:r>
              <a:rPr lang="en-IN" sz="2400" b="1" dirty="0">
                <a:solidFill>
                  <a:srgbClr val="C00000"/>
                </a:solidFill>
              </a:rPr>
              <a:t>elements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/>
              <a:t>from the </a:t>
            </a:r>
            <a:r>
              <a:rPr lang="en-IN" sz="2400" b="1" dirty="0">
                <a:solidFill>
                  <a:srgbClr val="C00000"/>
                </a:solidFill>
              </a:rPr>
              <a:t>unsorted list</a:t>
            </a:r>
            <a:r>
              <a:rPr lang="en-IN" sz="2400" dirty="0"/>
              <a:t> are </a:t>
            </a:r>
            <a:r>
              <a:rPr lang="en-IN" sz="2400" b="1" dirty="0">
                <a:solidFill>
                  <a:srgbClr val="C00000"/>
                </a:solidFill>
              </a:rPr>
              <a:t>moved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b="1" dirty="0">
                <a:solidFill>
                  <a:srgbClr val="C00000"/>
                </a:solidFill>
              </a:rPr>
              <a:t>into</a:t>
            </a:r>
            <a:r>
              <a:rPr lang="en-IN" sz="2400" dirty="0"/>
              <a:t> the </a:t>
            </a:r>
            <a:r>
              <a:rPr lang="en-IN" sz="2400" b="1" dirty="0">
                <a:solidFill>
                  <a:srgbClr val="C00000"/>
                </a:solidFill>
              </a:rPr>
              <a:t>sorted list</a:t>
            </a:r>
            <a:r>
              <a:rPr lang="en-IN" sz="2400" b="1" dirty="0">
                <a:solidFill>
                  <a:schemeClr val="tx1"/>
                </a:solidFill>
              </a:rPr>
              <a:t>.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3080" y="5322622"/>
            <a:ext cx="117258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This algorithm is not suitable for large data sets</a:t>
            </a:r>
            <a:endParaRPr lang="en-US" sz="240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8611" y="5190567"/>
            <a:ext cx="11998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352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Insertion Sort cont.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36000" y="824755"/>
            <a:ext cx="11520000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sz="2400" b="1" dirty="0"/>
              <a:t>Complexity of the Insertion Sort Algorithm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336000" y="1304367"/>
            <a:ext cx="11520000" cy="8309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2400" b="1" dirty="0"/>
              <a:t>To sort a </a:t>
            </a:r>
            <a:r>
              <a:rPr lang="en-IN" sz="2400" b="1" dirty="0">
                <a:solidFill>
                  <a:srgbClr val="E40524"/>
                </a:solidFill>
              </a:rPr>
              <a:t>unsorted list </a:t>
            </a:r>
            <a:r>
              <a:rPr lang="en-IN" sz="2400" dirty="0"/>
              <a:t>with </a:t>
            </a:r>
            <a:r>
              <a:rPr lang="en-IN" sz="2400" b="1" dirty="0"/>
              <a:t>'n'</a:t>
            </a:r>
            <a:r>
              <a:rPr lang="en-IN" sz="2400" dirty="0"/>
              <a:t> number of </a:t>
            </a:r>
            <a:r>
              <a:rPr lang="en-IN" sz="2400" b="1" dirty="0">
                <a:solidFill>
                  <a:srgbClr val="E40524"/>
                </a:solidFill>
              </a:rPr>
              <a:t>elements</a:t>
            </a: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IN" sz="2400" dirty="0"/>
              <a:t>we </a:t>
            </a:r>
            <a:r>
              <a:rPr lang="en-IN" sz="2400" b="1" dirty="0"/>
              <a:t>need</a:t>
            </a:r>
            <a:r>
              <a:rPr lang="en-IN" sz="2400" dirty="0"/>
              <a:t> to make </a:t>
            </a:r>
            <a:r>
              <a:rPr lang="en-IN" sz="2400" b="1" dirty="0"/>
              <a:t>(1+2+3+......+n-1) </a:t>
            </a:r>
            <a:r>
              <a:rPr lang="en-IN" sz="2400" dirty="0"/>
              <a:t>= </a:t>
            </a:r>
          </a:p>
          <a:p>
            <a:pPr algn="just"/>
            <a:r>
              <a:rPr lang="en-IN" sz="2400" b="1" dirty="0"/>
              <a:t>(n (n-1))/2 </a:t>
            </a:r>
            <a:r>
              <a:rPr lang="en-IN" sz="2400" dirty="0"/>
              <a:t>number of </a:t>
            </a:r>
            <a:r>
              <a:rPr lang="en-IN" sz="2400" b="1" dirty="0"/>
              <a:t>comparisons</a:t>
            </a:r>
            <a:r>
              <a:rPr lang="en-IN" sz="2400" dirty="0"/>
              <a:t> in the worst case.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336000" y="2238477"/>
            <a:ext cx="11520000" cy="461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If the list </a:t>
            </a:r>
            <a:r>
              <a:rPr lang="en-IN" sz="2400" b="1" dirty="0">
                <a:solidFill>
                  <a:srgbClr val="E40524"/>
                </a:solidFill>
              </a:rPr>
              <a:t>already sorted</a:t>
            </a:r>
            <a:r>
              <a:rPr lang="en-IN" sz="2400" dirty="0"/>
              <a:t>, then it requires </a:t>
            </a:r>
            <a:r>
              <a:rPr lang="en-IN" sz="2400" b="1" dirty="0">
                <a:solidFill>
                  <a:srgbClr val="E40524"/>
                </a:solidFill>
              </a:rPr>
              <a:t>'n' </a:t>
            </a:r>
            <a:r>
              <a:rPr lang="en-IN" sz="2400" dirty="0"/>
              <a:t>number of </a:t>
            </a:r>
            <a:r>
              <a:rPr lang="en-IN" sz="2400" b="1" dirty="0">
                <a:solidFill>
                  <a:srgbClr val="E40524"/>
                </a:solidFill>
              </a:rPr>
              <a:t>comparisons</a:t>
            </a:r>
            <a:r>
              <a:rPr lang="en-IN" sz="2400" dirty="0"/>
              <a:t>.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336000" y="2842594"/>
            <a:ext cx="11520000" cy="120032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sz="2400" dirty="0"/>
              <a:t>Worst Case : Θ(n</a:t>
            </a:r>
            <a:r>
              <a:rPr lang="en-IN" sz="2400" baseline="30000" dirty="0"/>
              <a:t>2</a:t>
            </a:r>
            <a:r>
              <a:rPr lang="en-IN" sz="2400" dirty="0"/>
              <a:t>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dirty="0"/>
              <a:t>Best Case : Ω(n)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dirty="0"/>
              <a:t>Average Case : Θ(n</a:t>
            </a:r>
            <a:r>
              <a:rPr lang="en-IN" sz="2400" baseline="30000" dirty="0"/>
              <a:t>2</a:t>
            </a:r>
            <a:r>
              <a:rPr lang="en-IN" sz="2400" dirty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86040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4038600" y="45325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22177" y="914401"/>
            <a:ext cx="47476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Sort given array using Insertion Sort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600200" y="2133600"/>
            <a:ext cx="88773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41318" y="2133601"/>
            <a:ext cx="75550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Pass - 1 : Select First Record and considered as Sorter Sub-array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2800" y="27037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038600" y="27037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153296" y="26670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4400" y="27037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839096" y="26670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0200" y="27037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524896" y="26670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0" y="27037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210696" y="26670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81800" y="27037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896496" y="26670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67600" y="27037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582296" y="26670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3400" y="27037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8268096" y="26670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52800" y="144780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467496" y="14110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38600" y="144780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153296" y="14110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24400" y="144780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4839096" y="14110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10200" y="144780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524896" y="14110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0" y="144780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210696" y="14110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81800" y="144780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6896496" y="14110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67600" y="144780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7582296" y="14110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53400" y="144780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8268096" y="14110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52800" y="45325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3511422" y="44958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53296" y="44958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24400" y="45325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4839096" y="44958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10200" y="45325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5524896" y="44958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6000" y="45325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6210696" y="44958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81800" y="45325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6896496" y="44958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67600" y="45325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7582296" y="44958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53400" y="45325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8268096" y="44958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52800" y="27037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467496" y="26670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6</a:t>
            </a:r>
          </a:p>
        </p:txBody>
      </p:sp>
      <p:cxnSp>
        <p:nvCxnSpPr>
          <p:cNvPr id="60" name="Straight Connector 59"/>
          <p:cNvCxnSpPr/>
          <p:nvPr/>
        </p:nvCxnSpPr>
        <p:spPr>
          <a:xfrm>
            <a:off x="4038600" y="3237131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124200" y="3248799"/>
            <a:ext cx="867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Sorted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1" y="3248799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Unsorted </a:t>
            </a:r>
          </a:p>
        </p:txBody>
      </p:sp>
      <p:cxnSp>
        <p:nvCxnSpPr>
          <p:cNvPr id="63" name="Straight Connector 62"/>
          <p:cNvCxnSpPr/>
          <p:nvPr/>
        </p:nvCxnSpPr>
        <p:spPr>
          <a:xfrm>
            <a:off x="1562100" y="3733800"/>
            <a:ext cx="88773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752894" y="3733801"/>
            <a:ext cx="86103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Pass - 2 : Select Second Record and Insert at proper place in sorted array</a:t>
            </a:r>
          </a:p>
        </p:txBody>
      </p:sp>
      <p:cxnSp>
        <p:nvCxnSpPr>
          <p:cNvPr id="70" name="Elbow Connector 69"/>
          <p:cNvCxnSpPr/>
          <p:nvPr/>
        </p:nvCxnSpPr>
        <p:spPr>
          <a:xfrm rot="5400000" flipH="1" flipV="1">
            <a:off x="4041711" y="4185621"/>
            <a:ext cx="12700" cy="641874"/>
          </a:xfrm>
          <a:prstGeom prst="bentConnector3">
            <a:avLst>
              <a:gd name="adj1" fmla="val 1800000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4038600" y="5403850"/>
            <a:ext cx="685800" cy="5334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3352800" y="540385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/>
          <p:cNvSpPr txBox="1"/>
          <p:nvPr/>
        </p:nvSpPr>
        <p:spPr>
          <a:xfrm>
            <a:off x="3511422" y="53671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53296" y="53671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724400" y="540385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/>
          <p:cNvSpPr txBox="1"/>
          <p:nvPr/>
        </p:nvSpPr>
        <p:spPr>
          <a:xfrm>
            <a:off x="4839096" y="53671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10200" y="540385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5524896" y="53671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96000" y="540385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/>
          <p:cNvSpPr txBox="1"/>
          <p:nvPr/>
        </p:nvSpPr>
        <p:spPr>
          <a:xfrm>
            <a:off x="6210696" y="53671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81800" y="540385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/>
          <p:cNvSpPr txBox="1"/>
          <p:nvPr/>
        </p:nvSpPr>
        <p:spPr>
          <a:xfrm>
            <a:off x="6896496" y="53671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67600" y="540385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7582296" y="53671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153400" y="540385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8268096" y="53671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4</a:t>
            </a:r>
          </a:p>
        </p:txBody>
      </p:sp>
      <p:cxnSp>
        <p:nvCxnSpPr>
          <p:cNvPr id="91" name="Elbow Connector 90"/>
          <p:cNvCxnSpPr/>
          <p:nvPr/>
        </p:nvCxnSpPr>
        <p:spPr>
          <a:xfrm rot="5400000">
            <a:off x="4041711" y="4750247"/>
            <a:ext cx="12700" cy="641874"/>
          </a:xfrm>
          <a:prstGeom prst="bentConnector3">
            <a:avLst>
              <a:gd name="adj1" fmla="val 1800000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4724400" y="594360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3810000" y="5955268"/>
            <a:ext cx="867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Sorted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00601" y="5955268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Unsorted </a:t>
            </a:r>
          </a:p>
        </p:txBody>
      </p:sp>
    </p:spTree>
    <p:extLst>
      <p:ext uri="{BB962C8B-B14F-4D97-AF65-F5344CB8AC3E}">
        <p14:creationId xmlns:p14="http://schemas.microsoft.com/office/powerpoint/2010/main" val="2559769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5" grpId="0"/>
      <p:bldP spid="9" grpId="0"/>
      <p:bldP spid="10" grpId="0" animBg="1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 animBg="1"/>
      <p:bldP spid="43" grpId="0"/>
      <p:bldP spid="45" grpId="0"/>
      <p:bldP spid="46" grpId="0" animBg="1"/>
      <p:bldP spid="47" grpId="0"/>
      <p:bldP spid="48" grpId="0" animBg="1"/>
      <p:bldP spid="49" grpId="0"/>
      <p:bldP spid="50" grpId="0" animBg="1"/>
      <p:bldP spid="51" grpId="0"/>
      <p:bldP spid="52" grpId="0" animBg="1"/>
      <p:bldP spid="53" grpId="0"/>
      <p:bldP spid="54" grpId="0" animBg="1"/>
      <p:bldP spid="55" grpId="0"/>
      <p:bldP spid="56" grpId="0" animBg="1"/>
      <p:bldP spid="57" grpId="0"/>
      <p:bldP spid="58" grpId="0" animBg="1"/>
      <p:bldP spid="11" grpId="0"/>
      <p:bldP spid="61" grpId="0"/>
      <p:bldP spid="62" grpId="0"/>
      <p:bldP spid="64" grpId="0"/>
      <p:bldP spid="71" grpId="0" animBg="1"/>
      <p:bldP spid="72" grpId="0" animBg="1"/>
      <p:bldP spid="73" grpId="0"/>
      <p:bldP spid="74" grpId="0"/>
      <p:bldP spid="75" grpId="0" animBg="1"/>
      <p:bldP spid="76" grpId="0"/>
      <p:bldP spid="77" grpId="0" animBg="1"/>
      <p:bldP spid="78" grpId="0"/>
      <p:bldP spid="79" grpId="0" animBg="1"/>
      <p:bldP spid="80" grpId="0"/>
      <p:bldP spid="81" grpId="0" animBg="1"/>
      <p:bldP spid="82" grpId="0"/>
      <p:bldP spid="83" grpId="0" animBg="1"/>
      <p:bldP spid="84" grpId="0"/>
      <p:bldP spid="85" grpId="0" animBg="1"/>
      <p:bldP spid="86" grpId="0"/>
      <p:bldP spid="97" grpId="0"/>
      <p:bldP spid="9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Example Cont.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5900" y="990601"/>
            <a:ext cx="83687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Pass - 3 : Select Third record and Insert at proper place in sorted array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38600" y="1746250"/>
            <a:ext cx="685800" cy="5334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352800" y="174625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511422" y="17095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53296" y="17095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24400" y="174625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839096" y="17095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10200" y="174625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5524896" y="17095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0" y="174625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6210696" y="17095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1800" y="174625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6896496" y="17095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67600" y="174625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7582296" y="17095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53400" y="174625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8268096" y="17095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4</a:t>
            </a:r>
          </a:p>
        </p:txBody>
      </p:sp>
      <p:cxnSp>
        <p:nvCxnSpPr>
          <p:cNvPr id="49" name="Elbow Connector 48"/>
          <p:cNvCxnSpPr/>
          <p:nvPr/>
        </p:nvCxnSpPr>
        <p:spPr>
          <a:xfrm rot="16200000" flipH="1">
            <a:off x="4905962" y="1394825"/>
            <a:ext cx="36731" cy="704652"/>
          </a:xfrm>
          <a:prstGeom prst="bentConnector3">
            <a:avLst>
              <a:gd name="adj1" fmla="val -622363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Elbow Connector 51"/>
          <p:cNvCxnSpPr/>
          <p:nvPr/>
        </p:nvCxnSpPr>
        <p:spPr>
          <a:xfrm rot="16200000" flipH="1">
            <a:off x="4125109" y="1399588"/>
            <a:ext cx="36731" cy="704652"/>
          </a:xfrm>
          <a:prstGeom prst="bentConnector3">
            <a:avLst>
              <a:gd name="adj1" fmla="val -622363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Elbow Connector 53"/>
          <p:cNvCxnSpPr/>
          <p:nvPr/>
        </p:nvCxnSpPr>
        <p:spPr>
          <a:xfrm rot="5400000">
            <a:off x="4384611" y="1628513"/>
            <a:ext cx="12700" cy="1327674"/>
          </a:xfrm>
          <a:prstGeom prst="bentConnector3">
            <a:avLst>
              <a:gd name="adj1" fmla="val 1800000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4038600" y="2856131"/>
            <a:ext cx="685800" cy="5334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3352800" y="28561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511422" y="28194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53296" y="28194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24400" y="28561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4839096" y="28194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10200" y="28561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5524896" y="28194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96000" y="28561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6210696" y="28194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81800" y="28561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6896496" y="28194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67600" y="28561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7582296" y="28194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53400" y="28561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8268096" y="28194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4</a:t>
            </a:r>
          </a:p>
        </p:txBody>
      </p:sp>
      <p:cxnSp>
        <p:nvCxnSpPr>
          <p:cNvPr id="72" name="Straight Connector 71"/>
          <p:cNvCxnSpPr/>
          <p:nvPr/>
        </p:nvCxnSpPr>
        <p:spPr>
          <a:xfrm>
            <a:off x="5410200" y="335280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495800" y="3364468"/>
            <a:ext cx="867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Sorted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1" y="3364468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Unsorted </a:t>
            </a:r>
          </a:p>
        </p:txBody>
      </p:sp>
      <p:cxnSp>
        <p:nvCxnSpPr>
          <p:cNvPr id="75" name="Straight Connector 74"/>
          <p:cNvCxnSpPr/>
          <p:nvPr/>
        </p:nvCxnSpPr>
        <p:spPr>
          <a:xfrm>
            <a:off x="1562100" y="3805535"/>
            <a:ext cx="88773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745060" y="3805536"/>
            <a:ext cx="83895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Pass - 4 : Select Forth record and Insert at proper place in sorted array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38600" y="4648200"/>
            <a:ext cx="685800" cy="5334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3352800" y="464820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3511422" y="46114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53296" y="46114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24400" y="464820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4839096" y="46114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10200" y="464820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5524896" y="46114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096000" y="464820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/>
          <p:cNvSpPr txBox="1"/>
          <p:nvPr/>
        </p:nvSpPr>
        <p:spPr>
          <a:xfrm>
            <a:off x="6210696" y="46114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781800" y="464820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6896496" y="46114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67600" y="464820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/>
          <p:cNvSpPr txBox="1"/>
          <p:nvPr/>
        </p:nvSpPr>
        <p:spPr>
          <a:xfrm>
            <a:off x="7582296" y="46114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153400" y="464820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8268096" y="46114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4</a:t>
            </a:r>
          </a:p>
        </p:txBody>
      </p:sp>
      <p:cxnSp>
        <p:nvCxnSpPr>
          <p:cNvPr id="95" name="Elbow Connector 94"/>
          <p:cNvCxnSpPr/>
          <p:nvPr/>
        </p:nvCxnSpPr>
        <p:spPr>
          <a:xfrm rot="16200000" flipH="1">
            <a:off x="5572909" y="4292499"/>
            <a:ext cx="36731" cy="704652"/>
          </a:xfrm>
          <a:prstGeom prst="bentConnector3">
            <a:avLst>
              <a:gd name="adj1" fmla="val -622363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Elbow Connector 95"/>
          <p:cNvCxnSpPr/>
          <p:nvPr/>
        </p:nvCxnSpPr>
        <p:spPr>
          <a:xfrm rot="16200000" flipH="1">
            <a:off x="4753562" y="4292499"/>
            <a:ext cx="36731" cy="704652"/>
          </a:xfrm>
          <a:prstGeom prst="bentConnector3">
            <a:avLst>
              <a:gd name="adj1" fmla="val -622363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Elbow Connector 96"/>
          <p:cNvCxnSpPr/>
          <p:nvPr/>
        </p:nvCxnSpPr>
        <p:spPr>
          <a:xfrm rot="16200000" flipH="1">
            <a:off x="3915362" y="4292499"/>
            <a:ext cx="36731" cy="704652"/>
          </a:xfrm>
          <a:prstGeom prst="bentConnector3">
            <a:avLst>
              <a:gd name="adj1" fmla="val -622363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Elbow Connector 98"/>
          <p:cNvCxnSpPr/>
          <p:nvPr/>
        </p:nvCxnSpPr>
        <p:spPr>
          <a:xfrm rot="5400000">
            <a:off x="4727511" y="4176113"/>
            <a:ext cx="12700" cy="2013474"/>
          </a:xfrm>
          <a:prstGeom prst="bentConnector3">
            <a:avLst>
              <a:gd name="adj1" fmla="val 1800000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4038600" y="5599331"/>
            <a:ext cx="685800" cy="5334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3352800" y="55993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/>
          <p:cNvSpPr txBox="1"/>
          <p:nvPr/>
        </p:nvSpPr>
        <p:spPr>
          <a:xfrm>
            <a:off x="3511422" y="55626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53296" y="55626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724400" y="55993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4839096" y="55626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410200" y="55993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/>
          <p:cNvSpPr txBox="1"/>
          <p:nvPr/>
        </p:nvSpPr>
        <p:spPr>
          <a:xfrm>
            <a:off x="5524896" y="55626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096000" y="55993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/>
          <p:cNvSpPr txBox="1"/>
          <p:nvPr/>
        </p:nvSpPr>
        <p:spPr>
          <a:xfrm>
            <a:off x="6210696" y="55626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8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781800" y="55993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/>
          <p:cNvSpPr txBox="1"/>
          <p:nvPr/>
        </p:nvSpPr>
        <p:spPr>
          <a:xfrm>
            <a:off x="6896496" y="55626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7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467600" y="55993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/>
          <p:cNvSpPr txBox="1"/>
          <p:nvPr/>
        </p:nvSpPr>
        <p:spPr>
          <a:xfrm>
            <a:off x="7582296" y="55626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153400" y="55993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/>
          <p:cNvSpPr txBox="1"/>
          <p:nvPr/>
        </p:nvSpPr>
        <p:spPr>
          <a:xfrm>
            <a:off x="8268096" y="55626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4</a:t>
            </a:r>
          </a:p>
        </p:txBody>
      </p:sp>
      <p:cxnSp>
        <p:nvCxnSpPr>
          <p:cNvPr id="116" name="Straight Connector 115"/>
          <p:cNvCxnSpPr/>
          <p:nvPr/>
        </p:nvCxnSpPr>
        <p:spPr>
          <a:xfrm>
            <a:off x="6099350" y="610362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5184950" y="6115288"/>
            <a:ext cx="867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Sorted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75551" y="6115288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Unsorted </a:t>
            </a:r>
          </a:p>
        </p:txBody>
      </p:sp>
    </p:spTree>
    <p:extLst>
      <p:ext uri="{BB962C8B-B14F-4D97-AF65-F5344CB8AC3E}">
        <p14:creationId xmlns:p14="http://schemas.microsoft.com/office/powerpoint/2010/main" val="1664668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0" grpId="0" animBg="1"/>
      <p:bldP spid="31" grpId="0" animBg="1"/>
      <p:bldP spid="32" grpId="0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 animBg="1"/>
      <p:bldP spid="43" grpId="0"/>
      <p:bldP spid="44" grpId="0" animBg="1"/>
      <p:bldP spid="45" grpId="0"/>
      <p:bldP spid="55" grpId="0" animBg="1"/>
      <p:bldP spid="56" grpId="0" animBg="1"/>
      <p:bldP spid="57" grpId="0"/>
      <p:bldP spid="58" grpId="0"/>
      <p:bldP spid="59" grpId="0" animBg="1"/>
      <p:bldP spid="60" grpId="0"/>
      <p:bldP spid="61" grpId="0" animBg="1"/>
      <p:bldP spid="62" grpId="0"/>
      <p:bldP spid="63" grpId="0" animBg="1"/>
      <p:bldP spid="64" grpId="0"/>
      <p:bldP spid="65" grpId="0" animBg="1"/>
      <p:bldP spid="66" grpId="0"/>
      <p:bldP spid="67" grpId="0" animBg="1"/>
      <p:bldP spid="68" grpId="0"/>
      <p:bldP spid="69" grpId="0" animBg="1"/>
      <p:bldP spid="70" grpId="0"/>
      <p:bldP spid="73" grpId="0"/>
      <p:bldP spid="74" grpId="0"/>
      <p:bldP spid="76" grpId="0"/>
      <p:bldP spid="79" grpId="0" animBg="1"/>
      <p:bldP spid="80" grpId="0" animBg="1"/>
      <p:bldP spid="81" grpId="0"/>
      <p:bldP spid="82" grpId="0"/>
      <p:bldP spid="83" grpId="0" animBg="1"/>
      <p:bldP spid="84" grpId="0"/>
      <p:bldP spid="85" grpId="0" animBg="1"/>
      <p:bldP spid="86" grpId="0"/>
      <p:bldP spid="87" grpId="0" animBg="1"/>
      <p:bldP spid="88" grpId="0"/>
      <p:bldP spid="89" grpId="0" animBg="1"/>
      <p:bldP spid="90" grpId="0"/>
      <p:bldP spid="91" grpId="0" animBg="1"/>
      <p:bldP spid="92" grpId="0"/>
      <p:bldP spid="93" grpId="0" animBg="1"/>
      <p:bldP spid="94" grpId="0"/>
      <p:bldP spid="100" grpId="0" animBg="1"/>
      <p:bldP spid="101" grpId="0" animBg="1"/>
      <p:bldP spid="102" grpId="0"/>
      <p:bldP spid="103" grpId="0"/>
      <p:bldP spid="104" grpId="0" animBg="1"/>
      <p:bldP spid="105" grpId="0"/>
      <p:bldP spid="106" grpId="0" animBg="1"/>
      <p:bldP spid="107" grpId="0"/>
      <p:bldP spid="108" grpId="0" animBg="1"/>
      <p:bldP spid="109" grpId="0"/>
      <p:bldP spid="110" grpId="0" animBg="1"/>
      <p:bldP spid="111" grpId="0"/>
      <p:bldP spid="112" grpId="0" animBg="1"/>
      <p:bldP spid="113" grpId="0"/>
      <p:bldP spid="114" grpId="0" animBg="1"/>
      <p:bldP spid="115" grpId="0"/>
      <p:bldP spid="117" grpId="0"/>
      <p:bldP spid="1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Example Cont.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8600" y="1636931"/>
            <a:ext cx="685800" cy="5334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352800" y="16369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511422" y="1600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53296" y="1600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24400" y="16369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4839096" y="1600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10200" y="16369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5524896" y="1600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96000" y="16369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6210696" y="1600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81800" y="16369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6896496" y="1600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67600" y="16369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7582296" y="1600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53400" y="16369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8268096" y="1600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59974" y="990601"/>
            <a:ext cx="82984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Pass - 5 : Select Fifth record and Insert at proper place in sorted array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38600" y="2779931"/>
            <a:ext cx="685800" cy="5334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3352800" y="27799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3511422" y="2743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53296" y="2743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24400" y="27799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4839096" y="2743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10200" y="27799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5524896" y="2743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96000" y="27799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/>
          <p:cNvSpPr txBox="1"/>
          <p:nvPr/>
        </p:nvSpPr>
        <p:spPr>
          <a:xfrm>
            <a:off x="6210696" y="2743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81800" y="27799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6896496" y="2743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67600" y="27799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7582296" y="2743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153400" y="27799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8268096" y="2743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1" y="2286000"/>
            <a:ext cx="2276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8 is at proper position</a:t>
            </a:r>
          </a:p>
        </p:txBody>
      </p:sp>
      <p:cxnSp>
        <p:nvCxnSpPr>
          <p:cNvPr id="97" name="Straight Connector 96"/>
          <p:cNvCxnSpPr/>
          <p:nvPr/>
        </p:nvCxnSpPr>
        <p:spPr>
          <a:xfrm>
            <a:off x="1562100" y="3733800"/>
            <a:ext cx="88773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736148" y="3733801"/>
            <a:ext cx="83984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Pass - 6 : Select Sixth Record and Insert at proper place in sorted array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038600" y="4572000"/>
            <a:ext cx="685800" cy="5334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3352800" y="457200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3511422" y="45352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153296" y="45352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724400" y="457200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4839096" y="45352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5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10200" y="457200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/>
          <p:cNvSpPr txBox="1"/>
          <p:nvPr/>
        </p:nvSpPr>
        <p:spPr>
          <a:xfrm>
            <a:off x="5524896" y="45352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96000" y="457200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6210696" y="45352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8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781800" y="457200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/>
          <p:cNvSpPr txBox="1"/>
          <p:nvPr/>
        </p:nvSpPr>
        <p:spPr>
          <a:xfrm>
            <a:off x="6896496" y="45352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467600" y="457200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/>
          <p:cNvSpPr txBox="1"/>
          <p:nvPr/>
        </p:nvSpPr>
        <p:spPr>
          <a:xfrm>
            <a:off x="7582296" y="45352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153400" y="457200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8268096" y="45352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4</a:t>
            </a:r>
          </a:p>
        </p:txBody>
      </p:sp>
      <p:cxnSp>
        <p:nvCxnSpPr>
          <p:cNvPr id="115" name="Elbow Connector 114"/>
          <p:cNvCxnSpPr/>
          <p:nvPr/>
        </p:nvCxnSpPr>
        <p:spPr>
          <a:xfrm rot="16200000" flipH="1">
            <a:off x="6792109" y="4238040"/>
            <a:ext cx="36731" cy="704652"/>
          </a:xfrm>
          <a:prstGeom prst="bentConnector3">
            <a:avLst>
              <a:gd name="adj1" fmla="val -622363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Elbow Connector 116"/>
          <p:cNvCxnSpPr/>
          <p:nvPr/>
        </p:nvCxnSpPr>
        <p:spPr>
          <a:xfrm rot="5400000">
            <a:off x="6762948" y="4768850"/>
            <a:ext cx="12700" cy="685800"/>
          </a:xfrm>
          <a:prstGeom prst="bentConnector3">
            <a:avLst>
              <a:gd name="adj1" fmla="val 2215386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Rectangle 118"/>
          <p:cNvSpPr/>
          <p:nvPr/>
        </p:nvSpPr>
        <p:spPr>
          <a:xfrm>
            <a:off x="4038600" y="5556250"/>
            <a:ext cx="685800" cy="5334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3352800" y="555625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/>
          <p:cNvSpPr txBox="1"/>
          <p:nvPr/>
        </p:nvSpPr>
        <p:spPr>
          <a:xfrm>
            <a:off x="3511422" y="55195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53296" y="55195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724400" y="555625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/>
          <p:cNvSpPr txBox="1"/>
          <p:nvPr/>
        </p:nvSpPr>
        <p:spPr>
          <a:xfrm>
            <a:off x="4839096" y="55195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10200" y="555625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5"/>
          <p:cNvSpPr txBox="1"/>
          <p:nvPr/>
        </p:nvSpPr>
        <p:spPr>
          <a:xfrm>
            <a:off x="5524896" y="55195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96000" y="555625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/>
          <p:cNvSpPr txBox="1"/>
          <p:nvPr/>
        </p:nvSpPr>
        <p:spPr>
          <a:xfrm>
            <a:off x="6210696" y="55195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7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81800" y="555625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6896496" y="55195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8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467600" y="555625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/>
          <p:cNvSpPr txBox="1"/>
          <p:nvPr/>
        </p:nvSpPr>
        <p:spPr>
          <a:xfrm>
            <a:off x="7582296" y="55195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153400" y="555625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/>
          <p:cNvSpPr txBox="1"/>
          <p:nvPr/>
        </p:nvSpPr>
        <p:spPr>
          <a:xfrm>
            <a:off x="8268096" y="551952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4</a:t>
            </a:r>
          </a:p>
        </p:txBody>
      </p:sp>
      <p:cxnSp>
        <p:nvCxnSpPr>
          <p:cNvPr id="137" name="Straight Connector 136"/>
          <p:cNvCxnSpPr/>
          <p:nvPr/>
        </p:nvCxnSpPr>
        <p:spPr>
          <a:xfrm>
            <a:off x="7486190" y="610362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6571790" y="6115288"/>
            <a:ext cx="867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Sorted 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562391" y="6115288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Unsorted </a:t>
            </a:r>
          </a:p>
        </p:txBody>
      </p:sp>
      <p:cxnSp>
        <p:nvCxnSpPr>
          <p:cNvPr id="140" name="Straight Connector 139"/>
          <p:cNvCxnSpPr/>
          <p:nvPr/>
        </p:nvCxnSpPr>
        <p:spPr>
          <a:xfrm>
            <a:off x="6781800" y="331470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5867400" y="3326368"/>
            <a:ext cx="867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Sorted 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858001" y="3326368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Unsorted </a:t>
            </a:r>
          </a:p>
        </p:txBody>
      </p:sp>
    </p:spTree>
    <p:extLst>
      <p:ext uri="{BB962C8B-B14F-4D97-AF65-F5344CB8AC3E}">
        <p14:creationId xmlns:p14="http://schemas.microsoft.com/office/powerpoint/2010/main" val="228364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/>
      <p:bldP spid="47" grpId="0"/>
      <p:bldP spid="48" grpId="0" animBg="1"/>
      <p:bldP spid="49" grpId="0"/>
      <p:bldP spid="50" grpId="0" animBg="1"/>
      <p:bldP spid="51" grpId="0"/>
      <p:bldP spid="52" grpId="0" animBg="1"/>
      <p:bldP spid="53" grpId="0"/>
      <p:bldP spid="54" grpId="0" animBg="1"/>
      <p:bldP spid="55" grpId="0"/>
      <p:bldP spid="56" grpId="0" animBg="1"/>
      <p:bldP spid="57" grpId="0"/>
      <p:bldP spid="58" grpId="0" animBg="1"/>
      <p:bldP spid="59" grpId="0"/>
      <p:bldP spid="63" grpId="0"/>
      <p:bldP spid="64" grpId="0" animBg="1"/>
      <p:bldP spid="65" grpId="0" animBg="1"/>
      <p:bldP spid="66" grpId="0"/>
      <p:bldP spid="67" grpId="0"/>
      <p:bldP spid="68" grpId="0" animBg="1"/>
      <p:bldP spid="69" grpId="0"/>
      <p:bldP spid="70" grpId="0" animBg="1"/>
      <p:bldP spid="71" grpId="0"/>
      <p:bldP spid="72" grpId="0" animBg="1"/>
      <p:bldP spid="73" grpId="0"/>
      <p:bldP spid="74" grpId="0" animBg="1"/>
      <p:bldP spid="75" grpId="0"/>
      <p:bldP spid="76" grpId="0" animBg="1"/>
      <p:bldP spid="77" grpId="0"/>
      <p:bldP spid="78" grpId="0" animBg="1"/>
      <p:bldP spid="79" grpId="0"/>
      <p:bldP spid="80" grpId="0"/>
      <p:bldP spid="98" grpId="0"/>
      <p:bldP spid="99" grpId="0" animBg="1"/>
      <p:bldP spid="100" grpId="0" animBg="1"/>
      <p:bldP spid="101" grpId="0"/>
      <p:bldP spid="102" grpId="0"/>
      <p:bldP spid="103" grpId="0" animBg="1"/>
      <p:bldP spid="104" grpId="0"/>
      <p:bldP spid="105" grpId="0" animBg="1"/>
      <p:bldP spid="106" grpId="0"/>
      <p:bldP spid="107" grpId="0" animBg="1"/>
      <p:bldP spid="108" grpId="0"/>
      <p:bldP spid="109" grpId="0" animBg="1"/>
      <p:bldP spid="110" grpId="0"/>
      <p:bldP spid="111" grpId="0" animBg="1"/>
      <p:bldP spid="112" grpId="0"/>
      <p:bldP spid="113" grpId="0" animBg="1"/>
      <p:bldP spid="114" grpId="0"/>
      <p:bldP spid="119" grpId="0" animBg="1"/>
      <p:bldP spid="120" grpId="0" animBg="1"/>
      <p:bldP spid="121" grpId="0"/>
      <p:bldP spid="122" grpId="0"/>
      <p:bldP spid="123" grpId="0" animBg="1"/>
      <p:bldP spid="124" grpId="0"/>
      <p:bldP spid="125" grpId="0" animBg="1"/>
      <p:bldP spid="126" grpId="0"/>
      <p:bldP spid="127" grpId="0" animBg="1"/>
      <p:bldP spid="128" grpId="0"/>
      <p:bldP spid="129" grpId="0" animBg="1"/>
      <p:bldP spid="130" grpId="0"/>
      <p:bldP spid="131" grpId="0" animBg="1"/>
      <p:bldP spid="132" grpId="0"/>
      <p:bldP spid="133" grpId="0" animBg="1"/>
      <p:bldP spid="134" grpId="0"/>
      <p:bldP spid="138" grpId="0"/>
      <p:bldP spid="139" grpId="0"/>
      <p:bldP spid="141" grpId="0"/>
      <p:bldP spid="14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Example Cont.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8085" y="990601"/>
            <a:ext cx="85867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Pass - 7 : Select Seventh record and Insert at proper place in sorted array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46711" y="2779931"/>
            <a:ext cx="685800" cy="5334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960911" y="27799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119533" y="2743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1407" y="2743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2511" y="27799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447207" y="2743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8311" y="27799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133007" y="2743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04111" y="27799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5818807" y="2743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9911" y="27799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6504607" y="2743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75711" y="27799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7190407" y="2743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61511" y="2779931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7876207" y="27432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4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1170211" y="3733800"/>
            <a:ext cx="88773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344259" y="3733801"/>
            <a:ext cx="85000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Pass - 8 : Select Eighth Record and Insert at proper place in sorted array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7767401" y="331470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3001" y="3326368"/>
            <a:ext cx="867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Sorted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3602" y="3326368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Unsorted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46711" y="1828800"/>
            <a:ext cx="685800" cy="5334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2960911" y="182880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3119533" y="17920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61407" y="17920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32511" y="182880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447207" y="17920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18311" y="182880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5133007" y="17920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04111" y="182880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5818807" y="17920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89911" y="1828800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6504607" y="17920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75711" y="1828800"/>
            <a:ext cx="6858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7190407" y="17920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61511" y="1828800"/>
            <a:ext cx="685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7876207" y="17920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4</a:t>
            </a:r>
          </a:p>
        </p:txBody>
      </p:sp>
      <p:cxnSp>
        <p:nvCxnSpPr>
          <p:cNvPr id="59" name="Elbow Connector 58"/>
          <p:cNvCxnSpPr/>
          <p:nvPr/>
        </p:nvCxnSpPr>
        <p:spPr>
          <a:xfrm rot="16200000" flipH="1">
            <a:off x="7238421" y="1468527"/>
            <a:ext cx="36731" cy="704652"/>
          </a:xfrm>
          <a:prstGeom prst="bentConnector3">
            <a:avLst>
              <a:gd name="adj1" fmla="val -622363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Elbow Connector 59"/>
          <p:cNvCxnSpPr/>
          <p:nvPr/>
        </p:nvCxnSpPr>
        <p:spPr>
          <a:xfrm rot="16200000" flipH="1">
            <a:off x="6460017" y="1458108"/>
            <a:ext cx="36731" cy="704652"/>
          </a:xfrm>
          <a:prstGeom prst="bentConnector3">
            <a:avLst>
              <a:gd name="adj1" fmla="val -622363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16200000" flipH="1">
            <a:off x="5684369" y="1458108"/>
            <a:ext cx="36731" cy="704652"/>
          </a:xfrm>
          <a:prstGeom prst="bentConnector3">
            <a:avLst>
              <a:gd name="adj1" fmla="val -622363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Elbow Connector 61"/>
          <p:cNvCxnSpPr/>
          <p:nvPr/>
        </p:nvCxnSpPr>
        <p:spPr>
          <a:xfrm rot="16200000" flipH="1">
            <a:off x="4917164" y="1458108"/>
            <a:ext cx="36731" cy="704652"/>
          </a:xfrm>
          <a:prstGeom prst="bentConnector3">
            <a:avLst>
              <a:gd name="adj1" fmla="val -622363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6200000" flipH="1">
            <a:off x="4149476" y="1458108"/>
            <a:ext cx="36731" cy="704652"/>
          </a:xfrm>
          <a:prstGeom prst="bentConnector3">
            <a:avLst>
              <a:gd name="adj1" fmla="val -622363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5400000">
            <a:off x="5685259" y="673431"/>
            <a:ext cx="12700" cy="3429000"/>
          </a:xfrm>
          <a:prstGeom prst="bentConnector3">
            <a:avLst>
              <a:gd name="adj1" fmla="val 1800000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3646711" y="4456331"/>
            <a:ext cx="685800" cy="5334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2960911" y="44563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3119533" y="44196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61407" y="44196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32511" y="44563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4447207" y="44196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18311" y="44563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/>
          <p:cNvSpPr txBox="1"/>
          <p:nvPr/>
        </p:nvSpPr>
        <p:spPr>
          <a:xfrm>
            <a:off x="5133007" y="44196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04111" y="44563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5818807" y="44196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89911" y="44563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6504607" y="44196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75711" y="445633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7190407" y="44196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761511" y="4456331"/>
            <a:ext cx="6858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7876207" y="441960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4</a:t>
            </a:r>
          </a:p>
        </p:txBody>
      </p:sp>
      <p:cxnSp>
        <p:nvCxnSpPr>
          <p:cNvPr id="83" name="Elbow Connector 82"/>
          <p:cNvCxnSpPr/>
          <p:nvPr/>
        </p:nvCxnSpPr>
        <p:spPr>
          <a:xfrm rot="16200000" flipH="1">
            <a:off x="7943073" y="4085640"/>
            <a:ext cx="36731" cy="704652"/>
          </a:xfrm>
          <a:prstGeom prst="bentConnector3">
            <a:avLst>
              <a:gd name="adj1" fmla="val -622363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Elbow Connector 83"/>
          <p:cNvCxnSpPr/>
          <p:nvPr/>
        </p:nvCxnSpPr>
        <p:spPr>
          <a:xfrm rot="16200000" flipH="1">
            <a:off x="7188346" y="4085640"/>
            <a:ext cx="36731" cy="704652"/>
          </a:xfrm>
          <a:prstGeom prst="bentConnector3">
            <a:avLst>
              <a:gd name="adj1" fmla="val -622363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Elbow Connector 84"/>
          <p:cNvCxnSpPr/>
          <p:nvPr/>
        </p:nvCxnSpPr>
        <p:spPr>
          <a:xfrm rot="16200000" flipH="1">
            <a:off x="6432136" y="4085640"/>
            <a:ext cx="36731" cy="704652"/>
          </a:xfrm>
          <a:prstGeom prst="bentConnector3">
            <a:avLst>
              <a:gd name="adj1" fmla="val -622363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Elbow Connector 85"/>
          <p:cNvCxnSpPr/>
          <p:nvPr/>
        </p:nvCxnSpPr>
        <p:spPr>
          <a:xfrm rot="16200000" flipH="1">
            <a:off x="5670136" y="4085640"/>
            <a:ext cx="36731" cy="704652"/>
          </a:xfrm>
          <a:prstGeom prst="bentConnector3">
            <a:avLst>
              <a:gd name="adj1" fmla="val -622363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Elbow Connector 91"/>
          <p:cNvCxnSpPr/>
          <p:nvPr/>
        </p:nvCxnSpPr>
        <p:spPr>
          <a:xfrm rot="5400000">
            <a:off x="6713959" y="3638187"/>
            <a:ext cx="12700" cy="2743200"/>
          </a:xfrm>
          <a:prstGeom prst="bentConnector3">
            <a:avLst>
              <a:gd name="adj1" fmla="val 1800000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3646711" y="5592981"/>
            <a:ext cx="685800" cy="5334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2960911" y="559298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/>
          <p:cNvSpPr txBox="1"/>
          <p:nvPr/>
        </p:nvSpPr>
        <p:spPr>
          <a:xfrm>
            <a:off x="3119533" y="555625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761407" y="555625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32511" y="559298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/>
          <p:cNvSpPr txBox="1"/>
          <p:nvPr/>
        </p:nvSpPr>
        <p:spPr>
          <a:xfrm>
            <a:off x="4447207" y="555625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704111" y="559298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/>
          <p:cNvSpPr txBox="1"/>
          <p:nvPr/>
        </p:nvSpPr>
        <p:spPr>
          <a:xfrm>
            <a:off x="5818807" y="555625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389911" y="559298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/>
          <p:cNvSpPr txBox="1"/>
          <p:nvPr/>
        </p:nvSpPr>
        <p:spPr>
          <a:xfrm>
            <a:off x="6504607" y="555625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075711" y="559298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7190407" y="555625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7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761511" y="559298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/>
          <p:cNvSpPr txBox="1"/>
          <p:nvPr/>
        </p:nvSpPr>
        <p:spPr>
          <a:xfrm>
            <a:off x="7876207" y="555625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018311" y="5592981"/>
            <a:ext cx="685800" cy="533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5120109" y="5536516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4</a:t>
            </a:r>
          </a:p>
        </p:txBody>
      </p:sp>
      <p:cxnSp>
        <p:nvCxnSpPr>
          <p:cNvPr id="109" name="Straight Connector 108"/>
          <p:cNvCxnSpPr/>
          <p:nvPr/>
        </p:nvCxnSpPr>
        <p:spPr>
          <a:xfrm>
            <a:off x="8446851" y="612775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538801" y="6139418"/>
            <a:ext cx="867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Sorted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65902" y="6139418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Unsorted </a:t>
            </a:r>
          </a:p>
        </p:txBody>
      </p:sp>
    </p:spTree>
    <p:extLst>
      <p:ext uri="{BB962C8B-B14F-4D97-AF65-F5344CB8AC3E}">
        <p14:creationId xmlns:p14="http://schemas.microsoft.com/office/powerpoint/2010/main" val="224490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 animBg="1"/>
      <p:bldP spid="23" grpId="0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  <p:bldP spid="35" grpId="0" animBg="1"/>
      <p:bldP spid="36" grpId="0"/>
      <p:bldP spid="39" grpId="0"/>
      <p:bldP spid="41" grpId="0"/>
      <p:bldP spid="42" grpId="0"/>
      <p:bldP spid="43" grpId="0" animBg="1"/>
      <p:bldP spid="44" grpId="0" animBg="1"/>
      <p:bldP spid="45" grpId="0"/>
      <p:bldP spid="46" grpId="0"/>
      <p:bldP spid="47" grpId="0" animBg="1"/>
      <p:bldP spid="48" grpId="0"/>
      <p:bldP spid="49" grpId="0" animBg="1"/>
      <p:bldP spid="50" grpId="0"/>
      <p:bldP spid="51" grpId="0" animBg="1"/>
      <p:bldP spid="52" grpId="0"/>
      <p:bldP spid="53" grpId="0" animBg="1"/>
      <p:bldP spid="54" grpId="0"/>
      <p:bldP spid="55" grpId="0" animBg="1"/>
      <p:bldP spid="56" grpId="0"/>
      <p:bldP spid="57" grpId="0" animBg="1"/>
      <p:bldP spid="58" grpId="0"/>
      <p:bldP spid="66" grpId="0" animBg="1"/>
      <p:bldP spid="67" grpId="0" animBg="1"/>
      <p:bldP spid="68" grpId="0"/>
      <p:bldP spid="69" grpId="0"/>
      <p:bldP spid="70" grpId="0" animBg="1"/>
      <p:bldP spid="71" grpId="0"/>
      <p:bldP spid="72" grpId="0" animBg="1"/>
      <p:bldP spid="73" grpId="0"/>
      <p:bldP spid="74" grpId="0" animBg="1"/>
      <p:bldP spid="75" grpId="0"/>
      <p:bldP spid="76" grpId="0" animBg="1"/>
      <p:bldP spid="77" grpId="0"/>
      <p:bldP spid="78" grpId="0" animBg="1"/>
      <p:bldP spid="79" grpId="0"/>
      <p:bldP spid="80" grpId="0" animBg="1"/>
      <p:bldP spid="81" grpId="0"/>
      <p:bldP spid="93" grpId="0" animBg="1"/>
      <p:bldP spid="94" grpId="0" animBg="1"/>
      <p:bldP spid="95" grpId="0"/>
      <p:bldP spid="96" grpId="0"/>
      <p:bldP spid="97" grpId="0" animBg="1"/>
      <p:bldP spid="98" grpId="0"/>
      <p:bldP spid="99" grpId="0" animBg="1"/>
      <p:bldP spid="100" grpId="0"/>
      <p:bldP spid="101" grpId="0" animBg="1"/>
      <p:bldP spid="102" grpId="0"/>
      <p:bldP spid="103" grpId="0" animBg="1"/>
      <p:bldP spid="104" grpId="0"/>
      <p:bldP spid="105" grpId="0" animBg="1"/>
      <p:bldP spid="106" grpId="0"/>
      <p:bldP spid="107" grpId="0" animBg="1"/>
      <p:bldP spid="108" grpId="0"/>
      <p:bldP spid="110" grpId="0"/>
      <p:bldP spid="1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– Example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80881" y="1528465"/>
          <a:ext cx="521547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938353" y="2286000"/>
            <a:ext cx="10058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38353" y="2286000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</a:t>
            </a:r>
            <a:endParaRPr lang="en-US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56881" y="2976264"/>
          <a:ext cx="5215472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40029" y="2514600"/>
            <a:ext cx="2130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56881" y="3509665"/>
          <a:ext cx="5215472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2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3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4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5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6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7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8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938353" y="4038600"/>
            <a:ext cx="10058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8353" y="4038600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089476" y="4632992"/>
                <a:ext cx="1420581" cy="36933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476" y="4632992"/>
                <a:ext cx="142058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1166953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00353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1289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74689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08089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1489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4889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8289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7889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2" name="Rectangle 21"/>
          <p:cNvSpPr/>
          <p:nvPr/>
        </p:nvSpPr>
        <p:spPr>
          <a:xfrm>
            <a:off x="2241289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3" name="Rectangle 22"/>
          <p:cNvSpPr/>
          <p:nvPr/>
        </p:nvSpPr>
        <p:spPr>
          <a:xfrm>
            <a:off x="1180016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4" name="Rectangle 23"/>
          <p:cNvSpPr/>
          <p:nvPr/>
        </p:nvSpPr>
        <p:spPr>
          <a:xfrm>
            <a:off x="2774689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5" name="Rectangle 24"/>
          <p:cNvSpPr/>
          <p:nvPr/>
        </p:nvSpPr>
        <p:spPr>
          <a:xfrm>
            <a:off x="3308089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6" name="Rectangle 25"/>
          <p:cNvSpPr/>
          <p:nvPr/>
        </p:nvSpPr>
        <p:spPr>
          <a:xfrm>
            <a:off x="3841489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7" name="Rectangle 26"/>
          <p:cNvSpPr/>
          <p:nvPr/>
        </p:nvSpPr>
        <p:spPr>
          <a:xfrm>
            <a:off x="4374889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8" name="Rectangle 27"/>
          <p:cNvSpPr/>
          <p:nvPr/>
        </p:nvSpPr>
        <p:spPr>
          <a:xfrm>
            <a:off x="4908289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087290" y="5018748"/>
                <a:ext cx="3631475" cy="120032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400" dirty="0">
                    <a:solidFill>
                      <a:srgbClr val="A711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A71160"/>
                    </a:solidFill>
                  </a:rPr>
                  <a:t> </a:t>
                </a:r>
                <a:r>
                  <a:rPr lang="en-US" sz="24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400" b="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A71160"/>
                  </a:solidFill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b="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400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290" y="5018748"/>
                <a:ext cx="3631475" cy="1200329"/>
              </a:xfrm>
              <a:prstGeom prst="rect">
                <a:avLst/>
              </a:prstGeom>
              <a:blipFill>
                <a:blip r:embed="rId3"/>
                <a:stretch>
                  <a:fillRect l="-2689" t="-4061" b="-6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 29"/>
          <p:cNvSpPr/>
          <p:nvPr/>
        </p:nvSpPr>
        <p:spPr>
          <a:xfrm>
            <a:off x="1431162" y="5844989"/>
            <a:ext cx="512862" cy="181854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solidFill>
              <a:schemeClr val="accent5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153473" y="5986646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Shift 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5453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537276" y="4632992"/>
                <a:ext cx="218040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276" y="4632992"/>
                <a:ext cx="2180404" cy="369332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1166953" y="5002324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9990" y="5006789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39516" y="5006789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72916" y="5006789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06316" y="5006789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33953" y="5006789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67353" y="5006789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6516" y="5006789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42" name="Oval 41"/>
          <p:cNvSpPr/>
          <p:nvPr/>
        </p:nvSpPr>
        <p:spPr>
          <a:xfrm>
            <a:off x="1243153" y="5006789"/>
            <a:ext cx="375237" cy="408803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1159310" y="4501172"/>
                <a:ext cx="5334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310" y="4501172"/>
                <a:ext cx="533400" cy="381000"/>
              </a:xfrm>
              <a:prstGeom prst="rect">
                <a:avLst/>
              </a:prstGeom>
              <a:blipFill>
                <a:blip r:embed="rId5"/>
                <a:stretch>
                  <a:fillRect b="-126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ounded Rectangle 44"/>
          <p:cNvSpPr/>
          <p:nvPr/>
        </p:nvSpPr>
        <p:spPr>
          <a:xfrm>
            <a:off x="6780992" y="4622940"/>
            <a:ext cx="643226" cy="389435"/>
          </a:xfrm>
          <a:prstGeom prst="round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/>
          <p:cNvCxnSpPr/>
          <p:nvPr/>
        </p:nvCxnSpPr>
        <p:spPr>
          <a:xfrm>
            <a:off x="6780992" y="4953000"/>
            <a:ext cx="64322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175661" y="4948646"/>
            <a:ext cx="533400" cy="563851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7042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1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3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96296E-6 L 0.04258 -0.00023 " pathEditMode="relative" rAng="0" ptsTypes="AA">
                                      <p:cBhvr>
                                        <p:cTn id="16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2000"/>
                            </p:stCondLst>
                            <p:childTnLst>
                              <p:par>
                                <p:cTn id="16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1" grpId="0" animBg="1"/>
      <p:bldP spid="12" grpId="0" animBg="1"/>
      <p:bldP spid="13" grpId="0" animBg="1"/>
      <p:bldP spid="14" grpId="0" animBg="1"/>
      <p:bldP spid="14" grpId="1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3" grpId="0" animBg="1"/>
      <p:bldP spid="34" grpId="0"/>
      <p:bldP spid="34" grpId="1"/>
      <p:bldP spid="35" grpId="0"/>
      <p:bldP spid="35" grpId="1"/>
      <p:bldP spid="36" grpId="0"/>
      <p:bldP spid="37" grpId="0"/>
      <p:bldP spid="38" grpId="0"/>
      <p:bldP spid="39" grpId="0"/>
      <p:bldP spid="40" grpId="0"/>
      <p:bldP spid="41" grpId="0"/>
      <p:bldP spid="42" grpId="0" animBg="1"/>
      <p:bldP spid="42" grpId="1" animBg="1"/>
      <p:bldP spid="44" grpId="0"/>
      <p:bldP spid="44" grpId="1"/>
      <p:bldP spid="45" grpId="0" animBg="1"/>
      <p:bldP spid="4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– Example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693" y="1252559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3 :</a:t>
            </a:r>
            <a:endParaRPr lang="en-US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25782" y="3593068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5782" y="359306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4 :</a:t>
            </a:r>
            <a:endParaRPr lang="en-US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91693" y="1250462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6276346" y="3988521"/>
                <a:ext cx="1586901" cy="36933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346" y="3988521"/>
                <a:ext cx="158690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6270170" y="4372438"/>
                <a:ext cx="3775167" cy="1015663"/>
              </a:xfrm>
              <a:prstGeom prst="rect">
                <a:avLst/>
              </a:prstGeom>
              <a:solidFill>
                <a:srgbClr val="FCE0EE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0170" y="4372438"/>
                <a:ext cx="3775167" cy="1015663"/>
              </a:xfrm>
              <a:prstGeom prst="rect">
                <a:avLst/>
              </a:prstGeom>
              <a:blipFill>
                <a:blip r:embed="rId3"/>
                <a:stretch>
                  <a:fillRect l="-1777" t="-2994" b="-5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7926983" y="3988521"/>
                <a:ext cx="2133600" cy="369332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983" y="3988521"/>
                <a:ext cx="2133600" cy="369332"/>
              </a:xfrm>
              <a:prstGeom prst="rect">
                <a:avLst/>
              </a:prstGeom>
              <a:blipFill>
                <a:blip r:embed="rId4"/>
                <a:stretch>
                  <a:fillRect l="-284" b="-1111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6289770" y="1603735"/>
                <a:ext cx="1558439" cy="36933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770" y="1603735"/>
                <a:ext cx="155843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6322423" y="1987652"/>
                <a:ext cx="3762103" cy="1015663"/>
              </a:xfrm>
              <a:prstGeom prst="rect">
                <a:avLst/>
              </a:prstGeom>
              <a:solidFill>
                <a:srgbClr val="FCE0EE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423" y="1987652"/>
                <a:ext cx="3762103" cy="1015663"/>
              </a:xfrm>
              <a:prstGeom prst="rect">
                <a:avLst/>
              </a:prstGeom>
              <a:blipFill>
                <a:blip r:embed="rId6"/>
                <a:stretch>
                  <a:fillRect l="-1621" t="-2994" b="-5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7889970" y="1603735"/>
                <a:ext cx="2180749" cy="369332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970" y="1603735"/>
                <a:ext cx="2180749" cy="369332"/>
              </a:xfrm>
              <a:prstGeom prst="rect">
                <a:avLst/>
              </a:prstGeom>
              <a:blipFill>
                <a:blip r:embed="rId7"/>
                <a:stretch>
                  <a:fillRect b="-1111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Rectangle 88"/>
          <p:cNvSpPr/>
          <p:nvPr/>
        </p:nvSpPr>
        <p:spPr>
          <a:xfrm>
            <a:off x="1114701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48101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1890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224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558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7892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3226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8560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6556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98" name="Rectangle 97"/>
          <p:cNvSpPr/>
          <p:nvPr/>
        </p:nvSpPr>
        <p:spPr>
          <a:xfrm>
            <a:off x="21890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99" name="Rectangle 98"/>
          <p:cNvSpPr/>
          <p:nvPr/>
        </p:nvSpPr>
        <p:spPr>
          <a:xfrm>
            <a:off x="1114701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00" name="Rectangle 99"/>
          <p:cNvSpPr/>
          <p:nvPr/>
        </p:nvSpPr>
        <p:spPr>
          <a:xfrm>
            <a:off x="27224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01" name="Rectangle 100"/>
          <p:cNvSpPr/>
          <p:nvPr/>
        </p:nvSpPr>
        <p:spPr>
          <a:xfrm>
            <a:off x="32558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02" name="Rectangle 101"/>
          <p:cNvSpPr/>
          <p:nvPr/>
        </p:nvSpPr>
        <p:spPr>
          <a:xfrm>
            <a:off x="37892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03" name="Rectangle 102"/>
          <p:cNvSpPr/>
          <p:nvPr/>
        </p:nvSpPr>
        <p:spPr>
          <a:xfrm>
            <a:off x="43226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04" name="Rectangle 103"/>
          <p:cNvSpPr/>
          <p:nvPr/>
        </p:nvSpPr>
        <p:spPr>
          <a:xfrm>
            <a:off x="48560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05" name="TextBox 104"/>
          <p:cNvSpPr txBox="1"/>
          <p:nvPr/>
        </p:nvSpPr>
        <p:spPr>
          <a:xfrm>
            <a:off x="1114701" y="5002324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538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872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7206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540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781701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15101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542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14701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648101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1890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224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2558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7892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3226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8560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556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22" name="Rectangle 121"/>
          <p:cNvSpPr/>
          <p:nvPr/>
        </p:nvSpPr>
        <p:spPr>
          <a:xfrm>
            <a:off x="21890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23" name="Rectangle 122"/>
          <p:cNvSpPr/>
          <p:nvPr/>
        </p:nvSpPr>
        <p:spPr>
          <a:xfrm>
            <a:off x="1114701" y="1908444"/>
            <a:ext cx="533400" cy="563851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27224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25" name="Rectangle 124"/>
          <p:cNvSpPr/>
          <p:nvPr/>
        </p:nvSpPr>
        <p:spPr>
          <a:xfrm>
            <a:off x="32558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26" name="Rectangle 125"/>
          <p:cNvSpPr/>
          <p:nvPr/>
        </p:nvSpPr>
        <p:spPr>
          <a:xfrm>
            <a:off x="37892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27" name="Rectangle 126"/>
          <p:cNvSpPr/>
          <p:nvPr/>
        </p:nvSpPr>
        <p:spPr>
          <a:xfrm>
            <a:off x="43226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28" name="Rectangle 127"/>
          <p:cNvSpPr/>
          <p:nvPr/>
        </p:nvSpPr>
        <p:spPr>
          <a:xfrm>
            <a:off x="48560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29" name="TextBox 128"/>
          <p:cNvSpPr txBox="1"/>
          <p:nvPr/>
        </p:nvSpPr>
        <p:spPr>
          <a:xfrm>
            <a:off x="1101221" y="3135868"/>
            <a:ext cx="298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No Shift will take place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27764" y="1970830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6538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1872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7206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2540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781701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315101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8542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138" name="Oval 137"/>
          <p:cNvSpPr/>
          <p:nvPr/>
        </p:nvSpPr>
        <p:spPr>
          <a:xfrm>
            <a:off x="1700619" y="1964185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2244403" y="5002720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1697704" y="5010233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/>
          <p:cNvSpPr txBox="1"/>
          <p:nvPr/>
        </p:nvSpPr>
        <p:spPr>
          <a:xfrm>
            <a:off x="1114229" y="4998816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-5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989836" y="3988521"/>
            <a:ext cx="819186" cy="389435"/>
          </a:xfrm>
          <a:prstGeom prst="roundRect">
            <a:avLst/>
          </a:prstGeom>
          <a:solidFill>
            <a:srgbClr val="ED524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4" name="Straight Connector 143"/>
          <p:cNvCxnSpPr/>
          <p:nvPr/>
        </p:nvCxnSpPr>
        <p:spPr>
          <a:xfrm>
            <a:off x="7012583" y="4330332"/>
            <a:ext cx="824901" cy="291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Rectangle 144"/>
              <p:cNvSpPr/>
              <p:nvPr/>
            </p:nvSpPr>
            <p:spPr>
              <a:xfrm>
                <a:off x="2206303" y="4525486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145" name="Rectangle 1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303" y="4525486"/>
                <a:ext cx="533400" cy="381000"/>
              </a:xfrm>
              <a:prstGeom prst="rect">
                <a:avLst/>
              </a:prstGeom>
              <a:blipFill>
                <a:blip r:embed="rId8"/>
                <a:stretch>
                  <a:fillRect b="-126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Rectangle 145"/>
              <p:cNvSpPr/>
              <p:nvPr/>
            </p:nvSpPr>
            <p:spPr>
              <a:xfrm>
                <a:off x="1662519" y="1432649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146" name="Rectangle 1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519" y="1432649"/>
                <a:ext cx="533400" cy="381000"/>
              </a:xfrm>
              <a:prstGeom prst="rect">
                <a:avLst/>
              </a:prstGeom>
              <a:blipFill>
                <a:blip r:embed="rId9"/>
                <a:stretch>
                  <a:fillRect b="-11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7" name="Straight Connector 146"/>
          <p:cNvCxnSpPr/>
          <p:nvPr/>
        </p:nvCxnSpPr>
        <p:spPr>
          <a:xfrm>
            <a:off x="7051770" y="1933878"/>
            <a:ext cx="66858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Rectangle 147"/>
              <p:cNvSpPr/>
              <p:nvPr/>
            </p:nvSpPr>
            <p:spPr>
              <a:xfrm>
                <a:off x="1127178" y="4507006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148" name="Rectangle 1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78" y="4507006"/>
                <a:ext cx="533400" cy="381000"/>
              </a:xfrm>
              <a:prstGeom prst="rect">
                <a:avLst/>
              </a:prstGeom>
              <a:blipFill>
                <a:blip r:embed="rId10"/>
                <a:stretch>
                  <a:fillRect b="-126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Freeform 148"/>
          <p:cNvSpPr/>
          <p:nvPr/>
        </p:nvSpPr>
        <p:spPr>
          <a:xfrm>
            <a:off x="2485051" y="5844989"/>
            <a:ext cx="512862" cy="181854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TextBox 149"/>
          <p:cNvSpPr txBox="1"/>
          <p:nvPr/>
        </p:nvSpPr>
        <p:spPr>
          <a:xfrm>
            <a:off x="2207362" y="5986646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Shift down</a:t>
            </a:r>
          </a:p>
        </p:txBody>
      </p:sp>
      <p:sp>
        <p:nvSpPr>
          <p:cNvPr id="151" name="Freeform 150"/>
          <p:cNvSpPr/>
          <p:nvPr/>
        </p:nvSpPr>
        <p:spPr>
          <a:xfrm>
            <a:off x="1951651" y="5844989"/>
            <a:ext cx="512862" cy="181854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/>
          <p:cNvSpPr txBox="1"/>
          <p:nvPr/>
        </p:nvSpPr>
        <p:spPr>
          <a:xfrm>
            <a:off x="1673962" y="5986646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Shift down</a:t>
            </a:r>
          </a:p>
        </p:txBody>
      </p:sp>
      <p:sp>
        <p:nvSpPr>
          <p:cNvPr id="153" name="Freeform 152"/>
          <p:cNvSpPr/>
          <p:nvPr/>
        </p:nvSpPr>
        <p:spPr>
          <a:xfrm>
            <a:off x="1378910" y="5737411"/>
            <a:ext cx="512862" cy="181854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53"/>
          <p:cNvSpPr txBox="1"/>
          <p:nvPr/>
        </p:nvSpPr>
        <p:spPr>
          <a:xfrm>
            <a:off x="1101221" y="5879068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Shift down</a:t>
            </a:r>
          </a:p>
        </p:txBody>
      </p:sp>
      <p:sp>
        <p:nvSpPr>
          <p:cNvPr id="79" name="Oval 78"/>
          <p:cNvSpPr/>
          <p:nvPr/>
        </p:nvSpPr>
        <p:spPr>
          <a:xfrm>
            <a:off x="1144710" y="4992816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5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95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2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8" dur="2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500"/>
                            </p:stCondLst>
                            <p:childTnLst>
                              <p:par>
                                <p:cTn id="22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226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500"/>
                            </p:stCondLst>
                            <p:childTnLst>
                              <p:par>
                                <p:cTn id="2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00"/>
                            </p:stCondLst>
                            <p:childTnLst>
                              <p:par>
                                <p:cTn id="24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7" dur="2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500"/>
                            </p:stCondLst>
                            <p:childTnLst>
                              <p:par>
                                <p:cTn id="2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59259E-6 L 0.04427 0.00023 " pathEditMode="relative" rAng="0" ptsTypes="AA">
                                      <p:cBhvr>
                                        <p:cTn id="265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2000"/>
                            </p:stCondLst>
                            <p:childTnLst>
                              <p:par>
                                <p:cTn id="26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48148E-6 L -0.04218 0.00185 " pathEditMode="relative" rAng="0" ptsTypes="AA">
                                      <p:cBhvr>
                                        <p:cTn id="272" dur="2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9" y="93"/>
                                    </p:animMotion>
                                  </p:childTnLst>
                                </p:cTn>
                              </p:par>
                              <p:par>
                                <p:cTn id="2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3" dur="2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500"/>
                            </p:stCondLst>
                            <p:childTnLst>
                              <p:par>
                                <p:cTn id="2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59259E-6 L 0.04375 -7.40741E-7 " pathEditMode="relative" rAng="0" ptsTypes="AA">
                                      <p:cBhvr>
                                        <p:cTn id="296" dur="2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53" y="93"/>
                                    </p:animMotion>
                                  </p:childTnLst>
                                </p:cTn>
                              </p:par>
                              <p:par>
                                <p:cTn id="2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5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500"/>
                            </p:stCondLst>
                            <p:childTnLst>
                              <p:par>
                                <p:cTn id="3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0.04427 0.0007 " pathEditMode="relative" rAng="0" ptsTypes="AA">
                                      <p:cBhvr>
                                        <p:cTn id="328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9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00"/>
                            </p:stCondLst>
                            <p:childTnLst>
                              <p:par>
                                <p:cTn id="34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2" grpId="1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/>
      <p:bldP spid="105" grpId="1"/>
      <p:bldP spid="106" grpId="0"/>
      <p:bldP spid="106" grpId="1"/>
      <p:bldP spid="107" grpId="0"/>
      <p:bldP spid="107" grpId="1"/>
      <p:bldP spid="108" grpId="0"/>
      <p:bldP spid="108" grpId="1"/>
      <p:bldP spid="109" grpId="0"/>
      <p:bldP spid="110" grpId="0"/>
      <p:bldP spid="111" grpId="0"/>
      <p:bldP spid="112" grpId="0"/>
      <p:bldP spid="113" grpId="0" animBg="1"/>
      <p:bldP spid="114" grpId="0" animBg="1"/>
      <p:bldP spid="115" grpId="0" animBg="1"/>
      <p:bldP spid="115" grpId="1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 animBg="1"/>
      <p:bldP spid="138" grpId="1" animBg="1"/>
      <p:bldP spid="139" grpId="0" animBg="1"/>
      <p:bldP spid="139" grpId="1" animBg="1"/>
      <p:bldP spid="140" grpId="0" animBg="1"/>
      <p:bldP spid="140" grpId="1" animBg="1"/>
      <p:bldP spid="142" grpId="0"/>
      <p:bldP spid="143" grpId="0" animBg="1"/>
      <p:bldP spid="145" grpId="0" animBg="1"/>
      <p:bldP spid="145" grpId="1" animBg="1"/>
      <p:bldP spid="145" grpId="2" animBg="1"/>
      <p:bldP spid="146" grpId="0" animBg="1"/>
      <p:bldP spid="146" grpId="1" animBg="1"/>
      <p:bldP spid="148" grpId="0" animBg="1"/>
      <p:bldP spid="149" grpId="0" animBg="1"/>
      <p:bldP spid="149" grpId="1" animBg="1"/>
      <p:bldP spid="150" grpId="0"/>
      <p:bldP spid="150" grpId="1"/>
      <p:bldP spid="151" grpId="0" animBg="1"/>
      <p:bldP spid="151" grpId="1" animBg="1"/>
      <p:bldP spid="152" grpId="0"/>
      <p:bldP spid="152" grpId="1"/>
      <p:bldP spid="153" grpId="0" animBg="1"/>
      <p:bldP spid="153" grpId="1" animBg="1"/>
      <p:bldP spid="154" grpId="0"/>
      <p:bldP spid="154" grpId="1"/>
      <p:bldP spid="79" grpId="0" animBg="1"/>
      <p:bldP spid="79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– Example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2268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65668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06604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40004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3404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06804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40204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73604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73204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2" name="Rectangle 21"/>
          <p:cNvSpPr/>
          <p:nvPr/>
        </p:nvSpPr>
        <p:spPr>
          <a:xfrm>
            <a:off x="2306604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3" name="Rectangle 22"/>
          <p:cNvSpPr/>
          <p:nvPr/>
        </p:nvSpPr>
        <p:spPr>
          <a:xfrm>
            <a:off x="1232268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4" name="Rectangle 23"/>
          <p:cNvSpPr/>
          <p:nvPr/>
        </p:nvSpPr>
        <p:spPr>
          <a:xfrm>
            <a:off x="2840004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5" name="Rectangle 24"/>
          <p:cNvSpPr/>
          <p:nvPr/>
        </p:nvSpPr>
        <p:spPr>
          <a:xfrm>
            <a:off x="3373404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6" name="Rectangle 25"/>
          <p:cNvSpPr/>
          <p:nvPr/>
        </p:nvSpPr>
        <p:spPr>
          <a:xfrm>
            <a:off x="3906804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7" name="Rectangle 26"/>
          <p:cNvSpPr/>
          <p:nvPr/>
        </p:nvSpPr>
        <p:spPr>
          <a:xfrm>
            <a:off x="4440204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8" name="Rectangle 27"/>
          <p:cNvSpPr/>
          <p:nvPr/>
        </p:nvSpPr>
        <p:spPr>
          <a:xfrm>
            <a:off x="4973604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9" name="Freeform 28"/>
          <p:cNvSpPr/>
          <p:nvPr/>
        </p:nvSpPr>
        <p:spPr>
          <a:xfrm>
            <a:off x="3583678" y="5844988"/>
            <a:ext cx="594530" cy="14318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3213468" y="6027840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Shift 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2268" y="5002324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71431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04831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8231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1631" y="5006789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99268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2668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1831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2268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65668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06604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40004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73404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06804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40204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73604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73204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48" name="Rectangle 47"/>
          <p:cNvSpPr/>
          <p:nvPr/>
        </p:nvSpPr>
        <p:spPr>
          <a:xfrm>
            <a:off x="2306604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49" name="Rectangle 48"/>
          <p:cNvSpPr/>
          <p:nvPr/>
        </p:nvSpPr>
        <p:spPr>
          <a:xfrm>
            <a:off x="1232268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0" name="Rectangle 49"/>
          <p:cNvSpPr/>
          <p:nvPr/>
        </p:nvSpPr>
        <p:spPr>
          <a:xfrm>
            <a:off x="2840004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1" name="Rectangle 50"/>
          <p:cNvSpPr/>
          <p:nvPr/>
        </p:nvSpPr>
        <p:spPr>
          <a:xfrm>
            <a:off x="3373404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2" name="Rectangle 51"/>
          <p:cNvSpPr/>
          <p:nvPr/>
        </p:nvSpPr>
        <p:spPr>
          <a:xfrm>
            <a:off x="3906804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3" name="Rectangle 52"/>
          <p:cNvSpPr/>
          <p:nvPr/>
        </p:nvSpPr>
        <p:spPr>
          <a:xfrm>
            <a:off x="4440204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4" name="Rectangle 53"/>
          <p:cNvSpPr/>
          <p:nvPr/>
        </p:nvSpPr>
        <p:spPr>
          <a:xfrm>
            <a:off x="4973604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1227471" y="3052369"/>
            <a:ext cx="298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No Shift will take place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32268" y="1957768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71431" y="1962233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04831" y="1962233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38231" y="1962233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71631" y="1962233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99268" y="1962233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32668" y="1962233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71831" y="1962233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64" name="Oval 63"/>
          <p:cNvSpPr/>
          <p:nvPr/>
        </p:nvSpPr>
        <p:spPr>
          <a:xfrm>
            <a:off x="2882968" y="1951121"/>
            <a:ext cx="457200" cy="468868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3410617" y="5010233"/>
            <a:ext cx="457200" cy="468868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2890510" y="5000955"/>
            <a:ext cx="457200" cy="468868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2337168" y="5007232"/>
            <a:ext cx="457200" cy="468868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ounded Rectangle 67"/>
          <p:cNvSpPr/>
          <p:nvPr/>
        </p:nvSpPr>
        <p:spPr>
          <a:xfrm>
            <a:off x="7043061" y="4003460"/>
            <a:ext cx="716472" cy="331232"/>
          </a:xfrm>
          <a:prstGeom prst="roundRect">
            <a:avLst/>
          </a:prstGeom>
          <a:solidFill>
            <a:srgbClr val="ED524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1814185" y="5011684"/>
            <a:ext cx="457200" cy="468868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2319668" y="5006788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2</a:t>
            </a:r>
          </a:p>
        </p:txBody>
      </p:sp>
      <p:cxnSp>
        <p:nvCxnSpPr>
          <p:cNvPr id="71" name="Straight Connector 70"/>
          <p:cNvCxnSpPr/>
          <p:nvPr/>
        </p:nvCxnSpPr>
        <p:spPr>
          <a:xfrm>
            <a:off x="7029999" y="4310268"/>
            <a:ext cx="71647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/>
              <p:cNvSpPr/>
              <p:nvPr/>
            </p:nvSpPr>
            <p:spPr>
              <a:xfrm>
                <a:off x="2832468" y="1461828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72" name="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468" y="1461828"/>
                <a:ext cx="533400" cy="381000"/>
              </a:xfrm>
              <a:prstGeom prst="rect">
                <a:avLst/>
              </a:prstGeom>
              <a:blipFill>
                <a:blip r:embed="rId2"/>
                <a:stretch>
                  <a:fillRect b="-129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Connector 72"/>
          <p:cNvCxnSpPr/>
          <p:nvPr/>
        </p:nvCxnSpPr>
        <p:spPr>
          <a:xfrm>
            <a:off x="6990810" y="1920814"/>
            <a:ext cx="77922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/>
              <p:cNvSpPr/>
              <p:nvPr/>
            </p:nvSpPr>
            <p:spPr>
              <a:xfrm>
                <a:off x="3373404" y="4472102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74" name="Rectangle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404" y="4472102"/>
                <a:ext cx="533400" cy="381000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/>
              <p:cNvSpPr/>
              <p:nvPr/>
            </p:nvSpPr>
            <p:spPr>
              <a:xfrm>
                <a:off x="2306604" y="4442937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75" name="Rectangle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604" y="4442937"/>
                <a:ext cx="533400" cy="381000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Freeform 75"/>
          <p:cNvSpPr/>
          <p:nvPr/>
        </p:nvSpPr>
        <p:spPr>
          <a:xfrm>
            <a:off x="3076139" y="5848616"/>
            <a:ext cx="594530" cy="14318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2705929" y="6031468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Shift down</a:t>
            </a:r>
          </a:p>
        </p:txBody>
      </p:sp>
      <p:sp>
        <p:nvSpPr>
          <p:cNvPr id="78" name="Freeform 77"/>
          <p:cNvSpPr/>
          <p:nvPr/>
        </p:nvSpPr>
        <p:spPr>
          <a:xfrm>
            <a:off x="2542739" y="5848616"/>
            <a:ext cx="594530" cy="14318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2172529" y="6031468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Shift down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1693" y="1252559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5 :</a:t>
            </a:r>
            <a:endParaRPr lang="en-US" b="1" dirty="0"/>
          </a:p>
        </p:txBody>
      </p:sp>
      <p:cxnSp>
        <p:nvCxnSpPr>
          <p:cNvPr id="82" name="Straight Connector 81"/>
          <p:cNvCxnSpPr/>
          <p:nvPr/>
        </p:nvCxnSpPr>
        <p:spPr>
          <a:xfrm>
            <a:off x="525782" y="3736761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25782" y="3736761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6 :</a:t>
            </a:r>
            <a:endParaRPr lang="en-US" b="1" dirty="0"/>
          </a:p>
        </p:txBody>
      </p:sp>
      <p:cxnSp>
        <p:nvCxnSpPr>
          <p:cNvPr id="84" name="Straight Connector 83"/>
          <p:cNvCxnSpPr/>
          <p:nvPr/>
        </p:nvCxnSpPr>
        <p:spPr>
          <a:xfrm>
            <a:off x="491693" y="1250462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6289409" y="3975459"/>
                <a:ext cx="1586901" cy="36933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409" y="3975459"/>
                <a:ext cx="158690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6322423" y="4450816"/>
                <a:ext cx="3775167" cy="1015663"/>
              </a:xfrm>
              <a:prstGeom prst="rect">
                <a:avLst/>
              </a:prstGeom>
              <a:solidFill>
                <a:srgbClr val="FCE0EE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423" y="4450816"/>
                <a:ext cx="3775167" cy="1015663"/>
              </a:xfrm>
              <a:prstGeom prst="rect">
                <a:avLst/>
              </a:prstGeom>
              <a:blipFill>
                <a:blip r:embed="rId6"/>
                <a:stretch>
                  <a:fillRect l="-1616" t="-2994" b="-5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7903033" y="3975459"/>
                <a:ext cx="2133600" cy="369332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033" y="3975459"/>
                <a:ext cx="2133600" cy="369332"/>
              </a:xfrm>
              <a:prstGeom prst="rect">
                <a:avLst/>
              </a:prstGeom>
              <a:blipFill>
                <a:blip r:embed="rId7"/>
                <a:stretch>
                  <a:fillRect l="-284" b="-1111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6289409" y="1603735"/>
                <a:ext cx="1558440" cy="36933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𝟏𝟔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409" y="1603735"/>
                <a:ext cx="155844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6322423" y="1987652"/>
                <a:ext cx="3762103" cy="1015663"/>
              </a:xfrm>
              <a:prstGeom prst="rect">
                <a:avLst/>
              </a:prstGeom>
              <a:solidFill>
                <a:srgbClr val="FCE0EE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423" y="1987652"/>
                <a:ext cx="3762103" cy="1015663"/>
              </a:xfrm>
              <a:prstGeom prst="rect">
                <a:avLst/>
              </a:prstGeom>
              <a:blipFill>
                <a:blip r:embed="rId9"/>
                <a:stretch>
                  <a:fillRect l="-1621" t="-2994" b="-5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7889970" y="1603735"/>
                <a:ext cx="2180749" cy="369332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970" y="1603735"/>
                <a:ext cx="2180749" cy="369332"/>
              </a:xfrm>
              <a:prstGeom prst="rect">
                <a:avLst/>
              </a:prstGeom>
              <a:blipFill>
                <a:blip r:embed="rId10"/>
                <a:stretch>
                  <a:fillRect b="-1111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7057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9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6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2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500"/>
                            </p:stCondLst>
                            <p:childTnLst>
                              <p:par>
                                <p:cTn id="2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00"/>
                            </p:stCondLst>
                            <p:childTnLst>
                              <p:par>
                                <p:cTn id="24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3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500"/>
                            </p:stCondLst>
                            <p:childTnLst>
                              <p:par>
                                <p:cTn id="2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1000"/>
                            </p:stCondLst>
                            <p:childTnLst>
                              <p:par>
                                <p:cTn id="2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2.59259E-6 L 0.04362 0.00023 " pathEditMode="relative" rAng="0" ptsTypes="AA">
                                      <p:cBhvr>
                                        <p:cTn id="26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2000"/>
                            </p:stCondLst>
                            <p:childTnLst>
                              <p:par>
                                <p:cTn id="26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1.11111E-6 L -0.03933 0.00208 " pathEditMode="relative" rAng="0" ptsTypes="AA">
                                      <p:cBhvr>
                                        <p:cTn id="270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66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2000"/>
                            </p:stCondLst>
                            <p:childTnLst>
                              <p:par>
                                <p:cTn id="27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2000"/>
                            </p:stCondLst>
                            <p:childTnLst>
                              <p:par>
                                <p:cTn id="27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2000"/>
                            </p:stCondLst>
                            <p:childTnLst>
                              <p:par>
                                <p:cTn id="27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0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2.59259E-6 L 0.04375 -7.40741E-7 " pathEditMode="relative" rAng="0" ptsTypes="AA">
                                      <p:cBhvr>
                                        <p:cTn id="29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9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2000"/>
                            </p:stCondLst>
                            <p:childTnLst>
                              <p:par>
                                <p:cTn id="30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2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2.59259E-6 L 0.04375 4.44444E-6 " pathEditMode="relative" rAng="0" ptsTypes="AA">
                                      <p:cBhvr>
                                        <p:cTn id="327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6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4.44444E-6 L -0.04232 0.00278 " pathEditMode="relative" rAng="0" ptsTypes="AA">
                                      <p:cBhvr>
                                        <p:cTn id="331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22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5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8" grpId="1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29" grpId="1" animBg="1"/>
      <p:bldP spid="30" grpId="0"/>
      <p:bldP spid="30" grpId="1"/>
      <p:bldP spid="31" grpId="0"/>
      <p:bldP spid="32" grpId="0"/>
      <p:bldP spid="33" grpId="0"/>
      <p:bldP spid="33" grpId="1"/>
      <p:bldP spid="34" grpId="0"/>
      <p:bldP spid="34" grpId="1"/>
      <p:bldP spid="35" grpId="0"/>
      <p:bldP spid="35" grpId="1"/>
      <p:bldP spid="36" grpId="0"/>
      <p:bldP spid="36" grpId="1"/>
      <p:bldP spid="37" grpId="0"/>
      <p:bldP spid="38" grpId="0"/>
      <p:bldP spid="39" grpId="0" animBg="1"/>
      <p:bldP spid="40" grpId="0" animBg="1"/>
      <p:bldP spid="41" grpId="0" animBg="1"/>
      <p:bldP spid="42" grpId="0" animBg="1"/>
      <p:bldP spid="43" grpId="0" animBg="1"/>
      <p:bldP spid="43" grpId="1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9" grpId="0" animBg="1"/>
      <p:bldP spid="69" grpId="1" animBg="1"/>
      <p:bldP spid="70" grpId="0"/>
      <p:bldP spid="72" grpId="0" animBg="1"/>
      <p:bldP spid="72" grpId="1" animBg="1"/>
      <p:bldP spid="74" grpId="0" animBg="1"/>
      <p:bldP spid="74" grpId="1" animBg="1"/>
      <p:bldP spid="74" grpId="2" animBg="1"/>
      <p:bldP spid="75" grpId="0" animBg="1"/>
      <p:bldP spid="75" grpId="1" animBg="1"/>
      <p:bldP spid="75" grpId="2" animBg="1"/>
      <p:bldP spid="76" grpId="0" animBg="1"/>
      <p:bldP spid="76" grpId="1" animBg="1"/>
      <p:bldP spid="77" grpId="0"/>
      <p:bldP spid="77" grpId="1"/>
      <p:bldP spid="78" grpId="0" animBg="1"/>
      <p:bldP spid="78" grpId="1" animBg="1"/>
      <p:bldP spid="79" grpId="0"/>
      <p:bldP spid="79" grpId="1"/>
      <p:bldP spid="81" grpId="0" animBg="1"/>
      <p:bldP spid="83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– Example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693" y="1252559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7 :</a:t>
            </a:r>
            <a:endParaRPr lang="en-US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25782" y="3736761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5782" y="3736761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8 :</a:t>
            </a:r>
            <a:endParaRPr lang="en-US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91693" y="1250462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114701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8101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890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224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558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892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6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560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556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3" name="Rectangle 22"/>
          <p:cNvSpPr/>
          <p:nvPr/>
        </p:nvSpPr>
        <p:spPr>
          <a:xfrm>
            <a:off x="21890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4" name="Rectangle 23"/>
          <p:cNvSpPr/>
          <p:nvPr/>
        </p:nvSpPr>
        <p:spPr>
          <a:xfrm>
            <a:off x="1114701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5" name="Rectangle 24"/>
          <p:cNvSpPr/>
          <p:nvPr/>
        </p:nvSpPr>
        <p:spPr>
          <a:xfrm>
            <a:off x="27224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6" name="Rectangle 25"/>
          <p:cNvSpPr/>
          <p:nvPr/>
        </p:nvSpPr>
        <p:spPr>
          <a:xfrm>
            <a:off x="32558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7" name="Rectangle 26"/>
          <p:cNvSpPr/>
          <p:nvPr/>
        </p:nvSpPr>
        <p:spPr>
          <a:xfrm>
            <a:off x="37892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8" name="Rectangle 27"/>
          <p:cNvSpPr/>
          <p:nvPr/>
        </p:nvSpPr>
        <p:spPr>
          <a:xfrm>
            <a:off x="43226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9" name="Rectangle 28"/>
          <p:cNvSpPr/>
          <p:nvPr/>
        </p:nvSpPr>
        <p:spPr>
          <a:xfrm>
            <a:off x="48560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30" name="Freeform 29"/>
          <p:cNvSpPr/>
          <p:nvPr/>
        </p:nvSpPr>
        <p:spPr>
          <a:xfrm>
            <a:off x="4552665" y="5836435"/>
            <a:ext cx="553891" cy="171192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4176517" y="6087071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Shift 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4701" y="5002324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538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872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206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540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81701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101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542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14701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8101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890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224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558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892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226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560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556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49" name="Rectangle 48"/>
          <p:cNvSpPr/>
          <p:nvPr/>
        </p:nvSpPr>
        <p:spPr>
          <a:xfrm>
            <a:off x="21890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0" name="Rectangle 49"/>
          <p:cNvSpPr/>
          <p:nvPr/>
        </p:nvSpPr>
        <p:spPr>
          <a:xfrm>
            <a:off x="1114701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1" name="Rectangle 50"/>
          <p:cNvSpPr/>
          <p:nvPr/>
        </p:nvSpPr>
        <p:spPr>
          <a:xfrm>
            <a:off x="27224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2" name="Rectangle 51"/>
          <p:cNvSpPr/>
          <p:nvPr/>
        </p:nvSpPr>
        <p:spPr>
          <a:xfrm>
            <a:off x="32558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3" name="Rectangle 52"/>
          <p:cNvSpPr/>
          <p:nvPr/>
        </p:nvSpPr>
        <p:spPr>
          <a:xfrm>
            <a:off x="37892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4" name="Rectangle 53"/>
          <p:cNvSpPr/>
          <p:nvPr/>
        </p:nvSpPr>
        <p:spPr>
          <a:xfrm>
            <a:off x="43226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5" name="Rectangle 54"/>
          <p:cNvSpPr/>
          <p:nvPr/>
        </p:nvSpPr>
        <p:spPr>
          <a:xfrm>
            <a:off x="48560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1114701" y="1957768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538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872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206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540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81701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15101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542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64" name="Oval 63"/>
          <p:cNvSpPr/>
          <p:nvPr/>
        </p:nvSpPr>
        <p:spPr>
          <a:xfrm>
            <a:off x="3827337" y="1957409"/>
            <a:ext cx="457200" cy="468868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4354087" y="5000955"/>
            <a:ext cx="457200" cy="468868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ounded Rectangle 65"/>
          <p:cNvSpPr/>
          <p:nvPr/>
        </p:nvSpPr>
        <p:spPr>
          <a:xfrm>
            <a:off x="7000900" y="4038775"/>
            <a:ext cx="805673" cy="331232"/>
          </a:xfrm>
          <a:prstGeom prst="roundRect">
            <a:avLst/>
          </a:prstGeom>
          <a:solidFill>
            <a:srgbClr val="ED524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3830739" y="4991100"/>
            <a:ext cx="457200" cy="468868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/>
          <p:cNvCxnSpPr/>
          <p:nvPr/>
        </p:nvCxnSpPr>
        <p:spPr>
          <a:xfrm>
            <a:off x="7020121" y="4323987"/>
            <a:ext cx="73152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3293050" y="1957409"/>
            <a:ext cx="457200" cy="468868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ounded Rectangle 70"/>
          <p:cNvSpPr/>
          <p:nvPr/>
        </p:nvSpPr>
        <p:spPr>
          <a:xfrm>
            <a:off x="6980929" y="1640560"/>
            <a:ext cx="830057" cy="331232"/>
          </a:xfrm>
          <a:prstGeom prst="roundRect">
            <a:avLst/>
          </a:prstGeom>
          <a:solidFill>
            <a:srgbClr val="ED524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 71"/>
          <p:cNvSpPr/>
          <p:nvPr/>
        </p:nvSpPr>
        <p:spPr>
          <a:xfrm>
            <a:off x="4038509" y="2838508"/>
            <a:ext cx="581392" cy="181492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/>
          <p:cNvSpPr txBox="1"/>
          <p:nvPr/>
        </p:nvSpPr>
        <p:spPr>
          <a:xfrm>
            <a:off x="3687867" y="3058477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Shift down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06526" y="1959429"/>
            <a:ext cx="49115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75" name="TextBox 74"/>
          <p:cNvSpPr txBox="1"/>
          <p:nvPr/>
        </p:nvSpPr>
        <p:spPr>
          <a:xfrm flipH="1">
            <a:off x="4323805" y="4990014"/>
            <a:ext cx="494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/>
              <p:cNvSpPr/>
              <p:nvPr/>
            </p:nvSpPr>
            <p:spPr>
              <a:xfrm>
                <a:off x="3838617" y="1437010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76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617" y="1437010"/>
                <a:ext cx="533400" cy="381000"/>
              </a:xfrm>
              <a:prstGeom prst="rect">
                <a:avLst/>
              </a:prstGeom>
              <a:blipFill>
                <a:blip r:embed="rId2"/>
                <a:stretch>
                  <a:fillRect b="-129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/>
              <p:cNvSpPr/>
              <p:nvPr/>
            </p:nvSpPr>
            <p:spPr>
              <a:xfrm>
                <a:off x="4391301" y="4492556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77" name="Rectangle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301" y="4492556"/>
                <a:ext cx="533400" cy="381000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Connector 79"/>
          <p:cNvCxnSpPr/>
          <p:nvPr/>
        </p:nvCxnSpPr>
        <p:spPr>
          <a:xfrm>
            <a:off x="6990810" y="1920814"/>
            <a:ext cx="77922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6276346" y="4437753"/>
                <a:ext cx="3775167" cy="1015663"/>
              </a:xfrm>
              <a:prstGeom prst="rect">
                <a:avLst/>
              </a:prstGeom>
              <a:solidFill>
                <a:srgbClr val="FCE0EE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346" y="4437753"/>
                <a:ext cx="3775167" cy="1015663"/>
              </a:xfrm>
              <a:prstGeom prst="rect">
                <a:avLst/>
              </a:prstGeom>
              <a:blipFill>
                <a:blip r:embed="rId4"/>
                <a:stretch>
                  <a:fillRect l="-1777" t="-3593" b="-4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6289409" y="1603735"/>
                <a:ext cx="1558440" cy="36933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409" y="1603735"/>
                <a:ext cx="155844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6322423" y="2026841"/>
                <a:ext cx="3762103" cy="1015663"/>
              </a:xfrm>
              <a:prstGeom prst="rect">
                <a:avLst/>
              </a:prstGeom>
              <a:solidFill>
                <a:srgbClr val="FCE0EE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423" y="2026841"/>
                <a:ext cx="3762103" cy="1015663"/>
              </a:xfrm>
              <a:prstGeom prst="rect">
                <a:avLst/>
              </a:prstGeom>
              <a:blipFill>
                <a:blip r:embed="rId8"/>
                <a:stretch>
                  <a:fillRect l="-1621" t="-2994" b="-5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ounded Rectangle 77"/>
          <p:cNvSpPr/>
          <p:nvPr/>
        </p:nvSpPr>
        <p:spPr>
          <a:xfrm>
            <a:off x="7149205" y="2048739"/>
            <a:ext cx="941056" cy="357663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7889970" y="1603735"/>
                <a:ext cx="2180749" cy="369332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970" y="1603735"/>
                <a:ext cx="2180749" cy="369332"/>
              </a:xfrm>
              <a:prstGeom prst="rect">
                <a:avLst/>
              </a:prstGeom>
              <a:blipFill>
                <a:blip r:embed="rId9"/>
                <a:stretch>
                  <a:fillRect b="-1111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Rounded Rectangle 78"/>
          <p:cNvSpPr/>
          <p:nvPr/>
        </p:nvSpPr>
        <p:spPr>
          <a:xfrm>
            <a:off x="7110021" y="4454435"/>
            <a:ext cx="941056" cy="357663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6276346" y="4001584"/>
                <a:ext cx="1586901" cy="36933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346" y="4001584"/>
                <a:ext cx="158690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7903033" y="4001584"/>
                <a:ext cx="2133600" cy="369332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033" y="4001584"/>
                <a:ext cx="2133600" cy="369332"/>
              </a:xfrm>
              <a:prstGeom prst="rect">
                <a:avLst/>
              </a:prstGeom>
              <a:blipFill>
                <a:blip r:embed="rId11"/>
                <a:stretch>
                  <a:fillRect l="-284" b="-1111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ounded Rectangle 83"/>
          <p:cNvSpPr/>
          <p:nvPr/>
        </p:nvSpPr>
        <p:spPr>
          <a:xfrm>
            <a:off x="5564777" y="6008914"/>
            <a:ext cx="393192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890E4F"/>
                </a:solidFill>
              </a:rPr>
              <a:t>The entire array is sorted now.</a:t>
            </a:r>
          </a:p>
        </p:txBody>
      </p:sp>
    </p:spTree>
    <p:extLst>
      <p:ext uri="{BB962C8B-B14F-4D97-AF65-F5344CB8AC3E}">
        <p14:creationId xmlns:p14="http://schemas.microsoft.com/office/powerpoint/2010/main" val="849664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9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0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07407E-6 L 0.04531 0.00023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000"/>
                            </p:stCondLst>
                            <p:childTnLst>
                              <p:par>
                                <p:cTn id="14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1.48148E-6 L -0.04427 0.00092 " pathEditMode="relative" rAng="0" ptsTypes="AA">
                                      <p:cBhvr>
                                        <p:cTn id="148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4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000"/>
                            </p:stCondLst>
                            <p:childTnLst>
                              <p:par>
                                <p:cTn id="15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500"/>
                            </p:stCondLst>
                            <p:childTnLst>
                              <p:par>
                                <p:cTn id="25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25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500"/>
                            </p:stCondLst>
                            <p:childTnLst>
                              <p:par>
                                <p:cTn id="2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1000"/>
                            </p:stCondLst>
                            <p:childTnLst>
                              <p:par>
                                <p:cTn id="27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0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3000"/>
                            </p:stCondLst>
                            <p:childTnLst>
                              <p:par>
                                <p:cTn id="2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59259E-6 L 0.04453 0.00208 " pathEditMode="relative" rAng="0" ptsTypes="AA">
                                      <p:cBhvr>
                                        <p:cTn id="31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7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3.7037E-7 L -0.04883 0.00278 " pathEditMode="relative" rAng="0" ptsTypes="AA">
                                      <p:cBhvr>
                                        <p:cTn id="317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8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>
                            <p:stCondLst>
                              <p:cond delay="2000"/>
                            </p:stCondLst>
                            <p:childTnLst>
                              <p:par>
                                <p:cTn id="3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1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1" grpId="1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0" grpId="1" animBg="1"/>
      <p:bldP spid="31" grpId="0"/>
      <p:bldP spid="31" grpId="1"/>
      <p:bldP spid="32" grpId="0"/>
      <p:bldP spid="33" grpId="0"/>
      <p:bldP spid="34" grpId="0"/>
      <p:bldP spid="35" grpId="0"/>
      <p:bldP spid="36" grpId="0"/>
      <p:bldP spid="37" grpId="0"/>
      <p:bldP spid="38" grpId="0"/>
      <p:bldP spid="38" grpId="1"/>
      <p:bldP spid="39" grpId="0"/>
      <p:bldP spid="39" grpId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6" grpId="1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/>
      <p:bldP spid="57" grpId="0"/>
      <p:bldP spid="58" grpId="0"/>
      <p:bldP spid="59" grpId="0"/>
      <p:bldP spid="60" grpId="0"/>
      <p:bldP spid="61" grpId="0"/>
      <p:bldP spid="61" grpId="1"/>
      <p:bldP spid="62" grpId="0"/>
      <p:bldP spid="62" grpId="1"/>
      <p:bldP spid="63" grpId="0"/>
      <p:bldP spid="64" grpId="0" animBg="1"/>
      <p:bldP spid="64" grpId="1" animBg="1"/>
      <p:bldP spid="65" grpId="0" animBg="1"/>
      <p:bldP spid="65" grpId="1" animBg="1"/>
      <p:bldP spid="66" grpId="0" animBg="1"/>
      <p:bldP spid="67" grpId="0" animBg="1"/>
      <p:bldP spid="67" grpId="1" animBg="1"/>
      <p:bldP spid="70" grpId="0" animBg="1"/>
      <p:bldP spid="70" grpId="1" animBg="1"/>
      <p:bldP spid="71" grpId="0" animBg="1"/>
      <p:bldP spid="72" grpId="0" animBg="1"/>
      <p:bldP spid="72" grpId="1" animBg="1"/>
      <p:bldP spid="73" grpId="0"/>
      <p:bldP spid="73" grpId="1"/>
      <p:bldP spid="74" grpId="0"/>
      <p:bldP spid="75" grpId="0"/>
      <p:bldP spid="76" grpId="0" animBg="1"/>
      <p:bldP spid="76" grpId="1" animBg="1"/>
      <p:bldP spid="76" grpId="2" animBg="1"/>
      <p:bldP spid="77" grpId="0" animBg="1"/>
      <p:bldP spid="77" grpId="1" animBg="1"/>
      <p:bldP spid="90" grpId="0" animBg="1"/>
      <p:bldP spid="81" grpId="0" animBg="1"/>
      <p:bldP spid="82" grpId="0" animBg="1"/>
      <p:bldP spid="78" grpId="0" animBg="1"/>
      <p:bldP spid="83" grpId="0" animBg="1"/>
      <p:bldP spid="79" grpId="0" animBg="1"/>
      <p:bldP spid="87" grpId="0" animBg="1"/>
      <p:bldP spid="89" grpId="0" animBg="1"/>
      <p:bldP spid="8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- Algorithm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70369" y="863444"/>
            <a:ext cx="11929641" cy="5590565"/>
          </a:xfrm>
          <a:solidFill>
            <a:srgbClr val="424242"/>
          </a:solidFill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Input: Array 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Output: Sorted array T</a:t>
            </a:r>
          </a:p>
          <a:p>
            <a:pPr marL="0" indent="0">
              <a:spcBef>
                <a:spcPts val="600"/>
              </a:spcBef>
              <a:buNone/>
            </a:pPr>
            <a:endParaRPr lang="en-IN" b="1" dirty="0">
              <a:solidFill>
                <a:srgbClr val="FBD9EB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Insertion_Sort</a:t>
            </a:r>
            <a:r>
              <a:rPr lang="en-IN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(T[1,…,n])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pt-BR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for </a:t>
            </a:r>
            <a:r>
              <a:rPr lang="pt-BR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 ← 2 to n </a:t>
            </a:r>
            <a:r>
              <a:rPr lang="pt-BR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do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x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T[</a:t>
            </a:r>
            <a:r>
              <a:rPr lang="en-IN" sz="2400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];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j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← </a:t>
            </a:r>
            <a:r>
              <a:rPr lang="pt-BR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 – 1;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endParaRPr lang="en-IN" sz="2400" dirty="0">
              <a:solidFill>
                <a:srgbClr val="FBD9EB"/>
              </a:solidFill>
              <a:latin typeface="Consolas" pitchFamily="49" charset="0"/>
              <a:cs typeface="Consolas" pitchFamily="49" charset="0"/>
            </a:endParaRPr>
          </a:p>
          <a:p>
            <a:pPr marL="914400" lvl="2" indent="0">
              <a:spcBef>
                <a:spcPts val="600"/>
              </a:spcBef>
              <a:buNone/>
            </a:pP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while </a:t>
            </a:r>
            <a:r>
              <a:rPr lang="pt-BR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x &lt; T[j]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and</a:t>
            </a:r>
            <a:r>
              <a:rPr lang="pt-BR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j &gt; 0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do</a:t>
            </a:r>
          </a:p>
          <a:p>
            <a:pPr marL="1828800" lvl="4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T[j+1] </a:t>
            </a:r>
            <a:r>
              <a:rPr lang="en-IN" sz="2400" dirty="0">
                <a:solidFill>
                  <a:srgbClr val="FBD9EB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 T[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j];</a:t>
            </a:r>
          </a:p>
          <a:p>
            <a:pPr marL="1828800" lvl="4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j </a:t>
            </a:r>
            <a:r>
              <a:rPr lang="en-IN" sz="2400" dirty="0">
                <a:solidFill>
                  <a:srgbClr val="FBD9EB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j – 1;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T[j+1] </a:t>
            </a:r>
            <a:r>
              <a:rPr lang="en-IN" sz="2400" dirty="0">
                <a:solidFill>
                  <a:srgbClr val="FBD9EB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x;</a:t>
            </a:r>
            <a:endParaRPr lang="en-IN" b="1" dirty="0">
              <a:solidFill>
                <a:srgbClr val="FBD9EB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2" name="Rounded Rectangle 31"/>
          <p:cNvSpPr/>
          <p:nvPr/>
        </p:nvSpPr>
        <p:spPr>
          <a:xfrm>
            <a:off x="323757" y="2898417"/>
            <a:ext cx="5828849" cy="2651760"/>
          </a:xfrm>
          <a:prstGeom prst="round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1737359" y="4121461"/>
            <a:ext cx="2890221" cy="822960"/>
          </a:xfrm>
          <a:prstGeom prst="round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ounded Rectangular Callout 33"/>
              <p:cNvSpPr/>
              <p:nvPr/>
            </p:nvSpPr>
            <p:spPr>
              <a:xfrm>
                <a:off x="6266330" y="2666872"/>
                <a:ext cx="762000" cy="457200"/>
              </a:xfrm>
              <a:prstGeom prst="wedgeRoundRectCallout">
                <a:avLst>
                  <a:gd name="adj1" fmla="val -73975"/>
                  <a:gd name="adj2" fmla="val 34885"/>
                  <a:gd name="adj3" fmla="val 16667"/>
                </a:avLst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𝐧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4" name="Rounded Rectangular Callout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330" y="2666872"/>
                <a:ext cx="762000" cy="457200"/>
              </a:xfrm>
              <a:prstGeom prst="wedgeRoundRectCallout">
                <a:avLst>
                  <a:gd name="adj1" fmla="val -73975"/>
                  <a:gd name="adj2" fmla="val 34885"/>
                  <a:gd name="adj3" fmla="val 16667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ounded Rectangular Callout 34"/>
              <p:cNvSpPr/>
              <p:nvPr/>
            </p:nvSpPr>
            <p:spPr>
              <a:xfrm>
                <a:off x="4836952" y="4266963"/>
                <a:ext cx="914400" cy="457200"/>
              </a:xfrm>
              <a:prstGeom prst="wedgeRoundRectCallout">
                <a:avLst>
                  <a:gd name="adj1" fmla="val -71901"/>
                  <a:gd name="adj2" fmla="val -15165"/>
                  <a:gd name="adj3" fmla="val 16667"/>
                </a:avLst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ED52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ED524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rgbClr val="ED524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 smtClean="0">
                                  <a:solidFill>
                                    <a:srgbClr val="ED524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𝐧</m:t>
                              </m:r>
                            </m:e>
                            <m:sup>
                              <m:r>
                                <a:rPr lang="en-US" sz="2400" b="1" i="0" smtClean="0">
                                  <a:solidFill>
                                    <a:srgbClr val="ED524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ED524F"/>
                  </a:solidFill>
                </a:endParaRPr>
              </a:p>
            </p:txBody>
          </p:sp>
        </mc:Choice>
        <mc:Fallback xmlns="">
          <p:sp>
            <p:nvSpPr>
              <p:cNvPr id="35" name="Rounded Rectangular Callout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952" y="4266963"/>
                <a:ext cx="914400" cy="457200"/>
              </a:xfrm>
              <a:prstGeom prst="wedgeRoundRectCallout">
                <a:avLst>
                  <a:gd name="adj1" fmla="val -71901"/>
                  <a:gd name="adj2" fmla="val -15165"/>
                  <a:gd name="adj3" fmla="val 16667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824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Algorithm – Best Case Analysis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70369" y="863444"/>
            <a:ext cx="11929641" cy="5590565"/>
          </a:xfrm>
          <a:solidFill>
            <a:srgbClr val="424242"/>
          </a:solidFill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Input: Array 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Output: Sorted array T</a:t>
            </a:r>
          </a:p>
          <a:p>
            <a:pPr marL="0" indent="0">
              <a:spcBef>
                <a:spcPts val="600"/>
              </a:spcBef>
              <a:buNone/>
            </a:pPr>
            <a:endParaRPr lang="en-IN" b="1" dirty="0">
              <a:solidFill>
                <a:srgbClr val="FBD9EB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Insertion_Sort</a:t>
            </a:r>
            <a:r>
              <a:rPr lang="en-IN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(T[1,…,n])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pt-BR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for </a:t>
            </a:r>
            <a:r>
              <a:rPr lang="pt-BR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 ← 2 to n </a:t>
            </a:r>
            <a:r>
              <a:rPr lang="pt-BR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do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x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T[</a:t>
            </a:r>
            <a:r>
              <a:rPr lang="en-IN" sz="2400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];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j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← </a:t>
            </a:r>
            <a:r>
              <a:rPr lang="pt-BR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 – 1;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endParaRPr lang="en-IN" sz="2400" dirty="0">
              <a:solidFill>
                <a:srgbClr val="FBD9EB"/>
              </a:solidFill>
              <a:latin typeface="Consolas" pitchFamily="49" charset="0"/>
              <a:cs typeface="Consolas" pitchFamily="49" charset="0"/>
            </a:endParaRPr>
          </a:p>
          <a:p>
            <a:pPr marL="914400" lvl="2" indent="0">
              <a:spcBef>
                <a:spcPts val="600"/>
              </a:spcBef>
              <a:buNone/>
            </a:pP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while </a:t>
            </a:r>
            <a:r>
              <a:rPr lang="pt-BR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x &lt; T[j]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and</a:t>
            </a:r>
            <a:r>
              <a:rPr lang="pt-BR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j &gt; 0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do</a:t>
            </a:r>
          </a:p>
          <a:p>
            <a:pPr marL="1828800" lvl="4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T[j+1] </a:t>
            </a:r>
            <a:r>
              <a:rPr lang="en-IN" sz="2400" dirty="0">
                <a:solidFill>
                  <a:srgbClr val="FBD9EB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 T[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j];</a:t>
            </a:r>
          </a:p>
          <a:p>
            <a:pPr marL="1828800" lvl="4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j </a:t>
            </a:r>
            <a:r>
              <a:rPr lang="en-IN" sz="2400" dirty="0">
                <a:solidFill>
                  <a:srgbClr val="FBD9EB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j – 1;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T[j+1] </a:t>
            </a:r>
            <a:r>
              <a:rPr lang="en-IN" sz="2400" dirty="0">
                <a:solidFill>
                  <a:srgbClr val="FBD9EB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x;</a:t>
            </a:r>
            <a:endParaRPr lang="en-IN" b="1" dirty="0">
              <a:solidFill>
                <a:srgbClr val="FBD9EB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2" name="Rounded Rectangle 31"/>
          <p:cNvSpPr/>
          <p:nvPr/>
        </p:nvSpPr>
        <p:spPr>
          <a:xfrm>
            <a:off x="323757" y="2898417"/>
            <a:ext cx="5828849" cy="3435006"/>
          </a:xfrm>
          <a:prstGeom prst="round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2123058" y="4410245"/>
            <a:ext cx="1397726" cy="411350"/>
          </a:xfrm>
          <a:prstGeom prst="roundRect">
            <a:avLst/>
          </a:prstGeom>
          <a:noFill/>
          <a:ln w="28575">
            <a:solidFill>
              <a:srgbClr val="ED52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67176" y="2267680"/>
            <a:ext cx="5334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8467176" y="264868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67176" y="302968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67176" y="1505680"/>
            <a:ext cx="5334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67176" y="1886680"/>
            <a:ext cx="5334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64052" y="1881083"/>
            <a:ext cx="914400" cy="365760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FCE0E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x=23</a:t>
            </a:r>
            <a:endParaRPr lang="en-US" sz="2000" dirty="0">
              <a:solidFill>
                <a:srgbClr val="FCE0E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780706" y="2266588"/>
            <a:ext cx="1188720" cy="365760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CE0E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T[j]=23</a:t>
            </a:r>
            <a:endParaRPr lang="en-US" sz="2000" dirty="0">
              <a:solidFill>
                <a:srgbClr val="FCE0E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80706" y="2652093"/>
            <a:ext cx="1188720" cy="365760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CE0E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T[j]=34</a:t>
            </a:r>
            <a:endParaRPr lang="en-US" sz="2000" dirty="0">
              <a:solidFill>
                <a:srgbClr val="FCE0E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780706" y="3037597"/>
            <a:ext cx="1188720" cy="365760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CE0E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T[j]=45</a:t>
            </a:r>
            <a:endParaRPr lang="en-US" sz="2000" dirty="0">
              <a:solidFill>
                <a:srgbClr val="FCE0E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58025" y="1881083"/>
            <a:ext cx="607859" cy="36576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2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=2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58025" y="2266588"/>
            <a:ext cx="607859" cy="36576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2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=3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53939" y="2652093"/>
            <a:ext cx="607859" cy="36576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2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=4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53939" y="3037597"/>
            <a:ext cx="607859" cy="36576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2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=5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30935" y="1001486"/>
            <a:ext cx="920445" cy="369332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3"/>
                </a:solidFill>
              </a:rPr>
              <a:t>Pass 1 :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80706" y="1881083"/>
            <a:ext cx="1188720" cy="365760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FCE0E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T[j]=12</a:t>
            </a:r>
            <a:endParaRPr lang="en-US" sz="2000" dirty="0">
              <a:solidFill>
                <a:srgbClr val="FCE0E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764052" y="2266588"/>
            <a:ext cx="914400" cy="365760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FCE0E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x=34</a:t>
            </a:r>
            <a:endParaRPr lang="en-US" sz="2000" dirty="0">
              <a:solidFill>
                <a:srgbClr val="FCE0E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764052" y="2652093"/>
            <a:ext cx="914400" cy="365760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FCE0E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x=45</a:t>
            </a:r>
            <a:endParaRPr lang="en-US" sz="2000" dirty="0">
              <a:solidFill>
                <a:srgbClr val="FCE0E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764052" y="3037597"/>
            <a:ext cx="914400" cy="365760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FCE0E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x=59</a:t>
            </a:r>
            <a:endParaRPr lang="en-US" sz="2000" dirty="0">
              <a:solidFill>
                <a:srgbClr val="FCE0E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ounded Rectangular Callout 25"/>
              <p:cNvSpPr/>
              <p:nvPr/>
            </p:nvSpPr>
            <p:spPr>
              <a:xfrm>
                <a:off x="6266330" y="2666872"/>
                <a:ext cx="762000" cy="457200"/>
              </a:xfrm>
              <a:prstGeom prst="wedgeRoundRectCallout">
                <a:avLst>
                  <a:gd name="adj1" fmla="val -73975"/>
                  <a:gd name="adj2" fmla="val 34885"/>
                  <a:gd name="adj3" fmla="val 16667"/>
                </a:avLst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𝐧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6" name="Rounded Rectangular Callou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330" y="2666872"/>
                <a:ext cx="762000" cy="457200"/>
              </a:xfrm>
              <a:prstGeom prst="wedgeRoundRectCallout">
                <a:avLst>
                  <a:gd name="adj1" fmla="val -73975"/>
                  <a:gd name="adj2" fmla="val 34885"/>
                  <a:gd name="adj3" fmla="val 16667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863842" y="3662344"/>
                <a:ext cx="4088675" cy="1986506"/>
              </a:xfrm>
              <a:prstGeom prst="rect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ash"/>
              </a:ln>
            </p:spPr>
            <p:txBody>
              <a:bodyPr wrap="square">
                <a:spAutoFit/>
              </a:bodyPr>
              <a:lstStyle/>
              <a:p>
                <a:pPr algn="just">
                  <a:buClr>
                    <a:schemeClr val="tx1"/>
                  </a:buClr>
                </a:pPr>
                <a:r>
                  <a:rPr lang="en-US" sz="2400" dirty="0">
                    <a:solidFill>
                      <a:srgbClr val="FBD9EB"/>
                    </a:solidFill>
                  </a:rPr>
                  <a:t>The best case time complexity of Insertion sort is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sz="2400" i="1" dirty="0">
                  <a:solidFill>
                    <a:srgbClr val="FBD9EB"/>
                  </a:solidFill>
                </a:endParaRPr>
              </a:p>
              <a:p>
                <a:pPr algn="just">
                  <a:buClr>
                    <a:schemeClr val="tx1"/>
                  </a:buClr>
                </a:pPr>
                <a:r>
                  <a:rPr lang="en-US" sz="2400" dirty="0">
                    <a:solidFill>
                      <a:srgbClr val="FBD9EB"/>
                    </a:solidFill>
                  </a:rPr>
                  <a:t>The average and worst case time complexity </a:t>
                </a:r>
                <a:r>
                  <a:rPr lang="en-US" sz="2400">
                    <a:solidFill>
                      <a:srgbClr val="FBD9EB"/>
                    </a:solidFill>
                  </a:rPr>
                  <a:t>of Insertion </a:t>
                </a:r>
                <a:r>
                  <a:rPr lang="en-US" sz="2400" dirty="0">
                    <a:solidFill>
                      <a:srgbClr val="FBD9EB"/>
                    </a:solidFill>
                  </a:rPr>
                  <a:t>sort is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2400" b="1" i="1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842" y="3662344"/>
                <a:ext cx="4088675" cy="1986506"/>
              </a:xfrm>
              <a:prstGeom prst="rect">
                <a:avLst/>
              </a:prstGeom>
              <a:blipFill>
                <a:blip r:embed="rId3"/>
                <a:stretch>
                  <a:fillRect l="-2080" t="-1829" r="-2080" b="-4878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69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524F"/>
                                      </p:to>
                                    </p:animClr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524F"/>
                                      </p:to>
                                    </p:animClr>
                                    <p:set>
                                      <p:cBhvr>
                                        <p:cTn id="5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524F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524F"/>
                                      </p:to>
                                    </p:animClr>
                                    <p:set>
                                      <p:cBhvr>
                                        <p:cTn id="9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5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0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Heap &amp; Heap Sort Algorithm</a:t>
            </a:r>
          </a:p>
        </p:txBody>
      </p:sp>
    </p:spTree>
    <p:extLst>
      <p:ext uri="{BB962C8B-B14F-4D97-AF65-F5344CB8AC3E}">
        <p14:creationId xmlns:p14="http://schemas.microsoft.com/office/powerpoint/2010/main" val="29150970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heap data structure is a binary tree with the following two properties.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It is a complete binary tree: Each level of the tree is completely filled, except possibly the bottom level. At this level it is filled from left to right.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It satisfies the </a:t>
            </a:r>
            <a:r>
              <a:rPr lang="en-US" sz="2200" b="1" dirty="0"/>
              <a:t>heap order </a:t>
            </a:r>
            <a:r>
              <a:rPr lang="en-US" sz="2200" dirty="0"/>
              <a:t>property: </a:t>
            </a:r>
            <a:r>
              <a:rPr lang="en-US" dirty="0"/>
              <a:t>the data item stored in each node is </a:t>
            </a:r>
            <a:r>
              <a:rPr lang="en-US" b="1" dirty="0">
                <a:highlight>
                  <a:srgbClr val="00FF00"/>
                </a:highlight>
              </a:rPr>
              <a:t>greater than or equal</a:t>
            </a:r>
            <a:r>
              <a:rPr lang="en-US" b="1" dirty="0"/>
              <a:t> to </a:t>
            </a:r>
            <a:r>
              <a:rPr lang="en-US" dirty="0"/>
              <a:t>the data item stored in </a:t>
            </a:r>
            <a:r>
              <a:rPr lang="en-US" dirty="0">
                <a:highlight>
                  <a:srgbClr val="00FF00"/>
                </a:highlight>
              </a:rPr>
              <a:t>its children</a:t>
            </a:r>
            <a:r>
              <a:rPr lang="en-US" dirty="0"/>
              <a:t> node.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algn="l"/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285099" y="3045086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890E4F"/>
                </a:solidFill>
              </a:rPr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832254" y="3864427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890E4F"/>
                </a:solidFill>
              </a:rPr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1731579" y="3864427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890E4F"/>
                </a:solidFill>
              </a:rP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325596" y="4756944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890E4F"/>
                </a:solidFill>
              </a:rPr>
              <a:t>d</a:t>
            </a:r>
          </a:p>
        </p:txBody>
      </p:sp>
      <p:sp>
        <p:nvSpPr>
          <p:cNvPr id="8" name="Oval 7"/>
          <p:cNvSpPr/>
          <p:nvPr/>
        </p:nvSpPr>
        <p:spPr>
          <a:xfrm>
            <a:off x="1324288" y="4756944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890E4F"/>
                </a:solidFill>
              </a:rPr>
              <a:t>e</a:t>
            </a:r>
          </a:p>
        </p:txBody>
      </p:sp>
      <p:sp>
        <p:nvSpPr>
          <p:cNvPr id="9" name="Oval 8"/>
          <p:cNvSpPr/>
          <p:nvPr/>
        </p:nvSpPr>
        <p:spPr>
          <a:xfrm>
            <a:off x="2220556" y="4756944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890E4F"/>
                </a:solidFill>
              </a:rPr>
              <a:t>f</a:t>
            </a:r>
          </a:p>
        </p:txBody>
      </p:sp>
      <p:cxnSp>
        <p:nvCxnSpPr>
          <p:cNvPr id="10" name="Straight Arrow Connector 9"/>
          <p:cNvCxnSpPr>
            <a:stCxn id="4" idx="3"/>
            <a:endCxn id="5" idx="0"/>
          </p:cNvCxnSpPr>
          <p:nvPr/>
        </p:nvCxnSpPr>
        <p:spPr>
          <a:xfrm flipH="1">
            <a:off x="1060854" y="3435331"/>
            <a:ext cx="291200" cy="4290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4" idx="5"/>
            <a:endCxn id="6" idx="0"/>
          </p:cNvCxnSpPr>
          <p:nvPr/>
        </p:nvCxnSpPr>
        <p:spPr>
          <a:xfrm>
            <a:off x="1675344" y="3435331"/>
            <a:ext cx="284835" cy="4290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3"/>
            <a:endCxn id="7" idx="0"/>
          </p:cNvCxnSpPr>
          <p:nvPr/>
        </p:nvCxnSpPr>
        <p:spPr>
          <a:xfrm flipH="1">
            <a:off x="554196" y="4254672"/>
            <a:ext cx="345013" cy="50227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5"/>
            <a:endCxn id="8" idx="0"/>
          </p:cNvCxnSpPr>
          <p:nvPr/>
        </p:nvCxnSpPr>
        <p:spPr>
          <a:xfrm>
            <a:off x="1222499" y="4254672"/>
            <a:ext cx="330389" cy="50227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5"/>
            <a:endCxn id="9" idx="0"/>
          </p:cNvCxnSpPr>
          <p:nvPr/>
        </p:nvCxnSpPr>
        <p:spPr>
          <a:xfrm>
            <a:off x="2121824" y="4254672"/>
            <a:ext cx="327332" cy="50227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817" y="5543625"/>
            <a:ext cx="2965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A71160"/>
                </a:solidFill>
              </a:rPr>
              <a:t>Binary Tree but not a Heap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83133" y="5543625"/>
            <a:ext cx="3065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A71160"/>
                </a:solidFill>
              </a:rPr>
              <a:t>Complete Binary Tree - Heap</a:t>
            </a:r>
          </a:p>
        </p:txBody>
      </p:sp>
      <p:sp>
        <p:nvSpPr>
          <p:cNvPr id="28" name="Rounded Rectangle 27"/>
          <p:cNvSpPr/>
          <p:nvPr/>
        </p:nvSpPr>
        <p:spPr>
          <a:xfrm rot="19694728">
            <a:off x="1886782" y="3764032"/>
            <a:ext cx="640080" cy="1554480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 rot="581997">
            <a:off x="4854015" y="3828756"/>
            <a:ext cx="640080" cy="1554480"/>
          </a:xfrm>
          <a:prstGeom prst="roundRect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4389709" y="3045086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890E4F"/>
                </a:solidFill>
              </a:rPr>
              <a:t>a</a:t>
            </a:r>
          </a:p>
        </p:txBody>
      </p:sp>
      <p:sp>
        <p:nvSpPr>
          <p:cNvPr id="60" name="Oval 59"/>
          <p:cNvSpPr/>
          <p:nvPr/>
        </p:nvSpPr>
        <p:spPr>
          <a:xfrm>
            <a:off x="3936864" y="3851364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890E4F"/>
                </a:solidFill>
              </a:rPr>
              <a:t>b</a:t>
            </a:r>
          </a:p>
        </p:txBody>
      </p:sp>
      <p:sp>
        <p:nvSpPr>
          <p:cNvPr id="61" name="Oval 60"/>
          <p:cNvSpPr/>
          <p:nvPr/>
        </p:nvSpPr>
        <p:spPr>
          <a:xfrm>
            <a:off x="4966818" y="3903615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890E4F"/>
                </a:solidFill>
              </a:rPr>
              <a:t>c</a:t>
            </a:r>
          </a:p>
        </p:txBody>
      </p:sp>
      <p:sp>
        <p:nvSpPr>
          <p:cNvPr id="62" name="Oval 61"/>
          <p:cNvSpPr/>
          <p:nvPr/>
        </p:nvSpPr>
        <p:spPr>
          <a:xfrm>
            <a:off x="3560835" y="4783070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890E4F"/>
                </a:solidFill>
              </a:rPr>
              <a:t>d</a:t>
            </a:r>
          </a:p>
        </p:txBody>
      </p:sp>
      <p:sp>
        <p:nvSpPr>
          <p:cNvPr id="63" name="Oval 62"/>
          <p:cNvSpPr/>
          <p:nvPr/>
        </p:nvSpPr>
        <p:spPr>
          <a:xfrm>
            <a:off x="4285206" y="4783070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890E4F"/>
                </a:solidFill>
              </a:rPr>
              <a:t>e</a:t>
            </a:r>
          </a:p>
        </p:txBody>
      </p:sp>
      <p:sp>
        <p:nvSpPr>
          <p:cNvPr id="64" name="Oval 63"/>
          <p:cNvSpPr/>
          <p:nvPr/>
        </p:nvSpPr>
        <p:spPr>
          <a:xfrm>
            <a:off x="4881028" y="4783070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890E4F"/>
                </a:solidFill>
              </a:rPr>
              <a:t>f</a:t>
            </a:r>
          </a:p>
        </p:txBody>
      </p:sp>
      <p:cxnSp>
        <p:nvCxnSpPr>
          <p:cNvPr id="65" name="Straight Arrow Connector 64"/>
          <p:cNvCxnSpPr>
            <a:stCxn id="59" idx="3"/>
            <a:endCxn id="60" idx="0"/>
          </p:cNvCxnSpPr>
          <p:nvPr/>
        </p:nvCxnSpPr>
        <p:spPr>
          <a:xfrm flipH="1">
            <a:off x="4165464" y="3435331"/>
            <a:ext cx="291200" cy="41603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9" idx="5"/>
            <a:endCxn id="61" idx="0"/>
          </p:cNvCxnSpPr>
          <p:nvPr/>
        </p:nvCxnSpPr>
        <p:spPr>
          <a:xfrm>
            <a:off x="4779954" y="3435331"/>
            <a:ext cx="415464" cy="46828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60" idx="3"/>
            <a:endCxn id="62" idx="0"/>
          </p:cNvCxnSpPr>
          <p:nvPr/>
        </p:nvCxnSpPr>
        <p:spPr>
          <a:xfrm flipH="1">
            <a:off x="3789435" y="4241609"/>
            <a:ext cx="214384" cy="54146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60" idx="5"/>
            <a:endCxn id="63" idx="0"/>
          </p:cNvCxnSpPr>
          <p:nvPr/>
        </p:nvCxnSpPr>
        <p:spPr>
          <a:xfrm>
            <a:off x="4327109" y="4241609"/>
            <a:ext cx="186697" cy="54146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61" idx="4"/>
            <a:endCxn id="64" idx="0"/>
          </p:cNvCxnSpPr>
          <p:nvPr/>
        </p:nvCxnSpPr>
        <p:spPr>
          <a:xfrm flipH="1">
            <a:off x="5109628" y="4360815"/>
            <a:ext cx="85790" cy="4222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764289" y="3045086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890E4F"/>
                </a:solidFill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7154689" y="3851364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890E4F"/>
                </a:solidFill>
              </a:rPr>
              <a:t>6</a:t>
            </a:r>
          </a:p>
        </p:txBody>
      </p:sp>
      <p:sp>
        <p:nvSpPr>
          <p:cNvPr id="32" name="Oval 31"/>
          <p:cNvSpPr/>
          <p:nvPr/>
        </p:nvSpPr>
        <p:spPr>
          <a:xfrm>
            <a:off x="8332019" y="3851364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890E4F"/>
                </a:solidFill>
              </a:rPr>
              <a:t>7</a:t>
            </a:r>
          </a:p>
        </p:txBody>
      </p:sp>
      <p:sp>
        <p:nvSpPr>
          <p:cNvPr id="33" name="Oval 32"/>
          <p:cNvSpPr/>
          <p:nvPr/>
        </p:nvSpPr>
        <p:spPr>
          <a:xfrm>
            <a:off x="6608844" y="4804215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890E4F"/>
                </a:solidFill>
              </a:rPr>
              <a:t>2</a:t>
            </a:r>
          </a:p>
        </p:txBody>
      </p:sp>
      <p:sp>
        <p:nvSpPr>
          <p:cNvPr id="34" name="Oval 33"/>
          <p:cNvSpPr/>
          <p:nvPr/>
        </p:nvSpPr>
        <p:spPr>
          <a:xfrm>
            <a:off x="7584785" y="4796133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890E4F"/>
                </a:solidFill>
              </a:rPr>
              <a:t>4</a:t>
            </a:r>
          </a:p>
        </p:txBody>
      </p:sp>
      <p:sp>
        <p:nvSpPr>
          <p:cNvPr id="35" name="Oval 34"/>
          <p:cNvSpPr/>
          <p:nvPr/>
        </p:nvSpPr>
        <p:spPr>
          <a:xfrm>
            <a:off x="8128217" y="4796133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890E4F"/>
                </a:solidFill>
              </a:rPr>
              <a:t>8</a:t>
            </a:r>
          </a:p>
        </p:txBody>
      </p:sp>
      <p:cxnSp>
        <p:nvCxnSpPr>
          <p:cNvPr id="36" name="Straight Arrow Connector 35"/>
          <p:cNvCxnSpPr>
            <a:stCxn id="30" idx="3"/>
            <a:endCxn id="31" idx="0"/>
          </p:cNvCxnSpPr>
          <p:nvPr/>
        </p:nvCxnSpPr>
        <p:spPr>
          <a:xfrm flipH="1">
            <a:off x="7383289" y="3435331"/>
            <a:ext cx="447955" cy="41603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5"/>
            <a:endCxn id="32" idx="0"/>
          </p:cNvCxnSpPr>
          <p:nvPr/>
        </p:nvCxnSpPr>
        <p:spPr>
          <a:xfrm>
            <a:off x="8154534" y="3435331"/>
            <a:ext cx="406085" cy="41603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1" idx="3"/>
            <a:endCxn id="33" idx="0"/>
          </p:cNvCxnSpPr>
          <p:nvPr/>
        </p:nvCxnSpPr>
        <p:spPr>
          <a:xfrm flipH="1">
            <a:off x="6837444" y="4241609"/>
            <a:ext cx="384200" cy="56260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1" idx="5"/>
            <a:endCxn id="34" idx="0"/>
          </p:cNvCxnSpPr>
          <p:nvPr/>
        </p:nvCxnSpPr>
        <p:spPr>
          <a:xfrm>
            <a:off x="7544934" y="4241609"/>
            <a:ext cx="268451" cy="55452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2" idx="4"/>
            <a:endCxn id="35" idx="0"/>
          </p:cNvCxnSpPr>
          <p:nvPr/>
        </p:nvCxnSpPr>
        <p:spPr>
          <a:xfrm flipH="1">
            <a:off x="8356817" y="4308564"/>
            <a:ext cx="203802" cy="48756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310858" y="5543625"/>
            <a:ext cx="13236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A71160"/>
                </a:solidFill>
              </a:rPr>
              <a:t>Not a Heap</a:t>
            </a:r>
          </a:p>
        </p:txBody>
      </p:sp>
      <p:sp>
        <p:nvSpPr>
          <p:cNvPr id="42" name="Oval 41"/>
          <p:cNvSpPr/>
          <p:nvPr/>
        </p:nvSpPr>
        <p:spPr>
          <a:xfrm>
            <a:off x="10512467" y="3045086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890E4F"/>
                </a:solidFill>
              </a:rPr>
              <a:t>9</a:t>
            </a:r>
          </a:p>
        </p:txBody>
      </p:sp>
      <p:sp>
        <p:nvSpPr>
          <p:cNvPr id="43" name="Oval 42"/>
          <p:cNvSpPr/>
          <p:nvPr/>
        </p:nvSpPr>
        <p:spPr>
          <a:xfrm>
            <a:off x="9824491" y="3851364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890E4F"/>
                </a:solidFill>
              </a:rPr>
              <a:t>6</a:t>
            </a:r>
          </a:p>
        </p:txBody>
      </p:sp>
      <p:sp>
        <p:nvSpPr>
          <p:cNvPr id="44" name="Oval 43"/>
          <p:cNvSpPr/>
          <p:nvPr/>
        </p:nvSpPr>
        <p:spPr>
          <a:xfrm>
            <a:off x="11302145" y="3851364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890E4F"/>
                </a:solidFill>
              </a:rPr>
              <a:t>7</a:t>
            </a:r>
          </a:p>
        </p:txBody>
      </p:sp>
      <p:sp>
        <p:nvSpPr>
          <p:cNvPr id="45" name="Oval 44"/>
          <p:cNvSpPr/>
          <p:nvPr/>
        </p:nvSpPr>
        <p:spPr>
          <a:xfrm>
            <a:off x="9330897" y="4804215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890E4F"/>
                </a:solidFill>
              </a:rPr>
              <a:t>2</a:t>
            </a:r>
          </a:p>
        </p:txBody>
      </p:sp>
      <p:sp>
        <p:nvSpPr>
          <p:cNvPr id="46" name="Oval 45"/>
          <p:cNvSpPr/>
          <p:nvPr/>
        </p:nvSpPr>
        <p:spPr>
          <a:xfrm>
            <a:off x="10309550" y="4804215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890E4F"/>
                </a:solidFill>
              </a:rPr>
              <a:t>4</a:t>
            </a:r>
          </a:p>
        </p:txBody>
      </p:sp>
      <p:sp>
        <p:nvSpPr>
          <p:cNvPr id="47" name="Oval 46"/>
          <p:cNvSpPr/>
          <p:nvPr/>
        </p:nvSpPr>
        <p:spPr>
          <a:xfrm>
            <a:off x="11145478" y="4804215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890E4F"/>
                </a:solidFill>
              </a:rPr>
              <a:t>1</a:t>
            </a:r>
          </a:p>
        </p:txBody>
      </p:sp>
      <p:cxnSp>
        <p:nvCxnSpPr>
          <p:cNvPr id="48" name="Straight Arrow Connector 47"/>
          <p:cNvCxnSpPr>
            <a:stCxn id="42" idx="3"/>
            <a:endCxn id="43" idx="0"/>
          </p:cNvCxnSpPr>
          <p:nvPr/>
        </p:nvCxnSpPr>
        <p:spPr>
          <a:xfrm flipH="1">
            <a:off x="10053091" y="3435331"/>
            <a:ext cx="526331" cy="41603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42" idx="5"/>
            <a:endCxn id="44" idx="1"/>
          </p:cNvCxnSpPr>
          <p:nvPr/>
        </p:nvCxnSpPr>
        <p:spPr>
          <a:xfrm>
            <a:off x="10902712" y="3435331"/>
            <a:ext cx="466388" cy="48298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3" idx="3"/>
            <a:endCxn id="45" idx="0"/>
          </p:cNvCxnSpPr>
          <p:nvPr/>
        </p:nvCxnSpPr>
        <p:spPr>
          <a:xfrm flipH="1">
            <a:off x="9559497" y="4241609"/>
            <a:ext cx="331949" cy="56260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43" idx="5"/>
            <a:endCxn id="46" idx="0"/>
          </p:cNvCxnSpPr>
          <p:nvPr/>
        </p:nvCxnSpPr>
        <p:spPr>
          <a:xfrm>
            <a:off x="10214736" y="4241609"/>
            <a:ext cx="323414" cy="56260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4" idx="4"/>
            <a:endCxn id="47" idx="0"/>
          </p:cNvCxnSpPr>
          <p:nvPr/>
        </p:nvCxnSpPr>
        <p:spPr>
          <a:xfrm flipH="1">
            <a:off x="11374078" y="4308564"/>
            <a:ext cx="156667" cy="49565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535781" y="5543625"/>
            <a:ext cx="90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A71160"/>
                </a:solidFill>
              </a:rPr>
              <a:t>Heap </a:t>
            </a:r>
          </a:p>
        </p:txBody>
      </p:sp>
      <p:sp>
        <p:nvSpPr>
          <p:cNvPr id="54" name="Rounded Rectangle 53"/>
          <p:cNvSpPr/>
          <p:nvPr/>
        </p:nvSpPr>
        <p:spPr>
          <a:xfrm rot="627634">
            <a:off x="8153361" y="3793047"/>
            <a:ext cx="640080" cy="1554480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8856152" y="3824729"/>
            <a:ext cx="2286000" cy="155447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0945906" y="3745035"/>
            <a:ext cx="1021976" cy="167413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Connector 75"/>
          <p:cNvCxnSpPr/>
          <p:nvPr/>
        </p:nvCxnSpPr>
        <p:spPr>
          <a:xfrm flipH="1">
            <a:off x="6396449" y="2690948"/>
            <a:ext cx="0" cy="34747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V="1">
            <a:off x="511629" y="2677885"/>
            <a:ext cx="1116874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624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500"/>
                            </p:stCondLst>
                            <p:childTnLst>
                              <p:par>
                                <p:cTn id="2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00"/>
                            </p:stCondLst>
                            <p:childTnLst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0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3.33333E-6 L 0.06107 -0.12176 " pathEditMode="relative" rAng="0" ptsTypes="AA">
                                      <p:cBhvr>
                                        <p:cTn id="24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47" y="-6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5" grpId="0"/>
      <p:bldP spid="27" grpId="0"/>
      <p:bldP spid="28" grpId="0" animBg="1"/>
      <p:bldP spid="29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41" grpId="0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53" grpId="0"/>
      <p:bldP spid="54" grpId="0" animBg="1"/>
      <p:bldP spid="55" grpId="0" animBg="1"/>
      <p:bldP spid="55" grpId="1" animBg="1"/>
      <p:bldP spid="55" grpId="2" animBg="1"/>
      <p:bldP spid="56" grpId="0" animBg="1"/>
      <p:bldP spid="56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Representation of Heap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Heap can be implemented using an Array.</a:t>
            </a:r>
          </a:p>
          <a:p>
            <a:r>
              <a:rPr lang="en-US" dirty="0"/>
              <a:t>An array 𝐴 that represents a heap is an object with two attributes: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𝑙𝑒𝑛𝑔𝑡ℎ[𝐴], which is the number of elements in the array, and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ℎ𝑒𝑎𝑝−𝑠𝑖𝑧𝑒[𝐴], the number of elements in the heap stored within array 𝐴</a:t>
            </a:r>
          </a:p>
        </p:txBody>
      </p:sp>
      <p:sp>
        <p:nvSpPr>
          <p:cNvPr id="4" name="Oval 3"/>
          <p:cNvSpPr/>
          <p:nvPr/>
        </p:nvSpPr>
        <p:spPr>
          <a:xfrm>
            <a:off x="2986320" y="2747554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16</a:t>
            </a:r>
          </a:p>
        </p:txBody>
      </p:sp>
      <p:sp>
        <p:nvSpPr>
          <p:cNvPr id="5" name="Oval 4"/>
          <p:cNvSpPr/>
          <p:nvPr/>
        </p:nvSpPr>
        <p:spPr>
          <a:xfrm>
            <a:off x="2046260" y="3730566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4029070" y="3730566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1068348" y="4694439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8</a:t>
            </a:r>
          </a:p>
        </p:txBody>
      </p:sp>
      <p:sp>
        <p:nvSpPr>
          <p:cNvPr id="8" name="Oval 7"/>
          <p:cNvSpPr/>
          <p:nvPr/>
        </p:nvSpPr>
        <p:spPr>
          <a:xfrm>
            <a:off x="2692417" y="4694439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7</a:t>
            </a:r>
          </a:p>
        </p:txBody>
      </p:sp>
      <p:cxnSp>
        <p:nvCxnSpPr>
          <p:cNvPr id="9" name="Straight Arrow Connector 8"/>
          <p:cNvCxnSpPr>
            <a:stCxn id="4" idx="3"/>
            <a:endCxn id="5" idx="0"/>
          </p:cNvCxnSpPr>
          <p:nvPr/>
        </p:nvCxnSpPr>
        <p:spPr>
          <a:xfrm flipH="1">
            <a:off x="2366300" y="3293896"/>
            <a:ext cx="713758" cy="43667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5"/>
            <a:endCxn id="6" idx="0"/>
          </p:cNvCxnSpPr>
          <p:nvPr/>
        </p:nvCxnSpPr>
        <p:spPr>
          <a:xfrm>
            <a:off x="3532662" y="3293896"/>
            <a:ext cx="816448" cy="43667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3"/>
            <a:endCxn id="7" idx="0"/>
          </p:cNvCxnSpPr>
          <p:nvPr/>
        </p:nvCxnSpPr>
        <p:spPr>
          <a:xfrm flipH="1">
            <a:off x="1388388" y="4276908"/>
            <a:ext cx="751610" cy="41753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8" idx="0"/>
          </p:cNvCxnSpPr>
          <p:nvPr/>
        </p:nvCxnSpPr>
        <p:spPr>
          <a:xfrm>
            <a:off x="2592602" y="4276908"/>
            <a:ext cx="419855" cy="41753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14" idx="0"/>
          </p:cNvCxnSpPr>
          <p:nvPr/>
        </p:nvCxnSpPr>
        <p:spPr>
          <a:xfrm flipH="1">
            <a:off x="3761391" y="4276908"/>
            <a:ext cx="361417" cy="41753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441351" y="4694439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9</a:t>
            </a:r>
          </a:p>
        </p:txBody>
      </p:sp>
      <p:sp>
        <p:nvSpPr>
          <p:cNvPr id="15" name="Oval 14"/>
          <p:cNvSpPr/>
          <p:nvPr/>
        </p:nvSpPr>
        <p:spPr>
          <a:xfrm>
            <a:off x="4720263" y="4694439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3</a:t>
            </a:r>
          </a:p>
        </p:txBody>
      </p:sp>
      <p:cxnSp>
        <p:nvCxnSpPr>
          <p:cNvPr id="16" name="Straight Arrow Connector 15"/>
          <p:cNvCxnSpPr>
            <a:stCxn id="6" idx="5"/>
            <a:endCxn id="15" idx="0"/>
          </p:cNvCxnSpPr>
          <p:nvPr/>
        </p:nvCxnSpPr>
        <p:spPr>
          <a:xfrm>
            <a:off x="4575412" y="4276908"/>
            <a:ext cx="464891" cy="41753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23470" y="5748535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1679153" y="5748535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379133" y="5748535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1</a:t>
            </a:r>
          </a:p>
        </p:txBody>
      </p:sp>
      <p:cxnSp>
        <p:nvCxnSpPr>
          <p:cNvPr id="20" name="Straight Arrow Connector 19"/>
          <p:cNvCxnSpPr>
            <a:stCxn id="7" idx="3"/>
            <a:endCxn id="17" idx="0"/>
          </p:cNvCxnSpPr>
          <p:nvPr/>
        </p:nvCxnSpPr>
        <p:spPr>
          <a:xfrm flipH="1">
            <a:off x="543510" y="5240781"/>
            <a:ext cx="618576" cy="50775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5"/>
            <a:endCxn id="18" idx="0"/>
          </p:cNvCxnSpPr>
          <p:nvPr/>
        </p:nvCxnSpPr>
        <p:spPr>
          <a:xfrm>
            <a:off x="1614690" y="5240781"/>
            <a:ext cx="384503" cy="50775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4"/>
            <a:endCxn id="19" idx="0"/>
          </p:cNvCxnSpPr>
          <p:nvPr/>
        </p:nvCxnSpPr>
        <p:spPr>
          <a:xfrm flipH="1">
            <a:off x="2699173" y="5334519"/>
            <a:ext cx="313284" cy="4140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71641" y="5717964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818467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62514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898161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8433808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969455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9505102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10040749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10576396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11121005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7437623" y="4673500"/>
            <a:ext cx="3108960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A71160"/>
                </a:solidFill>
              </a:rPr>
              <a:t>Array representation of heap</a:t>
            </a:r>
          </a:p>
        </p:txBody>
      </p:sp>
      <p:sp>
        <p:nvSpPr>
          <p:cNvPr id="35" name="Right Brace 34"/>
          <p:cNvSpPr/>
          <p:nvPr/>
        </p:nvSpPr>
        <p:spPr>
          <a:xfrm rot="16200000">
            <a:off x="8739632" y="2746396"/>
            <a:ext cx="424404" cy="5303520"/>
          </a:xfrm>
          <a:prstGeom prst="rightBrac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14250" y="5883259"/>
            <a:ext cx="904728" cy="461665"/>
          </a:xfrm>
          <a:prstGeom prst="rect">
            <a:avLst/>
          </a:prstGeom>
          <a:noFill/>
          <a:ln>
            <a:solidFill>
              <a:srgbClr val="42424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A71160"/>
                </a:solidFill>
              </a:rPr>
              <a:t>Heap </a:t>
            </a:r>
          </a:p>
        </p:txBody>
      </p:sp>
      <p:cxnSp>
        <p:nvCxnSpPr>
          <p:cNvPr id="63" name="Straight Connector 62"/>
          <p:cNvCxnSpPr/>
          <p:nvPr/>
        </p:nvCxnSpPr>
        <p:spPr>
          <a:xfrm flipH="1">
            <a:off x="5965375" y="2560320"/>
            <a:ext cx="0" cy="38404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55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000"/>
                            </p:stCondLst>
                            <p:childTnLst>
                              <p:par>
                                <p:cTn id="1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34" grpId="0" animBg="1"/>
      <p:bldP spid="35" grpId="0" animBg="1"/>
      <p:bldP spid="3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Representation of Heap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array 𝐴, that represents a heap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length[𝐴] = heap-size[𝐴]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For any node 𝒊 the parent node is 𝒊/𝟐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For any node 𝒊, its left child is 𝟐𝒊 and right child is 𝟐𝒊 +𝟏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986320" y="2747554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16</a:t>
            </a:r>
          </a:p>
        </p:txBody>
      </p:sp>
      <p:sp>
        <p:nvSpPr>
          <p:cNvPr id="5" name="Oval 4"/>
          <p:cNvSpPr/>
          <p:nvPr/>
        </p:nvSpPr>
        <p:spPr>
          <a:xfrm>
            <a:off x="2046260" y="3730566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4029070" y="3730566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1243159" y="4680992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8</a:t>
            </a:r>
          </a:p>
        </p:txBody>
      </p:sp>
      <p:sp>
        <p:nvSpPr>
          <p:cNvPr id="8" name="Oval 7"/>
          <p:cNvSpPr/>
          <p:nvPr/>
        </p:nvSpPr>
        <p:spPr>
          <a:xfrm>
            <a:off x="2692417" y="4694439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7</a:t>
            </a:r>
          </a:p>
        </p:txBody>
      </p:sp>
      <p:cxnSp>
        <p:nvCxnSpPr>
          <p:cNvPr id="9" name="Straight Arrow Connector 8"/>
          <p:cNvCxnSpPr>
            <a:stCxn id="4" idx="3"/>
            <a:endCxn id="5" idx="0"/>
          </p:cNvCxnSpPr>
          <p:nvPr/>
        </p:nvCxnSpPr>
        <p:spPr>
          <a:xfrm flipH="1">
            <a:off x="2366300" y="3293896"/>
            <a:ext cx="713758" cy="43667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5"/>
            <a:endCxn id="6" idx="0"/>
          </p:cNvCxnSpPr>
          <p:nvPr/>
        </p:nvCxnSpPr>
        <p:spPr>
          <a:xfrm>
            <a:off x="3532662" y="3293896"/>
            <a:ext cx="816448" cy="43667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3"/>
            <a:endCxn id="7" idx="0"/>
          </p:cNvCxnSpPr>
          <p:nvPr/>
        </p:nvCxnSpPr>
        <p:spPr>
          <a:xfrm flipH="1">
            <a:off x="1563199" y="4276908"/>
            <a:ext cx="576799" cy="40408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8" idx="0"/>
          </p:cNvCxnSpPr>
          <p:nvPr/>
        </p:nvCxnSpPr>
        <p:spPr>
          <a:xfrm>
            <a:off x="2592602" y="4276908"/>
            <a:ext cx="419855" cy="41753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14" idx="0"/>
          </p:cNvCxnSpPr>
          <p:nvPr/>
        </p:nvCxnSpPr>
        <p:spPr>
          <a:xfrm flipH="1">
            <a:off x="3761391" y="4276908"/>
            <a:ext cx="361417" cy="41753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441351" y="4694439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9</a:t>
            </a:r>
          </a:p>
        </p:txBody>
      </p:sp>
      <p:sp>
        <p:nvSpPr>
          <p:cNvPr id="15" name="Oval 14"/>
          <p:cNvSpPr/>
          <p:nvPr/>
        </p:nvSpPr>
        <p:spPr>
          <a:xfrm>
            <a:off x="4558898" y="4721333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3</a:t>
            </a:r>
          </a:p>
        </p:txBody>
      </p:sp>
      <p:cxnSp>
        <p:nvCxnSpPr>
          <p:cNvPr id="16" name="Straight Arrow Connector 15"/>
          <p:cNvCxnSpPr>
            <a:stCxn id="6" idx="5"/>
            <a:endCxn id="15" idx="0"/>
          </p:cNvCxnSpPr>
          <p:nvPr/>
        </p:nvCxnSpPr>
        <p:spPr>
          <a:xfrm>
            <a:off x="4575412" y="4276908"/>
            <a:ext cx="303526" cy="4444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40328" y="5721641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1679153" y="5748535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379133" y="5748535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1</a:t>
            </a:r>
          </a:p>
        </p:txBody>
      </p:sp>
      <p:cxnSp>
        <p:nvCxnSpPr>
          <p:cNvPr id="20" name="Straight Arrow Connector 19"/>
          <p:cNvCxnSpPr>
            <a:stCxn id="7" idx="3"/>
            <a:endCxn id="17" idx="0"/>
          </p:cNvCxnSpPr>
          <p:nvPr/>
        </p:nvCxnSpPr>
        <p:spPr>
          <a:xfrm flipH="1">
            <a:off x="960368" y="5227334"/>
            <a:ext cx="376529" cy="49430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5"/>
            <a:endCxn id="18" idx="0"/>
          </p:cNvCxnSpPr>
          <p:nvPr/>
        </p:nvCxnSpPr>
        <p:spPr>
          <a:xfrm>
            <a:off x="1789501" y="5227334"/>
            <a:ext cx="209692" cy="52120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4"/>
            <a:endCxn id="19" idx="0"/>
          </p:cNvCxnSpPr>
          <p:nvPr/>
        </p:nvCxnSpPr>
        <p:spPr>
          <a:xfrm flipH="1">
            <a:off x="2699173" y="5334519"/>
            <a:ext cx="313284" cy="4140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71641" y="5717964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818467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62514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898161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8433808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969455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9505102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10040749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10576396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11121005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4814250" y="5883259"/>
            <a:ext cx="904728" cy="461665"/>
          </a:xfrm>
          <a:prstGeom prst="rect">
            <a:avLst/>
          </a:prstGeom>
          <a:noFill/>
          <a:ln>
            <a:solidFill>
              <a:srgbClr val="42424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A71160"/>
                </a:solidFill>
              </a:rPr>
              <a:t>Heap </a:t>
            </a:r>
          </a:p>
        </p:txBody>
      </p:sp>
      <p:cxnSp>
        <p:nvCxnSpPr>
          <p:cNvPr id="63" name="Straight Connector 62"/>
          <p:cNvCxnSpPr/>
          <p:nvPr/>
        </p:nvCxnSpPr>
        <p:spPr>
          <a:xfrm flipH="1">
            <a:off x="5965375" y="2560320"/>
            <a:ext cx="0" cy="38404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8" name="Table 37"/>
              <p:cNvGraphicFramePr>
                <a:graphicFrameLocks noGrp="1"/>
              </p:cNvGraphicFramePr>
              <p:nvPr/>
            </p:nvGraphicFramePr>
            <p:xfrm>
              <a:off x="6288975" y="5354626"/>
              <a:ext cx="5421148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2115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591686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491540489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1476518152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369864046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93661145"/>
                        </a:ext>
                      </a:extLst>
                    </a:gridCol>
                    <a:gridCol w="553547">
                      <a:extLst>
                        <a:ext uri="{9D8B030D-6E8A-4147-A177-3AD203B41FA5}">
                          <a16:colId xmlns:a16="http://schemas.microsoft.com/office/drawing/2014/main" val="39721799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1800" b="1" i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1800" b="1" i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1800" b="1" i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sz="1800" b="1" i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1800" b="1" i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1800" b="1" i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sz="1800" b="1" i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sz="1800" b="1" i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800" b="1" i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US" sz="1800" b="1" i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8" name="Table 3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0557384"/>
                  </p:ext>
                </p:extLst>
              </p:nvPr>
            </p:nvGraphicFramePr>
            <p:xfrm>
              <a:off x="6288975" y="5354626"/>
              <a:ext cx="5421148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2115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591686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491540489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1476518152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369864046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93661145"/>
                        </a:ext>
                      </a:extLst>
                    </a:gridCol>
                    <a:gridCol w="553547">
                      <a:extLst>
                        <a:ext uri="{9D8B030D-6E8A-4147-A177-3AD203B41FA5}">
                          <a16:colId xmlns:a16="http://schemas.microsoft.com/office/drawing/2014/main" val="39721799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9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1753" r="-7257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1364" r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4943" r="-6080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0227" r="-5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16092" r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9091" r="-30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9091" r="-20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18391" r="-1045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780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756318" y="2641161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318" y="2641161"/>
                <a:ext cx="304800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936455" y="3550347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455" y="3550347"/>
                <a:ext cx="30480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3853507" y="3550347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507" y="3550347"/>
                <a:ext cx="30480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001120" y="4576468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20" y="4576468"/>
                <a:ext cx="3048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451348" y="4576468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348" y="4576468"/>
                <a:ext cx="30480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86466" y="4576468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6466" y="4576468"/>
                <a:ext cx="304800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030863" y="4536126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0863" y="4536126"/>
                <a:ext cx="304800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46849" y="5544979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49" y="5544979"/>
                <a:ext cx="304800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526391" y="5585320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391" y="5585320"/>
                <a:ext cx="304800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841170" y="5558426"/>
                <a:ext cx="4856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170" y="5558426"/>
                <a:ext cx="485605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6617914" y="2493742"/>
                <a:ext cx="5042647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A71160"/>
                    </a:solidFill>
                  </a:rPr>
                  <a:t>For node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2400" dirty="0">
                    <a:solidFill>
                      <a:srgbClr val="A71160"/>
                    </a:solidFill>
                  </a:rPr>
                  <a:t>, parent node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4/2=2</m:t>
                    </m:r>
                  </m:oMath>
                </a14:m>
                <a:endParaRPr lang="en-US" sz="2400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7914" y="2493742"/>
                <a:ext cx="5042647" cy="461665"/>
              </a:xfrm>
              <a:prstGeom prst="rect">
                <a:avLst/>
              </a:prstGeom>
              <a:blipFill>
                <a:blip r:embed="rId13"/>
                <a:stretch>
                  <a:fillRect l="-19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564126" y="3316976"/>
                <a:ext cx="5096435" cy="120032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A71160"/>
                    </a:solidFill>
                  </a:rPr>
                  <a:t>For node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2400" dirty="0">
                    <a:solidFill>
                      <a:srgbClr val="A71160"/>
                    </a:solidFill>
                  </a:rPr>
                  <a:t>, </a:t>
                </a:r>
              </a:p>
              <a:p>
                <a:r>
                  <a:rPr lang="en-US" sz="2400" dirty="0">
                    <a:solidFill>
                      <a:srgbClr val="A71160"/>
                    </a:solidFill>
                  </a:rPr>
                  <a:t>Left child node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2∗4= </m:t>
                    </m:r>
                  </m:oMath>
                </a14:m>
                <a:r>
                  <a:rPr lang="en-US" sz="2400" dirty="0">
                    <a:solidFill>
                      <a:srgbClr val="A71160"/>
                    </a:solidFill>
                  </a:rPr>
                  <a:t>node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 sz="2400" dirty="0">
                  <a:solidFill>
                    <a:srgbClr val="A71160"/>
                  </a:solidFill>
                </a:endParaRPr>
              </a:p>
              <a:p>
                <a:r>
                  <a:rPr lang="en-US" sz="2400" dirty="0">
                    <a:solidFill>
                      <a:srgbClr val="A71160"/>
                    </a:solidFill>
                  </a:rPr>
                  <a:t>Right child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2∗4+1= </m:t>
                    </m:r>
                  </m:oMath>
                </a14:m>
                <a:r>
                  <a:rPr lang="en-US" sz="2400" dirty="0">
                    <a:solidFill>
                      <a:srgbClr val="A71160"/>
                    </a:solidFill>
                  </a:rPr>
                  <a:t>node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sz="2400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126" y="3316976"/>
                <a:ext cx="5096435" cy="1200329"/>
              </a:xfrm>
              <a:prstGeom prst="rect">
                <a:avLst/>
              </a:prstGeom>
              <a:blipFill>
                <a:blip r:embed="rId14"/>
                <a:stretch>
                  <a:fillRect l="-1914" t="-3553" b="-1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Rectangle 63"/>
          <p:cNvSpPr/>
          <p:nvPr/>
        </p:nvSpPr>
        <p:spPr>
          <a:xfrm>
            <a:off x="6817659" y="5701552"/>
            <a:ext cx="548640" cy="594360"/>
          </a:xfrm>
          <a:prstGeom prst="rect">
            <a:avLst/>
          </a:prstGeom>
          <a:solidFill>
            <a:srgbClr val="424242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4459" y="5701552"/>
            <a:ext cx="548640" cy="594360"/>
          </a:xfrm>
          <a:prstGeom prst="rect">
            <a:avLst/>
          </a:prstGeom>
          <a:solidFill>
            <a:srgbClr val="ED524F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31504" y="5701552"/>
            <a:ext cx="548640" cy="594360"/>
          </a:xfrm>
          <a:prstGeom prst="rect">
            <a:avLst/>
          </a:prstGeom>
          <a:solidFill>
            <a:srgbClr val="00B0F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582836" y="5701552"/>
            <a:ext cx="548640" cy="594360"/>
          </a:xfrm>
          <a:prstGeom prst="rect">
            <a:avLst/>
          </a:prstGeom>
          <a:solidFill>
            <a:srgbClr val="92D05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2575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D524F"/>
                                      </p:to>
                                    </p:animClr>
                                    <p:set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E0E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24242"/>
                                      </p:to>
                                    </p:animClr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BC145"/>
                                      </p:to>
                                    </p:animClr>
                                    <p:set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49" grpId="0" animBg="1"/>
      <p:bldP spid="50" grpId="0" animBg="1"/>
      <p:bldP spid="64" grpId="0" animBg="1"/>
      <p:bldP spid="65" grpId="0" animBg="1"/>
      <p:bldP spid="66" grpId="0" animBg="1"/>
      <p:bldP spid="6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Heap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499" y="990600"/>
            <a:ext cx="6902631" cy="103414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Max-Heap</a:t>
            </a:r>
            <a:r>
              <a:rPr lang="en-US" dirty="0"/>
              <a:t> − Where the value of the root node is </a:t>
            </a:r>
            <a:r>
              <a:rPr lang="en-US" dirty="0">
                <a:solidFill>
                  <a:srgbClr val="A71160"/>
                </a:solidFill>
              </a:rPr>
              <a:t>greater than or equal to </a:t>
            </a:r>
            <a:r>
              <a:rPr lang="en-US" dirty="0"/>
              <a:t>either of its children.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9355815" y="899159"/>
            <a:ext cx="609600" cy="6096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A71160"/>
                </a:solidFill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8746215" y="1813559"/>
            <a:ext cx="609600" cy="6096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A71160"/>
                </a:solidFill>
              </a:rPr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10223869" y="1818620"/>
            <a:ext cx="609600" cy="6096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A71160"/>
                </a:solidFill>
              </a:rPr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8252621" y="2880359"/>
            <a:ext cx="609600" cy="6096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A71160"/>
                </a:solidFill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9231274" y="2911110"/>
            <a:ext cx="609600" cy="6096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A71160"/>
                </a:solidFill>
              </a:rP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10067202" y="2911110"/>
            <a:ext cx="609600" cy="6096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A71160"/>
                </a:solidFill>
              </a:rPr>
              <a:t>1</a:t>
            </a:r>
          </a:p>
        </p:txBody>
      </p:sp>
      <p:cxnSp>
        <p:nvCxnSpPr>
          <p:cNvPr id="11" name="Straight Arrow Connector 10"/>
          <p:cNvCxnSpPr>
            <a:stCxn id="5" idx="3"/>
            <a:endCxn id="6" idx="0"/>
          </p:cNvCxnSpPr>
          <p:nvPr/>
        </p:nvCxnSpPr>
        <p:spPr>
          <a:xfrm flipH="1">
            <a:off x="9051015" y="1419485"/>
            <a:ext cx="394074" cy="3940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7" idx="1"/>
          </p:cNvCxnSpPr>
          <p:nvPr/>
        </p:nvCxnSpPr>
        <p:spPr>
          <a:xfrm>
            <a:off x="9876141" y="1419485"/>
            <a:ext cx="437002" cy="48840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8" idx="0"/>
          </p:cNvCxnSpPr>
          <p:nvPr/>
        </p:nvCxnSpPr>
        <p:spPr>
          <a:xfrm flipH="1">
            <a:off x="8557421" y="2333885"/>
            <a:ext cx="278068" cy="5464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5"/>
            <a:endCxn id="9" idx="0"/>
          </p:cNvCxnSpPr>
          <p:nvPr/>
        </p:nvCxnSpPr>
        <p:spPr>
          <a:xfrm>
            <a:off x="9266541" y="2333885"/>
            <a:ext cx="269533" cy="5772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4"/>
            <a:endCxn id="10" idx="0"/>
          </p:cNvCxnSpPr>
          <p:nvPr/>
        </p:nvCxnSpPr>
        <p:spPr>
          <a:xfrm flipH="1">
            <a:off x="10372002" y="2428220"/>
            <a:ext cx="156667" cy="48289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18160" y="3657600"/>
            <a:ext cx="111556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430589" y="1055915"/>
            <a:ext cx="0" cy="259080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75908" y="3653245"/>
            <a:ext cx="0" cy="25908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17422" y="3820886"/>
            <a:ext cx="7495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b="1" dirty="0"/>
              <a:t>Min-Heap</a:t>
            </a:r>
            <a:r>
              <a:rPr lang="en-US" sz="2400" dirty="0"/>
              <a:t> − Where the value of the root node is </a:t>
            </a:r>
            <a:r>
              <a:rPr lang="en-US" sz="2400" dirty="0">
                <a:solidFill>
                  <a:srgbClr val="A71160"/>
                </a:solidFill>
              </a:rPr>
              <a:t>less than or equal to </a:t>
            </a:r>
            <a:r>
              <a:rPr lang="en-US" sz="2400" dirty="0"/>
              <a:t>either of its children.</a:t>
            </a:r>
          </a:p>
          <a:p>
            <a:endParaRPr lang="en-US" sz="2400" dirty="0"/>
          </a:p>
        </p:txBody>
      </p:sp>
      <p:sp>
        <p:nvSpPr>
          <p:cNvPr id="20" name="Oval 19"/>
          <p:cNvSpPr/>
          <p:nvPr/>
        </p:nvSpPr>
        <p:spPr>
          <a:xfrm>
            <a:off x="1888210" y="3779249"/>
            <a:ext cx="609600" cy="6096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1278610" y="4693649"/>
            <a:ext cx="609600" cy="6096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2756264" y="4698710"/>
            <a:ext cx="609600" cy="6096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785016" y="5760449"/>
            <a:ext cx="609600" cy="6096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6</a:t>
            </a:r>
          </a:p>
        </p:txBody>
      </p:sp>
      <p:sp>
        <p:nvSpPr>
          <p:cNvPr id="24" name="Oval 23"/>
          <p:cNvSpPr/>
          <p:nvPr/>
        </p:nvSpPr>
        <p:spPr>
          <a:xfrm>
            <a:off x="1763669" y="5791200"/>
            <a:ext cx="609600" cy="6096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2599597" y="5791200"/>
            <a:ext cx="609600" cy="6096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9</a:t>
            </a:r>
          </a:p>
        </p:txBody>
      </p:sp>
      <p:cxnSp>
        <p:nvCxnSpPr>
          <p:cNvPr id="26" name="Straight Arrow Connector 25"/>
          <p:cNvCxnSpPr>
            <a:stCxn id="20" idx="3"/>
            <a:endCxn id="21" idx="0"/>
          </p:cNvCxnSpPr>
          <p:nvPr/>
        </p:nvCxnSpPr>
        <p:spPr>
          <a:xfrm flipH="1">
            <a:off x="1583410" y="4299575"/>
            <a:ext cx="394074" cy="3940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0" idx="5"/>
            <a:endCxn id="22" idx="1"/>
          </p:cNvCxnSpPr>
          <p:nvPr/>
        </p:nvCxnSpPr>
        <p:spPr>
          <a:xfrm>
            <a:off x="2408536" y="4299575"/>
            <a:ext cx="437002" cy="48840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3"/>
            <a:endCxn id="23" idx="0"/>
          </p:cNvCxnSpPr>
          <p:nvPr/>
        </p:nvCxnSpPr>
        <p:spPr>
          <a:xfrm flipH="1">
            <a:off x="1089816" y="5213975"/>
            <a:ext cx="278068" cy="5464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1" idx="5"/>
            <a:endCxn id="24" idx="0"/>
          </p:cNvCxnSpPr>
          <p:nvPr/>
        </p:nvCxnSpPr>
        <p:spPr>
          <a:xfrm>
            <a:off x="1798936" y="5213975"/>
            <a:ext cx="269533" cy="5772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2" idx="4"/>
            <a:endCxn id="25" idx="0"/>
          </p:cNvCxnSpPr>
          <p:nvPr/>
        </p:nvCxnSpPr>
        <p:spPr>
          <a:xfrm flipH="1">
            <a:off x="2904397" y="5308310"/>
            <a:ext cx="156667" cy="48289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45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0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4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5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0"/>
                            </p:stCondLst>
                            <p:childTnLst>
                              <p:par>
                                <p:cTn id="1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50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Build the </a:t>
            </a:r>
            <a:r>
              <a:rPr lang="en-US" dirty="0">
                <a:solidFill>
                  <a:srgbClr val="A71160"/>
                </a:solidFill>
              </a:rPr>
              <a:t>complete binary tree </a:t>
            </a:r>
            <a:r>
              <a:rPr lang="en-US" dirty="0"/>
              <a:t>using given elements.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</a:t>
            </a:r>
            <a:r>
              <a:rPr lang="en-US" dirty="0">
                <a:solidFill>
                  <a:srgbClr val="A71160"/>
                </a:solidFill>
              </a:rPr>
              <a:t>Max-heap</a:t>
            </a:r>
            <a:r>
              <a:rPr lang="en-US" dirty="0"/>
              <a:t> to sort in ascending order.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Once the heap is created, </a:t>
            </a:r>
            <a:r>
              <a:rPr lang="en-US" dirty="0">
                <a:solidFill>
                  <a:srgbClr val="A71160"/>
                </a:solidFill>
              </a:rPr>
              <a:t>swap</a:t>
            </a:r>
            <a:r>
              <a:rPr lang="en-US" dirty="0"/>
              <a:t> the last node with the root node and </a:t>
            </a:r>
            <a:r>
              <a:rPr lang="en-US" dirty="0">
                <a:solidFill>
                  <a:srgbClr val="A71160"/>
                </a:solidFill>
              </a:rPr>
              <a:t>delete</a:t>
            </a:r>
            <a:r>
              <a:rPr lang="en-US" dirty="0"/>
              <a:t> the last node from the heap.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Repeat </a:t>
            </a:r>
            <a:r>
              <a:rPr lang="en-US" dirty="0">
                <a:solidFill>
                  <a:srgbClr val="A71160"/>
                </a:solidFill>
              </a:rPr>
              <a:t>step 2 and 3 </a:t>
            </a:r>
            <a:r>
              <a:rPr lang="en-US" dirty="0"/>
              <a:t>until the heap is empty.</a:t>
            </a:r>
          </a:p>
        </p:txBody>
      </p:sp>
    </p:spTree>
    <p:extLst>
      <p:ext uri="{BB962C8B-B14F-4D97-AF65-F5344CB8AC3E}">
        <p14:creationId xmlns:p14="http://schemas.microsoft.com/office/powerpoint/2010/main" val="49241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466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099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2286000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9874" y="3313784"/>
          <a:ext cx="325967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/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801332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609594" y="2303041"/>
            <a:ext cx="4049507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/>
              <a:t>Step 1 : Create Complete Binary Tree </a:t>
            </a:r>
            <a:endParaRPr lang="en-US" sz="2000" b="1" dirty="0"/>
          </a:p>
        </p:txBody>
      </p:sp>
      <p:sp>
        <p:nvSpPr>
          <p:cNvPr id="10" name="Up Arrow 9"/>
          <p:cNvSpPr/>
          <p:nvPr/>
        </p:nvSpPr>
        <p:spPr>
          <a:xfrm>
            <a:off x="730616" y="3887917"/>
            <a:ext cx="304800" cy="369332"/>
          </a:xfrm>
          <a:prstGeom prst="upArrow">
            <a:avLst/>
          </a:prstGeom>
          <a:noFill/>
          <a:ln w="19050">
            <a:solidFill>
              <a:srgbClr val="42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772825" y="259258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4</a:t>
            </a:r>
          </a:p>
        </p:txBody>
      </p:sp>
      <p:cxnSp>
        <p:nvCxnSpPr>
          <p:cNvPr id="12" name="Straight Connector 11"/>
          <p:cNvCxnSpPr>
            <a:stCxn id="11" idx="3"/>
            <a:endCxn id="13" idx="0"/>
          </p:cNvCxnSpPr>
          <p:nvPr/>
        </p:nvCxnSpPr>
        <p:spPr>
          <a:xfrm flipH="1">
            <a:off x="6518436" y="3138927"/>
            <a:ext cx="348127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198396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10</a:t>
            </a:r>
          </a:p>
        </p:txBody>
      </p:sp>
      <p:sp>
        <p:nvSpPr>
          <p:cNvPr id="14" name="Up Arrow 13"/>
          <p:cNvSpPr/>
          <p:nvPr/>
        </p:nvSpPr>
        <p:spPr>
          <a:xfrm>
            <a:off x="1420896" y="3887917"/>
            <a:ext cx="304800" cy="369332"/>
          </a:xfrm>
          <a:prstGeom prst="upArrow">
            <a:avLst/>
          </a:prstGeom>
          <a:noFill/>
          <a:ln w="19050">
            <a:solidFill>
              <a:srgbClr val="42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>
            <a:stCxn id="11" idx="5"/>
            <a:endCxn id="16" idx="0"/>
          </p:cNvCxnSpPr>
          <p:nvPr/>
        </p:nvCxnSpPr>
        <p:spPr>
          <a:xfrm>
            <a:off x="7319167" y="3138927"/>
            <a:ext cx="383308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82435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3</a:t>
            </a:r>
          </a:p>
        </p:txBody>
      </p:sp>
      <p:sp>
        <p:nvSpPr>
          <p:cNvPr id="20" name="Up Arrow 19"/>
          <p:cNvSpPr/>
          <p:nvPr/>
        </p:nvSpPr>
        <p:spPr>
          <a:xfrm>
            <a:off x="2125007" y="3887917"/>
            <a:ext cx="304800" cy="369332"/>
          </a:xfrm>
          <a:prstGeom prst="upArrow">
            <a:avLst/>
          </a:prstGeom>
          <a:noFill/>
          <a:ln w="19050">
            <a:solidFill>
              <a:srgbClr val="42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stCxn id="13" idx="3"/>
            <a:endCxn id="22" idx="0"/>
          </p:cNvCxnSpPr>
          <p:nvPr/>
        </p:nvCxnSpPr>
        <p:spPr>
          <a:xfrm flipH="1">
            <a:off x="6048488" y="4106960"/>
            <a:ext cx="243646" cy="6502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728448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5</a:t>
            </a:r>
          </a:p>
        </p:txBody>
      </p:sp>
      <p:sp>
        <p:nvSpPr>
          <p:cNvPr id="30" name="Up Arrow 29"/>
          <p:cNvSpPr/>
          <p:nvPr/>
        </p:nvSpPr>
        <p:spPr>
          <a:xfrm>
            <a:off x="2720390" y="3887917"/>
            <a:ext cx="304800" cy="369332"/>
          </a:xfrm>
          <a:prstGeom prst="upArrow">
            <a:avLst/>
          </a:prstGeom>
          <a:noFill/>
          <a:ln w="19050">
            <a:solidFill>
              <a:srgbClr val="42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>
            <a:stCxn id="13" idx="5"/>
            <a:endCxn id="32" idx="0"/>
          </p:cNvCxnSpPr>
          <p:nvPr/>
        </p:nvCxnSpPr>
        <p:spPr>
          <a:xfrm>
            <a:off x="6744738" y="4106960"/>
            <a:ext cx="299204" cy="6502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723902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9874" y="4706468"/>
            <a:ext cx="3524794" cy="1200329"/>
          </a:xfrm>
          <a:prstGeom prst="rect">
            <a:avLst/>
          </a:prstGeom>
          <a:solidFill>
            <a:srgbClr val="FCE0EE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A71160"/>
                </a:solidFill>
              </a:rPr>
              <a:t>Now, a binary tree is created and we have to convert it into a Heap.</a:t>
            </a:r>
          </a:p>
        </p:txBody>
      </p:sp>
    </p:spTree>
    <p:extLst>
      <p:ext uri="{BB962C8B-B14F-4D97-AF65-F5344CB8AC3E}">
        <p14:creationId xmlns:p14="http://schemas.microsoft.com/office/powerpoint/2010/main" val="129504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11022E-16 L 0.05664 0.00023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2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1.11022E-16 L 0.05664 0.00023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2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1.11022E-16 L 0.04818 0.00023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1.11022E-16 L 0.04817 0.00023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0"/>
                            </p:stCondLst>
                            <p:childTnLst>
                              <p:par>
                                <p:cTn id="7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  <p:bldP spid="11" grpId="0" animBg="1"/>
      <p:bldP spid="13" grpId="0" animBg="1"/>
      <p:bldP spid="14" grpId="0" animBg="1"/>
      <p:bldP spid="14" grpId="1" animBg="1"/>
      <p:bldP spid="14" grpId="2" animBg="1"/>
      <p:bldP spid="16" grpId="0" animBg="1"/>
      <p:bldP spid="20" grpId="0" animBg="1"/>
      <p:bldP spid="20" grpId="1" animBg="1"/>
      <p:bldP spid="20" grpId="2" animBg="1"/>
      <p:bldP spid="22" grpId="0" animBg="1"/>
      <p:bldP spid="30" grpId="0" animBg="1"/>
      <p:bldP spid="30" grpId="1" animBg="1"/>
      <p:bldP spid="30" grpId="2" animBg="1"/>
      <p:bldP spid="32" grpId="0" animBg="1"/>
      <p:bldP spid="3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466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099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2286000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9874" y="3313784"/>
          <a:ext cx="325967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val 10"/>
          <p:cNvSpPr/>
          <p:nvPr/>
        </p:nvSpPr>
        <p:spPr>
          <a:xfrm>
            <a:off x="6772825" y="259258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4</a:t>
            </a:r>
          </a:p>
        </p:txBody>
      </p:sp>
      <p:cxnSp>
        <p:nvCxnSpPr>
          <p:cNvPr id="12" name="Straight Connector 11"/>
          <p:cNvCxnSpPr>
            <a:stCxn id="11" idx="3"/>
            <a:endCxn id="13" idx="0"/>
          </p:cNvCxnSpPr>
          <p:nvPr/>
        </p:nvCxnSpPr>
        <p:spPr>
          <a:xfrm flipH="1">
            <a:off x="6518436" y="3138927"/>
            <a:ext cx="348127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198396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10</a:t>
            </a:r>
          </a:p>
        </p:txBody>
      </p:sp>
      <p:cxnSp>
        <p:nvCxnSpPr>
          <p:cNvPr id="15" name="Straight Connector 14"/>
          <p:cNvCxnSpPr>
            <a:stCxn id="11" idx="5"/>
            <a:endCxn id="16" idx="0"/>
          </p:cNvCxnSpPr>
          <p:nvPr/>
        </p:nvCxnSpPr>
        <p:spPr>
          <a:xfrm>
            <a:off x="7319167" y="3138927"/>
            <a:ext cx="383308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82435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3</a:t>
            </a:r>
          </a:p>
        </p:txBody>
      </p:sp>
      <p:cxnSp>
        <p:nvCxnSpPr>
          <p:cNvPr id="21" name="Straight Connector 20"/>
          <p:cNvCxnSpPr>
            <a:stCxn id="13" idx="3"/>
            <a:endCxn id="22" idx="0"/>
          </p:cNvCxnSpPr>
          <p:nvPr/>
        </p:nvCxnSpPr>
        <p:spPr>
          <a:xfrm flipH="1">
            <a:off x="6048488" y="4106960"/>
            <a:ext cx="243646" cy="6502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728448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5</a:t>
            </a:r>
          </a:p>
        </p:txBody>
      </p:sp>
      <p:cxnSp>
        <p:nvCxnSpPr>
          <p:cNvPr id="31" name="Straight Connector 30"/>
          <p:cNvCxnSpPr>
            <a:stCxn id="13" idx="5"/>
            <a:endCxn id="32" idx="0"/>
          </p:cNvCxnSpPr>
          <p:nvPr/>
        </p:nvCxnSpPr>
        <p:spPr>
          <a:xfrm>
            <a:off x="6744738" y="4106960"/>
            <a:ext cx="299204" cy="6502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723902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94" y="2303041"/>
            <a:ext cx="2781531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/>
              <a:t>Step 2 : Create Max Heap</a:t>
            </a:r>
            <a:endParaRPr lang="en-US" sz="2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69874" y="4706468"/>
            <a:ext cx="3524794" cy="1200329"/>
          </a:xfrm>
          <a:prstGeom prst="rect">
            <a:avLst/>
          </a:prstGeom>
          <a:solidFill>
            <a:srgbClr val="FCE0EE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A71160"/>
                </a:solidFill>
              </a:rPr>
              <a:t>In a Max Heap, parent node is always greater than or equal to the child nodes.</a:t>
            </a:r>
          </a:p>
        </p:txBody>
      </p:sp>
      <p:sp>
        <p:nvSpPr>
          <p:cNvPr id="27" name="Freeform 11"/>
          <p:cNvSpPr>
            <a:spLocks/>
          </p:cNvSpPr>
          <p:nvPr/>
        </p:nvSpPr>
        <p:spPr bwMode="auto">
          <a:xfrm rot="221630">
            <a:off x="6332546" y="2922545"/>
            <a:ext cx="317782" cy="396079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Freeform 12"/>
          <p:cNvSpPr>
            <a:spLocks/>
          </p:cNvSpPr>
          <p:nvPr/>
        </p:nvSpPr>
        <p:spPr bwMode="auto">
          <a:xfrm>
            <a:off x="6866964" y="3281082"/>
            <a:ext cx="269875" cy="409575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9067800" y="2699267"/>
            <a:ext cx="251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10 is greater than 4</a:t>
            </a:r>
          </a:p>
          <a:p>
            <a:r>
              <a:rPr lang="en-US" sz="2000" b="1" dirty="0"/>
              <a:t>So, swap 10 &amp; 4</a:t>
            </a:r>
          </a:p>
        </p:txBody>
      </p:sp>
      <p:sp>
        <p:nvSpPr>
          <p:cNvPr id="35" name="Freeform 34"/>
          <p:cNvSpPr/>
          <p:nvPr/>
        </p:nvSpPr>
        <p:spPr>
          <a:xfrm>
            <a:off x="874059" y="3870833"/>
            <a:ext cx="699247" cy="188258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20273" y="403041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955" y="3370217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9680" y="3365862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2" name="Table 41"/>
              <p:cNvGraphicFramePr>
                <a:graphicFrameLocks noGrp="1"/>
              </p:cNvGraphicFramePr>
              <p:nvPr/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2" name="Table 4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6783920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9" name="TextBox 28"/>
          <p:cNvSpPr txBox="1"/>
          <p:nvPr/>
        </p:nvSpPr>
        <p:spPr>
          <a:xfrm>
            <a:off x="6864265" y="2684025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9836" y="3680603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9534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34" grpId="0"/>
      <p:bldP spid="35" grpId="0" animBg="1"/>
      <p:bldP spid="36" grpId="0"/>
      <p:bldP spid="39" grpId="0" animBg="1"/>
      <p:bldP spid="40" grpId="0" animBg="1"/>
      <p:bldP spid="29" grpId="0" animBg="1"/>
      <p:bldP spid="3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466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099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2286000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0818" y="3313784"/>
          <a:ext cx="325967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>
            <a:stCxn id="13" idx="3"/>
            <a:endCxn id="22" idx="0"/>
          </p:cNvCxnSpPr>
          <p:nvPr/>
        </p:nvCxnSpPr>
        <p:spPr>
          <a:xfrm flipH="1">
            <a:off x="6048488" y="4106960"/>
            <a:ext cx="243646" cy="6502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772825" y="259258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10</a:t>
            </a:r>
          </a:p>
        </p:txBody>
      </p:sp>
      <p:cxnSp>
        <p:nvCxnSpPr>
          <p:cNvPr id="12" name="Straight Connector 11"/>
          <p:cNvCxnSpPr>
            <a:stCxn id="11" idx="3"/>
          </p:cNvCxnSpPr>
          <p:nvPr/>
        </p:nvCxnSpPr>
        <p:spPr>
          <a:xfrm flipH="1">
            <a:off x="6441141" y="3138927"/>
            <a:ext cx="425422" cy="51867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198396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4</a:t>
            </a:r>
          </a:p>
        </p:txBody>
      </p:sp>
      <p:cxnSp>
        <p:nvCxnSpPr>
          <p:cNvPr id="15" name="Straight Connector 14"/>
          <p:cNvCxnSpPr>
            <a:stCxn id="11" idx="5"/>
            <a:endCxn id="16" idx="0"/>
          </p:cNvCxnSpPr>
          <p:nvPr/>
        </p:nvCxnSpPr>
        <p:spPr>
          <a:xfrm>
            <a:off x="7319167" y="3138927"/>
            <a:ext cx="383308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82435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3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6744738" y="4120407"/>
            <a:ext cx="299204" cy="6502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728448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6723902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874" y="4706468"/>
            <a:ext cx="3524794" cy="1200329"/>
          </a:xfrm>
          <a:prstGeom prst="rect">
            <a:avLst/>
          </a:prstGeom>
          <a:solidFill>
            <a:srgbClr val="FCE0EE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A71160"/>
                </a:solidFill>
              </a:rPr>
              <a:t>In a Max Heap, parent node is always greater than or equal to the child nodes.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7800" y="2699267"/>
            <a:ext cx="251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5 is greater than 4</a:t>
            </a:r>
          </a:p>
          <a:p>
            <a:r>
              <a:rPr lang="en-US" sz="2000" b="1" dirty="0"/>
              <a:t>So, swap 5 &amp; 4</a:t>
            </a:r>
          </a:p>
        </p:txBody>
      </p:sp>
      <p:sp>
        <p:nvSpPr>
          <p:cNvPr id="26" name="Freeform 11"/>
          <p:cNvSpPr>
            <a:spLocks/>
          </p:cNvSpPr>
          <p:nvPr/>
        </p:nvSpPr>
        <p:spPr bwMode="auto">
          <a:xfrm rot="20912237">
            <a:off x="5788101" y="4145280"/>
            <a:ext cx="319927" cy="43911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Freeform 12"/>
          <p:cNvSpPr>
            <a:spLocks/>
          </p:cNvSpPr>
          <p:nvPr/>
        </p:nvSpPr>
        <p:spPr bwMode="auto">
          <a:xfrm>
            <a:off x="6307183" y="4297682"/>
            <a:ext cx="224245" cy="481840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Freeform 27"/>
          <p:cNvSpPr/>
          <p:nvPr/>
        </p:nvSpPr>
        <p:spPr>
          <a:xfrm>
            <a:off x="1515265" y="3892843"/>
            <a:ext cx="1236644" cy="16724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707206" y="401404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2903" y="3352799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6617" y="3352799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5</a:t>
            </a:r>
          </a:p>
        </p:txBody>
      </p:sp>
      <p:sp>
        <p:nvSpPr>
          <p:cNvPr id="37" name="Oval 36"/>
          <p:cNvSpPr/>
          <p:nvPr/>
        </p:nvSpPr>
        <p:spPr>
          <a:xfrm>
            <a:off x="6662057" y="2494586"/>
            <a:ext cx="822960" cy="82296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6101119" y="3458851"/>
            <a:ext cx="822960" cy="82296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5409112" y="5569750"/>
            <a:ext cx="2755174" cy="46166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Max Heap is created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94" y="2303041"/>
            <a:ext cx="2781531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/>
              <a:t>Step 2 : Create Max Heap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le 40"/>
              <p:cNvGraphicFramePr>
                <a:graphicFrameLocks noGrp="1"/>
              </p:cNvGraphicFramePr>
              <p:nvPr/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5512645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/>
          <p:cNvSpPr txBox="1"/>
          <p:nvPr/>
        </p:nvSpPr>
        <p:spPr>
          <a:xfrm>
            <a:off x="6289836" y="3680603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9888" y="4877243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7025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/>
      <p:bldP spid="29" grpId="1"/>
      <p:bldP spid="35" grpId="0" animBg="1"/>
      <p:bldP spid="36" grpId="0" animBg="1"/>
      <p:bldP spid="37" grpId="0" animBg="1"/>
      <p:bldP spid="38" grpId="0" animBg="1"/>
      <p:bldP spid="39" grpId="0" animBg="1"/>
      <p:bldP spid="42" grpId="0" animBg="1"/>
      <p:bldP spid="4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466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099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2286000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11" idx="3"/>
            <a:endCxn id="13" idx="0"/>
          </p:cNvCxnSpPr>
          <p:nvPr/>
        </p:nvCxnSpPr>
        <p:spPr>
          <a:xfrm flipH="1">
            <a:off x="6518436" y="3138927"/>
            <a:ext cx="348127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7755" y="3313784"/>
          <a:ext cx="325967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stCxn id="11" idx="5"/>
            <a:endCxn id="16" idx="0"/>
          </p:cNvCxnSpPr>
          <p:nvPr/>
        </p:nvCxnSpPr>
        <p:spPr>
          <a:xfrm>
            <a:off x="7319167" y="3138927"/>
            <a:ext cx="383308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772825" y="259258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10</a:t>
            </a:r>
          </a:p>
        </p:txBody>
      </p:sp>
      <p:sp>
        <p:nvSpPr>
          <p:cNvPr id="13" name="Oval 12"/>
          <p:cNvSpPr/>
          <p:nvPr/>
        </p:nvSpPr>
        <p:spPr>
          <a:xfrm>
            <a:off x="6198396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5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6705165" y="4121943"/>
            <a:ext cx="283964" cy="65029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82435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3</a:t>
            </a:r>
          </a:p>
        </p:txBody>
      </p:sp>
      <p:cxnSp>
        <p:nvCxnSpPr>
          <p:cNvPr id="21" name="Straight Connector 20"/>
          <p:cNvCxnSpPr>
            <a:stCxn id="13" idx="3"/>
            <a:endCxn id="22" idx="0"/>
          </p:cNvCxnSpPr>
          <p:nvPr/>
        </p:nvCxnSpPr>
        <p:spPr>
          <a:xfrm flipH="1">
            <a:off x="6048488" y="4106960"/>
            <a:ext cx="243646" cy="6502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728448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4</a:t>
            </a:r>
          </a:p>
        </p:txBody>
      </p:sp>
      <p:sp>
        <p:nvSpPr>
          <p:cNvPr id="32" name="Oval 31"/>
          <p:cNvSpPr/>
          <p:nvPr/>
        </p:nvSpPr>
        <p:spPr>
          <a:xfrm>
            <a:off x="6723902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874" y="4706468"/>
            <a:ext cx="3524794" cy="1200329"/>
          </a:xfrm>
          <a:prstGeom prst="rect">
            <a:avLst/>
          </a:prstGeom>
          <a:solidFill>
            <a:srgbClr val="FCE0EE"/>
          </a:solidFill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A71160"/>
                </a:solidFill>
              </a:rPr>
              <a:t>Swap the first and the last nodes and 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A71160"/>
                </a:solidFill>
              </a:rPr>
              <a:t>Delete the last node.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94" y="2303041"/>
            <a:ext cx="2690160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/>
              <a:t>Step 3 : Apply Heap Sort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le 40"/>
              <p:cNvGraphicFramePr>
                <a:graphicFrameLocks noGrp="1"/>
              </p:cNvGraphicFramePr>
              <p:nvPr/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5512645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Freeform 18"/>
          <p:cNvSpPr/>
          <p:nvPr/>
        </p:nvSpPr>
        <p:spPr>
          <a:xfrm>
            <a:off x="873029" y="3898119"/>
            <a:ext cx="2590800" cy="175025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733326" y="405323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7105927" y="3297979"/>
            <a:ext cx="13329" cy="1378524"/>
          </a:xfrm>
          <a:prstGeom prst="straightConnector1">
            <a:avLst/>
          </a:prstGeom>
          <a:ln w="19050">
            <a:solidFill>
              <a:srgbClr val="ED524F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99888" y="3366245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4608" y="3366246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64265" y="2684025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5342" y="4877243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2367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4" grpId="0" animBg="1"/>
      <p:bldP spid="19" grpId="0" animBg="1"/>
      <p:bldP spid="20" grpId="0"/>
      <p:bldP spid="27" grpId="0" animBg="1"/>
      <p:bldP spid="28" grpId="0" animBg="1"/>
      <p:bldP spid="29" grpId="0" animBg="1"/>
      <p:bldP spid="30" grpId="0" animBg="1"/>
      <p:bldP spid="30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466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099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2286000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7755" y="3313784"/>
          <a:ext cx="325967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val 10"/>
          <p:cNvSpPr/>
          <p:nvPr/>
        </p:nvSpPr>
        <p:spPr>
          <a:xfrm>
            <a:off x="6772825" y="259258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cxnSp>
        <p:nvCxnSpPr>
          <p:cNvPr id="12" name="Straight Connector 11"/>
          <p:cNvCxnSpPr>
            <a:stCxn id="11" idx="3"/>
            <a:endCxn id="13" idx="0"/>
          </p:cNvCxnSpPr>
          <p:nvPr/>
        </p:nvCxnSpPr>
        <p:spPr>
          <a:xfrm flipH="1">
            <a:off x="6518436" y="3138927"/>
            <a:ext cx="348127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198396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5</a:t>
            </a:r>
          </a:p>
        </p:txBody>
      </p:sp>
      <p:cxnSp>
        <p:nvCxnSpPr>
          <p:cNvPr id="15" name="Straight Connector 14"/>
          <p:cNvCxnSpPr>
            <a:stCxn id="11" idx="5"/>
          </p:cNvCxnSpPr>
          <p:nvPr/>
        </p:nvCxnSpPr>
        <p:spPr>
          <a:xfrm>
            <a:off x="7319167" y="3138927"/>
            <a:ext cx="370245" cy="4297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82435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3</a:t>
            </a:r>
          </a:p>
        </p:txBody>
      </p:sp>
      <p:cxnSp>
        <p:nvCxnSpPr>
          <p:cNvPr id="21" name="Straight Connector 20"/>
          <p:cNvCxnSpPr>
            <a:stCxn id="13" idx="3"/>
            <a:endCxn id="22" idx="0"/>
          </p:cNvCxnSpPr>
          <p:nvPr/>
        </p:nvCxnSpPr>
        <p:spPr>
          <a:xfrm flipH="1">
            <a:off x="6048488" y="4106960"/>
            <a:ext cx="243646" cy="6502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728448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94" y="2303041"/>
            <a:ext cx="2690160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/>
              <a:t>Step 3 : Apply Heap Sort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le 40"/>
              <p:cNvGraphicFramePr>
                <a:graphicFrameLocks noGrp="1"/>
              </p:cNvGraphicFramePr>
              <p:nvPr/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5512645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TextBox 26"/>
          <p:cNvSpPr txBox="1"/>
          <p:nvPr/>
        </p:nvSpPr>
        <p:spPr>
          <a:xfrm>
            <a:off x="9067800" y="2699267"/>
            <a:ext cx="2514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Max Heap Property is violated so, create a Max Heap again. </a:t>
            </a:r>
          </a:p>
        </p:txBody>
      </p:sp>
      <p:sp>
        <p:nvSpPr>
          <p:cNvPr id="28" name="Freeform 11"/>
          <p:cNvSpPr>
            <a:spLocks/>
          </p:cNvSpPr>
          <p:nvPr/>
        </p:nvSpPr>
        <p:spPr bwMode="auto">
          <a:xfrm>
            <a:off x="6301793" y="3015697"/>
            <a:ext cx="319927" cy="43911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Freeform 12"/>
          <p:cNvSpPr>
            <a:spLocks/>
          </p:cNvSpPr>
          <p:nvPr/>
        </p:nvSpPr>
        <p:spPr bwMode="auto">
          <a:xfrm>
            <a:off x="6824307" y="3292614"/>
            <a:ext cx="269875" cy="409575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 rot="20912237">
            <a:off x="5801163" y="4145280"/>
            <a:ext cx="319927" cy="43911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294120" y="4317694"/>
            <a:ext cx="269875" cy="409575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1244689" y="3366246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4608" y="3366246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48156" y="3367657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</a:t>
            </a:r>
          </a:p>
        </p:txBody>
      </p:sp>
      <p:sp>
        <p:nvSpPr>
          <p:cNvPr id="43" name="Freeform 42"/>
          <p:cNvSpPr/>
          <p:nvPr/>
        </p:nvSpPr>
        <p:spPr>
          <a:xfrm>
            <a:off x="874059" y="3870833"/>
            <a:ext cx="699247" cy="188258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820273" y="403041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45" name="Freeform 44"/>
          <p:cNvSpPr/>
          <p:nvPr/>
        </p:nvSpPr>
        <p:spPr>
          <a:xfrm>
            <a:off x="1577789" y="3875313"/>
            <a:ext cx="1232646" cy="199145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1234826" y="3372141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64265" y="2684025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9836" y="3680603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19888" y="4877243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89836" y="3680603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0815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3.33333E-6 L 0.08125 -0.00092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62" y="-46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  <p:bldP spid="28" grpId="1" animBg="1"/>
      <p:bldP spid="29" grpId="0" animBg="1"/>
      <p:bldP spid="29" grpId="1" animBg="1"/>
      <p:bldP spid="34" grpId="0" animBg="1"/>
      <p:bldP spid="34" grpId="1" animBg="1"/>
      <p:bldP spid="35" grpId="0" animBg="1"/>
      <p:bldP spid="35" grpId="1" animBg="1"/>
      <p:bldP spid="38" grpId="0" animBg="1"/>
      <p:bldP spid="39" grpId="0" animBg="1"/>
      <p:bldP spid="42" grpId="0" animBg="1"/>
      <p:bldP spid="43" grpId="0" animBg="1"/>
      <p:bldP spid="43" grpId="1" animBg="1"/>
      <p:bldP spid="44" grpId="0"/>
      <p:bldP spid="44" grpId="1"/>
      <p:bldP spid="44" grpId="2"/>
      <p:bldP spid="45" grpId="0" animBg="1"/>
      <p:bldP spid="45" grpId="1" animBg="1"/>
      <p:bldP spid="47" grpId="0" animBg="1"/>
      <p:bldP spid="46" grpId="0" animBg="1"/>
      <p:bldP spid="48" grpId="0" animBg="1"/>
      <p:bldP spid="49" grpId="0" animBg="1"/>
      <p:bldP spid="5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466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099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2286000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7755" y="3313784"/>
          <a:ext cx="325967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val 10"/>
          <p:cNvSpPr/>
          <p:nvPr/>
        </p:nvSpPr>
        <p:spPr>
          <a:xfrm>
            <a:off x="6772825" y="259258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5</a:t>
            </a:r>
          </a:p>
        </p:txBody>
      </p:sp>
      <p:cxnSp>
        <p:nvCxnSpPr>
          <p:cNvPr id="12" name="Straight Connector 11"/>
          <p:cNvCxnSpPr>
            <a:stCxn id="11" idx="3"/>
            <a:endCxn id="13" idx="0"/>
          </p:cNvCxnSpPr>
          <p:nvPr/>
        </p:nvCxnSpPr>
        <p:spPr>
          <a:xfrm flipH="1">
            <a:off x="6518436" y="3138927"/>
            <a:ext cx="348127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198396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4</a:t>
            </a:r>
          </a:p>
        </p:txBody>
      </p:sp>
      <p:cxnSp>
        <p:nvCxnSpPr>
          <p:cNvPr id="15" name="Straight Connector 14"/>
          <p:cNvCxnSpPr>
            <a:stCxn id="11" idx="5"/>
            <a:endCxn id="16" idx="0"/>
          </p:cNvCxnSpPr>
          <p:nvPr/>
        </p:nvCxnSpPr>
        <p:spPr>
          <a:xfrm>
            <a:off x="7319167" y="3138927"/>
            <a:ext cx="383308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82435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3</a:t>
            </a:r>
          </a:p>
        </p:txBody>
      </p:sp>
      <p:cxnSp>
        <p:nvCxnSpPr>
          <p:cNvPr id="21" name="Straight Connector 20"/>
          <p:cNvCxnSpPr>
            <a:stCxn id="13" idx="3"/>
            <a:endCxn id="22" idx="0"/>
          </p:cNvCxnSpPr>
          <p:nvPr/>
        </p:nvCxnSpPr>
        <p:spPr>
          <a:xfrm flipH="1">
            <a:off x="6048488" y="4106960"/>
            <a:ext cx="243646" cy="6502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728448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94" y="2303041"/>
            <a:ext cx="2690160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/>
              <a:t>Step 3 : Apply Heap Sort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le 40"/>
              <p:cNvGraphicFramePr>
                <a:graphicFrameLocks noGrp="1"/>
              </p:cNvGraphicFramePr>
              <p:nvPr/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5512645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TextBox 26"/>
          <p:cNvSpPr txBox="1"/>
          <p:nvPr/>
        </p:nvSpPr>
        <p:spPr>
          <a:xfrm>
            <a:off x="9067800" y="2699267"/>
            <a:ext cx="25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Max Heap is created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874" y="4706468"/>
            <a:ext cx="3524794" cy="1200329"/>
          </a:xfrm>
          <a:prstGeom prst="rect">
            <a:avLst/>
          </a:prstGeom>
          <a:solidFill>
            <a:srgbClr val="FCE0EE"/>
          </a:solidFill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A71160"/>
                </a:solidFill>
              </a:rPr>
              <a:t>Swap the first and the last nodes and 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A71160"/>
                </a:solidFill>
              </a:rPr>
              <a:t>Delete the last node.</a:t>
            </a:r>
          </a:p>
        </p:txBody>
      </p:sp>
      <p:cxnSp>
        <p:nvCxnSpPr>
          <p:cNvPr id="8" name="Curved Connector 7"/>
          <p:cNvCxnSpPr/>
          <p:nvPr/>
        </p:nvCxnSpPr>
        <p:spPr>
          <a:xfrm rot="10800000" flipV="1">
            <a:off x="5486404" y="2831942"/>
            <a:ext cx="1071269" cy="1807292"/>
          </a:xfrm>
          <a:prstGeom prst="curvedConnector2">
            <a:avLst/>
          </a:prstGeom>
          <a:ln w="19050">
            <a:solidFill>
              <a:srgbClr val="ED524F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47290" y="408266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39" name="Freeform 38"/>
          <p:cNvSpPr/>
          <p:nvPr/>
        </p:nvSpPr>
        <p:spPr>
          <a:xfrm>
            <a:off x="901337" y="3875313"/>
            <a:ext cx="1909098" cy="213361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604608" y="3366246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48156" y="3367657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64265" y="2684025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19888" y="4877243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2184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7" grpId="0"/>
      <p:bldP spid="26" grpId="0" animBg="1"/>
      <p:bldP spid="38" grpId="0"/>
      <p:bldP spid="38" grpId="1"/>
      <p:bldP spid="39" grpId="0" animBg="1"/>
      <p:bldP spid="39" grpId="1" animBg="1"/>
      <p:bldP spid="44" grpId="0" animBg="1"/>
      <p:bldP spid="45" grpId="0" animBg="1"/>
      <p:bldP spid="46" grpId="0" animBg="1"/>
      <p:bldP spid="47" grpId="0" animBg="1"/>
      <p:bldP spid="47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466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099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2286000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7755" y="3313784"/>
          <a:ext cx="325967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val 10"/>
          <p:cNvSpPr/>
          <p:nvPr/>
        </p:nvSpPr>
        <p:spPr>
          <a:xfrm>
            <a:off x="6772825" y="259258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cxnSp>
        <p:nvCxnSpPr>
          <p:cNvPr id="12" name="Straight Connector 11"/>
          <p:cNvCxnSpPr>
            <a:stCxn id="11" idx="3"/>
            <a:endCxn id="13" idx="0"/>
          </p:cNvCxnSpPr>
          <p:nvPr/>
        </p:nvCxnSpPr>
        <p:spPr>
          <a:xfrm flipH="1">
            <a:off x="6518436" y="3138927"/>
            <a:ext cx="348127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198396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4</a:t>
            </a:r>
          </a:p>
        </p:txBody>
      </p:sp>
      <p:cxnSp>
        <p:nvCxnSpPr>
          <p:cNvPr id="15" name="Straight Connector 14"/>
          <p:cNvCxnSpPr>
            <a:stCxn id="11" idx="5"/>
            <a:endCxn id="16" idx="0"/>
          </p:cNvCxnSpPr>
          <p:nvPr/>
        </p:nvCxnSpPr>
        <p:spPr>
          <a:xfrm>
            <a:off x="7319167" y="3138927"/>
            <a:ext cx="383308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82435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94" y="2303041"/>
            <a:ext cx="2690160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/>
              <a:t>Step 3 : Apply Heap Sort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le 40"/>
              <p:cNvGraphicFramePr>
                <a:graphicFrameLocks noGrp="1"/>
              </p:cNvGraphicFramePr>
              <p:nvPr/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5512645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TextBox 26"/>
          <p:cNvSpPr txBox="1"/>
          <p:nvPr/>
        </p:nvSpPr>
        <p:spPr>
          <a:xfrm>
            <a:off x="9014011" y="2605138"/>
            <a:ext cx="251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Create Max Heap again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874" y="4706468"/>
            <a:ext cx="3524794" cy="1200329"/>
          </a:xfrm>
          <a:prstGeom prst="rect">
            <a:avLst/>
          </a:prstGeom>
          <a:solidFill>
            <a:srgbClr val="FCE0EE"/>
          </a:solidFill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A71160"/>
                </a:solidFill>
              </a:rPr>
              <a:t>Swap the first and the last nodes and 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A71160"/>
                </a:solidFill>
              </a:rPr>
              <a:t>Delete the last node.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50067" y="3366246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332" y="3354210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4</a:t>
            </a:r>
          </a:p>
        </p:txBody>
      </p:sp>
      <p:sp>
        <p:nvSpPr>
          <p:cNvPr id="25" name="Freeform 11"/>
          <p:cNvSpPr>
            <a:spLocks/>
          </p:cNvSpPr>
          <p:nvPr/>
        </p:nvSpPr>
        <p:spPr bwMode="auto">
          <a:xfrm>
            <a:off x="6302188" y="2987644"/>
            <a:ext cx="319927" cy="43911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Freeform 12"/>
          <p:cNvSpPr>
            <a:spLocks/>
          </p:cNvSpPr>
          <p:nvPr/>
        </p:nvSpPr>
        <p:spPr bwMode="auto">
          <a:xfrm>
            <a:off x="6799729" y="3240741"/>
            <a:ext cx="269875" cy="409575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Freeform 29"/>
          <p:cNvSpPr/>
          <p:nvPr/>
        </p:nvSpPr>
        <p:spPr>
          <a:xfrm>
            <a:off x="874059" y="3870833"/>
            <a:ext cx="699247" cy="188258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20273" y="403041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14011" y="3452302"/>
            <a:ext cx="25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Max Heap is created</a:t>
            </a:r>
          </a:p>
        </p:txBody>
      </p:sp>
      <p:sp>
        <p:nvSpPr>
          <p:cNvPr id="36" name="Freeform 17"/>
          <p:cNvSpPr>
            <a:spLocks/>
          </p:cNvSpPr>
          <p:nvPr/>
        </p:nvSpPr>
        <p:spPr bwMode="auto">
          <a:xfrm>
            <a:off x="7090942" y="3271907"/>
            <a:ext cx="312738" cy="412750"/>
          </a:xfrm>
          <a:custGeom>
            <a:avLst/>
            <a:gdLst>
              <a:gd name="T0" fmla="*/ 197 w 197"/>
              <a:gd name="T1" fmla="*/ 260 h 260"/>
              <a:gd name="T2" fmla="*/ 114 w 197"/>
              <a:gd name="T3" fmla="*/ 233 h 260"/>
              <a:gd name="T4" fmla="*/ 41 w 197"/>
              <a:gd name="T5" fmla="*/ 164 h 260"/>
              <a:gd name="T6" fmla="*/ 0 w 197"/>
              <a:gd name="T7" fmla="*/ 0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197"/>
              <a:gd name="T13" fmla="*/ 0 h 260"/>
              <a:gd name="T14" fmla="*/ 197 w 197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7" h="260">
                <a:moveTo>
                  <a:pt x="197" y="260"/>
                </a:moveTo>
                <a:cubicBezTo>
                  <a:pt x="183" y="256"/>
                  <a:pt x="140" y="249"/>
                  <a:pt x="114" y="233"/>
                </a:cubicBezTo>
                <a:cubicBezTo>
                  <a:pt x="88" y="217"/>
                  <a:pt x="60" y="203"/>
                  <a:pt x="41" y="164"/>
                </a:cubicBezTo>
                <a:cubicBezTo>
                  <a:pt x="22" y="125"/>
                  <a:pt x="9" y="34"/>
                  <a:pt x="0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37" name="Freeform 18"/>
          <p:cNvSpPr>
            <a:spLocks/>
          </p:cNvSpPr>
          <p:nvPr/>
        </p:nvSpPr>
        <p:spPr bwMode="auto">
          <a:xfrm>
            <a:off x="7608128" y="3012517"/>
            <a:ext cx="249238" cy="449263"/>
          </a:xfrm>
          <a:custGeom>
            <a:avLst/>
            <a:gdLst>
              <a:gd name="T0" fmla="*/ 0 w 157"/>
              <a:gd name="T1" fmla="*/ 0 h 283"/>
              <a:gd name="T2" fmla="*/ 91 w 157"/>
              <a:gd name="T3" fmla="*/ 41 h 283"/>
              <a:gd name="T4" fmla="*/ 147 w 157"/>
              <a:gd name="T5" fmla="*/ 151 h 283"/>
              <a:gd name="T6" fmla="*/ 152 w 157"/>
              <a:gd name="T7" fmla="*/ 283 h 283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283"/>
              <a:gd name="T14" fmla="*/ 157 w 157"/>
              <a:gd name="T15" fmla="*/ 283 h 2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283">
                <a:moveTo>
                  <a:pt x="0" y="0"/>
                </a:moveTo>
                <a:cubicBezTo>
                  <a:pt x="15" y="7"/>
                  <a:pt x="67" y="16"/>
                  <a:pt x="91" y="41"/>
                </a:cubicBezTo>
                <a:cubicBezTo>
                  <a:pt x="115" y="66"/>
                  <a:pt x="137" y="111"/>
                  <a:pt x="147" y="151"/>
                </a:cubicBezTo>
                <a:cubicBezTo>
                  <a:pt x="157" y="191"/>
                  <a:pt x="151" y="256"/>
                  <a:pt x="152" y="283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882768" y="3879541"/>
            <a:ext cx="1259541" cy="183008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905584" y="2717074"/>
            <a:ext cx="418011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3470" y="3692434"/>
            <a:ext cx="418011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431" y="3680603"/>
            <a:ext cx="418011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83860" y="2712570"/>
            <a:ext cx="418011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80285" y="3358693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367" y="3372140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9864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3.33333E-6 L 0.03815 0.00301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1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7" grpId="0"/>
      <p:bldP spid="27" grpId="1"/>
      <p:bldP spid="26" grpId="0" animBg="1"/>
      <p:bldP spid="44" grpId="0" animBg="1"/>
      <p:bldP spid="45" grpId="0" animBg="1"/>
      <p:bldP spid="25" grpId="0" animBg="1"/>
      <p:bldP spid="25" grpId="1" animBg="1"/>
      <p:bldP spid="28" grpId="0" animBg="1"/>
      <p:bldP spid="28" grpId="1" animBg="1"/>
      <p:bldP spid="30" grpId="0" animBg="1"/>
      <p:bldP spid="30" grpId="1" animBg="1"/>
      <p:bldP spid="31" grpId="0"/>
      <p:bldP spid="31" grpId="1"/>
      <p:bldP spid="35" grpId="0"/>
      <p:bldP spid="36" grpId="0" animBg="1"/>
      <p:bldP spid="36" grpId="1" animBg="1"/>
      <p:bldP spid="37" grpId="0" animBg="1"/>
      <p:bldP spid="37" grpId="1" animBg="1"/>
      <p:bldP spid="46" grpId="0" animBg="1"/>
      <p:bldP spid="3" grpId="0" animBg="1"/>
      <p:bldP spid="48" grpId="0" animBg="1"/>
      <p:bldP spid="48" grpId="1" animBg="1"/>
      <p:bldP spid="49" grpId="0" animBg="1"/>
      <p:bldP spid="50" grpId="0" animBg="1"/>
      <p:bldP spid="51" grpId="0" animBg="1"/>
      <p:bldP spid="5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466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099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2286000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7755" y="3313784"/>
          <a:ext cx="325967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val 10"/>
          <p:cNvSpPr/>
          <p:nvPr/>
        </p:nvSpPr>
        <p:spPr>
          <a:xfrm>
            <a:off x="6772825" y="259258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3</a:t>
            </a:r>
          </a:p>
        </p:txBody>
      </p:sp>
      <p:cxnSp>
        <p:nvCxnSpPr>
          <p:cNvPr id="12" name="Straight Connector 11"/>
          <p:cNvCxnSpPr>
            <a:stCxn id="11" idx="3"/>
            <a:endCxn id="13" idx="0"/>
          </p:cNvCxnSpPr>
          <p:nvPr/>
        </p:nvCxnSpPr>
        <p:spPr>
          <a:xfrm flipH="1">
            <a:off x="6518436" y="3138927"/>
            <a:ext cx="348127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198396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94" y="2303041"/>
            <a:ext cx="2690160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/>
              <a:t>Step 3 : Apply Heap Sort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le 40"/>
              <p:cNvGraphicFramePr>
                <a:graphicFrameLocks noGrp="1"/>
              </p:cNvGraphicFramePr>
              <p:nvPr/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5512645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TextBox 26"/>
          <p:cNvSpPr txBox="1"/>
          <p:nvPr/>
        </p:nvSpPr>
        <p:spPr>
          <a:xfrm>
            <a:off x="9014011" y="2605138"/>
            <a:ext cx="25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Already a Max Heap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874" y="4706468"/>
            <a:ext cx="3524794" cy="1200329"/>
          </a:xfrm>
          <a:prstGeom prst="rect">
            <a:avLst/>
          </a:prstGeom>
          <a:solidFill>
            <a:srgbClr val="FCE0EE"/>
          </a:solidFill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A71160"/>
                </a:solidFill>
              </a:rPr>
              <a:t>Swap the first and the last nodes and 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A71160"/>
                </a:solidFill>
              </a:rPr>
              <a:t>Delete the last node.</a:t>
            </a:r>
          </a:p>
        </p:txBody>
      </p:sp>
      <p:sp>
        <p:nvSpPr>
          <p:cNvPr id="25" name="Freeform 11"/>
          <p:cNvSpPr>
            <a:spLocks/>
          </p:cNvSpPr>
          <p:nvPr/>
        </p:nvSpPr>
        <p:spPr bwMode="auto">
          <a:xfrm>
            <a:off x="6302188" y="2987644"/>
            <a:ext cx="319927" cy="43911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Freeform 12"/>
          <p:cNvSpPr>
            <a:spLocks/>
          </p:cNvSpPr>
          <p:nvPr/>
        </p:nvSpPr>
        <p:spPr bwMode="auto">
          <a:xfrm>
            <a:off x="6799729" y="3240741"/>
            <a:ext cx="269875" cy="409575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Freeform 29"/>
          <p:cNvSpPr/>
          <p:nvPr/>
        </p:nvSpPr>
        <p:spPr>
          <a:xfrm>
            <a:off x="874059" y="3870833"/>
            <a:ext cx="699247" cy="188258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20273" y="403041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83860" y="2712570"/>
            <a:ext cx="418011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431" y="3680603"/>
            <a:ext cx="418011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0067" y="3366246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367" y="3372140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11627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7" grpId="0"/>
      <p:bldP spid="26" grpId="0" animBg="1"/>
      <p:bldP spid="25" grpId="0" animBg="1"/>
      <p:bldP spid="25" grpId="1" animBg="1"/>
      <p:bldP spid="28" grpId="0" animBg="1"/>
      <p:bldP spid="28" grpId="1" animBg="1"/>
      <p:bldP spid="30" grpId="0" animBg="1"/>
      <p:bldP spid="30" grpId="1" animBg="1"/>
      <p:bldP spid="31" grpId="0"/>
      <p:bldP spid="49" grpId="0" animBg="1"/>
      <p:bldP spid="50" grpId="0" animBg="1"/>
      <p:bldP spid="50" grpId="1" animBg="1"/>
      <p:bldP spid="32" grpId="0" animBg="1"/>
      <p:bldP spid="3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466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099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2286000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7755" y="3313784"/>
          <a:ext cx="325967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val 10"/>
          <p:cNvSpPr/>
          <p:nvPr/>
        </p:nvSpPr>
        <p:spPr>
          <a:xfrm>
            <a:off x="6772825" y="259258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94" y="2303041"/>
            <a:ext cx="2690160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/>
              <a:t>Step 3 : Apply Heap Sort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le 40"/>
              <p:cNvGraphicFramePr>
                <a:graphicFrameLocks noGrp="1"/>
              </p:cNvGraphicFramePr>
              <p:nvPr/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5512645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TextBox 26"/>
          <p:cNvSpPr txBox="1"/>
          <p:nvPr/>
        </p:nvSpPr>
        <p:spPr>
          <a:xfrm>
            <a:off x="9014011" y="2605138"/>
            <a:ext cx="25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Already a Max Heap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874" y="4706468"/>
            <a:ext cx="3200400" cy="1200329"/>
          </a:xfrm>
          <a:prstGeom prst="rect">
            <a:avLst/>
          </a:prstGeom>
          <a:solidFill>
            <a:srgbClr val="FCE0EE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A71160"/>
                </a:solidFill>
              </a:rPr>
              <a:t>Remove the last element from heap and the sorting is over.</a:t>
            </a:r>
          </a:p>
        </p:txBody>
      </p:sp>
      <p:sp>
        <p:nvSpPr>
          <p:cNvPr id="3" name="Rectangle 2"/>
          <p:cNvSpPr/>
          <p:nvPr/>
        </p:nvSpPr>
        <p:spPr>
          <a:xfrm>
            <a:off x="537882" y="3321423"/>
            <a:ext cx="640080" cy="5394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1653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7" grpId="0"/>
      <p:bldP spid="26" grpId="0" animBg="1"/>
      <p:bldP spid="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 given element in ascending order using heap sort.  19, 7, 16, 1, 14, 17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28912" y="1721224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1018180" y="2590800"/>
            <a:ext cx="10058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689087" y="3505199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19</a:t>
            </a:r>
          </a:p>
        </p:txBody>
      </p:sp>
      <p:cxnSp>
        <p:nvCxnSpPr>
          <p:cNvPr id="7" name="Straight Connector 6"/>
          <p:cNvCxnSpPr>
            <a:stCxn id="6" idx="3"/>
            <a:endCxn id="8" idx="0"/>
          </p:cNvCxnSpPr>
          <p:nvPr/>
        </p:nvCxnSpPr>
        <p:spPr>
          <a:xfrm flipH="1">
            <a:off x="2434698" y="4051541"/>
            <a:ext cx="348127" cy="33318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114658" y="438472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cxnSp>
        <p:nvCxnSpPr>
          <p:cNvPr id="9" name="Straight Connector 8"/>
          <p:cNvCxnSpPr>
            <a:stCxn id="6" idx="5"/>
            <a:endCxn id="10" idx="1"/>
          </p:cNvCxnSpPr>
          <p:nvPr/>
        </p:nvCxnSpPr>
        <p:spPr>
          <a:xfrm>
            <a:off x="3235429" y="4051541"/>
            <a:ext cx="449653" cy="4269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591344" y="438472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16</a:t>
            </a:r>
          </a:p>
        </p:txBody>
      </p:sp>
      <p:cxnSp>
        <p:nvCxnSpPr>
          <p:cNvPr id="11" name="Straight Connector 10"/>
          <p:cNvCxnSpPr>
            <a:stCxn id="8" idx="3"/>
            <a:endCxn id="12" idx="0"/>
          </p:cNvCxnSpPr>
          <p:nvPr/>
        </p:nvCxnSpPr>
        <p:spPr>
          <a:xfrm flipH="1">
            <a:off x="2027814" y="4931068"/>
            <a:ext cx="180582" cy="4833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707774" y="541438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cxnSp>
        <p:nvCxnSpPr>
          <p:cNvPr id="13" name="Straight Connector 12"/>
          <p:cNvCxnSpPr>
            <a:stCxn id="8" idx="5"/>
            <a:endCxn id="14" idx="0"/>
          </p:cNvCxnSpPr>
          <p:nvPr/>
        </p:nvCxnSpPr>
        <p:spPr>
          <a:xfrm>
            <a:off x="2661000" y="4931068"/>
            <a:ext cx="258853" cy="4833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599813" y="541438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cxnSp>
        <p:nvCxnSpPr>
          <p:cNvPr id="15" name="Straight Connector 14"/>
          <p:cNvCxnSpPr>
            <a:stCxn id="10" idx="4"/>
            <a:endCxn id="16" idx="0"/>
          </p:cNvCxnSpPr>
          <p:nvPr/>
        </p:nvCxnSpPr>
        <p:spPr>
          <a:xfrm flipH="1">
            <a:off x="3654459" y="5024806"/>
            <a:ext cx="256925" cy="3895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334419" y="541438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17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6094945" y="2667001"/>
            <a:ext cx="2111" cy="37337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96317" y="277383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Step 2: Create Max-heap</a:t>
            </a:r>
          </a:p>
        </p:txBody>
      </p:sp>
      <p:sp>
        <p:nvSpPr>
          <p:cNvPr id="35" name="Freeform 34"/>
          <p:cNvSpPr/>
          <p:nvPr/>
        </p:nvSpPr>
        <p:spPr>
          <a:xfrm>
            <a:off x="6221701" y="2299063"/>
            <a:ext cx="1864208" cy="19594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solidFill>
              <a:srgbClr val="00B0F0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 rot="10800000">
            <a:off x="5512667" y="1427416"/>
            <a:ext cx="1880910" cy="218504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solidFill>
              <a:srgbClr val="00B0F0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1018180" y="2773830"/>
            <a:ext cx="3527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Step 1: Create binary tree</a:t>
            </a:r>
          </a:p>
        </p:txBody>
      </p:sp>
      <p:sp>
        <p:nvSpPr>
          <p:cNvPr id="38" name="Oval 37"/>
          <p:cNvSpPr/>
          <p:nvPr/>
        </p:nvSpPr>
        <p:spPr>
          <a:xfrm>
            <a:off x="8079709" y="354003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19</a:t>
            </a:r>
          </a:p>
        </p:txBody>
      </p:sp>
      <p:cxnSp>
        <p:nvCxnSpPr>
          <p:cNvPr id="39" name="Straight Connector 38"/>
          <p:cNvCxnSpPr>
            <a:stCxn id="38" idx="3"/>
            <a:endCxn id="40" idx="0"/>
          </p:cNvCxnSpPr>
          <p:nvPr/>
        </p:nvCxnSpPr>
        <p:spPr>
          <a:xfrm flipH="1">
            <a:off x="7825320" y="4086374"/>
            <a:ext cx="348127" cy="33318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505280" y="4419559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cxnSp>
        <p:nvCxnSpPr>
          <p:cNvPr id="41" name="Straight Connector 40"/>
          <p:cNvCxnSpPr>
            <a:stCxn id="38" idx="5"/>
            <a:endCxn id="42" idx="1"/>
          </p:cNvCxnSpPr>
          <p:nvPr/>
        </p:nvCxnSpPr>
        <p:spPr>
          <a:xfrm>
            <a:off x="8626051" y="4086374"/>
            <a:ext cx="449653" cy="4269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8981966" y="4419559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16</a:t>
            </a:r>
          </a:p>
        </p:txBody>
      </p:sp>
      <p:cxnSp>
        <p:nvCxnSpPr>
          <p:cNvPr id="43" name="Straight Connector 42"/>
          <p:cNvCxnSpPr>
            <a:stCxn id="40" idx="3"/>
            <a:endCxn id="44" idx="0"/>
          </p:cNvCxnSpPr>
          <p:nvPr/>
        </p:nvCxnSpPr>
        <p:spPr>
          <a:xfrm flipH="1">
            <a:off x="7418436" y="4965901"/>
            <a:ext cx="180582" cy="4833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098396" y="544921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cxnSp>
        <p:nvCxnSpPr>
          <p:cNvPr id="45" name="Straight Connector 44"/>
          <p:cNvCxnSpPr>
            <a:stCxn id="40" idx="5"/>
            <a:endCxn id="46" idx="0"/>
          </p:cNvCxnSpPr>
          <p:nvPr/>
        </p:nvCxnSpPr>
        <p:spPr>
          <a:xfrm>
            <a:off x="8051622" y="4965901"/>
            <a:ext cx="258853" cy="4833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990435" y="544921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cxnSp>
        <p:nvCxnSpPr>
          <p:cNvPr id="47" name="Straight Connector 46"/>
          <p:cNvCxnSpPr>
            <a:stCxn id="42" idx="4"/>
            <a:endCxn id="48" idx="0"/>
          </p:cNvCxnSpPr>
          <p:nvPr/>
        </p:nvCxnSpPr>
        <p:spPr>
          <a:xfrm flipH="1">
            <a:off x="9045081" y="5059639"/>
            <a:ext cx="256925" cy="3895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8725041" y="544921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17</a:t>
            </a:r>
          </a:p>
        </p:txBody>
      </p:sp>
      <p:sp>
        <p:nvSpPr>
          <p:cNvPr id="49" name="Freeform 17"/>
          <p:cNvSpPr>
            <a:spLocks/>
          </p:cNvSpPr>
          <p:nvPr/>
        </p:nvSpPr>
        <p:spPr bwMode="auto">
          <a:xfrm>
            <a:off x="7860396" y="5100795"/>
            <a:ext cx="207824" cy="397411"/>
          </a:xfrm>
          <a:custGeom>
            <a:avLst/>
            <a:gdLst>
              <a:gd name="T0" fmla="*/ 197 w 197"/>
              <a:gd name="T1" fmla="*/ 260 h 260"/>
              <a:gd name="T2" fmla="*/ 114 w 197"/>
              <a:gd name="T3" fmla="*/ 233 h 260"/>
              <a:gd name="T4" fmla="*/ 41 w 197"/>
              <a:gd name="T5" fmla="*/ 164 h 260"/>
              <a:gd name="T6" fmla="*/ 0 w 197"/>
              <a:gd name="T7" fmla="*/ 0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197"/>
              <a:gd name="T13" fmla="*/ 0 h 260"/>
              <a:gd name="T14" fmla="*/ 197 w 197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7" h="260">
                <a:moveTo>
                  <a:pt x="197" y="260"/>
                </a:moveTo>
                <a:cubicBezTo>
                  <a:pt x="183" y="256"/>
                  <a:pt x="140" y="249"/>
                  <a:pt x="114" y="233"/>
                </a:cubicBezTo>
                <a:cubicBezTo>
                  <a:pt x="88" y="217"/>
                  <a:pt x="60" y="203"/>
                  <a:pt x="41" y="164"/>
                </a:cubicBezTo>
                <a:cubicBezTo>
                  <a:pt x="22" y="125"/>
                  <a:pt x="9" y="34"/>
                  <a:pt x="0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50" name="Freeform 18"/>
          <p:cNvSpPr>
            <a:spLocks/>
          </p:cNvSpPr>
          <p:nvPr/>
        </p:nvSpPr>
        <p:spPr bwMode="auto">
          <a:xfrm>
            <a:off x="8184159" y="4930614"/>
            <a:ext cx="249238" cy="449263"/>
          </a:xfrm>
          <a:custGeom>
            <a:avLst/>
            <a:gdLst>
              <a:gd name="T0" fmla="*/ 0 w 157"/>
              <a:gd name="T1" fmla="*/ 0 h 283"/>
              <a:gd name="T2" fmla="*/ 91 w 157"/>
              <a:gd name="T3" fmla="*/ 41 h 283"/>
              <a:gd name="T4" fmla="*/ 147 w 157"/>
              <a:gd name="T5" fmla="*/ 151 h 283"/>
              <a:gd name="T6" fmla="*/ 152 w 157"/>
              <a:gd name="T7" fmla="*/ 283 h 283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283"/>
              <a:gd name="T14" fmla="*/ 157 w 157"/>
              <a:gd name="T15" fmla="*/ 283 h 2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283">
                <a:moveTo>
                  <a:pt x="0" y="0"/>
                </a:moveTo>
                <a:cubicBezTo>
                  <a:pt x="15" y="7"/>
                  <a:pt x="67" y="16"/>
                  <a:pt x="91" y="41"/>
                </a:cubicBezTo>
                <a:cubicBezTo>
                  <a:pt x="115" y="66"/>
                  <a:pt x="137" y="111"/>
                  <a:pt x="147" y="151"/>
                </a:cubicBezTo>
                <a:cubicBezTo>
                  <a:pt x="157" y="191"/>
                  <a:pt x="151" y="256"/>
                  <a:pt x="152" y="283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51" name="Freeform 11"/>
          <p:cNvSpPr>
            <a:spLocks/>
          </p:cNvSpPr>
          <p:nvPr/>
        </p:nvSpPr>
        <p:spPr bwMode="auto">
          <a:xfrm>
            <a:off x="8805847" y="4944136"/>
            <a:ext cx="219851" cy="44850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Freeform 12"/>
          <p:cNvSpPr>
            <a:spLocks/>
          </p:cNvSpPr>
          <p:nvPr/>
        </p:nvSpPr>
        <p:spPr bwMode="auto">
          <a:xfrm>
            <a:off x="9300384" y="5118205"/>
            <a:ext cx="219851" cy="452814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8816481" y="5569200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3406" y="4539544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81875" y="5569200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96720" y="4539544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44997" y="1766045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66890" y="1783974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7723" y="1766045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21437" y="1779107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85294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34" grpId="0"/>
      <p:bldP spid="35" grpId="0" animBg="1"/>
      <p:bldP spid="36" grpId="0" animBg="1"/>
      <p:bldP spid="37" grpId="0"/>
      <p:bldP spid="38" grpId="0" animBg="1"/>
      <p:bldP spid="40" grpId="0" animBg="1"/>
      <p:bldP spid="42" grpId="0" animBg="1"/>
      <p:bldP spid="44" grpId="0" animBg="1"/>
      <p:bldP spid="46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2</a:t>
            </a:r>
          </a:p>
        </p:txBody>
      </p:sp>
      <p:cxnSp>
        <p:nvCxnSpPr>
          <p:cNvPr id="5" name="Straight Connector 4"/>
          <p:cNvCxnSpPr>
            <a:stCxn id="10" idx="4"/>
            <a:endCxn id="15" idx="0"/>
          </p:cNvCxnSpPr>
          <p:nvPr/>
        </p:nvCxnSpPr>
        <p:spPr>
          <a:xfrm flipH="1">
            <a:off x="3604169" y="3917666"/>
            <a:ext cx="256925" cy="3895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638797" y="2398059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19</a:t>
            </a:r>
          </a:p>
        </p:txBody>
      </p:sp>
      <p:cxnSp>
        <p:nvCxnSpPr>
          <p:cNvPr id="7" name="Straight Connector 6"/>
          <p:cNvCxnSpPr>
            <a:stCxn id="6" idx="3"/>
            <a:endCxn id="8" idx="0"/>
          </p:cNvCxnSpPr>
          <p:nvPr/>
        </p:nvCxnSpPr>
        <p:spPr>
          <a:xfrm flipH="1">
            <a:off x="2384408" y="2944401"/>
            <a:ext cx="348127" cy="4119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064368" y="335639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cxnSp>
        <p:nvCxnSpPr>
          <p:cNvPr id="9" name="Straight Connector 8"/>
          <p:cNvCxnSpPr>
            <a:stCxn id="6" idx="5"/>
            <a:endCxn id="10" idx="1"/>
          </p:cNvCxnSpPr>
          <p:nvPr/>
        </p:nvCxnSpPr>
        <p:spPr>
          <a:xfrm>
            <a:off x="3185139" y="2944401"/>
            <a:ext cx="449653" cy="4269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541054" y="327758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17</a:t>
            </a:r>
          </a:p>
        </p:txBody>
      </p:sp>
      <p:cxnSp>
        <p:nvCxnSpPr>
          <p:cNvPr id="11" name="Straight Connector 10"/>
          <p:cNvCxnSpPr>
            <a:stCxn id="8" idx="3"/>
            <a:endCxn id="12" idx="0"/>
          </p:cNvCxnSpPr>
          <p:nvPr/>
        </p:nvCxnSpPr>
        <p:spPr>
          <a:xfrm flipH="1">
            <a:off x="1977524" y="3902734"/>
            <a:ext cx="180582" cy="404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657484" y="430724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cxnSp>
        <p:nvCxnSpPr>
          <p:cNvPr id="13" name="Straight Connector 12"/>
          <p:cNvCxnSpPr>
            <a:stCxn id="8" idx="5"/>
            <a:endCxn id="14" idx="0"/>
          </p:cNvCxnSpPr>
          <p:nvPr/>
        </p:nvCxnSpPr>
        <p:spPr>
          <a:xfrm>
            <a:off x="2610710" y="3902734"/>
            <a:ext cx="258853" cy="404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549523" y="430724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sp>
        <p:nvSpPr>
          <p:cNvPr id="15" name="Oval 14"/>
          <p:cNvSpPr/>
          <p:nvPr/>
        </p:nvSpPr>
        <p:spPr>
          <a:xfrm>
            <a:off x="3284129" y="430724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16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657484" y="1386239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Connector 16"/>
          <p:cNvCxnSpPr/>
          <p:nvPr/>
        </p:nvCxnSpPr>
        <p:spPr>
          <a:xfrm>
            <a:off x="6096000" y="1053692"/>
            <a:ext cx="0" cy="52078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358699" y="2426143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16</a:t>
            </a:r>
          </a:p>
        </p:txBody>
      </p:sp>
      <p:cxnSp>
        <p:nvCxnSpPr>
          <p:cNvPr id="20" name="Straight Connector 19"/>
          <p:cNvCxnSpPr>
            <a:stCxn id="19" idx="3"/>
            <a:endCxn id="21" idx="0"/>
          </p:cNvCxnSpPr>
          <p:nvPr/>
        </p:nvCxnSpPr>
        <p:spPr>
          <a:xfrm flipH="1">
            <a:off x="7104310" y="2972485"/>
            <a:ext cx="348127" cy="4119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784270" y="338447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cxnSp>
        <p:nvCxnSpPr>
          <p:cNvPr id="22" name="Straight Connector 21"/>
          <p:cNvCxnSpPr>
            <a:stCxn id="19" idx="5"/>
            <a:endCxn id="23" idx="1"/>
          </p:cNvCxnSpPr>
          <p:nvPr/>
        </p:nvCxnSpPr>
        <p:spPr>
          <a:xfrm>
            <a:off x="7905041" y="2972485"/>
            <a:ext cx="449653" cy="4269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260956" y="3305670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17</a:t>
            </a:r>
          </a:p>
        </p:txBody>
      </p:sp>
      <p:cxnSp>
        <p:nvCxnSpPr>
          <p:cNvPr id="24" name="Straight Connector 23"/>
          <p:cNvCxnSpPr>
            <a:stCxn id="21" idx="3"/>
            <a:endCxn id="25" idx="0"/>
          </p:cNvCxnSpPr>
          <p:nvPr/>
        </p:nvCxnSpPr>
        <p:spPr>
          <a:xfrm flipH="1">
            <a:off x="6697426" y="3930818"/>
            <a:ext cx="180582" cy="404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377386" y="433532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/>
          <p:cNvCxnSpPr>
            <a:stCxn id="21" idx="5"/>
            <a:endCxn id="27" idx="0"/>
          </p:cNvCxnSpPr>
          <p:nvPr/>
        </p:nvCxnSpPr>
        <p:spPr>
          <a:xfrm>
            <a:off x="7330612" y="3930818"/>
            <a:ext cx="258853" cy="404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269425" y="433532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197653" y="1386239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3630328" y="2600912"/>
            <a:ext cx="1815727" cy="2006947"/>
            <a:chOff x="2261195" y="2837871"/>
            <a:chExt cx="1815727" cy="2006946"/>
          </a:xfrm>
        </p:grpSpPr>
        <p:cxnSp>
          <p:nvCxnSpPr>
            <p:cNvPr id="30" name="Straight Arrow Connector 29"/>
            <p:cNvCxnSpPr/>
            <p:nvPr/>
          </p:nvCxnSpPr>
          <p:spPr>
            <a:xfrm flipH="1">
              <a:off x="2261195" y="2837871"/>
              <a:ext cx="1815726" cy="1"/>
            </a:xfrm>
            <a:prstGeom prst="straightConnector1">
              <a:avLst/>
            </a:prstGeom>
            <a:ln w="28575">
              <a:solidFill>
                <a:srgbClr val="ED524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076921" y="2837872"/>
              <a:ext cx="0" cy="2006945"/>
            </a:xfrm>
            <a:prstGeom prst="line">
              <a:avLst/>
            </a:prstGeom>
            <a:ln w="28575">
              <a:solidFill>
                <a:srgbClr val="ED52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H="1">
              <a:off x="2781521" y="4844817"/>
              <a:ext cx="1295401" cy="0"/>
            </a:xfrm>
            <a:prstGeom prst="straightConnector1">
              <a:avLst/>
            </a:prstGeom>
            <a:ln w="28575">
              <a:solidFill>
                <a:srgbClr val="ED524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4315269" y="2903421"/>
            <a:ext cx="10699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0070C0"/>
                </a:solidFill>
              </a:rPr>
              <a:t>Swap &amp; remove the last element</a:t>
            </a:r>
          </a:p>
        </p:txBody>
      </p:sp>
      <p:sp>
        <p:nvSpPr>
          <p:cNvPr id="34" name="Freeform 33"/>
          <p:cNvSpPr/>
          <p:nvPr/>
        </p:nvSpPr>
        <p:spPr>
          <a:xfrm rot="10800000">
            <a:off x="1976718" y="1129551"/>
            <a:ext cx="3227293" cy="17481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9222372" y="2417747"/>
            <a:ext cx="2617309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Create Max-heap</a:t>
            </a:r>
          </a:p>
        </p:txBody>
      </p:sp>
      <p:sp>
        <p:nvSpPr>
          <p:cNvPr id="36" name="Freeform 17"/>
          <p:cNvSpPr>
            <a:spLocks/>
          </p:cNvSpPr>
          <p:nvPr/>
        </p:nvSpPr>
        <p:spPr bwMode="auto">
          <a:xfrm>
            <a:off x="7732054" y="3067146"/>
            <a:ext cx="388829" cy="550113"/>
          </a:xfrm>
          <a:custGeom>
            <a:avLst/>
            <a:gdLst>
              <a:gd name="T0" fmla="*/ 197 w 197"/>
              <a:gd name="T1" fmla="*/ 260 h 260"/>
              <a:gd name="T2" fmla="*/ 114 w 197"/>
              <a:gd name="T3" fmla="*/ 233 h 260"/>
              <a:gd name="T4" fmla="*/ 41 w 197"/>
              <a:gd name="T5" fmla="*/ 164 h 260"/>
              <a:gd name="T6" fmla="*/ 0 w 197"/>
              <a:gd name="T7" fmla="*/ 0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197"/>
              <a:gd name="T13" fmla="*/ 0 h 260"/>
              <a:gd name="T14" fmla="*/ 197 w 197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7" h="260">
                <a:moveTo>
                  <a:pt x="197" y="260"/>
                </a:moveTo>
                <a:cubicBezTo>
                  <a:pt x="183" y="256"/>
                  <a:pt x="140" y="249"/>
                  <a:pt x="114" y="233"/>
                </a:cubicBezTo>
                <a:cubicBezTo>
                  <a:pt x="88" y="217"/>
                  <a:pt x="60" y="203"/>
                  <a:pt x="41" y="164"/>
                </a:cubicBezTo>
                <a:cubicBezTo>
                  <a:pt x="22" y="125"/>
                  <a:pt x="9" y="34"/>
                  <a:pt x="0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37" name="Freeform 18"/>
          <p:cNvSpPr>
            <a:spLocks/>
          </p:cNvSpPr>
          <p:nvPr/>
        </p:nvSpPr>
        <p:spPr bwMode="auto">
          <a:xfrm>
            <a:off x="8100912" y="2691889"/>
            <a:ext cx="451023" cy="585697"/>
          </a:xfrm>
          <a:custGeom>
            <a:avLst/>
            <a:gdLst>
              <a:gd name="T0" fmla="*/ 0 w 157"/>
              <a:gd name="T1" fmla="*/ 0 h 283"/>
              <a:gd name="T2" fmla="*/ 91 w 157"/>
              <a:gd name="T3" fmla="*/ 41 h 283"/>
              <a:gd name="T4" fmla="*/ 147 w 157"/>
              <a:gd name="T5" fmla="*/ 151 h 283"/>
              <a:gd name="T6" fmla="*/ 152 w 157"/>
              <a:gd name="T7" fmla="*/ 283 h 283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283"/>
              <a:gd name="T14" fmla="*/ 157 w 157"/>
              <a:gd name="T15" fmla="*/ 283 h 2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283">
                <a:moveTo>
                  <a:pt x="0" y="0"/>
                </a:moveTo>
                <a:cubicBezTo>
                  <a:pt x="15" y="7"/>
                  <a:pt x="67" y="16"/>
                  <a:pt x="91" y="41"/>
                </a:cubicBezTo>
                <a:cubicBezTo>
                  <a:pt x="115" y="66"/>
                  <a:pt x="137" y="111"/>
                  <a:pt x="147" y="151"/>
                </a:cubicBezTo>
                <a:cubicBezTo>
                  <a:pt x="157" y="191"/>
                  <a:pt x="151" y="256"/>
                  <a:pt x="152" y="283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38" name="Freeform 37"/>
          <p:cNvSpPr/>
          <p:nvPr/>
        </p:nvSpPr>
        <p:spPr>
          <a:xfrm rot="10800000">
            <a:off x="7408978" y="1117928"/>
            <a:ext cx="1385397" cy="186437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2730237" y="2518044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5569" y="4427227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3820" y="1443315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4220" y="1443315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11479" y="1443315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34009" y="1429868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52396" y="3425655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0139" y="2546128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897" y="796458"/>
            <a:ext cx="840295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/>
              <a:t>Step 3</a:t>
            </a:r>
            <a:endParaRPr lang="en-US" sz="2000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6251083" y="796458"/>
            <a:ext cx="840295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/>
              <a:t>Step 4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3307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5" grpId="1" animBg="1"/>
      <p:bldP spid="19" grpId="0" animBg="1"/>
      <p:bldP spid="21" grpId="0" animBg="1"/>
      <p:bldP spid="23" grpId="0" animBg="1"/>
      <p:bldP spid="25" grpId="0" animBg="1"/>
      <p:bldP spid="27" grpId="0" animBg="1"/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0" grpId="1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2</a:t>
            </a:r>
          </a:p>
        </p:txBody>
      </p:sp>
      <p:sp>
        <p:nvSpPr>
          <p:cNvPr id="6" name="Oval 5"/>
          <p:cNvSpPr/>
          <p:nvPr/>
        </p:nvSpPr>
        <p:spPr>
          <a:xfrm>
            <a:off x="2638797" y="2398059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17</a:t>
            </a:r>
          </a:p>
        </p:txBody>
      </p:sp>
      <p:cxnSp>
        <p:nvCxnSpPr>
          <p:cNvPr id="7" name="Straight Connector 6"/>
          <p:cNvCxnSpPr>
            <a:stCxn id="6" idx="3"/>
            <a:endCxn id="8" idx="0"/>
          </p:cNvCxnSpPr>
          <p:nvPr/>
        </p:nvCxnSpPr>
        <p:spPr>
          <a:xfrm flipH="1">
            <a:off x="2384408" y="2944401"/>
            <a:ext cx="348127" cy="4119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064368" y="335639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cxnSp>
        <p:nvCxnSpPr>
          <p:cNvPr id="9" name="Straight Connector 8"/>
          <p:cNvCxnSpPr>
            <a:stCxn id="6" idx="5"/>
            <a:endCxn id="10" idx="1"/>
          </p:cNvCxnSpPr>
          <p:nvPr/>
        </p:nvCxnSpPr>
        <p:spPr>
          <a:xfrm>
            <a:off x="3185139" y="2944401"/>
            <a:ext cx="449653" cy="4269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541054" y="327758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16</a:t>
            </a:r>
          </a:p>
        </p:txBody>
      </p:sp>
      <p:cxnSp>
        <p:nvCxnSpPr>
          <p:cNvPr id="11" name="Straight Connector 10"/>
          <p:cNvCxnSpPr>
            <a:stCxn id="8" idx="3"/>
            <a:endCxn id="12" idx="0"/>
          </p:cNvCxnSpPr>
          <p:nvPr/>
        </p:nvCxnSpPr>
        <p:spPr>
          <a:xfrm flipH="1">
            <a:off x="1977524" y="3902734"/>
            <a:ext cx="180582" cy="404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657484" y="430724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cxnSp>
        <p:nvCxnSpPr>
          <p:cNvPr id="13" name="Straight Connector 12"/>
          <p:cNvCxnSpPr>
            <a:stCxn id="8" idx="5"/>
            <a:endCxn id="14" idx="0"/>
          </p:cNvCxnSpPr>
          <p:nvPr/>
        </p:nvCxnSpPr>
        <p:spPr>
          <a:xfrm>
            <a:off x="2610710" y="3902734"/>
            <a:ext cx="258853" cy="404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549523" y="430724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657484" y="1386239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Connector 16"/>
          <p:cNvCxnSpPr/>
          <p:nvPr/>
        </p:nvCxnSpPr>
        <p:spPr>
          <a:xfrm>
            <a:off x="6096000" y="1053692"/>
            <a:ext cx="0" cy="52078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358699" y="2426143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cxnSp>
        <p:nvCxnSpPr>
          <p:cNvPr id="20" name="Straight Connector 19"/>
          <p:cNvCxnSpPr>
            <a:stCxn id="19" idx="3"/>
            <a:endCxn id="21" idx="0"/>
          </p:cNvCxnSpPr>
          <p:nvPr/>
        </p:nvCxnSpPr>
        <p:spPr>
          <a:xfrm flipH="1">
            <a:off x="7104310" y="2972485"/>
            <a:ext cx="348127" cy="4119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784270" y="338447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cxnSp>
        <p:nvCxnSpPr>
          <p:cNvPr id="22" name="Straight Connector 21"/>
          <p:cNvCxnSpPr>
            <a:stCxn id="19" idx="5"/>
            <a:endCxn id="23" idx="1"/>
          </p:cNvCxnSpPr>
          <p:nvPr/>
        </p:nvCxnSpPr>
        <p:spPr>
          <a:xfrm>
            <a:off x="7905041" y="2972485"/>
            <a:ext cx="449653" cy="4269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260956" y="3305670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16</a:t>
            </a:r>
          </a:p>
        </p:txBody>
      </p:sp>
      <p:cxnSp>
        <p:nvCxnSpPr>
          <p:cNvPr id="24" name="Straight Connector 23"/>
          <p:cNvCxnSpPr>
            <a:stCxn id="21" idx="3"/>
            <a:endCxn id="25" idx="0"/>
          </p:cNvCxnSpPr>
          <p:nvPr/>
        </p:nvCxnSpPr>
        <p:spPr>
          <a:xfrm flipH="1">
            <a:off x="6697426" y="3930818"/>
            <a:ext cx="180582" cy="404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377386" y="433532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197653" y="1386239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3353813" y="2600912"/>
            <a:ext cx="2103120" cy="2006947"/>
            <a:chOff x="3353813" y="2600912"/>
            <a:chExt cx="2103120" cy="2006947"/>
          </a:xfrm>
        </p:grpSpPr>
        <p:cxnSp>
          <p:nvCxnSpPr>
            <p:cNvPr id="30" name="Straight Arrow Connector 29"/>
            <p:cNvCxnSpPr/>
            <p:nvPr/>
          </p:nvCxnSpPr>
          <p:spPr>
            <a:xfrm flipH="1">
              <a:off x="3630328" y="2600912"/>
              <a:ext cx="1815726" cy="1"/>
            </a:xfrm>
            <a:prstGeom prst="straightConnector1">
              <a:avLst/>
            </a:prstGeom>
            <a:ln w="28575">
              <a:solidFill>
                <a:srgbClr val="ED524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5446054" y="2600913"/>
              <a:ext cx="0" cy="2006946"/>
            </a:xfrm>
            <a:prstGeom prst="line">
              <a:avLst/>
            </a:prstGeom>
            <a:ln w="28575">
              <a:solidFill>
                <a:srgbClr val="ED52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H="1">
              <a:off x="3353813" y="4607859"/>
              <a:ext cx="2103120" cy="0"/>
            </a:xfrm>
            <a:prstGeom prst="straightConnector1">
              <a:avLst/>
            </a:prstGeom>
            <a:ln w="28575">
              <a:solidFill>
                <a:srgbClr val="ED524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4315269" y="2903421"/>
            <a:ext cx="10699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0070C0"/>
                </a:solidFill>
              </a:rPr>
              <a:t>Swap &amp; remove the last element</a:t>
            </a:r>
          </a:p>
        </p:txBody>
      </p:sp>
      <p:sp>
        <p:nvSpPr>
          <p:cNvPr id="34" name="Freeform 33"/>
          <p:cNvSpPr/>
          <p:nvPr/>
        </p:nvSpPr>
        <p:spPr>
          <a:xfrm rot="10800000">
            <a:off x="1976717" y="1194865"/>
            <a:ext cx="2608345" cy="137546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9222372" y="2417747"/>
            <a:ext cx="2617309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Create Max-heap</a:t>
            </a:r>
          </a:p>
        </p:txBody>
      </p:sp>
      <p:sp>
        <p:nvSpPr>
          <p:cNvPr id="36" name="Freeform 17"/>
          <p:cNvSpPr>
            <a:spLocks/>
          </p:cNvSpPr>
          <p:nvPr/>
        </p:nvSpPr>
        <p:spPr bwMode="auto">
          <a:xfrm>
            <a:off x="7732054" y="3067146"/>
            <a:ext cx="388829" cy="550113"/>
          </a:xfrm>
          <a:custGeom>
            <a:avLst/>
            <a:gdLst>
              <a:gd name="T0" fmla="*/ 197 w 197"/>
              <a:gd name="T1" fmla="*/ 260 h 260"/>
              <a:gd name="T2" fmla="*/ 114 w 197"/>
              <a:gd name="T3" fmla="*/ 233 h 260"/>
              <a:gd name="T4" fmla="*/ 41 w 197"/>
              <a:gd name="T5" fmla="*/ 164 h 260"/>
              <a:gd name="T6" fmla="*/ 0 w 197"/>
              <a:gd name="T7" fmla="*/ 0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197"/>
              <a:gd name="T13" fmla="*/ 0 h 260"/>
              <a:gd name="T14" fmla="*/ 197 w 197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7" h="260">
                <a:moveTo>
                  <a:pt x="197" y="260"/>
                </a:moveTo>
                <a:cubicBezTo>
                  <a:pt x="183" y="256"/>
                  <a:pt x="140" y="249"/>
                  <a:pt x="114" y="233"/>
                </a:cubicBezTo>
                <a:cubicBezTo>
                  <a:pt x="88" y="217"/>
                  <a:pt x="60" y="203"/>
                  <a:pt x="41" y="164"/>
                </a:cubicBezTo>
                <a:cubicBezTo>
                  <a:pt x="22" y="125"/>
                  <a:pt x="9" y="34"/>
                  <a:pt x="0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37" name="Freeform 18"/>
          <p:cNvSpPr>
            <a:spLocks/>
          </p:cNvSpPr>
          <p:nvPr/>
        </p:nvSpPr>
        <p:spPr bwMode="auto">
          <a:xfrm>
            <a:off x="8100912" y="2691889"/>
            <a:ext cx="451023" cy="585697"/>
          </a:xfrm>
          <a:custGeom>
            <a:avLst/>
            <a:gdLst>
              <a:gd name="T0" fmla="*/ 0 w 157"/>
              <a:gd name="T1" fmla="*/ 0 h 283"/>
              <a:gd name="T2" fmla="*/ 91 w 157"/>
              <a:gd name="T3" fmla="*/ 41 h 283"/>
              <a:gd name="T4" fmla="*/ 147 w 157"/>
              <a:gd name="T5" fmla="*/ 151 h 283"/>
              <a:gd name="T6" fmla="*/ 152 w 157"/>
              <a:gd name="T7" fmla="*/ 283 h 283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283"/>
              <a:gd name="T14" fmla="*/ 157 w 157"/>
              <a:gd name="T15" fmla="*/ 283 h 2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283">
                <a:moveTo>
                  <a:pt x="0" y="0"/>
                </a:moveTo>
                <a:cubicBezTo>
                  <a:pt x="15" y="7"/>
                  <a:pt x="67" y="16"/>
                  <a:pt x="91" y="41"/>
                </a:cubicBezTo>
                <a:cubicBezTo>
                  <a:pt x="115" y="66"/>
                  <a:pt x="137" y="111"/>
                  <a:pt x="147" y="151"/>
                </a:cubicBezTo>
                <a:cubicBezTo>
                  <a:pt x="157" y="191"/>
                  <a:pt x="151" y="256"/>
                  <a:pt x="152" y="283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38" name="Freeform 37"/>
          <p:cNvSpPr/>
          <p:nvPr/>
        </p:nvSpPr>
        <p:spPr>
          <a:xfrm rot="10800000">
            <a:off x="7408978" y="1117928"/>
            <a:ext cx="1385397" cy="186437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2730239" y="2518043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44050" y="4427227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8492" y="1443316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93821" y="1443315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31320" y="1443316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0295" y="1442930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37996" y="2537381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1476" y="3408277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897" y="796458"/>
            <a:ext cx="840295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/>
              <a:t>Step 5</a:t>
            </a:r>
            <a:endParaRPr lang="en-US" sz="2000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6251083" y="796458"/>
            <a:ext cx="840295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/>
              <a:t>Step 6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62071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  <p:bldP spid="14" grpId="1" animBg="1"/>
      <p:bldP spid="19" grpId="0" animBg="1"/>
      <p:bldP spid="21" grpId="0" animBg="1"/>
      <p:bldP spid="23" grpId="0" animBg="1"/>
      <p:bldP spid="25" grpId="0" animBg="1"/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0" grpId="1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2</a:t>
            </a:r>
          </a:p>
        </p:txBody>
      </p:sp>
      <p:sp>
        <p:nvSpPr>
          <p:cNvPr id="6" name="Oval 5"/>
          <p:cNvSpPr/>
          <p:nvPr/>
        </p:nvSpPr>
        <p:spPr>
          <a:xfrm>
            <a:off x="2638797" y="2398059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16</a:t>
            </a:r>
          </a:p>
        </p:txBody>
      </p:sp>
      <p:cxnSp>
        <p:nvCxnSpPr>
          <p:cNvPr id="7" name="Straight Connector 6"/>
          <p:cNvCxnSpPr>
            <a:stCxn id="6" idx="3"/>
            <a:endCxn id="8" idx="0"/>
          </p:cNvCxnSpPr>
          <p:nvPr/>
        </p:nvCxnSpPr>
        <p:spPr>
          <a:xfrm flipH="1">
            <a:off x="2384408" y="2944401"/>
            <a:ext cx="348127" cy="4119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064368" y="335639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cxnSp>
        <p:nvCxnSpPr>
          <p:cNvPr id="9" name="Straight Connector 8"/>
          <p:cNvCxnSpPr>
            <a:stCxn id="6" idx="5"/>
            <a:endCxn id="10" idx="1"/>
          </p:cNvCxnSpPr>
          <p:nvPr/>
        </p:nvCxnSpPr>
        <p:spPr>
          <a:xfrm>
            <a:off x="3185139" y="2944401"/>
            <a:ext cx="449653" cy="4269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541054" y="327758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cxnSp>
        <p:nvCxnSpPr>
          <p:cNvPr id="11" name="Straight Connector 10"/>
          <p:cNvCxnSpPr>
            <a:stCxn id="8" idx="3"/>
            <a:endCxn id="12" idx="0"/>
          </p:cNvCxnSpPr>
          <p:nvPr/>
        </p:nvCxnSpPr>
        <p:spPr>
          <a:xfrm flipH="1">
            <a:off x="1977524" y="3902734"/>
            <a:ext cx="180582" cy="404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657484" y="430724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657484" y="1386239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Connector 16"/>
          <p:cNvCxnSpPr/>
          <p:nvPr/>
        </p:nvCxnSpPr>
        <p:spPr>
          <a:xfrm>
            <a:off x="6096000" y="1053692"/>
            <a:ext cx="0" cy="52078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358699" y="2426143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cxnSp>
        <p:nvCxnSpPr>
          <p:cNvPr id="20" name="Straight Connector 19"/>
          <p:cNvCxnSpPr>
            <a:stCxn id="19" idx="3"/>
            <a:endCxn id="21" idx="0"/>
          </p:cNvCxnSpPr>
          <p:nvPr/>
        </p:nvCxnSpPr>
        <p:spPr>
          <a:xfrm flipH="1">
            <a:off x="7104310" y="2972485"/>
            <a:ext cx="348127" cy="4119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784270" y="338447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cxnSp>
        <p:nvCxnSpPr>
          <p:cNvPr id="22" name="Straight Connector 21"/>
          <p:cNvCxnSpPr>
            <a:stCxn id="19" idx="5"/>
            <a:endCxn id="23" idx="1"/>
          </p:cNvCxnSpPr>
          <p:nvPr/>
        </p:nvCxnSpPr>
        <p:spPr>
          <a:xfrm>
            <a:off x="7905041" y="2972485"/>
            <a:ext cx="449653" cy="4269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260956" y="3305670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197653" y="1386239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2439410" y="2600912"/>
            <a:ext cx="3017520" cy="2006947"/>
            <a:chOff x="2439410" y="2600912"/>
            <a:chExt cx="3017520" cy="2006947"/>
          </a:xfrm>
        </p:grpSpPr>
        <p:cxnSp>
          <p:nvCxnSpPr>
            <p:cNvPr id="30" name="Straight Arrow Connector 29"/>
            <p:cNvCxnSpPr/>
            <p:nvPr/>
          </p:nvCxnSpPr>
          <p:spPr>
            <a:xfrm flipH="1">
              <a:off x="3630328" y="2600912"/>
              <a:ext cx="1815726" cy="1"/>
            </a:xfrm>
            <a:prstGeom prst="straightConnector1">
              <a:avLst/>
            </a:prstGeom>
            <a:ln w="28575">
              <a:solidFill>
                <a:srgbClr val="ED524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5446054" y="2600913"/>
              <a:ext cx="0" cy="2006946"/>
            </a:xfrm>
            <a:prstGeom prst="line">
              <a:avLst/>
            </a:prstGeom>
            <a:ln w="28575">
              <a:solidFill>
                <a:srgbClr val="ED52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H="1">
              <a:off x="2439410" y="4607859"/>
              <a:ext cx="3017520" cy="0"/>
            </a:xfrm>
            <a:prstGeom prst="straightConnector1">
              <a:avLst/>
            </a:prstGeom>
            <a:ln w="28575">
              <a:solidFill>
                <a:srgbClr val="ED524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4315269" y="2903421"/>
            <a:ext cx="10699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0070C0"/>
                </a:solidFill>
              </a:rPr>
              <a:t>Swap &amp; remove the last element</a:t>
            </a:r>
          </a:p>
        </p:txBody>
      </p:sp>
      <p:sp>
        <p:nvSpPr>
          <p:cNvPr id="34" name="Freeform 33"/>
          <p:cNvSpPr/>
          <p:nvPr/>
        </p:nvSpPr>
        <p:spPr>
          <a:xfrm rot="10800000">
            <a:off x="1976717" y="1149532"/>
            <a:ext cx="1942140" cy="222069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9222372" y="2417747"/>
            <a:ext cx="2617309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Create Max-heap</a:t>
            </a:r>
          </a:p>
        </p:txBody>
      </p:sp>
      <p:sp>
        <p:nvSpPr>
          <p:cNvPr id="38" name="Freeform 37"/>
          <p:cNvSpPr/>
          <p:nvPr/>
        </p:nvSpPr>
        <p:spPr>
          <a:xfrm rot="10800000">
            <a:off x="7408978" y="1117927"/>
            <a:ext cx="755308" cy="21448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1748924" y="4427227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30237" y="2518044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1476" y="1443317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80758" y="1443315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18258" y="1443316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1026" y="1442931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1059" y="2550446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75372" y="3512779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47" name="Freeform 11"/>
          <p:cNvSpPr>
            <a:spLocks/>
          </p:cNvSpPr>
          <p:nvPr/>
        </p:nvSpPr>
        <p:spPr bwMode="auto">
          <a:xfrm>
            <a:off x="6931865" y="2818200"/>
            <a:ext cx="376788" cy="534342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Freeform 12"/>
          <p:cNvSpPr>
            <a:spLocks/>
          </p:cNvSpPr>
          <p:nvPr/>
        </p:nvSpPr>
        <p:spPr bwMode="auto">
          <a:xfrm>
            <a:off x="7391783" y="3085371"/>
            <a:ext cx="239714" cy="452814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256897" y="796458"/>
            <a:ext cx="840295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/>
              <a:t>Step 7</a:t>
            </a:r>
            <a:endParaRPr lang="en-US" sz="2000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6251083" y="796458"/>
            <a:ext cx="840295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/>
              <a:t>Step 8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4048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2" grpId="1" animBg="1"/>
      <p:bldP spid="19" grpId="0" animBg="1"/>
      <p:bldP spid="21" grpId="0" animBg="1"/>
      <p:bldP spid="23" grpId="0" animBg="1"/>
      <p:bldP spid="33" grpId="0"/>
      <p:bldP spid="34" grpId="0" animBg="1"/>
      <p:bldP spid="35" grpId="0" animBg="1"/>
      <p:bldP spid="38" grpId="0" animBg="1"/>
      <p:bldP spid="39" grpId="0" animBg="1"/>
      <p:bldP spid="39" grpId="1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3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2</a:t>
            </a:r>
          </a:p>
        </p:txBody>
      </p:sp>
      <p:sp>
        <p:nvSpPr>
          <p:cNvPr id="4" name="Oval 3"/>
          <p:cNvSpPr/>
          <p:nvPr/>
        </p:nvSpPr>
        <p:spPr>
          <a:xfrm>
            <a:off x="2638797" y="2398059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cxnSp>
        <p:nvCxnSpPr>
          <p:cNvPr id="5" name="Straight Connector 4"/>
          <p:cNvCxnSpPr>
            <a:stCxn id="4" idx="3"/>
            <a:endCxn id="6" idx="0"/>
          </p:cNvCxnSpPr>
          <p:nvPr/>
        </p:nvCxnSpPr>
        <p:spPr>
          <a:xfrm flipH="1">
            <a:off x="2384408" y="2944401"/>
            <a:ext cx="348127" cy="4119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064368" y="335639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cxnSp>
        <p:nvCxnSpPr>
          <p:cNvPr id="7" name="Straight Connector 6"/>
          <p:cNvCxnSpPr>
            <a:stCxn id="4" idx="5"/>
            <a:endCxn id="8" idx="1"/>
          </p:cNvCxnSpPr>
          <p:nvPr/>
        </p:nvCxnSpPr>
        <p:spPr>
          <a:xfrm>
            <a:off x="3185139" y="2944401"/>
            <a:ext cx="449653" cy="4269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541054" y="327758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657484" y="1386239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6096000" y="1053692"/>
            <a:ext cx="0" cy="52078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358699" y="2426143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cxnSp>
        <p:nvCxnSpPr>
          <p:cNvPr id="12" name="Straight Connector 11"/>
          <p:cNvCxnSpPr>
            <a:stCxn id="11" idx="3"/>
            <a:endCxn id="13" idx="0"/>
          </p:cNvCxnSpPr>
          <p:nvPr/>
        </p:nvCxnSpPr>
        <p:spPr>
          <a:xfrm flipH="1">
            <a:off x="7104310" y="2972485"/>
            <a:ext cx="348127" cy="4119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784270" y="338447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197653" y="1386239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3630328" y="2600912"/>
            <a:ext cx="1826602" cy="1097281"/>
            <a:chOff x="3630328" y="2600912"/>
            <a:chExt cx="1826602" cy="1097281"/>
          </a:xfrm>
        </p:grpSpPr>
        <p:cxnSp>
          <p:nvCxnSpPr>
            <p:cNvPr id="16" name="Straight Arrow Connector 15"/>
            <p:cNvCxnSpPr/>
            <p:nvPr/>
          </p:nvCxnSpPr>
          <p:spPr>
            <a:xfrm flipH="1">
              <a:off x="3630328" y="2600912"/>
              <a:ext cx="1815726" cy="1"/>
            </a:xfrm>
            <a:prstGeom prst="straightConnector1">
              <a:avLst/>
            </a:prstGeom>
            <a:ln w="28575">
              <a:solidFill>
                <a:srgbClr val="ED524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446054" y="2600913"/>
              <a:ext cx="0" cy="1097280"/>
            </a:xfrm>
            <a:prstGeom prst="line">
              <a:avLst/>
            </a:prstGeom>
            <a:ln w="28575">
              <a:solidFill>
                <a:srgbClr val="ED52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>
              <a:off x="4268210" y="3693459"/>
              <a:ext cx="1188720" cy="0"/>
            </a:xfrm>
            <a:prstGeom prst="straightConnector1">
              <a:avLst/>
            </a:prstGeom>
            <a:ln w="28575">
              <a:solidFill>
                <a:srgbClr val="ED524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4075612" y="2642164"/>
            <a:ext cx="1387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</a:rPr>
              <a:t>Swap &amp; remove the last element</a:t>
            </a:r>
          </a:p>
        </p:txBody>
      </p:sp>
      <p:sp>
        <p:nvSpPr>
          <p:cNvPr id="20" name="Freeform 19"/>
          <p:cNvSpPr/>
          <p:nvPr/>
        </p:nvSpPr>
        <p:spPr>
          <a:xfrm rot="10800000">
            <a:off x="1976717" y="1149531"/>
            <a:ext cx="1210620" cy="235131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9222372" y="2417747"/>
            <a:ext cx="2617309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Already a Max-heap</a:t>
            </a:r>
          </a:p>
        </p:txBody>
      </p:sp>
      <p:sp>
        <p:nvSpPr>
          <p:cNvPr id="22" name="Freeform 21"/>
          <p:cNvSpPr/>
          <p:nvPr/>
        </p:nvSpPr>
        <p:spPr>
          <a:xfrm rot="10800000">
            <a:off x="7408978" y="1117927"/>
            <a:ext cx="755308" cy="21448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632494" y="3397571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0237" y="2518044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2207" y="1430255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947" y="1443315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4464" y="1430254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4008" y="1442931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5710" y="3504461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3201" y="2546128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31" name="Freeform 11"/>
          <p:cNvSpPr>
            <a:spLocks/>
          </p:cNvSpPr>
          <p:nvPr/>
        </p:nvSpPr>
        <p:spPr bwMode="auto">
          <a:xfrm>
            <a:off x="6931865" y="2818200"/>
            <a:ext cx="376788" cy="534342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Freeform 12"/>
          <p:cNvSpPr>
            <a:spLocks/>
          </p:cNvSpPr>
          <p:nvPr/>
        </p:nvSpPr>
        <p:spPr bwMode="auto">
          <a:xfrm>
            <a:off x="7391783" y="3085371"/>
            <a:ext cx="239714" cy="452814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9257212" y="2899067"/>
            <a:ext cx="2538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</a:rPr>
              <a:t>Swap &amp; remove the last element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7524224" y="4556160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Straight Connector 34"/>
          <p:cNvCxnSpPr/>
          <p:nvPr/>
        </p:nvCxnSpPr>
        <p:spPr>
          <a:xfrm>
            <a:off x="6087291" y="4219303"/>
            <a:ext cx="57607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9124424" y="531146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7258" y="5311342"/>
            <a:ext cx="1537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</a:rPr>
              <a:t>Remove the last element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7524224" y="4551806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Rounded Rectangle 38"/>
          <p:cNvSpPr/>
          <p:nvPr/>
        </p:nvSpPr>
        <p:spPr>
          <a:xfrm>
            <a:off x="7104310" y="5983864"/>
            <a:ext cx="4295228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890E4F"/>
                </a:solidFill>
              </a:rPr>
              <a:t>The entire array is sorted now.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897" y="796458"/>
            <a:ext cx="840295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/>
              <a:t>Step 9</a:t>
            </a:r>
            <a:endParaRPr lang="en-US" sz="20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6251083" y="796458"/>
            <a:ext cx="970137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/>
              <a:t>Step 10</a:t>
            </a:r>
            <a:endParaRPr lang="en-US" sz="20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6194477" y="4279887"/>
            <a:ext cx="970137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/>
              <a:t>Step 11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3793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00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00"/>
                            </p:stCondLst>
                            <p:childTnLst>
                              <p:par>
                                <p:cTn id="1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8" grpId="1" animBg="1"/>
      <p:bldP spid="11" grpId="0" animBg="1"/>
      <p:bldP spid="13" grpId="0" animBg="1"/>
      <p:bldP spid="13" grpId="1" animBg="1"/>
      <p:bldP spid="19" grpId="0"/>
      <p:bldP spid="20" grpId="0" animBg="1"/>
      <p:bldP spid="21" grpId="0" animBg="1"/>
      <p:bldP spid="22" grpId="0" animBg="1"/>
      <p:bldP spid="23" grpId="0" animBg="1"/>
      <p:bldP spid="23" grpId="1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29" grpId="1" animBg="1"/>
      <p:bldP spid="30" grpId="0" animBg="1"/>
      <p:bldP spid="31" grpId="0" animBg="1"/>
      <p:bldP spid="31" grpId="1" animBg="1"/>
      <p:bldP spid="32" grpId="0" animBg="1"/>
      <p:bldP spid="32" grpId="1" animBg="1"/>
      <p:bldP spid="33" grpId="0"/>
      <p:bldP spid="36" grpId="0" animBg="1"/>
      <p:bldP spid="36" grpId="1" animBg="1"/>
      <p:bldP spid="37" grpId="0"/>
      <p:bldP spid="37" grpId="1"/>
      <p:bldP spid="39" grpId="0" animBg="1"/>
      <p:bldP spid="41" grpId="0" animBg="1"/>
      <p:bldP spid="4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DeptPPT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18009</TotalTime>
  <Words>4932</Words>
  <Application>Microsoft Office PowerPoint</Application>
  <PresentationFormat>Widescreen</PresentationFormat>
  <Paragraphs>1682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Consolas</vt:lpstr>
      <vt:lpstr>Arial</vt:lpstr>
      <vt:lpstr>Roboto Condensed</vt:lpstr>
      <vt:lpstr>Cambria Math</vt:lpstr>
      <vt:lpstr>Wingdings 3</vt:lpstr>
      <vt:lpstr>Calibri</vt:lpstr>
      <vt:lpstr>Wingdings</vt:lpstr>
      <vt:lpstr>MS Gothic</vt:lpstr>
      <vt:lpstr>Office Theme</vt:lpstr>
      <vt:lpstr>Searching &amp;  Sorting</vt:lpstr>
      <vt:lpstr>Sorting &amp; Searching</vt:lpstr>
      <vt:lpstr>Linear/Sequential Search</vt:lpstr>
      <vt:lpstr>Sequential Search – Algorithm &amp; Example</vt:lpstr>
      <vt:lpstr>Binary Search</vt:lpstr>
      <vt:lpstr>Binary Search - Algorithm</vt:lpstr>
      <vt:lpstr>Binary Search - Algorithm</vt:lpstr>
      <vt:lpstr>Binary Search - Algorithm</vt:lpstr>
      <vt:lpstr>Sorting Algorithms</vt:lpstr>
      <vt:lpstr>Introduction </vt:lpstr>
      <vt:lpstr>Bubble Sort</vt:lpstr>
      <vt:lpstr>Bubble Sort – Example </vt:lpstr>
      <vt:lpstr>Bubble Sort – Example </vt:lpstr>
      <vt:lpstr>Bubble Sort - Algorithm</vt:lpstr>
      <vt:lpstr>Bubble Sort </vt:lpstr>
      <vt:lpstr>Bubble Sort Algorithm – Best Case Analysis</vt:lpstr>
      <vt:lpstr>Selection Sort</vt:lpstr>
      <vt:lpstr>Selection Sort – Example 1 </vt:lpstr>
      <vt:lpstr>Selection Sort – Example 1 </vt:lpstr>
      <vt:lpstr>Selection Sort – Example 1 </vt:lpstr>
      <vt:lpstr>Selection Sort – Example 1 </vt:lpstr>
      <vt:lpstr>Selection Sort - Algorithm</vt:lpstr>
      <vt:lpstr>Selection Sort – Example 2</vt:lpstr>
      <vt:lpstr>Selection Sort – Example 2</vt:lpstr>
      <vt:lpstr>Insertion Sort</vt:lpstr>
      <vt:lpstr>Insertion Sort cont.</vt:lpstr>
      <vt:lpstr>Insertion Sort Example</vt:lpstr>
      <vt:lpstr>Insertion Sort Example Cont.</vt:lpstr>
      <vt:lpstr>Insertion Sort Example Cont.</vt:lpstr>
      <vt:lpstr>Insertion Sort Example Cont.</vt:lpstr>
      <vt:lpstr>Insertion Sort – Example </vt:lpstr>
      <vt:lpstr>Insertion Sort – Example </vt:lpstr>
      <vt:lpstr>Insertion Sort – Example </vt:lpstr>
      <vt:lpstr>Insertion Sort – Example </vt:lpstr>
      <vt:lpstr>Insertion Sort - Algorithm</vt:lpstr>
      <vt:lpstr>Insertion Sort Algorithm – Best Case Analysis</vt:lpstr>
      <vt:lpstr>Heap &amp; Heap Sort Algorithm</vt:lpstr>
      <vt:lpstr>Introduction </vt:lpstr>
      <vt:lpstr>Array Representation of Heap</vt:lpstr>
      <vt:lpstr>Array Representation of Heap</vt:lpstr>
      <vt:lpstr>Types of Heap</vt:lpstr>
      <vt:lpstr>Introduction to Heap Sort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2</vt:lpstr>
      <vt:lpstr>Heap Sort – Example 2</vt:lpstr>
      <vt:lpstr>Heap Sort – Example 2</vt:lpstr>
      <vt:lpstr>Heap Sort – Example 2</vt:lpstr>
      <vt:lpstr>Heap Sort – Example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Searching &amp; Sorting - Data Structure</dc:title>
  <dc:creator>ADMIN</dc:creator>
  <cp:lastModifiedBy>CSE-30</cp:lastModifiedBy>
  <cp:revision>945</cp:revision>
  <dcterms:created xsi:type="dcterms:W3CDTF">2020-05-01T05:09:15Z</dcterms:created>
  <dcterms:modified xsi:type="dcterms:W3CDTF">2025-10-07T18:03:11Z</dcterms:modified>
</cp:coreProperties>
</file>