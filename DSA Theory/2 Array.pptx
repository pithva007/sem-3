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83" r:id="rId2"/>
    <p:sldId id="292" r:id="rId3"/>
    <p:sldId id="357" r:id="rId4"/>
    <p:sldId id="369" r:id="rId5"/>
    <p:sldId id="370" r:id="rId6"/>
    <p:sldId id="347" r:id="rId7"/>
    <p:sldId id="348" r:id="rId8"/>
    <p:sldId id="349" r:id="rId9"/>
    <p:sldId id="371" r:id="rId10"/>
    <p:sldId id="373" r:id="rId11"/>
    <p:sldId id="372" r:id="rId12"/>
    <p:sldId id="378" r:id="rId13"/>
    <p:sldId id="374" r:id="rId14"/>
    <p:sldId id="377" r:id="rId15"/>
    <p:sldId id="375" r:id="rId16"/>
    <p:sldId id="376" r:id="rId17"/>
    <p:sldId id="351" r:id="rId18"/>
    <p:sldId id="358" r:id="rId19"/>
    <p:sldId id="366" r:id="rId20"/>
    <p:sldId id="360" r:id="rId21"/>
  </p:sldIdLst>
  <p:sldSz cx="12192000" cy="6858000"/>
  <p:notesSz cx="6858000" cy="9144000"/>
  <p:embeddedFontLst>
    <p:embeddedFont>
      <p:font typeface="Book Antiqua" panose="02040602050305030304" pitchFamily="18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Wingdings 2" pitchFamily="2" charset="2"/>
      <p:regular r:id="rId37"/>
    </p:embeddedFont>
    <p:embeddedFont>
      <p:font typeface="Wingdings 3" pitchFamily="2" charset="2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5C0000"/>
    <a:srgbClr val="1D3064"/>
    <a:srgbClr val="F54337"/>
    <a:srgbClr val="ED524F"/>
    <a:srgbClr val="3366FF"/>
    <a:srgbClr val="301B92"/>
    <a:srgbClr val="673BB7"/>
    <a:srgbClr val="607D8B"/>
    <a:srgbClr val="B7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1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26/11/25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434" y="2201220"/>
            <a:ext cx="4109921" cy="178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4994802" y="2239638"/>
            <a:ext cx="20906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0" dirty="0"/>
              <a:t>Thank</a:t>
            </a:r>
          </a:p>
          <a:p>
            <a:pPr algn="ctr"/>
            <a:r>
              <a:rPr lang="en-US" sz="6000" b="1" i="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51" y="684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55" y="861192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30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" y="4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2686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/>
              <a:t>Linear Data Structure</a:t>
            </a:r>
            <a:br>
              <a:rPr lang="en-US" sz="6000" dirty="0"/>
            </a:br>
            <a:r>
              <a:rPr lang="en-US" sz="6000" dirty="0"/>
              <a:t>Array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6886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Array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Representation of arrays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One dimensional array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Two dimensional array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Applications of arrays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Symbol Manipulation (matrix representation of polynomial equation)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Sparse matrix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Sparse matrix and its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21628"/>
            <a:ext cx="11929641" cy="5590565"/>
          </a:xfrm>
        </p:spPr>
        <p:txBody>
          <a:bodyPr/>
          <a:lstStyle/>
          <a:p>
            <a:r>
              <a:rPr lang="en-US" dirty="0"/>
              <a:t>Memory address calculation Address of an element of an array say A[ I ] is calculated using the following formula: </a:t>
            </a:r>
          </a:p>
          <a:p>
            <a:pPr marL="0" indent="0">
              <a:buNone/>
            </a:pPr>
            <a:r>
              <a:rPr lang="en-US" dirty="0"/>
              <a:t>    Address of </a:t>
            </a:r>
            <a:r>
              <a:rPr lang="en-US" dirty="0">
                <a:solidFill>
                  <a:srgbClr val="FF0000"/>
                </a:solidFill>
              </a:rPr>
              <a:t>A [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] = B</a:t>
            </a:r>
            <a:r>
              <a:rPr lang="en-US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+ W * (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- LB ) </a:t>
            </a:r>
            <a:r>
              <a:rPr lang="en-US" dirty="0"/>
              <a:t>Where,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	B</a:t>
            </a:r>
            <a:r>
              <a:rPr lang="en-US" sz="1800" baseline="-25000" dirty="0">
                <a:solidFill>
                  <a:srgbClr val="FF0000"/>
                </a:solidFill>
              </a:rPr>
              <a:t>0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is the base address of the first element of array A</a:t>
            </a:r>
          </a:p>
          <a:p>
            <a:pPr lvl="1"/>
            <a:r>
              <a:rPr lang="en-US" sz="1800" dirty="0"/>
              <a:t>	</a:t>
            </a:r>
            <a:r>
              <a:rPr lang="en-US" sz="1800" dirty="0">
                <a:solidFill>
                  <a:srgbClr val="FF0000"/>
                </a:solidFill>
              </a:rPr>
              <a:t>W </a:t>
            </a:r>
            <a:r>
              <a:rPr lang="en-US" sz="1800" dirty="0"/>
              <a:t>Storage Size of one element stored in the array (in byte)</a:t>
            </a:r>
          </a:p>
          <a:p>
            <a:pPr lvl="1"/>
            <a:r>
              <a:rPr lang="en-US" sz="1800" dirty="0"/>
              <a:t>  </a:t>
            </a:r>
            <a:r>
              <a:rPr lang="en-US" sz="1800" dirty="0" err="1">
                <a:solidFill>
                  <a:srgbClr val="FF0000"/>
                </a:solidFill>
              </a:rPr>
              <a:t>i</a:t>
            </a:r>
            <a:r>
              <a:rPr lang="en-US" sz="1800" dirty="0"/>
              <a:t>  Subscript of the element whose address is to be found</a:t>
            </a:r>
          </a:p>
          <a:p>
            <a:pPr lvl="1"/>
            <a:r>
              <a:rPr lang="en-US" sz="1800" dirty="0"/>
              <a:t>  </a:t>
            </a:r>
            <a:r>
              <a:rPr lang="en-US" sz="1800" dirty="0">
                <a:solidFill>
                  <a:srgbClr val="FF0000"/>
                </a:solidFill>
              </a:rPr>
              <a:t>LB</a:t>
            </a:r>
            <a:r>
              <a:rPr lang="en-US" sz="1800" dirty="0"/>
              <a:t> Lower Bound of subscript, if not specified, assume 0 (zero)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2887588" y="4104306"/>
            <a:ext cx="9440320" cy="2039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4000"/>
              </a:lnSpc>
              <a:buClr>
                <a:schemeClr val="tx1"/>
              </a:buClr>
            </a:pPr>
            <a:r>
              <a:rPr lang="en-IN" sz="1800" dirty="0"/>
              <a:t>Consider array</a:t>
            </a:r>
            <a:r>
              <a:rPr lang="en-IN" sz="1800" dirty="0">
                <a:solidFill>
                  <a:srgbClr val="C00000"/>
                </a:solidFill>
              </a:rPr>
              <a:t> B[13…19] </a:t>
            </a:r>
            <a:r>
              <a:rPr lang="en-IN" sz="1800" dirty="0"/>
              <a:t>with base address 102</a:t>
            </a:r>
            <a:r>
              <a:rPr lang="en-IN" sz="1800" dirty="0">
                <a:solidFill>
                  <a:srgbClr val="C00000"/>
                </a:solidFill>
              </a:rPr>
              <a:t>, </a:t>
            </a:r>
            <a:r>
              <a:rPr lang="en-IN" sz="1800" dirty="0"/>
              <a:t>size of each element if 2 byte, find address of </a:t>
            </a:r>
            <a:r>
              <a:rPr lang="en-IN" sz="1800" dirty="0">
                <a:solidFill>
                  <a:srgbClr val="C00000"/>
                </a:solidFill>
              </a:rPr>
              <a:t>B[17]</a:t>
            </a:r>
          </a:p>
          <a:p>
            <a:pPr lvl="1">
              <a:lnSpc>
                <a:spcPct val="134000"/>
              </a:lnSpc>
              <a:buClr>
                <a:schemeClr val="tx1"/>
              </a:buClr>
            </a:pPr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US" sz="1800" dirty="0">
                <a:solidFill>
                  <a:srgbClr val="C00000"/>
                </a:solidFill>
              </a:rPr>
              <a:t>The given values are: B</a:t>
            </a:r>
            <a:r>
              <a:rPr lang="en-US" sz="1800" baseline="-25000" dirty="0">
                <a:solidFill>
                  <a:srgbClr val="C00000"/>
                </a:solidFill>
              </a:rPr>
              <a:t>0</a:t>
            </a:r>
            <a:r>
              <a:rPr lang="en-US" sz="1800" dirty="0">
                <a:solidFill>
                  <a:srgbClr val="C00000"/>
                </a:solidFill>
              </a:rPr>
              <a:t> = 102, LB = 13, W = 2, </a:t>
            </a:r>
            <a:r>
              <a:rPr lang="en-US" sz="1800" dirty="0" err="1">
                <a:solidFill>
                  <a:srgbClr val="C00000"/>
                </a:solidFill>
              </a:rPr>
              <a:t>i</a:t>
            </a:r>
            <a:r>
              <a:rPr lang="en-US" sz="1800" dirty="0">
                <a:solidFill>
                  <a:srgbClr val="C00000"/>
                </a:solidFill>
              </a:rPr>
              <a:t> = 17</a:t>
            </a:r>
          </a:p>
          <a:p>
            <a:pPr lvl="1">
              <a:lnSpc>
                <a:spcPct val="134000"/>
              </a:lnSpc>
              <a:buClr>
                <a:schemeClr val="tx1"/>
              </a:buClr>
            </a:pPr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US" sz="1800" dirty="0">
                <a:solidFill>
                  <a:srgbClr val="C00000"/>
                </a:solidFill>
              </a:rPr>
              <a:t>Address of A [ I ] 	= B</a:t>
            </a:r>
            <a:r>
              <a:rPr lang="en-US" sz="1800" baseline="-25000" dirty="0">
                <a:solidFill>
                  <a:srgbClr val="C00000"/>
                </a:solidFill>
              </a:rPr>
              <a:t>0</a:t>
            </a:r>
            <a:r>
              <a:rPr lang="en-US" sz="1800" dirty="0">
                <a:solidFill>
                  <a:srgbClr val="C00000"/>
                </a:solidFill>
              </a:rPr>
              <a:t> + W * ( </a:t>
            </a:r>
            <a:r>
              <a:rPr lang="en-US" sz="1800" dirty="0" err="1">
                <a:solidFill>
                  <a:srgbClr val="C00000"/>
                </a:solidFill>
              </a:rPr>
              <a:t>i</a:t>
            </a:r>
            <a:r>
              <a:rPr lang="en-US" sz="1800" dirty="0">
                <a:solidFill>
                  <a:srgbClr val="C00000"/>
                </a:solidFill>
              </a:rPr>
              <a:t> -LB ), each element’s size</a:t>
            </a:r>
          </a:p>
          <a:p>
            <a:pPr lvl="1">
              <a:lnSpc>
                <a:spcPct val="134000"/>
              </a:lnSpc>
              <a:buClr>
                <a:schemeClr val="tx1"/>
              </a:buClr>
            </a:pPr>
            <a:r>
              <a:rPr lang="en-US" sz="1800" dirty="0">
                <a:solidFill>
                  <a:srgbClr val="C00000"/>
                </a:solidFill>
              </a:rPr>
              <a:t>			= 102 + 2 * (17-13)</a:t>
            </a:r>
          </a:p>
          <a:p>
            <a:pPr lvl="1">
              <a:lnSpc>
                <a:spcPct val="134000"/>
              </a:lnSpc>
              <a:buClr>
                <a:schemeClr val="tx1"/>
              </a:buClr>
            </a:pPr>
            <a:r>
              <a:rPr lang="en-US" sz="1800" dirty="0">
                <a:solidFill>
                  <a:srgbClr val="C00000"/>
                </a:solidFill>
              </a:rPr>
              <a:t>			= 102 + 2 * 4 = 110</a:t>
            </a:r>
          </a:p>
          <a:p>
            <a:pPr lvl="1">
              <a:lnSpc>
                <a:spcPct val="134000"/>
              </a:lnSpc>
              <a:buClr>
                <a:schemeClr val="tx1"/>
              </a:buClr>
            </a:pPr>
            <a:endParaRPr lang="en-IN" sz="1800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Rectangle 28"/>
          <p:cNvSpPr/>
          <p:nvPr/>
        </p:nvSpPr>
        <p:spPr>
          <a:xfrm rot="16200000">
            <a:off x="364070" y="4743468"/>
            <a:ext cx="1314972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 rot="16200000">
            <a:off x="833307" y="4738575"/>
            <a:ext cx="1305186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21642" y="4324368"/>
            <a:ext cx="1426201" cy="12954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A[i]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 rot="16200000">
            <a:off x="844582" y="4748361"/>
            <a:ext cx="1305186" cy="45720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120" y="6312193"/>
            <a:ext cx="399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40524"/>
                </a:solidFill>
                <a:latin typeface="+mj-lt"/>
              </a:rPr>
              <a:t>B</a:t>
            </a:r>
            <a:r>
              <a:rPr lang="en-IN" b="1" baseline="-25000" dirty="0">
                <a:solidFill>
                  <a:srgbClr val="E40524"/>
                </a:solidFill>
                <a:latin typeface="+mj-lt"/>
              </a:rPr>
              <a:t>0</a:t>
            </a:r>
            <a:endParaRPr lang="en-US" b="1" baseline="-25000" dirty="0">
              <a:solidFill>
                <a:srgbClr val="E40524"/>
              </a:solidFill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83831" y="6330239"/>
            <a:ext cx="112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E40524"/>
                </a:solidFill>
                <a:latin typeface="+mj-lt"/>
              </a:rPr>
              <a:t>B</a:t>
            </a:r>
            <a:r>
              <a:rPr lang="en-IN" b="1" baseline="-25000" dirty="0">
                <a:solidFill>
                  <a:srgbClr val="E40524"/>
                </a:solidFill>
                <a:latin typeface="+mj-lt"/>
              </a:rPr>
              <a:t>0</a:t>
            </a:r>
            <a:r>
              <a:rPr lang="en-IN" b="1" dirty="0">
                <a:solidFill>
                  <a:srgbClr val="E40524"/>
                </a:solidFill>
                <a:latin typeface="+mj-lt"/>
              </a:rPr>
              <a:t>+W(i-1)</a:t>
            </a:r>
            <a:endParaRPr lang="en-US" b="1" dirty="0">
              <a:solidFill>
                <a:srgbClr val="E40524"/>
              </a:solidFill>
              <a:latin typeface="+mj-lt"/>
            </a:endParaRPr>
          </a:p>
        </p:txBody>
      </p:sp>
      <p:cxnSp>
        <p:nvCxnSpPr>
          <p:cNvPr id="35" name="Straight Arrow Connector 34"/>
          <p:cNvCxnSpPr>
            <a:cxnSpLocks/>
          </p:cNvCxnSpPr>
          <p:nvPr/>
        </p:nvCxnSpPr>
        <p:spPr>
          <a:xfrm flipV="1">
            <a:off x="754466" y="5771927"/>
            <a:ext cx="0" cy="467654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6" name="Straight Arrow Connector 35"/>
          <p:cNvCxnSpPr>
            <a:cxnSpLocks/>
          </p:cNvCxnSpPr>
          <p:nvPr/>
        </p:nvCxnSpPr>
        <p:spPr>
          <a:xfrm flipV="1">
            <a:off x="1714500" y="5771926"/>
            <a:ext cx="0" cy="467655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37" name="Rectangle 36"/>
          <p:cNvSpPr/>
          <p:nvPr/>
        </p:nvSpPr>
        <p:spPr>
          <a:xfrm rot="16200000">
            <a:off x="347363" y="4748361"/>
            <a:ext cx="1305186" cy="45720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 rot="16200000">
            <a:off x="838200" y="4743468"/>
            <a:ext cx="1295400" cy="457200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1556" y="577466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+mj-lt"/>
              </a:rPr>
              <a:t>i-1</a:t>
            </a:r>
            <a:endParaRPr lang="en-US" b="1" dirty="0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40" name="Straight Arrow Connector 39"/>
          <p:cNvCxnSpPr>
            <a:cxnSpLocks/>
          </p:cNvCxnSpPr>
          <p:nvPr/>
        </p:nvCxnSpPr>
        <p:spPr>
          <a:xfrm rot="16200000">
            <a:off x="1268575" y="5314726"/>
            <a:ext cx="0" cy="9144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headEnd type="arrow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25046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7" grpId="0" animBg="1"/>
      <p:bldP spid="38" grpId="0" animBg="1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1279-C27E-46EB-BFBA-BA453713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Row Major and Column Major Order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6E57825-7128-475F-B396-62CB9B050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662932"/>
              </p:ext>
            </p:extLst>
          </p:nvPr>
        </p:nvGraphicFramePr>
        <p:xfrm>
          <a:off x="48128" y="720830"/>
          <a:ext cx="12076498" cy="5882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677">
                  <a:extLst>
                    <a:ext uri="{9D8B030D-6E8A-4147-A177-3AD203B41FA5}">
                      <a16:colId xmlns:a16="http://schemas.microsoft.com/office/drawing/2014/main" val="3845536760"/>
                    </a:ext>
                  </a:extLst>
                </a:gridCol>
                <a:gridCol w="4622634">
                  <a:extLst>
                    <a:ext uri="{9D8B030D-6E8A-4147-A177-3AD203B41FA5}">
                      <a16:colId xmlns:a16="http://schemas.microsoft.com/office/drawing/2014/main" val="1186107382"/>
                    </a:ext>
                  </a:extLst>
                </a:gridCol>
                <a:gridCol w="4607187">
                  <a:extLst>
                    <a:ext uri="{9D8B030D-6E8A-4147-A177-3AD203B41FA5}">
                      <a16:colId xmlns:a16="http://schemas.microsoft.com/office/drawing/2014/main" val="299947433"/>
                    </a:ext>
                  </a:extLst>
                </a:gridCol>
              </a:tblGrid>
              <a:tr h="44130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Aspect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Row Major Order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Column Major Order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341800021"/>
                  </a:ext>
                </a:extLst>
              </a:tr>
              <a:tr h="90679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 dirty="0">
                          <a:effectLst/>
                        </a:rPr>
                        <a:t>Memory Organization</a:t>
                      </a:r>
                    </a:p>
                  </a:txBody>
                  <a:tcPr marL="38100" marR="38100" marT="34016" marB="3401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Elements are stored row by row in contiguous locations.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Elements are stored column by column in contiguous locations.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841562338"/>
                  </a:ext>
                </a:extLst>
              </a:tr>
              <a:tr h="90679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Memory Layout Example</a:t>
                      </a:r>
                    </a:p>
                  </a:txBody>
                  <a:tcPr marL="38100" marR="38100" marT="34016" marB="3401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800" b="0" dirty="0">
                          <a:effectLst/>
                        </a:rPr>
                        <a:t>For a 2D array A[m][n]: [A[0][0], A[0][1], …, A[m-1][n-1]]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>
                          <a:effectLst/>
                        </a:rPr>
                        <a:t>For the same array: [A[0][0], A[1][0], …, A[m-1][n-1]]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886809733"/>
                  </a:ext>
                </a:extLst>
              </a:tr>
              <a:tr h="90679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Traversal Direction</a:t>
                      </a:r>
                    </a:p>
                  </a:txBody>
                  <a:tcPr marL="38100" marR="38100" marT="34016" marB="3401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Moves through the entire row before progressing to the next row.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>
                          <a:effectLst/>
                        </a:rPr>
                        <a:t>Moves through the entire column before progressing to the next column.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34990666"/>
                  </a:ext>
                </a:extLst>
              </a:tr>
              <a:tr h="90679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Access Efficiency</a:t>
                      </a:r>
                    </a:p>
                  </a:txBody>
                  <a:tcPr marL="38100" marR="38100" marT="34016" marB="3401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Efficient for row-wise access, less efficient for column-wise access.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Efficient for column-wise access, less efficient for row-wise access.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618728602"/>
                  </a:ext>
                </a:extLst>
              </a:tr>
              <a:tr h="90679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>
                          <a:effectLst/>
                        </a:rPr>
                        <a:t>Common Use Cases</a:t>
                      </a:r>
                    </a:p>
                  </a:txBody>
                  <a:tcPr marL="38100" marR="38100" marT="34016" marB="3401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>
                          <a:effectLst/>
                        </a:rPr>
                        <a:t>Commonly used in languages like C and C++.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Commonly used in languages like Fortran.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48626495"/>
                  </a:ext>
                </a:extLst>
              </a:tr>
              <a:tr h="906799">
                <a:tc>
                  <a:txBody>
                    <a:bodyPr/>
                    <a:lstStyle/>
                    <a:p>
                      <a:pPr algn="l" fontAlgn="base"/>
                      <a:r>
                        <a:rPr lang="en-IN" b="1" dirty="0">
                          <a:effectLst/>
                        </a:rPr>
                        <a:t>Applications</a:t>
                      </a:r>
                    </a:p>
                  </a:txBody>
                  <a:tcPr marL="38100" marR="38100" marT="34016" marB="3401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Suitable for row-wise operations, e.g., image processing.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Suitable for column-wise operations, e.g., matrix multiplication.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71265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42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6923A-2A09-4FC5-B38E-A69D66EA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055828A-FC78-4219-B570-811E3AB08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946" r="11979"/>
          <a:stretch/>
        </p:blipFill>
        <p:spPr>
          <a:xfrm>
            <a:off x="67377" y="720830"/>
            <a:ext cx="3031958" cy="4351338"/>
          </a:xfrm>
        </p:spPr>
      </p:pic>
      <p:pic>
        <p:nvPicPr>
          <p:cNvPr id="1026" name="Picture 2" descr="Column-major vs row-major arrays: Does it matter? – The Craft of Coding">
            <a:extLst>
              <a:ext uri="{FF2B5EF4-FFF2-40B4-BE49-F238E27FC236}">
                <a16:creationId xmlns:a16="http://schemas.microsoft.com/office/drawing/2014/main" id="{1E33A0DE-E536-40DA-B37E-54C04913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268" y="720830"/>
            <a:ext cx="8343732" cy="478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Two dimensional arrays are also called </a:t>
            </a:r>
            <a:r>
              <a:rPr lang="en-IN" b="1" i="1" dirty="0">
                <a:solidFill>
                  <a:srgbClr val="FF0000"/>
                </a:solidFill>
              </a:rPr>
              <a:t>table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or </a:t>
            </a:r>
            <a:r>
              <a:rPr lang="en-IN" b="1" i="1" dirty="0">
                <a:solidFill>
                  <a:srgbClr val="FF0000"/>
                </a:solidFill>
              </a:rPr>
              <a:t>matrix</a:t>
            </a:r>
          </a:p>
          <a:p>
            <a:r>
              <a:rPr lang="en-IN" dirty="0"/>
              <a:t>Two dimensional arrays have two subscripts</a:t>
            </a:r>
          </a:p>
          <a:p>
            <a:r>
              <a:rPr lang="en-US" b="1" dirty="0">
                <a:solidFill>
                  <a:srgbClr val="FF0000"/>
                </a:solidFill>
              </a:rPr>
              <a:t>Column major order matrix: </a:t>
            </a:r>
            <a:r>
              <a:rPr lang="en-IN" dirty="0"/>
              <a:t>Two dimensional array in which elements are stored column by column is called as column major matrix</a:t>
            </a:r>
          </a:p>
          <a:p>
            <a:r>
              <a:rPr lang="en-IN" dirty="0"/>
              <a:t>Two dimensional array consisting of </a:t>
            </a:r>
            <a:r>
              <a:rPr lang="en-IN" b="1" dirty="0"/>
              <a:t>two rows </a:t>
            </a:r>
            <a:r>
              <a:rPr lang="en-IN" dirty="0"/>
              <a:t>and </a:t>
            </a:r>
            <a:r>
              <a:rPr lang="en-IN" b="1" dirty="0"/>
              <a:t>four columns </a:t>
            </a:r>
            <a:r>
              <a:rPr lang="en-IN" dirty="0"/>
              <a:t>is stored sequentially by columns :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743634" y="336417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A[1,1], A[2,1],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8531" y="3364173"/>
            <a:ext cx="19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A[1,2], A[2,2],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2228" y="336417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A[1,3], A[2,3],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7125" y="336417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A[1,4], A[2,4]</a:t>
            </a:r>
          </a:p>
        </p:txBody>
      </p:sp>
      <p:pic>
        <p:nvPicPr>
          <p:cNvPr id="32" name="Picture 2" descr="E:\Clients\Darshan\Data Structure\images\Array\03fig2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92"/>
          <a:stretch/>
        </p:blipFill>
        <p:spPr bwMode="auto">
          <a:xfrm>
            <a:off x="3065296" y="4244450"/>
            <a:ext cx="1319076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/>
          <p:cNvCxnSpPr/>
          <p:nvPr/>
        </p:nvCxnSpPr>
        <p:spPr>
          <a:xfrm>
            <a:off x="5919256" y="4402990"/>
            <a:ext cx="0" cy="106680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7" name="Straight Arrow Connector 36"/>
          <p:cNvCxnSpPr/>
          <p:nvPr/>
        </p:nvCxnSpPr>
        <p:spPr>
          <a:xfrm>
            <a:off x="6759634" y="4414658"/>
            <a:ext cx="0" cy="106680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8" name="Straight Arrow Connector 37"/>
          <p:cNvCxnSpPr/>
          <p:nvPr/>
        </p:nvCxnSpPr>
        <p:spPr>
          <a:xfrm>
            <a:off x="7558645" y="4427721"/>
            <a:ext cx="0" cy="106680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9" name="Straight Arrow Connector 38"/>
          <p:cNvCxnSpPr/>
          <p:nvPr/>
        </p:nvCxnSpPr>
        <p:spPr>
          <a:xfrm>
            <a:off x="8422971" y="4427721"/>
            <a:ext cx="0" cy="106680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40" name="Group 39"/>
          <p:cNvGrpSpPr/>
          <p:nvPr/>
        </p:nvGrpSpPr>
        <p:grpSpPr>
          <a:xfrm>
            <a:off x="4967845" y="4059784"/>
            <a:ext cx="4267200" cy="1329197"/>
            <a:chOff x="4495800" y="4419600"/>
            <a:chExt cx="4267200" cy="1329197"/>
          </a:xfrm>
        </p:grpSpPr>
        <p:grpSp>
          <p:nvGrpSpPr>
            <p:cNvPr id="41" name="Group 40"/>
            <p:cNvGrpSpPr/>
            <p:nvPr/>
          </p:nvGrpSpPr>
          <p:grpSpPr>
            <a:xfrm>
              <a:off x="4495800" y="4419600"/>
              <a:ext cx="4114800" cy="1323380"/>
              <a:chOff x="304800" y="4620220"/>
              <a:chExt cx="4114800" cy="1323380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12192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[1,1]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0574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[1,2]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28956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[1,3]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7338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[1,4]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12192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[2,1]</a:t>
                </a: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20574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[2,2]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8956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[2,3]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37338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Calibri"/>
                  </a:rPr>
                  <a:t>[2,4]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04800" y="50292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 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304800" y="5574268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 2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162050" y="4659868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Col-1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990725" y="4620220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Col-2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838450" y="4621768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Col-3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600450" y="4621768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Col-4</a:t>
                </a:r>
              </a:p>
            </p:txBody>
          </p:sp>
        </p:grpSp>
        <p:sp>
          <p:nvSpPr>
            <p:cNvPr id="42" name="Left Bracket 41"/>
            <p:cNvSpPr/>
            <p:nvPr/>
          </p:nvSpPr>
          <p:spPr>
            <a:xfrm>
              <a:off x="5257800" y="4790480"/>
              <a:ext cx="45719" cy="958317"/>
            </a:xfrm>
            <a:prstGeom prst="lef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Right Bracket 42"/>
            <p:cNvSpPr/>
            <p:nvPr/>
          </p:nvSpPr>
          <p:spPr>
            <a:xfrm>
              <a:off x="8686800" y="4788932"/>
              <a:ext cx="76200" cy="959865"/>
            </a:xfrm>
            <a:prstGeom prst="righ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06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major order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2365545"/>
            <a:ext cx="11929641" cy="3695626"/>
          </a:xfrm>
        </p:spPr>
        <p:txBody>
          <a:bodyPr/>
          <a:lstStyle/>
          <a:p>
            <a:r>
              <a:rPr lang="en-IN" dirty="0"/>
              <a:t>The address of element A [ i , j ] can be obtained by expression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Loc</a:t>
            </a:r>
            <a:r>
              <a:rPr lang="en-IN" dirty="0"/>
              <a:t> (A [ i , j ]) = B</a:t>
            </a:r>
            <a:r>
              <a:rPr lang="en-IN" baseline="-25000" dirty="0"/>
              <a:t>0</a:t>
            </a:r>
            <a:r>
              <a:rPr lang="en-IN" dirty="0"/>
              <a:t> + (j-1)*2 + (i-1)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Loc</a:t>
            </a:r>
            <a:r>
              <a:rPr lang="en-IN" dirty="0"/>
              <a:t> (A [2, 3]) = B</a:t>
            </a:r>
            <a:r>
              <a:rPr lang="en-IN" baseline="-25000" dirty="0"/>
              <a:t>0</a:t>
            </a:r>
            <a:r>
              <a:rPr lang="en-IN" dirty="0"/>
              <a:t> + (3-1)*2 + (2-1)  =  </a:t>
            </a:r>
            <a:r>
              <a:rPr lang="en-IN" b="1" dirty="0">
                <a:solidFill>
                  <a:srgbClr val="FF0000"/>
                </a:solidFill>
              </a:rPr>
              <a:t>B</a:t>
            </a:r>
            <a:r>
              <a:rPr lang="en-IN" b="1" baseline="-25000" dirty="0">
                <a:solidFill>
                  <a:srgbClr val="FF0000"/>
                </a:solidFill>
              </a:rPr>
              <a:t>0</a:t>
            </a:r>
            <a:r>
              <a:rPr lang="en-IN" b="1" dirty="0">
                <a:solidFill>
                  <a:srgbClr val="FF0000"/>
                </a:solidFill>
              </a:rPr>
              <a:t> + 5</a:t>
            </a:r>
          </a:p>
          <a:p>
            <a:r>
              <a:rPr lang="en-IN" dirty="0"/>
              <a:t>In general for two dimensional array consisting of </a:t>
            </a:r>
            <a:r>
              <a:rPr lang="en-IN" b="1" dirty="0">
                <a:solidFill>
                  <a:srgbClr val="FF0000"/>
                </a:solidFill>
              </a:rPr>
              <a:t>n rows </a:t>
            </a:r>
            <a:r>
              <a:rPr lang="en-IN" dirty="0"/>
              <a:t>and </a:t>
            </a:r>
            <a:r>
              <a:rPr lang="en-IN" b="1" dirty="0">
                <a:solidFill>
                  <a:srgbClr val="FF0000"/>
                </a:solidFill>
              </a:rPr>
              <a:t>m columns</a:t>
            </a:r>
            <a:r>
              <a:rPr lang="en-IN" dirty="0"/>
              <a:t> the address element A [ i , j ] is given by 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>
                <a:solidFill>
                  <a:srgbClr val="B84742"/>
                </a:solidFill>
              </a:rPr>
              <a:t>Loc</a:t>
            </a:r>
            <a:r>
              <a:rPr lang="en-IN" dirty="0">
                <a:solidFill>
                  <a:srgbClr val="B84742"/>
                </a:solidFill>
              </a:rPr>
              <a:t> (A [ i , j ]) = B</a:t>
            </a:r>
            <a:r>
              <a:rPr lang="en-IN" baseline="-25000" dirty="0">
                <a:solidFill>
                  <a:srgbClr val="B84742"/>
                </a:solidFill>
              </a:rPr>
              <a:t>0</a:t>
            </a:r>
            <a:r>
              <a:rPr lang="en-IN" dirty="0">
                <a:solidFill>
                  <a:srgbClr val="B84742"/>
                </a:solidFill>
              </a:rPr>
              <a:t> + (j-1)*n + (i – 1)</a:t>
            </a:r>
            <a:endParaRPr lang="en-US" dirty="0">
              <a:solidFill>
                <a:srgbClr val="B84742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620965" y="880436"/>
            <a:ext cx="4267200" cy="1309373"/>
            <a:chOff x="4495800" y="4439424"/>
            <a:chExt cx="4267200" cy="1309373"/>
          </a:xfrm>
        </p:grpSpPr>
        <p:grpSp>
          <p:nvGrpSpPr>
            <p:cNvPr id="28" name="Group 27"/>
            <p:cNvGrpSpPr/>
            <p:nvPr/>
          </p:nvGrpSpPr>
          <p:grpSpPr>
            <a:xfrm>
              <a:off x="4495800" y="4439424"/>
              <a:ext cx="4114800" cy="1303556"/>
              <a:chOff x="304800" y="4640044"/>
              <a:chExt cx="4114800" cy="1303556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12192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[1,1]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0574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[1,2]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8956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[1,3]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733800" y="502920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[1,4]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2192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[2,1]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20574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[2,2]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8956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[2,3]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3733800" y="5574268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>
                        <a:lumMod val="75000"/>
                      </a:srgbClr>
                    </a:solidFill>
                    <a:effectLst/>
                    <a:uLnTx/>
                    <a:uFillTx/>
                    <a:latin typeface="+mj-lt"/>
                  </a:rPr>
                  <a:t>[2,4]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04800" y="50292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 1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04800" y="5574268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Row 2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11620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Col-1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1990725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Col-2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2838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Col-3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3600450" y="4640044"/>
                <a:ext cx="7429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j-lt"/>
                  </a:rPr>
                  <a:t>Col-4</a:t>
                </a:r>
              </a:p>
            </p:txBody>
          </p:sp>
        </p:grpSp>
        <p:sp>
          <p:nvSpPr>
            <p:cNvPr id="29" name="Left Bracket 28"/>
            <p:cNvSpPr/>
            <p:nvPr/>
          </p:nvSpPr>
          <p:spPr>
            <a:xfrm>
              <a:off x="5257800" y="4789706"/>
              <a:ext cx="45719" cy="958317"/>
            </a:xfrm>
            <a:prstGeom prst="lef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  <p:sp>
          <p:nvSpPr>
            <p:cNvPr id="30" name="Right Bracket 29"/>
            <p:cNvSpPr/>
            <p:nvPr/>
          </p:nvSpPr>
          <p:spPr>
            <a:xfrm>
              <a:off x="8686800" y="4788932"/>
              <a:ext cx="76200" cy="959865"/>
            </a:xfrm>
            <a:prstGeom prst="rightBracket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535910" y="1269592"/>
            <a:ext cx="7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[1,1]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3732" y="1814201"/>
            <a:ext cx="7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[2,1]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1932" y="1267738"/>
            <a:ext cx="7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[1,2]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1932" y="1810628"/>
            <a:ext cx="7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[2,2]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10132" y="1267738"/>
            <a:ext cx="70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j-lt"/>
              </a:rPr>
              <a:t>[1,3]</a:t>
            </a:r>
          </a:p>
        </p:txBody>
      </p:sp>
    </p:spTree>
    <p:extLst>
      <p:ext uri="{BB962C8B-B14F-4D97-AF65-F5344CB8AC3E}">
        <p14:creationId xmlns:p14="http://schemas.microsoft.com/office/powerpoint/2010/main" val="399320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major order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2511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Row major order matrix: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IN" dirty="0"/>
              <a:t>Two dimensional array in which elements are stored row by row is called as row major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181" y="4495801"/>
            <a:ext cx="11929640" cy="934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itchFamily="34" charset="0"/>
              <a:buChar char="•"/>
            </a:pPr>
            <a:r>
              <a:rPr lang="en-IN" sz="2400" dirty="0"/>
              <a:t>The address element A [ i , j ] is given by  </a:t>
            </a:r>
          </a:p>
          <a:p>
            <a:pPr algn="ctr">
              <a:lnSpc>
                <a:spcPct val="114000"/>
              </a:lnSpc>
            </a:pPr>
            <a:r>
              <a:rPr lang="en-IN" sz="2400" b="1" dirty="0">
                <a:solidFill>
                  <a:srgbClr val="B84742"/>
                </a:solidFill>
              </a:rPr>
              <a:t>	</a:t>
            </a:r>
            <a:r>
              <a:rPr lang="en-IN" sz="2400" b="1" dirty="0" err="1">
                <a:solidFill>
                  <a:srgbClr val="B84742"/>
                </a:solidFill>
              </a:rPr>
              <a:t>Loc</a:t>
            </a:r>
            <a:r>
              <a:rPr lang="en-IN" sz="2400" b="1" dirty="0">
                <a:solidFill>
                  <a:srgbClr val="B84742"/>
                </a:solidFill>
              </a:rPr>
              <a:t> (A [ i , j ]) = B</a:t>
            </a:r>
            <a:r>
              <a:rPr lang="en-IN" sz="2400" b="1" baseline="-25000" dirty="0">
                <a:solidFill>
                  <a:srgbClr val="B84742"/>
                </a:solidFill>
              </a:rPr>
              <a:t>0</a:t>
            </a:r>
            <a:r>
              <a:rPr lang="en-IN" sz="2400" b="1" dirty="0">
                <a:solidFill>
                  <a:srgbClr val="B84742"/>
                </a:solidFill>
              </a:rPr>
              <a:t> + (i-1)*m + (j – 1)</a:t>
            </a:r>
            <a:endParaRPr lang="en-US" sz="2400" dirty="0">
              <a:solidFill>
                <a:srgbClr val="B8474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5400" y="1823479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n </a:t>
            </a:r>
            <a:r>
              <a:rPr lang="en-IN" sz="2000" b="1" dirty="0"/>
              <a:t>= </a:t>
            </a:r>
            <a:r>
              <a:rPr lang="en-IN" sz="2000" dirty="0"/>
              <a:t>no of rows</a:t>
            </a:r>
            <a:r>
              <a:rPr lang="en-IN" sz="2000" b="1" dirty="0">
                <a:solidFill>
                  <a:srgbClr val="FF0000"/>
                </a:solidFill>
              </a:rPr>
              <a:t>, m </a:t>
            </a:r>
            <a:r>
              <a:rPr lang="en-IN" sz="2000" b="1" dirty="0"/>
              <a:t>= </a:t>
            </a:r>
            <a:r>
              <a:rPr lang="en-IN" sz="2000" dirty="0"/>
              <a:t>no of columns</a:t>
            </a:r>
            <a:endParaRPr lang="en-US" sz="2000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38200" y="2440543"/>
            <a:ext cx="35814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3" name="Straight Arrow Connector 32"/>
          <p:cNvCxnSpPr/>
          <p:nvPr/>
        </p:nvCxnSpPr>
        <p:spPr>
          <a:xfrm>
            <a:off x="838200" y="2847975"/>
            <a:ext cx="35814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35" name="Straight Arrow Connector 34"/>
          <p:cNvCxnSpPr/>
          <p:nvPr/>
        </p:nvCxnSpPr>
        <p:spPr>
          <a:xfrm>
            <a:off x="838200" y="3914775"/>
            <a:ext cx="3581400" cy="0"/>
          </a:xfrm>
          <a:prstGeom prst="straightConnector1">
            <a:avLst/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grpSp>
        <p:nvGrpSpPr>
          <p:cNvPr id="36" name="Group 35"/>
          <p:cNvGrpSpPr/>
          <p:nvPr/>
        </p:nvGrpSpPr>
        <p:grpSpPr>
          <a:xfrm>
            <a:off x="838200" y="1981200"/>
            <a:ext cx="3581400" cy="2286000"/>
            <a:chOff x="381000" y="1981200"/>
            <a:chExt cx="3581400" cy="2286000"/>
          </a:xfrm>
        </p:grpSpPr>
        <p:sp>
          <p:nvSpPr>
            <p:cNvPr id="37" name="TextBox 36"/>
            <p:cNvSpPr txBox="1"/>
            <p:nvPr/>
          </p:nvSpPr>
          <p:spPr>
            <a:xfrm>
              <a:off x="533400" y="208966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[1,1]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43000" y="208966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[1,2]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752600" y="209704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[1,3]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124200" y="208966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[1,m]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3400" y="25188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[2,1]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43000" y="25188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[2,2]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752600" y="25262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[2,3]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124200" y="251888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[2,m]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33400" y="35856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[n,1]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143000" y="358568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[n,2]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752600" y="3593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[n,3]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124200" y="3585686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[</a:t>
              </a: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n,m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75000"/>
                    </a:srgbClr>
                  </a:solidFill>
                  <a:effectLst/>
                  <a:uLnTx/>
                  <a:uFillTx/>
                  <a:latin typeface="Calibri"/>
                </a:rPr>
                <a:t>]</a:t>
              </a:r>
            </a:p>
          </p:txBody>
        </p:sp>
        <p:sp>
          <p:nvSpPr>
            <p:cNvPr id="49" name="Double Bracket 48"/>
            <p:cNvSpPr/>
            <p:nvPr/>
          </p:nvSpPr>
          <p:spPr>
            <a:xfrm>
              <a:off x="381000" y="1981200"/>
              <a:ext cx="3581400" cy="2286000"/>
            </a:xfrm>
            <a:prstGeom prst="bracketPair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267200" y="4038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FF0000"/>
                </a:solidFill>
                <a:latin typeface="Calibri"/>
              </a:rPr>
              <a:t>nxm</a:t>
            </a:r>
            <a:endParaRPr lang="en-US" b="1" dirty="0">
              <a:solidFill>
                <a:srgbClr val="FF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13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0965-623A-4880-9EAA-50910B49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Examples: Address calculation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A3BF1-6F9E-4A5D-86BB-1BF683941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dirty="0">
                <a:solidFill>
                  <a:srgbClr val="B84742"/>
                </a:solidFill>
              </a:rPr>
              <a:t>30 X 4(m x n) </a:t>
            </a:r>
            <a:r>
              <a:rPr lang="en-US" dirty="0"/>
              <a:t>2D array and the base address is 200 and 1 word per memory location. Find out the address of A (15, 3). Given Base (A) = 200, m =30, n=4, </a:t>
            </a:r>
            <a:r>
              <a:rPr lang="en-US" dirty="0" err="1"/>
              <a:t>i</a:t>
            </a:r>
            <a:r>
              <a:rPr lang="en-US" dirty="0"/>
              <a:t>=15, j=3, w=1</a:t>
            </a:r>
          </a:p>
          <a:p>
            <a:r>
              <a:rPr lang="en-US" dirty="0">
                <a:solidFill>
                  <a:srgbClr val="B84742"/>
                </a:solidFill>
              </a:rPr>
              <a:t>Row-by-row</a:t>
            </a:r>
          </a:p>
          <a:p>
            <a:pPr lvl="1"/>
            <a:r>
              <a:rPr lang="en-US" dirty="0">
                <a:latin typeface="Book Antiqua" panose="02040602050305030304" pitchFamily="18" charset="0"/>
              </a:rPr>
              <a:t>Location (A [</a:t>
            </a:r>
            <a:r>
              <a:rPr lang="en-US" dirty="0" err="1">
                <a:latin typeface="Book Antiqua" panose="02040602050305030304" pitchFamily="18" charset="0"/>
              </a:rPr>
              <a:t>i</a:t>
            </a:r>
            <a:r>
              <a:rPr lang="en-US" dirty="0">
                <a:latin typeface="Book Antiqua" panose="02040602050305030304" pitchFamily="18" charset="0"/>
              </a:rPr>
              <a:t>, j])     = Base (A) + w [n (</a:t>
            </a:r>
            <a:r>
              <a:rPr lang="en-US" dirty="0" err="1">
                <a:latin typeface="Book Antiqua" panose="02040602050305030304" pitchFamily="18" charset="0"/>
              </a:rPr>
              <a:t>i</a:t>
            </a:r>
            <a:r>
              <a:rPr lang="en-US" dirty="0">
                <a:latin typeface="Book Antiqua" panose="02040602050305030304" pitchFamily="18" charset="0"/>
              </a:rPr>
              <a:t>-LB) + (j -LB)]</a:t>
            </a:r>
          </a:p>
          <a:p>
            <a:pPr lvl="1"/>
            <a:r>
              <a:rPr lang="en-US" dirty="0">
                <a:latin typeface="Book Antiqua" panose="02040602050305030304" pitchFamily="18" charset="0"/>
              </a:rPr>
              <a:t>Location (A [15, 3]) = 200 + 1 [4 (15 - 1) + (3 - 1)]</a:t>
            </a:r>
          </a:p>
          <a:p>
            <a:pPr lvl="1"/>
            <a:r>
              <a:rPr lang="en-US" dirty="0">
                <a:latin typeface="Book Antiqua" panose="02040602050305030304" pitchFamily="18" charset="0"/>
              </a:rPr>
              <a:t>		          	 = 200 + 1 [56 + 2] = 258</a:t>
            </a:r>
          </a:p>
          <a:p>
            <a:r>
              <a:rPr lang="en-US" dirty="0">
                <a:solidFill>
                  <a:srgbClr val="B84742"/>
                </a:solidFill>
              </a:rPr>
              <a:t>Column-by-column</a:t>
            </a:r>
          </a:p>
          <a:p>
            <a:pPr lvl="1"/>
            <a:r>
              <a:rPr lang="en-US" dirty="0">
                <a:latin typeface="Book Antiqua" panose="02040602050305030304" pitchFamily="18" charset="0"/>
              </a:rPr>
              <a:t>Location (A [</a:t>
            </a:r>
            <a:r>
              <a:rPr lang="en-US" dirty="0" err="1">
                <a:latin typeface="Book Antiqua" panose="02040602050305030304" pitchFamily="18" charset="0"/>
              </a:rPr>
              <a:t>i</a:t>
            </a:r>
            <a:r>
              <a:rPr lang="en-US" dirty="0">
                <a:latin typeface="Book Antiqua" panose="02040602050305030304" pitchFamily="18" charset="0"/>
              </a:rPr>
              <a:t>, j])    = Base (A) + w [m (j-LB) + (</a:t>
            </a:r>
            <a:r>
              <a:rPr lang="en-US" dirty="0" err="1">
                <a:latin typeface="Book Antiqua" panose="02040602050305030304" pitchFamily="18" charset="0"/>
              </a:rPr>
              <a:t>i</a:t>
            </a:r>
            <a:r>
              <a:rPr lang="en-US" dirty="0">
                <a:latin typeface="Book Antiqua" panose="02040602050305030304" pitchFamily="18" charset="0"/>
              </a:rPr>
              <a:t> -LB)]</a:t>
            </a:r>
          </a:p>
          <a:p>
            <a:pPr lvl="1"/>
            <a:r>
              <a:rPr lang="en-US" dirty="0">
                <a:latin typeface="Book Antiqua" panose="02040602050305030304" pitchFamily="18" charset="0"/>
              </a:rPr>
              <a:t>Location (A [15, 3]) = 200 + 1 [30 (3 – 1) + (15 – 1)]</a:t>
            </a:r>
          </a:p>
          <a:p>
            <a:pPr lvl="1"/>
            <a:r>
              <a:rPr lang="en-US" dirty="0">
                <a:latin typeface="Book Antiqua" panose="02040602050305030304" pitchFamily="18" charset="0"/>
              </a:rPr>
              <a:t>		                 = 200 + 1 [30 (2) + 14] = 274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31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1B86-86BD-494D-B540-31665081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36C2A-9F96-4E97-B5FB-6A4D9997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[2:11] indicates that A is a 1D array with lower bound (LB) of row is 2 and Upper Bound (UB) of row is 11. </a:t>
            </a:r>
          </a:p>
          <a:p>
            <a:pPr lvl="1"/>
            <a:r>
              <a:rPr lang="en-US" dirty="0"/>
              <a:t>Find A[5], consider each element take 2 byte with base address 100. </a:t>
            </a:r>
          </a:p>
          <a:p>
            <a:pPr lvl="1"/>
            <a:r>
              <a:rPr lang="en-IN" dirty="0"/>
              <a:t>Address(A[</a:t>
            </a:r>
            <a:r>
              <a:rPr lang="en-IN" dirty="0" err="1"/>
              <a:t>i</a:t>
            </a:r>
            <a:r>
              <a:rPr lang="en-IN" dirty="0"/>
              <a:t>])=Base Address+(</a:t>
            </a:r>
            <a:r>
              <a:rPr lang="en-IN" dirty="0" err="1"/>
              <a:t>i</a:t>
            </a:r>
            <a:r>
              <a:rPr lang="en-IN" dirty="0"/>
              <a:t>−LB)×Size</a:t>
            </a:r>
          </a:p>
          <a:p>
            <a:r>
              <a:rPr lang="en-US" dirty="0">
                <a:solidFill>
                  <a:srgbClr val="B84742"/>
                </a:solidFill>
              </a:rPr>
              <a:t>A[-4:3]  ?</a:t>
            </a:r>
          </a:p>
          <a:p>
            <a:endParaRPr lang="en-US" dirty="0"/>
          </a:p>
          <a:p>
            <a:r>
              <a:rPr lang="en-US" dirty="0"/>
              <a:t>A [2:11, 3:15] indicates that A is a 2D array with lower bound (LB) of row is 2 and Upper Bound (UB) of row is 11. In the same way lower bound (LB) of column is 3 and upper bound (UB) of column is 15.</a:t>
            </a:r>
          </a:p>
          <a:p>
            <a:pPr lvl="1"/>
            <a:r>
              <a:rPr lang="en-US" dirty="0"/>
              <a:t>Find A[5,4], consider each element take 2 byte with base address 100. </a:t>
            </a:r>
            <a:endParaRPr lang="en-IN" dirty="0"/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64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BB48-C3BC-4D1E-A71E-F7B37B7F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Calculation in 3-D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B4A97-6B37-44FA-81B0-41AE4BC4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is a 3D array of size M1 X M2 X M3. Total number of elements are M1 X M2 X M3. In 3D array lower bound (LB) is not always zero (0). It can be any number. Base address of any row of matrix is called effective address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548E5-A6BD-414D-8BCA-A54321D71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222" y="2807674"/>
            <a:ext cx="7587926" cy="227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47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9DD4-080C-4D65-BFAB-8823396A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Row major of 3D array</a:t>
            </a:r>
          </a:p>
        </p:txBody>
      </p:sp>
      <p:pic>
        <p:nvPicPr>
          <p:cNvPr id="2050" name="Picture 2" descr="Memory layout of multi-dimensional arrays - Eli Bendersky's website">
            <a:extLst>
              <a:ext uri="{FF2B5EF4-FFF2-40B4-BE49-F238E27FC236}">
                <a16:creationId xmlns:a16="http://schemas.microsoft.com/office/drawing/2014/main" id="{F3F3AE03-775B-4201-A8DE-2FC0624FB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37" y="646106"/>
            <a:ext cx="11316478" cy="552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213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78FB-083B-4FCD-BFFB-1FBDE3A6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Calculation in 3-D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93F2-00B2-44B0-892D-F98437635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Length of each dimension is equal to </a:t>
            </a:r>
            <a:r>
              <a:rPr lang="en-US" dirty="0">
                <a:solidFill>
                  <a:srgbClr val="B84742"/>
                </a:solidFill>
              </a:rPr>
              <a:t>L</a:t>
            </a:r>
            <a:r>
              <a:rPr lang="en-US" baseline="-25000" dirty="0">
                <a:solidFill>
                  <a:srgbClr val="B84742"/>
                </a:solidFill>
              </a:rPr>
              <a:t>i</a:t>
            </a:r>
            <a:r>
              <a:rPr lang="en-US" dirty="0">
                <a:solidFill>
                  <a:srgbClr val="B84742"/>
                </a:solidFill>
              </a:rPr>
              <a:t> = UB – LB +1</a:t>
            </a:r>
          </a:p>
          <a:p>
            <a:r>
              <a:rPr lang="en-US" dirty="0"/>
              <a:t>Lower bound (LB) may not always start with zero (0). So, we have to calculate effective address of each index.</a:t>
            </a:r>
          </a:p>
          <a:p>
            <a:r>
              <a:rPr lang="en-US" dirty="0"/>
              <a:t>Effective Address </a:t>
            </a:r>
            <a:r>
              <a:rPr lang="en-US" dirty="0">
                <a:solidFill>
                  <a:srgbClr val="B84742"/>
                </a:solidFill>
              </a:rPr>
              <a:t>(</a:t>
            </a:r>
            <a:r>
              <a:rPr lang="en-US" dirty="0" err="1">
                <a:solidFill>
                  <a:srgbClr val="B84742"/>
                </a:solidFill>
              </a:rPr>
              <a:t>E</a:t>
            </a:r>
            <a:r>
              <a:rPr lang="en-US" baseline="-25000" dirty="0" err="1">
                <a:solidFill>
                  <a:srgbClr val="B84742"/>
                </a:solidFill>
              </a:rPr>
              <a:t>i</a:t>
            </a:r>
            <a:r>
              <a:rPr lang="en-US" dirty="0">
                <a:solidFill>
                  <a:srgbClr val="B84742"/>
                </a:solidFill>
              </a:rPr>
              <a:t>) = K</a:t>
            </a:r>
            <a:r>
              <a:rPr lang="en-US" baseline="-25000" dirty="0">
                <a:solidFill>
                  <a:srgbClr val="B84742"/>
                </a:solidFill>
              </a:rPr>
              <a:t>i</a:t>
            </a:r>
            <a:r>
              <a:rPr lang="en-US" dirty="0">
                <a:solidFill>
                  <a:srgbClr val="B84742"/>
                </a:solidFill>
              </a:rPr>
              <a:t> - LB</a:t>
            </a:r>
          </a:p>
          <a:p>
            <a:r>
              <a:rPr lang="en-US" dirty="0"/>
              <a:t>Real address of any element is calculated as follows,</a:t>
            </a:r>
          </a:p>
          <a:p>
            <a:r>
              <a:rPr lang="en-US" dirty="0"/>
              <a:t>Row-Major: </a:t>
            </a:r>
            <a:r>
              <a:rPr lang="en-US" dirty="0">
                <a:solidFill>
                  <a:srgbClr val="B84742"/>
                </a:solidFill>
              </a:rPr>
              <a:t>Base (A) + W [(E</a:t>
            </a:r>
            <a:r>
              <a:rPr lang="en-US" baseline="-25000" dirty="0">
                <a:solidFill>
                  <a:srgbClr val="B84742"/>
                </a:solidFill>
              </a:rPr>
              <a:t>1</a:t>
            </a:r>
            <a:r>
              <a:rPr lang="en-US" dirty="0">
                <a:solidFill>
                  <a:srgbClr val="B84742"/>
                </a:solidFill>
              </a:rPr>
              <a:t>L</a:t>
            </a:r>
            <a:r>
              <a:rPr lang="en-US" baseline="-25000" dirty="0">
                <a:solidFill>
                  <a:srgbClr val="B84742"/>
                </a:solidFill>
              </a:rPr>
              <a:t>2</a:t>
            </a:r>
            <a:r>
              <a:rPr lang="en-US" dirty="0">
                <a:solidFill>
                  <a:srgbClr val="B84742"/>
                </a:solidFill>
              </a:rPr>
              <a:t> + E</a:t>
            </a:r>
            <a:r>
              <a:rPr lang="en-US" baseline="-25000" dirty="0">
                <a:solidFill>
                  <a:srgbClr val="B84742"/>
                </a:solidFill>
              </a:rPr>
              <a:t>2</a:t>
            </a:r>
            <a:r>
              <a:rPr lang="en-US" dirty="0">
                <a:solidFill>
                  <a:srgbClr val="B84742"/>
                </a:solidFill>
              </a:rPr>
              <a:t>) L</a:t>
            </a:r>
            <a:r>
              <a:rPr lang="en-US" baseline="-25000" dirty="0">
                <a:solidFill>
                  <a:srgbClr val="B84742"/>
                </a:solidFill>
              </a:rPr>
              <a:t>3</a:t>
            </a:r>
            <a:r>
              <a:rPr lang="en-US" dirty="0">
                <a:solidFill>
                  <a:srgbClr val="B84742"/>
                </a:solidFill>
              </a:rPr>
              <a:t> + E</a:t>
            </a:r>
            <a:r>
              <a:rPr lang="en-US" baseline="-25000" dirty="0">
                <a:solidFill>
                  <a:srgbClr val="B84742"/>
                </a:solidFill>
              </a:rPr>
              <a:t>3</a:t>
            </a:r>
            <a:r>
              <a:rPr lang="en-US" dirty="0">
                <a:solidFill>
                  <a:srgbClr val="B84742"/>
                </a:solidFill>
              </a:rPr>
              <a:t>]</a:t>
            </a:r>
          </a:p>
          <a:p>
            <a:r>
              <a:rPr lang="en-US" dirty="0"/>
              <a:t>Column-Major: </a:t>
            </a:r>
            <a:r>
              <a:rPr lang="en-US" dirty="0">
                <a:solidFill>
                  <a:srgbClr val="B84742"/>
                </a:solidFill>
              </a:rPr>
              <a:t>Base (A) + W [(E</a:t>
            </a:r>
            <a:r>
              <a:rPr lang="en-US" baseline="-25000" dirty="0">
                <a:solidFill>
                  <a:srgbClr val="B84742"/>
                </a:solidFill>
              </a:rPr>
              <a:t>3</a:t>
            </a:r>
            <a:r>
              <a:rPr lang="en-US" dirty="0">
                <a:solidFill>
                  <a:srgbClr val="B84742"/>
                </a:solidFill>
              </a:rPr>
              <a:t>L</a:t>
            </a:r>
            <a:r>
              <a:rPr lang="en-US" baseline="-25000" dirty="0">
                <a:solidFill>
                  <a:srgbClr val="B84742"/>
                </a:solidFill>
              </a:rPr>
              <a:t>2</a:t>
            </a:r>
            <a:r>
              <a:rPr lang="en-US" dirty="0">
                <a:solidFill>
                  <a:srgbClr val="B84742"/>
                </a:solidFill>
              </a:rPr>
              <a:t> + E</a:t>
            </a:r>
            <a:r>
              <a:rPr lang="en-US" baseline="-25000" dirty="0">
                <a:solidFill>
                  <a:srgbClr val="B84742"/>
                </a:solidFill>
              </a:rPr>
              <a:t>2</a:t>
            </a:r>
            <a:r>
              <a:rPr lang="en-US" dirty="0">
                <a:solidFill>
                  <a:srgbClr val="B84742"/>
                </a:solidFill>
              </a:rPr>
              <a:t>) L</a:t>
            </a:r>
            <a:r>
              <a:rPr lang="en-US" baseline="-25000" dirty="0">
                <a:solidFill>
                  <a:srgbClr val="B84742"/>
                </a:solidFill>
              </a:rPr>
              <a:t>1</a:t>
            </a:r>
            <a:r>
              <a:rPr lang="en-US" dirty="0">
                <a:solidFill>
                  <a:srgbClr val="B84742"/>
                </a:solidFill>
              </a:rPr>
              <a:t> + E</a:t>
            </a:r>
            <a:r>
              <a:rPr lang="en-US" baseline="-25000" dirty="0">
                <a:solidFill>
                  <a:srgbClr val="B84742"/>
                </a:solidFill>
              </a:rPr>
              <a:t>1</a:t>
            </a:r>
            <a:r>
              <a:rPr lang="en-US" dirty="0">
                <a:solidFill>
                  <a:srgbClr val="B84742"/>
                </a:solidFill>
              </a:rPr>
              <a:t>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28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12CC-32D4-4FAA-87E8-78C07E3C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74BC3-5F88-413B-A0EE-B6500B7F7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A[1][2][3], base(A)=100</a:t>
            </a:r>
          </a:p>
          <a:p>
            <a:pPr lvl="1"/>
            <a:r>
              <a:rPr lang="en-US" dirty="0"/>
              <a:t>E</a:t>
            </a:r>
            <a:r>
              <a:rPr lang="en-US" baseline="-25000" dirty="0"/>
              <a:t>1</a:t>
            </a:r>
            <a:r>
              <a:rPr lang="en-US" dirty="0"/>
              <a:t>=K</a:t>
            </a:r>
            <a:r>
              <a:rPr lang="en-US" baseline="-25000" dirty="0"/>
              <a:t>1</a:t>
            </a:r>
            <a:r>
              <a:rPr lang="en-US" dirty="0"/>
              <a:t>-LB</a:t>
            </a:r>
            <a:r>
              <a:rPr lang="en-US" baseline="-25000" dirty="0"/>
              <a:t>1</a:t>
            </a:r>
            <a:r>
              <a:rPr lang="en-US" dirty="0"/>
              <a:t> =1-1=0,             E</a:t>
            </a:r>
            <a:r>
              <a:rPr lang="en-US" baseline="-25000" dirty="0"/>
              <a:t>2</a:t>
            </a:r>
            <a:r>
              <a:rPr lang="en-US" dirty="0"/>
              <a:t>=K</a:t>
            </a:r>
            <a:r>
              <a:rPr lang="en-US" baseline="-25000" dirty="0"/>
              <a:t>2</a:t>
            </a:r>
            <a:r>
              <a:rPr lang="en-US" dirty="0"/>
              <a:t>-LB</a:t>
            </a:r>
            <a:r>
              <a:rPr lang="en-US" baseline="-25000" dirty="0"/>
              <a:t>2</a:t>
            </a:r>
            <a:r>
              <a:rPr lang="en-US" dirty="0"/>
              <a:t> =2-1=1,             E</a:t>
            </a:r>
            <a:r>
              <a:rPr lang="en-US" baseline="-25000" dirty="0"/>
              <a:t>3</a:t>
            </a:r>
            <a:r>
              <a:rPr lang="en-US" dirty="0"/>
              <a:t>=K</a:t>
            </a:r>
            <a:r>
              <a:rPr lang="en-US" baseline="-25000" dirty="0"/>
              <a:t>3</a:t>
            </a:r>
            <a:r>
              <a:rPr lang="en-US" dirty="0"/>
              <a:t>-LB</a:t>
            </a:r>
            <a:r>
              <a:rPr lang="en-US" baseline="-25000" dirty="0"/>
              <a:t>3</a:t>
            </a:r>
            <a:r>
              <a:rPr lang="en-US" dirty="0"/>
              <a:t> =3-1=2</a:t>
            </a:r>
          </a:p>
          <a:p>
            <a:pPr lvl="1"/>
            <a:r>
              <a:rPr lang="en-US" dirty="0">
                <a:solidFill>
                  <a:srgbClr val="B84742"/>
                </a:solidFill>
              </a:rPr>
              <a:t>Base (A) + W [(E</a:t>
            </a:r>
            <a:r>
              <a:rPr lang="en-US" baseline="-25000" dirty="0">
                <a:solidFill>
                  <a:srgbClr val="B84742"/>
                </a:solidFill>
              </a:rPr>
              <a:t>1</a:t>
            </a:r>
            <a:r>
              <a:rPr lang="en-US" dirty="0">
                <a:solidFill>
                  <a:srgbClr val="B84742"/>
                </a:solidFill>
              </a:rPr>
              <a:t>L</a:t>
            </a:r>
            <a:r>
              <a:rPr lang="en-US" baseline="-25000" dirty="0">
                <a:solidFill>
                  <a:srgbClr val="B84742"/>
                </a:solidFill>
              </a:rPr>
              <a:t>2</a:t>
            </a:r>
            <a:r>
              <a:rPr lang="en-US" dirty="0">
                <a:solidFill>
                  <a:srgbClr val="B84742"/>
                </a:solidFill>
              </a:rPr>
              <a:t> + E</a:t>
            </a:r>
            <a:r>
              <a:rPr lang="en-US" baseline="-25000" dirty="0">
                <a:solidFill>
                  <a:srgbClr val="B84742"/>
                </a:solidFill>
              </a:rPr>
              <a:t>2</a:t>
            </a:r>
            <a:r>
              <a:rPr lang="en-US" dirty="0">
                <a:solidFill>
                  <a:srgbClr val="B84742"/>
                </a:solidFill>
              </a:rPr>
              <a:t>) L</a:t>
            </a:r>
            <a:r>
              <a:rPr lang="en-US" baseline="-25000" dirty="0">
                <a:solidFill>
                  <a:srgbClr val="B84742"/>
                </a:solidFill>
              </a:rPr>
              <a:t>3</a:t>
            </a:r>
            <a:r>
              <a:rPr lang="en-US" dirty="0">
                <a:solidFill>
                  <a:srgbClr val="B84742"/>
                </a:solidFill>
              </a:rPr>
              <a:t> + E</a:t>
            </a:r>
            <a:r>
              <a:rPr lang="en-US" baseline="-25000" dirty="0">
                <a:solidFill>
                  <a:srgbClr val="B84742"/>
                </a:solidFill>
              </a:rPr>
              <a:t>3</a:t>
            </a:r>
            <a:r>
              <a:rPr lang="en-US" dirty="0">
                <a:solidFill>
                  <a:srgbClr val="B84742"/>
                </a:solidFill>
              </a:rPr>
              <a:t>]</a:t>
            </a:r>
          </a:p>
          <a:p>
            <a:pPr lvl="1"/>
            <a:r>
              <a:rPr lang="en-US" dirty="0"/>
              <a:t>100  + 2[(0*3+1)4+2] </a:t>
            </a:r>
          </a:p>
          <a:p>
            <a:pPr lvl="1"/>
            <a:r>
              <a:rPr lang="en-US" dirty="0"/>
              <a:t>100 + 2[4+2]</a:t>
            </a:r>
          </a:p>
          <a:p>
            <a:pPr lvl="1"/>
            <a:r>
              <a:rPr lang="en-US" dirty="0"/>
              <a:t>112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3C883-B637-4993-B373-6B5FADBB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25" y="863444"/>
            <a:ext cx="7587926" cy="227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4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9DC6-7772-4AF7-AE3E-9724DEAC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2969-6043-4256-9C9B-9A41F05C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Suppose multidimensional arrays A and B are declared using A [-2:2, 2:22] and B [1:8, -5:5, -10:5].</a:t>
            </a:r>
          </a:p>
          <a:p>
            <a:pPr marL="0" indent="0">
              <a:buNone/>
            </a:pPr>
            <a:r>
              <a:rPr lang="en-US" dirty="0"/>
              <a:t>Here A is a 2-D array while B is a 3-D array</a:t>
            </a:r>
          </a:p>
          <a:p>
            <a:pPr lvl="1"/>
            <a:r>
              <a:rPr lang="en-US" dirty="0"/>
              <a:t>a). Find out the length of each dimension and the number of elements in arrays A and B.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pl-PL" dirty="0"/>
              <a:t> </a:t>
            </a:r>
            <a:r>
              <a:rPr lang="en-IN" dirty="0"/>
              <a:t>  </a:t>
            </a:r>
            <a:r>
              <a:rPr lang="pl-PL" sz="2000" dirty="0"/>
              <a:t>L1 = UB –LB +1 			      L2 = UB –LB +1</a:t>
            </a:r>
          </a:p>
          <a:p>
            <a:pPr marL="0" indent="0">
              <a:buNone/>
            </a:pPr>
            <a:r>
              <a:rPr lang="en-IN" sz="2000" dirty="0"/>
              <a:t>    </a:t>
            </a:r>
            <a:r>
              <a:rPr lang="pl-PL" sz="2000" dirty="0"/>
              <a:t>     </a:t>
            </a:r>
            <a:r>
              <a:rPr lang="en-IN" sz="2000" dirty="0"/>
              <a:t>        </a:t>
            </a:r>
            <a:r>
              <a:rPr lang="pl-PL" sz="2000" dirty="0"/>
              <a:t>= 2 – (-2) +1  = 5		</a:t>
            </a:r>
            <a:r>
              <a:rPr lang="en-IN" sz="2000" dirty="0"/>
              <a:t>                           </a:t>
            </a:r>
            <a:r>
              <a:rPr lang="pl-PL" sz="2000" dirty="0"/>
              <a:t>= 22 – 2 + 1 = 21</a:t>
            </a:r>
            <a:r>
              <a:rPr lang="en-IN" sz="2000" dirty="0"/>
              <a:t>      </a:t>
            </a:r>
            <a:r>
              <a:rPr lang="en-IN" sz="2000" dirty="0">
                <a:solidFill>
                  <a:srgbClr val="B84742"/>
                </a:solidFill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B84742"/>
                </a:solidFill>
              </a:rPr>
              <a:t>Number of element in array </a:t>
            </a:r>
            <a:r>
              <a:rPr lang="en-US" sz="2000" dirty="0">
                <a:solidFill>
                  <a:srgbClr val="B84742"/>
                </a:solidFill>
              </a:rPr>
              <a:t>A is L1 X L2 = 5 X 21 = 105.</a:t>
            </a:r>
            <a:endParaRPr lang="en-IN" sz="2000" dirty="0">
              <a:solidFill>
                <a:srgbClr val="B84742"/>
              </a:solidFill>
            </a:endParaRPr>
          </a:p>
          <a:p>
            <a:pPr marL="0" indent="0">
              <a:buNone/>
            </a:pPr>
            <a:r>
              <a:rPr lang="en-IN" sz="2000" dirty="0"/>
              <a:t>    </a:t>
            </a:r>
            <a:endParaRPr lang="en-IN" sz="2000" dirty="0">
              <a:solidFill>
                <a:srgbClr val="B847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1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7956-31D4-49C7-9E04-00FB1932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 [1:8, -5:5, -10:5].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67017-F08E-430F-B18E-520FEC3B1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b)</a:t>
            </a:r>
            <a:r>
              <a:rPr lang="en-US" dirty="0"/>
              <a:t> Consider B [3, 3, 3] elements in array B, find effective addresses E1, E2 and E3. Also, find the real address of these elements. (Assume the base address of array B is 400, and W is 4)</a:t>
            </a:r>
          </a:p>
          <a:p>
            <a:pPr lvl="1"/>
            <a:r>
              <a:rPr lang="en-IN" sz="1400" dirty="0"/>
              <a:t>          L1 = UB –LB +1 		L2 = UB –LB +1 		L3 = UB –LB +1</a:t>
            </a:r>
          </a:p>
          <a:p>
            <a:pPr lvl="1"/>
            <a:r>
              <a:rPr lang="en-IN" sz="1400" dirty="0"/>
              <a:t>               = 8 – 1 + 1 		     = 5 – (-5) +1 		     = 5 – (-10) +1</a:t>
            </a:r>
          </a:p>
          <a:p>
            <a:pPr lvl="1"/>
            <a:r>
              <a:rPr lang="en-IN" sz="1400" dirty="0"/>
              <a:t>               = 8 			     = 11   			     = 16</a:t>
            </a:r>
          </a:p>
          <a:p>
            <a:pPr lvl="1"/>
            <a:r>
              <a:rPr lang="en-IN" sz="1400" dirty="0"/>
              <a:t>               B is: L1 X L2 X L3 = 8 X 11 X 16 = 1408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K</a:t>
            </a:r>
            <a:r>
              <a:rPr lang="en-US" sz="1800" baseline="-25000" dirty="0"/>
              <a:t>i</a:t>
            </a:r>
            <a:r>
              <a:rPr lang="en-US" sz="1800" dirty="0"/>
              <a:t> = 3, 3, 3 therefore K</a:t>
            </a:r>
            <a:r>
              <a:rPr lang="en-US" sz="1800" baseline="-25000" dirty="0"/>
              <a:t>1</a:t>
            </a:r>
            <a:r>
              <a:rPr lang="en-US" sz="1800" dirty="0"/>
              <a:t> = 3, K</a:t>
            </a:r>
            <a:r>
              <a:rPr lang="en-US" sz="1800" baseline="-25000" dirty="0"/>
              <a:t>2</a:t>
            </a:r>
            <a:r>
              <a:rPr lang="en-US" sz="1800" dirty="0"/>
              <a:t> = 3 and K</a:t>
            </a:r>
            <a:r>
              <a:rPr lang="en-US" sz="1800" baseline="-25000" dirty="0"/>
              <a:t>3</a:t>
            </a:r>
            <a:r>
              <a:rPr lang="en-US" sz="1800" dirty="0"/>
              <a:t> =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LB</a:t>
            </a:r>
            <a:r>
              <a:rPr lang="en-US" sz="1800" baseline="-25000" dirty="0"/>
              <a:t>1</a:t>
            </a:r>
            <a:r>
              <a:rPr lang="en-US" sz="1800" dirty="0"/>
              <a:t>= 1, LB</a:t>
            </a:r>
            <a:r>
              <a:rPr lang="en-US" sz="1800" baseline="-25000" dirty="0"/>
              <a:t>2</a:t>
            </a:r>
            <a:r>
              <a:rPr lang="en-US" sz="1800" dirty="0"/>
              <a:t> = -5 LB</a:t>
            </a:r>
            <a:r>
              <a:rPr lang="en-US" sz="1800" baseline="-25000" dirty="0"/>
              <a:t>3</a:t>
            </a:r>
            <a:r>
              <a:rPr lang="en-US" sz="1800" dirty="0"/>
              <a:t> = -10,    E</a:t>
            </a:r>
            <a:r>
              <a:rPr lang="en-US" sz="1800" baseline="-25000" dirty="0"/>
              <a:t>1</a:t>
            </a:r>
            <a:r>
              <a:rPr lang="en-US" sz="1800" dirty="0"/>
              <a:t> = K</a:t>
            </a:r>
            <a:r>
              <a:rPr lang="en-US" sz="1800" baseline="-25000" dirty="0"/>
              <a:t>1</a:t>
            </a:r>
            <a:r>
              <a:rPr lang="en-US" sz="1800" dirty="0"/>
              <a:t> – LB</a:t>
            </a:r>
            <a:r>
              <a:rPr lang="en-US" sz="1800" baseline="-25000" dirty="0"/>
              <a:t>1</a:t>
            </a:r>
            <a:r>
              <a:rPr lang="en-US" sz="1800" dirty="0"/>
              <a:t> = 3 – 1 = 2;  E</a:t>
            </a:r>
            <a:r>
              <a:rPr lang="en-US" sz="1800" baseline="-25000" dirty="0"/>
              <a:t>2</a:t>
            </a:r>
            <a:r>
              <a:rPr lang="en-US" sz="1800" dirty="0"/>
              <a:t> = K</a:t>
            </a:r>
            <a:r>
              <a:rPr lang="en-US" sz="1800" baseline="-25000" dirty="0"/>
              <a:t>2</a:t>
            </a:r>
            <a:r>
              <a:rPr lang="en-US" sz="1800" dirty="0"/>
              <a:t> – LB</a:t>
            </a:r>
            <a:r>
              <a:rPr lang="en-US" sz="1800" baseline="-25000" dirty="0"/>
              <a:t>2</a:t>
            </a:r>
            <a:r>
              <a:rPr lang="en-US" sz="1800" dirty="0"/>
              <a:t> = 3- (-5) = 8;  E</a:t>
            </a:r>
            <a:r>
              <a:rPr lang="en-US" sz="1800" baseline="-25000" dirty="0"/>
              <a:t>3</a:t>
            </a:r>
            <a:r>
              <a:rPr lang="en-US" sz="1800" dirty="0"/>
              <a:t> = K</a:t>
            </a:r>
            <a:r>
              <a:rPr lang="en-US" sz="1800" baseline="-25000" dirty="0"/>
              <a:t>3</a:t>
            </a:r>
            <a:r>
              <a:rPr lang="en-US" sz="1800" dirty="0"/>
              <a:t> – LB</a:t>
            </a:r>
            <a:r>
              <a:rPr lang="en-US" sz="1800" baseline="-25000" dirty="0"/>
              <a:t>3</a:t>
            </a:r>
            <a:r>
              <a:rPr lang="en-US" sz="1800" dirty="0"/>
              <a:t> = 3 – (-10) = 13;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The real address for Row Major:		The real address for Row Major: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= Base (A) + W [ (E</a:t>
            </a:r>
            <a:r>
              <a:rPr lang="en-US" sz="1800" baseline="-25000" dirty="0"/>
              <a:t>1</a:t>
            </a:r>
            <a:r>
              <a:rPr lang="en-US" sz="1800" dirty="0"/>
              <a:t>L</a:t>
            </a:r>
            <a:r>
              <a:rPr lang="en-US" sz="1800" baseline="-25000" dirty="0"/>
              <a:t>2</a:t>
            </a:r>
            <a:r>
              <a:rPr lang="en-US" sz="1800" dirty="0"/>
              <a:t> + E</a:t>
            </a:r>
            <a:r>
              <a:rPr lang="en-US" sz="1800" baseline="-25000" dirty="0"/>
              <a:t>2</a:t>
            </a:r>
            <a:r>
              <a:rPr lang="en-US" sz="1800" dirty="0"/>
              <a:t>) L</a:t>
            </a:r>
            <a:r>
              <a:rPr lang="en-US" sz="1800" baseline="-25000" dirty="0"/>
              <a:t>3</a:t>
            </a:r>
            <a:r>
              <a:rPr lang="en-US" sz="1800" dirty="0"/>
              <a:t> + E</a:t>
            </a:r>
            <a:r>
              <a:rPr lang="en-US" sz="1800" baseline="-25000" dirty="0"/>
              <a:t>3</a:t>
            </a:r>
            <a:r>
              <a:rPr lang="en-US" sz="1800" dirty="0"/>
              <a:t>]	            = Base (A) + W [(E</a:t>
            </a:r>
            <a:r>
              <a:rPr lang="en-US" sz="1800" baseline="-25000" dirty="0"/>
              <a:t>3</a:t>
            </a:r>
            <a:r>
              <a:rPr lang="en-US" sz="1800" dirty="0"/>
              <a:t>L</a:t>
            </a:r>
            <a:r>
              <a:rPr lang="en-US" sz="1800" baseline="-25000" dirty="0"/>
              <a:t>2</a:t>
            </a:r>
            <a:r>
              <a:rPr lang="en-US" sz="1800" dirty="0"/>
              <a:t> +E</a:t>
            </a:r>
            <a:r>
              <a:rPr lang="en-US" sz="1800" baseline="-25000" dirty="0"/>
              <a:t>2</a:t>
            </a:r>
            <a:r>
              <a:rPr lang="en-US" sz="1800" dirty="0"/>
              <a:t>) L</a:t>
            </a:r>
            <a:r>
              <a:rPr lang="en-US" sz="1800" baseline="-25000" dirty="0"/>
              <a:t>1</a:t>
            </a:r>
            <a:r>
              <a:rPr lang="en-US" sz="1800" dirty="0"/>
              <a:t> + E</a:t>
            </a:r>
            <a:r>
              <a:rPr lang="en-US" sz="1800" baseline="-25000" dirty="0"/>
              <a:t>1</a:t>
            </a:r>
            <a:r>
              <a:rPr lang="en-US" sz="1800" dirty="0"/>
              <a:t>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= 400 + 4 [(2 (11) + 8) 16 + 13]	            = 400 + 4 [(13(11) + 8) 8 + 2]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= 400 + 1972		                              = 400 + 4840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                  = 2372		                                               = 5240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049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5500688" y="3627714"/>
            <a:ext cx="4291762" cy="2209800"/>
            <a:chOff x="1233488" y="3633787"/>
            <a:chExt cx="4291762" cy="2209800"/>
          </a:xfrm>
        </p:grpSpPr>
        <p:graphicFrame>
          <p:nvGraphicFramePr>
            <p:cNvPr id="88" name="Content Placeholder 4">
              <a:extLst>
                <a:ext uri="{FF2B5EF4-FFF2-40B4-BE49-F238E27FC236}">
                  <a16:creationId xmlns:a16="http://schemas.microsoft.com/office/drawing/2014/main" id="{2486BC6F-42B7-4A1D-889E-1B1818D1D5F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0191455"/>
                </p:ext>
              </p:extLst>
            </p:nvPr>
          </p:nvGraphicFramePr>
          <p:xfrm>
            <a:off x="1828050" y="3966291"/>
            <a:ext cx="3697200" cy="1854000"/>
          </p:xfrm>
          <a:graphic>
            <a:graphicData uri="http://schemas.openxmlformats.org/drawingml/2006/table">
              <a:tbl>
                <a:tblPr firstRow="1" bandRow="1">
                  <a:tableStyleId>{8EC20E35-A176-4012-BC5E-935CFFF8708E}</a:tableStyleId>
                </a:tblPr>
                <a:tblGrid>
                  <a:gridCol w="739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IN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89" name="TextBox 88"/>
            <p:cNvSpPr txBox="1"/>
            <p:nvPr/>
          </p:nvSpPr>
          <p:spPr>
            <a:xfrm>
              <a:off x="1309688" y="431958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233488" y="47005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233488" y="5093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33488" y="5474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757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519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2052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967288" y="36337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Representation of Polynomial equation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766888" y="325278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prstClr val="black"/>
                </a:solidFill>
                <a:latin typeface="Calibri"/>
              </a:rPr>
              <a:t>2X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 + 5XY + Y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1233488" y="3627714"/>
            <a:ext cx="4291762" cy="2209800"/>
            <a:chOff x="1233488" y="3633787"/>
            <a:chExt cx="4291762" cy="2209800"/>
          </a:xfrm>
        </p:grpSpPr>
        <p:graphicFrame>
          <p:nvGraphicFramePr>
            <p:cNvPr id="70" name="Content Placeholder 4">
              <a:extLst>
                <a:ext uri="{FF2B5EF4-FFF2-40B4-BE49-F238E27FC236}">
                  <a16:creationId xmlns:a16="http://schemas.microsoft.com/office/drawing/2014/main" id="{2486BC6F-42B7-4A1D-889E-1B1818D1D5F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99224062"/>
                </p:ext>
              </p:extLst>
            </p:nvPr>
          </p:nvGraphicFramePr>
          <p:xfrm>
            <a:off x="1828050" y="3966291"/>
            <a:ext cx="3697200" cy="1854000"/>
          </p:xfrm>
          <a:graphic>
            <a:graphicData uri="http://schemas.openxmlformats.org/drawingml/2006/table">
              <a:tbl>
                <a:tblPr firstRow="1" bandRow="1">
                  <a:tableStyleId>{8EC20E35-A176-4012-BC5E-935CFFF8708E}</a:tableStyleId>
                </a:tblPr>
                <a:tblGrid>
                  <a:gridCol w="739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3944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IN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dirty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b="1" kern="1200">
                            <a:solidFill>
                              <a:schemeClr val="lt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>
                            <a:solidFill>
                              <a:schemeClr val="tx1"/>
                            </a:solidFill>
                          </a:rPr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marL="0" marR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08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Calibri"/>
                            <a:ea typeface=""/>
                            <a:cs typeface=""/>
                          </a:defRPr>
                        </a:lvl9pPr>
                      </a:lstStyle>
                      <a:p>
                        <a:pPr algn="ctr"/>
                        <a:r>
                          <a:rPr lang="en-US" baseline="0" dirty="0"/>
                          <a:t>0</a:t>
                        </a:r>
                      </a:p>
                    </a:txBody>
                    <a:tcPr>
                      <a:lnL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40" name="TextBox 39"/>
            <p:cNvSpPr txBox="1"/>
            <p:nvPr/>
          </p:nvSpPr>
          <p:spPr>
            <a:xfrm>
              <a:off x="1309688" y="4319587"/>
              <a:ext cx="381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233488" y="47005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33488" y="5093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233488" y="54742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X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757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5194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2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205288" y="3645455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3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67288" y="3633787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Y</a:t>
              </a:r>
              <a:r>
                <a:rPr kumimoji="0" lang="en-IN" sz="1800" b="1" i="0" u="none" strike="noStrike" kern="0" cap="none" spc="0" normalizeH="0" baseline="30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</a:rPr>
                <a:t>4</a:t>
              </a:r>
              <a:endParaRPr kumimoji="0" lang="en-US" sz="18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1811868" y="4711397"/>
            <a:ext cx="738000" cy="37248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571494" y="4350788"/>
            <a:ext cx="738000" cy="34873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5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312095" y="3982728"/>
            <a:ext cx="738000" cy="34873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262688" y="3252787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 + 3XY + Y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+Y-X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86538" y="4699522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834453" y="4338859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3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582088" y="3963678"/>
            <a:ext cx="738000" cy="347669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837392" y="3963677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86538" y="4339927"/>
            <a:ext cx="738000" cy="349200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-1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68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803028"/>
              </p:ext>
            </p:extLst>
          </p:nvPr>
        </p:nvGraphicFramePr>
        <p:xfrm>
          <a:off x="3946207" y="927530"/>
          <a:ext cx="3697200" cy="1854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2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3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" name="Content Placeholder 4">
            <a:extLst>
              <a:ext uri="{FF2B5EF4-FFF2-40B4-BE49-F238E27FC236}">
                <a16:creationId xmlns:a16="http://schemas.microsoft.com/office/drawing/2014/main" id="{187FA678-905C-43EF-B8D1-43C2062974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5040437"/>
              </p:ext>
            </p:extLst>
          </p:nvPr>
        </p:nvGraphicFramePr>
        <p:xfrm>
          <a:off x="7886770" y="883542"/>
          <a:ext cx="3697200" cy="1854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5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aseline="30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2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-1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3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0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endParaRPr lang="en-US" baseline="300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0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0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IN" dirty="0"/>
                        <a:t>X</a:t>
                      </a:r>
                      <a:r>
                        <a:rPr lang="en-IN" baseline="30000" dirty="0"/>
                        <a:t>4</a:t>
                      </a:r>
                      <a:r>
                        <a:rPr lang="en-IN" dirty="0"/>
                        <a:t>Y</a:t>
                      </a:r>
                      <a:r>
                        <a:rPr lang="en-IN" baseline="30000" dirty="0"/>
                        <a:t>4</a:t>
                      </a:r>
                      <a:endParaRPr lang="en-US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03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8" grpId="0" animBg="1"/>
      <p:bldP spid="49" grpId="0" animBg="1"/>
      <p:bldP spid="50" grpId="0" animBg="1"/>
      <p:bldP spid="51" grpId="0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m x n matrix is said to be </a:t>
            </a:r>
            <a:r>
              <a:rPr lang="en-IN" b="1" i="1" dirty="0">
                <a:solidFill>
                  <a:srgbClr val="FF0000"/>
                </a:solidFill>
              </a:rPr>
              <a:t>sparse</a:t>
            </a:r>
            <a:r>
              <a:rPr lang="en-IN" dirty="0"/>
              <a:t> if “many” of its elements are zero.</a:t>
            </a:r>
          </a:p>
          <a:p>
            <a:r>
              <a:rPr lang="en-IN" dirty="0"/>
              <a:t>A matrix that is not sparse is called a </a:t>
            </a:r>
            <a:r>
              <a:rPr lang="en-IN" b="1" i="1" dirty="0">
                <a:solidFill>
                  <a:srgbClr val="FF0000"/>
                </a:solidFill>
              </a:rPr>
              <a:t>dense matrix</a:t>
            </a:r>
            <a:r>
              <a:rPr lang="en-IN" dirty="0"/>
              <a:t>.</a:t>
            </a:r>
          </a:p>
          <a:p>
            <a:r>
              <a:rPr lang="en-IN" dirty="0"/>
              <a:t>We can device a simple representation scheme whose space requirement equals the size of the non-zero elements.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4600" y="4114800"/>
          <a:ext cx="1936816" cy="1524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4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1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</a:t>
                      </a:r>
                      <a:endParaRPr lang="en-US" sz="17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108351" marR="108351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712986"/>
              </p:ext>
            </p:extLst>
          </p:nvPr>
        </p:nvGraphicFramePr>
        <p:xfrm>
          <a:off x="4845370" y="4106104"/>
          <a:ext cx="5517830" cy="11845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7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33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Terms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Row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Column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Value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800" b="1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1676400" y="2945010"/>
            <a:ext cx="3276600" cy="3063123"/>
            <a:chOff x="152400" y="2945009"/>
            <a:chExt cx="3276600" cy="3063123"/>
          </a:xfrm>
        </p:grpSpPr>
        <p:sp>
          <p:nvSpPr>
            <p:cNvPr id="5" name="Double Bracket 4"/>
            <p:cNvSpPr/>
            <p:nvPr/>
          </p:nvSpPr>
          <p:spPr>
            <a:xfrm>
              <a:off x="914400" y="4038600"/>
              <a:ext cx="2057400" cy="1752600"/>
            </a:xfrm>
            <a:prstGeom prst="bracketPair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19400" y="5638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FF0000"/>
                  </a:solidFill>
                </a:rPr>
                <a:t>4x8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400" y="4172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- 1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400" y="4553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- 2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2400" y="4934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- 3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2400" y="5315635"/>
              <a:ext cx="10668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Row - 4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2971800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- 1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65578" y="2971800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- 2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4133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- 3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622778" y="2963334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- 4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705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- 5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099102" y="2960511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- 6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27702" y="2956298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- 7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56302" y="2945009"/>
              <a:ext cx="415498" cy="104843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n-IN" sz="1500" b="1" dirty="0">
                  <a:solidFill>
                    <a:srgbClr val="FF0000"/>
                  </a:solidFill>
                </a:rPr>
                <a:t>Column - 8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410200" y="5498068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Linear Representation of given matrix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0" y="41038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0</a:t>
            </a:r>
            <a:endParaRPr lang="en-US" b="1" dirty="0"/>
          </a:p>
        </p:txBody>
      </p:sp>
      <p:sp>
        <p:nvSpPr>
          <p:cNvPr id="24" name="Oval 23"/>
          <p:cNvSpPr/>
          <p:nvPr/>
        </p:nvSpPr>
        <p:spPr>
          <a:xfrm>
            <a:off x="3242332" y="4202372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943600" y="44126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936166" y="47003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943600" y="500875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434253" y="4104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29" name="Oval 28"/>
          <p:cNvSpPr/>
          <p:nvPr/>
        </p:nvSpPr>
        <p:spPr>
          <a:xfrm>
            <a:off x="3973666" y="4205869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437970" y="441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426819" y="470023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6430536" y="50111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6923049" y="41036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4" name="Oval 33"/>
          <p:cNvSpPr/>
          <p:nvPr/>
        </p:nvSpPr>
        <p:spPr>
          <a:xfrm>
            <a:off x="2761785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923049" y="4420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926766" y="47002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923049" y="5010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424853" y="41036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39" name="Oval 38"/>
          <p:cNvSpPr/>
          <p:nvPr/>
        </p:nvSpPr>
        <p:spPr>
          <a:xfrm>
            <a:off x="3490447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421136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7421136" y="4702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7421136" y="50148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7917366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44" name="Oval 43"/>
          <p:cNvSpPr/>
          <p:nvPr/>
        </p:nvSpPr>
        <p:spPr>
          <a:xfrm>
            <a:off x="4207843" y="457571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913649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913649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7913649" y="50148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8409879" y="410005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  <p:sp>
        <p:nvSpPr>
          <p:cNvPr id="50" name="Oval 49"/>
          <p:cNvSpPr/>
          <p:nvPr/>
        </p:nvSpPr>
        <p:spPr>
          <a:xfrm>
            <a:off x="3243147" y="4960435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409879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8406162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8406162" y="501484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9</a:t>
            </a:r>
            <a:endParaRPr 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8904249" y="41004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55" name="Oval 54"/>
          <p:cNvSpPr/>
          <p:nvPr/>
        </p:nvSpPr>
        <p:spPr>
          <a:xfrm>
            <a:off x="3722764" y="4956938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8900532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8900532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6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8896815" y="50111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9394902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7</a:t>
            </a:r>
            <a:endParaRPr lang="en-US" b="1" dirty="0"/>
          </a:p>
        </p:txBody>
      </p:sp>
      <p:sp>
        <p:nvSpPr>
          <p:cNvPr id="60" name="Oval 59"/>
          <p:cNvSpPr/>
          <p:nvPr/>
        </p:nvSpPr>
        <p:spPr>
          <a:xfrm>
            <a:off x="2761785" y="5352586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9394902" y="44158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9394902" y="4702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9391185" y="501804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9883698" y="409993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8</a:t>
            </a:r>
            <a:endParaRPr lang="en-US" b="1" dirty="0"/>
          </a:p>
        </p:txBody>
      </p:sp>
      <p:sp>
        <p:nvSpPr>
          <p:cNvPr id="65" name="Oval 64"/>
          <p:cNvSpPr/>
          <p:nvPr/>
        </p:nvSpPr>
        <p:spPr>
          <a:xfrm>
            <a:off x="3007228" y="5364910"/>
            <a:ext cx="232202" cy="246965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9887415" y="44121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4</a:t>
            </a:r>
            <a:endParaRPr lang="en-US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9887415" y="47026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9887415" y="501856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171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 animBg="1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 animBg="1"/>
      <p:bldP spid="45" grpId="0"/>
      <p:bldP spid="46" grpId="0"/>
      <p:bldP spid="47" grpId="0"/>
      <p:bldP spid="48" grpId="0"/>
      <p:bldP spid="50" grpId="0" animBg="1"/>
      <p:bldP spid="51" grpId="0"/>
      <p:bldP spid="52" grpId="0"/>
      <p:bldP spid="53" grpId="0"/>
      <p:bldP spid="54" grpId="0"/>
      <p:bldP spid="55" grpId="0" animBg="1"/>
      <p:bldP spid="56" grpId="0"/>
      <p:bldP spid="57" grpId="0"/>
      <p:bldP spid="58" grpId="0"/>
      <p:bldP spid="59" grpId="0"/>
      <p:bldP spid="60" grpId="0" animBg="1"/>
      <p:bldP spid="61" grpId="0"/>
      <p:bldP spid="62" grpId="0"/>
      <p:bldP spid="63" grpId="0"/>
      <p:bldP spid="64" grpId="0"/>
      <p:bldP spid="65" grpId="0" animBg="1"/>
      <p:bldP spid="66" grpId="0"/>
      <p:bldP spid="67" grpId="0"/>
      <p:bldP spid="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B537-3CC6-41D5-A4FE-2E9D8CC0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 ways to initialize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1E9B-B4D3-4EB5-A4B4-19796347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Method 1: Initialize an array using an Initializer List</a:t>
            </a:r>
          </a:p>
          <a:p>
            <a:pPr lvl="1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</a:t>
            </a: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[5] = {1, 2, 3, 4, 5};</a:t>
            </a:r>
          </a:p>
          <a:p>
            <a:pPr lvl="1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</a:t>
            </a: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[5] = {0}; all five element are zero</a:t>
            </a:r>
          </a:p>
          <a:p>
            <a:pPr lvl="1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</a:t>
            </a: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[3][3] = {1,2,3,4,5,6,7,8,9};</a:t>
            </a:r>
          </a:p>
          <a:p>
            <a:r>
              <a:rPr lang="en-IN" dirty="0"/>
              <a:t>Method 2:</a:t>
            </a:r>
            <a:r>
              <a:rPr lang="en-US" dirty="0"/>
              <a:t> Initialize an array in C using a for loop</a:t>
            </a:r>
          </a:p>
          <a:p>
            <a:pPr lvl="1"/>
            <a:r>
              <a:rPr lang="nn-NO" dirty="0">
                <a:latin typeface="Cambria Math" panose="02040503050406030204" pitchFamily="18" charset="0"/>
                <a:ea typeface="Cambria Math" panose="02040503050406030204" pitchFamily="18" charset="0"/>
              </a:rPr>
              <a:t>int arr[5];</a:t>
            </a:r>
          </a:p>
          <a:p>
            <a:pPr lvl="1"/>
            <a:r>
              <a:rPr lang="nn-NO" dirty="0">
                <a:latin typeface="Cambria Math" panose="02040503050406030204" pitchFamily="18" charset="0"/>
                <a:ea typeface="Cambria Math" panose="02040503050406030204" pitchFamily="18" charset="0"/>
              </a:rPr>
              <a:t>    for (int i=0; i&lt;5; i++)</a:t>
            </a:r>
          </a:p>
          <a:p>
            <a:pPr lvl="1"/>
            <a:r>
              <a:rPr lang="nn-NO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arr[i] = i; or used scanf statement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/>
              <a:t>Method 3: Using Designated Initializers (For </a:t>
            </a:r>
            <a:r>
              <a:rPr lang="en-US" dirty="0" err="1"/>
              <a:t>gcc</a:t>
            </a:r>
            <a:r>
              <a:rPr lang="en-US" dirty="0"/>
              <a:t> compiler only)</a:t>
            </a:r>
          </a:p>
          <a:p>
            <a:pPr lvl="1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</a:t>
            </a: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[9] = { [0 ... 8] = 10 };</a:t>
            </a:r>
          </a:p>
          <a:p>
            <a:pPr lvl="1"/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</a:t>
            </a:r>
            <a:r>
              <a:rPr lang="en-I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[9] = { 0, [1 ... 7] = 10, 0 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2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EED7-66B2-4607-B48D-40A4E616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30487-1E98-49F4-9996-5A133194B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Sort the given array in O(n) time</a:t>
            </a:r>
          </a:p>
          <a:p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A=[0, 1, 1, 1, 0, 0, 0, 1, 1, 0]</a:t>
            </a:r>
          </a:p>
        </p:txBody>
      </p:sp>
    </p:spTree>
    <p:extLst>
      <p:ext uri="{BB962C8B-B14F-4D97-AF65-F5344CB8AC3E}">
        <p14:creationId xmlns:p14="http://schemas.microsoft.com/office/powerpoint/2010/main" val="258005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3980</TotalTime>
  <Words>2323</Words>
  <Application>Microsoft Macintosh PowerPoint</Application>
  <PresentationFormat>Widescreen</PresentationFormat>
  <Paragraphs>416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Wingdings 2</vt:lpstr>
      <vt:lpstr>Wingdings</vt:lpstr>
      <vt:lpstr>Book Antiqua</vt:lpstr>
      <vt:lpstr>Roboto Condensed</vt:lpstr>
      <vt:lpstr>Arial</vt:lpstr>
      <vt:lpstr>Consolas</vt:lpstr>
      <vt:lpstr>Calibri</vt:lpstr>
      <vt:lpstr>Wingdings 3</vt:lpstr>
      <vt:lpstr>Cambria Math</vt:lpstr>
      <vt:lpstr>Office Theme</vt:lpstr>
      <vt:lpstr>  Linear Data Structure Array</vt:lpstr>
      <vt:lpstr>PowerPoint Presentation</vt:lpstr>
      <vt:lpstr>One Dimensional Array</vt:lpstr>
      <vt:lpstr>Row Major and Column Major Order</vt:lpstr>
      <vt:lpstr>Two Dimensional Array</vt:lpstr>
      <vt:lpstr>Two Dimensional Array</vt:lpstr>
      <vt:lpstr>Column major order matrix</vt:lpstr>
      <vt:lpstr>Row major order matrix</vt:lpstr>
      <vt:lpstr>Examples: Address calculation</vt:lpstr>
      <vt:lpstr>PowerPoint Presentation</vt:lpstr>
      <vt:lpstr>Address Calculation in 3-D Array</vt:lpstr>
      <vt:lpstr>Row major of 3D array</vt:lpstr>
      <vt:lpstr>Address Calculation in 3-D Array</vt:lpstr>
      <vt:lpstr>PowerPoint Presentation</vt:lpstr>
      <vt:lpstr>PowerPoint Presentation</vt:lpstr>
      <vt:lpstr>B [1:8, -5:5, -10:5].</vt:lpstr>
      <vt:lpstr>Representation of Polynomial equation</vt:lpstr>
      <vt:lpstr>Sparse matrix</vt:lpstr>
      <vt:lpstr>Different ways to initialize an Array</vt:lpstr>
      <vt:lpstr>Problem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- Linear Data Structure</dc:title>
  <dc:creator>ADMIN</dc:creator>
  <cp:lastModifiedBy>khushpithva@gmail.com</cp:lastModifiedBy>
  <cp:revision>249</cp:revision>
  <dcterms:created xsi:type="dcterms:W3CDTF">2020-05-01T05:09:15Z</dcterms:created>
  <dcterms:modified xsi:type="dcterms:W3CDTF">2025-11-26T19:28:18Z</dcterms:modified>
</cp:coreProperties>
</file>