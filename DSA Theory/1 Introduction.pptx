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handoutMasterIdLst>
    <p:handoutMasterId r:id="rId42"/>
  </p:handoutMasterIdLst>
  <p:sldIdLst>
    <p:sldId id="283" r:id="rId2"/>
    <p:sldId id="292" r:id="rId3"/>
    <p:sldId id="324" r:id="rId4"/>
    <p:sldId id="325" r:id="rId5"/>
    <p:sldId id="326" r:id="rId6"/>
    <p:sldId id="340" r:id="rId7"/>
    <p:sldId id="328" r:id="rId8"/>
    <p:sldId id="329" r:id="rId9"/>
    <p:sldId id="343" r:id="rId10"/>
    <p:sldId id="342" r:id="rId11"/>
    <p:sldId id="345" r:id="rId12"/>
    <p:sldId id="330" r:id="rId13"/>
    <p:sldId id="331" r:id="rId14"/>
    <p:sldId id="344" r:id="rId15"/>
    <p:sldId id="261" r:id="rId16"/>
    <p:sldId id="262" r:id="rId17"/>
    <p:sldId id="341" r:id="rId18"/>
    <p:sldId id="346" r:id="rId19"/>
    <p:sldId id="347" r:id="rId20"/>
    <p:sldId id="474" r:id="rId21"/>
    <p:sldId id="475" r:id="rId22"/>
    <p:sldId id="348" r:id="rId23"/>
    <p:sldId id="350" r:id="rId24"/>
    <p:sldId id="351" r:id="rId25"/>
    <p:sldId id="352" r:id="rId26"/>
    <p:sldId id="349" r:id="rId27"/>
    <p:sldId id="476" r:id="rId28"/>
    <p:sldId id="273" r:id="rId29"/>
    <p:sldId id="477" r:id="rId30"/>
    <p:sldId id="478" r:id="rId31"/>
    <p:sldId id="479" r:id="rId32"/>
    <p:sldId id="480" r:id="rId33"/>
    <p:sldId id="481" r:id="rId34"/>
    <p:sldId id="482" r:id="rId35"/>
    <p:sldId id="483" r:id="rId36"/>
    <p:sldId id="484" r:id="rId37"/>
    <p:sldId id="485" r:id="rId38"/>
    <p:sldId id="486" r:id="rId39"/>
    <p:sldId id="487" r:id="rId40"/>
  </p:sldIdLst>
  <p:sldSz cx="12192000" cy="6858000"/>
  <p:notesSz cx="6858000" cy="9144000"/>
  <p:embeddedFontLst>
    <p:embeddedFont>
      <p:font typeface="Abadi" panose="020B0604020104020204" pitchFamily="34" charset="0"/>
      <p:regular r:id="rId43"/>
    </p:embeddedFont>
    <p:embeddedFont>
      <p:font typeface="Arial Narrow" panose="020B0606020202030204" pitchFamily="34" charset="0"/>
      <p:regular r:id="rId44"/>
      <p:bold r:id="rId45"/>
      <p:italic r:id="rId46"/>
      <p:boldItalic r:id="rId47"/>
    </p:embeddedFont>
    <p:embeddedFont>
      <p:font typeface="Bookman Old Style" panose="02050604050505020204" pitchFamily="18" charset="0"/>
      <p:regular r:id="rId48"/>
      <p:bold r:id="rId49"/>
      <p:italic r:id="rId50"/>
      <p:boldItalic r:id="rId51"/>
    </p:embeddedFont>
    <p:embeddedFont>
      <p:font typeface="Calibri" panose="020F0502020204030204" pitchFamily="34" charset="0"/>
      <p:regular r:id="rId52"/>
      <p:bold r:id="rId53"/>
      <p:italic r:id="rId54"/>
      <p:boldItalic r:id="rId55"/>
    </p:embeddedFont>
    <p:embeddedFont>
      <p:font typeface="Cambria Math" panose="02040503050406030204" pitchFamily="18" charset="0"/>
      <p:regular r:id="rId56"/>
    </p:embeddedFont>
    <p:embeddedFont>
      <p:font typeface="Lucida Console" panose="020B0609040504020204" pitchFamily="49" charset="0"/>
      <p:regular r:id="rId57"/>
    </p:embeddedFont>
    <p:embeddedFont>
      <p:font typeface="Roboto Condensed" pitchFamily="2" charset="0"/>
      <p:regular r:id="rId58"/>
      <p:bold r:id="rId59"/>
      <p:italic r:id="rId60"/>
      <p:boldItalic r:id="rId61"/>
    </p:embeddedFont>
    <p:embeddedFont>
      <p:font typeface="Roboto Condensed Light" panose="02000000000000000000" pitchFamily="2" charset="0"/>
      <p:regular r:id="rId62"/>
      <p:italic r:id="rId63"/>
    </p:embeddedFont>
    <p:embeddedFont>
      <p:font typeface="Wingdings 3" panose="05040102010807070707" pitchFamily="18" charset="2"/>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064"/>
    <a:srgbClr val="F54337"/>
    <a:srgbClr val="ED524F"/>
    <a:srgbClr val="3366FF"/>
    <a:srgbClr val="301B92"/>
    <a:srgbClr val="673BB7"/>
    <a:srgbClr val="607D8B"/>
    <a:srgbClr val="B71B1C"/>
    <a:srgbClr val="D81A60"/>
    <a:srgbClr val="890E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690" autoAdjust="0"/>
  </p:normalViewPr>
  <p:slideViewPr>
    <p:cSldViewPr snapToGrid="0">
      <p:cViewPr varScale="1">
        <p:scale>
          <a:sx n="66" d="100"/>
          <a:sy n="66" d="100"/>
        </p:scale>
        <p:origin x="668" y="8"/>
      </p:cViewPr>
      <p:guideLst/>
    </p:cSldViewPr>
  </p:slideViewPr>
  <p:notesTextViewPr>
    <p:cViewPr>
      <p:scale>
        <a:sx n="1" d="1"/>
        <a:sy n="1" d="1"/>
      </p:scale>
      <p:origin x="0" y="0"/>
    </p:cViewPr>
  </p:notesTextViewPr>
  <p:notesViewPr>
    <p:cSldViewPr snapToGrid="0">
      <p:cViewPr varScale="1">
        <p:scale>
          <a:sx n="54" d="100"/>
          <a:sy n="54" d="100"/>
        </p:scale>
        <p:origin x="1944" y="4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font" Target="fonts/font21.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font" Target="fonts/font22.fntdata"/><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font" Target="fonts/font17.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font" Target="fonts/font12.fntdata"/><Relationship Id="rId62"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87FD0-6366-498E-B5AA-8D5EAADA1318}" type="datetimeFigureOut">
              <a:rPr lang="en-IN" smtClean="0"/>
              <a:t>15-07-2025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D5F676-4FC3-4D3C-BE37-3352AFB195B1}" type="slidenum">
              <a:rPr lang="en-IN" smtClean="0"/>
              <a:t>‹#›</a:t>
            </a:fld>
            <a:endParaRPr lang="en-IN"/>
          </a:p>
        </p:txBody>
      </p:sp>
    </p:spTree>
    <p:extLst>
      <p:ext uri="{BB962C8B-B14F-4D97-AF65-F5344CB8AC3E}">
        <p14:creationId xmlns:p14="http://schemas.microsoft.com/office/powerpoint/2010/main" val="107242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1637093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0" name="Picture 2" descr="E:\Clients\Darshan\Data Structure\2018\PPT\images\data-structure.png"/>
          <p:cNvPicPr>
            <a:picLocks noChangeAspect="1" noChangeArrowheads="1"/>
          </p:cNvPicPr>
          <p:nvPr userDrawn="1"/>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artisticLineDrawing/>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8459916" y="2065383"/>
            <a:ext cx="2866958"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67376"/>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7654"/>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spcBef>
                <a:spcPts val="1000"/>
              </a:spcBef>
              <a:buClr>
                <a:schemeClr val="accent6"/>
              </a:buClr>
              <a:buFont typeface="Wingdings 3" panose="05040102010807070707" pitchFamily="18" charset="2"/>
              <a:buChar char=""/>
              <a:defRPr sz="2400">
                <a:solidFill>
                  <a:schemeClr val="tx1"/>
                </a:solidFill>
              </a:defRPr>
            </a:lvl1pPr>
            <a:lvl2pPr marL="809625" indent="-352425" algn="just">
              <a:spcBef>
                <a:spcPts val="1000"/>
              </a:spcBef>
              <a:buClr>
                <a:schemeClr val="accent6"/>
              </a:buClr>
              <a:buFont typeface="Wingdings 3" panose="05040102010807070707" pitchFamily="18" charset="2"/>
              <a:buChar char=""/>
              <a:defRPr sz="2000">
                <a:solidFill>
                  <a:schemeClr val="tx1"/>
                </a:solidFill>
              </a:defRPr>
            </a:lvl2pPr>
            <a:lvl3pPr marL="1143000" indent="-228600" algn="just">
              <a:spcBef>
                <a:spcPts val="1000"/>
              </a:spcBef>
              <a:buClr>
                <a:schemeClr val="accent6"/>
              </a:buClr>
              <a:buFont typeface="Wingdings" panose="05000000000000000000" pitchFamily="2" charset="2"/>
              <a:buChar char="§"/>
              <a:defRPr sz="1800">
                <a:solidFill>
                  <a:schemeClr val="tx1"/>
                </a:solidFill>
              </a:defRPr>
            </a:lvl3pPr>
            <a:lvl4pPr algn="just">
              <a:spcBef>
                <a:spcPts val="1000"/>
              </a:spcBef>
              <a:buClr>
                <a:schemeClr val="accent6"/>
              </a:buClr>
              <a:defRPr sz="1600">
                <a:solidFill>
                  <a:schemeClr val="tx1"/>
                </a:solidFill>
              </a:defRPr>
            </a:lvl4pPr>
            <a:lvl5pPr algn="just">
              <a:spcBef>
                <a:spcPts val="1000"/>
              </a:spcBef>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0"/>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62317"/>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 Logo on BR">
  <p:cSld name="1_Title and Content - Logo on BR">
    <p:spTree>
      <p:nvGrpSpPr>
        <p:cNvPr id="1" name="Shape 21"/>
        <p:cNvGrpSpPr/>
        <p:nvPr/>
      </p:nvGrpSpPr>
      <p:grpSpPr>
        <a:xfrm>
          <a:off x="0" y="0"/>
          <a:ext cx="0" cy="0"/>
          <a:chOff x="0" y="0"/>
          <a:chExt cx="0" cy="0"/>
        </a:xfrm>
      </p:grpSpPr>
      <p:sp>
        <p:nvSpPr>
          <p:cNvPr id="22" name="Google Shape;22;p28"/>
          <p:cNvSpPr/>
          <p:nvPr/>
        </p:nvSpPr>
        <p:spPr>
          <a:xfrm>
            <a:off x="0" y="6604000"/>
            <a:ext cx="12191998" cy="254000"/>
          </a:xfrm>
          <a:prstGeom prst="roundRect">
            <a:avLst>
              <a:gd name="adj" fmla="val 0"/>
            </a:avLst>
          </a:prstGeom>
          <a:solidFill>
            <a:srgbClr val="DFDFD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Condensed"/>
              <a:ea typeface="Roboto Condensed"/>
              <a:cs typeface="Roboto Condensed"/>
              <a:sym typeface="Roboto Condensed"/>
            </a:endParaRPr>
          </a:p>
        </p:txBody>
      </p:sp>
      <p:sp>
        <p:nvSpPr>
          <p:cNvPr id="23" name="Google Shape;23;p28"/>
          <p:cNvSpPr txBox="1"/>
          <p:nvPr/>
        </p:nvSpPr>
        <p:spPr>
          <a:xfrm>
            <a:off x="4038600" y="6604000"/>
            <a:ext cx="4283765" cy="254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363636"/>
                </a:solidFill>
                <a:latin typeface="Roboto Condensed Light"/>
                <a:ea typeface="Roboto Condensed Light"/>
                <a:cs typeface="Roboto Condensed Light"/>
                <a:sym typeface="Roboto Condensed Light"/>
              </a:rPr>
              <a:t>Design &amp; Analysis of Algorithm</a:t>
            </a:r>
            <a:endParaRPr/>
          </a:p>
        </p:txBody>
      </p:sp>
      <p:sp>
        <p:nvSpPr>
          <p:cNvPr id="24" name="Google Shape;24;p28"/>
          <p:cNvSpPr txBox="1"/>
          <p:nvPr/>
        </p:nvSpPr>
        <p:spPr>
          <a:xfrm>
            <a:off x="8610600" y="6604000"/>
            <a:ext cx="2743200" cy="25512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1" i="0" u="none" strike="noStrike" cap="none">
                <a:solidFill>
                  <a:srgbClr val="363636"/>
                </a:solidFill>
                <a:latin typeface="Roboto Condensed"/>
                <a:ea typeface="Roboto Condensed"/>
                <a:cs typeface="Roboto Condensed"/>
                <a:sym typeface="Roboto Condensed"/>
              </a:rPr>
              <a:t>‹#›</a:t>
            </a:fld>
            <a:endParaRPr sz="1200" b="1" i="0" u="none" strike="noStrike" cap="none">
              <a:solidFill>
                <a:srgbClr val="363636"/>
              </a:solidFill>
              <a:latin typeface="Roboto Condensed"/>
              <a:ea typeface="Roboto Condensed"/>
              <a:cs typeface="Roboto Condensed"/>
              <a:sym typeface="Roboto Condensed"/>
            </a:endParaRPr>
          </a:p>
        </p:txBody>
      </p:sp>
      <p:sp>
        <p:nvSpPr>
          <p:cNvPr id="26" name="Google Shape;26;p28"/>
          <p:cNvSpPr txBox="1">
            <a:spLocks noGrp="1"/>
          </p:cNvSpPr>
          <p:nvPr>
            <p:ph type="title"/>
          </p:nvPr>
        </p:nvSpPr>
        <p:spPr>
          <a:xfrm>
            <a:off x="0" y="65253"/>
            <a:ext cx="12192000" cy="711200"/>
          </a:xfrm>
          <a:prstGeom prst="rect">
            <a:avLst/>
          </a:prstGeom>
          <a:solidFill>
            <a:srgbClr val="DFDFDF">
              <a:alpha val="49803"/>
            </a:srgbClr>
          </a:solidFill>
          <a:ln>
            <a:noFill/>
          </a:ln>
        </p:spPr>
        <p:txBody>
          <a:bodyPr spcFirstLastPara="1" wrap="square" lIns="216000" tIns="108000" rIns="216000" bIns="108000" anchor="ctr" anchorCtr="0">
            <a:normAutofit/>
          </a:bodyPr>
          <a:lstStyle>
            <a:lvl1pPr lvl="0" algn="l">
              <a:lnSpc>
                <a:spcPct val="90000"/>
              </a:lnSpc>
              <a:spcBef>
                <a:spcPts val="0"/>
              </a:spcBef>
              <a:spcAft>
                <a:spcPts val="0"/>
              </a:spcAft>
              <a:buClr>
                <a:srgbClr val="363636"/>
              </a:buClr>
              <a:buSzPts val="3400"/>
              <a:buFont typeface="Roboto Condensed"/>
              <a:buNone/>
              <a:defRPr sz="3400" b="1">
                <a:solidFill>
                  <a:srgbClr val="36363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7" name="Google Shape;27;p28"/>
          <p:cNvSpPr txBox="1">
            <a:spLocks noGrp="1"/>
          </p:cNvSpPr>
          <p:nvPr>
            <p:ph type="body" idx="1"/>
          </p:nvPr>
        </p:nvSpPr>
        <p:spPr>
          <a:xfrm>
            <a:off x="131178" y="846582"/>
            <a:ext cx="11929641" cy="5590565"/>
          </a:xfrm>
          <a:prstGeom prst="rect">
            <a:avLst/>
          </a:prstGeom>
          <a:noFill/>
          <a:ln>
            <a:noFill/>
          </a:ln>
        </p:spPr>
        <p:txBody>
          <a:bodyPr spcFirstLastPara="1" wrap="square" lIns="91425" tIns="45700" rIns="91425" bIns="45700" anchor="t" anchorCtr="0">
            <a:noAutofit/>
          </a:bodyPr>
          <a:lstStyle>
            <a:lvl1pPr marL="457200" lvl="0" indent="-381000" algn="just">
              <a:lnSpc>
                <a:spcPct val="90000"/>
              </a:lnSpc>
              <a:spcBef>
                <a:spcPts val="1000"/>
              </a:spcBef>
              <a:spcAft>
                <a:spcPts val="0"/>
              </a:spcAft>
              <a:buClr>
                <a:schemeClr val="accent6"/>
              </a:buClr>
              <a:buSzPts val="2400"/>
              <a:buFont typeface="Noto Sans Symbols"/>
              <a:buChar char="🞂"/>
              <a:defRPr sz="2400">
                <a:solidFill>
                  <a:schemeClr val="dk1"/>
                </a:solidFill>
              </a:defRPr>
            </a:lvl1pPr>
            <a:lvl2pPr marL="914400" lvl="1" indent="-355600" algn="just">
              <a:lnSpc>
                <a:spcPct val="90000"/>
              </a:lnSpc>
              <a:spcBef>
                <a:spcPts val="500"/>
              </a:spcBef>
              <a:spcAft>
                <a:spcPts val="0"/>
              </a:spcAft>
              <a:buClr>
                <a:schemeClr val="accent6"/>
              </a:buClr>
              <a:buSzPts val="2000"/>
              <a:buFont typeface="Noto Sans Symbols"/>
              <a:buChar char="⮩"/>
              <a:defRPr sz="2000">
                <a:solidFill>
                  <a:schemeClr val="dk1"/>
                </a:solidFill>
              </a:defRPr>
            </a:lvl2pPr>
            <a:lvl3pPr marL="1371600" lvl="2" indent="-342900" algn="just">
              <a:lnSpc>
                <a:spcPct val="90000"/>
              </a:lnSpc>
              <a:spcBef>
                <a:spcPts val="500"/>
              </a:spcBef>
              <a:spcAft>
                <a:spcPts val="0"/>
              </a:spcAft>
              <a:buClr>
                <a:schemeClr val="accent6"/>
              </a:buClr>
              <a:buSzPts val="1800"/>
              <a:buFont typeface="Noto Sans Symbols"/>
              <a:buChar char="▪"/>
              <a:defRPr sz="1800">
                <a:solidFill>
                  <a:schemeClr val="dk1"/>
                </a:solidFill>
              </a:defRPr>
            </a:lvl3pPr>
            <a:lvl4pPr marL="1828800" lvl="3" indent="-330200" algn="just">
              <a:lnSpc>
                <a:spcPct val="90000"/>
              </a:lnSpc>
              <a:spcBef>
                <a:spcPts val="500"/>
              </a:spcBef>
              <a:spcAft>
                <a:spcPts val="0"/>
              </a:spcAft>
              <a:buClr>
                <a:schemeClr val="accent6"/>
              </a:buClr>
              <a:buSzPts val="1600"/>
              <a:buChar char="•"/>
              <a:defRPr sz="1600">
                <a:solidFill>
                  <a:schemeClr val="dk1"/>
                </a:solidFill>
              </a:defRPr>
            </a:lvl4pPr>
            <a:lvl5pPr marL="2286000" lvl="4" indent="-330200" algn="just">
              <a:lnSpc>
                <a:spcPct val="90000"/>
              </a:lnSpc>
              <a:spcBef>
                <a:spcPts val="500"/>
              </a:spcBef>
              <a:spcAft>
                <a:spcPts val="0"/>
              </a:spcAft>
              <a:buClr>
                <a:schemeClr val="accent6"/>
              </a:buClr>
              <a:buSzPts val="1600"/>
              <a:buChar char="•"/>
              <a:defRPr sz="16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cxnSp>
        <p:nvCxnSpPr>
          <p:cNvPr id="28" name="Google Shape;28;p28"/>
          <p:cNvCxnSpPr/>
          <p:nvPr/>
        </p:nvCxnSpPr>
        <p:spPr>
          <a:xfrm>
            <a:off x="0" y="711201"/>
            <a:ext cx="12192000" cy="0"/>
          </a:xfrm>
          <a:prstGeom prst="straightConnector1">
            <a:avLst/>
          </a:prstGeom>
          <a:solidFill>
            <a:srgbClr val="DFDFDF">
              <a:alpha val="49803"/>
            </a:srgbClr>
          </a:solidFill>
          <a:ln>
            <a:noFill/>
          </a:ln>
        </p:spPr>
      </p:cxnSp>
      <p:cxnSp>
        <p:nvCxnSpPr>
          <p:cNvPr id="29" name="Google Shape;29;p28"/>
          <p:cNvCxnSpPr/>
          <p:nvPr/>
        </p:nvCxnSpPr>
        <p:spPr>
          <a:xfrm>
            <a:off x="0" y="6606251"/>
            <a:ext cx="12192000" cy="0"/>
          </a:xfrm>
          <a:prstGeom prst="straightConnector1">
            <a:avLst/>
          </a:prstGeom>
          <a:noFill/>
          <a:ln w="12700" cap="flat" cmpd="sng">
            <a:solidFill>
              <a:srgbClr val="BFBFBF">
                <a:alpha val="69803"/>
              </a:srgbClr>
            </a:solidFill>
            <a:prstDash val="solid"/>
            <a:miter lim="800000"/>
            <a:headEnd type="none" w="sm" len="sm"/>
            <a:tailEnd type="none" w="sm" len="sm"/>
          </a:ln>
        </p:spPr>
      </p:cxnSp>
    </p:spTree>
    <p:extLst>
      <p:ext uri="{BB962C8B-B14F-4D97-AF65-F5344CB8AC3E}">
        <p14:creationId xmlns:p14="http://schemas.microsoft.com/office/powerpoint/2010/main" val="2842626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193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7/15/2025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89" r:id="rId6"/>
    <p:sldLayoutId id="2147483690"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480.png"/><Relationship Id="rId3" Type="http://schemas.openxmlformats.org/officeDocument/2006/relationships/image" Target="../media/image430.png"/><Relationship Id="rId7" Type="http://schemas.openxmlformats.org/officeDocument/2006/relationships/image" Target="../media/image470.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460.png"/><Relationship Id="rId5" Type="http://schemas.openxmlformats.org/officeDocument/2006/relationships/image" Target="../media/image450.png"/><Relationship Id="rId4" Type="http://schemas.openxmlformats.org/officeDocument/2006/relationships/image" Target="../media/image23.png"/><Relationship Id="rId9" Type="http://schemas.openxmlformats.org/officeDocument/2006/relationships/image" Target="../media/image49.png"/></Relationships>
</file>

<file path=ppt/slides/_rels/slide2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40.png"/><Relationship Id="rId7" Type="http://schemas.openxmlformats.org/officeDocument/2006/relationships/image" Target="../media/image24.png"/><Relationship Id="rId2" Type="http://schemas.openxmlformats.org/officeDocument/2006/relationships/image" Target="../media/image139.png"/><Relationship Id="rId1" Type="http://schemas.openxmlformats.org/officeDocument/2006/relationships/slideLayout" Target="../slideLayouts/slideLayout7.xml"/><Relationship Id="rId6" Type="http://schemas.openxmlformats.org/officeDocument/2006/relationships/image" Target="../media/image470.png"/><Relationship Id="rId5" Type="http://schemas.openxmlformats.org/officeDocument/2006/relationships/image" Target="../media/image460.png"/><Relationship Id="rId4" Type="http://schemas.openxmlformats.org/officeDocument/2006/relationships/image" Target="../media/image55.png"/><Relationship Id="rId9" Type="http://schemas.openxmlformats.org/officeDocument/2006/relationships/image" Target="../media/image58.png"/></Relationships>
</file>

<file path=ppt/slides/_rels/slide2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25.png"/><Relationship Id="rId2" Type="http://schemas.openxmlformats.org/officeDocument/2006/relationships/image" Target="../media/image160.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60510" cy="2563094"/>
          </a:xfrm>
        </p:spPr>
        <p:txBody>
          <a:bodyPr/>
          <a:lstStyle/>
          <a:p>
            <a:r>
              <a:rPr lang="en-US" sz="4400" b="0" dirty="0">
                <a:latin typeface="Roboto Condensed Light" panose="02000000000000000000" pitchFamily="2" charset="0"/>
                <a:ea typeface="Roboto Condensed Light" panose="02000000000000000000" pitchFamily="2" charset="0"/>
              </a:rPr>
              <a:t>Unit-1</a:t>
            </a:r>
            <a:r>
              <a:rPr lang="en-US" sz="6000" dirty="0"/>
              <a:t> </a:t>
            </a:r>
            <a:br>
              <a:rPr lang="en-US" sz="6000" dirty="0"/>
            </a:br>
            <a:r>
              <a:rPr lang="en-US" sz="6000" dirty="0"/>
              <a:t>Introduction to </a:t>
            </a:r>
            <a:br>
              <a:rPr lang="en-US" sz="6000" dirty="0"/>
            </a:br>
            <a:r>
              <a:rPr lang="en-US" sz="6000" dirty="0"/>
              <a:t>Data Structure</a:t>
            </a:r>
            <a:br>
              <a:rPr lang="en-US" sz="6000" dirty="0"/>
            </a:br>
            <a:endParaRPr lang="en-US" sz="6000" dirty="0"/>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 Structures </a:t>
            </a:r>
            <a:r>
              <a:rPr lang="en-US" dirty="0">
                <a:latin typeface="Roboto Condensed Light" panose="02000000000000000000" pitchFamily="2" charset="0"/>
                <a:ea typeface="Roboto Condensed Light" panose="02000000000000000000" pitchFamily="2" charset="0"/>
              </a:rPr>
              <a:t>(DS)</a:t>
            </a:r>
          </a:p>
          <a:p>
            <a:r>
              <a:rPr lang="en-US" dirty="0">
                <a:latin typeface="Roboto Condensed Light" panose="02000000000000000000" pitchFamily="2" charset="0"/>
                <a:ea typeface="Roboto Condensed Light" panose="02000000000000000000" pitchFamily="2" charset="0"/>
              </a:rPr>
              <a:t>GTU # 3130702</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31706"/>
            <a:ext cx="5950366" cy="4154984"/>
          </a:xfrm>
          <a:prstGeom prst="rect">
            <a:avLst/>
          </a:prstGeom>
          <a:noFill/>
        </p:spPr>
        <p:txBody>
          <a:bodyPr wrap="square" rtlCol="0">
            <a:spAutoFit/>
          </a:bodyPr>
          <a:lstStyle/>
          <a:p>
            <a:r>
              <a:rPr lang="en-US" sz="2400" b="1" dirty="0"/>
              <a:t>Outline</a:t>
            </a:r>
          </a:p>
          <a:p>
            <a:pPr marL="800100" lvl="1" indent="-342900">
              <a:buFont typeface="Wingdings" panose="05000000000000000000" pitchFamily="2" charset="2"/>
              <a:buChar char="§"/>
            </a:pPr>
            <a:r>
              <a:rPr lang="en-US" sz="2400" dirty="0">
                <a:solidFill>
                  <a:schemeClr val="bg1">
                    <a:lumMod val="50000"/>
                  </a:schemeClr>
                </a:solidFill>
              </a:rPr>
              <a:t>Data Management concepts</a:t>
            </a:r>
          </a:p>
          <a:p>
            <a:pPr marL="800100" lvl="1" indent="-342900">
              <a:buFont typeface="Wingdings" panose="05000000000000000000" pitchFamily="2" charset="2"/>
              <a:buChar char="§"/>
            </a:pPr>
            <a:r>
              <a:rPr lang="en-US" sz="2400" dirty="0">
                <a:solidFill>
                  <a:schemeClr val="bg1">
                    <a:lumMod val="50000"/>
                  </a:schemeClr>
                </a:solidFill>
              </a:rPr>
              <a:t>Data types</a:t>
            </a:r>
          </a:p>
          <a:p>
            <a:pPr marL="1200150" lvl="2" indent="-285750">
              <a:buFont typeface="Arial" panose="020B0604020202020204" pitchFamily="34" charset="0"/>
              <a:buChar char="•"/>
            </a:pPr>
            <a:r>
              <a:rPr lang="en-US" sz="2400" dirty="0">
                <a:solidFill>
                  <a:schemeClr val="bg1">
                    <a:lumMod val="50000"/>
                  </a:schemeClr>
                </a:solidFill>
              </a:rPr>
              <a:t>Primitive</a:t>
            </a:r>
          </a:p>
          <a:p>
            <a:pPr marL="1200150" lvl="2" indent="-285750">
              <a:buFont typeface="Arial" panose="020B0604020202020204" pitchFamily="34" charset="0"/>
              <a:buChar char="•"/>
            </a:pPr>
            <a:r>
              <a:rPr lang="en-US" sz="2400" dirty="0">
                <a:solidFill>
                  <a:schemeClr val="bg1">
                    <a:lumMod val="50000"/>
                  </a:schemeClr>
                </a:solidFill>
              </a:rPr>
              <a:t>Non-primitive</a:t>
            </a:r>
          </a:p>
          <a:p>
            <a:pPr marL="800100" lvl="1" indent="-342900">
              <a:buFont typeface="Wingdings" panose="05000000000000000000" pitchFamily="2" charset="2"/>
              <a:buChar char="§"/>
            </a:pPr>
            <a:r>
              <a:rPr lang="en-US" sz="2400" dirty="0">
                <a:solidFill>
                  <a:schemeClr val="bg1">
                    <a:lumMod val="50000"/>
                  </a:schemeClr>
                </a:solidFill>
              </a:rPr>
              <a:t>Types of Data Structures </a:t>
            </a:r>
          </a:p>
          <a:p>
            <a:pPr marL="1200150" lvl="2" indent="-285750">
              <a:buFont typeface="Arial" panose="020B0604020202020204" pitchFamily="34" charset="0"/>
              <a:buChar char="•"/>
            </a:pPr>
            <a:r>
              <a:rPr lang="en-US" sz="2400" dirty="0">
                <a:solidFill>
                  <a:schemeClr val="bg1">
                    <a:lumMod val="50000"/>
                  </a:schemeClr>
                </a:solidFill>
              </a:rPr>
              <a:t>Linear Data Structures</a:t>
            </a:r>
          </a:p>
          <a:p>
            <a:pPr marL="1200150" lvl="2" indent="-285750">
              <a:buFont typeface="Arial" panose="020B0604020202020204" pitchFamily="34" charset="0"/>
              <a:buChar char="•"/>
            </a:pPr>
            <a:r>
              <a:rPr lang="en-US" sz="2400" dirty="0">
                <a:solidFill>
                  <a:schemeClr val="bg1">
                    <a:lumMod val="50000"/>
                  </a:schemeClr>
                </a:solidFill>
              </a:rPr>
              <a:t>Non Linear Data Structures</a:t>
            </a:r>
          </a:p>
          <a:p>
            <a:pPr marL="800100" lvl="1" indent="-342900">
              <a:buFont typeface="Wingdings" panose="05000000000000000000" pitchFamily="2" charset="2"/>
              <a:buChar char="§"/>
            </a:pPr>
            <a:r>
              <a:rPr lang="en-US" sz="2400" dirty="0">
                <a:solidFill>
                  <a:schemeClr val="bg1">
                    <a:lumMod val="50000"/>
                  </a:schemeClr>
                </a:solidFill>
              </a:rPr>
              <a:t>Performance Analysis and Measurement</a:t>
            </a:r>
          </a:p>
          <a:p>
            <a:pPr marL="800100" lvl="1" indent="-342900">
              <a:buFont typeface="Wingdings" panose="05000000000000000000" pitchFamily="2" charset="2"/>
              <a:buChar char="§"/>
            </a:pPr>
            <a:r>
              <a:rPr lang="en-US" sz="2400" dirty="0">
                <a:solidFill>
                  <a:schemeClr val="bg1">
                    <a:lumMod val="50000"/>
                  </a:schemeClr>
                </a:solidFill>
              </a:rPr>
              <a:t>Time analysis of algorithms</a:t>
            </a:r>
          </a:p>
          <a:p>
            <a:pPr marL="800100" lvl="1" indent="-342900">
              <a:buFont typeface="Wingdings" panose="05000000000000000000" pitchFamily="2" charset="2"/>
              <a:buChar char="§"/>
            </a:pPr>
            <a:r>
              <a:rPr lang="en-US" sz="2400" dirty="0">
                <a:solidFill>
                  <a:schemeClr val="bg1">
                    <a:lumMod val="50000"/>
                  </a:schemeClr>
                </a:solidFill>
              </a:rPr>
              <a:t>Space analysis of algorithms</a:t>
            </a: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fade">
                                      <p:cBhvr>
                                        <p:cTn id="32" dur="500"/>
                                        <p:tgtEl>
                                          <p:spTgt spid="9">
                                            <p:txEl>
                                              <p:pRg st="0" end="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Effect transition="in" filter="fade">
                                      <p:cBhvr>
                                        <p:cTn id="35" dur="500"/>
                                        <p:tgtEl>
                                          <p:spTgt spid="9">
                                            <p:txEl>
                                              <p:p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9">
                                            <p:txEl>
                                              <p:pRg st="2" end="2"/>
                                            </p:txEl>
                                          </p:spTgt>
                                        </p:tgtEl>
                                        <p:attrNameLst>
                                          <p:attrName>style.visibility</p:attrName>
                                        </p:attrNameLst>
                                      </p:cBhvr>
                                      <p:to>
                                        <p:strVal val="visible"/>
                                      </p:to>
                                    </p:set>
                                    <p:animEffect transition="in" filter="fade">
                                      <p:cBhvr>
                                        <p:cTn id="38" dur="500"/>
                                        <p:tgtEl>
                                          <p:spTgt spid="9">
                                            <p:txEl>
                                              <p:pRg st="2" end="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9">
                                            <p:txEl>
                                              <p:pRg st="3" end="3"/>
                                            </p:txEl>
                                          </p:spTgt>
                                        </p:tgtEl>
                                        <p:attrNameLst>
                                          <p:attrName>style.visibility</p:attrName>
                                        </p:attrNameLst>
                                      </p:cBhvr>
                                      <p:to>
                                        <p:strVal val="visible"/>
                                      </p:to>
                                    </p:set>
                                    <p:animEffect transition="in" filter="fade">
                                      <p:cBhvr>
                                        <p:cTn id="41" dur="500"/>
                                        <p:tgtEl>
                                          <p:spTgt spid="9">
                                            <p:txEl>
                                              <p:pRg st="3" end="3"/>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9">
                                            <p:txEl>
                                              <p:pRg st="4" end="4"/>
                                            </p:txEl>
                                          </p:spTgt>
                                        </p:tgtEl>
                                        <p:attrNameLst>
                                          <p:attrName>style.visibility</p:attrName>
                                        </p:attrNameLst>
                                      </p:cBhvr>
                                      <p:to>
                                        <p:strVal val="visible"/>
                                      </p:to>
                                    </p:set>
                                    <p:animEffect transition="in" filter="fade">
                                      <p:cBhvr>
                                        <p:cTn id="44" dur="500"/>
                                        <p:tgtEl>
                                          <p:spTgt spid="9">
                                            <p:txEl>
                                              <p:pRg st="4" end="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9">
                                            <p:txEl>
                                              <p:pRg st="5" end="5"/>
                                            </p:txEl>
                                          </p:spTgt>
                                        </p:tgtEl>
                                        <p:attrNameLst>
                                          <p:attrName>style.visibility</p:attrName>
                                        </p:attrNameLst>
                                      </p:cBhvr>
                                      <p:to>
                                        <p:strVal val="visible"/>
                                      </p:to>
                                    </p:set>
                                    <p:animEffect transition="in" filter="fade">
                                      <p:cBhvr>
                                        <p:cTn id="47" dur="500"/>
                                        <p:tgtEl>
                                          <p:spTgt spid="9">
                                            <p:txEl>
                                              <p:pRg st="5" end="5"/>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9">
                                            <p:txEl>
                                              <p:pRg st="6" end="6"/>
                                            </p:txEl>
                                          </p:spTgt>
                                        </p:tgtEl>
                                        <p:attrNameLst>
                                          <p:attrName>style.visibility</p:attrName>
                                        </p:attrNameLst>
                                      </p:cBhvr>
                                      <p:to>
                                        <p:strVal val="visible"/>
                                      </p:to>
                                    </p:set>
                                    <p:animEffect transition="in" filter="fade">
                                      <p:cBhvr>
                                        <p:cTn id="50" dur="500"/>
                                        <p:tgtEl>
                                          <p:spTgt spid="9">
                                            <p:txEl>
                                              <p:pRg st="6" end="6"/>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9">
                                            <p:txEl>
                                              <p:pRg st="7" end="7"/>
                                            </p:txEl>
                                          </p:spTgt>
                                        </p:tgtEl>
                                        <p:attrNameLst>
                                          <p:attrName>style.visibility</p:attrName>
                                        </p:attrNameLst>
                                      </p:cBhvr>
                                      <p:to>
                                        <p:strVal val="visible"/>
                                      </p:to>
                                    </p:set>
                                    <p:animEffect transition="in" filter="fade">
                                      <p:cBhvr>
                                        <p:cTn id="53" dur="500"/>
                                        <p:tgtEl>
                                          <p:spTgt spid="9">
                                            <p:txEl>
                                              <p:pRg st="7" end="7"/>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9">
                                            <p:txEl>
                                              <p:pRg st="8" end="8"/>
                                            </p:txEl>
                                          </p:spTgt>
                                        </p:tgtEl>
                                        <p:attrNameLst>
                                          <p:attrName>style.visibility</p:attrName>
                                        </p:attrNameLst>
                                      </p:cBhvr>
                                      <p:to>
                                        <p:strVal val="visible"/>
                                      </p:to>
                                    </p:set>
                                    <p:animEffect transition="in" filter="fade">
                                      <p:cBhvr>
                                        <p:cTn id="56" dur="500"/>
                                        <p:tgtEl>
                                          <p:spTgt spid="9">
                                            <p:txEl>
                                              <p:pRg st="8" end="8"/>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9">
                                            <p:txEl>
                                              <p:pRg st="9" end="9"/>
                                            </p:txEl>
                                          </p:spTgt>
                                        </p:tgtEl>
                                        <p:attrNameLst>
                                          <p:attrName>style.visibility</p:attrName>
                                        </p:attrNameLst>
                                      </p:cBhvr>
                                      <p:to>
                                        <p:strVal val="visible"/>
                                      </p:to>
                                    </p:set>
                                    <p:animEffect transition="in" filter="fade">
                                      <p:cBhvr>
                                        <p:cTn id="59" dur="500"/>
                                        <p:tgtEl>
                                          <p:spTgt spid="9">
                                            <p:txEl>
                                              <p:pRg st="9" end="9"/>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9">
                                            <p:txEl>
                                              <p:pRg st="10" end="10"/>
                                            </p:txEl>
                                          </p:spTgt>
                                        </p:tgtEl>
                                        <p:attrNameLst>
                                          <p:attrName>style.visibility</p:attrName>
                                        </p:attrNameLst>
                                      </p:cBhvr>
                                      <p:to>
                                        <p:strVal val="visible"/>
                                      </p:to>
                                    </p:set>
                                    <p:animEffect transition="in" filter="fade">
                                      <p:cBhvr>
                                        <p:cTn id="62" dur="500"/>
                                        <p:tgtEl>
                                          <p:spTgt spid="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dirty="0"/>
              <a:t>What is Data?</a:t>
            </a:r>
          </a:p>
        </p:txBody>
      </p:sp>
      <p:sp>
        <p:nvSpPr>
          <p:cNvPr id="3" name="Content Placeholder 2"/>
          <p:cNvSpPr>
            <a:spLocks noGrp="1"/>
          </p:cNvSpPr>
          <p:nvPr>
            <p:ph idx="1"/>
          </p:nvPr>
        </p:nvSpPr>
        <p:spPr/>
        <p:txBody>
          <a:bodyPr/>
          <a:lstStyle/>
          <a:p>
            <a:r>
              <a:rPr lang="en-US" b="1" dirty="0">
                <a:solidFill>
                  <a:srgbClr val="C00000"/>
                </a:solidFill>
              </a:rPr>
              <a:t>Data</a:t>
            </a:r>
            <a:r>
              <a:rPr lang="en-US" dirty="0">
                <a:solidFill>
                  <a:srgbClr val="C00000"/>
                </a:solidFill>
              </a:rPr>
              <a:t> </a:t>
            </a:r>
            <a:r>
              <a:rPr lang="en-US" dirty="0"/>
              <a:t>is the basic fact or entity that is utilized in calculation or manipulation.</a:t>
            </a:r>
          </a:p>
          <a:p>
            <a:r>
              <a:rPr lang="en-IN" dirty="0"/>
              <a:t>There are two different </a:t>
            </a:r>
            <a:r>
              <a:rPr lang="en-IN" b="1" dirty="0"/>
              <a:t>types of data </a:t>
            </a:r>
            <a:r>
              <a:rPr lang="en-IN" b="1" dirty="0">
                <a:solidFill>
                  <a:srgbClr val="C00000"/>
                </a:solidFill>
              </a:rPr>
              <a:t>Numeric</a:t>
            </a:r>
            <a:r>
              <a:rPr lang="en-IN" dirty="0">
                <a:solidFill>
                  <a:srgbClr val="C00000"/>
                </a:solidFill>
              </a:rPr>
              <a:t> </a:t>
            </a:r>
            <a:r>
              <a:rPr lang="en-IN" dirty="0"/>
              <a:t>data </a:t>
            </a:r>
            <a:r>
              <a:rPr lang="en-IN"/>
              <a:t>and </a:t>
            </a:r>
            <a:r>
              <a:rPr lang="en-IN" b="1">
                <a:solidFill>
                  <a:srgbClr val="C00000"/>
                </a:solidFill>
              </a:rPr>
              <a:t>Alphanumeric</a:t>
            </a:r>
            <a:r>
              <a:rPr lang="en-IN"/>
              <a:t> </a:t>
            </a:r>
            <a:r>
              <a:rPr lang="en-IN" dirty="0"/>
              <a:t>data.</a:t>
            </a:r>
            <a:endParaRPr lang="en-US" dirty="0"/>
          </a:p>
          <a:p>
            <a:r>
              <a:rPr lang="en-US" dirty="0"/>
              <a:t>When a programmer collects such type of data for </a:t>
            </a:r>
            <a:r>
              <a:rPr lang="en-US" b="1" dirty="0">
                <a:solidFill>
                  <a:srgbClr val="C00000"/>
                </a:solidFill>
              </a:rPr>
              <a:t>processing</a:t>
            </a:r>
            <a:r>
              <a:rPr lang="en-US" dirty="0"/>
              <a:t>, he would require </a:t>
            </a:r>
            <a:r>
              <a:rPr lang="en-US" b="1" dirty="0">
                <a:solidFill>
                  <a:srgbClr val="C00000"/>
                </a:solidFill>
              </a:rPr>
              <a:t>to store them in computer’s main memory</a:t>
            </a:r>
            <a:r>
              <a:rPr lang="en-US" dirty="0"/>
              <a:t>.</a:t>
            </a:r>
          </a:p>
          <a:p>
            <a:r>
              <a:rPr lang="en-IN" dirty="0"/>
              <a:t>The process of storing data items in computer’s main memory is called </a:t>
            </a:r>
            <a:r>
              <a:rPr lang="en-IN" b="1" i="1" dirty="0">
                <a:solidFill>
                  <a:srgbClr val="C00000"/>
                </a:solidFill>
              </a:rPr>
              <a:t>representation.</a:t>
            </a:r>
            <a:endParaRPr lang="en-IN" dirty="0">
              <a:solidFill>
                <a:srgbClr val="C00000"/>
              </a:solidFill>
            </a:endParaRPr>
          </a:p>
          <a:p>
            <a:r>
              <a:rPr lang="en-IN" b="1" dirty="0">
                <a:solidFill>
                  <a:srgbClr val="C00000"/>
                </a:solidFill>
              </a:rPr>
              <a:t>Data</a:t>
            </a:r>
            <a:r>
              <a:rPr lang="en-IN" dirty="0">
                <a:solidFill>
                  <a:srgbClr val="C00000"/>
                </a:solidFill>
              </a:rPr>
              <a:t> </a:t>
            </a:r>
            <a:r>
              <a:rPr lang="en-IN" dirty="0"/>
              <a:t>to be processed must be </a:t>
            </a:r>
            <a:r>
              <a:rPr lang="en-IN" b="1" dirty="0">
                <a:solidFill>
                  <a:srgbClr val="C00000"/>
                </a:solidFill>
              </a:rPr>
              <a:t>organized in a particular fashion</a:t>
            </a:r>
            <a:r>
              <a:rPr lang="en-IN" dirty="0"/>
              <a:t>, these organization leads to structuring of data, and hence the mission to study the Data Structures.</a:t>
            </a:r>
            <a:endParaRPr lang="en-US" dirty="0"/>
          </a:p>
        </p:txBody>
      </p:sp>
      <p:pic>
        <p:nvPicPr>
          <p:cNvPr id="2050" name="Picture 2" descr="E:\Clients\Darshan\Data Structure\2018\PPT\images\data.png"/>
          <p:cNvPicPr>
            <a:picLocks noChangeAspect="1" noChangeArrowheads="1"/>
          </p:cNvPicPr>
          <p:nvPr/>
        </p:nvPicPr>
        <p:blipFill>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artisticPencilSketch/>
                    </a14:imgEffect>
                  </a14:imgLayer>
                </a14:imgProps>
              </a:ext>
              <a:ext uri="{28A0092B-C50C-407E-A947-70E740481C1C}">
                <a14:useLocalDpi xmlns:a14="http://schemas.microsoft.com/office/drawing/2010/main" val="0"/>
              </a:ext>
            </a:extLst>
          </a:blip>
          <a:srcRect/>
          <a:stretch>
            <a:fillRect/>
          </a:stretch>
        </p:blipFill>
        <p:spPr bwMode="auto">
          <a:xfrm>
            <a:off x="10606315" y="4604657"/>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20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dirty="0"/>
              <a:t>What is Data Structure?</a:t>
            </a:r>
          </a:p>
        </p:txBody>
      </p:sp>
      <p:sp>
        <p:nvSpPr>
          <p:cNvPr id="3" name="Content Placeholder 2"/>
          <p:cNvSpPr>
            <a:spLocks noGrp="1"/>
          </p:cNvSpPr>
          <p:nvPr>
            <p:ph idx="1"/>
          </p:nvPr>
        </p:nvSpPr>
        <p:spPr/>
        <p:txBody>
          <a:bodyPr/>
          <a:lstStyle/>
          <a:p>
            <a:r>
              <a:rPr lang="en-US" b="1" i="1" dirty="0">
                <a:solidFill>
                  <a:srgbClr val="C00000"/>
                </a:solidFill>
              </a:rPr>
              <a:t>Data Structure </a:t>
            </a:r>
            <a:r>
              <a:rPr lang="en-US" dirty="0"/>
              <a:t>is a representation of the logical relationship existing between individual elements of data.</a:t>
            </a:r>
          </a:p>
          <a:p>
            <a:r>
              <a:rPr lang="en-IN" dirty="0"/>
              <a:t>In other words, a data structure is a </a:t>
            </a:r>
            <a:r>
              <a:rPr lang="en-IN" b="1" dirty="0">
                <a:solidFill>
                  <a:srgbClr val="C00000"/>
                </a:solidFill>
              </a:rPr>
              <a:t>way of organizing all data items</a:t>
            </a:r>
            <a:r>
              <a:rPr lang="en-IN" dirty="0">
                <a:solidFill>
                  <a:srgbClr val="C00000"/>
                </a:solidFill>
              </a:rPr>
              <a:t> </a:t>
            </a:r>
            <a:r>
              <a:rPr lang="en-IN" dirty="0"/>
              <a:t>that </a:t>
            </a:r>
            <a:r>
              <a:rPr lang="en-IN" b="1" dirty="0"/>
              <a:t>considers</a:t>
            </a:r>
            <a:r>
              <a:rPr lang="en-IN" dirty="0"/>
              <a:t> not only the </a:t>
            </a:r>
            <a:r>
              <a:rPr lang="en-IN" b="1" dirty="0"/>
              <a:t>elements stored </a:t>
            </a:r>
            <a:r>
              <a:rPr lang="en-IN" dirty="0"/>
              <a:t>but also their </a:t>
            </a:r>
            <a:r>
              <a:rPr lang="en-IN" b="1" dirty="0"/>
              <a:t>relationship to each other.</a:t>
            </a:r>
          </a:p>
          <a:p>
            <a:r>
              <a:rPr lang="en-IN" dirty="0"/>
              <a:t>We can also define data structure as a </a:t>
            </a:r>
            <a:r>
              <a:rPr lang="en-IN" b="1" dirty="0">
                <a:solidFill>
                  <a:srgbClr val="C00000"/>
                </a:solidFill>
              </a:rPr>
              <a:t>mathematical or logical model</a:t>
            </a:r>
            <a:r>
              <a:rPr lang="en-IN" dirty="0"/>
              <a:t> of a particular </a:t>
            </a:r>
            <a:r>
              <a:rPr lang="en-IN" b="1" dirty="0">
                <a:solidFill>
                  <a:srgbClr val="C00000"/>
                </a:solidFill>
              </a:rPr>
              <a:t>organization</a:t>
            </a:r>
            <a:r>
              <a:rPr lang="en-IN" dirty="0">
                <a:solidFill>
                  <a:srgbClr val="C00000"/>
                </a:solidFill>
              </a:rPr>
              <a:t> </a:t>
            </a:r>
            <a:r>
              <a:rPr lang="en-IN" dirty="0"/>
              <a:t>of </a:t>
            </a:r>
            <a:r>
              <a:rPr lang="en-IN" b="1" dirty="0">
                <a:solidFill>
                  <a:srgbClr val="C00000"/>
                </a:solidFill>
              </a:rPr>
              <a:t>data items.</a:t>
            </a:r>
          </a:p>
          <a:p>
            <a:r>
              <a:rPr lang="en-IN" dirty="0"/>
              <a:t>Data Structure mainly specifies the following four things</a:t>
            </a:r>
          </a:p>
          <a:p>
            <a:pPr lvl="1"/>
            <a:r>
              <a:rPr lang="en-IN" dirty="0"/>
              <a:t>Organization of Data</a:t>
            </a:r>
          </a:p>
          <a:p>
            <a:pPr lvl="1"/>
            <a:r>
              <a:rPr lang="en-IN" dirty="0"/>
              <a:t>Accessing Methods</a:t>
            </a:r>
          </a:p>
          <a:p>
            <a:pPr lvl="1"/>
            <a:r>
              <a:rPr lang="en-IN" dirty="0"/>
              <a:t>Degree of Associativity</a:t>
            </a:r>
          </a:p>
          <a:p>
            <a:pPr lvl="1"/>
            <a:r>
              <a:rPr lang="en-IN" dirty="0"/>
              <a:t>Processing alternatives for information</a:t>
            </a:r>
          </a:p>
        </p:txBody>
      </p:sp>
      <p:pic>
        <p:nvPicPr>
          <p:cNvPr id="3074" name="Picture 2" descr="E:\Clients\Darshan\Data Structure\2018\PPT\images\data structure.png"/>
          <p:cNvPicPr>
            <a:picLocks noChangeAspect="1" noChangeArrowheads="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763001" y="3461658"/>
            <a:ext cx="2128921" cy="1733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03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dirty="0"/>
              <a:t>What is Data Structure? Cont..</a:t>
            </a:r>
          </a:p>
        </p:txBody>
      </p:sp>
      <p:sp>
        <p:nvSpPr>
          <p:cNvPr id="3" name="Content Placeholder 2"/>
          <p:cNvSpPr>
            <a:spLocks noGrp="1"/>
          </p:cNvSpPr>
          <p:nvPr>
            <p:ph idx="1"/>
          </p:nvPr>
        </p:nvSpPr>
        <p:spPr/>
        <p:txBody>
          <a:bodyPr/>
          <a:lstStyle/>
          <a:p>
            <a:r>
              <a:rPr lang="en-IN" dirty="0"/>
              <a:t>The </a:t>
            </a:r>
            <a:r>
              <a:rPr lang="en-IN" b="1" dirty="0"/>
              <a:t>representation</a:t>
            </a:r>
            <a:r>
              <a:rPr lang="en-IN" dirty="0"/>
              <a:t> of a particular data </a:t>
            </a:r>
            <a:r>
              <a:rPr lang="en-IN" b="1" dirty="0"/>
              <a:t>structure in the memory</a:t>
            </a:r>
            <a:r>
              <a:rPr lang="en-IN" dirty="0"/>
              <a:t> of a computer is called </a:t>
            </a:r>
            <a:r>
              <a:rPr lang="en-IN" b="1" i="1" dirty="0">
                <a:solidFill>
                  <a:srgbClr val="C00000"/>
                </a:solidFill>
              </a:rPr>
              <a:t>Storage Structure.</a:t>
            </a:r>
          </a:p>
          <a:p>
            <a:r>
              <a:rPr lang="en-IN" dirty="0"/>
              <a:t>The storage structure </a:t>
            </a:r>
            <a:r>
              <a:rPr lang="en-IN" b="1" dirty="0"/>
              <a:t>representation</a:t>
            </a:r>
            <a:r>
              <a:rPr lang="en-IN" dirty="0"/>
              <a:t> </a:t>
            </a:r>
            <a:r>
              <a:rPr lang="en-IN" b="1" dirty="0"/>
              <a:t>in auxiliary memory </a:t>
            </a:r>
            <a:r>
              <a:rPr lang="en-IN" dirty="0"/>
              <a:t>is called as </a:t>
            </a:r>
            <a:r>
              <a:rPr lang="en-IN" b="1" i="1" dirty="0">
                <a:solidFill>
                  <a:srgbClr val="C00000"/>
                </a:solidFill>
              </a:rPr>
              <a:t>File Structure.</a:t>
            </a:r>
          </a:p>
        </p:txBody>
      </p:sp>
      <p:pic>
        <p:nvPicPr>
          <p:cNvPr id="4098" name="Picture 2" descr="E:\Clients\Darshan\Data Structure\2018\PPT\images\Algorith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48771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E:\Clients\Darshan\Data Structure\2018\PPT\images\data structur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1600" y="2535336"/>
            <a:ext cx="1625934" cy="13239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Clients\Darshan\Data Structure\2018\PPT\images\Amazon-Interview-Questions - Cop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1" y="2535336"/>
            <a:ext cx="1488951" cy="1095375"/>
          </a:xfrm>
          <a:prstGeom prst="rect">
            <a:avLst/>
          </a:prstGeom>
          <a:noFill/>
          <a:extLst>
            <a:ext uri="{909E8E84-426E-40DD-AFC4-6F175D3DCCD1}">
              <a14:hiddenFill xmlns:a14="http://schemas.microsoft.com/office/drawing/2010/main">
                <a:solidFill>
                  <a:srgbClr val="FFFFFF"/>
                </a:solidFill>
              </a14:hiddenFill>
            </a:ext>
          </a:extLst>
        </p:spPr>
      </p:pic>
      <p:sp>
        <p:nvSpPr>
          <p:cNvPr id="4" name="Plus 3"/>
          <p:cNvSpPr/>
          <p:nvPr/>
        </p:nvSpPr>
        <p:spPr>
          <a:xfrm>
            <a:off x="4191000" y="2906810"/>
            <a:ext cx="533400" cy="533400"/>
          </a:xfrm>
          <a:prstGeom prst="mathPlus">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Equal 5"/>
          <p:cNvSpPr/>
          <p:nvPr/>
        </p:nvSpPr>
        <p:spPr>
          <a:xfrm>
            <a:off x="7155744" y="2906810"/>
            <a:ext cx="533400" cy="533400"/>
          </a:xfrm>
          <a:prstGeom prst="mathEqual">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7" name="TextBox 6"/>
          <p:cNvSpPr txBox="1"/>
          <p:nvPr/>
        </p:nvSpPr>
        <p:spPr>
          <a:xfrm>
            <a:off x="2590801" y="4083445"/>
            <a:ext cx="1460849" cy="461665"/>
          </a:xfrm>
          <a:prstGeom prst="rect">
            <a:avLst/>
          </a:prstGeom>
          <a:noFill/>
        </p:spPr>
        <p:txBody>
          <a:bodyPr wrap="none" rtlCol="0">
            <a:spAutoFit/>
          </a:bodyPr>
          <a:lstStyle/>
          <a:p>
            <a:r>
              <a:rPr lang="en-IN" sz="2400" b="1" dirty="0"/>
              <a:t>Algorithm</a:t>
            </a:r>
            <a:endParaRPr lang="en-US" sz="2400" b="1" dirty="0"/>
          </a:p>
        </p:txBody>
      </p:sp>
      <p:sp>
        <p:nvSpPr>
          <p:cNvPr id="11" name="TextBox 10"/>
          <p:cNvSpPr txBox="1"/>
          <p:nvPr/>
        </p:nvSpPr>
        <p:spPr>
          <a:xfrm>
            <a:off x="4953001" y="4083445"/>
            <a:ext cx="2042803" cy="461665"/>
          </a:xfrm>
          <a:prstGeom prst="rect">
            <a:avLst/>
          </a:prstGeom>
          <a:noFill/>
        </p:spPr>
        <p:txBody>
          <a:bodyPr wrap="none" rtlCol="0">
            <a:spAutoFit/>
          </a:bodyPr>
          <a:lstStyle/>
          <a:p>
            <a:r>
              <a:rPr lang="en-IN" sz="2400" b="1" dirty="0"/>
              <a:t>Data Structure</a:t>
            </a:r>
            <a:endParaRPr lang="en-US" sz="2400" b="1" dirty="0"/>
          </a:p>
        </p:txBody>
      </p:sp>
      <p:sp>
        <p:nvSpPr>
          <p:cNvPr id="12" name="TextBox 11"/>
          <p:cNvSpPr txBox="1"/>
          <p:nvPr/>
        </p:nvSpPr>
        <p:spPr>
          <a:xfrm>
            <a:off x="8110974" y="4083445"/>
            <a:ext cx="1269002" cy="461665"/>
          </a:xfrm>
          <a:prstGeom prst="rect">
            <a:avLst/>
          </a:prstGeom>
          <a:noFill/>
        </p:spPr>
        <p:txBody>
          <a:bodyPr wrap="none" rtlCol="0">
            <a:spAutoFit/>
          </a:bodyPr>
          <a:lstStyle/>
          <a:p>
            <a:r>
              <a:rPr lang="en-IN" sz="2400" b="1" dirty="0"/>
              <a:t>Program</a:t>
            </a:r>
            <a:endParaRPr lang="en-US" sz="2400" b="1" dirty="0"/>
          </a:p>
        </p:txBody>
      </p:sp>
    </p:spTree>
    <p:extLst>
      <p:ext uri="{BB962C8B-B14F-4D97-AF65-F5344CB8AC3E}">
        <p14:creationId xmlns:p14="http://schemas.microsoft.com/office/powerpoint/2010/main" val="175166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0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animBg="1"/>
      <p:bldP spid="7"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IN" dirty="0"/>
              <a:t>Classification of Data Structure</a:t>
            </a:r>
            <a:endParaRPr lang="en-US" dirty="0"/>
          </a:p>
        </p:txBody>
      </p:sp>
      <p:sp>
        <p:nvSpPr>
          <p:cNvPr id="54" name="Rounded Rectangle 53"/>
          <p:cNvSpPr/>
          <p:nvPr/>
        </p:nvSpPr>
        <p:spPr>
          <a:xfrm>
            <a:off x="4650809" y="997857"/>
            <a:ext cx="2286000" cy="457200"/>
          </a:xfrm>
          <a:prstGeom prst="roundRect">
            <a:avLst/>
          </a:prstGeom>
          <a:solidFill>
            <a:sysClr val="windowText" lastClr="000000"/>
          </a:solidFill>
          <a:ln w="25400" cap="flat" cmpd="sng" algn="ctr">
            <a:solidFill>
              <a:sysClr val="windowText" lastClr="000000">
                <a:shade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rPr>
              <a:t>Data Structure</a:t>
            </a:r>
            <a:endParaRPr kumimoji="0" lang="en-US" sz="1800" b="0" i="0" u="none" strike="noStrike" kern="0" cap="none" spc="0" normalizeH="0" baseline="0" noProof="0" dirty="0">
              <a:ln>
                <a:noFill/>
              </a:ln>
              <a:solidFill>
                <a:prstClr val="white"/>
              </a:solidFill>
              <a:effectLst/>
              <a:uLnTx/>
              <a:uFillTx/>
              <a:latin typeface="Calibri"/>
            </a:endParaRPr>
          </a:p>
        </p:txBody>
      </p:sp>
      <p:grpSp>
        <p:nvGrpSpPr>
          <p:cNvPr id="56" name="Group 55"/>
          <p:cNvGrpSpPr/>
          <p:nvPr/>
        </p:nvGrpSpPr>
        <p:grpSpPr>
          <a:xfrm>
            <a:off x="2060009" y="1455057"/>
            <a:ext cx="7949852" cy="914400"/>
            <a:chOff x="609600" y="1600200"/>
            <a:chExt cx="7949852" cy="914400"/>
          </a:xfrm>
          <a:solidFill>
            <a:sysClr val="window" lastClr="FFFFFF">
              <a:lumMod val="50000"/>
            </a:sysClr>
          </a:solidFill>
        </p:grpSpPr>
        <p:sp>
          <p:nvSpPr>
            <p:cNvPr id="58" name="Rounded Rectangle 57"/>
            <p:cNvSpPr/>
            <p:nvPr/>
          </p:nvSpPr>
          <p:spPr>
            <a:xfrm>
              <a:off x="609600" y="2057400"/>
              <a:ext cx="2590800" cy="457200"/>
            </a:xfrm>
            <a:prstGeom prst="roundRect">
              <a:avLst/>
            </a:prstGeom>
            <a:solidFill>
              <a:sysClr val="window" lastClr="FFFFFF">
                <a:lumMod val="50000"/>
              </a:sysClr>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rPr>
                <a:t>Primitive Data Structure</a:t>
              </a:r>
              <a:endParaRPr kumimoji="0" lang="en-US" sz="1800" b="0" i="0" u="none" strike="noStrike" kern="0" cap="none" spc="0" normalizeH="0" baseline="0" noProof="0" dirty="0">
                <a:ln>
                  <a:noFill/>
                </a:ln>
                <a:solidFill>
                  <a:prstClr val="white"/>
                </a:solidFill>
                <a:effectLst/>
                <a:uLnTx/>
                <a:uFillTx/>
                <a:latin typeface="Calibri"/>
              </a:endParaRPr>
            </a:p>
          </p:txBody>
        </p:sp>
        <p:sp>
          <p:nvSpPr>
            <p:cNvPr id="60" name="Rounded Rectangle 59"/>
            <p:cNvSpPr/>
            <p:nvPr/>
          </p:nvSpPr>
          <p:spPr>
            <a:xfrm>
              <a:off x="5435252" y="2057400"/>
              <a:ext cx="3124200" cy="457200"/>
            </a:xfrm>
            <a:prstGeom prst="roundRect">
              <a:avLst/>
            </a:prstGeom>
            <a:solidFill>
              <a:sysClr val="window" lastClr="FFFFFF">
                <a:lumMod val="50000"/>
              </a:sysClr>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rPr>
                <a:t>Non-Primitive Data Structure</a:t>
              </a:r>
              <a:endParaRPr kumimoji="0" lang="en-US" sz="1800" b="0" i="0" u="none" strike="noStrike" kern="0" cap="none" spc="0" normalizeH="0" baseline="0" noProof="0" dirty="0">
                <a:ln>
                  <a:noFill/>
                </a:ln>
                <a:solidFill>
                  <a:prstClr val="white"/>
                </a:solidFill>
                <a:effectLst/>
                <a:uLnTx/>
                <a:uFillTx/>
                <a:latin typeface="Calibri"/>
              </a:endParaRPr>
            </a:p>
          </p:txBody>
        </p:sp>
        <p:cxnSp>
          <p:nvCxnSpPr>
            <p:cNvPr id="62" name="Straight Connector 61"/>
            <p:cNvCxnSpPr/>
            <p:nvPr/>
          </p:nvCxnSpPr>
          <p:spPr>
            <a:xfrm>
              <a:off x="1905000" y="1752600"/>
              <a:ext cx="5105400" cy="0"/>
            </a:xfrm>
            <a:prstGeom prst="line">
              <a:avLst/>
            </a:prstGeom>
            <a:grpFill/>
            <a:ln w="38100" cap="flat" cmpd="sng" algn="ctr">
              <a:solidFill>
                <a:sysClr val="windowText" lastClr="000000"/>
              </a:solidFill>
              <a:prstDash val="solid"/>
            </a:ln>
            <a:effectLst>
              <a:outerShdw blurRad="40000" dist="23000" dir="5400000" rotWithShape="0">
                <a:srgbClr val="000000">
                  <a:alpha val="35000"/>
                </a:srgbClr>
              </a:outerShdw>
            </a:effectLst>
          </p:spPr>
        </p:cxnSp>
        <p:cxnSp>
          <p:nvCxnSpPr>
            <p:cNvPr id="64" name="Straight Arrow Connector 63"/>
            <p:cNvCxnSpPr>
              <a:endCxn id="58" idx="0"/>
            </p:cNvCxnSpPr>
            <p:nvPr/>
          </p:nvCxnSpPr>
          <p:spPr>
            <a:xfrm>
              <a:off x="1905000" y="1752600"/>
              <a:ext cx="0" cy="304800"/>
            </a:xfrm>
            <a:prstGeom prst="straightConnector1">
              <a:avLst/>
            </a:prstGeom>
            <a:grpFill/>
            <a:ln w="38100" cap="flat" cmpd="sng" algn="ctr">
              <a:solidFill>
                <a:sysClr val="windowText" lastClr="000000"/>
              </a:solidFill>
              <a:prstDash val="solid"/>
              <a:tailEnd type="arrow"/>
            </a:ln>
            <a:effectLst>
              <a:outerShdw blurRad="40000" dist="23000" dir="5400000" rotWithShape="0">
                <a:srgbClr val="000000">
                  <a:alpha val="35000"/>
                </a:srgbClr>
              </a:outerShdw>
            </a:effectLst>
          </p:spPr>
        </p:cxnSp>
        <p:cxnSp>
          <p:nvCxnSpPr>
            <p:cNvPr id="66" name="Straight Arrow Connector 65"/>
            <p:cNvCxnSpPr>
              <a:endCxn id="60" idx="0"/>
            </p:cNvCxnSpPr>
            <p:nvPr/>
          </p:nvCxnSpPr>
          <p:spPr>
            <a:xfrm>
              <a:off x="6997352" y="1752600"/>
              <a:ext cx="0" cy="304800"/>
            </a:xfrm>
            <a:prstGeom prst="straightConnector1">
              <a:avLst/>
            </a:prstGeom>
            <a:grpFill/>
            <a:ln w="38100" cap="flat" cmpd="sng" algn="ctr">
              <a:solidFill>
                <a:sysClr val="windowText" lastClr="000000"/>
              </a:solidFill>
              <a:prstDash val="solid"/>
              <a:tailEnd type="arrow"/>
            </a:ln>
            <a:effectLst>
              <a:outerShdw blurRad="40000" dist="23000" dir="5400000" rotWithShape="0">
                <a:srgbClr val="000000">
                  <a:alpha val="35000"/>
                </a:srgbClr>
              </a:outerShdw>
            </a:effectLst>
          </p:spPr>
        </p:cxnSp>
        <p:cxnSp>
          <p:nvCxnSpPr>
            <p:cNvPr id="67" name="Straight Connector 66"/>
            <p:cNvCxnSpPr>
              <a:stCxn id="54" idx="2"/>
            </p:cNvCxnSpPr>
            <p:nvPr/>
          </p:nvCxnSpPr>
          <p:spPr>
            <a:xfrm>
              <a:off x="4343400" y="1600200"/>
              <a:ext cx="0" cy="152400"/>
            </a:xfrm>
            <a:prstGeom prst="line">
              <a:avLst/>
            </a:prstGeom>
            <a:grpFill/>
            <a:ln w="38100" cap="flat" cmpd="sng" algn="ctr">
              <a:solidFill>
                <a:sysClr val="windowText" lastClr="000000"/>
              </a:solidFill>
              <a:prstDash val="solid"/>
            </a:ln>
            <a:effectLst>
              <a:outerShdw blurRad="40000" dist="23000" dir="5400000" rotWithShape="0">
                <a:srgbClr val="000000">
                  <a:alpha val="35000"/>
                </a:srgbClr>
              </a:outerShdw>
            </a:effectLst>
          </p:spPr>
        </p:cxnSp>
      </p:grpSp>
      <p:grpSp>
        <p:nvGrpSpPr>
          <p:cNvPr id="68" name="Group 67"/>
          <p:cNvGrpSpPr/>
          <p:nvPr/>
        </p:nvGrpSpPr>
        <p:grpSpPr>
          <a:xfrm>
            <a:off x="1744771" y="2369457"/>
            <a:ext cx="3678476" cy="1811055"/>
            <a:chOff x="294362" y="2514600"/>
            <a:chExt cx="3678476" cy="1811055"/>
          </a:xfrm>
        </p:grpSpPr>
        <p:sp>
          <p:nvSpPr>
            <p:cNvPr id="69" name="Rounded Rectangle 68"/>
            <p:cNvSpPr/>
            <p:nvPr/>
          </p:nvSpPr>
          <p:spPr>
            <a:xfrm>
              <a:off x="294362" y="2895600"/>
              <a:ext cx="1077238" cy="457200"/>
            </a:xfrm>
            <a:prstGeom prst="roundRect">
              <a:avLst/>
            </a:prstGeom>
            <a:solidFill>
              <a:sysClr val="window" lastClr="FFFFFF">
                <a:lumMod val="75000"/>
              </a:sysClr>
            </a:solidFill>
            <a:ln w="9525"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Integer</a:t>
              </a:r>
              <a:endParaRPr kumimoji="0" lang="en-US" sz="1800" b="0" i="0" u="none" strike="noStrike" kern="0" cap="none" spc="0" normalizeH="0" baseline="0" noProof="0" dirty="0">
                <a:ln>
                  <a:noFill/>
                </a:ln>
                <a:solidFill>
                  <a:prstClr val="black"/>
                </a:solidFill>
                <a:effectLst/>
                <a:uLnTx/>
                <a:uFillTx/>
                <a:latin typeface="Calibri"/>
              </a:endParaRPr>
            </a:p>
          </p:txBody>
        </p:sp>
        <p:sp>
          <p:nvSpPr>
            <p:cNvPr id="70" name="Rounded Rectangle 69"/>
            <p:cNvSpPr/>
            <p:nvPr/>
          </p:nvSpPr>
          <p:spPr>
            <a:xfrm>
              <a:off x="1213981" y="3716055"/>
              <a:ext cx="1077238" cy="609600"/>
            </a:xfrm>
            <a:prstGeom prst="roundRect">
              <a:avLst/>
            </a:prstGeom>
            <a:solidFill>
              <a:sysClr val="window" lastClr="FFFFFF">
                <a:lumMod val="75000"/>
              </a:sysClr>
            </a:solidFill>
            <a:ln w="9525"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Floating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Point</a:t>
              </a:r>
              <a:endParaRPr kumimoji="0" lang="en-US" sz="1800" b="0" i="0" u="none" strike="noStrike" kern="0" cap="none" spc="0" normalizeH="0" baseline="0" noProof="0" dirty="0">
                <a:ln>
                  <a:noFill/>
                </a:ln>
                <a:solidFill>
                  <a:prstClr val="black"/>
                </a:solidFill>
                <a:effectLst/>
                <a:uLnTx/>
                <a:uFillTx/>
                <a:latin typeface="Calibri"/>
              </a:endParaRPr>
            </a:p>
          </p:txBody>
        </p:sp>
        <p:sp>
          <p:nvSpPr>
            <p:cNvPr id="71" name="Rounded Rectangle 70"/>
            <p:cNvSpPr/>
            <p:nvPr/>
          </p:nvSpPr>
          <p:spPr>
            <a:xfrm>
              <a:off x="1882282" y="2895600"/>
              <a:ext cx="1291224" cy="457200"/>
            </a:xfrm>
            <a:prstGeom prst="roundRect">
              <a:avLst/>
            </a:prstGeom>
            <a:solidFill>
              <a:sysClr val="window" lastClr="FFFFFF">
                <a:lumMod val="75000"/>
              </a:sysClr>
            </a:solidFill>
            <a:ln w="9525"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Characters</a:t>
              </a:r>
              <a:endParaRPr kumimoji="0" lang="en-US" sz="1800" b="0" i="0" u="none" strike="noStrike" kern="0" cap="none" spc="0" normalizeH="0" baseline="0" noProof="0" dirty="0">
                <a:ln>
                  <a:noFill/>
                </a:ln>
                <a:solidFill>
                  <a:prstClr val="black"/>
                </a:solidFill>
                <a:effectLst/>
                <a:uLnTx/>
                <a:uFillTx/>
                <a:latin typeface="Calibri"/>
              </a:endParaRPr>
            </a:p>
          </p:txBody>
        </p:sp>
        <p:sp>
          <p:nvSpPr>
            <p:cNvPr id="73" name="Rounded Rectangle 72"/>
            <p:cNvSpPr/>
            <p:nvPr/>
          </p:nvSpPr>
          <p:spPr>
            <a:xfrm>
              <a:off x="2895600" y="3716055"/>
              <a:ext cx="1077238" cy="457200"/>
            </a:xfrm>
            <a:prstGeom prst="roundRect">
              <a:avLst/>
            </a:prstGeom>
            <a:solidFill>
              <a:sysClr val="window" lastClr="FFFFFF">
                <a:lumMod val="75000"/>
              </a:sysClr>
            </a:solidFill>
            <a:ln w="9525"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Pointers</a:t>
              </a:r>
              <a:endParaRPr kumimoji="0" lang="en-US" sz="1800" b="0" i="0" u="none" strike="noStrike" kern="0" cap="none" spc="0" normalizeH="0" baseline="0" noProof="0" dirty="0">
                <a:ln>
                  <a:noFill/>
                </a:ln>
                <a:solidFill>
                  <a:prstClr val="black"/>
                </a:solidFill>
                <a:effectLst/>
                <a:uLnTx/>
                <a:uFillTx/>
                <a:latin typeface="Calibri"/>
              </a:endParaRPr>
            </a:p>
          </p:txBody>
        </p:sp>
        <p:cxnSp>
          <p:nvCxnSpPr>
            <p:cNvPr id="75" name="Straight Connector 74"/>
            <p:cNvCxnSpPr/>
            <p:nvPr/>
          </p:nvCxnSpPr>
          <p:spPr>
            <a:xfrm>
              <a:off x="832981" y="2667000"/>
              <a:ext cx="2601238" cy="0"/>
            </a:xfrm>
            <a:prstGeom prst="line">
              <a:avLst/>
            </a:prstGeom>
            <a:no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cxnSp>
          <p:nvCxnSpPr>
            <p:cNvPr id="76" name="Straight Arrow Connector 75"/>
            <p:cNvCxnSpPr>
              <a:endCxn id="69" idx="0"/>
            </p:cNvCxnSpPr>
            <p:nvPr/>
          </p:nvCxnSpPr>
          <p:spPr>
            <a:xfrm>
              <a:off x="832981" y="2667000"/>
              <a:ext cx="0" cy="228600"/>
            </a:xfrm>
            <a:prstGeom prst="straightConnector1">
              <a:avLst/>
            </a:prstGeom>
            <a:no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77" name="Straight Arrow Connector 76"/>
            <p:cNvCxnSpPr>
              <a:endCxn id="71" idx="0"/>
            </p:cNvCxnSpPr>
            <p:nvPr/>
          </p:nvCxnSpPr>
          <p:spPr>
            <a:xfrm>
              <a:off x="2516688" y="2653553"/>
              <a:ext cx="11206" cy="242047"/>
            </a:xfrm>
            <a:prstGeom prst="straightConnector1">
              <a:avLst/>
            </a:prstGeom>
            <a:no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79" name="Straight Arrow Connector 78"/>
            <p:cNvCxnSpPr>
              <a:endCxn id="73" idx="0"/>
            </p:cNvCxnSpPr>
            <p:nvPr/>
          </p:nvCxnSpPr>
          <p:spPr>
            <a:xfrm>
              <a:off x="3434219" y="2667000"/>
              <a:ext cx="0" cy="1049055"/>
            </a:xfrm>
            <a:prstGeom prst="straightConnector1">
              <a:avLst/>
            </a:prstGeom>
            <a:no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81" name="Straight Arrow Connector 80"/>
            <p:cNvCxnSpPr>
              <a:endCxn id="70" idx="0"/>
            </p:cNvCxnSpPr>
            <p:nvPr/>
          </p:nvCxnSpPr>
          <p:spPr>
            <a:xfrm>
              <a:off x="1752600" y="2667000"/>
              <a:ext cx="0" cy="1049055"/>
            </a:xfrm>
            <a:prstGeom prst="straightConnector1">
              <a:avLst/>
            </a:prstGeom>
            <a:no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83" name="Straight Connector 82"/>
            <p:cNvCxnSpPr>
              <a:stCxn id="58" idx="2"/>
            </p:cNvCxnSpPr>
            <p:nvPr/>
          </p:nvCxnSpPr>
          <p:spPr>
            <a:xfrm>
              <a:off x="1905000" y="2514600"/>
              <a:ext cx="0" cy="152400"/>
            </a:xfrm>
            <a:prstGeom prst="line">
              <a:avLst/>
            </a:prstGeom>
            <a:no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grpSp>
      <p:grpSp>
        <p:nvGrpSpPr>
          <p:cNvPr id="85" name="Group 84"/>
          <p:cNvGrpSpPr/>
          <p:nvPr/>
        </p:nvGrpSpPr>
        <p:grpSpPr>
          <a:xfrm>
            <a:off x="6561028" y="2665678"/>
            <a:ext cx="4944980" cy="1238110"/>
            <a:chOff x="4572000" y="3716055"/>
            <a:chExt cx="4944980" cy="1238110"/>
          </a:xfrm>
          <a:solidFill>
            <a:sysClr val="window" lastClr="FFFFFF">
              <a:lumMod val="85000"/>
            </a:sysClr>
          </a:solidFill>
        </p:grpSpPr>
        <p:sp>
          <p:nvSpPr>
            <p:cNvPr id="86" name="Rounded Rectangle 85"/>
            <p:cNvSpPr/>
            <p:nvPr/>
          </p:nvSpPr>
          <p:spPr>
            <a:xfrm>
              <a:off x="4572000" y="4038600"/>
              <a:ext cx="1077238" cy="609600"/>
            </a:xfrm>
            <a:prstGeom prst="roundRect">
              <a:avLst/>
            </a:prstGeom>
            <a:grpFill/>
            <a:ln w="25400"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Linear List</a:t>
              </a:r>
              <a:endParaRPr kumimoji="0" lang="en-US" sz="1800" b="0" i="0" u="none" strike="noStrike" kern="0" cap="none" spc="0" normalizeH="0" baseline="0" noProof="0" dirty="0">
                <a:ln>
                  <a:noFill/>
                </a:ln>
                <a:solidFill>
                  <a:prstClr val="black"/>
                </a:solidFill>
                <a:effectLst/>
                <a:uLnTx/>
                <a:uFillTx/>
                <a:latin typeface="Calibri"/>
              </a:endParaRPr>
            </a:p>
          </p:txBody>
        </p:sp>
        <p:sp>
          <p:nvSpPr>
            <p:cNvPr id="87" name="Rounded Rectangle 86"/>
            <p:cNvSpPr/>
            <p:nvPr/>
          </p:nvSpPr>
          <p:spPr>
            <a:xfrm>
              <a:off x="8232018" y="4038600"/>
              <a:ext cx="1284962" cy="609600"/>
            </a:xfrm>
            <a:prstGeom prst="roundRect">
              <a:avLst/>
            </a:prstGeom>
            <a:grpFill/>
            <a:ln w="25400"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Non-linear List</a:t>
              </a:r>
              <a:endParaRPr kumimoji="0" lang="en-US" sz="1800" b="0" i="0" u="none" strike="noStrike" kern="0" cap="none" spc="0" normalizeH="0" baseline="0" noProof="0" dirty="0">
                <a:ln>
                  <a:noFill/>
                </a:ln>
                <a:solidFill>
                  <a:prstClr val="black"/>
                </a:solidFill>
                <a:effectLst/>
                <a:uLnTx/>
                <a:uFillTx/>
                <a:latin typeface="Calibri"/>
              </a:endParaRPr>
            </a:p>
          </p:txBody>
        </p:sp>
        <p:cxnSp>
          <p:nvCxnSpPr>
            <p:cNvPr id="90" name="Straight Connector 89"/>
            <p:cNvCxnSpPr>
              <a:cxnSpLocks/>
            </p:cNvCxnSpPr>
            <p:nvPr/>
          </p:nvCxnSpPr>
          <p:spPr>
            <a:xfrm>
              <a:off x="5110619" y="3733800"/>
              <a:ext cx="3776900" cy="0"/>
            </a:xfrm>
            <a:prstGeom prst="line">
              <a:avLst/>
            </a:prstGeom>
            <a:grp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cxnSp>
          <p:nvCxnSpPr>
            <p:cNvPr id="91" name="Straight Arrow Connector 90"/>
            <p:cNvCxnSpPr>
              <a:endCxn id="86" idx="0"/>
            </p:cNvCxnSpPr>
            <p:nvPr/>
          </p:nvCxnSpPr>
          <p:spPr>
            <a:xfrm>
              <a:off x="5110619" y="3716055"/>
              <a:ext cx="0" cy="322545"/>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92" name="Straight Arrow Connector 91"/>
            <p:cNvCxnSpPr>
              <a:cxnSpLocks/>
            </p:cNvCxnSpPr>
            <p:nvPr/>
          </p:nvCxnSpPr>
          <p:spPr>
            <a:xfrm>
              <a:off x="8887519" y="3733800"/>
              <a:ext cx="0" cy="304800"/>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99" name="Straight Connector 98"/>
            <p:cNvCxnSpPr>
              <a:cxnSpLocks/>
            </p:cNvCxnSpPr>
            <p:nvPr/>
          </p:nvCxnSpPr>
          <p:spPr>
            <a:xfrm>
              <a:off x="5111734" y="4646058"/>
              <a:ext cx="0" cy="308107"/>
            </a:xfrm>
            <a:prstGeom prst="line">
              <a:avLst/>
            </a:prstGeom>
            <a:grp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grpSp>
      <p:grpSp>
        <p:nvGrpSpPr>
          <p:cNvPr id="100" name="Group 99"/>
          <p:cNvGrpSpPr/>
          <p:nvPr/>
        </p:nvGrpSpPr>
        <p:grpSpPr>
          <a:xfrm>
            <a:off x="7421809" y="4174577"/>
            <a:ext cx="3454738" cy="1972034"/>
            <a:chOff x="2795749" y="3742966"/>
            <a:chExt cx="3454738" cy="1972034"/>
          </a:xfrm>
          <a:solidFill>
            <a:sysClr val="window" lastClr="FFFFFF">
              <a:lumMod val="95000"/>
            </a:sysClr>
          </a:solidFill>
        </p:grpSpPr>
        <p:sp>
          <p:nvSpPr>
            <p:cNvPr id="101" name="Rounded Rectangle 100"/>
            <p:cNvSpPr/>
            <p:nvPr/>
          </p:nvSpPr>
          <p:spPr>
            <a:xfrm>
              <a:off x="3875762" y="5257800"/>
              <a:ext cx="1077238" cy="457200"/>
            </a:xfrm>
            <a:prstGeom prst="roundRect">
              <a:avLst/>
            </a:prstGeom>
            <a:grpFill/>
            <a:ln w="9525"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Stack</a:t>
              </a:r>
              <a:endParaRPr kumimoji="0" lang="en-US" sz="1800" b="0" i="0" u="none" strike="noStrike" kern="0" cap="none" spc="0" normalizeH="0" baseline="0" noProof="0" dirty="0">
                <a:ln>
                  <a:noFill/>
                </a:ln>
                <a:solidFill>
                  <a:prstClr val="black"/>
                </a:solidFill>
                <a:effectLst/>
                <a:uLnTx/>
                <a:uFillTx/>
                <a:latin typeface="Calibri"/>
              </a:endParaRPr>
            </a:p>
          </p:txBody>
        </p:sp>
        <p:sp>
          <p:nvSpPr>
            <p:cNvPr id="102" name="Rounded Rectangle 101"/>
            <p:cNvSpPr/>
            <p:nvPr/>
          </p:nvSpPr>
          <p:spPr>
            <a:xfrm>
              <a:off x="5173249" y="5257800"/>
              <a:ext cx="1077238" cy="457200"/>
            </a:xfrm>
            <a:prstGeom prst="roundRect">
              <a:avLst/>
            </a:prstGeom>
            <a:grpFill/>
            <a:ln w="9525"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Queue</a:t>
              </a:r>
              <a:endParaRPr kumimoji="0" lang="en-US" sz="1800" b="0" i="0" u="none" strike="noStrike" kern="0" cap="none" spc="0" normalizeH="0" baseline="0" noProof="0" dirty="0">
                <a:ln>
                  <a:noFill/>
                </a:ln>
                <a:solidFill>
                  <a:prstClr val="black"/>
                </a:solidFill>
                <a:effectLst/>
                <a:uLnTx/>
                <a:uFillTx/>
                <a:latin typeface="Calibri"/>
              </a:endParaRPr>
            </a:p>
          </p:txBody>
        </p:sp>
        <p:cxnSp>
          <p:nvCxnSpPr>
            <p:cNvPr id="103" name="Straight Connector 102"/>
            <p:cNvCxnSpPr>
              <a:cxnSpLocks/>
            </p:cNvCxnSpPr>
            <p:nvPr/>
          </p:nvCxnSpPr>
          <p:spPr>
            <a:xfrm>
              <a:off x="2795749" y="4953000"/>
              <a:ext cx="2916119" cy="0"/>
            </a:xfrm>
            <a:prstGeom prst="line">
              <a:avLst/>
            </a:prstGeom>
            <a:grp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cxnSp>
          <p:nvCxnSpPr>
            <p:cNvPr id="104" name="Straight Arrow Connector 103"/>
            <p:cNvCxnSpPr>
              <a:endCxn id="101" idx="0"/>
            </p:cNvCxnSpPr>
            <p:nvPr/>
          </p:nvCxnSpPr>
          <p:spPr>
            <a:xfrm>
              <a:off x="4409162" y="4953000"/>
              <a:ext cx="5219" cy="304800"/>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105" name="Straight Arrow Connector 104"/>
            <p:cNvCxnSpPr>
              <a:endCxn id="102" idx="0"/>
            </p:cNvCxnSpPr>
            <p:nvPr/>
          </p:nvCxnSpPr>
          <p:spPr>
            <a:xfrm>
              <a:off x="5711868" y="4953000"/>
              <a:ext cx="0" cy="304800"/>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106" name="Straight Connector 105"/>
            <p:cNvCxnSpPr>
              <a:stCxn id="86" idx="2"/>
            </p:cNvCxnSpPr>
            <p:nvPr/>
          </p:nvCxnSpPr>
          <p:spPr>
            <a:xfrm>
              <a:off x="5649238" y="3742966"/>
              <a:ext cx="0" cy="304800"/>
            </a:xfrm>
            <a:prstGeom prst="line">
              <a:avLst/>
            </a:prstGeom>
            <a:grp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grpSp>
      <p:grpSp>
        <p:nvGrpSpPr>
          <p:cNvPr id="107" name="Group 106"/>
          <p:cNvGrpSpPr/>
          <p:nvPr/>
        </p:nvGrpSpPr>
        <p:grpSpPr>
          <a:xfrm>
            <a:off x="9740175" y="3974240"/>
            <a:ext cx="2362200" cy="762000"/>
            <a:chOff x="6634619" y="4953000"/>
            <a:chExt cx="2362200" cy="762000"/>
          </a:xfrm>
          <a:solidFill>
            <a:sysClr val="window" lastClr="FFFFFF">
              <a:lumMod val="95000"/>
            </a:sysClr>
          </a:solidFill>
        </p:grpSpPr>
        <p:sp>
          <p:nvSpPr>
            <p:cNvPr id="108" name="Rounded Rectangle 107"/>
            <p:cNvSpPr/>
            <p:nvPr/>
          </p:nvSpPr>
          <p:spPr>
            <a:xfrm>
              <a:off x="6634619" y="5257800"/>
              <a:ext cx="1077238" cy="457200"/>
            </a:xfrm>
            <a:prstGeom prst="roundRect">
              <a:avLst/>
            </a:prstGeom>
            <a:grpFill/>
            <a:ln w="9525"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Graphs</a:t>
              </a:r>
              <a:endParaRPr kumimoji="0" lang="en-US" sz="1800" b="0" i="0" u="none" strike="noStrike" kern="0" cap="none" spc="0" normalizeH="0" baseline="0" noProof="0" dirty="0">
                <a:ln>
                  <a:noFill/>
                </a:ln>
                <a:solidFill>
                  <a:prstClr val="black"/>
                </a:solidFill>
                <a:effectLst/>
                <a:uLnTx/>
                <a:uFillTx/>
                <a:latin typeface="Calibri"/>
              </a:endParaRPr>
            </a:p>
          </p:txBody>
        </p:sp>
        <p:sp>
          <p:nvSpPr>
            <p:cNvPr id="109" name="Rounded Rectangle 108"/>
            <p:cNvSpPr/>
            <p:nvPr/>
          </p:nvSpPr>
          <p:spPr>
            <a:xfrm>
              <a:off x="7919581" y="5257800"/>
              <a:ext cx="1077238" cy="457200"/>
            </a:xfrm>
            <a:prstGeom prst="roundRect">
              <a:avLst/>
            </a:prstGeom>
            <a:grpFill/>
            <a:ln w="9525"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Trees</a:t>
              </a:r>
              <a:endParaRPr kumimoji="0" lang="en-US" sz="1800" b="0" i="0" u="none" strike="noStrike" kern="0" cap="none" spc="0" normalizeH="0" baseline="0" noProof="0" dirty="0">
                <a:ln>
                  <a:noFill/>
                </a:ln>
                <a:solidFill>
                  <a:prstClr val="black"/>
                </a:solidFill>
                <a:effectLst/>
                <a:uLnTx/>
                <a:uFillTx/>
                <a:latin typeface="Calibri"/>
              </a:endParaRPr>
            </a:p>
          </p:txBody>
        </p:sp>
        <p:cxnSp>
          <p:nvCxnSpPr>
            <p:cNvPr id="110" name="Straight Connector 109"/>
            <p:cNvCxnSpPr/>
            <p:nvPr/>
          </p:nvCxnSpPr>
          <p:spPr>
            <a:xfrm>
              <a:off x="7173238" y="4953000"/>
              <a:ext cx="1284962" cy="0"/>
            </a:xfrm>
            <a:prstGeom prst="line">
              <a:avLst/>
            </a:prstGeom>
            <a:grp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cxnSp>
          <p:nvCxnSpPr>
            <p:cNvPr id="111" name="Straight Arrow Connector 110"/>
            <p:cNvCxnSpPr>
              <a:endCxn id="108" idx="0"/>
            </p:cNvCxnSpPr>
            <p:nvPr/>
          </p:nvCxnSpPr>
          <p:spPr>
            <a:xfrm>
              <a:off x="7173238" y="4953000"/>
              <a:ext cx="0" cy="304800"/>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112" name="Straight Arrow Connector 111"/>
            <p:cNvCxnSpPr>
              <a:endCxn id="109" idx="0"/>
            </p:cNvCxnSpPr>
            <p:nvPr/>
          </p:nvCxnSpPr>
          <p:spPr>
            <a:xfrm>
              <a:off x="8458200" y="4953000"/>
              <a:ext cx="0" cy="304800"/>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grpSp>
      <p:grpSp>
        <p:nvGrpSpPr>
          <p:cNvPr id="114" name="Group 113"/>
          <p:cNvGrpSpPr/>
          <p:nvPr/>
        </p:nvGrpSpPr>
        <p:grpSpPr>
          <a:xfrm>
            <a:off x="5243898" y="3911832"/>
            <a:ext cx="3697987" cy="2197946"/>
            <a:chOff x="9435289" y="956357"/>
            <a:chExt cx="3697987" cy="2197946"/>
          </a:xfrm>
          <a:solidFill>
            <a:sysClr val="window" lastClr="FFFFFF">
              <a:lumMod val="65000"/>
            </a:sysClr>
          </a:solidFill>
        </p:grpSpPr>
        <p:sp>
          <p:nvSpPr>
            <p:cNvPr id="115" name="Rounded Rectangle 114"/>
            <p:cNvSpPr/>
            <p:nvPr/>
          </p:nvSpPr>
          <p:spPr>
            <a:xfrm>
              <a:off x="9435289" y="2697103"/>
              <a:ext cx="1077238" cy="457200"/>
            </a:xfrm>
            <a:prstGeom prst="roundRect">
              <a:avLst/>
            </a:prstGeom>
            <a:grpFill/>
            <a:ln w="25400"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Arrays</a:t>
              </a:r>
              <a:endParaRPr kumimoji="0" lang="en-US" sz="1800" b="0" i="0" u="none" strike="noStrike" kern="0" cap="none" spc="0" normalizeH="0" baseline="0" noProof="0" dirty="0">
                <a:ln>
                  <a:noFill/>
                </a:ln>
                <a:solidFill>
                  <a:prstClr val="black"/>
                </a:solidFill>
                <a:effectLst/>
                <a:uLnTx/>
                <a:uFillTx/>
                <a:latin typeface="Calibri"/>
              </a:endParaRPr>
            </a:p>
          </p:txBody>
        </p:sp>
        <p:cxnSp>
          <p:nvCxnSpPr>
            <p:cNvPr id="118" name="Straight Connector 117"/>
            <p:cNvCxnSpPr/>
            <p:nvPr/>
          </p:nvCxnSpPr>
          <p:spPr>
            <a:xfrm>
              <a:off x="9932876" y="977345"/>
              <a:ext cx="3200400" cy="0"/>
            </a:xfrm>
            <a:prstGeom prst="line">
              <a:avLst/>
            </a:prstGeom>
            <a:grp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cxnSp>
          <p:nvCxnSpPr>
            <p:cNvPr id="119" name="Straight Arrow Connector 118"/>
            <p:cNvCxnSpPr>
              <a:cxnSpLocks/>
            </p:cNvCxnSpPr>
            <p:nvPr/>
          </p:nvCxnSpPr>
          <p:spPr>
            <a:xfrm>
              <a:off x="9973908" y="1892084"/>
              <a:ext cx="0" cy="788030"/>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122" name="Straight Connector 121"/>
            <p:cNvCxnSpPr>
              <a:cxnSpLocks/>
            </p:cNvCxnSpPr>
            <p:nvPr/>
          </p:nvCxnSpPr>
          <p:spPr>
            <a:xfrm>
              <a:off x="9951145" y="956357"/>
              <a:ext cx="0" cy="513443"/>
            </a:xfrm>
            <a:prstGeom prst="line">
              <a:avLst/>
            </a:prstGeom>
            <a:grp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grpSp>
      <p:sp>
        <p:nvSpPr>
          <p:cNvPr id="57" name="Rounded Rectangle 59">
            <a:extLst>
              <a:ext uri="{FF2B5EF4-FFF2-40B4-BE49-F238E27FC236}">
                <a16:creationId xmlns:a16="http://schemas.microsoft.com/office/drawing/2014/main" id="{8E56F58E-2ED3-4702-8268-30513A9A66CD}"/>
              </a:ext>
            </a:extLst>
          </p:cNvPr>
          <p:cNvSpPr/>
          <p:nvPr/>
        </p:nvSpPr>
        <p:spPr>
          <a:xfrm>
            <a:off x="5236444" y="4390359"/>
            <a:ext cx="1023481" cy="457200"/>
          </a:xfrm>
          <a:prstGeom prst="roundRect">
            <a:avLst/>
          </a:prstGeom>
          <a:solidFill>
            <a:sysClr val="window" lastClr="FFFFFF">
              <a:lumMod val="50000"/>
            </a:sysClr>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rPr>
              <a:t>Static</a:t>
            </a:r>
            <a:endParaRPr kumimoji="0" lang="en-US" sz="1800" b="0" i="0" u="none" strike="noStrike" kern="0" cap="none" spc="0" normalizeH="0" baseline="0" noProof="0" dirty="0">
              <a:ln>
                <a:noFill/>
              </a:ln>
              <a:solidFill>
                <a:prstClr val="white"/>
              </a:solidFill>
              <a:effectLst/>
              <a:uLnTx/>
              <a:uFillTx/>
              <a:latin typeface="Calibri"/>
            </a:endParaRPr>
          </a:p>
        </p:txBody>
      </p:sp>
      <p:grpSp>
        <p:nvGrpSpPr>
          <p:cNvPr id="59" name="Group 58">
            <a:extLst>
              <a:ext uri="{FF2B5EF4-FFF2-40B4-BE49-F238E27FC236}">
                <a16:creationId xmlns:a16="http://schemas.microsoft.com/office/drawing/2014/main" id="{3BFFF792-21E4-4F7C-8FE8-9DCDB14B3958}"/>
              </a:ext>
            </a:extLst>
          </p:cNvPr>
          <p:cNvGrpSpPr/>
          <p:nvPr/>
        </p:nvGrpSpPr>
        <p:grpSpPr>
          <a:xfrm>
            <a:off x="5243898" y="3911831"/>
            <a:ext cx="3697987" cy="2226927"/>
            <a:chOff x="9435289" y="956357"/>
            <a:chExt cx="3697987" cy="2226927"/>
          </a:xfrm>
          <a:solidFill>
            <a:schemeClr val="bg1">
              <a:lumMod val="95000"/>
            </a:schemeClr>
          </a:solidFill>
        </p:grpSpPr>
        <p:sp>
          <p:nvSpPr>
            <p:cNvPr id="61" name="Rounded Rectangle 114">
              <a:extLst>
                <a:ext uri="{FF2B5EF4-FFF2-40B4-BE49-F238E27FC236}">
                  <a16:creationId xmlns:a16="http://schemas.microsoft.com/office/drawing/2014/main" id="{4A4F27AA-5231-4346-92A7-A2C4CE643D6C}"/>
                </a:ext>
              </a:extLst>
            </p:cNvPr>
            <p:cNvSpPr/>
            <p:nvPr/>
          </p:nvSpPr>
          <p:spPr>
            <a:xfrm>
              <a:off x="9435289" y="2697103"/>
              <a:ext cx="1077238" cy="457200"/>
            </a:xfrm>
            <a:prstGeom prst="roundRect">
              <a:avLst/>
            </a:prstGeom>
            <a:grpFill/>
            <a:ln w="25400"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Arrays</a:t>
              </a:r>
              <a:endParaRPr kumimoji="0" lang="en-US" sz="1800" b="0" i="0" u="none" strike="noStrike" kern="0" cap="none" spc="0" normalizeH="0" baseline="0" noProof="0" dirty="0">
                <a:ln>
                  <a:noFill/>
                </a:ln>
                <a:solidFill>
                  <a:prstClr val="black"/>
                </a:solidFill>
                <a:effectLst/>
                <a:uLnTx/>
                <a:uFillTx/>
                <a:latin typeface="Calibri"/>
              </a:endParaRPr>
            </a:p>
          </p:txBody>
        </p:sp>
        <p:sp>
          <p:nvSpPr>
            <p:cNvPr id="63" name="Rounded Rectangle 115">
              <a:extLst>
                <a:ext uri="{FF2B5EF4-FFF2-40B4-BE49-F238E27FC236}">
                  <a16:creationId xmlns:a16="http://schemas.microsoft.com/office/drawing/2014/main" id="{647DE191-49EB-448E-BF9E-D66C4494A979}"/>
                </a:ext>
              </a:extLst>
            </p:cNvPr>
            <p:cNvSpPr/>
            <p:nvPr/>
          </p:nvSpPr>
          <p:spPr>
            <a:xfrm>
              <a:off x="11074581" y="2726084"/>
              <a:ext cx="1077238" cy="457200"/>
            </a:xfrm>
            <a:prstGeom prst="roundRect">
              <a:avLst/>
            </a:prstGeom>
            <a:grpFill/>
            <a:ln w="25400"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rPr>
                <a:t>Lists</a:t>
              </a:r>
              <a:endParaRPr kumimoji="0" lang="en-US" sz="1800" b="0" i="0" u="none" strike="noStrike" kern="0" cap="none" spc="0" normalizeH="0" baseline="0" noProof="0" dirty="0">
                <a:ln>
                  <a:noFill/>
                </a:ln>
                <a:solidFill>
                  <a:prstClr val="black"/>
                </a:solidFill>
                <a:effectLst/>
                <a:uLnTx/>
                <a:uFillTx/>
                <a:latin typeface="Calibri"/>
              </a:endParaRPr>
            </a:p>
          </p:txBody>
        </p:sp>
        <p:cxnSp>
          <p:nvCxnSpPr>
            <p:cNvPr id="65" name="Straight Connector 64">
              <a:extLst>
                <a:ext uri="{FF2B5EF4-FFF2-40B4-BE49-F238E27FC236}">
                  <a16:creationId xmlns:a16="http://schemas.microsoft.com/office/drawing/2014/main" id="{F0D4EF07-CA07-40AB-8ABE-42155C291C32}"/>
                </a:ext>
              </a:extLst>
            </p:cNvPr>
            <p:cNvCxnSpPr/>
            <p:nvPr/>
          </p:nvCxnSpPr>
          <p:spPr>
            <a:xfrm>
              <a:off x="9932876" y="977345"/>
              <a:ext cx="3200400" cy="0"/>
            </a:xfrm>
            <a:prstGeom prst="line">
              <a:avLst/>
            </a:prstGeom>
            <a:grp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cxnSp>
          <p:nvCxnSpPr>
            <p:cNvPr id="72" name="Straight Arrow Connector 71">
              <a:extLst>
                <a:ext uri="{FF2B5EF4-FFF2-40B4-BE49-F238E27FC236}">
                  <a16:creationId xmlns:a16="http://schemas.microsoft.com/office/drawing/2014/main" id="{99395637-57C3-43C3-8306-A2C6E7D67AB9}"/>
                </a:ext>
              </a:extLst>
            </p:cNvPr>
            <p:cNvCxnSpPr>
              <a:cxnSpLocks/>
            </p:cNvCxnSpPr>
            <p:nvPr/>
          </p:nvCxnSpPr>
          <p:spPr>
            <a:xfrm>
              <a:off x="9973908" y="1892084"/>
              <a:ext cx="0" cy="788030"/>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74" name="Straight Arrow Connector 73">
              <a:extLst>
                <a:ext uri="{FF2B5EF4-FFF2-40B4-BE49-F238E27FC236}">
                  <a16:creationId xmlns:a16="http://schemas.microsoft.com/office/drawing/2014/main" id="{612A653C-3269-4E94-848F-96C826C858EE}"/>
                </a:ext>
              </a:extLst>
            </p:cNvPr>
            <p:cNvCxnSpPr>
              <a:cxnSpLocks/>
              <a:endCxn id="63" idx="0"/>
            </p:cNvCxnSpPr>
            <p:nvPr/>
          </p:nvCxnSpPr>
          <p:spPr>
            <a:xfrm>
              <a:off x="11613200" y="2432529"/>
              <a:ext cx="0" cy="293555"/>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78" name="Straight Arrow Connector 77">
              <a:extLst>
                <a:ext uri="{FF2B5EF4-FFF2-40B4-BE49-F238E27FC236}">
                  <a16:creationId xmlns:a16="http://schemas.microsoft.com/office/drawing/2014/main" id="{86E0F814-885C-46FC-8E96-98C473EE1DB9}"/>
                </a:ext>
              </a:extLst>
            </p:cNvPr>
            <p:cNvCxnSpPr>
              <a:cxnSpLocks/>
            </p:cNvCxnSpPr>
            <p:nvPr/>
          </p:nvCxnSpPr>
          <p:spPr>
            <a:xfrm>
              <a:off x="13086588" y="1676598"/>
              <a:ext cx="0" cy="755931"/>
            </a:xfrm>
            <a:prstGeom prst="straightConnector1">
              <a:avLst/>
            </a:prstGeom>
            <a:grpFill/>
            <a:ln w="25400" cap="flat" cmpd="sng" algn="ctr">
              <a:solidFill>
                <a:sysClr val="windowText" lastClr="000000">
                  <a:lumMod val="50000"/>
                  <a:lumOff val="50000"/>
                </a:sysClr>
              </a:solidFill>
              <a:prstDash val="solid"/>
              <a:tailEnd type="arrow"/>
            </a:ln>
            <a:effectLst>
              <a:outerShdw blurRad="40000" dist="20000" dir="5400000" rotWithShape="0">
                <a:srgbClr val="000000">
                  <a:alpha val="38000"/>
                </a:srgbClr>
              </a:outerShdw>
            </a:effectLst>
          </p:spPr>
        </p:cxnSp>
        <p:cxnSp>
          <p:nvCxnSpPr>
            <p:cNvPr id="80" name="Straight Connector 79">
              <a:extLst>
                <a:ext uri="{FF2B5EF4-FFF2-40B4-BE49-F238E27FC236}">
                  <a16:creationId xmlns:a16="http://schemas.microsoft.com/office/drawing/2014/main" id="{32AEDA1D-D726-4C3F-8B99-744DACD42054}"/>
                </a:ext>
              </a:extLst>
            </p:cNvPr>
            <p:cNvCxnSpPr>
              <a:cxnSpLocks/>
            </p:cNvCxnSpPr>
            <p:nvPr/>
          </p:nvCxnSpPr>
          <p:spPr>
            <a:xfrm>
              <a:off x="9951145" y="956357"/>
              <a:ext cx="0" cy="513443"/>
            </a:xfrm>
            <a:prstGeom prst="line">
              <a:avLst/>
            </a:prstGeom>
            <a:grp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grpSp>
      <p:sp>
        <p:nvSpPr>
          <p:cNvPr id="82" name="Rounded Rectangle 59">
            <a:extLst>
              <a:ext uri="{FF2B5EF4-FFF2-40B4-BE49-F238E27FC236}">
                <a16:creationId xmlns:a16="http://schemas.microsoft.com/office/drawing/2014/main" id="{DE65F560-6D53-4E89-BBEB-833FA430761E}"/>
              </a:ext>
            </a:extLst>
          </p:cNvPr>
          <p:cNvSpPr/>
          <p:nvPr/>
        </p:nvSpPr>
        <p:spPr>
          <a:xfrm>
            <a:off x="8336258" y="4279040"/>
            <a:ext cx="1077238" cy="457200"/>
          </a:xfrm>
          <a:prstGeom prst="roundRect">
            <a:avLst/>
          </a:prstGeom>
          <a:solidFill>
            <a:sysClr val="window" lastClr="FFFFFF">
              <a:lumMod val="50000"/>
            </a:sysClr>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rPr>
              <a:t>Dynamic</a:t>
            </a:r>
            <a:endParaRPr kumimoji="0" lang="en-US" sz="1800" b="0" i="0" u="none" strike="noStrike" kern="0" cap="none" spc="0" normalizeH="0" baseline="0" noProof="0" dirty="0">
              <a:ln>
                <a:noFill/>
              </a:ln>
              <a:solidFill>
                <a:prstClr val="white"/>
              </a:solidFill>
              <a:effectLst/>
              <a:uLnTx/>
              <a:uFillTx/>
              <a:latin typeface="Calibri"/>
            </a:endParaRPr>
          </a:p>
        </p:txBody>
      </p:sp>
      <p:cxnSp>
        <p:nvCxnSpPr>
          <p:cNvPr id="132" name="Straight Connector 131">
            <a:extLst>
              <a:ext uri="{FF2B5EF4-FFF2-40B4-BE49-F238E27FC236}">
                <a16:creationId xmlns:a16="http://schemas.microsoft.com/office/drawing/2014/main" id="{AB06741D-374D-4659-BBDE-3754593842C7}"/>
              </a:ext>
            </a:extLst>
          </p:cNvPr>
          <p:cNvCxnSpPr>
            <a:cxnSpLocks/>
          </p:cNvCxnSpPr>
          <p:nvPr/>
        </p:nvCxnSpPr>
        <p:spPr>
          <a:xfrm>
            <a:off x="8919514" y="3918599"/>
            <a:ext cx="0" cy="513443"/>
          </a:xfrm>
          <a:prstGeom prst="line">
            <a:avLst/>
          </a:prstGeom>
          <a:solidFill>
            <a:sysClr val="window" lastClr="FFFFFF">
              <a:lumMod val="65000"/>
            </a:sysClr>
          </a:solidFill>
          <a:ln w="25400" cap="flat" cmpd="sng" algn="ctr">
            <a:solidFill>
              <a:sysClr val="windowText" lastClr="000000">
                <a:lumMod val="50000"/>
                <a:lumOff val="50000"/>
              </a:sysClr>
            </a:solidFill>
            <a:prstDash val="solid"/>
          </a:ln>
          <a:effectLst>
            <a:outerShdw blurRad="40000" dist="20000" dir="5400000" rotWithShape="0">
              <a:srgbClr val="000000">
                <a:alpha val="38000"/>
              </a:srgbClr>
            </a:outerShdw>
          </a:effectLst>
        </p:spPr>
      </p:cxnSp>
    </p:spTree>
    <p:extLst>
      <p:ext uri="{BB962C8B-B14F-4D97-AF65-F5344CB8AC3E}">
        <p14:creationId xmlns:p14="http://schemas.microsoft.com/office/powerpoint/2010/main" val="17424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up)">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wipe(up)">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5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14"/>
                                        </p:tgtEl>
                                        <p:attrNameLst>
                                          <p:attrName>style.visibility</p:attrName>
                                        </p:attrNameLst>
                                      </p:cBhvr>
                                      <p:to>
                                        <p:strVal val="visible"/>
                                      </p:to>
                                    </p:set>
                                    <p:animEffect transition="in" filter="wipe(up)">
                                      <p:cBhvr>
                                        <p:cTn id="22" dur="500"/>
                                        <p:tgtEl>
                                          <p:spTgt spid="1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5"/>
                                        </p:tgtEl>
                                        <p:attrNameLst>
                                          <p:attrName>style.visibility</p:attrName>
                                        </p:attrNameLst>
                                      </p:cBhvr>
                                      <p:to>
                                        <p:strVal val="visible"/>
                                      </p:to>
                                    </p:set>
                                    <p:animEffect transition="in" filter="wipe(up)">
                                      <p:cBhvr>
                                        <p:cTn id="27" dur="500"/>
                                        <p:tgtEl>
                                          <p:spTgt spid="8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0"/>
                                        </p:tgtEl>
                                        <p:attrNameLst>
                                          <p:attrName>style.visibility</p:attrName>
                                        </p:attrNameLst>
                                      </p:cBhvr>
                                      <p:to>
                                        <p:strVal val="visible"/>
                                      </p:to>
                                    </p:set>
                                    <p:animEffect transition="in" filter="wipe(up)">
                                      <p:cBhvr>
                                        <p:cTn id="32" dur="500"/>
                                        <p:tgtEl>
                                          <p:spTgt spid="1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wipe(up)">
                                      <p:cBhvr>
                                        <p:cTn id="37" dur="500"/>
                                        <p:tgtEl>
                                          <p:spTgt spid="10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wipe(up)">
                                      <p:cBhvr>
                                        <p:cTn id="4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normAutofit/>
          </a:bodyPr>
          <a:lstStyle/>
          <a:p>
            <a:r>
              <a:rPr lang="en-IN" dirty="0"/>
              <a:t>Primitive / Non-primitive data structures</a:t>
            </a:r>
          </a:p>
        </p:txBody>
      </p:sp>
      <p:sp>
        <p:nvSpPr>
          <p:cNvPr id="3" name="Content Placeholder 2"/>
          <p:cNvSpPr>
            <a:spLocks noGrp="1"/>
          </p:cNvSpPr>
          <p:nvPr>
            <p:ph idx="1"/>
          </p:nvPr>
        </p:nvSpPr>
        <p:spPr/>
        <p:txBody>
          <a:bodyPr>
            <a:normAutofit/>
          </a:bodyPr>
          <a:lstStyle/>
          <a:p>
            <a:r>
              <a:rPr lang="en-IN" b="1" dirty="0"/>
              <a:t>Primitive data structures</a:t>
            </a:r>
          </a:p>
          <a:p>
            <a:pPr lvl="1"/>
            <a:r>
              <a:rPr lang="en-IN" dirty="0"/>
              <a:t>Primitive data structures are basic structures and are directly operated upon by machine instructions.</a:t>
            </a:r>
          </a:p>
          <a:p>
            <a:pPr lvl="2"/>
            <a:r>
              <a:rPr lang="en-IN" sz="1200" dirty="0"/>
              <a:t>Operations such as </a:t>
            </a:r>
            <a:r>
              <a:rPr lang="en-IN" sz="1200" dirty="0" err="1"/>
              <a:t>a+b</a:t>
            </a:r>
            <a:r>
              <a:rPr lang="en-IN" sz="1200" dirty="0"/>
              <a:t> maps directly to single machine instruction(</a:t>
            </a:r>
            <a:r>
              <a:rPr lang="pt-BR" sz="1200" dirty="0"/>
              <a:t>e.g., ADD R1, R2). </a:t>
            </a:r>
            <a:r>
              <a:rPr lang="en-US" sz="1200" dirty="0"/>
              <a:t>Their size (e.g., int = 4 bytes) is hardcoded into CPU architecture</a:t>
            </a:r>
            <a:endParaRPr lang="en-IN" sz="1200" dirty="0"/>
          </a:p>
          <a:p>
            <a:pPr lvl="1"/>
            <a:r>
              <a:rPr lang="en-IN" b="1" i="1" dirty="0">
                <a:solidFill>
                  <a:srgbClr val="C00000"/>
                </a:solidFill>
              </a:rPr>
              <a:t>Integers</a:t>
            </a:r>
            <a:r>
              <a:rPr lang="en-IN" dirty="0"/>
              <a:t>, </a:t>
            </a:r>
            <a:r>
              <a:rPr lang="en-IN" b="1" i="1" dirty="0">
                <a:solidFill>
                  <a:srgbClr val="C00000"/>
                </a:solidFill>
              </a:rPr>
              <a:t>floats</a:t>
            </a:r>
            <a:r>
              <a:rPr lang="en-IN" dirty="0"/>
              <a:t>, </a:t>
            </a:r>
            <a:r>
              <a:rPr lang="en-IN" b="1" i="1" dirty="0">
                <a:solidFill>
                  <a:srgbClr val="C00000"/>
                </a:solidFill>
              </a:rPr>
              <a:t>character</a:t>
            </a:r>
            <a:r>
              <a:rPr lang="en-IN" dirty="0">
                <a:solidFill>
                  <a:srgbClr val="C00000"/>
                </a:solidFill>
              </a:rPr>
              <a:t> </a:t>
            </a:r>
            <a:r>
              <a:rPr lang="en-IN" dirty="0"/>
              <a:t>and </a:t>
            </a:r>
            <a:r>
              <a:rPr lang="en-IN" b="1" i="1" dirty="0">
                <a:solidFill>
                  <a:srgbClr val="C00000"/>
                </a:solidFill>
              </a:rPr>
              <a:t>pointers</a:t>
            </a:r>
            <a:r>
              <a:rPr lang="en-IN" dirty="0">
                <a:solidFill>
                  <a:srgbClr val="C00000"/>
                </a:solidFill>
              </a:rPr>
              <a:t> </a:t>
            </a:r>
            <a:r>
              <a:rPr lang="en-IN" dirty="0"/>
              <a:t>are examples of primitive data structures.</a:t>
            </a:r>
          </a:p>
          <a:p>
            <a:endParaRPr lang="en-US" b="1" dirty="0"/>
          </a:p>
          <a:p>
            <a:r>
              <a:rPr lang="en-US" b="1" dirty="0"/>
              <a:t>Non primitive data structure</a:t>
            </a:r>
          </a:p>
          <a:p>
            <a:pPr lvl="1"/>
            <a:r>
              <a:rPr lang="en-IN" dirty="0"/>
              <a:t>These are derived </a:t>
            </a:r>
            <a:r>
              <a:rPr lang="en-IN" dirty="0">
                <a:ea typeface="Roboto Light" pitchFamily="2" charset="0"/>
              </a:rPr>
              <a:t>from</a:t>
            </a:r>
            <a:r>
              <a:rPr lang="en-IN" dirty="0"/>
              <a:t> primitive data structures.</a:t>
            </a:r>
          </a:p>
          <a:p>
            <a:pPr lvl="1"/>
            <a:r>
              <a:rPr lang="en-IN" dirty="0"/>
              <a:t>The non-primitive data structures emphasize on structuring of a group of homogeneous(same) or heterogeneous(different)  data items.</a:t>
            </a:r>
          </a:p>
          <a:p>
            <a:pPr lvl="1"/>
            <a:r>
              <a:rPr lang="en-IN" dirty="0"/>
              <a:t>Examples of Non-primitive data type are </a:t>
            </a:r>
            <a:r>
              <a:rPr lang="en-IN" b="1" i="1" dirty="0">
                <a:solidFill>
                  <a:srgbClr val="C00000"/>
                </a:solidFill>
              </a:rPr>
              <a:t>Array</a:t>
            </a:r>
            <a:r>
              <a:rPr lang="en-IN" dirty="0"/>
              <a:t>, </a:t>
            </a:r>
            <a:r>
              <a:rPr lang="en-IN" b="1" i="1" dirty="0">
                <a:solidFill>
                  <a:srgbClr val="C00000"/>
                </a:solidFill>
              </a:rPr>
              <a:t>List, Stack, Queue, Tree </a:t>
            </a:r>
            <a:r>
              <a:rPr lang="en-IN" dirty="0"/>
              <a:t>and </a:t>
            </a:r>
            <a:r>
              <a:rPr lang="en-IN" b="1" i="1" dirty="0">
                <a:solidFill>
                  <a:srgbClr val="C00000"/>
                </a:solidFill>
              </a:rPr>
              <a:t>Graphs</a:t>
            </a:r>
          </a:p>
          <a:p>
            <a:pPr lvl="2"/>
            <a:r>
              <a:rPr lang="en-US" b="1" dirty="0">
                <a:latin typeface="+mj-lt"/>
              </a:rPr>
              <a:t>Static Data Structures: </a:t>
            </a:r>
            <a:r>
              <a:rPr lang="en-US" dirty="0">
                <a:latin typeface="Arial Narrow" panose="020B0606020202030204" pitchFamily="34" charset="0"/>
              </a:rPr>
              <a:t>They have a fixed size. The memory is allocated at the compile time, and its size cannot be changed by the user after being compiled; however, the data can be modified. e.g. array</a:t>
            </a:r>
          </a:p>
          <a:p>
            <a:pPr lvl="2"/>
            <a:r>
              <a:rPr lang="en-US" dirty="0">
                <a:latin typeface="+mj-lt"/>
              </a:rPr>
              <a:t>Dynamic Data Structures: </a:t>
            </a:r>
            <a:r>
              <a:rPr lang="en-US" dirty="0">
                <a:latin typeface="Arial Narrow" panose="020B0606020202030204" pitchFamily="34" charset="0"/>
              </a:rPr>
              <a:t>They don't have a fixed size. The memory is allocated at the run time, and its size varies during the execution of the program. Moreover, the user can modify the size as well as the data elements stored at the run time. e.g. linked list, stack, queue</a:t>
            </a:r>
            <a:endParaRPr lang="en-IN" dirty="0">
              <a:latin typeface="Arial Narrow" panose="020B0606020202030204" pitchFamily="34" charset="0"/>
            </a:endParaRPr>
          </a:p>
        </p:txBody>
      </p:sp>
    </p:spTree>
    <p:extLst>
      <p:ext uri="{BB962C8B-B14F-4D97-AF65-F5344CB8AC3E}">
        <p14:creationId xmlns:p14="http://schemas.microsoft.com/office/powerpoint/2010/main" val="315945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normAutofit/>
          </a:bodyPr>
          <a:lstStyle/>
          <a:p>
            <a:r>
              <a:rPr lang="en-US" dirty="0"/>
              <a:t>Array</a:t>
            </a:r>
          </a:p>
        </p:txBody>
      </p:sp>
      <p:sp>
        <p:nvSpPr>
          <p:cNvPr id="3" name="Content Placeholder 2"/>
          <p:cNvSpPr>
            <a:spLocks noGrp="1"/>
          </p:cNvSpPr>
          <p:nvPr>
            <p:ph idx="1"/>
          </p:nvPr>
        </p:nvSpPr>
        <p:spPr>
          <a:xfrm>
            <a:off x="131180" y="863444"/>
            <a:ext cx="11929641" cy="3711689"/>
          </a:xfrm>
        </p:spPr>
        <p:txBody>
          <a:bodyPr/>
          <a:lstStyle/>
          <a:p>
            <a:r>
              <a:rPr lang="en-IN" b="1" dirty="0">
                <a:solidFill>
                  <a:srgbClr val="C00000"/>
                </a:solidFill>
              </a:rPr>
              <a:t>Array:</a:t>
            </a:r>
            <a:r>
              <a:rPr lang="en-IN" dirty="0">
                <a:solidFill>
                  <a:srgbClr val="C00000"/>
                </a:solidFill>
              </a:rPr>
              <a:t> </a:t>
            </a:r>
            <a:r>
              <a:rPr lang="en-IN" dirty="0"/>
              <a:t>An array is a fixed-size sequenced collection of elements of the same data type.</a:t>
            </a:r>
          </a:p>
          <a:p>
            <a:r>
              <a:rPr lang="en-US" dirty="0"/>
              <a:t>The elements of array will always be stored in the consecutive (continues) memory location.</a:t>
            </a:r>
          </a:p>
          <a:p>
            <a:r>
              <a:rPr lang="en-US" dirty="0"/>
              <a:t>The number of elements that can be stored in an array, that is the size of array or its length is given by the following equation:</a:t>
            </a:r>
          </a:p>
          <a:p>
            <a:r>
              <a:rPr lang="en-US" dirty="0"/>
              <a:t>The first element of the array has index zero[0]. It means the first element and last element will be specified as: </a:t>
            </a:r>
            <a:r>
              <a:rPr lang="en-US" dirty="0" err="1"/>
              <a:t>arr</a:t>
            </a:r>
            <a:r>
              <a:rPr lang="en-US" dirty="0"/>
              <a:t>[0] &amp; </a:t>
            </a:r>
            <a:r>
              <a:rPr lang="en-US" dirty="0" err="1"/>
              <a:t>arr</a:t>
            </a:r>
            <a:r>
              <a:rPr lang="en-US" dirty="0"/>
              <a:t>[4] respectively for an array of size 5.</a:t>
            </a:r>
          </a:p>
          <a:p>
            <a:endParaRPr lang="en-US" dirty="0"/>
          </a:p>
          <a:p>
            <a:r>
              <a:rPr lang="en-US" dirty="0"/>
              <a:t>(</a:t>
            </a:r>
            <a:r>
              <a:rPr lang="en-US" dirty="0" err="1"/>
              <a:t>Upperbound</a:t>
            </a:r>
            <a:r>
              <a:rPr lang="en-US" dirty="0"/>
              <a:t> - </a:t>
            </a:r>
            <a:r>
              <a:rPr lang="en-US" dirty="0" err="1"/>
              <a:t>lowerbound</a:t>
            </a:r>
            <a:r>
              <a:rPr lang="en-US" dirty="0"/>
              <a:t>)+1</a:t>
            </a:r>
          </a:p>
          <a:p>
            <a:r>
              <a:rPr lang="en-IN" dirty="0"/>
              <a:t>                            0       1      2       3      4</a:t>
            </a:r>
          </a:p>
          <a:p>
            <a:endParaRPr lang="en-IN" dirty="0"/>
          </a:p>
          <a:p>
            <a:endParaRPr lang="en-IN" dirty="0"/>
          </a:p>
          <a:p>
            <a:r>
              <a:rPr lang="en-US" dirty="0"/>
              <a:t>For the above array it would be  (4-0)+1=10,</a:t>
            </a:r>
          </a:p>
          <a:p>
            <a:endParaRPr lang="en-IN" dirty="0"/>
          </a:p>
          <a:p>
            <a:endParaRPr lang="en-IN" dirty="0"/>
          </a:p>
          <a:p>
            <a:endParaRPr lang="en-IN" dirty="0"/>
          </a:p>
          <a:p>
            <a:endParaRPr lang="en-IN" dirty="0"/>
          </a:p>
        </p:txBody>
      </p:sp>
      <p:sp>
        <p:nvSpPr>
          <p:cNvPr id="4" name="Rectangle 3"/>
          <p:cNvSpPr/>
          <p:nvPr/>
        </p:nvSpPr>
        <p:spPr>
          <a:xfrm>
            <a:off x="2209800" y="4575133"/>
            <a:ext cx="609600" cy="457200"/>
          </a:xfrm>
          <a:prstGeom prst="rect">
            <a:avLst/>
          </a:prstGeom>
          <a:solidFill>
            <a:schemeClr val="tx2">
              <a:lumMod val="40000"/>
              <a:lumOff val="60000"/>
            </a:schemeClr>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819400" y="4575133"/>
            <a:ext cx="609600" cy="457200"/>
          </a:xfrm>
          <a:prstGeom prst="rect">
            <a:avLst/>
          </a:prstGeom>
          <a:solidFill>
            <a:schemeClr val="tx2">
              <a:lumMod val="40000"/>
              <a:lumOff val="60000"/>
            </a:schemeClr>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429000" y="4575133"/>
            <a:ext cx="609600" cy="457200"/>
          </a:xfrm>
          <a:prstGeom prst="rect">
            <a:avLst/>
          </a:prstGeom>
          <a:solidFill>
            <a:schemeClr val="tx2">
              <a:lumMod val="40000"/>
              <a:lumOff val="60000"/>
            </a:schemeClr>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038600" y="4575133"/>
            <a:ext cx="609600" cy="457200"/>
          </a:xfrm>
          <a:prstGeom prst="rect">
            <a:avLst/>
          </a:prstGeom>
          <a:solidFill>
            <a:schemeClr val="tx2">
              <a:lumMod val="40000"/>
              <a:lumOff val="60000"/>
            </a:schemeClr>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648200" y="4575133"/>
            <a:ext cx="609600" cy="457200"/>
          </a:xfrm>
          <a:prstGeom prst="rect">
            <a:avLst/>
          </a:prstGeom>
          <a:solidFill>
            <a:schemeClr val="tx2">
              <a:lumMod val="40000"/>
              <a:lumOff val="60000"/>
            </a:schemeClr>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3124200" y="5001289"/>
            <a:ext cx="1219200" cy="369332"/>
          </a:xfrm>
          <a:prstGeom prst="rect">
            <a:avLst/>
          </a:prstGeom>
          <a:noFill/>
        </p:spPr>
        <p:txBody>
          <a:bodyPr wrap="square" rtlCol="0">
            <a:spAutoFit/>
          </a:bodyPr>
          <a:lstStyle/>
          <a:p>
            <a:pPr algn="ctr"/>
            <a:r>
              <a:rPr lang="en-IN" b="1" dirty="0"/>
              <a:t>Array</a:t>
            </a:r>
            <a:endParaRPr lang="en-US" b="1" dirty="0"/>
          </a:p>
        </p:txBody>
      </p:sp>
    </p:spTree>
    <p:extLst>
      <p:ext uri="{BB962C8B-B14F-4D97-AF65-F5344CB8AC3E}">
        <p14:creationId xmlns:p14="http://schemas.microsoft.com/office/powerpoint/2010/main" val="1547606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6DE28-0279-44A6-B4F7-4943951CE4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C008C10-ACEC-4A69-8363-B506FC602C83}"/>
              </a:ext>
            </a:extLst>
          </p:cNvPr>
          <p:cNvSpPr>
            <a:spLocks noGrp="1"/>
          </p:cNvSpPr>
          <p:nvPr>
            <p:ph idx="1"/>
          </p:nvPr>
        </p:nvSpPr>
        <p:spPr/>
        <p:txBody>
          <a:bodyPr/>
          <a:lstStyle/>
          <a:p>
            <a:r>
              <a:rPr lang="en-US" dirty="0"/>
              <a:t>For example: Reading into an array                          For example: Writing/printing an array</a:t>
            </a:r>
          </a:p>
          <a:p>
            <a:r>
              <a:rPr lang="en-US" dirty="0">
                <a:latin typeface="Lucida Console" panose="020B0609040504020204" pitchFamily="49" charset="0"/>
              </a:rPr>
              <a:t>for(</a:t>
            </a:r>
            <a:r>
              <a:rPr lang="en-US" dirty="0" err="1">
                <a:latin typeface="Lucida Console" panose="020B0609040504020204" pitchFamily="49" charset="0"/>
              </a:rPr>
              <a:t>i</a:t>
            </a:r>
            <a:r>
              <a:rPr lang="en-US" dirty="0">
                <a:latin typeface="Lucida Console" panose="020B0609040504020204" pitchFamily="49" charset="0"/>
              </a:rPr>
              <a:t>=0;i&lt;=9;i++)                for(</a:t>
            </a:r>
            <a:r>
              <a:rPr lang="en-US" dirty="0" err="1">
                <a:latin typeface="Lucida Console" panose="020B0609040504020204" pitchFamily="49" charset="0"/>
              </a:rPr>
              <a:t>i</a:t>
            </a:r>
            <a:r>
              <a:rPr lang="en-US" dirty="0">
                <a:latin typeface="Lucida Console" panose="020B0609040504020204" pitchFamily="49" charset="0"/>
              </a:rPr>
              <a:t>=0;i&lt;=9;i++)</a:t>
            </a:r>
          </a:p>
          <a:p>
            <a:r>
              <a:rPr lang="en-US" dirty="0">
                <a:latin typeface="Lucida Console" panose="020B0609040504020204" pitchFamily="49" charset="0"/>
              </a:rPr>
              <a:t>	</a:t>
            </a:r>
            <a:r>
              <a:rPr lang="en-US" dirty="0" err="1">
                <a:latin typeface="Lucida Console" panose="020B0609040504020204" pitchFamily="49" charset="0"/>
              </a:rPr>
              <a:t>scanf</a:t>
            </a:r>
            <a:r>
              <a:rPr lang="en-US" dirty="0">
                <a:latin typeface="Lucida Console" panose="020B0609040504020204" pitchFamily="49" charset="0"/>
              </a:rPr>
              <a:t>(“%d”,&amp;</a:t>
            </a:r>
            <a:r>
              <a:rPr lang="en-US" dirty="0" err="1">
                <a:latin typeface="Lucida Console" panose="020B0609040504020204" pitchFamily="49" charset="0"/>
              </a:rPr>
              <a:t>arr</a:t>
            </a:r>
            <a:r>
              <a:rPr lang="en-US" dirty="0">
                <a:latin typeface="Lucida Console" panose="020B0609040504020204" pitchFamily="49" charset="0"/>
              </a:rPr>
              <a:t>[</a:t>
            </a:r>
            <a:r>
              <a:rPr lang="en-US" dirty="0" err="1">
                <a:latin typeface="Lucida Console" panose="020B0609040504020204" pitchFamily="49" charset="0"/>
              </a:rPr>
              <a:t>i</a:t>
            </a:r>
            <a:r>
              <a:rPr lang="en-US" dirty="0">
                <a:latin typeface="Lucida Console" panose="020B0609040504020204" pitchFamily="49" charset="0"/>
              </a:rPr>
              <a:t>]);            </a:t>
            </a:r>
            <a:r>
              <a:rPr lang="en-US" dirty="0" err="1">
                <a:latin typeface="Lucida Console" panose="020B0609040504020204" pitchFamily="49" charset="0"/>
              </a:rPr>
              <a:t>printf</a:t>
            </a:r>
            <a:r>
              <a:rPr lang="en-US" dirty="0">
                <a:latin typeface="Lucida Console" panose="020B0609040504020204" pitchFamily="49" charset="0"/>
              </a:rPr>
              <a:t>(“%d”, </a:t>
            </a:r>
            <a:r>
              <a:rPr lang="en-US" dirty="0" err="1">
                <a:latin typeface="Lucida Console" panose="020B0609040504020204" pitchFamily="49" charset="0"/>
              </a:rPr>
              <a:t>arr</a:t>
            </a:r>
            <a:r>
              <a:rPr lang="en-US" dirty="0">
                <a:latin typeface="Lucida Console" panose="020B0609040504020204" pitchFamily="49" charset="0"/>
              </a:rPr>
              <a:t>[</a:t>
            </a:r>
            <a:r>
              <a:rPr lang="en-US" dirty="0" err="1">
                <a:latin typeface="Lucida Console" panose="020B0609040504020204" pitchFamily="49" charset="0"/>
              </a:rPr>
              <a:t>i</a:t>
            </a:r>
            <a:r>
              <a:rPr lang="en-US" dirty="0">
                <a:latin typeface="Lucida Console" panose="020B0609040504020204" pitchFamily="49" charset="0"/>
              </a:rPr>
              <a:t>]);</a:t>
            </a:r>
          </a:p>
          <a:p>
            <a:endParaRPr lang="en-US" dirty="0">
              <a:latin typeface="Lucida Console" panose="020B0609040504020204" pitchFamily="49" charset="0"/>
            </a:endParaRPr>
          </a:p>
          <a:p>
            <a:r>
              <a:rPr lang="en-US" dirty="0"/>
              <a:t>If we are reading or writing two-dimensional array it would require two loops. And similarly the array of a N dimension would required N loops.</a:t>
            </a:r>
          </a:p>
          <a:p>
            <a:r>
              <a:rPr lang="en-US" dirty="0"/>
              <a:t>Some common operation performed on array are:</a:t>
            </a:r>
          </a:p>
          <a:p>
            <a:pPr lvl="1"/>
            <a:r>
              <a:rPr lang="en-US" dirty="0"/>
              <a:t>Creation of an array</a:t>
            </a:r>
          </a:p>
          <a:p>
            <a:pPr lvl="1"/>
            <a:r>
              <a:rPr lang="en-US" dirty="0"/>
              <a:t>Traversing an array</a:t>
            </a:r>
          </a:p>
          <a:p>
            <a:pPr lvl="1"/>
            <a:r>
              <a:rPr lang="en-US" dirty="0"/>
              <a:t>Insertion of new element</a:t>
            </a:r>
          </a:p>
          <a:p>
            <a:pPr lvl="1"/>
            <a:r>
              <a:rPr lang="en-US" dirty="0"/>
              <a:t>Deletion of required element</a:t>
            </a:r>
          </a:p>
          <a:p>
            <a:pPr lvl="1"/>
            <a:r>
              <a:rPr lang="en-US" dirty="0"/>
              <a:t>Modification of an element</a:t>
            </a:r>
          </a:p>
          <a:p>
            <a:pPr lvl="1"/>
            <a:r>
              <a:rPr lang="en-US" dirty="0"/>
              <a:t>Merging of arrays</a:t>
            </a:r>
          </a:p>
          <a:p>
            <a:endParaRPr lang="en-IN" dirty="0"/>
          </a:p>
        </p:txBody>
      </p:sp>
    </p:spTree>
    <p:extLst>
      <p:ext uri="{BB962C8B-B14F-4D97-AF65-F5344CB8AC3E}">
        <p14:creationId xmlns:p14="http://schemas.microsoft.com/office/powerpoint/2010/main" val="2149797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E086-3A72-4B00-B996-C785725D5C28}"/>
              </a:ext>
            </a:extLst>
          </p:cNvPr>
          <p:cNvSpPr>
            <a:spLocks noGrp="1"/>
          </p:cNvSpPr>
          <p:nvPr>
            <p:ph type="title"/>
          </p:nvPr>
        </p:nvSpPr>
        <p:spPr/>
        <p:txBody>
          <a:bodyPr/>
          <a:lstStyle/>
          <a:p>
            <a:r>
              <a:rPr lang="en-IN" dirty="0"/>
              <a:t>Link List</a:t>
            </a:r>
          </a:p>
        </p:txBody>
      </p:sp>
      <p:sp>
        <p:nvSpPr>
          <p:cNvPr id="3" name="Content Placeholder 2">
            <a:extLst>
              <a:ext uri="{FF2B5EF4-FFF2-40B4-BE49-F238E27FC236}">
                <a16:creationId xmlns:a16="http://schemas.microsoft.com/office/drawing/2014/main" id="{21D17A7C-0CD0-4730-A62F-E10E3E986272}"/>
              </a:ext>
            </a:extLst>
          </p:cNvPr>
          <p:cNvSpPr>
            <a:spLocks noGrp="1"/>
          </p:cNvSpPr>
          <p:nvPr>
            <p:ph idx="1"/>
          </p:nvPr>
        </p:nvSpPr>
        <p:spPr/>
        <p:txBody>
          <a:bodyPr/>
          <a:lstStyle/>
          <a:p>
            <a:r>
              <a:rPr lang="en-IN" b="1" dirty="0">
                <a:solidFill>
                  <a:srgbClr val="C00000"/>
                </a:solidFill>
              </a:rPr>
              <a:t>Link List:</a:t>
            </a:r>
            <a:r>
              <a:rPr lang="en-IN" dirty="0"/>
              <a:t> An ordered set containing variable number of elements is called as Lists.</a:t>
            </a:r>
          </a:p>
          <a:p>
            <a:r>
              <a:rPr lang="en-US" dirty="0"/>
              <a:t>A lists (Linear linked list) can be defined as a collection of a variable number of data items.</a:t>
            </a:r>
          </a:p>
          <a:p>
            <a:r>
              <a:rPr lang="en-US" dirty="0"/>
              <a:t>Lists are the most commonly used non-primitive data structures.</a:t>
            </a:r>
          </a:p>
          <a:p>
            <a:r>
              <a:rPr lang="en-US" dirty="0"/>
              <a:t>An element of the list must contain at least two fields, one for storing data or information and the other for storing address of the next element.</a:t>
            </a:r>
            <a:endParaRPr lang="en-IN" dirty="0"/>
          </a:p>
          <a:p>
            <a:endParaRPr lang="en-IN" dirty="0"/>
          </a:p>
        </p:txBody>
      </p:sp>
      <p:pic>
        <p:nvPicPr>
          <p:cNvPr id="3074" name="Picture 2" descr="Singly Linked List definition &amp; meaning DSA - GeeksforGeeks">
            <a:extLst>
              <a:ext uri="{FF2B5EF4-FFF2-40B4-BE49-F238E27FC236}">
                <a16:creationId xmlns:a16="http://schemas.microsoft.com/office/drawing/2014/main" id="{941599F0-D016-4969-BFC6-ECBBC0914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496377"/>
            <a:ext cx="8906586" cy="315959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a:extLst>
              <a:ext uri="{FF2B5EF4-FFF2-40B4-BE49-F238E27FC236}">
                <a16:creationId xmlns:a16="http://schemas.microsoft.com/office/drawing/2014/main" id="{91F9D6A4-3575-44B2-AA10-6C488FCE7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4162" y="2665521"/>
            <a:ext cx="3476658" cy="2592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1799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09899-F503-43F9-BCF5-26E1678716A6}"/>
              </a:ext>
            </a:extLst>
          </p:cNvPr>
          <p:cNvSpPr>
            <a:spLocks noGrp="1"/>
          </p:cNvSpPr>
          <p:nvPr>
            <p:ph type="title"/>
          </p:nvPr>
        </p:nvSpPr>
        <p:spPr/>
        <p:txBody>
          <a:bodyPr/>
          <a:lstStyle/>
          <a:p>
            <a:r>
              <a:rPr lang="en-IN" dirty="0"/>
              <a:t>Stack and Queue</a:t>
            </a:r>
          </a:p>
        </p:txBody>
      </p:sp>
      <p:sp>
        <p:nvSpPr>
          <p:cNvPr id="3" name="Content Placeholder 2">
            <a:extLst>
              <a:ext uri="{FF2B5EF4-FFF2-40B4-BE49-F238E27FC236}">
                <a16:creationId xmlns:a16="http://schemas.microsoft.com/office/drawing/2014/main" id="{E29A098A-32D9-41E7-90F7-1F08E2595E12}"/>
              </a:ext>
            </a:extLst>
          </p:cNvPr>
          <p:cNvSpPr>
            <a:spLocks noGrp="1"/>
          </p:cNvSpPr>
          <p:nvPr>
            <p:ph idx="1"/>
          </p:nvPr>
        </p:nvSpPr>
        <p:spPr/>
        <p:txBody>
          <a:bodyPr/>
          <a:lstStyle/>
          <a:p>
            <a:r>
              <a:rPr lang="en-US" dirty="0"/>
              <a:t>A </a:t>
            </a:r>
            <a:r>
              <a:rPr lang="en-US" dirty="0">
                <a:solidFill>
                  <a:srgbClr val="C00000"/>
                </a:solidFill>
              </a:rPr>
              <a:t>stack</a:t>
            </a:r>
            <a:r>
              <a:rPr lang="en-US" dirty="0"/>
              <a:t> is also an ordered collection of elements like arrays, but it has a special feature that deletion and insertion of elements can be done only from one end called the top of the stack (TOP)</a:t>
            </a:r>
          </a:p>
          <a:p>
            <a:r>
              <a:rPr lang="en-US" dirty="0"/>
              <a:t>Due to this property it is also called as last in first out type of data structure (LIFO).</a:t>
            </a:r>
          </a:p>
          <a:p>
            <a:r>
              <a:rPr lang="en-US" dirty="0">
                <a:solidFill>
                  <a:srgbClr val="C00000"/>
                </a:solidFill>
              </a:rPr>
              <a:t>Queue</a:t>
            </a:r>
            <a:r>
              <a:rPr lang="en-US" dirty="0"/>
              <a:t> is a first in, first out (FIFO) type of data structure</a:t>
            </a:r>
          </a:p>
          <a:p>
            <a:r>
              <a:rPr lang="en-US" dirty="0"/>
              <a:t>In a queue, new elements are added to the queue from one end called the REAR end, and the element is always removed from the other end, called the FRONT end.</a:t>
            </a:r>
          </a:p>
          <a:p>
            <a:endParaRPr lang="en-IN" dirty="0"/>
          </a:p>
        </p:txBody>
      </p:sp>
      <p:pic>
        <p:nvPicPr>
          <p:cNvPr id="5" name="Picture 4">
            <a:extLst>
              <a:ext uri="{FF2B5EF4-FFF2-40B4-BE49-F238E27FC236}">
                <a16:creationId xmlns:a16="http://schemas.microsoft.com/office/drawing/2014/main" id="{4F67A786-20B2-4588-8B3E-A27BE8CCDF64}"/>
              </a:ext>
            </a:extLst>
          </p:cNvPr>
          <p:cNvPicPr>
            <a:picLocks noChangeAspect="1"/>
          </p:cNvPicPr>
          <p:nvPr/>
        </p:nvPicPr>
        <p:blipFill>
          <a:blip r:embed="rId2"/>
          <a:stretch>
            <a:fillRect/>
          </a:stretch>
        </p:blipFill>
        <p:spPr>
          <a:xfrm>
            <a:off x="882176" y="4027422"/>
            <a:ext cx="10427647" cy="2561177"/>
          </a:xfrm>
          <a:prstGeom prst="rect">
            <a:avLst/>
          </a:prstGeom>
        </p:spPr>
      </p:pic>
    </p:spTree>
    <p:extLst>
      <p:ext uri="{BB962C8B-B14F-4D97-AF65-F5344CB8AC3E}">
        <p14:creationId xmlns:p14="http://schemas.microsoft.com/office/powerpoint/2010/main" val="3160053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dirty="0"/>
              <a:t>Tree and Graph</a:t>
            </a:r>
          </a:p>
        </p:txBody>
      </p:sp>
      <p:sp>
        <p:nvSpPr>
          <p:cNvPr id="3" name="Content Placeholder 2"/>
          <p:cNvSpPr>
            <a:spLocks noGrp="1"/>
          </p:cNvSpPr>
          <p:nvPr>
            <p:ph idx="1"/>
          </p:nvPr>
        </p:nvSpPr>
        <p:spPr/>
        <p:txBody>
          <a:bodyPr/>
          <a:lstStyle/>
          <a:p>
            <a:r>
              <a:rPr lang="en-US" b="1" dirty="0">
                <a:solidFill>
                  <a:srgbClr val="C00000"/>
                </a:solidFill>
              </a:rPr>
              <a:t>Tree</a:t>
            </a:r>
            <a:r>
              <a:rPr lang="en-US" b="1" dirty="0"/>
              <a:t> data structure is a hierarchical structure that is used to represent and organize data in the form of parent child relationship.</a:t>
            </a:r>
          </a:p>
          <a:p>
            <a:pPr lvl="1"/>
            <a:r>
              <a:rPr lang="en-US" b="1" dirty="0"/>
              <a:t>There is a special data item at the top of the hierarchy called the </a:t>
            </a:r>
            <a:r>
              <a:rPr lang="en-US" b="1" dirty="0">
                <a:solidFill>
                  <a:srgbClr val="C00000"/>
                </a:solidFill>
              </a:rPr>
              <a:t>Root</a:t>
            </a:r>
            <a:r>
              <a:rPr lang="en-US" b="1" dirty="0"/>
              <a:t> of the tree.</a:t>
            </a:r>
          </a:p>
          <a:p>
            <a:r>
              <a:rPr lang="en-US" b="1" dirty="0"/>
              <a:t>A</a:t>
            </a:r>
            <a:r>
              <a:rPr lang="en-US" b="1" dirty="0">
                <a:solidFill>
                  <a:srgbClr val="C00000"/>
                </a:solidFill>
              </a:rPr>
              <a:t> Graph </a:t>
            </a:r>
            <a:r>
              <a:rPr lang="en-US" b="1" dirty="0"/>
              <a:t>in Data Structure is a collection of nodes that consists of data and are connected to other nodes of the graph.</a:t>
            </a:r>
          </a:p>
          <a:p>
            <a:pPr lvl="1"/>
            <a:r>
              <a:rPr lang="en-US" b="1" dirty="0"/>
              <a:t>An edge connects a pair of vertices and many have weight such as length, cost and other measuring instruments according to the graph.</a:t>
            </a:r>
          </a:p>
          <a:p>
            <a:endParaRPr lang="en-US" b="1" i="1" dirty="0"/>
          </a:p>
        </p:txBody>
      </p:sp>
      <p:pic>
        <p:nvPicPr>
          <p:cNvPr id="2052" name="Picture 4" descr="E:\Clients\Darshan\Data Structure\images\Data Structure\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0390" y="3530640"/>
            <a:ext cx="3965609" cy="3268622"/>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E:\Clients\Darshan\Data Structure\images\Data Structure\440px-6n-graph2.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3229" y="3850344"/>
            <a:ext cx="2464068" cy="269367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206367" y="5354164"/>
            <a:ext cx="1219200" cy="381000"/>
          </a:xfrm>
          <a:prstGeom prst="rect">
            <a:avLst/>
          </a:prstGeom>
          <a:noFill/>
        </p:spPr>
        <p:txBody>
          <a:bodyPr wrap="square" rtlCol="0">
            <a:spAutoFit/>
          </a:bodyPr>
          <a:lstStyle/>
          <a:p>
            <a:pPr algn="ctr"/>
            <a:r>
              <a:rPr lang="en-IN" b="1" dirty="0"/>
              <a:t>Tree</a:t>
            </a:r>
            <a:endParaRPr lang="en-US" b="1" dirty="0"/>
          </a:p>
        </p:txBody>
      </p:sp>
      <p:sp>
        <p:nvSpPr>
          <p:cNvPr id="11" name="TextBox 10"/>
          <p:cNvSpPr txBox="1"/>
          <p:nvPr/>
        </p:nvSpPr>
        <p:spPr>
          <a:xfrm>
            <a:off x="10292617" y="5339489"/>
            <a:ext cx="1219200" cy="381000"/>
          </a:xfrm>
          <a:prstGeom prst="rect">
            <a:avLst/>
          </a:prstGeom>
          <a:noFill/>
        </p:spPr>
        <p:txBody>
          <a:bodyPr wrap="square" rtlCol="0">
            <a:spAutoFit/>
          </a:bodyPr>
          <a:lstStyle/>
          <a:p>
            <a:pPr algn="ctr"/>
            <a:r>
              <a:rPr lang="en-IN" b="1" dirty="0"/>
              <a:t>Graph</a:t>
            </a:r>
            <a:endParaRPr lang="en-US" b="1" dirty="0"/>
          </a:p>
        </p:txBody>
      </p:sp>
    </p:spTree>
    <p:extLst>
      <p:ext uri="{BB962C8B-B14F-4D97-AF65-F5344CB8AC3E}">
        <p14:creationId xmlns:p14="http://schemas.microsoft.com/office/powerpoint/2010/main" val="360022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IN" dirty="0"/>
              <a:t>Operations of Data Structure</a:t>
            </a:r>
            <a:endParaRPr lang="en-US" dirty="0"/>
          </a:p>
        </p:txBody>
      </p:sp>
      <p:sp>
        <p:nvSpPr>
          <p:cNvPr id="3" name="Content Placeholder 2"/>
          <p:cNvSpPr>
            <a:spLocks noGrp="1"/>
          </p:cNvSpPr>
          <p:nvPr>
            <p:ph idx="1"/>
          </p:nvPr>
        </p:nvSpPr>
        <p:spPr/>
        <p:txBody>
          <a:bodyPr>
            <a:normAutofit/>
          </a:bodyPr>
          <a:lstStyle/>
          <a:p>
            <a:r>
              <a:rPr lang="en-IN" b="1" dirty="0"/>
              <a:t>Create</a:t>
            </a:r>
            <a:r>
              <a:rPr lang="en-IN" dirty="0"/>
              <a:t>: It results in reserving memory for program elements.</a:t>
            </a:r>
          </a:p>
          <a:p>
            <a:r>
              <a:rPr lang="en-IN" b="1" dirty="0"/>
              <a:t>Destroy</a:t>
            </a:r>
            <a:r>
              <a:rPr lang="en-IN" dirty="0"/>
              <a:t>: It destroys memory space allocated for specified data structure.</a:t>
            </a:r>
          </a:p>
          <a:p>
            <a:r>
              <a:rPr lang="en-IN" b="1" dirty="0"/>
              <a:t>Selection</a:t>
            </a:r>
            <a:r>
              <a:rPr lang="en-IN" dirty="0"/>
              <a:t>: It deals with accessing a particular data within a data structure.</a:t>
            </a:r>
          </a:p>
          <a:p>
            <a:r>
              <a:rPr lang="en-IN" b="1" dirty="0" err="1"/>
              <a:t>Updation</a:t>
            </a:r>
            <a:r>
              <a:rPr lang="en-IN" dirty="0"/>
              <a:t>: It updates or modifies the data in the data structure.</a:t>
            </a:r>
          </a:p>
          <a:p>
            <a:r>
              <a:rPr lang="en-IN" b="1" dirty="0"/>
              <a:t>Searching</a:t>
            </a:r>
            <a:r>
              <a:rPr lang="en-IN" dirty="0"/>
              <a:t>: It finds the presence of desired data item in the list of data items.</a:t>
            </a:r>
          </a:p>
          <a:p>
            <a:r>
              <a:rPr lang="en-IN" b="1" dirty="0"/>
              <a:t>Sorting</a:t>
            </a:r>
            <a:r>
              <a:rPr lang="en-IN" dirty="0"/>
              <a:t>: It is a process of arranging all data items in a data structure in a particular order.</a:t>
            </a:r>
          </a:p>
          <a:p>
            <a:r>
              <a:rPr lang="en-IN" b="1" dirty="0"/>
              <a:t>Merging</a:t>
            </a:r>
            <a:r>
              <a:rPr lang="en-IN" dirty="0"/>
              <a:t>: It is a process of combining the data items of two different sorted list into a single sorted list.</a:t>
            </a:r>
          </a:p>
          <a:p>
            <a:r>
              <a:rPr lang="en-IN" b="1" dirty="0"/>
              <a:t>Splitting</a:t>
            </a:r>
            <a:r>
              <a:rPr lang="en-IN" dirty="0"/>
              <a:t>: It is a process of partitioning single list to multiple list.</a:t>
            </a:r>
          </a:p>
          <a:p>
            <a:r>
              <a:rPr lang="en-IN" b="1" dirty="0"/>
              <a:t>Traversal</a:t>
            </a:r>
            <a:r>
              <a:rPr lang="en-IN" dirty="0"/>
              <a:t>: It is a process of visiting each and every node of a list in systematic manner.</a:t>
            </a:r>
            <a:endParaRPr lang="en-US" dirty="0"/>
          </a:p>
        </p:txBody>
      </p:sp>
    </p:spTree>
    <p:extLst>
      <p:ext uri="{BB962C8B-B14F-4D97-AF65-F5344CB8AC3E}">
        <p14:creationId xmlns:p14="http://schemas.microsoft.com/office/powerpoint/2010/main" val="1848954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BA39-36B4-4D63-B15E-09864C8BD678}"/>
              </a:ext>
            </a:extLst>
          </p:cNvPr>
          <p:cNvSpPr>
            <a:spLocks noGrp="1"/>
          </p:cNvSpPr>
          <p:nvPr>
            <p:ph type="title"/>
          </p:nvPr>
        </p:nvSpPr>
        <p:spPr/>
        <p:txBody>
          <a:bodyPr/>
          <a:lstStyle/>
          <a:p>
            <a:r>
              <a:rPr lang="en-US" dirty="0"/>
              <a:t>Real-life applications of data structures:</a:t>
            </a:r>
            <a:endParaRPr lang="en-IN" dirty="0"/>
          </a:p>
        </p:txBody>
      </p:sp>
      <p:sp>
        <p:nvSpPr>
          <p:cNvPr id="3" name="Content Placeholder 2">
            <a:extLst>
              <a:ext uri="{FF2B5EF4-FFF2-40B4-BE49-F238E27FC236}">
                <a16:creationId xmlns:a16="http://schemas.microsoft.com/office/drawing/2014/main" id="{A8A260D9-7576-47DF-B2D4-A791CFFBDC95}"/>
              </a:ext>
            </a:extLst>
          </p:cNvPr>
          <p:cNvSpPr>
            <a:spLocks noGrp="1"/>
          </p:cNvSpPr>
          <p:nvPr>
            <p:ph idx="1"/>
          </p:nvPr>
        </p:nvSpPr>
        <p:spPr>
          <a:xfrm>
            <a:off x="131180" y="863445"/>
            <a:ext cx="11929641" cy="3054038"/>
          </a:xfrm>
        </p:spPr>
        <p:txBody>
          <a:bodyPr/>
          <a:lstStyle/>
          <a:p>
            <a:pPr marL="457200" indent="-457200">
              <a:buFont typeface="+mj-lt"/>
              <a:buAutoNum type="arabicPeriod"/>
            </a:pPr>
            <a:r>
              <a:rPr lang="en-US" sz="2200" dirty="0"/>
              <a:t>You have to store social network “feeds”. You do not know the size, and things may need to be dynamically added.</a:t>
            </a:r>
          </a:p>
          <a:p>
            <a:pPr marL="457200" indent="-457200">
              <a:buFont typeface="+mj-lt"/>
              <a:buAutoNum type="arabicPeriod"/>
            </a:pPr>
            <a:r>
              <a:rPr lang="en-US" sz="2200" dirty="0"/>
              <a:t>You need to store undo/redo operations in a word processor.</a:t>
            </a:r>
          </a:p>
          <a:p>
            <a:pPr marL="457200" indent="-457200">
              <a:buFont typeface="+mj-lt"/>
              <a:buAutoNum type="arabicPeriod"/>
            </a:pPr>
            <a:r>
              <a:rPr lang="en-US" sz="2200" dirty="0"/>
              <a:t>You need to evaluate an expression.</a:t>
            </a:r>
          </a:p>
          <a:p>
            <a:pPr marL="457200" indent="-457200">
              <a:buFont typeface="+mj-lt"/>
              <a:buAutoNum type="arabicPeriod"/>
            </a:pPr>
            <a:r>
              <a:rPr lang="en-US" sz="2200" dirty="0"/>
              <a:t>You need to store the friendship information on a social networking site. i.e., who is friends with who.</a:t>
            </a:r>
          </a:p>
          <a:p>
            <a:pPr marL="457200" indent="-457200">
              <a:buFont typeface="+mj-lt"/>
              <a:buAutoNum type="arabicPeriod"/>
            </a:pPr>
            <a:r>
              <a:rPr lang="en-US" sz="2200" dirty="0"/>
              <a:t>You need to store an image (1000 by 1000 pixels) as a bitmap.</a:t>
            </a:r>
          </a:p>
          <a:p>
            <a:pPr marL="457200" indent="-457200">
              <a:buFont typeface="+mj-lt"/>
              <a:buAutoNum type="arabicPeriod"/>
            </a:pPr>
            <a:r>
              <a:rPr lang="en-US" sz="2200" dirty="0"/>
              <a:t>To implement printer spooler so that jobs can be printed in the order of arrival.</a:t>
            </a:r>
          </a:p>
          <a:p>
            <a:endParaRPr lang="en-IN" dirty="0"/>
          </a:p>
        </p:txBody>
      </p:sp>
      <p:sp>
        <p:nvSpPr>
          <p:cNvPr id="5" name="TextBox 4">
            <a:extLst>
              <a:ext uri="{FF2B5EF4-FFF2-40B4-BE49-F238E27FC236}">
                <a16:creationId xmlns:a16="http://schemas.microsoft.com/office/drawing/2014/main" id="{FF4402FF-030A-4746-9AA3-A7D58D139CA0}"/>
              </a:ext>
            </a:extLst>
          </p:cNvPr>
          <p:cNvSpPr txBox="1"/>
          <p:nvPr/>
        </p:nvSpPr>
        <p:spPr>
          <a:xfrm>
            <a:off x="150430" y="4269104"/>
            <a:ext cx="7520904" cy="1938992"/>
          </a:xfrm>
          <a:prstGeom prst="rect">
            <a:avLst/>
          </a:prstGeom>
          <a:noFill/>
        </p:spPr>
        <p:txBody>
          <a:bodyPr wrap="square">
            <a:spAutoFit/>
          </a:bodyPr>
          <a:lstStyle/>
          <a:p>
            <a:pPr marL="457200" indent="-457200" algn="just">
              <a:buFont typeface="+mj-lt"/>
              <a:buAutoNum type="arabicPeriod"/>
              <a:defRPr/>
            </a:pPr>
            <a:r>
              <a:rPr lang="en-US" altLang="en-US" sz="2000" dirty="0">
                <a:solidFill>
                  <a:srgbClr val="232629"/>
                </a:solidFill>
                <a:latin typeface="Times New Roman" panose="02020603050405020304" pitchFamily="18" charset="0"/>
                <a:cs typeface="Times New Roman" panose="02020603050405020304" pitchFamily="18" charset="0"/>
              </a:rPr>
              <a:t>Linked list or dynamic array (Python list or Java </a:t>
            </a:r>
            <a:r>
              <a:rPr lang="en-US" altLang="en-US" sz="2000" dirty="0" err="1">
                <a:solidFill>
                  <a:srgbClr val="232629"/>
                </a:solidFill>
                <a:latin typeface="Times New Roman" panose="02020603050405020304" pitchFamily="18" charset="0"/>
                <a:cs typeface="Times New Roman" panose="02020603050405020304" pitchFamily="18" charset="0"/>
              </a:rPr>
              <a:t>ArrayList</a:t>
            </a:r>
            <a:r>
              <a:rPr lang="en-US" altLang="en-US" sz="2000" dirty="0">
                <a:solidFill>
                  <a:srgbClr val="232629"/>
                </a:solidFill>
                <a:latin typeface="Times New Roman" panose="02020603050405020304" pitchFamily="18" charset="0"/>
                <a:cs typeface="Times New Roman" panose="02020603050405020304" pitchFamily="18" charset="0"/>
              </a:rPr>
              <a:t>)</a:t>
            </a:r>
          </a:p>
          <a:p>
            <a:pPr marL="457200" indent="-457200" algn="just">
              <a:buFont typeface="+mj-lt"/>
              <a:buAutoNum type="arabicPeriod"/>
              <a:defRPr/>
            </a:pPr>
            <a:r>
              <a:rPr lang="en-US" altLang="en-US" sz="2000" dirty="0">
                <a:solidFill>
                  <a:srgbClr val="232629"/>
                </a:solidFill>
                <a:latin typeface="Times New Roman" panose="02020603050405020304" pitchFamily="18" charset="0"/>
                <a:cs typeface="Times New Roman" panose="02020603050405020304" pitchFamily="18" charset="0"/>
              </a:rPr>
              <a:t>2 stacks.</a:t>
            </a:r>
          </a:p>
          <a:p>
            <a:pPr marL="457200" indent="-457200" algn="just">
              <a:buFont typeface="+mj-lt"/>
              <a:buAutoNum type="arabicPeriod"/>
              <a:defRPr/>
            </a:pPr>
            <a:r>
              <a:rPr lang="en-US" altLang="en-US" sz="2000" dirty="0">
                <a:solidFill>
                  <a:srgbClr val="232629"/>
                </a:solidFill>
                <a:latin typeface="Times New Roman" panose="02020603050405020304" pitchFamily="18" charset="0"/>
                <a:cs typeface="Times New Roman" panose="02020603050405020304" pitchFamily="18" charset="0"/>
              </a:rPr>
              <a:t>Stack.</a:t>
            </a:r>
          </a:p>
          <a:p>
            <a:pPr marL="457200" indent="-457200" algn="just">
              <a:buFont typeface="+mj-lt"/>
              <a:buAutoNum type="arabicPeriod"/>
              <a:defRPr/>
            </a:pPr>
            <a:r>
              <a:rPr lang="en-US" altLang="en-US" sz="2000" dirty="0">
                <a:solidFill>
                  <a:srgbClr val="232629"/>
                </a:solidFill>
                <a:latin typeface="Times New Roman" panose="02020603050405020304" pitchFamily="18" charset="0"/>
                <a:cs typeface="Times New Roman" panose="02020603050405020304" pitchFamily="18" charset="0"/>
              </a:rPr>
              <a:t>Graphs.</a:t>
            </a:r>
          </a:p>
          <a:p>
            <a:pPr marL="457200" indent="-457200" algn="just">
              <a:buFont typeface="+mj-lt"/>
              <a:buAutoNum type="arabicPeriod"/>
              <a:defRPr/>
            </a:pPr>
            <a:r>
              <a:rPr lang="en-US" altLang="en-US" sz="2000" dirty="0">
                <a:solidFill>
                  <a:srgbClr val="232629"/>
                </a:solidFill>
                <a:latin typeface="Times New Roman" panose="02020603050405020304" pitchFamily="18" charset="0"/>
                <a:cs typeface="Times New Roman" panose="02020603050405020304" pitchFamily="18" charset="0"/>
              </a:rPr>
              <a:t>2-D Array.</a:t>
            </a:r>
          </a:p>
          <a:p>
            <a:pPr marL="457200" indent="-457200" algn="just">
              <a:buFont typeface="+mj-lt"/>
              <a:buAutoNum type="arabicPeriod"/>
              <a:defRPr/>
            </a:pPr>
            <a:r>
              <a:rPr lang="en-US" altLang="en-US" sz="2000" dirty="0">
                <a:solidFill>
                  <a:srgbClr val="232629"/>
                </a:solidFill>
                <a:latin typeface="Times New Roman" panose="02020603050405020304" pitchFamily="18" charset="0"/>
                <a:cs typeface="Times New Roman" panose="02020603050405020304" pitchFamily="18" charset="0"/>
              </a:rPr>
              <a:t>Queue.</a:t>
            </a:r>
          </a:p>
        </p:txBody>
      </p:sp>
    </p:spTree>
    <p:extLst>
      <p:ext uri="{BB962C8B-B14F-4D97-AF65-F5344CB8AC3E}">
        <p14:creationId xmlns:p14="http://schemas.microsoft.com/office/powerpoint/2010/main" val="234234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0" y="1"/>
            <a:ext cx="12192000" cy="711200"/>
          </a:xfrm>
          <a:prstGeom prst="rect">
            <a:avLst/>
          </a:prstGeom>
          <a:solidFill>
            <a:srgbClr val="DFDFDF">
              <a:alpha val="49803"/>
            </a:srgbClr>
          </a:solidFill>
          <a:ln>
            <a:noFill/>
          </a:ln>
        </p:spPr>
        <p:txBody>
          <a:bodyPr spcFirstLastPara="1" wrap="square" lIns="216000" tIns="108000" rIns="216000" bIns="108000" anchor="ctr" anchorCtr="0">
            <a:normAutofit/>
          </a:bodyPr>
          <a:lstStyle/>
          <a:p>
            <a:pPr marL="0" lvl="0" indent="0" algn="l" rtl="0">
              <a:lnSpc>
                <a:spcPct val="90000"/>
              </a:lnSpc>
              <a:spcBef>
                <a:spcPts val="0"/>
              </a:spcBef>
              <a:spcAft>
                <a:spcPts val="0"/>
              </a:spcAft>
              <a:buClr>
                <a:srgbClr val="363636"/>
              </a:buClr>
              <a:buSzPts val="3400"/>
              <a:buFont typeface="Roboto Condensed"/>
              <a:buNone/>
            </a:pPr>
            <a:r>
              <a:rPr lang="en-US"/>
              <a:t>What is an Algorithm?</a:t>
            </a:r>
            <a:endParaRPr/>
          </a:p>
        </p:txBody>
      </p:sp>
      <p:sp>
        <p:nvSpPr>
          <p:cNvPr id="115" name="Google Shape;115;p6"/>
          <p:cNvSpPr txBox="1">
            <a:spLocks noGrp="1"/>
          </p:cNvSpPr>
          <p:nvPr>
            <p:ph type="body" idx="1"/>
          </p:nvPr>
        </p:nvSpPr>
        <p:spPr>
          <a:xfrm>
            <a:off x="131178" y="846582"/>
            <a:ext cx="11929641" cy="5590565"/>
          </a:xfrm>
          <a:prstGeom prst="rect">
            <a:avLst/>
          </a:prstGeom>
          <a:noFill/>
          <a:ln>
            <a:noFill/>
          </a:ln>
        </p:spPr>
        <p:txBody>
          <a:bodyPr spcFirstLastPara="1" wrap="square" lIns="91425" tIns="45700" rIns="91425" bIns="45700" anchor="t" anchorCtr="0">
            <a:noAutofit/>
          </a:bodyPr>
          <a:lstStyle/>
          <a:p>
            <a:pPr marL="342900" lvl="0" indent="-342900" algn="just" rtl="0">
              <a:lnSpc>
                <a:spcPct val="90000"/>
              </a:lnSpc>
              <a:spcBef>
                <a:spcPts val="0"/>
              </a:spcBef>
              <a:spcAft>
                <a:spcPts val="0"/>
              </a:spcAft>
              <a:buClr>
                <a:schemeClr val="accent6"/>
              </a:buClr>
              <a:buSzPts val="2400"/>
              <a:buFont typeface="Wingdings" panose="05000000000000000000" pitchFamily="2" charset="2"/>
              <a:buChar char="Ø"/>
            </a:pPr>
            <a:r>
              <a:rPr lang="en-US" dirty="0"/>
              <a:t>A step-by-step procedure, to solve the different kinds of problems.</a:t>
            </a:r>
            <a:r>
              <a:rPr lang="en-US" b="1" dirty="0"/>
              <a:t> </a:t>
            </a:r>
            <a:endParaRPr dirty="0"/>
          </a:p>
          <a:p>
            <a:pPr marL="342900" lvl="0" indent="-342900" algn="just" rtl="0">
              <a:lnSpc>
                <a:spcPct val="90000"/>
              </a:lnSpc>
              <a:spcBef>
                <a:spcPts val="1000"/>
              </a:spcBef>
              <a:spcAft>
                <a:spcPts val="0"/>
              </a:spcAft>
              <a:buClr>
                <a:schemeClr val="accent6"/>
              </a:buClr>
              <a:buSzPts val="2400"/>
              <a:buFont typeface="Wingdings" panose="05000000000000000000" pitchFamily="2" charset="2"/>
              <a:buChar char="Ø"/>
            </a:pPr>
            <a:r>
              <a:rPr lang="en-US" dirty="0"/>
              <a:t>Suppose, we want to make a Chocolate Cake.</a:t>
            </a:r>
            <a:endParaRPr dirty="0"/>
          </a:p>
          <a:p>
            <a:pPr marL="495300" lvl="0" indent="-342900" algn="just" rtl="0">
              <a:lnSpc>
                <a:spcPct val="90000"/>
              </a:lnSpc>
              <a:spcBef>
                <a:spcPts val="1000"/>
              </a:spcBef>
              <a:spcAft>
                <a:spcPts val="0"/>
              </a:spcAft>
              <a:buClr>
                <a:schemeClr val="accent6"/>
              </a:buClr>
              <a:buSzPts val="2400"/>
              <a:buFont typeface="Wingdings" panose="05000000000000000000" pitchFamily="2" charset="2"/>
              <a:buChar char="Ø"/>
            </a:pPr>
            <a:endParaRPr b="1" dirty="0"/>
          </a:p>
          <a:p>
            <a:pPr marL="495300" lvl="0" indent="-342900" algn="just" rtl="0">
              <a:lnSpc>
                <a:spcPct val="90000"/>
              </a:lnSpc>
              <a:spcBef>
                <a:spcPts val="1000"/>
              </a:spcBef>
              <a:spcAft>
                <a:spcPts val="0"/>
              </a:spcAft>
              <a:buClr>
                <a:schemeClr val="accent6"/>
              </a:buClr>
              <a:buSzPts val="2400"/>
              <a:buFont typeface="Wingdings" panose="05000000000000000000" pitchFamily="2" charset="2"/>
              <a:buChar char="Ø"/>
            </a:pPr>
            <a:endParaRPr b="1" dirty="0"/>
          </a:p>
          <a:p>
            <a:pPr marL="495300" lvl="0" indent="-342900" algn="just" rtl="0">
              <a:lnSpc>
                <a:spcPct val="90000"/>
              </a:lnSpc>
              <a:spcBef>
                <a:spcPts val="1000"/>
              </a:spcBef>
              <a:spcAft>
                <a:spcPts val="0"/>
              </a:spcAft>
              <a:buClr>
                <a:schemeClr val="accent6"/>
              </a:buClr>
              <a:buSzPts val="2400"/>
              <a:buFont typeface="Wingdings" panose="05000000000000000000" pitchFamily="2" charset="2"/>
              <a:buChar char="Ø"/>
            </a:pPr>
            <a:endParaRPr b="1" dirty="0"/>
          </a:p>
          <a:p>
            <a:pPr marL="495300" lvl="0" indent="-342900" algn="just" rtl="0">
              <a:lnSpc>
                <a:spcPct val="90000"/>
              </a:lnSpc>
              <a:spcBef>
                <a:spcPts val="1000"/>
              </a:spcBef>
              <a:spcAft>
                <a:spcPts val="0"/>
              </a:spcAft>
              <a:buClr>
                <a:schemeClr val="accent6"/>
              </a:buClr>
              <a:buSzPts val="2400"/>
              <a:buFont typeface="Wingdings" panose="05000000000000000000" pitchFamily="2" charset="2"/>
              <a:buChar char="Ø"/>
            </a:pPr>
            <a:endParaRPr b="1" dirty="0"/>
          </a:p>
          <a:p>
            <a:pPr marL="495300" lvl="0" indent="-342900" algn="just" rtl="0">
              <a:lnSpc>
                <a:spcPct val="90000"/>
              </a:lnSpc>
              <a:spcBef>
                <a:spcPts val="1000"/>
              </a:spcBef>
              <a:spcAft>
                <a:spcPts val="0"/>
              </a:spcAft>
              <a:buClr>
                <a:schemeClr val="accent6"/>
              </a:buClr>
              <a:buSzPts val="2400"/>
              <a:buFont typeface="Wingdings" panose="05000000000000000000" pitchFamily="2" charset="2"/>
              <a:buChar char="Ø"/>
            </a:pPr>
            <a:endParaRPr b="1" dirty="0"/>
          </a:p>
          <a:p>
            <a:pPr marL="495300" lvl="0" indent="-342900" algn="just" rtl="0">
              <a:lnSpc>
                <a:spcPct val="90000"/>
              </a:lnSpc>
              <a:spcBef>
                <a:spcPts val="1000"/>
              </a:spcBef>
              <a:spcAft>
                <a:spcPts val="0"/>
              </a:spcAft>
              <a:buClr>
                <a:schemeClr val="accent6"/>
              </a:buClr>
              <a:buSzPts val="2400"/>
              <a:buFont typeface="Wingdings" panose="05000000000000000000" pitchFamily="2" charset="2"/>
              <a:buChar char="Ø"/>
            </a:pPr>
            <a:endParaRPr b="1" dirty="0"/>
          </a:p>
          <a:p>
            <a:pPr marL="495300" lvl="0" indent="-342900" algn="just" rtl="0">
              <a:lnSpc>
                <a:spcPct val="90000"/>
              </a:lnSpc>
              <a:spcBef>
                <a:spcPts val="1000"/>
              </a:spcBef>
              <a:spcAft>
                <a:spcPts val="0"/>
              </a:spcAft>
              <a:buClr>
                <a:schemeClr val="accent6"/>
              </a:buClr>
              <a:buSzPts val="2400"/>
              <a:buFont typeface="Wingdings" panose="05000000000000000000" pitchFamily="2" charset="2"/>
              <a:buChar char="Ø"/>
            </a:pPr>
            <a:endParaRPr b="1" dirty="0"/>
          </a:p>
          <a:p>
            <a:pPr marL="495300" lvl="0" indent="-342900" algn="just" rtl="0">
              <a:lnSpc>
                <a:spcPct val="90000"/>
              </a:lnSpc>
              <a:spcBef>
                <a:spcPts val="1000"/>
              </a:spcBef>
              <a:spcAft>
                <a:spcPts val="0"/>
              </a:spcAft>
              <a:buClr>
                <a:schemeClr val="accent6"/>
              </a:buClr>
              <a:buSzPts val="2400"/>
              <a:buFont typeface="Wingdings" panose="05000000000000000000" pitchFamily="2" charset="2"/>
              <a:buChar char="Ø"/>
            </a:pPr>
            <a:endParaRPr b="1" dirty="0"/>
          </a:p>
          <a:p>
            <a:pPr marL="342900" lvl="0" indent="-342900" algn="just" rtl="0">
              <a:lnSpc>
                <a:spcPct val="90000"/>
              </a:lnSpc>
              <a:spcBef>
                <a:spcPts val="1000"/>
              </a:spcBef>
              <a:spcAft>
                <a:spcPts val="0"/>
              </a:spcAft>
              <a:buClr>
                <a:schemeClr val="accent6"/>
              </a:buClr>
              <a:buSzPts val="2400"/>
              <a:buFont typeface="Wingdings" panose="05000000000000000000" pitchFamily="2" charset="2"/>
              <a:buChar char="Ø"/>
            </a:pPr>
            <a:r>
              <a:rPr lang="en-US" dirty="0"/>
              <a:t>An unambiguous sequence of computational steps that transform the input into the output.</a:t>
            </a:r>
            <a:endParaRPr dirty="0"/>
          </a:p>
          <a:p>
            <a:pPr marL="809625" lvl="1" indent="-212725" algn="just" rtl="0">
              <a:lnSpc>
                <a:spcPct val="90000"/>
              </a:lnSpc>
              <a:spcBef>
                <a:spcPts val="500"/>
              </a:spcBef>
              <a:spcAft>
                <a:spcPts val="0"/>
              </a:spcAft>
              <a:buSzPts val="2200"/>
              <a:buNone/>
            </a:pPr>
            <a:endParaRPr sz="2200" b="1" i="1" dirty="0"/>
          </a:p>
          <a:p>
            <a:pPr marL="2057400" lvl="4" indent="-127000" algn="just" rtl="0">
              <a:lnSpc>
                <a:spcPct val="90000"/>
              </a:lnSpc>
              <a:spcBef>
                <a:spcPts val="500"/>
              </a:spcBef>
              <a:spcAft>
                <a:spcPts val="0"/>
              </a:spcAft>
              <a:buSzPts val="1600"/>
              <a:buNone/>
            </a:pPr>
            <a:endParaRPr b="1" i="1" dirty="0"/>
          </a:p>
          <a:p>
            <a:pPr marL="809625" lvl="1" indent="-225425" algn="just" rtl="0">
              <a:lnSpc>
                <a:spcPct val="90000"/>
              </a:lnSpc>
              <a:spcBef>
                <a:spcPts val="500"/>
              </a:spcBef>
              <a:spcAft>
                <a:spcPts val="0"/>
              </a:spcAft>
              <a:buSzPts val="2000"/>
              <a:buNone/>
            </a:pPr>
            <a:endParaRPr b="1" i="1" dirty="0"/>
          </a:p>
          <a:p>
            <a:pPr marL="809625" lvl="1" indent="-225425" algn="just" rtl="0">
              <a:lnSpc>
                <a:spcPct val="90000"/>
              </a:lnSpc>
              <a:spcBef>
                <a:spcPts val="500"/>
              </a:spcBef>
              <a:spcAft>
                <a:spcPts val="0"/>
              </a:spcAft>
              <a:buSzPts val="2000"/>
              <a:buNone/>
            </a:pPr>
            <a:endParaRPr b="1" i="1" dirty="0"/>
          </a:p>
          <a:p>
            <a:pPr marL="457200" lvl="1" indent="0" algn="just" rtl="0">
              <a:lnSpc>
                <a:spcPct val="90000"/>
              </a:lnSpc>
              <a:spcBef>
                <a:spcPts val="500"/>
              </a:spcBef>
              <a:spcAft>
                <a:spcPts val="0"/>
              </a:spcAft>
              <a:buSzPts val="2000"/>
              <a:buNone/>
            </a:pPr>
            <a:endParaRPr b="1" i="1" dirty="0"/>
          </a:p>
          <a:p>
            <a:pPr marL="809625" lvl="1" indent="-225425" algn="just" rtl="0">
              <a:lnSpc>
                <a:spcPct val="90000"/>
              </a:lnSpc>
              <a:spcBef>
                <a:spcPts val="500"/>
              </a:spcBef>
              <a:spcAft>
                <a:spcPts val="0"/>
              </a:spcAft>
              <a:buSzPts val="2000"/>
              <a:buNone/>
            </a:pPr>
            <a:endParaRPr dirty="0"/>
          </a:p>
          <a:p>
            <a:pPr marL="809625" lvl="1" indent="-225425" algn="just" rtl="0">
              <a:lnSpc>
                <a:spcPct val="90000"/>
              </a:lnSpc>
              <a:spcBef>
                <a:spcPts val="500"/>
              </a:spcBef>
              <a:spcAft>
                <a:spcPts val="0"/>
              </a:spcAft>
              <a:buSzPts val="2000"/>
              <a:buNone/>
            </a:pPr>
            <a:endParaRPr dirty="0"/>
          </a:p>
          <a:p>
            <a:pPr marL="809625" lvl="1" indent="-225425" algn="just" rtl="0">
              <a:lnSpc>
                <a:spcPct val="90000"/>
              </a:lnSpc>
              <a:spcBef>
                <a:spcPts val="500"/>
              </a:spcBef>
              <a:spcAft>
                <a:spcPts val="0"/>
              </a:spcAft>
              <a:buSzPts val="2000"/>
              <a:buNone/>
            </a:pPr>
            <a:endParaRPr dirty="0"/>
          </a:p>
          <a:p>
            <a:pPr marL="457200" lvl="1" indent="0" algn="just" rtl="0">
              <a:lnSpc>
                <a:spcPct val="90000"/>
              </a:lnSpc>
              <a:spcBef>
                <a:spcPts val="500"/>
              </a:spcBef>
              <a:spcAft>
                <a:spcPts val="0"/>
              </a:spcAft>
              <a:buSzPts val="2000"/>
              <a:buNone/>
            </a:pPr>
            <a:endParaRPr dirty="0"/>
          </a:p>
        </p:txBody>
      </p:sp>
      <p:sp>
        <p:nvSpPr>
          <p:cNvPr id="116" name="Google Shape;116;p6"/>
          <p:cNvSpPr/>
          <p:nvPr/>
        </p:nvSpPr>
        <p:spPr>
          <a:xfrm>
            <a:off x="3548057" y="2484667"/>
            <a:ext cx="1125415" cy="689317"/>
          </a:xfrm>
          <a:prstGeom prst="rightArrow">
            <a:avLst>
              <a:gd name="adj1" fmla="val 50000"/>
              <a:gd name="adj2" fmla="val 74490"/>
            </a:avLst>
          </a:prstGeom>
          <a:solidFill>
            <a:srgbClr val="8F8F8F"/>
          </a:solidFill>
          <a:ln w="12700" cap="flat" cmpd="sng">
            <a:solidFill>
              <a:srgbClr val="69696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Condensed"/>
              <a:ea typeface="Roboto Condensed"/>
              <a:cs typeface="Roboto Condensed"/>
              <a:sym typeface="Roboto Condensed"/>
            </a:endParaRPr>
          </a:p>
        </p:txBody>
      </p:sp>
      <p:sp>
        <p:nvSpPr>
          <p:cNvPr id="117" name="Google Shape;117;p6"/>
          <p:cNvSpPr/>
          <p:nvPr/>
        </p:nvSpPr>
        <p:spPr>
          <a:xfrm>
            <a:off x="7535105" y="2479331"/>
            <a:ext cx="1125415" cy="689317"/>
          </a:xfrm>
          <a:prstGeom prst="rightArrow">
            <a:avLst>
              <a:gd name="adj1" fmla="val 50000"/>
              <a:gd name="adj2" fmla="val 74490"/>
            </a:avLst>
          </a:prstGeom>
          <a:solidFill>
            <a:srgbClr val="8F8F8F"/>
          </a:solidFill>
          <a:ln w="12700" cap="flat" cmpd="sng">
            <a:solidFill>
              <a:srgbClr val="69696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Condensed"/>
              <a:ea typeface="Roboto Condensed"/>
              <a:cs typeface="Roboto Condensed"/>
              <a:sym typeface="Roboto Condensed"/>
            </a:endParaRPr>
          </a:p>
        </p:txBody>
      </p:sp>
      <p:sp>
        <p:nvSpPr>
          <p:cNvPr id="118" name="Google Shape;118;p6"/>
          <p:cNvSpPr txBox="1"/>
          <p:nvPr/>
        </p:nvSpPr>
        <p:spPr>
          <a:xfrm>
            <a:off x="9703764" y="4362286"/>
            <a:ext cx="120597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a:solidFill>
                  <a:srgbClr val="A3115D"/>
                </a:solidFill>
                <a:latin typeface="Roboto Condensed"/>
                <a:ea typeface="Roboto Condensed"/>
                <a:cs typeface="Roboto Condensed"/>
                <a:sym typeface="Roboto Condensed"/>
              </a:rPr>
              <a:t>Output</a:t>
            </a:r>
            <a:endParaRPr sz="1800" b="1" dirty="0">
              <a:solidFill>
                <a:srgbClr val="A3115D"/>
              </a:solidFill>
              <a:latin typeface="Roboto Condensed"/>
              <a:ea typeface="Roboto Condensed"/>
              <a:cs typeface="Roboto Condensed"/>
              <a:sym typeface="Roboto Condensed"/>
            </a:endParaRPr>
          </a:p>
        </p:txBody>
      </p:sp>
      <p:pic>
        <p:nvPicPr>
          <p:cNvPr id="119" name="Google Shape;119;p6"/>
          <p:cNvPicPr preferRelativeResize="0"/>
          <p:nvPr/>
        </p:nvPicPr>
        <p:blipFill rotWithShape="1">
          <a:blip r:embed="rId3">
            <a:alphaModFix/>
          </a:blip>
          <a:srcRect/>
          <a:stretch/>
        </p:blipFill>
        <p:spPr>
          <a:xfrm>
            <a:off x="1504843" y="1966924"/>
            <a:ext cx="1371600" cy="1992413"/>
          </a:xfrm>
          <a:prstGeom prst="rect">
            <a:avLst/>
          </a:prstGeom>
          <a:noFill/>
          <a:ln>
            <a:noFill/>
          </a:ln>
        </p:spPr>
      </p:pic>
      <p:pic>
        <p:nvPicPr>
          <p:cNvPr id="120" name="Google Shape;120;p6"/>
          <p:cNvPicPr preferRelativeResize="0"/>
          <p:nvPr/>
        </p:nvPicPr>
        <p:blipFill rotWithShape="1">
          <a:blip r:embed="rId4">
            <a:alphaModFix/>
          </a:blip>
          <a:srcRect/>
          <a:stretch/>
        </p:blipFill>
        <p:spPr>
          <a:xfrm>
            <a:off x="5345087" y="1971378"/>
            <a:ext cx="1518404" cy="2091563"/>
          </a:xfrm>
          <a:prstGeom prst="rect">
            <a:avLst/>
          </a:prstGeom>
          <a:noFill/>
          <a:ln>
            <a:noFill/>
          </a:ln>
        </p:spPr>
      </p:pic>
      <p:pic>
        <p:nvPicPr>
          <p:cNvPr id="121" name="Google Shape;121;p6"/>
          <p:cNvPicPr preferRelativeResize="0"/>
          <p:nvPr/>
        </p:nvPicPr>
        <p:blipFill rotWithShape="1">
          <a:blip r:embed="rId5">
            <a:alphaModFix/>
          </a:blip>
          <a:srcRect/>
          <a:stretch/>
        </p:blipFill>
        <p:spPr>
          <a:xfrm>
            <a:off x="9332135" y="2033303"/>
            <a:ext cx="1920240" cy="1581374"/>
          </a:xfrm>
          <a:prstGeom prst="rect">
            <a:avLst/>
          </a:prstGeom>
          <a:noFill/>
          <a:ln>
            <a:noFill/>
          </a:ln>
        </p:spPr>
      </p:pic>
      <p:sp>
        <p:nvSpPr>
          <p:cNvPr id="122" name="Google Shape;122;p6"/>
          <p:cNvSpPr txBox="1"/>
          <p:nvPr/>
        </p:nvSpPr>
        <p:spPr>
          <a:xfrm>
            <a:off x="1838773" y="4362287"/>
            <a:ext cx="87075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AD1457"/>
                </a:solidFill>
                <a:latin typeface="Roboto Condensed"/>
                <a:ea typeface="Roboto Condensed"/>
                <a:cs typeface="Roboto Condensed"/>
                <a:sym typeface="Roboto Condensed"/>
              </a:rPr>
              <a:t>Input </a:t>
            </a:r>
            <a:endParaRPr sz="1800" b="1">
              <a:solidFill>
                <a:srgbClr val="AD1457"/>
              </a:solidFill>
              <a:latin typeface="Roboto Condensed"/>
              <a:ea typeface="Roboto Condensed"/>
              <a:cs typeface="Roboto Condensed"/>
              <a:sym typeface="Roboto Condensed"/>
            </a:endParaRPr>
          </a:p>
        </p:txBody>
      </p:sp>
      <p:sp>
        <p:nvSpPr>
          <p:cNvPr id="123" name="Google Shape;123;p6"/>
          <p:cNvSpPr txBox="1"/>
          <p:nvPr/>
        </p:nvSpPr>
        <p:spPr>
          <a:xfrm>
            <a:off x="5521303" y="4362287"/>
            <a:ext cx="1217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AD1457"/>
                </a:solidFill>
                <a:latin typeface="Roboto Condensed"/>
                <a:ea typeface="Roboto Condensed"/>
                <a:cs typeface="Roboto Condensed"/>
                <a:sym typeface="Roboto Condensed"/>
              </a:rPr>
              <a:t>Process </a:t>
            </a:r>
            <a:endParaRPr sz="1800" b="1">
              <a:solidFill>
                <a:srgbClr val="AD1457"/>
              </a:solidFill>
              <a:latin typeface="Roboto Condensed"/>
              <a:ea typeface="Roboto Condensed"/>
              <a:cs typeface="Roboto Condensed"/>
              <a:sym typeface="Roboto Condensed"/>
            </a:endParaRPr>
          </a:p>
        </p:txBody>
      </p:sp>
      <p:sp>
        <p:nvSpPr>
          <p:cNvPr id="124" name="Google Shape;124;p6"/>
          <p:cNvSpPr txBox="1"/>
          <p:nvPr/>
        </p:nvSpPr>
        <p:spPr>
          <a:xfrm>
            <a:off x="1504843" y="4823951"/>
            <a:ext cx="170861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424242"/>
                </a:solidFill>
                <a:latin typeface="Roboto Condensed"/>
                <a:ea typeface="Roboto Condensed"/>
                <a:cs typeface="Roboto Condensed"/>
                <a:sym typeface="Roboto Condensed"/>
              </a:rPr>
              <a:t>Ingredients </a:t>
            </a:r>
            <a:r>
              <a:rPr lang="en-US" sz="2400" b="1">
                <a:solidFill>
                  <a:schemeClr val="dk1"/>
                </a:solidFill>
                <a:latin typeface="Roboto Condensed"/>
                <a:ea typeface="Roboto Condensed"/>
                <a:cs typeface="Roboto Condensed"/>
                <a:sym typeface="Roboto Condensed"/>
              </a:rPr>
              <a:t> </a:t>
            </a:r>
            <a:endParaRPr sz="1800" b="1">
              <a:solidFill>
                <a:schemeClr val="dk1"/>
              </a:solidFill>
              <a:latin typeface="Roboto Condensed"/>
              <a:ea typeface="Roboto Condensed"/>
              <a:cs typeface="Roboto Condensed"/>
              <a:sym typeface="Roboto Condensed"/>
            </a:endParaRPr>
          </a:p>
        </p:txBody>
      </p:sp>
      <p:sp>
        <p:nvSpPr>
          <p:cNvPr id="125" name="Google Shape;125;p6"/>
          <p:cNvSpPr txBox="1"/>
          <p:nvPr/>
        </p:nvSpPr>
        <p:spPr>
          <a:xfrm>
            <a:off x="5606399" y="4823951"/>
            <a:ext cx="104680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424242"/>
                </a:solidFill>
                <a:latin typeface="Roboto Condensed"/>
                <a:ea typeface="Roboto Condensed"/>
                <a:cs typeface="Roboto Condensed"/>
                <a:sym typeface="Roboto Condensed"/>
              </a:rPr>
              <a:t>Recipe </a:t>
            </a:r>
            <a:endParaRPr sz="1800" b="1">
              <a:solidFill>
                <a:srgbClr val="424242"/>
              </a:solidFill>
              <a:latin typeface="Roboto Condensed"/>
              <a:ea typeface="Roboto Condensed"/>
              <a:cs typeface="Roboto Condensed"/>
              <a:sym typeface="Roboto Condensed"/>
            </a:endParaRPr>
          </a:p>
        </p:txBody>
      </p:sp>
      <p:sp>
        <p:nvSpPr>
          <p:cNvPr id="126" name="Google Shape;126;p6"/>
          <p:cNvSpPr txBox="1"/>
          <p:nvPr/>
        </p:nvSpPr>
        <p:spPr>
          <a:xfrm>
            <a:off x="9787429" y="4745361"/>
            <a:ext cx="83486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424242"/>
                </a:solidFill>
                <a:latin typeface="Roboto Condensed"/>
                <a:ea typeface="Roboto Condensed"/>
                <a:cs typeface="Roboto Condensed"/>
                <a:sym typeface="Roboto Condensed"/>
              </a:rPr>
              <a:t>Cake</a:t>
            </a:r>
            <a:r>
              <a:rPr lang="en-US" sz="2400" b="1">
                <a:solidFill>
                  <a:srgbClr val="002060"/>
                </a:solidFill>
                <a:latin typeface="Roboto Condensed"/>
                <a:ea typeface="Roboto Condensed"/>
                <a:cs typeface="Roboto Condensed"/>
                <a:sym typeface="Roboto Condensed"/>
              </a:rPr>
              <a:t> </a:t>
            </a:r>
            <a:r>
              <a:rPr lang="en-US" sz="2400" b="1">
                <a:solidFill>
                  <a:schemeClr val="dk1"/>
                </a:solidFill>
                <a:latin typeface="Roboto Condensed"/>
                <a:ea typeface="Roboto Condensed"/>
                <a:cs typeface="Roboto Condensed"/>
                <a:sym typeface="Roboto Condensed"/>
              </a:rPr>
              <a:t> </a:t>
            </a:r>
            <a:endParaRPr sz="1800" b="1">
              <a:solidFill>
                <a:schemeClr val="dk1"/>
              </a:solidFill>
              <a:latin typeface="Roboto Condensed"/>
              <a:ea typeface="Roboto Condensed"/>
              <a:cs typeface="Roboto Condensed"/>
              <a:sym typeface="Roboto Condensed"/>
            </a:endParaRPr>
          </a:p>
        </p:txBody>
      </p:sp>
      <p:sp>
        <p:nvSpPr>
          <p:cNvPr id="127" name="Google Shape;127;p6"/>
          <p:cNvSpPr/>
          <p:nvPr/>
        </p:nvSpPr>
        <p:spPr>
          <a:xfrm>
            <a:off x="4840941" y="1802674"/>
            <a:ext cx="2380130" cy="3482942"/>
          </a:xfrm>
          <a:prstGeom prst="roundRect">
            <a:avLst>
              <a:gd name="adj" fmla="val 16667"/>
            </a:avLst>
          </a:prstGeom>
          <a:noFill/>
          <a:ln w="38100" cap="flat" cmpd="sng">
            <a:solidFill>
              <a:srgbClr val="00B0F0"/>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animEffect transition="in" filter="fade">
                                      <p:cBhvr>
                                        <p:cTn id="7" dur="500"/>
                                        <p:tgtEl>
                                          <p:spTgt spid="1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5">
                                            <p:txEl>
                                              <p:pRg st="1" end="1"/>
                                            </p:txEl>
                                          </p:spTgt>
                                        </p:tgtEl>
                                        <p:attrNameLst>
                                          <p:attrName>style.visibility</p:attrName>
                                        </p:attrNameLst>
                                      </p:cBhvr>
                                      <p:to>
                                        <p:strVal val="visible"/>
                                      </p:to>
                                    </p:set>
                                    <p:animEffect transition="in" filter="fade">
                                      <p:cBhvr>
                                        <p:cTn id="12" dur="500"/>
                                        <p:tgtEl>
                                          <p:spTgt spid="1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5">
                                            <p:txEl>
                                              <p:pRg st="10" end="10"/>
                                            </p:txEl>
                                          </p:spTgt>
                                        </p:tgtEl>
                                        <p:attrNameLst>
                                          <p:attrName>style.visibility</p:attrName>
                                        </p:attrNameLst>
                                      </p:cBhvr>
                                      <p:to>
                                        <p:strVal val="visible"/>
                                      </p:to>
                                    </p:set>
                                    <p:animEffect transition="in" filter="fade">
                                      <p:cBhvr>
                                        <p:cTn id="17" dur="500"/>
                                        <p:tgtEl>
                                          <p:spTgt spid="115">
                                            <p:txEl>
                                              <p:pRg st="10" end="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9"/>
                                        </p:tgtEl>
                                        <p:attrNameLst>
                                          <p:attrName>style.visibility</p:attrName>
                                        </p:attrNameLst>
                                      </p:cBhvr>
                                      <p:to>
                                        <p:strVal val="visible"/>
                                      </p:to>
                                    </p:set>
                                    <p:animEffect transition="in" filter="fade">
                                      <p:cBhvr>
                                        <p:cTn id="22" dur="500"/>
                                        <p:tgtEl>
                                          <p:spTgt spid="119"/>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122"/>
                                        </p:tgtEl>
                                        <p:attrNameLst>
                                          <p:attrName>style.visibility</p:attrName>
                                        </p:attrNameLst>
                                      </p:cBhvr>
                                      <p:to>
                                        <p:strVal val="visible"/>
                                      </p:to>
                                    </p:set>
                                    <p:animEffect transition="in" filter="fade">
                                      <p:cBhvr>
                                        <p:cTn id="26" dur="500"/>
                                        <p:tgtEl>
                                          <p:spTgt spid="1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4"/>
                                        </p:tgtEl>
                                        <p:attrNameLst>
                                          <p:attrName>style.visibility</p:attrName>
                                        </p:attrNameLst>
                                      </p:cBhvr>
                                      <p:to>
                                        <p:strVal val="visible"/>
                                      </p:to>
                                    </p:set>
                                    <p:animEffect transition="in" filter="fade">
                                      <p:cBhvr>
                                        <p:cTn id="31" dur="500"/>
                                        <p:tgtEl>
                                          <p:spTgt spid="12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16"/>
                                        </p:tgtEl>
                                        <p:attrNameLst>
                                          <p:attrName>style.visibility</p:attrName>
                                        </p:attrNameLst>
                                      </p:cBhvr>
                                      <p:to>
                                        <p:strVal val="visible"/>
                                      </p:to>
                                    </p:set>
                                    <p:animEffect transition="in" filter="fade">
                                      <p:cBhvr>
                                        <p:cTn id="36" dur="500"/>
                                        <p:tgtEl>
                                          <p:spTgt spid="116"/>
                                        </p:tgtEl>
                                      </p:cBhvr>
                                    </p:animEffec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120"/>
                                        </p:tgtEl>
                                        <p:attrNameLst>
                                          <p:attrName>style.visibility</p:attrName>
                                        </p:attrNameLst>
                                      </p:cBhvr>
                                      <p:to>
                                        <p:strVal val="visible"/>
                                      </p:to>
                                    </p:set>
                                    <p:animEffect transition="in" filter="fade">
                                      <p:cBhvr>
                                        <p:cTn id="40" dur="1500"/>
                                        <p:tgtEl>
                                          <p:spTgt spid="120"/>
                                        </p:tgtEl>
                                      </p:cBhvr>
                                    </p:animEffect>
                                  </p:childTnLst>
                                </p:cTn>
                              </p:par>
                            </p:childTnLst>
                          </p:cTn>
                        </p:par>
                        <p:par>
                          <p:cTn id="41" fill="hold">
                            <p:stCondLst>
                              <p:cond delay="2000"/>
                            </p:stCondLst>
                            <p:childTnLst>
                              <p:par>
                                <p:cTn id="42" presetID="10" presetClass="entr" presetSubtype="0" fill="hold" nodeType="afterEffect">
                                  <p:stCondLst>
                                    <p:cond delay="0"/>
                                  </p:stCondLst>
                                  <p:childTnLst>
                                    <p:set>
                                      <p:cBhvr>
                                        <p:cTn id="43" dur="1" fill="hold">
                                          <p:stCondLst>
                                            <p:cond delay="0"/>
                                          </p:stCondLst>
                                        </p:cTn>
                                        <p:tgtEl>
                                          <p:spTgt spid="123"/>
                                        </p:tgtEl>
                                        <p:attrNameLst>
                                          <p:attrName>style.visibility</p:attrName>
                                        </p:attrNameLst>
                                      </p:cBhvr>
                                      <p:to>
                                        <p:strVal val="visible"/>
                                      </p:to>
                                    </p:set>
                                    <p:animEffect transition="in" filter="fade">
                                      <p:cBhvr>
                                        <p:cTn id="44" dur="500"/>
                                        <p:tgtEl>
                                          <p:spTgt spid="1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25"/>
                                        </p:tgtEl>
                                        <p:attrNameLst>
                                          <p:attrName>style.visibility</p:attrName>
                                        </p:attrNameLst>
                                      </p:cBhvr>
                                      <p:to>
                                        <p:strVal val="visible"/>
                                      </p:to>
                                    </p:set>
                                    <p:animEffect transition="in" filter="fade">
                                      <p:cBhvr>
                                        <p:cTn id="49" dur="500"/>
                                        <p:tgtEl>
                                          <p:spTgt spid="12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17"/>
                                        </p:tgtEl>
                                        <p:attrNameLst>
                                          <p:attrName>style.visibility</p:attrName>
                                        </p:attrNameLst>
                                      </p:cBhvr>
                                      <p:to>
                                        <p:strVal val="visible"/>
                                      </p:to>
                                    </p:set>
                                    <p:animEffect transition="in" filter="fade">
                                      <p:cBhvr>
                                        <p:cTn id="54" dur="500"/>
                                        <p:tgtEl>
                                          <p:spTgt spid="117"/>
                                        </p:tgtEl>
                                      </p:cBhvr>
                                    </p:animEffect>
                                  </p:childTnLst>
                                </p:cTn>
                              </p:par>
                            </p:childTnLst>
                          </p:cTn>
                        </p:par>
                        <p:par>
                          <p:cTn id="55" fill="hold">
                            <p:stCondLst>
                              <p:cond delay="500"/>
                            </p:stCondLst>
                            <p:childTnLst>
                              <p:par>
                                <p:cTn id="56" presetID="10" presetClass="entr" presetSubtype="0" fill="hold" nodeType="afterEffect">
                                  <p:stCondLst>
                                    <p:cond delay="0"/>
                                  </p:stCondLst>
                                  <p:childTnLst>
                                    <p:set>
                                      <p:cBhvr>
                                        <p:cTn id="57" dur="1" fill="hold">
                                          <p:stCondLst>
                                            <p:cond delay="0"/>
                                          </p:stCondLst>
                                        </p:cTn>
                                        <p:tgtEl>
                                          <p:spTgt spid="121"/>
                                        </p:tgtEl>
                                        <p:attrNameLst>
                                          <p:attrName>style.visibility</p:attrName>
                                        </p:attrNameLst>
                                      </p:cBhvr>
                                      <p:to>
                                        <p:strVal val="visible"/>
                                      </p:to>
                                    </p:set>
                                    <p:animEffect transition="in" filter="fade">
                                      <p:cBhvr>
                                        <p:cTn id="58" dur="1000"/>
                                        <p:tgtEl>
                                          <p:spTgt spid="121"/>
                                        </p:tgtEl>
                                      </p:cBhvr>
                                    </p:animEffect>
                                  </p:childTnLst>
                                </p:cTn>
                              </p:par>
                            </p:childTnLst>
                          </p:cTn>
                        </p:par>
                        <p:par>
                          <p:cTn id="59" fill="hold">
                            <p:stCondLst>
                              <p:cond delay="1500"/>
                            </p:stCondLst>
                            <p:childTnLst>
                              <p:par>
                                <p:cTn id="60" presetID="10" presetClass="entr" presetSubtype="0" fill="hold" nodeType="afterEffect">
                                  <p:stCondLst>
                                    <p:cond delay="0"/>
                                  </p:stCondLst>
                                  <p:childTnLst>
                                    <p:set>
                                      <p:cBhvr>
                                        <p:cTn id="61" dur="1" fill="hold">
                                          <p:stCondLst>
                                            <p:cond delay="0"/>
                                          </p:stCondLst>
                                        </p:cTn>
                                        <p:tgtEl>
                                          <p:spTgt spid="118"/>
                                        </p:tgtEl>
                                        <p:attrNameLst>
                                          <p:attrName>style.visibility</p:attrName>
                                        </p:attrNameLst>
                                      </p:cBhvr>
                                      <p:to>
                                        <p:strVal val="visible"/>
                                      </p:to>
                                    </p:set>
                                    <p:animEffect transition="in" filter="fade">
                                      <p:cBhvr>
                                        <p:cTn id="62" dur="500"/>
                                        <p:tgtEl>
                                          <p:spTgt spid="11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26"/>
                                        </p:tgtEl>
                                        <p:attrNameLst>
                                          <p:attrName>style.visibility</p:attrName>
                                        </p:attrNameLst>
                                      </p:cBhvr>
                                      <p:to>
                                        <p:strVal val="visible"/>
                                      </p:to>
                                    </p:set>
                                    <p:animEffect transition="in" filter="fade">
                                      <p:cBhvr>
                                        <p:cTn id="67" dur="500"/>
                                        <p:tgtEl>
                                          <p:spTgt spid="1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27"/>
                                        </p:tgtEl>
                                        <p:attrNameLst>
                                          <p:attrName>style.visibility</p:attrName>
                                        </p:attrNameLst>
                                      </p:cBhvr>
                                      <p:to>
                                        <p:strVal val="visible"/>
                                      </p:to>
                                    </p:set>
                                    <p:animEffect transition="in" filter="fade">
                                      <p:cBhvr>
                                        <p:cTn id="72" dur="20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p:nvPr>
        </p:nvSpPr>
        <p:spPr>
          <a:xfrm>
            <a:off x="0" y="1"/>
            <a:ext cx="12192000" cy="711200"/>
          </a:xfrm>
          <a:prstGeom prst="rect">
            <a:avLst/>
          </a:prstGeom>
          <a:solidFill>
            <a:srgbClr val="DFDFDF">
              <a:alpha val="49803"/>
            </a:srgbClr>
          </a:solidFill>
          <a:ln>
            <a:noFill/>
          </a:ln>
        </p:spPr>
        <p:txBody>
          <a:bodyPr spcFirstLastPara="1" wrap="square" lIns="216000" tIns="108000" rIns="216000" bIns="108000" anchor="ctr" anchorCtr="0">
            <a:normAutofit/>
          </a:bodyPr>
          <a:lstStyle/>
          <a:p>
            <a:pPr marL="0" lvl="0" indent="0" algn="l" rtl="0">
              <a:lnSpc>
                <a:spcPct val="90000"/>
              </a:lnSpc>
              <a:spcBef>
                <a:spcPts val="0"/>
              </a:spcBef>
              <a:spcAft>
                <a:spcPts val="0"/>
              </a:spcAft>
              <a:buClr>
                <a:srgbClr val="363636"/>
              </a:buClr>
              <a:buSzPts val="3400"/>
              <a:buFont typeface="Roboto Condensed"/>
              <a:buNone/>
            </a:pPr>
            <a:r>
              <a:rPr lang="en-US"/>
              <a:t>What is an Algorithm?</a:t>
            </a:r>
            <a:endParaRPr/>
          </a:p>
        </p:txBody>
      </p:sp>
      <p:sp>
        <p:nvSpPr>
          <p:cNvPr id="133" name="Google Shape;133;p7"/>
          <p:cNvSpPr txBox="1">
            <a:spLocks noGrp="1"/>
          </p:cNvSpPr>
          <p:nvPr>
            <p:ph type="body" idx="1"/>
          </p:nvPr>
        </p:nvSpPr>
        <p:spPr>
          <a:xfrm>
            <a:off x="131178" y="846582"/>
            <a:ext cx="11929641" cy="5590565"/>
          </a:xfrm>
          <a:prstGeom prst="rect">
            <a:avLst/>
          </a:prstGeom>
          <a:noFill/>
          <a:ln>
            <a:noFill/>
          </a:ln>
        </p:spPr>
        <p:txBody>
          <a:bodyPr spcFirstLastPara="1" wrap="square" lIns="91425" tIns="45700" rIns="91425" bIns="45700" anchor="t" anchorCtr="0">
            <a:noAutofit/>
          </a:bodyPr>
          <a:lstStyle/>
          <a:p>
            <a:pPr marL="342900" lvl="0" indent="-342900" algn="just" rtl="0">
              <a:lnSpc>
                <a:spcPct val="90000"/>
              </a:lnSpc>
              <a:spcBef>
                <a:spcPts val="0"/>
              </a:spcBef>
              <a:spcAft>
                <a:spcPts val="0"/>
              </a:spcAft>
              <a:buClr>
                <a:schemeClr val="accent6"/>
              </a:buClr>
              <a:buSzPts val="2400"/>
              <a:buFont typeface="Wingdings" panose="05000000000000000000" pitchFamily="2" charset="2"/>
              <a:buChar char="Ø"/>
            </a:pPr>
            <a:r>
              <a:rPr lang="en-US" dirty="0"/>
              <a:t>A process or a set of rules to be followed to achieve desired output, especially by a computer.</a:t>
            </a:r>
            <a:endParaRPr dirty="0"/>
          </a:p>
          <a:p>
            <a:pPr marL="2216150" lvl="4" indent="-285750" algn="just" rtl="0">
              <a:lnSpc>
                <a:spcPct val="90000"/>
              </a:lnSpc>
              <a:spcBef>
                <a:spcPts val="500"/>
              </a:spcBef>
              <a:spcAft>
                <a:spcPts val="0"/>
              </a:spcAft>
              <a:buSzPts val="1600"/>
              <a:buFont typeface="Wingdings" panose="05000000000000000000" pitchFamily="2" charset="2"/>
              <a:buChar char="Ø"/>
            </a:pPr>
            <a:endParaRPr b="1" i="1" dirty="0"/>
          </a:p>
          <a:p>
            <a:pPr marL="927100" lvl="1" indent="-342900" algn="just" rtl="0">
              <a:lnSpc>
                <a:spcPct val="90000"/>
              </a:lnSpc>
              <a:spcBef>
                <a:spcPts val="500"/>
              </a:spcBef>
              <a:spcAft>
                <a:spcPts val="0"/>
              </a:spcAft>
              <a:buSzPts val="2000"/>
              <a:buFont typeface="Wingdings" panose="05000000000000000000" pitchFamily="2" charset="2"/>
              <a:buChar char="Ø"/>
            </a:pPr>
            <a:endParaRPr b="1" i="1" dirty="0"/>
          </a:p>
          <a:p>
            <a:pPr marL="927100" lvl="1" indent="-342900" algn="just" rtl="0">
              <a:lnSpc>
                <a:spcPct val="90000"/>
              </a:lnSpc>
              <a:spcBef>
                <a:spcPts val="500"/>
              </a:spcBef>
              <a:spcAft>
                <a:spcPts val="0"/>
              </a:spcAft>
              <a:buSzPts val="2000"/>
              <a:buFont typeface="Wingdings" panose="05000000000000000000" pitchFamily="2" charset="2"/>
              <a:buChar char="Ø"/>
            </a:pPr>
            <a:endParaRPr b="1" i="1" dirty="0"/>
          </a:p>
          <a:p>
            <a:pPr marL="800100" lvl="1" indent="-342900" algn="just" rtl="0">
              <a:lnSpc>
                <a:spcPct val="90000"/>
              </a:lnSpc>
              <a:spcBef>
                <a:spcPts val="500"/>
              </a:spcBef>
              <a:spcAft>
                <a:spcPts val="0"/>
              </a:spcAft>
              <a:buSzPts val="2000"/>
              <a:buFont typeface="Wingdings" panose="05000000000000000000" pitchFamily="2" charset="2"/>
              <a:buChar char="Ø"/>
            </a:pPr>
            <a:endParaRPr b="1" i="1" dirty="0"/>
          </a:p>
          <a:p>
            <a:pPr marL="927100" lvl="1" indent="-342900" algn="just" rtl="0">
              <a:lnSpc>
                <a:spcPct val="90000"/>
              </a:lnSpc>
              <a:spcBef>
                <a:spcPts val="500"/>
              </a:spcBef>
              <a:spcAft>
                <a:spcPts val="0"/>
              </a:spcAft>
              <a:buSzPts val="2000"/>
              <a:buFont typeface="Wingdings" panose="05000000000000000000" pitchFamily="2" charset="2"/>
              <a:buChar char="Ø"/>
            </a:pPr>
            <a:endParaRPr dirty="0"/>
          </a:p>
          <a:p>
            <a:pPr marL="927100" lvl="1" indent="-342900" algn="just" rtl="0">
              <a:lnSpc>
                <a:spcPct val="90000"/>
              </a:lnSpc>
              <a:spcBef>
                <a:spcPts val="500"/>
              </a:spcBef>
              <a:spcAft>
                <a:spcPts val="0"/>
              </a:spcAft>
              <a:buSzPts val="2000"/>
              <a:buFont typeface="Wingdings" panose="05000000000000000000" pitchFamily="2" charset="2"/>
              <a:buChar char="Ø"/>
            </a:pPr>
            <a:endParaRPr dirty="0"/>
          </a:p>
          <a:p>
            <a:pPr marL="927100" lvl="1" indent="-342900" algn="just" rtl="0">
              <a:lnSpc>
                <a:spcPct val="90000"/>
              </a:lnSpc>
              <a:spcBef>
                <a:spcPts val="500"/>
              </a:spcBef>
              <a:spcAft>
                <a:spcPts val="0"/>
              </a:spcAft>
              <a:buSzPts val="2000"/>
              <a:buFont typeface="Wingdings" panose="05000000000000000000" pitchFamily="2" charset="2"/>
              <a:buChar char="Ø"/>
            </a:pPr>
            <a:endParaRPr dirty="0"/>
          </a:p>
          <a:p>
            <a:pPr marL="927100" lvl="1" indent="-342900" algn="just" rtl="0">
              <a:lnSpc>
                <a:spcPct val="90000"/>
              </a:lnSpc>
              <a:spcBef>
                <a:spcPts val="500"/>
              </a:spcBef>
              <a:spcAft>
                <a:spcPts val="0"/>
              </a:spcAft>
              <a:buSzPts val="2000"/>
              <a:buFont typeface="Wingdings" panose="05000000000000000000" pitchFamily="2" charset="2"/>
              <a:buChar char="Ø"/>
            </a:pPr>
            <a:endParaRPr dirty="0"/>
          </a:p>
          <a:p>
            <a:pPr marL="622300" lvl="0" indent="-457200" algn="just" rtl="0">
              <a:lnSpc>
                <a:spcPct val="90000"/>
              </a:lnSpc>
              <a:spcBef>
                <a:spcPts val="1000"/>
              </a:spcBef>
              <a:spcAft>
                <a:spcPts val="0"/>
              </a:spcAft>
              <a:buClr>
                <a:schemeClr val="accent6"/>
              </a:buClr>
              <a:buSzPts val="2600"/>
              <a:buFont typeface="Wingdings" panose="05000000000000000000" pitchFamily="2" charset="2"/>
              <a:buChar char="Ø"/>
            </a:pPr>
            <a:endParaRPr sz="2600" dirty="0"/>
          </a:p>
          <a:p>
            <a:pPr marL="342900" lvl="0" indent="-342900" algn="just" rtl="0">
              <a:lnSpc>
                <a:spcPct val="90000"/>
              </a:lnSpc>
              <a:spcBef>
                <a:spcPts val="1000"/>
              </a:spcBef>
              <a:spcAft>
                <a:spcPts val="0"/>
              </a:spcAft>
              <a:buClr>
                <a:schemeClr val="accent6"/>
              </a:buClr>
              <a:buSzPts val="2400"/>
              <a:buFont typeface="Wingdings" panose="05000000000000000000" pitchFamily="2" charset="2"/>
              <a:buChar char="Ø"/>
            </a:pPr>
            <a:r>
              <a:rPr lang="en-US" dirty="0"/>
              <a:t>An algorithm is </a:t>
            </a:r>
            <a:r>
              <a:rPr lang="en-US" b="1" dirty="0">
                <a:solidFill>
                  <a:srgbClr val="AD1457"/>
                </a:solidFill>
              </a:rPr>
              <a:t>any</a:t>
            </a:r>
            <a:r>
              <a:rPr lang="en-US" dirty="0">
                <a:solidFill>
                  <a:srgbClr val="AD1457"/>
                </a:solidFill>
              </a:rPr>
              <a:t> </a:t>
            </a:r>
            <a:r>
              <a:rPr lang="en-US" b="1" dirty="0">
                <a:solidFill>
                  <a:srgbClr val="AD1457"/>
                </a:solidFill>
              </a:rPr>
              <a:t>well-defined computational procedure </a:t>
            </a:r>
            <a:r>
              <a:rPr lang="en-US" dirty="0"/>
              <a:t>that takes some value, or a set of values as input and produces some value, or a set of values as output.</a:t>
            </a:r>
            <a:endParaRPr dirty="0"/>
          </a:p>
        </p:txBody>
      </p:sp>
      <p:sp>
        <p:nvSpPr>
          <p:cNvPr id="134" name="Google Shape;134;p7"/>
          <p:cNvSpPr/>
          <p:nvPr/>
        </p:nvSpPr>
        <p:spPr>
          <a:xfrm>
            <a:off x="3228395" y="2627137"/>
            <a:ext cx="1125415" cy="689317"/>
          </a:xfrm>
          <a:prstGeom prst="rightArrow">
            <a:avLst>
              <a:gd name="adj1" fmla="val 50000"/>
              <a:gd name="adj2" fmla="val 74490"/>
            </a:avLst>
          </a:prstGeom>
          <a:solidFill>
            <a:srgbClr val="8F8F8F"/>
          </a:solidFill>
          <a:ln w="12700" cap="flat" cmpd="sng">
            <a:solidFill>
              <a:srgbClr val="69696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sp>
        <p:nvSpPr>
          <p:cNvPr id="135" name="Google Shape;135;p7"/>
          <p:cNvSpPr/>
          <p:nvPr/>
        </p:nvSpPr>
        <p:spPr>
          <a:xfrm>
            <a:off x="7613301" y="2627137"/>
            <a:ext cx="1125415" cy="689317"/>
          </a:xfrm>
          <a:prstGeom prst="rightArrow">
            <a:avLst>
              <a:gd name="adj1" fmla="val 50000"/>
              <a:gd name="adj2" fmla="val 74490"/>
            </a:avLst>
          </a:prstGeom>
          <a:solidFill>
            <a:srgbClr val="8F8F8F"/>
          </a:solidFill>
          <a:ln w="12700" cap="flat" cmpd="sng">
            <a:solidFill>
              <a:srgbClr val="69696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pic>
        <p:nvPicPr>
          <p:cNvPr id="136" name="Google Shape;136;p7"/>
          <p:cNvPicPr preferRelativeResize="0"/>
          <p:nvPr/>
        </p:nvPicPr>
        <p:blipFill rotWithShape="1">
          <a:blip r:embed="rId3">
            <a:alphaModFix/>
          </a:blip>
          <a:srcRect/>
          <a:stretch/>
        </p:blipFill>
        <p:spPr>
          <a:xfrm>
            <a:off x="1134871" y="2192768"/>
            <a:ext cx="1280160" cy="1763364"/>
          </a:xfrm>
          <a:prstGeom prst="rect">
            <a:avLst/>
          </a:prstGeom>
          <a:noFill/>
          <a:ln>
            <a:noFill/>
          </a:ln>
        </p:spPr>
      </p:pic>
      <p:pic>
        <p:nvPicPr>
          <p:cNvPr id="137" name="Google Shape;137;p7"/>
          <p:cNvPicPr preferRelativeResize="0"/>
          <p:nvPr/>
        </p:nvPicPr>
        <p:blipFill rotWithShape="1">
          <a:blip r:embed="rId4">
            <a:alphaModFix/>
          </a:blip>
          <a:srcRect/>
          <a:stretch/>
        </p:blipFill>
        <p:spPr>
          <a:xfrm>
            <a:off x="4912293" y="2348276"/>
            <a:ext cx="2011680" cy="1452349"/>
          </a:xfrm>
          <a:prstGeom prst="rect">
            <a:avLst/>
          </a:prstGeom>
          <a:noFill/>
          <a:ln>
            <a:noFill/>
          </a:ln>
        </p:spPr>
      </p:pic>
      <p:pic>
        <p:nvPicPr>
          <p:cNvPr id="138" name="Google Shape;138;p7"/>
          <p:cNvPicPr preferRelativeResize="0"/>
          <p:nvPr/>
        </p:nvPicPr>
        <p:blipFill rotWithShape="1">
          <a:blip r:embed="rId5">
            <a:alphaModFix/>
          </a:blip>
          <a:srcRect/>
          <a:stretch/>
        </p:blipFill>
        <p:spPr>
          <a:xfrm>
            <a:off x="9428044" y="2385280"/>
            <a:ext cx="1371600" cy="1208947"/>
          </a:xfrm>
          <a:prstGeom prst="rect">
            <a:avLst/>
          </a:prstGeom>
          <a:noFill/>
          <a:ln>
            <a:noFill/>
          </a:ln>
        </p:spPr>
      </p:pic>
      <p:sp>
        <p:nvSpPr>
          <p:cNvPr id="139" name="Google Shape;139;p7"/>
          <p:cNvSpPr txBox="1"/>
          <p:nvPr/>
        </p:nvSpPr>
        <p:spPr>
          <a:xfrm>
            <a:off x="9612745" y="4009009"/>
            <a:ext cx="104474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424242"/>
                </a:solidFill>
                <a:latin typeface="Roboto Condensed"/>
                <a:ea typeface="Roboto Condensed"/>
                <a:cs typeface="Roboto Condensed"/>
                <a:sym typeface="Roboto Condensed"/>
              </a:rPr>
              <a:t>Output</a:t>
            </a:r>
            <a:endParaRPr sz="1800" b="1" dirty="0">
              <a:solidFill>
                <a:srgbClr val="424242"/>
              </a:solidFill>
              <a:latin typeface="Roboto Condensed"/>
              <a:ea typeface="Roboto Condensed"/>
              <a:cs typeface="Roboto Condensed"/>
              <a:sym typeface="Roboto Condensed"/>
            </a:endParaRPr>
          </a:p>
        </p:txBody>
      </p:sp>
      <p:sp>
        <p:nvSpPr>
          <p:cNvPr id="140" name="Google Shape;140;p7"/>
          <p:cNvSpPr txBox="1"/>
          <p:nvPr/>
        </p:nvSpPr>
        <p:spPr>
          <a:xfrm>
            <a:off x="1044465" y="4008986"/>
            <a:ext cx="143821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424242"/>
                </a:solidFill>
                <a:latin typeface="Roboto Condensed"/>
                <a:ea typeface="Roboto Condensed"/>
                <a:cs typeface="Roboto Condensed"/>
                <a:sym typeface="Roboto Condensed"/>
              </a:rPr>
              <a:t>Algorithm </a:t>
            </a:r>
            <a:endParaRPr sz="1800" b="1">
              <a:solidFill>
                <a:srgbClr val="424242"/>
              </a:solidFill>
              <a:latin typeface="Roboto Condensed"/>
              <a:ea typeface="Roboto Condensed"/>
              <a:cs typeface="Roboto Condensed"/>
              <a:sym typeface="Roboto Condensed"/>
            </a:endParaRPr>
          </a:p>
        </p:txBody>
      </p:sp>
      <p:sp>
        <p:nvSpPr>
          <p:cNvPr id="141" name="Google Shape;141;p7"/>
          <p:cNvSpPr txBox="1"/>
          <p:nvPr/>
        </p:nvSpPr>
        <p:spPr>
          <a:xfrm>
            <a:off x="5273565" y="4008985"/>
            <a:ext cx="128913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424242"/>
                </a:solidFill>
                <a:latin typeface="Roboto Condensed"/>
                <a:ea typeface="Roboto Condensed"/>
                <a:cs typeface="Roboto Condensed"/>
                <a:sym typeface="Roboto Condensed"/>
              </a:rPr>
              <a:t>Program </a:t>
            </a:r>
            <a:endParaRPr sz="1800" b="1">
              <a:solidFill>
                <a:srgbClr val="424242"/>
              </a:solidFill>
              <a:latin typeface="Roboto Condensed"/>
              <a:ea typeface="Roboto Condensed"/>
              <a:cs typeface="Roboto Condensed"/>
              <a:sym typeface="Roboto Condensed"/>
            </a:endParaRPr>
          </a:p>
        </p:txBody>
      </p:sp>
      <p:grpSp>
        <p:nvGrpSpPr>
          <p:cNvPr id="142" name="Google Shape;142;p7"/>
          <p:cNvGrpSpPr/>
          <p:nvPr/>
        </p:nvGrpSpPr>
        <p:grpSpPr>
          <a:xfrm>
            <a:off x="5187129" y="1464024"/>
            <a:ext cx="1205437" cy="816293"/>
            <a:chOff x="5187129" y="1464024"/>
            <a:chExt cx="1205437" cy="816293"/>
          </a:xfrm>
        </p:grpSpPr>
        <p:pic>
          <p:nvPicPr>
            <p:cNvPr id="143" name="Google Shape;143;p7"/>
            <p:cNvPicPr preferRelativeResize="0"/>
            <p:nvPr/>
          </p:nvPicPr>
          <p:blipFill rotWithShape="1">
            <a:blip r:embed="rId6">
              <a:alphaModFix/>
            </a:blip>
            <a:srcRect/>
            <a:stretch/>
          </p:blipFill>
          <p:spPr>
            <a:xfrm>
              <a:off x="5569606" y="1604313"/>
              <a:ext cx="822960" cy="676004"/>
            </a:xfrm>
            <a:prstGeom prst="rect">
              <a:avLst/>
            </a:prstGeom>
            <a:noFill/>
            <a:ln>
              <a:noFill/>
            </a:ln>
          </p:spPr>
        </p:pic>
        <p:sp>
          <p:nvSpPr>
            <p:cNvPr id="144" name="Google Shape;144;p7"/>
            <p:cNvSpPr txBox="1"/>
            <p:nvPr/>
          </p:nvSpPr>
          <p:spPr>
            <a:xfrm>
              <a:off x="5187129" y="1464024"/>
              <a:ext cx="76495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rgbClr val="A3115D"/>
                  </a:solidFill>
                  <a:latin typeface="Roboto Condensed"/>
                  <a:ea typeface="Roboto Condensed"/>
                  <a:cs typeface="Roboto Condensed"/>
                  <a:sym typeface="Roboto Condensed"/>
                </a:rPr>
                <a:t>Input </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animEffect transition="in" filter="fade">
                                      <p:cBhvr>
                                        <p:cTn id="7" dur="500"/>
                                        <p:tgtEl>
                                          <p:spTgt spid="1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
                                            <p:txEl>
                                              <p:pRg st="10" end="10"/>
                                            </p:txEl>
                                          </p:spTgt>
                                        </p:tgtEl>
                                        <p:attrNameLst>
                                          <p:attrName>style.visibility</p:attrName>
                                        </p:attrNameLst>
                                      </p:cBhvr>
                                      <p:to>
                                        <p:strVal val="visible"/>
                                      </p:to>
                                    </p:set>
                                    <p:animEffect transition="in" filter="fade">
                                      <p:cBhvr>
                                        <p:cTn id="12" dur="500"/>
                                        <p:tgtEl>
                                          <p:spTgt spid="133">
                                            <p:txEl>
                                              <p:pRg st="1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6"/>
                                        </p:tgtEl>
                                        <p:attrNameLst>
                                          <p:attrName>style.visibility</p:attrName>
                                        </p:attrNameLst>
                                      </p:cBhvr>
                                      <p:to>
                                        <p:strVal val="visible"/>
                                      </p:to>
                                    </p:set>
                                    <p:animEffect transition="in" filter="fade">
                                      <p:cBhvr>
                                        <p:cTn id="17" dur="500"/>
                                        <p:tgtEl>
                                          <p:spTgt spid="136"/>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40"/>
                                        </p:tgtEl>
                                        <p:attrNameLst>
                                          <p:attrName>style.visibility</p:attrName>
                                        </p:attrNameLst>
                                      </p:cBhvr>
                                      <p:to>
                                        <p:strVal val="visible"/>
                                      </p:to>
                                    </p:set>
                                    <p:animEffect transition="in" filter="fade">
                                      <p:cBhvr>
                                        <p:cTn id="21" dur="500"/>
                                        <p:tgtEl>
                                          <p:spTgt spid="14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4"/>
                                        </p:tgtEl>
                                        <p:attrNameLst>
                                          <p:attrName>style.visibility</p:attrName>
                                        </p:attrNameLst>
                                      </p:cBhvr>
                                      <p:to>
                                        <p:strVal val="visible"/>
                                      </p:to>
                                    </p:set>
                                    <p:animEffect transition="in" filter="fade">
                                      <p:cBhvr>
                                        <p:cTn id="26" dur="500"/>
                                        <p:tgtEl>
                                          <p:spTgt spid="134"/>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137"/>
                                        </p:tgtEl>
                                        <p:attrNameLst>
                                          <p:attrName>style.visibility</p:attrName>
                                        </p:attrNameLst>
                                      </p:cBhvr>
                                      <p:to>
                                        <p:strVal val="visible"/>
                                      </p:to>
                                    </p:set>
                                    <p:animEffect transition="in" filter="fade">
                                      <p:cBhvr>
                                        <p:cTn id="30" dur="2000"/>
                                        <p:tgtEl>
                                          <p:spTgt spid="137"/>
                                        </p:tgtEl>
                                      </p:cBhvr>
                                    </p:animEffect>
                                  </p:childTnLst>
                                </p:cTn>
                              </p:par>
                            </p:childTnLst>
                          </p:cTn>
                        </p:par>
                        <p:par>
                          <p:cTn id="31" fill="hold">
                            <p:stCondLst>
                              <p:cond delay="2500"/>
                            </p:stCondLst>
                            <p:childTnLst>
                              <p:par>
                                <p:cTn id="32" presetID="10" presetClass="entr" presetSubtype="0" fill="hold" nodeType="afterEffect">
                                  <p:stCondLst>
                                    <p:cond delay="0"/>
                                  </p:stCondLst>
                                  <p:childTnLst>
                                    <p:set>
                                      <p:cBhvr>
                                        <p:cTn id="33" dur="1" fill="hold">
                                          <p:stCondLst>
                                            <p:cond delay="0"/>
                                          </p:stCondLst>
                                        </p:cTn>
                                        <p:tgtEl>
                                          <p:spTgt spid="141"/>
                                        </p:tgtEl>
                                        <p:attrNameLst>
                                          <p:attrName>style.visibility</p:attrName>
                                        </p:attrNameLst>
                                      </p:cBhvr>
                                      <p:to>
                                        <p:strVal val="visible"/>
                                      </p:to>
                                    </p:set>
                                    <p:animEffect transition="in" filter="fade">
                                      <p:cBhvr>
                                        <p:cTn id="34" dur="500"/>
                                        <p:tgtEl>
                                          <p:spTgt spid="14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2"/>
                                        </p:tgtEl>
                                        <p:attrNameLst>
                                          <p:attrName>style.visibility</p:attrName>
                                        </p:attrNameLst>
                                      </p:cBhvr>
                                      <p:to>
                                        <p:strVal val="visible"/>
                                      </p:to>
                                    </p:set>
                                    <p:animEffect transition="in" filter="fade">
                                      <p:cBhvr>
                                        <p:cTn id="39" dur="1000"/>
                                        <p:tgtEl>
                                          <p:spTgt spid="14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5"/>
                                        </p:tgtEl>
                                        <p:attrNameLst>
                                          <p:attrName>style.visibility</p:attrName>
                                        </p:attrNameLst>
                                      </p:cBhvr>
                                      <p:to>
                                        <p:strVal val="visible"/>
                                      </p:to>
                                    </p:set>
                                    <p:animEffect transition="in" filter="fade">
                                      <p:cBhvr>
                                        <p:cTn id="44" dur="500"/>
                                        <p:tgtEl>
                                          <p:spTgt spid="135"/>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138"/>
                                        </p:tgtEl>
                                        <p:attrNameLst>
                                          <p:attrName>style.visibility</p:attrName>
                                        </p:attrNameLst>
                                      </p:cBhvr>
                                      <p:to>
                                        <p:strVal val="visible"/>
                                      </p:to>
                                    </p:set>
                                    <p:animEffect transition="in" filter="fade">
                                      <p:cBhvr>
                                        <p:cTn id="48" dur="500"/>
                                        <p:tgtEl>
                                          <p:spTgt spid="138"/>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139"/>
                                        </p:tgtEl>
                                        <p:attrNameLst>
                                          <p:attrName>style.visibility</p:attrName>
                                        </p:attrNameLst>
                                      </p:cBhvr>
                                      <p:to>
                                        <p:strVal val="visible"/>
                                      </p:to>
                                    </p:set>
                                    <p:animEffect transition="in" filter="fade">
                                      <p:cBhvr>
                                        <p:cTn id="52"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ABCFE-1948-40E0-883C-C2FD5E1D00AF}"/>
              </a:ext>
            </a:extLst>
          </p:cNvPr>
          <p:cNvSpPr>
            <a:spLocks noGrp="1"/>
          </p:cNvSpPr>
          <p:nvPr>
            <p:ph type="title"/>
          </p:nvPr>
        </p:nvSpPr>
        <p:spPr/>
        <p:txBody>
          <a:bodyPr/>
          <a:lstStyle/>
          <a:p>
            <a:r>
              <a:rPr lang="en-IN" dirty="0"/>
              <a:t>Googol-to-One Gear Ratio</a:t>
            </a:r>
          </a:p>
        </p:txBody>
      </p:sp>
      <p:sp>
        <p:nvSpPr>
          <p:cNvPr id="3" name="Content Placeholder 2">
            <a:extLst>
              <a:ext uri="{FF2B5EF4-FFF2-40B4-BE49-F238E27FC236}">
                <a16:creationId xmlns:a16="http://schemas.microsoft.com/office/drawing/2014/main" id="{9C25AA15-1AA7-441C-8882-09BB6F93D54A}"/>
              </a:ext>
            </a:extLst>
          </p:cNvPr>
          <p:cNvSpPr>
            <a:spLocks noGrp="1"/>
          </p:cNvSpPr>
          <p:nvPr>
            <p:ph idx="1"/>
          </p:nvPr>
        </p:nvSpPr>
        <p:spPr/>
        <p:txBody>
          <a:bodyPr/>
          <a:lstStyle/>
          <a:p>
            <a:r>
              <a:rPr lang="en-US" dirty="0">
                <a:solidFill>
                  <a:srgbClr val="C00000"/>
                </a:solidFill>
              </a:rPr>
              <a:t>Daniel Bruin </a:t>
            </a:r>
            <a:r>
              <a:rPr lang="en-US" dirty="0"/>
              <a:t>built a machine with 100 gears with a 10-to-1 gear ratio…meaning that the overall gear ratio is a googol-to-one. (A googol is 1 with 100 zeros.)</a:t>
            </a:r>
          </a:p>
          <a:p>
            <a:endParaRPr lang="en-IN" dirty="0"/>
          </a:p>
        </p:txBody>
      </p:sp>
      <p:pic>
        <p:nvPicPr>
          <p:cNvPr id="1028" name="Picture 4" descr="The universe's biggest gear reduction! GOOGOL to 1">
            <a:extLst>
              <a:ext uri="{FF2B5EF4-FFF2-40B4-BE49-F238E27FC236}">
                <a16:creationId xmlns:a16="http://schemas.microsoft.com/office/drawing/2014/main" id="{EAF653D8-A666-494D-9532-905F89C122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6677" y="1659153"/>
            <a:ext cx="8284143" cy="465983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7EB4D91-52B6-4A6B-8916-8C6F9FEA84D0}"/>
              </a:ext>
            </a:extLst>
          </p:cNvPr>
          <p:cNvSpPr txBox="1"/>
          <p:nvPr/>
        </p:nvSpPr>
        <p:spPr>
          <a:xfrm>
            <a:off x="131179" y="1867300"/>
            <a:ext cx="3478293" cy="1200329"/>
          </a:xfrm>
          <a:prstGeom prst="rect">
            <a:avLst/>
          </a:prstGeom>
          <a:noFill/>
        </p:spPr>
        <p:txBody>
          <a:bodyPr wrap="square" rtlCol="0">
            <a:spAutoFit/>
          </a:bodyPr>
          <a:lstStyle/>
          <a:p>
            <a:r>
              <a:rPr lang="en-US" dirty="0"/>
              <a:t>1 rotation of 1</a:t>
            </a:r>
            <a:r>
              <a:rPr lang="en-US" baseline="30000" dirty="0"/>
              <a:t>st</a:t>
            </a:r>
            <a:r>
              <a:rPr lang="en-US" dirty="0"/>
              <a:t> gear =10 second</a:t>
            </a:r>
          </a:p>
          <a:p>
            <a:endParaRPr lang="en-US" dirty="0"/>
          </a:p>
          <a:p>
            <a:r>
              <a:rPr lang="en-US" dirty="0"/>
              <a:t>10 rotation of </a:t>
            </a:r>
            <a:r>
              <a:rPr lang="en-US" dirty="0" err="1"/>
              <a:t>i</a:t>
            </a:r>
            <a:r>
              <a:rPr lang="en-US" baseline="30000" dirty="0" err="1"/>
              <a:t>th</a:t>
            </a:r>
            <a:r>
              <a:rPr lang="en-US" baseline="30000" dirty="0"/>
              <a:t> </a:t>
            </a:r>
            <a:r>
              <a:rPr lang="en-US" dirty="0"/>
              <a:t> gear turns 1 rotation of (i+1)</a:t>
            </a:r>
            <a:r>
              <a:rPr lang="en-US" baseline="30000" dirty="0" err="1"/>
              <a:t>th</a:t>
            </a:r>
            <a:endParaRPr lang="en-IN" baseline="30000" dirty="0"/>
          </a:p>
        </p:txBody>
      </p:sp>
    </p:spTree>
    <p:extLst>
      <p:ext uri="{BB962C8B-B14F-4D97-AF65-F5344CB8AC3E}">
        <p14:creationId xmlns:p14="http://schemas.microsoft.com/office/powerpoint/2010/main" val="3814571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04E2-8D5F-42B2-84E4-122FBDBB877B}"/>
              </a:ext>
            </a:extLst>
          </p:cNvPr>
          <p:cNvSpPr>
            <a:spLocks noGrp="1"/>
          </p:cNvSpPr>
          <p:nvPr>
            <p:ph type="title"/>
          </p:nvPr>
        </p:nvSpPr>
        <p:spPr/>
        <p:txBody>
          <a:bodyPr/>
          <a:lstStyle/>
          <a:p>
            <a:r>
              <a:rPr lang="en-IN" dirty="0"/>
              <a:t>Why Performance Analysis?</a:t>
            </a:r>
          </a:p>
        </p:txBody>
      </p:sp>
      <p:sp>
        <p:nvSpPr>
          <p:cNvPr id="3" name="Content Placeholder 2">
            <a:extLst>
              <a:ext uri="{FF2B5EF4-FFF2-40B4-BE49-F238E27FC236}">
                <a16:creationId xmlns:a16="http://schemas.microsoft.com/office/drawing/2014/main" id="{EA3DEC41-C3A5-4D62-8E67-B49BF4242374}"/>
              </a:ext>
            </a:extLst>
          </p:cNvPr>
          <p:cNvSpPr>
            <a:spLocks noGrp="1"/>
          </p:cNvSpPr>
          <p:nvPr>
            <p:ph idx="1"/>
          </p:nvPr>
        </p:nvSpPr>
        <p:spPr/>
        <p:txBody>
          <a:bodyPr/>
          <a:lstStyle/>
          <a:p>
            <a:r>
              <a:rPr lang="en-US" dirty="0"/>
              <a:t>The performance of an algorithm can change with a change in the input size. </a:t>
            </a:r>
          </a:p>
          <a:p>
            <a:r>
              <a:rPr lang="en-US" dirty="0"/>
              <a:t>Performance of an algorithm may not matter much for small input size, but when the input size increases, performance can not be ignored.</a:t>
            </a:r>
          </a:p>
          <a:p>
            <a:r>
              <a:rPr lang="en-US" dirty="0"/>
              <a:t>Many real-time and mission-critical applications might result in problems if results are not produced within a specific time.</a:t>
            </a:r>
          </a:p>
          <a:p>
            <a:r>
              <a:rPr lang="en-US" dirty="0"/>
              <a:t>Algorithms should be optimized.</a:t>
            </a:r>
          </a:p>
          <a:p>
            <a:endParaRPr lang="en-IN" dirty="0"/>
          </a:p>
        </p:txBody>
      </p:sp>
    </p:spTree>
    <p:extLst>
      <p:ext uri="{BB962C8B-B14F-4D97-AF65-F5344CB8AC3E}">
        <p14:creationId xmlns:p14="http://schemas.microsoft.com/office/powerpoint/2010/main" val="376732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A4A6-2CA0-4F19-BF9A-8A96B0BAC6FF}"/>
              </a:ext>
            </a:extLst>
          </p:cNvPr>
          <p:cNvSpPr>
            <a:spLocks noGrp="1"/>
          </p:cNvSpPr>
          <p:nvPr>
            <p:ph type="title"/>
          </p:nvPr>
        </p:nvSpPr>
        <p:spPr/>
        <p:txBody>
          <a:bodyPr/>
          <a:lstStyle/>
          <a:p>
            <a:r>
              <a:rPr lang="en-US" b="1" dirty="0"/>
              <a:t>What are Asymptotic Notations?</a:t>
            </a:r>
            <a:endParaRPr lang="en-IN" dirty="0"/>
          </a:p>
        </p:txBody>
      </p:sp>
      <p:sp>
        <p:nvSpPr>
          <p:cNvPr id="3" name="Content Placeholder 2">
            <a:extLst>
              <a:ext uri="{FF2B5EF4-FFF2-40B4-BE49-F238E27FC236}">
                <a16:creationId xmlns:a16="http://schemas.microsoft.com/office/drawing/2014/main" id="{E7501C10-346D-4111-BAB1-7B1863A9312F}"/>
              </a:ext>
            </a:extLst>
          </p:cNvPr>
          <p:cNvSpPr>
            <a:spLocks noGrp="1"/>
          </p:cNvSpPr>
          <p:nvPr>
            <p:ph idx="1"/>
          </p:nvPr>
        </p:nvSpPr>
        <p:spPr/>
        <p:txBody>
          <a:bodyPr/>
          <a:lstStyle/>
          <a:p>
            <a:pPr algn="just"/>
            <a:r>
              <a:rPr lang="en-US" dirty="0"/>
              <a:t>Asymptotic Notations are languages that allow us to analyze an algorithm’s run-time performance. </a:t>
            </a:r>
          </a:p>
          <a:p>
            <a:pPr algn="just"/>
            <a:r>
              <a:rPr lang="en-US" dirty="0"/>
              <a:t>Asymptotic Notations identify running time by algorithm behavior as the input size for the algorithm increases. </a:t>
            </a:r>
          </a:p>
          <a:p>
            <a:pPr algn="just"/>
            <a:r>
              <a:rPr lang="en-US" dirty="0"/>
              <a:t>This is also known as an algorithm’s growth rate. Usually, the time required by an algorithm falls under three types −</a:t>
            </a:r>
            <a:r>
              <a:rPr lang="en-US" sz="2000" dirty="0"/>
              <a:t>(Ex. searching)</a:t>
            </a:r>
            <a:endParaRPr lang="en-US" dirty="0"/>
          </a:p>
          <a:p>
            <a:pPr lvl="1" algn="just">
              <a:buFont typeface="Wingdings" panose="05000000000000000000" pitchFamily="2" charset="2"/>
              <a:buChar char="Ø"/>
            </a:pPr>
            <a:r>
              <a:rPr lang="en-US" sz="2400" b="1" dirty="0">
                <a:solidFill>
                  <a:srgbClr val="C00000"/>
                </a:solidFill>
              </a:rPr>
              <a:t>Best Case</a:t>
            </a:r>
            <a:r>
              <a:rPr lang="en-US" sz="2400" dirty="0">
                <a:solidFill>
                  <a:srgbClr val="C00000"/>
                </a:solidFill>
              </a:rPr>
              <a:t> </a:t>
            </a:r>
            <a:r>
              <a:rPr lang="en-US" sz="2400" dirty="0"/>
              <a:t>− Minimum time required for program execution</a:t>
            </a:r>
          </a:p>
          <a:p>
            <a:pPr lvl="1" algn="just">
              <a:buFont typeface="Wingdings" panose="05000000000000000000" pitchFamily="2" charset="2"/>
              <a:buChar char="Ø"/>
            </a:pPr>
            <a:r>
              <a:rPr lang="en-US" sz="2400" b="1" dirty="0">
                <a:solidFill>
                  <a:srgbClr val="C00000"/>
                </a:solidFill>
              </a:rPr>
              <a:t>Average Case</a:t>
            </a:r>
            <a:r>
              <a:rPr lang="en-US" sz="2400" dirty="0">
                <a:solidFill>
                  <a:srgbClr val="C00000"/>
                </a:solidFill>
              </a:rPr>
              <a:t> </a:t>
            </a:r>
            <a:r>
              <a:rPr lang="en-US" sz="2400" dirty="0"/>
              <a:t>− Average time required for program execution.</a:t>
            </a:r>
          </a:p>
          <a:p>
            <a:pPr lvl="1" algn="just">
              <a:buFont typeface="Wingdings" panose="05000000000000000000" pitchFamily="2" charset="2"/>
              <a:buChar char="Ø"/>
            </a:pPr>
            <a:r>
              <a:rPr lang="en-US" sz="2400" b="1" dirty="0">
                <a:solidFill>
                  <a:srgbClr val="C00000"/>
                </a:solidFill>
              </a:rPr>
              <a:t>Worst Case</a:t>
            </a:r>
            <a:r>
              <a:rPr lang="en-US" sz="2400" dirty="0">
                <a:solidFill>
                  <a:srgbClr val="C00000"/>
                </a:solidFill>
              </a:rPr>
              <a:t> </a:t>
            </a:r>
            <a:r>
              <a:rPr lang="en-US" sz="2400" dirty="0"/>
              <a:t>− Maximum time required for program execution.</a:t>
            </a:r>
          </a:p>
          <a:p>
            <a:endParaRPr lang="en-IN" dirty="0"/>
          </a:p>
        </p:txBody>
      </p:sp>
    </p:spTree>
    <p:extLst>
      <p:ext uri="{BB962C8B-B14F-4D97-AF65-F5344CB8AC3E}">
        <p14:creationId xmlns:p14="http://schemas.microsoft.com/office/powerpoint/2010/main" val="3022469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79F68-71E6-4CF3-B464-BE408439898C}"/>
              </a:ext>
            </a:extLst>
          </p:cNvPr>
          <p:cNvSpPr>
            <a:spLocks noGrp="1"/>
          </p:cNvSpPr>
          <p:nvPr>
            <p:ph type="title"/>
          </p:nvPr>
        </p:nvSpPr>
        <p:spPr/>
        <p:txBody>
          <a:bodyPr/>
          <a:lstStyle/>
          <a:p>
            <a:r>
              <a:rPr lang="en-IN" dirty="0"/>
              <a:t>Best/Worst/Average Case</a:t>
            </a:r>
          </a:p>
        </p:txBody>
      </p:sp>
      <p:sp>
        <p:nvSpPr>
          <p:cNvPr id="3" name="Content Placeholder 2">
            <a:extLst>
              <a:ext uri="{FF2B5EF4-FFF2-40B4-BE49-F238E27FC236}">
                <a16:creationId xmlns:a16="http://schemas.microsoft.com/office/drawing/2014/main" id="{57EF955F-3521-4ECE-8302-AB64820F9C4D}"/>
              </a:ext>
            </a:extLst>
          </p:cNvPr>
          <p:cNvSpPr>
            <a:spLocks noGrp="1"/>
          </p:cNvSpPr>
          <p:nvPr>
            <p:ph idx="1"/>
          </p:nvPr>
        </p:nvSpPr>
        <p:spPr/>
        <p:txBody>
          <a:bodyPr/>
          <a:lstStyle/>
          <a:p>
            <a:r>
              <a:rPr lang="en-US" dirty="0"/>
              <a:t>For a specific size of input n, investigate running times for different input instances:</a:t>
            </a:r>
          </a:p>
          <a:p>
            <a:endParaRPr lang="en-US" dirty="0"/>
          </a:p>
          <a:p>
            <a:endParaRPr lang="en-IN" dirty="0"/>
          </a:p>
        </p:txBody>
      </p:sp>
      <p:pic>
        <p:nvPicPr>
          <p:cNvPr id="5" name="Picture 4">
            <a:extLst>
              <a:ext uri="{FF2B5EF4-FFF2-40B4-BE49-F238E27FC236}">
                <a16:creationId xmlns:a16="http://schemas.microsoft.com/office/drawing/2014/main" id="{C9EEC782-28D8-4A15-85A9-1C15D51EF893}"/>
              </a:ext>
            </a:extLst>
          </p:cNvPr>
          <p:cNvPicPr>
            <a:picLocks noChangeAspect="1"/>
          </p:cNvPicPr>
          <p:nvPr/>
        </p:nvPicPr>
        <p:blipFill>
          <a:blip r:embed="rId2"/>
          <a:stretch>
            <a:fillRect/>
          </a:stretch>
        </p:blipFill>
        <p:spPr>
          <a:xfrm>
            <a:off x="1943100" y="1593836"/>
            <a:ext cx="7319962" cy="4525975"/>
          </a:xfrm>
          <a:prstGeom prst="rect">
            <a:avLst/>
          </a:prstGeom>
        </p:spPr>
      </p:pic>
    </p:spTree>
    <p:extLst>
      <p:ext uri="{BB962C8B-B14F-4D97-AF65-F5344CB8AC3E}">
        <p14:creationId xmlns:p14="http://schemas.microsoft.com/office/powerpoint/2010/main" val="1666302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FC97F-D938-42E9-A5EB-CAB466DADE3D}"/>
              </a:ext>
            </a:extLst>
          </p:cNvPr>
          <p:cNvSpPr>
            <a:spLocks noGrp="1"/>
          </p:cNvSpPr>
          <p:nvPr>
            <p:ph type="title"/>
          </p:nvPr>
        </p:nvSpPr>
        <p:spPr/>
        <p:txBody>
          <a:bodyPr/>
          <a:lstStyle/>
          <a:p>
            <a:r>
              <a:rPr lang="en-IN" dirty="0"/>
              <a:t>Best/Worst/Average Case</a:t>
            </a:r>
          </a:p>
        </p:txBody>
      </p:sp>
      <p:sp>
        <p:nvSpPr>
          <p:cNvPr id="3" name="Content Placeholder 2">
            <a:extLst>
              <a:ext uri="{FF2B5EF4-FFF2-40B4-BE49-F238E27FC236}">
                <a16:creationId xmlns:a16="http://schemas.microsoft.com/office/drawing/2014/main" id="{5F3DED43-0838-453E-ABA1-58496C6BDE62}"/>
              </a:ext>
            </a:extLst>
          </p:cNvPr>
          <p:cNvSpPr>
            <a:spLocks noGrp="1"/>
          </p:cNvSpPr>
          <p:nvPr>
            <p:ph idx="1"/>
          </p:nvPr>
        </p:nvSpPr>
        <p:spPr/>
        <p:txBody>
          <a:bodyPr/>
          <a:lstStyle/>
          <a:p>
            <a:r>
              <a:rPr lang="en-US" dirty="0"/>
              <a:t>For inputs of all sizes:</a:t>
            </a:r>
            <a:endParaRPr lang="en-IN" dirty="0"/>
          </a:p>
        </p:txBody>
      </p:sp>
      <p:pic>
        <p:nvPicPr>
          <p:cNvPr id="5" name="Picture 4">
            <a:extLst>
              <a:ext uri="{FF2B5EF4-FFF2-40B4-BE49-F238E27FC236}">
                <a16:creationId xmlns:a16="http://schemas.microsoft.com/office/drawing/2014/main" id="{871DE141-E3C3-46A1-9E3F-E226B192BB64}"/>
              </a:ext>
            </a:extLst>
          </p:cNvPr>
          <p:cNvPicPr>
            <a:picLocks noChangeAspect="1"/>
          </p:cNvPicPr>
          <p:nvPr/>
        </p:nvPicPr>
        <p:blipFill>
          <a:blip r:embed="rId2"/>
          <a:stretch>
            <a:fillRect/>
          </a:stretch>
        </p:blipFill>
        <p:spPr>
          <a:xfrm>
            <a:off x="1979464" y="1510760"/>
            <a:ext cx="8233067" cy="4620517"/>
          </a:xfrm>
          <a:prstGeom prst="rect">
            <a:avLst/>
          </a:prstGeom>
        </p:spPr>
      </p:pic>
    </p:spTree>
    <p:extLst>
      <p:ext uri="{BB962C8B-B14F-4D97-AF65-F5344CB8AC3E}">
        <p14:creationId xmlns:p14="http://schemas.microsoft.com/office/powerpoint/2010/main" val="3894859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9FD7F-FA71-4A9F-9541-E759F162F558}"/>
              </a:ext>
            </a:extLst>
          </p:cNvPr>
          <p:cNvSpPr>
            <a:spLocks noGrp="1"/>
          </p:cNvSpPr>
          <p:nvPr>
            <p:ph type="title"/>
          </p:nvPr>
        </p:nvSpPr>
        <p:spPr/>
        <p:txBody>
          <a:bodyPr/>
          <a:lstStyle/>
          <a:p>
            <a:r>
              <a:rPr lang="en-US" b="1" dirty="0"/>
              <a:t>Types of Asymptotic Notations</a:t>
            </a:r>
            <a:endParaRPr lang="en-IN" dirty="0"/>
          </a:p>
        </p:txBody>
      </p:sp>
      <p:sp>
        <p:nvSpPr>
          <p:cNvPr id="3" name="Content Placeholder 2">
            <a:extLst>
              <a:ext uri="{FF2B5EF4-FFF2-40B4-BE49-F238E27FC236}">
                <a16:creationId xmlns:a16="http://schemas.microsoft.com/office/drawing/2014/main" id="{7896A8DC-909B-48B9-93B8-68E64FE876CE}"/>
              </a:ext>
            </a:extLst>
          </p:cNvPr>
          <p:cNvSpPr>
            <a:spLocks noGrp="1"/>
          </p:cNvSpPr>
          <p:nvPr>
            <p:ph idx="1"/>
          </p:nvPr>
        </p:nvSpPr>
        <p:spPr/>
        <p:txBody>
          <a:bodyPr/>
          <a:lstStyle/>
          <a:p>
            <a:pPr algn="just"/>
            <a:r>
              <a:rPr lang="en-US" dirty="0"/>
              <a:t>Commonly used asymptotic notations to calculate the running time complexity of an algorithm.</a:t>
            </a:r>
          </a:p>
          <a:p>
            <a:pPr lvl="1">
              <a:buFont typeface="Wingdings" panose="05000000000000000000" pitchFamily="2" charset="2"/>
              <a:buChar char="Ø"/>
            </a:pPr>
            <a:r>
              <a:rPr lang="en-US" sz="2400" dirty="0"/>
              <a:t>Ο Notation (Big-O Notation)</a:t>
            </a:r>
          </a:p>
          <a:p>
            <a:pPr lvl="1">
              <a:buFont typeface="Wingdings" panose="05000000000000000000" pitchFamily="2" charset="2"/>
              <a:buChar char="Ø"/>
            </a:pPr>
            <a:r>
              <a:rPr lang="en-US" sz="2400" dirty="0"/>
              <a:t>Ω Notation (Big-Omega Notation)</a:t>
            </a:r>
          </a:p>
          <a:p>
            <a:pPr lvl="1">
              <a:buFont typeface="Wingdings" panose="05000000000000000000" pitchFamily="2" charset="2"/>
              <a:buChar char="Ø"/>
            </a:pPr>
            <a:r>
              <a:rPr lang="en-US" sz="2400" dirty="0"/>
              <a:t>θ Notation (Theta Notation)</a:t>
            </a:r>
          </a:p>
          <a:p>
            <a:endParaRPr lang="en-IN" dirty="0"/>
          </a:p>
        </p:txBody>
      </p:sp>
    </p:spTree>
    <p:extLst>
      <p:ext uri="{BB962C8B-B14F-4D97-AF65-F5344CB8AC3E}">
        <p14:creationId xmlns:p14="http://schemas.microsoft.com/office/powerpoint/2010/main" val="153931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dirty="0">
                  <a:solidFill>
                    <a:schemeClr val="bg1"/>
                  </a:solidFill>
                </a:endParaRPr>
              </a:p>
              <a:p>
                <a:pPr marL="342900" indent="-342900" algn="just">
                  <a:buFont typeface="Wingdings" panose="05000000000000000000" pitchFamily="2" charset="2"/>
                  <a:buChar char="§"/>
                </a:pPr>
                <a14:m>
                  <m:oMath xmlns:m="http://schemas.openxmlformats.org/officeDocument/2006/math">
                    <m:r>
                      <a:rPr lang="en-US" sz="2400" i="1" dirty="0" smtClean="0">
                        <a:solidFill>
                          <a:schemeClr val="bg1"/>
                        </a:solidFill>
                        <a:latin typeface="Cambria Math" panose="02040503050406030204" pitchFamily="18" charset="0"/>
                      </a:rPr>
                      <m:t>𝑔</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𝑛</m:t>
                    </m:r>
                    <m:r>
                      <a:rPr lang="en-US" sz="2400" i="1" dirty="0" smtClean="0">
                        <a:solidFill>
                          <a:schemeClr val="bg1"/>
                        </a:solidFill>
                        <a:latin typeface="Cambria Math" panose="02040503050406030204" pitchFamily="18" charset="0"/>
                      </a:rPr>
                      <m:t>)</m:t>
                    </m:r>
                  </m:oMath>
                </a14:m>
                <a:r>
                  <a:rPr lang="en-US" sz="2400" dirty="0">
                    <a:solidFill>
                      <a:schemeClr val="bg1"/>
                    </a:solidFill>
                  </a:rPr>
                  <a:t> is an asymptotically </a:t>
                </a:r>
                <a:r>
                  <a:rPr lang="en-US" sz="2400" b="1" dirty="0">
                    <a:solidFill>
                      <a:schemeClr val="bg1"/>
                    </a:solidFill>
                  </a:rPr>
                  <a:t>upper bound </a:t>
                </a:r>
                <a:r>
                  <a:rPr lang="en-US" sz="2400" dirty="0">
                    <a:solidFill>
                      <a:schemeClr val="bg1"/>
                    </a:solidFill>
                  </a:rPr>
                  <a:t>for </a:t>
                </a:r>
                <a14:m>
                  <m:oMath xmlns:m="http://schemas.openxmlformats.org/officeDocument/2006/math">
                    <m:r>
                      <a:rPr lang="en-US" sz="2400" i="1" dirty="0">
                        <a:solidFill>
                          <a:schemeClr val="bg1"/>
                        </a:solidFill>
                        <a:latin typeface="Cambria Math" panose="02040503050406030204" pitchFamily="18" charset="0"/>
                      </a:rPr>
                      <m:t>𝑓</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𝑛</m:t>
                    </m:r>
                    <m:r>
                      <a:rPr lang="en-US" sz="2400" i="1" dirty="0">
                        <a:solidFill>
                          <a:schemeClr val="bg1"/>
                        </a:solidFill>
                        <a:latin typeface="Cambria Math" panose="02040503050406030204" pitchFamily="18" charset="0"/>
                      </a:rPr>
                      <m:t>)</m:t>
                    </m:r>
                  </m:oMath>
                </a14:m>
                <a:r>
                  <a:rPr lang="en-US" sz="2400" dirty="0">
                    <a:solidFill>
                      <a:schemeClr val="bg1"/>
                    </a:solidFill>
                  </a:rPr>
                  <a:t>.</a:t>
                </a:r>
              </a:p>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14:m>
                  <m:oMath xmlns:m="http://schemas.openxmlformats.org/officeDocument/2006/math">
                    <m:r>
                      <a:rPr lang="en-US" sz="2400" i="1" dirty="0">
                        <a:solidFill>
                          <a:schemeClr val="bg1"/>
                        </a:solidFill>
                        <a:latin typeface="Cambria Math" panose="02040503050406030204" pitchFamily="18" charset="0"/>
                      </a:rPr>
                      <m:t>𝑓</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𝑛</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𝑂</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𝑔</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𝑛</m:t>
                    </m:r>
                    <m:r>
                      <a:rPr lang="en-US" sz="2400" i="1" dirty="0">
                        <a:solidFill>
                          <a:schemeClr val="bg1"/>
                        </a:solidFill>
                        <a:latin typeface="Cambria Math" panose="02040503050406030204" pitchFamily="18" charset="0"/>
                      </a:rPr>
                      <m:t>)) </m:t>
                    </m:r>
                  </m:oMath>
                </a14:m>
                <a:r>
                  <a:rPr lang="en-US" sz="2400" dirty="0">
                    <a:solidFill>
                      <a:schemeClr val="bg1"/>
                    </a:solidFill>
                  </a:rPr>
                  <a:t>implies:  </a:t>
                </a:r>
              </a:p>
              <a:p>
                <a:pPr algn="just"/>
                <a14:m>
                  <m:oMathPara xmlns:m="http://schemas.openxmlformats.org/officeDocument/2006/math">
                    <m:oMathParaPr>
                      <m:jc m:val="centerGroup"/>
                    </m:oMathParaPr>
                    <m:oMath xmlns:m="http://schemas.openxmlformats.org/officeDocument/2006/math">
                      <m:r>
                        <a:rPr lang="en-US" sz="2400" b="1" i="1" dirty="0">
                          <a:solidFill>
                            <a:schemeClr val="bg1"/>
                          </a:solidFill>
                          <a:latin typeface="Cambria Math" panose="02040503050406030204" pitchFamily="18" charset="0"/>
                        </a:rPr>
                        <m:t>𝒇</m:t>
                      </m:r>
                      <m:d>
                        <m:dPr>
                          <m:ctrlPr>
                            <a:rPr lang="en-US" sz="2400" b="1" i="1" dirty="0">
                              <a:solidFill>
                                <a:schemeClr val="bg1"/>
                              </a:solidFill>
                              <a:latin typeface="Cambria Math" panose="02040503050406030204" pitchFamily="18" charset="0"/>
                            </a:rPr>
                          </m:ctrlPr>
                        </m:dPr>
                        <m:e>
                          <m:r>
                            <a:rPr lang="en-US" sz="2400" b="1" i="1" dirty="0">
                              <a:solidFill>
                                <a:schemeClr val="bg1"/>
                              </a:solidFill>
                              <a:latin typeface="Cambria Math" panose="02040503050406030204" pitchFamily="18" charset="0"/>
                            </a:rPr>
                            <m:t>𝒏</m:t>
                          </m:r>
                        </m:e>
                      </m:d>
                      <m:r>
                        <a:rPr lang="en-US" sz="2400" b="1" i="1" dirty="0">
                          <a:solidFill>
                            <a:schemeClr val="bg1"/>
                          </a:solidFill>
                          <a:latin typeface="Cambria Math" panose="02040503050406030204" pitchFamily="18" charset="0"/>
                        </a:rPr>
                        <m:t>“≤” </m:t>
                      </m:r>
                      <m:r>
                        <a:rPr lang="en-US" sz="2400" b="1" i="1" dirty="0">
                          <a:solidFill>
                            <a:schemeClr val="bg1"/>
                          </a:solidFill>
                          <a:latin typeface="Cambria Math" panose="02040503050406030204" pitchFamily="18" charset="0"/>
                        </a:rPr>
                        <m:t>𝒄</m:t>
                      </m:r>
                      <m:r>
                        <a:rPr lang="en-US" sz="2400" b="1" i="1" dirty="0">
                          <a:solidFill>
                            <a:schemeClr val="bg1"/>
                          </a:solidFill>
                          <a:latin typeface="Cambria Math" panose="02040503050406030204" pitchFamily="18" charset="0"/>
                        </a:rPr>
                        <m:t>.</m:t>
                      </m:r>
                      <m:r>
                        <a:rPr lang="en-US" sz="2400" b="1" i="1" dirty="0">
                          <a:solidFill>
                            <a:schemeClr val="bg1"/>
                          </a:solidFill>
                          <a:latin typeface="Cambria Math" panose="02040503050406030204" pitchFamily="18" charset="0"/>
                        </a:rPr>
                        <m:t>𝒈</m:t>
                      </m:r>
                      <m:r>
                        <a:rPr lang="en-US" sz="2400" b="1" i="1" dirty="0">
                          <a:solidFill>
                            <a:schemeClr val="bg1"/>
                          </a:solidFill>
                          <a:latin typeface="Cambria Math" panose="02040503050406030204" pitchFamily="18" charset="0"/>
                        </a:rPr>
                        <m:t>(</m:t>
                      </m:r>
                      <m:r>
                        <a:rPr lang="en-US" sz="2400" b="1" i="1" dirty="0">
                          <a:solidFill>
                            <a:schemeClr val="bg1"/>
                          </a:solidFill>
                          <a:latin typeface="Cambria Math" panose="02040503050406030204" pitchFamily="18" charset="0"/>
                        </a:rPr>
                        <m:t>𝒏</m:t>
                      </m:r>
                      <m:r>
                        <a:rPr lang="en-US" sz="2400" b="1" i="1" dirty="0">
                          <a:solidFill>
                            <a:schemeClr val="bg1"/>
                          </a:solidFill>
                          <a:latin typeface="Cambria Math" panose="02040503050406030204" pitchFamily="18" charset="0"/>
                        </a:rPr>
                        <m:t>)</m:t>
                      </m:r>
                    </m:oMath>
                  </m:oMathPara>
                </a14:m>
                <a:endParaRPr lang="en-US" sz="2400" b="1" dirty="0">
                  <a:solidFill>
                    <a:schemeClr val="bg1"/>
                  </a:solidFill>
                </a:endParaRPr>
              </a:p>
              <a:p>
                <a:pPr algn="just"/>
                <a:endParaRPr lang="en-US" sz="2400" b="1" dirty="0">
                  <a:solidFill>
                    <a:schemeClr val="bg1"/>
                  </a:solidFill>
                </a:endParaRPr>
              </a:p>
              <a:p>
                <a:pPr marL="342900" indent="-342900" algn="just">
                  <a:buFont typeface="Wingdings" panose="05000000000000000000" pitchFamily="2" charset="2"/>
                  <a:buChar char="§"/>
                </a:pPr>
                <a:r>
                  <a:rPr lang="en-US" sz="2400" dirty="0">
                    <a:solidFill>
                      <a:schemeClr val="bg1"/>
                    </a:solidFill>
                  </a:rPr>
                  <a:t>For any value of n, the running time of an algorithm does not cross the time provided by O(g(n)).</a:t>
                </a:r>
              </a:p>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r>
                  <a:rPr lang="en-US" sz="2400" dirty="0">
                    <a:solidFill>
                      <a:schemeClr val="bg1"/>
                    </a:solidFill>
                  </a:rPr>
                  <a:t>Time taken by a known algorithm to solve a problem with worse case input gives the upper bound.</a:t>
                </a:r>
              </a:p>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r>
                  <a:rPr lang="en-US" dirty="0">
                    <a:solidFill>
                      <a:schemeClr val="bg1"/>
                    </a:solidFill>
                    <a:latin typeface="Abadi" panose="020B0604020104020204" pitchFamily="34" charset="0"/>
                  </a:rPr>
                  <a:t>c accounts for constant factors that may differ between algorithms. For example, if one algorithm runs in 2n steps and another in n steps, both are O(n), but the first has a larger constant factor.</a:t>
                </a:r>
              </a:p>
            </p:txBody>
          </p:sp>
        </mc:Choice>
        <mc:Fallback>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96000" y="0"/>
                <a:ext cx="6096000" cy="6588000"/>
              </a:xfrm>
              <a:prstGeom prst="rect">
                <a:avLst/>
              </a:prstGeom>
              <a:blipFill>
                <a:blip r:embed="rId2"/>
                <a:stretch>
                  <a:fillRect l="-1300" r="-1500" b="-138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0" y="-1"/>
                <a:ext cx="6096000" cy="830997"/>
              </a:xfrm>
              <a:prstGeom prst="rect">
                <a:avLst/>
              </a:prstGeom>
              <a:noFill/>
            </p:spPr>
            <p:txBody>
              <a:bodyPr wrap="square" lIns="274320" rtlCol="0" anchor="ctr">
                <a:spAutoFit/>
              </a:bodyPr>
              <a:lstStyle/>
              <a:p>
                <a:pPr>
                  <a:lnSpc>
                    <a:spcPct val="150000"/>
                  </a:lnSpc>
                </a:pPr>
                <a:r>
                  <a:rPr lang="en-US" sz="3200" b="1" dirty="0">
                    <a:solidFill>
                      <a:srgbClr val="424242"/>
                    </a:solidFill>
                  </a:rPr>
                  <a:t>Big(</a:t>
                </a:r>
                <a14:m>
                  <m:oMath xmlns:m="http://schemas.openxmlformats.org/officeDocument/2006/math">
                    <m:r>
                      <a:rPr lang="en-US" sz="3200" b="1" i="0" dirty="0" smtClean="0">
                        <a:solidFill>
                          <a:srgbClr val="424242"/>
                        </a:solidFill>
                        <a:latin typeface="Cambria Math" panose="02040503050406030204" pitchFamily="18" charset="0"/>
                      </a:rPr>
                      <m:t>𝐎</m:t>
                    </m:r>
                  </m:oMath>
                </a14:m>
                <a:r>
                  <a:rPr lang="en-US" sz="3200" b="1" dirty="0">
                    <a:solidFill>
                      <a:srgbClr val="424242"/>
                    </a:solidFill>
                  </a:rPr>
                  <a:t>) Notation</a:t>
                </a:r>
              </a:p>
            </p:txBody>
          </p:sp>
        </mc:Choice>
        <mc:Fallback xmlns="">
          <p:sp>
            <p:nvSpPr>
              <p:cNvPr id="5" name="TextBox 4"/>
              <p:cNvSpPr txBox="1">
                <a:spLocks noRot="1" noChangeAspect="1" noMove="1" noResize="1" noEditPoints="1" noAdjustHandles="1" noChangeArrowheads="1" noChangeShapeType="1" noTextEdit="1"/>
              </p:cNvSpPr>
              <p:nvPr/>
            </p:nvSpPr>
            <p:spPr>
              <a:xfrm>
                <a:off x="0" y="-1"/>
                <a:ext cx="6096000" cy="830997"/>
              </a:xfrm>
              <a:prstGeom prst="rect">
                <a:avLst/>
              </a:prstGeom>
              <a:blipFill rotWithShape="0">
                <a:blip r:embed="rId3"/>
                <a:stretch>
                  <a:fillRect b="-13971"/>
                </a:stretch>
              </a:blipFill>
            </p:spPr>
            <p:txBody>
              <a:bodyPr/>
              <a:lstStyle/>
              <a:p>
                <a:r>
                  <a:rPr lang="en-US">
                    <a:noFill/>
                  </a:rPr>
                  <a:t> </a:t>
                </a:r>
              </a:p>
            </p:txBody>
          </p:sp>
        </mc:Fallback>
      </mc:AlternateContent>
      <p:pic>
        <p:nvPicPr>
          <p:cNvPr id="7" name="Picture 6"/>
          <p:cNvPicPr>
            <a:picLocks noChangeAspect="1"/>
          </p:cNvPicPr>
          <p:nvPr/>
        </p:nvPicPr>
        <p:blipFill>
          <a:blip r:embed="rId4"/>
          <a:stretch>
            <a:fillRect/>
          </a:stretch>
        </p:blipFill>
        <p:spPr>
          <a:xfrm>
            <a:off x="975993" y="2069550"/>
            <a:ext cx="3943350" cy="2667000"/>
          </a:xfrm>
          <a:prstGeom prst="rect">
            <a:avLst/>
          </a:prstGeom>
        </p:spPr>
      </p:pic>
      <p:cxnSp>
        <p:nvCxnSpPr>
          <p:cNvPr id="8" name="Straight Connector 7"/>
          <p:cNvCxnSpPr/>
          <p:nvPr/>
        </p:nvCxnSpPr>
        <p:spPr>
          <a:xfrm flipH="1">
            <a:off x="985183" y="1435941"/>
            <a:ext cx="0" cy="37953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985184" y="5218801"/>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1997134" y="3636725"/>
            <a:ext cx="0" cy="1600200"/>
          </a:xfrm>
          <a:prstGeom prst="line">
            <a:avLst/>
          </a:prstGeom>
          <a:ln w="28575">
            <a:solidFill>
              <a:schemeClr val="tx1">
                <a:lumMod val="75000"/>
                <a:lumOff val="25000"/>
              </a:scheme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p:cNvSpPr txBox="1"/>
              <p:nvPr/>
            </p:nvSpPr>
            <p:spPr>
              <a:xfrm>
                <a:off x="2523323" y="5239388"/>
                <a:ext cx="2507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71160"/>
                          </a:solidFill>
                          <a:latin typeface="Cambria Math" panose="02040503050406030204" pitchFamily="18" charset="0"/>
                        </a:rPr>
                        <m:t>𝒇</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𝒏</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𝑶</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𝒈</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𝒏</m:t>
                      </m:r>
                      <m:r>
                        <a:rPr lang="en-US" sz="2400" b="1" i="1" dirty="0" smtClean="0">
                          <a:solidFill>
                            <a:srgbClr val="A71160"/>
                          </a:solidFill>
                          <a:latin typeface="Cambria Math" panose="02040503050406030204" pitchFamily="18" charset="0"/>
                        </a:rPr>
                        <m:t>))</m:t>
                      </m:r>
                    </m:oMath>
                  </m:oMathPara>
                </a14:m>
                <a:endParaRPr lang="en-US" sz="2400" b="1" dirty="0">
                  <a:solidFill>
                    <a:srgbClr val="A7116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523323" y="5239388"/>
                <a:ext cx="2507672" cy="461665"/>
              </a:xfrm>
              <a:prstGeom prst="rect">
                <a:avLst/>
              </a:prstGeom>
              <a:blipFill rotWithShape="0">
                <a:blip r:embed="rId5"/>
                <a:stretch>
                  <a:fillRect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765131" y="5163093"/>
                <a:ext cx="57011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𝒏</m:t>
                          </m:r>
                        </m:e>
                        <m:sub>
                          <m:r>
                            <a:rPr lang="en-US" sz="2000" b="1" i="1" dirty="0" smtClean="0">
                              <a:latin typeface="Cambria Math" panose="02040503050406030204" pitchFamily="18" charset="0"/>
                            </a:rPr>
                            <m:t>𝟎</m:t>
                          </m:r>
                        </m:sub>
                      </m:sSub>
                    </m:oMath>
                  </m:oMathPara>
                </a14:m>
                <a:endParaRPr lang="en-US" sz="2000" b="1"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1765131" y="5163093"/>
                <a:ext cx="570116" cy="400110"/>
              </a:xfrm>
              <a:prstGeom prst="rect">
                <a:avLst/>
              </a:prstGeom>
              <a:blipFill rotWithShape="0">
                <a:blip r:embed="rId6"/>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466087" y="4976893"/>
                <a:ext cx="57011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𝒏</m:t>
                      </m:r>
                    </m:oMath>
                  </m:oMathPara>
                </a14:m>
                <a:endParaRPr lang="en-US" sz="2000" b="1"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5466087" y="4976893"/>
                <a:ext cx="570116" cy="40011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126985" y="1587299"/>
                <a:ext cx="95706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𝒄</m:t>
                      </m:r>
                      <m:r>
                        <a:rPr lang="en-US" sz="2000" b="1" i="1" dirty="0" smtClean="0">
                          <a:latin typeface="Cambria Math" panose="02040503050406030204" pitchFamily="18" charset="0"/>
                        </a:rPr>
                        <m:t>.</m:t>
                      </m:r>
                      <m:r>
                        <a:rPr lang="en-US" sz="2000" b="1" i="1" dirty="0" smtClean="0">
                          <a:latin typeface="Cambria Math" panose="02040503050406030204" pitchFamily="18" charset="0"/>
                        </a:rPr>
                        <m:t>𝒈</m:t>
                      </m:r>
                      <m:r>
                        <a:rPr lang="en-US" sz="2000" b="1" i="1" dirty="0" smtClean="0">
                          <a:latin typeface="Cambria Math" panose="02040503050406030204" pitchFamily="18" charset="0"/>
                        </a:rPr>
                        <m:t>(</m:t>
                      </m:r>
                      <m:r>
                        <a:rPr lang="en-US" sz="2000" b="1" i="1" dirty="0" smtClean="0">
                          <a:latin typeface="Cambria Math" panose="02040503050406030204" pitchFamily="18" charset="0"/>
                        </a:rPr>
                        <m:t>𝒏</m:t>
                      </m:r>
                      <m:r>
                        <a:rPr lang="en-US" sz="2000" b="1" i="1" dirty="0" smtClean="0">
                          <a:latin typeface="Cambria Math" panose="02040503050406030204" pitchFamily="18" charset="0"/>
                        </a:rPr>
                        <m:t>)</m:t>
                      </m:r>
                    </m:oMath>
                  </m:oMathPara>
                </a14:m>
                <a:endParaRPr lang="en-US" sz="2000" b="1" i="1" dirty="0"/>
              </a:p>
            </p:txBody>
          </p:sp>
        </mc:Choice>
        <mc:Fallback xmlns="">
          <p:sp>
            <p:nvSpPr>
              <p:cNvPr id="13" name="TextBox 12"/>
              <p:cNvSpPr txBox="1">
                <a:spLocks noRot="1" noChangeAspect="1" noMove="1" noResize="1" noEditPoints="1" noAdjustHandles="1" noChangeArrowheads="1" noChangeShapeType="1" noTextEdit="1"/>
              </p:cNvSpPr>
              <p:nvPr/>
            </p:nvSpPr>
            <p:spPr>
              <a:xfrm>
                <a:off x="4126985" y="1587299"/>
                <a:ext cx="957064" cy="400110"/>
              </a:xfrm>
              <a:prstGeom prst="rect">
                <a:avLst/>
              </a:prstGeom>
              <a:blipFill rotWithShape="0">
                <a:blip r:embed="rId8"/>
                <a:stretch>
                  <a:fillRect r="-2548"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167714" y="2683018"/>
                <a:ext cx="95706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𝒇</m:t>
                      </m:r>
                      <m:r>
                        <a:rPr lang="en-US" sz="2000" b="1" i="1" dirty="0" smtClean="0">
                          <a:latin typeface="Cambria Math" panose="02040503050406030204" pitchFamily="18" charset="0"/>
                        </a:rPr>
                        <m:t>(</m:t>
                      </m:r>
                      <m:r>
                        <a:rPr lang="en-US" sz="2000" b="1" i="1" dirty="0" smtClean="0">
                          <a:latin typeface="Cambria Math" panose="02040503050406030204" pitchFamily="18" charset="0"/>
                        </a:rPr>
                        <m:t>𝒏</m:t>
                      </m:r>
                      <m:r>
                        <a:rPr lang="en-US" sz="2000" b="1" i="1" dirty="0" smtClean="0">
                          <a:latin typeface="Cambria Math" panose="02040503050406030204" pitchFamily="18" charset="0"/>
                        </a:rPr>
                        <m:t>)</m:t>
                      </m:r>
                    </m:oMath>
                  </m:oMathPara>
                </a14:m>
                <a:endParaRPr lang="en-US" sz="2000" b="1" i="1" dirty="0"/>
              </a:p>
            </p:txBody>
          </p:sp>
        </mc:Choice>
        <mc:Fallback xmlns="">
          <p:sp>
            <p:nvSpPr>
              <p:cNvPr id="14" name="TextBox 13"/>
              <p:cNvSpPr txBox="1">
                <a:spLocks noRot="1" noChangeAspect="1" noMove="1" noResize="1" noEditPoints="1" noAdjustHandles="1" noChangeArrowheads="1" noChangeShapeType="1" noTextEdit="1"/>
              </p:cNvSpPr>
              <p:nvPr/>
            </p:nvSpPr>
            <p:spPr>
              <a:xfrm>
                <a:off x="4167714" y="2683018"/>
                <a:ext cx="957064" cy="400110"/>
              </a:xfrm>
              <a:prstGeom prst="rect">
                <a:avLst/>
              </a:prstGeom>
              <a:blipFill rotWithShape="0">
                <a:blip r:embed="rId9"/>
                <a:stretch>
                  <a:fillRect b="-16667"/>
                </a:stretch>
              </a:blipFill>
            </p:spPr>
            <p:txBody>
              <a:bodyPr/>
              <a:lstStyle/>
              <a:p>
                <a:r>
                  <a:rPr lang="en-US">
                    <a:noFill/>
                  </a:rPr>
                  <a:t> </a:t>
                </a:r>
              </a:p>
            </p:txBody>
          </p:sp>
        </mc:Fallback>
      </mc:AlternateContent>
    </p:spTree>
    <p:extLst>
      <p:ext uri="{BB962C8B-B14F-4D97-AF65-F5344CB8AC3E}">
        <p14:creationId xmlns:p14="http://schemas.microsoft.com/office/powerpoint/2010/main" val="225110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1000"/>
                                        <p:tgtEl>
                                          <p:spTgt spid="7"/>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 end="1"/>
                                            </p:txEl>
                                          </p:spTgt>
                                        </p:tgtEl>
                                        <p:attrNameLst>
                                          <p:attrName>style.visibility</p:attrName>
                                        </p:attrNameLst>
                                      </p:cBhvr>
                                      <p:to>
                                        <p:strVal val="visible"/>
                                      </p:to>
                                    </p:set>
                                    <p:animEffect transition="in" filter="fade">
                                      <p:cBhvr>
                                        <p:cTn id="44" dur="500"/>
                                        <p:tgtEl>
                                          <p:spTgt spid="3">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Effect transition="in" filter="fade">
                                      <p:cBhvr>
                                        <p:cTn id="49" dur="500"/>
                                        <p:tgtEl>
                                          <p:spTgt spid="3">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animEffect transition="in" filter="fade">
                                      <p:cBhvr>
                                        <p:cTn id="54" dur="500"/>
                                        <p:tgtEl>
                                          <p:spTgt spid="3">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500"/>
                                        <p:tgtEl>
                                          <p:spTgt spid="3">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10" end="10"/>
                                            </p:txEl>
                                          </p:spTgt>
                                        </p:tgtEl>
                                        <p:attrNameLst>
                                          <p:attrName>style.visibility</p:attrName>
                                        </p:attrNameLst>
                                      </p:cBhvr>
                                      <p:to>
                                        <p:strVal val="visible"/>
                                      </p:to>
                                    </p:set>
                                    <p:animEffect transition="in" filter="fade">
                                      <p:cBhvr>
                                        <p:cTn id="6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3"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dirty="0">
                  <a:solidFill>
                    <a:schemeClr val="bg1"/>
                  </a:solidFill>
                </a:endParaRPr>
              </a:p>
              <a:p>
                <a:pPr marL="342900" indent="-342900" algn="just">
                  <a:buFont typeface="Wingdings" panose="05000000000000000000" pitchFamily="2" charset="2"/>
                  <a:buChar char="§"/>
                </a:pPr>
                <a14:m>
                  <m:oMath xmlns:m="http://schemas.openxmlformats.org/officeDocument/2006/math">
                    <m:r>
                      <a:rPr lang="en-US" sz="2400" i="1" dirty="0">
                        <a:solidFill>
                          <a:schemeClr val="bg1"/>
                        </a:solidFill>
                        <a:latin typeface="Cambria Math" panose="02040503050406030204" pitchFamily="18" charset="0"/>
                      </a:rPr>
                      <m:t>𝑔</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𝑛</m:t>
                    </m:r>
                    <m:r>
                      <a:rPr lang="en-US" sz="2400" i="1" dirty="0">
                        <a:solidFill>
                          <a:schemeClr val="bg1"/>
                        </a:solidFill>
                        <a:latin typeface="Cambria Math" panose="02040503050406030204" pitchFamily="18" charset="0"/>
                      </a:rPr>
                      <m:t>) </m:t>
                    </m:r>
                  </m:oMath>
                </a14:m>
                <a:r>
                  <a:rPr lang="en-US" sz="2400" i="0" dirty="0">
                    <a:solidFill>
                      <a:schemeClr val="bg1"/>
                    </a:solidFill>
                    <a:latin typeface="+mj-lt"/>
                  </a:rPr>
                  <a:t>is an asymptotically </a:t>
                </a:r>
                <a:r>
                  <a:rPr lang="en-US" sz="2400" b="1" i="0" dirty="0">
                    <a:solidFill>
                      <a:schemeClr val="bg1"/>
                    </a:solidFill>
                    <a:latin typeface="+mj-lt"/>
                  </a:rPr>
                  <a:t>lower bound </a:t>
                </a:r>
                <a:r>
                  <a:rPr lang="en-US" sz="2400" i="0" dirty="0">
                    <a:solidFill>
                      <a:schemeClr val="bg1"/>
                    </a:solidFill>
                    <a:latin typeface="+mj-lt"/>
                  </a:rPr>
                  <a:t>for </a:t>
                </a:r>
                <a14:m>
                  <m:oMath xmlns:m="http://schemas.openxmlformats.org/officeDocument/2006/math">
                    <m:r>
                      <a:rPr lang="en-US" sz="2400" i="1" dirty="0">
                        <a:solidFill>
                          <a:schemeClr val="bg1"/>
                        </a:solidFill>
                        <a:latin typeface="Cambria Math" panose="02040503050406030204" pitchFamily="18" charset="0"/>
                      </a:rPr>
                      <m:t>𝑓</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𝑛</m:t>
                    </m:r>
                    <m:r>
                      <a:rPr lang="en-US" sz="2400" i="1" dirty="0">
                        <a:solidFill>
                          <a:schemeClr val="bg1"/>
                        </a:solidFill>
                        <a:latin typeface="Cambria Math" panose="02040503050406030204" pitchFamily="18" charset="0"/>
                      </a:rPr>
                      <m:t>).</m:t>
                    </m:r>
                  </m:oMath>
                </a14:m>
                <a:endParaRPr lang="en-US" sz="2400" i="0" dirty="0">
                  <a:solidFill>
                    <a:schemeClr val="bg1"/>
                  </a:solidFill>
                  <a:latin typeface="+mj-lt"/>
                </a:endParaRPr>
              </a:p>
              <a:p>
                <a:pPr marL="342900" indent="-342900" algn="just">
                  <a:buFont typeface="Wingdings" panose="05000000000000000000" pitchFamily="2" charset="2"/>
                  <a:buChar char="§"/>
                </a:pPr>
                <a:endParaRPr lang="en-US" sz="2400" i="1" dirty="0">
                  <a:solidFill>
                    <a:schemeClr val="bg1"/>
                  </a:solidFill>
                  <a:latin typeface="Cambria Math" panose="02040503050406030204" pitchFamily="18" charset="0"/>
                </a:endParaRPr>
              </a:p>
              <a:p>
                <a:pPr marL="342900" indent="-342900" algn="just">
                  <a:buFont typeface="Wingdings" panose="05000000000000000000" pitchFamily="2" charset="2"/>
                  <a:buChar char="§"/>
                </a:pPr>
                <a14:m>
                  <m:oMath xmlns:m="http://schemas.openxmlformats.org/officeDocument/2006/math">
                    <m:r>
                      <a:rPr lang="el-GR" sz="2400" i="1" dirty="0" smtClean="0">
                        <a:solidFill>
                          <a:schemeClr val="bg1"/>
                        </a:solidFill>
                        <a:latin typeface="Cambria Math" panose="02040503050406030204" pitchFamily="18" charset="0"/>
                      </a:rPr>
                      <m:t>𝑓</m:t>
                    </m:r>
                    <m:r>
                      <a:rPr lang="el-GR" sz="2400" i="1" dirty="0" smtClean="0">
                        <a:solidFill>
                          <a:schemeClr val="bg1"/>
                        </a:solidFill>
                        <a:latin typeface="Cambria Math" panose="02040503050406030204" pitchFamily="18" charset="0"/>
                      </a:rPr>
                      <m:t>(</m:t>
                    </m:r>
                    <m:r>
                      <a:rPr lang="el-GR" sz="2400" i="1" dirty="0" smtClean="0">
                        <a:solidFill>
                          <a:schemeClr val="bg1"/>
                        </a:solidFill>
                        <a:latin typeface="Cambria Math" panose="02040503050406030204" pitchFamily="18" charset="0"/>
                      </a:rPr>
                      <m:t>𝑛</m:t>
                    </m:r>
                    <m:r>
                      <a:rPr lang="el-GR" sz="2400" i="1" dirty="0" smtClean="0">
                        <a:solidFill>
                          <a:schemeClr val="bg1"/>
                        </a:solidFill>
                        <a:latin typeface="Cambria Math" panose="02040503050406030204" pitchFamily="18" charset="0"/>
                      </a:rPr>
                      <m:t>)= </m:t>
                    </m:r>
                    <m:r>
                      <m:rPr>
                        <m:sty m:val="p"/>
                      </m:rPr>
                      <a:rPr lang="el-GR" sz="2400" i="0" dirty="0">
                        <a:solidFill>
                          <a:schemeClr val="bg1"/>
                        </a:solidFill>
                        <a:latin typeface="Cambria Math" panose="02040503050406030204" pitchFamily="18" charset="0"/>
                      </a:rPr>
                      <m:t>Ω</m:t>
                    </m:r>
                    <m:r>
                      <a:rPr lang="el-GR" sz="2400" i="1" dirty="0">
                        <a:solidFill>
                          <a:schemeClr val="bg1"/>
                        </a:solidFill>
                        <a:latin typeface="Cambria Math" panose="02040503050406030204" pitchFamily="18" charset="0"/>
                      </a:rPr>
                      <m:t>(</m:t>
                    </m:r>
                    <m:r>
                      <a:rPr lang="el-GR" sz="2400" i="1" dirty="0">
                        <a:solidFill>
                          <a:schemeClr val="bg1"/>
                        </a:solidFill>
                        <a:latin typeface="Cambria Math" panose="02040503050406030204" pitchFamily="18" charset="0"/>
                      </a:rPr>
                      <m:t>𝑔</m:t>
                    </m:r>
                    <m:r>
                      <a:rPr lang="el-GR" sz="2400" i="1" dirty="0">
                        <a:solidFill>
                          <a:schemeClr val="bg1"/>
                        </a:solidFill>
                        <a:latin typeface="Cambria Math" panose="02040503050406030204" pitchFamily="18" charset="0"/>
                      </a:rPr>
                      <m:t>(</m:t>
                    </m:r>
                    <m:r>
                      <a:rPr lang="el-GR" sz="2400" i="1" dirty="0">
                        <a:solidFill>
                          <a:schemeClr val="bg1"/>
                        </a:solidFill>
                        <a:latin typeface="Cambria Math" panose="02040503050406030204" pitchFamily="18" charset="0"/>
                      </a:rPr>
                      <m:t>𝑛</m:t>
                    </m:r>
                    <m:r>
                      <a:rPr lang="el-GR" sz="2400" i="1" dirty="0">
                        <a:solidFill>
                          <a:schemeClr val="bg1"/>
                        </a:solidFill>
                        <a:latin typeface="Cambria Math" panose="02040503050406030204" pitchFamily="18" charset="0"/>
                      </a:rPr>
                      <m:t>)) </m:t>
                    </m:r>
                  </m:oMath>
                </a14:m>
                <a:r>
                  <a:rPr lang="en-US" sz="2400" dirty="0">
                    <a:solidFill>
                      <a:schemeClr val="bg1"/>
                    </a:solidFill>
                    <a:latin typeface="Cambria Math" panose="02040503050406030204" pitchFamily="18" charset="0"/>
                  </a:rPr>
                  <a:t>implies:  </a:t>
                </a:r>
              </a:p>
              <a:p>
                <a:pPr algn="ctr"/>
                <a14:m>
                  <m:oMathPara xmlns:m="http://schemas.openxmlformats.org/officeDocument/2006/math">
                    <m:oMathParaPr>
                      <m:jc m:val="centerGroup"/>
                    </m:oMathParaPr>
                    <m:oMath xmlns:m="http://schemas.openxmlformats.org/officeDocument/2006/math">
                      <m:r>
                        <a:rPr lang="en-US" sz="2400" i="1" dirty="0" smtClean="0">
                          <a:solidFill>
                            <a:schemeClr val="bg1"/>
                          </a:solidFill>
                          <a:latin typeface="Cambria Math" panose="02040503050406030204" pitchFamily="18" charset="0"/>
                        </a:rPr>
                        <m:t>𝒇</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𝒏</m:t>
                      </m:r>
                      <m:r>
                        <a:rPr lang="en-US" sz="2400" i="1" dirty="0" smtClean="0">
                          <a:solidFill>
                            <a:schemeClr val="bg1"/>
                          </a:solidFill>
                          <a:latin typeface="Cambria Math" panose="02040503050406030204" pitchFamily="18" charset="0"/>
                        </a:rPr>
                        <m:t>)“≥” </m:t>
                      </m:r>
                      <m:r>
                        <a:rPr lang="en-US" sz="2400" i="1" dirty="0" smtClean="0">
                          <a:solidFill>
                            <a:schemeClr val="bg1"/>
                          </a:solidFill>
                          <a:latin typeface="Cambria Math" panose="02040503050406030204" pitchFamily="18" charset="0"/>
                        </a:rPr>
                        <m:t>𝒄</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𝒈</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𝒏</m:t>
                      </m:r>
                      <m:r>
                        <a:rPr lang="en-US" sz="2400" i="1" dirty="0" smtClean="0">
                          <a:solidFill>
                            <a:schemeClr val="bg1"/>
                          </a:solidFill>
                          <a:latin typeface="Cambria Math" panose="02040503050406030204" pitchFamily="18" charset="0"/>
                        </a:rPr>
                        <m:t>)</m:t>
                      </m:r>
                    </m:oMath>
                  </m:oMathPara>
                </a14:m>
                <a:endParaRPr lang="en-US" sz="2400" dirty="0">
                  <a:solidFill>
                    <a:schemeClr val="bg1"/>
                  </a:solidFill>
                  <a:latin typeface="Cambria Math" panose="02040503050406030204" pitchFamily="18" charset="0"/>
                </a:endParaRPr>
              </a:p>
              <a:p>
                <a:pPr marL="342900" indent="-342900" algn="just">
                  <a:buFont typeface="Wingdings" panose="05000000000000000000" pitchFamily="2" charset="2"/>
                  <a:buChar char="§"/>
                </a:pPr>
                <a:endParaRPr lang="en-US" sz="2400" i="1" dirty="0">
                  <a:solidFill>
                    <a:schemeClr val="bg1"/>
                  </a:solidFill>
                  <a:latin typeface="Cambria Math" panose="02040503050406030204" pitchFamily="18" charset="0"/>
                </a:endParaRPr>
              </a:p>
              <a:p>
                <a:pPr marL="342900" indent="-342900" algn="just">
                  <a:buFont typeface="Wingdings" panose="05000000000000000000" pitchFamily="2" charset="2"/>
                  <a:buChar char="§"/>
                </a:pPr>
                <a:r>
                  <a:rPr lang="en-US" sz="2400" dirty="0">
                    <a:solidFill>
                      <a:schemeClr val="bg1"/>
                    </a:solidFill>
                  </a:rPr>
                  <a:t>if there exists a positive constant c such that it lies above cg(n), for sufficiently large n.</a:t>
                </a:r>
              </a:p>
              <a:p>
                <a:pPr algn="just"/>
                <a:endParaRPr lang="en-US" sz="2400" dirty="0">
                  <a:solidFill>
                    <a:schemeClr val="bg1"/>
                  </a:solidFill>
                </a:endParaRPr>
              </a:p>
              <a:p>
                <a:pPr marL="342900" indent="-342900" algn="just">
                  <a:buFont typeface="Wingdings" panose="05000000000000000000" pitchFamily="2" charset="2"/>
                  <a:buChar char="§"/>
                </a:pPr>
                <a:r>
                  <a:rPr lang="en-US" sz="2400" dirty="0">
                    <a:solidFill>
                      <a:schemeClr val="bg1"/>
                    </a:solidFill>
                  </a:rPr>
                  <a:t>For any value of n, the minimum time required by the algorithm is given by Omega Ω(g(n)).</a:t>
                </a:r>
              </a:p>
            </p:txBody>
          </p:sp>
        </mc:Choice>
        <mc:Fallback xmlns="">
          <p:sp>
            <p:nvSpPr>
              <p:cNvPr id="3" name="Rectangle 2">
                <a:extLst>
                  <a:ext uri="{FF2B5EF4-FFF2-40B4-BE49-F238E27FC236}">
                    <a16:creationId xmlns:a16="http://schemas.microsoft.com/office/drawing/2014/main" xmlns:a14="http://schemas.microsoft.com/office/drawing/2010/main" xmlns="" id="{54B20E2A-F2D8-419C-9FD1-95D26342647C}"/>
                  </a:ext>
                </a:extLst>
              </p:cNvPr>
              <p:cNvSpPr>
                <a:spLocks noRot="1" noChangeAspect="1" noMove="1" noResize="1" noEditPoints="1" noAdjustHandles="1" noChangeArrowheads="1" noChangeShapeType="1" noTextEdit="1"/>
              </p:cNvSpPr>
              <p:nvPr/>
            </p:nvSpPr>
            <p:spPr>
              <a:xfrm>
                <a:off x="6096000" y="0"/>
                <a:ext cx="6096000" cy="6588000"/>
              </a:xfrm>
              <a:prstGeom prst="rect">
                <a:avLst/>
              </a:prstGeom>
              <a:blipFill rotWithShape="0">
                <a:blip r:embed="rId2"/>
                <a:stretch>
                  <a:fillRect l="-1300" r="-15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0" y="-1"/>
                <a:ext cx="6096000" cy="830997"/>
              </a:xfrm>
              <a:prstGeom prst="rect">
                <a:avLst/>
              </a:prstGeom>
              <a:noFill/>
            </p:spPr>
            <p:txBody>
              <a:bodyPr wrap="square" lIns="274320" rtlCol="0" anchor="ctr">
                <a:spAutoFit/>
              </a:bodyPr>
              <a:lstStyle/>
              <a:p>
                <a:pPr>
                  <a:lnSpc>
                    <a:spcPct val="150000"/>
                  </a:lnSpc>
                </a:pPr>
                <a:r>
                  <a:rPr lang="en-US" sz="3200" b="1" dirty="0">
                    <a:solidFill>
                      <a:srgbClr val="424242"/>
                    </a:solidFill>
                  </a:rPr>
                  <a:t>Big(</a:t>
                </a:r>
                <a14:m>
                  <m:oMath xmlns:m="http://schemas.openxmlformats.org/officeDocument/2006/math">
                    <m:r>
                      <a:rPr lang="en-US" sz="3200" b="1" dirty="0">
                        <a:solidFill>
                          <a:srgbClr val="424242"/>
                        </a:solidFill>
                        <a:latin typeface="Cambria Math" panose="02040503050406030204" pitchFamily="18" charset="0"/>
                      </a:rPr>
                      <m:t>𝛀</m:t>
                    </m:r>
                  </m:oMath>
                </a14:m>
                <a:r>
                  <a:rPr lang="en-US" sz="3200" b="1" dirty="0">
                    <a:solidFill>
                      <a:srgbClr val="424242"/>
                    </a:solidFill>
                  </a:rPr>
                  <a:t>) Notation</a:t>
                </a:r>
              </a:p>
            </p:txBody>
          </p:sp>
        </mc:Choice>
        <mc:Fallback xmlns="">
          <p:sp>
            <p:nvSpPr>
              <p:cNvPr id="5" name="TextBox 4"/>
              <p:cNvSpPr txBox="1">
                <a:spLocks noRot="1" noChangeAspect="1" noMove="1" noResize="1" noEditPoints="1" noAdjustHandles="1" noChangeArrowheads="1" noChangeShapeType="1" noTextEdit="1"/>
              </p:cNvSpPr>
              <p:nvPr/>
            </p:nvSpPr>
            <p:spPr>
              <a:xfrm>
                <a:off x="0" y="-1"/>
                <a:ext cx="6096000" cy="830997"/>
              </a:xfrm>
              <a:prstGeom prst="rect">
                <a:avLst/>
              </a:prstGeom>
              <a:blipFill rotWithShape="0">
                <a:blip r:embed="rId3"/>
                <a:stretch>
                  <a:fillRect b="-139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523323" y="5239388"/>
                <a:ext cx="2507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71160"/>
                          </a:solidFill>
                          <a:latin typeface="Cambria Math" panose="02040503050406030204" pitchFamily="18" charset="0"/>
                        </a:rPr>
                        <m:t>𝒇</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𝒏</m:t>
                      </m:r>
                      <m:r>
                        <a:rPr lang="en-US" sz="2400" b="1" i="1" dirty="0" smtClean="0">
                          <a:solidFill>
                            <a:srgbClr val="A71160"/>
                          </a:solidFill>
                          <a:latin typeface="Cambria Math" panose="02040503050406030204" pitchFamily="18" charset="0"/>
                        </a:rPr>
                        <m:t>)=</m:t>
                      </m:r>
                      <m:r>
                        <a:rPr lang="el-GR" sz="2400" b="1" i="1" dirty="0">
                          <a:solidFill>
                            <a:srgbClr val="A71160"/>
                          </a:solidFill>
                          <a:latin typeface="Cambria Math" panose="02040503050406030204" pitchFamily="18" charset="0"/>
                        </a:rPr>
                        <m:t>𝜴</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𝒈</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𝒏</m:t>
                      </m:r>
                      <m:r>
                        <a:rPr lang="en-US" sz="2400" b="1" i="1" dirty="0" smtClean="0">
                          <a:solidFill>
                            <a:srgbClr val="A71160"/>
                          </a:solidFill>
                          <a:latin typeface="Cambria Math" panose="02040503050406030204" pitchFamily="18" charset="0"/>
                        </a:rPr>
                        <m:t>))</m:t>
                      </m:r>
                    </m:oMath>
                  </m:oMathPara>
                </a14:m>
                <a:endParaRPr lang="en-US" sz="2400" b="1" i="1" dirty="0">
                  <a:solidFill>
                    <a:srgbClr val="A7116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523323" y="5239388"/>
                <a:ext cx="2507672" cy="461665"/>
              </a:xfrm>
              <a:prstGeom prst="rect">
                <a:avLst/>
              </a:prstGeom>
              <a:blipFill rotWithShape="0">
                <a:blip r:embed="rId4"/>
                <a:stretch>
                  <a:fillRect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765131" y="5163093"/>
                <a:ext cx="57011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𝒏</m:t>
                          </m:r>
                        </m:e>
                        <m:sub>
                          <m:r>
                            <a:rPr lang="en-US" sz="2000" b="1" i="1" dirty="0" smtClean="0">
                              <a:latin typeface="Cambria Math" panose="02040503050406030204" pitchFamily="18" charset="0"/>
                            </a:rPr>
                            <m:t>𝟎</m:t>
                          </m:r>
                        </m:sub>
                      </m:sSub>
                    </m:oMath>
                  </m:oMathPara>
                </a14:m>
                <a:endParaRPr lang="en-US" sz="2000" b="1"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1765131" y="5163093"/>
                <a:ext cx="570116" cy="400110"/>
              </a:xfrm>
              <a:prstGeom prst="rect">
                <a:avLst/>
              </a:prstGeom>
              <a:blipFill rotWithShape="0">
                <a:blip r:embed="rId5"/>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466087" y="4976893"/>
                <a:ext cx="57011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𝒏</m:t>
                      </m:r>
                    </m:oMath>
                  </m:oMathPara>
                </a14:m>
                <a:endParaRPr lang="en-US" sz="2000" b="1"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5466087" y="4976893"/>
                <a:ext cx="570116" cy="400110"/>
              </a:xfrm>
              <a:prstGeom prst="rect">
                <a:avLst/>
              </a:prstGeom>
              <a:blipFill rotWithShape="0">
                <a:blip r:embed="rId6"/>
                <a:stretch>
                  <a:fillRect/>
                </a:stretch>
              </a:blipFill>
            </p:spPr>
            <p:txBody>
              <a:bodyPr/>
              <a:lstStyle/>
              <a:p>
                <a:r>
                  <a:rPr lang="en-US">
                    <a:noFill/>
                  </a:rPr>
                  <a:t> </a:t>
                </a:r>
              </a:p>
            </p:txBody>
          </p:sp>
        </mc:Fallback>
      </mc:AlternateContent>
      <p:pic>
        <p:nvPicPr>
          <p:cNvPr id="20" name="Picture 19"/>
          <p:cNvPicPr>
            <a:picLocks noChangeAspect="1"/>
          </p:cNvPicPr>
          <p:nvPr/>
        </p:nvPicPr>
        <p:blipFill>
          <a:blip r:embed="rId7"/>
          <a:stretch>
            <a:fillRect/>
          </a:stretch>
        </p:blipFill>
        <p:spPr>
          <a:xfrm>
            <a:off x="747112" y="1836098"/>
            <a:ext cx="4572000" cy="2493259"/>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4606434" y="2572504"/>
                <a:ext cx="95706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𝒄</m:t>
                      </m:r>
                      <m:r>
                        <a:rPr lang="en-US" sz="2000" b="1" i="1" dirty="0" smtClean="0">
                          <a:latin typeface="Cambria Math" panose="02040503050406030204" pitchFamily="18" charset="0"/>
                        </a:rPr>
                        <m:t>.</m:t>
                      </m:r>
                      <m:r>
                        <a:rPr lang="en-US" sz="2000" b="1" i="1" dirty="0" smtClean="0">
                          <a:latin typeface="Cambria Math" panose="02040503050406030204" pitchFamily="18" charset="0"/>
                        </a:rPr>
                        <m:t>𝒈</m:t>
                      </m:r>
                      <m:r>
                        <a:rPr lang="en-US" sz="2000" b="1" i="1" dirty="0" smtClean="0">
                          <a:latin typeface="Cambria Math" panose="02040503050406030204" pitchFamily="18" charset="0"/>
                        </a:rPr>
                        <m:t>(</m:t>
                      </m:r>
                      <m:r>
                        <a:rPr lang="en-US" sz="2000" b="1" i="1" dirty="0" smtClean="0">
                          <a:latin typeface="Cambria Math" panose="02040503050406030204" pitchFamily="18" charset="0"/>
                        </a:rPr>
                        <m:t>𝒏</m:t>
                      </m:r>
                      <m:r>
                        <a:rPr lang="en-US" sz="2000" b="1" i="1" dirty="0" smtClean="0">
                          <a:latin typeface="Cambria Math" panose="02040503050406030204" pitchFamily="18" charset="0"/>
                        </a:rPr>
                        <m:t>)</m:t>
                      </m:r>
                    </m:oMath>
                  </m:oMathPara>
                </a14:m>
                <a:endParaRPr lang="en-US" sz="2000" b="1" i="1" dirty="0"/>
              </a:p>
            </p:txBody>
          </p:sp>
        </mc:Choice>
        <mc:Fallback xmlns="">
          <p:sp>
            <p:nvSpPr>
              <p:cNvPr id="13" name="TextBox 12"/>
              <p:cNvSpPr txBox="1">
                <a:spLocks noRot="1" noChangeAspect="1" noMove="1" noResize="1" noEditPoints="1" noAdjustHandles="1" noChangeArrowheads="1" noChangeShapeType="1" noTextEdit="1"/>
              </p:cNvSpPr>
              <p:nvPr/>
            </p:nvSpPr>
            <p:spPr>
              <a:xfrm>
                <a:off x="4606434" y="2572504"/>
                <a:ext cx="957064" cy="400110"/>
              </a:xfrm>
              <a:prstGeom prst="rect">
                <a:avLst/>
              </a:prstGeom>
              <a:blipFill rotWithShape="0">
                <a:blip r:embed="rId8"/>
                <a:stretch>
                  <a:fillRect r="-2548"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421845" y="1505975"/>
                <a:ext cx="95706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𝒇</m:t>
                      </m:r>
                      <m:r>
                        <a:rPr lang="en-US" sz="2000" b="1" i="1" dirty="0" smtClean="0">
                          <a:latin typeface="Cambria Math" panose="02040503050406030204" pitchFamily="18" charset="0"/>
                        </a:rPr>
                        <m:t>(</m:t>
                      </m:r>
                      <m:r>
                        <a:rPr lang="en-US" sz="2000" b="1" i="1" dirty="0" smtClean="0">
                          <a:latin typeface="Cambria Math" panose="02040503050406030204" pitchFamily="18" charset="0"/>
                        </a:rPr>
                        <m:t>𝒏</m:t>
                      </m:r>
                      <m:r>
                        <a:rPr lang="en-US" sz="2000" b="1" i="1" dirty="0" smtClean="0">
                          <a:latin typeface="Cambria Math" panose="02040503050406030204" pitchFamily="18" charset="0"/>
                        </a:rPr>
                        <m:t>)</m:t>
                      </m:r>
                    </m:oMath>
                  </m:oMathPara>
                </a14:m>
                <a:endParaRPr lang="en-US" sz="2000" b="1" i="1" dirty="0"/>
              </a:p>
            </p:txBody>
          </p:sp>
        </mc:Choice>
        <mc:Fallback xmlns="">
          <p:sp>
            <p:nvSpPr>
              <p:cNvPr id="14" name="TextBox 13"/>
              <p:cNvSpPr txBox="1">
                <a:spLocks noRot="1" noChangeAspect="1" noMove="1" noResize="1" noEditPoints="1" noAdjustHandles="1" noChangeArrowheads="1" noChangeShapeType="1" noTextEdit="1"/>
              </p:cNvSpPr>
              <p:nvPr/>
            </p:nvSpPr>
            <p:spPr>
              <a:xfrm>
                <a:off x="4421845" y="1505975"/>
                <a:ext cx="957064" cy="400110"/>
              </a:xfrm>
              <a:prstGeom prst="rect">
                <a:avLst/>
              </a:prstGeom>
              <a:blipFill rotWithShape="0">
                <a:blip r:embed="rId9"/>
                <a:stretch>
                  <a:fillRect b="-16667"/>
                </a:stretch>
              </a:blipFill>
            </p:spPr>
            <p:txBody>
              <a:bodyPr/>
              <a:lstStyle/>
              <a:p>
                <a:r>
                  <a:rPr lang="en-US">
                    <a:noFill/>
                  </a:rPr>
                  <a:t> </a:t>
                </a:r>
              </a:p>
            </p:txBody>
          </p:sp>
        </mc:Fallback>
      </mc:AlternateContent>
      <p:cxnSp>
        <p:nvCxnSpPr>
          <p:cNvPr id="21" name="Straight Connector 20"/>
          <p:cNvCxnSpPr/>
          <p:nvPr/>
        </p:nvCxnSpPr>
        <p:spPr>
          <a:xfrm flipH="1">
            <a:off x="2013984" y="3460677"/>
            <a:ext cx="0" cy="1737360"/>
          </a:xfrm>
          <a:prstGeom prst="line">
            <a:avLst/>
          </a:prstGeom>
          <a:ln w="28575">
            <a:solidFill>
              <a:schemeClr val="tx1">
                <a:lumMod val="75000"/>
                <a:lumOff val="2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747111" y="1412971"/>
            <a:ext cx="0" cy="37953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747112" y="5195831"/>
            <a:ext cx="47548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606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down)">
                                      <p:cBhvr>
                                        <p:cTn id="20" dur="1000"/>
                                        <p:tgtEl>
                                          <p:spTgt spid="20"/>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up)">
                                      <p:cBhvr>
                                        <p:cTn id="32" dur="500"/>
                                        <p:tgtEl>
                                          <p:spTgt spid="21"/>
                                        </p:tgtEl>
                                      </p:cBhvr>
                                    </p:animEffec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 end="1"/>
                                            </p:txEl>
                                          </p:spTgt>
                                        </p:tgtEl>
                                        <p:attrNameLst>
                                          <p:attrName>style.visibility</p:attrName>
                                        </p:attrNameLst>
                                      </p:cBhvr>
                                      <p:to>
                                        <p:strVal val="visible"/>
                                      </p:to>
                                    </p:set>
                                    <p:animEffect transition="in" filter="fade">
                                      <p:cBhvr>
                                        <p:cTn id="44" dur="500"/>
                                        <p:tgtEl>
                                          <p:spTgt spid="3">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Effect transition="in" filter="fade">
                                      <p:cBhvr>
                                        <p:cTn id="49" dur="500"/>
                                        <p:tgtEl>
                                          <p:spTgt spid="3">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animEffect transition="in" filter="fade">
                                      <p:cBhvr>
                                        <p:cTn id="54" dur="500"/>
                                        <p:tgtEl>
                                          <p:spTgt spid="3">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animEffect transition="in" filter="fade">
                                      <p:cBhvr>
                                        <p:cTn id="59" dur="500"/>
                                        <p:tgtEl>
                                          <p:spTgt spid="3">
                                            <p:txEl>
                                              <p:pRg st="6" end="6"/>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8" end="8"/>
                                            </p:txEl>
                                          </p:spTgt>
                                        </p:tgtEl>
                                        <p:attrNameLst>
                                          <p:attrName>style.visibility</p:attrName>
                                        </p:attrNameLst>
                                      </p:cBhvr>
                                      <p:to>
                                        <p:strVal val="visible"/>
                                      </p:to>
                                    </p:set>
                                    <p:animEffect transition="in" filter="fade">
                                      <p:cBhvr>
                                        <p:cTn id="6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3"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14:m>
                  <m:oMath xmlns:m="http://schemas.openxmlformats.org/officeDocument/2006/math">
                    <m:r>
                      <a:rPr lang="el-GR" sz="2400" i="1" dirty="0" smtClean="0">
                        <a:solidFill>
                          <a:schemeClr val="bg1"/>
                        </a:solidFill>
                        <a:latin typeface="Cambria Math" panose="02040503050406030204" pitchFamily="18" charset="0"/>
                      </a:rPr>
                      <m:t>𝜃</m:t>
                    </m:r>
                    <m:r>
                      <a:rPr lang="el-GR" sz="2400" i="1" dirty="0">
                        <a:solidFill>
                          <a:schemeClr val="bg1"/>
                        </a:solidFill>
                        <a:latin typeface="Cambria Math" panose="02040503050406030204" pitchFamily="18" charset="0"/>
                      </a:rPr>
                      <m:t>(</m:t>
                    </m:r>
                    <m:r>
                      <a:rPr lang="el-GR" sz="2400" i="1" dirty="0">
                        <a:solidFill>
                          <a:schemeClr val="bg1"/>
                        </a:solidFill>
                        <a:latin typeface="Cambria Math" panose="02040503050406030204" pitchFamily="18" charset="0"/>
                      </a:rPr>
                      <m:t>𝑔</m:t>
                    </m:r>
                    <m:r>
                      <a:rPr lang="el-GR" sz="2400" i="1" dirty="0">
                        <a:solidFill>
                          <a:schemeClr val="bg1"/>
                        </a:solidFill>
                        <a:latin typeface="Cambria Math" panose="02040503050406030204" pitchFamily="18" charset="0"/>
                      </a:rPr>
                      <m:t>(</m:t>
                    </m:r>
                    <m:r>
                      <a:rPr lang="el-GR" sz="2400" i="1" dirty="0">
                        <a:solidFill>
                          <a:schemeClr val="bg1"/>
                        </a:solidFill>
                        <a:latin typeface="Cambria Math" panose="02040503050406030204" pitchFamily="18" charset="0"/>
                      </a:rPr>
                      <m:t>𝑛</m:t>
                    </m:r>
                    <m:r>
                      <a:rPr lang="el-GR" sz="2400" i="1" dirty="0">
                        <a:solidFill>
                          <a:schemeClr val="bg1"/>
                        </a:solidFill>
                        <a:latin typeface="Cambria Math" panose="02040503050406030204" pitchFamily="18" charset="0"/>
                      </a:rPr>
                      <m:t>)) </m:t>
                    </m:r>
                  </m:oMath>
                </a14:m>
                <a:r>
                  <a:rPr lang="en-US" sz="2400" dirty="0">
                    <a:solidFill>
                      <a:schemeClr val="bg1"/>
                    </a:solidFill>
                  </a:rPr>
                  <a:t>is a set, we can write </a:t>
                </a:r>
                <a14:m>
                  <m:oMath xmlns:m="http://schemas.openxmlformats.org/officeDocument/2006/math">
                    <m:r>
                      <a:rPr lang="en-US" sz="2400" i="1" dirty="0" smtClean="0">
                        <a:solidFill>
                          <a:schemeClr val="bg1"/>
                        </a:solidFill>
                        <a:latin typeface="Cambria Math" panose="02040503050406030204" pitchFamily="18" charset="0"/>
                      </a:rPr>
                      <m:t>𝑓</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𝑛</m:t>
                    </m:r>
                    <m:r>
                      <a:rPr lang="en-US" sz="2400" i="1" dirty="0" smtClean="0">
                        <a:solidFill>
                          <a:schemeClr val="bg1"/>
                        </a:solidFill>
                        <a:latin typeface="Cambria Math" panose="02040503050406030204" pitchFamily="18" charset="0"/>
                      </a:rPr>
                      <m:t>) </m:t>
                    </m:r>
                    <m:r>
                      <a:rPr lang="en-US" sz="2400" i="1" dirty="0" smtClean="0">
                        <a:solidFill>
                          <a:schemeClr val="bg1"/>
                        </a:solidFill>
                        <a:latin typeface="Cambria Math" panose="02040503050406030204" pitchFamily="18" charset="0"/>
                      </a:rPr>
                      <m:t>𝜖</m:t>
                    </m:r>
                    <m:r>
                      <a:rPr lang="en-US" sz="2400" i="1" dirty="0" smtClean="0">
                        <a:solidFill>
                          <a:schemeClr val="bg1"/>
                        </a:solidFill>
                        <a:latin typeface="Cambria Math" panose="02040503050406030204" pitchFamily="18" charset="0"/>
                      </a:rPr>
                      <m:t> </m:t>
                    </m:r>
                    <m:r>
                      <a:rPr lang="el-GR" sz="2400" i="1" dirty="0">
                        <a:solidFill>
                          <a:schemeClr val="bg1"/>
                        </a:solidFill>
                        <a:latin typeface="Cambria Math" panose="02040503050406030204" pitchFamily="18" charset="0"/>
                      </a:rPr>
                      <m:t>𝜃</m:t>
                    </m:r>
                    <m:r>
                      <a:rPr lang="el-GR" sz="2400" i="1" dirty="0">
                        <a:solidFill>
                          <a:schemeClr val="bg1"/>
                        </a:solidFill>
                        <a:latin typeface="Cambria Math" panose="02040503050406030204" pitchFamily="18" charset="0"/>
                      </a:rPr>
                      <m:t>(</m:t>
                    </m:r>
                    <m:r>
                      <a:rPr lang="el-GR" sz="2400" i="1" dirty="0">
                        <a:solidFill>
                          <a:schemeClr val="bg1"/>
                        </a:solidFill>
                        <a:latin typeface="Cambria Math" panose="02040503050406030204" pitchFamily="18" charset="0"/>
                      </a:rPr>
                      <m:t>𝑔</m:t>
                    </m:r>
                    <m:r>
                      <a:rPr lang="el-GR" sz="2400" i="1" dirty="0">
                        <a:solidFill>
                          <a:schemeClr val="bg1"/>
                        </a:solidFill>
                        <a:latin typeface="Cambria Math" panose="02040503050406030204" pitchFamily="18" charset="0"/>
                      </a:rPr>
                      <m:t>(</m:t>
                    </m:r>
                    <m:r>
                      <a:rPr lang="el-GR" sz="2400" i="1" dirty="0">
                        <a:solidFill>
                          <a:schemeClr val="bg1"/>
                        </a:solidFill>
                        <a:latin typeface="Cambria Math" panose="02040503050406030204" pitchFamily="18" charset="0"/>
                      </a:rPr>
                      <m:t>𝑛</m:t>
                    </m:r>
                    <m:r>
                      <a:rPr lang="el-GR" sz="2400" i="1" dirty="0">
                        <a:solidFill>
                          <a:schemeClr val="bg1"/>
                        </a:solidFill>
                        <a:latin typeface="Cambria Math" panose="02040503050406030204" pitchFamily="18" charset="0"/>
                      </a:rPr>
                      <m:t>)) </m:t>
                    </m:r>
                  </m:oMath>
                </a14:m>
                <a:r>
                  <a:rPr lang="en-US" sz="2400" dirty="0">
                    <a:solidFill>
                      <a:schemeClr val="bg1"/>
                    </a:solidFill>
                  </a:rPr>
                  <a:t>to indicate that </a:t>
                </a:r>
                <a14:m>
                  <m:oMath xmlns:m="http://schemas.openxmlformats.org/officeDocument/2006/math">
                    <m:r>
                      <a:rPr lang="en-US" sz="2400" i="1" dirty="0" smtClean="0">
                        <a:solidFill>
                          <a:schemeClr val="bg1"/>
                        </a:solidFill>
                        <a:latin typeface="Cambria Math" panose="02040503050406030204" pitchFamily="18" charset="0"/>
                      </a:rPr>
                      <m:t>𝑓</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𝑛</m:t>
                    </m:r>
                    <m:r>
                      <a:rPr lang="en-US" sz="2400" i="1" dirty="0" smtClean="0">
                        <a:solidFill>
                          <a:schemeClr val="bg1"/>
                        </a:solidFill>
                        <a:latin typeface="Cambria Math" panose="02040503050406030204" pitchFamily="18" charset="0"/>
                      </a:rPr>
                      <m:t>) </m:t>
                    </m:r>
                  </m:oMath>
                </a14:m>
                <a:r>
                  <a:rPr lang="en-US" sz="2400" dirty="0">
                    <a:solidFill>
                      <a:schemeClr val="bg1"/>
                    </a:solidFill>
                  </a:rPr>
                  <a:t>is a member of </a:t>
                </a:r>
                <a14:m>
                  <m:oMath xmlns:m="http://schemas.openxmlformats.org/officeDocument/2006/math">
                    <m:r>
                      <a:rPr lang="el-GR" sz="2400" i="1" dirty="0" smtClean="0">
                        <a:solidFill>
                          <a:schemeClr val="bg1"/>
                        </a:solidFill>
                        <a:latin typeface="Cambria Math" panose="02040503050406030204" pitchFamily="18" charset="0"/>
                      </a:rPr>
                      <m:t>𝜃</m:t>
                    </m:r>
                    <m:r>
                      <a:rPr lang="el-GR" sz="2400" i="1" dirty="0" smtClean="0">
                        <a:solidFill>
                          <a:schemeClr val="bg1"/>
                        </a:solidFill>
                        <a:latin typeface="Cambria Math" panose="02040503050406030204" pitchFamily="18" charset="0"/>
                      </a:rPr>
                      <m:t>(</m:t>
                    </m:r>
                    <m:r>
                      <a:rPr lang="el-GR" sz="2400" i="1" dirty="0" smtClean="0">
                        <a:solidFill>
                          <a:schemeClr val="bg1"/>
                        </a:solidFill>
                        <a:latin typeface="Cambria Math" panose="02040503050406030204" pitchFamily="18" charset="0"/>
                      </a:rPr>
                      <m:t>𝑔</m:t>
                    </m:r>
                    <m:r>
                      <a:rPr lang="el-GR" sz="2400" i="1" dirty="0" smtClean="0">
                        <a:solidFill>
                          <a:schemeClr val="bg1"/>
                        </a:solidFill>
                        <a:latin typeface="Cambria Math" panose="02040503050406030204" pitchFamily="18" charset="0"/>
                      </a:rPr>
                      <m:t>(</m:t>
                    </m:r>
                    <m:r>
                      <a:rPr lang="el-GR" sz="2400" i="1" dirty="0" smtClean="0">
                        <a:solidFill>
                          <a:schemeClr val="bg1"/>
                        </a:solidFill>
                        <a:latin typeface="Cambria Math" panose="02040503050406030204" pitchFamily="18" charset="0"/>
                      </a:rPr>
                      <m:t>𝑛</m:t>
                    </m:r>
                    <m:r>
                      <a:rPr lang="el-GR" sz="2400" i="1" dirty="0" smtClean="0">
                        <a:solidFill>
                          <a:schemeClr val="bg1"/>
                        </a:solidFill>
                        <a:latin typeface="Cambria Math" panose="02040503050406030204" pitchFamily="18" charset="0"/>
                      </a:rPr>
                      <m:t>)).</m:t>
                    </m:r>
                  </m:oMath>
                </a14:m>
                <a:endParaRPr lang="el-GR" sz="2400" dirty="0">
                  <a:solidFill>
                    <a:schemeClr val="bg1"/>
                  </a:solidFill>
                </a:endParaRPr>
              </a:p>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14:m>
                  <m:oMath xmlns:m="http://schemas.openxmlformats.org/officeDocument/2006/math">
                    <m:r>
                      <a:rPr lang="el-GR" sz="2400" i="1" dirty="0" smtClean="0">
                        <a:solidFill>
                          <a:schemeClr val="bg1"/>
                        </a:solidFill>
                        <a:latin typeface="Cambria Math" panose="02040503050406030204" pitchFamily="18" charset="0"/>
                      </a:rPr>
                      <m:t>𝑔</m:t>
                    </m:r>
                    <m:r>
                      <a:rPr lang="el-GR" sz="2400" i="1" dirty="0">
                        <a:solidFill>
                          <a:schemeClr val="bg1"/>
                        </a:solidFill>
                        <a:latin typeface="Cambria Math" panose="02040503050406030204" pitchFamily="18" charset="0"/>
                      </a:rPr>
                      <m:t>(</m:t>
                    </m:r>
                    <m:r>
                      <a:rPr lang="el-GR" sz="2400" i="1" dirty="0">
                        <a:solidFill>
                          <a:schemeClr val="bg1"/>
                        </a:solidFill>
                        <a:latin typeface="Cambria Math" panose="02040503050406030204" pitchFamily="18" charset="0"/>
                      </a:rPr>
                      <m:t>𝑛</m:t>
                    </m:r>
                    <m:r>
                      <a:rPr lang="el-GR" sz="2400" i="1" dirty="0">
                        <a:solidFill>
                          <a:schemeClr val="bg1"/>
                        </a:solidFill>
                        <a:latin typeface="Cambria Math" panose="02040503050406030204" pitchFamily="18" charset="0"/>
                      </a:rPr>
                      <m:t>) </m:t>
                    </m:r>
                  </m:oMath>
                </a14:m>
                <a:r>
                  <a:rPr lang="en-US" sz="2400" dirty="0">
                    <a:solidFill>
                      <a:schemeClr val="bg1"/>
                    </a:solidFill>
                  </a:rPr>
                  <a:t>is an asymptotically tight bound for </a:t>
                </a:r>
                <a14:m>
                  <m:oMath xmlns:m="http://schemas.openxmlformats.org/officeDocument/2006/math">
                    <m:r>
                      <a:rPr lang="en-US" sz="2400" i="1" dirty="0" smtClean="0">
                        <a:solidFill>
                          <a:schemeClr val="bg1"/>
                        </a:solidFill>
                        <a:latin typeface="Cambria Math" panose="02040503050406030204" pitchFamily="18" charset="0"/>
                      </a:rPr>
                      <m:t>𝑓</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𝑛</m:t>
                    </m:r>
                    <m:r>
                      <a:rPr lang="en-US" sz="2400" i="1" dirty="0" smtClean="0">
                        <a:solidFill>
                          <a:schemeClr val="bg1"/>
                        </a:solidFill>
                        <a:latin typeface="Cambria Math" panose="02040503050406030204" pitchFamily="18" charset="0"/>
                      </a:rPr>
                      <m:t>).</m:t>
                    </m:r>
                  </m:oMath>
                </a14:m>
                <a:endParaRPr lang="en-US" sz="2400" dirty="0">
                  <a:solidFill>
                    <a:schemeClr val="bg1"/>
                  </a:solidFill>
                </a:endParaRPr>
              </a:p>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14:m>
                  <m:oMath xmlns:m="http://schemas.openxmlformats.org/officeDocument/2006/math">
                    <m:r>
                      <a:rPr lang="en-US" sz="2400" i="1" dirty="0" smtClean="0">
                        <a:solidFill>
                          <a:schemeClr val="bg1"/>
                        </a:solidFill>
                        <a:latin typeface="Cambria Math" panose="02040503050406030204" pitchFamily="18" charset="0"/>
                      </a:rPr>
                      <m:t>𝑓</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𝑛</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𝜃</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𝑔</m:t>
                    </m:r>
                    <m:r>
                      <a:rPr lang="en-US" sz="2400" i="1" dirty="0">
                        <a:solidFill>
                          <a:schemeClr val="bg1"/>
                        </a:solidFill>
                        <a:latin typeface="Cambria Math" panose="02040503050406030204" pitchFamily="18" charset="0"/>
                      </a:rPr>
                      <m:t>(</m:t>
                    </m:r>
                    <m:r>
                      <a:rPr lang="en-US" sz="2400" i="1" dirty="0">
                        <a:solidFill>
                          <a:schemeClr val="bg1"/>
                        </a:solidFill>
                        <a:latin typeface="Cambria Math" panose="02040503050406030204" pitchFamily="18" charset="0"/>
                      </a:rPr>
                      <m:t>𝑛</m:t>
                    </m:r>
                    <m:r>
                      <a:rPr lang="en-US" sz="2400" i="1" dirty="0">
                        <a:solidFill>
                          <a:schemeClr val="bg1"/>
                        </a:solidFill>
                        <a:latin typeface="Cambria Math" panose="02040503050406030204" pitchFamily="18" charset="0"/>
                      </a:rPr>
                      <m:t>)) </m:t>
                    </m:r>
                  </m:oMath>
                </a14:m>
                <a:r>
                  <a:rPr lang="en-US" sz="2400" dirty="0">
                    <a:solidFill>
                      <a:schemeClr val="bg1"/>
                    </a:solidFill>
                  </a:rPr>
                  <a:t>implies: </a:t>
                </a:r>
              </a:p>
              <a:p>
                <a:pPr algn="ctr"/>
                <a14:m>
                  <m:oMathPara xmlns:m="http://schemas.openxmlformats.org/officeDocument/2006/math">
                    <m:oMathParaPr>
                      <m:jc m:val="centerGroup"/>
                    </m:oMathParaPr>
                    <m:oMath xmlns:m="http://schemas.openxmlformats.org/officeDocument/2006/math">
                      <m:r>
                        <a:rPr lang="en-US" sz="2400" i="1" dirty="0" smtClean="0">
                          <a:solidFill>
                            <a:schemeClr val="bg1"/>
                          </a:solidFill>
                          <a:latin typeface="Cambria Math" panose="02040503050406030204" pitchFamily="18" charset="0"/>
                        </a:rPr>
                        <m:t>𝒇</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𝒏</m:t>
                      </m:r>
                      <m:r>
                        <a:rPr lang="en-US" sz="2400" i="1" dirty="0" smtClean="0">
                          <a:solidFill>
                            <a:schemeClr val="bg1"/>
                          </a:solidFill>
                          <a:latin typeface="Cambria Math" panose="02040503050406030204" pitchFamily="18" charset="0"/>
                        </a:rPr>
                        <m:t>)“=” </m:t>
                      </m:r>
                      <m:r>
                        <a:rPr lang="en-US" sz="2400" i="1" dirty="0" smtClean="0">
                          <a:solidFill>
                            <a:schemeClr val="bg1"/>
                          </a:solidFill>
                          <a:latin typeface="Cambria Math" panose="02040503050406030204" pitchFamily="18" charset="0"/>
                        </a:rPr>
                        <m:t>𝒄</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𝒈</m:t>
                      </m:r>
                      <m:r>
                        <a:rPr lang="en-US" sz="2400" i="1" dirty="0" smtClean="0">
                          <a:solidFill>
                            <a:schemeClr val="bg1"/>
                          </a:solidFill>
                          <a:latin typeface="Cambria Math" panose="02040503050406030204" pitchFamily="18" charset="0"/>
                        </a:rPr>
                        <m:t>(</m:t>
                      </m:r>
                      <m:r>
                        <a:rPr lang="en-US" sz="2400" i="1" dirty="0" smtClean="0">
                          <a:solidFill>
                            <a:schemeClr val="bg1"/>
                          </a:solidFill>
                          <a:latin typeface="Cambria Math" panose="02040503050406030204" pitchFamily="18" charset="0"/>
                        </a:rPr>
                        <m:t>𝒏</m:t>
                      </m:r>
                      <m:r>
                        <a:rPr lang="en-US" sz="2400" i="1" dirty="0" smtClean="0">
                          <a:solidFill>
                            <a:schemeClr val="bg1"/>
                          </a:solidFill>
                          <a:latin typeface="Cambria Math" panose="02040503050406030204" pitchFamily="18" charset="0"/>
                        </a:rPr>
                        <m:t>)</m:t>
                      </m:r>
                    </m:oMath>
                  </m:oMathPara>
                </a14:m>
                <a:endParaRPr lang="en-US" sz="2400" dirty="0">
                  <a:solidFill>
                    <a:schemeClr val="bg1"/>
                  </a:solidFill>
                </a:endParaRPr>
              </a:p>
              <a:p>
                <a:pPr algn="just"/>
                <a:endParaRPr lang="en-US" sz="2400" dirty="0">
                  <a:solidFill>
                    <a:schemeClr val="bg1"/>
                  </a:solidFill>
                </a:endParaRPr>
              </a:p>
              <a:p>
                <a:pPr algn="just"/>
                <a:r>
                  <a:rPr lang="en-US" sz="2400" dirty="0">
                    <a:solidFill>
                      <a:schemeClr val="bg1"/>
                    </a:solidFill>
                  </a:rPr>
                  <a:t>If a function f(n) lies anywhere in between c</a:t>
                </a:r>
                <a:r>
                  <a:rPr lang="en-US" sz="2400" baseline="-25000" dirty="0">
                    <a:solidFill>
                      <a:schemeClr val="bg1"/>
                    </a:solidFill>
                  </a:rPr>
                  <a:t>1</a:t>
                </a:r>
                <a:r>
                  <a:rPr lang="en-US" sz="2400" dirty="0">
                    <a:solidFill>
                      <a:schemeClr val="bg1"/>
                    </a:solidFill>
                  </a:rPr>
                  <a:t>g(n) and c</a:t>
                </a:r>
                <a:r>
                  <a:rPr lang="en-US" sz="2400" baseline="-25000" dirty="0">
                    <a:solidFill>
                      <a:schemeClr val="bg1"/>
                    </a:solidFill>
                  </a:rPr>
                  <a:t>2</a:t>
                </a:r>
                <a:r>
                  <a:rPr lang="en-US" sz="2400" dirty="0">
                    <a:solidFill>
                      <a:schemeClr val="bg1"/>
                    </a:solidFill>
                  </a:rPr>
                  <a:t>g(n) for all n ≥ n</a:t>
                </a:r>
                <a:r>
                  <a:rPr lang="en-US" sz="2400" baseline="-25000" dirty="0">
                    <a:solidFill>
                      <a:schemeClr val="bg1"/>
                    </a:solidFill>
                  </a:rPr>
                  <a:t>0</a:t>
                </a:r>
                <a:r>
                  <a:rPr lang="en-US" sz="2400" dirty="0">
                    <a:solidFill>
                      <a:schemeClr val="bg1"/>
                    </a:solidFill>
                  </a:rPr>
                  <a:t>, then f(n) is said to be asymptotically </a:t>
                </a:r>
                <a:r>
                  <a:rPr lang="en-US" sz="2400" b="1" dirty="0">
                    <a:solidFill>
                      <a:schemeClr val="bg1"/>
                    </a:solidFill>
                  </a:rPr>
                  <a:t>tight bound.</a:t>
                </a:r>
              </a:p>
              <a:p>
                <a:pPr algn="just"/>
                <a:endParaRPr lang="en-US" sz="2400" b="1" dirty="0">
                  <a:solidFill>
                    <a:schemeClr val="bg1"/>
                  </a:solidFill>
                </a:endParaRPr>
              </a:p>
              <a:p>
                <a:pPr algn="just"/>
                <a:r>
                  <a:rPr lang="en-US" sz="2400" b="1" dirty="0">
                    <a:solidFill>
                      <a:schemeClr val="bg1"/>
                    </a:solidFill>
                  </a:rPr>
                  <a:t>f(n) is Θ(g(n)) if and only if f(n) is Ο(g(n)) and f(n) is Ω(g(n))</a:t>
                </a:r>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96000" y="0"/>
                <a:ext cx="6096000" cy="6588000"/>
              </a:xfrm>
              <a:prstGeom prst="rect">
                <a:avLst/>
              </a:prstGeom>
              <a:blipFill>
                <a:blip r:embed="rId2"/>
                <a:stretch>
                  <a:fillRect l="-1500" r="-150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0" y="41196"/>
                <a:ext cx="6096000" cy="748603"/>
              </a:xfrm>
              <a:prstGeom prst="rect">
                <a:avLst/>
              </a:prstGeom>
              <a:noFill/>
            </p:spPr>
            <p:txBody>
              <a:bodyPr wrap="square" lIns="274320" rtlCol="0" anchor="ctr">
                <a:spAutoFit/>
              </a:bodyPr>
              <a:lstStyle/>
              <a:p>
                <a:pPr>
                  <a:lnSpc>
                    <a:spcPct val="150000"/>
                  </a:lnSpc>
                </a:pPr>
                <a14:m>
                  <m:oMath xmlns:m="http://schemas.openxmlformats.org/officeDocument/2006/math">
                    <m:r>
                      <a:rPr lang="en-US" sz="3200" b="1" dirty="0" smtClean="0">
                        <a:latin typeface="Cambria Math" panose="02040503050406030204" pitchFamily="18" charset="0"/>
                      </a:rPr>
                      <m:t>𝛉</m:t>
                    </m:r>
                  </m:oMath>
                </a14:m>
                <a:r>
                  <a:rPr lang="en-US" sz="3200" dirty="0"/>
                  <a:t>-</a:t>
                </a:r>
                <a:r>
                  <a:rPr lang="en-US" sz="3200" b="1" dirty="0">
                    <a:solidFill>
                      <a:srgbClr val="424242"/>
                    </a:solidFill>
                  </a:rPr>
                  <a:t>Notation</a:t>
                </a:r>
              </a:p>
            </p:txBody>
          </p:sp>
        </mc:Choice>
        <mc:Fallback xmlns="">
          <p:sp>
            <p:nvSpPr>
              <p:cNvPr id="5" name="TextBox 4"/>
              <p:cNvSpPr txBox="1">
                <a:spLocks noRot="1" noChangeAspect="1" noMove="1" noResize="1" noEditPoints="1" noAdjustHandles="1" noChangeArrowheads="1" noChangeShapeType="1" noTextEdit="1"/>
              </p:cNvSpPr>
              <p:nvPr/>
            </p:nvSpPr>
            <p:spPr>
              <a:xfrm>
                <a:off x="0" y="41196"/>
                <a:ext cx="6096000" cy="748603"/>
              </a:xfrm>
              <a:prstGeom prst="rect">
                <a:avLst/>
              </a:prstGeom>
              <a:blipFill>
                <a:blip r:embed="rId3"/>
                <a:stretch>
                  <a:fillRect b="-211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523323" y="5226325"/>
                <a:ext cx="25076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71160"/>
                          </a:solidFill>
                          <a:latin typeface="Cambria Math" panose="02040503050406030204" pitchFamily="18" charset="0"/>
                        </a:rPr>
                        <m:t>𝒇</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𝒏</m:t>
                      </m:r>
                      <m:r>
                        <a:rPr lang="en-US" sz="2400" b="1" i="1" dirty="0" smtClean="0">
                          <a:solidFill>
                            <a:srgbClr val="A71160"/>
                          </a:solidFill>
                          <a:latin typeface="Cambria Math" panose="02040503050406030204" pitchFamily="18" charset="0"/>
                        </a:rPr>
                        <m:t>)=</m:t>
                      </m:r>
                      <m:r>
                        <a:rPr lang="el-GR" sz="2400" b="1" i="1" dirty="0">
                          <a:solidFill>
                            <a:srgbClr val="A71160"/>
                          </a:solidFill>
                          <a:latin typeface="Cambria Math" panose="02040503050406030204" pitchFamily="18" charset="0"/>
                        </a:rPr>
                        <m:t>𝜽</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𝒈</m:t>
                      </m:r>
                      <m:r>
                        <a:rPr lang="en-US" sz="2400" b="1" i="1" dirty="0" smtClean="0">
                          <a:solidFill>
                            <a:srgbClr val="A71160"/>
                          </a:solidFill>
                          <a:latin typeface="Cambria Math" panose="02040503050406030204" pitchFamily="18" charset="0"/>
                        </a:rPr>
                        <m:t>(</m:t>
                      </m:r>
                      <m:r>
                        <a:rPr lang="en-US" sz="2400" b="1" i="1" dirty="0" smtClean="0">
                          <a:solidFill>
                            <a:srgbClr val="A71160"/>
                          </a:solidFill>
                          <a:latin typeface="Cambria Math" panose="02040503050406030204" pitchFamily="18" charset="0"/>
                        </a:rPr>
                        <m:t>𝒏</m:t>
                      </m:r>
                      <m:r>
                        <a:rPr lang="en-US" sz="2400" b="1" i="1" dirty="0" smtClean="0">
                          <a:solidFill>
                            <a:srgbClr val="A71160"/>
                          </a:solidFill>
                          <a:latin typeface="Cambria Math" panose="02040503050406030204" pitchFamily="18" charset="0"/>
                        </a:rPr>
                        <m:t>))</m:t>
                      </m:r>
                    </m:oMath>
                  </m:oMathPara>
                </a14:m>
                <a:endParaRPr lang="en-US" sz="2400" b="1" i="1" dirty="0">
                  <a:solidFill>
                    <a:srgbClr val="A7116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523323" y="5226325"/>
                <a:ext cx="2507672" cy="461665"/>
              </a:xfrm>
              <a:prstGeom prst="rect">
                <a:avLst/>
              </a:prstGeom>
              <a:blipFill>
                <a:blip r:embed="rId4"/>
                <a:stretch>
                  <a:fillRect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509638" y="5163093"/>
                <a:ext cx="57011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𝒏</m:t>
                          </m:r>
                        </m:e>
                        <m:sub>
                          <m:r>
                            <a:rPr lang="en-US" sz="2000" b="1" i="1" dirty="0" smtClean="0">
                              <a:latin typeface="Cambria Math" panose="02040503050406030204" pitchFamily="18" charset="0"/>
                            </a:rPr>
                            <m:t>𝟎</m:t>
                          </m:r>
                        </m:sub>
                      </m:sSub>
                    </m:oMath>
                  </m:oMathPara>
                </a14:m>
                <a:endParaRPr lang="en-US" sz="2000" b="1"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1509638" y="5163093"/>
                <a:ext cx="570116" cy="400110"/>
              </a:xfrm>
              <a:prstGeom prst="rect">
                <a:avLst/>
              </a:prstGeom>
              <a:blipFill rotWithShape="0">
                <a:blip r:embed="rId5"/>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466087" y="4963446"/>
                <a:ext cx="57011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𝒏</m:t>
                      </m:r>
                    </m:oMath>
                  </m:oMathPara>
                </a14:m>
                <a:endParaRPr lang="en-US" sz="2000" b="1"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5466087" y="4963446"/>
                <a:ext cx="570116" cy="400110"/>
              </a:xfrm>
              <a:prstGeom prst="rect">
                <a:avLst/>
              </a:prstGeom>
              <a:blipFill rotWithShape="0">
                <a:blip r:embed="rId6"/>
                <a:stretch>
                  <a:fillRect/>
                </a:stretch>
              </a:blipFill>
            </p:spPr>
            <p:txBody>
              <a:bodyPr/>
              <a:lstStyle/>
              <a:p>
                <a:r>
                  <a:rPr lang="en-US">
                    <a:noFill/>
                  </a:rPr>
                  <a:t> </a:t>
                </a:r>
              </a:p>
            </p:txBody>
          </p:sp>
        </mc:Fallback>
      </mc:AlternateContent>
      <p:pic>
        <p:nvPicPr>
          <p:cNvPr id="2" name="Picture 1"/>
          <p:cNvPicPr>
            <a:picLocks noChangeAspect="1"/>
          </p:cNvPicPr>
          <p:nvPr/>
        </p:nvPicPr>
        <p:blipFill>
          <a:blip r:embed="rId7"/>
          <a:stretch>
            <a:fillRect/>
          </a:stretch>
        </p:blipFill>
        <p:spPr>
          <a:xfrm>
            <a:off x="785916" y="1149424"/>
            <a:ext cx="4333875" cy="4057650"/>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4788281" y="2782880"/>
                <a:ext cx="95706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𝒄</m:t>
                          </m:r>
                        </m:e>
                        <m:sub>
                          <m:r>
                            <a:rPr lang="en-US" sz="2000" b="1" i="1" dirty="0" smtClean="0">
                              <a:latin typeface="Cambria Math" panose="02040503050406030204" pitchFamily="18" charset="0"/>
                            </a:rPr>
                            <m:t>𝟏</m:t>
                          </m:r>
                        </m:sub>
                      </m:sSub>
                      <m:r>
                        <a:rPr lang="en-US" sz="2000" b="1" i="1" dirty="0" smtClean="0">
                          <a:latin typeface="Cambria Math" panose="02040503050406030204" pitchFamily="18" charset="0"/>
                        </a:rPr>
                        <m:t>.</m:t>
                      </m:r>
                      <m:r>
                        <a:rPr lang="en-US" sz="2000" b="1" i="1" dirty="0" smtClean="0">
                          <a:latin typeface="Cambria Math" panose="02040503050406030204" pitchFamily="18" charset="0"/>
                        </a:rPr>
                        <m:t>𝒈</m:t>
                      </m:r>
                      <m:r>
                        <a:rPr lang="en-US" sz="2000" b="1" i="1" dirty="0" smtClean="0">
                          <a:latin typeface="Cambria Math" panose="02040503050406030204" pitchFamily="18" charset="0"/>
                        </a:rPr>
                        <m:t>(</m:t>
                      </m:r>
                      <m:r>
                        <a:rPr lang="en-US" sz="2000" b="1" i="1" dirty="0" smtClean="0">
                          <a:latin typeface="Cambria Math" panose="02040503050406030204" pitchFamily="18" charset="0"/>
                        </a:rPr>
                        <m:t>𝒏</m:t>
                      </m:r>
                      <m:r>
                        <a:rPr lang="en-US" sz="2000" b="1" i="1" dirty="0" smtClean="0">
                          <a:latin typeface="Cambria Math" panose="02040503050406030204" pitchFamily="18" charset="0"/>
                        </a:rPr>
                        <m:t>)</m:t>
                      </m:r>
                    </m:oMath>
                  </m:oMathPara>
                </a14:m>
                <a:endParaRPr lang="en-US" sz="2000" b="1" i="1" dirty="0"/>
              </a:p>
            </p:txBody>
          </p:sp>
        </mc:Choice>
        <mc:Fallback xmlns="">
          <p:sp>
            <p:nvSpPr>
              <p:cNvPr id="13" name="TextBox 12"/>
              <p:cNvSpPr txBox="1">
                <a:spLocks noRot="1" noChangeAspect="1" noMove="1" noResize="1" noEditPoints="1" noAdjustHandles="1" noChangeArrowheads="1" noChangeShapeType="1" noTextEdit="1"/>
              </p:cNvSpPr>
              <p:nvPr/>
            </p:nvSpPr>
            <p:spPr>
              <a:xfrm>
                <a:off x="4788281" y="2782880"/>
                <a:ext cx="957064" cy="400110"/>
              </a:xfrm>
              <a:prstGeom prst="rect">
                <a:avLst/>
              </a:prstGeom>
              <a:blipFill rotWithShape="0">
                <a:blip r:embed="rId8"/>
                <a:stretch>
                  <a:fillRect r="-15287"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788281" y="1923473"/>
                <a:ext cx="95706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𝒇</m:t>
                      </m:r>
                      <m:r>
                        <a:rPr lang="en-US" sz="2000" b="1" i="1" dirty="0" smtClean="0">
                          <a:latin typeface="Cambria Math" panose="02040503050406030204" pitchFamily="18" charset="0"/>
                        </a:rPr>
                        <m:t>(</m:t>
                      </m:r>
                      <m:r>
                        <a:rPr lang="en-US" sz="2000" b="1" i="1" dirty="0" smtClean="0">
                          <a:latin typeface="Cambria Math" panose="02040503050406030204" pitchFamily="18" charset="0"/>
                        </a:rPr>
                        <m:t>𝒏</m:t>
                      </m:r>
                      <m:r>
                        <a:rPr lang="en-US" sz="2000" b="1" i="1" dirty="0" smtClean="0">
                          <a:latin typeface="Cambria Math" panose="02040503050406030204" pitchFamily="18" charset="0"/>
                        </a:rPr>
                        <m:t>)</m:t>
                      </m:r>
                    </m:oMath>
                  </m:oMathPara>
                </a14:m>
                <a:endParaRPr lang="en-US" sz="2000" b="1" i="1" dirty="0"/>
              </a:p>
            </p:txBody>
          </p:sp>
        </mc:Choice>
        <mc:Fallback xmlns="">
          <p:sp>
            <p:nvSpPr>
              <p:cNvPr id="14" name="TextBox 13"/>
              <p:cNvSpPr txBox="1">
                <a:spLocks noRot="1" noChangeAspect="1" noMove="1" noResize="1" noEditPoints="1" noAdjustHandles="1" noChangeArrowheads="1" noChangeShapeType="1" noTextEdit="1"/>
              </p:cNvSpPr>
              <p:nvPr/>
            </p:nvSpPr>
            <p:spPr>
              <a:xfrm>
                <a:off x="4788281" y="1923473"/>
                <a:ext cx="957064" cy="400110"/>
              </a:xfrm>
              <a:prstGeom prst="rect">
                <a:avLst/>
              </a:prstGeom>
              <a:blipFill rotWithShape="0">
                <a:blip r:embed="rId9"/>
                <a:stretch>
                  <a:fillRect b="-16923"/>
                </a:stretch>
              </a:blipFill>
            </p:spPr>
            <p:txBody>
              <a:bodyPr/>
              <a:lstStyle/>
              <a:p>
                <a:r>
                  <a:rPr lang="en-US">
                    <a:noFill/>
                  </a:rPr>
                  <a:t> </a:t>
                </a:r>
              </a:p>
            </p:txBody>
          </p:sp>
        </mc:Fallback>
      </mc:AlternateContent>
      <p:cxnSp>
        <p:nvCxnSpPr>
          <p:cNvPr id="22" name="Straight Connector 21"/>
          <p:cNvCxnSpPr/>
          <p:nvPr/>
        </p:nvCxnSpPr>
        <p:spPr>
          <a:xfrm flipH="1">
            <a:off x="747111" y="1412971"/>
            <a:ext cx="0" cy="37953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747112" y="5195831"/>
            <a:ext cx="47548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1832238" y="3346566"/>
            <a:ext cx="0" cy="1828800"/>
          </a:xfrm>
          <a:prstGeom prst="line">
            <a:avLst/>
          </a:prstGeom>
          <a:ln w="28575">
            <a:solidFill>
              <a:schemeClr val="tx1">
                <a:lumMod val="75000"/>
                <a:lumOff val="25000"/>
              </a:scheme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4788281" y="917053"/>
                <a:ext cx="95706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𝒄</m:t>
                          </m:r>
                        </m:e>
                        <m:sub>
                          <m:r>
                            <a:rPr lang="en-US" sz="2000" b="1" i="1" dirty="0" smtClean="0">
                              <a:latin typeface="Cambria Math" panose="02040503050406030204" pitchFamily="18" charset="0"/>
                            </a:rPr>
                            <m:t>𝟐</m:t>
                          </m:r>
                        </m:sub>
                      </m:sSub>
                      <m:r>
                        <a:rPr lang="en-US" sz="2000" b="1" i="1" dirty="0" smtClean="0">
                          <a:latin typeface="Cambria Math" panose="02040503050406030204" pitchFamily="18" charset="0"/>
                        </a:rPr>
                        <m:t>.</m:t>
                      </m:r>
                      <m:r>
                        <a:rPr lang="en-US" sz="2000" b="1" i="1" dirty="0" smtClean="0">
                          <a:latin typeface="Cambria Math" panose="02040503050406030204" pitchFamily="18" charset="0"/>
                        </a:rPr>
                        <m:t>𝒈</m:t>
                      </m:r>
                      <m:r>
                        <a:rPr lang="en-US" sz="2000" b="1" i="1" dirty="0" smtClean="0">
                          <a:latin typeface="Cambria Math" panose="02040503050406030204" pitchFamily="18" charset="0"/>
                        </a:rPr>
                        <m:t>(</m:t>
                      </m:r>
                      <m:r>
                        <a:rPr lang="en-US" sz="2000" b="1" i="1" dirty="0" smtClean="0">
                          <a:latin typeface="Cambria Math" panose="02040503050406030204" pitchFamily="18" charset="0"/>
                        </a:rPr>
                        <m:t>𝒏</m:t>
                      </m:r>
                      <m:r>
                        <a:rPr lang="en-US" sz="2000" b="1" i="1" dirty="0" smtClean="0">
                          <a:latin typeface="Cambria Math" panose="02040503050406030204" pitchFamily="18" charset="0"/>
                        </a:rPr>
                        <m:t>)</m:t>
                      </m:r>
                    </m:oMath>
                  </m:oMathPara>
                </a14:m>
                <a:endParaRPr lang="en-US" sz="2000" b="1" i="1" dirty="0"/>
              </a:p>
            </p:txBody>
          </p:sp>
        </mc:Choice>
        <mc:Fallback xmlns="">
          <p:sp>
            <p:nvSpPr>
              <p:cNvPr id="16" name="TextBox 15"/>
              <p:cNvSpPr txBox="1">
                <a:spLocks noRot="1" noChangeAspect="1" noMove="1" noResize="1" noEditPoints="1" noAdjustHandles="1" noChangeArrowheads="1" noChangeShapeType="1" noTextEdit="1"/>
              </p:cNvSpPr>
              <p:nvPr/>
            </p:nvSpPr>
            <p:spPr>
              <a:xfrm>
                <a:off x="4788281" y="917053"/>
                <a:ext cx="957064" cy="400110"/>
              </a:xfrm>
              <a:prstGeom prst="rect">
                <a:avLst/>
              </a:prstGeom>
              <a:blipFill rotWithShape="0">
                <a:blip r:embed="rId10"/>
                <a:stretch>
                  <a:fillRect r="-15287" b="-16667"/>
                </a:stretch>
              </a:blipFill>
            </p:spPr>
            <p:txBody>
              <a:bodyPr/>
              <a:lstStyle/>
              <a:p>
                <a:r>
                  <a:rPr lang="en-US">
                    <a:noFill/>
                  </a:rPr>
                  <a:t> </a:t>
                </a:r>
              </a:p>
            </p:txBody>
          </p:sp>
        </mc:Fallback>
      </mc:AlternateContent>
    </p:spTree>
    <p:extLst>
      <p:ext uri="{BB962C8B-B14F-4D97-AF65-F5344CB8AC3E}">
        <p14:creationId xmlns:p14="http://schemas.microsoft.com/office/powerpoint/2010/main" val="172284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1000"/>
                                        <p:tgtEl>
                                          <p:spTgt spid="2"/>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up)">
                                      <p:cBhvr>
                                        <p:cTn id="35" dur="500"/>
                                        <p:tgtEl>
                                          <p:spTgt spid="15"/>
                                        </p:tgtEl>
                                      </p:cBhvr>
                                    </p:animEffec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1" end="1"/>
                                            </p:txEl>
                                          </p:spTgt>
                                        </p:tgtEl>
                                        <p:attrNameLst>
                                          <p:attrName>style.visibility</p:attrName>
                                        </p:attrNameLst>
                                      </p:cBhvr>
                                      <p:to>
                                        <p:strVal val="visible"/>
                                      </p:to>
                                    </p:set>
                                    <p:animEffect transition="in" filter="fade">
                                      <p:cBhvr>
                                        <p:cTn id="47" dur="500"/>
                                        <p:tgtEl>
                                          <p:spTgt spid="3">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3" end="3"/>
                                            </p:txEl>
                                          </p:spTgt>
                                        </p:tgtEl>
                                        <p:attrNameLst>
                                          <p:attrName>style.visibility</p:attrName>
                                        </p:attrNameLst>
                                      </p:cBhvr>
                                      <p:to>
                                        <p:strVal val="visible"/>
                                      </p:to>
                                    </p:set>
                                    <p:animEffect transition="in" filter="fade">
                                      <p:cBhvr>
                                        <p:cTn id="52" dur="500"/>
                                        <p:tgtEl>
                                          <p:spTgt spid="3">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5" end="5"/>
                                            </p:txEl>
                                          </p:spTgt>
                                        </p:tgtEl>
                                        <p:attrNameLst>
                                          <p:attrName>style.visibility</p:attrName>
                                        </p:attrNameLst>
                                      </p:cBhvr>
                                      <p:to>
                                        <p:strVal val="visible"/>
                                      </p:to>
                                    </p:set>
                                    <p:animEffect transition="in" filter="fade">
                                      <p:cBhvr>
                                        <p:cTn id="57" dur="500"/>
                                        <p:tgtEl>
                                          <p:spTgt spid="3">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6" end="6"/>
                                            </p:txEl>
                                          </p:spTgt>
                                        </p:tgtEl>
                                        <p:attrNameLst>
                                          <p:attrName>style.visibility</p:attrName>
                                        </p:attrNameLst>
                                      </p:cBhvr>
                                      <p:to>
                                        <p:strVal val="visible"/>
                                      </p:to>
                                    </p:set>
                                    <p:animEffect transition="in" filter="fade">
                                      <p:cBhvr>
                                        <p:cTn id="62" dur="500"/>
                                        <p:tgtEl>
                                          <p:spTgt spid="3">
                                            <p:txEl>
                                              <p:pRg st="6" end="6"/>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fade">
                                      <p:cBhvr>
                                        <p:cTn id="67" dur="500"/>
                                        <p:tgtEl>
                                          <p:spTgt spid="3">
                                            <p:txEl>
                                              <p:pRg st="8" end="8"/>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10" end="10"/>
                                            </p:txEl>
                                          </p:spTgt>
                                        </p:tgtEl>
                                        <p:attrNameLst>
                                          <p:attrName>style.visibility</p:attrName>
                                        </p:attrNameLst>
                                      </p:cBhvr>
                                      <p:to>
                                        <p:strVal val="visible"/>
                                      </p:to>
                                    </p:set>
                                    <p:animEffect transition="in" filter="fade">
                                      <p:cBhvr>
                                        <p:cTn id="7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3" grpId="0"/>
      <p:bldP spid="14"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87BC6-D7FA-45A5-9009-621D68FE03D1}"/>
              </a:ext>
            </a:extLst>
          </p:cNvPr>
          <p:cNvSpPr>
            <a:spLocks noGrp="1"/>
          </p:cNvSpPr>
          <p:nvPr>
            <p:ph type="title"/>
          </p:nvPr>
        </p:nvSpPr>
        <p:spPr/>
        <p:txBody>
          <a:bodyPr/>
          <a:lstStyle/>
          <a:p>
            <a:r>
              <a:rPr lang="en-US" b="1" dirty="0"/>
              <a:t>Common Asymptotic Notations</a:t>
            </a:r>
            <a:endParaRPr lang="en-IN" dirty="0"/>
          </a:p>
        </p:txBody>
      </p:sp>
      <p:sp>
        <p:nvSpPr>
          <p:cNvPr id="3" name="Content Placeholder 2">
            <a:extLst>
              <a:ext uri="{FF2B5EF4-FFF2-40B4-BE49-F238E27FC236}">
                <a16:creationId xmlns:a16="http://schemas.microsoft.com/office/drawing/2014/main" id="{AD7A9EDA-AFFD-4761-BECA-D7A14C4A6753}"/>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C82E748F-6008-4237-BF77-FBE2180303D6}"/>
              </a:ext>
            </a:extLst>
          </p:cNvPr>
          <p:cNvPicPr>
            <a:picLocks noChangeAspect="1"/>
          </p:cNvPicPr>
          <p:nvPr/>
        </p:nvPicPr>
        <p:blipFill>
          <a:blip r:embed="rId2"/>
          <a:stretch>
            <a:fillRect/>
          </a:stretch>
        </p:blipFill>
        <p:spPr>
          <a:xfrm>
            <a:off x="1045912" y="863444"/>
            <a:ext cx="10100175" cy="5193823"/>
          </a:xfrm>
          <a:prstGeom prst="rect">
            <a:avLst/>
          </a:prstGeom>
        </p:spPr>
      </p:pic>
    </p:spTree>
    <p:extLst>
      <p:ext uri="{BB962C8B-B14F-4D97-AF65-F5344CB8AC3E}">
        <p14:creationId xmlns:p14="http://schemas.microsoft.com/office/powerpoint/2010/main" val="1285853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9C83A-3941-4E75-ACC2-C75F8305D487}"/>
              </a:ext>
            </a:extLst>
          </p:cNvPr>
          <p:cNvSpPr>
            <a:spLocks noGrp="1"/>
          </p:cNvSpPr>
          <p:nvPr>
            <p:ph type="title"/>
          </p:nvPr>
        </p:nvSpPr>
        <p:spPr/>
        <p:txBody>
          <a:bodyPr/>
          <a:lstStyle/>
          <a:p>
            <a:r>
              <a:rPr lang="en-US" b="1" dirty="0"/>
              <a:t>Common Asymptotic Notations</a:t>
            </a:r>
            <a:endParaRPr lang="en-IN" dirty="0"/>
          </a:p>
        </p:txBody>
      </p:sp>
      <p:pic>
        <p:nvPicPr>
          <p:cNvPr id="4" name="Picture 2" descr="Common Algorithmic Runtimes from fastest to slowest.">
            <a:extLst>
              <a:ext uri="{FF2B5EF4-FFF2-40B4-BE49-F238E27FC236}">
                <a16:creationId xmlns:a16="http://schemas.microsoft.com/office/drawing/2014/main" id="{22F2C9F5-0E0E-480C-8558-C50CC36D8C4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585" b="2716"/>
          <a:stretch/>
        </p:blipFill>
        <p:spPr bwMode="auto">
          <a:xfrm>
            <a:off x="981725" y="728854"/>
            <a:ext cx="9993616" cy="5725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046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a:spLocks noGrp="1"/>
          </p:cNvSpPr>
          <p:nvPr>
            <p:ph type="title"/>
          </p:nvPr>
        </p:nvSpPr>
        <p:spPr>
          <a:xfrm>
            <a:off x="0" y="1"/>
            <a:ext cx="12192000" cy="711200"/>
          </a:xfrm>
          <a:prstGeom prst="rect">
            <a:avLst/>
          </a:prstGeom>
          <a:solidFill>
            <a:srgbClr val="DFDFDF">
              <a:alpha val="49019"/>
            </a:srgbClr>
          </a:solidFill>
          <a:ln>
            <a:noFill/>
          </a:ln>
        </p:spPr>
        <p:txBody>
          <a:bodyPr spcFirstLastPara="1" wrap="square" lIns="216000" tIns="108000" rIns="216000" bIns="108000" anchor="ctr" anchorCtr="0">
            <a:normAutofit/>
          </a:bodyPr>
          <a:lstStyle/>
          <a:p>
            <a:pPr marL="0" lvl="0" indent="0" algn="l" rtl="0">
              <a:lnSpc>
                <a:spcPct val="90000"/>
              </a:lnSpc>
              <a:spcBef>
                <a:spcPts val="0"/>
              </a:spcBef>
              <a:spcAft>
                <a:spcPts val="0"/>
              </a:spcAft>
              <a:buClr>
                <a:srgbClr val="363636"/>
              </a:buClr>
              <a:buSzPts val="3400"/>
              <a:buFont typeface="Roboto Condensed"/>
              <a:buNone/>
            </a:pPr>
            <a:r>
              <a:rPr lang="en-US"/>
              <a:t>Efficiency of an Algorithm – Does it Matter?</a:t>
            </a:r>
            <a:endParaRPr/>
          </a:p>
        </p:txBody>
      </p:sp>
      <p:sp>
        <p:nvSpPr>
          <p:cNvPr id="205" name="Google Shape;205;p24"/>
          <p:cNvSpPr txBox="1">
            <a:spLocks noGrp="1"/>
          </p:cNvSpPr>
          <p:nvPr>
            <p:ph type="body" idx="1"/>
          </p:nvPr>
        </p:nvSpPr>
        <p:spPr>
          <a:xfrm>
            <a:off x="131179" y="802595"/>
            <a:ext cx="11929641" cy="5590565"/>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SzPts val="2400"/>
              <a:buNone/>
            </a:pPr>
            <a:r>
              <a:rPr lang="en-US"/>
              <a:t>Different algorithms, constants &amp; hardware proficiency</a:t>
            </a:r>
            <a:endParaRPr/>
          </a:p>
          <a:p>
            <a:pPr marL="0" lvl="0" indent="0" algn="just" rtl="0">
              <a:lnSpc>
                <a:spcPct val="90000"/>
              </a:lnSpc>
              <a:spcBef>
                <a:spcPts val="1000"/>
              </a:spcBef>
              <a:spcAft>
                <a:spcPts val="0"/>
              </a:spcAft>
              <a:buSzPts val="2400"/>
              <a:buNone/>
            </a:pPr>
            <a:r>
              <a:rPr lang="en-US" b="1"/>
              <a:t>Problem: Sort 10 million numbers </a:t>
            </a:r>
            <a:endParaRPr/>
          </a:p>
          <a:p>
            <a:pPr marL="342900" lvl="0" indent="-342900" algn="just" rtl="0">
              <a:lnSpc>
                <a:spcPct val="90000"/>
              </a:lnSpc>
              <a:spcBef>
                <a:spcPts val="1000"/>
              </a:spcBef>
              <a:spcAft>
                <a:spcPts val="0"/>
              </a:spcAft>
              <a:buClr>
                <a:schemeClr val="accent6"/>
              </a:buClr>
              <a:buSzPts val="2400"/>
              <a:buFont typeface="Noto Sans Symbols"/>
              <a:buChar char="⮚"/>
            </a:pPr>
            <a:r>
              <a:rPr lang="en-US"/>
              <a:t> </a:t>
            </a:r>
            <a:r>
              <a:rPr lang="en-US" b="1"/>
              <a:t>Computer A</a:t>
            </a:r>
            <a:r>
              <a:rPr lang="en-US"/>
              <a:t>: insertion sort, 10bi/s, c1=2</a:t>
            </a:r>
            <a:endParaRPr/>
          </a:p>
          <a:p>
            <a:pPr marL="342900" lvl="0" indent="-342900" algn="just" rtl="0">
              <a:lnSpc>
                <a:spcPct val="90000"/>
              </a:lnSpc>
              <a:spcBef>
                <a:spcPts val="1000"/>
              </a:spcBef>
              <a:spcAft>
                <a:spcPts val="0"/>
              </a:spcAft>
              <a:buClr>
                <a:schemeClr val="accent6"/>
              </a:buClr>
              <a:buSzPts val="2400"/>
              <a:buFont typeface="Noto Sans Symbols"/>
              <a:buChar char="⮚"/>
            </a:pPr>
            <a:r>
              <a:rPr lang="en-US"/>
              <a:t> </a:t>
            </a:r>
            <a:r>
              <a:rPr lang="en-US" b="1"/>
              <a:t>Computer B</a:t>
            </a:r>
            <a:r>
              <a:rPr lang="en-US"/>
              <a:t>: merge sort, 10mi/s, c2=50</a:t>
            </a:r>
            <a:endParaRPr/>
          </a:p>
          <a:p>
            <a:pPr marL="495300" lvl="0" indent="-190500" algn="just" rtl="0">
              <a:lnSpc>
                <a:spcPct val="90000"/>
              </a:lnSpc>
              <a:spcBef>
                <a:spcPts val="1000"/>
              </a:spcBef>
              <a:spcAft>
                <a:spcPts val="0"/>
              </a:spcAft>
              <a:buClr>
                <a:schemeClr val="accent6"/>
              </a:buClr>
              <a:buSzPts val="2400"/>
              <a:buFont typeface="Noto Sans Symbols"/>
              <a:buNone/>
            </a:pPr>
            <a:endParaRPr/>
          </a:p>
          <a:p>
            <a:pPr marL="342900" lvl="0" indent="-342900" algn="just" rtl="0">
              <a:lnSpc>
                <a:spcPct val="90000"/>
              </a:lnSpc>
              <a:spcBef>
                <a:spcPts val="1000"/>
              </a:spcBef>
              <a:spcAft>
                <a:spcPts val="0"/>
              </a:spcAft>
              <a:buClr>
                <a:schemeClr val="accent6"/>
              </a:buClr>
              <a:buSzPts val="2400"/>
              <a:buFont typeface="Noto Sans Symbols"/>
              <a:buChar char="⮚"/>
            </a:pPr>
            <a:r>
              <a:rPr lang="en-US"/>
              <a:t> Computer A: </a:t>
            </a:r>
            <a:endParaRPr/>
          </a:p>
          <a:p>
            <a:pPr marL="342900" lvl="0" indent="-190500" algn="just" rtl="0">
              <a:lnSpc>
                <a:spcPct val="90000"/>
              </a:lnSpc>
              <a:spcBef>
                <a:spcPts val="1000"/>
              </a:spcBef>
              <a:spcAft>
                <a:spcPts val="0"/>
              </a:spcAft>
              <a:buSzPts val="2400"/>
              <a:buFont typeface="Noto Sans Symbols"/>
              <a:buNone/>
            </a:pPr>
            <a:endParaRPr/>
          </a:p>
          <a:p>
            <a:pPr marL="342900" lvl="0" indent="-190500" algn="just" rtl="0">
              <a:lnSpc>
                <a:spcPct val="90000"/>
              </a:lnSpc>
              <a:spcBef>
                <a:spcPts val="1000"/>
              </a:spcBef>
              <a:spcAft>
                <a:spcPts val="0"/>
              </a:spcAft>
              <a:buSzPts val="2400"/>
              <a:buFont typeface="Noto Sans Symbols"/>
              <a:buNone/>
            </a:pPr>
            <a:endParaRPr/>
          </a:p>
          <a:p>
            <a:pPr marL="342900" lvl="0" indent="-342900" algn="just" rtl="0">
              <a:lnSpc>
                <a:spcPct val="90000"/>
              </a:lnSpc>
              <a:spcBef>
                <a:spcPts val="1000"/>
              </a:spcBef>
              <a:spcAft>
                <a:spcPts val="0"/>
              </a:spcAft>
              <a:buClr>
                <a:schemeClr val="accent6"/>
              </a:buClr>
              <a:buSzPts val="2400"/>
              <a:buFont typeface="Noto Sans Symbols"/>
              <a:buChar char="⮚"/>
            </a:pPr>
            <a:r>
              <a:rPr lang="en-US"/>
              <a:t> Computer B: </a:t>
            </a:r>
            <a:endParaRPr/>
          </a:p>
          <a:p>
            <a:pPr marL="265113" lvl="0" indent="-112713" algn="just" rtl="0">
              <a:lnSpc>
                <a:spcPct val="90000"/>
              </a:lnSpc>
              <a:spcBef>
                <a:spcPts val="1000"/>
              </a:spcBef>
              <a:spcAft>
                <a:spcPts val="0"/>
              </a:spcAft>
              <a:buClr>
                <a:schemeClr val="accent6"/>
              </a:buClr>
              <a:buSzPts val="2400"/>
              <a:buFont typeface="Noto Sans Symbols"/>
              <a:buNone/>
            </a:pPr>
            <a:endParaRPr/>
          </a:p>
        </p:txBody>
      </p:sp>
      <p:pic>
        <p:nvPicPr>
          <p:cNvPr id="206" name="Google Shape;206;p24"/>
          <p:cNvPicPr preferRelativeResize="0"/>
          <p:nvPr/>
        </p:nvPicPr>
        <p:blipFill rotWithShape="1">
          <a:blip r:embed="rId3">
            <a:alphaModFix/>
          </a:blip>
          <a:srcRect/>
          <a:stretch/>
        </p:blipFill>
        <p:spPr>
          <a:xfrm>
            <a:off x="2226801" y="2982898"/>
            <a:ext cx="6599417" cy="614980"/>
          </a:xfrm>
          <a:prstGeom prst="rect">
            <a:avLst/>
          </a:prstGeom>
          <a:noFill/>
          <a:ln>
            <a:noFill/>
          </a:ln>
        </p:spPr>
      </p:pic>
      <p:pic>
        <p:nvPicPr>
          <p:cNvPr id="207" name="Google Shape;207;p24"/>
          <p:cNvPicPr preferRelativeResize="0"/>
          <p:nvPr/>
        </p:nvPicPr>
        <p:blipFill rotWithShape="1">
          <a:blip r:embed="rId4">
            <a:alphaModFix/>
          </a:blip>
          <a:srcRect/>
          <a:stretch/>
        </p:blipFill>
        <p:spPr>
          <a:xfrm>
            <a:off x="2137619" y="4298487"/>
            <a:ext cx="6688599" cy="719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
                                            <p:txEl>
                                              <p:pRg st="0" end="0"/>
                                            </p:txEl>
                                          </p:spTgt>
                                        </p:tgtEl>
                                        <p:attrNameLst>
                                          <p:attrName>style.visibility</p:attrName>
                                        </p:attrNameLst>
                                      </p:cBhvr>
                                      <p:to>
                                        <p:strVal val="visible"/>
                                      </p:to>
                                    </p:set>
                                    <p:animEffect transition="in" filter="fade">
                                      <p:cBhvr>
                                        <p:cTn id="7" dur="500"/>
                                        <p:tgtEl>
                                          <p:spTgt spid="2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xEl>
                                              <p:pRg st="1" end="1"/>
                                            </p:txEl>
                                          </p:spTgt>
                                        </p:tgtEl>
                                        <p:attrNameLst>
                                          <p:attrName>style.visibility</p:attrName>
                                        </p:attrNameLst>
                                      </p:cBhvr>
                                      <p:to>
                                        <p:strVal val="visible"/>
                                      </p:to>
                                    </p:set>
                                    <p:animEffect transition="in" filter="fade">
                                      <p:cBhvr>
                                        <p:cTn id="12" dur="500"/>
                                        <p:tgtEl>
                                          <p:spTgt spid="2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5">
                                            <p:txEl>
                                              <p:pRg st="2" end="2"/>
                                            </p:txEl>
                                          </p:spTgt>
                                        </p:tgtEl>
                                        <p:attrNameLst>
                                          <p:attrName>style.visibility</p:attrName>
                                        </p:attrNameLst>
                                      </p:cBhvr>
                                      <p:to>
                                        <p:strVal val="visible"/>
                                      </p:to>
                                    </p:set>
                                    <p:animEffect transition="in" filter="fade">
                                      <p:cBhvr>
                                        <p:cTn id="17" dur="500"/>
                                        <p:tgtEl>
                                          <p:spTgt spid="2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5">
                                            <p:txEl>
                                              <p:pRg st="3" end="3"/>
                                            </p:txEl>
                                          </p:spTgt>
                                        </p:tgtEl>
                                        <p:attrNameLst>
                                          <p:attrName>style.visibility</p:attrName>
                                        </p:attrNameLst>
                                      </p:cBhvr>
                                      <p:to>
                                        <p:strVal val="visible"/>
                                      </p:to>
                                    </p:set>
                                    <p:animEffect transition="in" filter="fade">
                                      <p:cBhvr>
                                        <p:cTn id="22" dur="500"/>
                                        <p:tgtEl>
                                          <p:spTgt spid="20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5">
                                            <p:txEl>
                                              <p:pRg st="4" end="4"/>
                                            </p:txEl>
                                          </p:spTgt>
                                        </p:tgtEl>
                                        <p:attrNameLst>
                                          <p:attrName>style.visibility</p:attrName>
                                        </p:attrNameLst>
                                      </p:cBhvr>
                                      <p:to>
                                        <p:strVal val="visible"/>
                                      </p:to>
                                    </p:set>
                                    <p:animEffect transition="in" filter="fade">
                                      <p:cBhvr>
                                        <p:cTn id="27" dur="500"/>
                                        <p:tgtEl>
                                          <p:spTgt spid="20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5">
                                            <p:txEl>
                                              <p:pRg st="5" end="5"/>
                                            </p:txEl>
                                          </p:spTgt>
                                        </p:tgtEl>
                                        <p:attrNameLst>
                                          <p:attrName>style.visibility</p:attrName>
                                        </p:attrNameLst>
                                      </p:cBhvr>
                                      <p:to>
                                        <p:strVal val="visible"/>
                                      </p:to>
                                    </p:set>
                                    <p:animEffect transition="in" filter="fade">
                                      <p:cBhvr>
                                        <p:cTn id="32" dur="500"/>
                                        <p:tgtEl>
                                          <p:spTgt spid="20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5">
                                            <p:txEl>
                                              <p:pRg st="6" end="6"/>
                                            </p:txEl>
                                          </p:spTgt>
                                        </p:tgtEl>
                                        <p:attrNameLst>
                                          <p:attrName>style.visibility</p:attrName>
                                        </p:attrNameLst>
                                      </p:cBhvr>
                                      <p:to>
                                        <p:strVal val="visible"/>
                                      </p:to>
                                    </p:set>
                                    <p:animEffect transition="in" filter="fade">
                                      <p:cBhvr>
                                        <p:cTn id="37" dur="500"/>
                                        <p:tgtEl>
                                          <p:spTgt spid="20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5">
                                            <p:txEl>
                                              <p:pRg st="7" end="7"/>
                                            </p:txEl>
                                          </p:spTgt>
                                        </p:tgtEl>
                                        <p:attrNameLst>
                                          <p:attrName>style.visibility</p:attrName>
                                        </p:attrNameLst>
                                      </p:cBhvr>
                                      <p:to>
                                        <p:strVal val="visible"/>
                                      </p:to>
                                    </p:set>
                                    <p:animEffect transition="in" filter="fade">
                                      <p:cBhvr>
                                        <p:cTn id="42" dur="500"/>
                                        <p:tgtEl>
                                          <p:spTgt spid="20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5">
                                            <p:txEl>
                                              <p:pRg st="8" end="8"/>
                                            </p:txEl>
                                          </p:spTgt>
                                        </p:tgtEl>
                                        <p:attrNameLst>
                                          <p:attrName>style.visibility</p:attrName>
                                        </p:attrNameLst>
                                      </p:cBhvr>
                                      <p:to>
                                        <p:strVal val="visible"/>
                                      </p:to>
                                    </p:set>
                                    <p:animEffect transition="in" filter="fade">
                                      <p:cBhvr>
                                        <p:cTn id="47" dur="500"/>
                                        <p:tgtEl>
                                          <p:spTgt spid="20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05">
                                            <p:txEl>
                                              <p:pRg st="9" end="9"/>
                                            </p:txEl>
                                          </p:spTgt>
                                        </p:tgtEl>
                                        <p:attrNameLst>
                                          <p:attrName>style.visibility</p:attrName>
                                        </p:attrNameLst>
                                      </p:cBhvr>
                                      <p:to>
                                        <p:strVal val="visible"/>
                                      </p:to>
                                    </p:set>
                                    <p:animEffect transition="in" filter="fade">
                                      <p:cBhvr>
                                        <p:cTn id="52" dur="500"/>
                                        <p:tgtEl>
                                          <p:spTgt spid="20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06"/>
                                        </p:tgtEl>
                                        <p:attrNameLst>
                                          <p:attrName>style.visibility</p:attrName>
                                        </p:attrNameLst>
                                      </p:cBhvr>
                                      <p:to>
                                        <p:strVal val="visible"/>
                                      </p:to>
                                    </p:set>
                                    <p:animEffect transition="in" filter="fade">
                                      <p:cBhvr>
                                        <p:cTn id="57" dur="500"/>
                                        <p:tgtEl>
                                          <p:spTgt spid="20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07"/>
                                        </p:tgtEl>
                                        <p:attrNameLst>
                                          <p:attrName>style.visibility</p:attrName>
                                        </p:attrNameLst>
                                      </p:cBhvr>
                                      <p:to>
                                        <p:strVal val="visible"/>
                                      </p:to>
                                    </p:set>
                                    <p:animEffect transition="in" filter="fade">
                                      <p:cBhvr>
                                        <p:cTn id="62"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C0CD0-6213-4D28-84B6-A9FBD97CB969}"/>
              </a:ext>
            </a:extLst>
          </p:cNvPr>
          <p:cNvSpPr>
            <a:spLocks noGrp="1"/>
          </p:cNvSpPr>
          <p:nvPr>
            <p:ph type="title"/>
          </p:nvPr>
        </p:nvSpPr>
        <p:spPr/>
        <p:txBody>
          <a:bodyPr/>
          <a:lstStyle/>
          <a:p>
            <a:r>
              <a:rPr lang="en-IN" dirty="0"/>
              <a:t>Complexity: Simple rule</a:t>
            </a:r>
          </a:p>
        </p:txBody>
      </p:sp>
      <p:sp>
        <p:nvSpPr>
          <p:cNvPr id="3" name="Text Placeholder 2">
            <a:extLst>
              <a:ext uri="{FF2B5EF4-FFF2-40B4-BE49-F238E27FC236}">
                <a16:creationId xmlns:a16="http://schemas.microsoft.com/office/drawing/2014/main" id="{C6A86C66-4CFD-4D65-A65C-CCA02175387B}"/>
              </a:ext>
            </a:extLst>
          </p:cNvPr>
          <p:cNvSpPr>
            <a:spLocks noGrp="1"/>
          </p:cNvSpPr>
          <p:nvPr>
            <p:ph type="body" idx="1"/>
          </p:nvPr>
        </p:nvSpPr>
        <p:spPr/>
        <p:txBody>
          <a:bodyPr/>
          <a:lstStyle/>
          <a:p>
            <a:pPr marL="76200" indent="0">
              <a:buNone/>
            </a:pPr>
            <a:r>
              <a:rPr lang="en-US" dirty="0"/>
              <a:t>Drop lower order term and constant factor</a:t>
            </a:r>
          </a:p>
          <a:p>
            <a:pPr>
              <a:buFont typeface="Wingdings" panose="05000000000000000000" pitchFamily="2" charset="2"/>
              <a:buChar char="Ø"/>
            </a:pPr>
            <a:r>
              <a:rPr lang="pt-BR" dirty="0"/>
              <a:t>O(1000 n) = O(n)</a:t>
            </a:r>
          </a:p>
          <a:p>
            <a:pPr>
              <a:buFont typeface="Wingdings" panose="05000000000000000000" pitchFamily="2" charset="2"/>
              <a:buChar char="Ø"/>
            </a:pPr>
            <a:r>
              <a:rPr lang="pt-BR" dirty="0"/>
              <a:t>O(n2 + 3n + 2) = O(n2)</a:t>
            </a:r>
          </a:p>
          <a:p>
            <a:pPr>
              <a:buFont typeface="Wingdings" panose="05000000000000000000" pitchFamily="2" charset="2"/>
              <a:buChar char="Ø"/>
            </a:pPr>
            <a:r>
              <a:rPr lang="pt-BR" dirty="0"/>
              <a:t>O(3n3 + 6n2 - 4n + 2) = O(3n3) = O(n3)</a:t>
            </a:r>
          </a:p>
          <a:p>
            <a:pPr>
              <a:buFont typeface="Wingdings" panose="05000000000000000000" pitchFamily="2" charset="2"/>
              <a:buChar char="Ø"/>
            </a:pPr>
            <a:r>
              <a:rPr lang="pt-BR" dirty="0"/>
              <a:t>If  f(x) = n2 * log n = O(n2 log n)</a:t>
            </a:r>
          </a:p>
          <a:p>
            <a:pPr marL="76200" indent="0">
              <a:buNone/>
            </a:pPr>
            <a:endParaRPr lang="pt-BR" dirty="0"/>
          </a:p>
          <a:p>
            <a:pPr>
              <a:buFont typeface="Wingdings" panose="05000000000000000000" pitchFamily="2" charset="2"/>
              <a:buChar char="Ø"/>
            </a:pPr>
            <a:r>
              <a:rPr lang="en-US" sz="2400" dirty="0"/>
              <a:t>Comparing asymptotic running time:</a:t>
            </a:r>
          </a:p>
          <a:p>
            <a:pPr lvl="2"/>
            <a:r>
              <a:rPr lang="en-US" sz="2200" dirty="0"/>
              <a:t>an algorithm that runs O(n) times is better than one that runs in O(n</a:t>
            </a:r>
            <a:r>
              <a:rPr lang="en-US" sz="2200" baseline="30000" dirty="0"/>
              <a:t>2</a:t>
            </a:r>
            <a:r>
              <a:rPr lang="en-US" sz="2200" dirty="0"/>
              <a:t>) times</a:t>
            </a:r>
          </a:p>
          <a:p>
            <a:pPr lvl="2"/>
            <a:r>
              <a:rPr lang="en-US" sz="2200" dirty="0"/>
              <a:t>similarly, O(</a:t>
            </a:r>
            <a:r>
              <a:rPr lang="en-US" sz="2200" dirty="0" err="1"/>
              <a:t>logn</a:t>
            </a:r>
            <a:r>
              <a:rPr lang="en-US" sz="2200" dirty="0"/>
              <a:t>) is better than O(n)</a:t>
            </a:r>
          </a:p>
          <a:p>
            <a:pPr lvl="2"/>
            <a:r>
              <a:rPr lang="en-US" sz="2200" dirty="0">
                <a:solidFill>
                  <a:srgbClr val="C00000"/>
                </a:solidFill>
              </a:rPr>
              <a:t>Hierarchy of function: log n &lt; n &lt; n</a:t>
            </a:r>
            <a:r>
              <a:rPr lang="en-US" sz="2200" baseline="30000" dirty="0">
                <a:solidFill>
                  <a:srgbClr val="C00000"/>
                </a:solidFill>
              </a:rPr>
              <a:t>2</a:t>
            </a:r>
            <a:r>
              <a:rPr lang="en-US" sz="2200" dirty="0">
                <a:solidFill>
                  <a:srgbClr val="C00000"/>
                </a:solidFill>
              </a:rPr>
              <a:t> &lt; n</a:t>
            </a:r>
            <a:r>
              <a:rPr lang="en-US" sz="2200" baseline="30000" dirty="0">
                <a:solidFill>
                  <a:srgbClr val="C00000"/>
                </a:solidFill>
              </a:rPr>
              <a:t>3</a:t>
            </a:r>
            <a:r>
              <a:rPr lang="en-US" sz="2200" dirty="0">
                <a:solidFill>
                  <a:srgbClr val="C00000"/>
                </a:solidFill>
              </a:rPr>
              <a:t> &lt; 2</a:t>
            </a:r>
            <a:r>
              <a:rPr lang="en-US" sz="2200" baseline="30000" dirty="0">
                <a:solidFill>
                  <a:srgbClr val="C00000"/>
                </a:solidFill>
              </a:rPr>
              <a:t>n</a:t>
            </a:r>
            <a:endParaRPr lang="en-IN" dirty="0"/>
          </a:p>
        </p:txBody>
      </p:sp>
    </p:spTree>
    <p:extLst>
      <p:ext uri="{BB962C8B-B14F-4D97-AF65-F5344CB8AC3E}">
        <p14:creationId xmlns:p14="http://schemas.microsoft.com/office/powerpoint/2010/main" val="1920231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AB1E7-219C-402A-B9C1-DC26CED34855}"/>
              </a:ext>
            </a:extLst>
          </p:cNvPr>
          <p:cNvSpPr>
            <a:spLocks noGrp="1"/>
          </p:cNvSpPr>
          <p:nvPr>
            <p:ph type="title"/>
          </p:nvPr>
        </p:nvSpPr>
        <p:spPr/>
        <p:txBody>
          <a:bodyPr/>
          <a:lstStyle/>
          <a:p>
            <a:r>
              <a:rPr lang="en-IN" dirty="0"/>
              <a:t>Complexity of an Algorithm</a:t>
            </a:r>
          </a:p>
        </p:txBody>
      </p:sp>
      <p:sp>
        <p:nvSpPr>
          <p:cNvPr id="3" name="Text Placeholder 2">
            <a:extLst>
              <a:ext uri="{FF2B5EF4-FFF2-40B4-BE49-F238E27FC236}">
                <a16:creationId xmlns:a16="http://schemas.microsoft.com/office/drawing/2014/main" id="{23753EDB-F053-4EA2-B237-E7DCF7903F2B}"/>
              </a:ext>
            </a:extLst>
          </p:cNvPr>
          <p:cNvSpPr>
            <a:spLocks noGrp="1"/>
          </p:cNvSpPr>
          <p:nvPr>
            <p:ph type="body" idx="1"/>
          </p:nvPr>
        </p:nvSpPr>
        <p:spPr/>
        <p:txBody>
          <a:bodyPr/>
          <a:lstStyle/>
          <a:p>
            <a:pPr marL="76200" indent="0">
              <a:buNone/>
            </a:pPr>
            <a:r>
              <a:rPr lang="en-US" dirty="0">
                <a:latin typeface="Bookman Old Style" panose="02050604050505020204" pitchFamily="18" charset="0"/>
              </a:rPr>
              <a:t>for (</a:t>
            </a:r>
            <a:r>
              <a:rPr lang="en-US" dirty="0" err="1">
                <a:latin typeface="Bookman Old Style" panose="02050604050505020204" pitchFamily="18" charset="0"/>
              </a:rPr>
              <a:t>i</a:t>
            </a:r>
            <a:r>
              <a:rPr lang="en-US" dirty="0">
                <a:latin typeface="Bookman Old Style" panose="02050604050505020204" pitchFamily="18" charset="0"/>
              </a:rPr>
              <a:t> = 0; </a:t>
            </a:r>
            <a:r>
              <a:rPr lang="en-US" dirty="0" err="1">
                <a:latin typeface="Bookman Old Style" panose="02050604050505020204" pitchFamily="18" charset="0"/>
              </a:rPr>
              <a:t>i</a:t>
            </a:r>
            <a:r>
              <a:rPr lang="en-US" dirty="0">
                <a:latin typeface="Bookman Old Style" panose="02050604050505020204" pitchFamily="18" charset="0"/>
              </a:rPr>
              <a:t> &lt; n; </a:t>
            </a:r>
            <a:r>
              <a:rPr lang="en-US" dirty="0" err="1">
                <a:latin typeface="Bookman Old Style" panose="02050604050505020204" pitchFamily="18" charset="0"/>
              </a:rPr>
              <a:t>i</a:t>
            </a:r>
            <a:r>
              <a:rPr lang="en-US" dirty="0">
                <a:latin typeface="Bookman Old Style" panose="02050604050505020204" pitchFamily="18" charset="0"/>
              </a:rPr>
              <a:t>++)</a:t>
            </a:r>
          </a:p>
          <a:p>
            <a:pPr marL="76200" indent="0">
              <a:buNone/>
            </a:pPr>
            <a:r>
              <a:rPr lang="en-US" dirty="0">
                <a:latin typeface="Bookman Old Style" panose="02050604050505020204" pitchFamily="18" charset="0"/>
              </a:rPr>
              <a:t>   for (j = 0; j &lt; n;  </a:t>
            </a:r>
            <a:r>
              <a:rPr lang="en-US" dirty="0" err="1">
                <a:latin typeface="Bookman Old Style" panose="02050604050505020204" pitchFamily="18" charset="0"/>
              </a:rPr>
              <a:t>j++</a:t>
            </a:r>
            <a:r>
              <a:rPr lang="en-US" dirty="0">
                <a:latin typeface="Bookman Old Style" panose="02050604050505020204" pitchFamily="18" charset="0"/>
              </a:rPr>
              <a:t>)</a:t>
            </a:r>
          </a:p>
          <a:p>
            <a:pPr marL="76200" indent="0">
              <a:buNone/>
            </a:pPr>
            <a:r>
              <a:rPr lang="en-US" dirty="0">
                <a:latin typeface="Bookman Old Style" panose="02050604050505020204" pitchFamily="18" charset="0"/>
              </a:rPr>
              <a:t>      </a:t>
            </a:r>
            <a:r>
              <a:rPr lang="en-US" dirty="0" err="1">
                <a:latin typeface="Bookman Old Style" panose="02050604050505020204" pitchFamily="18" charset="0"/>
              </a:rPr>
              <a:t>cin</a:t>
            </a:r>
            <a:r>
              <a:rPr lang="en-US" dirty="0">
                <a:latin typeface="Bookman Old Style" panose="02050604050505020204" pitchFamily="18" charset="0"/>
              </a:rPr>
              <a:t> &gt;&gt; A[</a:t>
            </a:r>
            <a:r>
              <a:rPr lang="en-US" dirty="0" err="1">
                <a:latin typeface="Bookman Old Style" panose="02050604050505020204" pitchFamily="18" charset="0"/>
              </a:rPr>
              <a:t>i</a:t>
            </a:r>
            <a:r>
              <a:rPr lang="en-US" dirty="0">
                <a:latin typeface="Bookman Old Style" panose="02050604050505020204" pitchFamily="18" charset="0"/>
              </a:rPr>
              <a:t>][j];</a:t>
            </a:r>
          </a:p>
          <a:p>
            <a:pPr marL="76200" indent="0">
              <a:buNone/>
            </a:pPr>
            <a:endParaRPr lang="en-US" dirty="0"/>
          </a:p>
          <a:p>
            <a:pPr marL="76200" indent="0" algn="l">
              <a:buNone/>
            </a:pPr>
            <a:r>
              <a:rPr lang="en-US" dirty="0"/>
              <a:t>Number of times </a:t>
            </a:r>
            <a:r>
              <a:rPr lang="en-US" dirty="0" err="1">
                <a:latin typeface="Bookman Old Style" panose="02050604050505020204" pitchFamily="18" charset="0"/>
              </a:rPr>
              <a:t>cin</a:t>
            </a:r>
            <a:r>
              <a:rPr lang="en-US" dirty="0">
                <a:latin typeface="Bookman Old Style" panose="02050604050505020204" pitchFamily="18" charset="0"/>
              </a:rPr>
              <a:t> &gt;&gt; A[</a:t>
            </a:r>
            <a:r>
              <a:rPr lang="en-US" dirty="0" err="1">
                <a:latin typeface="Bookman Old Style" panose="02050604050505020204" pitchFamily="18" charset="0"/>
              </a:rPr>
              <a:t>i</a:t>
            </a:r>
            <a:r>
              <a:rPr lang="en-US" dirty="0">
                <a:latin typeface="Bookman Old Style" panose="02050604050505020204" pitchFamily="18" charset="0"/>
              </a:rPr>
              <a:t>][j]; </a:t>
            </a:r>
            <a:r>
              <a:rPr lang="en-US" dirty="0"/>
              <a:t>executed: n</a:t>
            </a:r>
            <a:r>
              <a:rPr lang="en-US" baseline="30000" dirty="0"/>
              <a:t>2</a:t>
            </a:r>
            <a:br>
              <a:rPr lang="en-US" dirty="0"/>
            </a:br>
            <a:r>
              <a:rPr lang="en-US" dirty="0"/>
              <a:t>Complexity: O (n</a:t>
            </a:r>
            <a:r>
              <a:rPr lang="en-US" baseline="30000" dirty="0"/>
              <a:t>2</a:t>
            </a:r>
            <a:r>
              <a:rPr lang="en-US" dirty="0"/>
              <a:t>)</a:t>
            </a:r>
          </a:p>
          <a:p>
            <a:pPr marL="76200" indent="0">
              <a:buNone/>
            </a:pPr>
            <a:endParaRPr lang="en-US" dirty="0"/>
          </a:p>
          <a:p>
            <a:pPr marL="76200" indent="0">
              <a:buNone/>
            </a:pPr>
            <a:r>
              <a:rPr lang="en-US" dirty="0"/>
              <a:t>In a nested for loop with fixed lower and upper limits (e.g. "0" and "n") the number of times the insider part is executed is just n x n. f(n) =  n</a:t>
            </a:r>
            <a:r>
              <a:rPr lang="en-US" baseline="30000" dirty="0"/>
              <a:t>2</a:t>
            </a:r>
            <a:r>
              <a:rPr lang="en-US" dirty="0"/>
              <a:t> .  So this program section runs in O(n</a:t>
            </a:r>
            <a:r>
              <a:rPr lang="en-US" baseline="30000" dirty="0"/>
              <a:t>2</a:t>
            </a:r>
            <a:r>
              <a:rPr lang="en-US" dirty="0"/>
              <a:t>) time.</a:t>
            </a:r>
          </a:p>
          <a:p>
            <a:pPr marL="76200" indent="0">
              <a:buNone/>
            </a:pPr>
            <a:endParaRPr lang="en-IN" dirty="0"/>
          </a:p>
        </p:txBody>
      </p:sp>
    </p:spTree>
    <p:extLst>
      <p:ext uri="{BB962C8B-B14F-4D97-AF65-F5344CB8AC3E}">
        <p14:creationId xmlns:p14="http://schemas.microsoft.com/office/powerpoint/2010/main" val="131795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A38B1-B4CA-4554-BEB3-A1901AAFFE91}"/>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24D7203-644A-47D2-9355-1B4E71A02D0C}"/>
              </a:ext>
            </a:extLst>
          </p:cNvPr>
          <p:cNvSpPr>
            <a:spLocks noGrp="1"/>
          </p:cNvSpPr>
          <p:nvPr>
            <p:ph type="body" idx="1"/>
          </p:nvPr>
        </p:nvSpPr>
        <p:spPr/>
        <p:txBody>
          <a:bodyPr/>
          <a:lstStyle/>
          <a:p>
            <a:pPr marL="76200" indent="0">
              <a:buNone/>
            </a:pPr>
            <a:r>
              <a:rPr lang="en-US" dirty="0">
                <a:latin typeface="Bookman Old Style" panose="02050604050505020204" pitchFamily="18" charset="0"/>
              </a:rPr>
              <a:t>for (</a:t>
            </a:r>
            <a:r>
              <a:rPr lang="en-US" dirty="0" err="1">
                <a:latin typeface="Bookman Old Style" panose="02050604050505020204" pitchFamily="18" charset="0"/>
              </a:rPr>
              <a:t>i</a:t>
            </a:r>
            <a:r>
              <a:rPr lang="en-US" dirty="0">
                <a:latin typeface="Bookman Old Style" panose="02050604050505020204" pitchFamily="18" charset="0"/>
              </a:rPr>
              <a:t> = 0; </a:t>
            </a:r>
            <a:r>
              <a:rPr lang="en-US" dirty="0" err="1">
                <a:latin typeface="Bookman Old Style" panose="02050604050505020204" pitchFamily="18" charset="0"/>
              </a:rPr>
              <a:t>i</a:t>
            </a:r>
            <a:r>
              <a:rPr lang="en-US" dirty="0">
                <a:latin typeface="Bookman Old Style" panose="02050604050505020204" pitchFamily="18" charset="0"/>
              </a:rPr>
              <a:t> &lt; n; </a:t>
            </a:r>
            <a:r>
              <a:rPr lang="en-US" dirty="0" err="1">
                <a:latin typeface="Bookman Old Style" panose="02050604050505020204" pitchFamily="18" charset="0"/>
              </a:rPr>
              <a:t>i</a:t>
            </a:r>
            <a:r>
              <a:rPr lang="en-US" dirty="0">
                <a:latin typeface="Bookman Old Style" panose="02050604050505020204" pitchFamily="18" charset="0"/>
              </a:rPr>
              <a:t>++)</a:t>
            </a:r>
          </a:p>
          <a:p>
            <a:pPr marL="76200" indent="0">
              <a:buNone/>
            </a:pPr>
            <a:r>
              <a:rPr lang="en-US" dirty="0">
                <a:latin typeface="Bookman Old Style" panose="02050604050505020204" pitchFamily="18" charset="0"/>
              </a:rPr>
              <a:t>   for (j = 0; j &lt; </a:t>
            </a:r>
            <a:r>
              <a:rPr lang="en-US" dirty="0" err="1">
                <a:latin typeface="Bookman Old Style" panose="02050604050505020204" pitchFamily="18" charset="0"/>
              </a:rPr>
              <a:t>i</a:t>
            </a:r>
            <a:r>
              <a:rPr lang="en-US" dirty="0">
                <a:latin typeface="Bookman Old Style" panose="02050604050505020204" pitchFamily="18" charset="0"/>
              </a:rPr>
              <a:t>;  </a:t>
            </a:r>
            <a:r>
              <a:rPr lang="en-US" dirty="0" err="1">
                <a:latin typeface="Bookman Old Style" panose="02050604050505020204" pitchFamily="18" charset="0"/>
              </a:rPr>
              <a:t>j++</a:t>
            </a:r>
            <a:r>
              <a:rPr lang="en-US" dirty="0">
                <a:latin typeface="Bookman Old Style" panose="02050604050505020204" pitchFamily="18" charset="0"/>
              </a:rPr>
              <a:t>)</a:t>
            </a:r>
          </a:p>
          <a:p>
            <a:pPr marL="76200" indent="0">
              <a:buNone/>
            </a:pPr>
            <a:r>
              <a:rPr lang="en-US" dirty="0">
                <a:latin typeface="Bookman Old Style" panose="02050604050505020204" pitchFamily="18" charset="0"/>
              </a:rPr>
              <a:t>      </a:t>
            </a:r>
            <a:r>
              <a:rPr lang="en-US" dirty="0" err="1">
                <a:latin typeface="Bookman Old Style" panose="02050604050505020204" pitchFamily="18" charset="0"/>
              </a:rPr>
              <a:t>cin</a:t>
            </a:r>
            <a:r>
              <a:rPr lang="en-US" dirty="0">
                <a:latin typeface="Bookman Old Style" panose="02050604050505020204" pitchFamily="18" charset="0"/>
              </a:rPr>
              <a:t> &gt;&gt; A[</a:t>
            </a:r>
            <a:r>
              <a:rPr lang="en-US" dirty="0" err="1">
                <a:latin typeface="Bookman Old Style" panose="02050604050505020204" pitchFamily="18" charset="0"/>
              </a:rPr>
              <a:t>i</a:t>
            </a:r>
            <a:r>
              <a:rPr lang="en-US" dirty="0">
                <a:latin typeface="Bookman Old Style" panose="02050604050505020204" pitchFamily="18" charset="0"/>
              </a:rPr>
              <a:t>][j];</a:t>
            </a:r>
          </a:p>
          <a:p>
            <a:pPr marL="76200" indent="0">
              <a:buNone/>
            </a:pPr>
            <a:endParaRPr lang="en-US" dirty="0">
              <a:latin typeface="Bookman Old Style" panose="02050604050505020204" pitchFamily="18" charset="0"/>
            </a:endParaRPr>
          </a:p>
          <a:p>
            <a:pPr marL="0" indent="0" algn="l">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000000"/>
                </a:solidFill>
                <a:latin typeface="Times New Roman" panose="02020603050405020304" pitchFamily="18" charset="0"/>
                <a:ea typeface="Times New Roman" panose="02020603050405020304" pitchFamily="18" charset="0"/>
                <a:cs typeface="Shruti" panose="020B0502040204020203" pitchFamily="34" charset="0"/>
              </a:rPr>
              <a:t>T</a:t>
            </a:r>
            <a:r>
              <a:rPr lang="en-US" sz="20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he inner loop is executed a variable number of times; we can't just multiply n by i:</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gn="l">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000000"/>
                </a:solidFill>
                <a:effectLst/>
                <a:latin typeface="Times New Roman" panose="02020603050405020304" pitchFamily="18" charset="0"/>
                <a:ea typeface="Times New Roman" panose="02020603050405020304" pitchFamily="18" charset="0"/>
              </a:rPr>
              <a:t>When </a:t>
            </a:r>
            <a:r>
              <a:rPr lang="en-US" sz="2000" dirty="0" err="1">
                <a:solidFill>
                  <a:srgbClr val="000000"/>
                </a:solidFill>
                <a:effectLst/>
                <a:latin typeface="Times New Roman" panose="02020603050405020304" pitchFamily="18" charset="0"/>
                <a:ea typeface="Times New Roman" panose="02020603050405020304" pitchFamily="18" charset="0"/>
              </a:rPr>
              <a:t>i</a:t>
            </a:r>
            <a:r>
              <a:rPr lang="en-US" sz="2000" dirty="0">
                <a:solidFill>
                  <a:srgbClr val="000000"/>
                </a:solidFill>
                <a:effectLst/>
                <a:latin typeface="Times New Roman" panose="02020603050405020304" pitchFamily="18" charset="0"/>
                <a:ea typeface="Times New Roman" panose="02020603050405020304" pitchFamily="18" charset="0"/>
              </a:rPr>
              <a:t> = 0 the inner loop is executed 0 times.</a:t>
            </a:r>
            <a:br>
              <a:rPr lang="en-US" sz="2000" dirty="0">
                <a:solidFill>
                  <a:srgbClr val="000000"/>
                </a:solidFill>
                <a:effectLst/>
                <a:latin typeface="Times New Roman" panose="02020603050405020304" pitchFamily="18" charset="0"/>
                <a:ea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rPr>
              <a:t>When </a:t>
            </a:r>
            <a:r>
              <a:rPr lang="en-US" sz="2000" dirty="0" err="1">
                <a:solidFill>
                  <a:srgbClr val="000000"/>
                </a:solidFill>
                <a:effectLst/>
                <a:latin typeface="Times New Roman" panose="02020603050405020304" pitchFamily="18" charset="0"/>
                <a:ea typeface="Times New Roman" panose="02020603050405020304" pitchFamily="18" charset="0"/>
              </a:rPr>
              <a:t>i</a:t>
            </a:r>
            <a:r>
              <a:rPr lang="en-US" sz="2000" dirty="0">
                <a:solidFill>
                  <a:srgbClr val="000000"/>
                </a:solidFill>
                <a:effectLst/>
                <a:latin typeface="Times New Roman" panose="02020603050405020304" pitchFamily="18" charset="0"/>
                <a:ea typeface="Times New Roman" panose="02020603050405020304" pitchFamily="18" charset="0"/>
              </a:rPr>
              <a:t> = 1 the inner loop is executed 1 time.</a:t>
            </a:r>
            <a:br>
              <a:rPr lang="en-US" sz="2000" dirty="0">
                <a:solidFill>
                  <a:srgbClr val="000000"/>
                </a:solidFill>
                <a:effectLst/>
                <a:latin typeface="Times New Roman" panose="02020603050405020304" pitchFamily="18" charset="0"/>
                <a:ea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rPr>
              <a:t>When </a:t>
            </a:r>
            <a:r>
              <a:rPr lang="en-US" sz="2000" dirty="0" err="1">
                <a:solidFill>
                  <a:srgbClr val="000000"/>
                </a:solidFill>
                <a:effectLst/>
                <a:latin typeface="Times New Roman" panose="02020603050405020304" pitchFamily="18" charset="0"/>
                <a:ea typeface="Times New Roman" panose="02020603050405020304" pitchFamily="18" charset="0"/>
              </a:rPr>
              <a:t>i</a:t>
            </a:r>
            <a:r>
              <a:rPr lang="en-US" sz="2000" dirty="0">
                <a:solidFill>
                  <a:srgbClr val="000000"/>
                </a:solidFill>
                <a:effectLst/>
                <a:latin typeface="Times New Roman" panose="02020603050405020304" pitchFamily="18" charset="0"/>
                <a:ea typeface="Times New Roman" panose="02020603050405020304" pitchFamily="18" charset="0"/>
              </a:rPr>
              <a:t> = 2 the inner loop is executed 2 times.</a:t>
            </a:r>
            <a:br>
              <a:rPr lang="en-US" sz="2000" dirty="0">
                <a:solidFill>
                  <a:srgbClr val="000000"/>
                </a:solidFill>
                <a:effectLst/>
                <a:latin typeface="Times New Roman" panose="02020603050405020304" pitchFamily="18" charset="0"/>
                <a:ea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rPr>
              <a:t>So the number of times the statement "A[</a:t>
            </a:r>
            <a:r>
              <a:rPr lang="en-US" sz="2000" dirty="0" err="1">
                <a:solidFill>
                  <a:srgbClr val="000000"/>
                </a:solidFill>
                <a:effectLst/>
                <a:latin typeface="Times New Roman" panose="02020603050405020304" pitchFamily="18" charset="0"/>
                <a:ea typeface="Times New Roman" panose="02020603050405020304" pitchFamily="18" charset="0"/>
              </a:rPr>
              <a:t>i</a:t>
            </a:r>
            <a:r>
              <a:rPr lang="en-US" sz="2000" dirty="0">
                <a:solidFill>
                  <a:srgbClr val="000000"/>
                </a:solidFill>
                <a:effectLst/>
                <a:latin typeface="Times New Roman" panose="02020603050405020304" pitchFamily="18" charset="0"/>
                <a:ea typeface="Times New Roman" panose="02020603050405020304" pitchFamily="18" charset="0"/>
              </a:rPr>
              <a:t>][j] = 0" is executed is: </a:t>
            </a:r>
            <a:r>
              <a:rPr lang="en-US" sz="2000" b="1" dirty="0">
                <a:solidFill>
                  <a:srgbClr val="000000"/>
                </a:solidFill>
                <a:effectLst/>
                <a:latin typeface="Times New Roman" panose="02020603050405020304" pitchFamily="18" charset="0"/>
                <a:ea typeface="Times New Roman" panose="02020603050405020304" pitchFamily="18" charset="0"/>
              </a:rPr>
              <a:t>1 + 2 + 3 + ... + n = </a:t>
            </a:r>
            <a:r>
              <a:rPr lang="en-US" sz="2000" b="1" dirty="0">
                <a:solidFill>
                  <a:srgbClr val="000000"/>
                </a:solidFill>
                <a:effectLst/>
                <a:latin typeface="Courier New" panose="02070309020205020404" pitchFamily="49" charset="0"/>
                <a:ea typeface="Times New Roman" panose="02020603050405020304" pitchFamily="18" charset="0"/>
              </a:rPr>
              <a:t>n(n+1)/2 = ½(n</a:t>
            </a:r>
            <a:r>
              <a:rPr lang="en-US" sz="2000" b="1" baseline="30000" dirty="0">
                <a:solidFill>
                  <a:srgbClr val="000000"/>
                </a:solidFill>
                <a:effectLst/>
                <a:latin typeface="Courier New" panose="02070309020205020404" pitchFamily="49" charset="0"/>
                <a:ea typeface="Times New Roman" panose="02020603050405020304" pitchFamily="18" charset="0"/>
              </a:rPr>
              <a:t>2</a:t>
            </a:r>
            <a:r>
              <a:rPr lang="en-US" sz="2000" b="1" dirty="0">
                <a:solidFill>
                  <a:srgbClr val="000000"/>
                </a:solidFill>
                <a:effectLst/>
                <a:latin typeface="Courier New" panose="02070309020205020404" pitchFamily="49" charset="0"/>
                <a:ea typeface="Times New Roman" panose="02020603050405020304" pitchFamily="18" charset="0"/>
              </a:rPr>
              <a:t>+n)</a:t>
            </a:r>
            <a:br>
              <a:rPr lang="en-US" sz="2000" b="1" dirty="0">
                <a:solidFill>
                  <a:srgbClr val="000000"/>
                </a:solidFill>
                <a:effectLst/>
                <a:latin typeface="Times New Roman" panose="02020603050405020304" pitchFamily="18" charset="0"/>
                <a:ea typeface="Times New Roman" panose="02020603050405020304" pitchFamily="18" charset="0"/>
              </a:rPr>
            </a:br>
            <a:r>
              <a:rPr lang="en-US" sz="2000" dirty="0">
                <a:solidFill>
                  <a:srgbClr val="000000"/>
                </a:solidFill>
                <a:latin typeface="Times New Roman" panose="02020603050405020304" pitchFamily="18" charset="0"/>
                <a:ea typeface="Times New Roman" panose="02020603050405020304" pitchFamily="18" charset="0"/>
              </a:rPr>
              <a:t>I</a:t>
            </a:r>
            <a:r>
              <a:rPr lang="en-US" sz="2000" dirty="0">
                <a:solidFill>
                  <a:srgbClr val="000000"/>
                </a:solidFill>
                <a:effectLst/>
                <a:latin typeface="Times New Roman" panose="02020603050405020304" pitchFamily="18" charset="0"/>
                <a:ea typeface="Times New Roman" panose="02020603050405020304" pitchFamily="18" charset="0"/>
              </a:rPr>
              <a:t>gnore leading constants (the </a:t>
            </a:r>
            <a:r>
              <a:rPr lang="en-US" sz="2000" dirty="0">
                <a:solidFill>
                  <a:srgbClr val="000000"/>
                </a:solidFill>
                <a:effectLst/>
                <a:latin typeface="Courier New" panose="02070309020205020404" pitchFamily="49" charset="0"/>
                <a:ea typeface="Times New Roman" panose="02020603050405020304" pitchFamily="18" charset="0"/>
              </a:rPr>
              <a:t>1/2</a:t>
            </a:r>
            <a:r>
              <a:rPr lang="en-US" sz="2000" dirty="0">
                <a:solidFill>
                  <a:srgbClr val="000000"/>
                </a:solidFill>
                <a:effectLst/>
                <a:latin typeface="Times New Roman" panose="02020603050405020304" pitchFamily="18" charset="0"/>
                <a:ea typeface="Times New Roman" panose="02020603050405020304" pitchFamily="18" charset="0"/>
              </a:rPr>
              <a:t> in the equation above) and lower order terms (the n in the equation above), this algorithm runs in O(n</a:t>
            </a:r>
            <a:r>
              <a:rPr lang="en-US" sz="2000" baseline="30000" dirty="0">
                <a:solidFill>
                  <a:srgbClr val="000000"/>
                </a:solidFill>
                <a:effectLst/>
                <a:latin typeface="Times New Roman" panose="02020603050405020304" pitchFamily="18" charset="0"/>
                <a:ea typeface="Times New Roman" panose="02020603050405020304" pitchFamily="18" charset="0"/>
              </a:rPr>
              <a:t>2</a:t>
            </a:r>
            <a:r>
              <a:rPr lang="en-US" sz="2000" dirty="0">
                <a:solidFill>
                  <a:srgbClr val="000000"/>
                </a:solidFill>
                <a:effectLst/>
                <a:latin typeface="Times New Roman" panose="02020603050405020304" pitchFamily="18" charset="0"/>
                <a:ea typeface="Times New Roman" panose="02020603050405020304" pitchFamily="18" charset="0"/>
              </a:rPr>
              <a:t>) time. </a:t>
            </a:r>
            <a:endParaRPr lang="en-US" sz="2000" dirty="0"/>
          </a:p>
          <a:p>
            <a:pPr marL="76200" indent="0">
              <a:buNone/>
            </a:pPr>
            <a:endParaRPr lang="en-IN" dirty="0"/>
          </a:p>
        </p:txBody>
      </p:sp>
    </p:spTree>
    <p:extLst>
      <p:ext uri="{BB962C8B-B14F-4D97-AF65-F5344CB8AC3E}">
        <p14:creationId xmlns:p14="http://schemas.microsoft.com/office/powerpoint/2010/main" val="272579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14EC5-0E49-4777-91CB-BBFA73F65F0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C033EDA-2D4E-4A88-87A4-1AE245A07530}"/>
              </a:ext>
            </a:extLst>
          </p:cNvPr>
          <p:cNvSpPr>
            <a:spLocks noGrp="1"/>
          </p:cNvSpPr>
          <p:nvPr>
            <p:ph type="body" idx="1"/>
          </p:nvPr>
        </p:nvSpPr>
        <p:spPr/>
        <p:txBody>
          <a:bodyPr/>
          <a:lstStyle/>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Dim </a:t>
            </a:r>
            <a:r>
              <a:rPr lang="en-US" sz="2000" dirty="0" err="1">
                <a:solidFill>
                  <a:srgbClr val="000000"/>
                </a:solidFill>
                <a:effectLst/>
                <a:latin typeface="Courier"/>
                <a:ea typeface="Times New Roman" panose="02020603050405020304" pitchFamily="18" charset="0"/>
                <a:cs typeface="Times New Roman" panose="02020603050405020304" pitchFamily="18" charset="0"/>
              </a:rPr>
              <a:t>Sum,i,j,k</a:t>
            </a:r>
            <a:r>
              <a:rPr lang="en-US" sz="2000" dirty="0">
                <a:solidFill>
                  <a:srgbClr val="000000"/>
                </a:solidFill>
                <a:effectLst/>
                <a:latin typeface="Courier"/>
                <a:ea typeface="Times New Roman" panose="02020603050405020304" pitchFamily="18" charset="0"/>
                <a:cs typeface="Times New Roman" panose="02020603050405020304" pitchFamily="18" charset="0"/>
              </a:rPr>
              <a:t> As Integer</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a:t>
            </a:r>
            <a:r>
              <a:rPr lang="en-US" sz="2000" b="1" dirty="0">
                <a:solidFill>
                  <a:srgbClr val="000000"/>
                </a:solidFill>
                <a:effectLst/>
                <a:latin typeface="Courier"/>
                <a:ea typeface="Times New Roman" panose="02020603050405020304" pitchFamily="18" charset="0"/>
                <a:cs typeface="Times New Roman" panose="02020603050405020304" pitchFamily="18" charset="0"/>
              </a:rPr>
              <a:t>For</a:t>
            </a:r>
            <a:r>
              <a:rPr lang="en-US" sz="2000" dirty="0">
                <a:solidFill>
                  <a:srgbClr val="000000"/>
                </a:solidFill>
                <a:effectLst/>
                <a:latin typeface="Courier"/>
                <a:ea typeface="Times New Roman" panose="02020603050405020304" pitchFamily="18" charset="0"/>
                <a:cs typeface="Times New Roman" panose="02020603050405020304" pitchFamily="18" charset="0"/>
              </a:rPr>
              <a:t> </a:t>
            </a:r>
            <a:r>
              <a:rPr lang="en-US" sz="2000" dirty="0" err="1">
                <a:solidFill>
                  <a:srgbClr val="000000"/>
                </a:solidFill>
                <a:effectLst/>
                <a:latin typeface="Courier"/>
                <a:ea typeface="Times New Roman" panose="02020603050405020304" pitchFamily="18" charset="0"/>
                <a:cs typeface="Times New Roman" panose="02020603050405020304" pitchFamily="18" charset="0"/>
              </a:rPr>
              <a:t>i</a:t>
            </a:r>
            <a:r>
              <a:rPr lang="en-US" sz="2000" dirty="0">
                <a:solidFill>
                  <a:srgbClr val="000000"/>
                </a:solidFill>
                <a:effectLst/>
                <a:latin typeface="Courier"/>
                <a:ea typeface="Times New Roman" panose="02020603050405020304" pitchFamily="18" charset="0"/>
                <a:cs typeface="Times New Roman" panose="02020603050405020304" pitchFamily="18" charset="0"/>
              </a:rPr>
              <a:t> = 1 to n                         </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a:t>
            </a:r>
            <a:r>
              <a:rPr lang="en-US" sz="2000" b="1" dirty="0">
                <a:solidFill>
                  <a:srgbClr val="000000"/>
                </a:solidFill>
                <a:effectLst/>
                <a:latin typeface="Courier"/>
                <a:ea typeface="Times New Roman" panose="02020603050405020304" pitchFamily="18" charset="0"/>
                <a:cs typeface="Times New Roman" panose="02020603050405020304" pitchFamily="18" charset="0"/>
              </a:rPr>
              <a:t>For</a:t>
            </a:r>
            <a:r>
              <a:rPr lang="en-US" sz="2000" dirty="0">
                <a:solidFill>
                  <a:srgbClr val="000000"/>
                </a:solidFill>
                <a:effectLst/>
                <a:latin typeface="Courier"/>
                <a:ea typeface="Times New Roman" panose="02020603050405020304" pitchFamily="18" charset="0"/>
                <a:cs typeface="Times New Roman" panose="02020603050405020304" pitchFamily="18" charset="0"/>
              </a:rPr>
              <a:t> j = 1 to n                       </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Sum = Sum + 1      |   =  1 x n   </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a:t>
            </a:r>
            <a:r>
              <a:rPr lang="en-US" sz="2000" b="1" dirty="0">
                <a:solidFill>
                  <a:srgbClr val="000000"/>
                </a:solidFill>
                <a:effectLst/>
                <a:latin typeface="Courier"/>
                <a:ea typeface="Times New Roman" panose="02020603050405020304" pitchFamily="18" charset="0"/>
                <a:cs typeface="Times New Roman" panose="02020603050405020304" pitchFamily="18" charset="0"/>
              </a:rPr>
              <a:t>end for                             </a:t>
            </a:r>
            <a:endParaRPr lang="en-IN" sz="2000" b="1"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a:t>
            </a:r>
            <a:r>
              <a:rPr lang="en-US" sz="2000" b="1" dirty="0">
                <a:solidFill>
                  <a:srgbClr val="000000"/>
                </a:solidFill>
                <a:effectLst/>
                <a:latin typeface="Courier"/>
                <a:ea typeface="Times New Roman" panose="02020603050405020304" pitchFamily="18" charset="0"/>
                <a:cs typeface="Times New Roman" panose="02020603050405020304" pitchFamily="18" charset="0"/>
              </a:rPr>
              <a:t>For</a:t>
            </a:r>
            <a:r>
              <a:rPr lang="en-US" sz="2000" dirty="0">
                <a:solidFill>
                  <a:srgbClr val="000000"/>
                </a:solidFill>
                <a:effectLst/>
                <a:latin typeface="Courier"/>
                <a:ea typeface="Times New Roman" panose="02020603050405020304" pitchFamily="18" charset="0"/>
                <a:cs typeface="Times New Roman" panose="02020603050405020304" pitchFamily="18" charset="0"/>
              </a:rPr>
              <a:t> k = 1 to 2 *n </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Sum = Sum + 1      |              </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Sum = Sum + 1      |   =  3 x 2n  </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Sum = Sum + 1      |              </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spcAft>
                <a:spcPts val="800"/>
              </a:spcAft>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a:t>
            </a:r>
            <a:r>
              <a:rPr lang="en-US" sz="2000" b="1" dirty="0">
                <a:solidFill>
                  <a:srgbClr val="000000"/>
                </a:solidFill>
                <a:effectLst/>
                <a:latin typeface="Courier"/>
                <a:ea typeface="Times New Roman" panose="02020603050405020304" pitchFamily="18" charset="0"/>
                <a:cs typeface="Times New Roman" panose="02020603050405020304" pitchFamily="18" charset="0"/>
              </a:rPr>
              <a:t>end for </a:t>
            </a:r>
            <a:r>
              <a:rPr lang="en-US" sz="2000" dirty="0">
                <a:solidFill>
                  <a:srgbClr val="000000"/>
                </a:solidFill>
                <a:effectLst/>
                <a:latin typeface="Courier"/>
                <a:ea typeface="Times New Roman" panose="02020603050405020304" pitchFamily="18"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spcBef>
                <a:spcPts val="0"/>
              </a:spcBef>
              <a:buNone/>
            </a:pPr>
            <a:r>
              <a:rPr lang="en-US" sz="2000" dirty="0">
                <a:solidFill>
                  <a:srgbClr val="000000"/>
                </a:solidFill>
                <a:effectLst/>
                <a:latin typeface="Courier"/>
                <a:ea typeface="Times New Roman" panose="02020603050405020304" pitchFamily="18" charset="0"/>
                <a:cs typeface="Times New Roman" panose="02020603050405020304" pitchFamily="18" charset="0"/>
              </a:rPr>
              <a:t>   </a:t>
            </a:r>
            <a:r>
              <a:rPr lang="en-US" sz="2000" b="1" dirty="0">
                <a:solidFill>
                  <a:srgbClr val="000000"/>
                </a:solidFill>
                <a:effectLst/>
                <a:latin typeface="Courier"/>
                <a:ea typeface="Times New Roman" panose="02020603050405020304" pitchFamily="18" charset="0"/>
                <a:cs typeface="Times New Roman" panose="02020603050405020304" pitchFamily="18" charset="0"/>
              </a:rPr>
              <a:t>end for      </a:t>
            </a:r>
            <a:r>
              <a:rPr lang="en-US" sz="2400" b="1" dirty="0">
                <a:solidFill>
                  <a:srgbClr val="000000"/>
                </a:solidFill>
                <a:effectLst/>
                <a:latin typeface="Courier"/>
                <a:ea typeface="Times New Roman" panose="02020603050405020304" pitchFamily="18" charset="0"/>
                <a:cs typeface="Times New Roman" panose="02020603050405020304" pitchFamily="18" charset="0"/>
              </a:rPr>
              <a:t>                               </a:t>
            </a:r>
            <a:endParaRPr lang="en-US" sz="2400" b="1" dirty="0">
              <a:solidFill>
                <a:srgbClr val="000000"/>
              </a:solidFill>
              <a:latin typeface="Times New Roman" panose="02020603050405020304" pitchFamily="18" charset="0"/>
              <a:ea typeface="Times New Roman" panose="02020603050405020304" pitchFamily="18" charset="0"/>
            </a:endParaRPr>
          </a:p>
          <a:p>
            <a:pPr marL="0" indent="0">
              <a:lnSpc>
                <a:spcPct val="107000"/>
              </a:lnSpc>
              <a:spcAft>
                <a:spcPts val="800"/>
              </a:spcAft>
              <a:buNone/>
            </a:pPr>
            <a:r>
              <a:rPr lang="en-US" sz="24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Number of times executed: n x (1 x n + 3 x 2n) = n</a:t>
            </a:r>
            <a:r>
              <a:rPr lang="en-US" sz="2400" baseline="300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2</a:t>
            </a:r>
            <a:r>
              <a:rPr lang="en-US" sz="24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 + 6n</a:t>
            </a:r>
            <a:r>
              <a:rPr lang="en-US" sz="2400" baseline="300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2</a:t>
            </a:r>
            <a:r>
              <a:rPr lang="en-US" sz="24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 = 7n</a:t>
            </a:r>
            <a:r>
              <a:rPr lang="en-US" sz="2400" baseline="300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2</a:t>
            </a:r>
            <a:br>
              <a:rPr lang="en-US" sz="24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br>
            <a:r>
              <a:rPr lang="en-US" sz="2400" b="1"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Complexity: O (n</a:t>
            </a:r>
            <a:r>
              <a:rPr lang="en-US" sz="2400" b="1" baseline="300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2</a:t>
            </a:r>
            <a:r>
              <a:rPr lang="en-US" sz="2400" b="1"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76200" indent="0">
              <a:buNone/>
            </a:pPr>
            <a:endParaRPr lang="en-IN" dirty="0"/>
          </a:p>
        </p:txBody>
      </p:sp>
    </p:spTree>
    <p:extLst>
      <p:ext uri="{BB962C8B-B14F-4D97-AF65-F5344CB8AC3E}">
        <p14:creationId xmlns:p14="http://schemas.microsoft.com/office/powerpoint/2010/main" val="2989516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C4D12-A9C8-4119-A851-3EE1A32EE8A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ED5E00C-D57D-428B-AE8E-66350043438C}"/>
              </a:ext>
            </a:extLst>
          </p:cNvPr>
          <p:cNvSpPr>
            <a:spLocks noGrp="1"/>
          </p:cNvSpPr>
          <p:nvPr>
            <p:ph type="body" idx="1"/>
          </p:nvPr>
        </p:nvSpPr>
        <p:spPr/>
        <p:txBody>
          <a:bodyPr/>
          <a:lstStyle/>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void main(void)</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int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tofind</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A[100], n;</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 0;</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cin</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&gt;&gt;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tofind</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t>
            </a:r>
            <a:r>
              <a:rPr lang="en-US" sz="2400" b="1"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while</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tofind</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&amp;&amp;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&lt;= n)) </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latin typeface="Courier New" panose="02070309020205020404" pitchFamily="49" charset="0"/>
                <a:ea typeface="Times New Roman" panose="02020603050405020304" pitchFamily="18" charset="0"/>
                <a:cs typeface="Shruti" panose="020B0502040204020203" pitchFamily="34" charset="0"/>
              </a:rPr>
              <a:t>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t>
            </a: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solidFill>
                  <a:srgbClr val="000000"/>
                </a:solidFill>
                <a:latin typeface="Courier New" panose="02070309020205020404" pitchFamily="49" charset="0"/>
                <a:ea typeface="Times New Roman" panose="02020603050405020304" pitchFamily="18" charset="0"/>
                <a:cs typeface="Shruti" panose="020B0502040204020203" pitchFamily="34" charset="0"/>
              </a:rPr>
              <a:t>    </a:t>
            </a:r>
            <a:r>
              <a:rPr lang="en-US" sz="2400" b="1"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if</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&gt;= n)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cout</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&lt;&lt; "not found";</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else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cout</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&lt;&lt; "found";</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spcBef>
                <a:spcPts val="0"/>
              </a:spcBef>
              <a:buNone/>
            </a:pPr>
            <a:r>
              <a:rPr lang="en-US" sz="2400" dirty="0">
                <a:solidFill>
                  <a:srgbClr val="000000"/>
                </a:solidFill>
                <a:effectLst/>
                <a:latin typeface="Courier"/>
                <a:ea typeface="Times New Roman" panose="02020603050405020304" pitchFamily="18" charset="0"/>
                <a:cs typeface="Times New Roman" panose="02020603050405020304" pitchFamily="18" charset="0"/>
              </a:rPr>
              <a:t>    </a:t>
            </a:r>
          </a:p>
          <a:p>
            <a:pPr marL="0" indent="0">
              <a:spcBef>
                <a:spcPts val="0"/>
              </a:spcBef>
              <a:buNone/>
            </a:pPr>
            <a:r>
              <a:rPr lang="en-US" sz="2400" b="1"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Complexity: O (n)</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spcBef>
                <a:spcPts val="0"/>
              </a:spcBef>
              <a:buNone/>
            </a:pPr>
            <a:endParaRPr lang="en-IN" dirty="0"/>
          </a:p>
        </p:txBody>
      </p:sp>
    </p:spTree>
    <p:extLst>
      <p:ext uri="{BB962C8B-B14F-4D97-AF65-F5344CB8AC3E}">
        <p14:creationId xmlns:p14="http://schemas.microsoft.com/office/powerpoint/2010/main" val="162567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6B199-4986-4440-8C3F-C1B619271B2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658AE55-0CC3-4B62-B9E6-C91C15B48E48}"/>
              </a:ext>
            </a:extLst>
          </p:cNvPr>
          <p:cNvSpPr>
            <a:spLocks noGrp="1"/>
          </p:cNvSpPr>
          <p:nvPr>
            <p:ph type="body" idx="1"/>
          </p:nvPr>
        </p:nvSpPr>
        <p:spPr/>
        <p:txBody>
          <a:bodyPr/>
          <a:lstStyle/>
          <a:p>
            <a:pPr marL="0" indent="0" algn="l">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1. 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 n;            </a:t>
            </a:r>
            <a:r>
              <a:rPr lang="en-US" sz="20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t>
            </a:r>
            <a:r>
              <a:rPr lang="en-US" sz="20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0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starts from n</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gn="l">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2.  </a:t>
            </a:r>
            <a:r>
              <a:rPr lang="en-US" sz="2400" b="1"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while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&gt;= 1)</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gn="l">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3.  {</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gn="l">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4.    x = x + 1;      </a:t>
            </a:r>
            <a:r>
              <a:rPr lang="en-US" sz="20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count this line</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marL="0" indent="0" algn="l">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5.   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 </a:t>
            </a:r>
            <a:r>
              <a:rPr lang="en-US" sz="24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 2;      </a:t>
            </a:r>
            <a:r>
              <a:rPr lang="en-US" sz="20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a:t>
            </a:r>
            <a:r>
              <a:rPr lang="en-US" sz="2000" dirty="0" err="1">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i</a:t>
            </a:r>
            <a:r>
              <a:rPr lang="en-US" sz="20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 becomes half at the end of every iteration</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0" indent="0" algn="l">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urier New" panose="02070309020205020404" pitchFamily="49" charset="0"/>
                <a:ea typeface="Times New Roman" panose="02020603050405020304" pitchFamily="18" charset="0"/>
                <a:cs typeface="Shruti" panose="020B0502040204020203" pitchFamily="34" charset="0"/>
              </a:rPr>
              <a:t>6.  }</a:t>
            </a:r>
          </a:p>
          <a:p>
            <a:pPr marL="76200" indent="0">
              <a:buNone/>
            </a:pPr>
            <a:endParaRPr lang="en-IN" dirty="0"/>
          </a:p>
        </p:txBody>
      </p:sp>
      <p:graphicFrame>
        <p:nvGraphicFramePr>
          <p:cNvPr id="4" name="Table 3">
            <a:extLst>
              <a:ext uri="{FF2B5EF4-FFF2-40B4-BE49-F238E27FC236}">
                <a16:creationId xmlns:a16="http://schemas.microsoft.com/office/drawing/2014/main" id="{B56B0C28-7CAF-4FC3-A9E7-EA5FBE44C4FD}"/>
              </a:ext>
            </a:extLst>
          </p:cNvPr>
          <p:cNvGraphicFramePr>
            <a:graphicFrameLocks noGrp="1"/>
          </p:cNvGraphicFramePr>
          <p:nvPr>
            <p:extLst>
              <p:ext uri="{D42A27DB-BD31-4B8C-83A1-F6EECF244321}">
                <p14:modId xmlns:p14="http://schemas.microsoft.com/office/powerpoint/2010/main" val="382613531"/>
              </p:ext>
            </p:extLst>
          </p:nvPr>
        </p:nvGraphicFramePr>
        <p:xfrm>
          <a:off x="328060" y="3429000"/>
          <a:ext cx="5767939" cy="2923674"/>
        </p:xfrm>
        <a:graphic>
          <a:graphicData uri="http://schemas.openxmlformats.org/drawingml/2006/table">
            <a:tbl>
              <a:tblPr firstRow="1" firstCol="1" bandRow="1">
                <a:tableStyleId>{5C22544A-7EE6-4342-B048-85BDC9FD1C3A}</a:tableStyleId>
              </a:tblPr>
              <a:tblGrid>
                <a:gridCol w="1560879">
                  <a:extLst>
                    <a:ext uri="{9D8B030D-6E8A-4147-A177-3AD203B41FA5}">
                      <a16:colId xmlns:a16="http://schemas.microsoft.com/office/drawing/2014/main" val="2979729123"/>
                    </a:ext>
                  </a:extLst>
                </a:gridCol>
                <a:gridCol w="2060850">
                  <a:extLst>
                    <a:ext uri="{9D8B030D-6E8A-4147-A177-3AD203B41FA5}">
                      <a16:colId xmlns:a16="http://schemas.microsoft.com/office/drawing/2014/main" val="2530354881"/>
                    </a:ext>
                  </a:extLst>
                </a:gridCol>
                <a:gridCol w="2146210">
                  <a:extLst>
                    <a:ext uri="{9D8B030D-6E8A-4147-A177-3AD203B41FA5}">
                      <a16:colId xmlns:a16="http://schemas.microsoft.com/office/drawing/2014/main" val="260069518"/>
                    </a:ext>
                  </a:extLst>
                </a:gridCol>
              </a:tblGrid>
              <a:tr h="734533">
                <a:tc>
                  <a:txBody>
                    <a:bodyPr/>
                    <a:lstStyle/>
                    <a:p>
                      <a:pPr algn="ctr">
                        <a:lnSpc>
                          <a:spcPct val="107000"/>
                        </a:lnSpc>
                        <a:spcAft>
                          <a:spcPts val="800"/>
                        </a:spcAft>
                      </a:pPr>
                      <a:r>
                        <a:rPr lang="en-US" sz="2000" dirty="0">
                          <a:effectLst/>
                        </a:rPr>
                        <a:t>iteration</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algn="ctr">
                        <a:lnSpc>
                          <a:spcPct val="107000"/>
                        </a:lnSpc>
                        <a:spcAft>
                          <a:spcPts val="800"/>
                        </a:spcAft>
                      </a:pPr>
                      <a:r>
                        <a:rPr lang="en-US" sz="2000">
                          <a:effectLst/>
                        </a:rPr>
                        <a:t>value of  i</a:t>
                      </a:r>
                      <a:br>
                        <a:rPr lang="en-US" sz="2000">
                          <a:effectLst/>
                        </a:rPr>
                      </a:br>
                      <a:r>
                        <a:rPr lang="en-US" sz="2000">
                          <a:effectLst/>
                        </a:rPr>
                        <a:t>(at the top of loop)</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algn="ctr">
                        <a:lnSpc>
                          <a:spcPct val="107000"/>
                        </a:lnSpc>
                        <a:spcAft>
                          <a:spcPts val="800"/>
                        </a:spcAft>
                      </a:pPr>
                      <a:r>
                        <a:rPr lang="en-US" sz="2000">
                          <a:effectLst/>
                        </a:rPr>
                        <a:t>number of times</a:t>
                      </a:r>
                      <a:br>
                        <a:rPr lang="en-US" sz="2000">
                          <a:effectLst/>
                        </a:rPr>
                      </a:br>
                      <a:r>
                        <a:rPr lang="en-US" sz="2000">
                          <a:effectLst/>
                        </a:rPr>
                        <a:t>line 4 is executed</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extLst>
                  <a:ext uri="{0D108BD9-81ED-4DB2-BD59-A6C34878D82A}">
                    <a16:rowId xmlns:a16="http://schemas.microsoft.com/office/drawing/2014/main" val="1014174434"/>
                  </a:ext>
                </a:extLst>
              </a:tr>
              <a:tr h="385003">
                <a:tc>
                  <a:txBody>
                    <a:bodyPr/>
                    <a:lstStyle/>
                    <a:p>
                      <a:pPr algn="ctr">
                        <a:lnSpc>
                          <a:spcPct val="107000"/>
                        </a:lnSpc>
                        <a:spcAft>
                          <a:spcPts val="800"/>
                        </a:spcAft>
                      </a:pPr>
                      <a:r>
                        <a:rPr lang="en-US" sz="2000" dirty="0">
                          <a:effectLst/>
                        </a:rPr>
                        <a:t>1</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algn="ctr">
                        <a:lnSpc>
                          <a:spcPct val="107000"/>
                        </a:lnSpc>
                        <a:spcAft>
                          <a:spcPts val="800"/>
                        </a:spcAft>
                      </a:pPr>
                      <a:r>
                        <a:rPr lang="en-US" sz="2000" dirty="0">
                          <a:effectLst/>
                        </a:rPr>
                        <a:t>n/</a:t>
                      </a:r>
                      <a:r>
                        <a:rPr lang="en-US" sz="1800" dirty="0">
                          <a:effectLst/>
                        </a:rPr>
                        <a:t>2</a:t>
                      </a:r>
                      <a:r>
                        <a:rPr lang="en-US" sz="1800" baseline="30000" dirty="0">
                          <a:effectLst/>
                        </a:rPr>
                        <a:t>0</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marL="0" algn="ctr" defTabSz="914400" rtl="0" eaLnBrk="1" latinLnBrk="0" hangingPunct="1">
                        <a:lnSpc>
                          <a:spcPct val="107000"/>
                        </a:lnSpc>
                        <a:spcAft>
                          <a:spcPts val="800"/>
                        </a:spcAft>
                      </a:pPr>
                      <a:r>
                        <a:rPr lang="en-US" sz="1800" kern="1200" dirty="0">
                          <a:solidFill>
                            <a:schemeClr val="dk1"/>
                          </a:solidFill>
                          <a:effectLst/>
                          <a:latin typeface="+mj-lt"/>
                          <a:ea typeface="+mn-ea"/>
                          <a:cs typeface="+mn-cs"/>
                        </a:rPr>
                        <a:t>1</a:t>
                      </a:r>
                      <a:endParaRPr lang="en-IN" sz="1800" kern="1200" dirty="0">
                        <a:solidFill>
                          <a:schemeClr val="dk1"/>
                        </a:solidFill>
                        <a:effectLst/>
                        <a:latin typeface="+mj-lt"/>
                        <a:ea typeface="+mn-ea"/>
                        <a:cs typeface="+mn-cs"/>
                      </a:endParaRPr>
                    </a:p>
                  </a:txBody>
                  <a:tcPr marL="19050" marR="19050" marT="19050" marB="19050" anchor="ctr"/>
                </a:tc>
                <a:extLst>
                  <a:ext uri="{0D108BD9-81ED-4DB2-BD59-A6C34878D82A}">
                    <a16:rowId xmlns:a16="http://schemas.microsoft.com/office/drawing/2014/main" val="1491984136"/>
                  </a:ext>
                </a:extLst>
              </a:tr>
              <a:tr h="385003">
                <a:tc>
                  <a:txBody>
                    <a:bodyPr/>
                    <a:lstStyle/>
                    <a:p>
                      <a:pPr algn="ctr">
                        <a:lnSpc>
                          <a:spcPct val="107000"/>
                        </a:lnSpc>
                        <a:spcAft>
                          <a:spcPts val="800"/>
                        </a:spcAft>
                      </a:pPr>
                      <a:r>
                        <a:rPr lang="en-US" sz="2000">
                          <a:effectLst/>
                        </a:rPr>
                        <a:t>2</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algn="ctr">
                        <a:lnSpc>
                          <a:spcPct val="107000"/>
                        </a:lnSpc>
                        <a:spcAft>
                          <a:spcPts val="800"/>
                        </a:spcAft>
                      </a:pPr>
                      <a:r>
                        <a:rPr lang="en-US" sz="2000" dirty="0">
                          <a:effectLst/>
                        </a:rPr>
                        <a:t>n/2</a:t>
                      </a:r>
                      <a:r>
                        <a:rPr lang="en-US" sz="2000" baseline="30000" dirty="0">
                          <a:effectLst/>
                        </a:rPr>
                        <a:t>1</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marL="0" algn="ctr" defTabSz="914400" rtl="0" eaLnBrk="1" latinLnBrk="0" hangingPunct="1">
                        <a:lnSpc>
                          <a:spcPct val="107000"/>
                        </a:lnSpc>
                        <a:spcAft>
                          <a:spcPts val="800"/>
                        </a:spcAft>
                      </a:pPr>
                      <a:r>
                        <a:rPr lang="en-US" sz="1800" kern="1200" dirty="0">
                          <a:solidFill>
                            <a:schemeClr val="dk1"/>
                          </a:solidFill>
                          <a:effectLst/>
                          <a:latin typeface="+mj-lt"/>
                          <a:ea typeface="+mn-ea"/>
                          <a:cs typeface="+mn-cs"/>
                        </a:rPr>
                        <a:t>1</a:t>
                      </a:r>
                      <a:endParaRPr lang="en-IN" sz="1800" kern="1200" dirty="0">
                        <a:solidFill>
                          <a:schemeClr val="dk1"/>
                        </a:solidFill>
                        <a:effectLst/>
                        <a:latin typeface="+mj-lt"/>
                        <a:ea typeface="+mn-ea"/>
                        <a:cs typeface="+mn-cs"/>
                      </a:endParaRPr>
                    </a:p>
                  </a:txBody>
                  <a:tcPr marL="19050" marR="19050" marT="19050" marB="19050" anchor="ctr"/>
                </a:tc>
                <a:extLst>
                  <a:ext uri="{0D108BD9-81ED-4DB2-BD59-A6C34878D82A}">
                    <a16:rowId xmlns:a16="http://schemas.microsoft.com/office/drawing/2014/main" val="1778400718"/>
                  </a:ext>
                </a:extLst>
              </a:tr>
              <a:tr h="385003">
                <a:tc>
                  <a:txBody>
                    <a:bodyPr/>
                    <a:lstStyle/>
                    <a:p>
                      <a:pPr algn="ctr">
                        <a:lnSpc>
                          <a:spcPct val="107000"/>
                        </a:lnSpc>
                        <a:spcAft>
                          <a:spcPts val="800"/>
                        </a:spcAft>
                      </a:pPr>
                      <a:r>
                        <a:rPr lang="en-US" sz="2000">
                          <a:effectLst/>
                        </a:rPr>
                        <a:t>3</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algn="ctr">
                        <a:lnSpc>
                          <a:spcPct val="107000"/>
                        </a:lnSpc>
                        <a:spcAft>
                          <a:spcPts val="800"/>
                        </a:spcAft>
                      </a:pPr>
                      <a:r>
                        <a:rPr lang="en-US" sz="2000" dirty="0">
                          <a:effectLst/>
                        </a:rPr>
                        <a:t>n/2</a:t>
                      </a:r>
                      <a:r>
                        <a:rPr lang="en-US" sz="2000" baseline="30000" dirty="0">
                          <a:effectLst/>
                        </a:rPr>
                        <a:t>2</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marL="0" algn="ctr" defTabSz="914400" rtl="0" eaLnBrk="1" latinLnBrk="0" hangingPunct="1">
                        <a:lnSpc>
                          <a:spcPct val="107000"/>
                        </a:lnSpc>
                        <a:spcAft>
                          <a:spcPts val="800"/>
                        </a:spcAft>
                      </a:pPr>
                      <a:r>
                        <a:rPr lang="en-US" sz="1800" kern="1200" dirty="0">
                          <a:solidFill>
                            <a:schemeClr val="dk1"/>
                          </a:solidFill>
                          <a:effectLst/>
                          <a:latin typeface="+mj-lt"/>
                          <a:ea typeface="+mn-ea"/>
                          <a:cs typeface="+mn-cs"/>
                        </a:rPr>
                        <a:t>1</a:t>
                      </a:r>
                      <a:endParaRPr lang="en-IN" sz="1800" kern="1200" dirty="0">
                        <a:solidFill>
                          <a:schemeClr val="dk1"/>
                        </a:solidFill>
                        <a:effectLst/>
                        <a:latin typeface="+mj-lt"/>
                        <a:ea typeface="+mn-ea"/>
                        <a:cs typeface="+mn-cs"/>
                      </a:endParaRPr>
                    </a:p>
                  </a:txBody>
                  <a:tcPr marL="19050" marR="19050" marT="19050" marB="19050" anchor="ctr"/>
                </a:tc>
                <a:extLst>
                  <a:ext uri="{0D108BD9-81ED-4DB2-BD59-A6C34878D82A}">
                    <a16:rowId xmlns:a16="http://schemas.microsoft.com/office/drawing/2014/main" val="1144086488"/>
                  </a:ext>
                </a:extLst>
              </a:tr>
              <a:tr h="385003">
                <a:tc>
                  <a:txBody>
                    <a:bodyPr/>
                    <a:lstStyle/>
                    <a:p>
                      <a:pPr algn="ctr">
                        <a:lnSpc>
                          <a:spcPct val="107000"/>
                        </a:lnSpc>
                        <a:spcAft>
                          <a:spcPts val="800"/>
                        </a:spcAft>
                      </a:pPr>
                      <a:r>
                        <a:rPr lang="en-US" sz="2000">
                          <a:effectLst/>
                        </a:rPr>
                        <a:t>k</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algn="ctr">
                        <a:lnSpc>
                          <a:spcPct val="107000"/>
                        </a:lnSpc>
                        <a:spcAft>
                          <a:spcPts val="800"/>
                        </a:spcAft>
                      </a:pPr>
                      <a:r>
                        <a:rPr lang="en-US" sz="2000" dirty="0">
                          <a:effectLst/>
                        </a:rPr>
                        <a:t>n/2</a:t>
                      </a:r>
                      <a:r>
                        <a:rPr lang="en-US" sz="2000" baseline="30000" dirty="0">
                          <a:effectLst/>
                        </a:rPr>
                        <a:t>k-1</a:t>
                      </a:r>
                      <a:r>
                        <a:rPr lang="en-US" sz="2000" dirty="0">
                          <a:effectLst/>
                        </a:rPr>
                        <a:t> = 1</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marL="0" algn="ctr" defTabSz="914400" rtl="0" eaLnBrk="1" latinLnBrk="0" hangingPunct="1">
                        <a:lnSpc>
                          <a:spcPct val="107000"/>
                        </a:lnSpc>
                        <a:spcAft>
                          <a:spcPts val="800"/>
                        </a:spcAft>
                      </a:pPr>
                      <a:r>
                        <a:rPr lang="en-US" sz="1800" kern="1200" dirty="0">
                          <a:solidFill>
                            <a:schemeClr val="dk1"/>
                          </a:solidFill>
                          <a:effectLst/>
                          <a:latin typeface="+mj-lt"/>
                          <a:ea typeface="+mn-ea"/>
                          <a:cs typeface="+mn-cs"/>
                        </a:rPr>
                        <a:t>1</a:t>
                      </a:r>
                      <a:endParaRPr lang="en-IN" sz="1800" kern="1200" dirty="0">
                        <a:solidFill>
                          <a:schemeClr val="dk1"/>
                        </a:solidFill>
                        <a:effectLst/>
                        <a:latin typeface="+mj-lt"/>
                        <a:ea typeface="+mn-ea"/>
                        <a:cs typeface="+mn-cs"/>
                      </a:endParaRPr>
                    </a:p>
                  </a:txBody>
                  <a:tcPr marL="19050" marR="19050" marT="19050" marB="19050" anchor="ctr"/>
                </a:tc>
                <a:extLst>
                  <a:ext uri="{0D108BD9-81ED-4DB2-BD59-A6C34878D82A}">
                    <a16:rowId xmlns:a16="http://schemas.microsoft.com/office/drawing/2014/main" val="638886886"/>
                  </a:ext>
                </a:extLst>
              </a:tr>
              <a:tr h="649129">
                <a:tc>
                  <a:txBody>
                    <a:bodyPr/>
                    <a:lstStyle/>
                    <a:p>
                      <a:pPr algn="ctr">
                        <a:lnSpc>
                          <a:spcPct val="107000"/>
                        </a:lnSpc>
                        <a:spcAft>
                          <a:spcPts val="800"/>
                        </a:spcAft>
                      </a:pPr>
                      <a:r>
                        <a:rPr lang="en-US" sz="2000">
                          <a:effectLst/>
                        </a:rPr>
                        <a:t>k+1</a:t>
                      </a:r>
                      <a:endParaRPr lang="en-IN" sz="180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algn="ctr">
                        <a:lnSpc>
                          <a:spcPct val="107000"/>
                        </a:lnSpc>
                        <a:spcAft>
                          <a:spcPts val="800"/>
                        </a:spcAft>
                      </a:pPr>
                      <a:r>
                        <a:rPr lang="en-US" sz="2000" dirty="0">
                          <a:effectLst/>
                        </a:rPr>
                        <a:t>n/2</a:t>
                      </a:r>
                      <a:r>
                        <a:rPr lang="en-US" sz="2000" baseline="30000" dirty="0">
                          <a:effectLst/>
                        </a:rPr>
                        <a:t>k</a:t>
                      </a:r>
                      <a:r>
                        <a:rPr lang="en-US" sz="2000" dirty="0">
                          <a:effectLst/>
                        </a:rPr>
                        <a:t> = 0</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txBody>
                  <a:tcPr marL="19050" marR="19050" marT="19050" marB="19050" anchor="ctr"/>
                </a:tc>
                <a:tc>
                  <a:txBody>
                    <a:bodyPr/>
                    <a:lstStyle/>
                    <a:p>
                      <a:pPr marL="0" algn="ctr" defTabSz="914400" rtl="0" eaLnBrk="1" latinLnBrk="0" hangingPunct="1">
                        <a:lnSpc>
                          <a:spcPct val="107000"/>
                        </a:lnSpc>
                        <a:spcAft>
                          <a:spcPts val="800"/>
                        </a:spcAft>
                      </a:pPr>
                      <a:r>
                        <a:rPr lang="en-US" sz="1800" kern="1200" dirty="0">
                          <a:solidFill>
                            <a:schemeClr val="dk1"/>
                          </a:solidFill>
                          <a:effectLst/>
                          <a:latin typeface="+mj-lt"/>
                          <a:ea typeface="+mn-ea"/>
                          <a:cs typeface="+mn-cs"/>
                        </a:rPr>
                        <a:t>0 </a:t>
                      </a:r>
                      <a:br>
                        <a:rPr lang="en-US" sz="1800" kern="1200" dirty="0">
                          <a:solidFill>
                            <a:schemeClr val="dk1"/>
                          </a:solidFill>
                          <a:effectLst/>
                          <a:latin typeface="+mj-lt"/>
                          <a:ea typeface="+mn-ea"/>
                          <a:cs typeface="+mn-cs"/>
                        </a:rPr>
                      </a:br>
                      <a:r>
                        <a:rPr lang="en-US" sz="1800" kern="1200" dirty="0">
                          <a:solidFill>
                            <a:schemeClr val="dk1"/>
                          </a:solidFill>
                          <a:effectLst/>
                          <a:latin typeface="+mj-lt"/>
                          <a:ea typeface="+mn-ea"/>
                          <a:cs typeface="+mn-cs"/>
                        </a:rPr>
                        <a:t>(loop not executed)</a:t>
                      </a:r>
                      <a:endParaRPr lang="en-IN" sz="1800" kern="1200" dirty="0">
                        <a:solidFill>
                          <a:schemeClr val="dk1"/>
                        </a:solidFill>
                        <a:effectLst/>
                        <a:latin typeface="+mj-lt"/>
                        <a:ea typeface="+mn-ea"/>
                        <a:cs typeface="+mn-cs"/>
                      </a:endParaRPr>
                    </a:p>
                  </a:txBody>
                  <a:tcPr marL="19050" marR="19050" marT="19050" marB="19050" anchor="ctr"/>
                </a:tc>
                <a:extLst>
                  <a:ext uri="{0D108BD9-81ED-4DB2-BD59-A6C34878D82A}">
                    <a16:rowId xmlns:a16="http://schemas.microsoft.com/office/drawing/2014/main" val="1433799462"/>
                  </a:ext>
                </a:extLst>
              </a:tr>
            </a:tbl>
          </a:graphicData>
        </a:graphic>
      </p:graphicFrame>
      <p:sp>
        <p:nvSpPr>
          <p:cNvPr id="6" name="TextBox 5">
            <a:extLst>
              <a:ext uri="{FF2B5EF4-FFF2-40B4-BE49-F238E27FC236}">
                <a16:creationId xmlns:a16="http://schemas.microsoft.com/office/drawing/2014/main" id="{F71C960C-7520-44D5-A699-2689AB2D5222}"/>
              </a:ext>
            </a:extLst>
          </p:cNvPr>
          <p:cNvSpPr txBox="1"/>
          <p:nvPr/>
        </p:nvSpPr>
        <p:spPr>
          <a:xfrm>
            <a:off x="7461986" y="4526385"/>
            <a:ext cx="3135429" cy="374077"/>
          </a:xfrm>
          <a:prstGeom prst="rect">
            <a:avLst/>
          </a:prstGeom>
          <a:noFill/>
        </p:spPr>
        <p:txBody>
          <a:bodyPr wrap="square">
            <a:spAutoFit/>
          </a:bodyPr>
          <a:lstStyle/>
          <a:p>
            <a:pPr marL="0" indent="0">
              <a:lnSpc>
                <a:spcPct val="107000"/>
              </a:lnSpc>
              <a:spcAft>
                <a:spcPts val="800"/>
              </a:spcAft>
              <a:buNone/>
            </a:pPr>
            <a:r>
              <a:rPr lang="en-US" sz="1800" b="1"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Complexity: O (log</a:t>
            </a:r>
            <a:r>
              <a:rPr lang="en-US" sz="1800" b="1" baseline="-25000"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2</a:t>
            </a:r>
            <a:r>
              <a:rPr lang="en-US" sz="1800" b="1" dirty="0">
                <a:solidFill>
                  <a:srgbClr val="000000"/>
                </a:solidFill>
                <a:effectLst/>
                <a:latin typeface="Times New Roman" panose="02020603050405020304" pitchFamily="18" charset="0"/>
                <a:ea typeface="Times New Roman" panose="02020603050405020304" pitchFamily="18" charset="0"/>
                <a:cs typeface="Shruti" panose="020B0502040204020203" pitchFamily="34" charset="0"/>
              </a:rPr>
              <a:t> n)</a:t>
            </a:r>
            <a:endParaRPr lang="en-IN" sz="1800" dirty="0">
              <a:effectLst/>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2161594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A1365-E16E-40A6-81F3-F0F239CE3985}"/>
              </a:ext>
            </a:extLst>
          </p:cNvPr>
          <p:cNvSpPr>
            <a:spLocks noGrp="1"/>
          </p:cNvSpPr>
          <p:nvPr>
            <p:ph type="title"/>
          </p:nvPr>
        </p:nvSpPr>
        <p:spPr/>
        <p:txBody>
          <a:bodyPr/>
          <a:lstStyle/>
          <a:p>
            <a:r>
              <a:rPr lang="en-IN" dirty="0"/>
              <a:t>Example Problem </a:t>
            </a:r>
          </a:p>
        </p:txBody>
      </p:sp>
      <p:sp>
        <p:nvSpPr>
          <p:cNvPr id="3" name="Text Placeholder 2">
            <a:extLst>
              <a:ext uri="{FF2B5EF4-FFF2-40B4-BE49-F238E27FC236}">
                <a16:creationId xmlns:a16="http://schemas.microsoft.com/office/drawing/2014/main" id="{C16AC5C5-E370-4795-B44D-6D3A9251750B}"/>
              </a:ext>
            </a:extLst>
          </p:cNvPr>
          <p:cNvSpPr>
            <a:spLocks noGrp="1"/>
          </p:cNvSpPr>
          <p:nvPr>
            <p:ph type="body" idx="1"/>
          </p:nvPr>
        </p:nvSpPr>
        <p:spPr/>
        <p:txBody>
          <a:bodyPr/>
          <a:lstStyle/>
          <a:p>
            <a:pPr marL="76200" indent="0">
              <a:buNone/>
            </a:pPr>
            <a:r>
              <a:rPr lang="en-US" dirty="0"/>
              <a:t>Given an array of n numbers, the task is to calculate the maximum subarray sum. The largest possible sum of a sequence of consecutive values in the array.</a:t>
            </a:r>
          </a:p>
          <a:p>
            <a:pPr marL="76200" indent="0">
              <a:buNone/>
            </a:pPr>
            <a:endParaRPr lang="en-IN" dirty="0"/>
          </a:p>
        </p:txBody>
      </p:sp>
      <p:pic>
        <p:nvPicPr>
          <p:cNvPr id="1026" name="Picture 2" descr="Lightbox">
            <a:extLst>
              <a:ext uri="{FF2B5EF4-FFF2-40B4-BE49-F238E27FC236}">
                <a16:creationId xmlns:a16="http://schemas.microsoft.com/office/drawing/2014/main" id="{00950599-BD22-4E67-AC10-1B8B305F8A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588" y="2457450"/>
            <a:ext cx="8020050" cy="194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1447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0B840-9195-4720-A2BC-C8F1B1D48F28}"/>
              </a:ext>
            </a:extLst>
          </p:cNvPr>
          <p:cNvSpPr>
            <a:spLocks noGrp="1"/>
          </p:cNvSpPr>
          <p:nvPr>
            <p:ph type="title"/>
          </p:nvPr>
        </p:nvSpPr>
        <p:spPr/>
        <p:txBody>
          <a:bodyPr/>
          <a:lstStyle/>
          <a:p>
            <a:r>
              <a:rPr lang="en-IN" dirty="0"/>
              <a:t>Approach 1</a:t>
            </a:r>
          </a:p>
        </p:txBody>
      </p:sp>
      <p:sp>
        <p:nvSpPr>
          <p:cNvPr id="4" name="Content Placeholder 2">
            <a:extLst>
              <a:ext uri="{FF2B5EF4-FFF2-40B4-BE49-F238E27FC236}">
                <a16:creationId xmlns:a16="http://schemas.microsoft.com/office/drawing/2014/main" id="{2ADF4B30-2152-4EAD-BA07-4F3C9341B9C0}"/>
              </a:ext>
            </a:extLst>
          </p:cNvPr>
          <p:cNvSpPr txBox="1">
            <a:spLocks/>
          </p:cNvSpPr>
          <p:nvPr/>
        </p:nvSpPr>
        <p:spPr>
          <a:xfrm>
            <a:off x="259706" y="940860"/>
            <a:ext cx="5546108" cy="5594694"/>
          </a:xfrm>
          <a:prstGeom prst="rect">
            <a:avLst/>
          </a:prstGeom>
          <a:noFill/>
          <a:ln>
            <a:noFill/>
          </a:ln>
        </p:spPr>
        <p:txBody>
          <a:bodyPr spcFirstLastPara="1" vert="horz" wrap="square" lIns="91425" tIns="45700" rIns="91425" bIns="45700" rtlCol="0" anchor="t" anchorCtr="0">
            <a:normAutofit fontScale="85000" lnSpcReduction="20000"/>
          </a:bodyPr>
          <a:lstStyle>
            <a:lvl1pPr marL="457200" lvl="0" indent="-381000" algn="just" defTabSz="914400" rtl="0" eaLnBrk="1" latinLnBrk="0" hangingPunct="1">
              <a:lnSpc>
                <a:spcPct val="90000"/>
              </a:lnSpc>
              <a:spcBef>
                <a:spcPts val="1000"/>
              </a:spcBef>
              <a:spcAft>
                <a:spcPts val="0"/>
              </a:spcAft>
              <a:buClr>
                <a:schemeClr val="accent6"/>
              </a:buClr>
              <a:buSzPts val="2400"/>
              <a:buFont typeface="Noto Sans Symbols"/>
              <a:buChar char="🞂"/>
              <a:defRPr sz="2400" kern="1200">
                <a:solidFill>
                  <a:schemeClr val="dk1"/>
                </a:solidFill>
                <a:latin typeface="+mn-lt"/>
                <a:ea typeface="+mn-ea"/>
                <a:cs typeface="+mn-cs"/>
              </a:defRPr>
            </a:lvl1pPr>
            <a:lvl2pPr marL="914400" lvl="1" indent="-355600" algn="just" defTabSz="914400" rtl="0" eaLnBrk="1" latinLnBrk="0" hangingPunct="1">
              <a:lnSpc>
                <a:spcPct val="90000"/>
              </a:lnSpc>
              <a:spcBef>
                <a:spcPts val="500"/>
              </a:spcBef>
              <a:spcAft>
                <a:spcPts val="0"/>
              </a:spcAft>
              <a:buClr>
                <a:schemeClr val="accent6"/>
              </a:buClr>
              <a:buSzPts val="2000"/>
              <a:buFont typeface="Noto Sans Symbols"/>
              <a:buChar char="⮩"/>
              <a:defRPr sz="2000" kern="1200">
                <a:solidFill>
                  <a:schemeClr val="dk1"/>
                </a:solidFill>
                <a:latin typeface="+mn-lt"/>
                <a:ea typeface="+mn-ea"/>
                <a:cs typeface="+mn-cs"/>
              </a:defRPr>
            </a:lvl2pPr>
            <a:lvl3pPr marL="1371600" lvl="2" indent="-342900" algn="just" defTabSz="914400" rtl="0" eaLnBrk="1" latinLnBrk="0" hangingPunct="1">
              <a:lnSpc>
                <a:spcPct val="90000"/>
              </a:lnSpc>
              <a:spcBef>
                <a:spcPts val="500"/>
              </a:spcBef>
              <a:spcAft>
                <a:spcPts val="0"/>
              </a:spcAft>
              <a:buClr>
                <a:schemeClr val="accent6"/>
              </a:buClr>
              <a:buSzPts val="1800"/>
              <a:buFont typeface="Noto Sans Symbols"/>
              <a:buChar char="▪"/>
              <a:defRPr sz="1800" kern="1200">
                <a:solidFill>
                  <a:schemeClr val="dk1"/>
                </a:solidFill>
                <a:latin typeface="+mn-lt"/>
                <a:ea typeface="+mn-ea"/>
                <a:cs typeface="+mn-cs"/>
              </a:defRPr>
            </a:lvl3pPr>
            <a:lvl4pPr marL="1828800" lvl="3" indent="-330200" algn="just" defTabSz="914400" rtl="0" eaLnBrk="1" latinLnBrk="0" hangingPunct="1">
              <a:lnSpc>
                <a:spcPct val="90000"/>
              </a:lnSpc>
              <a:spcBef>
                <a:spcPts val="500"/>
              </a:spcBef>
              <a:spcAft>
                <a:spcPts val="0"/>
              </a:spcAft>
              <a:buClr>
                <a:schemeClr val="accent6"/>
              </a:buClr>
              <a:buSzPts val="1600"/>
              <a:buFont typeface="Arial" panose="020B0604020202020204" pitchFamily="34" charset="0"/>
              <a:buChar char="•"/>
              <a:defRPr sz="1600" kern="1200">
                <a:solidFill>
                  <a:schemeClr val="dk1"/>
                </a:solidFill>
                <a:latin typeface="+mn-lt"/>
                <a:ea typeface="+mn-ea"/>
                <a:cs typeface="+mn-cs"/>
              </a:defRPr>
            </a:lvl4pPr>
            <a:lvl5pPr marL="2286000" lvl="4" indent="-330200" algn="just" defTabSz="914400" rtl="0" eaLnBrk="1" latinLnBrk="0" hangingPunct="1">
              <a:lnSpc>
                <a:spcPct val="90000"/>
              </a:lnSpc>
              <a:spcBef>
                <a:spcPts val="500"/>
              </a:spcBef>
              <a:spcAft>
                <a:spcPts val="0"/>
              </a:spcAft>
              <a:buClr>
                <a:schemeClr val="accent6"/>
              </a:buClr>
              <a:buSzPts val="1600"/>
              <a:buFont typeface="Arial" panose="020B0604020202020204" pitchFamily="34" charset="0"/>
              <a:buChar char="•"/>
              <a:defRPr sz="1600" kern="1200">
                <a:solidFill>
                  <a:schemeClr val="dk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buFont typeface="Noto Sans Symbols"/>
              <a:buNone/>
            </a:pPr>
            <a:r>
              <a:rPr lang="en-IN" dirty="0">
                <a:latin typeface="Bookman Old Style" panose="02050604050505020204" pitchFamily="18" charset="0"/>
              </a:rPr>
              <a:t>int </a:t>
            </a:r>
            <a:r>
              <a:rPr lang="en-IN" dirty="0" err="1">
                <a:latin typeface="Bookman Old Style" panose="02050604050505020204" pitchFamily="18" charset="0"/>
              </a:rPr>
              <a:t>subarray_sum</a:t>
            </a:r>
            <a:r>
              <a:rPr lang="en-IN" dirty="0">
                <a:latin typeface="Bookman Old Style" panose="02050604050505020204" pitchFamily="18" charset="0"/>
              </a:rPr>
              <a:t>(int </a:t>
            </a:r>
            <a:r>
              <a:rPr lang="en-IN" dirty="0" err="1">
                <a:latin typeface="Bookman Old Style" panose="02050604050505020204" pitchFamily="18" charset="0"/>
              </a:rPr>
              <a:t>nums</a:t>
            </a:r>
            <a:r>
              <a:rPr lang="en-IN" dirty="0">
                <a:latin typeface="Bookman Old Style" panose="02050604050505020204" pitchFamily="18" charset="0"/>
              </a:rPr>
              <a:t>[], int n)</a:t>
            </a:r>
          </a:p>
          <a:p>
            <a:pPr marL="0" indent="0">
              <a:buFont typeface="Noto Sans Symbols"/>
              <a:buNone/>
            </a:pPr>
            <a:r>
              <a:rPr lang="en-IN" dirty="0">
                <a:latin typeface="Bookman Old Style" panose="02050604050505020204" pitchFamily="18" charset="0"/>
              </a:rPr>
              <a:t>{</a:t>
            </a:r>
          </a:p>
          <a:p>
            <a:pPr marL="0" indent="0">
              <a:buFont typeface="Noto Sans Symbols"/>
              <a:buNone/>
            </a:pPr>
            <a:r>
              <a:rPr lang="en-IN" dirty="0">
                <a:latin typeface="Bookman Old Style" panose="02050604050505020204" pitchFamily="18" charset="0"/>
              </a:rPr>
              <a:t>    int max = 0; or -</a:t>
            </a:r>
            <a:r>
              <a:rPr lang="en-IN" dirty="0" err="1">
                <a:latin typeface="Bookman Old Style" panose="02050604050505020204" pitchFamily="18" charset="0"/>
              </a:rPr>
              <a:t>inifinity</a:t>
            </a:r>
            <a:endParaRPr lang="en-IN" dirty="0">
              <a:latin typeface="Bookman Old Style" panose="02050604050505020204" pitchFamily="18" charset="0"/>
            </a:endParaRPr>
          </a:p>
          <a:p>
            <a:pPr marL="0" indent="0">
              <a:buFont typeface="Noto Sans Symbols"/>
              <a:buNone/>
            </a:pPr>
            <a:r>
              <a:rPr lang="en-IN" dirty="0">
                <a:latin typeface="Bookman Old Style" panose="02050604050505020204" pitchFamily="18" charset="0"/>
              </a:rPr>
              <a:t>    </a:t>
            </a:r>
            <a:r>
              <a:rPr lang="en-IN" b="1" dirty="0">
                <a:solidFill>
                  <a:srgbClr val="FF0000"/>
                </a:solidFill>
                <a:latin typeface="Bookman Old Style" panose="02050604050505020204" pitchFamily="18" charset="0"/>
              </a:rPr>
              <a:t>for(int </a:t>
            </a:r>
            <a:r>
              <a:rPr lang="en-IN" b="1" dirty="0" err="1">
                <a:solidFill>
                  <a:srgbClr val="FF0000"/>
                </a:solidFill>
                <a:latin typeface="Bookman Old Style" panose="02050604050505020204" pitchFamily="18" charset="0"/>
              </a:rPr>
              <a:t>i</a:t>
            </a:r>
            <a:r>
              <a:rPr lang="en-IN" b="1" dirty="0">
                <a:solidFill>
                  <a:srgbClr val="FF0000"/>
                </a:solidFill>
                <a:latin typeface="Bookman Old Style" panose="02050604050505020204" pitchFamily="18" charset="0"/>
              </a:rPr>
              <a:t>=0;i&lt;</a:t>
            </a:r>
            <a:r>
              <a:rPr lang="en-IN" b="1" dirty="0" err="1">
                <a:solidFill>
                  <a:srgbClr val="FF0000"/>
                </a:solidFill>
                <a:latin typeface="Bookman Old Style" panose="02050604050505020204" pitchFamily="18" charset="0"/>
              </a:rPr>
              <a:t>n;i</a:t>
            </a:r>
            <a:r>
              <a:rPr lang="en-IN" b="1" dirty="0">
                <a:solidFill>
                  <a:srgbClr val="FF0000"/>
                </a:solidFill>
                <a:latin typeface="Bookman Old Style" panose="02050604050505020204" pitchFamily="18" charset="0"/>
              </a:rPr>
              <a:t>++)</a:t>
            </a:r>
          </a:p>
          <a:p>
            <a:pPr marL="0" indent="0">
              <a:buFont typeface="Noto Sans Symbols"/>
              <a:buNone/>
            </a:pPr>
            <a:r>
              <a:rPr lang="en-IN" dirty="0">
                <a:solidFill>
                  <a:srgbClr val="FF0000"/>
                </a:solidFill>
                <a:latin typeface="Bookman Old Style" panose="02050604050505020204" pitchFamily="18" charset="0"/>
              </a:rPr>
              <a:t>       {</a:t>
            </a:r>
          </a:p>
          <a:p>
            <a:pPr marL="0" indent="0">
              <a:buFont typeface="Noto Sans Symbols"/>
              <a:buNone/>
            </a:pPr>
            <a:r>
              <a:rPr lang="en-IN" b="1" dirty="0">
                <a:latin typeface="Bookman Old Style" panose="02050604050505020204" pitchFamily="18" charset="0"/>
              </a:rPr>
              <a:t>        </a:t>
            </a:r>
            <a:r>
              <a:rPr lang="en-IN" b="1" dirty="0">
                <a:solidFill>
                  <a:schemeClr val="tx2">
                    <a:lumMod val="60000"/>
                    <a:lumOff val="40000"/>
                  </a:schemeClr>
                </a:solidFill>
                <a:latin typeface="Bookman Old Style" panose="02050604050505020204" pitchFamily="18" charset="0"/>
              </a:rPr>
              <a:t>for(int j=</a:t>
            </a:r>
            <a:r>
              <a:rPr lang="en-IN" b="1" dirty="0" err="1">
                <a:solidFill>
                  <a:schemeClr val="tx2">
                    <a:lumMod val="60000"/>
                    <a:lumOff val="40000"/>
                  </a:schemeClr>
                </a:solidFill>
                <a:latin typeface="Bookman Old Style" panose="02050604050505020204" pitchFamily="18" charset="0"/>
              </a:rPr>
              <a:t>i;j</a:t>
            </a:r>
            <a:r>
              <a:rPr lang="en-IN" b="1" dirty="0">
                <a:solidFill>
                  <a:schemeClr val="tx2">
                    <a:lumMod val="60000"/>
                    <a:lumOff val="40000"/>
                  </a:schemeClr>
                </a:solidFill>
                <a:latin typeface="Bookman Old Style" panose="02050604050505020204" pitchFamily="18" charset="0"/>
              </a:rPr>
              <a:t>&lt;</a:t>
            </a:r>
            <a:r>
              <a:rPr lang="en-IN" b="1" dirty="0" err="1">
                <a:solidFill>
                  <a:schemeClr val="tx2">
                    <a:lumMod val="60000"/>
                    <a:lumOff val="40000"/>
                  </a:schemeClr>
                </a:solidFill>
                <a:latin typeface="Bookman Old Style" panose="02050604050505020204" pitchFamily="18" charset="0"/>
              </a:rPr>
              <a:t>n;j</a:t>
            </a:r>
            <a:r>
              <a:rPr lang="en-IN" b="1" dirty="0">
                <a:solidFill>
                  <a:schemeClr val="tx2">
                    <a:lumMod val="60000"/>
                    <a:lumOff val="40000"/>
                  </a:schemeClr>
                </a:solidFill>
                <a:latin typeface="Bookman Old Style" panose="02050604050505020204" pitchFamily="18" charset="0"/>
              </a:rPr>
              <a:t>++)</a:t>
            </a:r>
          </a:p>
          <a:p>
            <a:pPr marL="0" indent="0">
              <a:buFont typeface="Noto Sans Symbols"/>
              <a:buNone/>
            </a:pPr>
            <a:r>
              <a:rPr lang="en-IN" dirty="0">
                <a:solidFill>
                  <a:schemeClr val="accent5">
                    <a:lumMod val="60000"/>
                    <a:lumOff val="40000"/>
                  </a:schemeClr>
                </a:solidFill>
                <a:latin typeface="Bookman Old Style" panose="02050604050505020204" pitchFamily="18" charset="0"/>
              </a:rPr>
              <a:t>             {</a:t>
            </a:r>
          </a:p>
          <a:p>
            <a:pPr marL="0" indent="0">
              <a:buFont typeface="Noto Sans Symbols"/>
              <a:buNone/>
            </a:pPr>
            <a:r>
              <a:rPr lang="en-IN" dirty="0">
                <a:latin typeface="Bookman Old Style" panose="02050604050505020204" pitchFamily="18" charset="0"/>
              </a:rPr>
              <a:t>                  int sum=0;</a:t>
            </a:r>
          </a:p>
          <a:p>
            <a:pPr marL="0" indent="0">
              <a:buFont typeface="Noto Sans Symbols"/>
              <a:buNone/>
            </a:pPr>
            <a:r>
              <a:rPr lang="en-IN" b="1" dirty="0">
                <a:latin typeface="Bookman Old Style" panose="02050604050505020204" pitchFamily="18" charset="0"/>
              </a:rPr>
              <a:t>                       </a:t>
            </a:r>
            <a:r>
              <a:rPr lang="en-IN" b="1" dirty="0">
                <a:solidFill>
                  <a:schemeClr val="accent6">
                    <a:lumMod val="60000"/>
                    <a:lumOff val="40000"/>
                  </a:schemeClr>
                </a:solidFill>
                <a:latin typeface="Bookman Old Style" panose="02050604050505020204" pitchFamily="18" charset="0"/>
              </a:rPr>
              <a:t>for(int k=</a:t>
            </a:r>
            <a:r>
              <a:rPr lang="en-IN" b="1" dirty="0" err="1">
                <a:solidFill>
                  <a:schemeClr val="accent6">
                    <a:lumMod val="60000"/>
                    <a:lumOff val="40000"/>
                  </a:schemeClr>
                </a:solidFill>
                <a:latin typeface="Bookman Old Style" panose="02050604050505020204" pitchFamily="18" charset="0"/>
              </a:rPr>
              <a:t>i;k</a:t>
            </a:r>
            <a:r>
              <a:rPr lang="en-IN" b="1" dirty="0">
                <a:solidFill>
                  <a:schemeClr val="accent6">
                    <a:lumMod val="60000"/>
                    <a:lumOff val="40000"/>
                  </a:schemeClr>
                </a:solidFill>
                <a:latin typeface="Bookman Old Style" panose="02050604050505020204" pitchFamily="18" charset="0"/>
              </a:rPr>
              <a:t>&lt;=</a:t>
            </a:r>
            <a:r>
              <a:rPr lang="en-IN" b="1" dirty="0" err="1">
                <a:solidFill>
                  <a:schemeClr val="accent6">
                    <a:lumMod val="60000"/>
                    <a:lumOff val="40000"/>
                  </a:schemeClr>
                </a:solidFill>
                <a:latin typeface="Bookman Old Style" panose="02050604050505020204" pitchFamily="18" charset="0"/>
              </a:rPr>
              <a:t>j;k</a:t>
            </a:r>
            <a:r>
              <a:rPr lang="en-IN" b="1" dirty="0">
                <a:solidFill>
                  <a:schemeClr val="accent6">
                    <a:lumMod val="60000"/>
                    <a:lumOff val="40000"/>
                  </a:schemeClr>
                </a:solidFill>
                <a:latin typeface="Bookman Old Style" panose="02050604050505020204" pitchFamily="18" charset="0"/>
              </a:rPr>
              <a:t>++)</a:t>
            </a:r>
          </a:p>
          <a:p>
            <a:pPr marL="0" indent="0">
              <a:buFont typeface="Noto Sans Symbols"/>
              <a:buNone/>
            </a:pPr>
            <a:r>
              <a:rPr lang="en-IN" dirty="0">
                <a:latin typeface="Bookman Old Style" panose="02050604050505020204" pitchFamily="18" charset="0"/>
              </a:rPr>
              <a:t>                            sum+= </a:t>
            </a:r>
            <a:r>
              <a:rPr lang="en-IN" dirty="0" err="1">
                <a:latin typeface="Bookman Old Style" panose="02050604050505020204" pitchFamily="18" charset="0"/>
              </a:rPr>
              <a:t>nums</a:t>
            </a:r>
            <a:r>
              <a:rPr lang="en-IN" dirty="0">
                <a:latin typeface="Bookman Old Style" panose="02050604050505020204" pitchFamily="18" charset="0"/>
              </a:rPr>
              <a:t>[k];</a:t>
            </a:r>
          </a:p>
          <a:p>
            <a:pPr marL="0" indent="0">
              <a:buFont typeface="Noto Sans Symbols"/>
              <a:buNone/>
            </a:pPr>
            <a:r>
              <a:rPr lang="en-IN" dirty="0">
                <a:latin typeface="Bookman Old Style" panose="02050604050505020204" pitchFamily="18" charset="0"/>
              </a:rPr>
              <a:t>                  </a:t>
            </a:r>
            <a:r>
              <a:rPr lang="en-US" dirty="0">
                <a:latin typeface="Bookman Old Style" panose="02050604050505020204" pitchFamily="18" charset="0"/>
              </a:rPr>
              <a:t>if(sum&gt;max)</a:t>
            </a:r>
          </a:p>
          <a:p>
            <a:pPr marL="0" indent="0">
              <a:buFont typeface="Noto Sans Symbols"/>
              <a:buNone/>
            </a:pPr>
            <a:r>
              <a:rPr lang="en-US" dirty="0">
                <a:latin typeface="Bookman Old Style" panose="02050604050505020204" pitchFamily="18" charset="0"/>
              </a:rPr>
              <a:t>                       max = sum;</a:t>
            </a:r>
          </a:p>
          <a:p>
            <a:pPr marL="0" indent="0">
              <a:buFont typeface="Noto Sans Symbols"/>
              <a:buNone/>
            </a:pPr>
            <a:r>
              <a:rPr lang="en-IN" dirty="0">
                <a:latin typeface="Bookman Old Style" panose="02050604050505020204" pitchFamily="18" charset="0"/>
              </a:rPr>
              <a:t>            }</a:t>
            </a:r>
          </a:p>
          <a:p>
            <a:pPr marL="0" indent="0">
              <a:buFont typeface="Noto Sans Symbols"/>
              <a:buNone/>
            </a:pPr>
            <a:r>
              <a:rPr lang="en-IN" dirty="0">
                <a:latin typeface="Bookman Old Style" panose="02050604050505020204" pitchFamily="18" charset="0"/>
              </a:rPr>
              <a:t>      }</a:t>
            </a:r>
          </a:p>
          <a:p>
            <a:pPr marL="0" indent="0">
              <a:buFont typeface="Noto Sans Symbols"/>
              <a:buNone/>
            </a:pPr>
            <a:r>
              <a:rPr lang="en-IN" dirty="0">
                <a:latin typeface="Bookman Old Style" panose="02050604050505020204" pitchFamily="18" charset="0"/>
              </a:rPr>
              <a:t>    return </a:t>
            </a:r>
            <a:r>
              <a:rPr lang="en-IN" dirty="0" err="1">
                <a:latin typeface="Bookman Old Style" panose="02050604050505020204" pitchFamily="18" charset="0"/>
              </a:rPr>
              <a:t>ans</a:t>
            </a:r>
            <a:r>
              <a:rPr lang="en-IN" dirty="0">
                <a:latin typeface="Bookman Old Style" panose="02050604050505020204" pitchFamily="18" charset="0"/>
              </a:rPr>
              <a:t>;</a:t>
            </a:r>
          </a:p>
          <a:p>
            <a:pPr marL="0" indent="0">
              <a:buFont typeface="Noto Sans Symbols"/>
              <a:buNone/>
            </a:pPr>
            <a:r>
              <a:rPr lang="en-IN" dirty="0">
                <a:latin typeface="Bookman Old Style" panose="02050604050505020204" pitchFamily="18" charset="0"/>
              </a:rPr>
              <a:t>}</a:t>
            </a:r>
          </a:p>
          <a:p>
            <a:pPr marL="0" indent="0">
              <a:buFont typeface="Noto Sans Symbols"/>
              <a:buNone/>
            </a:pPr>
            <a:endParaRPr lang="en-IN" dirty="0"/>
          </a:p>
        </p:txBody>
      </p:sp>
      <p:sp>
        <p:nvSpPr>
          <p:cNvPr id="6" name="TextBox 5">
            <a:extLst>
              <a:ext uri="{FF2B5EF4-FFF2-40B4-BE49-F238E27FC236}">
                <a16:creationId xmlns:a16="http://schemas.microsoft.com/office/drawing/2014/main" id="{72A53CC5-535A-40BA-A833-8A76FE2258EE}"/>
              </a:ext>
            </a:extLst>
          </p:cNvPr>
          <p:cNvSpPr txBox="1"/>
          <p:nvPr/>
        </p:nvSpPr>
        <p:spPr>
          <a:xfrm>
            <a:off x="5805814" y="940860"/>
            <a:ext cx="6126480" cy="461665"/>
          </a:xfrm>
          <a:prstGeom prst="rect">
            <a:avLst/>
          </a:prstGeom>
          <a:noFill/>
        </p:spPr>
        <p:txBody>
          <a:bodyPr wrap="square">
            <a:spAutoFit/>
          </a:bodyPr>
          <a:lstStyle/>
          <a:p>
            <a:pPr marL="285750" indent="-285750">
              <a:buFont typeface="Arial" panose="020B0604020202020204" pitchFamily="34" charset="0"/>
              <a:buChar char="•"/>
            </a:pPr>
            <a:r>
              <a:rPr lang="en-IN" sz="2400" b="1" dirty="0">
                <a:solidFill>
                  <a:srgbClr val="FF0000"/>
                </a:solidFill>
              </a:rPr>
              <a:t>Complexity O(n</a:t>
            </a:r>
            <a:r>
              <a:rPr lang="en-IN" sz="2400" b="1" baseline="30000" dirty="0">
                <a:solidFill>
                  <a:srgbClr val="FF0000"/>
                </a:solidFill>
              </a:rPr>
              <a:t>3</a:t>
            </a:r>
            <a:r>
              <a:rPr lang="en-IN" sz="2400" b="1" dirty="0">
                <a:solidFill>
                  <a:srgbClr val="FF0000"/>
                </a:solidFill>
              </a:rPr>
              <a:t>)</a:t>
            </a:r>
          </a:p>
        </p:txBody>
      </p:sp>
    </p:spTree>
    <p:extLst>
      <p:ext uri="{BB962C8B-B14F-4D97-AF65-F5344CB8AC3E}">
        <p14:creationId xmlns:p14="http://schemas.microsoft.com/office/powerpoint/2010/main" val="1551638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BA29-A64E-47C5-AC38-9BBC367644C7}"/>
              </a:ext>
            </a:extLst>
          </p:cNvPr>
          <p:cNvSpPr>
            <a:spLocks noGrp="1"/>
          </p:cNvSpPr>
          <p:nvPr>
            <p:ph type="title"/>
          </p:nvPr>
        </p:nvSpPr>
        <p:spPr/>
        <p:txBody>
          <a:bodyPr/>
          <a:lstStyle/>
          <a:p>
            <a:r>
              <a:rPr lang="en-IN" dirty="0"/>
              <a:t>Approach 2</a:t>
            </a:r>
          </a:p>
        </p:txBody>
      </p:sp>
      <p:sp>
        <p:nvSpPr>
          <p:cNvPr id="4" name="Content Placeholder 2">
            <a:extLst>
              <a:ext uri="{FF2B5EF4-FFF2-40B4-BE49-F238E27FC236}">
                <a16:creationId xmlns:a16="http://schemas.microsoft.com/office/drawing/2014/main" id="{5F372DC6-5C54-4AD9-88ED-F1180234AF03}"/>
              </a:ext>
            </a:extLst>
          </p:cNvPr>
          <p:cNvSpPr txBox="1">
            <a:spLocks/>
          </p:cNvSpPr>
          <p:nvPr/>
        </p:nvSpPr>
        <p:spPr>
          <a:xfrm>
            <a:off x="84512" y="632074"/>
            <a:ext cx="5857484" cy="6048578"/>
          </a:xfrm>
          <a:prstGeom prst="rect">
            <a:avLst/>
          </a:prstGeom>
          <a:noFill/>
          <a:ln>
            <a:noFill/>
          </a:ln>
        </p:spPr>
        <p:txBody>
          <a:bodyPr spcFirstLastPara="1" vert="horz" wrap="square" lIns="91425" tIns="45700" rIns="91425" bIns="45700" rtlCol="0" anchor="t" anchorCtr="0">
            <a:normAutofit fontScale="92500" lnSpcReduction="10000"/>
          </a:bodyPr>
          <a:lstStyle>
            <a:lvl1pPr marL="457200" lvl="0" indent="-381000" algn="just" defTabSz="914400" rtl="0" eaLnBrk="1" latinLnBrk="0" hangingPunct="1">
              <a:lnSpc>
                <a:spcPct val="90000"/>
              </a:lnSpc>
              <a:spcBef>
                <a:spcPts val="1000"/>
              </a:spcBef>
              <a:spcAft>
                <a:spcPts val="0"/>
              </a:spcAft>
              <a:buClr>
                <a:schemeClr val="accent6"/>
              </a:buClr>
              <a:buSzPts val="2400"/>
              <a:buFont typeface="Noto Sans Symbols"/>
              <a:buChar char="🞂"/>
              <a:defRPr sz="2400" kern="1200">
                <a:solidFill>
                  <a:schemeClr val="dk1"/>
                </a:solidFill>
                <a:latin typeface="+mn-lt"/>
                <a:ea typeface="+mn-ea"/>
                <a:cs typeface="+mn-cs"/>
              </a:defRPr>
            </a:lvl1pPr>
            <a:lvl2pPr marL="914400" lvl="1" indent="-355600" algn="just" defTabSz="914400" rtl="0" eaLnBrk="1" latinLnBrk="0" hangingPunct="1">
              <a:lnSpc>
                <a:spcPct val="90000"/>
              </a:lnSpc>
              <a:spcBef>
                <a:spcPts val="500"/>
              </a:spcBef>
              <a:spcAft>
                <a:spcPts val="0"/>
              </a:spcAft>
              <a:buClr>
                <a:schemeClr val="accent6"/>
              </a:buClr>
              <a:buSzPts val="2000"/>
              <a:buFont typeface="Noto Sans Symbols"/>
              <a:buChar char="⮩"/>
              <a:defRPr sz="2000" kern="1200">
                <a:solidFill>
                  <a:schemeClr val="dk1"/>
                </a:solidFill>
                <a:latin typeface="+mn-lt"/>
                <a:ea typeface="+mn-ea"/>
                <a:cs typeface="+mn-cs"/>
              </a:defRPr>
            </a:lvl2pPr>
            <a:lvl3pPr marL="1371600" lvl="2" indent="-342900" algn="just" defTabSz="914400" rtl="0" eaLnBrk="1" latinLnBrk="0" hangingPunct="1">
              <a:lnSpc>
                <a:spcPct val="90000"/>
              </a:lnSpc>
              <a:spcBef>
                <a:spcPts val="500"/>
              </a:spcBef>
              <a:spcAft>
                <a:spcPts val="0"/>
              </a:spcAft>
              <a:buClr>
                <a:schemeClr val="accent6"/>
              </a:buClr>
              <a:buSzPts val="1800"/>
              <a:buFont typeface="Noto Sans Symbols"/>
              <a:buChar char="▪"/>
              <a:defRPr sz="1800" kern="1200">
                <a:solidFill>
                  <a:schemeClr val="dk1"/>
                </a:solidFill>
                <a:latin typeface="+mn-lt"/>
                <a:ea typeface="+mn-ea"/>
                <a:cs typeface="+mn-cs"/>
              </a:defRPr>
            </a:lvl3pPr>
            <a:lvl4pPr marL="1828800" lvl="3" indent="-330200" algn="just" defTabSz="914400" rtl="0" eaLnBrk="1" latinLnBrk="0" hangingPunct="1">
              <a:lnSpc>
                <a:spcPct val="90000"/>
              </a:lnSpc>
              <a:spcBef>
                <a:spcPts val="500"/>
              </a:spcBef>
              <a:spcAft>
                <a:spcPts val="0"/>
              </a:spcAft>
              <a:buClr>
                <a:schemeClr val="accent6"/>
              </a:buClr>
              <a:buSzPts val="1600"/>
              <a:buFont typeface="Arial" panose="020B0604020202020204" pitchFamily="34" charset="0"/>
              <a:buChar char="•"/>
              <a:defRPr sz="1600" kern="1200">
                <a:solidFill>
                  <a:schemeClr val="dk1"/>
                </a:solidFill>
                <a:latin typeface="+mn-lt"/>
                <a:ea typeface="+mn-ea"/>
                <a:cs typeface="+mn-cs"/>
              </a:defRPr>
            </a:lvl4pPr>
            <a:lvl5pPr marL="2286000" lvl="4" indent="-330200" algn="just" defTabSz="914400" rtl="0" eaLnBrk="1" latinLnBrk="0" hangingPunct="1">
              <a:lnSpc>
                <a:spcPct val="90000"/>
              </a:lnSpc>
              <a:spcBef>
                <a:spcPts val="500"/>
              </a:spcBef>
              <a:spcAft>
                <a:spcPts val="0"/>
              </a:spcAft>
              <a:buClr>
                <a:schemeClr val="accent6"/>
              </a:buClr>
              <a:buSzPts val="1600"/>
              <a:buFont typeface="Arial" panose="020B0604020202020204" pitchFamily="34" charset="0"/>
              <a:buChar char="•"/>
              <a:defRPr sz="1600" kern="1200">
                <a:solidFill>
                  <a:schemeClr val="dk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buFont typeface="Noto Sans Symbols"/>
              <a:buNone/>
            </a:pPr>
            <a:r>
              <a:rPr lang="en-US" dirty="0">
                <a:latin typeface="Bookman Old Style" panose="02050604050505020204" pitchFamily="18" charset="0"/>
              </a:rPr>
              <a:t>int subarray_sum2(int </a:t>
            </a:r>
            <a:r>
              <a:rPr lang="en-IN" dirty="0" err="1">
                <a:latin typeface="Bookman Old Style" panose="02050604050505020204" pitchFamily="18" charset="0"/>
              </a:rPr>
              <a:t>nums</a:t>
            </a:r>
            <a:r>
              <a:rPr lang="en-US" dirty="0">
                <a:latin typeface="Bookman Old Style" panose="02050604050505020204" pitchFamily="18" charset="0"/>
              </a:rPr>
              <a:t>[], int n)</a:t>
            </a:r>
          </a:p>
          <a:p>
            <a:pPr marL="0" indent="0">
              <a:buFont typeface="Noto Sans Symbols"/>
              <a:buNone/>
            </a:pPr>
            <a:r>
              <a:rPr lang="en-US" dirty="0">
                <a:latin typeface="Bookman Old Style" panose="02050604050505020204" pitchFamily="18" charset="0"/>
              </a:rPr>
              <a:t>{</a:t>
            </a:r>
          </a:p>
          <a:p>
            <a:pPr marL="0" indent="0">
              <a:buFont typeface="Noto Sans Symbols"/>
              <a:buNone/>
            </a:pPr>
            <a:r>
              <a:rPr lang="en-US" dirty="0">
                <a:latin typeface="Bookman Old Style" panose="02050604050505020204" pitchFamily="18" charset="0"/>
              </a:rPr>
              <a:t>    int max=0;</a:t>
            </a:r>
          </a:p>
          <a:p>
            <a:pPr marL="0" indent="0">
              <a:buFont typeface="Noto Sans Symbols"/>
              <a:buNone/>
            </a:pPr>
            <a:r>
              <a:rPr lang="en-US" dirty="0">
                <a:solidFill>
                  <a:srgbClr val="FF0000"/>
                </a:solidFill>
                <a:latin typeface="Bookman Old Style" panose="02050604050505020204" pitchFamily="18" charset="0"/>
              </a:rPr>
              <a:t>    </a:t>
            </a:r>
            <a:r>
              <a:rPr lang="en-US" b="1" dirty="0">
                <a:solidFill>
                  <a:srgbClr val="FF0000"/>
                </a:solidFill>
                <a:latin typeface="Bookman Old Style" panose="02050604050505020204" pitchFamily="18" charset="0"/>
              </a:rPr>
              <a:t>for(int </a:t>
            </a:r>
            <a:r>
              <a:rPr lang="en-US" b="1" dirty="0" err="1">
                <a:solidFill>
                  <a:srgbClr val="FF0000"/>
                </a:solidFill>
                <a:latin typeface="Bookman Old Style" panose="02050604050505020204" pitchFamily="18" charset="0"/>
              </a:rPr>
              <a:t>i</a:t>
            </a:r>
            <a:r>
              <a:rPr lang="en-US" b="1" dirty="0">
                <a:solidFill>
                  <a:srgbClr val="FF0000"/>
                </a:solidFill>
                <a:latin typeface="Bookman Old Style" panose="02050604050505020204" pitchFamily="18" charset="0"/>
              </a:rPr>
              <a:t>=0;i&lt;</a:t>
            </a:r>
            <a:r>
              <a:rPr lang="en-US" b="1" dirty="0" err="1">
                <a:solidFill>
                  <a:srgbClr val="FF0000"/>
                </a:solidFill>
                <a:latin typeface="Bookman Old Style" panose="02050604050505020204" pitchFamily="18" charset="0"/>
              </a:rPr>
              <a:t>n;i</a:t>
            </a:r>
            <a:r>
              <a:rPr lang="en-US" b="1" dirty="0">
                <a:solidFill>
                  <a:srgbClr val="FF0000"/>
                </a:solidFill>
                <a:latin typeface="Bookman Old Style" panose="02050604050505020204" pitchFamily="18" charset="0"/>
              </a:rPr>
              <a:t>++)</a:t>
            </a:r>
          </a:p>
          <a:p>
            <a:pPr marL="0" indent="0">
              <a:buFont typeface="Noto Sans Symbols"/>
              <a:buNone/>
            </a:pPr>
            <a:r>
              <a:rPr lang="en-US" dirty="0">
                <a:solidFill>
                  <a:srgbClr val="FF0000"/>
                </a:solidFill>
                <a:latin typeface="Bookman Old Style" panose="02050604050505020204" pitchFamily="18" charset="0"/>
              </a:rPr>
              <a:t>      {</a:t>
            </a:r>
          </a:p>
          <a:p>
            <a:pPr marL="0" indent="0">
              <a:buFont typeface="Noto Sans Symbols"/>
              <a:buNone/>
            </a:pPr>
            <a:r>
              <a:rPr lang="en-US" dirty="0">
                <a:latin typeface="Bookman Old Style" panose="02050604050505020204" pitchFamily="18" charset="0"/>
              </a:rPr>
              <a:t>        int sum=0;</a:t>
            </a:r>
          </a:p>
          <a:p>
            <a:pPr marL="0" indent="0">
              <a:buFont typeface="Noto Sans Symbols"/>
              <a:buNone/>
            </a:pPr>
            <a:r>
              <a:rPr lang="en-US" dirty="0">
                <a:solidFill>
                  <a:schemeClr val="accent6">
                    <a:lumMod val="60000"/>
                    <a:lumOff val="40000"/>
                  </a:schemeClr>
                </a:solidFill>
                <a:latin typeface="Bookman Old Style" panose="02050604050505020204" pitchFamily="18" charset="0"/>
              </a:rPr>
              <a:t>        </a:t>
            </a:r>
            <a:r>
              <a:rPr lang="en-US" b="1" dirty="0">
                <a:solidFill>
                  <a:schemeClr val="accent6">
                    <a:lumMod val="60000"/>
                    <a:lumOff val="40000"/>
                  </a:schemeClr>
                </a:solidFill>
                <a:latin typeface="Bookman Old Style" panose="02050604050505020204" pitchFamily="18" charset="0"/>
              </a:rPr>
              <a:t>for(int j=</a:t>
            </a:r>
            <a:r>
              <a:rPr lang="en-US" b="1" dirty="0" err="1">
                <a:solidFill>
                  <a:schemeClr val="accent6">
                    <a:lumMod val="60000"/>
                    <a:lumOff val="40000"/>
                  </a:schemeClr>
                </a:solidFill>
                <a:latin typeface="Bookman Old Style" panose="02050604050505020204" pitchFamily="18" charset="0"/>
              </a:rPr>
              <a:t>i;j</a:t>
            </a:r>
            <a:r>
              <a:rPr lang="en-US" b="1" dirty="0">
                <a:solidFill>
                  <a:schemeClr val="accent6">
                    <a:lumMod val="60000"/>
                    <a:lumOff val="40000"/>
                  </a:schemeClr>
                </a:solidFill>
                <a:latin typeface="Bookman Old Style" panose="02050604050505020204" pitchFamily="18" charset="0"/>
              </a:rPr>
              <a:t>&lt;</a:t>
            </a:r>
            <a:r>
              <a:rPr lang="en-US" b="1" dirty="0" err="1">
                <a:solidFill>
                  <a:schemeClr val="accent6">
                    <a:lumMod val="60000"/>
                    <a:lumOff val="40000"/>
                  </a:schemeClr>
                </a:solidFill>
                <a:latin typeface="Bookman Old Style" panose="02050604050505020204" pitchFamily="18" charset="0"/>
              </a:rPr>
              <a:t>n;j</a:t>
            </a:r>
            <a:r>
              <a:rPr lang="en-US" b="1" dirty="0">
                <a:solidFill>
                  <a:schemeClr val="accent6">
                    <a:lumMod val="60000"/>
                    <a:lumOff val="40000"/>
                  </a:schemeClr>
                </a:solidFill>
                <a:latin typeface="Bookman Old Style" panose="02050604050505020204" pitchFamily="18" charset="0"/>
              </a:rPr>
              <a:t>++)</a:t>
            </a:r>
          </a:p>
          <a:p>
            <a:pPr marL="0" indent="0">
              <a:buFont typeface="Noto Sans Symbols"/>
              <a:buNone/>
            </a:pPr>
            <a:r>
              <a:rPr lang="en-US" dirty="0">
                <a:solidFill>
                  <a:schemeClr val="accent6">
                    <a:lumMod val="60000"/>
                    <a:lumOff val="40000"/>
                  </a:schemeClr>
                </a:solidFill>
                <a:latin typeface="Bookman Old Style" panose="02050604050505020204" pitchFamily="18" charset="0"/>
              </a:rPr>
              <a:t>            {</a:t>
            </a:r>
          </a:p>
          <a:p>
            <a:pPr marL="0" indent="0">
              <a:buFont typeface="Noto Sans Symbols"/>
              <a:buNone/>
            </a:pPr>
            <a:r>
              <a:rPr lang="en-US" dirty="0">
                <a:latin typeface="Bookman Old Style" panose="02050604050505020204" pitchFamily="18" charset="0"/>
              </a:rPr>
              <a:t>                   sum+=</a:t>
            </a:r>
            <a:r>
              <a:rPr lang="en-IN" dirty="0">
                <a:latin typeface="Bookman Old Style" panose="02050604050505020204" pitchFamily="18" charset="0"/>
              </a:rPr>
              <a:t> </a:t>
            </a:r>
            <a:r>
              <a:rPr lang="en-IN" dirty="0" err="1">
                <a:latin typeface="Bookman Old Style" panose="02050604050505020204" pitchFamily="18" charset="0"/>
              </a:rPr>
              <a:t>nums</a:t>
            </a:r>
            <a:r>
              <a:rPr lang="en-US" dirty="0">
                <a:latin typeface="Bookman Old Style" panose="02050604050505020204" pitchFamily="18" charset="0"/>
              </a:rPr>
              <a:t>[j];</a:t>
            </a:r>
          </a:p>
          <a:p>
            <a:pPr marL="0" indent="0">
              <a:buFont typeface="Noto Sans Symbols"/>
              <a:buNone/>
            </a:pPr>
            <a:r>
              <a:rPr lang="en-US" dirty="0">
                <a:latin typeface="Bookman Old Style" panose="02050604050505020204" pitchFamily="18" charset="0"/>
              </a:rPr>
              <a:t>                   if(sum&gt;max)</a:t>
            </a:r>
          </a:p>
          <a:p>
            <a:pPr marL="0" indent="0">
              <a:buFont typeface="Noto Sans Symbols"/>
              <a:buNone/>
            </a:pPr>
            <a:r>
              <a:rPr lang="en-US" dirty="0">
                <a:latin typeface="Bookman Old Style" panose="02050604050505020204" pitchFamily="18" charset="0"/>
              </a:rPr>
              <a:t>                        max = sum;</a:t>
            </a:r>
          </a:p>
          <a:p>
            <a:pPr marL="0" indent="0">
              <a:buFont typeface="Noto Sans Symbols"/>
              <a:buNone/>
            </a:pPr>
            <a:r>
              <a:rPr lang="en-US" dirty="0">
                <a:latin typeface="Bookman Old Style" panose="02050604050505020204" pitchFamily="18" charset="0"/>
              </a:rPr>
              <a:t>           }</a:t>
            </a:r>
          </a:p>
          <a:p>
            <a:pPr marL="0" indent="0">
              <a:buFont typeface="Noto Sans Symbols"/>
              <a:buNone/>
            </a:pPr>
            <a:r>
              <a:rPr lang="en-US" dirty="0">
                <a:latin typeface="Bookman Old Style" panose="02050604050505020204" pitchFamily="18" charset="0"/>
              </a:rPr>
              <a:t>    }</a:t>
            </a:r>
          </a:p>
          <a:p>
            <a:pPr marL="0" indent="0">
              <a:buFont typeface="Noto Sans Symbols"/>
              <a:buNone/>
            </a:pPr>
            <a:r>
              <a:rPr lang="en-US" dirty="0">
                <a:latin typeface="Bookman Old Style" panose="02050604050505020204" pitchFamily="18" charset="0"/>
              </a:rPr>
              <a:t>    return </a:t>
            </a:r>
            <a:r>
              <a:rPr lang="en-US" dirty="0" err="1">
                <a:latin typeface="Bookman Old Style" panose="02050604050505020204" pitchFamily="18" charset="0"/>
              </a:rPr>
              <a:t>ans</a:t>
            </a:r>
            <a:r>
              <a:rPr lang="en-US" dirty="0">
                <a:latin typeface="Bookman Old Style" panose="02050604050505020204" pitchFamily="18" charset="0"/>
              </a:rPr>
              <a:t>;</a:t>
            </a:r>
          </a:p>
          <a:p>
            <a:pPr marL="0" indent="0">
              <a:buFont typeface="Noto Sans Symbols"/>
              <a:buNone/>
            </a:pPr>
            <a:r>
              <a:rPr lang="en-US" dirty="0">
                <a:latin typeface="Bookman Old Style" panose="02050604050505020204" pitchFamily="18" charset="0"/>
              </a:rPr>
              <a:t>}</a:t>
            </a:r>
          </a:p>
          <a:p>
            <a:pPr marL="0" indent="0">
              <a:buFont typeface="Noto Sans Symbols"/>
              <a:buNone/>
            </a:pPr>
            <a:endParaRPr lang="en-IN" dirty="0"/>
          </a:p>
          <a:p>
            <a:pPr marL="0" indent="0">
              <a:buFont typeface="Noto Sans Symbols"/>
              <a:buNone/>
            </a:pPr>
            <a:endParaRPr lang="en-IN" b="1" dirty="0"/>
          </a:p>
        </p:txBody>
      </p:sp>
      <p:sp>
        <p:nvSpPr>
          <p:cNvPr id="6" name="TextBox 5">
            <a:extLst>
              <a:ext uri="{FF2B5EF4-FFF2-40B4-BE49-F238E27FC236}">
                <a16:creationId xmlns:a16="http://schemas.microsoft.com/office/drawing/2014/main" id="{6DB227C8-65D3-482A-9F96-3BD279898C51}"/>
              </a:ext>
            </a:extLst>
          </p:cNvPr>
          <p:cNvSpPr txBox="1"/>
          <p:nvPr/>
        </p:nvSpPr>
        <p:spPr>
          <a:xfrm>
            <a:off x="5681312" y="979821"/>
            <a:ext cx="6126480" cy="461665"/>
          </a:xfrm>
          <a:prstGeom prst="rect">
            <a:avLst/>
          </a:prstGeom>
          <a:noFill/>
        </p:spPr>
        <p:txBody>
          <a:bodyPr wrap="square">
            <a:spAutoFit/>
          </a:bodyPr>
          <a:lstStyle/>
          <a:p>
            <a:pPr marL="285750" indent="-285750">
              <a:buFont typeface="Arial" panose="020B0604020202020204" pitchFamily="34" charset="0"/>
              <a:buChar char="•"/>
            </a:pPr>
            <a:r>
              <a:rPr lang="en-IN" sz="2400" b="1" dirty="0">
                <a:solidFill>
                  <a:srgbClr val="FF0000"/>
                </a:solidFill>
              </a:rPr>
              <a:t>Complexity O(n</a:t>
            </a:r>
            <a:r>
              <a:rPr lang="en-IN" sz="2400" b="1" baseline="30000" dirty="0">
                <a:solidFill>
                  <a:srgbClr val="FF0000"/>
                </a:solidFill>
              </a:rPr>
              <a:t>2</a:t>
            </a:r>
            <a:r>
              <a:rPr lang="en-IN" sz="2400" b="1" dirty="0">
                <a:solidFill>
                  <a:srgbClr val="FF0000"/>
                </a:solidFill>
              </a:rPr>
              <a:t>)</a:t>
            </a:r>
          </a:p>
        </p:txBody>
      </p:sp>
    </p:spTree>
    <p:extLst>
      <p:ext uri="{BB962C8B-B14F-4D97-AF65-F5344CB8AC3E}">
        <p14:creationId xmlns:p14="http://schemas.microsoft.com/office/powerpoint/2010/main" val="1812922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ECCD2-298C-4EF1-8433-2FF007DBD7C0}"/>
              </a:ext>
            </a:extLst>
          </p:cNvPr>
          <p:cNvSpPr>
            <a:spLocks noGrp="1"/>
          </p:cNvSpPr>
          <p:nvPr>
            <p:ph type="title"/>
          </p:nvPr>
        </p:nvSpPr>
        <p:spPr/>
        <p:txBody>
          <a:bodyPr/>
          <a:lstStyle/>
          <a:p>
            <a:r>
              <a:rPr lang="en-IN" dirty="0"/>
              <a:t>Approach 3</a:t>
            </a:r>
          </a:p>
        </p:txBody>
      </p:sp>
      <p:sp>
        <p:nvSpPr>
          <p:cNvPr id="4" name="Content Placeholder 2">
            <a:extLst>
              <a:ext uri="{FF2B5EF4-FFF2-40B4-BE49-F238E27FC236}">
                <a16:creationId xmlns:a16="http://schemas.microsoft.com/office/drawing/2014/main" id="{4696ED9A-AC4A-4CE2-8448-2F0BD72E0CE0}"/>
              </a:ext>
            </a:extLst>
          </p:cNvPr>
          <p:cNvSpPr txBox="1">
            <a:spLocks/>
          </p:cNvSpPr>
          <p:nvPr/>
        </p:nvSpPr>
        <p:spPr>
          <a:xfrm>
            <a:off x="302684" y="1043827"/>
            <a:ext cx="5356971" cy="4923836"/>
          </a:xfrm>
          <a:prstGeom prst="rect">
            <a:avLst/>
          </a:prstGeom>
          <a:noFill/>
          <a:ln>
            <a:noFill/>
          </a:ln>
        </p:spPr>
        <p:txBody>
          <a:bodyPr spcFirstLastPara="1" vert="horz" wrap="square" lIns="91425" tIns="45700" rIns="91425" bIns="45700" rtlCol="0" anchor="t" anchorCtr="0">
            <a:normAutofit fontScale="92500" lnSpcReduction="20000"/>
          </a:bodyPr>
          <a:lstStyle>
            <a:lvl1pPr marL="457200" lvl="0" indent="-381000" algn="just" defTabSz="914400" rtl="0" eaLnBrk="1" latinLnBrk="0" hangingPunct="1">
              <a:lnSpc>
                <a:spcPct val="90000"/>
              </a:lnSpc>
              <a:spcBef>
                <a:spcPts val="1000"/>
              </a:spcBef>
              <a:spcAft>
                <a:spcPts val="0"/>
              </a:spcAft>
              <a:buClr>
                <a:schemeClr val="accent6"/>
              </a:buClr>
              <a:buSzPts val="2400"/>
              <a:buFont typeface="Noto Sans Symbols"/>
              <a:buChar char="🞂"/>
              <a:defRPr sz="2400" kern="1200">
                <a:solidFill>
                  <a:schemeClr val="dk1"/>
                </a:solidFill>
                <a:latin typeface="+mn-lt"/>
                <a:ea typeface="+mn-ea"/>
                <a:cs typeface="+mn-cs"/>
              </a:defRPr>
            </a:lvl1pPr>
            <a:lvl2pPr marL="914400" lvl="1" indent="-355600" algn="just" defTabSz="914400" rtl="0" eaLnBrk="1" latinLnBrk="0" hangingPunct="1">
              <a:lnSpc>
                <a:spcPct val="90000"/>
              </a:lnSpc>
              <a:spcBef>
                <a:spcPts val="500"/>
              </a:spcBef>
              <a:spcAft>
                <a:spcPts val="0"/>
              </a:spcAft>
              <a:buClr>
                <a:schemeClr val="accent6"/>
              </a:buClr>
              <a:buSzPts val="2000"/>
              <a:buFont typeface="Noto Sans Symbols"/>
              <a:buChar char="⮩"/>
              <a:defRPr sz="2000" kern="1200">
                <a:solidFill>
                  <a:schemeClr val="dk1"/>
                </a:solidFill>
                <a:latin typeface="+mn-lt"/>
                <a:ea typeface="+mn-ea"/>
                <a:cs typeface="+mn-cs"/>
              </a:defRPr>
            </a:lvl2pPr>
            <a:lvl3pPr marL="1371600" lvl="2" indent="-342900" algn="just" defTabSz="914400" rtl="0" eaLnBrk="1" latinLnBrk="0" hangingPunct="1">
              <a:lnSpc>
                <a:spcPct val="90000"/>
              </a:lnSpc>
              <a:spcBef>
                <a:spcPts val="500"/>
              </a:spcBef>
              <a:spcAft>
                <a:spcPts val="0"/>
              </a:spcAft>
              <a:buClr>
                <a:schemeClr val="accent6"/>
              </a:buClr>
              <a:buSzPts val="1800"/>
              <a:buFont typeface="Noto Sans Symbols"/>
              <a:buChar char="▪"/>
              <a:defRPr sz="1800" kern="1200">
                <a:solidFill>
                  <a:schemeClr val="dk1"/>
                </a:solidFill>
                <a:latin typeface="+mn-lt"/>
                <a:ea typeface="+mn-ea"/>
                <a:cs typeface="+mn-cs"/>
              </a:defRPr>
            </a:lvl3pPr>
            <a:lvl4pPr marL="1828800" lvl="3" indent="-330200" algn="just" defTabSz="914400" rtl="0" eaLnBrk="1" latinLnBrk="0" hangingPunct="1">
              <a:lnSpc>
                <a:spcPct val="90000"/>
              </a:lnSpc>
              <a:spcBef>
                <a:spcPts val="500"/>
              </a:spcBef>
              <a:spcAft>
                <a:spcPts val="0"/>
              </a:spcAft>
              <a:buClr>
                <a:schemeClr val="accent6"/>
              </a:buClr>
              <a:buSzPts val="1600"/>
              <a:buFont typeface="Arial" panose="020B0604020202020204" pitchFamily="34" charset="0"/>
              <a:buChar char="•"/>
              <a:defRPr sz="1600" kern="1200">
                <a:solidFill>
                  <a:schemeClr val="dk1"/>
                </a:solidFill>
                <a:latin typeface="+mn-lt"/>
                <a:ea typeface="+mn-ea"/>
                <a:cs typeface="+mn-cs"/>
              </a:defRPr>
            </a:lvl4pPr>
            <a:lvl5pPr marL="2286000" lvl="4" indent="-330200" algn="just" defTabSz="914400" rtl="0" eaLnBrk="1" latinLnBrk="0" hangingPunct="1">
              <a:lnSpc>
                <a:spcPct val="90000"/>
              </a:lnSpc>
              <a:spcBef>
                <a:spcPts val="500"/>
              </a:spcBef>
              <a:spcAft>
                <a:spcPts val="0"/>
              </a:spcAft>
              <a:buClr>
                <a:schemeClr val="accent6"/>
              </a:buClr>
              <a:buSzPts val="1600"/>
              <a:buFont typeface="Arial" panose="020B0604020202020204" pitchFamily="34" charset="0"/>
              <a:buChar char="•"/>
              <a:defRPr sz="1600" kern="1200">
                <a:solidFill>
                  <a:schemeClr val="dk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buFont typeface="Noto Sans Symbols"/>
              <a:buNone/>
            </a:pPr>
            <a:r>
              <a:rPr lang="en-US" dirty="0">
                <a:latin typeface="Bookman Old Style" panose="02050604050505020204" pitchFamily="18" charset="0"/>
              </a:rPr>
              <a:t>int subarray_sum3(int </a:t>
            </a:r>
            <a:r>
              <a:rPr lang="en-IN" dirty="0" err="1">
                <a:latin typeface="Bookman Old Style" panose="02050604050505020204" pitchFamily="18" charset="0"/>
              </a:rPr>
              <a:t>nums</a:t>
            </a:r>
            <a:r>
              <a:rPr lang="en-US" dirty="0">
                <a:latin typeface="Bookman Old Style" panose="02050604050505020204" pitchFamily="18" charset="0"/>
              </a:rPr>
              <a:t>[], int n)</a:t>
            </a:r>
          </a:p>
          <a:p>
            <a:pPr marL="0" indent="0">
              <a:buFont typeface="Noto Sans Symbols"/>
              <a:buNone/>
            </a:pPr>
            <a:r>
              <a:rPr lang="en-US" dirty="0">
                <a:latin typeface="Bookman Old Style" panose="02050604050505020204" pitchFamily="18" charset="0"/>
              </a:rPr>
              <a:t>{</a:t>
            </a:r>
          </a:p>
          <a:p>
            <a:pPr marL="0" indent="0">
              <a:buFont typeface="Noto Sans Symbols"/>
              <a:buNone/>
            </a:pPr>
            <a:r>
              <a:rPr lang="en-US" dirty="0">
                <a:latin typeface="Bookman Old Style" panose="02050604050505020204" pitchFamily="18" charset="0"/>
              </a:rPr>
              <a:t>    int max = 0, sum = 0;</a:t>
            </a:r>
          </a:p>
          <a:p>
            <a:pPr marL="0" indent="0">
              <a:buFont typeface="Noto Sans Symbols"/>
              <a:buNone/>
            </a:pPr>
            <a:r>
              <a:rPr lang="en-US" b="1" dirty="0">
                <a:latin typeface="Bookman Old Style" panose="02050604050505020204" pitchFamily="18" charset="0"/>
              </a:rPr>
              <a:t>    </a:t>
            </a:r>
            <a:r>
              <a:rPr lang="en-US" b="1" dirty="0">
                <a:solidFill>
                  <a:srgbClr val="FF0000"/>
                </a:solidFill>
                <a:latin typeface="Bookman Old Style" panose="02050604050505020204" pitchFamily="18" charset="0"/>
              </a:rPr>
              <a:t>for(int </a:t>
            </a:r>
            <a:r>
              <a:rPr lang="en-US" b="1" dirty="0" err="1">
                <a:solidFill>
                  <a:srgbClr val="FF0000"/>
                </a:solidFill>
                <a:latin typeface="Bookman Old Style" panose="02050604050505020204" pitchFamily="18" charset="0"/>
              </a:rPr>
              <a:t>i</a:t>
            </a:r>
            <a:r>
              <a:rPr lang="en-US" b="1" dirty="0">
                <a:solidFill>
                  <a:srgbClr val="FF0000"/>
                </a:solidFill>
                <a:latin typeface="Bookman Old Style" panose="02050604050505020204" pitchFamily="18" charset="0"/>
              </a:rPr>
              <a:t>=0; </a:t>
            </a:r>
            <a:r>
              <a:rPr lang="en-US" b="1" dirty="0" err="1">
                <a:solidFill>
                  <a:srgbClr val="FF0000"/>
                </a:solidFill>
                <a:latin typeface="Bookman Old Style" panose="02050604050505020204" pitchFamily="18" charset="0"/>
              </a:rPr>
              <a:t>i</a:t>
            </a:r>
            <a:r>
              <a:rPr lang="en-US" b="1" dirty="0">
                <a:solidFill>
                  <a:srgbClr val="FF0000"/>
                </a:solidFill>
                <a:latin typeface="Bookman Old Style" panose="02050604050505020204" pitchFamily="18" charset="0"/>
              </a:rPr>
              <a:t>&lt;n; </a:t>
            </a:r>
            <a:r>
              <a:rPr lang="en-US" b="1" dirty="0" err="1">
                <a:solidFill>
                  <a:srgbClr val="FF0000"/>
                </a:solidFill>
                <a:latin typeface="Bookman Old Style" panose="02050604050505020204" pitchFamily="18" charset="0"/>
              </a:rPr>
              <a:t>i</a:t>
            </a:r>
            <a:r>
              <a:rPr lang="en-US" b="1" dirty="0">
                <a:solidFill>
                  <a:srgbClr val="FF0000"/>
                </a:solidFill>
                <a:latin typeface="Bookman Old Style" panose="02050604050505020204" pitchFamily="18" charset="0"/>
              </a:rPr>
              <a:t>++)</a:t>
            </a:r>
          </a:p>
          <a:p>
            <a:pPr marL="0" indent="0">
              <a:buFont typeface="Noto Sans Symbols"/>
              <a:buNone/>
            </a:pPr>
            <a:r>
              <a:rPr lang="en-US" dirty="0">
                <a:latin typeface="Bookman Old Style" panose="02050604050505020204" pitchFamily="18" charset="0"/>
              </a:rPr>
              <a:t>	{</a:t>
            </a:r>
          </a:p>
          <a:p>
            <a:pPr marL="0" indent="0">
              <a:buFont typeface="Noto Sans Symbols"/>
              <a:buNone/>
            </a:pPr>
            <a:r>
              <a:rPr lang="en-US" dirty="0">
                <a:latin typeface="Bookman Old Style" panose="02050604050505020204" pitchFamily="18" charset="0"/>
              </a:rPr>
              <a:t>                sum = sum+ A[</a:t>
            </a:r>
            <a:r>
              <a:rPr lang="en-US" dirty="0" err="1">
                <a:latin typeface="Bookman Old Style" panose="02050604050505020204" pitchFamily="18" charset="0"/>
              </a:rPr>
              <a:t>i</a:t>
            </a:r>
            <a:r>
              <a:rPr lang="en-US" dirty="0">
                <a:latin typeface="Bookman Old Style" panose="02050604050505020204" pitchFamily="18" charset="0"/>
              </a:rPr>
              <a:t>];</a:t>
            </a:r>
          </a:p>
          <a:p>
            <a:pPr marL="0" indent="0">
              <a:buFont typeface="Noto Sans Symbols"/>
              <a:buNone/>
            </a:pPr>
            <a:r>
              <a:rPr lang="en-US" dirty="0">
                <a:latin typeface="Bookman Old Style" panose="02050604050505020204" pitchFamily="18" charset="0"/>
              </a:rPr>
              <a:t>                if (sum &gt; max)</a:t>
            </a:r>
          </a:p>
          <a:p>
            <a:pPr marL="0" indent="0">
              <a:buFont typeface="Noto Sans Symbols"/>
              <a:buNone/>
            </a:pPr>
            <a:r>
              <a:rPr lang="en-US" dirty="0">
                <a:latin typeface="Bookman Old Style" panose="02050604050505020204" pitchFamily="18" charset="0"/>
              </a:rPr>
              <a:t>                     max = sum;</a:t>
            </a:r>
          </a:p>
          <a:p>
            <a:pPr marL="0" indent="0">
              <a:buFont typeface="Noto Sans Symbols"/>
              <a:buNone/>
            </a:pPr>
            <a:r>
              <a:rPr lang="en-US" dirty="0">
                <a:latin typeface="Bookman Old Style" panose="02050604050505020204" pitchFamily="18" charset="0"/>
              </a:rPr>
              <a:t>                if (sum &lt; 0)</a:t>
            </a:r>
          </a:p>
          <a:p>
            <a:pPr marL="0" indent="0">
              <a:buFont typeface="Noto Sans Symbols"/>
              <a:buNone/>
            </a:pPr>
            <a:r>
              <a:rPr lang="en-US" dirty="0">
                <a:latin typeface="Bookman Old Style" panose="02050604050505020204" pitchFamily="18" charset="0"/>
              </a:rPr>
              <a:t>                     sum = 0;</a:t>
            </a:r>
          </a:p>
          <a:p>
            <a:pPr marL="0" indent="0">
              <a:buFont typeface="Noto Sans Symbols"/>
              <a:buNone/>
            </a:pPr>
            <a:r>
              <a:rPr lang="en-US" dirty="0">
                <a:latin typeface="Bookman Old Style" panose="02050604050505020204" pitchFamily="18" charset="0"/>
              </a:rPr>
              <a:t>           }</a:t>
            </a:r>
          </a:p>
          <a:p>
            <a:pPr marL="0" indent="0">
              <a:buFont typeface="Noto Sans Symbols"/>
              <a:buNone/>
            </a:pPr>
            <a:r>
              <a:rPr lang="en-US" dirty="0">
                <a:latin typeface="Bookman Old Style" panose="02050604050505020204" pitchFamily="18" charset="0"/>
              </a:rPr>
              <a:t>    return </a:t>
            </a:r>
            <a:r>
              <a:rPr lang="en-US" dirty="0" err="1">
                <a:latin typeface="Bookman Old Style" panose="02050604050505020204" pitchFamily="18" charset="0"/>
              </a:rPr>
              <a:t>ans</a:t>
            </a:r>
            <a:r>
              <a:rPr lang="en-US" dirty="0">
                <a:latin typeface="Bookman Old Style" panose="02050604050505020204" pitchFamily="18" charset="0"/>
              </a:rPr>
              <a:t>;</a:t>
            </a:r>
          </a:p>
          <a:p>
            <a:pPr marL="0" indent="0">
              <a:buFont typeface="Noto Sans Symbols"/>
              <a:buNone/>
            </a:pPr>
            <a:r>
              <a:rPr lang="en-US" dirty="0">
                <a:latin typeface="Bookman Old Style" panose="02050604050505020204" pitchFamily="18" charset="0"/>
              </a:rPr>
              <a:t>}</a:t>
            </a:r>
          </a:p>
          <a:p>
            <a:pPr marL="0" indent="0">
              <a:buFont typeface="Noto Sans Symbols"/>
              <a:buNone/>
            </a:pPr>
            <a:endParaRPr lang="en-IN" dirty="0"/>
          </a:p>
        </p:txBody>
      </p:sp>
      <p:sp>
        <p:nvSpPr>
          <p:cNvPr id="6" name="TextBox 5">
            <a:extLst>
              <a:ext uri="{FF2B5EF4-FFF2-40B4-BE49-F238E27FC236}">
                <a16:creationId xmlns:a16="http://schemas.microsoft.com/office/drawing/2014/main" id="{683E0386-BEDB-40A7-B41A-A3F49015CC99}"/>
              </a:ext>
            </a:extLst>
          </p:cNvPr>
          <p:cNvSpPr txBox="1"/>
          <p:nvPr/>
        </p:nvSpPr>
        <p:spPr>
          <a:xfrm>
            <a:off x="5659655" y="933137"/>
            <a:ext cx="6429164" cy="461665"/>
          </a:xfrm>
          <a:prstGeom prst="rect">
            <a:avLst/>
          </a:prstGeom>
          <a:noFill/>
        </p:spPr>
        <p:txBody>
          <a:bodyPr wrap="square">
            <a:spAutoFit/>
          </a:bodyPr>
          <a:lstStyle/>
          <a:p>
            <a:pPr marL="285750" indent="-285750">
              <a:buFont typeface="Arial" panose="020B0604020202020204" pitchFamily="34" charset="0"/>
              <a:buChar char="•"/>
            </a:pPr>
            <a:r>
              <a:rPr lang="en-IN" sz="2400" b="1">
                <a:solidFill>
                  <a:srgbClr val="FF0000"/>
                </a:solidFill>
              </a:rPr>
              <a:t>Complexity </a:t>
            </a:r>
            <a:r>
              <a:rPr lang="en-IN" sz="2400" b="1" dirty="0">
                <a:solidFill>
                  <a:srgbClr val="FF0000"/>
                </a:solidFill>
              </a:rPr>
              <a:t>O(n)</a:t>
            </a:r>
          </a:p>
        </p:txBody>
      </p:sp>
    </p:spTree>
    <p:extLst>
      <p:ext uri="{BB962C8B-B14F-4D97-AF65-F5344CB8AC3E}">
        <p14:creationId xmlns:p14="http://schemas.microsoft.com/office/powerpoint/2010/main" val="2208935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895CC-79CB-486B-AD81-E131AED11F98}"/>
              </a:ext>
            </a:extLst>
          </p:cNvPr>
          <p:cNvSpPr>
            <a:spLocks noGrp="1"/>
          </p:cNvSpPr>
          <p:nvPr>
            <p:ph type="title"/>
          </p:nvPr>
        </p:nvSpPr>
        <p:spPr/>
        <p:txBody>
          <a:bodyPr/>
          <a:lstStyle/>
          <a:p>
            <a:r>
              <a:rPr lang="en-IN" dirty="0"/>
              <a:t>Comparison of Approaches</a:t>
            </a:r>
          </a:p>
        </p:txBody>
      </p:sp>
      <p:pic>
        <p:nvPicPr>
          <p:cNvPr id="4" name="Picture 2">
            <a:extLst>
              <a:ext uri="{FF2B5EF4-FFF2-40B4-BE49-F238E27FC236}">
                <a16:creationId xmlns:a16="http://schemas.microsoft.com/office/drawing/2014/main" id="{703C7CE8-4FF7-4210-B96D-197BF45A2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32397"/>
            <a:ext cx="9533774" cy="41804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598D434-B143-4A15-86DA-8DD74BDB4370}"/>
              </a:ext>
            </a:extLst>
          </p:cNvPr>
          <p:cNvSpPr txBox="1"/>
          <p:nvPr/>
        </p:nvSpPr>
        <p:spPr>
          <a:xfrm>
            <a:off x="89033" y="6084136"/>
            <a:ext cx="11605661" cy="369332"/>
          </a:xfrm>
          <a:prstGeom prst="rect">
            <a:avLst/>
          </a:prstGeom>
          <a:noFill/>
        </p:spPr>
        <p:txBody>
          <a:bodyPr wrap="square">
            <a:spAutoFit/>
          </a:bodyPr>
          <a:lstStyle/>
          <a:p>
            <a:pPr marL="0" indent="0">
              <a:buNone/>
            </a:pPr>
            <a:r>
              <a:rPr lang="en-IN" dirty="0"/>
              <a:t>Source: https://www.geeksforgeeks.org/knowing-the-complexity-in-competitive-programming/</a:t>
            </a:r>
          </a:p>
        </p:txBody>
      </p:sp>
    </p:spTree>
    <p:extLst>
      <p:ext uri="{BB962C8B-B14F-4D97-AF65-F5344CB8AC3E}">
        <p14:creationId xmlns:p14="http://schemas.microsoft.com/office/powerpoint/2010/main" val="318083169"/>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2571</TotalTime>
  <Words>3379</Words>
  <Application>Microsoft Office PowerPoint</Application>
  <PresentationFormat>Widescreen</PresentationFormat>
  <Paragraphs>394</Paragraphs>
  <Slides>39</Slides>
  <Notes>4</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39</vt:i4>
      </vt:variant>
    </vt:vector>
  </HeadingPairs>
  <TitlesOfParts>
    <vt:vector size="55" baseType="lpstr">
      <vt:lpstr>Bookman Old Style</vt:lpstr>
      <vt:lpstr>Calibri</vt:lpstr>
      <vt:lpstr>Noto Sans Symbols</vt:lpstr>
      <vt:lpstr>Wingdings 3</vt:lpstr>
      <vt:lpstr>Lucida Console</vt:lpstr>
      <vt:lpstr>Courier New</vt:lpstr>
      <vt:lpstr>Arial</vt:lpstr>
      <vt:lpstr>Courier</vt:lpstr>
      <vt:lpstr>Roboto Condensed</vt:lpstr>
      <vt:lpstr>Wingdings</vt:lpstr>
      <vt:lpstr>Arial Narrow</vt:lpstr>
      <vt:lpstr>Roboto Condensed Light</vt:lpstr>
      <vt:lpstr>Cambria Math</vt:lpstr>
      <vt:lpstr>Times New Roman</vt:lpstr>
      <vt:lpstr>Abadi</vt:lpstr>
      <vt:lpstr>Office Theme</vt:lpstr>
      <vt:lpstr>Unit-1  Introduction to  Data Structure </vt:lpstr>
      <vt:lpstr>PowerPoint Presentation</vt:lpstr>
      <vt:lpstr>What is Data?</vt:lpstr>
      <vt:lpstr>What is Data Structure?</vt:lpstr>
      <vt:lpstr>What is Data Structure? Cont..</vt:lpstr>
      <vt:lpstr>Classification of Data Structure</vt:lpstr>
      <vt:lpstr>Primitive / Non-primitive data structures</vt:lpstr>
      <vt:lpstr>Array</vt:lpstr>
      <vt:lpstr>PowerPoint Presentation</vt:lpstr>
      <vt:lpstr>Link List</vt:lpstr>
      <vt:lpstr>Stack and Queue</vt:lpstr>
      <vt:lpstr>Tree and Graph</vt:lpstr>
      <vt:lpstr>Operations of Data Structure</vt:lpstr>
      <vt:lpstr>Real-life applications of data structures:</vt:lpstr>
      <vt:lpstr>What is an Algorithm?</vt:lpstr>
      <vt:lpstr>What is an Algorithm?</vt:lpstr>
      <vt:lpstr>Googol-to-One Gear Ratio</vt:lpstr>
      <vt:lpstr>Why Performance Analysis?</vt:lpstr>
      <vt:lpstr>What are Asymptotic Notations?</vt:lpstr>
      <vt:lpstr>Best/Worst/Average Case</vt:lpstr>
      <vt:lpstr>Best/Worst/Average Case</vt:lpstr>
      <vt:lpstr>Types of Asymptotic Notations</vt:lpstr>
      <vt:lpstr>PowerPoint Presentation</vt:lpstr>
      <vt:lpstr>PowerPoint Presentation</vt:lpstr>
      <vt:lpstr>PowerPoint Presentation</vt:lpstr>
      <vt:lpstr>Common Asymptotic Notations</vt:lpstr>
      <vt:lpstr>Common Asymptotic Notations</vt:lpstr>
      <vt:lpstr>Efficiency of an Algorithm – Does it Matter?</vt:lpstr>
      <vt:lpstr>Complexity: Simple rule</vt:lpstr>
      <vt:lpstr>Complexity of an Algorithm</vt:lpstr>
      <vt:lpstr>PowerPoint Presentation</vt:lpstr>
      <vt:lpstr>PowerPoint Presentation</vt:lpstr>
      <vt:lpstr>PowerPoint Presentation</vt:lpstr>
      <vt:lpstr>PowerPoint Presentation</vt:lpstr>
      <vt:lpstr>Example Problem </vt:lpstr>
      <vt:lpstr>Approach 1</vt:lpstr>
      <vt:lpstr>Approach 2</vt:lpstr>
      <vt:lpstr>Approach 3</vt:lpstr>
      <vt:lpstr>Comparison of Approaches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Structure</dc:title>
  <dc:creator>ADMIN</dc:creator>
  <cp:lastModifiedBy>CSE-30</cp:lastModifiedBy>
  <cp:revision>186</cp:revision>
  <dcterms:created xsi:type="dcterms:W3CDTF">2020-05-01T05:09:15Z</dcterms:created>
  <dcterms:modified xsi:type="dcterms:W3CDTF">2025-07-15T08:05:25Z</dcterms:modified>
</cp:coreProperties>
</file>