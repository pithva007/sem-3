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5"/>
  </p:notesMasterIdLst>
  <p:handoutMasterIdLst>
    <p:handoutMasterId r:id="rId56"/>
  </p:handoutMasterIdLst>
  <p:sldIdLst>
    <p:sldId id="283" r:id="rId2"/>
    <p:sldId id="350" r:id="rId3"/>
    <p:sldId id="351" r:id="rId4"/>
    <p:sldId id="352" r:id="rId5"/>
    <p:sldId id="353" r:id="rId6"/>
    <p:sldId id="354" r:id="rId7"/>
    <p:sldId id="355" r:id="rId8"/>
    <p:sldId id="356" r:id="rId9"/>
    <p:sldId id="357" r:id="rId10"/>
    <p:sldId id="358" r:id="rId11"/>
    <p:sldId id="359" r:id="rId12"/>
    <p:sldId id="360" r:id="rId13"/>
    <p:sldId id="361" r:id="rId14"/>
    <p:sldId id="382" r:id="rId15"/>
    <p:sldId id="362" r:id="rId16"/>
    <p:sldId id="363" r:id="rId17"/>
    <p:sldId id="364" r:id="rId18"/>
    <p:sldId id="386" r:id="rId19"/>
    <p:sldId id="387" r:id="rId20"/>
    <p:sldId id="365" r:id="rId21"/>
    <p:sldId id="366" r:id="rId22"/>
    <p:sldId id="385" r:id="rId23"/>
    <p:sldId id="383" r:id="rId24"/>
    <p:sldId id="384" r:id="rId25"/>
    <p:sldId id="428" r:id="rId26"/>
    <p:sldId id="528" r:id="rId27"/>
    <p:sldId id="530" r:id="rId28"/>
    <p:sldId id="529" r:id="rId29"/>
    <p:sldId id="430" r:id="rId30"/>
    <p:sldId id="431" r:id="rId31"/>
    <p:sldId id="432" r:id="rId32"/>
    <p:sldId id="422" r:id="rId33"/>
    <p:sldId id="435" r:id="rId34"/>
    <p:sldId id="436" r:id="rId35"/>
    <p:sldId id="437" r:id="rId36"/>
    <p:sldId id="534" r:id="rId37"/>
    <p:sldId id="438" r:id="rId38"/>
    <p:sldId id="439" r:id="rId39"/>
    <p:sldId id="441" r:id="rId40"/>
    <p:sldId id="440" r:id="rId41"/>
    <p:sldId id="442" r:id="rId42"/>
    <p:sldId id="446" r:id="rId43"/>
    <p:sldId id="448" r:id="rId44"/>
    <p:sldId id="368" r:id="rId45"/>
    <p:sldId id="370" r:id="rId46"/>
    <p:sldId id="388" r:id="rId47"/>
    <p:sldId id="374" r:id="rId48"/>
    <p:sldId id="375" r:id="rId49"/>
    <p:sldId id="376" r:id="rId50"/>
    <p:sldId id="377" r:id="rId51"/>
    <p:sldId id="378" r:id="rId52"/>
    <p:sldId id="379" r:id="rId53"/>
    <p:sldId id="380" r:id="rId54"/>
  </p:sldIdLst>
  <p:sldSz cx="12192000" cy="6858000"/>
  <p:notesSz cx="6858000" cy="9144000"/>
  <p:embeddedFontLst>
    <p:embeddedFont>
      <p:font typeface="Cambria Math" panose="02040503050406030204" pitchFamily="18" charset="0"/>
      <p:regular r:id="rId57"/>
    </p:embeddedFont>
    <p:embeddedFont>
      <p:font typeface="Consolas" panose="020B0609020204030204" pitchFamily="49" charset="0"/>
      <p:regular r:id="rId58"/>
      <p:bold r:id="rId59"/>
      <p:italic r:id="rId60"/>
      <p:boldItalic r:id="rId61"/>
    </p:embeddedFont>
    <p:embeddedFont>
      <p:font typeface="Roboto Condensed" panose="02000000000000000000" pitchFamily="2" charset="0"/>
      <p:regular r:id="rId62"/>
      <p:bold r:id="rId63"/>
      <p:italic r:id="rId64"/>
      <p:boldItalic r:id="rId65"/>
    </p:embeddedFont>
    <p:embeddedFont>
      <p:font typeface="Wingdings 3" pitchFamily="2" charset="2"/>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9A0000"/>
    <a:srgbClr val="0000FF"/>
    <a:srgbClr val="00FF00"/>
    <a:srgbClr val="16745B"/>
    <a:srgbClr val="007D8E"/>
    <a:srgbClr val="0F5140"/>
    <a:srgbClr val="007635"/>
    <a:srgbClr val="2FA0AE"/>
    <a:srgbClr val="558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82" autoAdjust="0"/>
    <p:restoredTop sz="94660"/>
  </p:normalViewPr>
  <p:slideViewPr>
    <p:cSldViewPr snapToGrid="0">
      <p:cViewPr varScale="1">
        <p:scale>
          <a:sx n="130" d="100"/>
          <a:sy n="130" d="100"/>
        </p:scale>
        <p:origin x="192" y="208"/>
      </p:cViewPr>
      <p:guideLst/>
    </p:cSldViewPr>
  </p:slideViewPr>
  <p:notesTextViewPr>
    <p:cViewPr>
      <p:scale>
        <a:sx n="1" d="1"/>
        <a:sy n="1" d="1"/>
      </p:scale>
      <p:origin x="0" y="0"/>
    </p:cViewPr>
  </p:notesTextViewPr>
  <p:sorterViewPr>
    <p:cViewPr>
      <p:scale>
        <a:sx n="100" d="100"/>
        <a:sy n="100" d="100"/>
      </p:scale>
      <p:origin x="0" y="-978"/>
    </p:cViewPr>
  </p:sorter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17/11/25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1" name="Picture 30"/>
          <p:cNvPicPr>
            <a:picLocks noChangeAspect="1"/>
          </p:cNvPicPr>
          <p:nvPr userDrawn="1"/>
        </p:nvPicPr>
        <p:blipFill rotWithShape="1">
          <a:blip r:embed="rId3">
            <a:duotone>
              <a:prstClr val="black"/>
              <a:schemeClr val="accent3">
                <a:tint val="45000"/>
                <a:satMod val="400000"/>
              </a:schemeClr>
            </a:duotone>
            <a:extLst>
              <a:ext uri="{28A0092B-C50C-407E-A947-70E740481C1C}">
                <a14:useLocalDpi xmlns:a14="http://schemas.microsoft.com/office/drawing/2010/main" val="0"/>
              </a:ext>
            </a:extLst>
          </a:blip>
          <a:srcRect l="9167" r="9167"/>
          <a:stretch/>
        </p:blipFill>
        <p:spPr>
          <a:xfrm>
            <a:off x="7665491" y="2756708"/>
            <a:ext cx="4419009" cy="1352758"/>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2" y="989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7" y="862318"/>
            <a:ext cx="11929641" cy="5590565"/>
          </a:xfrm>
        </p:spPr>
        <p:txBody>
          <a:bodyPr>
            <a:noAutofit/>
          </a:bodyPr>
          <a:lstStyle>
            <a:lvl1pPr marL="265113" indent="-265113" algn="just">
              <a:lnSpc>
                <a:spcPct val="114000"/>
              </a:lnSpc>
              <a:buClr>
                <a:schemeClr val="accent6"/>
              </a:buClr>
              <a:buFont typeface="Wingdings 3" panose="05040102010807070707" pitchFamily="18" charset="2"/>
              <a:buChar char=""/>
              <a:defRPr sz="2400">
                <a:solidFill>
                  <a:schemeClr val="tx1"/>
                </a:solidFill>
              </a:defRPr>
            </a:lvl1pPr>
            <a:lvl2pPr marL="809625" indent="-352425" algn="just">
              <a:lnSpc>
                <a:spcPct val="114000"/>
              </a:lnSpc>
              <a:buClr>
                <a:schemeClr val="accent6"/>
              </a:buClr>
              <a:buFont typeface="Wingdings 3" panose="05040102010807070707" pitchFamily="18" charset="2"/>
              <a:buChar char=""/>
              <a:defRPr sz="2000">
                <a:solidFill>
                  <a:schemeClr val="tx1"/>
                </a:solidFill>
              </a:defRPr>
            </a:lvl2pPr>
            <a:lvl3pPr marL="1143000" indent="-228600" algn="just">
              <a:lnSpc>
                <a:spcPct val="114000"/>
              </a:lnSpc>
              <a:buClr>
                <a:schemeClr val="accent6"/>
              </a:buClr>
              <a:buFont typeface="Wingdings" panose="05000000000000000000" pitchFamily="2" charset="2"/>
              <a:buChar char="§"/>
              <a:defRPr sz="1800">
                <a:solidFill>
                  <a:schemeClr val="tx1"/>
                </a:solidFill>
              </a:defRPr>
            </a:lvl3pPr>
            <a:lvl4pPr algn="just">
              <a:lnSpc>
                <a:spcPct val="114000"/>
              </a:lnSpc>
              <a:buClr>
                <a:schemeClr val="accent6"/>
              </a:buClr>
              <a:defRPr sz="1600">
                <a:solidFill>
                  <a:schemeClr val="tx1"/>
                </a:solidFill>
              </a:defRPr>
            </a:lvl4pPr>
            <a:lvl5pPr algn="just">
              <a:lnSpc>
                <a:spcPct val="114000"/>
              </a:lnSpc>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4586"/>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9423"/>
            <a:ext cx="11929641" cy="5590565"/>
          </a:xfrm>
        </p:spPr>
        <p:txBody>
          <a:bodyPr>
            <a:noAutofit/>
          </a:bodyPr>
          <a:lstStyle>
            <a:lvl1pPr marL="265113" indent="-265113" algn="just">
              <a:lnSpc>
                <a:spcPct val="114000"/>
              </a:lnSpc>
              <a:spcBef>
                <a:spcPts val="1000"/>
              </a:spcBef>
              <a:buClr>
                <a:schemeClr val="accent6"/>
              </a:buClr>
              <a:buFont typeface="Wingdings 3" panose="05040102010807070707" pitchFamily="18" charset="2"/>
              <a:buChar char=""/>
              <a:defRPr sz="2400">
                <a:solidFill>
                  <a:schemeClr val="tx1"/>
                </a:solidFill>
              </a:defRPr>
            </a:lvl1pPr>
            <a:lvl2pPr marL="809625" indent="-352425" algn="just">
              <a:lnSpc>
                <a:spcPct val="114000"/>
              </a:lnSpc>
              <a:spcBef>
                <a:spcPts val="1000"/>
              </a:spcBef>
              <a:buClr>
                <a:schemeClr val="accent6"/>
              </a:buClr>
              <a:buFont typeface="Wingdings 3" panose="05040102010807070707" pitchFamily="18" charset="2"/>
              <a:buChar char=""/>
              <a:defRPr sz="2000">
                <a:solidFill>
                  <a:schemeClr val="tx1"/>
                </a:solidFill>
              </a:defRPr>
            </a:lvl2pPr>
            <a:lvl3pPr marL="1143000" indent="-228600" algn="just">
              <a:lnSpc>
                <a:spcPct val="114000"/>
              </a:lnSpc>
              <a:spcBef>
                <a:spcPts val="1000"/>
              </a:spcBef>
              <a:buClr>
                <a:schemeClr val="accent6"/>
              </a:buClr>
              <a:buFont typeface="Wingdings" panose="05000000000000000000" pitchFamily="2" charset="2"/>
              <a:buChar char="§"/>
              <a:defRPr sz="1800">
                <a:solidFill>
                  <a:schemeClr val="tx1"/>
                </a:solidFill>
              </a:defRPr>
            </a:lvl3pPr>
            <a:lvl4pPr algn="just">
              <a:lnSpc>
                <a:spcPct val="114000"/>
              </a:lnSpc>
              <a:spcBef>
                <a:spcPts val="1000"/>
              </a:spcBef>
              <a:buClr>
                <a:schemeClr val="accent6"/>
              </a:buClr>
              <a:defRPr sz="1600">
                <a:solidFill>
                  <a:schemeClr val="tx1"/>
                </a:solidFill>
              </a:defRPr>
            </a:lvl4pPr>
            <a:lvl5pPr algn="just">
              <a:lnSpc>
                <a:spcPct val="114000"/>
              </a:lnSpc>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2" y="7376"/>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1193"/>
            <a:ext cx="11929641" cy="5590565"/>
          </a:xfrm>
        </p:spPr>
        <p:txBody>
          <a:bodyPr>
            <a:noAutofit/>
          </a:bodyPr>
          <a:lstStyle>
            <a:lvl1pPr marL="265113" indent="-265113" algn="just">
              <a:spcBef>
                <a:spcPts val="1000"/>
              </a:spcBef>
              <a:buClr>
                <a:schemeClr val="accent6"/>
              </a:buClr>
              <a:buFont typeface="Wingdings 3" panose="05040102010807070707" pitchFamily="18" charset="2"/>
              <a:buChar char=""/>
              <a:defRPr sz="2400">
                <a:solidFill>
                  <a:schemeClr val="tx1"/>
                </a:solidFill>
              </a:defRPr>
            </a:lvl1pPr>
            <a:lvl2pPr marL="809625" indent="-352425" algn="just">
              <a:spcBef>
                <a:spcPts val="1000"/>
              </a:spcBef>
              <a:buClr>
                <a:schemeClr val="accent6"/>
              </a:buClr>
              <a:buFont typeface="Wingdings 3" panose="05040102010807070707" pitchFamily="18" charset="2"/>
              <a:buChar char=""/>
              <a:defRPr sz="2000">
                <a:solidFill>
                  <a:schemeClr val="tx1"/>
                </a:solidFill>
              </a:defRPr>
            </a:lvl2pPr>
            <a:lvl3pPr marL="1143000" indent="-228600" algn="just">
              <a:spcBef>
                <a:spcPts val="1000"/>
              </a:spcBef>
              <a:buClr>
                <a:schemeClr val="accent6"/>
              </a:buClr>
              <a:buFont typeface="Wingdings" panose="05000000000000000000" pitchFamily="2" charset="2"/>
              <a:buChar char="§"/>
              <a:defRPr sz="1800">
                <a:solidFill>
                  <a:schemeClr val="tx1"/>
                </a:solidFill>
              </a:defRPr>
            </a:lvl3pPr>
            <a:lvl4pPr algn="just">
              <a:spcBef>
                <a:spcPts val="1000"/>
              </a:spcBef>
              <a:buClr>
                <a:schemeClr val="accent6"/>
              </a:buClr>
              <a:defRPr sz="1600">
                <a:solidFill>
                  <a:schemeClr val="tx1"/>
                </a:solidFill>
              </a:defRPr>
            </a:lvl4pPr>
            <a:lvl5pPr algn="just">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61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mplete Blanck">
    <p:spTree>
      <p:nvGrpSpPr>
        <p:cNvPr id="1" name=""/>
        <p:cNvGrpSpPr/>
        <p:nvPr/>
      </p:nvGrpSpPr>
      <p:grpSpPr>
        <a:xfrm>
          <a:off x="0" y="0"/>
          <a:ext cx="0" cy="0"/>
          <a:chOff x="0" y="0"/>
          <a:chExt cx="0" cy="0"/>
        </a:xfrm>
      </p:grpSpPr>
      <p:pic>
        <p:nvPicPr>
          <p:cNvPr id="2"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rot="16200000">
            <a:off x="-3073398" y="3073398"/>
            <a:ext cx="6858000" cy="711201"/>
          </a:xfrm>
          <a:prstGeom prst="rect">
            <a:avLst/>
          </a:prstGeom>
          <a:solidFill>
            <a:srgbClr val="F48CAF"/>
          </a:solidFill>
          <a:ln>
            <a:noFill/>
          </a:ln>
          <a:effectLst/>
        </p:spPr>
      </p:pic>
      <p:sp>
        <p:nvSpPr>
          <p:cNvPr id="3" name="Title 1">
            <a:extLst>
              <a:ext uri="{FF2B5EF4-FFF2-40B4-BE49-F238E27FC236}">
                <a16:creationId xmlns:a16="http://schemas.microsoft.com/office/drawing/2014/main" id="{D5CD07E8-CBAA-45BA-85CF-1233D4AA86C9}"/>
              </a:ext>
            </a:extLst>
          </p:cNvPr>
          <p:cNvSpPr>
            <a:spLocks noGrp="1"/>
          </p:cNvSpPr>
          <p:nvPr>
            <p:ph type="title"/>
          </p:nvPr>
        </p:nvSpPr>
        <p:spPr>
          <a:xfrm rot="16200000">
            <a:off x="-3073400" y="3073400"/>
            <a:ext cx="6858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Tree>
    <p:extLst>
      <p:ext uri="{BB962C8B-B14F-4D97-AF65-F5344CB8AC3E}">
        <p14:creationId xmlns:p14="http://schemas.microsoft.com/office/powerpoint/2010/main" val="2082233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rgbClr val="890E4F"/>
                    </a:gs>
                    <a:gs pos="100000">
                      <a:srgbClr val="D81A60"/>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Tree>
    <p:extLst>
      <p:ext uri="{BB962C8B-B14F-4D97-AF65-F5344CB8AC3E}">
        <p14:creationId xmlns:p14="http://schemas.microsoft.com/office/powerpoint/2010/main" val="4214079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11/17/25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 id="2147483694" r:id="rId6"/>
    <p:sldLayoutId id="2147483695" r:id="rId7"/>
    <p:sldLayoutId id="214748369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4.xml"/><Relationship Id="rId4" Type="http://schemas.openxmlformats.org/officeDocument/2006/relationships/image" Target="../media/image220.png"/></Relationships>
</file>

<file path=ppt/slides/_rels/slide3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8284260" cy="2563094"/>
          </a:xfrm>
        </p:spPr>
        <p:txBody>
          <a:bodyPr/>
          <a:lstStyle/>
          <a:p>
            <a:br>
              <a:rPr lang="en-US" sz="6000" dirty="0"/>
            </a:br>
            <a:r>
              <a:rPr lang="en-US" sz="5400" dirty="0"/>
              <a:t>Non-Linear Data Structure </a:t>
            </a:r>
            <a:r>
              <a:rPr lang="en-US" sz="6000" dirty="0"/>
              <a:t>Graph</a:t>
            </a:r>
            <a:endParaRPr lang="en-US" sz="6000" b="0" dirty="0">
              <a:solidFill>
                <a:schemeClr val="tx1"/>
              </a:solidFill>
              <a:latin typeface="+mn-lt"/>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Graphs</a:t>
            </a:r>
          </a:p>
        </p:txBody>
      </p:sp>
      <p:sp>
        <p:nvSpPr>
          <p:cNvPr id="3" name="Content Placeholder 2"/>
          <p:cNvSpPr>
            <a:spLocks noGrp="1"/>
          </p:cNvSpPr>
          <p:nvPr>
            <p:ph idx="1"/>
          </p:nvPr>
        </p:nvSpPr>
        <p:spPr/>
        <p:txBody>
          <a:bodyPr/>
          <a:lstStyle/>
          <a:p>
            <a:r>
              <a:rPr lang="en-US" dirty="0"/>
              <a:t>What is Graph?</a:t>
            </a:r>
          </a:p>
          <a:p>
            <a:r>
              <a:rPr lang="en-US" dirty="0"/>
              <a:t>Representation of Graph</a:t>
            </a:r>
          </a:p>
          <a:p>
            <a:pPr lvl="1"/>
            <a:r>
              <a:rPr lang="en-US" dirty="0"/>
              <a:t>Matrix representation of Graph</a:t>
            </a:r>
          </a:p>
          <a:p>
            <a:pPr lvl="1"/>
            <a:r>
              <a:rPr lang="en-US" dirty="0"/>
              <a:t>Linked List representation of Graph</a:t>
            </a:r>
          </a:p>
          <a:p>
            <a:r>
              <a:rPr lang="en-US" dirty="0"/>
              <a:t>Elementary Graph Operations</a:t>
            </a:r>
          </a:p>
          <a:p>
            <a:pPr lvl="1"/>
            <a:r>
              <a:rPr lang="en-US" dirty="0"/>
              <a:t>Breadth First Search (BFS)</a:t>
            </a:r>
          </a:p>
          <a:p>
            <a:pPr lvl="1"/>
            <a:r>
              <a:rPr lang="en-US" dirty="0"/>
              <a:t>Depth First Search (DFS)</a:t>
            </a:r>
          </a:p>
          <a:p>
            <a:pPr lvl="1"/>
            <a:r>
              <a:rPr lang="en-US" dirty="0"/>
              <a:t>Spanning Trees</a:t>
            </a:r>
          </a:p>
          <a:p>
            <a:pPr lvl="1"/>
            <a:r>
              <a:rPr lang="en-US" dirty="0"/>
              <a:t>Minimal Spanning Trees</a:t>
            </a:r>
          </a:p>
          <a:p>
            <a:pPr lvl="1"/>
            <a:r>
              <a:rPr lang="en-US" dirty="0"/>
              <a:t>Shortest Path</a:t>
            </a:r>
          </a:p>
          <a:p>
            <a:pPr lvl="1"/>
            <a:endParaRPr lang="en-US" dirty="0"/>
          </a:p>
        </p:txBody>
      </p:sp>
    </p:spTree>
    <p:extLst>
      <p:ext uri="{BB962C8B-B14F-4D97-AF65-F5344CB8AC3E}">
        <p14:creationId xmlns:p14="http://schemas.microsoft.com/office/powerpoint/2010/main" val="23255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a:t>
                </a:r>
                <a:r>
                  <a:rPr lang="en-US" b="1" dirty="0">
                    <a:solidFill>
                      <a:srgbClr val="C00000"/>
                    </a:solidFill>
                  </a:rPr>
                  <a:t>diagrammatic representation</a:t>
                </a:r>
                <a:r>
                  <a:rPr lang="en-US" dirty="0">
                    <a:solidFill>
                      <a:srgbClr val="C00000"/>
                    </a:solidFill>
                  </a:rPr>
                  <a:t> </a:t>
                </a:r>
                <a:r>
                  <a:rPr lang="en-US" dirty="0"/>
                  <a:t>of a </a:t>
                </a:r>
                <a:r>
                  <a:rPr lang="en-US" b="1" dirty="0">
                    <a:solidFill>
                      <a:srgbClr val="C00000"/>
                    </a:solidFill>
                  </a:rPr>
                  <a:t>graph</a:t>
                </a:r>
                <a:r>
                  <a:rPr lang="en-US" dirty="0">
                    <a:solidFill>
                      <a:srgbClr val="C00000"/>
                    </a:solidFill>
                  </a:rPr>
                  <a:t> </a:t>
                </a:r>
                <a:r>
                  <a:rPr lang="en-US" dirty="0"/>
                  <a:t>may have limited usefulness. However such a representation </a:t>
                </a:r>
                <a:r>
                  <a:rPr lang="en-US" b="1" dirty="0">
                    <a:solidFill>
                      <a:srgbClr val="C00000"/>
                    </a:solidFill>
                  </a:rPr>
                  <a:t>is not feasible</a:t>
                </a:r>
                <a:r>
                  <a:rPr lang="en-US" dirty="0">
                    <a:solidFill>
                      <a:srgbClr val="C00000"/>
                    </a:solidFill>
                  </a:rPr>
                  <a:t> </a:t>
                </a:r>
                <a:r>
                  <a:rPr lang="en-US" dirty="0"/>
                  <a:t>when number of </a:t>
                </a:r>
                <a:r>
                  <a:rPr lang="en-US" b="1" dirty="0">
                    <a:solidFill>
                      <a:srgbClr val="C00000"/>
                    </a:solidFill>
                  </a:rPr>
                  <a:t>nodes</a:t>
                </a:r>
                <a:r>
                  <a:rPr lang="en-US" dirty="0">
                    <a:solidFill>
                      <a:srgbClr val="C00000"/>
                    </a:solidFill>
                  </a:rPr>
                  <a:t> </a:t>
                </a:r>
                <a:r>
                  <a:rPr lang="en-US" dirty="0"/>
                  <a:t>an </a:t>
                </a:r>
                <a:r>
                  <a:rPr lang="en-US" b="1" dirty="0">
                    <a:solidFill>
                      <a:srgbClr val="C00000"/>
                    </a:solidFill>
                  </a:rPr>
                  <a:t>edges</a:t>
                </a:r>
                <a:r>
                  <a:rPr lang="en-US" dirty="0">
                    <a:solidFill>
                      <a:srgbClr val="C00000"/>
                    </a:solidFill>
                  </a:rPr>
                  <a:t> </a:t>
                </a:r>
                <a:r>
                  <a:rPr lang="en-US" dirty="0"/>
                  <a:t>in a graph </a:t>
                </a:r>
                <a:r>
                  <a:rPr lang="en-US" b="1" dirty="0">
                    <a:solidFill>
                      <a:srgbClr val="C00000"/>
                    </a:solidFill>
                  </a:rPr>
                  <a:t>is large</a:t>
                </a:r>
              </a:p>
              <a:p>
                <a:r>
                  <a:rPr lang="en-US" dirty="0"/>
                  <a:t>It is easy to store and manipulate matrices and hence the graphs represented by them in the computer</a:t>
                </a:r>
              </a:p>
              <a:p>
                <a:r>
                  <a:rPr lang="en-US" dirty="0"/>
                  <a:t>Let </a:t>
                </a:r>
                <a:r>
                  <a:rPr lang="en-US" b="1" dirty="0">
                    <a:solidFill>
                      <a:srgbClr val="C00000"/>
                    </a:solidFill>
                  </a:rPr>
                  <a:t>G = (V, E)</a:t>
                </a:r>
                <a:r>
                  <a:rPr lang="en-US" dirty="0">
                    <a:solidFill>
                      <a:srgbClr val="C00000"/>
                    </a:solidFill>
                  </a:rPr>
                  <a:t> </a:t>
                </a:r>
                <a:r>
                  <a:rPr lang="en-US" dirty="0"/>
                  <a:t>be a simple </a:t>
                </a:r>
                <a:r>
                  <a:rPr lang="en-US" b="1" dirty="0">
                    <a:solidFill>
                      <a:srgbClr val="C00000"/>
                    </a:solidFill>
                  </a:rPr>
                  <a:t>diagraph</a:t>
                </a:r>
                <a:r>
                  <a:rPr lang="en-US" dirty="0">
                    <a:solidFill>
                      <a:srgbClr val="C00000"/>
                    </a:solidFill>
                  </a:rPr>
                  <a:t> </a:t>
                </a:r>
                <a:r>
                  <a:rPr lang="en-US" dirty="0"/>
                  <a:t>in which </a:t>
                </a:r>
                <a:r>
                  <a:rPr lang="en-US" b="1" dirty="0">
                    <a:solidFill>
                      <a:srgbClr val="C00000"/>
                    </a:solidFill>
                  </a:rPr>
                  <a:t>V = {v</a:t>
                </a:r>
                <a:r>
                  <a:rPr lang="en-US" b="1" baseline="-25000" dirty="0">
                    <a:solidFill>
                      <a:srgbClr val="C00000"/>
                    </a:solidFill>
                  </a:rPr>
                  <a:t>1</a:t>
                </a:r>
                <a:r>
                  <a:rPr lang="en-US" b="1" dirty="0">
                    <a:solidFill>
                      <a:srgbClr val="C00000"/>
                    </a:solidFill>
                  </a:rPr>
                  <a:t>, v</a:t>
                </a:r>
                <a:r>
                  <a:rPr lang="en-US" b="1" baseline="-25000" dirty="0">
                    <a:solidFill>
                      <a:srgbClr val="C00000"/>
                    </a:solidFill>
                  </a:rPr>
                  <a:t>2</a:t>
                </a:r>
                <a:r>
                  <a:rPr lang="en-US" b="1" dirty="0">
                    <a:solidFill>
                      <a:srgbClr val="C00000"/>
                    </a:solidFill>
                  </a:rPr>
                  <a:t>,…., </a:t>
                </a:r>
                <a:r>
                  <a:rPr lang="en-US" b="1" dirty="0" err="1">
                    <a:solidFill>
                      <a:srgbClr val="C00000"/>
                    </a:solidFill>
                  </a:rPr>
                  <a:t>v</a:t>
                </a:r>
                <a:r>
                  <a:rPr lang="en-US" b="1" baseline="-25000" dirty="0" err="1">
                    <a:solidFill>
                      <a:srgbClr val="C00000"/>
                    </a:solidFill>
                  </a:rPr>
                  <a:t>n</a:t>
                </a:r>
                <a:r>
                  <a:rPr lang="en-US" b="1" dirty="0">
                    <a:solidFill>
                      <a:srgbClr val="C00000"/>
                    </a:solidFill>
                  </a:rPr>
                  <a:t>}</a:t>
                </a:r>
                <a:r>
                  <a:rPr lang="en-US" dirty="0">
                    <a:solidFill>
                      <a:srgbClr val="C00000"/>
                    </a:solidFill>
                  </a:rPr>
                  <a:t> </a:t>
                </a:r>
                <a:r>
                  <a:rPr lang="en-US" dirty="0"/>
                  <a:t>and the </a:t>
                </a:r>
                <a:r>
                  <a:rPr lang="en-US" b="1" dirty="0">
                    <a:solidFill>
                      <a:srgbClr val="C00000"/>
                    </a:solidFill>
                  </a:rPr>
                  <a:t>nodes</a:t>
                </a:r>
                <a:r>
                  <a:rPr lang="en-US" dirty="0">
                    <a:solidFill>
                      <a:srgbClr val="C00000"/>
                    </a:solidFill>
                  </a:rPr>
                  <a:t> </a:t>
                </a:r>
                <a:r>
                  <a:rPr lang="en-US" dirty="0"/>
                  <a:t>are assumed to be </a:t>
                </a:r>
                <a:r>
                  <a:rPr lang="en-US" b="1" dirty="0">
                    <a:solidFill>
                      <a:srgbClr val="C00000"/>
                    </a:solidFill>
                  </a:rPr>
                  <a:t>ordered</a:t>
                </a:r>
                <a:r>
                  <a:rPr lang="en-US" dirty="0">
                    <a:solidFill>
                      <a:srgbClr val="C00000"/>
                    </a:solidFill>
                  </a:rPr>
                  <a:t> </a:t>
                </a:r>
                <a:r>
                  <a:rPr lang="en-US" dirty="0"/>
                  <a:t>from </a:t>
                </a:r>
                <a:r>
                  <a:rPr lang="en-US" b="1" dirty="0">
                    <a:solidFill>
                      <a:srgbClr val="C00000"/>
                    </a:solidFill>
                  </a:rPr>
                  <a:t>v</a:t>
                </a:r>
                <a:r>
                  <a:rPr lang="en-US" b="1" baseline="-25000" dirty="0">
                    <a:solidFill>
                      <a:srgbClr val="C00000"/>
                    </a:solidFill>
                  </a:rPr>
                  <a:t>1</a:t>
                </a:r>
                <a:r>
                  <a:rPr lang="en-US" dirty="0"/>
                  <a:t> to </a:t>
                </a:r>
                <a:r>
                  <a:rPr lang="en-US" b="1" dirty="0" err="1">
                    <a:solidFill>
                      <a:srgbClr val="C00000"/>
                    </a:solidFill>
                  </a:rPr>
                  <a:t>v</a:t>
                </a:r>
                <a:r>
                  <a:rPr lang="en-US" b="1" baseline="-25000" dirty="0" err="1">
                    <a:solidFill>
                      <a:srgbClr val="C00000"/>
                    </a:solidFill>
                  </a:rPr>
                  <a:t>n</a:t>
                </a:r>
                <a:endParaRPr lang="en-US" dirty="0">
                  <a:solidFill>
                    <a:srgbClr val="C00000"/>
                  </a:solidFill>
                </a:endParaRPr>
              </a:p>
              <a:p>
                <a:r>
                  <a:rPr lang="en-US" dirty="0"/>
                  <a:t>An n x n matrix </a:t>
                </a:r>
                <a:r>
                  <a:rPr lang="en-US" b="1" dirty="0">
                    <a:solidFill>
                      <a:srgbClr val="C00000"/>
                    </a:solidFill>
                  </a:rPr>
                  <a:t>A</a:t>
                </a:r>
                <a:r>
                  <a:rPr lang="en-US" dirty="0"/>
                  <a:t> is called </a:t>
                </a:r>
                <a:r>
                  <a:rPr lang="en-US" b="1" dirty="0">
                    <a:solidFill>
                      <a:srgbClr val="C00000"/>
                    </a:solidFill>
                  </a:rPr>
                  <a:t>Adjacency matrix</a:t>
                </a:r>
                <a:r>
                  <a:rPr lang="en-US" dirty="0">
                    <a:solidFill>
                      <a:srgbClr val="C00000"/>
                    </a:solidFill>
                  </a:rPr>
                  <a:t> </a:t>
                </a:r>
                <a:r>
                  <a:rPr lang="en-US" dirty="0"/>
                  <a:t>of the graph G whose </a:t>
                </a:r>
                <a:r>
                  <a:rPr lang="en-US" b="1" dirty="0">
                    <a:solidFill>
                      <a:srgbClr val="C00000"/>
                    </a:solidFill>
                  </a:rPr>
                  <a:t>elements</a:t>
                </a:r>
                <a:r>
                  <a:rPr lang="en-US" dirty="0">
                    <a:solidFill>
                      <a:srgbClr val="FF0000"/>
                    </a:solidFill>
                  </a:rPr>
                  <a:t> </a:t>
                </a:r>
                <a:r>
                  <a:rPr lang="en-US" dirty="0"/>
                  <a:t>are </a:t>
                </a:r>
                <a:r>
                  <a:rPr lang="en-US" b="1" dirty="0" err="1">
                    <a:solidFill>
                      <a:srgbClr val="C00000"/>
                    </a:solidFill>
                  </a:rPr>
                  <a:t>a</a:t>
                </a:r>
                <a:r>
                  <a:rPr lang="en-US" b="1" baseline="-25000" dirty="0" err="1">
                    <a:solidFill>
                      <a:srgbClr val="C00000"/>
                    </a:solidFill>
                  </a:rPr>
                  <a:t>ij</a:t>
                </a:r>
                <a:r>
                  <a:rPr lang="en-US" dirty="0"/>
                  <a:t> are given by</a:t>
                </a:r>
              </a:p>
              <a:p>
                <a:pPr marL="0" indent="0" algn="ctr">
                  <a:buNone/>
                </a:pPr>
                <a:r>
                  <a:rPr lang="en-US" dirty="0" err="1"/>
                  <a:t>a</a:t>
                </a:r>
                <a:r>
                  <a:rPr lang="en-US" baseline="-25000" dirty="0" err="1"/>
                  <a:t>ij</a:t>
                </a:r>
                <a:r>
                  <a:rPr lang="en-US" dirty="0"/>
                  <a:t>  =  </a:t>
                </a:r>
                <a14:m>
                  <m:oMath xmlns:m="http://schemas.openxmlformats.org/officeDocument/2006/math">
                    <m:d>
                      <m:dPr>
                        <m:begChr m:val="{"/>
                        <m:endChr m:val=""/>
                        <m:ctrlPr>
                          <a:rPr lang="en-US" i="1" dirty="0">
                            <a:latin typeface="Cambria Math" panose="02040503050406030204" pitchFamily="18" charset="0"/>
                          </a:rPr>
                        </m:ctrlPr>
                      </m:dPr>
                      <m:e>
                        <m:eqArr>
                          <m:eqArrPr>
                            <m:ctrlPr>
                              <a:rPr lang="en-US" i="1" dirty="0">
                                <a:latin typeface="Cambria Math" panose="02040503050406030204" pitchFamily="18" charset="0"/>
                              </a:rPr>
                            </m:ctrlPr>
                          </m:eqArrPr>
                          <m:e>
                            <m:r>
                              <a:rPr lang="en-US" i="1" dirty="0">
                                <a:latin typeface="Cambria Math" panose="02040503050406030204" pitchFamily="18" charset="0"/>
                              </a:rPr>
                              <m:t>1  </m:t>
                            </m:r>
                            <m:r>
                              <a:rPr lang="en-US" i="1" dirty="0">
                                <a:latin typeface="Cambria Math" panose="02040503050406030204" pitchFamily="18" charset="0"/>
                              </a:rPr>
                              <m:t>𝑖𝑓</m:t>
                            </m:r>
                            <m:d>
                              <m:dPr>
                                <m:ctrlPr>
                                  <a:rPr lang="en-US" i="1" dirty="0">
                                    <a:latin typeface="Cambria Math" panose="02040503050406030204" pitchFamily="18" charset="0"/>
                                  </a:rPr>
                                </m:ctrlPr>
                              </m:dPr>
                              <m:e>
                                <m:r>
                                  <a:rPr lang="en-US" i="1" dirty="0">
                                    <a:latin typeface="Cambria Math" panose="02040503050406030204" pitchFamily="18" charset="0"/>
                                  </a:rPr>
                                  <m:t>𝑉</m:t>
                                </m:r>
                                <m:r>
                                  <a:rPr lang="en-US" i="1" baseline="-25000" dirty="0">
                                    <a:latin typeface="Cambria Math" panose="02040503050406030204" pitchFamily="18" charset="0"/>
                                  </a:rPr>
                                  <m:t>𝑖</m:t>
                                </m:r>
                                <m:r>
                                  <a:rPr lang="en-US" i="1" dirty="0">
                                    <a:latin typeface="Cambria Math" panose="02040503050406030204" pitchFamily="18" charset="0"/>
                                  </a:rPr>
                                  <m:t>, </m:t>
                                </m:r>
                                <m:r>
                                  <a:rPr lang="en-US" i="1" dirty="0">
                                    <a:latin typeface="Cambria Math" panose="02040503050406030204" pitchFamily="18" charset="0"/>
                                  </a:rPr>
                                  <m:t>𝑉𝑗</m:t>
                                </m:r>
                              </m:e>
                            </m:d>
                            <m:r>
                              <a:rPr lang="en-US" i="1" dirty="0">
                                <a:latin typeface="Cambria Math" panose="02040503050406030204" pitchFamily="18" charset="0"/>
                              </a:rPr>
                              <m:t>∈</m:t>
                            </m:r>
                            <m:r>
                              <a:rPr lang="en-US" i="1" dirty="0">
                                <a:latin typeface="Cambria Math" panose="02040503050406030204" pitchFamily="18" charset="0"/>
                              </a:rPr>
                              <m:t>𝐸</m:t>
                            </m:r>
                          </m:e>
                          <m:e>
                            <m:r>
                              <a:rPr lang="en-IN" b="0" i="1" dirty="0" smtClean="0">
                                <a:latin typeface="Cambria Math" panose="02040503050406030204" pitchFamily="18" charset="0"/>
                              </a:rPr>
                              <m:t>    </m:t>
                            </m:r>
                            <m:r>
                              <a:rPr lang="en-US" i="1" dirty="0">
                                <a:latin typeface="Cambria Math" panose="02040503050406030204" pitchFamily="18" charset="0"/>
                              </a:rPr>
                              <m:t>0  </m:t>
                            </m:r>
                            <m:r>
                              <a:rPr lang="en-US" i="1" dirty="0">
                                <a:latin typeface="Cambria Math" panose="02040503050406030204" pitchFamily="18" charset="0"/>
                              </a:rPr>
                              <m:t>𝑜𝑡h𝑒𝑟𝑤𝑖𝑠𝑒</m:t>
                            </m:r>
                            <m:r>
                              <a:rPr lang="en-US" i="1" dirty="0">
                                <a:latin typeface="Cambria Math" panose="02040503050406030204" pitchFamily="18" charset="0"/>
                              </a:rPr>
                              <m:t>         </m:t>
                            </m:r>
                          </m:e>
                        </m:eqAr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6" t="-436" r="-818"/>
                </a:stretch>
              </a:blipFill>
            </p:spPr>
            <p:txBody>
              <a:bodyPr/>
              <a:lstStyle/>
              <a:p>
                <a:r>
                  <a:rPr lang="en-IN">
                    <a:noFill/>
                  </a:rPr>
                  <a:t> </a:t>
                </a:r>
              </a:p>
            </p:txBody>
          </p:sp>
        </mc:Fallback>
      </mc:AlternateContent>
    </p:spTree>
    <p:extLst>
      <p:ext uri="{BB962C8B-B14F-4D97-AF65-F5344CB8AC3E}">
        <p14:creationId xmlns:p14="http://schemas.microsoft.com/office/powerpoint/2010/main" val="840480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a:t>
            </a:r>
          </a:p>
        </p:txBody>
      </p:sp>
      <p:sp>
        <p:nvSpPr>
          <p:cNvPr id="3" name="Content Placeholder 2"/>
          <p:cNvSpPr>
            <a:spLocks noGrp="1"/>
          </p:cNvSpPr>
          <p:nvPr>
            <p:ph idx="1"/>
          </p:nvPr>
        </p:nvSpPr>
        <p:spPr/>
        <p:txBody>
          <a:bodyPr/>
          <a:lstStyle/>
          <a:p>
            <a:r>
              <a:rPr lang="en-US" dirty="0"/>
              <a:t>An </a:t>
            </a:r>
            <a:r>
              <a:rPr lang="en-US" b="1" dirty="0">
                <a:solidFill>
                  <a:srgbClr val="C00000"/>
                </a:solidFill>
              </a:rPr>
              <a:t>element</a:t>
            </a:r>
            <a:r>
              <a:rPr lang="en-US" dirty="0">
                <a:solidFill>
                  <a:srgbClr val="C00000"/>
                </a:solidFill>
              </a:rPr>
              <a:t> </a:t>
            </a:r>
            <a:r>
              <a:rPr lang="en-US" dirty="0"/>
              <a:t>of the adjacency matrix is either </a:t>
            </a:r>
            <a:r>
              <a:rPr lang="en-US" b="1" dirty="0">
                <a:solidFill>
                  <a:srgbClr val="C00000"/>
                </a:solidFill>
              </a:rPr>
              <a:t>0</a:t>
            </a:r>
            <a:r>
              <a:rPr lang="en-US" dirty="0">
                <a:solidFill>
                  <a:srgbClr val="C00000"/>
                </a:solidFill>
              </a:rPr>
              <a:t> </a:t>
            </a:r>
            <a:r>
              <a:rPr lang="en-US" dirty="0"/>
              <a:t>or </a:t>
            </a:r>
            <a:r>
              <a:rPr lang="en-US" b="1" dirty="0">
                <a:solidFill>
                  <a:srgbClr val="C00000"/>
                </a:solidFill>
              </a:rPr>
              <a:t>1</a:t>
            </a:r>
            <a:endParaRPr lang="en-US" dirty="0">
              <a:solidFill>
                <a:srgbClr val="C00000"/>
              </a:solidFill>
            </a:endParaRPr>
          </a:p>
          <a:p>
            <a:r>
              <a:rPr lang="en-US" dirty="0"/>
              <a:t>Any </a:t>
            </a:r>
            <a:r>
              <a:rPr lang="en-US" b="1" dirty="0">
                <a:solidFill>
                  <a:srgbClr val="C00000"/>
                </a:solidFill>
              </a:rPr>
              <a:t>matrix</a:t>
            </a:r>
            <a:r>
              <a:rPr lang="en-US" dirty="0">
                <a:solidFill>
                  <a:srgbClr val="C00000"/>
                </a:solidFill>
              </a:rPr>
              <a:t> </a:t>
            </a:r>
            <a:r>
              <a:rPr lang="en-US" dirty="0"/>
              <a:t>whose </a:t>
            </a:r>
            <a:r>
              <a:rPr lang="en-US" b="1" dirty="0">
                <a:solidFill>
                  <a:srgbClr val="C00000"/>
                </a:solidFill>
              </a:rPr>
              <a:t>elements are either 0 or 1 </a:t>
            </a:r>
            <a:r>
              <a:rPr lang="en-US" dirty="0"/>
              <a:t>is called </a:t>
            </a:r>
            <a:r>
              <a:rPr lang="en-US" b="1" dirty="0">
                <a:solidFill>
                  <a:srgbClr val="C00000"/>
                </a:solidFill>
              </a:rPr>
              <a:t>bit matrix</a:t>
            </a:r>
            <a:r>
              <a:rPr lang="en-US" dirty="0">
                <a:solidFill>
                  <a:srgbClr val="C00000"/>
                </a:solidFill>
              </a:rPr>
              <a:t> </a:t>
            </a:r>
            <a:r>
              <a:rPr lang="en-US" dirty="0"/>
              <a:t>or </a:t>
            </a:r>
            <a:r>
              <a:rPr lang="en-US" b="1" dirty="0">
                <a:solidFill>
                  <a:srgbClr val="C00000"/>
                </a:solidFill>
              </a:rPr>
              <a:t>Boolean matrix</a:t>
            </a:r>
          </a:p>
          <a:p>
            <a:r>
              <a:rPr lang="en-US" dirty="0"/>
              <a:t>For a given graph G =m (V, E), an </a:t>
            </a:r>
            <a:r>
              <a:rPr lang="en-US" b="1" dirty="0">
                <a:solidFill>
                  <a:srgbClr val="C00000"/>
                </a:solidFill>
              </a:rPr>
              <a:t>adjacency matrix</a:t>
            </a:r>
            <a:r>
              <a:rPr lang="en-US" dirty="0">
                <a:solidFill>
                  <a:srgbClr val="C00000"/>
                </a:solidFill>
              </a:rPr>
              <a:t> </a:t>
            </a:r>
            <a:r>
              <a:rPr lang="en-US" dirty="0"/>
              <a:t>depends upon the ordering of the elements of V</a:t>
            </a:r>
          </a:p>
          <a:p>
            <a:r>
              <a:rPr lang="en-US" dirty="0"/>
              <a:t>For different ordering of the elements of V we get different adjacency matrices.</a:t>
            </a:r>
          </a:p>
          <a:p>
            <a:endParaRPr lang="en-US" dirty="0"/>
          </a:p>
        </p:txBody>
      </p:sp>
      <p:sp>
        <p:nvSpPr>
          <p:cNvPr id="4" name="Oval 3"/>
          <p:cNvSpPr/>
          <p:nvPr/>
        </p:nvSpPr>
        <p:spPr>
          <a:xfrm>
            <a:off x="1362711" y="41529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362711" y="54483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724911" y="41529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724911" y="54483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4" idx="6"/>
            <a:endCxn id="6" idx="2"/>
          </p:cNvCxnSpPr>
          <p:nvPr/>
        </p:nvCxnSpPr>
        <p:spPr>
          <a:xfrm>
            <a:off x="1743711" y="4343400"/>
            <a:ext cx="19812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 name="Straight Arrow Connector 8"/>
          <p:cNvCxnSpPr>
            <a:stCxn id="7" idx="0"/>
            <a:endCxn id="6" idx="4"/>
          </p:cNvCxnSpPr>
          <p:nvPr/>
        </p:nvCxnSpPr>
        <p:spPr>
          <a:xfrm flipV="1">
            <a:off x="3915411" y="4533900"/>
            <a:ext cx="0" cy="9144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a:stCxn id="7" idx="2"/>
            <a:endCxn id="5" idx="6"/>
          </p:cNvCxnSpPr>
          <p:nvPr/>
        </p:nvCxnSpPr>
        <p:spPr>
          <a:xfrm flipH="1">
            <a:off x="1743711" y="5638800"/>
            <a:ext cx="19812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a:stCxn id="6" idx="3"/>
            <a:endCxn id="5" idx="7"/>
          </p:cNvCxnSpPr>
          <p:nvPr/>
        </p:nvCxnSpPr>
        <p:spPr>
          <a:xfrm flipH="1">
            <a:off x="1687915" y="4478104"/>
            <a:ext cx="2092792" cy="10259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7" idx="1"/>
            <a:endCxn id="4" idx="5"/>
          </p:cNvCxnSpPr>
          <p:nvPr/>
        </p:nvCxnSpPr>
        <p:spPr>
          <a:xfrm flipH="1" flipV="1">
            <a:off x="1687915" y="4478104"/>
            <a:ext cx="2092792" cy="10259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3" name="Curved Connector 12"/>
          <p:cNvCxnSpPr>
            <a:stCxn id="4" idx="2"/>
            <a:endCxn id="5" idx="2"/>
          </p:cNvCxnSpPr>
          <p:nvPr/>
        </p:nvCxnSpPr>
        <p:spPr>
          <a:xfrm rot="10800000" flipV="1">
            <a:off x="1362711" y="4343400"/>
            <a:ext cx="12700" cy="1295400"/>
          </a:xfrm>
          <a:prstGeom prst="curvedConnector3">
            <a:avLst>
              <a:gd name="adj1" fmla="val 2475000"/>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5" idx="0"/>
            <a:endCxn id="4" idx="4"/>
          </p:cNvCxnSpPr>
          <p:nvPr/>
        </p:nvCxnSpPr>
        <p:spPr>
          <a:xfrm flipV="1">
            <a:off x="1553211" y="4533900"/>
            <a:ext cx="0" cy="9144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15" name="TextBox 14"/>
          <p:cNvSpPr txBox="1"/>
          <p:nvPr/>
        </p:nvSpPr>
        <p:spPr>
          <a:xfrm>
            <a:off x="1356361" y="3733801"/>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16" name="TextBox 15"/>
          <p:cNvSpPr txBox="1"/>
          <p:nvPr/>
        </p:nvSpPr>
        <p:spPr>
          <a:xfrm>
            <a:off x="1362711" y="5753101"/>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17" name="TextBox 16"/>
          <p:cNvSpPr txBox="1"/>
          <p:nvPr/>
        </p:nvSpPr>
        <p:spPr>
          <a:xfrm>
            <a:off x="3753486" y="5777211"/>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18" name="TextBox 17"/>
          <p:cNvSpPr txBox="1"/>
          <p:nvPr/>
        </p:nvSpPr>
        <p:spPr>
          <a:xfrm>
            <a:off x="3729557" y="3733801"/>
            <a:ext cx="471604" cy="461665"/>
          </a:xfrm>
          <a:prstGeom prst="rect">
            <a:avLst/>
          </a:prstGeom>
          <a:noFill/>
        </p:spPr>
        <p:txBody>
          <a:bodyPr wrap="none" rtlCol="0">
            <a:spAutoFit/>
          </a:bodyPr>
          <a:lstStyle/>
          <a:p>
            <a:r>
              <a:rPr lang="en-US" sz="2400" b="1" dirty="0"/>
              <a:t>V</a:t>
            </a:r>
            <a:r>
              <a:rPr lang="en-US" sz="2400" b="1" baseline="-25000" dirty="0"/>
              <a:t>4</a:t>
            </a:r>
          </a:p>
        </p:txBody>
      </p:sp>
      <p:graphicFrame>
        <p:nvGraphicFramePr>
          <p:cNvPr id="19" name="Table 18"/>
          <p:cNvGraphicFramePr>
            <a:graphicFrameLocks noGrp="1"/>
          </p:cNvGraphicFramePr>
          <p:nvPr>
            <p:extLst>
              <p:ext uri="{D42A27DB-BD31-4B8C-83A1-F6EECF244321}">
                <p14:modId xmlns:p14="http://schemas.microsoft.com/office/powerpoint/2010/main" val="3928416146"/>
              </p:ext>
            </p:extLst>
          </p:nvPr>
        </p:nvGraphicFramePr>
        <p:xfrm>
          <a:off x="6087111" y="4254500"/>
          <a:ext cx="2667000" cy="1828800"/>
        </p:xfrm>
        <a:graphic>
          <a:graphicData uri="http://schemas.openxmlformats.org/drawingml/2006/table">
            <a:tbl>
              <a:tblPr firstRow="1" bandRow="1">
                <a:tableStyleId>{2D5ABB26-0587-4C30-8999-92F81FD0307C}</a:tableStyleId>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tblGrid>
              <a:tr h="370840">
                <a:tc>
                  <a:txBody>
                    <a:bodyPr/>
                    <a:lstStyle/>
                    <a:p>
                      <a:pPr algn="ctr"/>
                      <a:r>
                        <a:rPr lang="en-US" sz="2400" dirty="0"/>
                        <a:t>0</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1</a:t>
                      </a:r>
                    </a:p>
                  </a:txBody>
                  <a:tcPr anchor="ctr"/>
                </a:tc>
                <a:extLst>
                  <a:ext uri="{0D108BD9-81ED-4DB2-BD59-A6C34878D82A}">
                    <a16:rowId xmlns:a16="http://schemas.microsoft.com/office/drawing/2014/main" val="10000"/>
                  </a:ext>
                </a:extLst>
              </a:tr>
              <a:tr h="370840">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0</a:t>
                      </a:r>
                    </a:p>
                  </a:txBody>
                  <a:tcPr anchor="ctr"/>
                </a:tc>
                <a:tc>
                  <a:txBody>
                    <a:bodyPr/>
                    <a:lstStyle/>
                    <a:p>
                      <a:pPr algn="ctr"/>
                      <a:r>
                        <a:rPr lang="en-US" sz="2400" dirty="0"/>
                        <a:t>0</a:t>
                      </a:r>
                    </a:p>
                  </a:txBody>
                  <a:tcPr anchor="ctr"/>
                </a:tc>
                <a:extLst>
                  <a:ext uri="{0D108BD9-81ED-4DB2-BD59-A6C34878D82A}">
                    <a16:rowId xmlns:a16="http://schemas.microsoft.com/office/drawing/2014/main" val="10001"/>
                  </a:ext>
                </a:extLst>
              </a:tr>
              <a:tr h="370840">
                <a:tc>
                  <a:txBody>
                    <a:bodyPr/>
                    <a:lstStyle/>
                    <a:p>
                      <a:pPr algn="ctr"/>
                      <a:r>
                        <a:rPr lang="en-US" sz="2400" dirty="0"/>
                        <a:t>1</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1</a:t>
                      </a:r>
                    </a:p>
                  </a:txBody>
                  <a:tcPr anchor="ctr"/>
                </a:tc>
                <a:extLst>
                  <a:ext uri="{0D108BD9-81ED-4DB2-BD59-A6C34878D82A}">
                    <a16:rowId xmlns:a16="http://schemas.microsoft.com/office/drawing/2014/main" val="10002"/>
                  </a:ext>
                </a:extLst>
              </a:tr>
              <a:tr h="370840">
                <a:tc>
                  <a:txBody>
                    <a:bodyPr/>
                    <a:lstStyle/>
                    <a:p>
                      <a:pPr algn="ctr"/>
                      <a:r>
                        <a:rPr lang="en-US" sz="2400" dirty="0"/>
                        <a:t>0</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0</a:t>
                      </a:r>
                    </a:p>
                  </a:txBody>
                  <a:tcPr anchor="ctr"/>
                </a:tc>
                <a:extLst>
                  <a:ext uri="{0D108BD9-81ED-4DB2-BD59-A6C34878D82A}">
                    <a16:rowId xmlns:a16="http://schemas.microsoft.com/office/drawing/2014/main" val="10003"/>
                  </a:ext>
                </a:extLst>
              </a:tr>
            </a:tbl>
          </a:graphicData>
        </a:graphic>
      </p:graphicFrame>
      <p:sp>
        <p:nvSpPr>
          <p:cNvPr id="20" name="Double Bracket 19"/>
          <p:cNvSpPr/>
          <p:nvPr/>
        </p:nvSpPr>
        <p:spPr>
          <a:xfrm>
            <a:off x="5848986" y="4076701"/>
            <a:ext cx="3124200" cy="2138065"/>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1" name="TextBox 20"/>
          <p:cNvSpPr txBox="1"/>
          <p:nvPr/>
        </p:nvSpPr>
        <p:spPr>
          <a:xfrm>
            <a:off x="6236955" y="3750618"/>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22" name="TextBox 21"/>
          <p:cNvSpPr txBox="1"/>
          <p:nvPr/>
        </p:nvSpPr>
        <p:spPr>
          <a:xfrm>
            <a:off x="5325111" y="4247272"/>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23" name="TextBox 22"/>
          <p:cNvSpPr txBox="1"/>
          <p:nvPr/>
        </p:nvSpPr>
        <p:spPr>
          <a:xfrm>
            <a:off x="6860726" y="3771901"/>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24" name="TextBox 23"/>
          <p:cNvSpPr txBox="1"/>
          <p:nvPr/>
        </p:nvSpPr>
        <p:spPr>
          <a:xfrm>
            <a:off x="5325111" y="4708937"/>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25" name="TextBox 24"/>
          <p:cNvSpPr txBox="1"/>
          <p:nvPr/>
        </p:nvSpPr>
        <p:spPr>
          <a:xfrm>
            <a:off x="7484497" y="3785607"/>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26" name="TextBox 25"/>
          <p:cNvSpPr txBox="1"/>
          <p:nvPr/>
        </p:nvSpPr>
        <p:spPr>
          <a:xfrm>
            <a:off x="5351247" y="5145733"/>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27" name="TextBox 26"/>
          <p:cNvSpPr txBox="1"/>
          <p:nvPr/>
        </p:nvSpPr>
        <p:spPr>
          <a:xfrm>
            <a:off x="5348807" y="5582529"/>
            <a:ext cx="471604" cy="461665"/>
          </a:xfrm>
          <a:prstGeom prst="rect">
            <a:avLst/>
          </a:prstGeom>
          <a:noFill/>
        </p:spPr>
        <p:txBody>
          <a:bodyPr wrap="none" rtlCol="0">
            <a:spAutoFit/>
          </a:bodyPr>
          <a:lstStyle/>
          <a:p>
            <a:r>
              <a:rPr lang="en-US" sz="2400" b="1" dirty="0"/>
              <a:t>V</a:t>
            </a:r>
            <a:r>
              <a:rPr lang="en-US" sz="2400" b="1" baseline="-25000" dirty="0"/>
              <a:t>4</a:t>
            </a:r>
          </a:p>
        </p:txBody>
      </p:sp>
      <p:sp>
        <p:nvSpPr>
          <p:cNvPr id="28" name="TextBox 27"/>
          <p:cNvSpPr txBox="1"/>
          <p:nvPr/>
        </p:nvSpPr>
        <p:spPr>
          <a:xfrm>
            <a:off x="8120582" y="3785607"/>
            <a:ext cx="471604" cy="461665"/>
          </a:xfrm>
          <a:prstGeom prst="rect">
            <a:avLst/>
          </a:prstGeom>
          <a:noFill/>
        </p:spPr>
        <p:txBody>
          <a:bodyPr wrap="none" rtlCol="0">
            <a:spAutoFit/>
          </a:bodyPr>
          <a:lstStyle/>
          <a:p>
            <a:r>
              <a:rPr lang="en-US" sz="2400" b="1" dirty="0"/>
              <a:t>V</a:t>
            </a:r>
            <a:r>
              <a:rPr lang="en-US" sz="2400" b="1" baseline="-25000" dirty="0"/>
              <a:t>4</a:t>
            </a:r>
          </a:p>
        </p:txBody>
      </p:sp>
      <p:sp>
        <p:nvSpPr>
          <p:cNvPr id="29" name="TextBox 28"/>
          <p:cNvSpPr txBox="1"/>
          <p:nvPr/>
        </p:nvSpPr>
        <p:spPr>
          <a:xfrm>
            <a:off x="4709161" y="4800601"/>
            <a:ext cx="593432" cy="461665"/>
          </a:xfrm>
          <a:prstGeom prst="rect">
            <a:avLst/>
          </a:prstGeom>
          <a:noFill/>
        </p:spPr>
        <p:txBody>
          <a:bodyPr wrap="none" rtlCol="0">
            <a:spAutoFit/>
          </a:bodyPr>
          <a:lstStyle/>
          <a:p>
            <a:r>
              <a:rPr lang="en-US" sz="2400" b="1" dirty="0">
                <a:solidFill>
                  <a:srgbClr val="C00000"/>
                </a:solidFill>
              </a:rPr>
              <a:t>A =</a:t>
            </a:r>
          </a:p>
        </p:txBody>
      </p:sp>
    </p:spTree>
    <p:extLst>
      <p:ext uri="{BB962C8B-B14F-4D97-AF65-F5344CB8AC3E}">
        <p14:creationId xmlns:p14="http://schemas.microsoft.com/office/powerpoint/2010/main" val="257340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5" grpId="0"/>
      <p:bldP spid="16" grpId="0"/>
      <p:bldP spid="17" grpId="0"/>
      <p:bldP spid="18" grpId="0"/>
      <p:bldP spid="20" grpId="0" animBg="1"/>
      <p:bldP spid="21" grpId="0"/>
      <p:bldP spid="22" grpId="0"/>
      <p:bldP spid="23" grpId="0"/>
      <p:bldP spid="24" grpId="0"/>
      <p:bldP spid="25" grpId="0"/>
      <p:bldP spid="26" grpId="0"/>
      <p:bldP spid="27" grpId="0"/>
      <p:bldP spid="28"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matrix</a:t>
            </a:r>
          </a:p>
        </p:txBody>
      </p:sp>
      <p:sp>
        <p:nvSpPr>
          <p:cNvPr id="3" name="Content Placeholder 2"/>
          <p:cNvSpPr>
            <a:spLocks noGrp="1"/>
          </p:cNvSpPr>
          <p:nvPr>
            <p:ph idx="1"/>
          </p:nvPr>
        </p:nvSpPr>
        <p:spPr>
          <a:xfrm>
            <a:off x="131180" y="3720569"/>
            <a:ext cx="11929641" cy="2733439"/>
          </a:xfrm>
        </p:spPr>
        <p:txBody>
          <a:bodyPr/>
          <a:lstStyle/>
          <a:p>
            <a:r>
              <a:rPr lang="en-US" dirty="0"/>
              <a:t>The </a:t>
            </a:r>
            <a:r>
              <a:rPr lang="en-US" b="1" dirty="0">
                <a:solidFill>
                  <a:srgbClr val="C00000"/>
                </a:solidFill>
              </a:rPr>
              <a:t>number of elements</a:t>
            </a:r>
            <a:r>
              <a:rPr lang="en-US" dirty="0"/>
              <a:t> in the </a:t>
            </a:r>
            <a:r>
              <a:rPr lang="en-US" b="1" dirty="0" err="1">
                <a:solidFill>
                  <a:srgbClr val="C00000"/>
                </a:solidFill>
              </a:rPr>
              <a:t>i</a:t>
            </a:r>
            <a:r>
              <a:rPr lang="en-US" b="1" baseline="30000" dirty="0" err="1">
                <a:solidFill>
                  <a:srgbClr val="C00000"/>
                </a:solidFill>
              </a:rPr>
              <a:t>th</a:t>
            </a:r>
            <a:r>
              <a:rPr lang="en-US" dirty="0">
                <a:solidFill>
                  <a:srgbClr val="C00000"/>
                </a:solidFill>
              </a:rPr>
              <a:t> </a:t>
            </a:r>
            <a:r>
              <a:rPr lang="en-US" b="1" dirty="0">
                <a:solidFill>
                  <a:srgbClr val="C00000"/>
                </a:solidFill>
              </a:rPr>
              <a:t>row</a:t>
            </a:r>
            <a:r>
              <a:rPr lang="en-US" dirty="0">
                <a:solidFill>
                  <a:srgbClr val="C00000"/>
                </a:solidFill>
              </a:rPr>
              <a:t> </a:t>
            </a:r>
            <a:r>
              <a:rPr lang="en-US" dirty="0"/>
              <a:t>whose </a:t>
            </a:r>
            <a:r>
              <a:rPr lang="en-US" b="1" dirty="0">
                <a:solidFill>
                  <a:srgbClr val="C00000"/>
                </a:solidFill>
              </a:rPr>
              <a:t>value is 1</a:t>
            </a:r>
            <a:r>
              <a:rPr lang="en-US" dirty="0">
                <a:solidFill>
                  <a:srgbClr val="C00000"/>
                </a:solidFill>
              </a:rPr>
              <a:t> </a:t>
            </a:r>
            <a:r>
              <a:rPr lang="en-US" dirty="0"/>
              <a:t>is equal to the </a:t>
            </a:r>
            <a:r>
              <a:rPr lang="en-US" b="1" dirty="0">
                <a:solidFill>
                  <a:srgbClr val="C00000"/>
                </a:solidFill>
              </a:rPr>
              <a:t>out-degree</a:t>
            </a:r>
            <a:r>
              <a:rPr lang="en-US" dirty="0"/>
              <a:t> of node </a:t>
            </a:r>
            <a:r>
              <a:rPr lang="en-US" b="1" dirty="0">
                <a:solidFill>
                  <a:srgbClr val="C00000"/>
                </a:solidFill>
              </a:rPr>
              <a:t>V</a:t>
            </a:r>
            <a:r>
              <a:rPr lang="en-US" b="1" baseline="-25000" dirty="0">
                <a:solidFill>
                  <a:srgbClr val="C00000"/>
                </a:solidFill>
              </a:rPr>
              <a:t>i</a:t>
            </a:r>
          </a:p>
          <a:p>
            <a:r>
              <a:rPr lang="en-US" dirty="0"/>
              <a:t>The </a:t>
            </a:r>
            <a:r>
              <a:rPr lang="en-US" b="1" dirty="0">
                <a:solidFill>
                  <a:srgbClr val="C00000"/>
                </a:solidFill>
              </a:rPr>
              <a:t>number of elements</a:t>
            </a:r>
            <a:r>
              <a:rPr lang="en-US" dirty="0">
                <a:solidFill>
                  <a:srgbClr val="C00000"/>
                </a:solidFill>
              </a:rPr>
              <a:t> </a:t>
            </a:r>
            <a:r>
              <a:rPr lang="en-US" dirty="0"/>
              <a:t>in the </a:t>
            </a:r>
            <a:r>
              <a:rPr lang="en-US" b="1" dirty="0" err="1">
                <a:solidFill>
                  <a:srgbClr val="C00000"/>
                </a:solidFill>
              </a:rPr>
              <a:t>j</a:t>
            </a:r>
            <a:r>
              <a:rPr lang="en-US" b="1" baseline="30000" dirty="0" err="1">
                <a:solidFill>
                  <a:srgbClr val="C00000"/>
                </a:solidFill>
              </a:rPr>
              <a:t>th</a:t>
            </a:r>
            <a:r>
              <a:rPr lang="en-US" b="1" dirty="0">
                <a:solidFill>
                  <a:srgbClr val="C00000"/>
                </a:solidFill>
              </a:rPr>
              <a:t> column</a:t>
            </a:r>
            <a:r>
              <a:rPr lang="en-US" dirty="0">
                <a:solidFill>
                  <a:srgbClr val="C00000"/>
                </a:solidFill>
              </a:rPr>
              <a:t> </a:t>
            </a:r>
            <a:r>
              <a:rPr lang="en-US" dirty="0"/>
              <a:t>whose </a:t>
            </a:r>
            <a:r>
              <a:rPr lang="en-US" b="1" dirty="0">
                <a:solidFill>
                  <a:srgbClr val="C00000"/>
                </a:solidFill>
              </a:rPr>
              <a:t>value is 1</a:t>
            </a:r>
            <a:r>
              <a:rPr lang="en-US" dirty="0">
                <a:solidFill>
                  <a:srgbClr val="C00000"/>
                </a:solidFill>
              </a:rPr>
              <a:t> </a:t>
            </a:r>
            <a:r>
              <a:rPr lang="en-US" dirty="0"/>
              <a:t>is equal to the </a:t>
            </a:r>
            <a:r>
              <a:rPr lang="en-US" b="1" dirty="0">
                <a:solidFill>
                  <a:srgbClr val="C00000"/>
                </a:solidFill>
              </a:rPr>
              <a:t>in-degree</a:t>
            </a:r>
            <a:r>
              <a:rPr lang="en-US" dirty="0"/>
              <a:t> of node </a:t>
            </a:r>
            <a:r>
              <a:rPr lang="en-US" b="1" dirty="0" err="1">
                <a:solidFill>
                  <a:srgbClr val="C00000"/>
                </a:solidFill>
              </a:rPr>
              <a:t>V</a:t>
            </a:r>
            <a:r>
              <a:rPr lang="en-US" b="1" baseline="-25000" dirty="0" err="1">
                <a:solidFill>
                  <a:srgbClr val="C00000"/>
                </a:solidFill>
              </a:rPr>
              <a:t>j</a:t>
            </a:r>
            <a:endParaRPr lang="en-US" b="1" baseline="-25000" dirty="0">
              <a:solidFill>
                <a:srgbClr val="C00000"/>
              </a:solidFill>
            </a:endParaRPr>
          </a:p>
          <a:p>
            <a:r>
              <a:rPr lang="en-US" dirty="0"/>
              <a:t>For a </a:t>
            </a:r>
            <a:r>
              <a:rPr lang="en-US" b="1" dirty="0">
                <a:solidFill>
                  <a:srgbClr val="C00000"/>
                </a:solidFill>
              </a:rPr>
              <a:t>NULL graph </a:t>
            </a:r>
            <a:r>
              <a:rPr lang="en-US" dirty="0"/>
              <a:t>which consist of only n nodes but no edges, the </a:t>
            </a:r>
            <a:r>
              <a:rPr lang="en-US" b="1" dirty="0">
                <a:solidFill>
                  <a:srgbClr val="C00000"/>
                </a:solidFill>
              </a:rPr>
              <a:t>adjacency matrix </a:t>
            </a:r>
            <a:r>
              <a:rPr lang="en-US" dirty="0"/>
              <a:t>has </a:t>
            </a:r>
            <a:r>
              <a:rPr lang="en-US" b="1" dirty="0">
                <a:solidFill>
                  <a:srgbClr val="C00000"/>
                </a:solidFill>
              </a:rPr>
              <a:t>all its elements 0</a:t>
            </a:r>
            <a:r>
              <a:rPr lang="en-US" dirty="0"/>
              <a:t>. i.e. the adjacency matrix is the NULL matrix</a:t>
            </a:r>
            <a:endParaRPr lang="en-US" dirty="0">
              <a:solidFill>
                <a:srgbClr val="FF0000"/>
              </a:solidFill>
            </a:endParaRPr>
          </a:p>
        </p:txBody>
      </p:sp>
      <p:sp>
        <p:nvSpPr>
          <p:cNvPr id="4" name="Oval 3"/>
          <p:cNvSpPr/>
          <p:nvPr/>
        </p:nvSpPr>
        <p:spPr>
          <a:xfrm>
            <a:off x="2368550" y="13335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368550" y="26289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30750" y="13335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730750" y="26289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stCxn id="4" idx="6"/>
            <a:endCxn id="6" idx="2"/>
          </p:cNvCxnSpPr>
          <p:nvPr/>
        </p:nvCxnSpPr>
        <p:spPr>
          <a:xfrm>
            <a:off x="2749550" y="1524000"/>
            <a:ext cx="19812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 name="Straight Arrow Connector 8"/>
          <p:cNvCxnSpPr>
            <a:stCxn id="7" idx="0"/>
            <a:endCxn id="6" idx="4"/>
          </p:cNvCxnSpPr>
          <p:nvPr/>
        </p:nvCxnSpPr>
        <p:spPr>
          <a:xfrm flipV="1">
            <a:off x="4921250" y="1714500"/>
            <a:ext cx="0" cy="9144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a:stCxn id="7" idx="2"/>
            <a:endCxn id="5" idx="6"/>
          </p:cNvCxnSpPr>
          <p:nvPr/>
        </p:nvCxnSpPr>
        <p:spPr>
          <a:xfrm flipH="1">
            <a:off x="2749550" y="2819400"/>
            <a:ext cx="19812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 name="Straight Arrow Connector 10"/>
          <p:cNvCxnSpPr>
            <a:stCxn id="6" idx="3"/>
            <a:endCxn id="5" idx="7"/>
          </p:cNvCxnSpPr>
          <p:nvPr/>
        </p:nvCxnSpPr>
        <p:spPr>
          <a:xfrm flipH="1">
            <a:off x="2693754" y="1658704"/>
            <a:ext cx="2092792" cy="10259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2" name="Straight Arrow Connector 11"/>
          <p:cNvCxnSpPr>
            <a:stCxn id="7" idx="1"/>
            <a:endCxn id="4" idx="5"/>
          </p:cNvCxnSpPr>
          <p:nvPr/>
        </p:nvCxnSpPr>
        <p:spPr>
          <a:xfrm flipH="1" flipV="1">
            <a:off x="2693754" y="1658704"/>
            <a:ext cx="2092792" cy="10259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3" name="Curved Connector 12"/>
          <p:cNvCxnSpPr>
            <a:stCxn id="4" idx="2"/>
            <a:endCxn id="5" idx="2"/>
          </p:cNvCxnSpPr>
          <p:nvPr/>
        </p:nvCxnSpPr>
        <p:spPr>
          <a:xfrm rot="10800000" flipV="1">
            <a:off x="2368550" y="1524000"/>
            <a:ext cx="12700" cy="1295400"/>
          </a:xfrm>
          <a:prstGeom prst="curvedConnector3">
            <a:avLst>
              <a:gd name="adj1" fmla="val 2475000"/>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4" name="Straight Arrow Connector 13"/>
          <p:cNvCxnSpPr>
            <a:stCxn id="5" idx="0"/>
            <a:endCxn id="4" idx="4"/>
          </p:cNvCxnSpPr>
          <p:nvPr/>
        </p:nvCxnSpPr>
        <p:spPr>
          <a:xfrm flipV="1">
            <a:off x="2559050" y="1714500"/>
            <a:ext cx="0" cy="9144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15" name="TextBox 14"/>
          <p:cNvSpPr txBox="1"/>
          <p:nvPr/>
        </p:nvSpPr>
        <p:spPr>
          <a:xfrm>
            <a:off x="2362200" y="914401"/>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16" name="TextBox 15"/>
          <p:cNvSpPr txBox="1"/>
          <p:nvPr/>
        </p:nvSpPr>
        <p:spPr>
          <a:xfrm>
            <a:off x="2368550" y="2933701"/>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17" name="TextBox 16"/>
          <p:cNvSpPr txBox="1"/>
          <p:nvPr/>
        </p:nvSpPr>
        <p:spPr>
          <a:xfrm>
            <a:off x="4759325" y="2957811"/>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18" name="TextBox 17"/>
          <p:cNvSpPr txBox="1"/>
          <p:nvPr/>
        </p:nvSpPr>
        <p:spPr>
          <a:xfrm>
            <a:off x="4735396" y="914401"/>
            <a:ext cx="471604" cy="461665"/>
          </a:xfrm>
          <a:prstGeom prst="rect">
            <a:avLst/>
          </a:prstGeom>
          <a:noFill/>
        </p:spPr>
        <p:txBody>
          <a:bodyPr wrap="none" rtlCol="0">
            <a:spAutoFit/>
          </a:bodyPr>
          <a:lstStyle/>
          <a:p>
            <a:r>
              <a:rPr lang="en-US" sz="2400" b="1" dirty="0"/>
              <a:t>V</a:t>
            </a:r>
            <a:r>
              <a:rPr lang="en-US" sz="2400" b="1" baseline="-25000" dirty="0"/>
              <a:t>4</a:t>
            </a:r>
          </a:p>
        </p:txBody>
      </p:sp>
      <p:graphicFrame>
        <p:nvGraphicFramePr>
          <p:cNvPr id="19" name="Table 18"/>
          <p:cNvGraphicFramePr>
            <a:graphicFrameLocks noGrp="1"/>
          </p:cNvGraphicFramePr>
          <p:nvPr/>
        </p:nvGraphicFramePr>
        <p:xfrm>
          <a:off x="7092950" y="1435100"/>
          <a:ext cx="2667000" cy="1828800"/>
        </p:xfrm>
        <a:graphic>
          <a:graphicData uri="http://schemas.openxmlformats.org/drawingml/2006/table">
            <a:tbl>
              <a:tblPr firstRow="1" bandRow="1">
                <a:tableStyleId>{2D5ABB26-0587-4C30-8999-92F81FD0307C}</a:tableStyleId>
              </a:tblPr>
              <a:tblGrid>
                <a:gridCol w="666750">
                  <a:extLst>
                    <a:ext uri="{9D8B030D-6E8A-4147-A177-3AD203B41FA5}">
                      <a16:colId xmlns:a16="http://schemas.microsoft.com/office/drawing/2014/main" val="20000"/>
                    </a:ext>
                  </a:extLst>
                </a:gridCol>
                <a:gridCol w="666750">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6750">
                  <a:extLst>
                    <a:ext uri="{9D8B030D-6E8A-4147-A177-3AD203B41FA5}">
                      <a16:colId xmlns:a16="http://schemas.microsoft.com/office/drawing/2014/main" val="20003"/>
                    </a:ext>
                  </a:extLst>
                </a:gridCol>
              </a:tblGrid>
              <a:tr h="370840">
                <a:tc>
                  <a:txBody>
                    <a:bodyPr/>
                    <a:lstStyle/>
                    <a:p>
                      <a:pPr algn="ctr"/>
                      <a:r>
                        <a:rPr lang="en-US" sz="2400" dirty="0"/>
                        <a:t>0</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1</a:t>
                      </a:r>
                    </a:p>
                  </a:txBody>
                  <a:tcPr anchor="ctr"/>
                </a:tc>
                <a:extLst>
                  <a:ext uri="{0D108BD9-81ED-4DB2-BD59-A6C34878D82A}">
                    <a16:rowId xmlns:a16="http://schemas.microsoft.com/office/drawing/2014/main" val="10000"/>
                  </a:ext>
                </a:extLst>
              </a:tr>
              <a:tr h="370840">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0</a:t>
                      </a:r>
                    </a:p>
                  </a:txBody>
                  <a:tcPr anchor="ctr"/>
                </a:tc>
                <a:tc>
                  <a:txBody>
                    <a:bodyPr/>
                    <a:lstStyle/>
                    <a:p>
                      <a:pPr algn="ctr"/>
                      <a:r>
                        <a:rPr lang="en-US" sz="2400" dirty="0"/>
                        <a:t>0</a:t>
                      </a:r>
                    </a:p>
                  </a:txBody>
                  <a:tcPr anchor="ctr"/>
                </a:tc>
                <a:extLst>
                  <a:ext uri="{0D108BD9-81ED-4DB2-BD59-A6C34878D82A}">
                    <a16:rowId xmlns:a16="http://schemas.microsoft.com/office/drawing/2014/main" val="10001"/>
                  </a:ext>
                </a:extLst>
              </a:tr>
              <a:tr h="370840">
                <a:tc>
                  <a:txBody>
                    <a:bodyPr/>
                    <a:lstStyle/>
                    <a:p>
                      <a:pPr algn="ctr"/>
                      <a:r>
                        <a:rPr lang="en-US" sz="2400" dirty="0"/>
                        <a:t>1</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1</a:t>
                      </a:r>
                    </a:p>
                  </a:txBody>
                  <a:tcPr anchor="ctr"/>
                </a:tc>
                <a:extLst>
                  <a:ext uri="{0D108BD9-81ED-4DB2-BD59-A6C34878D82A}">
                    <a16:rowId xmlns:a16="http://schemas.microsoft.com/office/drawing/2014/main" val="10002"/>
                  </a:ext>
                </a:extLst>
              </a:tr>
              <a:tr h="370840">
                <a:tc>
                  <a:txBody>
                    <a:bodyPr/>
                    <a:lstStyle/>
                    <a:p>
                      <a:pPr algn="ctr"/>
                      <a:r>
                        <a:rPr lang="en-US" sz="2400" dirty="0"/>
                        <a:t>0</a:t>
                      </a:r>
                    </a:p>
                  </a:txBody>
                  <a:tcPr anchor="ctr"/>
                </a:tc>
                <a:tc>
                  <a:txBody>
                    <a:bodyPr/>
                    <a:lstStyle/>
                    <a:p>
                      <a:pPr algn="ctr"/>
                      <a:r>
                        <a:rPr lang="en-US" sz="2400" dirty="0"/>
                        <a:t>1</a:t>
                      </a:r>
                    </a:p>
                  </a:txBody>
                  <a:tcPr anchor="ctr"/>
                </a:tc>
                <a:tc>
                  <a:txBody>
                    <a:bodyPr/>
                    <a:lstStyle/>
                    <a:p>
                      <a:pPr algn="ctr"/>
                      <a:r>
                        <a:rPr lang="en-US" sz="2400" dirty="0"/>
                        <a:t>0</a:t>
                      </a:r>
                    </a:p>
                  </a:txBody>
                  <a:tcPr anchor="ctr"/>
                </a:tc>
                <a:tc>
                  <a:txBody>
                    <a:bodyPr/>
                    <a:lstStyle/>
                    <a:p>
                      <a:pPr algn="ctr"/>
                      <a:r>
                        <a:rPr lang="en-US" sz="2400" dirty="0"/>
                        <a:t>0</a:t>
                      </a:r>
                    </a:p>
                  </a:txBody>
                  <a:tcPr anchor="ctr"/>
                </a:tc>
                <a:extLst>
                  <a:ext uri="{0D108BD9-81ED-4DB2-BD59-A6C34878D82A}">
                    <a16:rowId xmlns:a16="http://schemas.microsoft.com/office/drawing/2014/main" val="10003"/>
                  </a:ext>
                </a:extLst>
              </a:tr>
            </a:tbl>
          </a:graphicData>
        </a:graphic>
      </p:graphicFrame>
      <p:sp>
        <p:nvSpPr>
          <p:cNvPr id="20" name="Double Bracket 19"/>
          <p:cNvSpPr/>
          <p:nvPr/>
        </p:nvSpPr>
        <p:spPr>
          <a:xfrm>
            <a:off x="6854825" y="1257301"/>
            <a:ext cx="3124200" cy="2138065"/>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1" name="TextBox 20"/>
          <p:cNvSpPr txBox="1"/>
          <p:nvPr/>
        </p:nvSpPr>
        <p:spPr>
          <a:xfrm>
            <a:off x="7242794" y="931218"/>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22" name="TextBox 21"/>
          <p:cNvSpPr txBox="1"/>
          <p:nvPr/>
        </p:nvSpPr>
        <p:spPr>
          <a:xfrm>
            <a:off x="6330950" y="1427872"/>
            <a:ext cx="471604" cy="461665"/>
          </a:xfrm>
          <a:prstGeom prst="rect">
            <a:avLst/>
          </a:prstGeom>
          <a:noFill/>
        </p:spPr>
        <p:txBody>
          <a:bodyPr wrap="none" rtlCol="0">
            <a:spAutoFit/>
          </a:bodyPr>
          <a:lstStyle/>
          <a:p>
            <a:r>
              <a:rPr lang="en-US" sz="2400" b="1" dirty="0"/>
              <a:t>V</a:t>
            </a:r>
            <a:r>
              <a:rPr lang="en-US" sz="2400" b="1" baseline="-25000" dirty="0"/>
              <a:t>1</a:t>
            </a:r>
          </a:p>
        </p:txBody>
      </p:sp>
      <p:sp>
        <p:nvSpPr>
          <p:cNvPr id="23" name="TextBox 22"/>
          <p:cNvSpPr txBox="1"/>
          <p:nvPr/>
        </p:nvSpPr>
        <p:spPr>
          <a:xfrm>
            <a:off x="7866565" y="952501"/>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24" name="TextBox 23"/>
          <p:cNvSpPr txBox="1"/>
          <p:nvPr/>
        </p:nvSpPr>
        <p:spPr>
          <a:xfrm>
            <a:off x="6330950" y="1889537"/>
            <a:ext cx="471604" cy="461665"/>
          </a:xfrm>
          <a:prstGeom prst="rect">
            <a:avLst/>
          </a:prstGeom>
          <a:noFill/>
        </p:spPr>
        <p:txBody>
          <a:bodyPr wrap="none" rtlCol="0">
            <a:spAutoFit/>
          </a:bodyPr>
          <a:lstStyle/>
          <a:p>
            <a:r>
              <a:rPr lang="en-US" sz="2400" b="1" dirty="0"/>
              <a:t>V</a:t>
            </a:r>
            <a:r>
              <a:rPr lang="en-US" sz="2400" b="1" baseline="-25000" dirty="0"/>
              <a:t>2</a:t>
            </a:r>
          </a:p>
        </p:txBody>
      </p:sp>
      <p:sp>
        <p:nvSpPr>
          <p:cNvPr id="25" name="TextBox 24"/>
          <p:cNvSpPr txBox="1"/>
          <p:nvPr/>
        </p:nvSpPr>
        <p:spPr>
          <a:xfrm>
            <a:off x="8490336" y="966207"/>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26" name="TextBox 25"/>
          <p:cNvSpPr txBox="1"/>
          <p:nvPr/>
        </p:nvSpPr>
        <p:spPr>
          <a:xfrm>
            <a:off x="6357086" y="2326333"/>
            <a:ext cx="471604" cy="461665"/>
          </a:xfrm>
          <a:prstGeom prst="rect">
            <a:avLst/>
          </a:prstGeom>
          <a:noFill/>
        </p:spPr>
        <p:txBody>
          <a:bodyPr wrap="none" rtlCol="0">
            <a:spAutoFit/>
          </a:bodyPr>
          <a:lstStyle/>
          <a:p>
            <a:r>
              <a:rPr lang="en-US" sz="2400" b="1" dirty="0"/>
              <a:t>V</a:t>
            </a:r>
            <a:r>
              <a:rPr lang="en-US" sz="2400" b="1" baseline="-25000" dirty="0"/>
              <a:t>3</a:t>
            </a:r>
          </a:p>
        </p:txBody>
      </p:sp>
      <p:sp>
        <p:nvSpPr>
          <p:cNvPr id="27" name="TextBox 26"/>
          <p:cNvSpPr txBox="1"/>
          <p:nvPr/>
        </p:nvSpPr>
        <p:spPr>
          <a:xfrm>
            <a:off x="6354646" y="2763129"/>
            <a:ext cx="471604" cy="461665"/>
          </a:xfrm>
          <a:prstGeom prst="rect">
            <a:avLst/>
          </a:prstGeom>
          <a:noFill/>
        </p:spPr>
        <p:txBody>
          <a:bodyPr wrap="none" rtlCol="0">
            <a:spAutoFit/>
          </a:bodyPr>
          <a:lstStyle/>
          <a:p>
            <a:r>
              <a:rPr lang="en-US" sz="2400" b="1" dirty="0"/>
              <a:t>V</a:t>
            </a:r>
            <a:r>
              <a:rPr lang="en-US" sz="2400" b="1" baseline="-25000" dirty="0"/>
              <a:t>4</a:t>
            </a:r>
          </a:p>
        </p:txBody>
      </p:sp>
      <p:sp>
        <p:nvSpPr>
          <p:cNvPr id="28" name="TextBox 27"/>
          <p:cNvSpPr txBox="1"/>
          <p:nvPr/>
        </p:nvSpPr>
        <p:spPr>
          <a:xfrm>
            <a:off x="9126421" y="966207"/>
            <a:ext cx="471604" cy="461665"/>
          </a:xfrm>
          <a:prstGeom prst="rect">
            <a:avLst/>
          </a:prstGeom>
          <a:noFill/>
        </p:spPr>
        <p:txBody>
          <a:bodyPr wrap="none" rtlCol="0">
            <a:spAutoFit/>
          </a:bodyPr>
          <a:lstStyle/>
          <a:p>
            <a:r>
              <a:rPr lang="en-US" sz="2400" b="1" dirty="0"/>
              <a:t>V</a:t>
            </a:r>
            <a:r>
              <a:rPr lang="en-US" sz="2400" b="1" baseline="-25000" dirty="0"/>
              <a:t>4</a:t>
            </a:r>
          </a:p>
        </p:txBody>
      </p:sp>
      <p:sp>
        <p:nvSpPr>
          <p:cNvPr id="29" name="TextBox 28"/>
          <p:cNvSpPr txBox="1"/>
          <p:nvPr/>
        </p:nvSpPr>
        <p:spPr>
          <a:xfrm>
            <a:off x="5419400" y="1995786"/>
            <a:ext cx="593432" cy="461665"/>
          </a:xfrm>
          <a:prstGeom prst="rect">
            <a:avLst/>
          </a:prstGeom>
          <a:noFill/>
        </p:spPr>
        <p:txBody>
          <a:bodyPr wrap="none" rtlCol="0">
            <a:spAutoFit/>
          </a:bodyPr>
          <a:lstStyle/>
          <a:p>
            <a:r>
              <a:rPr lang="en-US" sz="2400" b="1" dirty="0">
                <a:solidFill>
                  <a:srgbClr val="C00000"/>
                </a:solidFill>
              </a:rPr>
              <a:t>A =</a:t>
            </a:r>
          </a:p>
        </p:txBody>
      </p:sp>
    </p:spTree>
    <p:extLst>
      <p:ext uri="{BB962C8B-B14F-4D97-AF65-F5344CB8AC3E}">
        <p14:creationId xmlns:p14="http://schemas.microsoft.com/office/powerpoint/2010/main" val="396003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5" grpId="0"/>
      <p:bldP spid="16" grpId="0"/>
      <p:bldP spid="17" grpId="0"/>
      <p:bldP spid="18" grpId="0"/>
      <p:bldP spid="20" grpId="0" animBg="1"/>
      <p:bldP spid="21" grpId="0"/>
      <p:bldP spid="22" grpId="0"/>
      <p:bldP spid="23" grpId="0"/>
      <p:bldP spid="24" grpId="0"/>
      <p:bldP spid="25" grpId="0"/>
      <p:bldP spid="26" grpId="0"/>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of Adjacency matrix</a:t>
            </a:r>
          </a:p>
        </p:txBody>
      </p:sp>
      <p:sp>
        <p:nvSpPr>
          <p:cNvPr id="3" name="Content Placeholder 2"/>
          <p:cNvSpPr>
            <a:spLocks noGrp="1"/>
          </p:cNvSpPr>
          <p:nvPr>
            <p:ph idx="1"/>
          </p:nvPr>
        </p:nvSpPr>
        <p:spPr>
          <a:xfrm>
            <a:off x="131180" y="4230295"/>
            <a:ext cx="11929641" cy="1778621"/>
          </a:xfrm>
        </p:spPr>
        <p:txBody>
          <a:bodyPr/>
          <a:lstStyle/>
          <a:p>
            <a:r>
              <a:rPr lang="en-US" sz="2300" dirty="0"/>
              <a:t>Entry of </a:t>
            </a:r>
            <a:r>
              <a:rPr lang="en-US" sz="2300" b="1" dirty="0">
                <a:solidFill>
                  <a:srgbClr val="C00000"/>
                </a:solidFill>
              </a:rPr>
              <a:t>1</a:t>
            </a:r>
            <a:r>
              <a:rPr lang="en-US" sz="2300" dirty="0">
                <a:solidFill>
                  <a:srgbClr val="C00000"/>
                </a:solidFill>
              </a:rPr>
              <a:t> </a:t>
            </a:r>
            <a:r>
              <a:rPr lang="en-US" sz="2300" dirty="0"/>
              <a:t>in </a:t>
            </a:r>
            <a:r>
              <a:rPr lang="en-US" sz="2300" b="1" dirty="0" err="1">
                <a:solidFill>
                  <a:srgbClr val="C00000"/>
                </a:solidFill>
              </a:rPr>
              <a:t>i</a:t>
            </a:r>
            <a:r>
              <a:rPr lang="en-US" sz="2300" b="1" baseline="30000" dirty="0" err="1">
                <a:solidFill>
                  <a:srgbClr val="C00000"/>
                </a:solidFill>
              </a:rPr>
              <a:t>th</a:t>
            </a:r>
            <a:r>
              <a:rPr lang="en-US" sz="2300" dirty="0"/>
              <a:t> row and </a:t>
            </a:r>
            <a:r>
              <a:rPr lang="en-US" sz="2300" b="1" dirty="0" err="1">
                <a:solidFill>
                  <a:srgbClr val="C00000"/>
                </a:solidFill>
              </a:rPr>
              <a:t>j</a:t>
            </a:r>
            <a:r>
              <a:rPr lang="en-US" sz="2300" b="1" baseline="30000" dirty="0" err="1">
                <a:solidFill>
                  <a:srgbClr val="C00000"/>
                </a:solidFill>
              </a:rPr>
              <a:t>th</a:t>
            </a:r>
            <a:r>
              <a:rPr lang="en-US" sz="2300" dirty="0"/>
              <a:t> column of </a:t>
            </a:r>
            <a:r>
              <a:rPr lang="en-US" sz="2300" b="1" dirty="0">
                <a:solidFill>
                  <a:srgbClr val="C00000"/>
                </a:solidFill>
              </a:rPr>
              <a:t>A</a:t>
            </a:r>
            <a:r>
              <a:rPr lang="en-US" sz="2300" dirty="0"/>
              <a:t> shows existence of an </a:t>
            </a:r>
            <a:r>
              <a:rPr lang="en-US" sz="2300" b="1" dirty="0">
                <a:solidFill>
                  <a:srgbClr val="C00000"/>
                </a:solidFill>
              </a:rPr>
              <a:t>edge (V</a:t>
            </a:r>
            <a:r>
              <a:rPr lang="en-US" sz="2300" b="1" baseline="-25000" dirty="0">
                <a:solidFill>
                  <a:srgbClr val="C00000"/>
                </a:solidFill>
              </a:rPr>
              <a:t>i</a:t>
            </a:r>
            <a:r>
              <a:rPr lang="en-US" sz="2300" b="1" dirty="0">
                <a:solidFill>
                  <a:srgbClr val="C00000"/>
                </a:solidFill>
              </a:rPr>
              <a:t>, </a:t>
            </a:r>
            <a:r>
              <a:rPr lang="en-US" sz="2300" b="1" dirty="0" err="1">
                <a:solidFill>
                  <a:srgbClr val="C00000"/>
                </a:solidFill>
              </a:rPr>
              <a:t>V</a:t>
            </a:r>
            <a:r>
              <a:rPr lang="en-US" sz="2300" b="1" baseline="-25000" dirty="0" err="1">
                <a:solidFill>
                  <a:srgbClr val="C00000"/>
                </a:solidFill>
              </a:rPr>
              <a:t>j</a:t>
            </a:r>
            <a:r>
              <a:rPr lang="en-US" sz="2300" b="1" dirty="0">
                <a:solidFill>
                  <a:srgbClr val="C00000"/>
                </a:solidFill>
              </a:rPr>
              <a:t>)</a:t>
            </a:r>
            <a:r>
              <a:rPr lang="en-US" sz="2300" dirty="0"/>
              <a:t>, that is a </a:t>
            </a:r>
            <a:r>
              <a:rPr lang="en-US" sz="2300" b="1" dirty="0">
                <a:solidFill>
                  <a:srgbClr val="C00000"/>
                </a:solidFill>
              </a:rPr>
              <a:t>path of length 1</a:t>
            </a:r>
          </a:p>
          <a:p>
            <a:r>
              <a:rPr lang="en-US" sz="2300" dirty="0"/>
              <a:t>Entry in </a:t>
            </a:r>
            <a:r>
              <a:rPr lang="en-US" sz="2300" b="1" dirty="0">
                <a:solidFill>
                  <a:srgbClr val="C00000"/>
                </a:solidFill>
              </a:rPr>
              <a:t>A</a:t>
            </a:r>
            <a:r>
              <a:rPr lang="en-US" sz="2300" b="1" baseline="30000" dirty="0">
                <a:solidFill>
                  <a:srgbClr val="C00000"/>
                </a:solidFill>
              </a:rPr>
              <a:t>2</a:t>
            </a:r>
            <a:r>
              <a:rPr lang="en-US" sz="2300" dirty="0"/>
              <a:t> shows </a:t>
            </a:r>
            <a:r>
              <a:rPr lang="en-US" sz="2300" b="1" dirty="0">
                <a:solidFill>
                  <a:srgbClr val="C00000"/>
                </a:solidFill>
              </a:rPr>
              <a:t>no of different paths</a:t>
            </a:r>
            <a:r>
              <a:rPr lang="en-US" sz="2300" dirty="0"/>
              <a:t> of </a:t>
            </a:r>
            <a:r>
              <a:rPr lang="en-US" sz="2300" b="1" dirty="0">
                <a:solidFill>
                  <a:srgbClr val="C00000"/>
                </a:solidFill>
              </a:rPr>
              <a:t>exactly length 2</a:t>
            </a:r>
            <a:r>
              <a:rPr lang="en-US" sz="2300" dirty="0">
                <a:solidFill>
                  <a:srgbClr val="C00000"/>
                </a:solidFill>
              </a:rPr>
              <a:t> </a:t>
            </a:r>
            <a:r>
              <a:rPr lang="en-US" sz="2300" dirty="0"/>
              <a:t>from node </a:t>
            </a:r>
            <a:r>
              <a:rPr lang="en-US" sz="2300" b="1" dirty="0">
                <a:solidFill>
                  <a:srgbClr val="C00000"/>
                </a:solidFill>
              </a:rPr>
              <a:t>V</a:t>
            </a:r>
            <a:r>
              <a:rPr lang="en-US" sz="2300" b="1" baseline="-25000" dirty="0">
                <a:solidFill>
                  <a:srgbClr val="C00000"/>
                </a:solidFill>
              </a:rPr>
              <a:t>i</a:t>
            </a:r>
            <a:r>
              <a:rPr lang="en-US" sz="2300" b="1" dirty="0">
                <a:solidFill>
                  <a:srgbClr val="FF0000"/>
                </a:solidFill>
              </a:rPr>
              <a:t> </a:t>
            </a:r>
            <a:r>
              <a:rPr lang="en-US" sz="2300" dirty="0"/>
              <a:t>to</a:t>
            </a:r>
            <a:r>
              <a:rPr lang="en-US" sz="2300" b="1" dirty="0">
                <a:solidFill>
                  <a:srgbClr val="FF0000"/>
                </a:solidFill>
              </a:rPr>
              <a:t> </a:t>
            </a:r>
            <a:r>
              <a:rPr lang="en-US" sz="2300" b="1" dirty="0" err="1">
                <a:solidFill>
                  <a:srgbClr val="C00000"/>
                </a:solidFill>
              </a:rPr>
              <a:t>V</a:t>
            </a:r>
            <a:r>
              <a:rPr lang="en-US" sz="2300" b="1" baseline="-25000" dirty="0" err="1">
                <a:solidFill>
                  <a:srgbClr val="C00000"/>
                </a:solidFill>
              </a:rPr>
              <a:t>j</a:t>
            </a:r>
            <a:endParaRPr lang="en-US" sz="2300" b="1" baseline="-25000" dirty="0">
              <a:solidFill>
                <a:srgbClr val="C00000"/>
              </a:solidFill>
            </a:endParaRPr>
          </a:p>
          <a:p>
            <a:r>
              <a:rPr lang="en-US" sz="2300" dirty="0"/>
              <a:t>Entry in </a:t>
            </a:r>
            <a:r>
              <a:rPr lang="en-US" sz="2300" b="1" dirty="0">
                <a:solidFill>
                  <a:srgbClr val="C00000"/>
                </a:solidFill>
              </a:rPr>
              <a:t>A</a:t>
            </a:r>
            <a:r>
              <a:rPr lang="en-US" sz="2300" b="1" baseline="30000" dirty="0">
                <a:solidFill>
                  <a:srgbClr val="C00000"/>
                </a:solidFill>
              </a:rPr>
              <a:t>3</a:t>
            </a:r>
            <a:r>
              <a:rPr lang="en-US" sz="2300" dirty="0"/>
              <a:t> shows </a:t>
            </a:r>
            <a:r>
              <a:rPr lang="en-US" sz="2300" b="1" dirty="0">
                <a:solidFill>
                  <a:srgbClr val="C00000"/>
                </a:solidFill>
              </a:rPr>
              <a:t>no of different paths</a:t>
            </a:r>
            <a:r>
              <a:rPr lang="en-US" sz="2300" dirty="0">
                <a:solidFill>
                  <a:srgbClr val="C00000"/>
                </a:solidFill>
              </a:rPr>
              <a:t> </a:t>
            </a:r>
            <a:r>
              <a:rPr lang="en-US" sz="2300" dirty="0"/>
              <a:t>of </a:t>
            </a:r>
            <a:r>
              <a:rPr lang="en-US" sz="2300" b="1" dirty="0">
                <a:solidFill>
                  <a:srgbClr val="C00000"/>
                </a:solidFill>
              </a:rPr>
              <a:t>exactly length 3</a:t>
            </a:r>
            <a:r>
              <a:rPr lang="en-US" sz="2300" dirty="0">
                <a:solidFill>
                  <a:srgbClr val="C00000"/>
                </a:solidFill>
              </a:rPr>
              <a:t> </a:t>
            </a:r>
            <a:r>
              <a:rPr lang="en-US" sz="2300" dirty="0"/>
              <a:t>from node </a:t>
            </a:r>
            <a:r>
              <a:rPr lang="en-US" sz="2300" b="1" dirty="0">
                <a:solidFill>
                  <a:srgbClr val="C00000"/>
                </a:solidFill>
              </a:rPr>
              <a:t>V</a:t>
            </a:r>
            <a:r>
              <a:rPr lang="en-US" sz="2300" b="1" baseline="-25000" dirty="0">
                <a:solidFill>
                  <a:srgbClr val="C00000"/>
                </a:solidFill>
              </a:rPr>
              <a:t>i</a:t>
            </a:r>
            <a:r>
              <a:rPr lang="en-US" sz="2300" b="1" dirty="0">
                <a:solidFill>
                  <a:srgbClr val="FF0000"/>
                </a:solidFill>
              </a:rPr>
              <a:t> </a:t>
            </a:r>
            <a:r>
              <a:rPr lang="en-US" sz="2300" dirty="0"/>
              <a:t>to</a:t>
            </a:r>
            <a:r>
              <a:rPr lang="en-US" sz="2300" b="1" dirty="0">
                <a:solidFill>
                  <a:srgbClr val="FF0000"/>
                </a:solidFill>
              </a:rPr>
              <a:t> </a:t>
            </a:r>
            <a:r>
              <a:rPr lang="en-US" sz="2300" b="1" dirty="0" err="1">
                <a:solidFill>
                  <a:srgbClr val="C00000"/>
                </a:solidFill>
              </a:rPr>
              <a:t>V</a:t>
            </a:r>
            <a:r>
              <a:rPr lang="en-US" sz="2300" b="1" baseline="-25000" dirty="0" err="1">
                <a:solidFill>
                  <a:srgbClr val="C00000"/>
                </a:solidFill>
              </a:rPr>
              <a:t>j</a:t>
            </a:r>
            <a:endParaRPr lang="en-US" sz="2300" b="1" dirty="0">
              <a:solidFill>
                <a:srgbClr val="C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850673862"/>
              </p:ext>
            </p:extLst>
          </p:nvPr>
        </p:nvGraphicFramePr>
        <p:xfrm>
          <a:off x="1141697" y="997282"/>
          <a:ext cx="1974852" cy="1807032"/>
        </p:xfrm>
        <a:graphic>
          <a:graphicData uri="http://schemas.openxmlformats.org/drawingml/2006/table">
            <a:tbl>
              <a:tblPr firstRow="1" bandRow="1">
                <a:tableStyleId>{2D5ABB26-0587-4C30-8999-92F81FD0307C}</a:tableStyleId>
              </a:tblPr>
              <a:tblGrid>
                <a:gridCol w="493713">
                  <a:extLst>
                    <a:ext uri="{9D8B030D-6E8A-4147-A177-3AD203B41FA5}">
                      <a16:colId xmlns:a16="http://schemas.microsoft.com/office/drawing/2014/main" val="20000"/>
                    </a:ext>
                  </a:extLst>
                </a:gridCol>
                <a:gridCol w="493713">
                  <a:extLst>
                    <a:ext uri="{9D8B030D-6E8A-4147-A177-3AD203B41FA5}">
                      <a16:colId xmlns:a16="http://schemas.microsoft.com/office/drawing/2014/main" val="20001"/>
                    </a:ext>
                  </a:extLst>
                </a:gridCol>
                <a:gridCol w="493713">
                  <a:extLst>
                    <a:ext uri="{9D8B030D-6E8A-4147-A177-3AD203B41FA5}">
                      <a16:colId xmlns:a16="http://schemas.microsoft.com/office/drawing/2014/main" val="20002"/>
                    </a:ext>
                  </a:extLst>
                </a:gridCol>
                <a:gridCol w="493713">
                  <a:extLst>
                    <a:ext uri="{9D8B030D-6E8A-4147-A177-3AD203B41FA5}">
                      <a16:colId xmlns:a16="http://schemas.microsoft.com/office/drawing/2014/main" val="20003"/>
                    </a:ext>
                  </a:extLst>
                </a:gridCol>
              </a:tblGrid>
              <a:tr h="429986">
                <a:tc>
                  <a:txBody>
                    <a:bodyPr/>
                    <a:lstStyle/>
                    <a:p>
                      <a:pPr algn="ctr"/>
                      <a:r>
                        <a:rPr lang="en-US" sz="2400" dirty="0"/>
                        <a:t>0</a:t>
                      </a:r>
                    </a:p>
                  </a:txBody>
                  <a:tcPr marL="85997" marR="85997" marT="42999" marB="42999" anchor="ctr"/>
                </a:tc>
                <a:tc>
                  <a:txBody>
                    <a:bodyPr/>
                    <a:lstStyle/>
                    <a:p>
                      <a:pPr algn="ctr"/>
                      <a:r>
                        <a:rPr lang="en-US" sz="2400" dirty="0"/>
                        <a:t>1</a:t>
                      </a:r>
                    </a:p>
                  </a:txBody>
                  <a:tcPr marL="85997" marR="85997" marT="42999" marB="42999" anchor="ctr"/>
                </a:tc>
                <a:tc>
                  <a:txBody>
                    <a:bodyPr/>
                    <a:lstStyle/>
                    <a:p>
                      <a:pPr algn="ctr"/>
                      <a:r>
                        <a:rPr lang="en-US" sz="2400" dirty="0"/>
                        <a:t>0</a:t>
                      </a:r>
                    </a:p>
                  </a:txBody>
                  <a:tcPr marL="85997" marR="85997" marT="42999" marB="42999" anchor="ctr"/>
                </a:tc>
                <a:tc>
                  <a:txBody>
                    <a:bodyPr/>
                    <a:lstStyle/>
                    <a:p>
                      <a:pPr algn="ctr"/>
                      <a:r>
                        <a:rPr lang="en-US" sz="2400" dirty="0"/>
                        <a:t>1</a:t>
                      </a:r>
                    </a:p>
                  </a:txBody>
                  <a:tcPr marL="85997" marR="85997" marT="42999" marB="42999" anchor="ctr"/>
                </a:tc>
                <a:extLst>
                  <a:ext uri="{0D108BD9-81ED-4DB2-BD59-A6C34878D82A}">
                    <a16:rowId xmlns:a16="http://schemas.microsoft.com/office/drawing/2014/main" val="10000"/>
                  </a:ext>
                </a:extLst>
              </a:tr>
              <a:tr h="429986">
                <a:tc>
                  <a:txBody>
                    <a:bodyPr/>
                    <a:lstStyle/>
                    <a:p>
                      <a:pPr algn="ctr"/>
                      <a:r>
                        <a:rPr lang="en-US" sz="2400" dirty="0"/>
                        <a:t>1</a:t>
                      </a:r>
                    </a:p>
                  </a:txBody>
                  <a:tcPr marL="85997" marR="85997" marT="42999" marB="42999" anchor="ctr"/>
                </a:tc>
                <a:tc>
                  <a:txBody>
                    <a:bodyPr/>
                    <a:lstStyle/>
                    <a:p>
                      <a:pPr algn="ctr"/>
                      <a:r>
                        <a:rPr lang="en-US" sz="2400" dirty="0"/>
                        <a:t>0</a:t>
                      </a:r>
                    </a:p>
                  </a:txBody>
                  <a:tcPr marL="85997" marR="85997" marT="42999" marB="42999" anchor="ctr"/>
                </a:tc>
                <a:tc>
                  <a:txBody>
                    <a:bodyPr/>
                    <a:lstStyle/>
                    <a:p>
                      <a:pPr algn="ctr"/>
                      <a:r>
                        <a:rPr lang="en-US" sz="2400" dirty="0"/>
                        <a:t>0</a:t>
                      </a:r>
                    </a:p>
                  </a:txBody>
                  <a:tcPr marL="85997" marR="85997" marT="42999" marB="42999" anchor="ctr"/>
                </a:tc>
                <a:tc>
                  <a:txBody>
                    <a:bodyPr/>
                    <a:lstStyle/>
                    <a:p>
                      <a:pPr algn="ctr"/>
                      <a:r>
                        <a:rPr lang="en-US" sz="2400" dirty="0"/>
                        <a:t>0</a:t>
                      </a:r>
                    </a:p>
                  </a:txBody>
                  <a:tcPr marL="85997" marR="85997" marT="42999" marB="42999" anchor="ctr"/>
                </a:tc>
                <a:extLst>
                  <a:ext uri="{0D108BD9-81ED-4DB2-BD59-A6C34878D82A}">
                    <a16:rowId xmlns:a16="http://schemas.microsoft.com/office/drawing/2014/main" val="10001"/>
                  </a:ext>
                </a:extLst>
              </a:tr>
              <a:tr h="429986">
                <a:tc>
                  <a:txBody>
                    <a:bodyPr/>
                    <a:lstStyle/>
                    <a:p>
                      <a:pPr algn="ctr"/>
                      <a:r>
                        <a:rPr lang="en-US" sz="2400" dirty="0"/>
                        <a:t>1</a:t>
                      </a:r>
                    </a:p>
                  </a:txBody>
                  <a:tcPr marL="85997" marR="85997" marT="42999" marB="42999" anchor="ctr"/>
                </a:tc>
                <a:tc>
                  <a:txBody>
                    <a:bodyPr/>
                    <a:lstStyle/>
                    <a:p>
                      <a:pPr algn="ctr"/>
                      <a:r>
                        <a:rPr lang="en-US" sz="2400" dirty="0"/>
                        <a:t>1</a:t>
                      </a:r>
                    </a:p>
                  </a:txBody>
                  <a:tcPr marL="85997" marR="85997" marT="42999" marB="42999" anchor="ctr"/>
                </a:tc>
                <a:tc>
                  <a:txBody>
                    <a:bodyPr/>
                    <a:lstStyle/>
                    <a:p>
                      <a:pPr algn="ctr"/>
                      <a:r>
                        <a:rPr lang="en-US" sz="2400" dirty="0"/>
                        <a:t>0</a:t>
                      </a:r>
                    </a:p>
                  </a:txBody>
                  <a:tcPr marL="85997" marR="85997" marT="42999" marB="42999" anchor="ctr"/>
                </a:tc>
                <a:tc>
                  <a:txBody>
                    <a:bodyPr/>
                    <a:lstStyle/>
                    <a:p>
                      <a:pPr algn="ctr"/>
                      <a:r>
                        <a:rPr lang="en-US" sz="2400" dirty="0"/>
                        <a:t>1</a:t>
                      </a:r>
                    </a:p>
                  </a:txBody>
                  <a:tcPr marL="85997" marR="85997" marT="42999" marB="42999" anchor="ctr"/>
                </a:tc>
                <a:extLst>
                  <a:ext uri="{0D108BD9-81ED-4DB2-BD59-A6C34878D82A}">
                    <a16:rowId xmlns:a16="http://schemas.microsoft.com/office/drawing/2014/main" val="10002"/>
                  </a:ext>
                </a:extLst>
              </a:tr>
              <a:tr h="429986">
                <a:tc>
                  <a:txBody>
                    <a:bodyPr/>
                    <a:lstStyle/>
                    <a:p>
                      <a:pPr algn="ctr"/>
                      <a:r>
                        <a:rPr lang="en-US" sz="2400" dirty="0"/>
                        <a:t>0</a:t>
                      </a:r>
                    </a:p>
                  </a:txBody>
                  <a:tcPr marL="85997" marR="85997" marT="42999" marB="42999" anchor="ctr"/>
                </a:tc>
                <a:tc>
                  <a:txBody>
                    <a:bodyPr/>
                    <a:lstStyle/>
                    <a:p>
                      <a:pPr algn="ctr"/>
                      <a:r>
                        <a:rPr lang="en-US" sz="2400" dirty="0"/>
                        <a:t>1</a:t>
                      </a:r>
                    </a:p>
                  </a:txBody>
                  <a:tcPr marL="85997" marR="85997" marT="42999" marB="42999" anchor="ctr"/>
                </a:tc>
                <a:tc>
                  <a:txBody>
                    <a:bodyPr/>
                    <a:lstStyle/>
                    <a:p>
                      <a:pPr algn="ctr"/>
                      <a:r>
                        <a:rPr lang="en-US" sz="2400" dirty="0"/>
                        <a:t>0</a:t>
                      </a:r>
                    </a:p>
                  </a:txBody>
                  <a:tcPr marL="85997" marR="85997" marT="42999" marB="42999" anchor="ctr"/>
                </a:tc>
                <a:tc>
                  <a:txBody>
                    <a:bodyPr/>
                    <a:lstStyle/>
                    <a:p>
                      <a:pPr algn="ctr"/>
                      <a:r>
                        <a:rPr lang="en-US" sz="2400" dirty="0"/>
                        <a:t>0</a:t>
                      </a:r>
                    </a:p>
                  </a:txBody>
                  <a:tcPr marL="85997" marR="85997" marT="42999" marB="42999" anchor="ctr"/>
                </a:tc>
                <a:extLst>
                  <a:ext uri="{0D108BD9-81ED-4DB2-BD59-A6C34878D82A}">
                    <a16:rowId xmlns:a16="http://schemas.microsoft.com/office/drawing/2014/main" val="10003"/>
                  </a:ext>
                </a:extLst>
              </a:tr>
            </a:tbl>
          </a:graphicData>
        </a:graphic>
      </p:graphicFrame>
      <p:sp>
        <p:nvSpPr>
          <p:cNvPr id="5" name="Double Bracket 4"/>
          <p:cNvSpPr/>
          <p:nvPr/>
        </p:nvSpPr>
        <p:spPr>
          <a:xfrm>
            <a:off x="1138523" y="910798"/>
            <a:ext cx="1981200" cy="1980000"/>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4" name="TextBox 13"/>
          <p:cNvSpPr txBox="1"/>
          <p:nvPr/>
        </p:nvSpPr>
        <p:spPr>
          <a:xfrm>
            <a:off x="528923" y="1643043"/>
            <a:ext cx="593432" cy="461665"/>
          </a:xfrm>
          <a:prstGeom prst="rect">
            <a:avLst/>
          </a:prstGeom>
          <a:noFill/>
        </p:spPr>
        <p:txBody>
          <a:bodyPr wrap="none" rtlCol="0">
            <a:spAutoFit/>
          </a:bodyPr>
          <a:lstStyle/>
          <a:p>
            <a:r>
              <a:rPr lang="en-US" sz="2400" b="1" dirty="0">
                <a:solidFill>
                  <a:srgbClr val="C00000"/>
                </a:solidFill>
              </a:rPr>
              <a:t>A =</a:t>
            </a:r>
          </a:p>
        </p:txBody>
      </p:sp>
      <p:sp>
        <p:nvSpPr>
          <p:cNvPr id="15" name="TextBox 14"/>
          <p:cNvSpPr txBox="1"/>
          <p:nvPr/>
        </p:nvSpPr>
        <p:spPr>
          <a:xfrm>
            <a:off x="3962403" y="1669966"/>
            <a:ext cx="1645002" cy="461665"/>
          </a:xfrm>
          <a:prstGeom prst="rect">
            <a:avLst/>
          </a:prstGeom>
          <a:noFill/>
        </p:spPr>
        <p:txBody>
          <a:bodyPr wrap="none" rtlCol="0">
            <a:spAutoFit/>
          </a:bodyPr>
          <a:lstStyle/>
          <a:p>
            <a:r>
              <a:rPr lang="en-US" sz="2400" b="1" dirty="0">
                <a:solidFill>
                  <a:srgbClr val="C00000"/>
                </a:solidFill>
              </a:rPr>
              <a:t>A</a:t>
            </a:r>
            <a:r>
              <a:rPr lang="en-US" sz="2400" b="1" baseline="30000" dirty="0">
                <a:solidFill>
                  <a:srgbClr val="C00000"/>
                </a:solidFill>
              </a:rPr>
              <a:t>2</a:t>
            </a:r>
            <a:r>
              <a:rPr lang="en-US" sz="2400" b="1" dirty="0">
                <a:solidFill>
                  <a:srgbClr val="C00000"/>
                </a:solidFill>
              </a:rPr>
              <a:t> = A x A =</a:t>
            </a:r>
          </a:p>
        </p:txBody>
      </p:sp>
      <p:graphicFrame>
        <p:nvGraphicFramePr>
          <p:cNvPr id="16" name="Table 15"/>
          <p:cNvGraphicFramePr>
            <a:graphicFrameLocks noGrp="1"/>
          </p:cNvGraphicFramePr>
          <p:nvPr>
            <p:extLst>
              <p:ext uri="{D42A27DB-BD31-4B8C-83A1-F6EECF244321}">
                <p14:modId xmlns:p14="http://schemas.microsoft.com/office/powerpoint/2010/main" val="1222535723"/>
              </p:ext>
            </p:extLst>
          </p:nvPr>
        </p:nvGraphicFramePr>
        <p:xfrm>
          <a:off x="5647766" y="997198"/>
          <a:ext cx="1976400" cy="1807200"/>
        </p:xfrm>
        <a:graphic>
          <a:graphicData uri="http://schemas.openxmlformats.org/drawingml/2006/table">
            <a:tbl>
              <a:tblPr firstRow="1" bandRow="1">
                <a:tableStyleId>{2D5ABB26-0587-4C30-8999-92F81FD0307C}</a:tableStyleId>
              </a:tblPr>
              <a:tblGrid>
                <a:gridCol w="494100">
                  <a:extLst>
                    <a:ext uri="{9D8B030D-6E8A-4147-A177-3AD203B41FA5}">
                      <a16:colId xmlns:a16="http://schemas.microsoft.com/office/drawing/2014/main" val="20000"/>
                    </a:ext>
                  </a:extLst>
                </a:gridCol>
                <a:gridCol w="494100">
                  <a:extLst>
                    <a:ext uri="{9D8B030D-6E8A-4147-A177-3AD203B41FA5}">
                      <a16:colId xmlns:a16="http://schemas.microsoft.com/office/drawing/2014/main" val="20001"/>
                    </a:ext>
                  </a:extLst>
                </a:gridCol>
                <a:gridCol w="494100">
                  <a:extLst>
                    <a:ext uri="{9D8B030D-6E8A-4147-A177-3AD203B41FA5}">
                      <a16:colId xmlns:a16="http://schemas.microsoft.com/office/drawing/2014/main" val="20002"/>
                    </a:ext>
                  </a:extLst>
                </a:gridCol>
                <a:gridCol w="494100">
                  <a:extLst>
                    <a:ext uri="{9D8B030D-6E8A-4147-A177-3AD203B41FA5}">
                      <a16:colId xmlns:a16="http://schemas.microsoft.com/office/drawing/2014/main" val="20003"/>
                    </a:ext>
                  </a:extLst>
                </a:gridCol>
              </a:tblGrid>
              <a:tr h="451800">
                <a:tc>
                  <a:txBody>
                    <a:bodyPr/>
                    <a:lstStyle/>
                    <a:p>
                      <a:pPr algn="ctr"/>
                      <a:r>
                        <a:rPr lang="en-US" sz="2400" dirty="0"/>
                        <a:t>1</a:t>
                      </a:r>
                    </a:p>
                  </a:txBody>
                  <a:tcPr marL="67692" marR="67692" marT="33847" marB="33847" anchor="ctr"/>
                </a:tc>
                <a:tc>
                  <a:txBody>
                    <a:bodyPr/>
                    <a:lstStyle/>
                    <a:p>
                      <a:pPr algn="ctr"/>
                      <a:r>
                        <a:rPr lang="en-US" sz="2400" dirty="0"/>
                        <a:t>1</a:t>
                      </a:r>
                    </a:p>
                  </a:txBody>
                  <a:tcPr marL="67692" marR="67692" marT="33847" marB="33847" anchor="ctr"/>
                </a:tc>
                <a:tc>
                  <a:txBody>
                    <a:bodyPr/>
                    <a:lstStyle/>
                    <a:p>
                      <a:pPr algn="ctr"/>
                      <a:r>
                        <a:rPr lang="en-US" sz="2400" dirty="0"/>
                        <a:t>0</a:t>
                      </a:r>
                    </a:p>
                  </a:txBody>
                  <a:tcPr marL="67692" marR="67692" marT="33847" marB="33847" anchor="ctr"/>
                </a:tc>
                <a:tc>
                  <a:txBody>
                    <a:bodyPr/>
                    <a:lstStyle/>
                    <a:p>
                      <a:pPr algn="ctr"/>
                      <a:r>
                        <a:rPr lang="en-US" sz="2400" dirty="0"/>
                        <a:t>0</a:t>
                      </a:r>
                    </a:p>
                  </a:txBody>
                  <a:tcPr marL="67692" marR="67692" marT="33847" marB="33847" anchor="ctr"/>
                </a:tc>
                <a:extLst>
                  <a:ext uri="{0D108BD9-81ED-4DB2-BD59-A6C34878D82A}">
                    <a16:rowId xmlns:a16="http://schemas.microsoft.com/office/drawing/2014/main" val="10000"/>
                  </a:ext>
                </a:extLst>
              </a:tr>
              <a:tr h="451800">
                <a:tc>
                  <a:txBody>
                    <a:bodyPr/>
                    <a:lstStyle/>
                    <a:p>
                      <a:pPr algn="ctr"/>
                      <a:r>
                        <a:rPr lang="en-US" sz="2400" dirty="0"/>
                        <a:t>0</a:t>
                      </a:r>
                    </a:p>
                  </a:txBody>
                  <a:tcPr marL="67692" marR="67692" marT="33847" marB="33847" anchor="ctr"/>
                </a:tc>
                <a:tc>
                  <a:txBody>
                    <a:bodyPr/>
                    <a:lstStyle/>
                    <a:p>
                      <a:pPr algn="ctr"/>
                      <a:r>
                        <a:rPr lang="en-US" sz="2400" dirty="0"/>
                        <a:t>1</a:t>
                      </a:r>
                    </a:p>
                  </a:txBody>
                  <a:tcPr marL="67692" marR="67692" marT="33847" marB="33847" anchor="ctr"/>
                </a:tc>
                <a:tc>
                  <a:txBody>
                    <a:bodyPr/>
                    <a:lstStyle/>
                    <a:p>
                      <a:pPr algn="ctr"/>
                      <a:r>
                        <a:rPr lang="en-US" sz="2400" dirty="0"/>
                        <a:t>0</a:t>
                      </a:r>
                    </a:p>
                  </a:txBody>
                  <a:tcPr marL="67692" marR="67692" marT="33847" marB="33847" anchor="ctr"/>
                </a:tc>
                <a:tc>
                  <a:txBody>
                    <a:bodyPr/>
                    <a:lstStyle/>
                    <a:p>
                      <a:pPr algn="ctr"/>
                      <a:r>
                        <a:rPr lang="en-US" sz="2400" dirty="0"/>
                        <a:t>1</a:t>
                      </a:r>
                    </a:p>
                  </a:txBody>
                  <a:tcPr marL="67692" marR="67692" marT="33847" marB="33847" anchor="ctr"/>
                </a:tc>
                <a:extLst>
                  <a:ext uri="{0D108BD9-81ED-4DB2-BD59-A6C34878D82A}">
                    <a16:rowId xmlns:a16="http://schemas.microsoft.com/office/drawing/2014/main" val="10001"/>
                  </a:ext>
                </a:extLst>
              </a:tr>
              <a:tr h="451800">
                <a:tc>
                  <a:txBody>
                    <a:bodyPr/>
                    <a:lstStyle/>
                    <a:p>
                      <a:pPr algn="ctr"/>
                      <a:r>
                        <a:rPr lang="en-US" sz="2400" dirty="0"/>
                        <a:t>1</a:t>
                      </a:r>
                    </a:p>
                  </a:txBody>
                  <a:tcPr marL="67692" marR="67692" marT="33847" marB="33847" anchor="ctr"/>
                </a:tc>
                <a:tc>
                  <a:txBody>
                    <a:bodyPr/>
                    <a:lstStyle/>
                    <a:p>
                      <a:pPr algn="ctr"/>
                      <a:r>
                        <a:rPr lang="en-US" sz="2400" dirty="0"/>
                        <a:t>2</a:t>
                      </a:r>
                    </a:p>
                  </a:txBody>
                  <a:tcPr marL="67692" marR="67692" marT="33847" marB="33847" anchor="ctr"/>
                </a:tc>
                <a:tc>
                  <a:txBody>
                    <a:bodyPr/>
                    <a:lstStyle/>
                    <a:p>
                      <a:pPr algn="ctr"/>
                      <a:r>
                        <a:rPr lang="en-US" sz="2400" dirty="0"/>
                        <a:t>0</a:t>
                      </a:r>
                    </a:p>
                  </a:txBody>
                  <a:tcPr marL="67692" marR="67692" marT="33847" marB="33847" anchor="ctr"/>
                </a:tc>
                <a:tc>
                  <a:txBody>
                    <a:bodyPr/>
                    <a:lstStyle/>
                    <a:p>
                      <a:pPr algn="ctr"/>
                      <a:r>
                        <a:rPr lang="en-US" sz="2400" dirty="0"/>
                        <a:t>1</a:t>
                      </a:r>
                    </a:p>
                  </a:txBody>
                  <a:tcPr marL="67692" marR="67692" marT="33847" marB="33847" anchor="ctr"/>
                </a:tc>
                <a:extLst>
                  <a:ext uri="{0D108BD9-81ED-4DB2-BD59-A6C34878D82A}">
                    <a16:rowId xmlns:a16="http://schemas.microsoft.com/office/drawing/2014/main" val="10002"/>
                  </a:ext>
                </a:extLst>
              </a:tr>
              <a:tr h="451800">
                <a:tc>
                  <a:txBody>
                    <a:bodyPr/>
                    <a:lstStyle/>
                    <a:p>
                      <a:pPr algn="ctr"/>
                      <a:r>
                        <a:rPr lang="en-US" sz="2400" dirty="0"/>
                        <a:t>1</a:t>
                      </a:r>
                    </a:p>
                  </a:txBody>
                  <a:tcPr marL="67692" marR="67692" marT="33847" marB="33847" anchor="ctr"/>
                </a:tc>
                <a:tc>
                  <a:txBody>
                    <a:bodyPr/>
                    <a:lstStyle/>
                    <a:p>
                      <a:pPr algn="ctr"/>
                      <a:r>
                        <a:rPr lang="en-US" sz="2400" dirty="0"/>
                        <a:t>0</a:t>
                      </a:r>
                    </a:p>
                  </a:txBody>
                  <a:tcPr marL="67692" marR="67692" marT="33847" marB="33847" anchor="ctr"/>
                </a:tc>
                <a:tc>
                  <a:txBody>
                    <a:bodyPr/>
                    <a:lstStyle/>
                    <a:p>
                      <a:pPr algn="ctr"/>
                      <a:r>
                        <a:rPr lang="en-US" sz="2400" dirty="0"/>
                        <a:t>0</a:t>
                      </a:r>
                    </a:p>
                  </a:txBody>
                  <a:tcPr marL="67692" marR="67692" marT="33847" marB="33847" anchor="ctr"/>
                </a:tc>
                <a:tc>
                  <a:txBody>
                    <a:bodyPr/>
                    <a:lstStyle/>
                    <a:p>
                      <a:pPr algn="ctr"/>
                      <a:r>
                        <a:rPr lang="en-US" sz="2400" dirty="0"/>
                        <a:t>0</a:t>
                      </a:r>
                    </a:p>
                  </a:txBody>
                  <a:tcPr marL="67692" marR="67692" marT="33847" marB="33847" anchor="ctr"/>
                </a:tc>
                <a:extLst>
                  <a:ext uri="{0D108BD9-81ED-4DB2-BD59-A6C34878D82A}">
                    <a16:rowId xmlns:a16="http://schemas.microsoft.com/office/drawing/2014/main" val="10003"/>
                  </a:ext>
                </a:extLst>
              </a:tr>
            </a:tbl>
          </a:graphicData>
        </a:graphic>
      </p:graphicFrame>
      <p:sp>
        <p:nvSpPr>
          <p:cNvPr id="17" name="Double Bracket 16"/>
          <p:cNvSpPr/>
          <p:nvPr/>
        </p:nvSpPr>
        <p:spPr>
          <a:xfrm>
            <a:off x="5645966" y="910798"/>
            <a:ext cx="1980000" cy="1980000"/>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aphicFrame>
        <p:nvGraphicFramePr>
          <p:cNvPr id="18" name="Table 17"/>
          <p:cNvGraphicFramePr>
            <a:graphicFrameLocks noGrp="1"/>
          </p:cNvGraphicFramePr>
          <p:nvPr>
            <p:extLst>
              <p:ext uri="{D42A27DB-BD31-4B8C-83A1-F6EECF244321}">
                <p14:modId xmlns:p14="http://schemas.microsoft.com/office/powerpoint/2010/main" val="4255244730"/>
              </p:ext>
            </p:extLst>
          </p:nvPr>
        </p:nvGraphicFramePr>
        <p:xfrm>
          <a:off x="9336301" y="843592"/>
          <a:ext cx="1415704" cy="1465800"/>
        </p:xfrm>
        <a:graphic>
          <a:graphicData uri="http://schemas.openxmlformats.org/drawingml/2006/table">
            <a:tbl>
              <a:tblPr firstRow="1" bandRow="1">
                <a:tableStyleId>{2D5ABB26-0587-4C30-8999-92F81FD0307C}</a:tableStyleId>
              </a:tblPr>
              <a:tblGrid>
                <a:gridCol w="353926">
                  <a:extLst>
                    <a:ext uri="{9D8B030D-6E8A-4147-A177-3AD203B41FA5}">
                      <a16:colId xmlns:a16="http://schemas.microsoft.com/office/drawing/2014/main" val="20000"/>
                    </a:ext>
                  </a:extLst>
                </a:gridCol>
                <a:gridCol w="353926">
                  <a:extLst>
                    <a:ext uri="{9D8B030D-6E8A-4147-A177-3AD203B41FA5}">
                      <a16:colId xmlns:a16="http://schemas.microsoft.com/office/drawing/2014/main" val="20001"/>
                    </a:ext>
                  </a:extLst>
                </a:gridCol>
                <a:gridCol w="353926">
                  <a:extLst>
                    <a:ext uri="{9D8B030D-6E8A-4147-A177-3AD203B41FA5}">
                      <a16:colId xmlns:a16="http://schemas.microsoft.com/office/drawing/2014/main" val="20002"/>
                    </a:ext>
                  </a:extLst>
                </a:gridCol>
                <a:gridCol w="353926">
                  <a:extLst>
                    <a:ext uri="{9D8B030D-6E8A-4147-A177-3AD203B41FA5}">
                      <a16:colId xmlns:a16="http://schemas.microsoft.com/office/drawing/2014/main" val="20003"/>
                    </a:ext>
                  </a:extLst>
                </a:gridCol>
              </a:tblGrid>
              <a:tr h="323850">
                <a:tc>
                  <a:txBody>
                    <a:bodyPr/>
                    <a:lstStyle/>
                    <a:p>
                      <a:pPr algn="ctr"/>
                      <a:r>
                        <a:rPr lang="en-US" sz="2000" dirty="0"/>
                        <a:t>1</a:t>
                      </a:r>
                    </a:p>
                  </a:txBody>
                  <a:tcPr marL="61648" marR="61648" marT="30825" marB="30825" anchor="ctr"/>
                </a:tc>
                <a:tc>
                  <a:txBody>
                    <a:bodyPr/>
                    <a:lstStyle/>
                    <a:p>
                      <a:pPr algn="ctr"/>
                      <a:r>
                        <a:rPr lang="en-US" sz="2000" dirty="0"/>
                        <a:t>1</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extLst>
                  <a:ext uri="{0D108BD9-81ED-4DB2-BD59-A6C34878D82A}">
                    <a16:rowId xmlns:a16="http://schemas.microsoft.com/office/drawing/2014/main" val="10000"/>
                  </a:ext>
                </a:extLst>
              </a:tr>
              <a:tr h="323850">
                <a:tc>
                  <a:txBody>
                    <a:bodyPr/>
                    <a:lstStyle/>
                    <a:p>
                      <a:pPr algn="ctr"/>
                      <a:r>
                        <a:rPr lang="en-US" sz="2000" dirty="0"/>
                        <a:t>1</a:t>
                      </a:r>
                    </a:p>
                  </a:txBody>
                  <a:tcPr marL="61648" marR="61648" marT="30825" marB="30825" anchor="ctr"/>
                </a:tc>
                <a:tc>
                  <a:txBody>
                    <a:bodyPr/>
                    <a:lstStyle/>
                    <a:p>
                      <a:pPr algn="ctr"/>
                      <a:r>
                        <a:rPr lang="en-US" sz="2000" dirty="0"/>
                        <a:t>1</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0</a:t>
                      </a:r>
                    </a:p>
                  </a:txBody>
                  <a:tcPr marL="61648" marR="61648" marT="30825" marB="30825" anchor="ctr"/>
                </a:tc>
                <a:extLst>
                  <a:ext uri="{0D108BD9-81ED-4DB2-BD59-A6C34878D82A}">
                    <a16:rowId xmlns:a16="http://schemas.microsoft.com/office/drawing/2014/main" val="10001"/>
                  </a:ext>
                </a:extLst>
              </a:tr>
              <a:tr h="323850">
                <a:tc>
                  <a:txBody>
                    <a:bodyPr/>
                    <a:lstStyle/>
                    <a:p>
                      <a:pPr algn="ctr"/>
                      <a:r>
                        <a:rPr lang="en-US" sz="2000" dirty="0"/>
                        <a:t>2</a:t>
                      </a:r>
                    </a:p>
                  </a:txBody>
                  <a:tcPr marL="61648" marR="61648" marT="30825" marB="30825" anchor="ctr"/>
                </a:tc>
                <a:tc>
                  <a:txBody>
                    <a:bodyPr/>
                    <a:lstStyle/>
                    <a:p>
                      <a:pPr algn="ctr"/>
                      <a:r>
                        <a:rPr lang="en-US" sz="2000" dirty="0"/>
                        <a:t>2</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extLst>
                  <a:ext uri="{0D108BD9-81ED-4DB2-BD59-A6C34878D82A}">
                    <a16:rowId xmlns:a16="http://schemas.microsoft.com/office/drawing/2014/main" val="10002"/>
                  </a:ext>
                </a:extLst>
              </a:tr>
              <a:tr h="323850">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extLst>
                  <a:ext uri="{0D108BD9-81ED-4DB2-BD59-A6C34878D82A}">
                    <a16:rowId xmlns:a16="http://schemas.microsoft.com/office/drawing/2014/main" val="10003"/>
                  </a:ext>
                </a:extLst>
              </a:tr>
            </a:tbl>
          </a:graphicData>
        </a:graphic>
      </p:graphicFrame>
      <p:sp>
        <p:nvSpPr>
          <p:cNvPr id="19" name="Double Bracket 18"/>
          <p:cNvSpPr/>
          <p:nvPr/>
        </p:nvSpPr>
        <p:spPr>
          <a:xfrm>
            <a:off x="9270153" y="802492"/>
            <a:ext cx="1548000" cy="1548000"/>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0" name="TextBox 19"/>
          <p:cNvSpPr txBox="1"/>
          <p:nvPr/>
        </p:nvSpPr>
        <p:spPr>
          <a:xfrm>
            <a:off x="8435784" y="1345660"/>
            <a:ext cx="806824" cy="461665"/>
          </a:xfrm>
          <a:prstGeom prst="rect">
            <a:avLst/>
          </a:prstGeom>
          <a:noFill/>
        </p:spPr>
        <p:txBody>
          <a:bodyPr wrap="square" rtlCol="0">
            <a:spAutoFit/>
          </a:bodyPr>
          <a:lstStyle/>
          <a:p>
            <a:r>
              <a:rPr lang="en-US" sz="2400" b="1" dirty="0">
                <a:solidFill>
                  <a:srgbClr val="C00000"/>
                </a:solidFill>
              </a:rPr>
              <a:t>A</a:t>
            </a:r>
            <a:r>
              <a:rPr lang="en-US" sz="2400" b="1" baseline="30000" dirty="0">
                <a:solidFill>
                  <a:srgbClr val="C00000"/>
                </a:solidFill>
              </a:rPr>
              <a:t>3</a:t>
            </a:r>
            <a:r>
              <a:rPr lang="en-US" sz="2400" b="1" dirty="0">
                <a:solidFill>
                  <a:srgbClr val="C00000"/>
                </a:solidFill>
              </a:rPr>
              <a:t> =</a:t>
            </a:r>
          </a:p>
        </p:txBody>
      </p:sp>
      <p:graphicFrame>
        <p:nvGraphicFramePr>
          <p:cNvPr id="21" name="Table 20"/>
          <p:cNvGraphicFramePr>
            <a:graphicFrameLocks noGrp="1"/>
          </p:cNvGraphicFramePr>
          <p:nvPr>
            <p:extLst>
              <p:ext uri="{D42A27DB-BD31-4B8C-83A1-F6EECF244321}">
                <p14:modId xmlns:p14="http://schemas.microsoft.com/office/powerpoint/2010/main" val="714445958"/>
              </p:ext>
            </p:extLst>
          </p:nvPr>
        </p:nvGraphicFramePr>
        <p:xfrm>
          <a:off x="9336301" y="2507220"/>
          <a:ext cx="1415704" cy="1465800"/>
        </p:xfrm>
        <a:graphic>
          <a:graphicData uri="http://schemas.openxmlformats.org/drawingml/2006/table">
            <a:tbl>
              <a:tblPr firstRow="1" bandRow="1">
                <a:tableStyleId>{2D5ABB26-0587-4C30-8999-92F81FD0307C}</a:tableStyleId>
              </a:tblPr>
              <a:tblGrid>
                <a:gridCol w="353926">
                  <a:extLst>
                    <a:ext uri="{9D8B030D-6E8A-4147-A177-3AD203B41FA5}">
                      <a16:colId xmlns:a16="http://schemas.microsoft.com/office/drawing/2014/main" val="20000"/>
                    </a:ext>
                  </a:extLst>
                </a:gridCol>
                <a:gridCol w="353926">
                  <a:extLst>
                    <a:ext uri="{9D8B030D-6E8A-4147-A177-3AD203B41FA5}">
                      <a16:colId xmlns:a16="http://schemas.microsoft.com/office/drawing/2014/main" val="20001"/>
                    </a:ext>
                  </a:extLst>
                </a:gridCol>
                <a:gridCol w="353926">
                  <a:extLst>
                    <a:ext uri="{9D8B030D-6E8A-4147-A177-3AD203B41FA5}">
                      <a16:colId xmlns:a16="http://schemas.microsoft.com/office/drawing/2014/main" val="20002"/>
                    </a:ext>
                  </a:extLst>
                </a:gridCol>
                <a:gridCol w="353926">
                  <a:extLst>
                    <a:ext uri="{9D8B030D-6E8A-4147-A177-3AD203B41FA5}">
                      <a16:colId xmlns:a16="http://schemas.microsoft.com/office/drawing/2014/main" val="20003"/>
                    </a:ext>
                  </a:extLst>
                </a:gridCol>
              </a:tblGrid>
              <a:tr h="323850">
                <a:tc>
                  <a:txBody>
                    <a:bodyPr/>
                    <a:lstStyle/>
                    <a:p>
                      <a:pPr algn="ctr"/>
                      <a:r>
                        <a:rPr lang="en-US" sz="2000" dirty="0"/>
                        <a:t>1</a:t>
                      </a:r>
                    </a:p>
                  </a:txBody>
                  <a:tcPr marL="61648" marR="61648" marT="30825" marB="30825" anchor="ctr"/>
                </a:tc>
                <a:tc>
                  <a:txBody>
                    <a:bodyPr/>
                    <a:lstStyle/>
                    <a:p>
                      <a:pPr algn="ctr"/>
                      <a:r>
                        <a:rPr lang="en-US" sz="2000" dirty="0"/>
                        <a:t>2</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extLst>
                  <a:ext uri="{0D108BD9-81ED-4DB2-BD59-A6C34878D82A}">
                    <a16:rowId xmlns:a16="http://schemas.microsoft.com/office/drawing/2014/main" val="10000"/>
                  </a:ext>
                </a:extLst>
              </a:tr>
              <a:tr h="323850">
                <a:tc>
                  <a:txBody>
                    <a:bodyPr/>
                    <a:lstStyle/>
                    <a:p>
                      <a:pPr algn="ctr"/>
                      <a:r>
                        <a:rPr lang="en-US" sz="2000" dirty="0"/>
                        <a:t>1</a:t>
                      </a:r>
                    </a:p>
                  </a:txBody>
                  <a:tcPr marL="61648" marR="61648" marT="30825" marB="30825" anchor="ctr"/>
                </a:tc>
                <a:tc>
                  <a:txBody>
                    <a:bodyPr/>
                    <a:lstStyle/>
                    <a:p>
                      <a:pPr algn="ctr"/>
                      <a:r>
                        <a:rPr lang="en-US" sz="2000" dirty="0"/>
                        <a:t>1</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1</a:t>
                      </a:r>
                    </a:p>
                  </a:txBody>
                  <a:tcPr marL="61648" marR="61648" marT="30825" marB="30825" anchor="ctr"/>
                </a:tc>
                <a:extLst>
                  <a:ext uri="{0D108BD9-81ED-4DB2-BD59-A6C34878D82A}">
                    <a16:rowId xmlns:a16="http://schemas.microsoft.com/office/drawing/2014/main" val="10001"/>
                  </a:ext>
                </a:extLst>
              </a:tr>
              <a:tr h="323850">
                <a:tc>
                  <a:txBody>
                    <a:bodyPr/>
                    <a:lstStyle/>
                    <a:p>
                      <a:pPr algn="ctr"/>
                      <a:r>
                        <a:rPr lang="en-US" sz="2000" dirty="0"/>
                        <a:t>2</a:t>
                      </a:r>
                    </a:p>
                  </a:txBody>
                  <a:tcPr marL="61648" marR="61648" marT="30825" marB="30825" anchor="ctr"/>
                </a:tc>
                <a:tc>
                  <a:txBody>
                    <a:bodyPr/>
                    <a:lstStyle/>
                    <a:p>
                      <a:pPr algn="ctr"/>
                      <a:r>
                        <a:rPr lang="en-US" sz="2000" dirty="0"/>
                        <a:t>3</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2</a:t>
                      </a:r>
                    </a:p>
                  </a:txBody>
                  <a:tcPr marL="61648" marR="61648" marT="30825" marB="30825" anchor="ctr"/>
                </a:tc>
                <a:extLst>
                  <a:ext uri="{0D108BD9-81ED-4DB2-BD59-A6C34878D82A}">
                    <a16:rowId xmlns:a16="http://schemas.microsoft.com/office/drawing/2014/main" val="10002"/>
                  </a:ext>
                </a:extLst>
              </a:tr>
              <a:tr h="323850">
                <a:tc>
                  <a:txBody>
                    <a:bodyPr/>
                    <a:lstStyle/>
                    <a:p>
                      <a:pPr algn="ctr"/>
                      <a:r>
                        <a:rPr lang="en-US" sz="2000" dirty="0"/>
                        <a:t>1</a:t>
                      </a:r>
                    </a:p>
                  </a:txBody>
                  <a:tcPr marL="61648" marR="61648" marT="30825" marB="30825" anchor="ctr"/>
                </a:tc>
                <a:tc>
                  <a:txBody>
                    <a:bodyPr/>
                    <a:lstStyle/>
                    <a:p>
                      <a:pPr algn="ctr"/>
                      <a:r>
                        <a:rPr lang="en-US" sz="2000" dirty="0"/>
                        <a:t>1</a:t>
                      </a:r>
                    </a:p>
                  </a:txBody>
                  <a:tcPr marL="61648" marR="61648" marT="30825" marB="30825" anchor="ctr"/>
                </a:tc>
                <a:tc>
                  <a:txBody>
                    <a:bodyPr/>
                    <a:lstStyle/>
                    <a:p>
                      <a:pPr algn="ctr"/>
                      <a:r>
                        <a:rPr lang="en-US" sz="2000" dirty="0"/>
                        <a:t>0</a:t>
                      </a:r>
                    </a:p>
                  </a:txBody>
                  <a:tcPr marL="61648" marR="61648" marT="30825" marB="30825" anchor="ctr"/>
                </a:tc>
                <a:tc>
                  <a:txBody>
                    <a:bodyPr/>
                    <a:lstStyle/>
                    <a:p>
                      <a:pPr algn="ctr"/>
                      <a:r>
                        <a:rPr lang="en-US" sz="2000" dirty="0"/>
                        <a:t>0</a:t>
                      </a:r>
                    </a:p>
                  </a:txBody>
                  <a:tcPr marL="61648" marR="61648" marT="30825" marB="30825" anchor="ctr"/>
                </a:tc>
                <a:extLst>
                  <a:ext uri="{0D108BD9-81ED-4DB2-BD59-A6C34878D82A}">
                    <a16:rowId xmlns:a16="http://schemas.microsoft.com/office/drawing/2014/main" val="10003"/>
                  </a:ext>
                </a:extLst>
              </a:tr>
            </a:tbl>
          </a:graphicData>
        </a:graphic>
      </p:graphicFrame>
      <p:sp>
        <p:nvSpPr>
          <p:cNvPr id="22" name="Double Bracket 21"/>
          <p:cNvSpPr/>
          <p:nvPr/>
        </p:nvSpPr>
        <p:spPr>
          <a:xfrm>
            <a:off x="9270153" y="2466120"/>
            <a:ext cx="1548000" cy="1548000"/>
          </a:xfrm>
          <a:prstGeom prst="bracketPair">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3" name="TextBox 22"/>
          <p:cNvSpPr txBox="1"/>
          <p:nvPr/>
        </p:nvSpPr>
        <p:spPr>
          <a:xfrm>
            <a:off x="8449232" y="3009288"/>
            <a:ext cx="779929" cy="461665"/>
          </a:xfrm>
          <a:prstGeom prst="rect">
            <a:avLst/>
          </a:prstGeom>
          <a:noFill/>
        </p:spPr>
        <p:txBody>
          <a:bodyPr wrap="square" rtlCol="0">
            <a:spAutoFit/>
          </a:bodyPr>
          <a:lstStyle/>
          <a:p>
            <a:r>
              <a:rPr lang="en-US" sz="2400" b="1" dirty="0">
                <a:solidFill>
                  <a:srgbClr val="C00000"/>
                </a:solidFill>
              </a:rPr>
              <a:t>A</a:t>
            </a:r>
            <a:r>
              <a:rPr lang="en-US" sz="2400" b="1" baseline="30000" dirty="0">
                <a:solidFill>
                  <a:srgbClr val="C00000"/>
                </a:solidFill>
              </a:rPr>
              <a:t>4</a:t>
            </a:r>
            <a:r>
              <a:rPr lang="en-US" sz="2400" b="1" dirty="0">
                <a:solidFill>
                  <a:srgbClr val="C00000"/>
                </a:solidFill>
              </a:rPr>
              <a:t> =</a:t>
            </a:r>
          </a:p>
        </p:txBody>
      </p:sp>
    </p:spTree>
    <p:extLst>
      <p:ext uri="{BB962C8B-B14F-4D97-AF65-F5344CB8AC3E}">
        <p14:creationId xmlns:p14="http://schemas.microsoft.com/office/powerpoint/2010/main" val="395479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p:bldP spid="15" grpId="0"/>
      <p:bldP spid="17" grpId="0" animBg="1"/>
      <p:bldP spid="19" grpId="0" animBg="1"/>
      <p:bldP spid="20" grpId="0"/>
      <p:bldP spid="22" grpId="0" animBg="1"/>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 matrix or reachability matrix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a:t>
                </a:r>
                <a:r>
                  <a:rPr lang="en-US" b="1" dirty="0">
                    <a:solidFill>
                      <a:srgbClr val="C00000"/>
                    </a:solidFill>
                  </a:rPr>
                  <a:t>G = (V,E)</a:t>
                </a:r>
                <a:r>
                  <a:rPr lang="en-US" dirty="0"/>
                  <a:t> be a simple diagraph which contains </a:t>
                </a:r>
                <a:r>
                  <a:rPr lang="en-US" b="1" dirty="0">
                    <a:solidFill>
                      <a:srgbClr val="C00000"/>
                    </a:solidFill>
                  </a:rPr>
                  <a:t>n nodes</a:t>
                </a:r>
                <a:r>
                  <a:rPr lang="en-US" dirty="0">
                    <a:solidFill>
                      <a:srgbClr val="C00000"/>
                    </a:solidFill>
                  </a:rPr>
                  <a:t> </a:t>
                </a:r>
                <a:r>
                  <a:rPr lang="en-US" dirty="0"/>
                  <a:t>that are assumed to be ordered.</a:t>
                </a:r>
              </a:p>
              <a:p>
                <a:r>
                  <a:rPr lang="en-US" dirty="0"/>
                  <a:t>A </a:t>
                </a:r>
                <a:r>
                  <a:rPr lang="en-US" b="1" dirty="0">
                    <a:solidFill>
                      <a:srgbClr val="C00000"/>
                    </a:solidFill>
                  </a:rPr>
                  <a:t>n x n</a:t>
                </a:r>
                <a:r>
                  <a:rPr lang="en-US" dirty="0"/>
                  <a:t> matrix </a:t>
                </a:r>
                <a:r>
                  <a:rPr lang="en-US" b="1" dirty="0">
                    <a:solidFill>
                      <a:srgbClr val="C00000"/>
                    </a:solidFill>
                  </a:rPr>
                  <a:t>P</a:t>
                </a:r>
                <a:r>
                  <a:rPr lang="en-US" dirty="0"/>
                  <a:t> is called </a:t>
                </a:r>
                <a:r>
                  <a:rPr lang="en-US" b="1" dirty="0">
                    <a:solidFill>
                      <a:srgbClr val="C00000"/>
                    </a:solidFill>
                  </a:rPr>
                  <a:t>path matrix</a:t>
                </a:r>
                <a:r>
                  <a:rPr lang="en-US" dirty="0">
                    <a:solidFill>
                      <a:srgbClr val="C00000"/>
                    </a:solidFill>
                  </a:rPr>
                  <a:t> </a:t>
                </a:r>
                <a:r>
                  <a:rPr lang="en-US" dirty="0"/>
                  <a:t>whose elements are given by</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𝑖𝑗</m:t>
                          </m:r>
                        </m:sub>
                      </m:sSub>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IN" b="0" i="1" smtClean="0">
                                  <a:latin typeface="Cambria Math" panose="02040503050406030204" pitchFamily="18" charset="0"/>
                                </a:rPr>
                                <m:t>1</m:t>
                              </m:r>
                              <m:r>
                                <a:rPr lang="en-US" i="1" smtClean="0">
                                  <a:latin typeface="Cambria Math" panose="02040503050406030204" pitchFamily="18" charset="0"/>
                                </a:rPr>
                                <m:t>,</m:t>
                              </m:r>
                              <m:r>
                                <a:rPr lang="en-IN" i="1" dirty="0">
                                  <a:latin typeface="Cambria Math" panose="02040503050406030204" pitchFamily="18" charset="0"/>
                                </a:rPr>
                                <m:t>𝑖𝑓</m:t>
                              </m:r>
                              <m:r>
                                <a:rPr lang="en-IN" i="1" dirty="0">
                                  <a:latin typeface="Cambria Math" panose="02040503050406030204" pitchFamily="18" charset="0"/>
                                </a:rPr>
                                <m:t> </m:t>
                              </m:r>
                              <m:r>
                                <a:rPr lang="en-IN" i="1" dirty="0">
                                  <a:latin typeface="Cambria Math" panose="02040503050406030204" pitchFamily="18" charset="0"/>
                                </a:rPr>
                                <m:t>𝑡h𝑒𝑟𝑒</m:t>
                              </m:r>
                              <m:r>
                                <a:rPr lang="en-IN" i="1" dirty="0">
                                  <a:latin typeface="Cambria Math" panose="02040503050406030204" pitchFamily="18" charset="0"/>
                                </a:rPr>
                                <m:t> </m:t>
                              </m:r>
                              <m:r>
                                <a:rPr lang="en-IN" i="1" dirty="0">
                                  <a:latin typeface="Cambria Math" panose="02040503050406030204" pitchFamily="18" charset="0"/>
                                </a:rPr>
                                <m:t>𝑒𝑥𝑖𝑠𝑡𝑠</m:t>
                              </m:r>
                              <m:r>
                                <a:rPr lang="en-IN" i="1" dirty="0">
                                  <a:latin typeface="Cambria Math" panose="02040503050406030204" pitchFamily="18" charset="0"/>
                                </a:rPr>
                                <m:t> </m:t>
                              </m:r>
                              <m:r>
                                <a:rPr lang="en-IN" i="1" dirty="0">
                                  <a:latin typeface="Cambria Math" panose="02040503050406030204" pitchFamily="18" charset="0"/>
                                </a:rPr>
                                <m:t>𝑝𝑎𝑡h</m:t>
                              </m:r>
                              <m:r>
                                <a:rPr lang="en-IN" i="1" dirty="0">
                                  <a:latin typeface="Cambria Math" panose="02040503050406030204" pitchFamily="18" charset="0"/>
                                </a:rPr>
                                <m:t> </m:t>
                              </m:r>
                              <m:r>
                                <a:rPr lang="en-IN" i="1" dirty="0">
                                  <a:latin typeface="Cambria Math" panose="02040503050406030204" pitchFamily="18" charset="0"/>
                                </a:rPr>
                                <m:t>𝑓𝑟𝑜𝑚</m:t>
                              </m:r>
                              <m:r>
                                <a:rPr lang="en-IN" i="1" dirty="0">
                                  <a:latin typeface="Cambria Math" panose="02040503050406030204" pitchFamily="18" charset="0"/>
                                </a:rPr>
                                <m:t> </m:t>
                              </m:r>
                              <m:r>
                                <a:rPr lang="en-IN" i="1" dirty="0">
                                  <a:latin typeface="Cambria Math" panose="02040503050406030204" pitchFamily="18" charset="0"/>
                                </a:rPr>
                                <m:t>𝑛𝑜𝑑𝑒</m:t>
                              </m:r>
                              <m:r>
                                <a:rPr lang="en-IN" i="1" dirty="0">
                                  <a:latin typeface="Cambria Math" panose="02040503050406030204" pitchFamily="18" charset="0"/>
                                </a:rPr>
                                <m:t> </m:t>
                              </m:r>
                              <m:sSub>
                                <m:sSubPr>
                                  <m:ctrlPr>
                                    <a:rPr lang="en-IN" i="1" dirty="0">
                                      <a:latin typeface="Cambria Math" panose="02040503050406030204" pitchFamily="18" charset="0"/>
                                    </a:rPr>
                                  </m:ctrlPr>
                                </m:sSubPr>
                                <m:e>
                                  <m:r>
                                    <a:rPr lang="en-IN" i="1" dirty="0">
                                      <a:latin typeface="Cambria Math" panose="02040503050406030204" pitchFamily="18" charset="0"/>
                                    </a:rPr>
                                    <m:t>𝑉</m:t>
                                  </m:r>
                                </m:e>
                                <m:sub>
                                  <m:r>
                                    <a:rPr lang="en-IN" i="1" dirty="0">
                                      <a:latin typeface="Cambria Math" panose="02040503050406030204" pitchFamily="18" charset="0"/>
                                    </a:rPr>
                                    <m:t>𝑖</m:t>
                                  </m:r>
                                </m:sub>
                              </m:sSub>
                              <m:r>
                                <a:rPr lang="en-IN" i="1" dirty="0">
                                  <a:latin typeface="Cambria Math" panose="02040503050406030204" pitchFamily="18" charset="0"/>
                                </a:rPr>
                                <m:t> </m:t>
                              </m:r>
                              <m:r>
                                <a:rPr lang="en-IN" i="1" dirty="0">
                                  <a:latin typeface="Cambria Math" panose="02040503050406030204" pitchFamily="18" charset="0"/>
                                </a:rPr>
                                <m:t>𝑡𝑜</m:t>
                              </m:r>
                              <m:r>
                                <a:rPr lang="en-IN" i="1" dirty="0">
                                  <a:latin typeface="Cambria Math" panose="02040503050406030204" pitchFamily="18" charset="0"/>
                                </a:rPr>
                                <m:t> </m:t>
                              </m:r>
                              <m:sSub>
                                <m:sSubPr>
                                  <m:ctrlPr>
                                    <a:rPr lang="en-IN" i="1" dirty="0">
                                      <a:latin typeface="Cambria Math" panose="02040503050406030204" pitchFamily="18" charset="0"/>
                                    </a:rPr>
                                  </m:ctrlPr>
                                </m:sSubPr>
                                <m:e>
                                  <m:r>
                                    <a:rPr lang="en-IN" i="1" dirty="0">
                                      <a:latin typeface="Cambria Math" panose="02040503050406030204" pitchFamily="18" charset="0"/>
                                    </a:rPr>
                                    <m:t>𝑉</m:t>
                                  </m:r>
                                </m:e>
                                <m:sub>
                                  <m:r>
                                    <a:rPr lang="en-IN" i="1" dirty="0">
                                      <a:latin typeface="Cambria Math" panose="02040503050406030204" pitchFamily="18" charset="0"/>
                                    </a:rPr>
                                    <m:t>𝑗</m:t>
                                  </m:r>
                                </m:sub>
                              </m:sSub>
                            </m:e>
                            <m:e>
                              <m:r>
                                <a:rPr lang="en-US" i="1" smtClean="0">
                                  <a:latin typeface="Cambria Math" panose="02040503050406030204" pitchFamily="18" charset="0"/>
                                </a:rPr>
                                <m:t>&amp;</m:t>
                              </m:r>
                              <m:r>
                                <a:rPr lang="en-IN" b="0" i="1" smtClean="0">
                                  <a:latin typeface="Cambria Math" panose="02040503050406030204" pitchFamily="18" charset="0"/>
                                </a:rPr>
                                <m:t>0,</m:t>
                              </m:r>
                              <m:r>
                                <a:rPr lang="en-US" i="1" smtClean="0">
                                  <a:latin typeface="Cambria Math" panose="02040503050406030204" pitchFamily="18" charset="0"/>
                                </a:rPr>
                                <m:t> </m:t>
                              </m:r>
                              <m:r>
                                <a:rPr lang="en-IN" b="0" i="1" smtClean="0">
                                  <a:latin typeface="Cambria Math" panose="02040503050406030204" pitchFamily="18" charset="0"/>
                                </a:rPr>
                                <m:t>𝑜𝑡h𝑒𝑟𝑤𝑖𝑠𝑒</m:t>
                              </m:r>
                              <m:r>
                                <a:rPr lang="en-IN" b="0" i="1" smtClean="0">
                                  <a:latin typeface="Cambria Math" panose="02040503050406030204" pitchFamily="18" charset="0"/>
                                </a:rPr>
                                <m:t>                                                         </m:t>
                              </m:r>
                            </m:e>
                          </m:eqArr>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6" t="-436"/>
                </a:stretch>
              </a:blipFill>
            </p:spPr>
            <p:txBody>
              <a:bodyPr/>
              <a:lstStyle/>
              <a:p>
                <a:r>
                  <a:rPr lang="en-IN">
                    <a:noFill/>
                  </a:rPr>
                  <a:t> </a:t>
                </a:r>
              </a:p>
            </p:txBody>
          </p:sp>
        </mc:Fallback>
      </mc:AlternateContent>
    </p:spTree>
    <p:extLst>
      <p:ext uri="{BB962C8B-B14F-4D97-AF65-F5344CB8AC3E}">
        <p14:creationId xmlns:p14="http://schemas.microsoft.com/office/powerpoint/2010/main" val="313314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List Representation</a:t>
            </a:r>
          </a:p>
        </p:txBody>
      </p:sp>
      <p:sp>
        <p:nvSpPr>
          <p:cNvPr id="4" name="Oval 3"/>
          <p:cNvSpPr/>
          <p:nvPr/>
        </p:nvSpPr>
        <p:spPr>
          <a:xfrm>
            <a:off x="5517776" y="90095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5" name="Oval 4"/>
          <p:cNvSpPr/>
          <p:nvPr/>
        </p:nvSpPr>
        <p:spPr>
          <a:xfrm>
            <a:off x="4222376" y="189155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6" name="Oval 5"/>
          <p:cNvSpPr/>
          <p:nvPr/>
        </p:nvSpPr>
        <p:spPr>
          <a:xfrm>
            <a:off x="5212976" y="265355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7" name="Oval 6"/>
          <p:cNvSpPr/>
          <p:nvPr/>
        </p:nvSpPr>
        <p:spPr>
          <a:xfrm>
            <a:off x="6336926" y="213920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8" name="Oval 7"/>
          <p:cNvSpPr/>
          <p:nvPr/>
        </p:nvSpPr>
        <p:spPr>
          <a:xfrm>
            <a:off x="7346576" y="173915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cxnSp>
        <p:nvCxnSpPr>
          <p:cNvPr id="10" name="Straight Connector 9"/>
          <p:cNvCxnSpPr>
            <a:stCxn id="4" idx="3"/>
            <a:endCxn id="5" idx="7"/>
          </p:cNvCxnSpPr>
          <p:nvPr/>
        </p:nvCxnSpPr>
        <p:spPr>
          <a:xfrm flipH="1">
            <a:off x="4701732" y="1380310"/>
            <a:ext cx="898288" cy="59348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5" idx="5"/>
            <a:endCxn id="6" idx="1"/>
          </p:cNvCxnSpPr>
          <p:nvPr/>
        </p:nvCxnSpPr>
        <p:spPr>
          <a:xfrm>
            <a:off x="4701732" y="2370910"/>
            <a:ext cx="593488" cy="36488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6" idx="6"/>
            <a:endCxn id="7" idx="3"/>
          </p:cNvCxnSpPr>
          <p:nvPr/>
        </p:nvCxnSpPr>
        <p:spPr>
          <a:xfrm flipV="1">
            <a:off x="5774576" y="2618560"/>
            <a:ext cx="644594" cy="31579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7" idx="6"/>
            <a:endCxn id="8" idx="3"/>
          </p:cNvCxnSpPr>
          <p:nvPr/>
        </p:nvCxnSpPr>
        <p:spPr>
          <a:xfrm flipV="1">
            <a:off x="6898526" y="2218510"/>
            <a:ext cx="530294" cy="20149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4" idx="4"/>
            <a:endCxn id="6" idx="0"/>
          </p:cNvCxnSpPr>
          <p:nvPr/>
        </p:nvCxnSpPr>
        <p:spPr>
          <a:xfrm flipH="1">
            <a:off x="5493776" y="1462554"/>
            <a:ext cx="304800" cy="119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4" idx="5"/>
            <a:endCxn id="7" idx="1"/>
          </p:cNvCxnSpPr>
          <p:nvPr/>
        </p:nvCxnSpPr>
        <p:spPr>
          <a:xfrm>
            <a:off x="5997132" y="1380310"/>
            <a:ext cx="422038" cy="84113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4" name="Straight Connector 23"/>
          <p:cNvCxnSpPr>
            <a:stCxn id="4" idx="6"/>
            <a:endCxn id="8" idx="0"/>
          </p:cNvCxnSpPr>
          <p:nvPr/>
        </p:nvCxnSpPr>
        <p:spPr>
          <a:xfrm>
            <a:off x="6079376" y="1181754"/>
            <a:ext cx="1548000" cy="557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6" name="Curved Connector 25"/>
          <p:cNvCxnSpPr>
            <a:stCxn id="6" idx="5"/>
            <a:endCxn id="8" idx="5"/>
          </p:cNvCxnSpPr>
          <p:nvPr/>
        </p:nvCxnSpPr>
        <p:spPr>
          <a:xfrm rot="5400000" flipH="1" flipV="1">
            <a:off x="6301932" y="1608910"/>
            <a:ext cx="914400" cy="2133600"/>
          </a:xfrm>
          <a:prstGeom prst="curvedConnector3">
            <a:avLst>
              <a:gd name="adj1" fmla="val -33994"/>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aphicFrame>
        <p:nvGraphicFramePr>
          <p:cNvPr id="40" name="Table 39"/>
          <p:cNvGraphicFramePr>
            <a:graphicFrameLocks noGrp="1"/>
          </p:cNvGraphicFramePr>
          <p:nvPr>
            <p:extLst>
              <p:ext uri="{D42A27DB-BD31-4B8C-83A1-F6EECF244321}">
                <p14:modId xmlns:p14="http://schemas.microsoft.com/office/powerpoint/2010/main" val="2987488953"/>
              </p:ext>
            </p:extLst>
          </p:nvPr>
        </p:nvGraphicFramePr>
        <p:xfrm>
          <a:off x="3335336" y="3810001"/>
          <a:ext cx="762000" cy="24384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tblGrid>
              <a:tr h="487680">
                <a:tc>
                  <a:txBody>
                    <a:bodyPr/>
                    <a:lstStyle/>
                    <a:p>
                      <a:pPr algn="ctr"/>
                      <a:r>
                        <a:rPr lang="en-US" sz="2400" b="1" dirty="0"/>
                        <a:t>0</a:t>
                      </a:r>
                    </a:p>
                  </a:txBody>
                  <a:tcPr anchor="ctr"/>
                </a:tc>
                <a:extLst>
                  <a:ext uri="{0D108BD9-81ED-4DB2-BD59-A6C34878D82A}">
                    <a16:rowId xmlns:a16="http://schemas.microsoft.com/office/drawing/2014/main" val="10000"/>
                  </a:ext>
                </a:extLst>
              </a:tr>
              <a:tr h="487680">
                <a:tc>
                  <a:txBody>
                    <a:bodyPr/>
                    <a:lstStyle/>
                    <a:p>
                      <a:pPr algn="ctr"/>
                      <a:r>
                        <a:rPr lang="en-US" sz="2400" b="1" dirty="0"/>
                        <a:t>1</a:t>
                      </a:r>
                    </a:p>
                  </a:txBody>
                  <a:tcPr anchor="ctr"/>
                </a:tc>
                <a:extLst>
                  <a:ext uri="{0D108BD9-81ED-4DB2-BD59-A6C34878D82A}">
                    <a16:rowId xmlns:a16="http://schemas.microsoft.com/office/drawing/2014/main" val="10001"/>
                  </a:ext>
                </a:extLst>
              </a:tr>
              <a:tr h="487680">
                <a:tc>
                  <a:txBody>
                    <a:bodyPr/>
                    <a:lstStyle/>
                    <a:p>
                      <a:pPr algn="ctr"/>
                      <a:r>
                        <a:rPr lang="en-US" sz="2400" b="1" dirty="0"/>
                        <a:t>2</a:t>
                      </a:r>
                    </a:p>
                  </a:txBody>
                  <a:tcPr anchor="ctr"/>
                </a:tc>
                <a:extLst>
                  <a:ext uri="{0D108BD9-81ED-4DB2-BD59-A6C34878D82A}">
                    <a16:rowId xmlns:a16="http://schemas.microsoft.com/office/drawing/2014/main" val="10002"/>
                  </a:ext>
                </a:extLst>
              </a:tr>
              <a:tr h="487680">
                <a:tc>
                  <a:txBody>
                    <a:bodyPr/>
                    <a:lstStyle/>
                    <a:p>
                      <a:pPr algn="ctr"/>
                      <a:r>
                        <a:rPr lang="en-US" sz="2400" b="1" dirty="0"/>
                        <a:t>3</a:t>
                      </a:r>
                    </a:p>
                  </a:txBody>
                  <a:tcPr anchor="ctr"/>
                </a:tc>
                <a:extLst>
                  <a:ext uri="{0D108BD9-81ED-4DB2-BD59-A6C34878D82A}">
                    <a16:rowId xmlns:a16="http://schemas.microsoft.com/office/drawing/2014/main" val="10003"/>
                  </a:ext>
                </a:extLst>
              </a:tr>
              <a:tr h="487680">
                <a:tc>
                  <a:txBody>
                    <a:bodyPr/>
                    <a:lstStyle/>
                    <a:p>
                      <a:pPr algn="ctr"/>
                      <a:r>
                        <a:rPr lang="en-US" sz="2400" b="1" dirty="0"/>
                        <a:t>4</a:t>
                      </a:r>
                    </a:p>
                  </a:txBody>
                  <a:tcPr anchor="ctr"/>
                </a:tc>
                <a:extLst>
                  <a:ext uri="{0D108BD9-81ED-4DB2-BD59-A6C34878D82A}">
                    <a16:rowId xmlns:a16="http://schemas.microsoft.com/office/drawing/2014/main" val="10004"/>
                  </a:ext>
                </a:extLst>
              </a:tr>
            </a:tbl>
          </a:graphicData>
        </a:graphic>
      </p:graphicFrame>
      <p:grpSp>
        <p:nvGrpSpPr>
          <p:cNvPr id="41" name="Group 40"/>
          <p:cNvGrpSpPr/>
          <p:nvPr/>
        </p:nvGrpSpPr>
        <p:grpSpPr>
          <a:xfrm>
            <a:off x="4437528" y="3800476"/>
            <a:ext cx="838200" cy="419100"/>
            <a:chOff x="5791200" y="1333500"/>
            <a:chExt cx="838200" cy="419100"/>
          </a:xfrm>
        </p:grpSpPr>
        <p:sp>
          <p:nvSpPr>
            <p:cNvPr id="42" name="Rectangle 41"/>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43" name="Rectangle 42"/>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4" name="Group 43"/>
          <p:cNvGrpSpPr/>
          <p:nvPr/>
        </p:nvGrpSpPr>
        <p:grpSpPr>
          <a:xfrm>
            <a:off x="5656728" y="3800476"/>
            <a:ext cx="838200" cy="419100"/>
            <a:chOff x="5791200" y="1333500"/>
            <a:chExt cx="838200" cy="419100"/>
          </a:xfrm>
        </p:grpSpPr>
        <p:sp>
          <p:nvSpPr>
            <p:cNvPr id="45" name="Rectangle 44"/>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46" name="Rectangle 45"/>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7" name="Group 46"/>
          <p:cNvGrpSpPr/>
          <p:nvPr/>
        </p:nvGrpSpPr>
        <p:grpSpPr>
          <a:xfrm>
            <a:off x="6799728" y="3800476"/>
            <a:ext cx="838200" cy="419100"/>
            <a:chOff x="5791200" y="1333500"/>
            <a:chExt cx="838200" cy="419100"/>
          </a:xfrm>
        </p:grpSpPr>
        <p:sp>
          <p:nvSpPr>
            <p:cNvPr id="48" name="Rectangle 47"/>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49" name="Rectangle 48"/>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0" name="Group 49"/>
          <p:cNvGrpSpPr/>
          <p:nvPr/>
        </p:nvGrpSpPr>
        <p:grpSpPr>
          <a:xfrm>
            <a:off x="7942728" y="3800475"/>
            <a:ext cx="838200" cy="419100"/>
            <a:chOff x="5791200" y="1333500"/>
            <a:chExt cx="838200" cy="419100"/>
          </a:xfrm>
        </p:grpSpPr>
        <p:sp>
          <p:nvSpPr>
            <p:cNvPr id="51" name="Rectangle 50"/>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52" name="Rectangle 51"/>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3" name="Group 52"/>
          <p:cNvGrpSpPr/>
          <p:nvPr/>
        </p:nvGrpSpPr>
        <p:grpSpPr>
          <a:xfrm>
            <a:off x="4437528" y="4295775"/>
            <a:ext cx="838200" cy="419100"/>
            <a:chOff x="5791200" y="1333500"/>
            <a:chExt cx="838200" cy="419100"/>
          </a:xfrm>
        </p:grpSpPr>
        <p:sp>
          <p:nvSpPr>
            <p:cNvPr id="54" name="Rectangle 53"/>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55" name="Rectangle 54"/>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6" name="Group 55"/>
          <p:cNvGrpSpPr/>
          <p:nvPr/>
        </p:nvGrpSpPr>
        <p:grpSpPr>
          <a:xfrm>
            <a:off x="5647203" y="4295775"/>
            <a:ext cx="838200" cy="419100"/>
            <a:chOff x="5791200" y="1333500"/>
            <a:chExt cx="838200" cy="419100"/>
          </a:xfrm>
        </p:grpSpPr>
        <p:sp>
          <p:nvSpPr>
            <p:cNvPr id="57" name="Rectangle 56"/>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58" name="Rectangle 57"/>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9" name="Group 58"/>
          <p:cNvGrpSpPr/>
          <p:nvPr/>
        </p:nvGrpSpPr>
        <p:grpSpPr>
          <a:xfrm>
            <a:off x="4437528" y="4791075"/>
            <a:ext cx="838200" cy="419100"/>
            <a:chOff x="5791200" y="1333500"/>
            <a:chExt cx="838200" cy="419100"/>
          </a:xfrm>
        </p:grpSpPr>
        <p:sp>
          <p:nvSpPr>
            <p:cNvPr id="60" name="Rectangle 59"/>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61" name="Rectangle 60"/>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2" name="Group 61"/>
          <p:cNvGrpSpPr/>
          <p:nvPr/>
        </p:nvGrpSpPr>
        <p:grpSpPr>
          <a:xfrm>
            <a:off x="5647203" y="4791075"/>
            <a:ext cx="838200" cy="419100"/>
            <a:chOff x="5791200" y="1333500"/>
            <a:chExt cx="838200" cy="419100"/>
          </a:xfrm>
        </p:grpSpPr>
        <p:sp>
          <p:nvSpPr>
            <p:cNvPr id="63" name="Rectangle 62"/>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64" name="Rectangle 63"/>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5" name="Group 64"/>
          <p:cNvGrpSpPr/>
          <p:nvPr/>
        </p:nvGrpSpPr>
        <p:grpSpPr>
          <a:xfrm>
            <a:off x="6790203" y="4781550"/>
            <a:ext cx="838200" cy="419100"/>
            <a:chOff x="5791200" y="1333500"/>
            <a:chExt cx="838200" cy="419100"/>
          </a:xfrm>
        </p:grpSpPr>
        <p:sp>
          <p:nvSpPr>
            <p:cNvPr id="66" name="Rectangle 65"/>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67" name="Rectangle 66"/>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8" name="Group 67"/>
          <p:cNvGrpSpPr/>
          <p:nvPr/>
        </p:nvGrpSpPr>
        <p:grpSpPr>
          <a:xfrm>
            <a:off x="4437528" y="5276850"/>
            <a:ext cx="838200" cy="419100"/>
            <a:chOff x="5791200" y="1333500"/>
            <a:chExt cx="838200" cy="419100"/>
          </a:xfrm>
        </p:grpSpPr>
        <p:sp>
          <p:nvSpPr>
            <p:cNvPr id="69" name="Rectangle 68"/>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70" name="Rectangle 69"/>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1" name="Group 70"/>
          <p:cNvGrpSpPr/>
          <p:nvPr/>
        </p:nvGrpSpPr>
        <p:grpSpPr>
          <a:xfrm>
            <a:off x="5656728" y="5276850"/>
            <a:ext cx="838200" cy="419100"/>
            <a:chOff x="5791200" y="1333500"/>
            <a:chExt cx="838200" cy="419100"/>
          </a:xfrm>
        </p:grpSpPr>
        <p:sp>
          <p:nvSpPr>
            <p:cNvPr id="72" name="Rectangle 71"/>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73" name="Rectangle 72"/>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4" name="Group 73"/>
          <p:cNvGrpSpPr/>
          <p:nvPr/>
        </p:nvGrpSpPr>
        <p:grpSpPr>
          <a:xfrm>
            <a:off x="6799728" y="5276850"/>
            <a:ext cx="838200" cy="419100"/>
            <a:chOff x="5791200" y="1333500"/>
            <a:chExt cx="838200" cy="419100"/>
          </a:xfrm>
        </p:grpSpPr>
        <p:sp>
          <p:nvSpPr>
            <p:cNvPr id="75" name="Rectangle 74"/>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76" name="Rectangle 75"/>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7" name="Group 76"/>
          <p:cNvGrpSpPr/>
          <p:nvPr/>
        </p:nvGrpSpPr>
        <p:grpSpPr>
          <a:xfrm>
            <a:off x="7942728" y="5276850"/>
            <a:ext cx="838200" cy="419100"/>
            <a:chOff x="5791200" y="1333500"/>
            <a:chExt cx="838200" cy="419100"/>
          </a:xfrm>
        </p:grpSpPr>
        <p:sp>
          <p:nvSpPr>
            <p:cNvPr id="78" name="Rectangle 77"/>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79" name="Rectangle 78"/>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80" name="Group 79"/>
          <p:cNvGrpSpPr/>
          <p:nvPr/>
        </p:nvGrpSpPr>
        <p:grpSpPr>
          <a:xfrm>
            <a:off x="4437528" y="5772150"/>
            <a:ext cx="838200" cy="419100"/>
            <a:chOff x="5791200" y="1333500"/>
            <a:chExt cx="838200" cy="419100"/>
          </a:xfrm>
        </p:grpSpPr>
        <p:sp>
          <p:nvSpPr>
            <p:cNvPr id="81" name="Rectangle 80"/>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82" name="Rectangle 81"/>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83" name="Group 82"/>
          <p:cNvGrpSpPr/>
          <p:nvPr/>
        </p:nvGrpSpPr>
        <p:grpSpPr>
          <a:xfrm>
            <a:off x="5647203" y="5772150"/>
            <a:ext cx="838200" cy="419100"/>
            <a:chOff x="5791200" y="1333500"/>
            <a:chExt cx="838200" cy="419100"/>
          </a:xfrm>
        </p:grpSpPr>
        <p:sp>
          <p:nvSpPr>
            <p:cNvPr id="84" name="Rectangle 83"/>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85" name="Rectangle 84"/>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86" name="Group 85"/>
          <p:cNvGrpSpPr/>
          <p:nvPr/>
        </p:nvGrpSpPr>
        <p:grpSpPr>
          <a:xfrm>
            <a:off x="6790203" y="5772150"/>
            <a:ext cx="838200" cy="419100"/>
            <a:chOff x="5791200" y="1333500"/>
            <a:chExt cx="838200" cy="419100"/>
          </a:xfrm>
        </p:grpSpPr>
        <p:sp>
          <p:nvSpPr>
            <p:cNvPr id="87" name="Rectangle 86"/>
            <p:cNvSpPr/>
            <p:nvPr/>
          </p:nvSpPr>
          <p:spPr>
            <a:xfrm>
              <a:off x="57912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88" name="Rectangle 87"/>
            <p:cNvSpPr/>
            <p:nvPr/>
          </p:nvSpPr>
          <p:spPr>
            <a:xfrm>
              <a:off x="6210300" y="1333500"/>
              <a:ext cx="419100" cy="4191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90" name="Straight Arrow Connector 89"/>
          <p:cNvCxnSpPr>
            <a:endCxn id="42" idx="1"/>
          </p:cNvCxnSpPr>
          <p:nvPr/>
        </p:nvCxnSpPr>
        <p:spPr>
          <a:xfrm>
            <a:off x="4132728" y="4010026"/>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3" name="Straight Arrow Connector 92"/>
          <p:cNvCxnSpPr>
            <a:stCxn id="43" idx="3"/>
            <a:endCxn id="45" idx="1"/>
          </p:cNvCxnSpPr>
          <p:nvPr/>
        </p:nvCxnSpPr>
        <p:spPr>
          <a:xfrm>
            <a:off x="5275728" y="4010026"/>
            <a:ext cx="3810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5" name="Straight Arrow Connector 94"/>
          <p:cNvCxnSpPr>
            <a:stCxn id="46" idx="3"/>
            <a:endCxn id="48" idx="1"/>
          </p:cNvCxnSpPr>
          <p:nvPr/>
        </p:nvCxnSpPr>
        <p:spPr>
          <a:xfrm>
            <a:off x="6494928" y="4010026"/>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7" name="Straight Arrow Connector 96"/>
          <p:cNvCxnSpPr>
            <a:endCxn id="54" idx="1"/>
          </p:cNvCxnSpPr>
          <p:nvPr/>
        </p:nvCxnSpPr>
        <p:spPr>
          <a:xfrm>
            <a:off x="4132728" y="4505325"/>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9" name="Straight Arrow Connector 98"/>
          <p:cNvCxnSpPr>
            <a:stCxn id="55" idx="3"/>
            <a:endCxn id="57" idx="1"/>
          </p:cNvCxnSpPr>
          <p:nvPr/>
        </p:nvCxnSpPr>
        <p:spPr>
          <a:xfrm>
            <a:off x="5275729" y="4505325"/>
            <a:ext cx="371475"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1" name="Straight Arrow Connector 100"/>
          <p:cNvCxnSpPr>
            <a:endCxn id="60" idx="1"/>
          </p:cNvCxnSpPr>
          <p:nvPr/>
        </p:nvCxnSpPr>
        <p:spPr>
          <a:xfrm>
            <a:off x="4132728" y="5000625"/>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3" name="Straight Arrow Connector 102"/>
          <p:cNvCxnSpPr>
            <a:stCxn id="61" idx="3"/>
            <a:endCxn id="63" idx="1"/>
          </p:cNvCxnSpPr>
          <p:nvPr/>
        </p:nvCxnSpPr>
        <p:spPr>
          <a:xfrm>
            <a:off x="5275729" y="5000625"/>
            <a:ext cx="371475"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5" name="Straight Arrow Connector 104"/>
          <p:cNvCxnSpPr>
            <a:stCxn id="64" idx="3"/>
            <a:endCxn id="66" idx="1"/>
          </p:cNvCxnSpPr>
          <p:nvPr/>
        </p:nvCxnSpPr>
        <p:spPr>
          <a:xfrm flipV="1">
            <a:off x="6485403" y="4991101"/>
            <a:ext cx="304800" cy="9525"/>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7" name="Straight Arrow Connector 106"/>
          <p:cNvCxnSpPr>
            <a:endCxn id="69" idx="1"/>
          </p:cNvCxnSpPr>
          <p:nvPr/>
        </p:nvCxnSpPr>
        <p:spPr>
          <a:xfrm>
            <a:off x="4132728" y="5486400"/>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9" name="Straight Arrow Connector 108"/>
          <p:cNvCxnSpPr>
            <a:stCxn id="70" idx="3"/>
            <a:endCxn id="72" idx="1"/>
          </p:cNvCxnSpPr>
          <p:nvPr/>
        </p:nvCxnSpPr>
        <p:spPr>
          <a:xfrm>
            <a:off x="5275728" y="5486400"/>
            <a:ext cx="3810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1" name="Straight Arrow Connector 110"/>
          <p:cNvCxnSpPr>
            <a:stCxn id="73" idx="3"/>
            <a:endCxn id="75" idx="1"/>
          </p:cNvCxnSpPr>
          <p:nvPr/>
        </p:nvCxnSpPr>
        <p:spPr>
          <a:xfrm>
            <a:off x="6494928" y="5486400"/>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3" name="Straight Arrow Connector 112"/>
          <p:cNvCxnSpPr>
            <a:stCxn id="76" idx="3"/>
            <a:endCxn id="78" idx="1"/>
          </p:cNvCxnSpPr>
          <p:nvPr/>
        </p:nvCxnSpPr>
        <p:spPr>
          <a:xfrm>
            <a:off x="7637928" y="5486400"/>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5" name="Straight Arrow Connector 114"/>
          <p:cNvCxnSpPr>
            <a:endCxn id="81" idx="1"/>
          </p:cNvCxnSpPr>
          <p:nvPr/>
        </p:nvCxnSpPr>
        <p:spPr>
          <a:xfrm>
            <a:off x="4132728" y="5981700"/>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7" name="Straight Arrow Connector 116"/>
          <p:cNvCxnSpPr>
            <a:stCxn id="82" idx="3"/>
            <a:endCxn id="84" idx="1"/>
          </p:cNvCxnSpPr>
          <p:nvPr/>
        </p:nvCxnSpPr>
        <p:spPr>
          <a:xfrm>
            <a:off x="5275729" y="5981700"/>
            <a:ext cx="371475"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19" name="Straight Arrow Connector 118"/>
          <p:cNvCxnSpPr>
            <a:stCxn id="85" idx="3"/>
            <a:endCxn id="87" idx="1"/>
          </p:cNvCxnSpPr>
          <p:nvPr/>
        </p:nvCxnSpPr>
        <p:spPr>
          <a:xfrm>
            <a:off x="6485403" y="5981700"/>
            <a:ext cx="3048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22" name="Straight Arrow Connector 121"/>
          <p:cNvCxnSpPr>
            <a:stCxn id="49" idx="3"/>
            <a:endCxn id="51" idx="1"/>
          </p:cNvCxnSpPr>
          <p:nvPr/>
        </p:nvCxnSpPr>
        <p:spPr>
          <a:xfrm flipV="1">
            <a:off x="7637928" y="4010026"/>
            <a:ext cx="304800" cy="1"/>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24" name="Straight Connector 123"/>
          <p:cNvCxnSpPr/>
          <p:nvPr/>
        </p:nvCxnSpPr>
        <p:spPr>
          <a:xfrm flipH="1">
            <a:off x="8361828" y="3800475"/>
            <a:ext cx="419100" cy="4191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5" name="Straight Connector 124"/>
          <p:cNvCxnSpPr/>
          <p:nvPr/>
        </p:nvCxnSpPr>
        <p:spPr>
          <a:xfrm flipH="1">
            <a:off x="7218828" y="4781550"/>
            <a:ext cx="419100" cy="4191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6" name="Straight Connector 125"/>
          <p:cNvCxnSpPr/>
          <p:nvPr/>
        </p:nvCxnSpPr>
        <p:spPr>
          <a:xfrm flipH="1">
            <a:off x="8361828" y="5276850"/>
            <a:ext cx="419100" cy="4191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7" name="Straight Connector 126"/>
          <p:cNvCxnSpPr/>
          <p:nvPr/>
        </p:nvCxnSpPr>
        <p:spPr>
          <a:xfrm flipH="1">
            <a:off x="7228353" y="5762625"/>
            <a:ext cx="419100" cy="4191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8" name="Straight Connector 127"/>
          <p:cNvCxnSpPr/>
          <p:nvPr/>
        </p:nvCxnSpPr>
        <p:spPr>
          <a:xfrm flipH="1">
            <a:off x="6066303" y="4286250"/>
            <a:ext cx="419100" cy="4191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21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0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1"/>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4"/>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1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7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2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1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80"/>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17"/>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8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19"/>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8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 Traversal</a:t>
            </a:r>
          </a:p>
        </p:txBody>
      </p:sp>
      <p:sp>
        <p:nvSpPr>
          <p:cNvPr id="3" name="Content Placeholder 2"/>
          <p:cNvSpPr>
            <a:spLocks noGrp="1"/>
          </p:cNvSpPr>
          <p:nvPr>
            <p:ph idx="1"/>
          </p:nvPr>
        </p:nvSpPr>
        <p:spPr/>
        <p:txBody>
          <a:bodyPr/>
          <a:lstStyle/>
          <a:p>
            <a:r>
              <a:rPr lang="en-US" dirty="0"/>
              <a:t>Two Commonly used Traversal Techniques are</a:t>
            </a:r>
          </a:p>
          <a:p>
            <a:pPr lvl="1"/>
            <a:r>
              <a:rPr lang="en-US" dirty="0"/>
              <a:t>Depth First Search (DFS)</a:t>
            </a:r>
          </a:p>
          <a:p>
            <a:pPr lvl="1"/>
            <a:r>
              <a:rPr lang="en-US" dirty="0"/>
              <a:t>Breadth First Search (BFS)</a:t>
            </a:r>
          </a:p>
        </p:txBody>
      </p:sp>
    </p:spTree>
    <p:extLst>
      <p:ext uri="{BB962C8B-B14F-4D97-AF65-F5344CB8AC3E}">
        <p14:creationId xmlns:p14="http://schemas.microsoft.com/office/powerpoint/2010/main" val="321025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First Search (DFS)</a:t>
            </a:r>
          </a:p>
        </p:txBody>
      </p:sp>
      <p:sp>
        <p:nvSpPr>
          <p:cNvPr id="3" name="Content Placeholder 2"/>
          <p:cNvSpPr>
            <a:spLocks noGrp="1"/>
          </p:cNvSpPr>
          <p:nvPr>
            <p:ph idx="1"/>
          </p:nvPr>
        </p:nvSpPr>
        <p:spPr/>
        <p:txBody>
          <a:bodyPr/>
          <a:lstStyle/>
          <a:p>
            <a:r>
              <a:rPr lang="en-US" dirty="0"/>
              <a:t>It is like preorder traversal of tree</a:t>
            </a:r>
          </a:p>
          <a:p>
            <a:r>
              <a:rPr lang="en-US" dirty="0"/>
              <a:t>Traversal can start from any vertex V</a:t>
            </a:r>
            <a:r>
              <a:rPr lang="en-US" baseline="-25000" dirty="0"/>
              <a:t>i</a:t>
            </a:r>
          </a:p>
          <a:p>
            <a:r>
              <a:rPr lang="en-US" dirty="0"/>
              <a:t>V</a:t>
            </a:r>
            <a:r>
              <a:rPr lang="en-US" baseline="-25000" dirty="0"/>
              <a:t>i</a:t>
            </a:r>
            <a:r>
              <a:rPr lang="en-US" dirty="0"/>
              <a:t> is visited and then all vertices adjacent to V</a:t>
            </a:r>
            <a:r>
              <a:rPr lang="en-US" baseline="-25000" dirty="0"/>
              <a:t>i</a:t>
            </a:r>
            <a:r>
              <a:rPr lang="en-US" dirty="0"/>
              <a:t> are traversed recursively using DFS</a:t>
            </a:r>
          </a:p>
        </p:txBody>
      </p:sp>
      <p:sp>
        <p:nvSpPr>
          <p:cNvPr id="4" name="Oval 3"/>
          <p:cNvSpPr/>
          <p:nvPr/>
        </p:nvSpPr>
        <p:spPr>
          <a:xfrm>
            <a:off x="3124200" y="30480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5" name="Oval 4"/>
          <p:cNvSpPr/>
          <p:nvPr/>
        </p:nvSpPr>
        <p:spPr>
          <a:xfrm>
            <a:off x="1676400" y="36576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7" name="Oval 6"/>
          <p:cNvSpPr/>
          <p:nvPr/>
        </p:nvSpPr>
        <p:spPr>
          <a:xfrm>
            <a:off x="2590800" y="41148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8" name="Oval 7"/>
          <p:cNvSpPr/>
          <p:nvPr/>
        </p:nvSpPr>
        <p:spPr>
          <a:xfrm>
            <a:off x="3733800" y="41148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9" name="Oval 8"/>
          <p:cNvSpPr/>
          <p:nvPr/>
        </p:nvSpPr>
        <p:spPr>
          <a:xfrm>
            <a:off x="4648200" y="36576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a:t>
            </a:r>
          </a:p>
        </p:txBody>
      </p:sp>
      <p:sp>
        <p:nvSpPr>
          <p:cNvPr id="10" name="Oval 9"/>
          <p:cNvSpPr/>
          <p:nvPr/>
        </p:nvSpPr>
        <p:spPr>
          <a:xfrm>
            <a:off x="2133600" y="51816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6</a:t>
            </a:r>
          </a:p>
        </p:txBody>
      </p:sp>
      <p:sp>
        <p:nvSpPr>
          <p:cNvPr id="11" name="Oval 10"/>
          <p:cNvSpPr/>
          <p:nvPr/>
        </p:nvSpPr>
        <p:spPr>
          <a:xfrm>
            <a:off x="4191000" y="51816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7</a:t>
            </a:r>
          </a:p>
        </p:txBody>
      </p:sp>
      <p:sp>
        <p:nvSpPr>
          <p:cNvPr id="12" name="Oval 11"/>
          <p:cNvSpPr/>
          <p:nvPr/>
        </p:nvSpPr>
        <p:spPr>
          <a:xfrm>
            <a:off x="3124200" y="58674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8</a:t>
            </a:r>
          </a:p>
        </p:txBody>
      </p:sp>
      <p:cxnSp>
        <p:nvCxnSpPr>
          <p:cNvPr id="14" name="Straight Connector 13"/>
          <p:cNvCxnSpPr>
            <a:stCxn id="4" idx="2"/>
            <a:endCxn id="5" idx="7"/>
          </p:cNvCxnSpPr>
          <p:nvPr/>
        </p:nvCxnSpPr>
        <p:spPr>
          <a:xfrm flipH="1">
            <a:off x="2155756" y="3328800"/>
            <a:ext cx="968444" cy="4110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4" idx="6"/>
            <a:endCxn id="9" idx="1"/>
          </p:cNvCxnSpPr>
          <p:nvPr/>
        </p:nvCxnSpPr>
        <p:spPr>
          <a:xfrm>
            <a:off x="3685800" y="3328800"/>
            <a:ext cx="1044644" cy="4110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5" idx="4"/>
            <a:endCxn id="10" idx="1"/>
          </p:cNvCxnSpPr>
          <p:nvPr/>
        </p:nvCxnSpPr>
        <p:spPr>
          <a:xfrm>
            <a:off x="1957200" y="4219200"/>
            <a:ext cx="258644" cy="10446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1" idx="7"/>
          </p:cNvCxnSpPr>
          <p:nvPr/>
        </p:nvCxnSpPr>
        <p:spPr>
          <a:xfrm flipH="1">
            <a:off x="4670356" y="4219200"/>
            <a:ext cx="258644" cy="10446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10" idx="4"/>
            <a:endCxn id="12" idx="2"/>
          </p:cNvCxnSpPr>
          <p:nvPr/>
        </p:nvCxnSpPr>
        <p:spPr>
          <a:xfrm>
            <a:off x="2414400" y="5743200"/>
            <a:ext cx="709800" cy="405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4" name="Straight Connector 23"/>
          <p:cNvCxnSpPr>
            <a:stCxn id="11" idx="4"/>
            <a:endCxn id="12" idx="6"/>
          </p:cNvCxnSpPr>
          <p:nvPr/>
        </p:nvCxnSpPr>
        <p:spPr>
          <a:xfrm flipH="1">
            <a:off x="3685800" y="5743200"/>
            <a:ext cx="786000" cy="405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a:stCxn id="4" idx="3"/>
            <a:endCxn id="7" idx="7"/>
          </p:cNvCxnSpPr>
          <p:nvPr/>
        </p:nvCxnSpPr>
        <p:spPr>
          <a:xfrm flipH="1">
            <a:off x="3070156" y="3527356"/>
            <a:ext cx="136288" cy="66968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a:stCxn id="4" idx="5"/>
            <a:endCxn id="8" idx="1"/>
          </p:cNvCxnSpPr>
          <p:nvPr/>
        </p:nvCxnSpPr>
        <p:spPr>
          <a:xfrm>
            <a:off x="3603556" y="3527356"/>
            <a:ext cx="212488" cy="66968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a:stCxn id="7" idx="4"/>
            <a:endCxn id="10" idx="7"/>
          </p:cNvCxnSpPr>
          <p:nvPr/>
        </p:nvCxnSpPr>
        <p:spPr>
          <a:xfrm flipH="1">
            <a:off x="2612956" y="4676400"/>
            <a:ext cx="258644" cy="5874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8" idx="4"/>
            <a:endCxn id="11" idx="1"/>
          </p:cNvCxnSpPr>
          <p:nvPr/>
        </p:nvCxnSpPr>
        <p:spPr>
          <a:xfrm>
            <a:off x="4014600" y="4676400"/>
            <a:ext cx="258644" cy="58744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35" name="TextBox 34"/>
          <p:cNvSpPr txBox="1"/>
          <p:nvPr/>
        </p:nvSpPr>
        <p:spPr>
          <a:xfrm>
            <a:off x="4495800" y="2590801"/>
            <a:ext cx="3276600" cy="461665"/>
          </a:xfrm>
          <a:prstGeom prst="rect">
            <a:avLst/>
          </a:prstGeom>
          <a:noFill/>
        </p:spPr>
        <p:txBody>
          <a:bodyPr wrap="square" rtlCol="0">
            <a:spAutoFit/>
          </a:bodyPr>
          <a:lstStyle/>
          <a:p>
            <a:r>
              <a:rPr lang="en-US" sz="2400" b="1" dirty="0">
                <a:solidFill>
                  <a:srgbClr val="C00000"/>
                </a:solidFill>
              </a:rPr>
              <a:t>DFS (G, 1)</a:t>
            </a:r>
            <a:r>
              <a:rPr lang="en-US" sz="2400" dirty="0">
                <a:solidFill>
                  <a:srgbClr val="C00000"/>
                </a:solidFill>
              </a:rPr>
              <a:t> is given by</a:t>
            </a:r>
          </a:p>
        </p:txBody>
      </p:sp>
      <p:sp>
        <p:nvSpPr>
          <p:cNvPr id="36" name="TextBox 35"/>
          <p:cNvSpPr txBox="1"/>
          <p:nvPr/>
        </p:nvSpPr>
        <p:spPr>
          <a:xfrm>
            <a:off x="5223748" y="3059668"/>
            <a:ext cx="3276600" cy="369332"/>
          </a:xfrm>
          <a:prstGeom prst="rect">
            <a:avLst/>
          </a:prstGeom>
          <a:noFill/>
        </p:spPr>
        <p:txBody>
          <a:bodyPr wrap="square" rtlCol="0">
            <a:spAutoFit/>
          </a:bodyPr>
          <a:lstStyle/>
          <a:p>
            <a:r>
              <a:rPr lang="en-US" b="1" dirty="0"/>
              <a:t>Step 1: Visit (1)</a:t>
            </a:r>
            <a:endParaRPr lang="en-US" dirty="0"/>
          </a:p>
        </p:txBody>
      </p:sp>
      <p:sp>
        <p:nvSpPr>
          <p:cNvPr id="37" name="TextBox 36"/>
          <p:cNvSpPr txBox="1"/>
          <p:nvPr/>
        </p:nvSpPr>
        <p:spPr>
          <a:xfrm>
            <a:off x="5237396" y="3440669"/>
            <a:ext cx="2001604" cy="1200329"/>
          </a:xfrm>
          <a:prstGeom prst="rect">
            <a:avLst/>
          </a:prstGeom>
          <a:noFill/>
        </p:spPr>
        <p:txBody>
          <a:bodyPr wrap="square" rtlCol="0">
            <a:spAutoFit/>
          </a:bodyPr>
          <a:lstStyle/>
          <a:p>
            <a:r>
              <a:rPr lang="en-US" b="1" dirty="0"/>
              <a:t>Step 2: </a:t>
            </a:r>
            <a:r>
              <a:rPr lang="en-US" dirty="0"/>
              <a:t>DFS (G, 2) </a:t>
            </a:r>
          </a:p>
          <a:p>
            <a:r>
              <a:rPr lang="en-US" dirty="0"/>
              <a:t>             DFS (G, 3)</a:t>
            </a:r>
          </a:p>
          <a:p>
            <a:r>
              <a:rPr lang="en-US" dirty="0"/>
              <a:t>             DFS (G, 4)</a:t>
            </a:r>
          </a:p>
          <a:p>
            <a:r>
              <a:rPr lang="en-US" dirty="0"/>
              <a:t>             DFS (G, 5)</a:t>
            </a:r>
          </a:p>
        </p:txBody>
      </p:sp>
      <p:sp>
        <p:nvSpPr>
          <p:cNvPr id="38" name="TextBox 37"/>
          <p:cNvSpPr txBox="1"/>
          <p:nvPr/>
        </p:nvSpPr>
        <p:spPr>
          <a:xfrm>
            <a:off x="7239000" y="3427795"/>
            <a:ext cx="1981200" cy="923330"/>
          </a:xfrm>
          <a:prstGeom prst="rect">
            <a:avLst/>
          </a:prstGeom>
          <a:noFill/>
        </p:spPr>
        <p:txBody>
          <a:bodyPr wrap="square" rtlCol="0">
            <a:spAutoFit/>
          </a:bodyPr>
          <a:lstStyle/>
          <a:p>
            <a:r>
              <a:rPr lang="en-US" b="1" dirty="0"/>
              <a:t>DFS (G, 2): </a:t>
            </a:r>
          </a:p>
          <a:p>
            <a:r>
              <a:rPr lang="en-US" b="1" dirty="0"/>
              <a:t>Step1:  Visit(2)</a:t>
            </a:r>
          </a:p>
          <a:p>
            <a:r>
              <a:rPr lang="en-US" b="1" dirty="0"/>
              <a:t>Step 2: </a:t>
            </a:r>
            <a:r>
              <a:rPr lang="en-US" dirty="0"/>
              <a:t>DFS (G, 6)             </a:t>
            </a:r>
          </a:p>
        </p:txBody>
      </p:sp>
      <p:sp>
        <p:nvSpPr>
          <p:cNvPr id="39" name="TextBox 38"/>
          <p:cNvSpPr txBox="1"/>
          <p:nvPr/>
        </p:nvSpPr>
        <p:spPr>
          <a:xfrm>
            <a:off x="8458200" y="4267201"/>
            <a:ext cx="1981200" cy="1200329"/>
          </a:xfrm>
          <a:prstGeom prst="rect">
            <a:avLst/>
          </a:prstGeom>
          <a:noFill/>
        </p:spPr>
        <p:txBody>
          <a:bodyPr wrap="square" rtlCol="0">
            <a:spAutoFit/>
          </a:bodyPr>
          <a:lstStyle/>
          <a:p>
            <a:r>
              <a:rPr lang="en-US" b="1" dirty="0"/>
              <a:t>DFS (G, 6): </a:t>
            </a:r>
          </a:p>
          <a:p>
            <a:r>
              <a:rPr lang="en-US" b="1" dirty="0"/>
              <a:t>Step1:  Visit(6)</a:t>
            </a:r>
          </a:p>
          <a:p>
            <a:r>
              <a:rPr lang="en-US" b="1" dirty="0"/>
              <a:t>Step 2: </a:t>
            </a:r>
            <a:r>
              <a:rPr lang="en-US" dirty="0"/>
              <a:t>DFS (G, 3)             </a:t>
            </a:r>
          </a:p>
          <a:p>
            <a:r>
              <a:rPr lang="en-US" dirty="0"/>
              <a:t>              DFS (G, 8)</a:t>
            </a:r>
          </a:p>
        </p:txBody>
      </p:sp>
      <p:cxnSp>
        <p:nvCxnSpPr>
          <p:cNvPr id="41" name="Straight Arrow Connector 40"/>
          <p:cNvCxnSpPr/>
          <p:nvPr/>
        </p:nvCxnSpPr>
        <p:spPr>
          <a:xfrm>
            <a:off x="6947848" y="3622344"/>
            <a:ext cx="3810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43" name="Freeform 42"/>
          <p:cNvSpPr/>
          <p:nvPr/>
        </p:nvSpPr>
        <p:spPr>
          <a:xfrm>
            <a:off x="8088574" y="4312694"/>
            <a:ext cx="409433" cy="150125"/>
          </a:xfrm>
          <a:custGeom>
            <a:avLst/>
            <a:gdLst>
              <a:gd name="connsiteX0" fmla="*/ 0 w 409433"/>
              <a:gd name="connsiteY0" fmla="*/ 0 h 150125"/>
              <a:gd name="connsiteX1" fmla="*/ 0 w 409433"/>
              <a:gd name="connsiteY1" fmla="*/ 150125 h 150125"/>
              <a:gd name="connsiteX2" fmla="*/ 409433 w 409433"/>
              <a:gd name="connsiteY2" fmla="*/ 150125 h 150125"/>
            </a:gdLst>
            <a:ahLst/>
            <a:cxnLst>
              <a:cxn ang="0">
                <a:pos x="connsiteX0" y="connsiteY0"/>
              </a:cxn>
              <a:cxn ang="0">
                <a:pos x="connsiteX1" y="connsiteY1"/>
              </a:cxn>
              <a:cxn ang="0">
                <a:pos x="connsiteX2" y="connsiteY2"/>
              </a:cxn>
            </a:cxnLst>
            <a:rect l="l" t="t" r="r" b="b"/>
            <a:pathLst>
              <a:path w="409433" h="150125">
                <a:moveTo>
                  <a:pt x="0" y="0"/>
                </a:moveTo>
                <a:lnTo>
                  <a:pt x="0" y="150125"/>
                </a:lnTo>
                <a:lnTo>
                  <a:pt x="409433" y="150125"/>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4953000" y="5410200"/>
            <a:ext cx="5558316" cy="400110"/>
          </a:xfrm>
          <a:prstGeom prst="rect">
            <a:avLst/>
          </a:prstGeom>
          <a:noFill/>
        </p:spPr>
        <p:txBody>
          <a:bodyPr wrap="none" rtlCol="0">
            <a:spAutoFit/>
          </a:bodyPr>
          <a:lstStyle/>
          <a:p>
            <a:r>
              <a:rPr lang="en-US" sz="2000" b="1" dirty="0">
                <a:solidFill>
                  <a:srgbClr val="C00000"/>
                </a:solidFill>
              </a:rPr>
              <a:t>DFS </a:t>
            </a:r>
            <a:r>
              <a:rPr lang="en-US" sz="2000" dirty="0"/>
              <a:t>of given graph starting </a:t>
            </a:r>
            <a:r>
              <a:rPr lang="en-US" sz="2000" b="1" dirty="0">
                <a:solidFill>
                  <a:srgbClr val="C00000"/>
                </a:solidFill>
              </a:rPr>
              <a:t>from</a:t>
            </a:r>
            <a:r>
              <a:rPr lang="en-US" sz="2000" dirty="0">
                <a:solidFill>
                  <a:srgbClr val="C00000"/>
                </a:solidFill>
              </a:rPr>
              <a:t> </a:t>
            </a:r>
            <a:r>
              <a:rPr lang="en-US" sz="2000" dirty="0"/>
              <a:t>node </a:t>
            </a:r>
            <a:r>
              <a:rPr lang="en-US" sz="2000" b="1" dirty="0">
                <a:solidFill>
                  <a:srgbClr val="C00000"/>
                </a:solidFill>
              </a:rPr>
              <a:t>1</a:t>
            </a:r>
            <a:r>
              <a:rPr lang="en-US" sz="2000" dirty="0"/>
              <a:t> is given by</a:t>
            </a:r>
          </a:p>
        </p:txBody>
      </p:sp>
      <p:sp>
        <p:nvSpPr>
          <p:cNvPr id="45" name="TextBox 44"/>
          <p:cNvSpPr txBox="1"/>
          <p:nvPr/>
        </p:nvSpPr>
        <p:spPr>
          <a:xfrm>
            <a:off x="5182368" y="5791200"/>
            <a:ext cx="380232" cy="553998"/>
          </a:xfrm>
          <a:prstGeom prst="rect">
            <a:avLst/>
          </a:prstGeom>
          <a:noFill/>
        </p:spPr>
        <p:txBody>
          <a:bodyPr wrap="none" rtlCol="0">
            <a:spAutoFit/>
          </a:bodyPr>
          <a:lstStyle/>
          <a:p>
            <a:pPr algn="ctr"/>
            <a:r>
              <a:rPr lang="en-US" sz="3000" b="1" dirty="0">
                <a:solidFill>
                  <a:srgbClr val="C00000"/>
                </a:solidFill>
              </a:rPr>
              <a:t>1</a:t>
            </a:r>
          </a:p>
        </p:txBody>
      </p:sp>
      <p:sp>
        <p:nvSpPr>
          <p:cNvPr id="46" name="TextBox 45"/>
          <p:cNvSpPr txBox="1"/>
          <p:nvPr/>
        </p:nvSpPr>
        <p:spPr>
          <a:xfrm>
            <a:off x="5715768" y="5791200"/>
            <a:ext cx="380232" cy="553998"/>
          </a:xfrm>
          <a:prstGeom prst="rect">
            <a:avLst/>
          </a:prstGeom>
          <a:noFill/>
        </p:spPr>
        <p:txBody>
          <a:bodyPr wrap="none" rtlCol="0">
            <a:spAutoFit/>
          </a:bodyPr>
          <a:lstStyle/>
          <a:p>
            <a:pPr algn="ctr"/>
            <a:r>
              <a:rPr lang="en-US" sz="3000" b="1" dirty="0">
                <a:solidFill>
                  <a:srgbClr val="C00000"/>
                </a:solidFill>
              </a:rPr>
              <a:t>2</a:t>
            </a:r>
          </a:p>
        </p:txBody>
      </p:sp>
      <p:sp>
        <p:nvSpPr>
          <p:cNvPr id="48" name="TextBox 47"/>
          <p:cNvSpPr txBox="1"/>
          <p:nvPr/>
        </p:nvSpPr>
        <p:spPr>
          <a:xfrm>
            <a:off x="6249168" y="5791200"/>
            <a:ext cx="380232" cy="553998"/>
          </a:xfrm>
          <a:prstGeom prst="rect">
            <a:avLst/>
          </a:prstGeom>
          <a:noFill/>
        </p:spPr>
        <p:txBody>
          <a:bodyPr wrap="none" rtlCol="0">
            <a:spAutoFit/>
          </a:bodyPr>
          <a:lstStyle/>
          <a:p>
            <a:pPr algn="ctr"/>
            <a:r>
              <a:rPr lang="en-US" sz="3000" b="1" dirty="0">
                <a:solidFill>
                  <a:srgbClr val="C00000"/>
                </a:solidFill>
              </a:rPr>
              <a:t>6</a:t>
            </a:r>
          </a:p>
        </p:txBody>
      </p:sp>
      <p:sp>
        <p:nvSpPr>
          <p:cNvPr id="49" name="TextBox 48"/>
          <p:cNvSpPr txBox="1"/>
          <p:nvPr/>
        </p:nvSpPr>
        <p:spPr>
          <a:xfrm>
            <a:off x="6782568" y="5791200"/>
            <a:ext cx="380232" cy="553998"/>
          </a:xfrm>
          <a:prstGeom prst="rect">
            <a:avLst/>
          </a:prstGeom>
          <a:noFill/>
        </p:spPr>
        <p:txBody>
          <a:bodyPr wrap="none" rtlCol="0">
            <a:spAutoFit/>
          </a:bodyPr>
          <a:lstStyle/>
          <a:p>
            <a:pPr algn="ctr"/>
            <a:r>
              <a:rPr lang="en-US" sz="3000" b="1" dirty="0">
                <a:solidFill>
                  <a:srgbClr val="C00000"/>
                </a:solidFill>
              </a:rPr>
              <a:t>3</a:t>
            </a:r>
          </a:p>
        </p:txBody>
      </p:sp>
      <p:sp>
        <p:nvSpPr>
          <p:cNvPr id="50" name="TextBox 49"/>
          <p:cNvSpPr txBox="1"/>
          <p:nvPr/>
        </p:nvSpPr>
        <p:spPr>
          <a:xfrm>
            <a:off x="7315968" y="5791200"/>
            <a:ext cx="380232" cy="553998"/>
          </a:xfrm>
          <a:prstGeom prst="rect">
            <a:avLst/>
          </a:prstGeom>
          <a:noFill/>
        </p:spPr>
        <p:txBody>
          <a:bodyPr wrap="none" rtlCol="0">
            <a:spAutoFit/>
          </a:bodyPr>
          <a:lstStyle/>
          <a:p>
            <a:pPr algn="ctr"/>
            <a:r>
              <a:rPr lang="en-US" sz="3000" b="1" dirty="0">
                <a:solidFill>
                  <a:srgbClr val="C00000"/>
                </a:solidFill>
              </a:rPr>
              <a:t>8</a:t>
            </a:r>
          </a:p>
        </p:txBody>
      </p:sp>
      <p:sp>
        <p:nvSpPr>
          <p:cNvPr id="51" name="TextBox 50"/>
          <p:cNvSpPr txBox="1"/>
          <p:nvPr/>
        </p:nvSpPr>
        <p:spPr>
          <a:xfrm>
            <a:off x="7849368" y="5791200"/>
            <a:ext cx="380232" cy="553998"/>
          </a:xfrm>
          <a:prstGeom prst="rect">
            <a:avLst/>
          </a:prstGeom>
          <a:noFill/>
        </p:spPr>
        <p:txBody>
          <a:bodyPr wrap="none" rtlCol="0">
            <a:spAutoFit/>
          </a:bodyPr>
          <a:lstStyle/>
          <a:p>
            <a:pPr algn="ctr"/>
            <a:r>
              <a:rPr lang="en-US" sz="3000" b="1" dirty="0">
                <a:solidFill>
                  <a:srgbClr val="C00000"/>
                </a:solidFill>
              </a:rPr>
              <a:t>7</a:t>
            </a:r>
          </a:p>
        </p:txBody>
      </p:sp>
      <p:sp>
        <p:nvSpPr>
          <p:cNvPr id="52" name="TextBox 51"/>
          <p:cNvSpPr txBox="1"/>
          <p:nvPr/>
        </p:nvSpPr>
        <p:spPr>
          <a:xfrm>
            <a:off x="8458968" y="5791200"/>
            <a:ext cx="380232" cy="553998"/>
          </a:xfrm>
          <a:prstGeom prst="rect">
            <a:avLst/>
          </a:prstGeom>
          <a:noFill/>
        </p:spPr>
        <p:txBody>
          <a:bodyPr wrap="none" rtlCol="0">
            <a:spAutoFit/>
          </a:bodyPr>
          <a:lstStyle/>
          <a:p>
            <a:pPr algn="ctr"/>
            <a:r>
              <a:rPr lang="en-US" sz="3000" b="1" dirty="0">
                <a:solidFill>
                  <a:srgbClr val="C00000"/>
                </a:solidFill>
              </a:rPr>
              <a:t>4</a:t>
            </a:r>
          </a:p>
        </p:txBody>
      </p:sp>
      <p:sp>
        <p:nvSpPr>
          <p:cNvPr id="53" name="TextBox 52"/>
          <p:cNvSpPr txBox="1"/>
          <p:nvPr/>
        </p:nvSpPr>
        <p:spPr>
          <a:xfrm>
            <a:off x="8992368" y="5791200"/>
            <a:ext cx="380232" cy="553998"/>
          </a:xfrm>
          <a:prstGeom prst="rect">
            <a:avLst/>
          </a:prstGeom>
          <a:noFill/>
        </p:spPr>
        <p:txBody>
          <a:bodyPr wrap="none" rtlCol="0">
            <a:spAutoFit/>
          </a:bodyPr>
          <a:lstStyle/>
          <a:p>
            <a:pPr algn="ctr"/>
            <a:r>
              <a:rPr lang="en-US" sz="3000" b="1" dirty="0">
                <a:solidFill>
                  <a:srgbClr val="C00000"/>
                </a:solidFill>
              </a:rPr>
              <a:t>5</a:t>
            </a:r>
          </a:p>
        </p:txBody>
      </p:sp>
      <p:sp>
        <p:nvSpPr>
          <p:cNvPr id="54" name="TextBox 53"/>
          <p:cNvSpPr txBox="1"/>
          <p:nvPr/>
        </p:nvSpPr>
        <p:spPr>
          <a:xfrm>
            <a:off x="2899574" y="2876490"/>
            <a:ext cx="377026" cy="400110"/>
          </a:xfrm>
          <a:prstGeom prst="rect">
            <a:avLst/>
          </a:prstGeom>
          <a:noFill/>
        </p:spPr>
        <p:txBody>
          <a:bodyPr wrap="none" rtlCol="0">
            <a:spAutoFit/>
          </a:bodyPr>
          <a:lstStyle/>
          <a:p>
            <a:r>
              <a:rPr lang="en-US" sz="2000" b="1" dirty="0"/>
              <a:t>✓</a:t>
            </a:r>
          </a:p>
        </p:txBody>
      </p:sp>
      <p:sp>
        <p:nvSpPr>
          <p:cNvPr id="55" name="TextBox 54"/>
          <p:cNvSpPr txBox="1"/>
          <p:nvPr/>
        </p:nvSpPr>
        <p:spPr>
          <a:xfrm>
            <a:off x="1366612" y="3657600"/>
            <a:ext cx="377026" cy="400110"/>
          </a:xfrm>
          <a:prstGeom prst="rect">
            <a:avLst/>
          </a:prstGeom>
          <a:noFill/>
        </p:spPr>
        <p:txBody>
          <a:bodyPr wrap="none" rtlCol="0">
            <a:spAutoFit/>
          </a:bodyPr>
          <a:lstStyle/>
          <a:p>
            <a:r>
              <a:rPr lang="en-US" sz="2000" b="1" dirty="0"/>
              <a:t>✓</a:t>
            </a:r>
          </a:p>
        </p:txBody>
      </p:sp>
      <p:sp>
        <p:nvSpPr>
          <p:cNvPr id="56" name="TextBox 55"/>
          <p:cNvSpPr txBox="1"/>
          <p:nvPr/>
        </p:nvSpPr>
        <p:spPr>
          <a:xfrm>
            <a:off x="1832774" y="5181600"/>
            <a:ext cx="377026" cy="400110"/>
          </a:xfrm>
          <a:prstGeom prst="rect">
            <a:avLst/>
          </a:prstGeom>
          <a:noFill/>
        </p:spPr>
        <p:txBody>
          <a:bodyPr wrap="none" rtlCol="0">
            <a:spAutoFit/>
          </a:bodyPr>
          <a:lstStyle/>
          <a:p>
            <a:r>
              <a:rPr lang="en-US" sz="2000" b="1" dirty="0"/>
              <a:t>✓</a:t>
            </a:r>
          </a:p>
        </p:txBody>
      </p:sp>
      <p:sp>
        <p:nvSpPr>
          <p:cNvPr id="57" name="TextBox 56"/>
          <p:cNvSpPr txBox="1"/>
          <p:nvPr/>
        </p:nvSpPr>
        <p:spPr>
          <a:xfrm>
            <a:off x="2289974" y="4095690"/>
            <a:ext cx="377026" cy="400110"/>
          </a:xfrm>
          <a:prstGeom prst="rect">
            <a:avLst/>
          </a:prstGeom>
          <a:noFill/>
        </p:spPr>
        <p:txBody>
          <a:bodyPr wrap="none" rtlCol="0">
            <a:spAutoFit/>
          </a:bodyPr>
          <a:lstStyle/>
          <a:p>
            <a:r>
              <a:rPr lang="en-US" sz="2000" b="1" dirty="0"/>
              <a:t>✓</a:t>
            </a:r>
          </a:p>
        </p:txBody>
      </p:sp>
      <p:sp>
        <p:nvSpPr>
          <p:cNvPr id="58" name="TextBox 57"/>
          <p:cNvSpPr txBox="1"/>
          <p:nvPr/>
        </p:nvSpPr>
        <p:spPr>
          <a:xfrm>
            <a:off x="3147608" y="5514945"/>
            <a:ext cx="377026" cy="400110"/>
          </a:xfrm>
          <a:prstGeom prst="rect">
            <a:avLst/>
          </a:prstGeom>
          <a:noFill/>
        </p:spPr>
        <p:txBody>
          <a:bodyPr wrap="none" rtlCol="0">
            <a:spAutoFit/>
          </a:bodyPr>
          <a:lstStyle/>
          <a:p>
            <a:r>
              <a:rPr lang="en-US" sz="2000" b="1" dirty="0"/>
              <a:t>✓</a:t>
            </a:r>
          </a:p>
        </p:txBody>
      </p:sp>
      <p:sp>
        <p:nvSpPr>
          <p:cNvPr id="59" name="TextBox 58"/>
          <p:cNvSpPr txBox="1"/>
          <p:nvPr/>
        </p:nvSpPr>
        <p:spPr>
          <a:xfrm>
            <a:off x="3890174" y="5238690"/>
            <a:ext cx="377026" cy="400110"/>
          </a:xfrm>
          <a:prstGeom prst="rect">
            <a:avLst/>
          </a:prstGeom>
          <a:noFill/>
        </p:spPr>
        <p:txBody>
          <a:bodyPr wrap="none" rtlCol="0">
            <a:spAutoFit/>
          </a:bodyPr>
          <a:lstStyle/>
          <a:p>
            <a:r>
              <a:rPr lang="en-US" sz="2000" b="1" dirty="0"/>
              <a:t>✓</a:t>
            </a:r>
          </a:p>
        </p:txBody>
      </p:sp>
      <p:sp>
        <p:nvSpPr>
          <p:cNvPr id="60" name="TextBox 59"/>
          <p:cNvSpPr txBox="1"/>
          <p:nvPr/>
        </p:nvSpPr>
        <p:spPr>
          <a:xfrm>
            <a:off x="3432974" y="4114800"/>
            <a:ext cx="377026" cy="400110"/>
          </a:xfrm>
          <a:prstGeom prst="rect">
            <a:avLst/>
          </a:prstGeom>
          <a:noFill/>
        </p:spPr>
        <p:txBody>
          <a:bodyPr wrap="none" rtlCol="0">
            <a:spAutoFit/>
          </a:bodyPr>
          <a:lstStyle/>
          <a:p>
            <a:r>
              <a:rPr lang="en-US" sz="2000" b="1" dirty="0"/>
              <a:t>✓</a:t>
            </a:r>
          </a:p>
        </p:txBody>
      </p:sp>
      <p:sp>
        <p:nvSpPr>
          <p:cNvPr id="61" name="TextBox 60"/>
          <p:cNvSpPr txBox="1"/>
          <p:nvPr/>
        </p:nvSpPr>
        <p:spPr>
          <a:xfrm>
            <a:off x="4347374" y="3867090"/>
            <a:ext cx="377026" cy="400110"/>
          </a:xfrm>
          <a:prstGeom prst="rect">
            <a:avLst/>
          </a:prstGeom>
          <a:noFill/>
        </p:spPr>
        <p:txBody>
          <a:bodyPr wrap="none" rtlCol="0">
            <a:spAutoFit/>
          </a:bodyPr>
          <a:lstStyle/>
          <a:p>
            <a:r>
              <a:rPr lang="en-US" sz="2000" b="1" dirty="0"/>
              <a:t>✓</a:t>
            </a:r>
          </a:p>
        </p:txBody>
      </p:sp>
    </p:spTree>
    <p:extLst>
      <p:ext uri="{BB962C8B-B14F-4D97-AF65-F5344CB8AC3E}">
        <p14:creationId xmlns:p14="http://schemas.microsoft.com/office/powerpoint/2010/main" val="286377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wipe(left)">
                                      <p:cBhvr>
                                        <p:cTn id="69" dur="500"/>
                                        <p:tgtEl>
                                          <p:spTgt spid="41"/>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wipe(left)">
                                      <p:cBhvr>
                                        <p:cTn id="78" dur="500"/>
                                        <p:tgtEl>
                                          <p:spTgt spid="43"/>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mph" presetSubtype="2" fill="hold" nodeType="clickEffect">
                                  <p:stCondLst>
                                    <p:cond delay="0"/>
                                  </p:stCondLst>
                                  <p:childTnLst>
                                    <p:animClr clrSpc="rgb" dir="cw">
                                      <p:cBhvr>
                                        <p:cTn id="90" dur="10" fill="hold"/>
                                        <p:tgtEl>
                                          <p:spTgt spid="4"/>
                                        </p:tgtEl>
                                        <p:attrNameLst>
                                          <p:attrName>fillcolor</p:attrName>
                                        </p:attrNameLst>
                                      </p:cBhvr>
                                      <p:to>
                                        <a:schemeClr val="accent2"/>
                                      </p:to>
                                    </p:animClr>
                                    <p:set>
                                      <p:cBhvr>
                                        <p:cTn id="91" dur="10" fill="hold"/>
                                        <p:tgtEl>
                                          <p:spTgt spid="4"/>
                                        </p:tgtEl>
                                        <p:attrNameLst>
                                          <p:attrName>fill.type</p:attrName>
                                        </p:attrNameLst>
                                      </p:cBhvr>
                                      <p:to>
                                        <p:strVal val="solid"/>
                                      </p:to>
                                    </p:set>
                                    <p:set>
                                      <p:cBhvr>
                                        <p:cTn id="92" dur="10" fill="hold"/>
                                        <p:tgtEl>
                                          <p:spTgt spid="4"/>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2" fill="hold" nodeType="clickEffect">
                                  <p:stCondLst>
                                    <p:cond delay="0"/>
                                  </p:stCondLst>
                                  <p:childTnLst>
                                    <p:animClr clrSpc="rgb" dir="cw">
                                      <p:cBhvr>
                                        <p:cTn id="104" dur="10" fill="hold"/>
                                        <p:tgtEl>
                                          <p:spTgt spid="5"/>
                                        </p:tgtEl>
                                        <p:attrNameLst>
                                          <p:attrName>fillcolor</p:attrName>
                                        </p:attrNameLst>
                                      </p:cBhvr>
                                      <p:to>
                                        <a:schemeClr val="accent2"/>
                                      </p:to>
                                    </p:animClr>
                                    <p:set>
                                      <p:cBhvr>
                                        <p:cTn id="105" dur="10" fill="hold"/>
                                        <p:tgtEl>
                                          <p:spTgt spid="5"/>
                                        </p:tgtEl>
                                        <p:attrNameLst>
                                          <p:attrName>fill.type</p:attrName>
                                        </p:attrNameLst>
                                      </p:cBhvr>
                                      <p:to>
                                        <p:strVal val="solid"/>
                                      </p:to>
                                    </p:set>
                                    <p:set>
                                      <p:cBhvr>
                                        <p:cTn id="106" dur="10" fill="hold"/>
                                        <p:tgtEl>
                                          <p:spTgt spid="5"/>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nodeType="clickEffect">
                                  <p:stCondLst>
                                    <p:cond delay="0"/>
                                  </p:stCondLst>
                                  <p:childTnLst>
                                    <p:animClr clrSpc="rgb" dir="cw">
                                      <p:cBhvr>
                                        <p:cTn id="118" dur="10" fill="hold"/>
                                        <p:tgtEl>
                                          <p:spTgt spid="10"/>
                                        </p:tgtEl>
                                        <p:attrNameLst>
                                          <p:attrName>fillcolor</p:attrName>
                                        </p:attrNameLst>
                                      </p:cBhvr>
                                      <p:to>
                                        <a:schemeClr val="accent2"/>
                                      </p:to>
                                    </p:animClr>
                                    <p:set>
                                      <p:cBhvr>
                                        <p:cTn id="119" dur="10" fill="hold"/>
                                        <p:tgtEl>
                                          <p:spTgt spid="10"/>
                                        </p:tgtEl>
                                        <p:attrNameLst>
                                          <p:attrName>fill.type</p:attrName>
                                        </p:attrNameLst>
                                      </p:cBhvr>
                                      <p:to>
                                        <p:strVal val="solid"/>
                                      </p:to>
                                    </p:set>
                                    <p:set>
                                      <p:cBhvr>
                                        <p:cTn id="120" dur="10" fill="hold"/>
                                        <p:tgtEl>
                                          <p:spTgt spid="10"/>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56"/>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mph" presetSubtype="2" fill="hold" nodeType="clickEffect">
                                  <p:stCondLst>
                                    <p:cond delay="0"/>
                                  </p:stCondLst>
                                  <p:childTnLst>
                                    <p:animClr clrSpc="rgb" dir="cw">
                                      <p:cBhvr>
                                        <p:cTn id="132" dur="10" fill="hold"/>
                                        <p:tgtEl>
                                          <p:spTgt spid="7"/>
                                        </p:tgtEl>
                                        <p:attrNameLst>
                                          <p:attrName>fillcolor</p:attrName>
                                        </p:attrNameLst>
                                      </p:cBhvr>
                                      <p:to>
                                        <a:schemeClr val="accent2"/>
                                      </p:to>
                                    </p:animClr>
                                    <p:set>
                                      <p:cBhvr>
                                        <p:cTn id="133" dur="10" fill="hold"/>
                                        <p:tgtEl>
                                          <p:spTgt spid="7"/>
                                        </p:tgtEl>
                                        <p:attrNameLst>
                                          <p:attrName>fill.type</p:attrName>
                                        </p:attrNameLst>
                                      </p:cBhvr>
                                      <p:to>
                                        <p:strVal val="solid"/>
                                      </p:to>
                                    </p:set>
                                    <p:set>
                                      <p:cBhvr>
                                        <p:cTn id="134" dur="10" fill="hold"/>
                                        <p:tgtEl>
                                          <p:spTgt spid="7"/>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2" fill="hold" nodeType="clickEffect">
                                  <p:stCondLst>
                                    <p:cond delay="0"/>
                                  </p:stCondLst>
                                  <p:childTnLst>
                                    <p:animClr clrSpc="rgb" dir="cw">
                                      <p:cBhvr>
                                        <p:cTn id="146" dur="10" fill="hold"/>
                                        <p:tgtEl>
                                          <p:spTgt spid="12"/>
                                        </p:tgtEl>
                                        <p:attrNameLst>
                                          <p:attrName>fillcolor</p:attrName>
                                        </p:attrNameLst>
                                      </p:cBhvr>
                                      <p:to>
                                        <a:schemeClr val="accent2"/>
                                      </p:to>
                                    </p:animClr>
                                    <p:set>
                                      <p:cBhvr>
                                        <p:cTn id="147" dur="10" fill="hold"/>
                                        <p:tgtEl>
                                          <p:spTgt spid="12"/>
                                        </p:tgtEl>
                                        <p:attrNameLst>
                                          <p:attrName>fill.type</p:attrName>
                                        </p:attrNameLst>
                                      </p:cBhvr>
                                      <p:to>
                                        <p:strVal val="solid"/>
                                      </p:to>
                                    </p:set>
                                    <p:set>
                                      <p:cBhvr>
                                        <p:cTn id="148" dur="10" fill="hold"/>
                                        <p:tgtEl>
                                          <p:spTgt spid="12"/>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50"/>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mph" presetSubtype="2" fill="hold" nodeType="clickEffect">
                                  <p:stCondLst>
                                    <p:cond delay="0"/>
                                  </p:stCondLst>
                                  <p:childTnLst>
                                    <p:animClr clrSpc="rgb" dir="cw">
                                      <p:cBhvr>
                                        <p:cTn id="160" dur="10" fill="hold"/>
                                        <p:tgtEl>
                                          <p:spTgt spid="11"/>
                                        </p:tgtEl>
                                        <p:attrNameLst>
                                          <p:attrName>fillcolor</p:attrName>
                                        </p:attrNameLst>
                                      </p:cBhvr>
                                      <p:to>
                                        <a:schemeClr val="accent2"/>
                                      </p:to>
                                    </p:animClr>
                                    <p:set>
                                      <p:cBhvr>
                                        <p:cTn id="161" dur="10" fill="hold"/>
                                        <p:tgtEl>
                                          <p:spTgt spid="11"/>
                                        </p:tgtEl>
                                        <p:attrNameLst>
                                          <p:attrName>fill.type</p:attrName>
                                        </p:attrNameLst>
                                      </p:cBhvr>
                                      <p:to>
                                        <p:strVal val="solid"/>
                                      </p:to>
                                    </p:set>
                                    <p:set>
                                      <p:cBhvr>
                                        <p:cTn id="162" dur="10" fill="hold"/>
                                        <p:tgtEl>
                                          <p:spTgt spid="11"/>
                                        </p:tgtEl>
                                        <p:attrNameLst>
                                          <p:attrName>fill.on</p:attrName>
                                        </p:attrNameLst>
                                      </p:cBhvr>
                                      <p:to>
                                        <p:strVal val="tru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51"/>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mph" presetSubtype="2" fill="hold" nodeType="clickEffect">
                                  <p:stCondLst>
                                    <p:cond delay="0"/>
                                  </p:stCondLst>
                                  <p:childTnLst>
                                    <p:animClr clrSpc="rgb" dir="cw">
                                      <p:cBhvr>
                                        <p:cTn id="174" dur="10" fill="hold"/>
                                        <p:tgtEl>
                                          <p:spTgt spid="8"/>
                                        </p:tgtEl>
                                        <p:attrNameLst>
                                          <p:attrName>fillcolor</p:attrName>
                                        </p:attrNameLst>
                                      </p:cBhvr>
                                      <p:to>
                                        <a:schemeClr val="accent2"/>
                                      </p:to>
                                    </p:animClr>
                                    <p:set>
                                      <p:cBhvr>
                                        <p:cTn id="175" dur="10" fill="hold"/>
                                        <p:tgtEl>
                                          <p:spTgt spid="8"/>
                                        </p:tgtEl>
                                        <p:attrNameLst>
                                          <p:attrName>fill.type</p:attrName>
                                        </p:attrNameLst>
                                      </p:cBhvr>
                                      <p:to>
                                        <p:strVal val="solid"/>
                                      </p:to>
                                    </p:set>
                                    <p:set>
                                      <p:cBhvr>
                                        <p:cTn id="176" dur="10" fill="hold"/>
                                        <p:tgtEl>
                                          <p:spTgt spid="8"/>
                                        </p:tgtEl>
                                        <p:attrNameLst>
                                          <p:attrName>fill.on</p:attrName>
                                        </p:attrNameLst>
                                      </p:cBhvr>
                                      <p:to>
                                        <p:strVal val="tru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60"/>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52"/>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mph" presetSubtype="2" fill="hold" nodeType="clickEffect">
                                  <p:stCondLst>
                                    <p:cond delay="0"/>
                                  </p:stCondLst>
                                  <p:childTnLst>
                                    <p:animClr clrSpc="rgb" dir="cw">
                                      <p:cBhvr>
                                        <p:cTn id="188" dur="10" fill="hold"/>
                                        <p:tgtEl>
                                          <p:spTgt spid="9"/>
                                        </p:tgtEl>
                                        <p:attrNameLst>
                                          <p:attrName>fillcolor</p:attrName>
                                        </p:attrNameLst>
                                      </p:cBhvr>
                                      <p:to>
                                        <a:schemeClr val="accent2"/>
                                      </p:to>
                                    </p:animClr>
                                    <p:set>
                                      <p:cBhvr>
                                        <p:cTn id="189" dur="10" fill="hold"/>
                                        <p:tgtEl>
                                          <p:spTgt spid="9"/>
                                        </p:tgtEl>
                                        <p:attrNameLst>
                                          <p:attrName>fill.type</p:attrName>
                                        </p:attrNameLst>
                                      </p:cBhvr>
                                      <p:to>
                                        <p:strVal val="solid"/>
                                      </p:to>
                                    </p:set>
                                    <p:set>
                                      <p:cBhvr>
                                        <p:cTn id="190" dur="10" fill="hold"/>
                                        <p:tgtEl>
                                          <p:spTgt spid="9"/>
                                        </p:tgtEl>
                                        <p:attrNameLst>
                                          <p:attrName>fill.on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61"/>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36" grpId="0"/>
      <p:bldP spid="37" grpId="0"/>
      <p:bldP spid="38" grpId="0"/>
      <p:bldP spid="39" grpId="0"/>
      <p:bldP spid="43" grpId="0" animBg="1"/>
      <p:bldP spid="44" grpId="0"/>
      <p:bldP spid="45" grpId="0"/>
      <p:bldP spid="46"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 First Search (DFS)</a:t>
            </a:r>
          </a:p>
        </p:txBody>
      </p:sp>
      <p:sp>
        <p:nvSpPr>
          <p:cNvPr id="4" name="Oval 3"/>
          <p:cNvSpPr/>
          <p:nvPr/>
        </p:nvSpPr>
        <p:spPr>
          <a:xfrm>
            <a:off x="3505200" y="1066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2895600" y="1600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4191000" y="1600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7" name="Oval 6"/>
          <p:cNvSpPr/>
          <p:nvPr/>
        </p:nvSpPr>
        <p:spPr>
          <a:xfrm>
            <a:off x="2438400"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3276600"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9" name="Oval 8"/>
          <p:cNvSpPr/>
          <p:nvPr/>
        </p:nvSpPr>
        <p:spPr>
          <a:xfrm>
            <a:off x="3886200"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10" name="Oval 9"/>
          <p:cNvSpPr/>
          <p:nvPr/>
        </p:nvSpPr>
        <p:spPr>
          <a:xfrm>
            <a:off x="4648200"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11" name="Oval 10"/>
          <p:cNvSpPr/>
          <p:nvPr/>
        </p:nvSpPr>
        <p:spPr>
          <a:xfrm>
            <a:off x="3505200" y="3352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13" name="Straight Connector 12"/>
          <p:cNvCxnSpPr>
            <a:stCxn id="4" idx="3"/>
            <a:endCxn id="5" idx="7"/>
          </p:cNvCxnSpPr>
          <p:nvPr/>
        </p:nvCxnSpPr>
        <p:spPr>
          <a:xfrm flipH="1">
            <a:off x="3220804" y="1392004"/>
            <a:ext cx="3401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4" idx="5"/>
            <a:endCxn id="6" idx="1"/>
          </p:cNvCxnSpPr>
          <p:nvPr/>
        </p:nvCxnSpPr>
        <p:spPr>
          <a:xfrm>
            <a:off x="3830404" y="1392004"/>
            <a:ext cx="4163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5" idx="3"/>
            <a:endCxn id="7" idx="0"/>
          </p:cNvCxnSpPr>
          <p:nvPr/>
        </p:nvCxnSpPr>
        <p:spPr>
          <a:xfrm flipH="1">
            <a:off x="2628900" y="19254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5" idx="5"/>
            <a:endCxn id="8" idx="0"/>
          </p:cNvCxnSpPr>
          <p:nvPr/>
        </p:nvCxnSpPr>
        <p:spPr>
          <a:xfrm>
            <a:off x="3220804" y="1925404"/>
            <a:ext cx="2462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6" idx="3"/>
            <a:endCxn id="9" idx="0"/>
          </p:cNvCxnSpPr>
          <p:nvPr/>
        </p:nvCxnSpPr>
        <p:spPr>
          <a:xfrm flipH="1">
            <a:off x="4076700" y="1925404"/>
            <a:ext cx="1700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a:stCxn id="6" idx="5"/>
            <a:endCxn id="10" idx="0"/>
          </p:cNvCxnSpPr>
          <p:nvPr/>
        </p:nvCxnSpPr>
        <p:spPr>
          <a:xfrm>
            <a:off x="4516204" y="19254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5" name="Straight Connector 24"/>
          <p:cNvCxnSpPr>
            <a:stCxn id="7" idx="4"/>
            <a:endCxn id="11" idx="2"/>
          </p:cNvCxnSpPr>
          <p:nvPr/>
        </p:nvCxnSpPr>
        <p:spPr>
          <a:xfrm>
            <a:off x="2628900" y="2590800"/>
            <a:ext cx="8763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a:stCxn id="8" idx="4"/>
            <a:endCxn id="11" idx="1"/>
          </p:cNvCxnSpPr>
          <p:nvPr/>
        </p:nvCxnSpPr>
        <p:spPr>
          <a:xfrm>
            <a:off x="3467100" y="2590800"/>
            <a:ext cx="938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a:stCxn id="9" idx="4"/>
            <a:endCxn id="11" idx="7"/>
          </p:cNvCxnSpPr>
          <p:nvPr/>
        </p:nvCxnSpPr>
        <p:spPr>
          <a:xfrm flipH="1">
            <a:off x="3830404" y="2590800"/>
            <a:ext cx="2462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10" idx="4"/>
            <a:endCxn id="11" idx="6"/>
          </p:cNvCxnSpPr>
          <p:nvPr/>
        </p:nvCxnSpPr>
        <p:spPr>
          <a:xfrm flipH="1">
            <a:off x="3886200" y="2590800"/>
            <a:ext cx="9525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33" name="Oval 32"/>
          <p:cNvSpPr/>
          <p:nvPr/>
        </p:nvSpPr>
        <p:spPr>
          <a:xfrm>
            <a:off x="2954104" y="47928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34" name="Oval 33"/>
          <p:cNvSpPr/>
          <p:nvPr/>
        </p:nvSpPr>
        <p:spPr>
          <a:xfrm>
            <a:off x="2281004" y="5364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35" name="Oval 34"/>
          <p:cNvSpPr/>
          <p:nvPr/>
        </p:nvSpPr>
        <p:spPr>
          <a:xfrm>
            <a:off x="3657600" y="5364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36" name="Oval 35"/>
          <p:cNvSpPr/>
          <p:nvPr/>
        </p:nvSpPr>
        <p:spPr>
          <a:xfrm>
            <a:off x="2962952" y="594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37" name="Oval 36"/>
          <p:cNvSpPr/>
          <p:nvPr/>
        </p:nvSpPr>
        <p:spPr>
          <a:xfrm>
            <a:off x="4987248" y="5364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38" name="Oval 37"/>
          <p:cNvSpPr/>
          <p:nvPr/>
        </p:nvSpPr>
        <p:spPr>
          <a:xfrm>
            <a:off x="4191000" y="594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40" name="Straight Connector 39"/>
          <p:cNvCxnSpPr>
            <a:stCxn id="33" idx="3"/>
            <a:endCxn id="34" idx="7"/>
          </p:cNvCxnSpPr>
          <p:nvPr/>
        </p:nvCxnSpPr>
        <p:spPr>
          <a:xfrm flipH="1">
            <a:off x="2606208" y="5118100"/>
            <a:ext cx="4036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a:stCxn id="33" idx="5"/>
            <a:endCxn id="35" idx="1"/>
          </p:cNvCxnSpPr>
          <p:nvPr/>
        </p:nvCxnSpPr>
        <p:spPr>
          <a:xfrm>
            <a:off x="3279308" y="5118100"/>
            <a:ext cx="434088"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4" name="Straight Connector 43"/>
          <p:cNvCxnSpPr>
            <a:stCxn id="34" idx="5"/>
            <a:endCxn id="36" idx="2"/>
          </p:cNvCxnSpPr>
          <p:nvPr/>
        </p:nvCxnSpPr>
        <p:spPr>
          <a:xfrm>
            <a:off x="2606208" y="5689600"/>
            <a:ext cx="356744"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36" idx="6"/>
            <a:endCxn id="35" idx="3"/>
          </p:cNvCxnSpPr>
          <p:nvPr/>
        </p:nvCxnSpPr>
        <p:spPr>
          <a:xfrm flipV="1">
            <a:off x="3343952" y="5689600"/>
            <a:ext cx="369444"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1" name="Straight Connector 50"/>
          <p:cNvCxnSpPr>
            <a:stCxn id="35" idx="6"/>
            <a:endCxn id="37" idx="2"/>
          </p:cNvCxnSpPr>
          <p:nvPr/>
        </p:nvCxnSpPr>
        <p:spPr>
          <a:xfrm>
            <a:off x="4038600" y="5554896"/>
            <a:ext cx="948648"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35" idx="5"/>
            <a:endCxn id="38" idx="1"/>
          </p:cNvCxnSpPr>
          <p:nvPr/>
        </p:nvCxnSpPr>
        <p:spPr>
          <a:xfrm>
            <a:off x="3982804" y="5689600"/>
            <a:ext cx="2639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37" idx="3"/>
            <a:endCxn id="38" idx="6"/>
          </p:cNvCxnSpPr>
          <p:nvPr/>
        </p:nvCxnSpPr>
        <p:spPr>
          <a:xfrm flipH="1">
            <a:off x="4572000" y="5689600"/>
            <a:ext cx="471044"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4" name="Straight Connector 83"/>
          <p:cNvCxnSpPr/>
          <p:nvPr/>
        </p:nvCxnSpPr>
        <p:spPr>
          <a:xfrm>
            <a:off x="1714500" y="4572000"/>
            <a:ext cx="8763000" cy="0"/>
          </a:xfrm>
          <a:prstGeom prst="line">
            <a:avLst/>
          </a:prstGeom>
        </p:spPr>
        <p:style>
          <a:lnRef idx="2">
            <a:schemeClr val="dk1"/>
          </a:lnRef>
          <a:fillRef idx="0">
            <a:schemeClr val="dk1"/>
          </a:fillRef>
          <a:effectRef idx="1">
            <a:schemeClr val="dk1"/>
          </a:effectRef>
          <a:fontRef idx="minor">
            <a:schemeClr val="tx1"/>
          </a:fontRef>
        </p:style>
      </p:cxnSp>
      <p:cxnSp>
        <p:nvCxnSpPr>
          <p:cNvPr id="86" name="Straight Connector 85"/>
          <p:cNvCxnSpPr/>
          <p:nvPr/>
        </p:nvCxnSpPr>
        <p:spPr>
          <a:xfrm>
            <a:off x="6096000" y="1066800"/>
            <a:ext cx="0" cy="3505200"/>
          </a:xfrm>
          <a:prstGeom prst="line">
            <a:avLst/>
          </a:prstGeom>
        </p:spPr>
        <p:style>
          <a:lnRef idx="2">
            <a:schemeClr val="dk1"/>
          </a:lnRef>
          <a:fillRef idx="0">
            <a:schemeClr val="dk1"/>
          </a:fillRef>
          <a:effectRef idx="1">
            <a:schemeClr val="dk1"/>
          </a:effectRef>
          <a:fontRef idx="minor">
            <a:schemeClr val="tx1"/>
          </a:fontRef>
        </p:style>
      </p:cxnSp>
      <p:sp>
        <p:nvSpPr>
          <p:cNvPr id="88" name="Oval 87"/>
          <p:cNvSpPr/>
          <p:nvPr/>
        </p:nvSpPr>
        <p:spPr>
          <a:xfrm>
            <a:off x="6915152" y="26899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a:t>
            </a:r>
          </a:p>
        </p:txBody>
      </p:sp>
      <p:sp>
        <p:nvSpPr>
          <p:cNvPr id="89" name="Oval 88"/>
          <p:cNvSpPr/>
          <p:nvPr/>
        </p:nvSpPr>
        <p:spPr>
          <a:xfrm>
            <a:off x="7353302" y="192628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a:t>
            </a:r>
          </a:p>
        </p:txBody>
      </p:sp>
      <p:sp>
        <p:nvSpPr>
          <p:cNvPr id="90" name="Oval 89"/>
          <p:cNvSpPr/>
          <p:nvPr/>
        </p:nvSpPr>
        <p:spPr>
          <a:xfrm>
            <a:off x="7744029" y="3048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Q</a:t>
            </a:r>
          </a:p>
        </p:txBody>
      </p:sp>
      <p:sp>
        <p:nvSpPr>
          <p:cNvPr id="91" name="Oval 90"/>
          <p:cNvSpPr/>
          <p:nvPr/>
        </p:nvSpPr>
        <p:spPr>
          <a:xfrm>
            <a:off x="8439151" y="19279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N</a:t>
            </a:r>
          </a:p>
        </p:txBody>
      </p:sp>
      <p:sp>
        <p:nvSpPr>
          <p:cNvPr id="92" name="Oval 91"/>
          <p:cNvSpPr/>
          <p:nvPr/>
        </p:nvSpPr>
        <p:spPr>
          <a:xfrm>
            <a:off x="8979848" y="3048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t>
            </a:r>
          </a:p>
        </p:txBody>
      </p:sp>
      <p:sp>
        <p:nvSpPr>
          <p:cNvPr id="93" name="Oval 92"/>
          <p:cNvSpPr/>
          <p:nvPr/>
        </p:nvSpPr>
        <p:spPr>
          <a:xfrm>
            <a:off x="9525000" y="192628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O</a:t>
            </a:r>
          </a:p>
        </p:txBody>
      </p:sp>
      <p:cxnSp>
        <p:nvCxnSpPr>
          <p:cNvPr id="95" name="Straight Connector 94"/>
          <p:cNvCxnSpPr>
            <a:stCxn id="89" idx="3"/>
            <a:endCxn id="88" idx="0"/>
          </p:cNvCxnSpPr>
          <p:nvPr/>
        </p:nvCxnSpPr>
        <p:spPr>
          <a:xfrm flipH="1">
            <a:off x="7105652" y="2251487"/>
            <a:ext cx="303446" cy="4384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97" name="Straight Connector 96"/>
          <p:cNvCxnSpPr>
            <a:stCxn id="89" idx="6"/>
            <a:endCxn id="91" idx="2"/>
          </p:cNvCxnSpPr>
          <p:nvPr/>
        </p:nvCxnSpPr>
        <p:spPr>
          <a:xfrm>
            <a:off x="7734303" y="2116783"/>
            <a:ext cx="704849" cy="1621"/>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99" name="Straight Connector 98"/>
          <p:cNvCxnSpPr>
            <a:stCxn id="89" idx="4"/>
            <a:endCxn id="90" idx="0"/>
          </p:cNvCxnSpPr>
          <p:nvPr/>
        </p:nvCxnSpPr>
        <p:spPr>
          <a:xfrm>
            <a:off x="7543803" y="2307282"/>
            <a:ext cx="390727" cy="74071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1" name="Straight Connector 100"/>
          <p:cNvCxnSpPr>
            <a:stCxn id="91" idx="4"/>
            <a:endCxn id="90" idx="7"/>
          </p:cNvCxnSpPr>
          <p:nvPr/>
        </p:nvCxnSpPr>
        <p:spPr>
          <a:xfrm flipH="1">
            <a:off x="8069233" y="2308904"/>
            <a:ext cx="560418" cy="79489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3" name="Straight Connector 102"/>
          <p:cNvCxnSpPr>
            <a:stCxn id="93" idx="4"/>
            <a:endCxn id="92" idx="7"/>
          </p:cNvCxnSpPr>
          <p:nvPr/>
        </p:nvCxnSpPr>
        <p:spPr>
          <a:xfrm flipH="1">
            <a:off x="9305052" y="2307282"/>
            <a:ext cx="410448" cy="79651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7" name="Straight Connector 106"/>
          <p:cNvCxnSpPr>
            <a:stCxn id="90" idx="6"/>
            <a:endCxn id="92" idx="2"/>
          </p:cNvCxnSpPr>
          <p:nvPr/>
        </p:nvCxnSpPr>
        <p:spPr>
          <a:xfrm>
            <a:off x="8125030" y="3238500"/>
            <a:ext cx="854819"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10" name="Straight Connector 109"/>
          <p:cNvCxnSpPr>
            <a:stCxn id="91" idx="6"/>
            <a:endCxn id="93" idx="2"/>
          </p:cNvCxnSpPr>
          <p:nvPr/>
        </p:nvCxnSpPr>
        <p:spPr>
          <a:xfrm flipV="1">
            <a:off x="8820152" y="2116783"/>
            <a:ext cx="704849" cy="1621"/>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12" name="Straight Arrow Connector 111"/>
          <p:cNvCxnSpPr>
            <a:endCxn id="89" idx="0"/>
          </p:cNvCxnSpPr>
          <p:nvPr/>
        </p:nvCxnSpPr>
        <p:spPr>
          <a:xfrm>
            <a:off x="7543802" y="1676400"/>
            <a:ext cx="0" cy="249882"/>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113" name="TextBox 112"/>
          <p:cNvSpPr txBox="1"/>
          <p:nvPr/>
        </p:nvSpPr>
        <p:spPr>
          <a:xfrm>
            <a:off x="2544406" y="3865602"/>
            <a:ext cx="417102" cy="553998"/>
          </a:xfrm>
          <a:prstGeom prst="rect">
            <a:avLst/>
          </a:prstGeom>
          <a:noFill/>
        </p:spPr>
        <p:txBody>
          <a:bodyPr wrap="none" rtlCol="0">
            <a:spAutoFit/>
          </a:bodyPr>
          <a:lstStyle/>
          <a:p>
            <a:pPr algn="ctr"/>
            <a:r>
              <a:rPr lang="en-US" sz="3000" b="1" dirty="0">
                <a:solidFill>
                  <a:srgbClr val="C00000"/>
                </a:solidFill>
              </a:rPr>
              <a:t>A</a:t>
            </a:r>
          </a:p>
        </p:txBody>
      </p:sp>
      <p:sp>
        <p:nvSpPr>
          <p:cNvPr id="114" name="TextBox 113"/>
          <p:cNvSpPr txBox="1"/>
          <p:nvPr/>
        </p:nvSpPr>
        <p:spPr>
          <a:xfrm>
            <a:off x="2877821" y="3865602"/>
            <a:ext cx="401072" cy="553998"/>
          </a:xfrm>
          <a:prstGeom prst="rect">
            <a:avLst/>
          </a:prstGeom>
          <a:noFill/>
        </p:spPr>
        <p:txBody>
          <a:bodyPr wrap="none" rtlCol="0">
            <a:spAutoFit/>
          </a:bodyPr>
          <a:lstStyle/>
          <a:p>
            <a:pPr algn="ctr"/>
            <a:r>
              <a:rPr lang="en-US" sz="3000" b="1" dirty="0">
                <a:solidFill>
                  <a:srgbClr val="C00000"/>
                </a:solidFill>
              </a:rPr>
              <a:t>B</a:t>
            </a:r>
          </a:p>
        </p:txBody>
      </p:sp>
      <p:sp>
        <p:nvSpPr>
          <p:cNvPr id="115" name="TextBox 114"/>
          <p:cNvSpPr txBox="1"/>
          <p:nvPr/>
        </p:nvSpPr>
        <p:spPr>
          <a:xfrm>
            <a:off x="3207229" y="3865602"/>
            <a:ext cx="402674" cy="553998"/>
          </a:xfrm>
          <a:prstGeom prst="rect">
            <a:avLst/>
          </a:prstGeom>
          <a:noFill/>
        </p:spPr>
        <p:txBody>
          <a:bodyPr wrap="none" rtlCol="0">
            <a:spAutoFit/>
          </a:bodyPr>
          <a:lstStyle/>
          <a:p>
            <a:pPr algn="ctr"/>
            <a:r>
              <a:rPr lang="en-US" sz="3000" b="1" dirty="0">
                <a:solidFill>
                  <a:srgbClr val="C00000"/>
                </a:solidFill>
              </a:rPr>
              <a:t>D</a:t>
            </a:r>
          </a:p>
        </p:txBody>
      </p:sp>
      <p:sp>
        <p:nvSpPr>
          <p:cNvPr id="116" name="TextBox 115"/>
          <p:cNvSpPr txBox="1"/>
          <p:nvPr/>
        </p:nvSpPr>
        <p:spPr>
          <a:xfrm>
            <a:off x="3538239" y="3865602"/>
            <a:ext cx="426720" cy="553998"/>
          </a:xfrm>
          <a:prstGeom prst="rect">
            <a:avLst/>
          </a:prstGeom>
          <a:noFill/>
        </p:spPr>
        <p:txBody>
          <a:bodyPr wrap="none" rtlCol="0">
            <a:spAutoFit/>
          </a:bodyPr>
          <a:lstStyle/>
          <a:p>
            <a:pPr algn="ctr"/>
            <a:r>
              <a:rPr lang="en-US" sz="3000" b="1" dirty="0">
                <a:solidFill>
                  <a:srgbClr val="C00000"/>
                </a:solidFill>
              </a:rPr>
              <a:t>H</a:t>
            </a:r>
          </a:p>
        </p:txBody>
      </p:sp>
      <p:sp>
        <p:nvSpPr>
          <p:cNvPr id="117" name="TextBox 116"/>
          <p:cNvSpPr txBox="1"/>
          <p:nvPr/>
        </p:nvSpPr>
        <p:spPr>
          <a:xfrm>
            <a:off x="3881273" y="3865602"/>
            <a:ext cx="372217" cy="553998"/>
          </a:xfrm>
          <a:prstGeom prst="rect">
            <a:avLst/>
          </a:prstGeom>
          <a:noFill/>
        </p:spPr>
        <p:txBody>
          <a:bodyPr wrap="none" rtlCol="0">
            <a:spAutoFit/>
          </a:bodyPr>
          <a:lstStyle/>
          <a:p>
            <a:pPr algn="ctr"/>
            <a:r>
              <a:rPr lang="en-US" sz="3000" b="1" dirty="0">
                <a:solidFill>
                  <a:srgbClr val="C00000"/>
                </a:solidFill>
              </a:rPr>
              <a:t>E</a:t>
            </a:r>
          </a:p>
        </p:txBody>
      </p:sp>
      <p:sp>
        <p:nvSpPr>
          <p:cNvPr id="118" name="TextBox 117"/>
          <p:cNvSpPr txBox="1"/>
          <p:nvPr/>
        </p:nvSpPr>
        <p:spPr>
          <a:xfrm>
            <a:off x="4161787" y="3865602"/>
            <a:ext cx="404278" cy="553998"/>
          </a:xfrm>
          <a:prstGeom prst="rect">
            <a:avLst/>
          </a:prstGeom>
          <a:noFill/>
        </p:spPr>
        <p:txBody>
          <a:bodyPr wrap="none" rtlCol="0">
            <a:spAutoFit/>
          </a:bodyPr>
          <a:lstStyle/>
          <a:p>
            <a:pPr algn="ctr"/>
            <a:r>
              <a:rPr lang="en-US" sz="3000" b="1" dirty="0">
                <a:solidFill>
                  <a:srgbClr val="C00000"/>
                </a:solidFill>
              </a:rPr>
              <a:t>C</a:t>
            </a:r>
          </a:p>
        </p:txBody>
      </p:sp>
      <p:sp>
        <p:nvSpPr>
          <p:cNvPr id="119" name="TextBox 118"/>
          <p:cNvSpPr txBox="1"/>
          <p:nvPr/>
        </p:nvSpPr>
        <p:spPr>
          <a:xfrm>
            <a:off x="4471158" y="3865602"/>
            <a:ext cx="367409" cy="553998"/>
          </a:xfrm>
          <a:prstGeom prst="rect">
            <a:avLst/>
          </a:prstGeom>
          <a:noFill/>
        </p:spPr>
        <p:txBody>
          <a:bodyPr wrap="none" rtlCol="0">
            <a:spAutoFit/>
          </a:bodyPr>
          <a:lstStyle/>
          <a:p>
            <a:pPr algn="ctr"/>
            <a:r>
              <a:rPr lang="en-US" sz="3000" b="1" dirty="0">
                <a:solidFill>
                  <a:srgbClr val="C00000"/>
                </a:solidFill>
              </a:rPr>
              <a:t>F</a:t>
            </a:r>
          </a:p>
        </p:txBody>
      </p:sp>
      <p:sp>
        <p:nvSpPr>
          <p:cNvPr id="120" name="TextBox 119"/>
          <p:cNvSpPr txBox="1"/>
          <p:nvPr/>
        </p:nvSpPr>
        <p:spPr>
          <a:xfrm>
            <a:off x="4762094" y="3865602"/>
            <a:ext cx="409086" cy="553998"/>
          </a:xfrm>
          <a:prstGeom prst="rect">
            <a:avLst/>
          </a:prstGeom>
          <a:noFill/>
        </p:spPr>
        <p:txBody>
          <a:bodyPr wrap="none" rtlCol="0">
            <a:spAutoFit/>
          </a:bodyPr>
          <a:lstStyle/>
          <a:p>
            <a:pPr algn="ctr"/>
            <a:r>
              <a:rPr lang="en-US" sz="3000" b="1" dirty="0">
                <a:solidFill>
                  <a:srgbClr val="C00000"/>
                </a:solidFill>
              </a:rPr>
              <a:t>G</a:t>
            </a:r>
          </a:p>
        </p:txBody>
      </p:sp>
      <p:sp>
        <p:nvSpPr>
          <p:cNvPr id="121" name="TextBox 120"/>
          <p:cNvSpPr txBox="1"/>
          <p:nvPr/>
        </p:nvSpPr>
        <p:spPr>
          <a:xfrm>
            <a:off x="3170269" y="1066874"/>
            <a:ext cx="377026" cy="400110"/>
          </a:xfrm>
          <a:prstGeom prst="rect">
            <a:avLst/>
          </a:prstGeom>
          <a:noFill/>
        </p:spPr>
        <p:txBody>
          <a:bodyPr wrap="none" rtlCol="0">
            <a:spAutoFit/>
          </a:bodyPr>
          <a:lstStyle/>
          <a:p>
            <a:r>
              <a:rPr lang="en-US" sz="2000" b="1" dirty="0"/>
              <a:t>✓</a:t>
            </a:r>
          </a:p>
        </p:txBody>
      </p:sp>
      <p:sp>
        <p:nvSpPr>
          <p:cNvPr id="122" name="TextBox 121"/>
          <p:cNvSpPr txBox="1"/>
          <p:nvPr/>
        </p:nvSpPr>
        <p:spPr>
          <a:xfrm>
            <a:off x="2590800" y="1581090"/>
            <a:ext cx="377026" cy="400110"/>
          </a:xfrm>
          <a:prstGeom prst="rect">
            <a:avLst/>
          </a:prstGeom>
          <a:noFill/>
        </p:spPr>
        <p:txBody>
          <a:bodyPr wrap="none" rtlCol="0">
            <a:spAutoFit/>
          </a:bodyPr>
          <a:lstStyle/>
          <a:p>
            <a:r>
              <a:rPr lang="en-US" sz="2000" b="1" dirty="0"/>
              <a:t>✓</a:t>
            </a:r>
          </a:p>
        </p:txBody>
      </p:sp>
      <p:sp>
        <p:nvSpPr>
          <p:cNvPr id="123" name="TextBox 122"/>
          <p:cNvSpPr txBox="1"/>
          <p:nvPr/>
        </p:nvSpPr>
        <p:spPr>
          <a:xfrm>
            <a:off x="2137574" y="2209800"/>
            <a:ext cx="377026" cy="400110"/>
          </a:xfrm>
          <a:prstGeom prst="rect">
            <a:avLst/>
          </a:prstGeom>
          <a:noFill/>
        </p:spPr>
        <p:txBody>
          <a:bodyPr wrap="none" rtlCol="0">
            <a:spAutoFit/>
          </a:bodyPr>
          <a:lstStyle/>
          <a:p>
            <a:r>
              <a:rPr lang="en-US" sz="2000" b="1" dirty="0"/>
              <a:t>✓</a:t>
            </a:r>
          </a:p>
        </p:txBody>
      </p:sp>
      <p:sp>
        <p:nvSpPr>
          <p:cNvPr id="124" name="TextBox 123"/>
          <p:cNvSpPr txBox="1"/>
          <p:nvPr/>
        </p:nvSpPr>
        <p:spPr>
          <a:xfrm>
            <a:off x="3204374" y="3562290"/>
            <a:ext cx="377026" cy="400110"/>
          </a:xfrm>
          <a:prstGeom prst="rect">
            <a:avLst/>
          </a:prstGeom>
          <a:noFill/>
        </p:spPr>
        <p:txBody>
          <a:bodyPr wrap="none" rtlCol="0">
            <a:spAutoFit/>
          </a:bodyPr>
          <a:lstStyle/>
          <a:p>
            <a:r>
              <a:rPr lang="en-US" sz="2000" b="1" dirty="0"/>
              <a:t>✓</a:t>
            </a:r>
          </a:p>
        </p:txBody>
      </p:sp>
      <p:sp>
        <p:nvSpPr>
          <p:cNvPr id="125" name="TextBox 124"/>
          <p:cNvSpPr txBox="1"/>
          <p:nvPr/>
        </p:nvSpPr>
        <p:spPr>
          <a:xfrm>
            <a:off x="2975774" y="2190690"/>
            <a:ext cx="377026" cy="400110"/>
          </a:xfrm>
          <a:prstGeom prst="rect">
            <a:avLst/>
          </a:prstGeom>
          <a:noFill/>
        </p:spPr>
        <p:txBody>
          <a:bodyPr wrap="none" rtlCol="0">
            <a:spAutoFit/>
          </a:bodyPr>
          <a:lstStyle/>
          <a:p>
            <a:r>
              <a:rPr lang="en-US" sz="2000" b="1" dirty="0"/>
              <a:t>✓</a:t>
            </a:r>
          </a:p>
        </p:txBody>
      </p:sp>
      <p:sp>
        <p:nvSpPr>
          <p:cNvPr id="126" name="TextBox 125"/>
          <p:cNvSpPr txBox="1"/>
          <p:nvPr/>
        </p:nvSpPr>
        <p:spPr>
          <a:xfrm>
            <a:off x="4537062" y="1561288"/>
            <a:ext cx="377026" cy="400110"/>
          </a:xfrm>
          <a:prstGeom prst="rect">
            <a:avLst/>
          </a:prstGeom>
          <a:noFill/>
        </p:spPr>
        <p:txBody>
          <a:bodyPr wrap="none" rtlCol="0">
            <a:spAutoFit/>
          </a:bodyPr>
          <a:lstStyle/>
          <a:p>
            <a:r>
              <a:rPr lang="en-US" sz="2000" b="1" dirty="0"/>
              <a:t>✓</a:t>
            </a:r>
          </a:p>
        </p:txBody>
      </p:sp>
      <p:sp>
        <p:nvSpPr>
          <p:cNvPr id="127" name="TextBox 126"/>
          <p:cNvSpPr txBox="1"/>
          <p:nvPr/>
        </p:nvSpPr>
        <p:spPr>
          <a:xfrm>
            <a:off x="4214430" y="2209800"/>
            <a:ext cx="377026" cy="400110"/>
          </a:xfrm>
          <a:prstGeom prst="rect">
            <a:avLst/>
          </a:prstGeom>
          <a:noFill/>
        </p:spPr>
        <p:txBody>
          <a:bodyPr wrap="none" rtlCol="0">
            <a:spAutoFit/>
          </a:bodyPr>
          <a:lstStyle/>
          <a:p>
            <a:r>
              <a:rPr lang="en-US" sz="2000" b="1" dirty="0"/>
              <a:t>✓</a:t>
            </a:r>
          </a:p>
        </p:txBody>
      </p:sp>
      <p:sp>
        <p:nvSpPr>
          <p:cNvPr id="128" name="TextBox 127"/>
          <p:cNvSpPr txBox="1"/>
          <p:nvPr/>
        </p:nvSpPr>
        <p:spPr>
          <a:xfrm>
            <a:off x="5029200" y="2190690"/>
            <a:ext cx="377026" cy="400110"/>
          </a:xfrm>
          <a:prstGeom prst="rect">
            <a:avLst/>
          </a:prstGeom>
          <a:noFill/>
        </p:spPr>
        <p:txBody>
          <a:bodyPr wrap="none" rtlCol="0">
            <a:spAutoFit/>
          </a:bodyPr>
          <a:lstStyle/>
          <a:p>
            <a:r>
              <a:rPr lang="en-US" sz="2000" b="1" dirty="0"/>
              <a:t>✓</a:t>
            </a:r>
          </a:p>
        </p:txBody>
      </p:sp>
      <p:sp>
        <p:nvSpPr>
          <p:cNvPr id="129" name="TextBox 128"/>
          <p:cNvSpPr txBox="1"/>
          <p:nvPr/>
        </p:nvSpPr>
        <p:spPr>
          <a:xfrm>
            <a:off x="6781800" y="5334000"/>
            <a:ext cx="417102" cy="553998"/>
          </a:xfrm>
          <a:prstGeom prst="rect">
            <a:avLst/>
          </a:prstGeom>
          <a:noFill/>
        </p:spPr>
        <p:txBody>
          <a:bodyPr wrap="none" rtlCol="0">
            <a:spAutoFit/>
          </a:bodyPr>
          <a:lstStyle/>
          <a:p>
            <a:pPr algn="ctr"/>
            <a:r>
              <a:rPr lang="en-US" sz="3000" b="1" dirty="0">
                <a:solidFill>
                  <a:srgbClr val="C00000"/>
                </a:solidFill>
              </a:rPr>
              <a:t>A</a:t>
            </a:r>
          </a:p>
        </p:txBody>
      </p:sp>
      <p:sp>
        <p:nvSpPr>
          <p:cNvPr id="130" name="TextBox 129"/>
          <p:cNvSpPr txBox="1"/>
          <p:nvPr/>
        </p:nvSpPr>
        <p:spPr>
          <a:xfrm>
            <a:off x="7304751" y="5334000"/>
            <a:ext cx="401072" cy="553998"/>
          </a:xfrm>
          <a:prstGeom prst="rect">
            <a:avLst/>
          </a:prstGeom>
          <a:noFill/>
        </p:spPr>
        <p:txBody>
          <a:bodyPr wrap="none" rtlCol="0">
            <a:spAutoFit/>
          </a:bodyPr>
          <a:lstStyle/>
          <a:p>
            <a:pPr algn="ctr"/>
            <a:r>
              <a:rPr lang="en-US" sz="3000" b="1" dirty="0">
                <a:solidFill>
                  <a:srgbClr val="C00000"/>
                </a:solidFill>
              </a:rPr>
              <a:t>B</a:t>
            </a:r>
          </a:p>
        </p:txBody>
      </p:sp>
      <p:sp>
        <p:nvSpPr>
          <p:cNvPr id="131" name="TextBox 130"/>
          <p:cNvSpPr txBox="1"/>
          <p:nvPr/>
        </p:nvSpPr>
        <p:spPr>
          <a:xfrm>
            <a:off x="7823695" y="5334000"/>
            <a:ext cx="402674" cy="553998"/>
          </a:xfrm>
          <a:prstGeom prst="rect">
            <a:avLst/>
          </a:prstGeom>
          <a:noFill/>
        </p:spPr>
        <p:txBody>
          <a:bodyPr wrap="none" rtlCol="0">
            <a:spAutoFit/>
          </a:bodyPr>
          <a:lstStyle/>
          <a:p>
            <a:pPr algn="ctr"/>
            <a:r>
              <a:rPr lang="en-US" sz="3000" b="1" dirty="0">
                <a:solidFill>
                  <a:srgbClr val="C00000"/>
                </a:solidFill>
              </a:rPr>
              <a:t>D</a:t>
            </a:r>
          </a:p>
        </p:txBody>
      </p:sp>
      <p:sp>
        <p:nvSpPr>
          <p:cNvPr id="132" name="TextBox 131"/>
          <p:cNvSpPr txBox="1"/>
          <p:nvPr/>
        </p:nvSpPr>
        <p:spPr>
          <a:xfrm>
            <a:off x="8336226" y="5334000"/>
            <a:ext cx="404278" cy="553998"/>
          </a:xfrm>
          <a:prstGeom prst="rect">
            <a:avLst/>
          </a:prstGeom>
          <a:noFill/>
        </p:spPr>
        <p:txBody>
          <a:bodyPr wrap="none" rtlCol="0">
            <a:spAutoFit/>
          </a:bodyPr>
          <a:lstStyle/>
          <a:p>
            <a:pPr algn="ctr"/>
            <a:r>
              <a:rPr lang="en-US" sz="3000" b="1" dirty="0">
                <a:solidFill>
                  <a:srgbClr val="C00000"/>
                </a:solidFill>
              </a:rPr>
              <a:t>C</a:t>
            </a:r>
          </a:p>
        </p:txBody>
      </p:sp>
      <p:sp>
        <p:nvSpPr>
          <p:cNvPr id="133" name="TextBox 132"/>
          <p:cNvSpPr txBox="1"/>
          <p:nvPr/>
        </p:nvSpPr>
        <p:spPr>
          <a:xfrm>
            <a:off x="8835133" y="5334000"/>
            <a:ext cx="367409" cy="553998"/>
          </a:xfrm>
          <a:prstGeom prst="rect">
            <a:avLst/>
          </a:prstGeom>
          <a:noFill/>
        </p:spPr>
        <p:txBody>
          <a:bodyPr wrap="none" rtlCol="0">
            <a:spAutoFit/>
          </a:bodyPr>
          <a:lstStyle/>
          <a:p>
            <a:pPr algn="ctr"/>
            <a:r>
              <a:rPr lang="en-US" sz="3000" b="1" dirty="0">
                <a:solidFill>
                  <a:srgbClr val="C00000"/>
                </a:solidFill>
              </a:rPr>
              <a:t>F</a:t>
            </a:r>
          </a:p>
        </p:txBody>
      </p:sp>
      <p:sp>
        <p:nvSpPr>
          <p:cNvPr id="134" name="TextBox 133"/>
          <p:cNvSpPr txBox="1"/>
          <p:nvPr/>
        </p:nvSpPr>
        <p:spPr>
          <a:xfrm>
            <a:off x="9305184" y="5334000"/>
            <a:ext cx="372217" cy="553998"/>
          </a:xfrm>
          <a:prstGeom prst="rect">
            <a:avLst/>
          </a:prstGeom>
          <a:noFill/>
        </p:spPr>
        <p:txBody>
          <a:bodyPr wrap="none" rtlCol="0">
            <a:spAutoFit/>
          </a:bodyPr>
          <a:lstStyle/>
          <a:p>
            <a:pPr algn="ctr"/>
            <a:r>
              <a:rPr lang="en-US" sz="3000" b="1" dirty="0">
                <a:solidFill>
                  <a:srgbClr val="C00000"/>
                </a:solidFill>
              </a:rPr>
              <a:t>E</a:t>
            </a:r>
          </a:p>
        </p:txBody>
      </p:sp>
      <p:sp>
        <p:nvSpPr>
          <p:cNvPr id="135" name="TextBox 134"/>
          <p:cNvSpPr txBox="1"/>
          <p:nvPr/>
        </p:nvSpPr>
        <p:spPr>
          <a:xfrm>
            <a:off x="2633558" y="4742953"/>
            <a:ext cx="377026" cy="400110"/>
          </a:xfrm>
          <a:prstGeom prst="rect">
            <a:avLst/>
          </a:prstGeom>
          <a:noFill/>
        </p:spPr>
        <p:txBody>
          <a:bodyPr wrap="none" rtlCol="0">
            <a:spAutoFit/>
          </a:bodyPr>
          <a:lstStyle/>
          <a:p>
            <a:r>
              <a:rPr lang="en-US" sz="2000" b="1" dirty="0"/>
              <a:t>✓</a:t>
            </a:r>
          </a:p>
        </p:txBody>
      </p:sp>
      <p:sp>
        <p:nvSpPr>
          <p:cNvPr id="136" name="TextBox 135"/>
          <p:cNvSpPr txBox="1"/>
          <p:nvPr/>
        </p:nvSpPr>
        <p:spPr>
          <a:xfrm>
            <a:off x="1985174" y="5391090"/>
            <a:ext cx="377026" cy="400110"/>
          </a:xfrm>
          <a:prstGeom prst="rect">
            <a:avLst/>
          </a:prstGeom>
          <a:noFill/>
        </p:spPr>
        <p:txBody>
          <a:bodyPr wrap="none" rtlCol="0">
            <a:spAutoFit/>
          </a:bodyPr>
          <a:lstStyle/>
          <a:p>
            <a:r>
              <a:rPr lang="en-US" sz="2000" b="1" dirty="0"/>
              <a:t>✓</a:t>
            </a:r>
          </a:p>
        </p:txBody>
      </p:sp>
      <p:sp>
        <p:nvSpPr>
          <p:cNvPr id="138" name="TextBox 137"/>
          <p:cNvSpPr txBox="1"/>
          <p:nvPr/>
        </p:nvSpPr>
        <p:spPr>
          <a:xfrm>
            <a:off x="2590800" y="6076890"/>
            <a:ext cx="377026" cy="400110"/>
          </a:xfrm>
          <a:prstGeom prst="rect">
            <a:avLst/>
          </a:prstGeom>
          <a:noFill/>
        </p:spPr>
        <p:txBody>
          <a:bodyPr wrap="none" rtlCol="0">
            <a:spAutoFit/>
          </a:bodyPr>
          <a:lstStyle/>
          <a:p>
            <a:r>
              <a:rPr lang="en-US" sz="2000" b="1" dirty="0"/>
              <a:t>✓</a:t>
            </a:r>
          </a:p>
        </p:txBody>
      </p:sp>
      <p:sp>
        <p:nvSpPr>
          <p:cNvPr id="139" name="TextBox 138"/>
          <p:cNvSpPr txBox="1"/>
          <p:nvPr/>
        </p:nvSpPr>
        <p:spPr>
          <a:xfrm>
            <a:off x="3276600" y="5410200"/>
            <a:ext cx="377026" cy="400110"/>
          </a:xfrm>
          <a:prstGeom prst="rect">
            <a:avLst/>
          </a:prstGeom>
          <a:noFill/>
        </p:spPr>
        <p:txBody>
          <a:bodyPr wrap="none" rtlCol="0">
            <a:spAutoFit/>
          </a:bodyPr>
          <a:lstStyle/>
          <a:p>
            <a:r>
              <a:rPr lang="en-US" sz="2000" b="1" dirty="0"/>
              <a:t>✓</a:t>
            </a:r>
          </a:p>
        </p:txBody>
      </p:sp>
      <p:sp>
        <p:nvSpPr>
          <p:cNvPr id="140" name="TextBox 139"/>
          <p:cNvSpPr txBox="1"/>
          <p:nvPr/>
        </p:nvSpPr>
        <p:spPr>
          <a:xfrm>
            <a:off x="4419600" y="6096000"/>
            <a:ext cx="377026" cy="400110"/>
          </a:xfrm>
          <a:prstGeom prst="rect">
            <a:avLst/>
          </a:prstGeom>
          <a:noFill/>
        </p:spPr>
        <p:txBody>
          <a:bodyPr wrap="none" rtlCol="0">
            <a:spAutoFit/>
          </a:bodyPr>
          <a:lstStyle/>
          <a:p>
            <a:r>
              <a:rPr lang="en-US" sz="2000" b="1" dirty="0"/>
              <a:t>✓</a:t>
            </a:r>
          </a:p>
        </p:txBody>
      </p:sp>
      <p:sp>
        <p:nvSpPr>
          <p:cNvPr id="141" name="TextBox 140"/>
          <p:cNvSpPr txBox="1"/>
          <p:nvPr/>
        </p:nvSpPr>
        <p:spPr>
          <a:xfrm>
            <a:off x="4775390" y="5162490"/>
            <a:ext cx="377026" cy="400110"/>
          </a:xfrm>
          <a:prstGeom prst="rect">
            <a:avLst/>
          </a:prstGeom>
          <a:noFill/>
        </p:spPr>
        <p:txBody>
          <a:bodyPr wrap="none" rtlCol="0">
            <a:spAutoFit/>
          </a:bodyPr>
          <a:lstStyle/>
          <a:p>
            <a:r>
              <a:rPr lang="en-US" sz="2000" b="1" dirty="0"/>
              <a:t>✓</a:t>
            </a:r>
          </a:p>
        </p:txBody>
      </p:sp>
    </p:spTree>
    <p:extLst>
      <p:ext uri="{BB962C8B-B14F-4D97-AF65-F5344CB8AC3E}">
        <p14:creationId xmlns:p14="http://schemas.microsoft.com/office/powerpoint/2010/main" val="104604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10" fill="hold"/>
                                        <p:tgtEl>
                                          <p:spTgt spid="4"/>
                                        </p:tgtEl>
                                        <p:attrNameLst>
                                          <p:attrName>fillcolor</p:attrName>
                                        </p:attrNameLst>
                                      </p:cBhvr>
                                      <p:to>
                                        <a:schemeClr val="accent2"/>
                                      </p:to>
                                    </p:animClr>
                                    <p:set>
                                      <p:cBhvr>
                                        <p:cTn id="45" dur="10" fill="hold"/>
                                        <p:tgtEl>
                                          <p:spTgt spid="4"/>
                                        </p:tgtEl>
                                        <p:attrNameLst>
                                          <p:attrName>fill.type</p:attrName>
                                        </p:attrNameLst>
                                      </p:cBhvr>
                                      <p:to>
                                        <p:strVal val="solid"/>
                                      </p:to>
                                    </p:set>
                                    <p:set>
                                      <p:cBhvr>
                                        <p:cTn id="46" dur="10" fill="hold"/>
                                        <p:tgtEl>
                                          <p:spTgt spid="4"/>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nodeType="clickEffect">
                                  <p:stCondLst>
                                    <p:cond delay="0"/>
                                  </p:stCondLst>
                                  <p:childTnLst>
                                    <p:animClr clrSpc="rgb" dir="cw">
                                      <p:cBhvr>
                                        <p:cTn id="58" dur="10" fill="hold"/>
                                        <p:tgtEl>
                                          <p:spTgt spid="5"/>
                                        </p:tgtEl>
                                        <p:attrNameLst>
                                          <p:attrName>fillcolor</p:attrName>
                                        </p:attrNameLst>
                                      </p:cBhvr>
                                      <p:to>
                                        <a:schemeClr val="accent2"/>
                                      </p:to>
                                    </p:animClr>
                                    <p:set>
                                      <p:cBhvr>
                                        <p:cTn id="59" dur="10" fill="hold"/>
                                        <p:tgtEl>
                                          <p:spTgt spid="5"/>
                                        </p:tgtEl>
                                        <p:attrNameLst>
                                          <p:attrName>fill.type</p:attrName>
                                        </p:attrNameLst>
                                      </p:cBhvr>
                                      <p:to>
                                        <p:strVal val="solid"/>
                                      </p:to>
                                    </p:set>
                                    <p:set>
                                      <p:cBhvr>
                                        <p:cTn id="60" dur="10" fill="hold"/>
                                        <p:tgtEl>
                                          <p:spTgt spid="5"/>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2" fill="hold" nodeType="clickEffect">
                                  <p:stCondLst>
                                    <p:cond delay="0"/>
                                  </p:stCondLst>
                                  <p:childTnLst>
                                    <p:animClr clrSpc="rgb" dir="cw">
                                      <p:cBhvr>
                                        <p:cTn id="72" dur="10" fill="hold"/>
                                        <p:tgtEl>
                                          <p:spTgt spid="7"/>
                                        </p:tgtEl>
                                        <p:attrNameLst>
                                          <p:attrName>fillcolor</p:attrName>
                                        </p:attrNameLst>
                                      </p:cBhvr>
                                      <p:to>
                                        <a:schemeClr val="accent2"/>
                                      </p:to>
                                    </p:animClr>
                                    <p:set>
                                      <p:cBhvr>
                                        <p:cTn id="73" dur="10" fill="hold"/>
                                        <p:tgtEl>
                                          <p:spTgt spid="7"/>
                                        </p:tgtEl>
                                        <p:attrNameLst>
                                          <p:attrName>fill.type</p:attrName>
                                        </p:attrNameLst>
                                      </p:cBhvr>
                                      <p:to>
                                        <p:strVal val="solid"/>
                                      </p:to>
                                    </p:set>
                                    <p:set>
                                      <p:cBhvr>
                                        <p:cTn id="74" dur="10" fill="hold"/>
                                        <p:tgtEl>
                                          <p:spTgt spid="7"/>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mph" presetSubtype="2" fill="hold" nodeType="clickEffect">
                                  <p:stCondLst>
                                    <p:cond delay="0"/>
                                  </p:stCondLst>
                                  <p:childTnLst>
                                    <p:animClr clrSpc="rgb" dir="cw">
                                      <p:cBhvr>
                                        <p:cTn id="86" dur="10" fill="hold"/>
                                        <p:tgtEl>
                                          <p:spTgt spid="11"/>
                                        </p:tgtEl>
                                        <p:attrNameLst>
                                          <p:attrName>fillcolor</p:attrName>
                                        </p:attrNameLst>
                                      </p:cBhvr>
                                      <p:to>
                                        <a:schemeClr val="accent2"/>
                                      </p:to>
                                    </p:animClr>
                                    <p:set>
                                      <p:cBhvr>
                                        <p:cTn id="87" dur="10" fill="hold"/>
                                        <p:tgtEl>
                                          <p:spTgt spid="11"/>
                                        </p:tgtEl>
                                        <p:attrNameLst>
                                          <p:attrName>fill.type</p:attrName>
                                        </p:attrNameLst>
                                      </p:cBhvr>
                                      <p:to>
                                        <p:strVal val="solid"/>
                                      </p:to>
                                    </p:set>
                                    <p:set>
                                      <p:cBhvr>
                                        <p:cTn id="88" dur="10" fill="hold"/>
                                        <p:tgtEl>
                                          <p:spTgt spid="11"/>
                                        </p:tgtEl>
                                        <p:attrNameLst>
                                          <p:attrName>fill.on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2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1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mph" presetSubtype="2" fill="hold" nodeType="clickEffect">
                                  <p:stCondLst>
                                    <p:cond delay="0"/>
                                  </p:stCondLst>
                                  <p:childTnLst>
                                    <p:animClr clrSpc="rgb" dir="cw">
                                      <p:cBhvr>
                                        <p:cTn id="100" dur="2000" fill="hold"/>
                                        <p:tgtEl>
                                          <p:spTgt spid="8"/>
                                        </p:tgtEl>
                                        <p:attrNameLst>
                                          <p:attrName>fillcolor</p:attrName>
                                        </p:attrNameLst>
                                      </p:cBhvr>
                                      <p:to>
                                        <a:schemeClr val="accent2"/>
                                      </p:to>
                                    </p:animClr>
                                    <p:set>
                                      <p:cBhvr>
                                        <p:cTn id="101" dur="2000" fill="hold"/>
                                        <p:tgtEl>
                                          <p:spTgt spid="8"/>
                                        </p:tgtEl>
                                        <p:attrNameLst>
                                          <p:attrName>fill.type</p:attrName>
                                        </p:attrNameLst>
                                      </p:cBhvr>
                                      <p:to>
                                        <p:strVal val="solid"/>
                                      </p:to>
                                    </p:set>
                                    <p:set>
                                      <p:cBhvr>
                                        <p:cTn id="102" dur="2000" fill="hold"/>
                                        <p:tgtEl>
                                          <p:spTgt spid="8"/>
                                        </p:tgtEl>
                                        <p:attrNameLst>
                                          <p:attrName>fill.on</p:attrName>
                                        </p:attrNameLst>
                                      </p:cBhvr>
                                      <p:to>
                                        <p:strVal val="tru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2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mph" presetSubtype="2" fill="hold" nodeType="clickEffect">
                                  <p:stCondLst>
                                    <p:cond delay="0"/>
                                  </p:stCondLst>
                                  <p:childTnLst>
                                    <p:animClr clrSpc="rgb" dir="cw">
                                      <p:cBhvr>
                                        <p:cTn id="114" dur="10" fill="hold"/>
                                        <p:tgtEl>
                                          <p:spTgt spid="6"/>
                                        </p:tgtEl>
                                        <p:attrNameLst>
                                          <p:attrName>fillcolor</p:attrName>
                                        </p:attrNameLst>
                                      </p:cBhvr>
                                      <p:to>
                                        <a:schemeClr val="accent2"/>
                                      </p:to>
                                    </p:animClr>
                                    <p:set>
                                      <p:cBhvr>
                                        <p:cTn id="115" dur="10" fill="hold"/>
                                        <p:tgtEl>
                                          <p:spTgt spid="6"/>
                                        </p:tgtEl>
                                        <p:attrNameLst>
                                          <p:attrName>fill.type</p:attrName>
                                        </p:attrNameLst>
                                      </p:cBhvr>
                                      <p:to>
                                        <p:strVal val="solid"/>
                                      </p:to>
                                    </p:set>
                                    <p:set>
                                      <p:cBhvr>
                                        <p:cTn id="116" dur="10" fill="hold"/>
                                        <p:tgtEl>
                                          <p:spTgt spid="6"/>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2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1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mph" presetSubtype="2" fill="hold" nodeType="clickEffect">
                                  <p:stCondLst>
                                    <p:cond delay="0"/>
                                  </p:stCondLst>
                                  <p:childTnLst>
                                    <p:animClr clrSpc="rgb" dir="cw">
                                      <p:cBhvr>
                                        <p:cTn id="128" dur="10" fill="hold"/>
                                        <p:tgtEl>
                                          <p:spTgt spid="9"/>
                                        </p:tgtEl>
                                        <p:attrNameLst>
                                          <p:attrName>fillcolor</p:attrName>
                                        </p:attrNameLst>
                                      </p:cBhvr>
                                      <p:to>
                                        <a:schemeClr val="accent2"/>
                                      </p:to>
                                    </p:animClr>
                                    <p:set>
                                      <p:cBhvr>
                                        <p:cTn id="129" dur="10" fill="hold"/>
                                        <p:tgtEl>
                                          <p:spTgt spid="9"/>
                                        </p:tgtEl>
                                        <p:attrNameLst>
                                          <p:attrName>fill.type</p:attrName>
                                        </p:attrNameLst>
                                      </p:cBhvr>
                                      <p:to>
                                        <p:strVal val="solid"/>
                                      </p:to>
                                    </p:set>
                                    <p:set>
                                      <p:cBhvr>
                                        <p:cTn id="130" dur="10" fill="hold"/>
                                        <p:tgtEl>
                                          <p:spTgt spid="9"/>
                                        </p:tgtEl>
                                        <p:attrNameLst>
                                          <p:attrName>fill.on</p:attrName>
                                        </p:attrNameLst>
                                      </p:cBhvr>
                                      <p:to>
                                        <p:strVal val="tru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1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mph" presetSubtype="2" fill="hold" nodeType="clickEffect">
                                  <p:stCondLst>
                                    <p:cond delay="0"/>
                                  </p:stCondLst>
                                  <p:childTnLst>
                                    <p:animClr clrSpc="rgb" dir="cw">
                                      <p:cBhvr>
                                        <p:cTn id="142" dur="10" fill="hold"/>
                                        <p:tgtEl>
                                          <p:spTgt spid="10"/>
                                        </p:tgtEl>
                                        <p:attrNameLst>
                                          <p:attrName>fillcolor</p:attrName>
                                        </p:attrNameLst>
                                      </p:cBhvr>
                                      <p:to>
                                        <a:schemeClr val="accent2"/>
                                      </p:to>
                                    </p:animClr>
                                    <p:set>
                                      <p:cBhvr>
                                        <p:cTn id="143" dur="10" fill="hold"/>
                                        <p:tgtEl>
                                          <p:spTgt spid="10"/>
                                        </p:tgtEl>
                                        <p:attrNameLst>
                                          <p:attrName>fill.type</p:attrName>
                                        </p:attrNameLst>
                                      </p:cBhvr>
                                      <p:to>
                                        <p:strVal val="solid"/>
                                      </p:to>
                                    </p:set>
                                    <p:set>
                                      <p:cBhvr>
                                        <p:cTn id="144" dur="10" fill="hold"/>
                                        <p:tgtEl>
                                          <p:spTgt spid="10"/>
                                        </p:tgtEl>
                                        <p:attrNameLst>
                                          <p:attrName>fill.on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28"/>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20"/>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84"/>
                                        </p:tgtEl>
                                        <p:attrNameLst>
                                          <p:attrName>style.visibility</p:attrName>
                                        </p:attrNameLst>
                                      </p:cBhvr>
                                      <p:to>
                                        <p:strVal val="visible"/>
                                      </p:to>
                                    </p:set>
                                    <p:animEffect transition="in" filter="wipe(left)">
                                      <p:cBhvr>
                                        <p:cTn id="157" dur="500"/>
                                        <p:tgtEl>
                                          <p:spTgt spid="84"/>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33"/>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34"/>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35"/>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36"/>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37"/>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38"/>
                                        </p:tgtEl>
                                        <p:attrNameLst>
                                          <p:attrName>style.visibility</p:attrName>
                                        </p:attrNameLst>
                                      </p:cBhvr>
                                      <p:to>
                                        <p:strVal val="visible"/>
                                      </p:to>
                                    </p:set>
                                  </p:childTnLst>
                                </p:cTn>
                              </p:par>
                              <p:par>
                                <p:cTn id="172" presetID="1" presetClass="entr" presetSubtype="0" fill="hold" nodeType="withEffect">
                                  <p:stCondLst>
                                    <p:cond delay="0"/>
                                  </p:stCondLst>
                                  <p:childTnLst>
                                    <p:set>
                                      <p:cBhvr>
                                        <p:cTn id="173" dur="1" fill="hold">
                                          <p:stCondLst>
                                            <p:cond delay="0"/>
                                          </p:stCondLst>
                                        </p:cTn>
                                        <p:tgtEl>
                                          <p:spTgt spid="40"/>
                                        </p:tgtEl>
                                        <p:attrNameLst>
                                          <p:attrName>style.visibility</p:attrName>
                                        </p:attrNameLst>
                                      </p:cBhvr>
                                      <p:to>
                                        <p:strVal val="visible"/>
                                      </p:to>
                                    </p:set>
                                  </p:childTnLst>
                                </p:cTn>
                              </p:par>
                              <p:par>
                                <p:cTn id="174" presetID="1" presetClass="entr" presetSubtype="0" fill="hold" nodeType="withEffect">
                                  <p:stCondLst>
                                    <p:cond delay="0"/>
                                  </p:stCondLst>
                                  <p:childTnLst>
                                    <p:set>
                                      <p:cBhvr>
                                        <p:cTn id="175" dur="1" fill="hold">
                                          <p:stCondLst>
                                            <p:cond delay="0"/>
                                          </p:stCondLst>
                                        </p:cTn>
                                        <p:tgtEl>
                                          <p:spTgt spid="42"/>
                                        </p:tgtEl>
                                        <p:attrNameLst>
                                          <p:attrName>style.visibility</p:attrName>
                                        </p:attrNameLst>
                                      </p:cBhvr>
                                      <p:to>
                                        <p:strVal val="visible"/>
                                      </p:to>
                                    </p:set>
                                  </p:childTnLst>
                                </p:cTn>
                              </p:par>
                              <p:par>
                                <p:cTn id="176" presetID="1" presetClass="entr" presetSubtype="0" fill="hold" nodeType="withEffect">
                                  <p:stCondLst>
                                    <p:cond delay="0"/>
                                  </p:stCondLst>
                                  <p:childTnLst>
                                    <p:set>
                                      <p:cBhvr>
                                        <p:cTn id="177" dur="1" fill="hold">
                                          <p:stCondLst>
                                            <p:cond delay="0"/>
                                          </p:stCondLst>
                                        </p:cTn>
                                        <p:tgtEl>
                                          <p:spTgt spid="44"/>
                                        </p:tgtEl>
                                        <p:attrNameLst>
                                          <p:attrName>style.visibility</p:attrName>
                                        </p:attrNameLst>
                                      </p:cBhvr>
                                      <p:to>
                                        <p:strVal val="visible"/>
                                      </p:to>
                                    </p:set>
                                  </p:childTnLst>
                                </p:cTn>
                              </p:par>
                              <p:par>
                                <p:cTn id="178" presetID="1" presetClass="entr" presetSubtype="0" fill="hold" nodeType="withEffect">
                                  <p:stCondLst>
                                    <p:cond delay="0"/>
                                  </p:stCondLst>
                                  <p:childTnLst>
                                    <p:set>
                                      <p:cBhvr>
                                        <p:cTn id="179" dur="1" fill="hold">
                                          <p:stCondLst>
                                            <p:cond delay="0"/>
                                          </p:stCondLst>
                                        </p:cTn>
                                        <p:tgtEl>
                                          <p:spTgt spid="47"/>
                                        </p:tgtEl>
                                        <p:attrNameLst>
                                          <p:attrName>style.visibility</p:attrName>
                                        </p:attrNameLst>
                                      </p:cBhvr>
                                      <p:to>
                                        <p:strVal val="visible"/>
                                      </p:to>
                                    </p:set>
                                  </p:childTnLst>
                                </p:cTn>
                              </p:par>
                              <p:par>
                                <p:cTn id="180" presetID="1" presetClass="entr" presetSubtype="0" fill="hold" nodeType="withEffect">
                                  <p:stCondLst>
                                    <p:cond delay="0"/>
                                  </p:stCondLst>
                                  <p:childTnLst>
                                    <p:set>
                                      <p:cBhvr>
                                        <p:cTn id="181" dur="1" fill="hold">
                                          <p:stCondLst>
                                            <p:cond delay="0"/>
                                          </p:stCondLst>
                                        </p:cTn>
                                        <p:tgtEl>
                                          <p:spTgt spid="51"/>
                                        </p:tgtEl>
                                        <p:attrNameLst>
                                          <p:attrName>style.visibility</p:attrName>
                                        </p:attrNameLst>
                                      </p:cBhvr>
                                      <p:to>
                                        <p:strVal val="visible"/>
                                      </p:to>
                                    </p:set>
                                  </p:childTnLst>
                                </p:cTn>
                              </p:par>
                              <p:par>
                                <p:cTn id="182" presetID="1" presetClass="entr" presetSubtype="0" fill="hold" nodeType="withEffect">
                                  <p:stCondLst>
                                    <p:cond delay="0"/>
                                  </p:stCondLst>
                                  <p:childTnLst>
                                    <p:set>
                                      <p:cBhvr>
                                        <p:cTn id="183" dur="1" fill="hold">
                                          <p:stCondLst>
                                            <p:cond delay="0"/>
                                          </p:stCondLst>
                                        </p:cTn>
                                        <p:tgtEl>
                                          <p:spTgt spid="53"/>
                                        </p:tgtEl>
                                        <p:attrNameLst>
                                          <p:attrName>style.visibility</p:attrName>
                                        </p:attrNameLst>
                                      </p:cBhvr>
                                      <p:to>
                                        <p:strVal val="visible"/>
                                      </p:to>
                                    </p:set>
                                  </p:childTnLst>
                                </p:cTn>
                              </p:par>
                              <p:par>
                                <p:cTn id="184" presetID="1" presetClass="entr" presetSubtype="0" fill="hold" nodeType="withEffect">
                                  <p:stCondLst>
                                    <p:cond delay="0"/>
                                  </p:stCondLst>
                                  <p:childTnLst>
                                    <p:set>
                                      <p:cBhvr>
                                        <p:cTn id="185" dur="1" fill="hold">
                                          <p:stCondLst>
                                            <p:cond delay="0"/>
                                          </p:stCondLst>
                                        </p:cTn>
                                        <p:tgtEl>
                                          <p:spTgt spid="55"/>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mph" presetSubtype="2" fill="hold" nodeType="clickEffect">
                                  <p:stCondLst>
                                    <p:cond delay="0"/>
                                  </p:stCondLst>
                                  <p:childTnLst>
                                    <p:animClr clrSpc="rgb" dir="cw">
                                      <p:cBhvr>
                                        <p:cTn id="189" dur="10" fill="hold"/>
                                        <p:tgtEl>
                                          <p:spTgt spid="33"/>
                                        </p:tgtEl>
                                        <p:attrNameLst>
                                          <p:attrName>fillcolor</p:attrName>
                                        </p:attrNameLst>
                                      </p:cBhvr>
                                      <p:to>
                                        <a:schemeClr val="accent2"/>
                                      </p:to>
                                    </p:animClr>
                                    <p:set>
                                      <p:cBhvr>
                                        <p:cTn id="190" dur="10" fill="hold"/>
                                        <p:tgtEl>
                                          <p:spTgt spid="33"/>
                                        </p:tgtEl>
                                        <p:attrNameLst>
                                          <p:attrName>fill.type</p:attrName>
                                        </p:attrNameLst>
                                      </p:cBhvr>
                                      <p:to>
                                        <p:strVal val="solid"/>
                                      </p:to>
                                    </p:set>
                                    <p:set>
                                      <p:cBhvr>
                                        <p:cTn id="191" dur="10" fill="hold"/>
                                        <p:tgtEl>
                                          <p:spTgt spid="33"/>
                                        </p:tgtEl>
                                        <p:attrNameLst>
                                          <p:attrName>fill.on</p:attrName>
                                        </p:attrNameLst>
                                      </p:cBhvr>
                                      <p:to>
                                        <p:strVal val="tru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grpId="0" nodeType="clickEffect">
                                  <p:stCondLst>
                                    <p:cond delay="0"/>
                                  </p:stCondLst>
                                  <p:childTnLst>
                                    <p:set>
                                      <p:cBhvr>
                                        <p:cTn id="195" dur="1" fill="hold">
                                          <p:stCondLst>
                                            <p:cond delay="0"/>
                                          </p:stCondLst>
                                        </p:cTn>
                                        <p:tgtEl>
                                          <p:spTgt spid="135"/>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1" presetClass="entr" presetSubtype="0" fill="hold" grpId="0" nodeType="clickEffect">
                                  <p:stCondLst>
                                    <p:cond delay="0"/>
                                  </p:stCondLst>
                                  <p:childTnLst>
                                    <p:set>
                                      <p:cBhvr>
                                        <p:cTn id="199" dur="1" fill="hold">
                                          <p:stCondLst>
                                            <p:cond delay="0"/>
                                          </p:stCondLst>
                                        </p:cTn>
                                        <p:tgtEl>
                                          <p:spTgt spid="129"/>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 presetClass="emph" presetSubtype="2" fill="hold" nodeType="clickEffect">
                                  <p:stCondLst>
                                    <p:cond delay="0"/>
                                  </p:stCondLst>
                                  <p:childTnLst>
                                    <p:animClr clrSpc="rgb" dir="cw">
                                      <p:cBhvr>
                                        <p:cTn id="203" dur="10" fill="hold"/>
                                        <p:tgtEl>
                                          <p:spTgt spid="34"/>
                                        </p:tgtEl>
                                        <p:attrNameLst>
                                          <p:attrName>fillcolor</p:attrName>
                                        </p:attrNameLst>
                                      </p:cBhvr>
                                      <p:to>
                                        <a:schemeClr val="accent2"/>
                                      </p:to>
                                    </p:animClr>
                                    <p:set>
                                      <p:cBhvr>
                                        <p:cTn id="204" dur="10" fill="hold"/>
                                        <p:tgtEl>
                                          <p:spTgt spid="34"/>
                                        </p:tgtEl>
                                        <p:attrNameLst>
                                          <p:attrName>fill.type</p:attrName>
                                        </p:attrNameLst>
                                      </p:cBhvr>
                                      <p:to>
                                        <p:strVal val="solid"/>
                                      </p:to>
                                    </p:set>
                                    <p:set>
                                      <p:cBhvr>
                                        <p:cTn id="205" dur="10" fill="hold"/>
                                        <p:tgtEl>
                                          <p:spTgt spid="34"/>
                                        </p:tgtEl>
                                        <p:attrNameLst>
                                          <p:attrName>fill.on</p:attrName>
                                        </p:attrNameLst>
                                      </p:cBhvr>
                                      <p:to>
                                        <p:strVal val="true"/>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136"/>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ntr" presetSubtype="0" fill="hold" grpId="0" nodeType="clickEffect">
                                  <p:stCondLst>
                                    <p:cond delay="0"/>
                                  </p:stCondLst>
                                  <p:childTnLst>
                                    <p:set>
                                      <p:cBhvr>
                                        <p:cTn id="213" dur="1" fill="hold">
                                          <p:stCondLst>
                                            <p:cond delay="0"/>
                                          </p:stCondLst>
                                        </p:cTn>
                                        <p:tgtEl>
                                          <p:spTgt spid="130"/>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mph" presetSubtype="2" fill="hold" nodeType="clickEffect">
                                  <p:stCondLst>
                                    <p:cond delay="0"/>
                                  </p:stCondLst>
                                  <p:childTnLst>
                                    <p:animClr clrSpc="rgb" dir="cw">
                                      <p:cBhvr>
                                        <p:cTn id="217" dur="10" fill="hold"/>
                                        <p:tgtEl>
                                          <p:spTgt spid="36"/>
                                        </p:tgtEl>
                                        <p:attrNameLst>
                                          <p:attrName>fillcolor</p:attrName>
                                        </p:attrNameLst>
                                      </p:cBhvr>
                                      <p:to>
                                        <a:schemeClr val="accent2"/>
                                      </p:to>
                                    </p:animClr>
                                    <p:set>
                                      <p:cBhvr>
                                        <p:cTn id="218" dur="10" fill="hold"/>
                                        <p:tgtEl>
                                          <p:spTgt spid="36"/>
                                        </p:tgtEl>
                                        <p:attrNameLst>
                                          <p:attrName>fill.type</p:attrName>
                                        </p:attrNameLst>
                                      </p:cBhvr>
                                      <p:to>
                                        <p:strVal val="solid"/>
                                      </p:to>
                                    </p:set>
                                    <p:set>
                                      <p:cBhvr>
                                        <p:cTn id="219" dur="10" fill="hold"/>
                                        <p:tgtEl>
                                          <p:spTgt spid="36"/>
                                        </p:tgtEl>
                                        <p:attrNameLst>
                                          <p:attrName>fill.on</p:attrName>
                                        </p:attrNameLst>
                                      </p:cBhvr>
                                      <p:to>
                                        <p:strVal val="true"/>
                                      </p:to>
                                    </p:set>
                                  </p:childTnLst>
                                </p:cTn>
                              </p:par>
                            </p:childTnLst>
                          </p:cTn>
                        </p:par>
                      </p:childTnLst>
                    </p:cTn>
                  </p:par>
                  <p:par>
                    <p:cTn id="220" fill="hold">
                      <p:stCondLst>
                        <p:cond delay="indefinite"/>
                      </p:stCondLst>
                      <p:childTnLst>
                        <p:par>
                          <p:cTn id="221" fill="hold">
                            <p:stCondLst>
                              <p:cond delay="0"/>
                            </p:stCondLst>
                            <p:childTnLst>
                              <p:par>
                                <p:cTn id="222" presetID="1" presetClass="entr" presetSubtype="0" fill="hold" grpId="0" nodeType="clickEffect">
                                  <p:stCondLst>
                                    <p:cond delay="0"/>
                                  </p:stCondLst>
                                  <p:childTnLst>
                                    <p:set>
                                      <p:cBhvr>
                                        <p:cTn id="223" dur="1" fill="hold">
                                          <p:stCondLst>
                                            <p:cond delay="0"/>
                                          </p:stCondLst>
                                        </p:cTn>
                                        <p:tgtEl>
                                          <p:spTgt spid="138"/>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131"/>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1" presetClass="emph" presetSubtype="2" fill="hold" nodeType="clickEffect">
                                  <p:stCondLst>
                                    <p:cond delay="0"/>
                                  </p:stCondLst>
                                  <p:childTnLst>
                                    <p:animClr clrSpc="rgb" dir="cw">
                                      <p:cBhvr>
                                        <p:cTn id="231" dur="10" fill="hold"/>
                                        <p:tgtEl>
                                          <p:spTgt spid="35"/>
                                        </p:tgtEl>
                                        <p:attrNameLst>
                                          <p:attrName>fillcolor</p:attrName>
                                        </p:attrNameLst>
                                      </p:cBhvr>
                                      <p:to>
                                        <a:schemeClr val="accent2"/>
                                      </p:to>
                                    </p:animClr>
                                    <p:set>
                                      <p:cBhvr>
                                        <p:cTn id="232" dur="10" fill="hold"/>
                                        <p:tgtEl>
                                          <p:spTgt spid="35"/>
                                        </p:tgtEl>
                                        <p:attrNameLst>
                                          <p:attrName>fill.type</p:attrName>
                                        </p:attrNameLst>
                                      </p:cBhvr>
                                      <p:to>
                                        <p:strVal val="solid"/>
                                      </p:to>
                                    </p:set>
                                    <p:set>
                                      <p:cBhvr>
                                        <p:cTn id="233" dur="10" fill="hold"/>
                                        <p:tgtEl>
                                          <p:spTgt spid="35"/>
                                        </p:tgtEl>
                                        <p:attrNameLst>
                                          <p:attrName>fill.on</p:attrName>
                                        </p:attrNameLst>
                                      </p:cBhvr>
                                      <p:to>
                                        <p:strVal val="true"/>
                                      </p:to>
                                    </p:set>
                                  </p:childTnLst>
                                </p:cTn>
                              </p:par>
                            </p:childTnLst>
                          </p:cTn>
                        </p:par>
                      </p:childTnLst>
                    </p:cTn>
                  </p:par>
                  <p:par>
                    <p:cTn id="234" fill="hold">
                      <p:stCondLst>
                        <p:cond delay="indefinite"/>
                      </p:stCondLst>
                      <p:childTnLst>
                        <p:par>
                          <p:cTn id="235" fill="hold">
                            <p:stCondLst>
                              <p:cond delay="0"/>
                            </p:stCondLst>
                            <p:childTnLst>
                              <p:par>
                                <p:cTn id="236" presetID="1" presetClass="entr" presetSubtype="0" fill="hold" grpId="0" nodeType="clickEffect">
                                  <p:stCondLst>
                                    <p:cond delay="0"/>
                                  </p:stCondLst>
                                  <p:childTnLst>
                                    <p:set>
                                      <p:cBhvr>
                                        <p:cTn id="237" dur="1" fill="hold">
                                          <p:stCondLst>
                                            <p:cond delay="0"/>
                                          </p:stCondLst>
                                        </p:cTn>
                                        <p:tgtEl>
                                          <p:spTgt spid="139"/>
                                        </p:tgtEl>
                                        <p:attrNameLst>
                                          <p:attrName>style.visibility</p:attrName>
                                        </p:attrNameLst>
                                      </p:cBhvr>
                                      <p:to>
                                        <p:strVal val="visible"/>
                                      </p:to>
                                    </p:set>
                                  </p:childTnLst>
                                </p:cTn>
                              </p:par>
                            </p:childTnLst>
                          </p:cTn>
                        </p:par>
                      </p:childTnLst>
                    </p:cTn>
                  </p:par>
                  <p:par>
                    <p:cTn id="238" fill="hold">
                      <p:stCondLst>
                        <p:cond delay="indefinite"/>
                      </p:stCondLst>
                      <p:childTnLst>
                        <p:par>
                          <p:cTn id="239" fill="hold">
                            <p:stCondLst>
                              <p:cond delay="0"/>
                            </p:stCondLst>
                            <p:childTnLst>
                              <p:par>
                                <p:cTn id="240" presetID="1" presetClass="entr" presetSubtype="0" fill="hold" grpId="0" nodeType="clickEffect">
                                  <p:stCondLst>
                                    <p:cond delay="0"/>
                                  </p:stCondLst>
                                  <p:childTnLst>
                                    <p:set>
                                      <p:cBhvr>
                                        <p:cTn id="241" dur="1" fill="hold">
                                          <p:stCondLst>
                                            <p:cond delay="0"/>
                                          </p:stCondLst>
                                        </p:cTn>
                                        <p:tgtEl>
                                          <p:spTgt spid="132"/>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1" presetClass="emph" presetSubtype="2" fill="hold" nodeType="clickEffect">
                                  <p:stCondLst>
                                    <p:cond delay="0"/>
                                  </p:stCondLst>
                                  <p:childTnLst>
                                    <p:animClr clrSpc="rgb" dir="cw">
                                      <p:cBhvr>
                                        <p:cTn id="245" dur="10" fill="hold"/>
                                        <p:tgtEl>
                                          <p:spTgt spid="38"/>
                                        </p:tgtEl>
                                        <p:attrNameLst>
                                          <p:attrName>fillcolor</p:attrName>
                                        </p:attrNameLst>
                                      </p:cBhvr>
                                      <p:to>
                                        <a:schemeClr val="accent2"/>
                                      </p:to>
                                    </p:animClr>
                                    <p:set>
                                      <p:cBhvr>
                                        <p:cTn id="246" dur="10" fill="hold"/>
                                        <p:tgtEl>
                                          <p:spTgt spid="38"/>
                                        </p:tgtEl>
                                        <p:attrNameLst>
                                          <p:attrName>fill.type</p:attrName>
                                        </p:attrNameLst>
                                      </p:cBhvr>
                                      <p:to>
                                        <p:strVal val="solid"/>
                                      </p:to>
                                    </p:set>
                                    <p:set>
                                      <p:cBhvr>
                                        <p:cTn id="247" dur="10" fill="hold"/>
                                        <p:tgtEl>
                                          <p:spTgt spid="38"/>
                                        </p:tgtEl>
                                        <p:attrNameLst>
                                          <p:attrName>fill.on</p:attrName>
                                        </p:attrNameLst>
                                      </p:cBhvr>
                                      <p:to>
                                        <p:strVal val="true"/>
                                      </p:to>
                                    </p:set>
                                  </p:childTnLst>
                                </p:cTn>
                              </p:par>
                            </p:childTnLst>
                          </p:cTn>
                        </p:par>
                      </p:childTnLst>
                    </p:cTn>
                  </p:par>
                  <p:par>
                    <p:cTn id="248" fill="hold">
                      <p:stCondLst>
                        <p:cond delay="indefinite"/>
                      </p:stCondLst>
                      <p:childTnLst>
                        <p:par>
                          <p:cTn id="249" fill="hold">
                            <p:stCondLst>
                              <p:cond delay="0"/>
                            </p:stCondLst>
                            <p:childTnLst>
                              <p:par>
                                <p:cTn id="250" presetID="1" presetClass="entr" presetSubtype="0" fill="hold" grpId="0" nodeType="clickEffect">
                                  <p:stCondLst>
                                    <p:cond delay="0"/>
                                  </p:stCondLst>
                                  <p:childTnLst>
                                    <p:set>
                                      <p:cBhvr>
                                        <p:cTn id="251" dur="1" fill="hold">
                                          <p:stCondLst>
                                            <p:cond delay="0"/>
                                          </p:stCondLst>
                                        </p:cTn>
                                        <p:tgtEl>
                                          <p:spTgt spid="140"/>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grpId="0" nodeType="clickEffect">
                                  <p:stCondLst>
                                    <p:cond delay="0"/>
                                  </p:stCondLst>
                                  <p:childTnLst>
                                    <p:set>
                                      <p:cBhvr>
                                        <p:cTn id="255" dur="1" fill="hold">
                                          <p:stCondLst>
                                            <p:cond delay="0"/>
                                          </p:stCondLst>
                                        </p:cTn>
                                        <p:tgtEl>
                                          <p:spTgt spid="133"/>
                                        </p:tgtEl>
                                        <p:attrNameLst>
                                          <p:attrName>style.visibility</p:attrName>
                                        </p:attrNameLst>
                                      </p:cBhvr>
                                      <p:to>
                                        <p:strVal val="visible"/>
                                      </p:to>
                                    </p:set>
                                  </p:childTnLst>
                                </p:cTn>
                              </p:par>
                            </p:childTnLst>
                          </p:cTn>
                        </p:par>
                      </p:childTnLst>
                    </p:cTn>
                  </p:par>
                  <p:par>
                    <p:cTn id="256" fill="hold">
                      <p:stCondLst>
                        <p:cond delay="indefinite"/>
                      </p:stCondLst>
                      <p:childTnLst>
                        <p:par>
                          <p:cTn id="257" fill="hold">
                            <p:stCondLst>
                              <p:cond delay="0"/>
                            </p:stCondLst>
                            <p:childTnLst>
                              <p:par>
                                <p:cTn id="258" presetID="1" presetClass="emph" presetSubtype="2" fill="hold" nodeType="clickEffect">
                                  <p:stCondLst>
                                    <p:cond delay="0"/>
                                  </p:stCondLst>
                                  <p:childTnLst>
                                    <p:animClr clrSpc="rgb" dir="cw">
                                      <p:cBhvr>
                                        <p:cTn id="259" dur="10" fill="hold"/>
                                        <p:tgtEl>
                                          <p:spTgt spid="37"/>
                                        </p:tgtEl>
                                        <p:attrNameLst>
                                          <p:attrName>fillcolor</p:attrName>
                                        </p:attrNameLst>
                                      </p:cBhvr>
                                      <p:to>
                                        <a:schemeClr val="accent2"/>
                                      </p:to>
                                    </p:animClr>
                                    <p:set>
                                      <p:cBhvr>
                                        <p:cTn id="260" dur="10" fill="hold"/>
                                        <p:tgtEl>
                                          <p:spTgt spid="37"/>
                                        </p:tgtEl>
                                        <p:attrNameLst>
                                          <p:attrName>fill.type</p:attrName>
                                        </p:attrNameLst>
                                      </p:cBhvr>
                                      <p:to>
                                        <p:strVal val="solid"/>
                                      </p:to>
                                    </p:set>
                                    <p:set>
                                      <p:cBhvr>
                                        <p:cTn id="261" dur="10" fill="hold"/>
                                        <p:tgtEl>
                                          <p:spTgt spid="37"/>
                                        </p:tgtEl>
                                        <p:attrNameLst>
                                          <p:attrName>fill.on</p:attrName>
                                        </p:attrNameLst>
                                      </p:cBhvr>
                                      <p:to>
                                        <p:strVal val="tru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grpId="0" nodeType="clickEffect">
                                  <p:stCondLst>
                                    <p:cond delay="0"/>
                                  </p:stCondLst>
                                  <p:childTnLst>
                                    <p:set>
                                      <p:cBhvr>
                                        <p:cTn id="265" dur="1" fill="hold">
                                          <p:stCondLst>
                                            <p:cond delay="0"/>
                                          </p:stCondLst>
                                        </p:cTn>
                                        <p:tgtEl>
                                          <p:spTgt spid="141"/>
                                        </p:tgtEl>
                                        <p:attrNameLst>
                                          <p:attrName>style.visibility</p:attrName>
                                        </p:attrNameLst>
                                      </p:cBhvr>
                                      <p:to>
                                        <p:strVal val="visible"/>
                                      </p:to>
                                    </p:set>
                                  </p:childTnLst>
                                </p:cTn>
                              </p:par>
                            </p:childTnLst>
                          </p:cTn>
                        </p:par>
                      </p:childTnLst>
                    </p:cTn>
                  </p:par>
                  <p:par>
                    <p:cTn id="266" fill="hold">
                      <p:stCondLst>
                        <p:cond delay="indefinite"/>
                      </p:stCondLst>
                      <p:childTnLst>
                        <p:par>
                          <p:cTn id="267" fill="hold">
                            <p:stCondLst>
                              <p:cond delay="0"/>
                            </p:stCondLst>
                            <p:childTnLst>
                              <p:par>
                                <p:cTn id="268" presetID="1" presetClass="entr" presetSubtype="0" fill="hold" grpId="0" nodeType="clickEffect">
                                  <p:stCondLst>
                                    <p:cond delay="0"/>
                                  </p:stCondLst>
                                  <p:childTnLst>
                                    <p:set>
                                      <p:cBhvr>
                                        <p:cTn id="269" dur="1" fill="hold">
                                          <p:stCondLst>
                                            <p:cond delay="0"/>
                                          </p:stCondLst>
                                        </p:cTn>
                                        <p:tgtEl>
                                          <p:spTgt spid="134"/>
                                        </p:tgtEl>
                                        <p:attrNameLst>
                                          <p:attrName>style.visibility</p:attrName>
                                        </p:attrNameLst>
                                      </p:cBhvr>
                                      <p:to>
                                        <p:strVal val="visible"/>
                                      </p:to>
                                    </p:set>
                                  </p:childTnLst>
                                </p:cTn>
                              </p:par>
                            </p:childTnLst>
                          </p:cTn>
                        </p:par>
                      </p:childTnLst>
                    </p:cTn>
                  </p:par>
                  <p:par>
                    <p:cTn id="270" fill="hold">
                      <p:stCondLst>
                        <p:cond delay="indefinite"/>
                      </p:stCondLst>
                      <p:childTnLst>
                        <p:par>
                          <p:cTn id="271" fill="hold">
                            <p:stCondLst>
                              <p:cond delay="0"/>
                            </p:stCondLst>
                            <p:childTnLst>
                              <p:par>
                                <p:cTn id="272" presetID="22" presetClass="entr" presetSubtype="1" fill="hold" nodeType="clickEffect">
                                  <p:stCondLst>
                                    <p:cond delay="0"/>
                                  </p:stCondLst>
                                  <p:childTnLst>
                                    <p:set>
                                      <p:cBhvr>
                                        <p:cTn id="273" dur="1" fill="hold">
                                          <p:stCondLst>
                                            <p:cond delay="0"/>
                                          </p:stCondLst>
                                        </p:cTn>
                                        <p:tgtEl>
                                          <p:spTgt spid="86"/>
                                        </p:tgtEl>
                                        <p:attrNameLst>
                                          <p:attrName>style.visibility</p:attrName>
                                        </p:attrNameLst>
                                      </p:cBhvr>
                                      <p:to>
                                        <p:strVal val="visible"/>
                                      </p:to>
                                    </p:set>
                                    <p:animEffect transition="in" filter="wipe(up)">
                                      <p:cBhvr>
                                        <p:cTn id="274" dur="500"/>
                                        <p:tgtEl>
                                          <p:spTgt spid="86"/>
                                        </p:tgtEl>
                                      </p:cBhvr>
                                    </p:animEffec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88"/>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89"/>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90"/>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91"/>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92"/>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93"/>
                                        </p:tgtEl>
                                        <p:attrNameLst>
                                          <p:attrName>style.visibility</p:attrName>
                                        </p:attrNameLst>
                                      </p:cBhvr>
                                      <p:to>
                                        <p:strVal val="visible"/>
                                      </p:to>
                                    </p:set>
                                  </p:childTnLst>
                                </p:cTn>
                              </p:par>
                              <p:par>
                                <p:cTn id="289" presetID="1" presetClass="entr" presetSubtype="0" fill="hold" nodeType="withEffect">
                                  <p:stCondLst>
                                    <p:cond delay="0"/>
                                  </p:stCondLst>
                                  <p:childTnLst>
                                    <p:set>
                                      <p:cBhvr>
                                        <p:cTn id="290" dur="1" fill="hold">
                                          <p:stCondLst>
                                            <p:cond delay="0"/>
                                          </p:stCondLst>
                                        </p:cTn>
                                        <p:tgtEl>
                                          <p:spTgt spid="95"/>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97"/>
                                        </p:tgtEl>
                                        <p:attrNameLst>
                                          <p:attrName>style.visibility</p:attrName>
                                        </p:attrNameLst>
                                      </p:cBhvr>
                                      <p:to>
                                        <p:strVal val="visible"/>
                                      </p:to>
                                    </p:set>
                                  </p:childTnLst>
                                </p:cTn>
                              </p:par>
                              <p:par>
                                <p:cTn id="293" presetID="1" presetClass="entr" presetSubtype="0" fill="hold" nodeType="withEffect">
                                  <p:stCondLst>
                                    <p:cond delay="0"/>
                                  </p:stCondLst>
                                  <p:childTnLst>
                                    <p:set>
                                      <p:cBhvr>
                                        <p:cTn id="294" dur="1" fill="hold">
                                          <p:stCondLst>
                                            <p:cond delay="0"/>
                                          </p:stCondLst>
                                        </p:cTn>
                                        <p:tgtEl>
                                          <p:spTgt spid="99"/>
                                        </p:tgtEl>
                                        <p:attrNameLst>
                                          <p:attrName>style.visibility</p:attrName>
                                        </p:attrNameLst>
                                      </p:cBhvr>
                                      <p:to>
                                        <p:strVal val="visible"/>
                                      </p:to>
                                    </p:set>
                                  </p:childTnLst>
                                </p:cTn>
                              </p:par>
                              <p:par>
                                <p:cTn id="295" presetID="1" presetClass="entr" presetSubtype="0" fill="hold" nodeType="withEffect">
                                  <p:stCondLst>
                                    <p:cond delay="0"/>
                                  </p:stCondLst>
                                  <p:childTnLst>
                                    <p:set>
                                      <p:cBhvr>
                                        <p:cTn id="296" dur="1" fill="hold">
                                          <p:stCondLst>
                                            <p:cond delay="0"/>
                                          </p:stCondLst>
                                        </p:cTn>
                                        <p:tgtEl>
                                          <p:spTgt spid="101"/>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03"/>
                                        </p:tgtEl>
                                        <p:attrNameLst>
                                          <p:attrName>style.visibility</p:attrName>
                                        </p:attrNameLst>
                                      </p:cBhvr>
                                      <p:to>
                                        <p:strVal val="visible"/>
                                      </p:to>
                                    </p:set>
                                  </p:childTnLst>
                                </p:cTn>
                              </p:par>
                              <p:par>
                                <p:cTn id="299" presetID="1" presetClass="entr" presetSubtype="0" fill="hold" nodeType="withEffect">
                                  <p:stCondLst>
                                    <p:cond delay="0"/>
                                  </p:stCondLst>
                                  <p:childTnLst>
                                    <p:set>
                                      <p:cBhvr>
                                        <p:cTn id="300" dur="1" fill="hold">
                                          <p:stCondLst>
                                            <p:cond delay="0"/>
                                          </p:stCondLst>
                                        </p:cTn>
                                        <p:tgtEl>
                                          <p:spTgt spid="107"/>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0"/>
                                          </p:stCondLst>
                                        </p:cTn>
                                        <p:tgtEl>
                                          <p:spTgt spid="110"/>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33" grpId="0" animBg="1"/>
      <p:bldP spid="34" grpId="0" animBg="1"/>
      <p:bldP spid="35" grpId="0" animBg="1"/>
      <p:bldP spid="36" grpId="0" animBg="1"/>
      <p:bldP spid="37" grpId="0" animBg="1"/>
      <p:bldP spid="38" grpId="0" animBg="1"/>
      <p:bldP spid="88" grpId="0" animBg="1"/>
      <p:bldP spid="89" grpId="0" animBg="1"/>
      <p:bldP spid="90" grpId="0" animBg="1"/>
      <p:bldP spid="91" grpId="0" animBg="1"/>
      <p:bldP spid="92" grpId="0" animBg="1"/>
      <p:bldP spid="93" grpId="0" animBg="1"/>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138" grpId="0"/>
      <p:bldP spid="139" grpId="0"/>
      <p:bldP spid="140" grpId="0"/>
      <p:bldP spid="1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Breadth First Search (BFS)</a:t>
            </a:r>
          </a:p>
        </p:txBody>
      </p:sp>
      <p:sp>
        <p:nvSpPr>
          <p:cNvPr id="3" name="Content Placeholder 2"/>
          <p:cNvSpPr>
            <a:spLocks noGrp="1"/>
          </p:cNvSpPr>
          <p:nvPr>
            <p:ph idx="1"/>
          </p:nvPr>
        </p:nvSpPr>
        <p:spPr/>
        <p:txBody>
          <a:bodyPr/>
          <a:lstStyle/>
          <a:p>
            <a:pPr lvl="0"/>
            <a:r>
              <a:rPr lang="en-US" dirty="0"/>
              <a:t>This methods </a:t>
            </a:r>
            <a:r>
              <a:rPr lang="en-US" b="1" dirty="0">
                <a:solidFill>
                  <a:srgbClr val="C00000"/>
                </a:solidFill>
              </a:rPr>
              <a:t>starts</a:t>
            </a:r>
            <a:r>
              <a:rPr lang="en-US" dirty="0">
                <a:solidFill>
                  <a:srgbClr val="C00000"/>
                </a:solidFill>
              </a:rPr>
              <a:t> </a:t>
            </a:r>
            <a:r>
              <a:rPr lang="en-US" dirty="0"/>
              <a:t>from vertex </a:t>
            </a:r>
            <a:r>
              <a:rPr lang="en-US" b="1" dirty="0">
                <a:solidFill>
                  <a:srgbClr val="C00000"/>
                </a:solidFill>
              </a:rPr>
              <a:t>V</a:t>
            </a:r>
            <a:r>
              <a:rPr lang="en-US" b="1" baseline="-25000" dirty="0">
                <a:solidFill>
                  <a:srgbClr val="C00000"/>
                </a:solidFill>
              </a:rPr>
              <a:t>0</a:t>
            </a:r>
            <a:r>
              <a:rPr lang="en-US" dirty="0"/>
              <a:t> </a:t>
            </a:r>
          </a:p>
          <a:p>
            <a:pPr lvl="0"/>
            <a:r>
              <a:rPr lang="en-US" b="1" dirty="0">
                <a:solidFill>
                  <a:srgbClr val="C00000"/>
                </a:solidFill>
              </a:rPr>
              <a:t>V</a:t>
            </a:r>
            <a:r>
              <a:rPr lang="en-US" b="1" baseline="-25000" dirty="0">
                <a:solidFill>
                  <a:srgbClr val="C00000"/>
                </a:solidFill>
              </a:rPr>
              <a:t>0</a:t>
            </a:r>
            <a:r>
              <a:rPr lang="en-US" dirty="0"/>
              <a:t> is marked as </a:t>
            </a:r>
            <a:r>
              <a:rPr lang="en-US" b="1" dirty="0">
                <a:solidFill>
                  <a:srgbClr val="C00000"/>
                </a:solidFill>
              </a:rPr>
              <a:t>visited</a:t>
            </a:r>
            <a:r>
              <a:rPr lang="en-US" dirty="0"/>
              <a:t>. All </a:t>
            </a:r>
            <a:r>
              <a:rPr lang="en-US" b="1" dirty="0">
                <a:solidFill>
                  <a:srgbClr val="C00000"/>
                </a:solidFill>
              </a:rPr>
              <a:t>vertices</a:t>
            </a:r>
            <a:r>
              <a:rPr lang="en-US" b="1" dirty="0">
                <a:solidFill>
                  <a:srgbClr val="FF0000"/>
                </a:solidFill>
              </a:rPr>
              <a:t> </a:t>
            </a:r>
            <a:r>
              <a:rPr lang="en-US" b="1" dirty="0">
                <a:solidFill>
                  <a:srgbClr val="C00000"/>
                </a:solidFill>
              </a:rPr>
              <a:t>adjacent</a:t>
            </a:r>
            <a:r>
              <a:rPr lang="en-US" b="1" dirty="0">
                <a:solidFill>
                  <a:srgbClr val="FF0000"/>
                </a:solidFill>
              </a:rPr>
              <a:t> </a:t>
            </a:r>
            <a:r>
              <a:rPr lang="en-US" b="1" dirty="0">
                <a:solidFill>
                  <a:srgbClr val="C00000"/>
                </a:solidFill>
              </a:rPr>
              <a:t>to</a:t>
            </a:r>
            <a:r>
              <a:rPr lang="en-US" b="1" dirty="0">
                <a:solidFill>
                  <a:srgbClr val="FF0000"/>
                </a:solidFill>
              </a:rPr>
              <a:t> </a:t>
            </a:r>
            <a:r>
              <a:rPr lang="en-US" b="1" dirty="0">
                <a:solidFill>
                  <a:srgbClr val="C00000"/>
                </a:solidFill>
              </a:rPr>
              <a:t>V</a:t>
            </a:r>
            <a:r>
              <a:rPr lang="en-US" b="1" baseline="-25000" dirty="0">
                <a:solidFill>
                  <a:srgbClr val="C00000"/>
                </a:solidFill>
              </a:rPr>
              <a:t>0</a:t>
            </a:r>
            <a:r>
              <a:rPr lang="en-US" dirty="0">
                <a:solidFill>
                  <a:srgbClr val="C00000"/>
                </a:solidFill>
              </a:rPr>
              <a:t> </a:t>
            </a:r>
            <a:r>
              <a:rPr lang="en-US" dirty="0"/>
              <a:t>are </a:t>
            </a:r>
            <a:r>
              <a:rPr lang="en-US" b="1" dirty="0">
                <a:solidFill>
                  <a:srgbClr val="C00000"/>
                </a:solidFill>
              </a:rPr>
              <a:t>visited</a:t>
            </a:r>
            <a:r>
              <a:rPr lang="en-US" b="1" dirty="0">
                <a:solidFill>
                  <a:srgbClr val="FF0000"/>
                </a:solidFill>
              </a:rPr>
              <a:t> </a:t>
            </a:r>
            <a:r>
              <a:rPr lang="en-US" b="1" dirty="0">
                <a:solidFill>
                  <a:srgbClr val="C00000"/>
                </a:solidFill>
              </a:rPr>
              <a:t>next</a:t>
            </a:r>
          </a:p>
          <a:p>
            <a:pPr lvl="0"/>
            <a:r>
              <a:rPr lang="en-US" dirty="0"/>
              <a:t>Let vertices adjacent to V</a:t>
            </a:r>
            <a:r>
              <a:rPr lang="en-US" baseline="-25000" dirty="0"/>
              <a:t>0</a:t>
            </a:r>
            <a:r>
              <a:rPr lang="en-US" dirty="0"/>
              <a:t> are V</a:t>
            </a:r>
            <a:r>
              <a:rPr lang="en-US" baseline="-25000" dirty="0"/>
              <a:t>1</a:t>
            </a:r>
            <a:r>
              <a:rPr lang="en-US" dirty="0"/>
              <a:t>, V</a:t>
            </a:r>
            <a:r>
              <a:rPr lang="en-US" baseline="-25000" dirty="0"/>
              <a:t>2</a:t>
            </a:r>
            <a:r>
              <a:rPr lang="en-US" dirty="0"/>
              <a:t>, V</a:t>
            </a:r>
            <a:r>
              <a:rPr lang="en-US" baseline="-25000" dirty="0"/>
              <a:t>2</a:t>
            </a:r>
            <a:r>
              <a:rPr lang="en-US" dirty="0"/>
              <a:t>, V</a:t>
            </a:r>
            <a:r>
              <a:rPr lang="en-US" baseline="-25000" dirty="0"/>
              <a:t>4</a:t>
            </a:r>
            <a:endParaRPr lang="en-US" dirty="0"/>
          </a:p>
          <a:p>
            <a:r>
              <a:rPr lang="en-US" dirty="0"/>
              <a:t>V</a:t>
            </a:r>
            <a:r>
              <a:rPr lang="en-US" baseline="-25000" dirty="0"/>
              <a:t>1</a:t>
            </a:r>
            <a:r>
              <a:rPr lang="en-US" dirty="0"/>
              <a:t>, V</a:t>
            </a:r>
            <a:r>
              <a:rPr lang="en-US" baseline="-25000" dirty="0"/>
              <a:t>2</a:t>
            </a:r>
            <a:r>
              <a:rPr lang="en-US" dirty="0"/>
              <a:t>, V</a:t>
            </a:r>
            <a:r>
              <a:rPr lang="en-US" baseline="-25000" dirty="0"/>
              <a:t>3</a:t>
            </a:r>
            <a:r>
              <a:rPr lang="en-US" dirty="0"/>
              <a:t> and V</a:t>
            </a:r>
            <a:r>
              <a:rPr lang="en-US" baseline="-25000" dirty="0"/>
              <a:t>4</a:t>
            </a:r>
            <a:r>
              <a:rPr lang="en-US" dirty="0"/>
              <a:t> are marked visited</a:t>
            </a:r>
          </a:p>
          <a:p>
            <a:r>
              <a:rPr lang="en-US" dirty="0"/>
              <a:t>All unvisited vertices adjacent to V</a:t>
            </a:r>
            <a:r>
              <a:rPr lang="en-US" baseline="-25000" dirty="0"/>
              <a:t>1</a:t>
            </a:r>
            <a:r>
              <a:rPr lang="en-US" dirty="0"/>
              <a:t>, V</a:t>
            </a:r>
            <a:r>
              <a:rPr lang="en-US" baseline="-25000" dirty="0"/>
              <a:t>2</a:t>
            </a:r>
            <a:r>
              <a:rPr lang="en-US" dirty="0"/>
              <a:t>, V</a:t>
            </a:r>
            <a:r>
              <a:rPr lang="en-US" baseline="-25000" dirty="0"/>
              <a:t>3</a:t>
            </a:r>
            <a:r>
              <a:rPr lang="en-US" dirty="0"/>
              <a:t>, V</a:t>
            </a:r>
            <a:r>
              <a:rPr lang="en-US" baseline="-25000" dirty="0"/>
              <a:t>4</a:t>
            </a:r>
            <a:r>
              <a:rPr lang="en-US" dirty="0"/>
              <a:t> are visited next</a:t>
            </a:r>
          </a:p>
          <a:p>
            <a:r>
              <a:rPr lang="en-US" dirty="0"/>
              <a:t>The method </a:t>
            </a:r>
            <a:r>
              <a:rPr lang="en-US" b="1" dirty="0">
                <a:solidFill>
                  <a:srgbClr val="C00000"/>
                </a:solidFill>
              </a:rPr>
              <a:t>continuous</a:t>
            </a:r>
            <a:r>
              <a:rPr lang="en-US" b="1" dirty="0">
                <a:solidFill>
                  <a:srgbClr val="FF0000"/>
                </a:solidFill>
              </a:rPr>
              <a:t> </a:t>
            </a:r>
            <a:r>
              <a:rPr lang="en-US" b="1" dirty="0">
                <a:solidFill>
                  <a:srgbClr val="C00000"/>
                </a:solidFill>
              </a:rPr>
              <a:t>until</a:t>
            </a:r>
            <a:r>
              <a:rPr lang="en-US" b="1" dirty="0">
                <a:solidFill>
                  <a:srgbClr val="FF0000"/>
                </a:solidFill>
              </a:rPr>
              <a:t> </a:t>
            </a:r>
            <a:r>
              <a:rPr lang="en-US" b="1" dirty="0">
                <a:solidFill>
                  <a:srgbClr val="C00000"/>
                </a:solidFill>
              </a:rPr>
              <a:t>all</a:t>
            </a:r>
            <a:r>
              <a:rPr lang="en-US" b="1" dirty="0">
                <a:solidFill>
                  <a:srgbClr val="FF0000"/>
                </a:solidFill>
              </a:rPr>
              <a:t> </a:t>
            </a:r>
            <a:r>
              <a:rPr lang="en-US" b="1" dirty="0">
                <a:solidFill>
                  <a:srgbClr val="C00000"/>
                </a:solidFill>
              </a:rPr>
              <a:t>vertices</a:t>
            </a:r>
            <a:r>
              <a:rPr lang="en-US" dirty="0">
                <a:solidFill>
                  <a:srgbClr val="C00000"/>
                </a:solidFill>
              </a:rPr>
              <a:t> </a:t>
            </a:r>
            <a:r>
              <a:rPr lang="en-US" dirty="0"/>
              <a:t>are </a:t>
            </a:r>
            <a:r>
              <a:rPr lang="en-US" b="1" dirty="0">
                <a:solidFill>
                  <a:srgbClr val="C00000"/>
                </a:solidFill>
              </a:rPr>
              <a:t>visited</a:t>
            </a:r>
          </a:p>
          <a:p>
            <a:r>
              <a:rPr lang="en-US" dirty="0"/>
              <a:t>The algorithm for BFS has to maintain a list of vertices which have been visited but not explored for adjacent vertices</a:t>
            </a:r>
          </a:p>
          <a:p>
            <a:r>
              <a:rPr lang="en-US" dirty="0"/>
              <a:t>The vertices which have been visited but not explored for adjacent vertices can be stored in </a:t>
            </a:r>
            <a:r>
              <a:rPr lang="en-US" b="1" dirty="0">
                <a:solidFill>
                  <a:srgbClr val="C00000"/>
                </a:solidFill>
              </a:rPr>
              <a:t>queue</a:t>
            </a:r>
          </a:p>
          <a:p>
            <a:endParaRPr lang="en-US" dirty="0"/>
          </a:p>
        </p:txBody>
      </p:sp>
    </p:spTree>
    <p:extLst>
      <p:ext uri="{BB962C8B-B14F-4D97-AF65-F5344CB8AC3E}">
        <p14:creationId xmlns:p14="http://schemas.microsoft.com/office/powerpoint/2010/main" val="381440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dirty="0"/>
              <a:t>Breadth First Search (BFS)</a:t>
            </a:r>
          </a:p>
        </p:txBody>
      </p:sp>
      <p:sp>
        <p:nvSpPr>
          <p:cNvPr id="4" name="Oval 3"/>
          <p:cNvSpPr/>
          <p:nvPr/>
        </p:nvSpPr>
        <p:spPr>
          <a:xfrm>
            <a:off x="2781300" y="1066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5" name="Oval 4"/>
          <p:cNvSpPr/>
          <p:nvPr/>
        </p:nvSpPr>
        <p:spPr>
          <a:xfrm>
            <a:off x="2362200" y="20574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6" name="Oval 5"/>
          <p:cNvSpPr/>
          <p:nvPr/>
        </p:nvSpPr>
        <p:spPr>
          <a:xfrm>
            <a:off x="3200400" y="20574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7" name="Oval 6"/>
          <p:cNvSpPr/>
          <p:nvPr/>
        </p:nvSpPr>
        <p:spPr>
          <a:xfrm>
            <a:off x="3733800" y="1524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a:t>
            </a:r>
          </a:p>
        </p:txBody>
      </p:sp>
      <p:sp>
        <p:nvSpPr>
          <p:cNvPr id="8" name="Oval 7"/>
          <p:cNvSpPr/>
          <p:nvPr/>
        </p:nvSpPr>
        <p:spPr>
          <a:xfrm>
            <a:off x="2133600" y="28194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6</a:t>
            </a:r>
          </a:p>
        </p:txBody>
      </p:sp>
      <p:sp>
        <p:nvSpPr>
          <p:cNvPr id="9" name="Oval 8"/>
          <p:cNvSpPr/>
          <p:nvPr/>
        </p:nvSpPr>
        <p:spPr>
          <a:xfrm>
            <a:off x="3429000" y="2743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7</a:t>
            </a:r>
          </a:p>
        </p:txBody>
      </p:sp>
      <p:sp>
        <p:nvSpPr>
          <p:cNvPr id="10" name="Oval 9"/>
          <p:cNvSpPr/>
          <p:nvPr/>
        </p:nvSpPr>
        <p:spPr>
          <a:xfrm>
            <a:off x="2781300" y="3352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8</a:t>
            </a:r>
          </a:p>
        </p:txBody>
      </p:sp>
      <p:cxnSp>
        <p:nvCxnSpPr>
          <p:cNvPr id="11" name="Straight Connector 10"/>
          <p:cNvCxnSpPr>
            <a:stCxn id="4" idx="2"/>
            <a:endCxn id="21" idx="7"/>
          </p:cNvCxnSpPr>
          <p:nvPr/>
        </p:nvCxnSpPr>
        <p:spPr>
          <a:xfrm flipH="1">
            <a:off x="2077804" y="1257300"/>
            <a:ext cx="703496" cy="3224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4" idx="6"/>
            <a:endCxn id="7" idx="1"/>
          </p:cNvCxnSpPr>
          <p:nvPr/>
        </p:nvCxnSpPr>
        <p:spPr>
          <a:xfrm>
            <a:off x="3162300" y="1257300"/>
            <a:ext cx="627296" cy="3224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21" idx="4"/>
            <a:endCxn id="8" idx="1"/>
          </p:cNvCxnSpPr>
          <p:nvPr/>
        </p:nvCxnSpPr>
        <p:spPr>
          <a:xfrm>
            <a:off x="1943100" y="1905000"/>
            <a:ext cx="246296" cy="9701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7" idx="4"/>
            <a:endCxn id="9" idx="7"/>
          </p:cNvCxnSpPr>
          <p:nvPr/>
        </p:nvCxnSpPr>
        <p:spPr>
          <a:xfrm flipH="1">
            <a:off x="3754204" y="1905000"/>
            <a:ext cx="170096" cy="8939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8" idx="4"/>
            <a:endCxn id="10" idx="2"/>
          </p:cNvCxnSpPr>
          <p:nvPr/>
        </p:nvCxnSpPr>
        <p:spPr>
          <a:xfrm>
            <a:off x="2324100" y="3200400"/>
            <a:ext cx="457200" cy="342900"/>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9" idx="4"/>
            <a:endCxn id="10" idx="6"/>
          </p:cNvCxnSpPr>
          <p:nvPr/>
        </p:nvCxnSpPr>
        <p:spPr>
          <a:xfrm flipH="1">
            <a:off x="3162300" y="3124200"/>
            <a:ext cx="457200" cy="419100"/>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4" idx="3"/>
            <a:endCxn id="5" idx="7"/>
          </p:cNvCxnSpPr>
          <p:nvPr/>
        </p:nvCxnSpPr>
        <p:spPr>
          <a:xfrm flipH="1">
            <a:off x="2687404" y="1392004"/>
            <a:ext cx="149692" cy="7211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4" idx="5"/>
            <a:endCxn id="6" idx="1"/>
          </p:cNvCxnSpPr>
          <p:nvPr/>
        </p:nvCxnSpPr>
        <p:spPr>
          <a:xfrm>
            <a:off x="3106504" y="1392004"/>
            <a:ext cx="149692" cy="7211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5" idx="4"/>
            <a:endCxn id="8" idx="7"/>
          </p:cNvCxnSpPr>
          <p:nvPr/>
        </p:nvCxnSpPr>
        <p:spPr>
          <a:xfrm flipH="1">
            <a:off x="2458804" y="2438400"/>
            <a:ext cx="93896" cy="4367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6" idx="4"/>
            <a:endCxn id="9" idx="1"/>
          </p:cNvCxnSpPr>
          <p:nvPr/>
        </p:nvCxnSpPr>
        <p:spPr>
          <a:xfrm>
            <a:off x="3390900" y="2438400"/>
            <a:ext cx="93896" cy="3605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1" name="Oval 20"/>
          <p:cNvSpPr/>
          <p:nvPr/>
        </p:nvSpPr>
        <p:spPr>
          <a:xfrm>
            <a:off x="1752600" y="1524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sp>
        <p:nvSpPr>
          <p:cNvPr id="31" name="Oval 30"/>
          <p:cNvSpPr/>
          <p:nvPr/>
        </p:nvSpPr>
        <p:spPr>
          <a:xfrm>
            <a:off x="8915400" y="990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32" name="Oval 31"/>
          <p:cNvSpPr/>
          <p:nvPr/>
        </p:nvSpPr>
        <p:spPr>
          <a:xfrm>
            <a:off x="8305800" y="1524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33" name="Oval 32"/>
          <p:cNvSpPr/>
          <p:nvPr/>
        </p:nvSpPr>
        <p:spPr>
          <a:xfrm>
            <a:off x="9601200" y="1524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34" name="Oval 33"/>
          <p:cNvSpPr/>
          <p:nvPr/>
        </p:nvSpPr>
        <p:spPr>
          <a:xfrm>
            <a:off x="7848600" y="213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35" name="Oval 34"/>
          <p:cNvSpPr/>
          <p:nvPr/>
        </p:nvSpPr>
        <p:spPr>
          <a:xfrm>
            <a:off x="8686800" y="213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36" name="Oval 35"/>
          <p:cNvSpPr/>
          <p:nvPr/>
        </p:nvSpPr>
        <p:spPr>
          <a:xfrm>
            <a:off x="9296400" y="213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37" name="Oval 36"/>
          <p:cNvSpPr/>
          <p:nvPr/>
        </p:nvSpPr>
        <p:spPr>
          <a:xfrm>
            <a:off x="10058400" y="213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38" name="Oval 37"/>
          <p:cNvSpPr/>
          <p:nvPr/>
        </p:nvSpPr>
        <p:spPr>
          <a:xfrm>
            <a:off x="8915400" y="3276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39" name="Straight Connector 38"/>
          <p:cNvCxnSpPr>
            <a:stCxn id="31" idx="3"/>
            <a:endCxn id="32" idx="7"/>
          </p:cNvCxnSpPr>
          <p:nvPr/>
        </p:nvCxnSpPr>
        <p:spPr>
          <a:xfrm flipH="1">
            <a:off x="8631004" y="1315804"/>
            <a:ext cx="3401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0" name="Straight Connector 39"/>
          <p:cNvCxnSpPr>
            <a:stCxn id="31" idx="5"/>
            <a:endCxn id="33" idx="1"/>
          </p:cNvCxnSpPr>
          <p:nvPr/>
        </p:nvCxnSpPr>
        <p:spPr>
          <a:xfrm>
            <a:off x="9240604" y="1315804"/>
            <a:ext cx="4163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a:stCxn id="32" idx="3"/>
            <a:endCxn id="34" idx="0"/>
          </p:cNvCxnSpPr>
          <p:nvPr/>
        </p:nvCxnSpPr>
        <p:spPr>
          <a:xfrm flipH="1">
            <a:off x="8039100" y="18492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a:stCxn id="32" idx="5"/>
            <a:endCxn id="35" idx="0"/>
          </p:cNvCxnSpPr>
          <p:nvPr/>
        </p:nvCxnSpPr>
        <p:spPr>
          <a:xfrm>
            <a:off x="8631004" y="1849204"/>
            <a:ext cx="2462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3" name="Straight Connector 42"/>
          <p:cNvCxnSpPr>
            <a:stCxn id="33" idx="3"/>
            <a:endCxn id="36" idx="0"/>
          </p:cNvCxnSpPr>
          <p:nvPr/>
        </p:nvCxnSpPr>
        <p:spPr>
          <a:xfrm flipH="1">
            <a:off x="9486900" y="1849204"/>
            <a:ext cx="1700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4" name="Straight Connector 43"/>
          <p:cNvCxnSpPr>
            <a:stCxn id="33" idx="5"/>
            <a:endCxn id="37" idx="0"/>
          </p:cNvCxnSpPr>
          <p:nvPr/>
        </p:nvCxnSpPr>
        <p:spPr>
          <a:xfrm>
            <a:off x="9926404" y="18492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5" name="Straight Connector 44"/>
          <p:cNvCxnSpPr>
            <a:stCxn id="34" idx="4"/>
          </p:cNvCxnSpPr>
          <p:nvPr/>
        </p:nvCxnSpPr>
        <p:spPr>
          <a:xfrm>
            <a:off x="8039100" y="2514600"/>
            <a:ext cx="8763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35" idx="4"/>
          </p:cNvCxnSpPr>
          <p:nvPr/>
        </p:nvCxnSpPr>
        <p:spPr>
          <a:xfrm>
            <a:off x="8877300" y="2514600"/>
            <a:ext cx="938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36" idx="4"/>
          </p:cNvCxnSpPr>
          <p:nvPr/>
        </p:nvCxnSpPr>
        <p:spPr>
          <a:xfrm flipH="1">
            <a:off x="9240604" y="2514600"/>
            <a:ext cx="2462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48" name="Straight Connector 47"/>
          <p:cNvCxnSpPr>
            <a:stCxn id="37" idx="4"/>
          </p:cNvCxnSpPr>
          <p:nvPr/>
        </p:nvCxnSpPr>
        <p:spPr>
          <a:xfrm flipH="1">
            <a:off x="9296400" y="2514600"/>
            <a:ext cx="9525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52" name="Oval 51"/>
          <p:cNvSpPr/>
          <p:nvPr/>
        </p:nvSpPr>
        <p:spPr>
          <a:xfrm>
            <a:off x="2247900" y="51233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3" name="Oval 52"/>
          <p:cNvSpPr/>
          <p:nvPr/>
        </p:nvSpPr>
        <p:spPr>
          <a:xfrm>
            <a:off x="2919385" y="4437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4" name="Oval 53"/>
          <p:cNvSpPr/>
          <p:nvPr/>
        </p:nvSpPr>
        <p:spPr>
          <a:xfrm>
            <a:off x="2805619" y="58091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5" name="Oval 54"/>
          <p:cNvSpPr/>
          <p:nvPr/>
        </p:nvSpPr>
        <p:spPr>
          <a:xfrm>
            <a:off x="4249504" y="43613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6" name="Oval 55"/>
          <p:cNvSpPr/>
          <p:nvPr/>
        </p:nvSpPr>
        <p:spPr>
          <a:xfrm>
            <a:off x="4249504" y="58853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7" name="Oval 56"/>
          <p:cNvSpPr/>
          <p:nvPr/>
        </p:nvSpPr>
        <p:spPr>
          <a:xfrm>
            <a:off x="5829300" y="51233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59" name="Straight Arrow Connector 58"/>
          <p:cNvCxnSpPr>
            <a:stCxn id="52" idx="7"/>
            <a:endCxn id="53" idx="3"/>
          </p:cNvCxnSpPr>
          <p:nvPr/>
        </p:nvCxnSpPr>
        <p:spPr>
          <a:xfrm flipV="1">
            <a:off x="2573105" y="4762746"/>
            <a:ext cx="402077" cy="4163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61" name="Straight Arrow Connector 60"/>
          <p:cNvCxnSpPr>
            <a:stCxn id="53" idx="7"/>
            <a:endCxn id="55" idx="1"/>
          </p:cNvCxnSpPr>
          <p:nvPr/>
        </p:nvCxnSpPr>
        <p:spPr>
          <a:xfrm flipV="1">
            <a:off x="3244590" y="4417138"/>
            <a:ext cx="1060711" cy="762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62" name="Oval 61"/>
          <p:cNvSpPr/>
          <p:nvPr/>
        </p:nvSpPr>
        <p:spPr>
          <a:xfrm>
            <a:off x="3393944" y="5127257"/>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64" name="Straight Arrow Connector 63"/>
          <p:cNvCxnSpPr>
            <a:stCxn id="54" idx="1"/>
            <a:endCxn id="52" idx="5"/>
          </p:cNvCxnSpPr>
          <p:nvPr/>
        </p:nvCxnSpPr>
        <p:spPr>
          <a:xfrm flipH="1" flipV="1">
            <a:off x="2573105" y="5448546"/>
            <a:ext cx="288311" cy="416392"/>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68" name="Straight Arrow Connector 67"/>
          <p:cNvCxnSpPr>
            <a:stCxn id="52" idx="6"/>
            <a:endCxn id="62" idx="2"/>
          </p:cNvCxnSpPr>
          <p:nvPr/>
        </p:nvCxnSpPr>
        <p:spPr>
          <a:xfrm>
            <a:off x="2628900" y="5313843"/>
            <a:ext cx="765044" cy="3915"/>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a:stCxn id="53" idx="5"/>
            <a:endCxn id="62" idx="1"/>
          </p:cNvCxnSpPr>
          <p:nvPr/>
        </p:nvCxnSpPr>
        <p:spPr>
          <a:xfrm>
            <a:off x="3244590" y="4762747"/>
            <a:ext cx="205151" cy="420307"/>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a:stCxn id="62" idx="3"/>
            <a:endCxn id="54" idx="7"/>
          </p:cNvCxnSpPr>
          <p:nvPr/>
        </p:nvCxnSpPr>
        <p:spPr>
          <a:xfrm flipH="1">
            <a:off x="3130824" y="5452462"/>
            <a:ext cx="318917" cy="412477"/>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77" name="Straight Arrow Connector 76"/>
          <p:cNvCxnSpPr>
            <a:stCxn id="55" idx="7"/>
            <a:endCxn id="57" idx="0"/>
          </p:cNvCxnSpPr>
          <p:nvPr/>
        </p:nvCxnSpPr>
        <p:spPr>
          <a:xfrm>
            <a:off x="4574708" y="4417138"/>
            <a:ext cx="1445092" cy="706204"/>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79" name="Straight Arrow Connector 78"/>
          <p:cNvCxnSpPr>
            <a:stCxn id="54" idx="5"/>
            <a:endCxn id="56" idx="3"/>
          </p:cNvCxnSpPr>
          <p:nvPr/>
        </p:nvCxnSpPr>
        <p:spPr>
          <a:xfrm>
            <a:off x="3130824" y="6134346"/>
            <a:ext cx="1174477" cy="7620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89" name="Straight Arrow Connector 88"/>
          <p:cNvCxnSpPr>
            <a:stCxn id="53" idx="6"/>
            <a:endCxn id="57" idx="1"/>
          </p:cNvCxnSpPr>
          <p:nvPr/>
        </p:nvCxnSpPr>
        <p:spPr>
          <a:xfrm>
            <a:off x="3300386" y="4628042"/>
            <a:ext cx="2584711" cy="55109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1" name="Straight Arrow Connector 90"/>
          <p:cNvCxnSpPr>
            <a:stCxn id="62" idx="6"/>
            <a:endCxn id="57" idx="2"/>
          </p:cNvCxnSpPr>
          <p:nvPr/>
        </p:nvCxnSpPr>
        <p:spPr>
          <a:xfrm flipV="1">
            <a:off x="3774944" y="5313843"/>
            <a:ext cx="2054356" cy="3915"/>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3" name="Straight Arrow Connector 92"/>
          <p:cNvCxnSpPr>
            <a:stCxn id="57" idx="3"/>
            <a:endCxn id="54" idx="6"/>
          </p:cNvCxnSpPr>
          <p:nvPr/>
        </p:nvCxnSpPr>
        <p:spPr>
          <a:xfrm flipH="1">
            <a:off x="3186620" y="5448546"/>
            <a:ext cx="2698477" cy="55109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5" name="Straight Arrow Connector 94"/>
          <p:cNvCxnSpPr>
            <a:stCxn id="57" idx="4"/>
            <a:endCxn id="56" idx="5"/>
          </p:cNvCxnSpPr>
          <p:nvPr/>
        </p:nvCxnSpPr>
        <p:spPr>
          <a:xfrm flipH="1">
            <a:off x="4574708" y="5504342"/>
            <a:ext cx="1445092" cy="706204"/>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96" name="TextBox 95"/>
          <p:cNvSpPr txBox="1"/>
          <p:nvPr/>
        </p:nvSpPr>
        <p:spPr>
          <a:xfrm>
            <a:off x="1905000" y="5120770"/>
            <a:ext cx="399468" cy="369332"/>
          </a:xfrm>
          <a:prstGeom prst="rect">
            <a:avLst/>
          </a:prstGeom>
          <a:noFill/>
        </p:spPr>
        <p:txBody>
          <a:bodyPr wrap="none" rtlCol="0" anchor="ctr">
            <a:spAutoFit/>
          </a:bodyPr>
          <a:lstStyle/>
          <a:p>
            <a:pPr algn="ctr"/>
            <a:r>
              <a:rPr lang="en-US" b="1" dirty="0"/>
              <a:t>V</a:t>
            </a:r>
            <a:r>
              <a:rPr lang="en-US" b="1" baseline="-25000" dirty="0"/>
              <a:t>0</a:t>
            </a:r>
          </a:p>
        </p:txBody>
      </p:sp>
      <p:sp>
        <p:nvSpPr>
          <p:cNvPr id="97" name="TextBox 96"/>
          <p:cNvSpPr txBox="1"/>
          <p:nvPr/>
        </p:nvSpPr>
        <p:spPr>
          <a:xfrm>
            <a:off x="2553806" y="4343400"/>
            <a:ext cx="399468" cy="369332"/>
          </a:xfrm>
          <a:prstGeom prst="rect">
            <a:avLst/>
          </a:prstGeom>
          <a:noFill/>
        </p:spPr>
        <p:txBody>
          <a:bodyPr wrap="none" rtlCol="0" anchor="ctr">
            <a:spAutoFit/>
          </a:bodyPr>
          <a:lstStyle/>
          <a:p>
            <a:pPr algn="ctr"/>
            <a:r>
              <a:rPr lang="en-US" b="1" dirty="0"/>
              <a:t>V</a:t>
            </a:r>
            <a:r>
              <a:rPr lang="en-US" b="1" baseline="-25000" dirty="0"/>
              <a:t>1</a:t>
            </a:r>
          </a:p>
        </p:txBody>
      </p:sp>
      <p:sp>
        <p:nvSpPr>
          <p:cNvPr id="98" name="TextBox 97"/>
          <p:cNvSpPr txBox="1"/>
          <p:nvPr/>
        </p:nvSpPr>
        <p:spPr>
          <a:xfrm>
            <a:off x="2437904" y="5841214"/>
            <a:ext cx="399468" cy="369332"/>
          </a:xfrm>
          <a:prstGeom prst="rect">
            <a:avLst/>
          </a:prstGeom>
          <a:noFill/>
        </p:spPr>
        <p:txBody>
          <a:bodyPr wrap="none" rtlCol="0" anchor="ctr">
            <a:spAutoFit/>
          </a:bodyPr>
          <a:lstStyle/>
          <a:p>
            <a:pPr algn="ctr"/>
            <a:r>
              <a:rPr lang="en-US" b="1" dirty="0"/>
              <a:t>V</a:t>
            </a:r>
            <a:r>
              <a:rPr lang="en-US" b="1" baseline="-25000" dirty="0"/>
              <a:t>3</a:t>
            </a:r>
          </a:p>
        </p:txBody>
      </p:sp>
      <p:sp>
        <p:nvSpPr>
          <p:cNvPr id="99" name="TextBox 98"/>
          <p:cNvSpPr txBox="1"/>
          <p:nvPr/>
        </p:nvSpPr>
        <p:spPr>
          <a:xfrm>
            <a:off x="3601032" y="4894742"/>
            <a:ext cx="399468" cy="369332"/>
          </a:xfrm>
          <a:prstGeom prst="rect">
            <a:avLst/>
          </a:prstGeom>
          <a:noFill/>
        </p:spPr>
        <p:txBody>
          <a:bodyPr wrap="none" rtlCol="0" anchor="ctr">
            <a:spAutoFit/>
          </a:bodyPr>
          <a:lstStyle/>
          <a:p>
            <a:pPr algn="ctr"/>
            <a:r>
              <a:rPr lang="en-US" b="1" dirty="0"/>
              <a:t>V</a:t>
            </a:r>
            <a:r>
              <a:rPr lang="en-US" b="1" baseline="-25000" dirty="0"/>
              <a:t>2</a:t>
            </a:r>
          </a:p>
        </p:txBody>
      </p:sp>
      <p:sp>
        <p:nvSpPr>
          <p:cNvPr id="100" name="TextBox 99"/>
          <p:cNvSpPr txBox="1"/>
          <p:nvPr/>
        </p:nvSpPr>
        <p:spPr>
          <a:xfrm>
            <a:off x="4419600" y="4038600"/>
            <a:ext cx="399468" cy="369332"/>
          </a:xfrm>
          <a:prstGeom prst="rect">
            <a:avLst/>
          </a:prstGeom>
          <a:noFill/>
        </p:spPr>
        <p:txBody>
          <a:bodyPr wrap="none" rtlCol="0" anchor="ctr">
            <a:spAutoFit/>
          </a:bodyPr>
          <a:lstStyle/>
          <a:p>
            <a:pPr algn="ctr"/>
            <a:r>
              <a:rPr lang="en-US" b="1" dirty="0"/>
              <a:t>V</a:t>
            </a:r>
            <a:r>
              <a:rPr lang="en-US" b="1" baseline="-25000" dirty="0"/>
              <a:t>4</a:t>
            </a:r>
          </a:p>
        </p:txBody>
      </p:sp>
      <p:sp>
        <p:nvSpPr>
          <p:cNvPr id="101" name="TextBox 100"/>
          <p:cNvSpPr txBox="1"/>
          <p:nvPr/>
        </p:nvSpPr>
        <p:spPr>
          <a:xfrm>
            <a:off x="4800214" y="6046305"/>
            <a:ext cx="399468" cy="369332"/>
          </a:xfrm>
          <a:prstGeom prst="rect">
            <a:avLst/>
          </a:prstGeom>
          <a:noFill/>
        </p:spPr>
        <p:txBody>
          <a:bodyPr wrap="none" rtlCol="0" anchor="ctr">
            <a:spAutoFit/>
          </a:bodyPr>
          <a:lstStyle/>
          <a:p>
            <a:pPr algn="ctr"/>
            <a:r>
              <a:rPr lang="en-US" b="1" dirty="0"/>
              <a:t>V</a:t>
            </a:r>
            <a:r>
              <a:rPr lang="en-US" b="1" baseline="-25000" dirty="0"/>
              <a:t>5</a:t>
            </a:r>
          </a:p>
        </p:txBody>
      </p:sp>
      <p:sp>
        <p:nvSpPr>
          <p:cNvPr id="102" name="TextBox 101"/>
          <p:cNvSpPr txBox="1"/>
          <p:nvPr/>
        </p:nvSpPr>
        <p:spPr>
          <a:xfrm>
            <a:off x="6148217" y="5082651"/>
            <a:ext cx="399468" cy="369332"/>
          </a:xfrm>
          <a:prstGeom prst="rect">
            <a:avLst/>
          </a:prstGeom>
          <a:noFill/>
        </p:spPr>
        <p:txBody>
          <a:bodyPr wrap="none" rtlCol="0" anchor="ctr">
            <a:spAutoFit/>
          </a:bodyPr>
          <a:lstStyle/>
          <a:p>
            <a:pPr algn="ctr"/>
            <a:r>
              <a:rPr lang="en-US" b="1" dirty="0"/>
              <a:t>V</a:t>
            </a:r>
            <a:r>
              <a:rPr lang="en-US" b="1" baseline="-25000" dirty="0"/>
              <a:t>6</a:t>
            </a:r>
          </a:p>
        </p:txBody>
      </p:sp>
      <p:cxnSp>
        <p:nvCxnSpPr>
          <p:cNvPr id="104" name="Straight Connector 103"/>
          <p:cNvCxnSpPr/>
          <p:nvPr/>
        </p:nvCxnSpPr>
        <p:spPr>
          <a:xfrm>
            <a:off x="1676400" y="3886200"/>
            <a:ext cx="8839200" cy="0"/>
          </a:xfrm>
          <a:prstGeom prst="line">
            <a:avLst/>
          </a:prstGeom>
        </p:spPr>
        <p:style>
          <a:lnRef idx="2">
            <a:schemeClr val="dk1"/>
          </a:lnRef>
          <a:fillRef idx="0">
            <a:schemeClr val="dk1"/>
          </a:fillRef>
          <a:effectRef idx="1">
            <a:schemeClr val="dk1"/>
          </a:effectRef>
          <a:fontRef idx="minor">
            <a:schemeClr val="tx1"/>
          </a:fontRef>
        </p:style>
      </p:cxnSp>
      <p:cxnSp>
        <p:nvCxnSpPr>
          <p:cNvPr id="108" name="Straight Connector 107"/>
          <p:cNvCxnSpPr/>
          <p:nvPr/>
        </p:nvCxnSpPr>
        <p:spPr>
          <a:xfrm>
            <a:off x="6172200" y="1066800"/>
            <a:ext cx="0" cy="2819400"/>
          </a:xfrm>
          <a:prstGeom prst="line">
            <a:avLst/>
          </a:prstGeom>
        </p:spPr>
        <p:style>
          <a:lnRef idx="2">
            <a:schemeClr val="dk1"/>
          </a:lnRef>
          <a:fillRef idx="0">
            <a:schemeClr val="dk1"/>
          </a:fillRef>
          <a:effectRef idx="1">
            <a:schemeClr val="dk1"/>
          </a:effectRef>
          <a:fontRef idx="minor">
            <a:schemeClr val="tx1"/>
          </a:fontRef>
        </p:style>
      </p:cxnSp>
      <p:sp>
        <p:nvSpPr>
          <p:cNvPr id="112" name="TextBox 111"/>
          <p:cNvSpPr txBox="1"/>
          <p:nvPr/>
        </p:nvSpPr>
        <p:spPr>
          <a:xfrm>
            <a:off x="2473425" y="957115"/>
            <a:ext cx="377026" cy="400110"/>
          </a:xfrm>
          <a:prstGeom prst="rect">
            <a:avLst/>
          </a:prstGeom>
          <a:noFill/>
        </p:spPr>
        <p:txBody>
          <a:bodyPr wrap="none" rtlCol="0">
            <a:spAutoFit/>
          </a:bodyPr>
          <a:lstStyle/>
          <a:p>
            <a:r>
              <a:rPr lang="en-US" sz="2000" b="1" dirty="0"/>
              <a:t>✓</a:t>
            </a:r>
          </a:p>
        </p:txBody>
      </p:sp>
      <p:sp>
        <p:nvSpPr>
          <p:cNvPr id="113" name="TextBox 112"/>
          <p:cNvSpPr txBox="1"/>
          <p:nvPr/>
        </p:nvSpPr>
        <p:spPr>
          <a:xfrm>
            <a:off x="3505201" y="3424536"/>
            <a:ext cx="340157" cy="461665"/>
          </a:xfrm>
          <a:prstGeom prst="rect">
            <a:avLst/>
          </a:prstGeom>
          <a:noFill/>
        </p:spPr>
        <p:txBody>
          <a:bodyPr wrap="none" rtlCol="0">
            <a:spAutoFit/>
          </a:bodyPr>
          <a:lstStyle/>
          <a:p>
            <a:pPr algn="ctr"/>
            <a:r>
              <a:rPr lang="en-US" sz="2400" b="1" dirty="0">
                <a:solidFill>
                  <a:srgbClr val="C00000"/>
                </a:solidFill>
              </a:rPr>
              <a:t>1</a:t>
            </a:r>
          </a:p>
        </p:txBody>
      </p:sp>
      <p:sp>
        <p:nvSpPr>
          <p:cNvPr id="114" name="TextBox 113"/>
          <p:cNvSpPr txBox="1"/>
          <p:nvPr/>
        </p:nvSpPr>
        <p:spPr>
          <a:xfrm>
            <a:off x="3883501" y="3424536"/>
            <a:ext cx="340157" cy="461665"/>
          </a:xfrm>
          <a:prstGeom prst="rect">
            <a:avLst/>
          </a:prstGeom>
          <a:noFill/>
        </p:spPr>
        <p:txBody>
          <a:bodyPr wrap="none" rtlCol="0">
            <a:spAutoFit/>
          </a:bodyPr>
          <a:lstStyle/>
          <a:p>
            <a:pPr algn="ctr"/>
            <a:r>
              <a:rPr lang="en-US" sz="2400" b="1" dirty="0">
                <a:solidFill>
                  <a:srgbClr val="C00000"/>
                </a:solidFill>
              </a:rPr>
              <a:t>2</a:t>
            </a:r>
          </a:p>
        </p:txBody>
      </p:sp>
      <p:sp>
        <p:nvSpPr>
          <p:cNvPr id="115" name="TextBox 114"/>
          <p:cNvSpPr txBox="1"/>
          <p:nvPr/>
        </p:nvSpPr>
        <p:spPr>
          <a:xfrm>
            <a:off x="4144758" y="3424536"/>
            <a:ext cx="340157" cy="461665"/>
          </a:xfrm>
          <a:prstGeom prst="rect">
            <a:avLst/>
          </a:prstGeom>
          <a:noFill/>
        </p:spPr>
        <p:txBody>
          <a:bodyPr wrap="none" rtlCol="0">
            <a:spAutoFit/>
          </a:bodyPr>
          <a:lstStyle/>
          <a:p>
            <a:pPr algn="ctr"/>
            <a:r>
              <a:rPr lang="en-US" sz="2400" b="1" dirty="0">
                <a:solidFill>
                  <a:srgbClr val="C00000"/>
                </a:solidFill>
              </a:rPr>
              <a:t>3</a:t>
            </a:r>
          </a:p>
        </p:txBody>
      </p:sp>
      <p:sp>
        <p:nvSpPr>
          <p:cNvPr id="116" name="TextBox 115"/>
          <p:cNvSpPr txBox="1"/>
          <p:nvPr/>
        </p:nvSpPr>
        <p:spPr>
          <a:xfrm>
            <a:off x="4406015" y="3424536"/>
            <a:ext cx="340157" cy="461665"/>
          </a:xfrm>
          <a:prstGeom prst="rect">
            <a:avLst/>
          </a:prstGeom>
          <a:noFill/>
        </p:spPr>
        <p:txBody>
          <a:bodyPr wrap="none" rtlCol="0">
            <a:spAutoFit/>
          </a:bodyPr>
          <a:lstStyle/>
          <a:p>
            <a:pPr algn="ctr"/>
            <a:r>
              <a:rPr lang="en-US" sz="2400" b="1" dirty="0">
                <a:solidFill>
                  <a:srgbClr val="C00000"/>
                </a:solidFill>
              </a:rPr>
              <a:t>4</a:t>
            </a:r>
          </a:p>
        </p:txBody>
      </p:sp>
      <p:sp>
        <p:nvSpPr>
          <p:cNvPr id="117" name="TextBox 116"/>
          <p:cNvSpPr txBox="1"/>
          <p:nvPr/>
        </p:nvSpPr>
        <p:spPr>
          <a:xfrm>
            <a:off x="4667272" y="3424536"/>
            <a:ext cx="340157" cy="461665"/>
          </a:xfrm>
          <a:prstGeom prst="rect">
            <a:avLst/>
          </a:prstGeom>
          <a:noFill/>
        </p:spPr>
        <p:txBody>
          <a:bodyPr wrap="none" rtlCol="0">
            <a:spAutoFit/>
          </a:bodyPr>
          <a:lstStyle/>
          <a:p>
            <a:pPr algn="ctr"/>
            <a:r>
              <a:rPr lang="en-US" sz="2400" b="1" dirty="0">
                <a:solidFill>
                  <a:srgbClr val="C00000"/>
                </a:solidFill>
              </a:rPr>
              <a:t>5</a:t>
            </a:r>
          </a:p>
        </p:txBody>
      </p:sp>
      <p:sp>
        <p:nvSpPr>
          <p:cNvPr id="118" name="TextBox 117"/>
          <p:cNvSpPr txBox="1"/>
          <p:nvPr/>
        </p:nvSpPr>
        <p:spPr>
          <a:xfrm>
            <a:off x="5080929" y="3424536"/>
            <a:ext cx="340157" cy="461665"/>
          </a:xfrm>
          <a:prstGeom prst="rect">
            <a:avLst/>
          </a:prstGeom>
          <a:noFill/>
        </p:spPr>
        <p:txBody>
          <a:bodyPr wrap="none" rtlCol="0">
            <a:spAutoFit/>
          </a:bodyPr>
          <a:lstStyle/>
          <a:p>
            <a:pPr algn="ctr"/>
            <a:r>
              <a:rPr lang="en-US" sz="2400" b="1" dirty="0">
                <a:solidFill>
                  <a:srgbClr val="C00000"/>
                </a:solidFill>
              </a:rPr>
              <a:t>6</a:t>
            </a:r>
          </a:p>
        </p:txBody>
      </p:sp>
      <p:sp>
        <p:nvSpPr>
          <p:cNvPr id="119" name="TextBox 118"/>
          <p:cNvSpPr txBox="1"/>
          <p:nvPr/>
        </p:nvSpPr>
        <p:spPr>
          <a:xfrm>
            <a:off x="5342186" y="3424536"/>
            <a:ext cx="340157" cy="461665"/>
          </a:xfrm>
          <a:prstGeom prst="rect">
            <a:avLst/>
          </a:prstGeom>
          <a:noFill/>
        </p:spPr>
        <p:txBody>
          <a:bodyPr wrap="none" rtlCol="0">
            <a:spAutoFit/>
          </a:bodyPr>
          <a:lstStyle/>
          <a:p>
            <a:pPr algn="ctr"/>
            <a:r>
              <a:rPr lang="en-US" sz="2400" b="1" dirty="0">
                <a:solidFill>
                  <a:srgbClr val="C00000"/>
                </a:solidFill>
              </a:rPr>
              <a:t>7</a:t>
            </a:r>
          </a:p>
        </p:txBody>
      </p:sp>
      <p:sp>
        <p:nvSpPr>
          <p:cNvPr id="120" name="TextBox 119"/>
          <p:cNvSpPr txBox="1"/>
          <p:nvPr/>
        </p:nvSpPr>
        <p:spPr>
          <a:xfrm>
            <a:off x="5755844" y="3424536"/>
            <a:ext cx="340157" cy="461665"/>
          </a:xfrm>
          <a:prstGeom prst="rect">
            <a:avLst/>
          </a:prstGeom>
          <a:noFill/>
        </p:spPr>
        <p:txBody>
          <a:bodyPr wrap="none" rtlCol="0">
            <a:spAutoFit/>
          </a:bodyPr>
          <a:lstStyle/>
          <a:p>
            <a:pPr algn="ctr"/>
            <a:r>
              <a:rPr lang="en-US" sz="2400" b="1" dirty="0">
                <a:solidFill>
                  <a:srgbClr val="C00000"/>
                </a:solidFill>
              </a:rPr>
              <a:t>8</a:t>
            </a:r>
          </a:p>
        </p:txBody>
      </p:sp>
      <p:sp>
        <p:nvSpPr>
          <p:cNvPr id="121" name="TextBox 120"/>
          <p:cNvSpPr txBox="1"/>
          <p:nvPr/>
        </p:nvSpPr>
        <p:spPr>
          <a:xfrm>
            <a:off x="3736916" y="3429001"/>
            <a:ext cx="263213" cy="461665"/>
          </a:xfrm>
          <a:prstGeom prst="rect">
            <a:avLst/>
          </a:prstGeom>
          <a:noFill/>
        </p:spPr>
        <p:txBody>
          <a:bodyPr wrap="none" rtlCol="0">
            <a:spAutoFit/>
          </a:bodyPr>
          <a:lstStyle/>
          <a:p>
            <a:pPr algn="ctr"/>
            <a:r>
              <a:rPr lang="en-US" sz="2400" b="1" dirty="0"/>
              <a:t>|</a:t>
            </a:r>
          </a:p>
        </p:txBody>
      </p:sp>
      <p:sp>
        <p:nvSpPr>
          <p:cNvPr id="122" name="TextBox 121"/>
          <p:cNvSpPr txBox="1"/>
          <p:nvPr/>
        </p:nvSpPr>
        <p:spPr>
          <a:xfrm>
            <a:off x="4879916" y="3429001"/>
            <a:ext cx="263213" cy="461665"/>
          </a:xfrm>
          <a:prstGeom prst="rect">
            <a:avLst/>
          </a:prstGeom>
          <a:noFill/>
        </p:spPr>
        <p:txBody>
          <a:bodyPr wrap="none" rtlCol="0">
            <a:spAutoFit/>
          </a:bodyPr>
          <a:lstStyle/>
          <a:p>
            <a:pPr algn="ctr"/>
            <a:r>
              <a:rPr lang="en-US" sz="2400" b="1" dirty="0"/>
              <a:t>|</a:t>
            </a:r>
          </a:p>
        </p:txBody>
      </p:sp>
      <p:sp>
        <p:nvSpPr>
          <p:cNvPr id="123" name="TextBox 122"/>
          <p:cNvSpPr txBox="1"/>
          <p:nvPr/>
        </p:nvSpPr>
        <p:spPr>
          <a:xfrm>
            <a:off x="5565716" y="3429001"/>
            <a:ext cx="263213" cy="461665"/>
          </a:xfrm>
          <a:prstGeom prst="rect">
            <a:avLst/>
          </a:prstGeom>
          <a:noFill/>
        </p:spPr>
        <p:txBody>
          <a:bodyPr wrap="none" rtlCol="0">
            <a:spAutoFit/>
          </a:bodyPr>
          <a:lstStyle/>
          <a:p>
            <a:pPr algn="ctr"/>
            <a:r>
              <a:rPr lang="en-US" sz="2400" b="1" dirty="0"/>
              <a:t>|</a:t>
            </a:r>
          </a:p>
        </p:txBody>
      </p:sp>
      <p:sp>
        <p:nvSpPr>
          <p:cNvPr id="124" name="TextBox 123"/>
          <p:cNvSpPr txBox="1"/>
          <p:nvPr/>
        </p:nvSpPr>
        <p:spPr>
          <a:xfrm>
            <a:off x="1752600" y="1200090"/>
            <a:ext cx="377026" cy="400110"/>
          </a:xfrm>
          <a:prstGeom prst="rect">
            <a:avLst/>
          </a:prstGeom>
          <a:noFill/>
        </p:spPr>
        <p:txBody>
          <a:bodyPr wrap="none" rtlCol="0">
            <a:spAutoFit/>
          </a:bodyPr>
          <a:lstStyle/>
          <a:p>
            <a:r>
              <a:rPr lang="en-US" sz="2000" b="1" dirty="0"/>
              <a:t>✓</a:t>
            </a:r>
          </a:p>
        </p:txBody>
      </p:sp>
      <p:sp>
        <p:nvSpPr>
          <p:cNvPr id="125" name="TextBox 124"/>
          <p:cNvSpPr txBox="1"/>
          <p:nvPr/>
        </p:nvSpPr>
        <p:spPr>
          <a:xfrm>
            <a:off x="2286000" y="1733490"/>
            <a:ext cx="377026" cy="400110"/>
          </a:xfrm>
          <a:prstGeom prst="rect">
            <a:avLst/>
          </a:prstGeom>
          <a:noFill/>
        </p:spPr>
        <p:txBody>
          <a:bodyPr wrap="none" rtlCol="0">
            <a:spAutoFit/>
          </a:bodyPr>
          <a:lstStyle/>
          <a:p>
            <a:r>
              <a:rPr lang="en-US" sz="2000" b="1" dirty="0"/>
              <a:t>✓</a:t>
            </a:r>
          </a:p>
        </p:txBody>
      </p:sp>
      <p:sp>
        <p:nvSpPr>
          <p:cNvPr id="126" name="TextBox 125"/>
          <p:cNvSpPr txBox="1"/>
          <p:nvPr/>
        </p:nvSpPr>
        <p:spPr>
          <a:xfrm>
            <a:off x="3200400" y="1676400"/>
            <a:ext cx="377026" cy="400110"/>
          </a:xfrm>
          <a:prstGeom prst="rect">
            <a:avLst/>
          </a:prstGeom>
          <a:noFill/>
        </p:spPr>
        <p:txBody>
          <a:bodyPr wrap="none" rtlCol="0">
            <a:spAutoFit/>
          </a:bodyPr>
          <a:lstStyle/>
          <a:p>
            <a:r>
              <a:rPr lang="en-US" sz="2000" b="1" dirty="0"/>
              <a:t>✓</a:t>
            </a:r>
          </a:p>
        </p:txBody>
      </p:sp>
      <p:sp>
        <p:nvSpPr>
          <p:cNvPr id="127" name="TextBox 126"/>
          <p:cNvSpPr txBox="1"/>
          <p:nvPr/>
        </p:nvSpPr>
        <p:spPr>
          <a:xfrm>
            <a:off x="3661574" y="1123890"/>
            <a:ext cx="377026" cy="400110"/>
          </a:xfrm>
          <a:prstGeom prst="rect">
            <a:avLst/>
          </a:prstGeom>
          <a:noFill/>
        </p:spPr>
        <p:txBody>
          <a:bodyPr wrap="none" rtlCol="0">
            <a:spAutoFit/>
          </a:bodyPr>
          <a:lstStyle/>
          <a:p>
            <a:r>
              <a:rPr lang="en-US" sz="2000" b="1" dirty="0"/>
              <a:t>✓</a:t>
            </a:r>
          </a:p>
        </p:txBody>
      </p:sp>
      <p:sp>
        <p:nvSpPr>
          <p:cNvPr id="128" name="TextBox 127"/>
          <p:cNvSpPr txBox="1"/>
          <p:nvPr/>
        </p:nvSpPr>
        <p:spPr>
          <a:xfrm>
            <a:off x="2490741" y="2795826"/>
            <a:ext cx="377026" cy="400110"/>
          </a:xfrm>
          <a:prstGeom prst="rect">
            <a:avLst/>
          </a:prstGeom>
          <a:noFill/>
        </p:spPr>
        <p:txBody>
          <a:bodyPr wrap="none" rtlCol="0">
            <a:spAutoFit/>
          </a:bodyPr>
          <a:lstStyle/>
          <a:p>
            <a:r>
              <a:rPr lang="en-US" sz="2000" b="1" dirty="0"/>
              <a:t>✓</a:t>
            </a:r>
          </a:p>
        </p:txBody>
      </p:sp>
      <p:sp>
        <p:nvSpPr>
          <p:cNvPr id="129" name="TextBox 128"/>
          <p:cNvSpPr txBox="1"/>
          <p:nvPr/>
        </p:nvSpPr>
        <p:spPr>
          <a:xfrm>
            <a:off x="3833024" y="2705965"/>
            <a:ext cx="377026" cy="400110"/>
          </a:xfrm>
          <a:prstGeom prst="rect">
            <a:avLst/>
          </a:prstGeom>
          <a:noFill/>
        </p:spPr>
        <p:txBody>
          <a:bodyPr wrap="none" rtlCol="0">
            <a:spAutoFit/>
          </a:bodyPr>
          <a:lstStyle/>
          <a:p>
            <a:r>
              <a:rPr lang="en-US" sz="2000" b="1" dirty="0"/>
              <a:t>✓</a:t>
            </a:r>
          </a:p>
        </p:txBody>
      </p:sp>
      <p:sp>
        <p:nvSpPr>
          <p:cNvPr id="130" name="TextBox 129"/>
          <p:cNvSpPr txBox="1"/>
          <p:nvPr/>
        </p:nvSpPr>
        <p:spPr>
          <a:xfrm>
            <a:off x="2438400" y="3486090"/>
            <a:ext cx="377026" cy="400110"/>
          </a:xfrm>
          <a:prstGeom prst="rect">
            <a:avLst/>
          </a:prstGeom>
          <a:noFill/>
        </p:spPr>
        <p:txBody>
          <a:bodyPr wrap="none" rtlCol="0">
            <a:spAutoFit/>
          </a:bodyPr>
          <a:lstStyle/>
          <a:p>
            <a:r>
              <a:rPr lang="en-US" sz="2000" b="1" dirty="0"/>
              <a:t>✓</a:t>
            </a:r>
          </a:p>
        </p:txBody>
      </p:sp>
      <p:sp>
        <p:nvSpPr>
          <p:cNvPr id="131" name="TextBox 130"/>
          <p:cNvSpPr txBox="1"/>
          <p:nvPr/>
        </p:nvSpPr>
        <p:spPr>
          <a:xfrm>
            <a:off x="6172200" y="3424536"/>
            <a:ext cx="370614" cy="461665"/>
          </a:xfrm>
          <a:prstGeom prst="rect">
            <a:avLst/>
          </a:prstGeom>
          <a:noFill/>
        </p:spPr>
        <p:txBody>
          <a:bodyPr wrap="none" rtlCol="0">
            <a:spAutoFit/>
          </a:bodyPr>
          <a:lstStyle/>
          <a:p>
            <a:pPr algn="ctr"/>
            <a:r>
              <a:rPr lang="en-US" sz="2400" b="1" dirty="0">
                <a:solidFill>
                  <a:srgbClr val="C00000"/>
                </a:solidFill>
              </a:rPr>
              <a:t>A</a:t>
            </a:r>
          </a:p>
        </p:txBody>
      </p:sp>
      <p:sp>
        <p:nvSpPr>
          <p:cNvPr id="132" name="TextBox 131"/>
          <p:cNvSpPr txBox="1"/>
          <p:nvPr/>
        </p:nvSpPr>
        <p:spPr>
          <a:xfrm>
            <a:off x="6414621" y="3429001"/>
            <a:ext cx="753732" cy="461665"/>
          </a:xfrm>
          <a:prstGeom prst="rect">
            <a:avLst/>
          </a:prstGeom>
          <a:noFill/>
        </p:spPr>
        <p:txBody>
          <a:bodyPr wrap="none" rtlCol="0">
            <a:spAutoFit/>
          </a:bodyPr>
          <a:lstStyle/>
          <a:p>
            <a:pPr algn="ctr"/>
            <a:r>
              <a:rPr lang="en-US" sz="2400" b="1" dirty="0"/>
              <a:t>| </a:t>
            </a:r>
            <a:r>
              <a:rPr lang="en-US" sz="2400" b="1" dirty="0">
                <a:solidFill>
                  <a:srgbClr val="C00000"/>
                </a:solidFill>
              </a:rPr>
              <a:t>B C</a:t>
            </a:r>
          </a:p>
        </p:txBody>
      </p:sp>
      <p:sp>
        <p:nvSpPr>
          <p:cNvPr id="133" name="TextBox 132"/>
          <p:cNvSpPr txBox="1"/>
          <p:nvPr/>
        </p:nvSpPr>
        <p:spPr>
          <a:xfrm>
            <a:off x="7076343" y="3429001"/>
            <a:ext cx="1194558" cy="461665"/>
          </a:xfrm>
          <a:prstGeom prst="rect">
            <a:avLst/>
          </a:prstGeom>
          <a:noFill/>
        </p:spPr>
        <p:txBody>
          <a:bodyPr wrap="none" rtlCol="0">
            <a:spAutoFit/>
          </a:bodyPr>
          <a:lstStyle/>
          <a:p>
            <a:pPr algn="ctr"/>
            <a:r>
              <a:rPr lang="en-US" sz="2400" b="1" dirty="0"/>
              <a:t>| </a:t>
            </a:r>
            <a:r>
              <a:rPr lang="en-US" sz="2400" b="1" dirty="0">
                <a:solidFill>
                  <a:srgbClr val="C00000"/>
                </a:solidFill>
              </a:rPr>
              <a:t>D E F G</a:t>
            </a:r>
          </a:p>
        </p:txBody>
      </p:sp>
      <p:sp>
        <p:nvSpPr>
          <p:cNvPr id="134" name="TextBox 133"/>
          <p:cNvSpPr txBox="1"/>
          <p:nvPr/>
        </p:nvSpPr>
        <p:spPr>
          <a:xfrm>
            <a:off x="8204835" y="3429001"/>
            <a:ext cx="522899" cy="461665"/>
          </a:xfrm>
          <a:prstGeom prst="rect">
            <a:avLst/>
          </a:prstGeom>
          <a:noFill/>
        </p:spPr>
        <p:txBody>
          <a:bodyPr wrap="none" rtlCol="0">
            <a:spAutoFit/>
          </a:bodyPr>
          <a:lstStyle/>
          <a:p>
            <a:pPr algn="ctr"/>
            <a:r>
              <a:rPr lang="en-US" sz="2400" b="1" dirty="0"/>
              <a:t>| </a:t>
            </a:r>
            <a:r>
              <a:rPr lang="en-US" sz="2400" b="1" dirty="0">
                <a:solidFill>
                  <a:srgbClr val="C00000"/>
                </a:solidFill>
              </a:rPr>
              <a:t>H</a:t>
            </a:r>
          </a:p>
        </p:txBody>
      </p:sp>
      <p:sp>
        <p:nvSpPr>
          <p:cNvPr id="135" name="TextBox 134"/>
          <p:cNvSpPr txBox="1"/>
          <p:nvPr/>
        </p:nvSpPr>
        <p:spPr>
          <a:xfrm>
            <a:off x="8591817" y="926804"/>
            <a:ext cx="377026" cy="400110"/>
          </a:xfrm>
          <a:prstGeom prst="rect">
            <a:avLst/>
          </a:prstGeom>
          <a:noFill/>
        </p:spPr>
        <p:txBody>
          <a:bodyPr wrap="none" rtlCol="0">
            <a:spAutoFit/>
          </a:bodyPr>
          <a:lstStyle/>
          <a:p>
            <a:r>
              <a:rPr lang="en-US" sz="2000" b="1" dirty="0"/>
              <a:t>✓</a:t>
            </a:r>
          </a:p>
        </p:txBody>
      </p:sp>
      <p:sp>
        <p:nvSpPr>
          <p:cNvPr id="136" name="TextBox 135"/>
          <p:cNvSpPr txBox="1"/>
          <p:nvPr/>
        </p:nvSpPr>
        <p:spPr>
          <a:xfrm>
            <a:off x="7988584" y="1476345"/>
            <a:ext cx="377026" cy="400110"/>
          </a:xfrm>
          <a:prstGeom prst="rect">
            <a:avLst/>
          </a:prstGeom>
          <a:noFill/>
        </p:spPr>
        <p:txBody>
          <a:bodyPr wrap="none" rtlCol="0">
            <a:spAutoFit/>
          </a:bodyPr>
          <a:lstStyle/>
          <a:p>
            <a:r>
              <a:rPr lang="en-US" sz="2000" b="1" dirty="0"/>
              <a:t>✓</a:t>
            </a:r>
          </a:p>
        </p:txBody>
      </p:sp>
      <p:sp>
        <p:nvSpPr>
          <p:cNvPr id="137" name="TextBox 136"/>
          <p:cNvSpPr txBox="1"/>
          <p:nvPr/>
        </p:nvSpPr>
        <p:spPr>
          <a:xfrm>
            <a:off x="9260287" y="1521741"/>
            <a:ext cx="377026" cy="400110"/>
          </a:xfrm>
          <a:prstGeom prst="rect">
            <a:avLst/>
          </a:prstGeom>
          <a:noFill/>
        </p:spPr>
        <p:txBody>
          <a:bodyPr wrap="none" rtlCol="0">
            <a:spAutoFit/>
          </a:bodyPr>
          <a:lstStyle/>
          <a:p>
            <a:r>
              <a:rPr lang="en-US" sz="2000" b="1" dirty="0"/>
              <a:t>✓</a:t>
            </a:r>
          </a:p>
        </p:txBody>
      </p:sp>
      <p:sp>
        <p:nvSpPr>
          <p:cNvPr id="138" name="TextBox 137"/>
          <p:cNvSpPr txBox="1"/>
          <p:nvPr/>
        </p:nvSpPr>
        <p:spPr>
          <a:xfrm>
            <a:off x="7515636" y="2132272"/>
            <a:ext cx="377026" cy="400110"/>
          </a:xfrm>
          <a:prstGeom prst="rect">
            <a:avLst/>
          </a:prstGeom>
          <a:noFill/>
        </p:spPr>
        <p:txBody>
          <a:bodyPr wrap="none" rtlCol="0">
            <a:spAutoFit/>
          </a:bodyPr>
          <a:lstStyle/>
          <a:p>
            <a:r>
              <a:rPr lang="en-US" sz="2000" b="1" dirty="0"/>
              <a:t>✓</a:t>
            </a:r>
          </a:p>
        </p:txBody>
      </p:sp>
      <p:sp>
        <p:nvSpPr>
          <p:cNvPr id="139" name="TextBox 138"/>
          <p:cNvSpPr txBox="1"/>
          <p:nvPr/>
        </p:nvSpPr>
        <p:spPr>
          <a:xfrm>
            <a:off x="8385975" y="2083889"/>
            <a:ext cx="377026" cy="400110"/>
          </a:xfrm>
          <a:prstGeom prst="rect">
            <a:avLst/>
          </a:prstGeom>
          <a:noFill/>
        </p:spPr>
        <p:txBody>
          <a:bodyPr wrap="none" rtlCol="0">
            <a:spAutoFit/>
          </a:bodyPr>
          <a:lstStyle/>
          <a:p>
            <a:r>
              <a:rPr lang="en-US" sz="2000" b="1" dirty="0"/>
              <a:t>✓</a:t>
            </a:r>
          </a:p>
        </p:txBody>
      </p:sp>
      <p:sp>
        <p:nvSpPr>
          <p:cNvPr id="140" name="TextBox 139"/>
          <p:cNvSpPr txBox="1"/>
          <p:nvPr/>
        </p:nvSpPr>
        <p:spPr>
          <a:xfrm>
            <a:off x="9584137" y="2088172"/>
            <a:ext cx="377026" cy="400110"/>
          </a:xfrm>
          <a:prstGeom prst="rect">
            <a:avLst/>
          </a:prstGeom>
          <a:noFill/>
        </p:spPr>
        <p:txBody>
          <a:bodyPr wrap="none" rtlCol="0">
            <a:spAutoFit/>
          </a:bodyPr>
          <a:lstStyle/>
          <a:p>
            <a:r>
              <a:rPr lang="en-US" sz="2000" b="1" dirty="0"/>
              <a:t>✓</a:t>
            </a:r>
          </a:p>
        </p:txBody>
      </p:sp>
      <p:sp>
        <p:nvSpPr>
          <p:cNvPr id="141" name="TextBox 140"/>
          <p:cNvSpPr txBox="1"/>
          <p:nvPr/>
        </p:nvSpPr>
        <p:spPr>
          <a:xfrm>
            <a:off x="10194370" y="1819245"/>
            <a:ext cx="377026" cy="400110"/>
          </a:xfrm>
          <a:prstGeom prst="rect">
            <a:avLst/>
          </a:prstGeom>
          <a:noFill/>
        </p:spPr>
        <p:txBody>
          <a:bodyPr wrap="none" rtlCol="0">
            <a:spAutoFit/>
          </a:bodyPr>
          <a:lstStyle/>
          <a:p>
            <a:r>
              <a:rPr lang="en-US" sz="2000" b="1" dirty="0"/>
              <a:t>✓</a:t>
            </a:r>
          </a:p>
        </p:txBody>
      </p:sp>
      <p:sp>
        <p:nvSpPr>
          <p:cNvPr id="142" name="TextBox 141"/>
          <p:cNvSpPr txBox="1"/>
          <p:nvPr/>
        </p:nvSpPr>
        <p:spPr>
          <a:xfrm>
            <a:off x="9209681" y="3409890"/>
            <a:ext cx="377026" cy="400110"/>
          </a:xfrm>
          <a:prstGeom prst="rect">
            <a:avLst/>
          </a:prstGeom>
          <a:noFill/>
        </p:spPr>
        <p:txBody>
          <a:bodyPr wrap="none" rtlCol="0">
            <a:spAutoFit/>
          </a:bodyPr>
          <a:lstStyle/>
          <a:p>
            <a:r>
              <a:rPr lang="en-US" sz="2000" b="1" dirty="0"/>
              <a:t>✓</a:t>
            </a:r>
          </a:p>
        </p:txBody>
      </p:sp>
      <p:sp>
        <p:nvSpPr>
          <p:cNvPr id="143" name="TextBox 142"/>
          <p:cNvSpPr txBox="1"/>
          <p:nvPr/>
        </p:nvSpPr>
        <p:spPr>
          <a:xfrm>
            <a:off x="7718588" y="4641768"/>
            <a:ext cx="2914579" cy="461665"/>
          </a:xfrm>
          <a:prstGeom prst="rect">
            <a:avLst/>
          </a:prstGeom>
          <a:noFill/>
        </p:spPr>
        <p:txBody>
          <a:bodyPr wrap="none" rtlCol="0">
            <a:spAutoFit/>
          </a:bodyPr>
          <a:lstStyle/>
          <a:p>
            <a:pPr algn="ctr"/>
            <a:r>
              <a:rPr lang="en-US" sz="2400" b="1" dirty="0">
                <a:solidFill>
                  <a:srgbClr val="C00000"/>
                </a:solidFill>
              </a:rPr>
              <a:t>V</a:t>
            </a:r>
            <a:r>
              <a:rPr lang="en-US" sz="2400" b="1" baseline="-25000" dirty="0">
                <a:solidFill>
                  <a:srgbClr val="C00000"/>
                </a:solidFill>
              </a:rPr>
              <a:t>0</a:t>
            </a:r>
            <a:r>
              <a:rPr lang="en-US" sz="2400" b="1" dirty="0"/>
              <a:t>| </a:t>
            </a:r>
            <a:r>
              <a:rPr lang="en-US" sz="2400" b="1" dirty="0">
                <a:solidFill>
                  <a:srgbClr val="C00000"/>
                </a:solidFill>
              </a:rPr>
              <a:t>V</a:t>
            </a:r>
            <a:r>
              <a:rPr lang="en-US" sz="2400" b="1" baseline="-25000" dirty="0">
                <a:solidFill>
                  <a:srgbClr val="C00000"/>
                </a:solidFill>
              </a:rPr>
              <a:t>1 </a:t>
            </a:r>
            <a:r>
              <a:rPr lang="en-US" sz="2400" b="1" dirty="0">
                <a:solidFill>
                  <a:srgbClr val="C00000"/>
                </a:solidFill>
              </a:rPr>
              <a:t>V</a:t>
            </a:r>
            <a:r>
              <a:rPr lang="en-US" sz="2400" b="1" baseline="-25000" dirty="0">
                <a:solidFill>
                  <a:srgbClr val="C00000"/>
                </a:solidFill>
              </a:rPr>
              <a:t>2</a:t>
            </a:r>
            <a:r>
              <a:rPr lang="en-US" sz="2400" b="1" dirty="0"/>
              <a:t> |</a:t>
            </a:r>
            <a:r>
              <a:rPr lang="en-US" sz="2400" b="1" dirty="0">
                <a:solidFill>
                  <a:srgbClr val="C00000"/>
                </a:solidFill>
              </a:rPr>
              <a:t> V</a:t>
            </a:r>
            <a:r>
              <a:rPr lang="en-US" sz="2400" b="1" baseline="-25000" dirty="0">
                <a:solidFill>
                  <a:srgbClr val="C00000"/>
                </a:solidFill>
              </a:rPr>
              <a:t>4 </a:t>
            </a:r>
            <a:r>
              <a:rPr lang="en-US" sz="2400" b="1" dirty="0">
                <a:solidFill>
                  <a:srgbClr val="C00000"/>
                </a:solidFill>
              </a:rPr>
              <a:t>V</a:t>
            </a:r>
            <a:r>
              <a:rPr lang="en-US" sz="2400" b="1" baseline="-25000" dirty="0">
                <a:solidFill>
                  <a:srgbClr val="C00000"/>
                </a:solidFill>
              </a:rPr>
              <a:t>6</a:t>
            </a:r>
            <a:r>
              <a:rPr lang="en-US" sz="2400" b="1" dirty="0">
                <a:solidFill>
                  <a:srgbClr val="C00000"/>
                </a:solidFill>
              </a:rPr>
              <a:t> V</a:t>
            </a:r>
            <a:r>
              <a:rPr lang="en-US" sz="2400" b="1" baseline="-25000" dirty="0">
                <a:solidFill>
                  <a:srgbClr val="C00000"/>
                </a:solidFill>
              </a:rPr>
              <a:t>3</a:t>
            </a:r>
            <a:r>
              <a:rPr lang="en-US" sz="2400" b="1" dirty="0">
                <a:solidFill>
                  <a:srgbClr val="C00000"/>
                </a:solidFill>
              </a:rPr>
              <a:t> </a:t>
            </a:r>
            <a:r>
              <a:rPr lang="en-US" sz="2400" b="1" dirty="0"/>
              <a:t>| </a:t>
            </a:r>
            <a:r>
              <a:rPr lang="en-US" sz="2400" b="1" dirty="0">
                <a:solidFill>
                  <a:srgbClr val="C00000"/>
                </a:solidFill>
              </a:rPr>
              <a:t>V</a:t>
            </a:r>
            <a:r>
              <a:rPr lang="en-US" sz="2400" b="1" baseline="-25000" dirty="0">
                <a:solidFill>
                  <a:srgbClr val="C00000"/>
                </a:solidFill>
              </a:rPr>
              <a:t>5</a:t>
            </a:r>
            <a:endParaRPr lang="en-US" sz="2400" b="1" dirty="0">
              <a:solidFill>
                <a:srgbClr val="C00000"/>
              </a:solidFill>
            </a:endParaRPr>
          </a:p>
        </p:txBody>
      </p:sp>
    </p:spTree>
    <p:extLst>
      <p:ext uri="{BB962C8B-B14F-4D97-AF65-F5344CB8AC3E}">
        <p14:creationId xmlns:p14="http://schemas.microsoft.com/office/powerpoint/2010/main" val="167025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10" fill="hold"/>
                                        <p:tgtEl>
                                          <p:spTgt spid="4"/>
                                        </p:tgtEl>
                                        <p:attrNameLst>
                                          <p:attrName>fillcolor</p:attrName>
                                        </p:attrNameLst>
                                      </p:cBhvr>
                                      <p:to>
                                        <a:schemeClr val="accent2"/>
                                      </p:to>
                                    </p:animClr>
                                    <p:set>
                                      <p:cBhvr>
                                        <p:cTn id="45" dur="10" fill="hold"/>
                                        <p:tgtEl>
                                          <p:spTgt spid="4"/>
                                        </p:tgtEl>
                                        <p:attrNameLst>
                                          <p:attrName>fill.type</p:attrName>
                                        </p:attrNameLst>
                                      </p:cBhvr>
                                      <p:to>
                                        <p:strVal val="solid"/>
                                      </p:to>
                                    </p:set>
                                    <p:set>
                                      <p:cBhvr>
                                        <p:cTn id="46" dur="10" fill="hold"/>
                                        <p:tgtEl>
                                          <p:spTgt spid="4"/>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mph" presetSubtype="2" fill="hold" nodeType="clickEffect">
                                  <p:stCondLst>
                                    <p:cond delay="0"/>
                                  </p:stCondLst>
                                  <p:childTnLst>
                                    <p:animClr clrSpc="rgb" dir="cw">
                                      <p:cBhvr>
                                        <p:cTn id="62" dur="10" fill="hold"/>
                                        <p:tgtEl>
                                          <p:spTgt spid="5"/>
                                        </p:tgtEl>
                                        <p:attrNameLst>
                                          <p:attrName>fillcolor</p:attrName>
                                        </p:attrNameLst>
                                      </p:cBhvr>
                                      <p:to>
                                        <a:schemeClr val="accent2"/>
                                      </p:to>
                                    </p:animClr>
                                    <p:set>
                                      <p:cBhvr>
                                        <p:cTn id="63" dur="10" fill="hold"/>
                                        <p:tgtEl>
                                          <p:spTgt spid="5"/>
                                        </p:tgtEl>
                                        <p:attrNameLst>
                                          <p:attrName>fill.type</p:attrName>
                                        </p:attrNameLst>
                                      </p:cBhvr>
                                      <p:to>
                                        <p:strVal val="solid"/>
                                      </p:to>
                                    </p:set>
                                    <p:set>
                                      <p:cBhvr>
                                        <p:cTn id="64" dur="10" fill="hold"/>
                                        <p:tgtEl>
                                          <p:spTgt spid="5"/>
                                        </p:tgtEl>
                                        <p:attrNameLst>
                                          <p:attrName>fill.on</p:attrName>
                                        </p:attrNameLst>
                                      </p:cBhvr>
                                      <p:to>
                                        <p:strVal val="true"/>
                                      </p:to>
                                    </p:set>
                                  </p:childTnLst>
                                </p:cTn>
                              </p:par>
                              <p:par>
                                <p:cTn id="65" presetID="1" presetClass="emph" presetSubtype="2" fill="hold" nodeType="withEffect">
                                  <p:stCondLst>
                                    <p:cond delay="0"/>
                                  </p:stCondLst>
                                  <p:childTnLst>
                                    <p:animClr clrSpc="rgb" dir="cw">
                                      <p:cBhvr>
                                        <p:cTn id="66" dur="10" fill="hold"/>
                                        <p:tgtEl>
                                          <p:spTgt spid="6"/>
                                        </p:tgtEl>
                                        <p:attrNameLst>
                                          <p:attrName>fillcolor</p:attrName>
                                        </p:attrNameLst>
                                      </p:cBhvr>
                                      <p:to>
                                        <a:schemeClr val="accent2"/>
                                      </p:to>
                                    </p:animClr>
                                    <p:set>
                                      <p:cBhvr>
                                        <p:cTn id="67" dur="10" fill="hold"/>
                                        <p:tgtEl>
                                          <p:spTgt spid="6"/>
                                        </p:tgtEl>
                                        <p:attrNameLst>
                                          <p:attrName>fill.type</p:attrName>
                                        </p:attrNameLst>
                                      </p:cBhvr>
                                      <p:to>
                                        <p:strVal val="solid"/>
                                      </p:to>
                                    </p:set>
                                    <p:set>
                                      <p:cBhvr>
                                        <p:cTn id="68" dur="10" fill="hold"/>
                                        <p:tgtEl>
                                          <p:spTgt spid="6"/>
                                        </p:tgtEl>
                                        <p:attrNameLst>
                                          <p:attrName>fill.on</p:attrName>
                                        </p:attrNameLst>
                                      </p:cBhvr>
                                      <p:to>
                                        <p:strVal val="true"/>
                                      </p:to>
                                    </p:set>
                                  </p:childTnLst>
                                </p:cTn>
                              </p:par>
                              <p:par>
                                <p:cTn id="69" presetID="1" presetClass="emph" presetSubtype="2" fill="hold" nodeType="withEffect">
                                  <p:stCondLst>
                                    <p:cond delay="0"/>
                                  </p:stCondLst>
                                  <p:childTnLst>
                                    <p:animClr clrSpc="rgb" dir="cw">
                                      <p:cBhvr>
                                        <p:cTn id="70" dur="10" fill="hold"/>
                                        <p:tgtEl>
                                          <p:spTgt spid="7"/>
                                        </p:tgtEl>
                                        <p:attrNameLst>
                                          <p:attrName>fillcolor</p:attrName>
                                        </p:attrNameLst>
                                      </p:cBhvr>
                                      <p:to>
                                        <a:schemeClr val="accent2"/>
                                      </p:to>
                                    </p:animClr>
                                    <p:set>
                                      <p:cBhvr>
                                        <p:cTn id="71" dur="10" fill="hold"/>
                                        <p:tgtEl>
                                          <p:spTgt spid="7"/>
                                        </p:tgtEl>
                                        <p:attrNameLst>
                                          <p:attrName>fill.type</p:attrName>
                                        </p:attrNameLst>
                                      </p:cBhvr>
                                      <p:to>
                                        <p:strVal val="solid"/>
                                      </p:to>
                                    </p:set>
                                    <p:set>
                                      <p:cBhvr>
                                        <p:cTn id="72" dur="10" fill="hold"/>
                                        <p:tgtEl>
                                          <p:spTgt spid="7"/>
                                        </p:tgtEl>
                                        <p:attrNameLst>
                                          <p:attrName>fill.on</p:attrName>
                                        </p:attrNameLst>
                                      </p:cBhvr>
                                      <p:to>
                                        <p:strVal val="true"/>
                                      </p:to>
                                    </p:set>
                                  </p:childTnLst>
                                </p:cTn>
                              </p:par>
                              <p:par>
                                <p:cTn id="73" presetID="1" presetClass="emph" presetSubtype="2" fill="hold" nodeType="withEffect">
                                  <p:stCondLst>
                                    <p:cond delay="0"/>
                                  </p:stCondLst>
                                  <p:childTnLst>
                                    <p:animClr clrSpc="rgb" dir="cw">
                                      <p:cBhvr>
                                        <p:cTn id="74" dur="10" fill="hold"/>
                                        <p:tgtEl>
                                          <p:spTgt spid="21"/>
                                        </p:tgtEl>
                                        <p:attrNameLst>
                                          <p:attrName>fillcolor</p:attrName>
                                        </p:attrNameLst>
                                      </p:cBhvr>
                                      <p:to>
                                        <a:schemeClr val="accent2"/>
                                      </p:to>
                                    </p:animClr>
                                    <p:set>
                                      <p:cBhvr>
                                        <p:cTn id="75" dur="10" fill="hold"/>
                                        <p:tgtEl>
                                          <p:spTgt spid="21"/>
                                        </p:tgtEl>
                                        <p:attrNameLst>
                                          <p:attrName>fill.type</p:attrName>
                                        </p:attrNameLst>
                                      </p:cBhvr>
                                      <p:to>
                                        <p:strVal val="solid"/>
                                      </p:to>
                                    </p:set>
                                    <p:set>
                                      <p:cBhvr>
                                        <p:cTn id="76" dur="10" fill="hold"/>
                                        <p:tgtEl>
                                          <p:spTgt spid="21"/>
                                        </p:tgtEl>
                                        <p:attrNameLst>
                                          <p:attrName>fill.on</p:attrName>
                                        </p:attrNameLst>
                                      </p:cBhvr>
                                      <p:to>
                                        <p:strVal val="tru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2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2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2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2" fill="hold" nodeType="clickEffect">
                                  <p:stCondLst>
                                    <p:cond delay="0"/>
                                  </p:stCondLst>
                                  <p:childTnLst>
                                    <p:animClr clrSpc="rgb" dir="cw">
                                      <p:cBhvr>
                                        <p:cTn id="104" dur="10" fill="hold"/>
                                        <p:tgtEl>
                                          <p:spTgt spid="8"/>
                                        </p:tgtEl>
                                        <p:attrNameLst>
                                          <p:attrName>fillcolor</p:attrName>
                                        </p:attrNameLst>
                                      </p:cBhvr>
                                      <p:to>
                                        <a:schemeClr val="accent2"/>
                                      </p:to>
                                    </p:animClr>
                                    <p:set>
                                      <p:cBhvr>
                                        <p:cTn id="105" dur="10" fill="hold"/>
                                        <p:tgtEl>
                                          <p:spTgt spid="8"/>
                                        </p:tgtEl>
                                        <p:attrNameLst>
                                          <p:attrName>fill.type</p:attrName>
                                        </p:attrNameLst>
                                      </p:cBhvr>
                                      <p:to>
                                        <p:strVal val="solid"/>
                                      </p:to>
                                    </p:set>
                                    <p:set>
                                      <p:cBhvr>
                                        <p:cTn id="106" dur="10" fill="hold"/>
                                        <p:tgtEl>
                                          <p:spTgt spid="8"/>
                                        </p:tgtEl>
                                        <p:attrNameLst>
                                          <p:attrName>fill.on</p:attrName>
                                        </p:attrNameLst>
                                      </p:cBhvr>
                                      <p:to>
                                        <p:strVal val="true"/>
                                      </p:to>
                                    </p:set>
                                  </p:childTnLst>
                                </p:cTn>
                              </p:par>
                              <p:par>
                                <p:cTn id="107" presetID="1" presetClass="emph" presetSubtype="2" fill="hold" nodeType="withEffect">
                                  <p:stCondLst>
                                    <p:cond delay="0"/>
                                  </p:stCondLst>
                                  <p:childTnLst>
                                    <p:animClr clrSpc="rgb" dir="cw">
                                      <p:cBhvr>
                                        <p:cTn id="108" dur="10" fill="hold"/>
                                        <p:tgtEl>
                                          <p:spTgt spid="9"/>
                                        </p:tgtEl>
                                        <p:attrNameLst>
                                          <p:attrName>fillcolor</p:attrName>
                                        </p:attrNameLst>
                                      </p:cBhvr>
                                      <p:to>
                                        <a:schemeClr val="accent2"/>
                                      </p:to>
                                    </p:animClr>
                                    <p:set>
                                      <p:cBhvr>
                                        <p:cTn id="109" dur="10" fill="hold"/>
                                        <p:tgtEl>
                                          <p:spTgt spid="9"/>
                                        </p:tgtEl>
                                        <p:attrNameLst>
                                          <p:attrName>fill.type</p:attrName>
                                        </p:attrNameLst>
                                      </p:cBhvr>
                                      <p:to>
                                        <p:strVal val="solid"/>
                                      </p:to>
                                    </p:set>
                                    <p:set>
                                      <p:cBhvr>
                                        <p:cTn id="110" dur="10" fill="hold"/>
                                        <p:tgtEl>
                                          <p:spTgt spid="9"/>
                                        </p:tgtEl>
                                        <p:attrNameLst>
                                          <p:attrName>fill.on</p:attrName>
                                        </p:attrNameLst>
                                      </p:cBhvr>
                                      <p:to>
                                        <p:strVal val="true"/>
                                      </p:to>
                                    </p:set>
                                  </p:childTnLst>
                                </p:cTn>
                              </p:par>
                              <p:par>
                                <p:cTn id="111" presetID="1" presetClass="entr" presetSubtype="0" fill="hold" grpId="0" nodeType="withEffect">
                                  <p:stCondLst>
                                    <p:cond delay="0"/>
                                  </p:stCondLst>
                                  <p:childTnLst>
                                    <p:set>
                                      <p:cBhvr>
                                        <p:cTn id="112" dur="1" fill="hold">
                                          <p:stCondLst>
                                            <p:cond delay="0"/>
                                          </p:stCondLst>
                                        </p:cTn>
                                        <p:tgtEl>
                                          <p:spTgt spid="128"/>
                                        </p:tgtEl>
                                        <p:attrNameLst>
                                          <p:attrName>style.visibility</p:attrName>
                                        </p:attrNameLst>
                                      </p:cBhvr>
                                      <p:to>
                                        <p:strVal val="visible"/>
                                      </p:to>
                                    </p:set>
                                  </p:childTnLst>
                                </p:cTn>
                              </p:par>
                            </p:childTnLst>
                          </p:cTn>
                        </p:par>
                        <p:par>
                          <p:cTn id="113" fill="hold">
                            <p:stCondLst>
                              <p:cond delay="10"/>
                            </p:stCondLst>
                            <p:childTnLst>
                              <p:par>
                                <p:cTn id="114" presetID="1" presetClass="entr" presetSubtype="0" fill="hold" grpId="0" nodeType="afterEffect">
                                  <p:stCondLst>
                                    <p:cond delay="0"/>
                                  </p:stCondLst>
                                  <p:childTnLst>
                                    <p:set>
                                      <p:cBhvr>
                                        <p:cTn id="115" dur="1" fill="hold">
                                          <p:stCondLst>
                                            <p:cond delay="0"/>
                                          </p:stCondLst>
                                        </p:cTn>
                                        <p:tgtEl>
                                          <p:spTgt spid="12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18"/>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119"/>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123"/>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mph" presetSubtype="2" fill="hold" nodeType="clickEffect">
                                  <p:stCondLst>
                                    <p:cond delay="0"/>
                                  </p:stCondLst>
                                  <p:childTnLst>
                                    <p:animClr clrSpc="rgb" dir="cw">
                                      <p:cBhvr>
                                        <p:cTn id="129" dur="10" fill="hold"/>
                                        <p:tgtEl>
                                          <p:spTgt spid="10"/>
                                        </p:tgtEl>
                                        <p:attrNameLst>
                                          <p:attrName>fillcolor</p:attrName>
                                        </p:attrNameLst>
                                      </p:cBhvr>
                                      <p:to>
                                        <a:schemeClr val="accent2"/>
                                      </p:to>
                                    </p:animClr>
                                    <p:set>
                                      <p:cBhvr>
                                        <p:cTn id="130" dur="10" fill="hold"/>
                                        <p:tgtEl>
                                          <p:spTgt spid="10"/>
                                        </p:tgtEl>
                                        <p:attrNameLst>
                                          <p:attrName>fill.type</p:attrName>
                                        </p:attrNameLst>
                                      </p:cBhvr>
                                      <p:to>
                                        <p:strVal val="solid"/>
                                      </p:to>
                                    </p:set>
                                    <p:set>
                                      <p:cBhvr>
                                        <p:cTn id="131" dur="10" fill="hold"/>
                                        <p:tgtEl>
                                          <p:spTgt spid="10"/>
                                        </p:tgtEl>
                                        <p:attrNameLst>
                                          <p:attrName>fill.on</p:attrName>
                                        </p:attrNameLst>
                                      </p:cBhvr>
                                      <p:to>
                                        <p:strVal val="tru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130"/>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120"/>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1" fill="hold" nodeType="clickEffect">
                                  <p:stCondLst>
                                    <p:cond delay="0"/>
                                  </p:stCondLst>
                                  <p:childTnLst>
                                    <p:set>
                                      <p:cBhvr>
                                        <p:cTn id="143" dur="1" fill="hold">
                                          <p:stCondLst>
                                            <p:cond delay="0"/>
                                          </p:stCondLst>
                                        </p:cTn>
                                        <p:tgtEl>
                                          <p:spTgt spid="108"/>
                                        </p:tgtEl>
                                        <p:attrNameLst>
                                          <p:attrName>style.visibility</p:attrName>
                                        </p:attrNameLst>
                                      </p:cBhvr>
                                      <p:to>
                                        <p:strVal val="visible"/>
                                      </p:to>
                                    </p:set>
                                    <p:animEffect transition="in" filter="wipe(up)">
                                      <p:cBhvr>
                                        <p:cTn id="144" dur="500"/>
                                        <p:tgtEl>
                                          <p:spTgt spid="108"/>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32"/>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34"/>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35"/>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36"/>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3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38"/>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39"/>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40"/>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41"/>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42"/>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43"/>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44"/>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4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46"/>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47"/>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48"/>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mph" presetSubtype="2" fill="hold" nodeType="clickEffect">
                                  <p:stCondLst>
                                    <p:cond delay="0"/>
                                  </p:stCondLst>
                                  <p:childTnLst>
                                    <p:animClr clrSpc="rgb" dir="cw">
                                      <p:cBhvr>
                                        <p:cTn id="186" dur="10" fill="hold"/>
                                        <p:tgtEl>
                                          <p:spTgt spid="31"/>
                                        </p:tgtEl>
                                        <p:attrNameLst>
                                          <p:attrName>fillcolor</p:attrName>
                                        </p:attrNameLst>
                                      </p:cBhvr>
                                      <p:to>
                                        <a:schemeClr val="accent2"/>
                                      </p:to>
                                    </p:animClr>
                                    <p:set>
                                      <p:cBhvr>
                                        <p:cTn id="187" dur="10" fill="hold"/>
                                        <p:tgtEl>
                                          <p:spTgt spid="31"/>
                                        </p:tgtEl>
                                        <p:attrNameLst>
                                          <p:attrName>fill.type</p:attrName>
                                        </p:attrNameLst>
                                      </p:cBhvr>
                                      <p:to>
                                        <p:strVal val="solid"/>
                                      </p:to>
                                    </p:set>
                                    <p:set>
                                      <p:cBhvr>
                                        <p:cTn id="188" dur="10" fill="hold"/>
                                        <p:tgtEl>
                                          <p:spTgt spid="31"/>
                                        </p:tgtEl>
                                        <p:attrNameLst>
                                          <p:attrName>fill.on</p:attrName>
                                        </p:attrNameLst>
                                      </p:cBhvr>
                                      <p:to>
                                        <p:strVal val="true"/>
                                      </p:to>
                                    </p:set>
                                  </p:childTnLst>
                                </p:cTn>
                              </p:par>
                              <p:par>
                                <p:cTn id="189" presetID="1" presetClass="entr" presetSubtype="0" fill="hold" grpId="0" nodeType="withEffect">
                                  <p:stCondLst>
                                    <p:cond delay="0"/>
                                  </p:stCondLst>
                                  <p:childTnLst>
                                    <p:set>
                                      <p:cBhvr>
                                        <p:cTn id="190" dur="1" fill="hold">
                                          <p:stCondLst>
                                            <p:cond delay="0"/>
                                          </p:stCondLst>
                                        </p:cTn>
                                        <p:tgtEl>
                                          <p:spTgt spid="135"/>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31"/>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mph" presetSubtype="2" fill="hold" nodeType="clickEffect">
                                  <p:stCondLst>
                                    <p:cond delay="0"/>
                                  </p:stCondLst>
                                  <p:childTnLst>
                                    <p:animClr clrSpc="rgb" dir="cw">
                                      <p:cBhvr>
                                        <p:cTn id="198" dur="10" fill="hold"/>
                                        <p:tgtEl>
                                          <p:spTgt spid="32"/>
                                        </p:tgtEl>
                                        <p:attrNameLst>
                                          <p:attrName>fillcolor</p:attrName>
                                        </p:attrNameLst>
                                      </p:cBhvr>
                                      <p:to>
                                        <a:schemeClr val="accent2"/>
                                      </p:to>
                                    </p:animClr>
                                    <p:set>
                                      <p:cBhvr>
                                        <p:cTn id="199" dur="10" fill="hold"/>
                                        <p:tgtEl>
                                          <p:spTgt spid="32"/>
                                        </p:tgtEl>
                                        <p:attrNameLst>
                                          <p:attrName>fill.type</p:attrName>
                                        </p:attrNameLst>
                                      </p:cBhvr>
                                      <p:to>
                                        <p:strVal val="solid"/>
                                      </p:to>
                                    </p:set>
                                    <p:set>
                                      <p:cBhvr>
                                        <p:cTn id="200" dur="10" fill="hold"/>
                                        <p:tgtEl>
                                          <p:spTgt spid="32"/>
                                        </p:tgtEl>
                                        <p:attrNameLst>
                                          <p:attrName>fill.on</p:attrName>
                                        </p:attrNameLst>
                                      </p:cBhvr>
                                      <p:to>
                                        <p:strVal val="true"/>
                                      </p:to>
                                    </p:set>
                                  </p:childTnLst>
                                </p:cTn>
                              </p:par>
                              <p:par>
                                <p:cTn id="201" presetID="1" presetClass="emph" presetSubtype="2" fill="hold" nodeType="withEffect">
                                  <p:stCondLst>
                                    <p:cond delay="0"/>
                                  </p:stCondLst>
                                  <p:childTnLst>
                                    <p:animClr clrSpc="rgb" dir="cw">
                                      <p:cBhvr>
                                        <p:cTn id="202" dur="10" fill="hold"/>
                                        <p:tgtEl>
                                          <p:spTgt spid="33"/>
                                        </p:tgtEl>
                                        <p:attrNameLst>
                                          <p:attrName>fillcolor</p:attrName>
                                        </p:attrNameLst>
                                      </p:cBhvr>
                                      <p:to>
                                        <a:schemeClr val="accent2"/>
                                      </p:to>
                                    </p:animClr>
                                    <p:set>
                                      <p:cBhvr>
                                        <p:cTn id="203" dur="10" fill="hold"/>
                                        <p:tgtEl>
                                          <p:spTgt spid="33"/>
                                        </p:tgtEl>
                                        <p:attrNameLst>
                                          <p:attrName>fill.type</p:attrName>
                                        </p:attrNameLst>
                                      </p:cBhvr>
                                      <p:to>
                                        <p:strVal val="solid"/>
                                      </p:to>
                                    </p:set>
                                    <p:set>
                                      <p:cBhvr>
                                        <p:cTn id="204" dur="10" fill="hold"/>
                                        <p:tgtEl>
                                          <p:spTgt spid="33"/>
                                        </p:tgtEl>
                                        <p:attrNameLst>
                                          <p:attrName>fill.on</p:attrName>
                                        </p:attrNameLst>
                                      </p:cBhvr>
                                      <p:to>
                                        <p:strVal val="true"/>
                                      </p:to>
                                    </p:set>
                                  </p:childTnLst>
                                </p:cTn>
                              </p:par>
                              <p:par>
                                <p:cTn id="205" presetID="1" presetClass="entr" presetSubtype="0" fill="hold" grpId="0" nodeType="withEffect">
                                  <p:stCondLst>
                                    <p:cond delay="0"/>
                                  </p:stCondLst>
                                  <p:childTnLst>
                                    <p:set>
                                      <p:cBhvr>
                                        <p:cTn id="206" dur="1" fill="hold">
                                          <p:stCondLst>
                                            <p:cond delay="0"/>
                                          </p:stCondLst>
                                        </p:cTn>
                                        <p:tgtEl>
                                          <p:spTgt spid="136"/>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37"/>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132"/>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mph" presetSubtype="2" fill="hold" nodeType="clickEffect">
                                  <p:stCondLst>
                                    <p:cond delay="0"/>
                                  </p:stCondLst>
                                  <p:childTnLst>
                                    <p:animClr clrSpc="rgb" dir="cw">
                                      <p:cBhvr>
                                        <p:cTn id="216" dur="2000" fill="hold"/>
                                        <p:tgtEl>
                                          <p:spTgt spid="34"/>
                                        </p:tgtEl>
                                        <p:attrNameLst>
                                          <p:attrName>fillcolor</p:attrName>
                                        </p:attrNameLst>
                                      </p:cBhvr>
                                      <p:to>
                                        <a:schemeClr val="accent2"/>
                                      </p:to>
                                    </p:animClr>
                                    <p:set>
                                      <p:cBhvr>
                                        <p:cTn id="217" dur="2000" fill="hold"/>
                                        <p:tgtEl>
                                          <p:spTgt spid="34"/>
                                        </p:tgtEl>
                                        <p:attrNameLst>
                                          <p:attrName>fill.type</p:attrName>
                                        </p:attrNameLst>
                                      </p:cBhvr>
                                      <p:to>
                                        <p:strVal val="solid"/>
                                      </p:to>
                                    </p:set>
                                    <p:set>
                                      <p:cBhvr>
                                        <p:cTn id="218" dur="2000" fill="hold"/>
                                        <p:tgtEl>
                                          <p:spTgt spid="34"/>
                                        </p:tgtEl>
                                        <p:attrNameLst>
                                          <p:attrName>fill.on</p:attrName>
                                        </p:attrNameLst>
                                      </p:cBhvr>
                                      <p:to>
                                        <p:strVal val="true"/>
                                      </p:to>
                                    </p:set>
                                  </p:childTnLst>
                                </p:cTn>
                              </p:par>
                              <p:par>
                                <p:cTn id="219" presetID="1" presetClass="emph" presetSubtype="2" fill="hold" nodeType="withEffect">
                                  <p:stCondLst>
                                    <p:cond delay="0"/>
                                  </p:stCondLst>
                                  <p:childTnLst>
                                    <p:animClr clrSpc="rgb" dir="cw">
                                      <p:cBhvr>
                                        <p:cTn id="220" dur="2000" fill="hold"/>
                                        <p:tgtEl>
                                          <p:spTgt spid="35"/>
                                        </p:tgtEl>
                                        <p:attrNameLst>
                                          <p:attrName>fillcolor</p:attrName>
                                        </p:attrNameLst>
                                      </p:cBhvr>
                                      <p:to>
                                        <a:schemeClr val="accent2"/>
                                      </p:to>
                                    </p:animClr>
                                    <p:set>
                                      <p:cBhvr>
                                        <p:cTn id="221" dur="2000" fill="hold"/>
                                        <p:tgtEl>
                                          <p:spTgt spid="35"/>
                                        </p:tgtEl>
                                        <p:attrNameLst>
                                          <p:attrName>fill.type</p:attrName>
                                        </p:attrNameLst>
                                      </p:cBhvr>
                                      <p:to>
                                        <p:strVal val="solid"/>
                                      </p:to>
                                    </p:set>
                                    <p:set>
                                      <p:cBhvr>
                                        <p:cTn id="222" dur="2000" fill="hold"/>
                                        <p:tgtEl>
                                          <p:spTgt spid="35"/>
                                        </p:tgtEl>
                                        <p:attrNameLst>
                                          <p:attrName>fill.on</p:attrName>
                                        </p:attrNameLst>
                                      </p:cBhvr>
                                      <p:to>
                                        <p:strVal val="true"/>
                                      </p:to>
                                    </p:set>
                                  </p:childTnLst>
                                </p:cTn>
                              </p:par>
                              <p:par>
                                <p:cTn id="223" presetID="1" presetClass="emph" presetSubtype="2" fill="hold" nodeType="withEffect">
                                  <p:stCondLst>
                                    <p:cond delay="0"/>
                                  </p:stCondLst>
                                  <p:childTnLst>
                                    <p:animClr clrSpc="rgb" dir="cw">
                                      <p:cBhvr>
                                        <p:cTn id="224" dur="2000" fill="hold"/>
                                        <p:tgtEl>
                                          <p:spTgt spid="36"/>
                                        </p:tgtEl>
                                        <p:attrNameLst>
                                          <p:attrName>fillcolor</p:attrName>
                                        </p:attrNameLst>
                                      </p:cBhvr>
                                      <p:to>
                                        <a:schemeClr val="accent2"/>
                                      </p:to>
                                    </p:animClr>
                                    <p:set>
                                      <p:cBhvr>
                                        <p:cTn id="225" dur="2000" fill="hold"/>
                                        <p:tgtEl>
                                          <p:spTgt spid="36"/>
                                        </p:tgtEl>
                                        <p:attrNameLst>
                                          <p:attrName>fill.type</p:attrName>
                                        </p:attrNameLst>
                                      </p:cBhvr>
                                      <p:to>
                                        <p:strVal val="solid"/>
                                      </p:to>
                                    </p:set>
                                    <p:set>
                                      <p:cBhvr>
                                        <p:cTn id="226" dur="2000" fill="hold"/>
                                        <p:tgtEl>
                                          <p:spTgt spid="36"/>
                                        </p:tgtEl>
                                        <p:attrNameLst>
                                          <p:attrName>fill.on</p:attrName>
                                        </p:attrNameLst>
                                      </p:cBhvr>
                                      <p:to>
                                        <p:strVal val="true"/>
                                      </p:to>
                                    </p:set>
                                  </p:childTnLst>
                                </p:cTn>
                              </p:par>
                              <p:par>
                                <p:cTn id="227" presetID="1" presetClass="emph" presetSubtype="2" fill="hold" nodeType="withEffect">
                                  <p:stCondLst>
                                    <p:cond delay="0"/>
                                  </p:stCondLst>
                                  <p:childTnLst>
                                    <p:animClr clrSpc="rgb" dir="cw">
                                      <p:cBhvr>
                                        <p:cTn id="228" dur="2000" fill="hold"/>
                                        <p:tgtEl>
                                          <p:spTgt spid="37"/>
                                        </p:tgtEl>
                                        <p:attrNameLst>
                                          <p:attrName>fillcolor</p:attrName>
                                        </p:attrNameLst>
                                      </p:cBhvr>
                                      <p:to>
                                        <a:schemeClr val="accent2"/>
                                      </p:to>
                                    </p:animClr>
                                    <p:set>
                                      <p:cBhvr>
                                        <p:cTn id="229" dur="2000" fill="hold"/>
                                        <p:tgtEl>
                                          <p:spTgt spid="37"/>
                                        </p:tgtEl>
                                        <p:attrNameLst>
                                          <p:attrName>fill.type</p:attrName>
                                        </p:attrNameLst>
                                      </p:cBhvr>
                                      <p:to>
                                        <p:strVal val="solid"/>
                                      </p:to>
                                    </p:set>
                                    <p:set>
                                      <p:cBhvr>
                                        <p:cTn id="230" dur="2000" fill="hold"/>
                                        <p:tgtEl>
                                          <p:spTgt spid="37"/>
                                        </p:tgtEl>
                                        <p:attrNameLst>
                                          <p:attrName>fill.on</p:attrName>
                                        </p:attrNameLst>
                                      </p:cBhvr>
                                      <p:to>
                                        <p:strVal val="tru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0"/>
                                          </p:stCondLst>
                                        </p:cTn>
                                        <p:tgtEl>
                                          <p:spTgt spid="13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3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4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41"/>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133"/>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mph" presetSubtype="2" fill="hold" nodeType="clickEffect">
                                  <p:stCondLst>
                                    <p:cond delay="0"/>
                                  </p:stCondLst>
                                  <p:childTnLst>
                                    <p:animClr clrSpc="rgb" dir="cw">
                                      <p:cBhvr>
                                        <p:cTn id="248" dur="10" fill="hold"/>
                                        <p:tgtEl>
                                          <p:spTgt spid="38"/>
                                        </p:tgtEl>
                                        <p:attrNameLst>
                                          <p:attrName>fillcolor</p:attrName>
                                        </p:attrNameLst>
                                      </p:cBhvr>
                                      <p:to>
                                        <a:schemeClr val="accent2"/>
                                      </p:to>
                                    </p:animClr>
                                    <p:set>
                                      <p:cBhvr>
                                        <p:cTn id="249" dur="10" fill="hold"/>
                                        <p:tgtEl>
                                          <p:spTgt spid="38"/>
                                        </p:tgtEl>
                                        <p:attrNameLst>
                                          <p:attrName>fill.type</p:attrName>
                                        </p:attrNameLst>
                                      </p:cBhvr>
                                      <p:to>
                                        <p:strVal val="solid"/>
                                      </p:to>
                                    </p:set>
                                    <p:set>
                                      <p:cBhvr>
                                        <p:cTn id="250" dur="10" fill="hold"/>
                                        <p:tgtEl>
                                          <p:spTgt spid="38"/>
                                        </p:tgtEl>
                                        <p:attrNameLst>
                                          <p:attrName>fill.on</p:attrName>
                                        </p:attrNameLst>
                                      </p:cBhvr>
                                      <p:to>
                                        <p:strVal val="tru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42"/>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34"/>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22" presetClass="entr" presetSubtype="8" fill="hold" nodeType="clickEffect">
                                  <p:stCondLst>
                                    <p:cond delay="0"/>
                                  </p:stCondLst>
                                  <p:childTnLst>
                                    <p:set>
                                      <p:cBhvr>
                                        <p:cTn id="262" dur="1" fill="hold">
                                          <p:stCondLst>
                                            <p:cond delay="0"/>
                                          </p:stCondLst>
                                        </p:cTn>
                                        <p:tgtEl>
                                          <p:spTgt spid="104"/>
                                        </p:tgtEl>
                                        <p:attrNameLst>
                                          <p:attrName>style.visibility</p:attrName>
                                        </p:attrNameLst>
                                      </p:cBhvr>
                                      <p:to>
                                        <p:strVal val="visible"/>
                                      </p:to>
                                    </p:set>
                                    <p:animEffect transition="in" filter="wipe(left)">
                                      <p:cBhvr>
                                        <p:cTn id="263" dur="500"/>
                                        <p:tgtEl>
                                          <p:spTgt spid="104"/>
                                        </p:tgtEl>
                                      </p:cBhvr>
                                    </p:animEffect>
                                  </p:childTnLst>
                                </p:cTn>
                              </p:par>
                            </p:childTnLst>
                          </p:cTn>
                        </p:par>
                      </p:childTnLst>
                    </p:cTn>
                  </p:par>
                  <p:par>
                    <p:cTn id="264" fill="hold">
                      <p:stCondLst>
                        <p:cond delay="indefinite"/>
                      </p:stCondLst>
                      <p:childTnLst>
                        <p:par>
                          <p:cTn id="265" fill="hold">
                            <p:stCondLst>
                              <p:cond delay="0"/>
                            </p:stCondLst>
                            <p:childTnLst>
                              <p:par>
                                <p:cTn id="266" presetID="1" presetClass="entr" presetSubtype="0" fill="hold" grpId="0" nodeType="clickEffect">
                                  <p:stCondLst>
                                    <p:cond delay="0"/>
                                  </p:stCondLst>
                                  <p:childTnLst>
                                    <p:set>
                                      <p:cBhvr>
                                        <p:cTn id="267" dur="1" fill="hold">
                                          <p:stCondLst>
                                            <p:cond delay="0"/>
                                          </p:stCondLst>
                                        </p:cTn>
                                        <p:tgtEl>
                                          <p:spTgt spid="52"/>
                                        </p:tgtEl>
                                        <p:attrNameLst>
                                          <p:attrName>style.visibility</p:attrName>
                                        </p:attrNameLst>
                                      </p:cBhvr>
                                      <p:to>
                                        <p:strVal val="visible"/>
                                      </p:to>
                                    </p:set>
                                  </p:childTnLst>
                                </p:cTn>
                              </p:par>
                              <p:par>
                                <p:cTn id="268" presetID="1" presetClass="entr" presetSubtype="0" fill="hold" grpId="0" nodeType="withEffect">
                                  <p:stCondLst>
                                    <p:cond delay="0"/>
                                  </p:stCondLst>
                                  <p:childTnLst>
                                    <p:set>
                                      <p:cBhvr>
                                        <p:cTn id="269" dur="1" fill="hold">
                                          <p:stCondLst>
                                            <p:cond delay="0"/>
                                          </p:stCondLst>
                                        </p:cTn>
                                        <p:tgtEl>
                                          <p:spTgt spid="53"/>
                                        </p:tgtEl>
                                        <p:attrNameLst>
                                          <p:attrName>style.visibility</p:attrName>
                                        </p:attrNameLst>
                                      </p:cBhvr>
                                      <p:to>
                                        <p:strVal val="visible"/>
                                      </p:to>
                                    </p:set>
                                  </p:childTnLst>
                                </p:cTn>
                              </p:par>
                              <p:par>
                                <p:cTn id="270" presetID="1" presetClass="entr" presetSubtype="0" fill="hold" grpId="0" nodeType="withEffect">
                                  <p:stCondLst>
                                    <p:cond delay="0"/>
                                  </p:stCondLst>
                                  <p:childTnLst>
                                    <p:set>
                                      <p:cBhvr>
                                        <p:cTn id="271" dur="1" fill="hold">
                                          <p:stCondLst>
                                            <p:cond delay="0"/>
                                          </p:stCondLst>
                                        </p:cTn>
                                        <p:tgtEl>
                                          <p:spTgt spid="54"/>
                                        </p:tgtEl>
                                        <p:attrNameLst>
                                          <p:attrName>style.visibility</p:attrName>
                                        </p:attrNameLst>
                                      </p:cBhvr>
                                      <p:to>
                                        <p:strVal val="visible"/>
                                      </p:to>
                                    </p:set>
                                  </p:childTnLst>
                                </p:cTn>
                              </p:par>
                              <p:par>
                                <p:cTn id="272" presetID="1" presetClass="entr" presetSubtype="0" fill="hold" grpId="0" nodeType="withEffect">
                                  <p:stCondLst>
                                    <p:cond delay="0"/>
                                  </p:stCondLst>
                                  <p:childTnLst>
                                    <p:set>
                                      <p:cBhvr>
                                        <p:cTn id="273" dur="1" fill="hold">
                                          <p:stCondLst>
                                            <p:cond delay="0"/>
                                          </p:stCondLst>
                                        </p:cTn>
                                        <p:tgtEl>
                                          <p:spTgt spid="55"/>
                                        </p:tgtEl>
                                        <p:attrNameLst>
                                          <p:attrName>style.visibility</p:attrName>
                                        </p:attrNameLst>
                                      </p:cBhvr>
                                      <p:to>
                                        <p:strVal val="visible"/>
                                      </p:to>
                                    </p:set>
                                  </p:childTnLst>
                                </p:cTn>
                              </p:par>
                              <p:par>
                                <p:cTn id="274" presetID="1" presetClass="entr" presetSubtype="0" fill="hold" grpId="0" nodeType="withEffect">
                                  <p:stCondLst>
                                    <p:cond delay="0"/>
                                  </p:stCondLst>
                                  <p:childTnLst>
                                    <p:set>
                                      <p:cBhvr>
                                        <p:cTn id="275" dur="1" fill="hold">
                                          <p:stCondLst>
                                            <p:cond delay="0"/>
                                          </p:stCondLst>
                                        </p:cTn>
                                        <p:tgtEl>
                                          <p:spTgt spid="56"/>
                                        </p:tgtEl>
                                        <p:attrNameLst>
                                          <p:attrName>style.visibility</p:attrName>
                                        </p:attrNameLst>
                                      </p:cBhvr>
                                      <p:to>
                                        <p:strVal val="visible"/>
                                      </p:to>
                                    </p:set>
                                  </p:childTnLst>
                                </p:cTn>
                              </p:par>
                              <p:par>
                                <p:cTn id="276" presetID="1" presetClass="entr" presetSubtype="0" fill="hold" grpId="0" nodeType="withEffect">
                                  <p:stCondLst>
                                    <p:cond delay="0"/>
                                  </p:stCondLst>
                                  <p:childTnLst>
                                    <p:set>
                                      <p:cBhvr>
                                        <p:cTn id="277" dur="1" fill="hold">
                                          <p:stCondLst>
                                            <p:cond delay="0"/>
                                          </p:stCondLst>
                                        </p:cTn>
                                        <p:tgtEl>
                                          <p:spTgt spid="57"/>
                                        </p:tgtEl>
                                        <p:attrNameLst>
                                          <p:attrName>style.visibility</p:attrName>
                                        </p:attrNameLst>
                                      </p:cBhvr>
                                      <p:to>
                                        <p:strVal val="visible"/>
                                      </p:to>
                                    </p:set>
                                  </p:childTnLst>
                                </p:cTn>
                              </p:par>
                              <p:par>
                                <p:cTn id="278" presetID="1" presetClass="entr" presetSubtype="0" fill="hold" nodeType="withEffect">
                                  <p:stCondLst>
                                    <p:cond delay="0"/>
                                  </p:stCondLst>
                                  <p:childTnLst>
                                    <p:set>
                                      <p:cBhvr>
                                        <p:cTn id="279" dur="1" fill="hold">
                                          <p:stCondLst>
                                            <p:cond delay="0"/>
                                          </p:stCondLst>
                                        </p:cTn>
                                        <p:tgtEl>
                                          <p:spTgt spid="59"/>
                                        </p:tgtEl>
                                        <p:attrNameLst>
                                          <p:attrName>style.visibility</p:attrName>
                                        </p:attrNameLst>
                                      </p:cBhvr>
                                      <p:to>
                                        <p:strVal val="visible"/>
                                      </p:to>
                                    </p:set>
                                  </p:childTnLst>
                                </p:cTn>
                              </p:par>
                              <p:par>
                                <p:cTn id="280" presetID="1" presetClass="entr" presetSubtype="0" fill="hold" nodeType="withEffect">
                                  <p:stCondLst>
                                    <p:cond delay="0"/>
                                  </p:stCondLst>
                                  <p:childTnLst>
                                    <p:set>
                                      <p:cBhvr>
                                        <p:cTn id="281" dur="1" fill="hold">
                                          <p:stCondLst>
                                            <p:cond delay="0"/>
                                          </p:stCondLst>
                                        </p:cTn>
                                        <p:tgtEl>
                                          <p:spTgt spid="61"/>
                                        </p:tgtEl>
                                        <p:attrNameLst>
                                          <p:attrName>style.visibility</p:attrName>
                                        </p:attrNameLst>
                                      </p:cBhvr>
                                      <p:to>
                                        <p:strVal val="visible"/>
                                      </p:to>
                                    </p:set>
                                  </p:childTnLst>
                                </p:cTn>
                              </p:par>
                              <p:par>
                                <p:cTn id="282" presetID="1" presetClass="entr" presetSubtype="0" fill="hold" grpId="0" nodeType="withEffect">
                                  <p:stCondLst>
                                    <p:cond delay="0"/>
                                  </p:stCondLst>
                                  <p:childTnLst>
                                    <p:set>
                                      <p:cBhvr>
                                        <p:cTn id="283" dur="1" fill="hold">
                                          <p:stCondLst>
                                            <p:cond delay="0"/>
                                          </p:stCondLst>
                                        </p:cTn>
                                        <p:tgtEl>
                                          <p:spTgt spid="62"/>
                                        </p:tgtEl>
                                        <p:attrNameLst>
                                          <p:attrName>style.visibility</p:attrName>
                                        </p:attrNameLst>
                                      </p:cBhvr>
                                      <p:to>
                                        <p:strVal val="visible"/>
                                      </p:to>
                                    </p:set>
                                  </p:childTnLst>
                                </p:cTn>
                              </p:par>
                              <p:par>
                                <p:cTn id="284" presetID="1" presetClass="entr" presetSubtype="0" fill="hold" nodeType="withEffect">
                                  <p:stCondLst>
                                    <p:cond delay="0"/>
                                  </p:stCondLst>
                                  <p:childTnLst>
                                    <p:set>
                                      <p:cBhvr>
                                        <p:cTn id="285" dur="1" fill="hold">
                                          <p:stCondLst>
                                            <p:cond delay="0"/>
                                          </p:stCondLst>
                                        </p:cTn>
                                        <p:tgtEl>
                                          <p:spTgt spid="64"/>
                                        </p:tgtEl>
                                        <p:attrNameLst>
                                          <p:attrName>style.visibility</p:attrName>
                                        </p:attrNameLst>
                                      </p:cBhvr>
                                      <p:to>
                                        <p:strVal val="visible"/>
                                      </p:to>
                                    </p:set>
                                  </p:childTnLst>
                                </p:cTn>
                              </p:par>
                              <p:par>
                                <p:cTn id="286" presetID="1" presetClass="entr" presetSubtype="0" fill="hold" nodeType="withEffect">
                                  <p:stCondLst>
                                    <p:cond delay="0"/>
                                  </p:stCondLst>
                                  <p:childTnLst>
                                    <p:set>
                                      <p:cBhvr>
                                        <p:cTn id="287" dur="1" fill="hold">
                                          <p:stCondLst>
                                            <p:cond delay="0"/>
                                          </p:stCondLst>
                                        </p:cTn>
                                        <p:tgtEl>
                                          <p:spTgt spid="68"/>
                                        </p:tgtEl>
                                        <p:attrNameLst>
                                          <p:attrName>style.visibility</p:attrName>
                                        </p:attrNameLst>
                                      </p:cBhvr>
                                      <p:to>
                                        <p:strVal val="visible"/>
                                      </p:to>
                                    </p:set>
                                  </p:childTnLst>
                                </p:cTn>
                              </p:par>
                              <p:par>
                                <p:cTn id="288" presetID="1" presetClass="entr" presetSubtype="0" fill="hold" nodeType="withEffect">
                                  <p:stCondLst>
                                    <p:cond delay="0"/>
                                  </p:stCondLst>
                                  <p:childTnLst>
                                    <p:set>
                                      <p:cBhvr>
                                        <p:cTn id="289" dur="1" fill="hold">
                                          <p:stCondLst>
                                            <p:cond delay="0"/>
                                          </p:stCondLst>
                                        </p:cTn>
                                        <p:tgtEl>
                                          <p:spTgt spid="71"/>
                                        </p:tgtEl>
                                        <p:attrNameLst>
                                          <p:attrName>style.visibility</p:attrName>
                                        </p:attrNameLst>
                                      </p:cBhvr>
                                      <p:to>
                                        <p:strVal val="visible"/>
                                      </p:to>
                                    </p:set>
                                  </p:childTnLst>
                                </p:cTn>
                              </p:par>
                              <p:par>
                                <p:cTn id="290" presetID="1" presetClass="entr" presetSubtype="0" fill="hold" nodeType="withEffect">
                                  <p:stCondLst>
                                    <p:cond delay="0"/>
                                  </p:stCondLst>
                                  <p:childTnLst>
                                    <p:set>
                                      <p:cBhvr>
                                        <p:cTn id="291" dur="1" fill="hold">
                                          <p:stCondLst>
                                            <p:cond delay="0"/>
                                          </p:stCondLst>
                                        </p:cTn>
                                        <p:tgtEl>
                                          <p:spTgt spid="73"/>
                                        </p:tgtEl>
                                        <p:attrNameLst>
                                          <p:attrName>style.visibility</p:attrName>
                                        </p:attrNameLst>
                                      </p:cBhvr>
                                      <p:to>
                                        <p:strVal val="visible"/>
                                      </p:to>
                                    </p:set>
                                  </p:childTnLst>
                                </p:cTn>
                              </p:par>
                              <p:par>
                                <p:cTn id="292" presetID="1" presetClass="entr" presetSubtype="0" fill="hold" nodeType="withEffect">
                                  <p:stCondLst>
                                    <p:cond delay="0"/>
                                  </p:stCondLst>
                                  <p:childTnLst>
                                    <p:set>
                                      <p:cBhvr>
                                        <p:cTn id="293" dur="1" fill="hold">
                                          <p:stCondLst>
                                            <p:cond delay="0"/>
                                          </p:stCondLst>
                                        </p:cTn>
                                        <p:tgtEl>
                                          <p:spTgt spid="77"/>
                                        </p:tgtEl>
                                        <p:attrNameLst>
                                          <p:attrName>style.visibility</p:attrName>
                                        </p:attrNameLst>
                                      </p:cBhvr>
                                      <p:to>
                                        <p:strVal val="visible"/>
                                      </p:to>
                                    </p:set>
                                  </p:childTnLst>
                                </p:cTn>
                              </p:par>
                              <p:par>
                                <p:cTn id="294" presetID="1" presetClass="entr" presetSubtype="0" fill="hold" nodeType="withEffect">
                                  <p:stCondLst>
                                    <p:cond delay="0"/>
                                  </p:stCondLst>
                                  <p:childTnLst>
                                    <p:set>
                                      <p:cBhvr>
                                        <p:cTn id="295" dur="1" fill="hold">
                                          <p:stCondLst>
                                            <p:cond delay="0"/>
                                          </p:stCondLst>
                                        </p:cTn>
                                        <p:tgtEl>
                                          <p:spTgt spid="79"/>
                                        </p:tgtEl>
                                        <p:attrNameLst>
                                          <p:attrName>style.visibility</p:attrName>
                                        </p:attrNameLst>
                                      </p:cBhvr>
                                      <p:to>
                                        <p:strVal val="visible"/>
                                      </p:to>
                                    </p:set>
                                  </p:childTnLst>
                                </p:cTn>
                              </p:par>
                              <p:par>
                                <p:cTn id="296" presetID="1" presetClass="entr" presetSubtype="0" fill="hold" nodeType="withEffect">
                                  <p:stCondLst>
                                    <p:cond delay="0"/>
                                  </p:stCondLst>
                                  <p:childTnLst>
                                    <p:set>
                                      <p:cBhvr>
                                        <p:cTn id="297" dur="1" fill="hold">
                                          <p:stCondLst>
                                            <p:cond delay="0"/>
                                          </p:stCondLst>
                                        </p:cTn>
                                        <p:tgtEl>
                                          <p:spTgt spid="89"/>
                                        </p:tgtEl>
                                        <p:attrNameLst>
                                          <p:attrName>style.visibility</p:attrName>
                                        </p:attrNameLst>
                                      </p:cBhvr>
                                      <p:to>
                                        <p:strVal val="visible"/>
                                      </p:to>
                                    </p:set>
                                  </p:childTnLst>
                                </p:cTn>
                              </p:par>
                              <p:par>
                                <p:cTn id="298" presetID="1" presetClass="entr" presetSubtype="0" fill="hold" nodeType="withEffect">
                                  <p:stCondLst>
                                    <p:cond delay="0"/>
                                  </p:stCondLst>
                                  <p:childTnLst>
                                    <p:set>
                                      <p:cBhvr>
                                        <p:cTn id="299" dur="1" fill="hold">
                                          <p:stCondLst>
                                            <p:cond delay="0"/>
                                          </p:stCondLst>
                                        </p:cTn>
                                        <p:tgtEl>
                                          <p:spTgt spid="91"/>
                                        </p:tgtEl>
                                        <p:attrNameLst>
                                          <p:attrName>style.visibility</p:attrName>
                                        </p:attrNameLst>
                                      </p:cBhvr>
                                      <p:to>
                                        <p:strVal val="visible"/>
                                      </p:to>
                                    </p:set>
                                  </p:childTnLst>
                                </p:cTn>
                              </p:par>
                              <p:par>
                                <p:cTn id="300" presetID="1" presetClass="entr" presetSubtype="0" fill="hold" nodeType="withEffect">
                                  <p:stCondLst>
                                    <p:cond delay="0"/>
                                  </p:stCondLst>
                                  <p:childTnLst>
                                    <p:set>
                                      <p:cBhvr>
                                        <p:cTn id="301" dur="1" fill="hold">
                                          <p:stCondLst>
                                            <p:cond delay="0"/>
                                          </p:stCondLst>
                                        </p:cTn>
                                        <p:tgtEl>
                                          <p:spTgt spid="93"/>
                                        </p:tgtEl>
                                        <p:attrNameLst>
                                          <p:attrName>style.visibility</p:attrName>
                                        </p:attrNameLst>
                                      </p:cBhvr>
                                      <p:to>
                                        <p:strVal val="visible"/>
                                      </p:to>
                                    </p:set>
                                  </p:childTnLst>
                                </p:cTn>
                              </p:par>
                              <p:par>
                                <p:cTn id="302" presetID="1" presetClass="entr" presetSubtype="0" fill="hold" nodeType="withEffect">
                                  <p:stCondLst>
                                    <p:cond delay="0"/>
                                  </p:stCondLst>
                                  <p:childTnLst>
                                    <p:set>
                                      <p:cBhvr>
                                        <p:cTn id="303" dur="1" fill="hold">
                                          <p:stCondLst>
                                            <p:cond delay="0"/>
                                          </p:stCondLst>
                                        </p:cTn>
                                        <p:tgtEl>
                                          <p:spTgt spid="95"/>
                                        </p:tgtEl>
                                        <p:attrNameLst>
                                          <p:attrName>style.visibility</p:attrName>
                                        </p:attrNameLst>
                                      </p:cBhvr>
                                      <p:to>
                                        <p:strVal val="visible"/>
                                      </p:to>
                                    </p:set>
                                  </p:childTnLst>
                                </p:cTn>
                              </p:par>
                              <p:par>
                                <p:cTn id="304" presetID="1" presetClass="entr" presetSubtype="0" fill="hold" grpId="0" nodeType="withEffect">
                                  <p:stCondLst>
                                    <p:cond delay="0"/>
                                  </p:stCondLst>
                                  <p:childTnLst>
                                    <p:set>
                                      <p:cBhvr>
                                        <p:cTn id="305" dur="1" fill="hold">
                                          <p:stCondLst>
                                            <p:cond delay="0"/>
                                          </p:stCondLst>
                                        </p:cTn>
                                        <p:tgtEl>
                                          <p:spTgt spid="96"/>
                                        </p:tgtEl>
                                        <p:attrNameLst>
                                          <p:attrName>style.visibility</p:attrName>
                                        </p:attrNameLst>
                                      </p:cBhvr>
                                      <p:to>
                                        <p:strVal val="visible"/>
                                      </p:to>
                                    </p:set>
                                  </p:childTnLst>
                                </p:cTn>
                              </p:par>
                              <p:par>
                                <p:cTn id="306" presetID="1" presetClass="entr" presetSubtype="0" fill="hold" grpId="0" nodeType="withEffect">
                                  <p:stCondLst>
                                    <p:cond delay="0"/>
                                  </p:stCondLst>
                                  <p:childTnLst>
                                    <p:set>
                                      <p:cBhvr>
                                        <p:cTn id="307" dur="1" fill="hold">
                                          <p:stCondLst>
                                            <p:cond delay="0"/>
                                          </p:stCondLst>
                                        </p:cTn>
                                        <p:tgtEl>
                                          <p:spTgt spid="97"/>
                                        </p:tgtEl>
                                        <p:attrNameLst>
                                          <p:attrName>style.visibility</p:attrName>
                                        </p:attrNameLst>
                                      </p:cBhvr>
                                      <p:to>
                                        <p:strVal val="visible"/>
                                      </p:to>
                                    </p:set>
                                  </p:childTnLst>
                                </p:cTn>
                              </p:par>
                              <p:par>
                                <p:cTn id="308" presetID="1" presetClass="entr" presetSubtype="0" fill="hold" grpId="0" nodeType="withEffect">
                                  <p:stCondLst>
                                    <p:cond delay="0"/>
                                  </p:stCondLst>
                                  <p:childTnLst>
                                    <p:set>
                                      <p:cBhvr>
                                        <p:cTn id="309" dur="1" fill="hold">
                                          <p:stCondLst>
                                            <p:cond delay="0"/>
                                          </p:stCondLst>
                                        </p:cTn>
                                        <p:tgtEl>
                                          <p:spTgt spid="98"/>
                                        </p:tgtEl>
                                        <p:attrNameLst>
                                          <p:attrName>style.visibility</p:attrName>
                                        </p:attrNameLst>
                                      </p:cBhvr>
                                      <p:to>
                                        <p:strVal val="visible"/>
                                      </p:to>
                                    </p:set>
                                  </p:childTnLst>
                                </p:cTn>
                              </p:par>
                              <p:par>
                                <p:cTn id="310" presetID="1" presetClass="entr" presetSubtype="0" fill="hold" grpId="0" nodeType="withEffect">
                                  <p:stCondLst>
                                    <p:cond delay="0"/>
                                  </p:stCondLst>
                                  <p:childTnLst>
                                    <p:set>
                                      <p:cBhvr>
                                        <p:cTn id="311" dur="1" fill="hold">
                                          <p:stCondLst>
                                            <p:cond delay="0"/>
                                          </p:stCondLst>
                                        </p:cTn>
                                        <p:tgtEl>
                                          <p:spTgt spid="99"/>
                                        </p:tgtEl>
                                        <p:attrNameLst>
                                          <p:attrName>style.visibility</p:attrName>
                                        </p:attrNameLst>
                                      </p:cBhvr>
                                      <p:to>
                                        <p:strVal val="visible"/>
                                      </p:to>
                                    </p:set>
                                  </p:childTnLst>
                                </p:cTn>
                              </p:par>
                              <p:par>
                                <p:cTn id="312" presetID="1" presetClass="entr" presetSubtype="0" fill="hold" grpId="0" nodeType="withEffect">
                                  <p:stCondLst>
                                    <p:cond delay="0"/>
                                  </p:stCondLst>
                                  <p:childTnLst>
                                    <p:set>
                                      <p:cBhvr>
                                        <p:cTn id="313" dur="1" fill="hold">
                                          <p:stCondLst>
                                            <p:cond delay="0"/>
                                          </p:stCondLst>
                                        </p:cTn>
                                        <p:tgtEl>
                                          <p:spTgt spid="100"/>
                                        </p:tgtEl>
                                        <p:attrNameLst>
                                          <p:attrName>style.visibility</p:attrName>
                                        </p:attrNameLst>
                                      </p:cBhvr>
                                      <p:to>
                                        <p:strVal val="visible"/>
                                      </p:to>
                                    </p:set>
                                  </p:childTnLst>
                                </p:cTn>
                              </p:par>
                              <p:par>
                                <p:cTn id="314" presetID="1" presetClass="entr" presetSubtype="0" fill="hold" grpId="0" nodeType="withEffect">
                                  <p:stCondLst>
                                    <p:cond delay="0"/>
                                  </p:stCondLst>
                                  <p:childTnLst>
                                    <p:set>
                                      <p:cBhvr>
                                        <p:cTn id="315" dur="1" fill="hold">
                                          <p:stCondLst>
                                            <p:cond delay="0"/>
                                          </p:stCondLst>
                                        </p:cTn>
                                        <p:tgtEl>
                                          <p:spTgt spid="102"/>
                                        </p:tgtEl>
                                        <p:attrNameLst>
                                          <p:attrName>style.visibility</p:attrName>
                                        </p:attrNameLst>
                                      </p:cBhvr>
                                      <p:to>
                                        <p:strVal val="visible"/>
                                      </p:to>
                                    </p:set>
                                  </p:childTnLst>
                                </p:cTn>
                              </p:par>
                              <p:par>
                                <p:cTn id="316" presetID="1" presetClass="entr" presetSubtype="0" fill="hold" grpId="0" nodeType="withEffect">
                                  <p:stCondLst>
                                    <p:cond delay="0"/>
                                  </p:stCondLst>
                                  <p:childTnLst>
                                    <p:set>
                                      <p:cBhvr>
                                        <p:cTn id="317" dur="1" fill="hold">
                                          <p:stCondLst>
                                            <p:cond delay="0"/>
                                          </p:stCondLst>
                                        </p:cTn>
                                        <p:tgtEl>
                                          <p:spTgt spid="101"/>
                                        </p:tgtEl>
                                        <p:attrNameLst>
                                          <p:attrName>style.visibility</p:attrName>
                                        </p:attrNameLst>
                                      </p:cBhvr>
                                      <p:to>
                                        <p:strVal val="visible"/>
                                      </p:to>
                                    </p:set>
                                  </p:childTnLst>
                                </p:cTn>
                              </p:par>
                            </p:childTnLst>
                          </p:cTn>
                        </p:par>
                      </p:childTnLst>
                    </p:cTn>
                  </p:par>
                  <p:par>
                    <p:cTn id="318" fill="hold">
                      <p:stCondLst>
                        <p:cond delay="indefinite"/>
                      </p:stCondLst>
                      <p:childTnLst>
                        <p:par>
                          <p:cTn id="319" fill="hold">
                            <p:stCondLst>
                              <p:cond delay="0"/>
                            </p:stCondLst>
                            <p:childTnLst>
                              <p:par>
                                <p:cTn id="320" presetID="1" presetClass="entr" presetSubtype="0" fill="hold" grpId="0" nodeType="clickEffect">
                                  <p:stCondLst>
                                    <p:cond delay="0"/>
                                  </p:stCondLst>
                                  <p:childTnLst>
                                    <p:set>
                                      <p:cBhvr>
                                        <p:cTn id="321"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21" grpId="0" animBg="1"/>
      <p:bldP spid="31" grpId="0" animBg="1"/>
      <p:bldP spid="32" grpId="0" animBg="1"/>
      <p:bldP spid="33" grpId="0" animBg="1"/>
      <p:bldP spid="34" grpId="0" animBg="1"/>
      <p:bldP spid="35" grpId="0" animBg="1"/>
      <p:bldP spid="36" grpId="0" animBg="1"/>
      <p:bldP spid="37" grpId="0" animBg="1"/>
      <p:bldP spid="38" grpId="0" animBg="1"/>
      <p:bldP spid="52" grpId="0" animBg="1"/>
      <p:bldP spid="53" grpId="0" animBg="1"/>
      <p:bldP spid="54" grpId="0" animBg="1"/>
      <p:bldP spid="55" grpId="0" animBg="1"/>
      <p:bldP spid="56" grpId="0" animBg="1"/>
      <p:bldP spid="57" grpId="0" animBg="1"/>
      <p:bldP spid="62" grpId="0" animBg="1"/>
      <p:bldP spid="96" grpId="0"/>
      <p:bldP spid="97" grpId="0"/>
      <p:bldP spid="98" grpId="0"/>
      <p:bldP spid="99" grpId="0"/>
      <p:bldP spid="100" grpId="0"/>
      <p:bldP spid="101" grpId="0"/>
      <p:bldP spid="102"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137" grpId="0"/>
      <p:bldP spid="138" grpId="0"/>
      <p:bldP spid="139" grpId="0"/>
      <p:bldP spid="140" grpId="0"/>
      <p:bldP spid="141" grpId="0"/>
      <p:bldP spid="142" grpId="0"/>
      <p:bldP spid="1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9465-850D-4D4A-964F-7E3009768864}"/>
              </a:ext>
            </a:extLst>
          </p:cNvPr>
          <p:cNvSpPr>
            <a:spLocks noGrp="1"/>
          </p:cNvSpPr>
          <p:nvPr>
            <p:ph type="title"/>
          </p:nvPr>
        </p:nvSpPr>
        <p:spPr/>
        <p:txBody>
          <a:bodyPr/>
          <a:lstStyle/>
          <a:p>
            <a:r>
              <a:rPr lang="en-IN" dirty="0"/>
              <a:t>Difference</a:t>
            </a:r>
          </a:p>
        </p:txBody>
      </p:sp>
      <p:sp>
        <p:nvSpPr>
          <p:cNvPr id="3" name="Content Placeholder 2">
            <a:extLst>
              <a:ext uri="{FF2B5EF4-FFF2-40B4-BE49-F238E27FC236}">
                <a16:creationId xmlns:a16="http://schemas.microsoft.com/office/drawing/2014/main" id="{D7DF3BCD-1108-4EE9-B46B-92C12E804F2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97E46D7-77CE-498C-8D08-902803F06BCD}"/>
              </a:ext>
            </a:extLst>
          </p:cNvPr>
          <p:cNvPicPr>
            <a:picLocks noChangeAspect="1"/>
          </p:cNvPicPr>
          <p:nvPr/>
        </p:nvPicPr>
        <p:blipFill>
          <a:blip r:embed="rId2"/>
          <a:stretch>
            <a:fillRect/>
          </a:stretch>
        </p:blipFill>
        <p:spPr>
          <a:xfrm>
            <a:off x="1222833" y="869423"/>
            <a:ext cx="9505439" cy="3991576"/>
          </a:xfrm>
          <a:prstGeom prst="rect">
            <a:avLst/>
          </a:prstGeom>
        </p:spPr>
      </p:pic>
    </p:spTree>
    <p:extLst>
      <p:ext uri="{BB962C8B-B14F-4D97-AF65-F5344CB8AC3E}">
        <p14:creationId xmlns:p14="http://schemas.microsoft.com/office/powerpoint/2010/main" val="1320769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DFS &amp; BFS of following Graphs</a:t>
            </a:r>
          </a:p>
        </p:txBody>
      </p:sp>
      <p:sp>
        <p:nvSpPr>
          <p:cNvPr id="4" name="Oval 3"/>
          <p:cNvSpPr/>
          <p:nvPr/>
        </p:nvSpPr>
        <p:spPr>
          <a:xfrm>
            <a:off x="2590797" y="1066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1981197" y="1600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3276597" y="1600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7" name="Oval 6"/>
          <p:cNvSpPr/>
          <p:nvPr/>
        </p:nvSpPr>
        <p:spPr>
          <a:xfrm>
            <a:off x="1523997"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2362197"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9" name="Oval 8"/>
          <p:cNvSpPr/>
          <p:nvPr/>
        </p:nvSpPr>
        <p:spPr>
          <a:xfrm>
            <a:off x="2971797"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10" name="Oval 9"/>
          <p:cNvSpPr/>
          <p:nvPr/>
        </p:nvSpPr>
        <p:spPr>
          <a:xfrm>
            <a:off x="3733797" y="2209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11" name="Oval 10"/>
          <p:cNvSpPr/>
          <p:nvPr/>
        </p:nvSpPr>
        <p:spPr>
          <a:xfrm>
            <a:off x="2590797" y="3352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12" name="Straight Connector 11"/>
          <p:cNvCxnSpPr>
            <a:stCxn id="4" idx="3"/>
            <a:endCxn id="5" idx="7"/>
          </p:cNvCxnSpPr>
          <p:nvPr/>
        </p:nvCxnSpPr>
        <p:spPr>
          <a:xfrm flipH="1">
            <a:off x="2306401" y="1392004"/>
            <a:ext cx="3401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4" idx="5"/>
            <a:endCxn id="6" idx="1"/>
          </p:cNvCxnSpPr>
          <p:nvPr/>
        </p:nvCxnSpPr>
        <p:spPr>
          <a:xfrm>
            <a:off x="2916001" y="1392004"/>
            <a:ext cx="416392" cy="263992"/>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5" idx="3"/>
            <a:endCxn id="7" idx="0"/>
          </p:cNvCxnSpPr>
          <p:nvPr/>
        </p:nvCxnSpPr>
        <p:spPr>
          <a:xfrm flipH="1">
            <a:off x="1714497" y="19254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5" idx="5"/>
            <a:endCxn id="8" idx="0"/>
          </p:cNvCxnSpPr>
          <p:nvPr/>
        </p:nvCxnSpPr>
        <p:spPr>
          <a:xfrm>
            <a:off x="2306401" y="1925404"/>
            <a:ext cx="2462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3"/>
            <a:endCxn id="9" idx="0"/>
          </p:cNvCxnSpPr>
          <p:nvPr/>
        </p:nvCxnSpPr>
        <p:spPr>
          <a:xfrm flipH="1">
            <a:off x="3162297" y="1925404"/>
            <a:ext cx="1700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6" idx="5"/>
            <a:endCxn id="10" idx="0"/>
          </p:cNvCxnSpPr>
          <p:nvPr/>
        </p:nvCxnSpPr>
        <p:spPr>
          <a:xfrm>
            <a:off x="3601801" y="1925404"/>
            <a:ext cx="322496" cy="2843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7" idx="4"/>
            <a:endCxn id="11" idx="2"/>
          </p:cNvCxnSpPr>
          <p:nvPr/>
        </p:nvCxnSpPr>
        <p:spPr>
          <a:xfrm>
            <a:off x="1714497" y="2590800"/>
            <a:ext cx="8763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8" idx="4"/>
            <a:endCxn id="11" idx="1"/>
          </p:cNvCxnSpPr>
          <p:nvPr/>
        </p:nvCxnSpPr>
        <p:spPr>
          <a:xfrm>
            <a:off x="2552697" y="2590800"/>
            <a:ext cx="938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1" idx="7"/>
          </p:cNvCxnSpPr>
          <p:nvPr/>
        </p:nvCxnSpPr>
        <p:spPr>
          <a:xfrm flipH="1">
            <a:off x="2916001" y="2590800"/>
            <a:ext cx="246296" cy="817796"/>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0" idx="4"/>
            <a:endCxn id="11" idx="6"/>
          </p:cNvCxnSpPr>
          <p:nvPr/>
        </p:nvCxnSpPr>
        <p:spPr>
          <a:xfrm flipH="1">
            <a:off x="2971797" y="2590800"/>
            <a:ext cx="952500" cy="952500"/>
          </a:xfrm>
          <a:prstGeom prst="line">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22" name="Oval 21"/>
          <p:cNvSpPr/>
          <p:nvPr/>
        </p:nvSpPr>
        <p:spPr>
          <a:xfrm>
            <a:off x="1447797" y="44118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23" name="Oval 22"/>
          <p:cNvSpPr/>
          <p:nvPr/>
        </p:nvSpPr>
        <p:spPr>
          <a:xfrm>
            <a:off x="914397" y="4983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24" name="Oval 23"/>
          <p:cNvSpPr/>
          <p:nvPr/>
        </p:nvSpPr>
        <p:spPr>
          <a:xfrm>
            <a:off x="2057397" y="4983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25" name="Oval 24"/>
          <p:cNvSpPr/>
          <p:nvPr/>
        </p:nvSpPr>
        <p:spPr>
          <a:xfrm>
            <a:off x="1447797" y="5562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26" name="Oval 25"/>
          <p:cNvSpPr/>
          <p:nvPr/>
        </p:nvSpPr>
        <p:spPr>
          <a:xfrm>
            <a:off x="3352797" y="498339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27" name="Oval 26"/>
          <p:cNvSpPr/>
          <p:nvPr/>
        </p:nvSpPr>
        <p:spPr>
          <a:xfrm>
            <a:off x="2666997" y="5562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28" name="Straight Connector 27"/>
          <p:cNvCxnSpPr>
            <a:stCxn id="22" idx="3"/>
            <a:endCxn id="23" idx="7"/>
          </p:cNvCxnSpPr>
          <p:nvPr/>
        </p:nvCxnSpPr>
        <p:spPr>
          <a:xfrm flipH="1">
            <a:off x="1239601" y="4737100"/>
            <a:ext cx="2639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a:stCxn id="22" idx="5"/>
            <a:endCxn id="24" idx="1"/>
          </p:cNvCxnSpPr>
          <p:nvPr/>
        </p:nvCxnSpPr>
        <p:spPr>
          <a:xfrm>
            <a:off x="1773001" y="4737100"/>
            <a:ext cx="3401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a:stCxn id="23" idx="5"/>
            <a:endCxn id="25" idx="2"/>
          </p:cNvCxnSpPr>
          <p:nvPr/>
        </p:nvCxnSpPr>
        <p:spPr>
          <a:xfrm>
            <a:off x="1239601" y="5308600"/>
            <a:ext cx="2081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a:stCxn id="25" idx="7"/>
            <a:endCxn id="24" idx="3"/>
          </p:cNvCxnSpPr>
          <p:nvPr/>
        </p:nvCxnSpPr>
        <p:spPr>
          <a:xfrm flipV="1">
            <a:off x="1773001" y="5308600"/>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24" idx="6"/>
            <a:endCxn id="26" idx="2"/>
          </p:cNvCxnSpPr>
          <p:nvPr/>
        </p:nvCxnSpPr>
        <p:spPr>
          <a:xfrm>
            <a:off x="2438397" y="5173896"/>
            <a:ext cx="914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3" name="Straight Connector 32"/>
          <p:cNvCxnSpPr>
            <a:stCxn id="24" idx="5"/>
            <a:endCxn id="27" idx="1"/>
          </p:cNvCxnSpPr>
          <p:nvPr/>
        </p:nvCxnSpPr>
        <p:spPr>
          <a:xfrm>
            <a:off x="2382601" y="5308600"/>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4" name="Straight Connector 33"/>
          <p:cNvCxnSpPr>
            <a:stCxn id="26" idx="3"/>
            <a:endCxn id="27" idx="6"/>
          </p:cNvCxnSpPr>
          <p:nvPr/>
        </p:nvCxnSpPr>
        <p:spPr>
          <a:xfrm flipH="1">
            <a:off x="3047997" y="5308600"/>
            <a:ext cx="3605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5" name="Straight Connector 34"/>
          <p:cNvCxnSpPr/>
          <p:nvPr/>
        </p:nvCxnSpPr>
        <p:spPr>
          <a:xfrm>
            <a:off x="800097" y="3962400"/>
            <a:ext cx="8763000" cy="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p:cNvCxnSpPr/>
          <p:nvPr/>
        </p:nvCxnSpPr>
        <p:spPr>
          <a:xfrm>
            <a:off x="3962397" y="3962401"/>
            <a:ext cx="0" cy="2414689"/>
          </a:xfrm>
          <a:prstGeom prst="line">
            <a:avLst/>
          </a:prstGeom>
        </p:spPr>
        <p:style>
          <a:lnRef idx="2">
            <a:schemeClr val="dk1"/>
          </a:lnRef>
          <a:fillRef idx="0">
            <a:schemeClr val="dk1"/>
          </a:fillRef>
          <a:effectRef idx="1">
            <a:schemeClr val="dk1"/>
          </a:effectRef>
          <a:fontRef idx="minor">
            <a:schemeClr val="tx1"/>
          </a:fontRef>
        </p:style>
      </p:cxnSp>
      <p:sp>
        <p:nvSpPr>
          <p:cNvPr id="37" name="Oval 36"/>
          <p:cNvSpPr/>
          <p:nvPr/>
        </p:nvSpPr>
        <p:spPr>
          <a:xfrm>
            <a:off x="6000749" y="25375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a:t>
            </a:r>
          </a:p>
        </p:txBody>
      </p:sp>
      <p:sp>
        <p:nvSpPr>
          <p:cNvPr id="38" name="Oval 37"/>
          <p:cNvSpPr/>
          <p:nvPr/>
        </p:nvSpPr>
        <p:spPr>
          <a:xfrm>
            <a:off x="6438899" y="177388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a:t>
            </a:r>
          </a:p>
        </p:txBody>
      </p:sp>
      <p:sp>
        <p:nvSpPr>
          <p:cNvPr id="39" name="Oval 38"/>
          <p:cNvSpPr/>
          <p:nvPr/>
        </p:nvSpPr>
        <p:spPr>
          <a:xfrm>
            <a:off x="6829626" y="2895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Q</a:t>
            </a:r>
          </a:p>
        </p:txBody>
      </p:sp>
      <p:sp>
        <p:nvSpPr>
          <p:cNvPr id="40" name="Oval 39"/>
          <p:cNvSpPr/>
          <p:nvPr/>
        </p:nvSpPr>
        <p:spPr>
          <a:xfrm>
            <a:off x="7524748" y="17755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N</a:t>
            </a:r>
          </a:p>
        </p:txBody>
      </p:sp>
      <p:sp>
        <p:nvSpPr>
          <p:cNvPr id="41" name="Oval 40"/>
          <p:cNvSpPr/>
          <p:nvPr/>
        </p:nvSpPr>
        <p:spPr>
          <a:xfrm>
            <a:off x="8065445" y="2895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t>
            </a:r>
          </a:p>
        </p:txBody>
      </p:sp>
      <p:sp>
        <p:nvSpPr>
          <p:cNvPr id="42" name="Oval 41"/>
          <p:cNvSpPr/>
          <p:nvPr/>
        </p:nvSpPr>
        <p:spPr>
          <a:xfrm>
            <a:off x="8610597" y="177388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O</a:t>
            </a:r>
          </a:p>
        </p:txBody>
      </p:sp>
      <p:cxnSp>
        <p:nvCxnSpPr>
          <p:cNvPr id="43" name="Straight Connector 42"/>
          <p:cNvCxnSpPr>
            <a:stCxn id="38" idx="3"/>
            <a:endCxn id="37" idx="0"/>
          </p:cNvCxnSpPr>
          <p:nvPr/>
        </p:nvCxnSpPr>
        <p:spPr>
          <a:xfrm flipH="1">
            <a:off x="6191249" y="2099087"/>
            <a:ext cx="303446" cy="4384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4" name="Straight Connector 43"/>
          <p:cNvCxnSpPr>
            <a:stCxn id="38" idx="6"/>
            <a:endCxn id="40" idx="2"/>
          </p:cNvCxnSpPr>
          <p:nvPr/>
        </p:nvCxnSpPr>
        <p:spPr>
          <a:xfrm>
            <a:off x="6819900" y="1964383"/>
            <a:ext cx="704849" cy="1621"/>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5" name="Straight Connector 44"/>
          <p:cNvCxnSpPr>
            <a:stCxn id="38" idx="4"/>
            <a:endCxn id="39" idx="0"/>
          </p:cNvCxnSpPr>
          <p:nvPr/>
        </p:nvCxnSpPr>
        <p:spPr>
          <a:xfrm>
            <a:off x="6629400" y="2154882"/>
            <a:ext cx="390727" cy="74071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40" idx="4"/>
            <a:endCxn id="39" idx="7"/>
          </p:cNvCxnSpPr>
          <p:nvPr/>
        </p:nvCxnSpPr>
        <p:spPr>
          <a:xfrm flipH="1">
            <a:off x="7154830" y="2156504"/>
            <a:ext cx="560418" cy="79489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2" idx="4"/>
            <a:endCxn id="41" idx="7"/>
          </p:cNvCxnSpPr>
          <p:nvPr/>
        </p:nvCxnSpPr>
        <p:spPr>
          <a:xfrm flipH="1">
            <a:off x="8390649" y="2154882"/>
            <a:ext cx="410448" cy="79651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8" name="Straight Connector 47"/>
          <p:cNvCxnSpPr>
            <a:stCxn id="39" idx="6"/>
            <a:endCxn id="41" idx="2"/>
          </p:cNvCxnSpPr>
          <p:nvPr/>
        </p:nvCxnSpPr>
        <p:spPr>
          <a:xfrm>
            <a:off x="7210627" y="3086100"/>
            <a:ext cx="854819"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9" name="Straight Connector 48"/>
          <p:cNvCxnSpPr>
            <a:stCxn id="40" idx="6"/>
            <a:endCxn id="42" idx="2"/>
          </p:cNvCxnSpPr>
          <p:nvPr/>
        </p:nvCxnSpPr>
        <p:spPr>
          <a:xfrm flipV="1">
            <a:off x="7905749" y="1964383"/>
            <a:ext cx="704849" cy="1621"/>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0" name="Straight Arrow Connector 49"/>
          <p:cNvCxnSpPr>
            <a:endCxn id="38" idx="0"/>
          </p:cNvCxnSpPr>
          <p:nvPr/>
        </p:nvCxnSpPr>
        <p:spPr>
          <a:xfrm>
            <a:off x="6629399" y="1524000"/>
            <a:ext cx="0" cy="24988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4" name="Oval 53"/>
          <p:cNvSpPr/>
          <p:nvPr/>
        </p:nvSpPr>
        <p:spPr>
          <a:xfrm>
            <a:off x="4114797" y="44806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a:t>
            </a:r>
          </a:p>
        </p:txBody>
      </p:sp>
      <p:sp>
        <p:nvSpPr>
          <p:cNvPr id="55" name="Oval 54"/>
          <p:cNvSpPr/>
          <p:nvPr/>
        </p:nvSpPr>
        <p:spPr>
          <a:xfrm>
            <a:off x="5568270" y="448060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sp>
        <p:nvSpPr>
          <p:cNvPr id="57" name="Oval 56"/>
          <p:cNvSpPr/>
          <p:nvPr/>
        </p:nvSpPr>
        <p:spPr>
          <a:xfrm>
            <a:off x="4114797" y="5791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p>
        </p:txBody>
      </p:sp>
      <p:sp>
        <p:nvSpPr>
          <p:cNvPr id="58" name="Oval 57"/>
          <p:cNvSpPr/>
          <p:nvPr/>
        </p:nvSpPr>
        <p:spPr>
          <a:xfrm>
            <a:off x="5568270" y="5791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p>
        </p:txBody>
      </p:sp>
      <p:sp>
        <p:nvSpPr>
          <p:cNvPr id="59" name="Oval 58"/>
          <p:cNvSpPr/>
          <p:nvPr/>
        </p:nvSpPr>
        <p:spPr>
          <a:xfrm>
            <a:off x="4856392" y="515511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a:t>
            </a:r>
          </a:p>
        </p:txBody>
      </p:sp>
      <p:sp>
        <p:nvSpPr>
          <p:cNvPr id="60" name="Oval 59"/>
          <p:cNvSpPr/>
          <p:nvPr/>
        </p:nvSpPr>
        <p:spPr>
          <a:xfrm>
            <a:off x="6320744" y="515511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cxnSp>
        <p:nvCxnSpPr>
          <p:cNvPr id="62" name="Straight Connector 61"/>
          <p:cNvCxnSpPr>
            <a:stCxn id="54" idx="6"/>
            <a:endCxn id="55" idx="2"/>
          </p:cNvCxnSpPr>
          <p:nvPr/>
        </p:nvCxnSpPr>
        <p:spPr>
          <a:xfrm>
            <a:off x="4495798" y="4671103"/>
            <a:ext cx="1072473"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4" name="Straight Connector 63"/>
          <p:cNvCxnSpPr>
            <a:stCxn id="54" idx="4"/>
            <a:endCxn id="57" idx="0"/>
          </p:cNvCxnSpPr>
          <p:nvPr/>
        </p:nvCxnSpPr>
        <p:spPr>
          <a:xfrm>
            <a:off x="4305297" y="4861604"/>
            <a:ext cx="0" cy="92959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6" name="Straight Connector 65"/>
          <p:cNvCxnSpPr>
            <a:stCxn id="57" idx="6"/>
            <a:endCxn id="58" idx="2"/>
          </p:cNvCxnSpPr>
          <p:nvPr/>
        </p:nvCxnSpPr>
        <p:spPr>
          <a:xfrm>
            <a:off x="4495798" y="5981700"/>
            <a:ext cx="1072473"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8" name="Straight Connector 67"/>
          <p:cNvCxnSpPr>
            <a:stCxn id="55" idx="4"/>
            <a:endCxn id="58" idx="0"/>
          </p:cNvCxnSpPr>
          <p:nvPr/>
        </p:nvCxnSpPr>
        <p:spPr>
          <a:xfrm>
            <a:off x="5758770" y="4861604"/>
            <a:ext cx="0" cy="92959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0" name="Straight Connector 69"/>
          <p:cNvCxnSpPr>
            <a:stCxn id="54" idx="5"/>
            <a:endCxn id="59" idx="1"/>
          </p:cNvCxnSpPr>
          <p:nvPr/>
        </p:nvCxnSpPr>
        <p:spPr>
          <a:xfrm>
            <a:off x="4440002" y="4805807"/>
            <a:ext cx="472187" cy="40510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2" name="Straight Connector 71"/>
          <p:cNvCxnSpPr>
            <a:stCxn id="59" idx="5"/>
            <a:endCxn id="58" idx="1"/>
          </p:cNvCxnSpPr>
          <p:nvPr/>
        </p:nvCxnSpPr>
        <p:spPr>
          <a:xfrm>
            <a:off x="5181596" y="5480324"/>
            <a:ext cx="442470" cy="36667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4" name="Straight Connector 73"/>
          <p:cNvCxnSpPr>
            <a:stCxn id="57" idx="7"/>
            <a:endCxn id="59" idx="3"/>
          </p:cNvCxnSpPr>
          <p:nvPr/>
        </p:nvCxnSpPr>
        <p:spPr>
          <a:xfrm flipV="1">
            <a:off x="4440002" y="5480324"/>
            <a:ext cx="472187" cy="36667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6" name="Straight Connector 75"/>
          <p:cNvCxnSpPr>
            <a:stCxn id="59" idx="7"/>
            <a:endCxn id="55" idx="3"/>
          </p:cNvCxnSpPr>
          <p:nvPr/>
        </p:nvCxnSpPr>
        <p:spPr>
          <a:xfrm flipV="1">
            <a:off x="5181596" y="4805807"/>
            <a:ext cx="442470" cy="40510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8" name="Straight Connector 77"/>
          <p:cNvCxnSpPr>
            <a:stCxn id="55" idx="5"/>
            <a:endCxn id="60" idx="1"/>
          </p:cNvCxnSpPr>
          <p:nvPr/>
        </p:nvCxnSpPr>
        <p:spPr>
          <a:xfrm>
            <a:off x="5893474" y="4805807"/>
            <a:ext cx="483066" cy="40510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0" name="Straight Connector 79"/>
          <p:cNvCxnSpPr>
            <a:stCxn id="60" idx="3"/>
            <a:endCxn id="58" idx="7"/>
          </p:cNvCxnSpPr>
          <p:nvPr/>
        </p:nvCxnSpPr>
        <p:spPr>
          <a:xfrm flipH="1">
            <a:off x="5893474" y="5480324"/>
            <a:ext cx="483066" cy="36667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6" name="Straight Connector 85"/>
          <p:cNvCxnSpPr/>
          <p:nvPr/>
        </p:nvCxnSpPr>
        <p:spPr>
          <a:xfrm>
            <a:off x="5410197" y="1219200"/>
            <a:ext cx="0" cy="2743200"/>
          </a:xfrm>
          <a:prstGeom prst="line">
            <a:avLst/>
          </a:prstGeom>
        </p:spPr>
        <p:style>
          <a:lnRef idx="2">
            <a:schemeClr val="dk1"/>
          </a:lnRef>
          <a:fillRef idx="0">
            <a:schemeClr val="dk1"/>
          </a:fillRef>
          <a:effectRef idx="1">
            <a:schemeClr val="dk1"/>
          </a:effectRef>
          <a:fontRef idx="minor">
            <a:schemeClr val="tx1"/>
          </a:fontRef>
        </p:style>
      </p:cxnSp>
      <p:sp>
        <p:nvSpPr>
          <p:cNvPr id="89" name="Oval 88"/>
          <p:cNvSpPr/>
          <p:nvPr/>
        </p:nvSpPr>
        <p:spPr>
          <a:xfrm>
            <a:off x="8153397" y="428625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90" name="Oval 89"/>
          <p:cNvSpPr/>
          <p:nvPr/>
        </p:nvSpPr>
        <p:spPr>
          <a:xfrm>
            <a:off x="7162797" y="4953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91" name="Oval 90"/>
          <p:cNvSpPr/>
          <p:nvPr/>
        </p:nvSpPr>
        <p:spPr>
          <a:xfrm>
            <a:off x="7619997" y="594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92" name="Oval 91"/>
          <p:cNvSpPr/>
          <p:nvPr/>
        </p:nvSpPr>
        <p:spPr>
          <a:xfrm>
            <a:off x="8839197" y="5943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93" name="Oval 92"/>
          <p:cNvSpPr/>
          <p:nvPr/>
        </p:nvSpPr>
        <p:spPr>
          <a:xfrm>
            <a:off x="9220197" y="4953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94" name="Straight Arrow Connector 93"/>
          <p:cNvCxnSpPr>
            <a:stCxn id="89" idx="2"/>
            <a:endCxn id="90" idx="7"/>
          </p:cNvCxnSpPr>
          <p:nvPr/>
        </p:nvCxnSpPr>
        <p:spPr>
          <a:xfrm flipH="1">
            <a:off x="7488001" y="4476750"/>
            <a:ext cx="665396" cy="53204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5" name="Straight Arrow Connector 94"/>
          <p:cNvCxnSpPr>
            <a:stCxn id="89" idx="6"/>
            <a:endCxn id="93" idx="1"/>
          </p:cNvCxnSpPr>
          <p:nvPr/>
        </p:nvCxnSpPr>
        <p:spPr>
          <a:xfrm>
            <a:off x="8534397" y="4476750"/>
            <a:ext cx="741596" cy="53204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6" name="Straight Arrow Connector 95"/>
          <p:cNvCxnSpPr>
            <a:stCxn id="90" idx="4"/>
            <a:endCxn id="91" idx="1"/>
          </p:cNvCxnSpPr>
          <p:nvPr/>
        </p:nvCxnSpPr>
        <p:spPr>
          <a:xfrm>
            <a:off x="7353297" y="5334000"/>
            <a:ext cx="322496" cy="66539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7" name="Straight Arrow Connector 96"/>
          <p:cNvCxnSpPr>
            <a:stCxn id="93" idx="4"/>
            <a:endCxn id="92" idx="7"/>
          </p:cNvCxnSpPr>
          <p:nvPr/>
        </p:nvCxnSpPr>
        <p:spPr>
          <a:xfrm flipH="1">
            <a:off x="9164401" y="5334000"/>
            <a:ext cx="246296" cy="66539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8" name="Straight Arrow Connector 97"/>
          <p:cNvCxnSpPr>
            <a:stCxn id="89" idx="3"/>
            <a:endCxn id="91" idx="0"/>
          </p:cNvCxnSpPr>
          <p:nvPr/>
        </p:nvCxnSpPr>
        <p:spPr>
          <a:xfrm flipH="1">
            <a:off x="7810497" y="4611454"/>
            <a:ext cx="398696" cy="133214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99" name="Straight Arrow Connector 98"/>
          <p:cNvCxnSpPr>
            <a:stCxn id="89" idx="5"/>
            <a:endCxn id="92" idx="0"/>
          </p:cNvCxnSpPr>
          <p:nvPr/>
        </p:nvCxnSpPr>
        <p:spPr>
          <a:xfrm>
            <a:off x="8478601" y="4611454"/>
            <a:ext cx="551096" cy="1332146"/>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0" name="Straight Arrow Connector 99"/>
          <p:cNvCxnSpPr>
            <a:stCxn id="90" idx="6"/>
            <a:endCxn id="93" idx="2"/>
          </p:cNvCxnSpPr>
          <p:nvPr/>
        </p:nvCxnSpPr>
        <p:spPr>
          <a:xfrm>
            <a:off x="7543797" y="5143500"/>
            <a:ext cx="16764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1" name="Straight Arrow Connector 100"/>
          <p:cNvCxnSpPr>
            <a:stCxn id="91" idx="6"/>
            <a:endCxn id="92" idx="2"/>
          </p:cNvCxnSpPr>
          <p:nvPr/>
        </p:nvCxnSpPr>
        <p:spPr>
          <a:xfrm>
            <a:off x="8000997" y="6134100"/>
            <a:ext cx="838200" cy="0"/>
          </a:xfrm>
          <a:prstGeom prst="straightConnector1">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2" name="Straight Connector 101"/>
          <p:cNvCxnSpPr/>
          <p:nvPr/>
        </p:nvCxnSpPr>
        <p:spPr>
          <a:xfrm>
            <a:off x="6857997" y="3962401"/>
            <a:ext cx="0" cy="2414689"/>
          </a:xfrm>
          <a:prstGeom prst="line">
            <a:avLst/>
          </a:prstGeom>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321A6EE-0D7D-D828-60FB-31E487DED052}"/>
              </a:ext>
            </a:extLst>
          </p:cNvPr>
          <p:cNvSpPr txBox="1"/>
          <p:nvPr/>
        </p:nvSpPr>
        <p:spPr>
          <a:xfrm>
            <a:off x="299321" y="1062179"/>
            <a:ext cx="2830351" cy="369332"/>
          </a:xfrm>
          <a:prstGeom prst="rect">
            <a:avLst/>
          </a:prstGeom>
          <a:noFill/>
        </p:spPr>
        <p:txBody>
          <a:bodyPr wrap="square" rtlCol="0">
            <a:spAutoFit/>
          </a:bodyPr>
          <a:lstStyle/>
          <a:p>
            <a:r>
              <a:rPr lang="en-US" dirty="0"/>
              <a:t>A B D H E C F G </a:t>
            </a:r>
          </a:p>
        </p:txBody>
      </p:sp>
      <p:sp>
        <p:nvSpPr>
          <p:cNvPr id="51" name="TextBox 50">
            <a:extLst>
              <a:ext uri="{FF2B5EF4-FFF2-40B4-BE49-F238E27FC236}">
                <a16:creationId xmlns:a16="http://schemas.microsoft.com/office/drawing/2014/main" id="{E44F429D-037D-F7D0-AA9B-BC5F28220CC2}"/>
              </a:ext>
            </a:extLst>
          </p:cNvPr>
          <p:cNvSpPr txBox="1"/>
          <p:nvPr/>
        </p:nvSpPr>
        <p:spPr>
          <a:xfrm>
            <a:off x="471948" y="1750142"/>
            <a:ext cx="1582484" cy="369332"/>
          </a:xfrm>
          <a:prstGeom prst="rect">
            <a:avLst/>
          </a:prstGeom>
          <a:noFill/>
        </p:spPr>
        <p:txBody>
          <a:bodyPr wrap="none" rtlCol="0">
            <a:spAutoFit/>
          </a:bodyPr>
          <a:lstStyle/>
          <a:p>
            <a:r>
              <a:rPr lang="en-US" dirty="0"/>
              <a:t>A B C D E F G H</a:t>
            </a:r>
          </a:p>
        </p:txBody>
      </p:sp>
      <p:sp>
        <p:nvSpPr>
          <p:cNvPr id="52" name="TextBox 51">
            <a:extLst>
              <a:ext uri="{FF2B5EF4-FFF2-40B4-BE49-F238E27FC236}">
                <a16:creationId xmlns:a16="http://schemas.microsoft.com/office/drawing/2014/main" id="{3314AA36-2673-3A74-F46A-CCB8C60696CF}"/>
              </a:ext>
            </a:extLst>
          </p:cNvPr>
          <p:cNvSpPr txBox="1"/>
          <p:nvPr/>
        </p:nvSpPr>
        <p:spPr>
          <a:xfrm>
            <a:off x="6076335" y="1199535"/>
            <a:ext cx="1348446" cy="369332"/>
          </a:xfrm>
          <a:prstGeom prst="rect">
            <a:avLst/>
          </a:prstGeom>
          <a:noFill/>
        </p:spPr>
        <p:txBody>
          <a:bodyPr wrap="none" rtlCol="0">
            <a:spAutoFit/>
          </a:bodyPr>
          <a:lstStyle/>
          <a:p>
            <a:r>
              <a:rPr lang="en-US" dirty="0"/>
              <a:t>M N O P Q R </a:t>
            </a:r>
          </a:p>
        </p:txBody>
      </p:sp>
    </p:spTree>
    <p:extLst>
      <p:ext uri="{BB962C8B-B14F-4D97-AF65-F5344CB8AC3E}">
        <p14:creationId xmlns:p14="http://schemas.microsoft.com/office/powerpoint/2010/main" val="314903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par>
                                <p:cTn id="8" presetID="22" presetClass="entr" presetSubtype="1" fill="hold"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wipe(up)">
                                      <p:cBhvr>
                                        <p:cTn id="10" dur="500"/>
                                        <p:tgtEl>
                                          <p:spTgt spid="86"/>
                                        </p:tgtEl>
                                      </p:cBhvr>
                                    </p:animEffect>
                                  </p:childTnLst>
                                </p:cTn>
                              </p:par>
                              <p:par>
                                <p:cTn id="11" presetID="22" presetClass="entr" presetSubtype="1"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up)">
                                      <p:cBhvr>
                                        <p:cTn id="13" dur="500"/>
                                        <p:tgtEl>
                                          <p:spTgt spid="36"/>
                                        </p:tgtEl>
                                      </p:cBhvr>
                                    </p:animEffect>
                                  </p:childTnLst>
                                </p:cTn>
                              </p:par>
                              <p:par>
                                <p:cTn id="14" presetID="22" presetClass="entr" presetSubtype="1"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wipe(up)">
                                      <p:cBhvr>
                                        <p:cTn id="16" dur="500"/>
                                        <p:tgtEl>
                                          <p:spTgt spid="10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8"/>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3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5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6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66"/>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8"/>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70"/>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7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7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76"/>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78"/>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8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9"/>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9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1"/>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92"/>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9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94"/>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95"/>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96"/>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97"/>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98"/>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99"/>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00"/>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37" grpId="0" animBg="1"/>
      <p:bldP spid="38" grpId="0" animBg="1"/>
      <p:bldP spid="39" grpId="0" animBg="1"/>
      <p:bldP spid="40" grpId="0" animBg="1"/>
      <p:bldP spid="41" grpId="0" animBg="1"/>
      <p:bldP spid="42" grpId="0" animBg="1"/>
      <p:bldP spid="54" grpId="0" animBg="1"/>
      <p:bldP spid="55" grpId="0" animBg="1"/>
      <p:bldP spid="57" grpId="0" animBg="1"/>
      <p:bldP spid="58" grpId="0" animBg="1"/>
      <p:bldP spid="59" grpId="0" animBg="1"/>
      <p:bldP spid="60" grpId="0" animBg="1"/>
      <p:bldP spid="89" grpId="0" animBg="1"/>
      <p:bldP spid="90" grpId="0" animBg="1"/>
      <p:bldP spid="91" grpId="0" animBg="1"/>
      <p:bldP spid="92" grpId="0" animBg="1"/>
      <p:bldP spid="9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 DFS (vertex V)</a:t>
            </a:r>
          </a:p>
        </p:txBody>
      </p:sp>
      <p:sp>
        <p:nvSpPr>
          <p:cNvPr id="3" name="Content Placeholder 2"/>
          <p:cNvSpPr>
            <a:spLocks noGrp="1"/>
          </p:cNvSpPr>
          <p:nvPr>
            <p:ph idx="1"/>
          </p:nvPr>
        </p:nvSpPr>
        <p:spPr/>
        <p:txBody>
          <a:bodyPr/>
          <a:lstStyle/>
          <a:p>
            <a:r>
              <a:rPr lang="en-US" dirty="0"/>
              <a:t>This procedure </a:t>
            </a:r>
            <a:r>
              <a:rPr lang="en-US" b="1" dirty="0">
                <a:solidFill>
                  <a:srgbClr val="C00000"/>
                </a:solidFill>
              </a:rPr>
              <a:t>traverse the graph G in DFS </a:t>
            </a:r>
            <a:r>
              <a:rPr lang="en-US" dirty="0"/>
              <a:t>manner. </a:t>
            </a:r>
          </a:p>
          <a:p>
            <a:r>
              <a:rPr lang="en-US" dirty="0"/>
              <a:t>V is a starting vertex to be explored. </a:t>
            </a:r>
          </a:p>
          <a:p>
            <a:r>
              <a:rPr lang="en-US" dirty="0"/>
              <a:t>Visited[] is an array which tells you whether particular vertex is visited or not. </a:t>
            </a:r>
          </a:p>
          <a:p>
            <a:r>
              <a:rPr lang="en-US" dirty="0"/>
              <a:t>W is a adjacent node of vertex V. </a:t>
            </a:r>
          </a:p>
          <a:p>
            <a:r>
              <a:rPr lang="en-US" dirty="0"/>
              <a:t>S is a Stack, PUSH and POP are functions to insert and remove from stack respectively.</a:t>
            </a:r>
          </a:p>
        </p:txBody>
      </p:sp>
    </p:spTree>
    <p:extLst>
      <p:ext uri="{BB962C8B-B14F-4D97-AF65-F5344CB8AC3E}">
        <p14:creationId xmlns:p14="http://schemas.microsoft.com/office/powerpoint/2010/main" val="250663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 DFS (vertex V)</a:t>
            </a:r>
          </a:p>
        </p:txBody>
      </p:sp>
      <p:sp>
        <p:nvSpPr>
          <p:cNvPr id="4" name="TextBox 3"/>
          <p:cNvSpPr txBox="1"/>
          <p:nvPr/>
        </p:nvSpPr>
        <p:spPr>
          <a:xfrm>
            <a:off x="0" y="715786"/>
            <a:ext cx="7141945" cy="5632311"/>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1. [Initialize TOP and Visited]</a:t>
            </a:r>
          </a:p>
          <a:p>
            <a:r>
              <a:rPr lang="en-IN" sz="2400" dirty="0">
                <a:latin typeface="Consolas" pitchFamily="49" charset="0"/>
                <a:cs typeface="Consolas" pitchFamily="49" charset="0"/>
              </a:rPr>
              <a:t>   visited[] </a:t>
            </a:r>
            <a:r>
              <a:rPr lang="en-IN" sz="2400" dirty="0">
                <a:latin typeface="Consolas" pitchFamily="49" charset="0"/>
                <a:cs typeface="Consolas" pitchFamily="49" charset="0"/>
                <a:sym typeface="Wingdings" panose="05000000000000000000" pitchFamily="2" charset="2"/>
              </a:rPr>
              <a:t></a:t>
            </a:r>
            <a:r>
              <a:rPr lang="en-IN" sz="2400" dirty="0">
                <a:latin typeface="Consolas" pitchFamily="49" charset="0"/>
                <a:cs typeface="Consolas" pitchFamily="49" charset="0"/>
              </a:rPr>
              <a:t> 0</a:t>
            </a:r>
          </a:p>
          <a:p>
            <a:r>
              <a:rPr lang="en-IN" sz="2400" dirty="0">
                <a:latin typeface="Consolas" pitchFamily="49" charset="0"/>
                <a:cs typeface="Consolas" pitchFamily="49" charset="0"/>
              </a:rPr>
              <a:t>   TOP </a:t>
            </a:r>
            <a:r>
              <a:rPr lang="en-IN" sz="2400" dirty="0">
                <a:latin typeface="Consolas" pitchFamily="49" charset="0"/>
                <a:cs typeface="Consolas" pitchFamily="49" charset="0"/>
                <a:sym typeface="Wingdings" panose="05000000000000000000" pitchFamily="2" charset="2"/>
              </a:rPr>
              <a:t></a:t>
            </a:r>
            <a:r>
              <a:rPr lang="en-IN" sz="2400" dirty="0">
                <a:latin typeface="Consolas" pitchFamily="49" charset="0"/>
                <a:cs typeface="Consolas" pitchFamily="49" charset="0"/>
              </a:rPr>
              <a:t> 0</a:t>
            </a:r>
          </a:p>
          <a:p>
            <a:r>
              <a:rPr lang="en-IN" sz="2400" b="1" dirty="0">
                <a:solidFill>
                  <a:schemeClr val="tx2"/>
                </a:solidFill>
                <a:latin typeface="Consolas" pitchFamily="49" charset="0"/>
                <a:cs typeface="Consolas" pitchFamily="49" charset="0"/>
              </a:rPr>
              <a:t>2. [Push vertex into stack]</a:t>
            </a:r>
          </a:p>
          <a:p>
            <a:r>
              <a:rPr lang="en-IN" sz="2400" dirty="0">
                <a:latin typeface="Consolas" pitchFamily="49" charset="0"/>
                <a:cs typeface="Consolas" pitchFamily="49" charset="0"/>
              </a:rPr>
              <a:t>   PUSH (V)</a:t>
            </a:r>
          </a:p>
          <a:p>
            <a:r>
              <a:rPr lang="en-IN" sz="2400" b="1" dirty="0">
                <a:solidFill>
                  <a:schemeClr val="tx2"/>
                </a:solidFill>
                <a:latin typeface="Consolas" pitchFamily="49" charset="0"/>
                <a:cs typeface="Consolas" pitchFamily="49" charset="0"/>
              </a:rPr>
              <a:t>3. [</a:t>
            </a:r>
            <a:r>
              <a:rPr lang="en-US" sz="2400" b="1" dirty="0">
                <a:solidFill>
                  <a:schemeClr val="tx2"/>
                </a:solidFill>
                <a:latin typeface="Consolas" pitchFamily="49" charset="0"/>
                <a:cs typeface="Consolas" pitchFamily="49" charset="0"/>
              </a:rPr>
              <a:t>Repeat  while stack is not Empty</a:t>
            </a:r>
            <a:r>
              <a:rPr lang="en-IN" sz="2400" b="1" dirty="0">
                <a:solidFill>
                  <a:schemeClr val="tx2"/>
                </a:solidFill>
                <a:latin typeface="Consolas" pitchFamily="49" charset="0"/>
                <a:cs typeface="Consolas" pitchFamily="49" charset="0"/>
              </a:rPr>
              <a:t>]</a:t>
            </a:r>
          </a:p>
          <a:p>
            <a:r>
              <a:rPr lang="en-US" sz="2400" dirty="0">
                <a:latin typeface="Consolas" pitchFamily="49" charset="0"/>
                <a:cs typeface="Consolas" pitchFamily="49" charset="0"/>
              </a:rPr>
              <a:t>   while stack is not empty</a:t>
            </a:r>
          </a:p>
          <a:p>
            <a:r>
              <a:rPr lang="en-US" sz="2400" dirty="0">
                <a:latin typeface="Consolas" pitchFamily="49" charset="0"/>
                <a:cs typeface="Consolas" pitchFamily="49" charset="0"/>
              </a:rPr>
              <a:t>       v  </a:t>
            </a:r>
            <a:r>
              <a:rPr lang="en-US" sz="2400" dirty="0">
                <a:latin typeface="Consolas" pitchFamily="49" charset="0"/>
                <a:cs typeface="Consolas" pitchFamily="49" charset="0"/>
                <a:sym typeface="Wingdings" panose="05000000000000000000" pitchFamily="2" charset="2"/>
              </a:rPr>
              <a:t></a:t>
            </a:r>
            <a:r>
              <a:rPr lang="en-US" sz="2400" dirty="0">
                <a:latin typeface="Consolas" pitchFamily="49" charset="0"/>
                <a:cs typeface="Consolas" pitchFamily="49" charset="0"/>
              </a:rPr>
              <a:t> POP()</a:t>
            </a:r>
          </a:p>
          <a:p>
            <a:r>
              <a:rPr lang="en-US" sz="2400" dirty="0">
                <a:latin typeface="Consolas" pitchFamily="49" charset="0"/>
                <a:cs typeface="Consolas" pitchFamily="49" charset="0"/>
              </a:rPr>
              <a:t>       if   visited[v] == 0</a:t>
            </a:r>
          </a:p>
          <a:p>
            <a:r>
              <a:rPr lang="en-US" sz="2400" dirty="0">
                <a:latin typeface="Consolas" pitchFamily="49" charset="0"/>
                <a:cs typeface="Consolas" pitchFamily="49" charset="0"/>
              </a:rPr>
              <a:t>            visited [v] </a:t>
            </a:r>
            <a:r>
              <a:rPr lang="en-US" sz="2400" dirty="0">
                <a:latin typeface="Consolas" pitchFamily="49" charset="0"/>
                <a:cs typeface="Consolas" pitchFamily="49" charset="0"/>
                <a:sym typeface="Wingdings" panose="05000000000000000000" pitchFamily="2" charset="2"/>
              </a:rPr>
              <a:t></a:t>
            </a:r>
            <a:r>
              <a:rPr lang="en-US" sz="2400" dirty="0">
                <a:latin typeface="Consolas" pitchFamily="49" charset="0"/>
                <a:cs typeface="Consolas" pitchFamily="49" charset="0"/>
              </a:rPr>
              <a:t> 1</a:t>
            </a:r>
          </a:p>
          <a:p>
            <a:r>
              <a:rPr lang="en-US" sz="2400" dirty="0">
                <a:latin typeface="Consolas" pitchFamily="49" charset="0"/>
                <a:cs typeface="Consolas" pitchFamily="49" charset="0"/>
              </a:rPr>
              <a:t>            for all u adjacent to v</a:t>
            </a:r>
          </a:p>
          <a:p>
            <a:r>
              <a:rPr lang="en-US" sz="2400" dirty="0">
                <a:latin typeface="Consolas" pitchFamily="49" charset="0"/>
                <a:cs typeface="Consolas" pitchFamily="49" charset="0"/>
              </a:rPr>
              <a:t>               if   visited [u] == 0</a:t>
            </a:r>
          </a:p>
          <a:p>
            <a:r>
              <a:rPr lang="en-US" sz="2400" dirty="0">
                <a:latin typeface="Consolas" pitchFamily="49" charset="0"/>
                <a:cs typeface="Consolas" pitchFamily="49" charset="0"/>
              </a:rPr>
              <a:t> 		   then PUSH (u)</a:t>
            </a:r>
          </a:p>
          <a:p>
            <a:r>
              <a:rPr lang="en-US" sz="2400" dirty="0">
                <a:latin typeface="Consolas" pitchFamily="49" charset="0"/>
                <a:cs typeface="Consolas" pitchFamily="49" charset="0"/>
              </a:rPr>
              <a:t>            end for</a:t>
            </a:r>
          </a:p>
          <a:p>
            <a:r>
              <a:rPr lang="en-US" sz="2400" dirty="0">
                <a:latin typeface="Consolas" pitchFamily="49" charset="0"/>
                <a:cs typeface="Consolas" pitchFamily="49" charset="0"/>
              </a:rPr>
              <a:t>       end if</a:t>
            </a:r>
            <a:r>
              <a:rPr lang="en-IN" sz="2400" b="1" dirty="0">
                <a:solidFill>
                  <a:schemeClr val="tx2">
                    <a:lumMod val="60000"/>
                    <a:lumOff val="40000"/>
                  </a:schemeClr>
                </a:solidFill>
                <a:latin typeface="Consolas" pitchFamily="49" charset="0"/>
                <a:cs typeface="Consolas" pitchFamily="49" charset="0"/>
              </a:rPr>
              <a:t>    </a:t>
            </a:r>
          </a:p>
        </p:txBody>
      </p:sp>
    </p:spTree>
    <p:extLst>
      <p:ext uri="{BB962C8B-B14F-4D97-AF65-F5344CB8AC3E}">
        <p14:creationId xmlns:p14="http://schemas.microsoft.com/office/powerpoint/2010/main" val="21683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C3C0B-0105-415E-B801-8055F605CAF1}"/>
              </a:ext>
            </a:extLst>
          </p:cNvPr>
          <p:cNvSpPr>
            <a:spLocks noGrp="1"/>
          </p:cNvSpPr>
          <p:nvPr>
            <p:ph type="title"/>
          </p:nvPr>
        </p:nvSpPr>
        <p:spPr/>
        <p:txBody>
          <a:bodyPr/>
          <a:lstStyle/>
          <a:p>
            <a:r>
              <a:rPr lang="en-IN" dirty="0"/>
              <a:t>DFS</a:t>
            </a:r>
          </a:p>
        </p:txBody>
      </p:sp>
      <p:pic>
        <p:nvPicPr>
          <p:cNvPr id="6" name="Picture 5">
            <a:extLst>
              <a:ext uri="{FF2B5EF4-FFF2-40B4-BE49-F238E27FC236}">
                <a16:creationId xmlns:a16="http://schemas.microsoft.com/office/drawing/2014/main" id="{A0DE17B9-EF56-42F1-B255-05CC49127513}"/>
              </a:ext>
            </a:extLst>
          </p:cNvPr>
          <p:cNvPicPr>
            <a:picLocks noChangeAspect="1"/>
          </p:cNvPicPr>
          <p:nvPr/>
        </p:nvPicPr>
        <p:blipFill>
          <a:blip r:embed="rId2"/>
          <a:stretch>
            <a:fillRect/>
          </a:stretch>
        </p:blipFill>
        <p:spPr>
          <a:xfrm>
            <a:off x="1325566" y="1193686"/>
            <a:ext cx="6971411" cy="3556430"/>
          </a:xfrm>
          <a:prstGeom prst="rect">
            <a:avLst/>
          </a:prstGeom>
        </p:spPr>
      </p:pic>
      <p:pic>
        <p:nvPicPr>
          <p:cNvPr id="10" name="Picture 9">
            <a:extLst>
              <a:ext uri="{FF2B5EF4-FFF2-40B4-BE49-F238E27FC236}">
                <a16:creationId xmlns:a16="http://schemas.microsoft.com/office/drawing/2014/main" id="{F3BB6FCD-47EF-4AD8-9AAE-9EC9938113D7}"/>
              </a:ext>
            </a:extLst>
          </p:cNvPr>
          <p:cNvPicPr>
            <a:picLocks noChangeAspect="1"/>
          </p:cNvPicPr>
          <p:nvPr/>
        </p:nvPicPr>
        <p:blipFill>
          <a:blip r:embed="rId3"/>
          <a:stretch>
            <a:fillRect/>
          </a:stretch>
        </p:blipFill>
        <p:spPr>
          <a:xfrm>
            <a:off x="1325566" y="1193687"/>
            <a:ext cx="7154291" cy="3567098"/>
          </a:xfrm>
          <a:prstGeom prst="rect">
            <a:avLst/>
          </a:prstGeom>
        </p:spPr>
      </p:pic>
      <p:pic>
        <p:nvPicPr>
          <p:cNvPr id="12" name="Picture 11">
            <a:extLst>
              <a:ext uri="{FF2B5EF4-FFF2-40B4-BE49-F238E27FC236}">
                <a16:creationId xmlns:a16="http://schemas.microsoft.com/office/drawing/2014/main" id="{1F018E41-222F-4933-B807-9425F1334F9F}"/>
              </a:ext>
            </a:extLst>
          </p:cNvPr>
          <p:cNvPicPr>
            <a:picLocks noChangeAspect="1"/>
          </p:cNvPicPr>
          <p:nvPr/>
        </p:nvPicPr>
        <p:blipFill>
          <a:blip r:embed="rId4"/>
          <a:stretch>
            <a:fillRect/>
          </a:stretch>
        </p:blipFill>
        <p:spPr>
          <a:xfrm>
            <a:off x="1229313" y="1040767"/>
            <a:ext cx="7250544" cy="3720018"/>
          </a:xfrm>
          <a:prstGeom prst="rect">
            <a:avLst/>
          </a:prstGeom>
        </p:spPr>
      </p:pic>
      <p:pic>
        <p:nvPicPr>
          <p:cNvPr id="14" name="Picture 13">
            <a:extLst>
              <a:ext uri="{FF2B5EF4-FFF2-40B4-BE49-F238E27FC236}">
                <a16:creationId xmlns:a16="http://schemas.microsoft.com/office/drawing/2014/main" id="{F386B6F1-BAAC-4566-AFA9-6E2946BACB12}"/>
              </a:ext>
            </a:extLst>
          </p:cNvPr>
          <p:cNvPicPr>
            <a:picLocks noChangeAspect="1"/>
          </p:cNvPicPr>
          <p:nvPr/>
        </p:nvPicPr>
        <p:blipFill>
          <a:blip r:embed="rId5"/>
          <a:stretch>
            <a:fillRect/>
          </a:stretch>
        </p:blipFill>
        <p:spPr>
          <a:xfrm>
            <a:off x="1195624" y="1050392"/>
            <a:ext cx="7250544" cy="3720018"/>
          </a:xfrm>
          <a:prstGeom prst="rect">
            <a:avLst/>
          </a:prstGeom>
        </p:spPr>
      </p:pic>
      <p:pic>
        <p:nvPicPr>
          <p:cNvPr id="16" name="Picture 15">
            <a:extLst>
              <a:ext uri="{FF2B5EF4-FFF2-40B4-BE49-F238E27FC236}">
                <a16:creationId xmlns:a16="http://schemas.microsoft.com/office/drawing/2014/main" id="{EF968A03-2DCA-4D90-A009-12CEDB3A3150}"/>
              </a:ext>
            </a:extLst>
          </p:cNvPr>
          <p:cNvPicPr>
            <a:picLocks noChangeAspect="1"/>
          </p:cNvPicPr>
          <p:nvPr/>
        </p:nvPicPr>
        <p:blipFill>
          <a:blip r:embed="rId6"/>
          <a:stretch>
            <a:fillRect/>
          </a:stretch>
        </p:blipFill>
        <p:spPr>
          <a:xfrm>
            <a:off x="1229313" y="1079812"/>
            <a:ext cx="7111168" cy="3665448"/>
          </a:xfrm>
          <a:prstGeom prst="rect">
            <a:avLst/>
          </a:prstGeom>
        </p:spPr>
      </p:pic>
      <p:pic>
        <p:nvPicPr>
          <p:cNvPr id="18" name="Picture 17">
            <a:extLst>
              <a:ext uri="{FF2B5EF4-FFF2-40B4-BE49-F238E27FC236}">
                <a16:creationId xmlns:a16="http://schemas.microsoft.com/office/drawing/2014/main" id="{D82ADDA5-C894-4339-B528-FA827A8951F7}"/>
              </a:ext>
            </a:extLst>
          </p:cNvPr>
          <p:cNvPicPr>
            <a:picLocks noChangeAspect="1"/>
          </p:cNvPicPr>
          <p:nvPr/>
        </p:nvPicPr>
        <p:blipFill>
          <a:blip r:embed="rId7"/>
          <a:stretch>
            <a:fillRect/>
          </a:stretch>
        </p:blipFill>
        <p:spPr>
          <a:xfrm>
            <a:off x="1210064" y="1048076"/>
            <a:ext cx="8023350" cy="3703084"/>
          </a:xfrm>
          <a:prstGeom prst="rect">
            <a:avLst/>
          </a:prstGeom>
        </p:spPr>
      </p:pic>
    </p:spTree>
    <p:extLst>
      <p:ext uri="{BB962C8B-B14F-4D97-AF65-F5344CB8AC3E}">
        <p14:creationId xmlns:p14="http://schemas.microsoft.com/office/powerpoint/2010/main" val="148189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3C4F4-85F9-487F-8C25-5EBD7C472094}"/>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CD9263D7-CF25-45A2-9BC8-334D78049AAC}"/>
              </a:ext>
            </a:extLst>
          </p:cNvPr>
          <p:cNvSpPr>
            <a:spLocks noGrp="1"/>
          </p:cNvSpPr>
          <p:nvPr>
            <p:ph idx="1"/>
          </p:nvPr>
        </p:nvSpPr>
        <p:spPr/>
        <p:txBody>
          <a:bodyPr/>
          <a:lstStyle/>
          <a:p>
            <a:r>
              <a:rPr lang="en-US" dirty="0">
                <a:solidFill>
                  <a:srgbClr val="C00000"/>
                </a:solidFill>
              </a:rPr>
              <a:t>Time complexity: </a:t>
            </a:r>
            <a:r>
              <a:rPr lang="en-US" dirty="0"/>
              <a:t>O(V + E), Note that the time complexity is same here because we visit every vertex at most once and every edge is traversed at most once (in directed) and twice in undirected.</a:t>
            </a:r>
          </a:p>
          <a:p>
            <a:r>
              <a:rPr lang="en-US" dirty="0">
                <a:solidFill>
                  <a:srgbClr val="C00000"/>
                </a:solidFill>
              </a:rPr>
              <a:t>Auxiliary Space: </a:t>
            </a:r>
            <a:r>
              <a:rPr lang="en-US" dirty="0"/>
              <a:t>O(V + E), since an extra visited array of size V is required, And stack size for recursive calls to </a:t>
            </a:r>
            <a:r>
              <a:rPr lang="en-US" dirty="0" err="1"/>
              <a:t>DFSRec</a:t>
            </a:r>
            <a:r>
              <a:rPr lang="en-US" dirty="0"/>
              <a:t> function.</a:t>
            </a:r>
            <a:endParaRPr lang="en-IN" dirty="0"/>
          </a:p>
        </p:txBody>
      </p:sp>
    </p:spTree>
    <p:extLst>
      <p:ext uri="{BB962C8B-B14F-4D97-AF65-F5344CB8AC3E}">
        <p14:creationId xmlns:p14="http://schemas.microsoft.com/office/powerpoint/2010/main" val="661674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 BFS (vertex V)</a:t>
            </a:r>
          </a:p>
        </p:txBody>
      </p:sp>
      <p:sp>
        <p:nvSpPr>
          <p:cNvPr id="3" name="Content Placeholder 2"/>
          <p:cNvSpPr>
            <a:spLocks noGrp="1"/>
          </p:cNvSpPr>
          <p:nvPr>
            <p:ph idx="1"/>
          </p:nvPr>
        </p:nvSpPr>
        <p:spPr/>
        <p:txBody>
          <a:bodyPr/>
          <a:lstStyle/>
          <a:p>
            <a:r>
              <a:rPr lang="en-US" dirty="0"/>
              <a:t>This procedure </a:t>
            </a:r>
            <a:r>
              <a:rPr lang="en-US" b="1" dirty="0">
                <a:solidFill>
                  <a:srgbClr val="C00000"/>
                </a:solidFill>
              </a:rPr>
              <a:t>traverse the graph G in BFS</a:t>
            </a:r>
            <a:r>
              <a:rPr lang="en-US" dirty="0">
                <a:solidFill>
                  <a:srgbClr val="C00000"/>
                </a:solidFill>
              </a:rPr>
              <a:t> </a:t>
            </a:r>
            <a:r>
              <a:rPr lang="en-US" dirty="0"/>
              <a:t>manner</a:t>
            </a:r>
          </a:p>
          <a:p>
            <a:r>
              <a:rPr lang="en-US" b="1" dirty="0">
                <a:solidFill>
                  <a:srgbClr val="C00000"/>
                </a:solidFill>
              </a:rPr>
              <a:t>V</a:t>
            </a:r>
            <a:r>
              <a:rPr lang="en-US" dirty="0">
                <a:solidFill>
                  <a:srgbClr val="C00000"/>
                </a:solidFill>
              </a:rPr>
              <a:t> </a:t>
            </a:r>
            <a:r>
              <a:rPr lang="en-US" dirty="0"/>
              <a:t>is a </a:t>
            </a:r>
            <a:r>
              <a:rPr lang="en-US" b="1" dirty="0">
                <a:solidFill>
                  <a:srgbClr val="C00000"/>
                </a:solidFill>
              </a:rPr>
              <a:t>starting vertex </a:t>
            </a:r>
            <a:r>
              <a:rPr lang="en-US" dirty="0"/>
              <a:t>to be explored</a:t>
            </a:r>
          </a:p>
          <a:p>
            <a:r>
              <a:rPr lang="en-US" dirty="0"/>
              <a:t>Q is a queue</a:t>
            </a:r>
          </a:p>
          <a:p>
            <a:r>
              <a:rPr lang="en-US" dirty="0"/>
              <a:t>visited[] is an array which tells you whether particular vertex is visited or not</a:t>
            </a:r>
          </a:p>
          <a:p>
            <a:r>
              <a:rPr lang="en-US" dirty="0"/>
              <a:t>W is a adjacent node f vertex V.</a:t>
            </a:r>
          </a:p>
        </p:txBody>
      </p:sp>
    </p:spTree>
    <p:extLst>
      <p:ext uri="{BB962C8B-B14F-4D97-AF65-F5344CB8AC3E}">
        <p14:creationId xmlns:p14="http://schemas.microsoft.com/office/powerpoint/2010/main" val="75160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 BFS (vertex V)</a:t>
            </a:r>
          </a:p>
        </p:txBody>
      </p:sp>
      <p:sp>
        <p:nvSpPr>
          <p:cNvPr id="4" name="TextBox 3"/>
          <p:cNvSpPr txBox="1"/>
          <p:nvPr/>
        </p:nvSpPr>
        <p:spPr>
          <a:xfrm>
            <a:off x="336000" y="815912"/>
            <a:ext cx="8912503" cy="526297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1. [Initialize Queue &amp; Visited]</a:t>
            </a:r>
          </a:p>
          <a:p>
            <a:r>
              <a:rPr lang="en-IN" sz="2400" dirty="0">
                <a:latin typeface="Consolas" pitchFamily="49" charset="0"/>
                <a:cs typeface="Consolas" pitchFamily="49" charset="0"/>
              </a:rPr>
              <a:t>   visited[] </a:t>
            </a:r>
            <a:r>
              <a:rPr lang="en-IN" sz="2400" dirty="0">
                <a:latin typeface="Consolas" pitchFamily="49" charset="0"/>
                <a:cs typeface="Consolas" pitchFamily="49" charset="0"/>
                <a:sym typeface="Wingdings" panose="05000000000000000000" pitchFamily="2" charset="2"/>
              </a:rPr>
              <a:t></a:t>
            </a:r>
            <a:r>
              <a:rPr lang="en-IN" sz="2400" dirty="0">
                <a:latin typeface="Consolas" pitchFamily="49" charset="0"/>
                <a:cs typeface="Consolas" pitchFamily="49" charset="0"/>
              </a:rPr>
              <a:t> 0</a:t>
            </a:r>
          </a:p>
          <a:p>
            <a:r>
              <a:rPr lang="en-IN" sz="2400" dirty="0">
                <a:latin typeface="Consolas" pitchFamily="49" charset="0"/>
                <a:cs typeface="Consolas" pitchFamily="49" charset="0"/>
              </a:rPr>
              <a:t>   F </a:t>
            </a:r>
            <a:r>
              <a:rPr lang="en-IN" sz="2400" dirty="0">
                <a:latin typeface="Consolas" pitchFamily="49" charset="0"/>
                <a:cs typeface="Consolas" pitchFamily="49" charset="0"/>
                <a:sym typeface="Wingdings" panose="05000000000000000000" pitchFamily="2" charset="2"/>
              </a:rPr>
              <a:t> R </a:t>
            </a:r>
            <a:r>
              <a:rPr lang="en-IN" sz="2400" dirty="0">
                <a:latin typeface="Consolas" pitchFamily="49" charset="0"/>
                <a:cs typeface="Consolas" pitchFamily="49" charset="0"/>
              </a:rPr>
              <a:t> 0</a:t>
            </a:r>
          </a:p>
          <a:p>
            <a:r>
              <a:rPr lang="en-IN" sz="2400" b="1" dirty="0">
                <a:solidFill>
                  <a:schemeClr val="tx2"/>
                </a:solidFill>
                <a:latin typeface="Consolas" pitchFamily="49" charset="0"/>
                <a:cs typeface="Consolas" pitchFamily="49" charset="0"/>
              </a:rPr>
              <a:t>2. [</a:t>
            </a:r>
            <a:r>
              <a:rPr lang="en-US" sz="2400" b="1" dirty="0">
                <a:solidFill>
                  <a:schemeClr val="tx2"/>
                </a:solidFill>
                <a:latin typeface="Consolas" pitchFamily="49" charset="0"/>
                <a:cs typeface="Consolas" pitchFamily="49" charset="0"/>
              </a:rPr>
              <a:t>Marks visited of V as 1</a:t>
            </a:r>
            <a:r>
              <a:rPr lang="en-IN" sz="2400" b="1" dirty="0">
                <a:solidFill>
                  <a:schemeClr val="tx2"/>
                </a:solidFill>
                <a:latin typeface="Consolas" pitchFamily="49" charset="0"/>
                <a:cs typeface="Consolas" pitchFamily="49" charset="0"/>
              </a:rPr>
              <a:t>]</a:t>
            </a:r>
          </a:p>
          <a:p>
            <a:r>
              <a:rPr lang="en-IN" sz="2400" dirty="0">
                <a:latin typeface="Consolas" pitchFamily="49" charset="0"/>
                <a:cs typeface="Consolas" pitchFamily="49" charset="0"/>
              </a:rPr>
              <a:t>   visited[v] </a:t>
            </a:r>
            <a:r>
              <a:rPr lang="en-IN" sz="2400" dirty="0">
                <a:latin typeface="Consolas" pitchFamily="49" charset="0"/>
                <a:cs typeface="Consolas" pitchFamily="49" charset="0"/>
                <a:sym typeface="Wingdings" panose="05000000000000000000" pitchFamily="2" charset="2"/>
              </a:rPr>
              <a:t></a:t>
            </a:r>
            <a:r>
              <a:rPr lang="en-IN" sz="2400" dirty="0">
                <a:latin typeface="Consolas" pitchFamily="49" charset="0"/>
                <a:cs typeface="Consolas" pitchFamily="49" charset="0"/>
              </a:rPr>
              <a:t> 1</a:t>
            </a:r>
          </a:p>
          <a:p>
            <a:r>
              <a:rPr lang="en-IN" sz="2400" b="1" dirty="0">
                <a:solidFill>
                  <a:schemeClr val="tx2"/>
                </a:solidFill>
                <a:latin typeface="Consolas" pitchFamily="49" charset="0"/>
                <a:cs typeface="Consolas" pitchFamily="49" charset="0"/>
              </a:rPr>
              <a:t>3. [</a:t>
            </a:r>
            <a:r>
              <a:rPr lang="en-US" sz="2400" b="1" dirty="0">
                <a:solidFill>
                  <a:schemeClr val="tx2"/>
                </a:solidFill>
                <a:latin typeface="Consolas" pitchFamily="49" charset="0"/>
                <a:cs typeface="Consolas" pitchFamily="49" charset="0"/>
              </a:rPr>
              <a:t>Add vertex v to Q</a:t>
            </a:r>
            <a:r>
              <a:rPr lang="en-IN" sz="2400" b="1" dirty="0">
                <a:solidFill>
                  <a:schemeClr val="tx2"/>
                </a:solidFill>
                <a:latin typeface="Consolas" pitchFamily="49" charset="0"/>
                <a:cs typeface="Consolas" pitchFamily="49" charset="0"/>
              </a:rPr>
              <a:t>]</a:t>
            </a:r>
          </a:p>
          <a:p>
            <a:r>
              <a:rPr lang="en-IN" sz="2400" dirty="0">
                <a:latin typeface="Consolas" pitchFamily="49" charset="0"/>
                <a:cs typeface="Consolas" pitchFamily="49" charset="0"/>
              </a:rPr>
              <a:t>   </a:t>
            </a:r>
            <a:r>
              <a:rPr lang="en-IN" sz="2400" dirty="0" err="1">
                <a:latin typeface="Consolas" pitchFamily="49" charset="0"/>
                <a:cs typeface="Consolas" pitchFamily="49" charset="0"/>
              </a:rPr>
              <a:t>EnQueue</a:t>
            </a:r>
            <a:r>
              <a:rPr lang="en-IN" sz="2400" dirty="0">
                <a:latin typeface="Consolas" pitchFamily="49" charset="0"/>
                <a:cs typeface="Consolas" pitchFamily="49" charset="0"/>
              </a:rPr>
              <a:t>(V)</a:t>
            </a:r>
          </a:p>
          <a:p>
            <a:r>
              <a:rPr lang="en-IN" sz="2400" b="1" dirty="0">
                <a:solidFill>
                  <a:schemeClr val="tx2"/>
                </a:solidFill>
                <a:latin typeface="Consolas" pitchFamily="49" charset="0"/>
                <a:cs typeface="Consolas" pitchFamily="49" charset="0"/>
              </a:rPr>
              <a:t>4. [</a:t>
            </a:r>
            <a:r>
              <a:rPr lang="en-US" sz="2400" b="1" dirty="0">
                <a:solidFill>
                  <a:schemeClr val="tx2"/>
                </a:solidFill>
                <a:latin typeface="Consolas" pitchFamily="49" charset="0"/>
                <a:cs typeface="Consolas" pitchFamily="49" charset="0"/>
              </a:rPr>
              <a:t>Repeat while Q is not Empty</a:t>
            </a:r>
            <a:r>
              <a:rPr lang="en-IN" sz="2400" b="1" dirty="0">
                <a:solidFill>
                  <a:schemeClr val="tx2"/>
                </a:solidFill>
                <a:latin typeface="Consolas" pitchFamily="49" charset="0"/>
                <a:cs typeface="Consolas" pitchFamily="49" charset="0"/>
              </a:rPr>
              <a:t>]</a:t>
            </a:r>
          </a:p>
          <a:p>
            <a:r>
              <a:rPr lang="en-US" sz="2400" dirty="0">
                <a:latin typeface="Consolas" pitchFamily="49" charset="0"/>
                <a:cs typeface="Consolas" pitchFamily="49" charset="0"/>
              </a:rPr>
              <a:t>   </a:t>
            </a:r>
            <a:r>
              <a:rPr lang="en-US" sz="2400" dirty="0">
                <a:solidFill>
                  <a:schemeClr val="tx2">
                    <a:lumMod val="75000"/>
                  </a:schemeClr>
                </a:solidFill>
                <a:latin typeface="Consolas" pitchFamily="49" charset="0"/>
                <a:cs typeface="Consolas" pitchFamily="49" charset="0"/>
              </a:rPr>
              <a:t>Repeat </a:t>
            </a:r>
            <a:r>
              <a:rPr lang="en-US" sz="2400" dirty="0">
                <a:latin typeface="Consolas" pitchFamily="49" charset="0"/>
                <a:cs typeface="Consolas" pitchFamily="49" charset="0"/>
              </a:rPr>
              <a:t>while Q is not empty</a:t>
            </a:r>
          </a:p>
          <a:p>
            <a:r>
              <a:rPr lang="en-US" sz="2400" dirty="0">
                <a:latin typeface="Consolas" pitchFamily="49" charset="0"/>
                <a:cs typeface="Consolas" pitchFamily="49" charset="0"/>
              </a:rPr>
              <a:t>     v </a:t>
            </a:r>
            <a:r>
              <a:rPr lang="en-US" sz="2400" dirty="0">
                <a:latin typeface="Consolas" pitchFamily="49" charset="0"/>
                <a:cs typeface="Consolas" pitchFamily="49" charset="0"/>
                <a:sym typeface="Wingdings" panose="05000000000000000000" pitchFamily="2" charset="2"/>
              </a:rPr>
              <a:t></a:t>
            </a:r>
            <a:r>
              <a:rPr lang="en-US" sz="2400" dirty="0">
                <a:latin typeface="Consolas" pitchFamily="49" charset="0"/>
                <a:cs typeface="Consolas" pitchFamily="49" charset="0"/>
              </a:rPr>
              <a:t> </a:t>
            </a:r>
            <a:r>
              <a:rPr lang="en-US" sz="2400" dirty="0" err="1">
                <a:latin typeface="Consolas" pitchFamily="49" charset="0"/>
                <a:cs typeface="Consolas" pitchFamily="49" charset="0"/>
              </a:rPr>
              <a:t>DeQueue</a:t>
            </a:r>
            <a:r>
              <a:rPr lang="en-US" sz="2400" dirty="0">
                <a:latin typeface="Consolas" pitchFamily="49" charset="0"/>
                <a:cs typeface="Consolas" pitchFamily="49" charset="0"/>
              </a:rPr>
              <a:t>()</a:t>
            </a:r>
          </a:p>
          <a:p>
            <a:r>
              <a:rPr lang="en-US" sz="2400" dirty="0">
                <a:latin typeface="Consolas" pitchFamily="49" charset="0"/>
                <a:cs typeface="Consolas" pitchFamily="49" charset="0"/>
              </a:rPr>
              <a:t>     </a:t>
            </a:r>
            <a:r>
              <a:rPr lang="en-US" sz="2400" dirty="0">
                <a:solidFill>
                  <a:schemeClr val="tx2">
                    <a:lumMod val="75000"/>
                  </a:schemeClr>
                </a:solidFill>
                <a:latin typeface="Consolas" pitchFamily="49" charset="0"/>
                <a:cs typeface="Consolas" pitchFamily="49" charset="0"/>
              </a:rPr>
              <a:t>For </a:t>
            </a:r>
            <a:r>
              <a:rPr lang="en-US" sz="2400" dirty="0">
                <a:latin typeface="Consolas" pitchFamily="49" charset="0"/>
                <a:cs typeface="Consolas" pitchFamily="49" charset="0"/>
              </a:rPr>
              <a:t>all vertices u adjacent to v</a:t>
            </a:r>
          </a:p>
          <a:p>
            <a:r>
              <a:rPr lang="en-US" sz="2400" dirty="0">
                <a:latin typeface="Consolas" pitchFamily="49" charset="0"/>
                <a:cs typeface="Consolas" pitchFamily="49" charset="0"/>
              </a:rPr>
              <a:t>       </a:t>
            </a:r>
            <a:r>
              <a:rPr lang="en-US" sz="2400" dirty="0">
                <a:solidFill>
                  <a:schemeClr val="tx2">
                    <a:lumMod val="75000"/>
                  </a:schemeClr>
                </a:solidFill>
                <a:latin typeface="Consolas" pitchFamily="49" charset="0"/>
                <a:cs typeface="Consolas" pitchFamily="49" charset="0"/>
              </a:rPr>
              <a:t>If</a:t>
            </a:r>
            <a:r>
              <a:rPr lang="en-US" sz="2400" dirty="0">
                <a:latin typeface="Consolas" pitchFamily="49" charset="0"/>
                <a:cs typeface="Consolas" pitchFamily="49" charset="0"/>
              </a:rPr>
              <a:t>   visited[u] is 0</a:t>
            </a:r>
          </a:p>
          <a:p>
            <a:r>
              <a:rPr lang="en-US" sz="2400" dirty="0">
                <a:latin typeface="Consolas" pitchFamily="49" charset="0"/>
                <a:cs typeface="Consolas" pitchFamily="49" charset="0"/>
              </a:rPr>
              <a:t> 	 </a:t>
            </a:r>
            <a:r>
              <a:rPr lang="en-US" sz="2400" dirty="0">
                <a:solidFill>
                  <a:schemeClr val="tx2">
                    <a:lumMod val="75000"/>
                  </a:schemeClr>
                </a:solidFill>
                <a:latin typeface="Consolas" pitchFamily="49" charset="0"/>
                <a:cs typeface="Consolas" pitchFamily="49" charset="0"/>
              </a:rPr>
              <a:t>Then</a:t>
            </a:r>
            <a:r>
              <a:rPr lang="en-US" sz="2400" dirty="0">
                <a:latin typeface="Consolas" pitchFamily="49" charset="0"/>
                <a:cs typeface="Consolas" pitchFamily="49" charset="0"/>
              </a:rPr>
              <a:t>	visited[u] </a:t>
            </a:r>
            <a:r>
              <a:rPr lang="en-US" sz="2400" dirty="0">
                <a:latin typeface="Consolas" pitchFamily="49" charset="0"/>
                <a:cs typeface="Consolas" pitchFamily="49" charset="0"/>
                <a:sym typeface="Wingdings" panose="05000000000000000000" pitchFamily="2" charset="2"/>
              </a:rPr>
              <a:t> </a:t>
            </a:r>
            <a:r>
              <a:rPr lang="en-US" sz="2400" dirty="0">
                <a:latin typeface="Consolas" pitchFamily="49" charset="0"/>
                <a:cs typeface="Consolas" pitchFamily="49" charset="0"/>
              </a:rPr>
              <a:t>1</a:t>
            </a:r>
          </a:p>
          <a:p>
            <a:r>
              <a:rPr lang="en-US" sz="2400" dirty="0">
                <a:latin typeface="Consolas" pitchFamily="49" charset="0"/>
                <a:cs typeface="Consolas" pitchFamily="49" charset="0"/>
              </a:rPr>
              <a:t>            </a:t>
            </a:r>
            <a:r>
              <a:rPr lang="en-US" sz="2400" dirty="0" err="1">
                <a:latin typeface="Consolas" pitchFamily="49" charset="0"/>
                <a:cs typeface="Consolas" pitchFamily="49" charset="0"/>
              </a:rPr>
              <a:t>EnQueue</a:t>
            </a:r>
            <a:r>
              <a:rPr lang="en-US" sz="2400" dirty="0">
                <a:latin typeface="Consolas" pitchFamily="49" charset="0"/>
                <a:cs typeface="Consolas" pitchFamily="49" charset="0"/>
              </a:rPr>
              <a:t>(u)</a:t>
            </a:r>
            <a:r>
              <a:rPr lang="en-IN" sz="2400" b="1" dirty="0">
                <a:solidFill>
                  <a:schemeClr val="tx2">
                    <a:lumMod val="60000"/>
                    <a:lumOff val="40000"/>
                  </a:schemeClr>
                </a:solidFill>
                <a:latin typeface="Consolas" pitchFamily="49" charset="0"/>
                <a:cs typeface="Consolas" pitchFamily="49" charset="0"/>
              </a:rPr>
              <a:t>   </a:t>
            </a:r>
          </a:p>
        </p:txBody>
      </p:sp>
    </p:spTree>
    <p:extLst>
      <p:ext uri="{BB962C8B-B14F-4D97-AF65-F5344CB8AC3E}">
        <p14:creationId xmlns:p14="http://schemas.microsoft.com/office/powerpoint/2010/main" val="125171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F9B94-45C2-42E2-BA2C-B28D35AA1769}"/>
              </a:ext>
            </a:extLst>
          </p:cNvPr>
          <p:cNvSpPr>
            <a:spLocks noGrp="1"/>
          </p:cNvSpPr>
          <p:nvPr>
            <p:ph type="title"/>
          </p:nvPr>
        </p:nvSpPr>
        <p:spPr/>
        <p:txBody>
          <a:bodyPr/>
          <a:lstStyle/>
          <a:p>
            <a:r>
              <a:rPr lang="en-IN" dirty="0"/>
              <a:t>BFS</a:t>
            </a:r>
          </a:p>
        </p:txBody>
      </p:sp>
      <p:pic>
        <p:nvPicPr>
          <p:cNvPr id="5" name="Picture 4">
            <a:extLst>
              <a:ext uri="{FF2B5EF4-FFF2-40B4-BE49-F238E27FC236}">
                <a16:creationId xmlns:a16="http://schemas.microsoft.com/office/drawing/2014/main" id="{89C5AA59-B9BB-4230-A30D-C2BD2A31CEB8}"/>
              </a:ext>
            </a:extLst>
          </p:cNvPr>
          <p:cNvPicPr>
            <a:picLocks noChangeAspect="1"/>
          </p:cNvPicPr>
          <p:nvPr/>
        </p:nvPicPr>
        <p:blipFill>
          <a:blip r:embed="rId2"/>
          <a:stretch>
            <a:fillRect/>
          </a:stretch>
        </p:blipFill>
        <p:spPr>
          <a:xfrm>
            <a:off x="2170494" y="708674"/>
            <a:ext cx="7620392" cy="2813195"/>
          </a:xfrm>
          <a:prstGeom prst="rect">
            <a:avLst/>
          </a:prstGeom>
        </p:spPr>
      </p:pic>
      <p:pic>
        <p:nvPicPr>
          <p:cNvPr id="7" name="Picture 6">
            <a:extLst>
              <a:ext uri="{FF2B5EF4-FFF2-40B4-BE49-F238E27FC236}">
                <a16:creationId xmlns:a16="http://schemas.microsoft.com/office/drawing/2014/main" id="{35B4A608-2783-4DBD-A656-C448716520DD}"/>
              </a:ext>
            </a:extLst>
          </p:cNvPr>
          <p:cNvPicPr>
            <a:picLocks noChangeAspect="1"/>
          </p:cNvPicPr>
          <p:nvPr/>
        </p:nvPicPr>
        <p:blipFill>
          <a:blip r:embed="rId3"/>
          <a:stretch>
            <a:fillRect/>
          </a:stretch>
        </p:blipFill>
        <p:spPr>
          <a:xfrm>
            <a:off x="2170494" y="711849"/>
            <a:ext cx="7620392" cy="2806844"/>
          </a:xfrm>
          <a:prstGeom prst="rect">
            <a:avLst/>
          </a:prstGeom>
        </p:spPr>
      </p:pic>
      <p:pic>
        <p:nvPicPr>
          <p:cNvPr id="9" name="Picture 8">
            <a:extLst>
              <a:ext uri="{FF2B5EF4-FFF2-40B4-BE49-F238E27FC236}">
                <a16:creationId xmlns:a16="http://schemas.microsoft.com/office/drawing/2014/main" id="{5941C206-7061-4972-98C9-164858070832}"/>
              </a:ext>
            </a:extLst>
          </p:cNvPr>
          <p:cNvPicPr>
            <a:picLocks noChangeAspect="1"/>
          </p:cNvPicPr>
          <p:nvPr/>
        </p:nvPicPr>
        <p:blipFill>
          <a:blip r:embed="rId4"/>
          <a:stretch>
            <a:fillRect/>
          </a:stretch>
        </p:blipFill>
        <p:spPr>
          <a:xfrm>
            <a:off x="2180119" y="718656"/>
            <a:ext cx="7620392" cy="2806844"/>
          </a:xfrm>
          <a:prstGeom prst="rect">
            <a:avLst/>
          </a:prstGeom>
        </p:spPr>
      </p:pic>
      <p:pic>
        <p:nvPicPr>
          <p:cNvPr id="11" name="Picture 10">
            <a:extLst>
              <a:ext uri="{FF2B5EF4-FFF2-40B4-BE49-F238E27FC236}">
                <a16:creationId xmlns:a16="http://schemas.microsoft.com/office/drawing/2014/main" id="{B316839E-2C0B-4BEA-BA9C-C7A54ADD81B3}"/>
              </a:ext>
            </a:extLst>
          </p:cNvPr>
          <p:cNvPicPr>
            <a:picLocks noChangeAspect="1"/>
          </p:cNvPicPr>
          <p:nvPr/>
        </p:nvPicPr>
        <p:blipFill>
          <a:blip r:embed="rId5"/>
          <a:stretch>
            <a:fillRect/>
          </a:stretch>
        </p:blipFill>
        <p:spPr>
          <a:xfrm>
            <a:off x="2179929" y="718865"/>
            <a:ext cx="7620392" cy="2806844"/>
          </a:xfrm>
          <a:prstGeom prst="rect">
            <a:avLst/>
          </a:prstGeom>
        </p:spPr>
      </p:pic>
      <p:pic>
        <p:nvPicPr>
          <p:cNvPr id="13" name="Picture 12">
            <a:extLst>
              <a:ext uri="{FF2B5EF4-FFF2-40B4-BE49-F238E27FC236}">
                <a16:creationId xmlns:a16="http://schemas.microsoft.com/office/drawing/2014/main" id="{DD351452-940D-431A-9905-AE9B03A88A70}"/>
              </a:ext>
            </a:extLst>
          </p:cNvPr>
          <p:cNvPicPr>
            <a:picLocks noChangeAspect="1"/>
          </p:cNvPicPr>
          <p:nvPr/>
        </p:nvPicPr>
        <p:blipFill>
          <a:blip r:embed="rId6"/>
          <a:stretch>
            <a:fillRect/>
          </a:stretch>
        </p:blipFill>
        <p:spPr>
          <a:xfrm>
            <a:off x="2180119" y="722087"/>
            <a:ext cx="7620392" cy="2806844"/>
          </a:xfrm>
          <a:prstGeom prst="rect">
            <a:avLst/>
          </a:prstGeom>
        </p:spPr>
      </p:pic>
      <p:pic>
        <p:nvPicPr>
          <p:cNvPr id="15" name="Picture 14">
            <a:extLst>
              <a:ext uri="{FF2B5EF4-FFF2-40B4-BE49-F238E27FC236}">
                <a16:creationId xmlns:a16="http://schemas.microsoft.com/office/drawing/2014/main" id="{546CC6EE-0477-4B71-8253-930CFB8E2CE0}"/>
              </a:ext>
            </a:extLst>
          </p:cNvPr>
          <p:cNvPicPr>
            <a:picLocks noChangeAspect="1"/>
          </p:cNvPicPr>
          <p:nvPr/>
        </p:nvPicPr>
        <p:blipFill>
          <a:blip r:embed="rId7"/>
          <a:stretch>
            <a:fillRect/>
          </a:stretch>
        </p:blipFill>
        <p:spPr>
          <a:xfrm>
            <a:off x="2175493" y="722087"/>
            <a:ext cx="7620392" cy="2813195"/>
          </a:xfrm>
          <a:prstGeom prst="rect">
            <a:avLst/>
          </a:prstGeom>
        </p:spPr>
      </p:pic>
      <p:pic>
        <p:nvPicPr>
          <p:cNvPr id="17" name="Picture 16">
            <a:extLst>
              <a:ext uri="{FF2B5EF4-FFF2-40B4-BE49-F238E27FC236}">
                <a16:creationId xmlns:a16="http://schemas.microsoft.com/office/drawing/2014/main" id="{93841D01-58E2-4F1B-815D-0918845849EA}"/>
              </a:ext>
            </a:extLst>
          </p:cNvPr>
          <p:cNvPicPr>
            <a:picLocks noChangeAspect="1"/>
          </p:cNvPicPr>
          <p:nvPr/>
        </p:nvPicPr>
        <p:blipFill>
          <a:blip r:embed="rId8"/>
          <a:stretch>
            <a:fillRect/>
          </a:stretch>
        </p:blipFill>
        <p:spPr>
          <a:xfrm>
            <a:off x="2179787" y="722035"/>
            <a:ext cx="7620392" cy="2806844"/>
          </a:xfrm>
          <a:prstGeom prst="rect">
            <a:avLst/>
          </a:prstGeom>
        </p:spPr>
      </p:pic>
    </p:spTree>
    <p:extLst>
      <p:ext uri="{BB962C8B-B14F-4D97-AF65-F5344CB8AC3E}">
        <p14:creationId xmlns:p14="http://schemas.microsoft.com/office/powerpoint/2010/main" val="46596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F1732-939C-4CAC-A8CB-DE67E4A293EA}"/>
              </a:ext>
            </a:extLst>
          </p:cNvPr>
          <p:cNvSpPr>
            <a:spLocks noGrp="1"/>
          </p:cNvSpPr>
          <p:nvPr>
            <p:ph type="title"/>
          </p:nvPr>
        </p:nvSpPr>
        <p:spPr/>
        <p:txBody>
          <a:bodyPr/>
          <a:lstStyle/>
          <a:p>
            <a:r>
              <a:rPr lang="en-US" dirty="0"/>
              <a:t>Complexity Analysis of Breadth-First Search (BFS) Algorithm:</a:t>
            </a:r>
            <a:endParaRPr lang="en-IN" dirty="0"/>
          </a:p>
        </p:txBody>
      </p:sp>
      <p:sp>
        <p:nvSpPr>
          <p:cNvPr id="3" name="Content Placeholder 2">
            <a:extLst>
              <a:ext uri="{FF2B5EF4-FFF2-40B4-BE49-F238E27FC236}">
                <a16:creationId xmlns:a16="http://schemas.microsoft.com/office/drawing/2014/main" id="{8331923F-4171-4AAD-8F26-99FFC4450E02}"/>
              </a:ext>
            </a:extLst>
          </p:cNvPr>
          <p:cNvSpPr>
            <a:spLocks noGrp="1"/>
          </p:cNvSpPr>
          <p:nvPr>
            <p:ph idx="1"/>
          </p:nvPr>
        </p:nvSpPr>
        <p:spPr/>
        <p:txBody>
          <a:bodyPr/>
          <a:lstStyle/>
          <a:p>
            <a:pPr marL="0" indent="0">
              <a:buNone/>
            </a:pPr>
            <a:r>
              <a:rPr lang="en-US" dirty="0"/>
              <a:t>Time Complexity of BFS Algorithm: O(V + E)</a:t>
            </a:r>
          </a:p>
          <a:p>
            <a:r>
              <a:rPr lang="en-US" dirty="0"/>
              <a:t>BFS explores all the vertices and edges in the graph. In the worst case, it visits every vertex and edge once. Therefore, the time complexity of BFS is O(V + E), where V and E are the number of vertices and edges in the given graph.</a:t>
            </a:r>
          </a:p>
          <a:p>
            <a:pPr marL="0" indent="0">
              <a:buNone/>
            </a:pPr>
            <a:r>
              <a:rPr lang="en-US" dirty="0"/>
              <a:t>Auxiliary Space of BFS Algorithm: O(V)</a:t>
            </a:r>
          </a:p>
          <a:p>
            <a:r>
              <a:rPr lang="en-US" dirty="0"/>
              <a:t>BFS uses a queue to keep track of the vertices that need to be visited. In the worst case, the queue can contain all the vertices in the graph. Therefore, the space complexity of BFS is O(V).</a:t>
            </a:r>
            <a:endParaRPr lang="en-IN" dirty="0"/>
          </a:p>
        </p:txBody>
      </p:sp>
    </p:spTree>
    <p:extLst>
      <p:ext uri="{BB962C8B-B14F-4D97-AF65-F5344CB8AC3E}">
        <p14:creationId xmlns:p14="http://schemas.microsoft.com/office/powerpoint/2010/main" val="181263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84E9-0CB5-4E24-82B5-739B9F46D8BA}"/>
              </a:ext>
            </a:extLst>
          </p:cNvPr>
          <p:cNvSpPr>
            <a:spLocks noGrp="1"/>
          </p:cNvSpPr>
          <p:nvPr>
            <p:ph type="title"/>
          </p:nvPr>
        </p:nvSpPr>
        <p:spPr/>
        <p:txBody>
          <a:bodyPr>
            <a:normAutofit/>
          </a:bodyPr>
          <a:lstStyle/>
          <a:p>
            <a:r>
              <a:rPr lang="en-US" dirty="0"/>
              <a:t>Applications of BFS in Graphs:</a:t>
            </a:r>
            <a:endParaRPr lang="en-IN" dirty="0"/>
          </a:p>
        </p:txBody>
      </p:sp>
      <p:sp>
        <p:nvSpPr>
          <p:cNvPr id="3" name="Content Placeholder 2">
            <a:extLst>
              <a:ext uri="{FF2B5EF4-FFF2-40B4-BE49-F238E27FC236}">
                <a16:creationId xmlns:a16="http://schemas.microsoft.com/office/drawing/2014/main" id="{1F10ADE7-FD42-4EF6-B67C-83B741A165EA}"/>
              </a:ext>
            </a:extLst>
          </p:cNvPr>
          <p:cNvSpPr>
            <a:spLocks noGrp="1"/>
          </p:cNvSpPr>
          <p:nvPr>
            <p:ph idx="1"/>
          </p:nvPr>
        </p:nvSpPr>
        <p:spPr/>
        <p:txBody>
          <a:bodyPr/>
          <a:lstStyle/>
          <a:p>
            <a:r>
              <a:rPr lang="en-US" sz="2000" dirty="0">
                <a:solidFill>
                  <a:srgbClr val="C00000"/>
                </a:solidFill>
              </a:rPr>
              <a:t>Shortest Path Finding: </a:t>
            </a:r>
            <a:r>
              <a:rPr lang="en-US" sz="2000" dirty="0"/>
              <a:t>BFS can be used to find the shortest path between two nodes in an unweighted graph. By keeping track of the parent of each node during the traversal, the shortest path can be reconstructed.</a:t>
            </a:r>
          </a:p>
          <a:p>
            <a:r>
              <a:rPr lang="en-US" sz="2000" dirty="0">
                <a:solidFill>
                  <a:srgbClr val="C00000"/>
                </a:solidFill>
              </a:rPr>
              <a:t>Cycle Detection: </a:t>
            </a:r>
            <a:r>
              <a:rPr lang="en-US" sz="2000" dirty="0"/>
              <a:t>BFS can be used to detect cycles in a graph. If a node is visited twice during the traversal, it indicates the presence of a cycle.</a:t>
            </a:r>
          </a:p>
          <a:p>
            <a:r>
              <a:rPr lang="en-US" sz="2000" dirty="0">
                <a:solidFill>
                  <a:srgbClr val="C00000"/>
                </a:solidFill>
              </a:rPr>
              <a:t>Connected Components: </a:t>
            </a:r>
            <a:r>
              <a:rPr lang="en-US" sz="2000" dirty="0"/>
              <a:t>BFS can be used to identify connected components in a graph. Each connected component is a set of nodes that can be reached from each other.</a:t>
            </a:r>
          </a:p>
          <a:p>
            <a:r>
              <a:rPr lang="en-US" sz="2000" dirty="0">
                <a:solidFill>
                  <a:srgbClr val="C00000"/>
                </a:solidFill>
              </a:rPr>
              <a:t>Topological Sorting: </a:t>
            </a:r>
            <a:r>
              <a:rPr lang="en-US" sz="2000" dirty="0"/>
              <a:t>BFS can be used to perform topological sorting on a directed acyclic graph (DAG). Topological sorting arranges the nodes in a linear order such that for any edge (u, v), u appears before v in the order.</a:t>
            </a:r>
          </a:p>
          <a:p>
            <a:r>
              <a:rPr lang="en-US" sz="2000" dirty="0">
                <a:solidFill>
                  <a:srgbClr val="C00000"/>
                </a:solidFill>
              </a:rPr>
              <a:t>Level Order Traversal of Binary Trees</a:t>
            </a:r>
            <a:r>
              <a:rPr lang="en-US" sz="2000" dirty="0"/>
              <a:t>: BFS can be used to perform a level order traversal of a binary tree. This traversal visits all nodes at the same level before moving to the next level.</a:t>
            </a:r>
          </a:p>
          <a:p>
            <a:r>
              <a:rPr lang="en-US" sz="2000" dirty="0">
                <a:solidFill>
                  <a:srgbClr val="C00000"/>
                </a:solidFill>
              </a:rPr>
              <a:t>Network Routing: </a:t>
            </a:r>
            <a:r>
              <a:rPr lang="en-US" sz="2000" dirty="0"/>
              <a:t>BFS can be used to find the shortest path between two nodes in a network, making it useful for routing data packets in network protocols.</a:t>
            </a:r>
            <a:endParaRPr lang="en-IN" sz="2000" dirty="0"/>
          </a:p>
        </p:txBody>
      </p:sp>
    </p:spTree>
    <p:extLst>
      <p:ext uri="{BB962C8B-B14F-4D97-AF65-F5344CB8AC3E}">
        <p14:creationId xmlns:p14="http://schemas.microsoft.com/office/powerpoint/2010/main" val="3892414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6754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10736-194E-4FAD-AD80-89A28B050913}"/>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1E3D723E-16D5-4A2C-9C3C-CC6D35983EB6}"/>
              </a:ext>
            </a:extLst>
          </p:cNvPr>
          <p:cNvSpPr>
            <a:spLocks noGrp="1"/>
          </p:cNvSpPr>
          <p:nvPr>
            <p:ph idx="1"/>
          </p:nvPr>
        </p:nvSpPr>
        <p:spPr/>
        <p:txBody>
          <a:bodyPr/>
          <a:lstStyle/>
          <a:p>
            <a:r>
              <a:rPr lang="en-US" dirty="0"/>
              <a:t>A spanning tree is a </a:t>
            </a:r>
            <a:r>
              <a:rPr lang="en-US" dirty="0">
                <a:solidFill>
                  <a:srgbClr val="C00000"/>
                </a:solidFill>
              </a:rPr>
              <a:t>sub-graph</a:t>
            </a:r>
            <a:r>
              <a:rPr lang="en-US" dirty="0"/>
              <a:t> that connects all the vertices of a graph with the </a:t>
            </a:r>
            <a:r>
              <a:rPr lang="en-US" dirty="0">
                <a:solidFill>
                  <a:srgbClr val="C00000"/>
                </a:solidFill>
              </a:rPr>
              <a:t>minimum possible number of edges.</a:t>
            </a:r>
            <a:r>
              <a:rPr lang="en-US" dirty="0"/>
              <a:t> It may or may not be weighted and </a:t>
            </a:r>
            <a:r>
              <a:rPr lang="en-US" dirty="0">
                <a:solidFill>
                  <a:srgbClr val="C00000"/>
                </a:solidFill>
              </a:rPr>
              <a:t>does not have cycles</a:t>
            </a:r>
            <a:r>
              <a:rPr lang="en-US" dirty="0"/>
              <a:t>.</a:t>
            </a:r>
          </a:p>
          <a:p>
            <a:r>
              <a:rPr lang="en-US" dirty="0"/>
              <a:t>Let us understand what is spanning tree with an interesting example.</a:t>
            </a:r>
          </a:p>
          <a:p>
            <a:endParaRPr lang="en-US" dirty="0"/>
          </a:p>
          <a:p>
            <a:r>
              <a:rPr lang="en-US" dirty="0"/>
              <a:t>Consider a situation where a cable television network company is laying the cable to a new neighborhood. If the company is constrained to bury the cable only along certain paths for example along the roads then the problem is to find the minimum amount of cable that the company requires to complete the wiring of the television network</a:t>
            </a:r>
            <a:endParaRPr lang="en-IN" dirty="0"/>
          </a:p>
        </p:txBody>
      </p:sp>
    </p:spTree>
    <p:extLst>
      <p:ext uri="{BB962C8B-B14F-4D97-AF65-F5344CB8AC3E}">
        <p14:creationId xmlns:p14="http://schemas.microsoft.com/office/powerpoint/2010/main" val="173652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5C65-B0B8-4C80-93A7-42955384F37B}"/>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6B27E3A3-D9A0-4D98-A0B3-FDF7D1836DB2}"/>
              </a:ext>
            </a:extLst>
          </p:cNvPr>
          <p:cNvSpPr>
            <a:spLocks noGrp="1"/>
          </p:cNvSpPr>
          <p:nvPr>
            <p:ph idx="1"/>
          </p:nvPr>
        </p:nvSpPr>
        <p:spPr/>
        <p:txBody>
          <a:bodyPr/>
          <a:lstStyle/>
          <a:p>
            <a:r>
              <a:rPr lang="en-US" dirty="0"/>
              <a:t>A Spanning tree always contains </a:t>
            </a:r>
            <a:r>
              <a:rPr lang="en-US" dirty="0">
                <a:solidFill>
                  <a:srgbClr val="C00000"/>
                </a:solidFill>
              </a:rPr>
              <a:t>n-1</a:t>
            </a:r>
            <a:r>
              <a:rPr lang="en-US" dirty="0"/>
              <a:t> edges, where n is the total number of vertices in the graph G.</a:t>
            </a:r>
          </a:p>
          <a:p>
            <a:r>
              <a:rPr lang="en-US" dirty="0"/>
              <a:t>The total number of spanning trees with complete graph of </a:t>
            </a:r>
            <a:r>
              <a:rPr lang="en-US" dirty="0">
                <a:solidFill>
                  <a:srgbClr val="C00000"/>
                </a:solidFill>
              </a:rPr>
              <a:t>n</a:t>
            </a:r>
            <a:r>
              <a:rPr lang="en-US" dirty="0"/>
              <a:t> vertices is </a:t>
            </a:r>
            <a:r>
              <a:rPr lang="en-US" dirty="0">
                <a:solidFill>
                  <a:srgbClr val="C00000"/>
                </a:solidFill>
              </a:rPr>
              <a:t>n</a:t>
            </a:r>
            <a:r>
              <a:rPr lang="en-US" baseline="30000" dirty="0">
                <a:solidFill>
                  <a:srgbClr val="C00000"/>
                </a:solidFill>
              </a:rPr>
              <a:t>(n-2)</a:t>
            </a:r>
            <a:r>
              <a:rPr lang="en-US" dirty="0">
                <a:solidFill>
                  <a:srgbClr val="C00000"/>
                </a:solidFill>
              </a:rPr>
              <a:t>.</a:t>
            </a:r>
          </a:p>
          <a:p>
            <a:r>
              <a:rPr lang="en-US" dirty="0"/>
              <a:t>We can construct a spanning tree by removing maximum </a:t>
            </a:r>
            <a:r>
              <a:rPr lang="en-US" dirty="0">
                <a:solidFill>
                  <a:srgbClr val="C00000"/>
                </a:solidFill>
              </a:rPr>
              <a:t>e-(n+1)</a:t>
            </a:r>
            <a:r>
              <a:rPr lang="en-US" dirty="0"/>
              <a:t> edges from a complete graph G, where e is the number of edges and n is the number of vertices in graph G.</a:t>
            </a:r>
            <a:endParaRPr lang="en-IN" dirty="0"/>
          </a:p>
        </p:txBody>
      </p:sp>
    </p:spTree>
    <p:extLst>
      <p:ext uri="{BB962C8B-B14F-4D97-AF65-F5344CB8AC3E}">
        <p14:creationId xmlns:p14="http://schemas.microsoft.com/office/powerpoint/2010/main" val="68977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4E5B-56F3-481E-9916-DDACFD58AAB6}"/>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FBF924B5-D729-4225-AC00-E71C4767EFEB}"/>
              </a:ext>
            </a:extLst>
          </p:cNvPr>
          <p:cNvSpPr>
            <a:spLocks noGrp="1"/>
          </p:cNvSpPr>
          <p:nvPr>
            <p:ph idx="1"/>
          </p:nvPr>
        </p:nvSpPr>
        <p:spPr/>
        <p:txBody>
          <a:bodyPr/>
          <a:lstStyle/>
          <a:p>
            <a:r>
              <a:rPr lang="en-US" dirty="0"/>
              <a:t>A complete undirected graph G can have a maximum n</a:t>
            </a:r>
            <a:r>
              <a:rPr lang="en-US" baseline="30000" dirty="0"/>
              <a:t>n-2</a:t>
            </a:r>
            <a:r>
              <a:rPr lang="en-US" dirty="0"/>
              <a:t> number of spanning trees, where n is the number of nodes in a given graph G. Let us Consider a complete graph G with 3 vertices, then the total number of spanning trees this graph can have is 3</a:t>
            </a:r>
            <a:r>
              <a:rPr lang="en-US" baseline="30000" dirty="0"/>
              <a:t>(3-2)</a:t>
            </a:r>
            <a:r>
              <a:rPr lang="en-US" dirty="0"/>
              <a:t>=3 which are shown in the image below.</a:t>
            </a:r>
            <a:endParaRPr lang="en-IN" dirty="0"/>
          </a:p>
        </p:txBody>
      </p:sp>
      <p:pic>
        <p:nvPicPr>
          <p:cNvPr id="5" name="Picture 4">
            <a:extLst>
              <a:ext uri="{FF2B5EF4-FFF2-40B4-BE49-F238E27FC236}">
                <a16:creationId xmlns:a16="http://schemas.microsoft.com/office/drawing/2014/main" id="{B01769D5-5012-43FD-BEFE-4D7E5D5EA3B4}"/>
              </a:ext>
            </a:extLst>
          </p:cNvPr>
          <p:cNvPicPr>
            <a:picLocks noChangeAspect="1"/>
          </p:cNvPicPr>
          <p:nvPr/>
        </p:nvPicPr>
        <p:blipFill>
          <a:blip r:embed="rId2"/>
          <a:stretch>
            <a:fillRect/>
          </a:stretch>
        </p:blipFill>
        <p:spPr>
          <a:xfrm>
            <a:off x="2716957" y="2334266"/>
            <a:ext cx="6168780" cy="3431266"/>
          </a:xfrm>
          <a:prstGeom prst="rect">
            <a:avLst/>
          </a:prstGeom>
        </p:spPr>
      </p:pic>
    </p:spTree>
    <p:extLst>
      <p:ext uri="{BB962C8B-B14F-4D97-AF65-F5344CB8AC3E}">
        <p14:creationId xmlns:p14="http://schemas.microsoft.com/office/powerpoint/2010/main" val="2471509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Minimum Spanning Tree (MST)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a:t>
                </a:r>
                <a14:m>
                  <m:oMath xmlns:m="http://schemas.openxmlformats.org/officeDocument/2006/math">
                    <m:r>
                      <a:rPr lang="en-US" i="1" dirty="0">
                        <a:latin typeface="Cambria Math" panose="02040503050406030204" pitchFamily="18" charset="0"/>
                      </a:rPr>
                      <m:t>𝐺</m:t>
                    </m:r>
                    <m:r>
                      <a:rPr lang="en-US" i="1" dirty="0">
                        <a:latin typeface="Cambria Math" panose="02040503050406030204" pitchFamily="18" charset="0"/>
                      </a:rPr>
                      <m:t> = </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𝑁</m:t>
                        </m:r>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𝐴</m:t>
                            </m:r>
                          </m:e>
                        </m:d>
                      </m:e>
                    </m:d>
                    <m:r>
                      <a:rPr lang="en-US" i="1" dirty="0">
                        <a:latin typeface="Cambria Math" panose="02040503050406030204" pitchFamily="18" charset="0"/>
                      </a:rPr>
                      <m:t> </m:t>
                    </m:r>
                  </m:oMath>
                </a14:m>
                <a:r>
                  <a:rPr lang="en-US" dirty="0"/>
                  <a:t>be a </a:t>
                </a:r>
                <a:r>
                  <a:rPr lang="en-US" b="1" dirty="0"/>
                  <a:t>connected, undirected graph </a:t>
                </a:r>
                <a:r>
                  <a:rPr lang="en-US" dirty="0"/>
                  <a:t>where,</a:t>
                </a:r>
              </a:p>
              <a:p>
                <a:pPr marL="857250" lvl="1" indent="-457200">
                  <a:buFont typeface="+mj-lt"/>
                  <a:buAutoNum type="arabicPeriod"/>
                </a:pPr>
                <a14:m>
                  <m:oMath xmlns:m="http://schemas.openxmlformats.org/officeDocument/2006/math">
                    <m:r>
                      <m:rPr>
                        <m:sty m:val="p"/>
                      </m:rPr>
                      <a:rPr lang="en-US" i="0" dirty="0" smtClean="0">
                        <a:solidFill>
                          <a:srgbClr val="0066FF"/>
                        </a:solidFill>
                        <a:latin typeface="Cambria Math" panose="02040503050406030204" pitchFamily="18" charset="0"/>
                      </a:rPr>
                      <m:t>N</m:t>
                    </m:r>
                  </m:oMath>
                </a14:m>
                <a:r>
                  <a:rPr lang="en-US" dirty="0">
                    <a:solidFill>
                      <a:srgbClr val="0066FF"/>
                    </a:solidFill>
                  </a:rPr>
                  <a:t> is the set of nodes and </a:t>
                </a:r>
              </a:p>
              <a:p>
                <a:pPr marL="857250" lvl="1" indent="-457200">
                  <a:buFont typeface="+mj-lt"/>
                  <a:buAutoNum type="arabicPeriod"/>
                </a:pPr>
                <a14:m>
                  <m:oMath xmlns:m="http://schemas.openxmlformats.org/officeDocument/2006/math">
                    <m:r>
                      <m:rPr>
                        <m:sty m:val="p"/>
                      </m:rPr>
                      <a:rPr lang="en-US" i="0" dirty="0">
                        <a:solidFill>
                          <a:srgbClr val="0066FF"/>
                        </a:solidFill>
                        <a:latin typeface="Cambria Math" panose="02040503050406030204" pitchFamily="18" charset="0"/>
                      </a:rPr>
                      <m:t>A</m:t>
                    </m:r>
                  </m:oMath>
                </a14:m>
                <a:r>
                  <a:rPr lang="en-US" dirty="0">
                    <a:solidFill>
                      <a:srgbClr val="0066FF"/>
                    </a:solidFill>
                  </a:rPr>
                  <a:t> is the set of edges. </a:t>
                </a:r>
              </a:p>
              <a:p>
                <a:r>
                  <a:rPr lang="en-US" dirty="0"/>
                  <a:t>Each edge has a given </a:t>
                </a:r>
                <a:r>
                  <a:rPr lang="en-US" b="1" dirty="0"/>
                  <a:t>positive length or weight</a:t>
                </a:r>
                <a:r>
                  <a:rPr lang="en-US" dirty="0"/>
                  <a:t>. </a:t>
                </a:r>
              </a:p>
              <a:p>
                <a:r>
                  <a:rPr lang="en-US" dirty="0"/>
                  <a:t>A spanning tree of a graph </a:t>
                </a:r>
                <a14:m>
                  <m:oMath xmlns:m="http://schemas.openxmlformats.org/officeDocument/2006/math">
                    <m:r>
                      <a:rPr lang="en-US" i="1" dirty="0">
                        <a:latin typeface="Cambria Math" panose="02040503050406030204" pitchFamily="18" charset="0"/>
                      </a:rPr>
                      <m:t>𝐺</m:t>
                    </m:r>
                  </m:oMath>
                </a14:m>
                <a:r>
                  <a:rPr lang="en-US" dirty="0"/>
                  <a:t> </a:t>
                </a:r>
                <a:r>
                  <a:rPr lang="en-US" b="1" dirty="0"/>
                  <a:t>is a sub-graph </a:t>
                </a:r>
                <a:r>
                  <a:rPr lang="en-US" dirty="0"/>
                  <a:t>which is basically a tree and</a:t>
                </a:r>
                <a:r>
                  <a:rPr lang="en-US" dirty="0">
                    <a:solidFill>
                      <a:srgbClr val="FF0000"/>
                    </a:solidFill>
                  </a:rPr>
                  <a:t> </a:t>
                </a:r>
                <a:r>
                  <a:rPr lang="en-US" dirty="0"/>
                  <a:t>it contains all the vertices of </a:t>
                </a:r>
                <a14:m>
                  <m:oMath xmlns:m="http://schemas.openxmlformats.org/officeDocument/2006/math">
                    <m:r>
                      <a:rPr lang="en-US" dirty="0">
                        <a:latin typeface="Cambria Math" panose="02040503050406030204" pitchFamily="18" charset="0"/>
                      </a:rPr>
                      <m:t>𝐺</m:t>
                    </m:r>
                  </m:oMath>
                </a14:m>
                <a:r>
                  <a:rPr lang="en-US" dirty="0"/>
                  <a:t> but </a:t>
                </a:r>
                <a:r>
                  <a:rPr lang="en-US" dirty="0">
                    <a:solidFill>
                      <a:srgbClr val="AD1457"/>
                    </a:solidFill>
                  </a:rPr>
                  <a:t>does not contain cycle</a:t>
                </a:r>
                <a:r>
                  <a:rPr lang="en-US" dirty="0"/>
                  <a:t>.</a:t>
                </a:r>
              </a:p>
              <a:p>
                <a:r>
                  <a:rPr lang="en-US" dirty="0"/>
                  <a:t>A minimum spanning tree (MST) of a </a:t>
                </a:r>
                <a:r>
                  <a:rPr lang="en-US" b="1" dirty="0"/>
                  <a:t>weighted connected graph </a:t>
                </a:r>
                <a14:m>
                  <m:oMath xmlns:m="http://schemas.openxmlformats.org/officeDocument/2006/math">
                    <m:r>
                      <a:rPr lang="en-US" i="1" dirty="0">
                        <a:latin typeface="Cambria Math" panose="02040503050406030204" pitchFamily="18" charset="0"/>
                      </a:rPr>
                      <m:t>𝐺</m:t>
                    </m:r>
                  </m:oMath>
                </a14:m>
                <a:r>
                  <a:rPr lang="en-US" dirty="0"/>
                  <a:t> is a spanning tree with </a:t>
                </a:r>
                <a:r>
                  <a:rPr lang="en-US" dirty="0">
                    <a:solidFill>
                      <a:srgbClr val="AD1457"/>
                    </a:solidFill>
                  </a:rPr>
                  <a:t>minimum or smallest weight of edges</a:t>
                </a:r>
                <a:r>
                  <a:rPr lang="en-US" dirty="0"/>
                  <a:t>.</a:t>
                </a:r>
              </a:p>
              <a:p>
                <a:r>
                  <a:rPr lang="en-US" dirty="0"/>
                  <a:t>Two Algorithms for </a:t>
                </a:r>
                <a:r>
                  <a:rPr lang="en-US" b="1" dirty="0"/>
                  <a:t>constructing </a:t>
                </a:r>
                <a:r>
                  <a:rPr lang="en-US" dirty="0"/>
                  <a:t>minimum spanning tree are,</a:t>
                </a:r>
              </a:p>
              <a:p>
                <a:pPr marL="914400" lvl="1" indent="-457200">
                  <a:buFont typeface="+mj-lt"/>
                  <a:buAutoNum type="arabicPeriod"/>
                </a:pPr>
                <a:r>
                  <a:rPr lang="en-US" dirty="0" err="1">
                    <a:solidFill>
                      <a:srgbClr val="0066FF"/>
                    </a:solidFill>
                  </a:rPr>
                  <a:t>Kruskal’s</a:t>
                </a:r>
                <a:r>
                  <a:rPr lang="en-US" dirty="0">
                    <a:solidFill>
                      <a:srgbClr val="0066FF"/>
                    </a:solidFill>
                  </a:rPr>
                  <a:t> Algorithm</a:t>
                </a:r>
              </a:p>
              <a:p>
                <a:pPr marL="914400" lvl="1" indent="-457200">
                  <a:buFont typeface="+mj-lt"/>
                  <a:buAutoNum type="arabicPeriod"/>
                </a:pPr>
                <a:r>
                  <a:rPr lang="en-US" dirty="0">
                    <a:solidFill>
                      <a:srgbClr val="0066FF"/>
                    </a:solidFill>
                  </a:rPr>
                  <a:t>Prim’s Algorithm</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1341" r="-818"/>
                </a:stretch>
              </a:blipFill>
            </p:spPr>
            <p:txBody>
              <a:bodyPr/>
              <a:lstStyle/>
              <a:p>
                <a:r>
                  <a:rPr lang="en-US">
                    <a:noFill/>
                  </a:rPr>
                  <a:t> </a:t>
                </a:r>
              </a:p>
            </p:txBody>
          </p:sp>
        </mc:Fallback>
      </mc:AlternateContent>
    </p:spTree>
    <p:extLst>
      <p:ext uri="{BB962C8B-B14F-4D97-AF65-F5344CB8AC3E}">
        <p14:creationId xmlns:p14="http://schemas.microsoft.com/office/powerpoint/2010/main" val="401653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Tree Examples </a:t>
            </a:r>
          </a:p>
        </p:txBody>
      </p:sp>
      <p:sp>
        <p:nvSpPr>
          <p:cNvPr id="4" name="Oval 3"/>
          <p:cNvSpPr/>
          <p:nvPr/>
        </p:nvSpPr>
        <p:spPr>
          <a:xfrm>
            <a:off x="284180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22322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35276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7" name="Oval 6"/>
          <p:cNvSpPr/>
          <p:nvPr/>
        </p:nvSpPr>
        <p:spPr>
          <a:xfrm>
            <a:off x="1775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26132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9" name="Oval 8"/>
          <p:cNvSpPr/>
          <p:nvPr/>
        </p:nvSpPr>
        <p:spPr>
          <a:xfrm>
            <a:off x="32228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10" name="Oval 9"/>
          <p:cNvSpPr/>
          <p:nvPr/>
        </p:nvSpPr>
        <p:spPr>
          <a:xfrm>
            <a:off x="39848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11" name="Oval 10"/>
          <p:cNvSpPr/>
          <p:nvPr/>
        </p:nvSpPr>
        <p:spPr>
          <a:xfrm>
            <a:off x="2841807" y="3276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12" name="Straight Connector 11"/>
          <p:cNvCxnSpPr>
            <a:stCxn id="4" idx="3"/>
            <a:endCxn id="5" idx="7"/>
          </p:cNvCxnSpPr>
          <p:nvPr/>
        </p:nvCxnSpPr>
        <p:spPr>
          <a:xfrm flipH="1">
            <a:off x="2557411" y="1315804"/>
            <a:ext cx="3401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4" idx="5"/>
            <a:endCxn id="6" idx="1"/>
          </p:cNvCxnSpPr>
          <p:nvPr/>
        </p:nvCxnSpPr>
        <p:spPr>
          <a:xfrm>
            <a:off x="3167011" y="1315804"/>
            <a:ext cx="4163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5" idx="3"/>
            <a:endCxn id="7" idx="0"/>
          </p:cNvCxnSpPr>
          <p:nvPr/>
        </p:nvCxnSpPr>
        <p:spPr>
          <a:xfrm flipH="1">
            <a:off x="1965507"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5" idx="5"/>
            <a:endCxn id="8" idx="0"/>
          </p:cNvCxnSpPr>
          <p:nvPr/>
        </p:nvCxnSpPr>
        <p:spPr>
          <a:xfrm>
            <a:off x="2557411" y="1849204"/>
            <a:ext cx="2462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3"/>
            <a:endCxn id="9" idx="0"/>
          </p:cNvCxnSpPr>
          <p:nvPr/>
        </p:nvCxnSpPr>
        <p:spPr>
          <a:xfrm flipH="1">
            <a:off x="3413307" y="1849204"/>
            <a:ext cx="1700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6" idx="5"/>
            <a:endCxn id="10" idx="0"/>
          </p:cNvCxnSpPr>
          <p:nvPr/>
        </p:nvCxnSpPr>
        <p:spPr>
          <a:xfrm>
            <a:off x="3852811"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7" idx="4"/>
            <a:endCxn id="11" idx="2"/>
          </p:cNvCxnSpPr>
          <p:nvPr/>
        </p:nvCxnSpPr>
        <p:spPr>
          <a:xfrm>
            <a:off x="1965507" y="2514600"/>
            <a:ext cx="8763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8" idx="4"/>
            <a:endCxn id="11" idx="1"/>
          </p:cNvCxnSpPr>
          <p:nvPr/>
        </p:nvCxnSpPr>
        <p:spPr>
          <a:xfrm>
            <a:off x="2803707" y="2514600"/>
            <a:ext cx="938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1" idx="7"/>
          </p:cNvCxnSpPr>
          <p:nvPr/>
        </p:nvCxnSpPr>
        <p:spPr>
          <a:xfrm flipH="1">
            <a:off x="3167011" y="2514600"/>
            <a:ext cx="2462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0" idx="4"/>
            <a:endCxn id="11" idx="6"/>
          </p:cNvCxnSpPr>
          <p:nvPr/>
        </p:nvCxnSpPr>
        <p:spPr>
          <a:xfrm flipH="1">
            <a:off x="3222807" y="2514600"/>
            <a:ext cx="9525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2" name="Oval 21"/>
          <p:cNvSpPr/>
          <p:nvPr/>
        </p:nvSpPr>
        <p:spPr>
          <a:xfrm>
            <a:off x="787100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23" name="Oval 22"/>
          <p:cNvSpPr/>
          <p:nvPr/>
        </p:nvSpPr>
        <p:spPr>
          <a:xfrm>
            <a:off x="72614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24" name="Oval 23"/>
          <p:cNvSpPr/>
          <p:nvPr/>
        </p:nvSpPr>
        <p:spPr>
          <a:xfrm>
            <a:off x="85568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25" name="Oval 24"/>
          <p:cNvSpPr/>
          <p:nvPr/>
        </p:nvSpPr>
        <p:spPr>
          <a:xfrm>
            <a:off x="68042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26" name="Oval 25"/>
          <p:cNvSpPr/>
          <p:nvPr/>
        </p:nvSpPr>
        <p:spPr>
          <a:xfrm>
            <a:off x="76424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27" name="Oval 26"/>
          <p:cNvSpPr/>
          <p:nvPr/>
        </p:nvSpPr>
        <p:spPr>
          <a:xfrm>
            <a:off x="8252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28" name="Oval 27"/>
          <p:cNvSpPr/>
          <p:nvPr/>
        </p:nvSpPr>
        <p:spPr>
          <a:xfrm>
            <a:off x="9014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29" name="Oval 28"/>
          <p:cNvSpPr/>
          <p:nvPr/>
        </p:nvSpPr>
        <p:spPr>
          <a:xfrm>
            <a:off x="7871007" y="3276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30" name="Straight Connector 29"/>
          <p:cNvCxnSpPr>
            <a:stCxn id="22" idx="3"/>
            <a:endCxn id="23" idx="7"/>
          </p:cNvCxnSpPr>
          <p:nvPr/>
        </p:nvCxnSpPr>
        <p:spPr>
          <a:xfrm flipH="1">
            <a:off x="7586611" y="1315804"/>
            <a:ext cx="3401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a:stCxn id="23" idx="3"/>
            <a:endCxn id="25" idx="0"/>
          </p:cNvCxnSpPr>
          <p:nvPr/>
        </p:nvCxnSpPr>
        <p:spPr>
          <a:xfrm flipH="1">
            <a:off x="6994707"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24" idx="3"/>
            <a:endCxn id="27" idx="0"/>
          </p:cNvCxnSpPr>
          <p:nvPr/>
        </p:nvCxnSpPr>
        <p:spPr>
          <a:xfrm flipH="1">
            <a:off x="8442507" y="1849204"/>
            <a:ext cx="1700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3" name="Straight Connector 32"/>
          <p:cNvCxnSpPr>
            <a:stCxn id="24" idx="5"/>
            <a:endCxn id="28" idx="0"/>
          </p:cNvCxnSpPr>
          <p:nvPr/>
        </p:nvCxnSpPr>
        <p:spPr>
          <a:xfrm>
            <a:off x="8882011"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4" name="Straight Connector 33"/>
          <p:cNvCxnSpPr>
            <a:stCxn id="25" idx="4"/>
            <a:endCxn id="29" idx="2"/>
          </p:cNvCxnSpPr>
          <p:nvPr/>
        </p:nvCxnSpPr>
        <p:spPr>
          <a:xfrm>
            <a:off x="6994707" y="2514600"/>
            <a:ext cx="8763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5" name="Straight Connector 34"/>
          <p:cNvCxnSpPr>
            <a:stCxn id="26" idx="4"/>
            <a:endCxn id="29" idx="1"/>
          </p:cNvCxnSpPr>
          <p:nvPr/>
        </p:nvCxnSpPr>
        <p:spPr>
          <a:xfrm>
            <a:off x="7832907" y="2514600"/>
            <a:ext cx="938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6" name="Straight Connector 35"/>
          <p:cNvCxnSpPr>
            <a:stCxn id="27" idx="4"/>
            <a:endCxn id="29" idx="7"/>
          </p:cNvCxnSpPr>
          <p:nvPr/>
        </p:nvCxnSpPr>
        <p:spPr>
          <a:xfrm flipH="1">
            <a:off x="8196211" y="2514600"/>
            <a:ext cx="2462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7" name="Straight Connector 36"/>
          <p:cNvCxnSpPr/>
          <p:nvPr/>
        </p:nvCxnSpPr>
        <p:spPr>
          <a:xfrm flipV="1">
            <a:off x="1066800" y="3845017"/>
            <a:ext cx="100584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2308407" y="45642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39" name="Oval 38"/>
          <p:cNvSpPr/>
          <p:nvPr/>
        </p:nvSpPr>
        <p:spPr>
          <a:xfrm>
            <a:off x="17750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0" name="Oval 39"/>
          <p:cNvSpPr/>
          <p:nvPr/>
        </p:nvSpPr>
        <p:spPr>
          <a:xfrm>
            <a:off x="29180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1" name="Oval 40"/>
          <p:cNvSpPr/>
          <p:nvPr/>
        </p:nvSpPr>
        <p:spPr>
          <a:xfrm>
            <a:off x="2308407" y="571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2" name="Oval 41"/>
          <p:cNvSpPr/>
          <p:nvPr/>
        </p:nvSpPr>
        <p:spPr>
          <a:xfrm>
            <a:off x="42134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3" name="Oval 42"/>
          <p:cNvSpPr/>
          <p:nvPr/>
        </p:nvSpPr>
        <p:spPr>
          <a:xfrm>
            <a:off x="3527607" y="571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44" name="Straight Connector 43"/>
          <p:cNvCxnSpPr>
            <a:stCxn id="38" idx="3"/>
            <a:endCxn id="39" idx="7"/>
          </p:cNvCxnSpPr>
          <p:nvPr/>
        </p:nvCxnSpPr>
        <p:spPr>
          <a:xfrm flipH="1">
            <a:off x="2100211" y="4889500"/>
            <a:ext cx="2639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45" name="Straight Connector 44"/>
          <p:cNvCxnSpPr>
            <a:stCxn id="38" idx="5"/>
            <a:endCxn id="40" idx="1"/>
          </p:cNvCxnSpPr>
          <p:nvPr/>
        </p:nvCxnSpPr>
        <p:spPr>
          <a:xfrm>
            <a:off x="2633611" y="4889500"/>
            <a:ext cx="3401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39" idx="5"/>
            <a:endCxn id="41" idx="2"/>
          </p:cNvCxnSpPr>
          <p:nvPr/>
        </p:nvCxnSpPr>
        <p:spPr>
          <a:xfrm>
            <a:off x="2100211" y="5461000"/>
            <a:ext cx="2081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1" idx="6"/>
            <a:endCxn id="40" idx="3"/>
          </p:cNvCxnSpPr>
          <p:nvPr/>
        </p:nvCxnSpPr>
        <p:spPr>
          <a:xfrm flipV="1">
            <a:off x="2689407" y="5461000"/>
            <a:ext cx="2843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8" name="Straight Connector 47"/>
          <p:cNvCxnSpPr>
            <a:stCxn id="40" idx="6"/>
            <a:endCxn id="42" idx="2"/>
          </p:cNvCxnSpPr>
          <p:nvPr/>
        </p:nvCxnSpPr>
        <p:spPr>
          <a:xfrm>
            <a:off x="3299007" y="5326296"/>
            <a:ext cx="91440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9" name="Straight Connector 48"/>
          <p:cNvCxnSpPr>
            <a:stCxn id="40" idx="5"/>
            <a:endCxn id="43" idx="1"/>
          </p:cNvCxnSpPr>
          <p:nvPr/>
        </p:nvCxnSpPr>
        <p:spPr>
          <a:xfrm>
            <a:off x="3243211" y="54610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50" name="Straight Connector 49"/>
          <p:cNvCxnSpPr>
            <a:stCxn id="42" idx="3"/>
            <a:endCxn id="43" idx="6"/>
          </p:cNvCxnSpPr>
          <p:nvPr/>
        </p:nvCxnSpPr>
        <p:spPr>
          <a:xfrm flipH="1">
            <a:off x="3908607" y="5461000"/>
            <a:ext cx="360596" cy="444500"/>
          </a:xfrm>
          <a:prstGeom prst="line">
            <a:avLst/>
          </a:prstGeom>
        </p:spPr>
        <p:style>
          <a:lnRef idx="2">
            <a:schemeClr val="accent2"/>
          </a:lnRef>
          <a:fillRef idx="0">
            <a:schemeClr val="accent2"/>
          </a:fillRef>
          <a:effectRef idx="1">
            <a:schemeClr val="accent2"/>
          </a:effectRef>
          <a:fontRef idx="minor">
            <a:schemeClr val="tx1"/>
          </a:fontRef>
        </p:style>
      </p:cxnSp>
      <p:sp>
        <p:nvSpPr>
          <p:cNvPr id="51" name="Oval 50"/>
          <p:cNvSpPr/>
          <p:nvPr/>
        </p:nvSpPr>
        <p:spPr>
          <a:xfrm>
            <a:off x="7337607" y="44118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2" name="Oval 51"/>
          <p:cNvSpPr/>
          <p:nvPr/>
        </p:nvSpPr>
        <p:spPr>
          <a:xfrm>
            <a:off x="68042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53" name="Oval 52"/>
          <p:cNvSpPr/>
          <p:nvPr/>
        </p:nvSpPr>
        <p:spPr>
          <a:xfrm>
            <a:off x="79472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54" name="Oval 53"/>
          <p:cNvSpPr/>
          <p:nvPr/>
        </p:nvSpPr>
        <p:spPr>
          <a:xfrm>
            <a:off x="7337607" y="5562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55" name="Oval 54"/>
          <p:cNvSpPr/>
          <p:nvPr/>
        </p:nvSpPr>
        <p:spPr>
          <a:xfrm>
            <a:off x="92426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56" name="Oval 55"/>
          <p:cNvSpPr/>
          <p:nvPr/>
        </p:nvSpPr>
        <p:spPr>
          <a:xfrm>
            <a:off x="8556807" y="5562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57" name="Straight Connector 56"/>
          <p:cNvCxnSpPr>
            <a:stCxn id="51" idx="3"/>
            <a:endCxn id="52" idx="7"/>
          </p:cNvCxnSpPr>
          <p:nvPr/>
        </p:nvCxnSpPr>
        <p:spPr>
          <a:xfrm flipH="1">
            <a:off x="7129411" y="4737100"/>
            <a:ext cx="2639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52" idx="5"/>
            <a:endCxn id="54" idx="2"/>
          </p:cNvCxnSpPr>
          <p:nvPr/>
        </p:nvCxnSpPr>
        <p:spPr>
          <a:xfrm>
            <a:off x="7129411" y="5308600"/>
            <a:ext cx="2081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54" idx="7"/>
            <a:endCxn id="53" idx="3"/>
          </p:cNvCxnSpPr>
          <p:nvPr/>
        </p:nvCxnSpPr>
        <p:spPr>
          <a:xfrm flipV="1">
            <a:off x="7662811" y="53086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53" idx="5"/>
            <a:endCxn id="56" idx="1"/>
          </p:cNvCxnSpPr>
          <p:nvPr/>
        </p:nvCxnSpPr>
        <p:spPr>
          <a:xfrm>
            <a:off x="8272411" y="53086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61" name="Straight Connector 60"/>
          <p:cNvCxnSpPr>
            <a:stCxn id="55" idx="3"/>
            <a:endCxn id="56" idx="6"/>
          </p:cNvCxnSpPr>
          <p:nvPr/>
        </p:nvCxnSpPr>
        <p:spPr>
          <a:xfrm flipH="1">
            <a:off x="8937807" y="5308600"/>
            <a:ext cx="360596" cy="444500"/>
          </a:xfrm>
          <a:prstGeom prst="line">
            <a:avLst/>
          </a:prstGeom>
        </p:spPr>
        <p:style>
          <a:lnRef idx="2">
            <a:schemeClr val="accent2"/>
          </a:lnRef>
          <a:fillRef idx="0">
            <a:schemeClr val="accent2"/>
          </a:fillRef>
          <a:effectRef idx="1">
            <a:schemeClr val="accent2"/>
          </a:effectRef>
          <a:fontRef idx="minor">
            <a:schemeClr val="tx1"/>
          </a:fontRef>
        </p:style>
      </p:cxnSp>
      <p:sp>
        <p:nvSpPr>
          <p:cNvPr id="62" name="TextBox 61"/>
          <p:cNvSpPr txBox="1"/>
          <p:nvPr/>
        </p:nvSpPr>
        <p:spPr>
          <a:xfrm>
            <a:off x="1165407" y="999795"/>
            <a:ext cx="956582" cy="461665"/>
          </a:xfrm>
          <a:prstGeom prst="rect">
            <a:avLst/>
          </a:prstGeom>
          <a:solidFill>
            <a:schemeClr val="bg1">
              <a:lumMod val="85000"/>
            </a:schemeClr>
          </a:solidFill>
        </p:spPr>
        <p:txBody>
          <a:bodyPr wrap="square" rtlCol="0">
            <a:spAutoFit/>
          </a:bodyPr>
          <a:lstStyle/>
          <a:p>
            <a:r>
              <a:rPr lang="en-US" sz="2400" dirty="0">
                <a:solidFill>
                  <a:srgbClr val="C00000"/>
                </a:solidFill>
              </a:rPr>
              <a:t>Graph </a:t>
            </a:r>
          </a:p>
        </p:txBody>
      </p:sp>
      <p:sp>
        <p:nvSpPr>
          <p:cNvPr id="63" name="TextBox 62"/>
          <p:cNvSpPr txBox="1"/>
          <p:nvPr/>
        </p:nvSpPr>
        <p:spPr>
          <a:xfrm>
            <a:off x="1165407" y="3983896"/>
            <a:ext cx="956582" cy="461665"/>
          </a:xfrm>
          <a:prstGeom prst="rect">
            <a:avLst/>
          </a:prstGeom>
          <a:solidFill>
            <a:schemeClr val="bg1">
              <a:lumMod val="85000"/>
            </a:schemeClr>
          </a:solidFill>
        </p:spPr>
        <p:txBody>
          <a:bodyPr wrap="square" rtlCol="0">
            <a:spAutoFit/>
          </a:bodyPr>
          <a:lstStyle/>
          <a:p>
            <a:r>
              <a:rPr lang="en-US" sz="2400" dirty="0">
                <a:solidFill>
                  <a:srgbClr val="C00000"/>
                </a:solidFill>
              </a:rPr>
              <a:t>Graph </a:t>
            </a:r>
          </a:p>
        </p:txBody>
      </p:sp>
      <p:sp>
        <p:nvSpPr>
          <p:cNvPr id="64" name="Rectangle 63"/>
          <p:cNvSpPr/>
          <p:nvPr/>
        </p:nvSpPr>
        <p:spPr>
          <a:xfrm>
            <a:off x="4660154" y="1030572"/>
            <a:ext cx="1712264" cy="400110"/>
          </a:xfrm>
          <a:prstGeom prst="rect">
            <a:avLst/>
          </a:prstGeom>
          <a:solidFill>
            <a:schemeClr val="accent6">
              <a:lumMod val="20000"/>
              <a:lumOff val="80000"/>
            </a:schemeClr>
          </a:solidFill>
        </p:spPr>
        <p:txBody>
          <a:bodyPr wrap="none">
            <a:spAutoFit/>
          </a:bodyPr>
          <a:lstStyle/>
          <a:p>
            <a:r>
              <a:rPr lang="en-US" sz="2000" dirty="0"/>
              <a:t>Spanning Tree </a:t>
            </a:r>
          </a:p>
        </p:txBody>
      </p:sp>
      <p:sp>
        <p:nvSpPr>
          <p:cNvPr id="65" name="Rectangle 64"/>
          <p:cNvSpPr/>
          <p:nvPr/>
        </p:nvSpPr>
        <p:spPr>
          <a:xfrm>
            <a:off x="4583954" y="4014714"/>
            <a:ext cx="1712264" cy="400110"/>
          </a:xfrm>
          <a:prstGeom prst="rect">
            <a:avLst/>
          </a:prstGeom>
          <a:solidFill>
            <a:schemeClr val="accent6">
              <a:lumMod val="20000"/>
              <a:lumOff val="80000"/>
            </a:schemeClr>
          </a:solidFill>
        </p:spPr>
        <p:txBody>
          <a:bodyPr wrap="none">
            <a:spAutoFit/>
          </a:bodyPr>
          <a:lstStyle/>
          <a:p>
            <a:r>
              <a:rPr lang="en-US" sz="2000" dirty="0"/>
              <a:t>Spanning Tree </a:t>
            </a:r>
          </a:p>
        </p:txBody>
      </p:sp>
      <p:cxnSp>
        <p:nvCxnSpPr>
          <p:cNvPr id="66" name="Elbow Connector 65"/>
          <p:cNvCxnSpPr>
            <a:stCxn id="64" idx="2"/>
          </p:cNvCxnSpPr>
          <p:nvPr/>
        </p:nvCxnSpPr>
        <p:spPr>
          <a:xfrm rot="16200000" flipH="1">
            <a:off x="5315017" y="1631951"/>
            <a:ext cx="1212850" cy="810312"/>
          </a:xfrm>
          <a:prstGeom prst="bentConnector3">
            <a:avLst>
              <a:gd name="adj1" fmla="val 100637"/>
            </a:avLst>
          </a:prstGeom>
          <a:ln w="28575">
            <a:solidFill>
              <a:srgbClr val="AD1457"/>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7" name="Left Brace 66"/>
          <p:cNvSpPr/>
          <p:nvPr/>
        </p:nvSpPr>
        <p:spPr>
          <a:xfrm>
            <a:off x="6270807" y="1615052"/>
            <a:ext cx="381000" cy="2077804"/>
          </a:xfrm>
          <a:prstGeom prst="leftBrace">
            <a:avLst/>
          </a:prstGeom>
          <a:ln w="28575">
            <a:solidFill>
              <a:srgbClr val="AD145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AD1457"/>
              </a:solidFill>
            </a:endParaRPr>
          </a:p>
        </p:txBody>
      </p:sp>
      <p:cxnSp>
        <p:nvCxnSpPr>
          <p:cNvPr id="68" name="Elbow Connector 67"/>
          <p:cNvCxnSpPr>
            <a:stCxn id="65" idx="2"/>
            <a:endCxn id="69" idx="1"/>
          </p:cNvCxnSpPr>
          <p:nvPr/>
        </p:nvCxnSpPr>
        <p:spPr>
          <a:xfrm rot="16200000" flipH="1">
            <a:off x="5440702" y="4414207"/>
            <a:ext cx="924455" cy="925687"/>
          </a:xfrm>
          <a:prstGeom prst="bentConnector2">
            <a:avLst/>
          </a:prstGeom>
          <a:ln w="28575">
            <a:solidFill>
              <a:srgbClr val="AD1457"/>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9" name="Left Brace 68"/>
          <p:cNvSpPr/>
          <p:nvPr/>
        </p:nvSpPr>
        <p:spPr>
          <a:xfrm>
            <a:off x="6365773" y="4430158"/>
            <a:ext cx="381000" cy="1818242"/>
          </a:xfrm>
          <a:prstGeom prst="leftBrace">
            <a:avLst/>
          </a:prstGeom>
          <a:ln w="28575">
            <a:solidFill>
              <a:srgbClr val="AD145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8069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left)">
                                      <p:cBhvr>
                                        <p:cTn id="57" dur="500"/>
                                        <p:tgtEl>
                                          <p:spTgt spid="6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par>
                          <p:cTn id="62" fill="hold">
                            <p:stCondLst>
                              <p:cond delay="0"/>
                            </p:stCondLst>
                            <p:childTnLst>
                              <p:par>
                                <p:cTn id="63" presetID="22" presetClass="entr" presetSubtype="2" fill="hold"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right)">
                                      <p:cBhvr>
                                        <p:cTn id="65" dur="500"/>
                                        <p:tgtEl>
                                          <p:spTgt spid="30"/>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par>
                          <p:cTn id="69" fill="hold">
                            <p:stCondLst>
                              <p:cond delay="500"/>
                            </p:stCondLst>
                            <p:childTnLst>
                              <p:par>
                                <p:cTn id="70" presetID="22" presetClass="entr" presetSubtype="2" fill="hold"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right)">
                                      <p:cBhvr>
                                        <p:cTn id="72" dur="500"/>
                                        <p:tgtEl>
                                          <p:spTgt spid="31"/>
                                        </p:tgtEl>
                                      </p:cBhvr>
                                    </p:animEffect>
                                  </p:childTnLst>
                                </p:cTn>
                              </p:par>
                            </p:childTnLst>
                          </p:cTn>
                        </p:par>
                        <p:par>
                          <p:cTn id="73" fill="hold">
                            <p:stCondLst>
                              <p:cond delay="1000"/>
                            </p:stCondLst>
                            <p:childTnLst>
                              <p:par>
                                <p:cTn id="74" presetID="1"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p:stCondLst>
                              <p:cond delay="1500"/>
                            </p:stCondLst>
                            <p:childTnLst>
                              <p:par>
                                <p:cTn id="81" presetID="1"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par>
                          <p:cTn id="83" fill="hold">
                            <p:stCondLst>
                              <p:cond delay="1500"/>
                            </p:stCondLst>
                            <p:childTnLst>
                              <p:par>
                                <p:cTn id="84" presetID="22" presetClass="entr" presetSubtype="4" fill="hold"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down)">
                                      <p:cBhvr>
                                        <p:cTn id="86" dur="500"/>
                                        <p:tgtEl>
                                          <p:spTgt spid="35"/>
                                        </p:tgtEl>
                                      </p:cBhvr>
                                    </p:animEffect>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childTnLst>
                                </p:cTn>
                              </p:par>
                            </p:childTnLst>
                          </p:cTn>
                        </p:par>
                        <p:par>
                          <p:cTn id="90" fill="hold">
                            <p:stCondLst>
                              <p:cond delay="2000"/>
                            </p:stCondLst>
                            <p:childTnLst>
                              <p:par>
                                <p:cTn id="91" presetID="22" presetClass="entr" presetSubtype="4" fill="hold"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par>
                          <p:cTn id="94" fill="hold">
                            <p:stCondLst>
                              <p:cond delay="2500"/>
                            </p:stCondLst>
                            <p:childTnLst>
                              <p:par>
                                <p:cTn id="95" presetID="1" presetClass="entr" presetSubtype="0"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par>
                          <p:cTn id="97" fill="hold">
                            <p:stCondLst>
                              <p:cond delay="2500"/>
                            </p:stCondLst>
                            <p:childTnLst>
                              <p:par>
                                <p:cTn id="98" presetID="22" presetClass="entr" presetSubtype="4" fill="hold" nodeType="after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wipe(down)">
                                      <p:cBhvr>
                                        <p:cTn id="100" dur="500"/>
                                        <p:tgtEl>
                                          <p:spTgt spid="32"/>
                                        </p:tgtEl>
                                      </p:cBhvr>
                                    </p:animEffect>
                                  </p:childTnLst>
                                </p:cTn>
                              </p:par>
                            </p:childTnLst>
                          </p:cTn>
                        </p:par>
                        <p:par>
                          <p:cTn id="101" fill="hold">
                            <p:stCondLst>
                              <p:cond delay="3000"/>
                            </p:stCondLst>
                            <p:childTnLst>
                              <p:par>
                                <p:cTn id="102" presetID="1" presetClass="entr" presetSubtype="0" fill="hold" grpId="0" nodeType="afterEffect">
                                  <p:stCondLst>
                                    <p:cond delay="0"/>
                                  </p:stCondLst>
                                  <p:childTnLst>
                                    <p:set>
                                      <p:cBhvr>
                                        <p:cTn id="103" dur="1" fill="hold">
                                          <p:stCondLst>
                                            <p:cond delay="0"/>
                                          </p:stCondLst>
                                        </p:cTn>
                                        <p:tgtEl>
                                          <p:spTgt spid="24"/>
                                        </p:tgtEl>
                                        <p:attrNameLst>
                                          <p:attrName>style.visibility</p:attrName>
                                        </p:attrNameLst>
                                      </p:cBhvr>
                                      <p:to>
                                        <p:strVal val="visible"/>
                                      </p:to>
                                    </p:set>
                                  </p:childTnLst>
                                </p:cTn>
                              </p:par>
                            </p:childTnLst>
                          </p:cTn>
                        </p:par>
                        <p:par>
                          <p:cTn id="104" fill="hold">
                            <p:stCondLst>
                              <p:cond delay="3000"/>
                            </p:stCondLst>
                            <p:childTnLst>
                              <p:par>
                                <p:cTn id="105" presetID="22" presetClass="entr" presetSubtype="1" fill="hold" nodeType="after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up)">
                                      <p:cBhvr>
                                        <p:cTn id="107" dur="500"/>
                                        <p:tgtEl>
                                          <p:spTgt spid="33"/>
                                        </p:tgtEl>
                                      </p:cBhvr>
                                    </p:animEffect>
                                  </p:childTnLst>
                                </p:cTn>
                              </p:par>
                            </p:childTnLst>
                          </p:cTn>
                        </p:par>
                        <p:par>
                          <p:cTn id="108" fill="hold">
                            <p:stCondLst>
                              <p:cond delay="3500"/>
                            </p:stCondLst>
                            <p:childTnLst>
                              <p:par>
                                <p:cTn id="109" presetID="1" presetClass="entr" presetSubtype="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par>
                          <p:cTn id="111" fill="hold">
                            <p:stCondLst>
                              <p:cond delay="3500"/>
                            </p:stCondLst>
                            <p:childTnLst>
                              <p:par>
                                <p:cTn id="112" presetID="22" presetClass="entr" presetSubtype="8" fill="hold" nodeType="after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0"/>
                                        <p:tgtEl>
                                          <p:spTgt spid="63"/>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4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500"/>
                                        <p:tgtEl>
                                          <p:spTgt spid="65"/>
                                        </p:tgtEl>
                                      </p:cBhvr>
                                    </p:animEffec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up)">
                                      <p:cBhvr>
                                        <p:cTn id="155" dur="500"/>
                                        <p:tgtEl>
                                          <p:spTgt spid="68"/>
                                        </p:tgtEl>
                                      </p:cBhvr>
                                    </p:animEffect>
                                  </p:childTnLst>
                                </p:cTn>
                              </p:par>
                            </p:childTnLst>
                          </p:cTn>
                        </p:par>
                        <p:par>
                          <p:cTn id="156" fill="hold">
                            <p:stCondLst>
                              <p:cond delay="1000"/>
                            </p:stCondLst>
                            <p:childTnLst>
                              <p:par>
                                <p:cTn id="157" presetID="22" presetClass="entr" presetSubtype="8" fill="hold" grpId="0" nodeType="afterEffect">
                                  <p:stCondLst>
                                    <p:cond delay="0"/>
                                  </p:stCondLst>
                                  <p:childTnLst>
                                    <p:set>
                                      <p:cBhvr>
                                        <p:cTn id="158" dur="1" fill="hold">
                                          <p:stCondLst>
                                            <p:cond delay="0"/>
                                          </p:stCondLst>
                                        </p:cTn>
                                        <p:tgtEl>
                                          <p:spTgt spid="69"/>
                                        </p:tgtEl>
                                        <p:attrNameLst>
                                          <p:attrName>style.visibility</p:attrName>
                                        </p:attrNameLst>
                                      </p:cBhvr>
                                      <p:to>
                                        <p:strVal val="visible"/>
                                      </p:to>
                                    </p:set>
                                    <p:animEffect transition="in" filter="wipe(left)">
                                      <p:cBhvr>
                                        <p:cTn id="159" dur="500"/>
                                        <p:tgtEl>
                                          <p:spTgt spid="69"/>
                                        </p:tgtEl>
                                      </p:cBhvr>
                                    </p:animEffect>
                                  </p:childTnLst>
                                </p:cTn>
                              </p:par>
                            </p:childTnLst>
                          </p:cTn>
                        </p:par>
                        <p:par>
                          <p:cTn id="160" fill="hold">
                            <p:stCondLst>
                              <p:cond delay="1500"/>
                            </p:stCondLst>
                            <p:childTnLst>
                              <p:par>
                                <p:cTn id="161" presetID="1" presetClass="entr" presetSubtype="0" fill="hold" grpId="0" nodeType="afterEffect">
                                  <p:stCondLst>
                                    <p:cond delay="0"/>
                                  </p:stCondLst>
                                  <p:childTnLst>
                                    <p:set>
                                      <p:cBhvr>
                                        <p:cTn id="162" dur="1" fill="hold">
                                          <p:stCondLst>
                                            <p:cond delay="0"/>
                                          </p:stCondLst>
                                        </p:cTn>
                                        <p:tgtEl>
                                          <p:spTgt spid="51"/>
                                        </p:tgtEl>
                                        <p:attrNameLst>
                                          <p:attrName>style.visibility</p:attrName>
                                        </p:attrNameLst>
                                      </p:cBhvr>
                                      <p:to>
                                        <p:strVal val="visible"/>
                                      </p:to>
                                    </p:set>
                                  </p:childTnLst>
                                </p:cTn>
                              </p:par>
                            </p:childTnLst>
                          </p:cTn>
                        </p:par>
                        <p:par>
                          <p:cTn id="163" fill="hold">
                            <p:stCondLst>
                              <p:cond delay="1500"/>
                            </p:stCondLst>
                            <p:childTnLst>
                              <p:par>
                                <p:cTn id="164" presetID="22" presetClass="entr" presetSubtype="1" fill="hold" nodeType="afterEffect">
                                  <p:stCondLst>
                                    <p:cond delay="0"/>
                                  </p:stCondLst>
                                  <p:childTnLst>
                                    <p:set>
                                      <p:cBhvr>
                                        <p:cTn id="165" dur="1" fill="hold">
                                          <p:stCondLst>
                                            <p:cond delay="0"/>
                                          </p:stCondLst>
                                        </p:cTn>
                                        <p:tgtEl>
                                          <p:spTgt spid="57"/>
                                        </p:tgtEl>
                                        <p:attrNameLst>
                                          <p:attrName>style.visibility</p:attrName>
                                        </p:attrNameLst>
                                      </p:cBhvr>
                                      <p:to>
                                        <p:strVal val="visible"/>
                                      </p:to>
                                    </p:set>
                                    <p:animEffect transition="in" filter="wipe(up)">
                                      <p:cBhvr>
                                        <p:cTn id="166" dur="500"/>
                                        <p:tgtEl>
                                          <p:spTgt spid="57"/>
                                        </p:tgtEl>
                                      </p:cBhvr>
                                    </p:animEffect>
                                  </p:childTnLst>
                                </p:cTn>
                              </p:par>
                            </p:childTnLst>
                          </p:cTn>
                        </p:par>
                        <p:par>
                          <p:cTn id="167" fill="hold">
                            <p:stCondLst>
                              <p:cond delay="2000"/>
                            </p:stCondLst>
                            <p:childTnLst>
                              <p:par>
                                <p:cTn id="168" presetID="1" presetClass="entr" presetSubtype="0" fill="hold" grpId="0" nodeType="afterEffect">
                                  <p:stCondLst>
                                    <p:cond delay="0"/>
                                  </p:stCondLst>
                                  <p:childTnLst>
                                    <p:set>
                                      <p:cBhvr>
                                        <p:cTn id="169" dur="1" fill="hold">
                                          <p:stCondLst>
                                            <p:cond delay="0"/>
                                          </p:stCondLst>
                                        </p:cTn>
                                        <p:tgtEl>
                                          <p:spTgt spid="52"/>
                                        </p:tgtEl>
                                        <p:attrNameLst>
                                          <p:attrName>style.visibility</p:attrName>
                                        </p:attrNameLst>
                                      </p:cBhvr>
                                      <p:to>
                                        <p:strVal val="visible"/>
                                      </p:to>
                                    </p:set>
                                  </p:childTnLst>
                                </p:cTn>
                              </p:par>
                            </p:childTnLst>
                          </p:cTn>
                        </p:par>
                        <p:par>
                          <p:cTn id="170" fill="hold">
                            <p:stCondLst>
                              <p:cond delay="2000"/>
                            </p:stCondLst>
                            <p:childTnLst>
                              <p:par>
                                <p:cTn id="171" presetID="22" presetClass="entr" presetSubtype="1" fill="hold" nodeType="after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wipe(up)">
                                      <p:cBhvr>
                                        <p:cTn id="173" dur="500"/>
                                        <p:tgtEl>
                                          <p:spTgt spid="58"/>
                                        </p:tgtEl>
                                      </p:cBhvr>
                                    </p:animEffect>
                                  </p:childTnLst>
                                </p:cTn>
                              </p:par>
                            </p:childTnLst>
                          </p:cTn>
                        </p:par>
                        <p:par>
                          <p:cTn id="174" fill="hold">
                            <p:stCondLst>
                              <p:cond delay="2500"/>
                            </p:stCondLst>
                            <p:childTnLst>
                              <p:par>
                                <p:cTn id="175" presetID="1" presetClass="entr" presetSubtype="0" fill="hold" grpId="0" nodeType="afterEffect">
                                  <p:stCondLst>
                                    <p:cond delay="0"/>
                                  </p:stCondLst>
                                  <p:childTnLst>
                                    <p:set>
                                      <p:cBhvr>
                                        <p:cTn id="176" dur="1" fill="hold">
                                          <p:stCondLst>
                                            <p:cond delay="0"/>
                                          </p:stCondLst>
                                        </p:cTn>
                                        <p:tgtEl>
                                          <p:spTgt spid="54"/>
                                        </p:tgtEl>
                                        <p:attrNameLst>
                                          <p:attrName>style.visibility</p:attrName>
                                        </p:attrNameLst>
                                      </p:cBhvr>
                                      <p:to>
                                        <p:strVal val="visible"/>
                                      </p:to>
                                    </p:set>
                                  </p:childTnLst>
                                </p:cTn>
                              </p:par>
                            </p:childTnLst>
                          </p:cTn>
                        </p:par>
                        <p:par>
                          <p:cTn id="177" fill="hold">
                            <p:stCondLst>
                              <p:cond delay="2500"/>
                            </p:stCondLst>
                            <p:childTnLst>
                              <p:par>
                                <p:cTn id="178" presetID="22" presetClass="entr" presetSubtype="4" fill="hold" nodeType="after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down)">
                                      <p:cBhvr>
                                        <p:cTn id="180" dur="500"/>
                                        <p:tgtEl>
                                          <p:spTgt spid="59"/>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visible"/>
                                      </p:to>
                                    </p:set>
                                  </p:childTnLst>
                                </p:cTn>
                              </p:par>
                            </p:childTnLst>
                          </p:cTn>
                        </p:par>
                        <p:par>
                          <p:cTn id="184" fill="hold">
                            <p:stCondLst>
                              <p:cond delay="3000"/>
                            </p:stCondLst>
                            <p:childTnLst>
                              <p:par>
                                <p:cTn id="185" presetID="22" presetClass="entr" presetSubtype="1" fill="hold" nodeType="afterEffect">
                                  <p:stCondLst>
                                    <p:cond delay="0"/>
                                  </p:stCondLst>
                                  <p:childTnLst>
                                    <p:set>
                                      <p:cBhvr>
                                        <p:cTn id="186" dur="1" fill="hold">
                                          <p:stCondLst>
                                            <p:cond delay="0"/>
                                          </p:stCondLst>
                                        </p:cTn>
                                        <p:tgtEl>
                                          <p:spTgt spid="60"/>
                                        </p:tgtEl>
                                        <p:attrNameLst>
                                          <p:attrName>style.visibility</p:attrName>
                                        </p:attrNameLst>
                                      </p:cBhvr>
                                      <p:to>
                                        <p:strVal val="visible"/>
                                      </p:to>
                                    </p:set>
                                    <p:animEffect transition="in" filter="wipe(up)">
                                      <p:cBhvr>
                                        <p:cTn id="187" dur="500"/>
                                        <p:tgtEl>
                                          <p:spTgt spid="60"/>
                                        </p:tgtEl>
                                      </p:cBhvr>
                                    </p:animEffect>
                                  </p:childTnLst>
                                </p:cTn>
                              </p:par>
                            </p:childTnLst>
                          </p:cTn>
                        </p:par>
                        <p:par>
                          <p:cTn id="188" fill="hold">
                            <p:stCondLst>
                              <p:cond delay="3500"/>
                            </p:stCondLst>
                            <p:childTnLst>
                              <p:par>
                                <p:cTn id="189" presetID="1" presetClass="entr" presetSubtype="0" fill="hold" grpId="0" nodeType="afterEffect">
                                  <p:stCondLst>
                                    <p:cond delay="0"/>
                                  </p:stCondLst>
                                  <p:childTnLst>
                                    <p:set>
                                      <p:cBhvr>
                                        <p:cTn id="190" dur="1" fill="hold">
                                          <p:stCondLst>
                                            <p:cond delay="0"/>
                                          </p:stCondLst>
                                        </p:cTn>
                                        <p:tgtEl>
                                          <p:spTgt spid="56"/>
                                        </p:tgtEl>
                                        <p:attrNameLst>
                                          <p:attrName>style.visibility</p:attrName>
                                        </p:attrNameLst>
                                      </p:cBhvr>
                                      <p:to>
                                        <p:strVal val="visible"/>
                                      </p:to>
                                    </p:set>
                                  </p:childTnLst>
                                </p:cTn>
                              </p:par>
                            </p:childTnLst>
                          </p:cTn>
                        </p:par>
                        <p:par>
                          <p:cTn id="191" fill="hold">
                            <p:stCondLst>
                              <p:cond delay="3500"/>
                            </p:stCondLst>
                            <p:childTnLst>
                              <p:par>
                                <p:cTn id="192" presetID="22" presetClass="entr" presetSubtype="4" fill="hold" nodeType="afterEffect">
                                  <p:stCondLst>
                                    <p:cond delay="0"/>
                                  </p:stCondLst>
                                  <p:childTnLst>
                                    <p:set>
                                      <p:cBhvr>
                                        <p:cTn id="193" dur="1" fill="hold">
                                          <p:stCondLst>
                                            <p:cond delay="0"/>
                                          </p:stCondLst>
                                        </p:cTn>
                                        <p:tgtEl>
                                          <p:spTgt spid="61"/>
                                        </p:tgtEl>
                                        <p:attrNameLst>
                                          <p:attrName>style.visibility</p:attrName>
                                        </p:attrNameLst>
                                      </p:cBhvr>
                                      <p:to>
                                        <p:strVal val="visible"/>
                                      </p:to>
                                    </p:set>
                                    <p:animEffect transition="in" filter="wipe(down)">
                                      <p:cBhvr>
                                        <p:cTn id="194" dur="500"/>
                                        <p:tgtEl>
                                          <p:spTgt spid="61"/>
                                        </p:tgtEl>
                                      </p:cBhvr>
                                    </p:animEffect>
                                  </p:childTnLst>
                                </p:cTn>
                              </p:par>
                            </p:childTnLst>
                          </p:cTn>
                        </p:par>
                        <p:par>
                          <p:cTn id="195" fill="hold">
                            <p:stCondLst>
                              <p:cond delay="4000"/>
                            </p:stCondLst>
                            <p:childTnLst>
                              <p:par>
                                <p:cTn id="196" presetID="1" presetClass="entr" presetSubtype="0" fill="hold" grpId="0" nodeType="afterEffect">
                                  <p:stCondLst>
                                    <p:cond delay="0"/>
                                  </p:stCondLst>
                                  <p:childTnLst>
                                    <p:set>
                                      <p:cBhvr>
                                        <p:cTn id="197"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28" grpId="0" animBg="1"/>
      <p:bldP spid="29" grpId="0" animBg="1"/>
      <p:bldP spid="38" grpId="0" animBg="1"/>
      <p:bldP spid="39" grpId="0" animBg="1"/>
      <p:bldP spid="40" grpId="0" animBg="1"/>
      <p:bldP spid="41" grpId="0" animBg="1"/>
      <p:bldP spid="42" grpId="0" animBg="1"/>
      <p:bldP spid="43" grpId="0" animBg="1"/>
      <p:bldP spid="51" grpId="0" animBg="1"/>
      <p:bldP spid="52" grpId="0" animBg="1"/>
      <p:bldP spid="53" grpId="0" animBg="1"/>
      <p:bldP spid="54" grpId="0" animBg="1"/>
      <p:bldP spid="55" grpId="0" animBg="1"/>
      <p:bldP spid="56" grpId="0" animBg="1"/>
      <p:bldP spid="62" grpId="0" animBg="1"/>
      <p:bldP spid="63" grpId="0" animBg="1"/>
      <p:bldP spid="64" grpId="0" animBg="1"/>
      <p:bldP spid="65" grpId="0" animBg="1"/>
      <p:bldP spid="67" grpId="0" animBg="1"/>
      <p:bldP spid="6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for MST – Example 1</a:t>
            </a:r>
          </a:p>
        </p:txBody>
      </p:sp>
      <p:sp>
        <p:nvSpPr>
          <p:cNvPr id="4" name="Oval 3"/>
          <p:cNvSpPr/>
          <p:nvPr/>
        </p:nvSpPr>
        <p:spPr>
          <a:xfrm>
            <a:off x="155985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569257" y="190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1102657" y="3124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7" name="Oval 6"/>
          <p:cNvSpPr/>
          <p:nvPr/>
        </p:nvSpPr>
        <p:spPr>
          <a:xfrm>
            <a:off x="2245657" y="3124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2626657" y="18288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9" name="Straight Connector 8"/>
          <p:cNvCxnSpPr>
            <a:stCxn id="4" idx="2"/>
            <a:endCxn id="5" idx="0"/>
          </p:cNvCxnSpPr>
          <p:nvPr/>
        </p:nvCxnSpPr>
        <p:spPr>
          <a:xfrm flipH="1">
            <a:off x="759757" y="1181100"/>
            <a:ext cx="800100" cy="7239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Straight Connector 9"/>
          <p:cNvCxnSpPr>
            <a:stCxn id="5" idx="3"/>
            <a:endCxn id="6" idx="2"/>
          </p:cNvCxnSpPr>
          <p:nvPr/>
        </p:nvCxnSpPr>
        <p:spPr>
          <a:xfrm>
            <a:off x="625053" y="2230204"/>
            <a:ext cx="477604" cy="10844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Straight Connector 10"/>
          <p:cNvCxnSpPr>
            <a:stCxn id="6" idx="5"/>
            <a:endCxn id="7" idx="3"/>
          </p:cNvCxnSpPr>
          <p:nvPr/>
        </p:nvCxnSpPr>
        <p:spPr>
          <a:xfrm>
            <a:off x="1427861" y="3449404"/>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4" idx="6"/>
            <a:endCxn id="8" idx="0"/>
          </p:cNvCxnSpPr>
          <p:nvPr/>
        </p:nvCxnSpPr>
        <p:spPr>
          <a:xfrm>
            <a:off x="1940857" y="1181100"/>
            <a:ext cx="876300" cy="6477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8" idx="5"/>
            <a:endCxn id="7" idx="6"/>
          </p:cNvCxnSpPr>
          <p:nvPr/>
        </p:nvCxnSpPr>
        <p:spPr>
          <a:xfrm flipH="1">
            <a:off x="2626657" y="2154004"/>
            <a:ext cx="325204" cy="1160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4" idx="3"/>
            <a:endCxn id="6" idx="0"/>
          </p:cNvCxnSpPr>
          <p:nvPr/>
        </p:nvCxnSpPr>
        <p:spPr>
          <a:xfrm flipH="1">
            <a:off x="1293157" y="1315804"/>
            <a:ext cx="322496" cy="18083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4" idx="5"/>
            <a:endCxn id="7" idx="0"/>
          </p:cNvCxnSpPr>
          <p:nvPr/>
        </p:nvCxnSpPr>
        <p:spPr>
          <a:xfrm>
            <a:off x="1885061" y="1315804"/>
            <a:ext cx="551096" cy="18083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6"/>
            <a:endCxn id="8" idx="3"/>
          </p:cNvCxnSpPr>
          <p:nvPr/>
        </p:nvCxnSpPr>
        <p:spPr>
          <a:xfrm flipV="1">
            <a:off x="1483657" y="2154004"/>
            <a:ext cx="1198796" cy="1160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5" idx="6"/>
            <a:endCxn id="8" idx="2"/>
          </p:cNvCxnSpPr>
          <p:nvPr/>
        </p:nvCxnSpPr>
        <p:spPr>
          <a:xfrm flipV="1">
            <a:off x="950257" y="2019300"/>
            <a:ext cx="1676400" cy="76200"/>
          </a:xfrm>
          <a:prstGeom prst="line">
            <a:avLst/>
          </a:prstGeom>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908291" y="1246573"/>
            <a:ext cx="301686" cy="369332"/>
          </a:xfrm>
          <a:prstGeom prst="rect">
            <a:avLst/>
          </a:prstGeom>
          <a:noFill/>
        </p:spPr>
        <p:txBody>
          <a:bodyPr wrap="none" rtlCol="0">
            <a:spAutoFit/>
          </a:bodyPr>
          <a:lstStyle/>
          <a:p>
            <a:pPr algn="ctr"/>
            <a:r>
              <a:rPr lang="en-IN" b="1" dirty="0"/>
              <a:t>4</a:t>
            </a:r>
            <a:endParaRPr lang="en-US" b="1" dirty="0"/>
          </a:p>
        </p:txBody>
      </p:sp>
      <p:sp>
        <p:nvSpPr>
          <p:cNvPr id="19" name="TextBox 18"/>
          <p:cNvSpPr txBox="1"/>
          <p:nvPr/>
        </p:nvSpPr>
        <p:spPr>
          <a:xfrm>
            <a:off x="625053" y="2667000"/>
            <a:ext cx="301686" cy="369332"/>
          </a:xfrm>
          <a:prstGeom prst="rect">
            <a:avLst/>
          </a:prstGeom>
          <a:noFill/>
        </p:spPr>
        <p:txBody>
          <a:bodyPr wrap="none" rtlCol="0">
            <a:spAutoFit/>
          </a:bodyPr>
          <a:lstStyle/>
          <a:p>
            <a:pPr algn="ctr"/>
            <a:r>
              <a:rPr lang="en-IN" b="1" dirty="0"/>
              <a:t>2</a:t>
            </a:r>
            <a:endParaRPr lang="en-US" b="1" dirty="0"/>
          </a:p>
        </p:txBody>
      </p:sp>
      <p:sp>
        <p:nvSpPr>
          <p:cNvPr id="20" name="TextBox 19"/>
          <p:cNvSpPr txBox="1"/>
          <p:nvPr/>
        </p:nvSpPr>
        <p:spPr>
          <a:xfrm>
            <a:off x="2801018" y="2574324"/>
            <a:ext cx="301686" cy="369332"/>
          </a:xfrm>
          <a:prstGeom prst="rect">
            <a:avLst/>
          </a:prstGeom>
          <a:noFill/>
        </p:spPr>
        <p:txBody>
          <a:bodyPr wrap="none" rtlCol="0">
            <a:spAutoFit/>
          </a:bodyPr>
          <a:lstStyle/>
          <a:p>
            <a:pPr algn="ctr"/>
            <a:r>
              <a:rPr lang="en-IN" b="1" dirty="0"/>
              <a:t>7</a:t>
            </a:r>
            <a:endParaRPr lang="en-US" b="1" dirty="0"/>
          </a:p>
        </p:txBody>
      </p:sp>
      <p:sp>
        <p:nvSpPr>
          <p:cNvPr id="21" name="TextBox 20"/>
          <p:cNvSpPr txBox="1"/>
          <p:nvPr/>
        </p:nvSpPr>
        <p:spPr>
          <a:xfrm>
            <a:off x="2344584" y="1204780"/>
            <a:ext cx="301686" cy="369332"/>
          </a:xfrm>
          <a:prstGeom prst="rect">
            <a:avLst/>
          </a:prstGeom>
          <a:noFill/>
        </p:spPr>
        <p:txBody>
          <a:bodyPr wrap="none" rtlCol="0">
            <a:spAutoFit/>
          </a:bodyPr>
          <a:lstStyle/>
          <a:p>
            <a:pPr algn="ctr"/>
            <a:r>
              <a:rPr lang="en-IN" b="1" dirty="0"/>
              <a:t>5</a:t>
            </a:r>
            <a:endParaRPr lang="en-US" b="1" dirty="0"/>
          </a:p>
        </p:txBody>
      </p:sp>
      <p:sp>
        <p:nvSpPr>
          <p:cNvPr id="22" name="TextBox 21"/>
          <p:cNvSpPr txBox="1"/>
          <p:nvPr/>
        </p:nvSpPr>
        <p:spPr>
          <a:xfrm>
            <a:off x="1713814" y="1992868"/>
            <a:ext cx="301686" cy="369332"/>
          </a:xfrm>
          <a:prstGeom prst="rect">
            <a:avLst/>
          </a:prstGeom>
          <a:noFill/>
        </p:spPr>
        <p:txBody>
          <a:bodyPr wrap="none" rtlCol="0">
            <a:spAutoFit/>
          </a:bodyPr>
          <a:lstStyle/>
          <a:p>
            <a:pPr algn="ctr"/>
            <a:r>
              <a:rPr lang="en-IN" b="1" dirty="0"/>
              <a:t>3</a:t>
            </a:r>
            <a:endParaRPr lang="en-US" b="1" dirty="0"/>
          </a:p>
        </p:txBody>
      </p:sp>
      <p:sp>
        <p:nvSpPr>
          <p:cNvPr id="23" name="TextBox 22"/>
          <p:cNvSpPr txBox="1"/>
          <p:nvPr/>
        </p:nvSpPr>
        <p:spPr>
          <a:xfrm>
            <a:off x="1286501" y="1504950"/>
            <a:ext cx="301686" cy="369332"/>
          </a:xfrm>
          <a:prstGeom prst="rect">
            <a:avLst/>
          </a:prstGeom>
          <a:noFill/>
        </p:spPr>
        <p:txBody>
          <a:bodyPr wrap="none" rtlCol="0">
            <a:spAutoFit/>
          </a:bodyPr>
          <a:lstStyle/>
          <a:p>
            <a:pPr algn="ctr"/>
            <a:r>
              <a:rPr lang="en-IN" b="1" dirty="0"/>
              <a:t>6</a:t>
            </a:r>
            <a:endParaRPr lang="en-US" b="1" dirty="0"/>
          </a:p>
        </p:txBody>
      </p:sp>
      <p:sp>
        <p:nvSpPr>
          <p:cNvPr id="24" name="TextBox 23"/>
          <p:cNvSpPr txBox="1"/>
          <p:nvPr/>
        </p:nvSpPr>
        <p:spPr>
          <a:xfrm>
            <a:off x="1945528" y="1476461"/>
            <a:ext cx="301686" cy="369332"/>
          </a:xfrm>
          <a:prstGeom prst="rect">
            <a:avLst/>
          </a:prstGeom>
          <a:noFill/>
        </p:spPr>
        <p:txBody>
          <a:bodyPr wrap="none" rtlCol="0">
            <a:spAutoFit/>
          </a:bodyPr>
          <a:lstStyle/>
          <a:p>
            <a:pPr algn="ctr"/>
            <a:r>
              <a:rPr lang="en-IN" b="1" dirty="0"/>
              <a:t>6</a:t>
            </a:r>
            <a:endParaRPr lang="en-US" b="1" dirty="0"/>
          </a:p>
        </p:txBody>
      </p:sp>
      <p:sp>
        <p:nvSpPr>
          <p:cNvPr id="25" name="TextBox 24"/>
          <p:cNvSpPr txBox="1"/>
          <p:nvPr/>
        </p:nvSpPr>
        <p:spPr>
          <a:xfrm>
            <a:off x="1750357" y="2549686"/>
            <a:ext cx="301686" cy="369332"/>
          </a:xfrm>
          <a:prstGeom prst="rect">
            <a:avLst/>
          </a:prstGeom>
          <a:noFill/>
        </p:spPr>
        <p:txBody>
          <a:bodyPr wrap="none" rtlCol="0">
            <a:spAutoFit/>
          </a:bodyPr>
          <a:lstStyle/>
          <a:p>
            <a:pPr algn="ctr"/>
            <a:r>
              <a:rPr lang="en-IN" b="1" dirty="0"/>
              <a:t>5</a:t>
            </a:r>
            <a:endParaRPr lang="en-US" b="1" dirty="0"/>
          </a:p>
        </p:txBody>
      </p:sp>
      <p:sp>
        <p:nvSpPr>
          <p:cNvPr id="26" name="Rectangle 25"/>
          <p:cNvSpPr/>
          <p:nvPr/>
        </p:nvSpPr>
        <p:spPr>
          <a:xfrm>
            <a:off x="833973" y="4230469"/>
            <a:ext cx="1945084" cy="646331"/>
          </a:xfrm>
          <a:prstGeom prst="rect">
            <a:avLst/>
          </a:prstGeom>
        </p:spPr>
        <p:txBody>
          <a:bodyPr wrap="none">
            <a:spAutoFit/>
          </a:bodyPr>
          <a:lstStyle/>
          <a:p>
            <a:pPr algn="ctr"/>
            <a:r>
              <a:rPr lang="en-IN" b="1" dirty="0"/>
              <a:t>Step 1: </a:t>
            </a:r>
            <a:r>
              <a:rPr lang="en-IN" dirty="0"/>
              <a:t>Taking min </a:t>
            </a:r>
          </a:p>
          <a:p>
            <a:pPr algn="ctr"/>
            <a:r>
              <a:rPr lang="en-IN" dirty="0"/>
              <a:t>edge (C,D)</a:t>
            </a:r>
            <a:endParaRPr lang="en-US" dirty="0"/>
          </a:p>
        </p:txBody>
      </p:sp>
      <p:sp>
        <p:nvSpPr>
          <p:cNvPr id="27" name="TextBox 26"/>
          <p:cNvSpPr txBox="1"/>
          <p:nvPr/>
        </p:nvSpPr>
        <p:spPr>
          <a:xfrm>
            <a:off x="1615653" y="3416319"/>
            <a:ext cx="301686" cy="369332"/>
          </a:xfrm>
          <a:prstGeom prst="rect">
            <a:avLst/>
          </a:prstGeom>
          <a:noFill/>
        </p:spPr>
        <p:txBody>
          <a:bodyPr wrap="none" rtlCol="0">
            <a:spAutoFit/>
          </a:bodyPr>
          <a:lstStyle/>
          <a:p>
            <a:pPr algn="ctr"/>
            <a:r>
              <a:rPr lang="en-IN" b="1" dirty="0"/>
              <a:t>1</a:t>
            </a:r>
            <a:endParaRPr lang="en-US" b="1" dirty="0"/>
          </a:p>
        </p:txBody>
      </p:sp>
      <p:sp>
        <p:nvSpPr>
          <p:cNvPr id="28" name="Oval 27"/>
          <p:cNvSpPr/>
          <p:nvPr/>
        </p:nvSpPr>
        <p:spPr>
          <a:xfrm>
            <a:off x="950257" y="5105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29" name="Oval 28"/>
          <p:cNvSpPr/>
          <p:nvPr/>
        </p:nvSpPr>
        <p:spPr>
          <a:xfrm>
            <a:off x="2093257" y="5105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cxnSp>
        <p:nvCxnSpPr>
          <p:cNvPr id="30" name="Straight Connector 29"/>
          <p:cNvCxnSpPr>
            <a:stCxn id="28" idx="5"/>
            <a:endCxn id="29" idx="3"/>
          </p:cNvCxnSpPr>
          <p:nvPr/>
        </p:nvCxnSpPr>
        <p:spPr>
          <a:xfrm>
            <a:off x="1275461" y="5430604"/>
            <a:ext cx="873592" cy="0"/>
          </a:xfrm>
          <a:prstGeom prst="line">
            <a:avLst/>
          </a:prstGeom>
        </p:spPr>
        <p:style>
          <a:lnRef idx="2">
            <a:schemeClr val="accent2"/>
          </a:lnRef>
          <a:fillRef idx="0">
            <a:schemeClr val="accent2"/>
          </a:fillRef>
          <a:effectRef idx="1">
            <a:schemeClr val="accent2"/>
          </a:effectRef>
          <a:fontRef idx="minor">
            <a:schemeClr val="tx1"/>
          </a:fontRef>
        </p:style>
      </p:cxnSp>
      <p:sp>
        <p:nvSpPr>
          <p:cNvPr id="31" name="TextBox 30"/>
          <p:cNvSpPr txBox="1"/>
          <p:nvPr/>
        </p:nvSpPr>
        <p:spPr>
          <a:xfrm>
            <a:off x="1463253" y="5397519"/>
            <a:ext cx="301686" cy="369332"/>
          </a:xfrm>
          <a:prstGeom prst="rect">
            <a:avLst/>
          </a:prstGeom>
          <a:noFill/>
        </p:spPr>
        <p:txBody>
          <a:bodyPr wrap="none" rtlCol="0">
            <a:spAutoFit/>
          </a:bodyPr>
          <a:lstStyle/>
          <a:p>
            <a:pPr algn="ctr"/>
            <a:r>
              <a:rPr lang="en-IN" b="1" dirty="0"/>
              <a:t>1</a:t>
            </a:r>
            <a:endParaRPr lang="en-US" b="1" dirty="0"/>
          </a:p>
        </p:txBody>
      </p:sp>
      <p:sp>
        <p:nvSpPr>
          <p:cNvPr id="32" name="Rectangle 31"/>
          <p:cNvSpPr/>
          <p:nvPr/>
        </p:nvSpPr>
        <p:spPr>
          <a:xfrm>
            <a:off x="3973331" y="1106269"/>
            <a:ext cx="2006126" cy="646331"/>
          </a:xfrm>
          <a:prstGeom prst="rect">
            <a:avLst/>
          </a:prstGeom>
        </p:spPr>
        <p:txBody>
          <a:bodyPr wrap="none">
            <a:spAutoFit/>
          </a:bodyPr>
          <a:lstStyle/>
          <a:p>
            <a:pPr algn="ctr"/>
            <a:r>
              <a:rPr lang="en-US" b="1" dirty="0"/>
              <a:t>Step 2:</a:t>
            </a:r>
            <a:r>
              <a:rPr lang="en-US" dirty="0"/>
              <a:t> Taking next </a:t>
            </a:r>
          </a:p>
          <a:p>
            <a:pPr algn="ctr"/>
            <a:r>
              <a:rPr lang="en-US" dirty="0"/>
              <a:t>min edge (B,C)</a:t>
            </a:r>
          </a:p>
        </p:txBody>
      </p:sp>
      <p:sp>
        <p:nvSpPr>
          <p:cNvPr id="33" name="Oval 32"/>
          <p:cNvSpPr/>
          <p:nvPr/>
        </p:nvSpPr>
        <p:spPr>
          <a:xfrm>
            <a:off x="3866261" y="190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34" name="Oval 33"/>
          <p:cNvSpPr/>
          <p:nvPr/>
        </p:nvSpPr>
        <p:spPr>
          <a:xfrm>
            <a:off x="4247261" y="2819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5" name="Oval 34"/>
          <p:cNvSpPr/>
          <p:nvPr/>
        </p:nvSpPr>
        <p:spPr>
          <a:xfrm>
            <a:off x="5390261" y="2819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cxnSp>
        <p:nvCxnSpPr>
          <p:cNvPr id="36" name="Straight Connector 35"/>
          <p:cNvCxnSpPr>
            <a:stCxn id="33" idx="3"/>
            <a:endCxn id="34" idx="2"/>
          </p:cNvCxnSpPr>
          <p:nvPr/>
        </p:nvCxnSpPr>
        <p:spPr>
          <a:xfrm>
            <a:off x="3922057" y="2230204"/>
            <a:ext cx="325204" cy="779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37" name="Straight Connector 36"/>
          <p:cNvCxnSpPr>
            <a:stCxn id="34" idx="5"/>
            <a:endCxn id="35" idx="3"/>
          </p:cNvCxnSpPr>
          <p:nvPr/>
        </p:nvCxnSpPr>
        <p:spPr>
          <a:xfrm>
            <a:off x="4572465" y="3144604"/>
            <a:ext cx="873592" cy="0"/>
          </a:xfrm>
          <a:prstGeom prst="line">
            <a:avLst/>
          </a:prstGeom>
        </p:spPr>
        <p:style>
          <a:lnRef idx="2">
            <a:schemeClr val="accent2"/>
          </a:lnRef>
          <a:fillRef idx="0">
            <a:schemeClr val="accent2"/>
          </a:fillRef>
          <a:effectRef idx="1">
            <a:schemeClr val="accent2"/>
          </a:effectRef>
          <a:fontRef idx="minor">
            <a:schemeClr val="tx1"/>
          </a:fontRef>
        </p:style>
      </p:cxnSp>
      <p:sp>
        <p:nvSpPr>
          <p:cNvPr id="38" name="TextBox 37"/>
          <p:cNvSpPr txBox="1"/>
          <p:nvPr/>
        </p:nvSpPr>
        <p:spPr>
          <a:xfrm>
            <a:off x="3769657" y="2526268"/>
            <a:ext cx="301686" cy="369332"/>
          </a:xfrm>
          <a:prstGeom prst="rect">
            <a:avLst/>
          </a:prstGeom>
          <a:noFill/>
        </p:spPr>
        <p:txBody>
          <a:bodyPr wrap="none" rtlCol="0">
            <a:spAutoFit/>
          </a:bodyPr>
          <a:lstStyle/>
          <a:p>
            <a:pPr algn="ctr"/>
            <a:r>
              <a:rPr lang="en-IN" b="1" dirty="0"/>
              <a:t>2</a:t>
            </a:r>
            <a:endParaRPr lang="en-US" b="1" dirty="0"/>
          </a:p>
        </p:txBody>
      </p:sp>
      <p:sp>
        <p:nvSpPr>
          <p:cNvPr id="39" name="TextBox 38"/>
          <p:cNvSpPr txBox="1"/>
          <p:nvPr/>
        </p:nvSpPr>
        <p:spPr>
          <a:xfrm>
            <a:off x="4760257" y="3111519"/>
            <a:ext cx="301686" cy="369332"/>
          </a:xfrm>
          <a:prstGeom prst="rect">
            <a:avLst/>
          </a:prstGeom>
          <a:noFill/>
        </p:spPr>
        <p:txBody>
          <a:bodyPr wrap="none" rtlCol="0">
            <a:spAutoFit/>
          </a:bodyPr>
          <a:lstStyle/>
          <a:p>
            <a:pPr algn="ctr"/>
            <a:r>
              <a:rPr lang="en-IN" b="1" dirty="0"/>
              <a:t>1</a:t>
            </a:r>
            <a:endParaRPr lang="en-US" b="1" dirty="0"/>
          </a:p>
        </p:txBody>
      </p:sp>
      <p:sp>
        <p:nvSpPr>
          <p:cNvPr id="40" name="Rectangle 39"/>
          <p:cNvSpPr/>
          <p:nvPr/>
        </p:nvSpPr>
        <p:spPr>
          <a:xfrm>
            <a:off x="3769657" y="3773269"/>
            <a:ext cx="2191520" cy="646331"/>
          </a:xfrm>
          <a:prstGeom prst="rect">
            <a:avLst/>
          </a:prstGeom>
        </p:spPr>
        <p:txBody>
          <a:bodyPr wrap="square">
            <a:spAutoFit/>
          </a:bodyPr>
          <a:lstStyle/>
          <a:p>
            <a:pPr algn="ctr"/>
            <a:r>
              <a:rPr lang="en-US" b="1" dirty="0"/>
              <a:t>Step 3:</a:t>
            </a:r>
            <a:r>
              <a:rPr lang="en-US" dirty="0"/>
              <a:t> Taking next</a:t>
            </a:r>
          </a:p>
          <a:p>
            <a:pPr algn="ctr"/>
            <a:r>
              <a:rPr lang="en-US" dirty="0"/>
              <a:t> min edge (B,E)</a:t>
            </a:r>
          </a:p>
        </p:txBody>
      </p:sp>
      <p:sp>
        <p:nvSpPr>
          <p:cNvPr id="41" name="Oval 40"/>
          <p:cNvSpPr/>
          <p:nvPr/>
        </p:nvSpPr>
        <p:spPr>
          <a:xfrm>
            <a:off x="3617257" y="44958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2" name="Oval 41"/>
          <p:cNvSpPr/>
          <p:nvPr/>
        </p:nvSpPr>
        <p:spPr>
          <a:xfrm>
            <a:off x="4150657" y="533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43" name="Oval 42"/>
          <p:cNvSpPr/>
          <p:nvPr/>
        </p:nvSpPr>
        <p:spPr>
          <a:xfrm>
            <a:off x="5293657" y="533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4" name="Oval 43"/>
          <p:cNvSpPr/>
          <p:nvPr/>
        </p:nvSpPr>
        <p:spPr>
          <a:xfrm>
            <a:off x="5674657" y="4494259"/>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45" name="Straight Connector 44"/>
          <p:cNvCxnSpPr>
            <a:stCxn id="41" idx="3"/>
            <a:endCxn id="42" idx="2"/>
          </p:cNvCxnSpPr>
          <p:nvPr/>
        </p:nvCxnSpPr>
        <p:spPr>
          <a:xfrm>
            <a:off x="3673053" y="4821004"/>
            <a:ext cx="477604" cy="703496"/>
          </a:xfrm>
          <a:prstGeom prst="line">
            <a:avLst/>
          </a:prstGeom>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42" idx="5"/>
            <a:endCxn id="43" idx="3"/>
          </p:cNvCxnSpPr>
          <p:nvPr/>
        </p:nvCxnSpPr>
        <p:spPr>
          <a:xfrm>
            <a:off x="4475861" y="5659204"/>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1" idx="6"/>
            <a:endCxn id="44" idx="2"/>
          </p:cNvCxnSpPr>
          <p:nvPr/>
        </p:nvCxnSpPr>
        <p:spPr>
          <a:xfrm flipV="1">
            <a:off x="3998257" y="4684759"/>
            <a:ext cx="1676400" cy="1541"/>
          </a:xfrm>
          <a:prstGeom prst="line">
            <a:avLst/>
          </a:prstGeom>
        </p:spPr>
        <p:style>
          <a:lnRef idx="2">
            <a:schemeClr val="accent2"/>
          </a:lnRef>
          <a:fillRef idx="0">
            <a:schemeClr val="accent2"/>
          </a:fillRef>
          <a:effectRef idx="1">
            <a:schemeClr val="accent2"/>
          </a:effectRef>
          <a:fontRef idx="minor">
            <a:schemeClr val="tx1"/>
          </a:fontRef>
        </p:style>
      </p:cxnSp>
      <p:sp>
        <p:nvSpPr>
          <p:cNvPr id="48" name="TextBox 47"/>
          <p:cNvSpPr txBox="1"/>
          <p:nvPr/>
        </p:nvSpPr>
        <p:spPr>
          <a:xfrm>
            <a:off x="3673053" y="5105400"/>
            <a:ext cx="301686" cy="369332"/>
          </a:xfrm>
          <a:prstGeom prst="rect">
            <a:avLst/>
          </a:prstGeom>
          <a:noFill/>
        </p:spPr>
        <p:txBody>
          <a:bodyPr wrap="none" rtlCol="0">
            <a:spAutoFit/>
          </a:bodyPr>
          <a:lstStyle/>
          <a:p>
            <a:pPr algn="ctr"/>
            <a:r>
              <a:rPr lang="en-IN" b="1" dirty="0"/>
              <a:t>2</a:t>
            </a:r>
            <a:endParaRPr lang="en-US" b="1" dirty="0"/>
          </a:p>
        </p:txBody>
      </p:sp>
      <p:sp>
        <p:nvSpPr>
          <p:cNvPr id="49" name="TextBox 48"/>
          <p:cNvSpPr txBox="1"/>
          <p:nvPr/>
        </p:nvSpPr>
        <p:spPr>
          <a:xfrm>
            <a:off x="4684057" y="4736068"/>
            <a:ext cx="301686" cy="369332"/>
          </a:xfrm>
          <a:prstGeom prst="rect">
            <a:avLst/>
          </a:prstGeom>
          <a:noFill/>
        </p:spPr>
        <p:txBody>
          <a:bodyPr wrap="none" rtlCol="0">
            <a:spAutoFit/>
          </a:bodyPr>
          <a:lstStyle/>
          <a:p>
            <a:pPr algn="ctr"/>
            <a:r>
              <a:rPr lang="en-IN" b="1" dirty="0"/>
              <a:t>3</a:t>
            </a:r>
            <a:endParaRPr lang="en-US" b="1" dirty="0"/>
          </a:p>
        </p:txBody>
      </p:sp>
      <p:sp>
        <p:nvSpPr>
          <p:cNvPr id="50" name="TextBox 49"/>
          <p:cNvSpPr txBox="1"/>
          <p:nvPr/>
        </p:nvSpPr>
        <p:spPr>
          <a:xfrm>
            <a:off x="4663653" y="5626119"/>
            <a:ext cx="301686" cy="369332"/>
          </a:xfrm>
          <a:prstGeom prst="rect">
            <a:avLst/>
          </a:prstGeom>
          <a:noFill/>
        </p:spPr>
        <p:txBody>
          <a:bodyPr wrap="none" rtlCol="0">
            <a:spAutoFit/>
          </a:bodyPr>
          <a:lstStyle/>
          <a:p>
            <a:pPr algn="ctr"/>
            <a:r>
              <a:rPr lang="en-IN" b="1" dirty="0"/>
              <a:t>1</a:t>
            </a:r>
            <a:endParaRPr lang="en-US" b="1" dirty="0"/>
          </a:p>
        </p:txBody>
      </p:sp>
      <p:sp>
        <p:nvSpPr>
          <p:cNvPr id="51" name="Rectangle 50"/>
          <p:cNvSpPr/>
          <p:nvPr/>
        </p:nvSpPr>
        <p:spPr>
          <a:xfrm>
            <a:off x="6893857" y="1135297"/>
            <a:ext cx="2143496" cy="646331"/>
          </a:xfrm>
          <a:prstGeom prst="rect">
            <a:avLst/>
          </a:prstGeom>
        </p:spPr>
        <p:txBody>
          <a:bodyPr wrap="square">
            <a:spAutoFit/>
          </a:bodyPr>
          <a:lstStyle/>
          <a:p>
            <a:pPr algn="ctr"/>
            <a:r>
              <a:rPr lang="en-US" b="1" dirty="0"/>
              <a:t>Step 4:</a:t>
            </a:r>
            <a:r>
              <a:rPr lang="en-US" dirty="0"/>
              <a:t> Taking next </a:t>
            </a:r>
          </a:p>
          <a:p>
            <a:pPr algn="ctr"/>
            <a:r>
              <a:rPr lang="en-US" dirty="0"/>
              <a:t>min edge (A,B)</a:t>
            </a:r>
          </a:p>
        </p:txBody>
      </p:sp>
      <p:sp>
        <p:nvSpPr>
          <p:cNvPr id="52" name="Oval 51"/>
          <p:cNvSpPr/>
          <p:nvPr/>
        </p:nvSpPr>
        <p:spPr>
          <a:xfrm>
            <a:off x="6911670" y="2954104"/>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53" name="Oval 52"/>
          <p:cNvSpPr/>
          <p:nvPr/>
        </p:nvSpPr>
        <p:spPr>
          <a:xfrm>
            <a:off x="7427257" y="4064838"/>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54" name="Oval 53"/>
          <p:cNvSpPr/>
          <p:nvPr/>
        </p:nvSpPr>
        <p:spPr>
          <a:xfrm>
            <a:off x="8570257" y="4064838"/>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55" name="Oval 54"/>
          <p:cNvSpPr/>
          <p:nvPr/>
        </p:nvSpPr>
        <p:spPr>
          <a:xfrm>
            <a:off x="8969070" y="2952563"/>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56" name="Straight Connector 55"/>
          <p:cNvCxnSpPr>
            <a:stCxn id="52" idx="3"/>
            <a:endCxn id="53" idx="2"/>
          </p:cNvCxnSpPr>
          <p:nvPr/>
        </p:nvCxnSpPr>
        <p:spPr>
          <a:xfrm>
            <a:off x="6967466" y="3279308"/>
            <a:ext cx="459791" cy="976030"/>
          </a:xfrm>
          <a:prstGeom prst="line">
            <a:avLst/>
          </a:prstGeom>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53" idx="5"/>
            <a:endCxn id="54" idx="3"/>
          </p:cNvCxnSpPr>
          <p:nvPr/>
        </p:nvCxnSpPr>
        <p:spPr>
          <a:xfrm>
            <a:off x="7752461" y="4390042"/>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52" idx="6"/>
            <a:endCxn id="55" idx="2"/>
          </p:cNvCxnSpPr>
          <p:nvPr/>
        </p:nvCxnSpPr>
        <p:spPr>
          <a:xfrm flipV="1">
            <a:off x="7292670" y="3143063"/>
            <a:ext cx="1676400" cy="1541"/>
          </a:xfrm>
          <a:prstGeom prst="line">
            <a:avLst/>
          </a:prstGeom>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6893857" y="3563704"/>
            <a:ext cx="301686" cy="369332"/>
          </a:xfrm>
          <a:prstGeom prst="rect">
            <a:avLst/>
          </a:prstGeom>
          <a:noFill/>
        </p:spPr>
        <p:txBody>
          <a:bodyPr wrap="none" rtlCol="0">
            <a:spAutoFit/>
          </a:bodyPr>
          <a:lstStyle/>
          <a:p>
            <a:pPr algn="ctr"/>
            <a:r>
              <a:rPr lang="en-IN" b="1" dirty="0"/>
              <a:t>2</a:t>
            </a:r>
            <a:endParaRPr lang="en-US" b="1" dirty="0"/>
          </a:p>
        </p:txBody>
      </p:sp>
      <p:sp>
        <p:nvSpPr>
          <p:cNvPr id="60" name="TextBox 59"/>
          <p:cNvSpPr txBox="1"/>
          <p:nvPr/>
        </p:nvSpPr>
        <p:spPr>
          <a:xfrm>
            <a:off x="7978470" y="3194372"/>
            <a:ext cx="301686" cy="369332"/>
          </a:xfrm>
          <a:prstGeom prst="rect">
            <a:avLst/>
          </a:prstGeom>
          <a:noFill/>
        </p:spPr>
        <p:txBody>
          <a:bodyPr wrap="none" rtlCol="0">
            <a:spAutoFit/>
          </a:bodyPr>
          <a:lstStyle/>
          <a:p>
            <a:pPr algn="ctr"/>
            <a:r>
              <a:rPr lang="en-IN" b="1" dirty="0"/>
              <a:t>3</a:t>
            </a:r>
            <a:endParaRPr lang="en-US" b="1" dirty="0"/>
          </a:p>
        </p:txBody>
      </p:sp>
      <p:sp>
        <p:nvSpPr>
          <p:cNvPr id="61" name="TextBox 60"/>
          <p:cNvSpPr txBox="1"/>
          <p:nvPr/>
        </p:nvSpPr>
        <p:spPr>
          <a:xfrm>
            <a:off x="8038414" y="4507468"/>
            <a:ext cx="301686" cy="369332"/>
          </a:xfrm>
          <a:prstGeom prst="rect">
            <a:avLst/>
          </a:prstGeom>
          <a:noFill/>
        </p:spPr>
        <p:txBody>
          <a:bodyPr wrap="none" rtlCol="0">
            <a:spAutoFit/>
          </a:bodyPr>
          <a:lstStyle/>
          <a:p>
            <a:pPr algn="ctr"/>
            <a:r>
              <a:rPr lang="en-IN" b="1" dirty="0"/>
              <a:t>1</a:t>
            </a:r>
            <a:endParaRPr lang="en-US" b="1" dirty="0"/>
          </a:p>
        </p:txBody>
      </p:sp>
      <p:sp>
        <p:nvSpPr>
          <p:cNvPr id="62" name="Oval 61"/>
          <p:cNvSpPr/>
          <p:nvPr/>
        </p:nvSpPr>
        <p:spPr>
          <a:xfrm>
            <a:off x="7884457" y="1981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cxnSp>
        <p:nvCxnSpPr>
          <p:cNvPr id="63" name="Straight Connector 62"/>
          <p:cNvCxnSpPr>
            <a:stCxn id="62" idx="2"/>
            <a:endCxn id="52" idx="0"/>
          </p:cNvCxnSpPr>
          <p:nvPr/>
        </p:nvCxnSpPr>
        <p:spPr>
          <a:xfrm flipH="1">
            <a:off x="7102170" y="2171700"/>
            <a:ext cx="782287" cy="782404"/>
          </a:xfrm>
          <a:prstGeom prst="line">
            <a:avLst/>
          </a:prstGeom>
        </p:spPr>
        <p:style>
          <a:lnRef idx="2">
            <a:schemeClr val="accent2"/>
          </a:lnRef>
          <a:fillRef idx="0">
            <a:schemeClr val="accent2"/>
          </a:fillRef>
          <a:effectRef idx="1">
            <a:schemeClr val="accent2"/>
          </a:effectRef>
          <a:fontRef idx="minor">
            <a:schemeClr val="tx1"/>
          </a:fontRef>
        </p:style>
      </p:cxnSp>
      <p:sp>
        <p:nvSpPr>
          <p:cNvPr id="64" name="TextBox 63"/>
          <p:cNvSpPr txBox="1"/>
          <p:nvPr/>
        </p:nvSpPr>
        <p:spPr>
          <a:xfrm>
            <a:off x="7232891" y="2237173"/>
            <a:ext cx="301686" cy="369332"/>
          </a:xfrm>
          <a:prstGeom prst="rect">
            <a:avLst/>
          </a:prstGeom>
          <a:noFill/>
        </p:spPr>
        <p:txBody>
          <a:bodyPr wrap="none" rtlCol="0">
            <a:spAutoFit/>
          </a:bodyPr>
          <a:lstStyle/>
          <a:p>
            <a:pPr algn="ctr"/>
            <a:r>
              <a:rPr lang="en-IN" b="1" dirty="0"/>
              <a:t>4</a:t>
            </a:r>
            <a:endParaRPr lang="en-US" b="1" dirty="0"/>
          </a:p>
        </p:txBody>
      </p:sp>
      <p:cxnSp>
        <p:nvCxnSpPr>
          <p:cNvPr id="65" name="Straight Connector 64"/>
          <p:cNvCxnSpPr/>
          <p:nvPr/>
        </p:nvCxnSpPr>
        <p:spPr>
          <a:xfrm>
            <a:off x="3312457" y="990600"/>
            <a:ext cx="0" cy="525780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a:off x="6360457" y="1002475"/>
            <a:ext cx="0" cy="525780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7" name="Straight Connector 66"/>
          <p:cNvCxnSpPr/>
          <p:nvPr/>
        </p:nvCxnSpPr>
        <p:spPr>
          <a:xfrm>
            <a:off x="557382" y="3963776"/>
            <a:ext cx="2743200"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8" name="Straight Connector 67"/>
          <p:cNvCxnSpPr/>
          <p:nvPr/>
        </p:nvCxnSpPr>
        <p:spPr>
          <a:xfrm>
            <a:off x="3300582" y="3619500"/>
            <a:ext cx="3059875"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9" name="Straight Connector 68"/>
          <p:cNvCxnSpPr/>
          <p:nvPr/>
        </p:nvCxnSpPr>
        <p:spPr>
          <a:xfrm>
            <a:off x="6380861" y="4920734"/>
            <a:ext cx="3103796"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sp>
        <p:nvSpPr>
          <p:cNvPr id="70" name="TextBox 69"/>
          <p:cNvSpPr txBox="1"/>
          <p:nvPr/>
        </p:nvSpPr>
        <p:spPr>
          <a:xfrm>
            <a:off x="6393958" y="4951926"/>
            <a:ext cx="2839687" cy="1446550"/>
          </a:xfrm>
          <a:prstGeom prst="rect">
            <a:avLst/>
          </a:prstGeom>
          <a:solidFill>
            <a:schemeClr val="bg1">
              <a:lumMod val="85000"/>
            </a:schemeClr>
          </a:solidFill>
        </p:spPr>
        <p:txBody>
          <a:bodyPr wrap="square" rtlCol="0">
            <a:spAutoFit/>
          </a:bodyPr>
          <a:lstStyle/>
          <a:p>
            <a:pPr algn="ctr"/>
            <a:r>
              <a:rPr lang="en-US" sz="2200" dirty="0">
                <a:solidFill>
                  <a:srgbClr val="AD1457"/>
                </a:solidFill>
              </a:rPr>
              <a:t>So, we obtained a minimum</a:t>
            </a:r>
          </a:p>
          <a:p>
            <a:pPr algn="ctr"/>
            <a:r>
              <a:rPr lang="en-US" sz="2200" dirty="0">
                <a:solidFill>
                  <a:srgbClr val="AD1457"/>
                </a:solidFill>
              </a:rPr>
              <a:t>spanning tree of cost</a:t>
            </a:r>
            <a:r>
              <a:rPr lang="en-US" sz="2200" b="1" dirty="0">
                <a:solidFill>
                  <a:srgbClr val="AD1457"/>
                </a:solidFill>
              </a:rPr>
              <a:t>: </a:t>
            </a:r>
          </a:p>
          <a:p>
            <a:pPr algn="ctr"/>
            <a:r>
              <a:rPr lang="en-US" sz="2200" b="1" dirty="0">
                <a:solidFill>
                  <a:srgbClr val="AD1457"/>
                </a:solidFill>
              </a:rPr>
              <a:t>4 + 2 + 1 + 3 = 10</a:t>
            </a:r>
            <a:endParaRPr lang="en-US" sz="2200" dirty="0">
              <a:solidFill>
                <a:srgbClr val="AD1457"/>
              </a:solidFill>
            </a:endParaRPr>
          </a:p>
        </p:txBody>
      </p:sp>
    </p:spTree>
    <p:extLst>
      <p:ext uri="{BB962C8B-B14F-4D97-AF65-F5344CB8AC3E}">
        <p14:creationId xmlns:p14="http://schemas.microsoft.com/office/powerpoint/2010/main" val="168301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500"/>
                                        <p:tgtEl>
                                          <p:spTgt spid="6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wipe(left)">
                                      <p:cBhvr>
                                        <p:cTn id="106" dur="500"/>
                                        <p:tgtEl>
                                          <p:spTgt spid="6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left)">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nodeType="click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wipe(down)">
                                      <p:cBhvr>
                                        <p:cTn id="144" dur="500"/>
                                        <p:tgtEl>
                                          <p:spTgt spid="66"/>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5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5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5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nodeType="clickEffect">
                                  <p:stCondLst>
                                    <p:cond delay="0"/>
                                  </p:stCondLst>
                                  <p:childTnLst>
                                    <p:set>
                                      <p:cBhvr>
                                        <p:cTn id="174" dur="1" fill="hold">
                                          <p:stCondLst>
                                            <p:cond delay="0"/>
                                          </p:stCondLst>
                                        </p:cTn>
                                        <p:tgtEl>
                                          <p:spTgt spid="63"/>
                                        </p:tgtEl>
                                        <p:attrNameLst>
                                          <p:attrName>style.visibility</p:attrName>
                                        </p:attrNameLst>
                                      </p:cBhvr>
                                      <p:to>
                                        <p:strVal val="visible"/>
                                      </p:to>
                                    </p:set>
                                    <p:animEffect transition="in" filter="wipe(down)">
                                      <p:cBhvr>
                                        <p:cTn id="175" dur="500"/>
                                        <p:tgtEl>
                                          <p:spTgt spid="63"/>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6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6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wipe(left)">
                                      <p:cBhvr>
                                        <p:cTn id="188" dur="500"/>
                                        <p:tgtEl>
                                          <p:spTgt spid="69"/>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8" grpId="0"/>
      <p:bldP spid="19" grpId="0"/>
      <p:bldP spid="20" grpId="0"/>
      <p:bldP spid="21" grpId="0"/>
      <p:bldP spid="22" grpId="0"/>
      <p:bldP spid="23" grpId="0"/>
      <p:bldP spid="24" grpId="0"/>
      <p:bldP spid="25" grpId="0"/>
      <p:bldP spid="26" grpId="0"/>
      <p:bldP spid="27" grpId="0"/>
      <p:bldP spid="28" grpId="0" animBg="1"/>
      <p:bldP spid="29" grpId="0" animBg="1"/>
      <p:bldP spid="31" grpId="0"/>
      <p:bldP spid="32" grpId="0"/>
      <p:bldP spid="33" grpId="0" animBg="1"/>
      <p:bldP spid="34" grpId="0" animBg="1"/>
      <p:bldP spid="35" grpId="0" animBg="1"/>
      <p:bldP spid="38" grpId="0"/>
      <p:bldP spid="39" grpId="0"/>
      <p:bldP spid="40" grpId="0"/>
      <p:bldP spid="41" grpId="0" animBg="1"/>
      <p:bldP spid="42" grpId="0" animBg="1"/>
      <p:bldP spid="43" grpId="0" animBg="1"/>
      <p:bldP spid="44" grpId="0" animBg="1"/>
      <p:bldP spid="48" grpId="0"/>
      <p:bldP spid="49" grpId="0"/>
      <p:bldP spid="50" grpId="0"/>
      <p:bldP spid="51" grpId="0"/>
      <p:bldP spid="52" grpId="0" animBg="1"/>
      <p:bldP spid="53" grpId="0" animBg="1"/>
      <p:bldP spid="54" grpId="0" animBg="1"/>
      <p:bldP spid="55" grpId="0" animBg="1"/>
      <p:bldP spid="59" grpId="0"/>
      <p:bldP spid="60" grpId="0"/>
      <p:bldP spid="61" grpId="0"/>
      <p:bldP spid="62" grpId="0" animBg="1"/>
      <p:bldP spid="64" grpId="0"/>
      <p:bldP spid="7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9594" cy="400110"/>
          </a:xfrm>
          <a:prstGeom prst="rect">
            <a:avLst/>
          </a:prstGeom>
          <a:noFill/>
          <a:ln w="28575">
            <a:solidFill>
              <a:schemeClr val="accent5"/>
            </a:solidFill>
          </a:ln>
        </p:spPr>
        <p:txBody>
          <a:bodyPr wrap="none" rtlCol="0">
            <a:spAutoFit/>
          </a:bodyPr>
          <a:lstStyle/>
          <a:p>
            <a:r>
              <a:rPr lang="en-IN" sz="2000" b="1" dirty="0">
                <a:solidFill>
                  <a:schemeClr val="bg1"/>
                </a:solidFill>
              </a:rPr>
              <a:t>Step:1</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Sort the edges in increasing order of their weight.</a:t>
            </a:r>
          </a:p>
        </p:txBody>
      </p:sp>
      <p:graphicFrame>
        <p:nvGraphicFramePr>
          <p:cNvPr id="39" name="Table 38"/>
          <p:cNvGraphicFramePr>
            <a:graphicFrameLocks noGrp="1"/>
          </p:cNvGraphicFramePr>
          <p:nvPr/>
        </p:nvGraphicFramePr>
        <p:xfrm>
          <a:off x="7747363" y="1023737"/>
          <a:ext cx="2638567" cy="5429312"/>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r>
                        <a:rPr lang="en-US" sz="2000" b="1" dirty="0">
                          <a:solidFill>
                            <a:schemeClr val="accent3"/>
                          </a:solidFill>
                          <a:latin typeface="+mn-lt"/>
                          <a:ea typeface="Times New Roman" panose="02020603050405020304" pitchFamily="18" charset="0"/>
                          <a:cs typeface="Times New Roman" panose="02020603050405020304" pitchFamily="18" charset="0"/>
                        </a:rPr>
                        <a:t>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5</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516510"/>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4}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537154"/>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6}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5540063"/>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7}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7</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76703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6}</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8</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1878199"/>
                  </a:ext>
                </a:extLst>
              </a:tr>
            </a:tbl>
          </a:graphicData>
        </a:graphic>
      </p:graphicFrame>
    </p:spTree>
    <p:extLst>
      <p:ext uri="{BB962C8B-B14F-4D97-AF65-F5344CB8AC3E}">
        <p14:creationId xmlns:p14="http://schemas.microsoft.com/office/powerpoint/2010/main" val="35071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wipe(up)">
                                      <p:cBhvr>
                                        <p:cTn id="117"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Step:2</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Select the minimum weight edge but no cycle.</a:t>
            </a:r>
          </a:p>
        </p:txBody>
      </p:sp>
      <p:graphicFrame>
        <p:nvGraphicFramePr>
          <p:cNvPr id="39" name="Table 38"/>
          <p:cNvGraphicFramePr>
            <a:graphicFrameLocks noGrp="1"/>
          </p:cNvGraphicFramePr>
          <p:nvPr/>
        </p:nvGraphicFramePr>
        <p:xfrm>
          <a:off x="7747363" y="1023737"/>
          <a:ext cx="2638567" cy="5429312"/>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r>
                        <a:rPr lang="en-US" sz="2000" b="1" dirty="0">
                          <a:solidFill>
                            <a:schemeClr val="accent3"/>
                          </a:solidFill>
                          <a:latin typeface="+mn-lt"/>
                          <a:ea typeface="Times New Roman" panose="02020603050405020304" pitchFamily="18" charset="0"/>
                          <a:cs typeface="Times New Roman" panose="02020603050405020304" pitchFamily="18" charset="0"/>
                        </a:rPr>
                        <a:t>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5</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516510"/>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4}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537154"/>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6}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5540063"/>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7}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7</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76703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6}</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8</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1878199"/>
                  </a:ext>
                </a:extLst>
              </a:tr>
            </a:tbl>
          </a:graphicData>
        </a:graphic>
      </p:graphicFrame>
      <p:sp>
        <p:nvSpPr>
          <p:cNvPr id="40" name="Rounded Rectangle 39"/>
          <p:cNvSpPr/>
          <p:nvPr/>
        </p:nvSpPr>
        <p:spPr>
          <a:xfrm>
            <a:off x="9818917" y="14107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1" name="Rounded Rectangle 40"/>
          <p:cNvSpPr/>
          <p:nvPr/>
        </p:nvSpPr>
        <p:spPr>
          <a:xfrm>
            <a:off x="9818917" y="1830890"/>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2" name="Rounded Rectangle 41"/>
          <p:cNvSpPr/>
          <p:nvPr/>
        </p:nvSpPr>
        <p:spPr>
          <a:xfrm>
            <a:off x="9818917" y="2248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3" name="Rounded Rectangle 42"/>
          <p:cNvSpPr/>
          <p:nvPr/>
        </p:nvSpPr>
        <p:spPr>
          <a:xfrm>
            <a:off x="9818917" y="2629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4" name="Rounded Rectangle 43"/>
          <p:cNvSpPr/>
          <p:nvPr/>
        </p:nvSpPr>
        <p:spPr>
          <a:xfrm>
            <a:off x="9818917" y="3094116"/>
            <a:ext cx="457200" cy="45027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5" name="Rounded Rectangle 44"/>
          <p:cNvSpPr/>
          <p:nvPr/>
        </p:nvSpPr>
        <p:spPr>
          <a:xfrm>
            <a:off x="9818917" y="3914416"/>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cxnSp>
        <p:nvCxnSpPr>
          <p:cNvPr id="46" name="Straight Connector 45"/>
          <p:cNvCxnSpPr/>
          <p:nvPr/>
        </p:nvCxnSpPr>
        <p:spPr>
          <a:xfrm>
            <a:off x="7747363" y="3751455"/>
            <a:ext cx="2638567"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7" name="Rounded Rectangle 46"/>
          <p:cNvSpPr/>
          <p:nvPr/>
        </p:nvSpPr>
        <p:spPr>
          <a:xfrm>
            <a:off x="7812759" y="3570514"/>
            <a:ext cx="1905000" cy="304800"/>
          </a:xfrm>
          <a:prstGeom prst="roundRec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p:cNvGrpSpPr/>
          <p:nvPr/>
        </p:nvGrpSpPr>
        <p:grpSpPr>
          <a:xfrm>
            <a:off x="2815046" y="2447109"/>
            <a:ext cx="381000" cy="609600"/>
            <a:chOff x="5257800" y="4876800"/>
            <a:chExt cx="381000" cy="609600"/>
          </a:xfrm>
        </p:grpSpPr>
        <p:cxnSp>
          <p:nvCxnSpPr>
            <p:cNvPr id="52" name="Straight Connector 51"/>
            <p:cNvCxnSpPr/>
            <p:nvPr/>
          </p:nvCxnSpPr>
          <p:spPr>
            <a:xfrm flipH="1">
              <a:off x="5334000" y="4876800"/>
              <a:ext cx="228600" cy="609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257800" y="4953000"/>
              <a:ext cx="381000"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33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1000" fill="hold"/>
                                        <p:tgtEl>
                                          <p:spTgt spid="6"/>
                                        </p:tgtEl>
                                        <p:attrNameLst>
                                          <p:attrName>fillcolor</p:attrName>
                                        </p:attrNameLst>
                                      </p:cBhvr>
                                      <p:to>
                                        <a:srgbClr val="8BC145"/>
                                      </p:to>
                                    </p:animClr>
                                    <p:set>
                                      <p:cBhvr>
                                        <p:cTn id="20" dur="1000" fill="hold"/>
                                        <p:tgtEl>
                                          <p:spTgt spid="6"/>
                                        </p:tgtEl>
                                        <p:attrNameLst>
                                          <p:attrName>fill.type</p:attrName>
                                        </p:attrNameLst>
                                      </p:cBhvr>
                                      <p:to>
                                        <p:strVal val="solid"/>
                                      </p:to>
                                    </p:set>
                                    <p:set>
                                      <p:cBhvr>
                                        <p:cTn id="21" dur="1000" fill="hold"/>
                                        <p:tgtEl>
                                          <p:spTgt spid="6"/>
                                        </p:tgtEl>
                                        <p:attrNameLst>
                                          <p:attrName>fill.on</p:attrName>
                                        </p:attrNameLst>
                                      </p:cBhvr>
                                      <p:to>
                                        <p:strVal val="true"/>
                                      </p:to>
                                    </p:set>
                                  </p:childTnLst>
                                </p:cTn>
                              </p:par>
                              <p:par>
                                <p:cTn id="22" presetID="1" presetClass="emph" presetSubtype="2" fill="hold" nodeType="withEffect">
                                  <p:stCondLst>
                                    <p:cond delay="0"/>
                                  </p:stCondLst>
                                  <p:childTnLst>
                                    <p:animClr clrSpc="rgb" dir="cw">
                                      <p:cBhvr>
                                        <p:cTn id="23" dur="1000" fill="hold"/>
                                        <p:tgtEl>
                                          <p:spTgt spid="7"/>
                                        </p:tgtEl>
                                        <p:attrNameLst>
                                          <p:attrName>fillcolor</p:attrName>
                                        </p:attrNameLst>
                                      </p:cBhvr>
                                      <p:to>
                                        <a:srgbClr val="8BC145"/>
                                      </p:to>
                                    </p:animClr>
                                    <p:set>
                                      <p:cBhvr>
                                        <p:cTn id="24" dur="1000" fill="hold"/>
                                        <p:tgtEl>
                                          <p:spTgt spid="7"/>
                                        </p:tgtEl>
                                        <p:attrNameLst>
                                          <p:attrName>fill.type</p:attrName>
                                        </p:attrNameLst>
                                      </p:cBhvr>
                                      <p:to>
                                        <p:strVal val="solid"/>
                                      </p:to>
                                    </p:set>
                                    <p:set>
                                      <p:cBhvr>
                                        <p:cTn id="25" dur="1000" fill="hold"/>
                                        <p:tgtEl>
                                          <p:spTgt spid="7"/>
                                        </p:tgtEl>
                                        <p:attrNameLst>
                                          <p:attrName>fill.on</p:attrName>
                                        </p:attrNameLst>
                                      </p:cBhvr>
                                      <p:to>
                                        <p:strVal val="true"/>
                                      </p:to>
                                    </p:set>
                                  </p:childTnLst>
                                </p:cTn>
                              </p:par>
                              <p:par>
                                <p:cTn id="26" presetID="7" presetClass="emph" presetSubtype="2" fill="hold" nodeType="withEffect">
                                  <p:stCondLst>
                                    <p:cond delay="0"/>
                                  </p:stCondLst>
                                  <p:childTnLst>
                                    <p:animClr clrSpc="rgb" dir="cw">
                                      <p:cBhvr>
                                        <p:cTn id="27" dur="1000" fill="hold"/>
                                        <p:tgtEl>
                                          <p:spTgt spid="13"/>
                                        </p:tgtEl>
                                        <p:attrNameLst>
                                          <p:attrName>stroke.color</p:attrName>
                                        </p:attrNameLst>
                                      </p:cBhvr>
                                      <p:to>
                                        <a:srgbClr val="B84742"/>
                                      </p:to>
                                    </p:animClr>
                                    <p:set>
                                      <p:cBhvr>
                                        <p:cTn id="28" dur="1000" fill="hold"/>
                                        <p:tgtEl>
                                          <p:spTgt spid="13"/>
                                        </p:tgtEl>
                                        <p:attrNameLst>
                                          <p:attrName>stroke.on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1000" fill="hold"/>
                                        <p:tgtEl>
                                          <p:spTgt spid="8"/>
                                        </p:tgtEl>
                                        <p:attrNameLst>
                                          <p:attrName>fillcolor</p:attrName>
                                        </p:attrNameLst>
                                      </p:cBhvr>
                                      <p:to>
                                        <a:srgbClr val="8BC145"/>
                                      </p:to>
                                    </p:animClr>
                                    <p:set>
                                      <p:cBhvr>
                                        <p:cTn id="38" dur="1000" fill="hold"/>
                                        <p:tgtEl>
                                          <p:spTgt spid="8"/>
                                        </p:tgtEl>
                                        <p:attrNameLst>
                                          <p:attrName>fill.type</p:attrName>
                                        </p:attrNameLst>
                                      </p:cBhvr>
                                      <p:to>
                                        <p:strVal val="solid"/>
                                      </p:to>
                                    </p:set>
                                    <p:set>
                                      <p:cBhvr>
                                        <p:cTn id="39" dur="1000" fill="hold"/>
                                        <p:tgtEl>
                                          <p:spTgt spid="8"/>
                                        </p:tgtEl>
                                        <p:attrNameLst>
                                          <p:attrName>fill.on</p:attrName>
                                        </p:attrNameLst>
                                      </p:cBhvr>
                                      <p:to>
                                        <p:strVal val="true"/>
                                      </p:to>
                                    </p:set>
                                  </p:childTnLst>
                                </p:cTn>
                              </p:par>
                              <p:par>
                                <p:cTn id="40" presetID="7" presetClass="emph" presetSubtype="2" fill="hold" nodeType="withEffect">
                                  <p:stCondLst>
                                    <p:cond delay="0"/>
                                  </p:stCondLst>
                                  <p:childTnLst>
                                    <p:animClr clrSpc="rgb" dir="cw">
                                      <p:cBhvr>
                                        <p:cTn id="41" dur="1000" fill="hold"/>
                                        <p:tgtEl>
                                          <p:spTgt spid="14"/>
                                        </p:tgtEl>
                                        <p:attrNameLst>
                                          <p:attrName>stroke.color</p:attrName>
                                        </p:attrNameLst>
                                      </p:cBhvr>
                                      <p:to>
                                        <a:srgbClr val="B84742"/>
                                      </p:to>
                                    </p:animClr>
                                    <p:set>
                                      <p:cBhvr>
                                        <p:cTn id="42" dur="1000" fill="hold"/>
                                        <p:tgtEl>
                                          <p:spTgt spid="14"/>
                                        </p:tgtEl>
                                        <p:attrNameLst>
                                          <p:attrName>stroke.on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00" fill="hold"/>
                                        <p:tgtEl>
                                          <p:spTgt spid="9"/>
                                        </p:tgtEl>
                                        <p:attrNameLst>
                                          <p:attrName>fillcolor</p:attrName>
                                        </p:attrNameLst>
                                      </p:cBhvr>
                                      <p:to>
                                        <a:srgbClr val="8BC145"/>
                                      </p:to>
                                    </p:animClr>
                                    <p:set>
                                      <p:cBhvr>
                                        <p:cTn id="52" dur="1000" fill="hold"/>
                                        <p:tgtEl>
                                          <p:spTgt spid="9"/>
                                        </p:tgtEl>
                                        <p:attrNameLst>
                                          <p:attrName>fill.type</p:attrName>
                                        </p:attrNameLst>
                                      </p:cBhvr>
                                      <p:to>
                                        <p:strVal val="solid"/>
                                      </p:to>
                                    </p:set>
                                    <p:set>
                                      <p:cBhvr>
                                        <p:cTn id="53" dur="1000" fill="hold"/>
                                        <p:tgtEl>
                                          <p:spTgt spid="9"/>
                                        </p:tgtEl>
                                        <p:attrNameLst>
                                          <p:attrName>fill.on</p:attrName>
                                        </p:attrNameLst>
                                      </p:cBhvr>
                                      <p:to>
                                        <p:strVal val="true"/>
                                      </p:to>
                                    </p:set>
                                  </p:childTnLst>
                                </p:cTn>
                              </p:par>
                              <p:par>
                                <p:cTn id="54" presetID="1" presetClass="emph" presetSubtype="2" fill="hold" nodeType="withEffect">
                                  <p:stCondLst>
                                    <p:cond delay="0"/>
                                  </p:stCondLst>
                                  <p:childTnLst>
                                    <p:animClr clrSpc="rgb" dir="cw">
                                      <p:cBhvr>
                                        <p:cTn id="55" dur="1000" fill="hold"/>
                                        <p:tgtEl>
                                          <p:spTgt spid="10"/>
                                        </p:tgtEl>
                                        <p:attrNameLst>
                                          <p:attrName>fillcolor</p:attrName>
                                        </p:attrNameLst>
                                      </p:cBhvr>
                                      <p:to>
                                        <a:srgbClr val="8BC145"/>
                                      </p:to>
                                    </p:animClr>
                                    <p:set>
                                      <p:cBhvr>
                                        <p:cTn id="56" dur="1000" fill="hold"/>
                                        <p:tgtEl>
                                          <p:spTgt spid="10"/>
                                        </p:tgtEl>
                                        <p:attrNameLst>
                                          <p:attrName>fill.type</p:attrName>
                                        </p:attrNameLst>
                                      </p:cBhvr>
                                      <p:to>
                                        <p:strVal val="solid"/>
                                      </p:to>
                                    </p:set>
                                    <p:set>
                                      <p:cBhvr>
                                        <p:cTn id="57" dur="1000" fill="hold"/>
                                        <p:tgtEl>
                                          <p:spTgt spid="10"/>
                                        </p:tgtEl>
                                        <p:attrNameLst>
                                          <p:attrName>fill.on</p:attrName>
                                        </p:attrNameLst>
                                      </p:cBhvr>
                                      <p:to>
                                        <p:strVal val="true"/>
                                      </p:to>
                                    </p:set>
                                  </p:childTnLst>
                                </p:cTn>
                              </p:par>
                              <p:par>
                                <p:cTn id="58" presetID="7" presetClass="emph" presetSubtype="2" fill="hold" nodeType="withEffect">
                                  <p:stCondLst>
                                    <p:cond delay="0"/>
                                  </p:stCondLst>
                                  <p:childTnLst>
                                    <p:animClr clrSpc="rgb" dir="cw">
                                      <p:cBhvr>
                                        <p:cTn id="59" dur="1000" fill="hold"/>
                                        <p:tgtEl>
                                          <p:spTgt spid="15"/>
                                        </p:tgtEl>
                                        <p:attrNameLst>
                                          <p:attrName>stroke.color</p:attrName>
                                        </p:attrNameLst>
                                      </p:cBhvr>
                                      <p:to>
                                        <a:srgbClr val="B84742"/>
                                      </p:to>
                                    </p:animClr>
                                    <p:set>
                                      <p:cBhvr>
                                        <p:cTn id="60" dur="1000" fill="hold"/>
                                        <p:tgtEl>
                                          <p:spTgt spid="15"/>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mph" presetSubtype="2" fill="hold" nodeType="clickEffect">
                                  <p:stCondLst>
                                    <p:cond delay="0"/>
                                  </p:stCondLst>
                                  <p:childTnLst>
                                    <p:animClr clrSpc="rgb" dir="cw">
                                      <p:cBhvr>
                                        <p:cTn id="69" dur="1000" fill="hold"/>
                                        <p:tgtEl>
                                          <p:spTgt spid="11"/>
                                        </p:tgtEl>
                                        <p:attrNameLst>
                                          <p:attrName>fillcolor</p:attrName>
                                        </p:attrNameLst>
                                      </p:cBhvr>
                                      <p:to>
                                        <a:srgbClr val="8BC145"/>
                                      </p:to>
                                    </p:animClr>
                                    <p:set>
                                      <p:cBhvr>
                                        <p:cTn id="70" dur="1000" fill="hold"/>
                                        <p:tgtEl>
                                          <p:spTgt spid="11"/>
                                        </p:tgtEl>
                                        <p:attrNameLst>
                                          <p:attrName>fill.type</p:attrName>
                                        </p:attrNameLst>
                                      </p:cBhvr>
                                      <p:to>
                                        <p:strVal val="solid"/>
                                      </p:to>
                                    </p:set>
                                    <p:set>
                                      <p:cBhvr>
                                        <p:cTn id="71" dur="1000" fill="hold"/>
                                        <p:tgtEl>
                                          <p:spTgt spid="11"/>
                                        </p:tgtEl>
                                        <p:attrNameLst>
                                          <p:attrName>fill.on</p:attrName>
                                        </p:attrNameLst>
                                      </p:cBhvr>
                                      <p:to>
                                        <p:strVal val="true"/>
                                      </p:to>
                                    </p:set>
                                  </p:childTnLst>
                                </p:cTn>
                              </p:par>
                              <p:par>
                                <p:cTn id="72" presetID="1" presetClass="emph" presetSubtype="2" fill="hold" nodeType="withEffect">
                                  <p:stCondLst>
                                    <p:cond delay="0"/>
                                  </p:stCondLst>
                                  <p:childTnLst>
                                    <p:animClr clrSpc="rgb" dir="cw">
                                      <p:cBhvr>
                                        <p:cTn id="73" dur="1000" fill="hold"/>
                                        <p:tgtEl>
                                          <p:spTgt spid="12"/>
                                        </p:tgtEl>
                                        <p:attrNameLst>
                                          <p:attrName>fillcolor</p:attrName>
                                        </p:attrNameLst>
                                      </p:cBhvr>
                                      <p:to>
                                        <a:srgbClr val="8BC145"/>
                                      </p:to>
                                    </p:animClr>
                                    <p:set>
                                      <p:cBhvr>
                                        <p:cTn id="74" dur="1000" fill="hold"/>
                                        <p:tgtEl>
                                          <p:spTgt spid="12"/>
                                        </p:tgtEl>
                                        <p:attrNameLst>
                                          <p:attrName>fill.type</p:attrName>
                                        </p:attrNameLst>
                                      </p:cBhvr>
                                      <p:to>
                                        <p:strVal val="solid"/>
                                      </p:to>
                                    </p:set>
                                    <p:set>
                                      <p:cBhvr>
                                        <p:cTn id="75" dur="1000" fill="hold"/>
                                        <p:tgtEl>
                                          <p:spTgt spid="12"/>
                                        </p:tgtEl>
                                        <p:attrNameLst>
                                          <p:attrName>fill.on</p:attrName>
                                        </p:attrNameLst>
                                      </p:cBhvr>
                                      <p:to>
                                        <p:strVal val="true"/>
                                      </p:to>
                                    </p:set>
                                  </p:childTnLst>
                                </p:cTn>
                              </p:par>
                              <p:par>
                                <p:cTn id="76" presetID="7" presetClass="emph" presetSubtype="2" fill="hold" nodeType="withEffect">
                                  <p:stCondLst>
                                    <p:cond delay="0"/>
                                  </p:stCondLst>
                                  <p:childTnLst>
                                    <p:animClr clrSpc="rgb" dir="cw">
                                      <p:cBhvr>
                                        <p:cTn id="77" dur="1000" fill="hold"/>
                                        <p:tgtEl>
                                          <p:spTgt spid="22"/>
                                        </p:tgtEl>
                                        <p:attrNameLst>
                                          <p:attrName>stroke.color</p:attrName>
                                        </p:attrNameLst>
                                      </p:cBhvr>
                                      <p:to>
                                        <a:srgbClr val="B84742"/>
                                      </p:to>
                                    </p:animClr>
                                    <p:set>
                                      <p:cBhvr>
                                        <p:cTn id="78" dur="1000" fill="hold"/>
                                        <p:tgtEl>
                                          <p:spTgt spid="22"/>
                                        </p:tgtEl>
                                        <p:attrNameLst>
                                          <p:attrName>stroke.on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7" presetClass="emph" presetSubtype="2" fill="hold" nodeType="clickEffect">
                                  <p:stCondLst>
                                    <p:cond delay="0"/>
                                  </p:stCondLst>
                                  <p:childTnLst>
                                    <p:animClr clrSpc="rgb" dir="cw">
                                      <p:cBhvr>
                                        <p:cTn id="87" dur="1000" fill="hold"/>
                                        <p:tgtEl>
                                          <p:spTgt spid="17"/>
                                        </p:tgtEl>
                                        <p:attrNameLst>
                                          <p:attrName>stroke.color</p:attrName>
                                        </p:attrNameLst>
                                      </p:cBhvr>
                                      <p:to>
                                        <a:srgbClr val="B84742"/>
                                      </p:to>
                                    </p:animClr>
                                    <p:set>
                                      <p:cBhvr>
                                        <p:cTn id="88" dur="1000" fill="hold"/>
                                        <p:tgtEl>
                                          <p:spTgt spid="17"/>
                                        </p:tgtEl>
                                        <p:attrNameLst>
                                          <p:attrName>stroke.on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heel(1)">
                                      <p:cBhvr>
                                        <p:cTn id="93" dur="2000"/>
                                        <p:tgtEl>
                                          <p:spTgt spid="4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wipe(left)">
                                      <p:cBhvr>
                                        <p:cTn id="98" dur="500"/>
                                        <p:tgtEl>
                                          <p:spTgt spid="46"/>
                                        </p:tgtEl>
                                      </p:cBhvr>
                                    </p:animEffect>
                                  </p:childTnLst>
                                </p:cTn>
                              </p:par>
                              <p:par>
                                <p:cTn id="99" presetID="22" presetClass="entr" presetSubtype="1"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wipe(up)">
                                      <p:cBhvr>
                                        <p:cTn id="101" dur="1000"/>
                                        <p:tgtEl>
                                          <p:spTgt spid="5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7" presetClass="emph" presetSubtype="2" fill="hold" nodeType="clickEffect">
                                  <p:stCondLst>
                                    <p:cond delay="0"/>
                                  </p:stCondLst>
                                  <p:childTnLst>
                                    <p:animClr clrSpc="rgb" dir="cw">
                                      <p:cBhvr>
                                        <p:cTn id="110" dur="1000" fill="hold"/>
                                        <p:tgtEl>
                                          <p:spTgt spid="23"/>
                                        </p:tgtEl>
                                        <p:attrNameLst>
                                          <p:attrName>stroke.color</p:attrName>
                                        </p:attrNameLst>
                                      </p:cBhvr>
                                      <p:to>
                                        <a:srgbClr val="B84742"/>
                                      </p:to>
                                    </p:animClr>
                                    <p:set>
                                      <p:cBhvr>
                                        <p:cTn id="111" dur="1000" fill="hold"/>
                                        <p:tgtEl>
                                          <p:spTgt spid="2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0" grpId="0"/>
      <p:bldP spid="41" grpId="0"/>
      <p:bldP spid="42" grpId="0"/>
      <p:bldP spid="43" grpId="0"/>
      <p:bldP spid="44" grpId="0"/>
      <p:bldP spid="45" grpId="0"/>
      <p:bldP spid="4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Step:3</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The minimum spanning tree for the given graph.</a:t>
            </a:r>
          </a:p>
        </p:txBody>
      </p:sp>
      <p:graphicFrame>
        <p:nvGraphicFramePr>
          <p:cNvPr id="39" name="Table 38"/>
          <p:cNvGraphicFramePr>
            <a:graphicFrameLocks noGrp="1"/>
          </p:cNvGraphicFramePr>
          <p:nvPr/>
        </p:nvGraphicFramePr>
        <p:xfrm>
          <a:off x="7747363" y="1023737"/>
          <a:ext cx="2638567" cy="2911058"/>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40" name="Rounded Rectangle 39"/>
          <p:cNvSpPr/>
          <p:nvPr/>
        </p:nvSpPr>
        <p:spPr>
          <a:xfrm>
            <a:off x="9818917" y="14107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1" name="Rounded Rectangle 40"/>
          <p:cNvSpPr/>
          <p:nvPr/>
        </p:nvSpPr>
        <p:spPr>
          <a:xfrm>
            <a:off x="9818917" y="1830890"/>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2" name="Rounded Rectangle 41"/>
          <p:cNvSpPr/>
          <p:nvPr/>
        </p:nvSpPr>
        <p:spPr>
          <a:xfrm>
            <a:off x="9818917" y="2248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3" name="Rounded Rectangle 42"/>
          <p:cNvSpPr/>
          <p:nvPr/>
        </p:nvSpPr>
        <p:spPr>
          <a:xfrm>
            <a:off x="9818917" y="2629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4" name="Rounded Rectangle 43"/>
          <p:cNvSpPr/>
          <p:nvPr/>
        </p:nvSpPr>
        <p:spPr>
          <a:xfrm>
            <a:off x="9818917" y="3094116"/>
            <a:ext cx="457200" cy="45027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5" name="Rounded Rectangle 44"/>
          <p:cNvSpPr/>
          <p:nvPr/>
        </p:nvSpPr>
        <p:spPr>
          <a:xfrm>
            <a:off x="9805854" y="3522528"/>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9" name="Rectangle 48"/>
          <p:cNvSpPr/>
          <p:nvPr/>
        </p:nvSpPr>
        <p:spPr>
          <a:xfrm>
            <a:off x="8075023" y="4428894"/>
            <a:ext cx="2133918" cy="461665"/>
          </a:xfrm>
          <a:prstGeom prst="rect">
            <a:avLst/>
          </a:prstGeom>
          <a:solidFill>
            <a:srgbClr val="F9C5D7"/>
          </a:solidFill>
        </p:spPr>
        <p:txBody>
          <a:bodyPr wrap="none">
            <a:spAutoFit/>
          </a:bodyPr>
          <a:lstStyle/>
          <a:p>
            <a:r>
              <a:rPr lang="en-US" sz="2400" b="1" dirty="0">
                <a:solidFill>
                  <a:srgbClr val="AD1457"/>
                </a:solidFill>
              </a:rPr>
              <a:t>Total Cost  = 17</a:t>
            </a:r>
          </a:p>
        </p:txBody>
      </p:sp>
    </p:spTree>
    <p:extLst>
      <p:ext uri="{BB962C8B-B14F-4D97-AF65-F5344CB8AC3E}">
        <p14:creationId xmlns:p14="http://schemas.microsoft.com/office/powerpoint/2010/main" val="109529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9"/>
                                        </p:tgtEl>
                                        <p:attrNameLst>
                                          <p:attrName>style.visibility</p:attrName>
                                        </p:attrNameLst>
                                      </p:cBhvr>
                                      <p:to>
                                        <p:strVal val="visible"/>
                                      </p:to>
                                    </p:set>
                                    <p:animEffect transition="in" filter="fade">
                                      <p:cBhvr>
                                        <p:cTn id="1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 Example 2</a:t>
            </a:r>
          </a:p>
        </p:txBody>
      </p:sp>
      <p:graphicFrame>
        <p:nvGraphicFramePr>
          <p:cNvPr id="4" name="Content Placeholder 5"/>
          <p:cNvGraphicFramePr>
            <a:graphicFrameLocks/>
          </p:cNvGraphicFramePr>
          <p:nvPr/>
        </p:nvGraphicFramePr>
        <p:xfrm>
          <a:off x="831797" y="1031965"/>
          <a:ext cx="6445622" cy="4502622"/>
        </p:xfrm>
        <a:graphic>
          <a:graphicData uri="http://schemas.openxmlformats.org/drawingml/2006/table">
            <a:tbl>
              <a:tblPr firstRow="1" firstCol="1" bandRow="1">
                <a:tableStyleId>{5C22544A-7EE6-4342-B048-85BDC9FD1C3A}</a:tableStyleId>
              </a:tblPr>
              <a:tblGrid>
                <a:gridCol w="805703">
                  <a:extLst>
                    <a:ext uri="{9D8B030D-6E8A-4147-A177-3AD203B41FA5}">
                      <a16:colId xmlns:a16="http://schemas.microsoft.com/office/drawing/2014/main" val="3927548896"/>
                    </a:ext>
                  </a:extLst>
                </a:gridCol>
                <a:gridCol w="2175397">
                  <a:extLst>
                    <a:ext uri="{9D8B030D-6E8A-4147-A177-3AD203B41FA5}">
                      <a16:colId xmlns:a16="http://schemas.microsoft.com/office/drawing/2014/main" val="4102646267"/>
                    </a:ext>
                  </a:extLst>
                </a:gridCol>
                <a:gridCol w="3464522">
                  <a:extLst>
                    <a:ext uri="{9D8B030D-6E8A-4147-A177-3AD203B41FA5}">
                      <a16:colId xmlns:a16="http://schemas.microsoft.com/office/drawing/2014/main" val="4119773957"/>
                    </a:ext>
                  </a:extLst>
                </a:gridCol>
              </a:tblGrid>
              <a:tr h="731521">
                <a:tc>
                  <a:txBody>
                    <a:bodyPr/>
                    <a:lstStyle/>
                    <a:p>
                      <a:pPr marL="0" marR="0" algn="ctr">
                        <a:lnSpc>
                          <a:spcPct val="115000"/>
                        </a:lnSpc>
                        <a:spcBef>
                          <a:spcPts val="0"/>
                        </a:spcBef>
                        <a:spcAft>
                          <a:spcPts val="0"/>
                        </a:spcAft>
                      </a:pPr>
                      <a:r>
                        <a:rPr lang="en-US" sz="2000" dirty="0">
                          <a:solidFill>
                            <a:srgbClr val="AD1457"/>
                          </a:solidFill>
                          <a:effectLst/>
                        </a:rPr>
                        <a:t>Step</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000" dirty="0">
                          <a:solidFill>
                            <a:srgbClr val="AD1457"/>
                          </a:solidFill>
                          <a:effectLst/>
                        </a:rPr>
                        <a:t>Edges considered - {u, v}</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000" dirty="0">
                          <a:solidFill>
                            <a:srgbClr val="AD1457"/>
                          </a:solidFill>
                          <a:effectLst/>
                        </a:rPr>
                        <a:t>Connected Components</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462586495"/>
                  </a:ext>
                </a:extLst>
              </a:tr>
              <a:tr h="511978">
                <a:tc>
                  <a:txBody>
                    <a:bodyPr/>
                    <a:lstStyle/>
                    <a:p>
                      <a:pPr marL="0" marR="0" algn="ctr">
                        <a:lnSpc>
                          <a:spcPct val="115000"/>
                        </a:lnSpc>
                        <a:spcBef>
                          <a:spcPts val="0"/>
                        </a:spcBef>
                        <a:spcAft>
                          <a:spcPts val="0"/>
                        </a:spcAft>
                      </a:pPr>
                      <a:r>
                        <a:rPr lang="en-US" sz="2400" b="0" dirty="0" err="1">
                          <a:solidFill>
                            <a:schemeClr val="tx1"/>
                          </a:solidFill>
                          <a:effectLst/>
                          <a:latin typeface="Calibri" panose="020F0502020204030204" pitchFamily="34" charset="0"/>
                          <a:ea typeface="Times New Roman" panose="02020603050405020304" pitchFamily="18" charset="0"/>
                          <a:cs typeface="Shruti" panose="020B0502040204020203" pitchFamily="34" charset="0"/>
                        </a:rPr>
                        <a:t>Init.</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 {2}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465674"/>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1</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{1,2}</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15384"/>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2</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{2,3}</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4312553"/>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3</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{4,5}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0105355"/>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4</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{6,7}</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1938409"/>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5</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{1,4}</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9004122"/>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6</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b="1" dirty="0">
                          <a:solidFill>
                            <a:srgbClr val="C00000"/>
                          </a:solidFill>
                          <a:effectLst/>
                          <a:latin typeface="Calibri" panose="020F0502020204030204" pitchFamily="34" charset="0"/>
                        </a:rPr>
                        <a:t>Rejected </a:t>
                      </a:r>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9108372"/>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7</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{4,7}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{1,2,3,4,5,6,7}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0144893"/>
                  </a:ext>
                </a:extLst>
              </a:tr>
            </a:tbl>
          </a:graphicData>
        </a:graphic>
      </p:graphicFrame>
      <p:graphicFrame>
        <p:nvGraphicFramePr>
          <p:cNvPr id="5" name="Table 4"/>
          <p:cNvGraphicFramePr>
            <a:graphicFrameLocks noGrp="1"/>
          </p:cNvGraphicFramePr>
          <p:nvPr/>
        </p:nvGraphicFramePr>
        <p:xfrm>
          <a:off x="8062856" y="1031965"/>
          <a:ext cx="2468880" cy="3486649"/>
        </p:xfrm>
        <a:graphic>
          <a:graphicData uri="http://schemas.openxmlformats.org/drawingml/2006/table">
            <a:tbl>
              <a:tblPr firstRow="1" bandRow="1">
                <a:tableStyleId>{5C22544A-7EE6-4342-B048-85BDC9FD1C3A}</a:tableStyleId>
              </a:tblPr>
              <a:tblGrid>
                <a:gridCol w="1070936">
                  <a:extLst>
                    <a:ext uri="{9D8B030D-6E8A-4147-A177-3AD203B41FA5}">
                      <a16:colId xmlns:a16="http://schemas.microsoft.com/office/drawing/2014/main" val="1582560717"/>
                    </a:ext>
                  </a:extLst>
                </a:gridCol>
                <a:gridCol w="1397944">
                  <a:extLst>
                    <a:ext uri="{9D8B030D-6E8A-4147-A177-3AD203B41FA5}">
                      <a16:colId xmlns:a16="http://schemas.microsoft.com/office/drawing/2014/main" val="511824500"/>
                    </a:ext>
                  </a:extLst>
                </a:gridCol>
              </a:tblGrid>
              <a:tr h="598585">
                <a:tc>
                  <a:txBody>
                    <a:bodyPr/>
                    <a:lstStyle/>
                    <a:p>
                      <a:pPr algn="ctr"/>
                      <a:r>
                        <a:rPr lang="en-US" sz="2400" dirty="0">
                          <a:solidFill>
                            <a:srgbClr val="AD1457"/>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400" dirty="0">
                          <a:solidFill>
                            <a:srgbClr val="AD1457"/>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106574443"/>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2}</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{2, 3}</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5}</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{6, 7}</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4}</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7}</a:t>
                      </a:r>
                      <a:r>
                        <a:rPr lang="en-US" sz="2400" baseline="0" dirty="0">
                          <a:latin typeface="+mn-lt"/>
                          <a:ea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44" name="Rectangle 43"/>
          <p:cNvSpPr/>
          <p:nvPr/>
        </p:nvSpPr>
        <p:spPr>
          <a:xfrm>
            <a:off x="8062856" y="4652441"/>
            <a:ext cx="2468880" cy="461665"/>
          </a:xfrm>
          <a:prstGeom prst="rect">
            <a:avLst/>
          </a:prstGeom>
          <a:solidFill>
            <a:schemeClr val="bg1">
              <a:lumMod val="85000"/>
            </a:schemeClr>
          </a:solidFill>
          <a:ln w="19050">
            <a:solidFill>
              <a:srgbClr val="002060"/>
            </a:solidFill>
          </a:ln>
        </p:spPr>
        <p:txBody>
          <a:bodyPr wrap="square">
            <a:spAutoFit/>
          </a:bodyPr>
          <a:lstStyle/>
          <a:p>
            <a:pPr algn="ctr"/>
            <a:r>
              <a:rPr lang="en-US" sz="2400" dirty="0">
                <a:solidFill>
                  <a:srgbClr val="AD1457"/>
                </a:solidFill>
              </a:rPr>
              <a:t>Total Cost  = 17</a:t>
            </a:r>
          </a:p>
        </p:txBody>
      </p:sp>
      <p:sp>
        <p:nvSpPr>
          <p:cNvPr id="3" name="Rectangle 2"/>
          <p:cNvSpPr/>
          <p:nvPr/>
        </p:nvSpPr>
        <p:spPr>
          <a:xfrm>
            <a:off x="962298" y="1815737"/>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62298" y="232083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62298" y="277803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62298" y="3248297"/>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62298" y="375339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62298" y="421059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62298" y="4672148"/>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62298" y="515111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381794" y="185057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81794" y="235566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381794" y="281286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381794" y="328313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381794" y="3735976"/>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381794" y="4219302"/>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381794" y="4667793"/>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381794" y="513370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036423" y="1859280"/>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4023360" y="2312126"/>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853544" y="2821577"/>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4167051" y="3278777"/>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892732" y="3731622"/>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075611" y="4201885"/>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3944983" y="4663438"/>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4114799" y="5129346"/>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9566367" y="1667691"/>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216537" y="1676400"/>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9588138" y="2172788"/>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8238308" y="2181497"/>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9588139" y="268223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8238309" y="269094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9522824" y="313943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8172994" y="314814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9575075" y="3622765"/>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8225245" y="3631474"/>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9614264" y="4093023"/>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8264434" y="4101732"/>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V="1">
            <a:off x="4206240" y="2677885"/>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4254138" y="3143794"/>
            <a:ext cx="9144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286103" y="3587931"/>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991498" y="4058194"/>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4580708" y="4541519"/>
            <a:ext cx="128016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685211" y="5468982"/>
            <a:ext cx="173736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73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16"/>
                                        </p:tgtEl>
                                      </p:cBhvr>
                                    </p:animEffect>
                                    <p:set>
                                      <p:cBhvr>
                                        <p:cTn id="21" dur="1" fill="hold">
                                          <p:stCondLst>
                                            <p:cond delay="499"/>
                                          </p:stCondLst>
                                        </p:cTn>
                                        <p:tgtEl>
                                          <p:spTgt spid="16"/>
                                        </p:tgtEl>
                                        <p:attrNameLst>
                                          <p:attrName>style.visibility</p:attrName>
                                        </p:attrNameLst>
                                      </p:cBhvr>
                                      <p:to>
                                        <p:strVal val="hidden"/>
                                      </p:to>
                                    </p:set>
                                  </p:childTnLst>
                                </p:cTn>
                              </p:par>
                              <p:par>
                                <p:cTn id="22" presetID="14" presetClass="exit" presetSubtype="10" fill="hold" grpId="0" nodeType="withEffect">
                                  <p:stCondLst>
                                    <p:cond delay="0"/>
                                  </p:stCondLst>
                                  <p:childTnLst>
                                    <p:animEffect transition="out" filter="randombar(horizontal)">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par>
                                <p:cTn id="34" presetID="14" presetClass="exit" presetSubtype="10" fill="hold" grpId="0" nodeType="withEffect">
                                  <p:stCondLst>
                                    <p:cond delay="0"/>
                                  </p:stCondLst>
                                  <p:childTnLst>
                                    <p:animEffect transition="out" filter="randombar(horizontal)">
                                      <p:cBhvr>
                                        <p:cTn id="35" dur="500"/>
                                        <p:tgtEl>
                                          <p:spTgt spid="32"/>
                                        </p:tgtEl>
                                      </p:cBhvr>
                                    </p:animEffect>
                                    <p:set>
                                      <p:cBhvr>
                                        <p:cTn id="36" dur="1" fill="hold">
                                          <p:stCondLst>
                                            <p:cond delay="499"/>
                                          </p:stCondLst>
                                        </p:cTn>
                                        <p:tgtEl>
                                          <p:spTgt spid="3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xit" presetSubtype="10" fill="hold" grpId="0" nodeType="clickEffect">
                                  <p:stCondLst>
                                    <p:cond delay="0"/>
                                  </p:stCondLst>
                                  <p:childTnLst>
                                    <p:animEffect transition="out" filter="randombar(horizontal)">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4" presetClass="exit" presetSubtype="10" fill="hold" grpId="0" nodeType="withEffect">
                                  <p:stCondLst>
                                    <p:cond delay="0"/>
                                  </p:stCondLst>
                                  <p:childTnLst>
                                    <p:animEffect transition="out" filter="randombar(horizontal)">
                                      <p:cBhvr>
                                        <p:cTn id="43" dur="500"/>
                                        <p:tgtEl>
                                          <p:spTgt spid="17"/>
                                        </p:tgtEl>
                                      </p:cBhvr>
                                    </p:animEffect>
                                    <p:set>
                                      <p:cBhvr>
                                        <p:cTn id="44" dur="1" fill="hold">
                                          <p:stCondLst>
                                            <p:cond delay="499"/>
                                          </p:stCondLst>
                                        </p:cTn>
                                        <p:tgtEl>
                                          <p:spTgt spid="17"/>
                                        </p:tgtEl>
                                        <p:attrNameLst>
                                          <p:attrName>style.visibility</p:attrName>
                                        </p:attrNameLst>
                                      </p:cBhvr>
                                      <p:to>
                                        <p:strVal val="hidden"/>
                                      </p:to>
                                    </p:set>
                                  </p:childTnLst>
                                </p:cTn>
                              </p:par>
                              <p:par>
                                <p:cTn id="45" presetID="14" presetClass="exit" presetSubtype="10" fill="hold" grpId="0" nodeType="withEffect">
                                  <p:stCondLst>
                                    <p:cond delay="0"/>
                                  </p:stCondLst>
                                  <p:childTnLst>
                                    <p:animEffect transition="out" filter="randombar(horizontal)">
                                      <p:cBhvr>
                                        <p:cTn id="46" dur="500"/>
                                        <p:tgtEl>
                                          <p:spTgt spid="25"/>
                                        </p:tgtEl>
                                      </p:cBhvr>
                                    </p:animEffect>
                                    <p:set>
                                      <p:cBhvr>
                                        <p:cTn id="47" dur="1" fill="hold">
                                          <p:stCondLst>
                                            <p:cond delay="499"/>
                                          </p:stCondLst>
                                        </p:cTn>
                                        <p:tgtEl>
                                          <p:spTgt spid="25"/>
                                        </p:tgtEl>
                                        <p:attrNameLst>
                                          <p:attrName>style.visibility</p:attrName>
                                        </p:attrNameLst>
                                      </p:cBhvr>
                                      <p:to>
                                        <p:strVal val="hidden"/>
                                      </p:to>
                                    </p:se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wipe(left)">
                                      <p:cBhvr>
                                        <p:cTn id="51" dur="500"/>
                                        <p:tgtEl>
                                          <p:spTgt spid="46"/>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xit" presetSubtype="10" fill="hold" grpId="0" nodeType="clickEffect">
                                  <p:stCondLst>
                                    <p:cond delay="0"/>
                                  </p:stCondLst>
                                  <p:childTnLst>
                                    <p:animEffect transition="out" filter="randombar(horizontal)">
                                      <p:cBhvr>
                                        <p:cTn id="55" dur="500"/>
                                        <p:tgtEl>
                                          <p:spTgt spid="33"/>
                                        </p:tgtEl>
                                      </p:cBhvr>
                                    </p:animEffect>
                                    <p:set>
                                      <p:cBhvr>
                                        <p:cTn id="56" dur="1" fill="hold">
                                          <p:stCondLst>
                                            <p:cond delay="499"/>
                                          </p:stCondLst>
                                        </p:cTn>
                                        <p:tgtEl>
                                          <p:spTgt spid="33"/>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34"/>
                                        </p:tgtEl>
                                      </p:cBhvr>
                                    </p:animEffect>
                                    <p:set>
                                      <p:cBhvr>
                                        <p:cTn id="59" dur="1" fill="hold">
                                          <p:stCondLst>
                                            <p:cond delay="499"/>
                                          </p:stCondLst>
                                        </p:cTn>
                                        <p:tgtEl>
                                          <p:spTgt spid="3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4" presetClass="exit" presetSubtype="10" fill="hold" grpId="0" nodeType="clickEffect">
                                  <p:stCondLst>
                                    <p:cond delay="0"/>
                                  </p:stCondLst>
                                  <p:childTnLst>
                                    <p:animEffect transition="out" filter="randombar(horizontal)">
                                      <p:cBhvr>
                                        <p:cTn id="63" dur="500"/>
                                        <p:tgtEl>
                                          <p:spTgt spid="9"/>
                                        </p:tgtEl>
                                      </p:cBhvr>
                                    </p:animEffect>
                                    <p:set>
                                      <p:cBhvr>
                                        <p:cTn id="64" dur="1" fill="hold">
                                          <p:stCondLst>
                                            <p:cond delay="499"/>
                                          </p:stCondLst>
                                        </p:cTn>
                                        <p:tgtEl>
                                          <p:spTgt spid="9"/>
                                        </p:tgtEl>
                                        <p:attrNameLst>
                                          <p:attrName>style.visibility</p:attrName>
                                        </p:attrNameLst>
                                      </p:cBhvr>
                                      <p:to>
                                        <p:strVal val="hidden"/>
                                      </p:to>
                                    </p:set>
                                  </p:childTnLst>
                                </p:cTn>
                              </p:par>
                              <p:par>
                                <p:cTn id="65" presetID="14" presetClass="exit" presetSubtype="10" fill="hold" grpId="0" nodeType="withEffect">
                                  <p:stCondLst>
                                    <p:cond delay="0"/>
                                  </p:stCondLst>
                                  <p:childTnLst>
                                    <p:animEffect transition="out" filter="randombar(horizontal)">
                                      <p:cBhvr>
                                        <p:cTn id="66" dur="500"/>
                                        <p:tgtEl>
                                          <p:spTgt spid="18"/>
                                        </p:tgtEl>
                                      </p:cBhvr>
                                    </p:animEffect>
                                    <p:set>
                                      <p:cBhvr>
                                        <p:cTn id="67" dur="1" fill="hold">
                                          <p:stCondLst>
                                            <p:cond delay="499"/>
                                          </p:stCondLst>
                                        </p:cTn>
                                        <p:tgtEl>
                                          <p:spTgt spid="18"/>
                                        </p:tgtEl>
                                        <p:attrNameLst>
                                          <p:attrName>style.visibility</p:attrName>
                                        </p:attrNameLst>
                                      </p:cBhvr>
                                      <p:to>
                                        <p:strVal val="hidden"/>
                                      </p:to>
                                    </p:set>
                                  </p:childTnLst>
                                </p:cTn>
                              </p:par>
                              <p:par>
                                <p:cTn id="68" presetID="14" presetClass="exit" presetSubtype="10" fill="hold" grpId="0" nodeType="withEffect">
                                  <p:stCondLst>
                                    <p:cond delay="0"/>
                                  </p:stCondLst>
                                  <p:childTnLst>
                                    <p:animEffect transition="out" filter="randombar(horizontal)">
                                      <p:cBhvr>
                                        <p:cTn id="69" dur="500"/>
                                        <p:tgtEl>
                                          <p:spTgt spid="26"/>
                                        </p:tgtEl>
                                      </p:cBhvr>
                                    </p:animEffect>
                                    <p:set>
                                      <p:cBhvr>
                                        <p:cTn id="70" dur="1" fill="hold">
                                          <p:stCondLst>
                                            <p:cond delay="499"/>
                                          </p:stCondLst>
                                        </p:cTn>
                                        <p:tgtEl>
                                          <p:spTgt spid="26"/>
                                        </p:tgtEl>
                                        <p:attrNameLst>
                                          <p:attrName>style.visibility</p:attrName>
                                        </p:attrNameLst>
                                      </p:cBhvr>
                                      <p:to>
                                        <p:strVal val="hidden"/>
                                      </p:to>
                                    </p:se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wipe(left)">
                                      <p:cBhvr>
                                        <p:cTn id="74" dur="500"/>
                                        <p:tgtEl>
                                          <p:spTgt spid="47"/>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xit" presetSubtype="10" fill="hold" grpId="0" nodeType="clickEffect">
                                  <p:stCondLst>
                                    <p:cond delay="0"/>
                                  </p:stCondLst>
                                  <p:childTnLst>
                                    <p:animEffect transition="out" filter="randombar(horizontal)">
                                      <p:cBhvr>
                                        <p:cTn id="78" dur="500"/>
                                        <p:tgtEl>
                                          <p:spTgt spid="35"/>
                                        </p:tgtEl>
                                      </p:cBhvr>
                                    </p:animEffect>
                                    <p:set>
                                      <p:cBhvr>
                                        <p:cTn id="79" dur="1" fill="hold">
                                          <p:stCondLst>
                                            <p:cond delay="499"/>
                                          </p:stCondLst>
                                        </p:cTn>
                                        <p:tgtEl>
                                          <p:spTgt spid="35"/>
                                        </p:tgtEl>
                                        <p:attrNameLst>
                                          <p:attrName>style.visibility</p:attrName>
                                        </p:attrNameLst>
                                      </p:cBhvr>
                                      <p:to>
                                        <p:strVal val="hidden"/>
                                      </p:to>
                                    </p:set>
                                  </p:childTnLst>
                                </p:cTn>
                              </p:par>
                              <p:par>
                                <p:cTn id="80" presetID="14" presetClass="exit" presetSubtype="10" fill="hold" grpId="0" nodeType="withEffect">
                                  <p:stCondLst>
                                    <p:cond delay="0"/>
                                  </p:stCondLst>
                                  <p:childTnLst>
                                    <p:animEffect transition="out" filter="randombar(horizontal)">
                                      <p:cBhvr>
                                        <p:cTn id="81" dur="500"/>
                                        <p:tgtEl>
                                          <p:spTgt spid="36"/>
                                        </p:tgtEl>
                                      </p:cBhvr>
                                    </p:animEffect>
                                    <p:set>
                                      <p:cBhvr>
                                        <p:cTn id="82" dur="1" fill="hold">
                                          <p:stCondLst>
                                            <p:cond delay="499"/>
                                          </p:stCondLst>
                                        </p:cTn>
                                        <p:tgtEl>
                                          <p:spTgt spid="3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4" presetClass="exit" presetSubtype="10" fill="hold" grpId="0" nodeType="clickEffect">
                                  <p:stCondLst>
                                    <p:cond delay="0"/>
                                  </p:stCondLst>
                                  <p:childTnLst>
                                    <p:animEffect transition="out" filter="randombar(horizontal)">
                                      <p:cBhvr>
                                        <p:cTn id="86" dur="500"/>
                                        <p:tgtEl>
                                          <p:spTgt spid="10"/>
                                        </p:tgtEl>
                                      </p:cBhvr>
                                    </p:animEffect>
                                    <p:set>
                                      <p:cBhvr>
                                        <p:cTn id="87" dur="1" fill="hold">
                                          <p:stCondLst>
                                            <p:cond delay="499"/>
                                          </p:stCondLst>
                                        </p:cTn>
                                        <p:tgtEl>
                                          <p:spTgt spid="10"/>
                                        </p:tgtEl>
                                        <p:attrNameLst>
                                          <p:attrName>style.visibility</p:attrName>
                                        </p:attrNameLst>
                                      </p:cBhvr>
                                      <p:to>
                                        <p:strVal val="hidden"/>
                                      </p:to>
                                    </p:set>
                                  </p:childTnLst>
                                </p:cTn>
                              </p:par>
                              <p:par>
                                <p:cTn id="88" presetID="14" presetClass="exit" presetSubtype="10" fill="hold" grpId="0" nodeType="withEffect">
                                  <p:stCondLst>
                                    <p:cond delay="0"/>
                                  </p:stCondLst>
                                  <p:childTnLst>
                                    <p:animEffect transition="out" filter="randombar(horizontal)">
                                      <p:cBhvr>
                                        <p:cTn id="89" dur="500"/>
                                        <p:tgtEl>
                                          <p:spTgt spid="19"/>
                                        </p:tgtEl>
                                      </p:cBhvr>
                                    </p:animEffect>
                                    <p:set>
                                      <p:cBhvr>
                                        <p:cTn id="90" dur="1" fill="hold">
                                          <p:stCondLst>
                                            <p:cond delay="499"/>
                                          </p:stCondLst>
                                        </p:cTn>
                                        <p:tgtEl>
                                          <p:spTgt spid="19"/>
                                        </p:tgtEl>
                                        <p:attrNameLst>
                                          <p:attrName>style.visibility</p:attrName>
                                        </p:attrNameLst>
                                      </p:cBhvr>
                                      <p:to>
                                        <p:strVal val="hidden"/>
                                      </p:to>
                                    </p:set>
                                  </p:childTnLst>
                                </p:cTn>
                              </p:par>
                              <p:par>
                                <p:cTn id="91" presetID="14" presetClass="exit" presetSubtype="10" fill="hold" grpId="0" nodeType="withEffect">
                                  <p:stCondLst>
                                    <p:cond delay="0"/>
                                  </p:stCondLst>
                                  <p:childTnLst>
                                    <p:animEffect transition="out" filter="randombar(horizontal)">
                                      <p:cBhvr>
                                        <p:cTn id="92" dur="500"/>
                                        <p:tgtEl>
                                          <p:spTgt spid="27"/>
                                        </p:tgtEl>
                                      </p:cBhvr>
                                    </p:animEffect>
                                    <p:set>
                                      <p:cBhvr>
                                        <p:cTn id="93" dur="1" fill="hold">
                                          <p:stCondLst>
                                            <p:cond delay="499"/>
                                          </p:stCondLst>
                                        </p:cTn>
                                        <p:tgtEl>
                                          <p:spTgt spid="27"/>
                                        </p:tgtEl>
                                        <p:attrNameLst>
                                          <p:attrName>style.visibility</p:attrName>
                                        </p:attrNameLst>
                                      </p:cBhvr>
                                      <p:to>
                                        <p:strVal val="hidden"/>
                                      </p:to>
                                    </p:se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wipe(left)">
                                      <p:cBhvr>
                                        <p:cTn id="97" dur="500"/>
                                        <p:tgtEl>
                                          <p:spTgt spid="48"/>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xit" presetSubtype="10" fill="hold" grpId="0" nodeType="clickEffect">
                                  <p:stCondLst>
                                    <p:cond delay="0"/>
                                  </p:stCondLst>
                                  <p:childTnLst>
                                    <p:animEffect transition="out" filter="randombar(horizontal)">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4" presetClass="exit" presetSubtype="10" fill="hold" grpId="0" nodeType="withEffect">
                                  <p:stCondLst>
                                    <p:cond delay="0"/>
                                  </p:stCondLst>
                                  <p:childTnLst>
                                    <p:animEffect transition="out" filter="randombar(horizontal)">
                                      <p:cBhvr>
                                        <p:cTn id="104" dur="500"/>
                                        <p:tgtEl>
                                          <p:spTgt spid="38"/>
                                        </p:tgtEl>
                                      </p:cBhvr>
                                    </p:animEffect>
                                    <p:set>
                                      <p:cBhvr>
                                        <p:cTn id="105" dur="1" fill="hold">
                                          <p:stCondLst>
                                            <p:cond delay="499"/>
                                          </p:stCondLst>
                                        </p:cTn>
                                        <p:tgtEl>
                                          <p:spTgt spid="38"/>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4" presetClass="exit" presetSubtype="10" fill="hold" grpId="0" nodeType="clickEffect">
                                  <p:stCondLst>
                                    <p:cond delay="0"/>
                                  </p:stCondLst>
                                  <p:childTnLst>
                                    <p:animEffect transition="out" filter="randombar(horizontal)">
                                      <p:cBhvr>
                                        <p:cTn id="109" dur="500"/>
                                        <p:tgtEl>
                                          <p:spTgt spid="11"/>
                                        </p:tgtEl>
                                      </p:cBhvr>
                                    </p:animEffect>
                                    <p:set>
                                      <p:cBhvr>
                                        <p:cTn id="110" dur="1" fill="hold">
                                          <p:stCondLst>
                                            <p:cond delay="499"/>
                                          </p:stCondLst>
                                        </p:cTn>
                                        <p:tgtEl>
                                          <p:spTgt spid="11"/>
                                        </p:tgtEl>
                                        <p:attrNameLst>
                                          <p:attrName>style.visibility</p:attrName>
                                        </p:attrNameLst>
                                      </p:cBhvr>
                                      <p:to>
                                        <p:strVal val="hidden"/>
                                      </p:to>
                                    </p:set>
                                  </p:childTnLst>
                                </p:cTn>
                              </p:par>
                              <p:par>
                                <p:cTn id="111" presetID="14" presetClass="exit" presetSubtype="10" fill="hold" grpId="0" nodeType="withEffect">
                                  <p:stCondLst>
                                    <p:cond delay="0"/>
                                  </p:stCondLst>
                                  <p:childTnLst>
                                    <p:animEffect transition="out" filter="randombar(horizontal)">
                                      <p:cBhvr>
                                        <p:cTn id="112" dur="500"/>
                                        <p:tgtEl>
                                          <p:spTgt spid="20"/>
                                        </p:tgtEl>
                                      </p:cBhvr>
                                    </p:animEffect>
                                    <p:set>
                                      <p:cBhvr>
                                        <p:cTn id="113" dur="1" fill="hold">
                                          <p:stCondLst>
                                            <p:cond delay="499"/>
                                          </p:stCondLst>
                                        </p:cTn>
                                        <p:tgtEl>
                                          <p:spTgt spid="20"/>
                                        </p:tgtEl>
                                        <p:attrNameLst>
                                          <p:attrName>style.visibility</p:attrName>
                                        </p:attrNameLst>
                                      </p:cBhvr>
                                      <p:to>
                                        <p:strVal val="hidden"/>
                                      </p:to>
                                    </p:set>
                                  </p:childTnLst>
                                </p:cTn>
                              </p:par>
                              <p:par>
                                <p:cTn id="114" presetID="14" presetClass="exit" presetSubtype="10" fill="hold" grpId="0" nodeType="withEffect">
                                  <p:stCondLst>
                                    <p:cond delay="0"/>
                                  </p:stCondLst>
                                  <p:childTnLst>
                                    <p:animEffect transition="out" filter="randombar(horizontal)">
                                      <p:cBhvr>
                                        <p:cTn id="115" dur="500"/>
                                        <p:tgtEl>
                                          <p:spTgt spid="28"/>
                                        </p:tgtEl>
                                      </p:cBhvr>
                                    </p:animEffect>
                                    <p:set>
                                      <p:cBhvr>
                                        <p:cTn id="116" dur="1" fill="hold">
                                          <p:stCondLst>
                                            <p:cond delay="499"/>
                                          </p:stCondLst>
                                        </p:cTn>
                                        <p:tgtEl>
                                          <p:spTgt spid="28"/>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wipe(left)">
                                      <p:cBhvr>
                                        <p:cTn id="120" dur="500"/>
                                        <p:tgtEl>
                                          <p:spTgt spid="49"/>
                                        </p:tgtEl>
                                      </p:cBhvr>
                                    </p:animEffec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39"/>
                                        </p:tgtEl>
                                      </p:cBhvr>
                                    </p:animEffect>
                                    <p:set>
                                      <p:cBhvr>
                                        <p:cTn id="125" dur="1" fill="hold">
                                          <p:stCondLst>
                                            <p:cond delay="499"/>
                                          </p:stCondLst>
                                        </p:cTn>
                                        <p:tgtEl>
                                          <p:spTgt spid="39"/>
                                        </p:tgtEl>
                                        <p:attrNameLst>
                                          <p:attrName>style.visibility</p:attrName>
                                        </p:attrNameLst>
                                      </p:cBhvr>
                                      <p:to>
                                        <p:strVal val="hidden"/>
                                      </p:to>
                                    </p:set>
                                  </p:childTnLst>
                                </p:cTn>
                              </p:par>
                              <p:par>
                                <p:cTn id="126" presetID="14" presetClass="exit" presetSubtype="10" fill="hold" grpId="0" nodeType="withEffect">
                                  <p:stCondLst>
                                    <p:cond delay="0"/>
                                  </p:stCondLst>
                                  <p:childTnLst>
                                    <p:animEffect transition="out" filter="randombar(horizontal)">
                                      <p:cBhvr>
                                        <p:cTn id="127" dur="500"/>
                                        <p:tgtEl>
                                          <p:spTgt spid="40"/>
                                        </p:tgtEl>
                                      </p:cBhvr>
                                    </p:animEffect>
                                    <p:set>
                                      <p:cBhvr>
                                        <p:cTn id="128" dur="1" fill="hold">
                                          <p:stCondLst>
                                            <p:cond delay="499"/>
                                          </p:stCondLst>
                                        </p:cTn>
                                        <p:tgtEl>
                                          <p:spTgt spid="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4" presetClass="exit" presetSubtype="10" fill="hold" grpId="0" nodeType="clickEffect">
                                  <p:stCondLst>
                                    <p:cond delay="0"/>
                                  </p:stCondLst>
                                  <p:childTnLst>
                                    <p:animEffect transition="out" filter="randombar(horizontal)">
                                      <p:cBhvr>
                                        <p:cTn id="132" dur="500"/>
                                        <p:tgtEl>
                                          <p:spTgt spid="12"/>
                                        </p:tgtEl>
                                      </p:cBhvr>
                                    </p:animEffect>
                                    <p:set>
                                      <p:cBhvr>
                                        <p:cTn id="133" dur="1" fill="hold">
                                          <p:stCondLst>
                                            <p:cond delay="499"/>
                                          </p:stCondLst>
                                        </p:cTn>
                                        <p:tgtEl>
                                          <p:spTgt spid="12"/>
                                        </p:tgtEl>
                                        <p:attrNameLst>
                                          <p:attrName>style.visibility</p:attrName>
                                        </p:attrNameLst>
                                      </p:cBhvr>
                                      <p:to>
                                        <p:strVal val="hidden"/>
                                      </p:to>
                                    </p:set>
                                  </p:childTnLst>
                                </p:cTn>
                              </p:par>
                              <p:par>
                                <p:cTn id="134" presetID="14" presetClass="exit" presetSubtype="10" fill="hold" grpId="0" nodeType="withEffect">
                                  <p:stCondLst>
                                    <p:cond delay="0"/>
                                  </p:stCondLst>
                                  <p:childTnLst>
                                    <p:animEffect transition="out" filter="randombar(horizontal)">
                                      <p:cBhvr>
                                        <p:cTn id="135" dur="500"/>
                                        <p:tgtEl>
                                          <p:spTgt spid="21"/>
                                        </p:tgtEl>
                                      </p:cBhvr>
                                    </p:animEffect>
                                    <p:set>
                                      <p:cBhvr>
                                        <p:cTn id="136" dur="1" fill="hold">
                                          <p:stCondLst>
                                            <p:cond delay="499"/>
                                          </p:stCondLst>
                                        </p:cTn>
                                        <p:tgtEl>
                                          <p:spTgt spid="21"/>
                                        </p:tgtEl>
                                        <p:attrNameLst>
                                          <p:attrName>style.visibility</p:attrName>
                                        </p:attrNameLst>
                                      </p:cBhvr>
                                      <p:to>
                                        <p:strVal val="hidden"/>
                                      </p:to>
                                    </p:set>
                                  </p:childTnLst>
                                </p:cTn>
                              </p:par>
                              <p:par>
                                <p:cTn id="137" presetID="14" presetClass="exit" presetSubtype="10" fill="hold" grpId="0" nodeType="withEffect">
                                  <p:stCondLst>
                                    <p:cond delay="0"/>
                                  </p:stCondLst>
                                  <p:childTnLst>
                                    <p:animEffect transition="out" filter="randombar(horizontal)">
                                      <p:cBhvr>
                                        <p:cTn id="138" dur="500"/>
                                        <p:tgtEl>
                                          <p:spTgt spid="29"/>
                                        </p:tgtEl>
                                      </p:cBhvr>
                                    </p:animEffect>
                                    <p:set>
                                      <p:cBhvr>
                                        <p:cTn id="139" dur="1" fill="hold">
                                          <p:stCondLst>
                                            <p:cond delay="499"/>
                                          </p:stCondLst>
                                        </p:cTn>
                                        <p:tgtEl>
                                          <p:spTgt spid="2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4" presetClass="exit" presetSubtype="10" fill="hold" grpId="0" nodeType="clickEffect">
                                  <p:stCondLst>
                                    <p:cond delay="0"/>
                                  </p:stCondLst>
                                  <p:childTnLst>
                                    <p:animEffect transition="out" filter="randombar(horizontal)">
                                      <p:cBhvr>
                                        <p:cTn id="143" dur="500"/>
                                        <p:tgtEl>
                                          <p:spTgt spid="13"/>
                                        </p:tgtEl>
                                      </p:cBhvr>
                                    </p:animEffect>
                                    <p:set>
                                      <p:cBhvr>
                                        <p:cTn id="144" dur="1" fill="hold">
                                          <p:stCondLst>
                                            <p:cond delay="499"/>
                                          </p:stCondLst>
                                        </p:cTn>
                                        <p:tgtEl>
                                          <p:spTgt spid="13"/>
                                        </p:tgtEl>
                                        <p:attrNameLst>
                                          <p:attrName>style.visibility</p:attrName>
                                        </p:attrNameLst>
                                      </p:cBhvr>
                                      <p:to>
                                        <p:strVal val="hidden"/>
                                      </p:to>
                                    </p:set>
                                  </p:childTnLst>
                                </p:cTn>
                              </p:par>
                              <p:par>
                                <p:cTn id="145" presetID="14" presetClass="exit" presetSubtype="10" fill="hold" grpId="0" nodeType="withEffect">
                                  <p:stCondLst>
                                    <p:cond delay="0"/>
                                  </p:stCondLst>
                                  <p:childTnLst>
                                    <p:animEffect transition="out" filter="randombar(horizontal)">
                                      <p:cBhvr>
                                        <p:cTn id="146" dur="500"/>
                                        <p:tgtEl>
                                          <p:spTgt spid="22"/>
                                        </p:tgtEl>
                                      </p:cBhvr>
                                    </p:animEffect>
                                    <p:set>
                                      <p:cBhvr>
                                        <p:cTn id="147" dur="1" fill="hold">
                                          <p:stCondLst>
                                            <p:cond delay="499"/>
                                          </p:stCondLst>
                                        </p:cTn>
                                        <p:tgtEl>
                                          <p:spTgt spid="22"/>
                                        </p:tgtEl>
                                        <p:attrNameLst>
                                          <p:attrName>style.visibility</p:attrName>
                                        </p:attrNameLst>
                                      </p:cBhvr>
                                      <p:to>
                                        <p:strVal val="hidden"/>
                                      </p:to>
                                    </p:set>
                                  </p:childTnLst>
                                </p:cTn>
                              </p:par>
                              <p:par>
                                <p:cTn id="148" presetID="14" presetClass="exit" presetSubtype="10" fill="hold" grpId="0" nodeType="withEffect">
                                  <p:stCondLst>
                                    <p:cond delay="0"/>
                                  </p:stCondLst>
                                  <p:childTnLst>
                                    <p:animEffect transition="out" filter="randombar(horizontal)">
                                      <p:cBhvr>
                                        <p:cTn id="149" dur="500"/>
                                        <p:tgtEl>
                                          <p:spTgt spid="30"/>
                                        </p:tgtEl>
                                      </p:cBhvr>
                                    </p:animEffect>
                                    <p:set>
                                      <p:cBhvr>
                                        <p:cTn id="150" dur="1" fill="hold">
                                          <p:stCondLst>
                                            <p:cond delay="499"/>
                                          </p:stCondLst>
                                        </p:cTn>
                                        <p:tgtEl>
                                          <p:spTgt spid="30"/>
                                        </p:tgtEl>
                                        <p:attrNameLst>
                                          <p:attrName>style.visibility</p:attrName>
                                        </p:attrNameLst>
                                      </p:cBhvr>
                                      <p:to>
                                        <p:strVal val="hidden"/>
                                      </p:to>
                                    </p:se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wipe(left)">
                                      <p:cBhvr>
                                        <p:cTn id="154" dur="500"/>
                                        <p:tgtEl>
                                          <p:spTgt spid="50"/>
                                        </p:tgtEl>
                                      </p:cBhvr>
                                    </p:animEffect>
                                  </p:childTnLst>
                                </p:cTn>
                              </p:par>
                            </p:childTnLst>
                          </p:cTn>
                        </p:par>
                      </p:childTnLst>
                    </p:cTn>
                  </p:par>
                  <p:par>
                    <p:cTn id="155" fill="hold">
                      <p:stCondLst>
                        <p:cond delay="indefinite"/>
                      </p:stCondLst>
                      <p:childTnLst>
                        <p:par>
                          <p:cTn id="156" fill="hold">
                            <p:stCondLst>
                              <p:cond delay="0"/>
                            </p:stCondLst>
                            <p:childTnLst>
                              <p:par>
                                <p:cTn id="157" presetID="14" presetClass="exit" presetSubtype="10" fill="hold" grpId="0" nodeType="clickEffect">
                                  <p:stCondLst>
                                    <p:cond delay="0"/>
                                  </p:stCondLst>
                                  <p:childTnLst>
                                    <p:animEffect transition="out" filter="randombar(horizontal)">
                                      <p:cBhvr>
                                        <p:cTn id="158" dur="500"/>
                                        <p:tgtEl>
                                          <p:spTgt spid="43"/>
                                        </p:tgtEl>
                                      </p:cBhvr>
                                    </p:animEffect>
                                    <p:set>
                                      <p:cBhvr>
                                        <p:cTn id="159" dur="1" fill="hold">
                                          <p:stCondLst>
                                            <p:cond delay="499"/>
                                          </p:stCondLst>
                                        </p:cTn>
                                        <p:tgtEl>
                                          <p:spTgt spid="43"/>
                                        </p:tgtEl>
                                        <p:attrNameLst>
                                          <p:attrName>style.visibility</p:attrName>
                                        </p:attrNameLst>
                                      </p:cBhvr>
                                      <p:to>
                                        <p:strVal val="hidden"/>
                                      </p:to>
                                    </p:set>
                                  </p:childTnLst>
                                </p:cTn>
                              </p:par>
                              <p:par>
                                <p:cTn id="160" presetID="14" presetClass="exit" presetSubtype="10" fill="hold" grpId="0" nodeType="withEffect">
                                  <p:stCondLst>
                                    <p:cond delay="0"/>
                                  </p:stCondLst>
                                  <p:childTnLst>
                                    <p:animEffect transition="out" filter="randombar(horizontal)">
                                      <p:cBhvr>
                                        <p:cTn id="161" dur="500"/>
                                        <p:tgtEl>
                                          <p:spTgt spid="45"/>
                                        </p:tgtEl>
                                      </p:cBhvr>
                                    </p:animEffect>
                                    <p:set>
                                      <p:cBhvr>
                                        <p:cTn id="162" dur="1" fill="hold">
                                          <p:stCondLst>
                                            <p:cond delay="499"/>
                                          </p:stCondLst>
                                        </p:cTn>
                                        <p:tgtEl>
                                          <p:spTgt spid="45"/>
                                        </p:tgtEl>
                                        <p:attrNameLst>
                                          <p:attrName>style.visibility</p:attrName>
                                        </p:attrNameLst>
                                      </p:cBhvr>
                                      <p:to>
                                        <p:strVal val="hidden"/>
                                      </p:to>
                                    </p:se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3" grpId="0" animBg="1"/>
      <p:bldP spid="4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CB2422-8C55-4058-A753-7F5EF3A22CF3}"/>
              </a:ext>
            </a:extLst>
          </p:cNvPr>
          <p:cNvPicPr>
            <a:picLocks noChangeAspect="1"/>
          </p:cNvPicPr>
          <p:nvPr/>
        </p:nvPicPr>
        <p:blipFill>
          <a:blip r:embed="rId2"/>
          <a:stretch>
            <a:fillRect/>
          </a:stretch>
        </p:blipFill>
        <p:spPr>
          <a:xfrm>
            <a:off x="521110" y="1612490"/>
            <a:ext cx="3397425" cy="2121009"/>
          </a:xfrm>
          <a:prstGeom prst="rect">
            <a:avLst/>
          </a:prstGeom>
        </p:spPr>
      </p:pic>
      <p:pic>
        <p:nvPicPr>
          <p:cNvPr id="7" name="Picture 6">
            <a:extLst>
              <a:ext uri="{FF2B5EF4-FFF2-40B4-BE49-F238E27FC236}">
                <a16:creationId xmlns:a16="http://schemas.microsoft.com/office/drawing/2014/main" id="{78ED78CA-5E39-49B4-A7D6-A3920B1EE576}"/>
              </a:ext>
            </a:extLst>
          </p:cNvPr>
          <p:cNvPicPr>
            <a:picLocks noChangeAspect="1"/>
          </p:cNvPicPr>
          <p:nvPr/>
        </p:nvPicPr>
        <p:blipFill>
          <a:blip r:embed="rId3"/>
          <a:stretch>
            <a:fillRect/>
          </a:stretch>
        </p:blipFill>
        <p:spPr>
          <a:xfrm>
            <a:off x="8524567" y="1695444"/>
            <a:ext cx="3265899" cy="2038055"/>
          </a:xfrm>
          <a:prstGeom prst="rect">
            <a:avLst/>
          </a:prstGeom>
        </p:spPr>
      </p:pic>
    </p:spTree>
    <p:extLst>
      <p:ext uri="{BB962C8B-B14F-4D97-AF65-F5344CB8AC3E}">
        <p14:creationId xmlns:p14="http://schemas.microsoft.com/office/powerpoint/2010/main" val="293071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Write the </a:t>
            </a:r>
            <a:r>
              <a:rPr lang="en-US" dirty="0" err="1"/>
              <a:t>kruskal’s</a:t>
            </a:r>
            <a:r>
              <a:rPr lang="en-US" dirty="0"/>
              <a:t> Algorithm to find out Minimum Spanning Tree. Apply the same and find MST for the graph given below.</a:t>
            </a:r>
          </a:p>
        </p:txBody>
      </p:sp>
      <p:sp>
        <p:nvSpPr>
          <p:cNvPr id="4" name="Text Box 56"/>
          <p:cNvSpPr txBox="1">
            <a:spLocks noChangeArrowheads="1"/>
          </p:cNvSpPr>
          <p:nvPr/>
        </p:nvSpPr>
        <p:spPr bwMode="auto">
          <a:xfrm>
            <a:off x="1556665" y="4406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5" name="Line 57"/>
          <p:cNvSpPr>
            <a:spLocks noChangeShapeType="1"/>
          </p:cNvSpPr>
          <p:nvPr/>
        </p:nvSpPr>
        <p:spPr bwMode="auto">
          <a:xfrm flipH="1">
            <a:off x="4257003" y="4710948"/>
            <a:ext cx="3810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58"/>
          <p:cNvSpPr txBox="1">
            <a:spLocks noChangeArrowheads="1"/>
          </p:cNvSpPr>
          <p:nvPr/>
        </p:nvSpPr>
        <p:spPr bwMode="auto">
          <a:xfrm>
            <a:off x="4147465" y="5103616"/>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   1</a:t>
            </a:r>
          </a:p>
        </p:txBody>
      </p:sp>
      <p:sp>
        <p:nvSpPr>
          <p:cNvPr id="7" name="Line 59"/>
          <p:cNvSpPr>
            <a:spLocks noChangeShapeType="1"/>
          </p:cNvSpPr>
          <p:nvPr/>
        </p:nvSpPr>
        <p:spPr bwMode="auto">
          <a:xfrm>
            <a:off x="3004465" y="3758448"/>
            <a:ext cx="152400" cy="6858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60"/>
          <p:cNvSpPr>
            <a:spLocks noChangeShapeType="1"/>
          </p:cNvSpPr>
          <p:nvPr/>
        </p:nvSpPr>
        <p:spPr bwMode="auto">
          <a:xfrm flipV="1">
            <a:off x="3309265" y="3872748"/>
            <a:ext cx="5334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1"/>
          <p:cNvSpPr>
            <a:spLocks noChangeShapeType="1"/>
          </p:cNvSpPr>
          <p:nvPr/>
        </p:nvSpPr>
        <p:spPr bwMode="auto">
          <a:xfrm flipH="1" flipV="1">
            <a:off x="3156865" y="3796548"/>
            <a:ext cx="1219200" cy="8382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62"/>
          <p:cNvSpPr>
            <a:spLocks noChangeShapeType="1"/>
          </p:cNvSpPr>
          <p:nvPr/>
        </p:nvSpPr>
        <p:spPr bwMode="auto">
          <a:xfrm flipV="1">
            <a:off x="1937665" y="4710947"/>
            <a:ext cx="1021894" cy="314429"/>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3"/>
          <p:cNvSpPr>
            <a:spLocks noChangeShapeType="1"/>
          </p:cNvSpPr>
          <p:nvPr/>
        </p:nvSpPr>
        <p:spPr bwMode="auto">
          <a:xfrm flipV="1">
            <a:off x="2852065" y="4786037"/>
            <a:ext cx="1447800" cy="83931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64"/>
          <p:cNvSpPr>
            <a:spLocks noChangeShapeType="1"/>
          </p:cNvSpPr>
          <p:nvPr/>
        </p:nvSpPr>
        <p:spPr bwMode="auto">
          <a:xfrm flipV="1">
            <a:off x="1785264" y="4329947"/>
            <a:ext cx="78607" cy="550251"/>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65"/>
          <p:cNvSpPr>
            <a:spLocks noChangeShapeType="1"/>
          </p:cNvSpPr>
          <p:nvPr/>
        </p:nvSpPr>
        <p:spPr bwMode="auto">
          <a:xfrm>
            <a:off x="2013864" y="4177547"/>
            <a:ext cx="94328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66"/>
          <p:cNvSpPr>
            <a:spLocks noChangeShapeType="1"/>
          </p:cNvSpPr>
          <p:nvPr/>
        </p:nvSpPr>
        <p:spPr bwMode="auto">
          <a:xfrm>
            <a:off x="3201315" y="3601286"/>
            <a:ext cx="6096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67"/>
          <p:cNvSpPr>
            <a:spLocks noChangeShapeType="1"/>
          </p:cNvSpPr>
          <p:nvPr/>
        </p:nvSpPr>
        <p:spPr bwMode="auto">
          <a:xfrm>
            <a:off x="4071265" y="3872748"/>
            <a:ext cx="381000" cy="609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Oval 68"/>
          <p:cNvSpPr>
            <a:spLocks noChangeArrowheads="1"/>
          </p:cNvSpPr>
          <p:nvPr/>
        </p:nvSpPr>
        <p:spPr bwMode="auto">
          <a:xfrm>
            <a:off x="1556665" y="4025148"/>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69"/>
          <p:cNvSpPr>
            <a:spLocks noChangeArrowheads="1"/>
          </p:cNvSpPr>
          <p:nvPr/>
        </p:nvSpPr>
        <p:spPr bwMode="auto">
          <a:xfrm>
            <a:off x="1709065" y="3872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A</a:t>
            </a:r>
          </a:p>
        </p:txBody>
      </p:sp>
      <p:sp>
        <p:nvSpPr>
          <p:cNvPr id="18" name="Oval 70"/>
          <p:cNvSpPr>
            <a:spLocks noChangeArrowheads="1"/>
          </p:cNvSpPr>
          <p:nvPr/>
        </p:nvSpPr>
        <p:spPr bwMode="auto">
          <a:xfrm>
            <a:off x="1556665" y="47871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H</a:t>
            </a:r>
          </a:p>
        </p:txBody>
      </p:sp>
      <p:sp>
        <p:nvSpPr>
          <p:cNvPr id="19" name="Oval 71"/>
          <p:cNvSpPr>
            <a:spLocks noChangeArrowheads="1"/>
          </p:cNvSpPr>
          <p:nvPr/>
        </p:nvSpPr>
        <p:spPr bwMode="auto">
          <a:xfrm>
            <a:off x="2928265" y="44061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B</a:t>
            </a:r>
          </a:p>
        </p:txBody>
      </p:sp>
      <p:sp>
        <p:nvSpPr>
          <p:cNvPr id="20" name="Oval 72"/>
          <p:cNvSpPr>
            <a:spLocks noChangeArrowheads="1"/>
          </p:cNvSpPr>
          <p:nvPr/>
        </p:nvSpPr>
        <p:spPr bwMode="auto">
          <a:xfrm>
            <a:off x="2775865" y="34155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F</a:t>
            </a:r>
          </a:p>
        </p:txBody>
      </p:sp>
      <p:sp>
        <p:nvSpPr>
          <p:cNvPr id="21" name="Oval 73"/>
          <p:cNvSpPr>
            <a:spLocks noChangeArrowheads="1"/>
          </p:cNvSpPr>
          <p:nvPr/>
        </p:nvSpPr>
        <p:spPr bwMode="auto">
          <a:xfrm>
            <a:off x="3842665" y="5396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E</a:t>
            </a:r>
          </a:p>
        </p:txBody>
      </p:sp>
      <p:sp>
        <p:nvSpPr>
          <p:cNvPr id="22" name="Oval 74"/>
          <p:cNvSpPr>
            <a:spLocks noChangeArrowheads="1"/>
          </p:cNvSpPr>
          <p:nvPr/>
        </p:nvSpPr>
        <p:spPr bwMode="auto">
          <a:xfrm>
            <a:off x="4299865" y="44823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D</a:t>
            </a:r>
          </a:p>
        </p:txBody>
      </p:sp>
      <p:sp>
        <p:nvSpPr>
          <p:cNvPr id="23" name="Oval 75"/>
          <p:cNvSpPr>
            <a:spLocks noChangeArrowheads="1"/>
          </p:cNvSpPr>
          <p:nvPr/>
        </p:nvSpPr>
        <p:spPr bwMode="auto">
          <a:xfrm>
            <a:off x="3766465" y="3491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C</a:t>
            </a:r>
          </a:p>
        </p:txBody>
      </p:sp>
      <p:sp>
        <p:nvSpPr>
          <p:cNvPr id="24" name="Oval 76"/>
          <p:cNvSpPr>
            <a:spLocks noChangeArrowheads="1"/>
          </p:cNvSpPr>
          <p:nvPr/>
        </p:nvSpPr>
        <p:spPr bwMode="auto">
          <a:xfrm>
            <a:off x="2547265" y="5396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G</a:t>
            </a:r>
          </a:p>
        </p:txBody>
      </p:sp>
      <p:sp>
        <p:nvSpPr>
          <p:cNvPr id="25" name="Line 77"/>
          <p:cNvSpPr>
            <a:spLocks noChangeShapeType="1"/>
          </p:cNvSpPr>
          <p:nvPr/>
        </p:nvSpPr>
        <p:spPr bwMode="auto">
          <a:xfrm>
            <a:off x="3309265" y="4787147"/>
            <a:ext cx="609600" cy="674133"/>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78"/>
          <p:cNvSpPr>
            <a:spLocks noChangeShapeType="1"/>
          </p:cNvSpPr>
          <p:nvPr/>
        </p:nvSpPr>
        <p:spPr bwMode="auto">
          <a:xfrm flipH="1">
            <a:off x="3004465" y="5701548"/>
            <a:ext cx="838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79"/>
          <p:cNvSpPr>
            <a:spLocks noChangeShapeType="1"/>
          </p:cNvSpPr>
          <p:nvPr/>
        </p:nvSpPr>
        <p:spPr bwMode="auto">
          <a:xfrm flipH="1" flipV="1">
            <a:off x="1937664" y="5168147"/>
            <a:ext cx="62885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80"/>
          <p:cNvSpPr txBox="1">
            <a:spLocks noChangeArrowheads="1"/>
          </p:cNvSpPr>
          <p:nvPr/>
        </p:nvSpPr>
        <p:spPr bwMode="auto">
          <a:xfrm>
            <a:off x="3309265" y="5625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29" name="Text Box 81"/>
          <p:cNvSpPr txBox="1">
            <a:spLocks noChangeArrowheads="1"/>
          </p:cNvSpPr>
          <p:nvPr/>
        </p:nvSpPr>
        <p:spPr bwMode="auto">
          <a:xfrm>
            <a:off x="3134640" y="50157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30" name="Text Box 82"/>
          <p:cNvSpPr txBox="1">
            <a:spLocks noChangeArrowheads="1"/>
          </p:cNvSpPr>
          <p:nvPr/>
        </p:nvSpPr>
        <p:spPr bwMode="auto">
          <a:xfrm>
            <a:off x="3439440" y="47109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1" name="Text Box 83"/>
          <p:cNvSpPr txBox="1">
            <a:spLocks noChangeArrowheads="1"/>
          </p:cNvSpPr>
          <p:nvPr/>
        </p:nvSpPr>
        <p:spPr bwMode="auto">
          <a:xfrm>
            <a:off x="3766465" y="4296611"/>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6</a:t>
            </a:r>
          </a:p>
        </p:txBody>
      </p:sp>
      <p:sp>
        <p:nvSpPr>
          <p:cNvPr id="32" name="Text Box 84"/>
          <p:cNvSpPr txBox="1">
            <a:spLocks noChangeArrowheads="1"/>
          </p:cNvSpPr>
          <p:nvPr/>
        </p:nvSpPr>
        <p:spPr bwMode="auto">
          <a:xfrm>
            <a:off x="4223665" y="39489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33" name="Text Box 85"/>
          <p:cNvSpPr txBox="1">
            <a:spLocks noChangeArrowheads="1"/>
          </p:cNvSpPr>
          <p:nvPr/>
        </p:nvSpPr>
        <p:spPr bwMode="auto">
          <a:xfrm>
            <a:off x="3298153" y="4025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4" name="Text Box 88"/>
          <p:cNvSpPr txBox="1">
            <a:spLocks noChangeArrowheads="1"/>
          </p:cNvSpPr>
          <p:nvPr/>
        </p:nvSpPr>
        <p:spPr bwMode="auto">
          <a:xfrm>
            <a:off x="2463626" y="4101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8</a:t>
            </a:r>
          </a:p>
        </p:txBody>
      </p:sp>
      <p:sp>
        <p:nvSpPr>
          <p:cNvPr id="35" name="Text Box 89"/>
          <p:cNvSpPr txBox="1">
            <a:spLocks noChangeArrowheads="1"/>
          </p:cNvSpPr>
          <p:nvPr/>
        </p:nvSpPr>
        <p:spPr bwMode="auto">
          <a:xfrm>
            <a:off x="2242465" y="4558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4</a:t>
            </a:r>
          </a:p>
        </p:txBody>
      </p:sp>
      <p:sp>
        <p:nvSpPr>
          <p:cNvPr id="36" name="Text Box 90"/>
          <p:cNvSpPr txBox="1">
            <a:spLocks noChangeArrowheads="1"/>
          </p:cNvSpPr>
          <p:nvPr/>
        </p:nvSpPr>
        <p:spPr bwMode="auto">
          <a:xfrm>
            <a:off x="2078953" y="5311023"/>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37" name="Line 91"/>
          <p:cNvSpPr>
            <a:spLocks noChangeShapeType="1"/>
          </p:cNvSpPr>
          <p:nvPr/>
        </p:nvSpPr>
        <p:spPr bwMode="auto">
          <a:xfrm flipV="1">
            <a:off x="2052244" y="3603204"/>
            <a:ext cx="725896" cy="28002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92"/>
          <p:cNvSpPr txBox="1">
            <a:spLocks noChangeArrowheads="1"/>
          </p:cNvSpPr>
          <p:nvPr/>
        </p:nvSpPr>
        <p:spPr bwMode="auto">
          <a:xfrm>
            <a:off x="2166265" y="34155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10</a:t>
            </a:r>
          </a:p>
        </p:txBody>
      </p:sp>
      <p:sp>
        <p:nvSpPr>
          <p:cNvPr id="39" name="Text Box 84"/>
          <p:cNvSpPr txBox="1">
            <a:spLocks noChangeArrowheads="1"/>
          </p:cNvSpPr>
          <p:nvPr/>
        </p:nvSpPr>
        <p:spPr bwMode="auto">
          <a:xfrm>
            <a:off x="3309265" y="329704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40" name="Text Box 87"/>
          <p:cNvSpPr txBox="1">
            <a:spLocks noChangeArrowheads="1"/>
          </p:cNvSpPr>
          <p:nvPr/>
        </p:nvSpPr>
        <p:spPr bwMode="auto">
          <a:xfrm>
            <a:off x="2852065" y="3948947"/>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en-US" b="1"/>
              <a:t>4</a:t>
            </a:r>
          </a:p>
        </p:txBody>
      </p:sp>
      <p:cxnSp>
        <p:nvCxnSpPr>
          <p:cNvPr id="41" name="Straight Connector 40"/>
          <p:cNvCxnSpPr/>
          <p:nvPr/>
        </p:nvCxnSpPr>
        <p:spPr>
          <a:xfrm flipH="1">
            <a:off x="5184750" y="3021485"/>
            <a:ext cx="908" cy="314094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1556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6664" y="2801466"/>
                <a:ext cx="457200" cy="461665"/>
              </a:xfrm>
              <a:prstGeom prst="rect">
                <a:avLst/>
              </a:prstGeom>
              <a:blipFill>
                <a:blip r:embed="rId3"/>
                <a:stretch>
                  <a:fillRect/>
                </a:stretch>
              </a:blipFill>
            </p:spPr>
            <p:txBody>
              <a:bodyPr/>
              <a:lstStyle/>
              <a:p>
                <a:r>
                  <a:rPr lang="en-US">
                    <a:noFill/>
                  </a:rPr>
                  <a:t> </a:t>
                </a:r>
              </a:p>
            </p:txBody>
          </p:sp>
        </mc:Fallback>
      </mc:AlternateContent>
      <p:sp>
        <p:nvSpPr>
          <p:cNvPr id="43" name="Oval 42"/>
          <p:cNvSpPr/>
          <p:nvPr/>
        </p:nvSpPr>
        <p:spPr>
          <a:xfrm>
            <a:off x="7424065" y="3263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4" name="Oval 43"/>
          <p:cNvSpPr/>
          <p:nvPr/>
        </p:nvSpPr>
        <p:spPr>
          <a:xfrm>
            <a:off x="6814465" y="37965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5" name="Oval 44"/>
          <p:cNvSpPr/>
          <p:nvPr/>
        </p:nvSpPr>
        <p:spPr>
          <a:xfrm>
            <a:off x="8109865" y="37965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6" name="Oval 45"/>
          <p:cNvSpPr/>
          <p:nvPr/>
        </p:nvSpPr>
        <p:spPr>
          <a:xfrm>
            <a:off x="63572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7" name="Oval 46"/>
          <p:cNvSpPr/>
          <p:nvPr/>
        </p:nvSpPr>
        <p:spPr>
          <a:xfrm>
            <a:off x="71954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8" name="Oval 47"/>
          <p:cNvSpPr/>
          <p:nvPr/>
        </p:nvSpPr>
        <p:spPr>
          <a:xfrm>
            <a:off x="78050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49" name="Oval 48"/>
          <p:cNvSpPr/>
          <p:nvPr/>
        </p:nvSpPr>
        <p:spPr>
          <a:xfrm>
            <a:off x="85670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50" name="Oval 49"/>
          <p:cNvSpPr/>
          <p:nvPr/>
        </p:nvSpPr>
        <p:spPr>
          <a:xfrm>
            <a:off x="7424065" y="5549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51" name="Straight Connector 50"/>
          <p:cNvCxnSpPr>
            <a:stCxn id="43" idx="3"/>
            <a:endCxn id="44" idx="7"/>
          </p:cNvCxnSpPr>
          <p:nvPr/>
        </p:nvCxnSpPr>
        <p:spPr>
          <a:xfrm flipH="1">
            <a:off x="7204710" y="3653393"/>
            <a:ext cx="2863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3" idx="5"/>
            <a:endCxn id="45" idx="1"/>
          </p:cNvCxnSpPr>
          <p:nvPr/>
        </p:nvCxnSpPr>
        <p:spPr>
          <a:xfrm>
            <a:off x="7814310" y="3653393"/>
            <a:ext cx="3625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4" idx="3"/>
            <a:endCxn id="46" idx="0"/>
          </p:cNvCxnSpPr>
          <p:nvPr/>
        </p:nvCxnSpPr>
        <p:spPr>
          <a:xfrm flipH="1">
            <a:off x="6585865" y="4186793"/>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4" idx="5"/>
            <a:endCxn id="47" idx="0"/>
          </p:cNvCxnSpPr>
          <p:nvPr/>
        </p:nvCxnSpPr>
        <p:spPr>
          <a:xfrm>
            <a:off x="7204710" y="4186793"/>
            <a:ext cx="2193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5" idx="3"/>
            <a:endCxn id="48" idx="0"/>
          </p:cNvCxnSpPr>
          <p:nvPr/>
        </p:nvCxnSpPr>
        <p:spPr>
          <a:xfrm flipH="1">
            <a:off x="8033665" y="4186793"/>
            <a:ext cx="1431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5" idx="5"/>
            <a:endCxn id="49" idx="0"/>
          </p:cNvCxnSpPr>
          <p:nvPr/>
        </p:nvCxnSpPr>
        <p:spPr>
          <a:xfrm>
            <a:off x="8500110" y="4186793"/>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6" idx="4"/>
            <a:endCxn id="50" idx="2"/>
          </p:cNvCxnSpPr>
          <p:nvPr/>
        </p:nvCxnSpPr>
        <p:spPr>
          <a:xfrm>
            <a:off x="6585865" y="4863348"/>
            <a:ext cx="8382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7" idx="4"/>
            <a:endCxn id="50" idx="1"/>
          </p:cNvCxnSpPr>
          <p:nvPr/>
        </p:nvCxnSpPr>
        <p:spPr>
          <a:xfrm>
            <a:off x="7424065" y="4863348"/>
            <a:ext cx="669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8" idx="4"/>
            <a:endCxn id="50" idx="7"/>
          </p:cNvCxnSpPr>
          <p:nvPr/>
        </p:nvCxnSpPr>
        <p:spPr>
          <a:xfrm flipH="1">
            <a:off x="7814310" y="4863348"/>
            <a:ext cx="2193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49" idx="4"/>
            <a:endCxn id="50" idx="6"/>
          </p:cNvCxnSpPr>
          <p:nvPr/>
        </p:nvCxnSpPr>
        <p:spPr>
          <a:xfrm flipH="1">
            <a:off x="7881265" y="4863348"/>
            <a:ext cx="9144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flipH="1">
                <a:off x="5690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flipH="1">
                <a:off x="5690664" y="2801466"/>
                <a:ext cx="457200" cy="461665"/>
              </a:xfrm>
              <a:prstGeom prst="rect">
                <a:avLst/>
              </a:prstGeom>
              <a:blipFill>
                <a:blip r:embed="rId4"/>
                <a:stretch>
                  <a:fillRect l="-1333"/>
                </a:stretch>
              </a:blipFill>
            </p:spPr>
            <p:txBody>
              <a:bodyPr/>
              <a:lstStyle/>
              <a:p>
                <a:r>
                  <a:rPr lang="en-US">
                    <a:noFill/>
                  </a:rPr>
                  <a:t> </a:t>
                </a:r>
              </a:p>
            </p:txBody>
          </p:sp>
        </mc:Fallback>
      </mc:AlternateContent>
      <p:sp>
        <p:nvSpPr>
          <p:cNvPr id="62" name="Text Box 84"/>
          <p:cNvSpPr txBox="1">
            <a:spLocks noChangeArrowheads="1"/>
          </p:cNvSpPr>
          <p:nvPr/>
        </p:nvSpPr>
        <p:spPr bwMode="auto">
          <a:xfrm>
            <a:off x="7043065" y="3415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63" name="Text Box 84"/>
          <p:cNvSpPr txBox="1">
            <a:spLocks noChangeArrowheads="1"/>
          </p:cNvSpPr>
          <p:nvPr/>
        </p:nvSpPr>
        <p:spPr bwMode="auto">
          <a:xfrm>
            <a:off x="7881265" y="339359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a:t>
            </a:r>
          </a:p>
        </p:txBody>
      </p:sp>
      <p:sp>
        <p:nvSpPr>
          <p:cNvPr id="64" name="Text Box 84"/>
          <p:cNvSpPr txBox="1">
            <a:spLocks noChangeArrowheads="1"/>
          </p:cNvSpPr>
          <p:nvPr/>
        </p:nvSpPr>
        <p:spPr bwMode="auto">
          <a:xfrm>
            <a:off x="8584761" y="396061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65" name="Text Box 84"/>
          <p:cNvSpPr txBox="1">
            <a:spLocks noChangeArrowheads="1"/>
          </p:cNvSpPr>
          <p:nvPr/>
        </p:nvSpPr>
        <p:spPr bwMode="auto">
          <a:xfrm>
            <a:off x="6438316"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7</a:t>
            </a:r>
          </a:p>
        </p:txBody>
      </p:sp>
      <p:sp>
        <p:nvSpPr>
          <p:cNvPr id="66" name="Text Box 84"/>
          <p:cNvSpPr txBox="1">
            <a:spLocks noChangeArrowheads="1"/>
          </p:cNvSpPr>
          <p:nvPr/>
        </p:nvSpPr>
        <p:spPr bwMode="auto">
          <a:xfrm>
            <a:off x="7242897"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67" name="Text Box 84"/>
          <p:cNvSpPr txBox="1">
            <a:spLocks noChangeArrowheads="1"/>
          </p:cNvSpPr>
          <p:nvPr/>
        </p:nvSpPr>
        <p:spPr bwMode="auto">
          <a:xfrm>
            <a:off x="7814397" y="399443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68" name="Text Box 84"/>
          <p:cNvSpPr txBox="1">
            <a:spLocks noChangeArrowheads="1"/>
          </p:cNvSpPr>
          <p:nvPr/>
        </p:nvSpPr>
        <p:spPr bwMode="auto">
          <a:xfrm>
            <a:off x="6695331" y="51692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9</a:t>
            </a:r>
          </a:p>
        </p:txBody>
      </p:sp>
      <p:sp>
        <p:nvSpPr>
          <p:cNvPr id="69" name="Text Box 84"/>
          <p:cNvSpPr txBox="1">
            <a:spLocks noChangeArrowheads="1"/>
          </p:cNvSpPr>
          <p:nvPr/>
        </p:nvSpPr>
        <p:spPr bwMode="auto">
          <a:xfrm>
            <a:off x="7147163" y="4964432"/>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70" name="Text Box 84"/>
          <p:cNvSpPr txBox="1">
            <a:spLocks noChangeArrowheads="1"/>
          </p:cNvSpPr>
          <p:nvPr/>
        </p:nvSpPr>
        <p:spPr bwMode="auto">
          <a:xfrm>
            <a:off x="7596869" y="495115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71" name="Text Box 84"/>
          <p:cNvSpPr txBox="1">
            <a:spLocks noChangeArrowheads="1"/>
          </p:cNvSpPr>
          <p:nvPr/>
        </p:nvSpPr>
        <p:spPr bwMode="auto">
          <a:xfrm>
            <a:off x="8109865" y="493954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8</a:t>
            </a:r>
          </a:p>
        </p:txBody>
      </p:sp>
    </p:spTree>
    <p:extLst>
      <p:ext uri="{BB962C8B-B14F-4D97-AF65-F5344CB8AC3E}">
        <p14:creationId xmlns:p14="http://schemas.microsoft.com/office/powerpoint/2010/main" val="741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arn(inVertical)">
                                      <p:cBhvr>
                                        <p:cTn id="46" dur="500"/>
                                        <p:tgtEl>
                                          <p:spTgt spid="1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arn(inVertical)">
                                      <p:cBhvr>
                                        <p:cTn id="49" dur="500"/>
                                        <p:tgtEl>
                                          <p:spTgt spid="18"/>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arn(inVertical)">
                                      <p:cBhvr>
                                        <p:cTn id="55" dur="500"/>
                                        <p:tgtEl>
                                          <p:spTgt spid="2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arn(inVertical)">
                                      <p:cBhvr>
                                        <p:cTn id="58" dur="500"/>
                                        <p:tgtEl>
                                          <p:spTgt spid="21"/>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arn(inVertical)">
                                      <p:cBhvr>
                                        <p:cTn id="61" dur="500"/>
                                        <p:tgtEl>
                                          <p:spTgt spid="22"/>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arn(inVertical)">
                                      <p:cBhvr>
                                        <p:cTn id="67" dur="500"/>
                                        <p:tgtEl>
                                          <p:spTgt spid="2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arn(inVertical)">
                                      <p:cBhvr>
                                        <p:cTn id="70" dur="500"/>
                                        <p:tgtEl>
                                          <p:spTgt spid="25"/>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barn(inVertical)">
                                      <p:cBhvr>
                                        <p:cTn id="76" dur="500"/>
                                        <p:tgtEl>
                                          <p:spTgt spid="27"/>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barn(inVertical)">
                                      <p:cBhvr>
                                        <p:cTn id="79" dur="500"/>
                                        <p:tgtEl>
                                          <p:spTgt spid="28"/>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barn(inVertical)">
                                      <p:cBhvr>
                                        <p:cTn id="82" dur="500"/>
                                        <p:tgtEl>
                                          <p:spTgt spid="29"/>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barn(inVertical)">
                                      <p:cBhvr>
                                        <p:cTn id="85" dur="500"/>
                                        <p:tgtEl>
                                          <p:spTgt spid="30"/>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barn(inVertical)">
                                      <p:cBhvr>
                                        <p:cTn id="88" dur="500"/>
                                        <p:tgtEl>
                                          <p:spTgt spid="31"/>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barn(inVertical)">
                                      <p:cBhvr>
                                        <p:cTn id="91" dur="500"/>
                                        <p:tgtEl>
                                          <p:spTgt spid="32"/>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barn(inVertical)">
                                      <p:cBhvr>
                                        <p:cTn id="94" dur="500"/>
                                        <p:tgtEl>
                                          <p:spTgt spid="33"/>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barn(inVertical)">
                                      <p:cBhvr>
                                        <p:cTn id="97" dur="500"/>
                                        <p:tgtEl>
                                          <p:spTgt spid="34"/>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barn(inVertical)">
                                      <p:cBhvr>
                                        <p:cTn id="100" dur="500"/>
                                        <p:tgtEl>
                                          <p:spTgt spid="35"/>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barn(inVertical)">
                                      <p:cBhvr>
                                        <p:cTn id="103" dur="500"/>
                                        <p:tgtEl>
                                          <p:spTgt spid="36"/>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barn(inVertical)">
                                      <p:cBhvr>
                                        <p:cTn id="106" dur="500"/>
                                        <p:tgtEl>
                                          <p:spTgt spid="37"/>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barn(inVertical)">
                                      <p:cBhvr>
                                        <p:cTn id="109" dur="500"/>
                                        <p:tgtEl>
                                          <p:spTgt spid="38"/>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barn(inVertical)">
                                      <p:cBhvr>
                                        <p:cTn id="112" dur="500"/>
                                        <p:tgtEl>
                                          <p:spTgt spid="39"/>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barn(inVertical)">
                                      <p:cBhvr>
                                        <p:cTn id="115" dur="500"/>
                                        <p:tgtEl>
                                          <p:spTgt spid="4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wipe(down)">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8"/>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barn(inVertical)">
                                      <p:cBhvr>
                                        <p:cTn id="161" dur="500"/>
                                        <p:tgtEl>
                                          <p:spTgt spid="62"/>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barn(inVertical)">
                                      <p:cBhvr>
                                        <p:cTn id="164" dur="500"/>
                                        <p:tgtEl>
                                          <p:spTgt spid="63"/>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barn(inVertical)">
                                      <p:cBhvr>
                                        <p:cTn id="167" dur="500"/>
                                        <p:tgtEl>
                                          <p:spTgt spid="64"/>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barn(inVertical)">
                                      <p:cBhvr>
                                        <p:cTn id="170" dur="500"/>
                                        <p:tgtEl>
                                          <p:spTgt spid="65"/>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6"/>
                                        </p:tgtEl>
                                        <p:attrNameLst>
                                          <p:attrName>style.visibility</p:attrName>
                                        </p:attrNameLst>
                                      </p:cBhvr>
                                      <p:to>
                                        <p:strVal val="visible"/>
                                      </p:to>
                                    </p:set>
                                    <p:animEffect transition="in" filter="barn(inVertical)">
                                      <p:cBhvr>
                                        <p:cTn id="173" dur="500"/>
                                        <p:tgtEl>
                                          <p:spTgt spid="66"/>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barn(inVertical)">
                                      <p:cBhvr>
                                        <p:cTn id="176" dur="500"/>
                                        <p:tgtEl>
                                          <p:spTgt spid="67"/>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barn(inVertical)">
                                      <p:cBhvr>
                                        <p:cTn id="179" dur="500"/>
                                        <p:tgtEl>
                                          <p:spTgt spid="68"/>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69"/>
                                        </p:tgtEl>
                                        <p:attrNameLst>
                                          <p:attrName>style.visibility</p:attrName>
                                        </p:attrNameLst>
                                      </p:cBhvr>
                                      <p:to>
                                        <p:strVal val="visible"/>
                                      </p:to>
                                    </p:set>
                                    <p:animEffect transition="in" filter="barn(inVertical)">
                                      <p:cBhvr>
                                        <p:cTn id="182" dur="500"/>
                                        <p:tgtEl>
                                          <p:spTgt spid="69"/>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0"/>
                                        </p:tgtEl>
                                        <p:attrNameLst>
                                          <p:attrName>style.visibility</p:attrName>
                                        </p:attrNameLst>
                                      </p:cBhvr>
                                      <p:to>
                                        <p:strVal val="visible"/>
                                      </p:to>
                                    </p:set>
                                    <p:animEffect transition="in" filter="barn(inVertical)">
                                      <p:cBhvr>
                                        <p:cTn id="185" dur="500"/>
                                        <p:tgtEl>
                                          <p:spTgt spid="70"/>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barn(inVertical)">
                                      <p:cBhvr>
                                        <p:cTn id="18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p:bldP spid="33" grpId="0"/>
      <p:bldP spid="34" grpId="0"/>
      <p:bldP spid="35" grpId="0"/>
      <p:bldP spid="36" grpId="0"/>
      <p:bldP spid="37" grpId="0" animBg="1"/>
      <p:bldP spid="38" grpId="0"/>
      <p:bldP spid="39" grpId="0"/>
      <p:bldP spid="40" grpId="0"/>
      <p:bldP spid="43" grpId="0" animBg="1"/>
      <p:bldP spid="44" grpId="0" animBg="1"/>
      <p:bldP spid="45" grpId="0" animBg="1"/>
      <p:bldP spid="46" grpId="0" animBg="1"/>
      <p:bldP spid="47" grpId="0" animBg="1"/>
      <p:bldP spid="48" grpId="0" animBg="1"/>
      <p:bldP spid="49" grpId="0" animBg="1"/>
      <p:bldP spid="50" grpId="0" animBg="1"/>
      <p:bldP spid="62" grpId="0"/>
      <p:bldP spid="63" grpId="0"/>
      <p:bldP spid="64" grpId="0"/>
      <p:bldP spid="65" grpId="0"/>
      <p:bldP spid="66" grpId="0"/>
      <p:bldP spid="67" grpId="0"/>
      <p:bldP spid="68" grpId="0"/>
      <p:bldP spid="69" grpId="0"/>
      <p:bldP spid="70" grpId="0"/>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 Prim's algorithm, the minimum spanning </a:t>
                </a:r>
                <a:r>
                  <a:rPr lang="en-US" dirty="0">
                    <a:solidFill>
                      <a:srgbClr val="AD1457"/>
                    </a:solidFill>
                  </a:rPr>
                  <a:t>tree grows in a natural way</a:t>
                </a:r>
                <a:r>
                  <a:rPr lang="en-US" dirty="0"/>
                  <a:t>, starting from an arbitrary root. </a:t>
                </a:r>
              </a:p>
              <a:p>
                <a:r>
                  <a:rPr lang="en-US" dirty="0"/>
                  <a:t>At each stage we </a:t>
                </a:r>
                <a:r>
                  <a:rPr lang="en-US" dirty="0">
                    <a:solidFill>
                      <a:srgbClr val="AD1457"/>
                    </a:solidFill>
                  </a:rPr>
                  <a:t>add a new branch </a:t>
                </a:r>
                <a:r>
                  <a:rPr lang="en-US" dirty="0"/>
                  <a:t>to the tree already constructed; the algorithm stops when all the nodes have been reached.</a:t>
                </a:r>
              </a:p>
              <a:p>
                <a:r>
                  <a:rPr lang="en-US" dirty="0"/>
                  <a:t>The complexity for the Prim’s algorithm is </a:t>
                </a:r>
                <a14:m>
                  <m:oMath xmlns:m="http://schemas.openxmlformats.org/officeDocument/2006/math">
                    <m:r>
                      <a:rPr lang="el-GR" b="1" i="1" dirty="0" smtClean="0">
                        <a:solidFill>
                          <a:srgbClr val="AD1457"/>
                        </a:solidFill>
                        <a:latin typeface="Cambria Math" panose="02040503050406030204" pitchFamily="18" charset="0"/>
                        <a:ea typeface="Cambria Math" panose="02040503050406030204" pitchFamily="18" charset="0"/>
                      </a:rPr>
                      <m:t>𝜽</m:t>
                    </m:r>
                    <m:r>
                      <a:rPr lang="en-US" b="1" i="1" dirty="0">
                        <a:solidFill>
                          <a:srgbClr val="AD1457"/>
                        </a:solidFill>
                        <a:latin typeface="Cambria Math" panose="02040503050406030204" pitchFamily="18" charset="0"/>
                      </a:rPr>
                      <m:t>(</m:t>
                    </m:r>
                    <m:sSup>
                      <m:sSupPr>
                        <m:ctrlPr>
                          <a:rPr lang="en-US" b="1" i="1" dirty="0">
                            <a:solidFill>
                              <a:srgbClr val="AD1457"/>
                            </a:solidFill>
                            <a:latin typeface="Cambria Math" panose="02040503050406030204" pitchFamily="18" charset="0"/>
                          </a:rPr>
                        </m:ctrlPr>
                      </m:sSupPr>
                      <m:e>
                        <m:r>
                          <a:rPr lang="en-US" b="1" i="1" dirty="0">
                            <a:solidFill>
                              <a:srgbClr val="AD1457"/>
                            </a:solidFill>
                            <a:latin typeface="Cambria Math" panose="02040503050406030204" pitchFamily="18" charset="0"/>
                          </a:rPr>
                          <m:t>𝒏</m:t>
                        </m:r>
                      </m:e>
                      <m:sup>
                        <m:r>
                          <a:rPr lang="en-US" b="1" i="1" dirty="0">
                            <a:solidFill>
                              <a:srgbClr val="AD1457"/>
                            </a:solidFill>
                            <a:latin typeface="Cambria Math" panose="02040503050406030204" pitchFamily="18" charset="0"/>
                          </a:rPr>
                          <m:t>𝟐</m:t>
                        </m:r>
                      </m:sup>
                    </m:sSup>
                    <m:r>
                      <a:rPr lang="en-US" b="1" i="1" dirty="0">
                        <a:solidFill>
                          <a:srgbClr val="AD1457"/>
                        </a:solidFill>
                        <a:latin typeface="Cambria Math" panose="02040503050406030204" pitchFamily="18" charset="0"/>
                      </a:rPr>
                      <m:t>)</m:t>
                    </m:r>
                  </m:oMath>
                </a14:m>
                <a:r>
                  <a:rPr lang="en-US" b="1" dirty="0">
                    <a:solidFill>
                      <a:srgbClr val="AD1457"/>
                    </a:solidFill>
                  </a:rPr>
                  <a:t> </a:t>
                </a:r>
                <a:r>
                  <a:rPr lang="en-US" dirty="0"/>
                  <a:t>where </a:t>
                </a:r>
                <a14:m>
                  <m:oMath xmlns:m="http://schemas.openxmlformats.org/officeDocument/2006/math">
                    <m:r>
                      <a:rPr lang="en-US" i="1" dirty="0">
                        <a:latin typeface="Cambria Math" panose="02040503050406030204" pitchFamily="18" charset="0"/>
                      </a:rPr>
                      <m:t>𝑛</m:t>
                    </m:r>
                  </m:oMath>
                </a14:m>
                <a:r>
                  <a:rPr lang="en-US" dirty="0"/>
                  <a:t> is the total number of nodes in the graph </a:t>
                </a:r>
                <a14:m>
                  <m:oMath xmlns:m="http://schemas.openxmlformats.org/officeDocument/2006/math">
                    <m:r>
                      <a:rPr lang="en-US" i="1" dirty="0">
                        <a:latin typeface="Cambria Math" panose="02040503050406030204" pitchFamily="18" charset="0"/>
                      </a:rPr>
                      <m:t>𝐺</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spTree>
    <p:extLst>
      <p:ext uri="{BB962C8B-B14F-4D97-AF65-F5344CB8AC3E}">
        <p14:creationId xmlns:p14="http://schemas.microsoft.com/office/powerpoint/2010/main" val="173104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151800"/>
            <a:ext cx="859594" cy="400110"/>
          </a:xfrm>
          <a:prstGeom prst="rect">
            <a:avLst/>
          </a:prstGeom>
          <a:noFill/>
          <a:ln w="28575">
            <a:solidFill>
              <a:schemeClr val="accent5"/>
            </a:solidFill>
          </a:ln>
        </p:spPr>
        <p:txBody>
          <a:bodyPr wrap="none" rtlCol="0">
            <a:spAutoFit/>
          </a:bodyPr>
          <a:lstStyle/>
          <a:p>
            <a:r>
              <a:rPr lang="en-IN" sz="2000" b="1" dirty="0">
                <a:solidFill>
                  <a:schemeClr val="bg1"/>
                </a:solidFill>
              </a:rPr>
              <a:t>Step:1</a:t>
            </a:r>
            <a:endParaRPr lang="en-US" sz="2000" b="1" dirty="0">
              <a:solidFill>
                <a:schemeClr val="bg1"/>
              </a:solidFill>
            </a:endParaRPr>
          </a:p>
        </p:txBody>
      </p:sp>
      <p:sp>
        <p:nvSpPr>
          <p:cNvPr id="38" name="TextBox 37"/>
          <p:cNvSpPr txBox="1"/>
          <p:nvPr/>
        </p:nvSpPr>
        <p:spPr>
          <a:xfrm>
            <a:off x="6995864" y="121023"/>
            <a:ext cx="4846320" cy="430887"/>
          </a:xfrm>
          <a:prstGeom prst="rect">
            <a:avLst/>
          </a:prstGeom>
          <a:noFill/>
        </p:spPr>
        <p:txBody>
          <a:bodyPr wrap="square" rtlCol="0">
            <a:spAutoFit/>
          </a:bodyPr>
          <a:lstStyle/>
          <a:p>
            <a:pPr algn="just"/>
            <a:r>
              <a:rPr lang="en-US" sz="2200" b="1" dirty="0">
                <a:solidFill>
                  <a:schemeClr val="accent5"/>
                </a:solidFill>
              </a:rPr>
              <a:t>Select an arbitrary node.</a:t>
            </a:r>
          </a:p>
        </p:txBody>
      </p:sp>
      <p:graphicFrame>
        <p:nvGraphicFramePr>
          <p:cNvPr id="39" name="Table 38"/>
          <p:cNvGraphicFramePr>
            <a:graphicFrameLocks noGrp="1"/>
          </p:cNvGraphicFramePr>
          <p:nvPr/>
        </p:nvGraphicFramePr>
        <p:xfrm>
          <a:off x="6570616" y="919233"/>
          <a:ext cx="5185955" cy="5154994"/>
        </p:xfrm>
        <a:graphic>
          <a:graphicData uri="http://schemas.openxmlformats.org/drawingml/2006/table">
            <a:tbl>
              <a:tblPr firstRow="1" bandRow="1">
                <a:tableStyleId>{5C22544A-7EE6-4342-B048-85BDC9FD1C3A}</a:tableStyleId>
              </a:tblPr>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95590">
                <a:tc>
                  <a:txBody>
                    <a:bodyPr/>
                    <a:lstStyle/>
                    <a:p>
                      <a:pPr algn="ctr"/>
                      <a:r>
                        <a:rPr lang="en-US" dirty="0">
                          <a:solidFill>
                            <a:schemeClr val="accent2">
                              <a:lumMod val="60000"/>
                              <a:lumOff val="40000"/>
                            </a:schemeClr>
                          </a:solidFill>
                        </a:rPr>
                        <a:t>Node - Set B</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rgbClr val="92D050"/>
                        </a:solidFill>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spTree>
    <p:extLst>
      <p:ext uri="{BB962C8B-B14F-4D97-AF65-F5344CB8AC3E}">
        <p14:creationId xmlns:p14="http://schemas.microsoft.com/office/powerpoint/2010/main" val="346755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childTnLst>
                          </p:cTn>
                        </p:par>
                        <p:par>
                          <p:cTn id="110" fill="hold">
                            <p:stCondLst>
                              <p:cond delay="500"/>
                            </p:stCondLst>
                            <p:childTnLst>
                              <p:par>
                                <p:cTn id="111" presetID="10" presetClass="entr" presetSubtype="0" fill="hold" grpId="0" nodeType="after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up)">
                                      <p:cBhvr>
                                        <p:cTn id="118"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04805"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397725"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24845"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09001"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4" name="TextBox 3"/>
          <p:cNvSpPr txBox="1"/>
          <p:nvPr/>
        </p:nvSpPr>
        <p:spPr>
          <a:xfrm>
            <a:off x="8595358" y="2364378"/>
            <a:ext cx="3135088" cy="430887"/>
          </a:xfrm>
          <a:prstGeom prst="rect">
            <a:avLst/>
          </a:prstGeom>
          <a:noFill/>
        </p:spPr>
        <p:txBody>
          <a:bodyPr wrap="square" rtlCol="0">
            <a:spAutoFit/>
          </a:bodyPr>
          <a:lstStyle/>
          <a:p>
            <a:r>
              <a:rPr lang="en-US" sz="2200" b="1" dirty="0">
                <a:solidFill>
                  <a:srgbClr val="92D050"/>
                </a:solidFill>
              </a:rPr>
              <a:t>{1, 4}, {2, 3} {2, 4}, {2, 5}</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2" name="TextBox 1"/>
          <p:cNvSpPr txBox="1"/>
          <p:nvPr/>
        </p:nvSpPr>
        <p:spPr>
          <a:xfrm>
            <a:off x="8608423" y="1619794"/>
            <a:ext cx="1554480" cy="430887"/>
          </a:xfrm>
          <a:prstGeom prst="rect">
            <a:avLst/>
          </a:prstGeom>
          <a:noFill/>
        </p:spPr>
        <p:txBody>
          <a:bodyPr wrap="square" rtlCol="0">
            <a:spAutoFit/>
          </a:bodyPr>
          <a:lstStyle/>
          <a:p>
            <a:pPr lvl="0"/>
            <a:r>
              <a:rPr lang="en-US" sz="2200" b="1" dirty="0">
                <a:solidFill>
                  <a:srgbClr val="92D050"/>
                </a:solidFill>
              </a:rPr>
              <a:t>{1, 2}, {1, 4}</a:t>
            </a:r>
            <a:endParaRPr lang="en-US" sz="2200" dirty="0"/>
          </a:p>
        </p:txBody>
      </p:sp>
      <p:sp>
        <p:nvSpPr>
          <p:cNvPr id="37" name="TextBox 36"/>
          <p:cNvSpPr txBox="1"/>
          <p:nvPr/>
        </p:nvSpPr>
        <p:spPr>
          <a:xfrm>
            <a:off x="6107975" y="165247"/>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Step:2</a:t>
            </a:r>
            <a:endParaRPr lang="en-US" sz="2000" b="1" dirty="0">
              <a:solidFill>
                <a:schemeClr val="bg1"/>
              </a:solidFill>
            </a:endParaRPr>
          </a:p>
        </p:txBody>
      </p:sp>
      <p:sp>
        <p:nvSpPr>
          <p:cNvPr id="38" name="TextBox 37"/>
          <p:cNvSpPr txBox="1"/>
          <p:nvPr/>
        </p:nvSpPr>
        <p:spPr>
          <a:xfrm>
            <a:off x="6990678" y="134470"/>
            <a:ext cx="5120640" cy="430887"/>
          </a:xfrm>
          <a:prstGeom prst="rect">
            <a:avLst/>
          </a:prstGeom>
          <a:noFill/>
        </p:spPr>
        <p:txBody>
          <a:bodyPr wrap="square" rtlCol="0">
            <a:spAutoFit/>
          </a:bodyPr>
          <a:lstStyle/>
          <a:p>
            <a:pPr algn="just"/>
            <a:r>
              <a:rPr lang="en-US" sz="2200" b="1" dirty="0">
                <a:solidFill>
                  <a:schemeClr val="accent5"/>
                </a:solidFill>
              </a:rPr>
              <a:t>Find an edge with minimum weight.</a:t>
            </a:r>
          </a:p>
        </p:txBody>
      </p:sp>
      <p:graphicFrame>
        <p:nvGraphicFramePr>
          <p:cNvPr id="39" name="Table 38"/>
          <p:cNvGraphicFramePr>
            <a:graphicFrameLocks noGrp="1"/>
          </p:cNvGraphicFramePr>
          <p:nvPr/>
        </p:nvGraphicFramePr>
        <p:xfrm>
          <a:off x="6570616" y="919233"/>
          <a:ext cx="5185955" cy="5154994"/>
        </p:xfrm>
        <a:graphic>
          <a:graphicData uri="http://schemas.openxmlformats.org/drawingml/2006/table">
            <a:tbl>
              <a:tblPr firstRow="1" bandRow="1">
                <a:tableStyleId>{5C22544A-7EE6-4342-B048-85BDC9FD1C3A}</a:tableStyleId>
              </a:tblPr>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95590">
                <a:tc>
                  <a:txBody>
                    <a:bodyPr/>
                    <a:lstStyle/>
                    <a:p>
                      <a:pPr algn="ctr"/>
                      <a:r>
                        <a:rPr lang="en-US" dirty="0">
                          <a:solidFill>
                            <a:schemeClr val="accent2">
                              <a:lumMod val="60000"/>
                              <a:lumOff val="40000"/>
                            </a:schemeClr>
                          </a:solidFill>
                        </a:rPr>
                        <a:t>Node - Set B</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rgbClr val="92D050"/>
                        </a:solidFill>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cxnSp>
        <p:nvCxnSpPr>
          <p:cNvPr id="40" name="Straight Connector 39"/>
          <p:cNvCxnSpPr/>
          <p:nvPr/>
        </p:nvCxnSpPr>
        <p:spPr>
          <a:xfrm>
            <a:off x="9380347" y="184159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034237" y="2584003"/>
            <a:ext cx="137160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595360" y="5342708"/>
            <a:ext cx="3108960" cy="731520"/>
          </a:xfrm>
          <a:prstGeom prst="rect">
            <a:avLst/>
          </a:prstGeom>
          <a:noFill/>
        </p:spPr>
        <p:txBody>
          <a:bodyPr wrap="square" rtlCol="0">
            <a:spAutoFit/>
          </a:bodyPr>
          <a:lstStyle/>
          <a:p>
            <a:r>
              <a:rPr lang="en-US" sz="2200" b="1" dirty="0">
                <a:solidFill>
                  <a:srgbClr val="92D050"/>
                </a:solidFill>
              </a:rPr>
              <a:t>{2,4} {2,5} {3,5} {3,6} {5,6} {5,7}  {6,7}</a:t>
            </a:r>
            <a:endParaRPr lang="en-US" sz="2200" dirty="0"/>
          </a:p>
        </p:txBody>
      </p:sp>
      <p:sp>
        <p:nvSpPr>
          <p:cNvPr id="51" name="TextBox 50"/>
          <p:cNvSpPr txBox="1"/>
          <p:nvPr/>
        </p:nvSpPr>
        <p:spPr>
          <a:xfrm>
            <a:off x="8595360" y="3095897"/>
            <a:ext cx="3108960" cy="769441"/>
          </a:xfrm>
          <a:prstGeom prst="rect">
            <a:avLst/>
          </a:prstGeom>
          <a:noFill/>
        </p:spPr>
        <p:txBody>
          <a:bodyPr wrap="square" rtlCol="0">
            <a:spAutoFit/>
          </a:bodyPr>
          <a:lstStyle/>
          <a:p>
            <a:r>
              <a:rPr lang="en-US" sz="2200" b="1" dirty="0">
                <a:solidFill>
                  <a:srgbClr val="92D050"/>
                </a:solidFill>
              </a:rPr>
              <a:t>{1,4}, {2,4}, {2,5}, {3,5}, {3,6} </a:t>
            </a:r>
            <a:endParaRPr lang="en-US" sz="2200" dirty="0"/>
          </a:p>
        </p:txBody>
      </p:sp>
      <p:sp>
        <p:nvSpPr>
          <p:cNvPr id="53" name="TextBox 52"/>
          <p:cNvSpPr txBox="1"/>
          <p:nvPr/>
        </p:nvSpPr>
        <p:spPr>
          <a:xfrm>
            <a:off x="8595359" y="4598125"/>
            <a:ext cx="3122023" cy="769441"/>
          </a:xfrm>
          <a:prstGeom prst="rect">
            <a:avLst/>
          </a:prstGeom>
          <a:noFill/>
        </p:spPr>
        <p:txBody>
          <a:bodyPr wrap="square" rtlCol="0">
            <a:spAutoFit/>
          </a:bodyPr>
          <a:lstStyle/>
          <a:p>
            <a:r>
              <a:rPr lang="en-US" sz="2200" b="1" dirty="0">
                <a:solidFill>
                  <a:srgbClr val="92D050"/>
                </a:solidFill>
              </a:rPr>
              <a:t>{2,4} {2,5} {3,5} {3,6}  {4,7} {5,6} {5,7}</a:t>
            </a:r>
          </a:p>
        </p:txBody>
      </p:sp>
      <p:cxnSp>
        <p:nvCxnSpPr>
          <p:cNvPr id="42" name="Straight Connector 41"/>
          <p:cNvCxnSpPr/>
          <p:nvPr/>
        </p:nvCxnSpPr>
        <p:spPr>
          <a:xfrm flipV="1">
            <a:off x="8662052" y="258473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8595359" y="3840479"/>
            <a:ext cx="3148149" cy="769441"/>
          </a:xfrm>
          <a:prstGeom prst="rect">
            <a:avLst/>
          </a:prstGeom>
          <a:noFill/>
        </p:spPr>
        <p:txBody>
          <a:bodyPr wrap="square" rtlCol="0">
            <a:spAutoFit/>
          </a:bodyPr>
          <a:lstStyle/>
          <a:p>
            <a:r>
              <a:rPr lang="en-US" sz="2200" b="1" dirty="0">
                <a:solidFill>
                  <a:srgbClr val="92D050"/>
                </a:solidFill>
              </a:rPr>
              <a:t>{2,4} {2,5} {3,5} {3,6}  {4,5} {4,7}</a:t>
            </a:r>
          </a:p>
        </p:txBody>
      </p:sp>
      <p:cxnSp>
        <p:nvCxnSpPr>
          <p:cNvPr id="43" name="Straight Connector 42"/>
          <p:cNvCxnSpPr/>
          <p:nvPr/>
        </p:nvCxnSpPr>
        <p:spPr>
          <a:xfrm>
            <a:off x="8622167" y="3676818"/>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9298285" y="3333208"/>
            <a:ext cx="192024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619015" y="439843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665029" y="4807134"/>
            <a:ext cx="228600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8604566" y="4068431"/>
            <a:ext cx="237744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8620412" y="5141731"/>
            <a:ext cx="118872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589931" y="5881959"/>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638945" y="5560425"/>
            <a:ext cx="2926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975564" y="2377438"/>
            <a:ext cx="1280160" cy="430887"/>
          </a:xfrm>
          <a:prstGeom prst="rect">
            <a:avLst/>
          </a:prstGeom>
          <a:noFill/>
        </p:spPr>
        <p:txBody>
          <a:bodyPr wrap="square" rtlCol="0">
            <a:spAutoFit/>
          </a:bodyPr>
          <a:lstStyle/>
          <a:p>
            <a:pPr algn="ctr"/>
            <a:r>
              <a:rPr lang="en-US" sz="2200" b="1" dirty="0">
                <a:solidFill>
                  <a:srgbClr val="92D050"/>
                </a:solidFill>
              </a:rPr>
              <a:t>1, 2</a:t>
            </a:r>
          </a:p>
        </p:txBody>
      </p:sp>
      <p:sp>
        <p:nvSpPr>
          <p:cNvPr id="56" name="TextBox 55"/>
          <p:cNvSpPr txBox="1"/>
          <p:nvPr/>
        </p:nvSpPr>
        <p:spPr>
          <a:xfrm>
            <a:off x="6975564" y="3104604"/>
            <a:ext cx="1280160" cy="430887"/>
          </a:xfrm>
          <a:prstGeom prst="rect">
            <a:avLst/>
          </a:prstGeom>
          <a:noFill/>
        </p:spPr>
        <p:txBody>
          <a:bodyPr wrap="square" rtlCol="0">
            <a:spAutoFit/>
          </a:bodyPr>
          <a:lstStyle/>
          <a:p>
            <a:pPr algn="ctr"/>
            <a:r>
              <a:rPr lang="en-US" sz="2200" b="1" dirty="0">
                <a:solidFill>
                  <a:srgbClr val="92D050"/>
                </a:solidFill>
              </a:rPr>
              <a:t>1, 2, 3</a:t>
            </a:r>
          </a:p>
        </p:txBody>
      </p:sp>
      <p:sp>
        <p:nvSpPr>
          <p:cNvPr id="57" name="TextBox 56"/>
          <p:cNvSpPr txBox="1"/>
          <p:nvPr/>
        </p:nvSpPr>
        <p:spPr>
          <a:xfrm>
            <a:off x="6975564" y="3875313"/>
            <a:ext cx="1280160" cy="430887"/>
          </a:xfrm>
          <a:prstGeom prst="rect">
            <a:avLst/>
          </a:prstGeom>
          <a:noFill/>
        </p:spPr>
        <p:txBody>
          <a:bodyPr wrap="square" rtlCol="0">
            <a:spAutoFit/>
          </a:bodyPr>
          <a:lstStyle/>
          <a:p>
            <a:pPr algn="ctr"/>
            <a:r>
              <a:rPr lang="en-US" sz="2200" b="1" dirty="0">
                <a:solidFill>
                  <a:srgbClr val="92D050"/>
                </a:solidFill>
              </a:rPr>
              <a:t>1, 2, 3, 4</a:t>
            </a:r>
          </a:p>
        </p:txBody>
      </p:sp>
      <p:sp>
        <p:nvSpPr>
          <p:cNvPr id="58" name="TextBox 57"/>
          <p:cNvSpPr txBox="1"/>
          <p:nvPr/>
        </p:nvSpPr>
        <p:spPr>
          <a:xfrm>
            <a:off x="6884124" y="4628604"/>
            <a:ext cx="1463040" cy="457200"/>
          </a:xfrm>
          <a:prstGeom prst="rect">
            <a:avLst/>
          </a:prstGeom>
          <a:noFill/>
        </p:spPr>
        <p:txBody>
          <a:bodyPr wrap="square" rtlCol="0">
            <a:spAutoFit/>
          </a:bodyPr>
          <a:lstStyle/>
          <a:p>
            <a:pPr algn="ctr"/>
            <a:r>
              <a:rPr lang="en-US" sz="2200" b="1" dirty="0">
                <a:solidFill>
                  <a:srgbClr val="92D050"/>
                </a:solidFill>
              </a:rPr>
              <a:t>1, 2, 3, 4, 5</a:t>
            </a:r>
          </a:p>
        </p:txBody>
      </p:sp>
      <p:sp>
        <p:nvSpPr>
          <p:cNvPr id="59" name="TextBox 58"/>
          <p:cNvSpPr txBox="1"/>
          <p:nvPr/>
        </p:nvSpPr>
        <p:spPr>
          <a:xfrm>
            <a:off x="6746964" y="5347062"/>
            <a:ext cx="1737360" cy="430887"/>
          </a:xfrm>
          <a:prstGeom prst="rect">
            <a:avLst/>
          </a:prstGeom>
          <a:noFill/>
        </p:spPr>
        <p:txBody>
          <a:bodyPr wrap="square" rtlCol="0">
            <a:spAutoFit/>
          </a:bodyPr>
          <a:lstStyle/>
          <a:p>
            <a:pPr algn="ctr"/>
            <a:r>
              <a:rPr lang="en-US" sz="2200" b="1" dirty="0">
                <a:solidFill>
                  <a:srgbClr val="92D050"/>
                </a:solidFill>
              </a:rPr>
              <a:t>1, 2, 3, 4, 5, 7</a:t>
            </a:r>
          </a:p>
        </p:txBody>
      </p:sp>
      <p:sp>
        <p:nvSpPr>
          <p:cNvPr id="61" name="TextBox 60"/>
          <p:cNvSpPr txBox="1"/>
          <p:nvPr/>
        </p:nvSpPr>
        <p:spPr>
          <a:xfrm>
            <a:off x="6572793" y="6146164"/>
            <a:ext cx="2011680" cy="365760"/>
          </a:xfrm>
          <a:prstGeom prst="rect">
            <a:avLst/>
          </a:prstGeom>
          <a:solidFill>
            <a:srgbClr val="F9C5D7"/>
          </a:solidFill>
        </p:spPr>
        <p:txBody>
          <a:bodyPr wrap="square" rtlCol="0" anchor="ctr">
            <a:spAutoFit/>
          </a:bodyPr>
          <a:lstStyle/>
          <a:p>
            <a:pPr algn="ctr"/>
            <a:r>
              <a:rPr lang="en-US" sz="2200" b="1" dirty="0">
                <a:solidFill>
                  <a:srgbClr val="AD1457"/>
                </a:solidFill>
              </a:rPr>
              <a:t>1, 2, 3, 4, 5, 6, 7</a:t>
            </a:r>
          </a:p>
        </p:txBody>
      </p:sp>
    </p:spTree>
    <p:extLst>
      <p:ext uri="{BB962C8B-B14F-4D97-AF65-F5344CB8AC3E}">
        <p14:creationId xmlns:p14="http://schemas.microsoft.com/office/powerpoint/2010/main" val="165068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par>
                          <p:cTn id="22" fill="hold">
                            <p:stCondLst>
                              <p:cond delay="500"/>
                            </p:stCondLst>
                            <p:childTnLst>
                              <p:par>
                                <p:cTn id="23" presetID="1" presetClass="emph" presetSubtype="2" fill="hold" nodeType="afterEffect">
                                  <p:stCondLst>
                                    <p:cond delay="0"/>
                                  </p:stCondLst>
                                  <p:childTnLst>
                                    <p:animClr clrSpc="rgb" dir="cw">
                                      <p:cBhvr>
                                        <p:cTn id="24" dur="750" fill="hold"/>
                                        <p:tgtEl>
                                          <p:spTgt spid="6"/>
                                        </p:tgtEl>
                                        <p:attrNameLst>
                                          <p:attrName>fillcolor</p:attrName>
                                        </p:attrNameLst>
                                      </p:cBhvr>
                                      <p:to>
                                        <a:srgbClr val="8BC145"/>
                                      </p:to>
                                    </p:animClr>
                                    <p:set>
                                      <p:cBhvr>
                                        <p:cTn id="25" dur="750" fill="hold"/>
                                        <p:tgtEl>
                                          <p:spTgt spid="6"/>
                                        </p:tgtEl>
                                        <p:attrNameLst>
                                          <p:attrName>fill.type</p:attrName>
                                        </p:attrNameLst>
                                      </p:cBhvr>
                                      <p:to>
                                        <p:strVal val="solid"/>
                                      </p:to>
                                    </p:set>
                                    <p:set>
                                      <p:cBhvr>
                                        <p:cTn id="26" dur="750" fill="hold"/>
                                        <p:tgtEl>
                                          <p:spTgt spid="6"/>
                                        </p:tgtEl>
                                        <p:attrNameLst>
                                          <p:attrName>fill.on</p:attrName>
                                        </p:attrNameLst>
                                      </p:cBhvr>
                                      <p:to>
                                        <p:strVal val="true"/>
                                      </p:to>
                                    </p:set>
                                  </p:childTnLst>
                                </p:cTn>
                              </p:par>
                            </p:childTnLst>
                          </p:cTn>
                        </p:par>
                        <p:par>
                          <p:cTn id="27" fill="hold">
                            <p:stCondLst>
                              <p:cond delay="1250"/>
                            </p:stCondLst>
                            <p:childTnLst>
                              <p:par>
                                <p:cTn id="28" presetID="7" presetClass="emph" presetSubtype="2" fill="hold" nodeType="afterEffect">
                                  <p:stCondLst>
                                    <p:cond delay="0"/>
                                  </p:stCondLst>
                                  <p:childTnLst>
                                    <p:animClr clrSpc="rgb" dir="cw">
                                      <p:cBhvr>
                                        <p:cTn id="29" dur="750" fill="hold"/>
                                        <p:tgtEl>
                                          <p:spTgt spid="13"/>
                                        </p:tgtEl>
                                        <p:attrNameLst>
                                          <p:attrName>stroke.color</p:attrName>
                                        </p:attrNameLst>
                                      </p:cBhvr>
                                      <p:to>
                                        <a:srgbClr val="B84742"/>
                                      </p:to>
                                    </p:animClr>
                                    <p:set>
                                      <p:cBhvr>
                                        <p:cTn id="30" dur="750" fill="hold"/>
                                        <p:tgtEl>
                                          <p:spTgt spid="13"/>
                                        </p:tgtEl>
                                        <p:attrNameLst>
                                          <p:attrName>stroke.on</p:attrName>
                                        </p:attrNameLst>
                                      </p:cBhvr>
                                      <p:to>
                                        <p:strVal val="true"/>
                                      </p:to>
                                    </p:set>
                                  </p:childTnLst>
                                </p:cTn>
                              </p:par>
                            </p:childTnLst>
                          </p:cTn>
                        </p:par>
                        <p:par>
                          <p:cTn id="31" fill="hold">
                            <p:stCondLst>
                              <p:cond delay="2000"/>
                            </p:stCondLst>
                            <p:childTnLst>
                              <p:par>
                                <p:cTn id="32" presetID="1" presetClass="emph" presetSubtype="2" fill="hold" nodeType="afterEffect">
                                  <p:stCondLst>
                                    <p:cond delay="0"/>
                                  </p:stCondLst>
                                  <p:childTnLst>
                                    <p:animClr clrSpc="rgb" dir="cw">
                                      <p:cBhvr>
                                        <p:cTn id="33" dur="750" fill="hold"/>
                                        <p:tgtEl>
                                          <p:spTgt spid="7"/>
                                        </p:tgtEl>
                                        <p:attrNameLst>
                                          <p:attrName>fillcolor</p:attrName>
                                        </p:attrNameLst>
                                      </p:cBhvr>
                                      <p:to>
                                        <a:srgbClr val="8BC145"/>
                                      </p:to>
                                    </p:animClr>
                                    <p:set>
                                      <p:cBhvr>
                                        <p:cTn id="34" dur="750" fill="hold"/>
                                        <p:tgtEl>
                                          <p:spTgt spid="7"/>
                                        </p:tgtEl>
                                        <p:attrNameLst>
                                          <p:attrName>fill.type</p:attrName>
                                        </p:attrNameLst>
                                      </p:cBhvr>
                                      <p:to>
                                        <p:strVal val="solid"/>
                                      </p:to>
                                    </p:set>
                                    <p:set>
                                      <p:cBhvr>
                                        <p:cTn id="35" dur="750" fill="hold"/>
                                        <p:tgtEl>
                                          <p:spTgt spid="7"/>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20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wipe(left)">
                                      <p:cBhvr>
                                        <p:cTn id="50" dur="500"/>
                                        <p:tgtEl>
                                          <p:spTgt spid="42"/>
                                        </p:tgtEl>
                                      </p:cBhvr>
                                    </p:animEffect>
                                  </p:childTnLst>
                                </p:cTn>
                              </p:par>
                              <p:par>
                                <p:cTn id="51" presetID="22" presetClass="entr" presetSubtype="8"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par>
                          <p:cTn id="54" fill="hold">
                            <p:stCondLst>
                              <p:cond delay="500"/>
                            </p:stCondLst>
                            <p:childTnLst>
                              <p:par>
                                <p:cTn id="55" presetID="1" presetClass="emph" presetSubtype="2" fill="hold" nodeType="afterEffect">
                                  <p:stCondLst>
                                    <p:cond delay="0"/>
                                  </p:stCondLst>
                                  <p:childTnLst>
                                    <p:animClr clrSpc="rgb" dir="cw">
                                      <p:cBhvr>
                                        <p:cTn id="56" dur="750" fill="hold"/>
                                        <p:tgtEl>
                                          <p:spTgt spid="8"/>
                                        </p:tgtEl>
                                        <p:attrNameLst>
                                          <p:attrName>fillcolor</p:attrName>
                                        </p:attrNameLst>
                                      </p:cBhvr>
                                      <p:to>
                                        <a:srgbClr val="8BC145"/>
                                      </p:to>
                                    </p:animClr>
                                    <p:set>
                                      <p:cBhvr>
                                        <p:cTn id="57" dur="750" fill="hold"/>
                                        <p:tgtEl>
                                          <p:spTgt spid="8"/>
                                        </p:tgtEl>
                                        <p:attrNameLst>
                                          <p:attrName>fill.type</p:attrName>
                                        </p:attrNameLst>
                                      </p:cBhvr>
                                      <p:to>
                                        <p:strVal val="solid"/>
                                      </p:to>
                                    </p:set>
                                    <p:set>
                                      <p:cBhvr>
                                        <p:cTn id="58" dur="750" fill="hold"/>
                                        <p:tgtEl>
                                          <p:spTgt spid="8"/>
                                        </p:tgtEl>
                                        <p:attrNameLst>
                                          <p:attrName>fill.on</p:attrName>
                                        </p:attrNameLst>
                                      </p:cBhvr>
                                      <p:to>
                                        <p:strVal val="true"/>
                                      </p:to>
                                    </p:set>
                                  </p:childTnLst>
                                </p:cTn>
                              </p:par>
                            </p:childTnLst>
                          </p:cTn>
                        </p:par>
                        <p:par>
                          <p:cTn id="59" fill="hold">
                            <p:stCondLst>
                              <p:cond delay="1250"/>
                            </p:stCondLst>
                            <p:childTnLst>
                              <p:par>
                                <p:cTn id="60" presetID="7" presetClass="emph" presetSubtype="2" fill="hold" nodeType="afterEffect">
                                  <p:stCondLst>
                                    <p:cond delay="0"/>
                                  </p:stCondLst>
                                  <p:childTnLst>
                                    <p:animClr clrSpc="rgb" dir="cw">
                                      <p:cBhvr>
                                        <p:cTn id="61" dur="750" fill="hold"/>
                                        <p:tgtEl>
                                          <p:spTgt spid="14"/>
                                        </p:tgtEl>
                                        <p:attrNameLst>
                                          <p:attrName>stroke.color</p:attrName>
                                        </p:attrNameLst>
                                      </p:cBhvr>
                                      <p:to>
                                        <a:srgbClr val="B84742"/>
                                      </p:to>
                                    </p:animClr>
                                    <p:set>
                                      <p:cBhvr>
                                        <p:cTn id="62" dur="750" fill="hold"/>
                                        <p:tgtEl>
                                          <p:spTgt spid="14"/>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wipe(left)">
                                      <p:cBhvr>
                                        <p:cTn id="72" dur="200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wipe(left)">
                                      <p:cBhvr>
                                        <p:cTn id="77" dur="1000"/>
                                        <p:tgtEl>
                                          <p:spTgt spid="43"/>
                                        </p:tgtEl>
                                      </p:cBhvr>
                                    </p:animEffect>
                                  </p:childTnLst>
                                </p:cTn>
                              </p:par>
                              <p:par>
                                <p:cTn id="78" presetID="22" presetClass="entr" presetSubtype="8" fill="hold"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wipe(left)">
                                      <p:cBhvr>
                                        <p:cTn id="80" dur="1000"/>
                                        <p:tgtEl>
                                          <p:spTgt spid="44"/>
                                        </p:tgtEl>
                                      </p:cBhvr>
                                    </p:animEffect>
                                  </p:childTnLst>
                                </p:cTn>
                              </p:par>
                            </p:childTnLst>
                          </p:cTn>
                        </p:par>
                        <p:par>
                          <p:cTn id="81" fill="hold">
                            <p:stCondLst>
                              <p:cond delay="1000"/>
                            </p:stCondLst>
                            <p:childTnLst>
                              <p:par>
                                <p:cTn id="82" presetID="1" presetClass="emph" presetSubtype="2" fill="hold" nodeType="afterEffect">
                                  <p:stCondLst>
                                    <p:cond delay="0"/>
                                  </p:stCondLst>
                                  <p:childTnLst>
                                    <p:animClr clrSpc="rgb" dir="cw">
                                      <p:cBhvr>
                                        <p:cTn id="83" dur="750" fill="hold"/>
                                        <p:tgtEl>
                                          <p:spTgt spid="9"/>
                                        </p:tgtEl>
                                        <p:attrNameLst>
                                          <p:attrName>fillcolor</p:attrName>
                                        </p:attrNameLst>
                                      </p:cBhvr>
                                      <p:to>
                                        <a:srgbClr val="8BC145"/>
                                      </p:to>
                                    </p:animClr>
                                    <p:set>
                                      <p:cBhvr>
                                        <p:cTn id="84" dur="750" fill="hold"/>
                                        <p:tgtEl>
                                          <p:spTgt spid="9"/>
                                        </p:tgtEl>
                                        <p:attrNameLst>
                                          <p:attrName>fill.type</p:attrName>
                                        </p:attrNameLst>
                                      </p:cBhvr>
                                      <p:to>
                                        <p:strVal val="solid"/>
                                      </p:to>
                                    </p:set>
                                    <p:set>
                                      <p:cBhvr>
                                        <p:cTn id="85" dur="750" fill="hold"/>
                                        <p:tgtEl>
                                          <p:spTgt spid="9"/>
                                        </p:tgtEl>
                                        <p:attrNameLst>
                                          <p:attrName>fill.on</p:attrName>
                                        </p:attrNameLst>
                                      </p:cBhvr>
                                      <p:to>
                                        <p:strVal val="true"/>
                                      </p:to>
                                    </p:set>
                                  </p:childTnLst>
                                </p:cTn>
                              </p:par>
                            </p:childTnLst>
                          </p:cTn>
                        </p:par>
                        <p:par>
                          <p:cTn id="86" fill="hold">
                            <p:stCondLst>
                              <p:cond delay="1750"/>
                            </p:stCondLst>
                            <p:childTnLst>
                              <p:par>
                                <p:cTn id="87" presetID="7" presetClass="emph" presetSubtype="2" fill="hold" nodeType="afterEffect">
                                  <p:stCondLst>
                                    <p:cond delay="0"/>
                                  </p:stCondLst>
                                  <p:childTnLst>
                                    <p:animClr clrSpc="rgb" dir="cw">
                                      <p:cBhvr>
                                        <p:cTn id="88" dur="750" fill="hold"/>
                                        <p:tgtEl>
                                          <p:spTgt spid="17"/>
                                        </p:tgtEl>
                                        <p:attrNameLst>
                                          <p:attrName>stroke.color</p:attrName>
                                        </p:attrNameLst>
                                      </p:cBhvr>
                                      <p:to>
                                        <a:srgbClr val="B84742"/>
                                      </p:to>
                                    </p:animClr>
                                    <p:set>
                                      <p:cBhvr>
                                        <p:cTn id="89" dur="750" fill="hold"/>
                                        <p:tgtEl>
                                          <p:spTgt spid="17"/>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fade">
                                      <p:cBhvr>
                                        <p:cTn id="94" dur="500"/>
                                        <p:tgtEl>
                                          <p:spTgt spid="5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wipe(left)">
                                      <p:cBhvr>
                                        <p:cTn id="99" dur="2000"/>
                                        <p:tgtEl>
                                          <p:spTgt spid="52"/>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ipe(left)">
                                      <p:cBhvr>
                                        <p:cTn id="104" dur="1000"/>
                                        <p:tgtEl>
                                          <p:spTgt spid="45"/>
                                        </p:tgtEl>
                                      </p:cBhvr>
                                    </p:animEffect>
                                  </p:childTnLst>
                                </p:cTn>
                              </p:par>
                              <p:par>
                                <p:cTn id="105" presetID="22" presetClass="entr" presetSubtype="8" fill="hold"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wipe(left)">
                                      <p:cBhvr>
                                        <p:cTn id="107" dur="1000"/>
                                        <p:tgtEl>
                                          <p:spTgt spid="47"/>
                                        </p:tgtEl>
                                      </p:cBhvr>
                                    </p:animEffect>
                                  </p:childTnLst>
                                </p:cTn>
                              </p:par>
                            </p:childTnLst>
                          </p:cTn>
                        </p:par>
                        <p:par>
                          <p:cTn id="108" fill="hold">
                            <p:stCondLst>
                              <p:cond delay="1000"/>
                            </p:stCondLst>
                            <p:childTnLst>
                              <p:par>
                                <p:cTn id="109" presetID="1" presetClass="emph" presetSubtype="2" fill="hold" nodeType="afterEffect">
                                  <p:stCondLst>
                                    <p:cond delay="0"/>
                                  </p:stCondLst>
                                  <p:childTnLst>
                                    <p:animClr clrSpc="rgb" dir="cw">
                                      <p:cBhvr>
                                        <p:cTn id="110" dur="750" fill="hold"/>
                                        <p:tgtEl>
                                          <p:spTgt spid="10"/>
                                        </p:tgtEl>
                                        <p:attrNameLst>
                                          <p:attrName>fillcolor</p:attrName>
                                        </p:attrNameLst>
                                      </p:cBhvr>
                                      <p:to>
                                        <a:srgbClr val="8BC145"/>
                                      </p:to>
                                    </p:animClr>
                                    <p:set>
                                      <p:cBhvr>
                                        <p:cTn id="111" dur="750" fill="hold"/>
                                        <p:tgtEl>
                                          <p:spTgt spid="10"/>
                                        </p:tgtEl>
                                        <p:attrNameLst>
                                          <p:attrName>fill.type</p:attrName>
                                        </p:attrNameLst>
                                      </p:cBhvr>
                                      <p:to>
                                        <p:strVal val="solid"/>
                                      </p:to>
                                    </p:set>
                                    <p:set>
                                      <p:cBhvr>
                                        <p:cTn id="112" dur="750" fill="hold"/>
                                        <p:tgtEl>
                                          <p:spTgt spid="10"/>
                                        </p:tgtEl>
                                        <p:attrNameLst>
                                          <p:attrName>fill.on</p:attrName>
                                        </p:attrNameLst>
                                      </p:cBhvr>
                                      <p:to>
                                        <p:strVal val="true"/>
                                      </p:to>
                                    </p:set>
                                  </p:childTnLst>
                                </p:cTn>
                              </p:par>
                            </p:childTnLst>
                          </p:cTn>
                        </p:par>
                        <p:par>
                          <p:cTn id="113" fill="hold">
                            <p:stCondLst>
                              <p:cond delay="1750"/>
                            </p:stCondLst>
                            <p:childTnLst>
                              <p:par>
                                <p:cTn id="114" presetID="7" presetClass="emph" presetSubtype="2" fill="hold" nodeType="afterEffect">
                                  <p:stCondLst>
                                    <p:cond delay="0"/>
                                  </p:stCondLst>
                                  <p:childTnLst>
                                    <p:animClr clrSpc="rgb" dir="cw">
                                      <p:cBhvr>
                                        <p:cTn id="115" dur="750" fill="hold"/>
                                        <p:tgtEl>
                                          <p:spTgt spid="15"/>
                                        </p:tgtEl>
                                        <p:attrNameLst>
                                          <p:attrName>stroke.color</p:attrName>
                                        </p:attrNameLst>
                                      </p:cBhvr>
                                      <p:to>
                                        <a:srgbClr val="B84742"/>
                                      </p:to>
                                    </p:animClr>
                                    <p:set>
                                      <p:cBhvr>
                                        <p:cTn id="116" dur="750" fill="hold"/>
                                        <p:tgtEl>
                                          <p:spTgt spid="15"/>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500"/>
                                        <p:tgtEl>
                                          <p:spTgt spid="5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left)">
                                      <p:cBhvr>
                                        <p:cTn id="126" dur="2000"/>
                                        <p:tgtEl>
                                          <p:spTgt spid="53"/>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wipe(left)">
                                      <p:cBhvr>
                                        <p:cTn id="131" dur="1000"/>
                                        <p:tgtEl>
                                          <p:spTgt spid="46"/>
                                        </p:tgtEl>
                                      </p:cBhvr>
                                    </p:animEffect>
                                  </p:childTnLst>
                                </p:cTn>
                              </p:par>
                              <p:par>
                                <p:cTn id="132" presetID="22" presetClass="entr" presetSubtype="8" fill="hold"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wipe(left)">
                                      <p:cBhvr>
                                        <p:cTn id="134" dur="1000"/>
                                        <p:tgtEl>
                                          <p:spTgt spid="48"/>
                                        </p:tgtEl>
                                      </p:cBhvr>
                                    </p:animEffect>
                                  </p:childTnLst>
                                </p:cTn>
                              </p:par>
                            </p:childTnLst>
                          </p:cTn>
                        </p:par>
                        <p:par>
                          <p:cTn id="135" fill="hold">
                            <p:stCondLst>
                              <p:cond delay="1000"/>
                            </p:stCondLst>
                            <p:childTnLst>
                              <p:par>
                                <p:cTn id="136" presetID="1" presetClass="emph" presetSubtype="2" fill="hold" nodeType="afterEffect">
                                  <p:stCondLst>
                                    <p:cond delay="0"/>
                                  </p:stCondLst>
                                  <p:childTnLst>
                                    <p:animClr clrSpc="rgb" dir="cw">
                                      <p:cBhvr>
                                        <p:cTn id="137" dur="750" fill="hold"/>
                                        <p:tgtEl>
                                          <p:spTgt spid="12"/>
                                        </p:tgtEl>
                                        <p:attrNameLst>
                                          <p:attrName>fillcolor</p:attrName>
                                        </p:attrNameLst>
                                      </p:cBhvr>
                                      <p:to>
                                        <a:srgbClr val="8BC145"/>
                                      </p:to>
                                    </p:animClr>
                                    <p:set>
                                      <p:cBhvr>
                                        <p:cTn id="138" dur="750" fill="hold"/>
                                        <p:tgtEl>
                                          <p:spTgt spid="12"/>
                                        </p:tgtEl>
                                        <p:attrNameLst>
                                          <p:attrName>fill.type</p:attrName>
                                        </p:attrNameLst>
                                      </p:cBhvr>
                                      <p:to>
                                        <p:strVal val="solid"/>
                                      </p:to>
                                    </p:set>
                                    <p:set>
                                      <p:cBhvr>
                                        <p:cTn id="139" dur="750" fill="hold"/>
                                        <p:tgtEl>
                                          <p:spTgt spid="12"/>
                                        </p:tgtEl>
                                        <p:attrNameLst>
                                          <p:attrName>fill.on</p:attrName>
                                        </p:attrNameLst>
                                      </p:cBhvr>
                                      <p:to>
                                        <p:strVal val="true"/>
                                      </p:to>
                                    </p:set>
                                  </p:childTnLst>
                                </p:cTn>
                              </p:par>
                            </p:childTnLst>
                          </p:cTn>
                        </p:par>
                        <p:par>
                          <p:cTn id="140" fill="hold">
                            <p:stCondLst>
                              <p:cond delay="1750"/>
                            </p:stCondLst>
                            <p:childTnLst>
                              <p:par>
                                <p:cTn id="141" presetID="7" presetClass="emph" presetSubtype="2" fill="hold" nodeType="afterEffect">
                                  <p:stCondLst>
                                    <p:cond delay="0"/>
                                  </p:stCondLst>
                                  <p:childTnLst>
                                    <p:animClr clrSpc="rgb" dir="cw">
                                      <p:cBhvr>
                                        <p:cTn id="142" dur="750" fill="hold"/>
                                        <p:tgtEl>
                                          <p:spTgt spid="23"/>
                                        </p:tgtEl>
                                        <p:attrNameLst>
                                          <p:attrName>stroke.color</p:attrName>
                                        </p:attrNameLst>
                                      </p:cBhvr>
                                      <p:to>
                                        <a:srgbClr val="B84742"/>
                                      </p:to>
                                    </p:animClr>
                                    <p:set>
                                      <p:cBhvr>
                                        <p:cTn id="143" dur="750" fill="hold"/>
                                        <p:tgtEl>
                                          <p:spTgt spid="23"/>
                                        </p:tgtEl>
                                        <p:attrNameLst>
                                          <p:attrName>stroke.on</p:attrName>
                                        </p:attrNameLst>
                                      </p:cBhvr>
                                      <p:to>
                                        <p:strVal val="true"/>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59"/>
                                        </p:tgtEl>
                                        <p:attrNameLst>
                                          <p:attrName>style.visibility</p:attrName>
                                        </p:attrNameLst>
                                      </p:cBhvr>
                                      <p:to>
                                        <p:strVal val="visible"/>
                                      </p:to>
                                    </p:set>
                                    <p:animEffect transition="in" filter="fade">
                                      <p:cBhvr>
                                        <p:cTn id="148" dur="500"/>
                                        <p:tgtEl>
                                          <p:spTgt spid="59"/>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wipe(left)">
                                      <p:cBhvr>
                                        <p:cTn id="153" dur="2000"/>
                                        <p:tgtEl>
                                          <p:spTgt spid="54"/>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49"/>
                                        </p:tgtEl>
                                        <p:attrNameLst>
                                          <p:attrName>style.visibility</p:attrName>
                                        </p:attrNameLst>
                                      </p:cBhvr>
                                      <p:to>
                                        <p:strVal val="visible"/>
                                      </p:to>
                                    </p:set>
                                    <p:animEffect transition="in" filter="wipe(left)">
                                      <p:cBhvr>
                                        <p:cTn id="158" dur="1000"/>
                                        <p:tgtEl>
                                          <p:spTgt spid="49"/>
                                        </p:tgtEl>
                                      </p:cBhvr>
                                    </p:animEffect>
                                  </p:childTnLst>
                                </p:cTn>
                              </p:par>
                              <p:par>
                                <p:cTn id="159" presetID="22" presetClass="entr" presetSubtype="8" fill="hold" nodeType="withEffect">
                                  <p:stCondLst>
                                    <p:cond delay="0"/>
                                  </p:stCondLst>
                                  <p:childTnLst>
                                    <p:set>
                                      <p:cBhvr>
                                        <p:cTn id="160" dur="1" fill="hold">
                                          <p:stCondLst>
                                            <p:cond delay="0"/>
                                          </p:stCondLst>
                                        </p:cTn>
                                        <p:tgtEl>
                                          <p:spTgt spid="50"/>
                                        </p:tgtEl>
                                        <p:attrNameLst>
                                          <p:attrName>style.visibility</p:attrName>
                                        </p:attrNameLst>
                                      </p:cBhvr>
                                      <p:to>
                                        <p:strVal val="visible"/>
                                      </p:to>
                                    </p:set>
                                    <p:animEffect transition="in" filter="wipe(left)">
                                      <p:cBhvr>
                                        <p:cTn id="161" dur="1000"/>
                                        <p:tgtEl>
                                          <p:spTgt spid="50"/>
                                        </p:tgtEl>
                                      </p:cBhvr>
                                    </p:animEffect>
                                  </p:childTnLst>
                                </p:cTn>
                              </p:par>
                            </p:childTnLst>
                          </p:cTn>
                        </p:par>
                        <p:par>
                          <p:cTn id="162" fill="hold">
                            <p:stCondLst>
                              <p:cond delay="1000"/>
                            </p:stCondLst>
                            <p:childTnLst>
                              <p:par>
                                <p:cTn id="163" presetID="1" presetClass="emph" presetSubtype="2" fill="hold" nodeType="afterEffect">
                                  <p:stCondLst>
                                    <p:cond delay="0"/>
                                  </p:stCondLst>
                                  <p:childTnLst>
                                    <p:animClr clrSpc="rgb" dir="cw">
                                      <p:cBhvr>
                                        <p:cTn id="164" dur="750" fill="hold"/>
                                        <p:tgtEl>
                                          <p:spTgt spid="11"/>
                                        </p:tgtEl>
                                        <p:attrNameLst>
                                          <p:attrName>fillcolor</p:attrName>
                                        </p:attrNameLst>
                                      </p:cBhvr>
                                      <p:to>
                                        <a:srgbClr val="8BC145"/>
                                      </p:to>
                                    </p:animClr>
                                    <p:set>
                                      <p:cBhvr>
                                        <p:cTn id="165" dur="750" fill="hold"/>
                                        <p:tgtEl>
                                          <p:spTgt spid="11"/>
                                        </p:tgtEl>
                                        <p:attrNameLst>
                                          <p:attrName>fill.type</p:attrName>
                                        </p:attrNameLst>
                                      </p:cBhvr>
                                      <p:to>
                                        <p:strVal val="solid"/>
                                      </p:to>
                                    </p:set>
                                    <p:set>
                                      <p:cBhvr>
                                        <p:cTn id="166" dur="750" fill="hold"/>
                                        <p:tgtEl>
                                          <p:spTgt spid="11"/>
                                        </p:tgtEl>
                                        <p:attrNameLst>
                                          <p:attrName>fill.on</p:attrName>
                                        </p:attrNameLst>
                                      </p:cBhvr>
                                      <p:to>
                                        <p:strVal val="true"/>
                                      </p:to>
                                    </p:set>
                                  </p:childTnLst>
                                </p:cTn>
                              </p:par>
                            </p:childTnLst>
                          </p:cTn>
                        </p:par>
                        <p:par>
                          <p:cTn id="167" fill="hold">
                            <p:stCondLst>
                              <p:cond delay="1750"/>
                            </p:stCondLst>
                            <p:childTnLst>
                              <p:par>
                                <p:cTn id="168" presetID="7" presetClass="emph" presetSubtype="2" fill="hold" nodeType="afterEffect">
                                  <p:stCondLst>
                                    <p:cond delay="0"/>
                                  </p:stCondLst>
                                  <p:childTnLst>
                                    <p:animClr clrSpc="rgb" dir="cw">
                                      <p:cBhvr>
                                        <p:cTn id="169" dur="750" fill="hold"/>
                                        <p:tgtEl>
                                          <p:spTgt spid="22"/>
                                        </p:tgtEl>
                                        <p:attrNameLst>
                                          <p:attrName>stroke.color</p:attrName>
                                        </p:attrNameLst>
                                      </p:cBhvr>
                                      <p:to>
                                        <a:srgbClr val="B84742"/>
                                      </p:to>
                                    </p:animClr>
                                    <p:set>
                                      <p:cBhvr>
                                        <p:cTn id="170" dur="750" fill="hold"/>
                                        <p:tgtEl>
                                          <p:spTgt spid="22"/>
                                        </p:tgtEl>
                                        <p:attrNameLst>
                                          <p:attrName>stroke.on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wipe(left)">
                                      <p:cBhvr>
                                        <p:cTn id="175"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7" grpId="0" animBg="1"/>
      <p:bldP spid="38" grpId="0"/>
      <p:bldP spid="54" grpId="0"/>
      <p:bldP spid="51" grpId="0"/>
      <p:bldP spid="53" grpId="0"/>
      <p:bldP spid="52" grpId="0"/>
      <p:bldP spid="55" grpId="0"/>
      <p:bldP spid="56" grpId="0"/>
      <p:bldP spid="57" grpId="0"/>
      <p:bldP spid="58" grpId="0"/>
      <p:bldP spid="59" grpId="0"/>
      <p:bldP spid="6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188258"/>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Step:3</a:t>
            </a:r>
            <a:endParaRPr lang="en-US" sz="2000" b="1" dirty="0">
              <a:solidFill>
                <a:schemeClr val="bg1"/>
              </a:solidFill>
            </a:endParaRPr>
          </a:p>
        </p:txBody>
      </p:sp>
      <p:sp>
        <p:nvSpPr>
          <p:cNvPr id="38" name="TextBox 37"/>
          <p:cNvSpPr txBox="1"/>
          <p:nvPr/>
        </p:nvSpPr>
        <p:spPr>
          <a:xfrm>
            <a:off x="6316980" y="672937"/>
            <a:ext cx="5669280" cy="430887"/>
          </a:xfrm>
          <a:prstGeom prst="rect">
            <a:avLst/>
          </a:prstGeom>
          <a:noFill/>
        </p:spPr>
        <p:txBody>
          <a:bodyPr wrap="square" rtlCol="0">
            <a:spAutoFit/>
          </a:bodyPr>
          <a:lstStyle/>
          <a:p>
            <a:pPr algn="ctr"/>
            <a:r>
              <a:rPr lang="en-US" sz="2200" b="1" dirty="0">
                <a:solidFill>
                  <a:schemeClr val="accent5"/>
                </a:solidFill>
              </a:rPr>
              <a:t>The minimum spanning tree for the given graph.</a:t>
            </a:r>
          </a:p>
        </p:txBody>
      </p:sp>
      <p:graphicFrame>
        <p:nvGraphicFramePr>
          <p:cNvPr id="39" name="Table 38"/>
          <p:cNvGraphicFramePr>
            <a:graphicFrameLocks noGrp="1"/>
          </p:cNvGraphicFramePr>
          <p:nvPr/>
        </p:nvGraphicFramePr>
        <p:xfrm>
          <a:off x="6531430" y="1238889"/>
          <a:ext cx="5120640" cy="3657600"/>
        </p:xfrm>
        <a:graphic>
          <a:graphicData uri="http://schemas.openxmlformats.org/drawingml/2006/table">
            <a:tbl>
              <a:tblPr firstRow="1" bandRow="1">
                <a:tableStyleId>{5C22544A-7EE6-4342-B048-85BDC9FD1C3A}</a:tableStyleId>
              </a:tblPr>
              <a:tblGrid>
                <a:gridCol w="2390247">
                  <a:extLst>
                    <a:ext uri="{9D8B030D-6E8A-4147-A177-3AD203B41FA5}">
                      <a16:colId xmlns:a16="http://schemas.microsoft.com/office/drawing/2014/main" val="1582560717"/>
                    </a:ext>
                  </a:extLst>
                </a:gridCol>
                <a:gridCol w="2730393">
                  <a:extLst>
                    <a:ext uri="{9D8B030D-6E8A-4147-A177-3AD203B41FA5}">
                      <a16:colId xmlns:a16="http://schemas.microsoft.com/office/drawing/2014/main" val="511824500"/>
                    </a:ext>
                  </a:extLst>
                </a:gridCol>
              </a:tblGrid>
              <a:tr h="392804">
                <a:tc>
                  <a:txBody>
                    <a:bodyPr/>
                    <a:lstStyle/>
                    <a:p>
                      <a:pPr algn="ctr"/>
                      <a:r>
                        <a:rPr lang="en-US" sz="2400" dirty="0">
                          <a:solidFill>
                            <a:schemeClr val="accent2">
                              <a:lumMod val="60000"/>
                              <a:lumOff val="40000"/>
                            </a:schemeClr>
                          </a:solidFill>
                        </a:rPr>
                        <a:t>Node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p>
                      <a:r>
                        <a:rPr lang="en-US" sz="2400" b="1" dirty="0">
                          <a:solidFill>
                            <a:schemeClr val="accent3"/>
                          </a:solidFill>
                          <a:latin typeface="+mn-lt"/>
                        </a:rPr>
                        <a:t>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p>
                      <a:r>
                        <a:rPr lang="en-US" sz="2400" b="1" dirty="0">
                          <a:solidFill>
                            <a:schemeClr val="accent3"/>
                          </a:solidFill>
                          <a:latin typeface="+mn-lt"/>
                        </a:rPr>
                        <a:t>1, 2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{1, 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p>
                      <a:r>
                        <a:rPr lang="en-US" sz="2400" b="1" dirty="0">
                          <a:solidFill>
                            <a:schemeClr val="accent3"/>
                          </a:solidFill>
                          <a:latin typeface="+mn-lt"/>
                        </a:rPr>
                        <a:t>1, 2, 3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{2, 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p>
                      <a:r>
                        <a:rPr lang="en-US" sz="2400" b="1" dirty="0">
                          <a:solidFill>
                            <a:schemeClr val="accent3"/>
                          </a:solidFill>
                          <a:latin typeface="+mn-lt"/>
                        </a:rPr>
                        <a:t>1, 2, 3, 4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{1, 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p>
                      <a:r>
                        <a:rPr lang="en-US" sz="2400" b="1" dirty="0">
                          <a:solidFill>
                            <a:schemeClr val="accent3"/>
                          </a:solidFill>
                          <a:latin typeface="+mn-lt"/>
                        </a:rPr>
                        <a:t>1, 2, 3, 4, 5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{4, 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p>
                      <a:r>
                        <a:rPr lang="en-US" sz="2400" b="1" dirty="0">
                          <a:solidFill>
                            <a:schemeClr val="accent3"/>
                          </a:solidFill>
                          <a:latin typeface="+mn-lt"/>
                        </a:rPr>
                        <a:t>1, 2, 3, 4, 5, 7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effectLst/>
                          <a:latin typeface="+mn-lt"/>
                          <a:ea typeface="Times New Roman" panose="02020603050405020304" pitchFamily="18" charset="0"/>
                          <a:cs typeface="Shruti" panose="020B0502040204020203" pitchFamily="34" charset="0"/>
                        </a:rPr>
                        <a:t>{4,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3"/>
                          </a:solidFill>
                          <a:latin typeface="+mn-lt"/>
                        </a:rPr>
                        <a:t>1, 2, 3, 4, 5, 6,</a:t>
                      </a:r>
                      <a:r>
                        <a:rPr lang="en-US" sz="2400" b="1" baseline="0" dirty="0">
                          <a:solidFill>
                            <a:schemeClr val="accent3"/>
                          </a:solidFill>
                          <a:latin typeface="+mn-lt"/>
                        </a:rPr>
                        <a:t>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{6,</a:t>
                      </a:r>
                      <a:r>
                        <a:rPr lang="en-US" sz="2400" b="1" baseline="0" dirty="0">
                          <a:solidFill>
                            <a:schemeClr val="accent3"/>
                          </a:solidFill>
                          <a:latin typeface="+mn-lt"/>
                        </a:rPr>
                        <a:t>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2978437"/>
                  </a:ext>
                </a:extLst>
              </a:tr>
            </a:tbl>
          </a:graphicData>
        </a:graphic>
      </p:graphicFrame>
      <p:sp>
        <p:nvSpPr>
          <p:cNvPr id="49" name="Rectangle 48"/>
          <p:cNvSpPr/>
          <p:nvPr/>
        </p:nvSpPr>
        <p:spPr>
          <a:xfrm>
            <a:off x="8897598" y="5053221"/>
            <a:ext cx="2780211" cy="461665"/>
          </a:xfrm>
          <a:prstGeom prst="rect">
            <a:avLst/>
          </a:prstGeom>
          <a:solidFill>
            <a:srgbClr val="F9C5D7"/>
          </a:solidFill>
        </p:spPr>
        <p:txBody>
          <a:bodyPr wrap="square">
            <a:spAutoFit/>
          </a:bodyPr>
          <a:lstStyle/>
          <a:p>
            <a:pPr algn="ctr"/>
            <a:r>
              <a:rPr lang="en-US" sz="2400" b="1" dirty="0">
                <a:solidFill>
                  <a:srgbClr val="AD1457"/>
                </a:solidFill>
              </a:rPr>
              <a:t>Total Cost  = 17</a:t>
            </a:r>
          </a:p>
        </p:txBody>
      </p:sp>
    </p:spTree>
    <p:extLst>
      <p:ext uri="{BB962C8B-B14F-4D97-AF65-F5344CB8AC3E}">
        <p14:creationId xmlns:p14="http://schemas.microsoft.com/office/powerpoint/2010/main" val="28804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up)">
                                      <p:cBhvr>
                                        <p:cTn id="14" dur="2000"/>
                                        <p:tgtEl>
                                          <p:spTgt spid="39"/>
                                        </p:tgtEl>
                                      </p:cBhvr>
                                    </p:animEffect>
                                  </p:childTnLst>
                                </p:cTn>
                              </p:par>
                            </p:childTnLst>
                          </p:cTn>
                        </p:par>
                        <p:par>
                          <p:cTn id="15" fill="hold">
                            <p:stCondLst>
                              <p:cond delay="2500"/>
                            </p:stCondLst>
                            <p:childTnLst>
                              <p:par>
                                <p:cTn id="16" presetID="10" presetClass="entr" presetSubtype="0"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 – Example 1</a:t>
            </a:r>
          </a:p>
        </p:txBody>
      </p:sp>
      <p:graphicFrame>
        <p:nvGraphicFramePr>
          <p:cNvPr id="3" name="Table 2"/>
          <p:cNvGraphicFramePr>
            <a:graphicFrameLocks noGrp="1"/>
          </p:cNvGraphicFramePr>
          <p:nvPr/>
        </p:nvGraphicFramePr>
        <p:xfrm>
          <a:off x="2050357" y="3213846"/>
          <a:ext cx="8091286" cy="3334512"/>
        </p:xfrm>
        <a:graphic>
          <a:graphicData uri="http://schemas.openxmlformats.org/drawingml/2006/table">
            <a:tbl>
              <a:tblPr firstRow="1" firstCol="1" bandRow="1">
                <a:tableStyleId>{5C22544A-7EE6-4342-B048-85BDC9FD1C3A}</a:tableStyleId>
              </a:tblPr>
              <a:tblGrid>
                <a:gridCol w="799521">
                  <a:extLst>
                    <a:ext uri="{9D8B030D-6E8A-4147-A177-3AD203B41FA5}">
                      <a16:colId xmlns:a16="http://schemas.microsoft.com/office/drawing/2014/main" val="3576670481"/>
                    </a:ext>
                  </a:extLst>
                </a:gridCol>
                <a:gridCol w="1291048">
                  <a:extLst>
                    <a:ext uri="{9D8B030D-6E8A-4147-A177-3AD203B41FA5}">
                      <a16:colId xmlns:a16="http://schemas.microsoft.com/office/drawing/2014/main" val="363215103"/>
                    </a:ext>
                  </a:extLst>
                </a:gridCol>
                <a:gridCol w="1971271">
                  <a:extLst>
                    <a:ext uri="{9D8B030D-6E8A-4147-A177-3AD203B41FA5}">
                      <a16:colId xmlns:a16="http://schemas.microsoft.com/office/drawing/2014/main" val="1607079190"/>
                    </a:ext>
                  </a:extLst>
                </a:gridCol>
                <a:gridCol w="4029446">
                  <a:extLst>
                    <a:ext uri="{9D8B030D-6E8A-4147-A177-3AD203B41FA5}">
                      <a16:colId xmlns:a16="http://schemas.microsoft.com/office/drawing/2014/main" val="3217155832"/>
                    </a:ext>
                  </a:extLst>
                </a:gridCol>
              </a:tblGrid>
              <a:tr h="958919">
                <a:tc>
                  <a:txBody>
                    <a:bodyPr/>
                    <a:lstStyle/>
                    <a:p>
                      <a:pPr marL="0" marR="0" algn="ctr">
                        <a:lnSpc>
                          <a:spcPct val="115000"/>
                        </a:lnSpc>
                        <a:spcBef>
                          <a:spcPts val="0"/>
                        </a:spcBef>
                        <a:spcAft>
                          <a:spcPts val="0"/>
                        </a:spcAft>
                      </a:pPr>
                      <a:r>
                        <a:rPr lang="en-US" sz="2000" dirty="0">
                          <a:solidFill>
                            <a:srgbClr val="C00000"/>
                          </a:solidFill>
                          <a:effectLst/>
                        </a:rPr>
                        <a:t>Step</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Edge Selected {u, v}</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Set B</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Edges Considered</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27897"/>
                  </a:ext>
                </a:extLst>
              </a:tr>
              <a:tr h="319640">
                <a:tc>
                  <a:txBody>
                    <a:bodyPr/>
                    <a:lstStyle/>
                    <a:p>
                      <a:pPr marL="0" marR="0" algn="ctr">
                        <a:lnSpc>
                          <a:spcPct val="115000"/>
                        </a:lnSpc>
                        <a:spcBef>
                          <a:spcPts val="0"/>
                        </a:spcBef>
                        <a:spcAft>
                          <a:spcPts val="0"/>
                        </a:spcAft>
                      </a:pPr>
                      <a:r>
                        <a:rPr lang="en-US" sz="2000" dirty="0" err="1">
                          <a:solidFill>
                            <a:schemeClr val="tx1"/>
                          </a:solidFill>
                          <a:effectLst/>
                        </a:rPr>
                        <a:t>Init.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658536"/>
                  </a:ext>
                </a:extLst>
              </a:tr>
              <a:tr h="319640">
                <a:tc>
                  <a:txBody>
                    <a:bodyPr/>
                    <a:lstStyle/>
                    <a:p>
                      <a:pPr marL="0" marR="0" algn="ctr">
                        <a:lnSpc>
                          <a:spcPct val="115000"/>
                        </a:lnSpc>
                        <a:spcBef>
                          <a:spcPts val="0"/>
                        </a:spcBef>
                        <a:spcAft>
                          <a:spcPts val="0"/>
                        </a:spcAft>
                      </a:pPr>
                      <a:r>
                        <a:rPr lang="en-US" sz="2000" b="0" dirty="0">
                          <a:solidFill>
                            <a:schemeClr val="tx1"/>
                          </a:solidFill>
                          <a:effectLst/>
                        </a:rPr>
                        <a:t>1</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 2}</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b="1" dirty="0">
                          <a:solidFill>
                            <a:srgbClr val="AD1457"/>
                          </a:solidFill>
                          <a:effectLst/>
                        </a:rPr>
                        <a:t>{1,2} </a:t>
                      </a:r>
                      <a:r>
                        <a:rPr lang="en-US" sz="2000" dirty="0">
                          <a:solidFill>
                            <a:schemeClr val="tx1"/>
                          </a:solidFill>
                          <a:effectLst/>
                        </a:rPr>
                        <a:t>{1,4}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234964"/>
                  </a:ext>
                </a:extLst>
              </a:tr>
              <a:tr h="319640">
                <a:tc>
                  <a:txBody>
                    <a:bodyPr/>
                    <a:lstStyle/>
                    <a:p>
                      <a:pPr marL="0" marR="0" algn="ctr">
                        <a:lnSpc>
                          <a:spcPct val="115000"/>
                        </a:lnSpc>
                        <a:spcBef>
                          <a:spcPts val="0"/>
                        </a:spcBef>
                        <a:spcAft>
                          <a:spcPts val="0"/>
                        </a:spcAft>
                      </a:pPr>
                      <a:r>
                        <a:rPr lang="en-US" sz="2000" b="0" dirty="0">
                          <a:solidFill>
                            <a:schemeClr val="tx1"/>
                          </a:solidFill>
                          <a:effectLst/>
                        </a:rPr>
                        <a:t>2</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{2, 3}</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{1,4} </a:t>
                      </a:r>
                      <a:r>
                        <a:rPr lang="en-US" sz="2000" b="1" dirty="0">
                          <a:solidFill>
                            <a:srgbClr val="AD1457"/>
                          </a:solidFill>
                          <a:effectLst/>
                        </a:rPr>
                        <a:t>{2,3} </a:t>
                      </a:r>
                      <a:r>
                        <a:rPr lang="en-US" sz="2000" dirty="0">
                          <a:solidFill>
                            <a:schemeClr val="tx1"/>
                          </a:solidFill>
                          <a:effectLst/>
                        </a:rPr>
                        <a:t>{2,4} {2,5}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923097"/>
                  </a:ext>
                </a:extLst>
              </a:tr>
              <a:tr h="319640">
                <a:tc>
                  <a:txBody>
                    <a:bodyPr/>
                    <a:lstStyle/>
                    <a:p>
                      <a:pPr marL="0" marR="0" algn="ctr">
                        <a:lnSpc>
                          <a:spcPct val="115000"/>
                        </a:lnSpc>
                        <a:spcBef>
                          <a:spcPts val="0"/>
                        </a:spcBef>
                        <a:spcAft>
                          <a:spcPts val="0"/>
                        </a:spcAft>
                      </a:pPr>
                      <a:r>
                        <a:rPr lang="en-US" sz="2000" b="0" dirty="0">
                          <a:solidFill>
                            <a:schemeClr val="tx1"/>
                          </a:solidFill>
                          <a:effectLst/>
                        </a:rPr>
                        <a:t>3</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 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b="1" dirty="0">
                          <a:solidFill>
                            <a:srgbClr val="AD1457"/>
                          </a:solidFill>
                          <a:effectLst/>
                        </a:rPr>
                        <a:t>{1,4} </a:t>
                      </a:r>
                      <a:r>
                        <a:rPr lang="en-US" sz="2000" b="0" dirty="0">
                          <a:solidFill>
                            <a:schemeClr val="tx1"/>
                          </a:solidFill>
                          <a:effectLst/>
                        </a:rPr>
                        <a:t>{</a:t>
                      </a:r>
                      <a:r>
                        <a:rPr lang="en-US" sz="2000" dirty="0">
                          <a:solidFill>
                            <a:schemeClr val="tx1"/>
                          </a:solidFill>
                          <a:effectLst/>
                        </a:rPr>
                        <a:t>2,4} {2,5} {3,5} {3,6}</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6160645"/>
                  </a:ext>
                </a:extLst>
              </a:tr>
              <a:tr h="319640">
                <a:tc>
                  <a:txBody>
                    <a:bodyPr/>
                    <a:lstStyle/>
                    <a:p>
                      <a:pPr marL="0" marR="0" algn="ctr">
                        <a:lnSpc>
                          <a:spcPct val="115000"/>
                        </a:lnSpc>
                        <a:spcBef>
                          <a:spcPts val="0"/>
                        </a:spcBef>
                        <a:spcAft>
                          <a:spcPts val="0"/>
                        </a:spcAft>
                      </a:pPr>
                      <a:r>
                        <a:rPr lang="en-US" sz="2000" b="0" dirty="0">
                          <a:solidFill>
                            <a:schemeClr val="tx1"/>
                          </a:solidFill>
                          <a:effectLst/>
                        </a:rPr>
                        <a:t>4</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{4, 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a:t>
                      </a:r>
                      <a:r>
                        <a:rPr lang="en-US" sz="2000" b="1" dirty="0">
                          <a:solidFill>
                            <a:srgbClr val="AD1457"/>
                          </a:solidFill>
                          <a:effectLst/>
                        </a:rPr>
                        <a:t>{4,5} </a:t>
                      </a:r>
                      <a:r>
                        <a:rPr lang="en-US" sz="2000" dirty="0">
                          <a:solidFill>
                            <a:schemeClr val="tx1"/>
                          </a:solidFill>
                          <a:effectLst/>
                        </a:rPr>
                        <a:t>{4,7}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235520"/>
                  </a:ext>
                </a:extLst>
              </a:tr>
              <a:tr h="319640">
                <a:tc>
                  <a:txBody>
                    <a:bodyPr/>
                    <a:lstStyle/>
                    <a:p>
                      <a:pPr marL="0" marR="0" algn="ctr">
                        <a:lnSpc>
                          <a:spcPct val="115000"/>
                        </a:lnSpc>
                        <a:spcBef>
                          <a:spcPts val="0"/>
                        </a:spcBef>
                        <a:spcAft>
                          <a:spcPts val="0"/>
                        </a:spcAft>
                      </a:pPr>
                      <a:r>
                        <a:rPr lang="en-US" sz="2000" b="0" dirty="0">
                          <a:solidFill>
                            <a:schemeClr val="tx1"/>
                          </a:solidFill>
                          <a:effectLst/>
                        </a:rPr>
                        <a:t>5</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{4, 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a:t>
                      </a:r>
                      <a:r>
                        <a:rPr lang="en-US" sz="2000" b="1" dirty="0">
                          <a:solidFill>
                            <a:srgbClr val="AD1457"/>
                          </a:solidFill>
                          <a:effectLst/>
                        </a:rPr>
                        <a:t>{4,7} </a:t>
                      </a:r>
                      <a:r>
                        <a:rPr lang="en-US" sz="2000" dirty="0">
                          <a:solidFill>
                            <a:schemeClr val="tx1"/>
                          </a:solidFill>
                          <a:effectLst/>
                        </a:rPr>
                        <a:t>{5,6} {5,7}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5800324"/>
                  </a:ext>
                </a:extLst>
              </a:tr>
              <a:tr h="319640">
                <a:tc>
                  <a:txBody>
                    <a:bodyPr/>
                    <a:lstStyle/>
                    <a:p>
                      <a:pPr marL="0" marR="0" algn="ctr">
                        <a:lnSpc>
                          <a:spcPct val="115000"/>
                        </a:lnSpc>
                        <a:spcBef>
                          <a:spcPts val="0"/>
                        </a:spcBef>
                        <a:spcAft>
                          <a:spcPts val="0"/>
                        </a:spcAft>
                      </a:pPr>
                      <a:r>
                        <a:rPr lang="en-US" sz="2000" b="0" dirty="0">
                          <a:solidFill>
                            <a:schemeClr val="tx1"/>
                          </a:solidFill>
                          <a:effectLst/>
                        </a:rPr>
                        <a:t>6</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{6,7}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{1,2,3,4,5,6,7}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{5,6} {5,7} </a:t>
                      </a:r>
                      <a:r>
                        <a:rPr lang="en-US" sz="2000" b="1" dirty="0">
                          <a:solidFill>
                            <a:srgbClr val="AD1457"/>
                          </a:solidFill>
                          <a:effectLst/>
                        </a:rPr>
                        <a:t>{6,7}</a:t>
                      </a:r>
                      <a:endParaRPr lang="en-US" sz="2000" b="1"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755033"/>
                  </a:ext>
                </a:extLst>
              </a:tr>
            </a:tbl>
          </a:graphicData>
        </a:graphic>
      </p:graphicFrame>
      <p:cxnSp>
        <p:nvCxnSpPr>
          <p:cNvPr id="4" name="Straight Arrow Connector 3"/>
          <p:cNvCxnSpPr/>
          <p:nvPr/>
        </p:nvCxnSpPr>
        <p:spPr>
          <a:xfrm>
            <a:off x="5255656" y="1371600"/>
            <a:ext cx="1676400" cy="0"/>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0304162" y="737909"/>
            <a:ext cx="1394915" cy="461665"/>
          </a:xfrm>
          <a:prstGeom prst="rect">
            <a:avLst/>
          </a:prstGeom>
          <a:solidFill>
            <a:schemeClr val="accent2">
              <a:lumMod val="20000"/>
              <a:lumOff val="80000"/>
            </a:schemeClr>
          </a:solidFill>
        </p:spPr>
        <p:txBody>
          <a:bodyPr wrap="square" rtlCol="0">
            <a:spAutoFit/>
          </a:bodyPr>
          <a:lstStyle/>
          <a:p>
            <a:r>
              <a:rPr lang="en-US" sz="2400" b="1" dirty="0">
                <a:solidFill>
                  <a:srgbClr val="AD1457"/>
                </a:solidFill>
              </a:rPr>
              <a:t>Cost = 17</a:t>
            </a:r>
          </a:p>
        </p:txBody>
      </p:sp>
      <p:pic>
        <p:nvPicPr>
          <p:cNvPr id="6" name="Picture 5"/>
          <p:cNvPicPr>
            <a:picLocks noChangeAspect="1"/>
          </p:cNvPicPr>
          <p:nvPr/>
        </p:nvPicPr>
        <p:blipFill>
          <a:blip r:embed="rId2"/>
          <a:stretch>
            <a:fillRect/>
          </a:stretch>
        </p:blipFill>
        <p:spPr>
          <a:xfrm>
            <a:off x="1836485" y="242047"/>
            <a:ext cx="2888926" cy="2743200"/>
          </a:xfrm>
          <a:prstGeom prst="rect">
            <a:avLst/>
          </a:prstGeom>
        </p:spPr>
      </p:pic>
      <p:pic>
        <p:nvPicPr>
          <p:cNvPr id="7" name="Picture 6"/>
          <p:cNvPicPr>
            <a:picLocks noChangeAspect="1"/>
          </p:cNvPicPr>
          <p:nvPr/>
        </p:nvPicPr>
        <p:blipFill>
          <a:blip r:embed="rId3"/>
          <a:stretch>
            <a:fillRect/>
          </a:stretch>
        </p:blipFill>
        <p:spPr>
          <a:xfrm>
            <a:off x="7462300" y="242047"/>
            <a:ext cx="2888926" cy="2743200"/>
          </a:xfrm>
          <a:prstGeom prst="rect">
            <a:avLst/>
          </a:prstGeom>
        </p:spPr>
      </p:pic>
    </p:spTree>
    <p:extLst>
      <p:ext uri="{BB962C8B-B14F-4D97-AF65-F5344CB8AC3E}">
        <p14:creationId xmlns:p14="http://schemas.microsoft.com/office/powerpoint/2010/main" val="242365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out)">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amond(out)">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Write the Prim’s Algorithm to find out Minimum Spanning Tree. Apply the same and find MST for the graph given below.</a:t>
            </a:r>
          </a:p>
          <a:p>
            <a:endParaRPr lang="en-US" dirty="0"/>
          </a:p>
        </p:txBody>
      </p:sp>
      <p:sp>
        <p:nvSpPr>
          <p:cNvPr id="4" name="Text Box 56"/>
          <p:cNvSpPr txBox="1">
            <a:spLocks noChangeArrowheads="1"/>
          </p:cNvSpPr>
          <p:nvPr/>
        </p:nvSpPr>
        <p:spPr bwMode="auto">
          <a:xfrm>
            <a:off x="1556665" y="3896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5" name="Line 57"/>
          <p:cNvSpPr>
            <a:spLocks noChangeShapeType="1"/>
          </p:cNvSpPr>
          <p:nvPr/>
        </p:nvSpPr>
        <p:spPr bwMode="auto">
          <a:xfrm flipH="1">
            <a:off x="4257003" y="4201491"/>
            <a:ext cx="3810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58"/>
          <p:cNvSpPr txBox="1">
            <a:spLocks noChangeArrowheads="1"/>
          </p:cNvSpPr>
          <p:nvPr/>
        </p:nvSpPr>
        <p:spPr bwMode="auto">
          <a:xfrm>
            <a:off x="4147465" y="4594159"/>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   1</a:t>
            </a:r>
          </a:p>
        </p:txBody>
      </p:sp>
      <p:sp>
        <p:nvSpPr>
          <p:cNvPr id="7" name="Line 59"/>
          <p:cNvSpPr>
            <a:spLocks noChangeShapeType="1"/>
          </p:cNvSpPr>
          <p:nvPr/>
        </p:nvSpPr>
        <p:spPr bwMode="auto">
          <a:xfrm>
            <a:off x="3004465" y="3248991"/>
            <a:ext cx="152400" cy="6858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60"/>
          <p:cNvSpPr>
            <a:spLocks noChangeShapeType="1"/>
          </p:cNvSpPr>
          <p:nvPr/>
        </p:nvSpPr>
        <p:spPr bwMode="auto">
          <a:xfrm flipV="1">
            <a:off x="3309265" y="3363291"/>
            <a:ext cx="5334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1"/>
          <p:cNvSpPr>
            <a:spLocks noChangeShapeType="1"/>
          </p:cNvSpPr>
          <p:nvPr/>
        </p:nvSpPr>
        <p:spPr bwMode="auto">
          <a:xfrm flipH="1" flipV="1">
            <a:off x="3156865" y="3287091"/>
            <a:ext cx="1219200" cy="8382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62"/>
          <p:cNvSpPr>
            <a:spLocks noChangeShapeType="1"/>
          </p:cNvSpPr>
          <p:nvPr/>
        </p:nvSpPr>
        <p:spPr bwMode="auto">
          <a:xfrm flipV="1">
            <a:off x="1937665" y="4201490"/>
            <a:ext cx="1021894" cy="314429"/>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3"/>
          <p:cNvSpPr>
            <a:spLocks noChangeShapeType="1"/>
          </p:cNvSpPr>
          <p:nvPr/>
        </p:nvSpPr>
        <p:spPr bwMode="auto">
          <a:xfrm flipV="1">
            <a:off x="2852065" y="4276580"/>
            <a:ext cx="1447800" cy="83931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64"/>
          <p:cNvSpPr>
            <a:spLocks noChangeShapeType="1"/>
          </p:cNvSpPr>
          <p:nvPr/>
        </p:nvSpPr>
        <p:spPr bwMode="auto">
          <a:xfrm flipV="1">
            <a:off x="1785264" y="3820490"/>
            <a:ext cx="78607" cy="550251"/>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65"/>
          <p:cNvSpPr>
            <a:spLocks noChangeShapeType="1"/>
          </p:cNvSpPr>
          <p:nvPr/>
        </p:nvSpPr>
        <p:spPr bwMode="auto">
          <a:xfrm>
            <a:off x="2013864" y="3668090"/>
            <a:ext cx="94328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66"/>
          <p:cNvSpPr>
            <a:spLocks noChangeShapeType="1"/>
          </p:cNvSpPr>
          <p:nvPr/>
        </p:nvSpPr>
        <p:spPr bwMode="auto">
          <a:xfrm>
            <a:off x="3201315" y="3091829"/>
            <a:ext cx="6096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67"/>
          <p:cNvSpPr>
            <a:spLocks noChangeShapeType="1"/>
          </p:cNvSpPr>
          <p:nvPr/>
        </p:nvSpPr>
        <p:spPr bwMode="auto">
          <a:xfrm>
            <a:off x="4071265" y="3363291"/>
            <a:ext cx="381000" cy="609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Oval 68"/>
          <p:cNvSpPr>
            <a:spLocks noChangeArrowheads="1"/>
          </p:cNvSpPr>
          <p:nvPr/>
        </p:nvSpPr>
        <p:spPr bwMode="auto">
          <a:xfrm>
            <a:off x="1556665" y="3515691"/>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69"/>
          <p:cNvSpPr>
            <a:spLocks noChangeArrowheads="1"/>
          </p:cNvSpPr>
          <p:nvPr/>
        </p:nvSpPr>
        <p:spPr bwMode="auto">
          <a:xfrm>
            <a:off x="1709065" y="3363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A</a:t>
            </a:r>
          </a:p>
        </p:txBody>
      </p:sp>
      <p:sp>
        <p:nvSpPr>
          <p:cNvPr id="18" name="Oval 70"/>
          <p:cNvSpPr>
            <a:spLocks noChangeArrowheads="1"/>
          </p:cNvSpPr>
          <p:nvPr/>
        </p:nvSpPr>
        <p:spPr bwMode="auto">
          <a:xfrm>
            <a:off x="1556665" y="42776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H</a:t>
            </a:r>
          </a:p>
        </p:txBody>
      </p:sp>
      <p:sp>
        <p:nvSpPr>
          <p:cNvPr id="19" name="Oval 71"/>
          <p:cNvSpPr>
            <a:spLocks noChangeArrowheads="1"/>
          </p:cNvSpPr>
          <p:nvPr/>
        </p:nvSpPr>
        <p:spPr bwMode="auto">
          <a:xfrm>
            <a:off x="2928265" y="38966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B</a:t>
            </a:r>
          </a:p>
        </p:txBody>
      </p:sp>
      <p:sp>
        <p:nvSpPr>
          <p:cNvPr id="20" name="Oval 72"/>
          <p:cNvSpPr>
            <a:spLocks noChangeArrowheads="1"/>
          </p:cNvSpPr>
          <p:nvPr/>
        </p:nvSpPr>
        <p:spPr bwMode="auto">
          <a:xfrm>
            <a:off x="2775865" y="29060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F</a:t>
            </a:r>
          </a:p>
        </p:txBody>
      </p:sp>
      <p:sp>
        <p:nvSpPr>
          <p:cNvPr id="21" name="Oval 73"/>
          <p:cNvSpPr>
            <a:spLocks noChangeArrowheads="1"/>
          </p:cNvSpPr>
          <p:nvPr/>
        </p:nvSpPr>
        <p:spPr bwMode="auto">
          <a:xfrm>
            <a:off x="3842665" y="4887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E</a:t>
            </a:r>
          </a:p>
        </p:txBody>
      </p:sp>
      <p:sp>
        <p:nvSpPr>
          <p:cNvPr id="22" name="Oval 74"/>
          <p:cNvSpPr>
            <a:spLocks noChangeArrowheads="1"/>
          </p:cNvSpPr>
          <p:nvPr/>
        </p:nvSpPr>
        <p:spPr bwMode="auto">
          <a:xfrm>
            <a:off x="4299865" y="39728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D</a:t>
            </a:r>
          </a:p>
        </p:txBody>
      </p:sp>
      <p:sp>
        <p:nvSpPr>
          <p:cNvPr id="23" name="Oval 75"/>
          <p:cNvSpPr>
            <a:spLocks noChangeArrowheads="1"/>
          </p:cNvSpPr>
          <p:nvPr/>
        </p:nvSpPr>
        <p:spPr bwMode="auto">
          <a:xfrm>
            <a:off x="3766465" y="2982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C</a:t>
            </a:r>
          </a:p>
        </p:txBody>
      </p:sp>
      <p:sp>
        <p:nvSpPr>
          <p:cNvPr id="24" name="Oval 76"/>
          <p:cNvSpPr>
            <a:spLocks noChangeArrowheads="1"/>
          </p:cNvSpPr>
          <p:nvPr/>
        </p:nvSpPr>
        <p:spPr bwMode="auto">
          <a:xfrm>
            <a:off x="2547265" y="4887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G</a:t>
            </a:r>
          </a:p>
        </p:txBody>
      </p:sp>
      <p:sp>
        <p:nvSpPr>
          <p:cNvPr id="25" name="Line 77"/>
          <p:cNvSpPr>
            <a:spLocks noChangeShapeType="1"/>
          </p:cNvSpPr>
          <p:nvPr/>
        </p:nvSpPr>
        <p:spPr bwMode="auto">
          <a:xfrm>
            <a:off x="3309265" y="4277690"/>
            <a:ext cx="609600" cy="674133"/>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78"/>
          <p:cNvSpPr>
            <a:spLocks noChangeShapeType="1"/>
          </p:cNvSpPr>
          <p:nvPr/>
        </p:nvSpPr>
        <p:spPr bwMode="auto">
          <a:xfrm flipH="1">
            <a:off x="3004465" y="5192091"/>
            <a:ext cx="838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79"/>
          <p:cNvSpPr>
            <a:spLocks noChangeShapeType="1"/>
          </p:cNvSpPr>
          <p:nvPr/>
        </p:nvSpPr>
        <p:spPr bwMode="auto">
          <a:xfrm flipH="1" flipV="1">
            <a:off x="1937664" y="4658690"/>
            <a:ext cx="62885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80"/>
          <p:cNvSpPr txBox="1">
            <a:spLocks noChangeArrowheads="1"/>
          </p:cNvSpPr>
          <p:nvPr/>
        </p:nvSpPr>
        <p:spPr bwMode="auto">
          <a:xfrm>
            <a:off x="3309265" y="5115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29" name="Text Box 81"/>
          <p:cNvSpPr txBox="1">
            <a:spLocks noChangeArrowheads="1"/>
          </p:cNvSpPr>
          <p:nvPr/>
        </p:nvSpPr>
        <p:spPr bwMode="auto">
          <a:xfrm>
            <a:off x="3134640" y="45062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30" name="Text Box 82"/>
          <p:cNvSpPr txBox="1">
            <a:spLocks noChangeArrowheads="1"/>
          </p:cNvSpPr>
          <p:nvPr/>
        </p:nvSpPr>
        <p:spPr bwMode="auto">
          <a:xfrm>
            <a:off x="3439440" y="42014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1" name="Text Box 83"/>
          <p:cNvSpPr txBox="1">
            <a:spLocks noChangeArrowheads="1"/>
          </p:cNvSpPr>
          <p:nvPr/>
        </p:nvSpPr>
        <p:spPr bwMode="auto">
          <a:xfrm>
            <a:off x="3766465" y="3787154"/>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6</a:t>
            </a:r>
          </a:p>
        </p:txBody>
      </p:sp>
      <p:sp>
        <p:nvSpPr>
          <p:cNvPr id="32" name="Text Box 84"/>
          <p:cNvSpPr txBox="1">
            <a:spLocks noChangeArrowheads="1"/>
          </p:cNvSpPr>
          <p:nvPr/>
        </p:nvSpPr>
        <p:spPr bwMode="auto">
          <a:xfrm>
            <a:off x="4223665" y="34394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33" name="Text Box 85"/>
          <p:cNvSpPr txBox="1">
            <a:spLocks noChangeArrowheads="1"/>
          </p:cNvSpPr>
          <p:nvPr/>
        </p:nvSpPr>
        <p:spPr bwMode="auto">
          <a:xfrm>
            <a:off x="3298153" y="3515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4" name="Text Box 88"/>
          <p:cNvSpPr txBox="1">
            <a:spLocks noChangeArrowheads="1"/>
          </p:cNvSpPr>
          <p:nvPr/>
        </p:nvSpPr>
        <p:spPr bwMode="auto">
          <a:xfrm>
            <a:off x="2463626" y="3591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8</a:t>
            </a:r>
          </a:p>
        </p:txBody>
      </p:sp>
      <p:sp>
        <p:nvSpPr>
          <p:cNvPr id="35" name="Text Box 89"/>
          <p:cNvSpPr txBox="1">
            <a:spLocks noChangeArrowheads="1"/>
          </p:cNvSpPr>
          <p:nvPr/>
        </p:nvSpPr>
        <p:spPr bwMode="auto">
          <a:xfrm>
            <a:off x="2242465" y="4049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4</a:t>
            </a:r>
          </a:p>
        </p:txBody>
      </p:sp>
      <p:sp>
        <p:nvSpPr>
          <p:cNvPr id="36" name="Text Box 90"/>
          <p:cNvSpPr txBox="1">
            <a:spLocks noChangeArrowheads="1"/>
          </p:cNvSpPr>
          <p:nvPr/>
        </p:nvSpPr>
        <p:spPr bwMode="auto">
          <a:xfrm>
            <a:off x="2078953" y="480156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37" name="Line 91"/>
          <p:cNvSpPr>
            <a:spLocks noChangeShapeType="1"/>
          </p:cNvSpPr>
          <p:nvPr/>
        </p:nvSpPr>
        <p:spPr bwMode="auto">
          <a:xfrm flipV="1">
            <a:off x="2052244" y="3093747"/>
            <a:ext cx="725896" cy="28002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92"/>
          <p:cNvSpPr txBox="1">
            <a:spLocks noChangeArrowheads="1"/>
          </p:cNvSpPr>
          <p:nvPr/>
        </p:nvSpPr>
        <p:spPr bwMode="auto">
          <a:xfrm>
            <a:off x="2166265" y="29060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10</a:t>
            </a:r>
          </a:p>
        </p:txBody>
      </p:sp>
      <p:sp>
        <p:nvSpPr>
          <p:cNvPr id="39" name="Text Box 84"/>
          <p:cNvSpPr txBox="1">
            <a:spLocks noChangeArrowheads="1"/>
          </p:cNvSpPr>
          <p:nvPr/>
        </p:nvSpPr>
        <p:spPr bwMode="auto">
          <a:xfrm>
            <a:off x="3309265" y="27875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40" name="Text Box 87"/>
          <p:cNvSpPr txBox="1">
            <a:spLocks noChangeArrowheads="1"/>
          </p:cNvSpPr>
          <p:nvPr/>
        </p:nvSpPr>
        <p:spPr bwMode="auto">
          <a:xfrm>
            <a:off x="2852065" y="3439490"/>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en-US" b="1"/>
              <a:t>4</a:t>
            </a:r>
          </a:p>
        </p:txBody>
      </p:sp>
      <p:cxnSp>
        <p:nvCxnSpPr>
          <p:cNvPr id="41" name="Straight Connector 40"/>
          <p:cNvCxnSpPr/>
          <p:nvPr/>
        </p:nvCxnSpPr>
        <p:spPr>
          <a:xfrm flipH="1">
            <a:off x="5184750" y="2512028"/>
            <a:ext cx="908" cy="314094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1556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6664" y="2292009"/>
                <a:ext cx="457200" cy="461665"/>
              </a:xfrm>
              <a:prstGeom prst="rect">
                <a:avLst/>
              </a:prstGeom>
              <a:blipFill>
                <a:blip r:embed="rId2"/>
                <a:stretch>
                  <a:fillRect/>
                </a:stretch>
              </a:blipFill>
            </p:spPr>
            <p:txBody>
              <a:bodyPr/>
              <a:lstStyle/>
              <a:p>
                <a:r>
                  <a:rPr lang="en-US">
                    <a:noFill/>
                  </a:rPr>
                  <a:t> </a:t>
                </a:r>
              </a:p>
            </p:txBody>
          </p:sp>
        </mc:Fallback>
      </mc:AlternateContent>
      <p:sp>
        <p:nvSpPr>
          <p:cNvPr id="43" name="Oval 42"/>
          <p:cNvSpPr/>
          <p:nvPr/>
        </p:nvSpPr>
        <p:spPr>
          <a:xfrm>
            <a:off x="7424065" y="2753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4" name="Oval 43"/>
          <p:cNvSpPr/>
          <p:nvPr/>
        </p:nvSpPr>
        <p:spPr>
          <a:xfrm>
            <a:off x="6814465" y="32870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5" name="Oval 44"/>
          <p:cNvSpPr/>
          <p:nvPr/>
        </p:nvSpPr>
        <p:spPr>
          <a:xfrm>
            <a:off x="8109865" y="32870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6" name="Oval 45"/>
          <p:cNvSpPr/>
          <p:nvPr/>
        </p:nvSpPr>
        <p:spPr>
          <a:xfrm>
            <a:off x="63572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7" name="Oval 46"/>
          <p:cNvSpPr/>
          <p:nvPr/>
        </p:nvSpPr>
        <p:spPr>
          <a:xfrm>
            <a:off x="71954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8" name="Oval 47"/>
          <p:cNvSpPr/>
          <p:nvPr/>
        </p:nvSpPr>
        <p:spPr>
          <a:xfrm>
            <a:off x="78050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49" name="Oval 48"/>
          <p:cNvSpPr/>
          <p:nvPr/>
        </p:nvSpPr>
        <p:spPr>
          <a:xfrm>
            <a:off x="85670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50" name="Oval 49"/>
          <p:cNvSpPr/>
          <p:nvPr/>
        </p:nvSpPr>
        <p:spPr>
          <a:xfrm>
            <a:off x="7424065" y="5039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51" name="Straight Connector 50"/>
          <p:cNvCxnSpPr>
            <a:stCxn id="43" idx="3"/>
            <a:endCxn id="44" idx="7"/>
          </p:cNvCxnSpPr>
          <p:nvPr/>
        </p:nvCxnSpPr>
        <p:spPr>
          <a:xfrm flipH="1">
            <a:off x="7204710" y="3143936"/>
            <a:ext cx="2863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3" idx="5"/>
            <a:endCxn id="45" idx="1"/>
          </p:cNvCxnSpPr>
          <p:nvPr/>
        </p:nvCxnSpPr>
        <p:spPr>
          <a:xfrm>
            <a:off x="7814310" y="3143936"/>
            <a:ext cx="3625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4" idx="3"/>
            <a:endCxn id="46" idx="0"/>
          </p:cNvCxnSpPr>
          <p:nvPr/>
        </p:nvCxnSpPr>
        <p:spPr>
          <a:xfrm flipH="1">
            <a:off x="6585865" y="3677336"/>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4" idx="5"/>
            <a:endCxn id="47" idx="0"/>
          </p:cNvCxnSpPr>
          <p:nvPr/>
        </p:nvCxnSpPr>
        <p:spPr>
          <a:xfrm>
            <a:off x="7204710" y="3677336"/>
            <a:ext cx="2193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5" idx="3"/>
            <a:endCxn id="48" idx="0"/>
          </p:cNvCxnSpPr>
          <p:nvPr/>
        </p:nvCxnSpPr>
        <p:spPr>
          <a:xfrm flipH="1">
            <a:off x="8033665" y="3677336"/>
            <a:ext cx="1431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5" idx="5"/>
            <a:endCxn id="49" idx="0"/>
          </p:cNvCxnSpPr>
          <p:nvPr/>
        </p:nvCxnSpPr>
        <p:spPr>
          <a:xfrm>
            <a:off x="8500110" y="3677336"/>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6" idx="4"/>
            <a:endCxn id="50" idx="2"/>
          </p:cNvCxnSpPr>
          <p:nvPr/>
        </p:nvCxnSpPr>
        <p:spPr>
          <a:xfrm>
            <a:off x="6585865" y="4353891"/>
            <a:ext cx="8382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7" idx="4"/>
            <a:endCxn id="50" idx="1"/>
          </p:cNvCxnSpPr>
          <p:nvPr/>
        </p:nvCxnSpPr>
        <p:spPr>
          <a:xfrm>
            <a:off x="7424065" y="4353891"/>
            <a:ext cx="669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8" idx="4"/>
            <a:endCxn id="50" idx="7"/>
          </p:cNvCxnSpPr>
          <p:nvPr/>
        </p:nvCxnSpPr>
        <p:spPr>
          <a:xfrm flipH="1">
            <a:off x="7814310" y="4353891"/>
            <a:ext cx="2193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49" idx="4"/>
            <a:endCxn id="50" idx="6"/>
          </p:cNvCxnSpPr>
          <p:nvPr/>
        </p:nvCxnSpPr>
        <p:spPr>
          <a:xfrm flipH="1">
            <a:off x="7881265" y="4353891"/>
            <a:ext cx="9144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flipH="1">
                <a:off x="5690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flipH="1">
                <a:off x="5690664" y="2292009"/>
                <a:ext cx="457200" cy="461665"/>
              </a:xfrm>
              <a:prstGeom prst="rect">
                <a:avLst/>
              </a:prstGeom>
              <a:blipFill>
                <a:blip r:embed="rId3"/>
                <a:stretch>
                  <a:fillRect l="-1333"/>
                </a:stretch>
              </a:blipFill>
            </p:spPr>
            <p:txBody>
              <a:bodyPr/>
              <a:lstStyle/>
              <a:p>
                <a:r>
                  <a:rPr lang="en-US">
                    <a:noFill/>
                  </a:rPr>
                  <a:t> </a:t>
                </a:r>
              </a:p>
            </p:txBody>
          </p:sp>
        </mc:Fallback>
      </mc:AlternateContent>
      <p:sp>
        <p:nvSpPr>
          <p:cNvPr id="62" name="Text Box 84"/>
          <p:cNvSpPr txBox="1">
            <a:spLocks noChangeArrowheads="1"/>
          </p:cNvSpPr>
          <p:nvPr/>
        </p:nvSpPr>
        <p:spPr bwMode="auto">
          <a:xfrm>
            <a:off x="7043065" y="2906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63" name="Text Box 84"/>
          <p:cNvSpPr txBox="1">
            <a:spLocks noChangeArrowheads="1"/>
          </p:cNvSpPr>
          <p:nvPr/>
        </p:nvSpPr>
        <p:spPr bwMode="auto">
          <a:xfrm>
            <a:off x="7881265" y="2884139"/>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a:t>
            </a:r>
          </a:p>
        </p:txBody>
      </p:sp>
      <p:sp>
        <p:nvSpPr>
          <p:cNvPr id="64" name="Text Box 84"/>
          <p:cNvSpPr txBox="1">
            <a:spLocks noChangeArrowheads="1"/>
          </p:cNvSpPr>
          <p:nvPr/>
        </p:nvSpPr>
        <p:spPr bwMode="auto">
          <a:xfrm>
            <a:off x="8584761" y="345115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65" name="Text Box 84"/>
          <p:cNvSpPr txBox="1">
            <a:spLocks noChangeArrowheads="1"/>
          </p:cNvSpPr>
          <p:nvPr/>
        </p:nvSpPr>
        <p:spPr bwMode="auto">
          <a:xfrm>
            <a:off x="6438316"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7</a:t>
            </a:r>
          </a:p>
        </p:txBody>
      </p:sp>
      <p:sp>
        <p:nvSpPr>
          <p:cNvPr id="66" name="Text Box 84"/>
          <p:cNvSpPr txBox="1">
            <a:spLocks noChangeArrowheads="1"/>
          </p:cNvSpPr>
          <p:nvPr/>
        </p:nvSpPr>
        <p:spPr bwMode="auto">
          <a:xfrm>
            <a:off x="7242897"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67" name="Text Box 84"/>
          <p:cNvSpPr txBox="1">
            <a:spLocks noChangeArrowheads="1"/>
          </p:cNvSpPr>
          <p:nvPr/>
        </p:nvSpPr>
        <p:spPr bwMode="auto">
          <a:xfrm>
            <a:off x="7814397" y="348498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68" name="Text Box 84"/>
          <p:cNvSpPr txBox="1">
            <a:spLocks noChangeArrowheads="1"/>
          </p:cNvSpPr>
          <p:nvPr/>
        </p:nvSpPr>
        <p:spPr bwMode="auto">
          <a:xfrm>
            <a:off x="6695331" y="465982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9</a:t>
            </a:r>
          </a:p>
        </p:txBody>
      </p:sp>
      <p:sp>
        <p:nvSpPr>
          <p:cNvPr id="69" name="Text Box 84"/>
          <p:cNvSpPr txBox="1">
            <a:spLocks noChangeArrowheads="1"/>
          </p:cNvSpPr>
          <p:nvPr/>
        </p:nvSpPr>
        <p:spPr bwMode="auto">
          <a:xfrm>
            <a:off x="7147163" y="445497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70" name="Text Box 84"/>
          <p:cNvSpPr txBox="1">
            <a:spLocks noChangeArrowheads="1"/>
          </p:cNvSpPr>
          <p:nvPr/>
        </p:nvSpPr>
        <p:spPr bwMode="auto">
          <a:xfrm>
            <a:off x="7596869" y="444169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71" name="Text Box 84"/>
          <p:cNvSpPr txBox="1">
            <a:spLocks noChangeArrowheads="1"/>
          </p:cNvSpPr>
          <p:nvPr/>
        </p:nvSpPr>
        <p:spPr bwMode="auto">
          <a:xfrm>
            <a:off x="8109865" y="443009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8</a:t>
            </a:r>
          </a:p>
        </p:txBody>
      </p:sp>
    </p:spTree>
    <p:extLst>
      <p:ext uri="{BB962C8B-B14F-4D97-AF65-F5344CB8AC3E}">
        <p14:creationId xmlns:p14="http://schemas.microsoft.com/office/powerpoint/2010/main" val="44898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arn(inVertical)">
                                      <p:cBhvr>
                                        <p:cTn id="46" dur="500"/>
                                        <p:tgtEl>
                                          <p:spTgt spid="1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arn(inVertical)">
                                      <p:cBhvr>
                                        <p:cTn id="49" dur="500"/>
                                        <p:tgtEl>
                                          <p:spTgt spid="18"/>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arn(inVertical)">
                                      <p:cBhvr>
                                        <p:cTn id="55" dur="500"/>
                                        <p:tgtEl>
                                          <p:spTgt spid="2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arn(inVertical)">
                                      <p:cBhvr>
                                        <p:cTn id="58" dur="500"/>
                                        <p:tgtEl>
                                          <p:spTgt spid="21"/>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arn(inVertical)">
                                      <p:cBhvr>
                                        <p:cTn id="61" dur="500"/>
                                        <p:tgtEl>
                                          <p:spTgt spid="22"/>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arn(inVertical)">
                                      <p:cBhvr>
                                        <p:cTn id="67" dur="500"/>
                                        <p:tgtEl>
                                          <p:spTgt spid="2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arn(inVertical)">
                                      <p:cBhvr>
                                        <p:cTn id="70" dur="500"/>
                                        <p:tgtEl>
                                          <p:spTgt spid="25"/>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barn(inVertical)">
                                      <p:cBhvr>
                                        <p:cTn id="76" dur="500"/>
                                        <p:tgtEl>
                                          <p:spTgt spid="27"/>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barn(inVertical)">
                                      <p:cBhvr>
                                        <p:cTn id="79" dur="500"/>
                                        <p:tgtEl>
                                          <p:spTgt spid="28"/>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barn(inVertical)">
                                      <p:cBhvr>
                                        <p:cTn id="82" dur="500"/>
                                        <p:tgtEl>
                                          <p:spTgt spid="29"/>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barn(inVertical)">
                                      <p:cBhvr>
                                        <p:cTn id="85" dur="500"/>
                                        <p:tgtEl>
                                          <p:spTgt spid="30"/>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barn(inVertical)">
                                      <p:cBhvr>
                                        <p:cTn id="88" dur="500"/>
                                        <p:tgtEl>
                                          <p:spTgt spid="31"/>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barn(inVertical)">
                                      <p:cBhvr>
                                        <p:cTn id="91" dur="500"/>
                                        <p:tgtEl>
                                          <p:spTgt spid="32"/>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barn(inVertical)">
                                      <p:cBhvr>
                                        <p:cTn id="94" dur="500"/>
                                        <p:tgtEl>
                                          <p:spTgt spid="33"/>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barn(inVertical)">
                                      <p:cBhvr>
                                        <p:cTn id="97" dur="500"/>
                                        <p:tgtEl>
                                          <p:spTgt spid="34"/>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barn(inVertical)">
                                      <p:cBhvr>
                                        <p:cTn id="100" dur="500"/>
                                        <p:tgtEl>
                                          <p:spTgt spid="35"/>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barn(inVertical)">
                                      <p:cBhvr>
                                        <p:cTn id="103" dur="500"/>
                                        <p:tgtEl>
                                          <p:spTgt spid="36"/>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barn(inVertical)">
                                      <p:cBhvr>
                                        <p:cTn id="106" dur="500"/>
                                        <p:tgtEl>
                                          <p:spTgt spid="37"/>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barn(inVertical)">
                                      <p:cBhvr>
                                        <p:cTn id="109" dur="500"/>
                                        <p:tgtEl>
                                          <p:spTgt spid="38"/>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barn(inVertical)">
                                      <p:cBhvr>
                                        <p:cTn id="112" dur="500"/>
                                        <p:tgtEl>
                                          <p:spTgt spid="39"/>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barn(inVertical)">
                                      <p:cBhvr>
                                        <p:cTn id="115" dur="500"/>
                                        <p:tgtEl>
                                          <p:spTgt spid="4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wipe(down)">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8"/>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barn(inVertical)">
                                      <p:cBhvr>
                                        <p:cTn id="161" dur="500"/>
                                        <p:tgtEl>
                                          <p:spTgt spid="62"/>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barn(inVertical)">
                                      <p:cBhvr>
                                        <p:cTn id="164" dur="500"/>
                                        <p:tgtEl>
                                          <p:spTgt spid="63"/>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barn(inVertical)">
                                      <p:cBhvr>
                                        <p:cTn id="167" dur="500"/>
                                        <p:tgtEl>
                                          <p:spTgt spid="64"/>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barn(inVertical)">
                                      <p:cBhvr>
                                        <p:cTn id="170" dur="500"/>
                                        <p:tgtEl>
                                          <p:spTgt spid="65"/>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6"/>
                                        </p:tgtEl>
                                        <p:attrNameLst>
                                          <p:attrName>style.visibility</p:attrName>
                                        </p:attrNameLst>
                                      </p:cBhvr>
                                      <p:to>
                                        <p:strVal val="visible"/>
                                      </p:to>
                                    </p:set>
                                    <p:animEffect transition="in" filter="barn(inVertical)">
                                      <p:cBhvr>
                                        <p:cTn id="173" dur="500"/>
                                        <p:tgtEl>
                                          <p:spTgt spid="66"/>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barn(inVertical)">
                                      <p:cBhvr>
                                        <p:cTn id="176" dur="500"/>
                                        <p:tgtEl>
                                          <p:spTgt spid="67"/>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barn(inVertical)">
                                      <p:cBhvr>
                                        <p:cTn id="179" dur="500"/>
                                        <p:tgtEl>
                                          <p:spTgt spid="68"/>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69"/>
                                        </p:tgtEl>
                                        <p:attrNameLst>
                                          <p:attrName>style.visibility</p:attrName>
                                        </p:attrNameLst>
                                      </p:cBhvr>
                                      <p:to>
                                        <p:strVal val="visible"/>
                                      </p:to>
                                    </p:set>
                                    <p:animEffect transition="in" filter="barn(inVertical)">
                                      <p:cBhvr>
                                        <p:cTn id="182" dur="500"/>
                                        <p:tgtEl>
                                          <p:spTgt spid="69"/>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0"/>
                                        </p:tgtEl>
                                        <p:attrNameLst>
                                          <p:attrName>style.visibility</p:attrName>
                                        </p:attrNameLst>
                                      </p:cBhvr>
                                      <p:to>
                                        <p:strVal val="visible"/>
                                      </p:to>
                                    </p:set>
                                    <p:animEffect transition="in" filter="barn(inVertical)">
                                      <p:cBhvr>
                                        <p:cTn id="185" dur="500"/>
                                        <p:tgtEl>
                                          <p:spTgt spid="70"/>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barn(inVertical)">
                                      <p:cBhvr>
                                        <p:cTn id="18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p:bldP spid="33" grpId="0"/>
      <p:bldP spid="34" grpId="0"/>
      <p:bldP spid="35" grpId="0"/>
      <p:bldP spid="36" grpId="0"/>
      <p:bldP spid="37" grpId="0" animBg="1"/>
      <p:bldP spid="38" grpId="0"/>
      <p:bldP spid="39" grpId="0"/>
      <p:bldP spid="40" grpId="0"/>
      <p:bldP spid="43" grpId="0" animBg="1"/>
      <p:bldP spid="44" grpId="0" animBg="1"/>
      <p:bldP spid="45" grpId="0" animBg="1"/>
      <p:bldP spid="46" grpId="0" animBg="1"/>
      <p:bldP spid="47" grpId="0" animBg="1"/>
      <p:bldP spid="48" grpId="0" animBg="1"/>
      <p:bldP spid="49" grpId="0" animBg="1"/>
      <p:bldP spid="50" grpId="0" animBg="1"/>
      <p:bldP spid="62" grpId="0"/>
      <p:bldP spid="63" grpId="0"/>
      <p:bldP spid="64" grpId="0"/>
      <p:bldP spid="65" grpId="0"/>
      <p:bldP spid="66" grpId="0"/>
      <p:bldP spid="67" grpId="0"/>
      <p:bldP spid="68" grpId="0"/>
      <p:bldP spid="69" grpId="0"/>
      <p:bldP spid="70" grpId="0"/>
      <p:bldP spid="7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 Spanning Tree</a:t>
            </a:r>
          </a:p>
        </p:txBody>
      </p:sp>
      <p:sp>
        <p:nvSpPr>
          <p:cNvPr id="4" name="Oval 3"/>
          <p:cNvSpPr/>
          <p:nvPr/>
        </p:nvSpPr>
        <p:spPr>
          <a:xfrm>
            <a:off x="1361020" y="878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751420"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2046820"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7" name="Oval 6"/>
          <p:cNvSpPr/>
          <p:nvPr/>
        </p:nvSpPr>
        <p:spPr>
          <a:xfrm>
            <a:off x="294220"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1132420"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9" name="Oval 8"/>
          <p:cNvSpPr/>
          <p:nvPr/>
        </p:nvSpPr>
        <p:spPr>
          <a:xfrm>
            <a:off x="1742020"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10" name="Oval 9"/>
          <p:cNvSpPr/>
          <p:nvPr/>
        </p:nvSpPr>
        <p:spPr>
          <a:xfrm>
            <a:off x="2504020"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11" name="Oval 10"/>
          <p:cNvSpPr/>
          <p:nvPr/>
        </p:nvSpPr>
        <p:spPr>
          <a:xfrm>
            <a:off x="1361020" y="293594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12" name="Straight Connector 11"/>
          <p:cNvCxnSpPr>
            <a:stCxn id="4" idx="3"/>
            <a:endCxn id="5" idx="7"/>
          </p:cNvCxnSpPr>
          <p:nvPr/>
        </p:nvCxnSpPr>
        <p:spPr>
          <a:xfrm flipH="1">
            <a:off x="1076624" y="1203746"/>
            <a:ext cx="340192" cy="2639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4" idx="5"/>
            <a:endCxn id="6" idx="1"/>
          </p:cNvCxnSpPr>
          <p:nvPr/>
        </p:nvCxnSpPr>
        <p:spPr>
          <a:xfrm>
            <a:off x="1686224" y="1203746"/>
            <a:ext cx="416392" cy="2639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5" idx="3"/>
            <a:endCxn id="7" idx="0"/>
          </p:cNvCxnSpPr>
          <p:nvPr/>
        </p:nvCxnSpPr>
        <p:spPr>
          <a:xfrm flipH="1">
            <a:off x="484720"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5" idx="5"/>
            <a:endCxn id="8" idx="0"/>
          </p:cNvCxnSpPr>
          <p:nvPr/>
        </p:nvCxnSpPr>
        <p:spPr>
          <a:xfrm>
            <a:off x="1076624" y="1737146"/>
            <a:ext cx="2462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3"/>
            <a:endCxn id="9" idx="0"/>
          </p:cNvCxnSpPr>
          <p:nvPr/>
        </p:nvCxnSpPr>
        <p:spPr>
          <a:xfrm flipH="1">
            <a:off x="1932520" y="1737146"/>
            <a:ext cx="1700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6" idx="5"/>
            <a:endCxn id="10" idx="0"/>
          </p:cNvCxnSpPr>
          <p:nvPr/>
        </p:nvCxnSpPr>
        <p:spPr>
          <a:xfrm>
            <a:off x="2372024"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7" idx="4"/>
            <a:endCxn id="11" idx="2"/>
          </p:cNvCxnSpPr>
          <p:nvPr/>
        </p:nvCxnSpPr>
        <p:spPr>
          <a:xfrm>
            <a:off x="484720" y="2402542"/>
            <a:ext cx="876300" cy="723901"/>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8" idx="4"/>
            <a:endCxn id="11" idx="1"/>
          </p:cNvCxnSpPr>
          <p:nvPr/>
        </p:nvCxnSpPr>
        <p:spPr>
          <a:xfrm>
            <a:off x="1322920" y="2402542"/>
            <a:ext cx="93896" cy="589197"/>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1" idx="7"/>
          </p:cNvCxnSpPr>
          <p:nvPr/>
        </p:nvCxnSpPr>
        <p:spPr>
          <a:xfrm flipH="1">
            <a:off x="1686224" y="2402542"/>
            <a:ext cx="246296" cy="589197"/>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0" idx="4"/>
            <a:endCxn id="11" idx="6"/>
          </p:cNvCxnSpPr>
          <p:nvPr/>
        </p:nvCxnSpPr>
        <p:spPr>
          <a:xfrm flipH="1">
            <a:off x="1742020" y="2402542"/>
            <a:ext cx="952500" cy="723901"/>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2" name="Oval 21"/>
          <p:cNvSpPr/>
          <p:nvPr/>
        </p:nvSpPr>
        <p:spPr>
          <a:xfrm>
            <a:off x="5885957" y="878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23" name="Oval 22"/>
          <p:cNvSpPr/>
          <p:nvPr/>
        </p:nvSpPr>
        <p:spPr>
          <a:xfrm>
            <a:off x="5276357"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24" name="Oval 23"/>
          <p:cNvSpPr/>
          <p:nvPr/>
        </p:nvSpPr>
        <p:spPr>
          <a:xfrm>
            <a:off x="6571757"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25" name="Oval 24"/>
          <p:cNvSpPr/>
          <p:nvPr/>
        </p:nvSpPr>
        <p:spPr>
          <a:xfrm>
            <a:off x="4819157"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26" name="Oval 25"/>
          <p:cNvSpPr/>
          <p:nvPr/>
        </p:nvSpPr>
        <p:spPr>
          <a:xfrm>
            <a:off x="5657357"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27" name="Oval 26"/>
          <p:cNvSpPr/>
          <p:nvPr/>
        </p:nvSpPr>
        <p:spPr>
          <a:xfrm>
            <a:off x="6266957"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28" name="Oval 27"/>
          <p:cNvSpPr/>
          <p:nvPr/>
        </p:nvSpPr>
        <p:spPr>
          <a:xfrm>
            <a:off x="7028957"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29" name="Oval 28"/>
          <p:cNvSpPr/>
          <p:nvPr/>
        </p:nvSpPr>
        <p:spPr>
          <a:xfrm>
            <a:off x="5885957" y="293594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30" name="Straight Connector 29"/>
          <p:cNvCxnSpPr>
            <a:stCxn id="22" idx="3"/>
            <a:endCxn id="23" idx="7"/>
          </p:cNvCxnSpPr>
          <p:nvPr/>
        </p:nvCxnSpPr>
        <p:spPr>
          <a:xfrm flipH="1">
            <a:off x="5601561" y="1203746"/>
            <a:ext cx="340192" cy="2639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23" idx="3"/>
            <a:endCxn id="25" idx="0"/>
          </p:cNvCxnSpPr>
          <p:nvPr/>
        </p:nvCxnSpPr>
        <p:spPr>
          <a:xfrm flipH="1">
            <a:off x="5009657"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4" name="Straight Connector 33"/>
          <p:cNvCxnSpPr>
            <a:stCxn id="24" idx="3"/>
            <a:endCxn id="27" idx="0"/>
          </p:cNvCxnSpPr>
          <p:nvPr/>
        </p:nvCxnSpPr>
        <p:spPr>
          <a:xfrm flipH="1">
            <a:off x="6457457" y="1737146"/>
            <a:ext cx="1700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5" name="Straight Connector 34"/>
          <p:cNvCxnSpPr>
            <a:stCxn id="24" idx="5"/>
            <a:endCxn id="28" idx="0"/>
          </p:cNvCxnSpPr>
          <p:nvPr/>
        </p:nvCxnSpPr>
        <p:spPr>
          <a:xfrm>
            <a:off x="6896961"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6" name="Straight Connector 35"/>
          <p:cNvCxnSpPr>
            <a:stCxn id="25" idx="4"/>
            <a:endCxn id="29" idx="2"/>
          </p:cNvCxnSpPr>
          <p:nvPr/>
        </p:nvCxnSpPr>
        <p:spPr>
          <a:xfrm>
            <a:off x="5009657" y="2402542"/>
            <a:ext cx="876300" cy="723901"/>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7" name="Straight Connector 36"/>
          <p:cNvCxnSpPr>
            <a:stCxn id="26" idx="4"/>
            <a:endCxn id="29" idx="1"/>
          </p:cNvCxnSpPr>
          <p:nvPr/>
        </p:nvCxnSpPr>
        <p:spPr>
          <a:xfrm>
            <a:off x="5847857" y="2402542"/>
            <a:ext cx="93896" cy="589197"/>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8" name="Straight Connector 37"/>
          <p:cNvCxnSpPr>
            <a:stCxn id="27" idx="4"/>
            <a:endCxn id="29" idx="7"/>
          </p:cNvCxnSpPr>
          <p:nvPr/>
        </p:nvCxnSpPr>
        <p:spPr>
          <a:xfrm flipH="1">
            <a:off x="6211161" y="2402542"/>
            <a:ext cx="246296" cy="589197"/>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0" name="TextBox 39"/>
          <p:cNvSpPr txBox="1"/>
          <p:nvPr/>
        </p:nvSpPr>
        <p:spPr>
          <a:xfrm>
            <a:off x="5179001" y="3452927"/>
            <a:ext cx="2124000" cy="400110"/>
          </a:xfrm>
          <a:prstGeom prst="rect">
            <a:avLst/>
          </a:prstGeom>
          <a:noFill/>
        </p:spPr>
        <p:txBody>
          <a:bodyPr wrap="square" rtlCol="0">
            <a:spAutoFit/>
          </a:bodyPr>
          <a:lstStyle/>
          <a:p>
            <a:pPr algn="ctr"/>
            <a:r>
              <a:rPr lang="en-US" sz="2000" b="1" dirty="0"/>
              <a:t>DFS Spanning Tree</a:t>
            </a:r>
          </a:p>
        </p:txBody>
      </p:sp>
      <p:sp>
        <p:nvSpPr>
          <p:cNvPr id="43" name="TextBox 42"/>
          <p:cNvSpPr txBox="1"/>
          <p:nvPr/>
        </p:nvSpPr>
        <p:spPr>
          <a:xfrm>
            <a:off x="9624678" y="3452927"/>
            <a:ext cx="2124000" cy="400110"/>
          </a:xfrm>
          <a:prstGeom prst="rect">
            <a:avLst/>
          </a:prstGeom>
          <a:noFill/>
        </p:spPr>
        <p:txBody>
          <a:bodyPr wrap="square" rtlCol="0">
            <a:spAutoFit/>
          </a:bodyPr>
          <a:lstStyle/>
          <a:p>
            <a:pPr algn="ctr"/>
            <a:r>
              <a:rPr lang="en-US" sz="2000" b="1" dirty="0"/>
              <a:t>BFS Spanning Tree</a:t>
            </a:r>
          </a:p>
        </p:txBody>
      </p:sp>
      <p:sp>
        <p:nvSpPr>
          <p:cNvPr id="45" name="Oval 44"/>
          <p:cNvSpPr/>
          <p:nvPr/>
        </p:nvSpPr>
        <p:spPr>
          <a:xfrm>
            <a:off x="10272368" y="878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6" name="Oval 45"/>
          <p:cNvSpPr/>
          <p:nvPr/>
        </p:nvSpPr>
        <p:spPr>
          <a:xfrm>
            <a:off x="9662768"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7" name="Oval 46"/>
          <p:cNvSpPr/>
          <p:nvPr/>
        </p:nvSpPr>
        <p:spPr>
          <a:xfrm>
            <a:off x="10958168" y="14119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8" name="Oval 47"/>
          <p:cNvSpPr/>
          <p:nvPr/>
        </p:nvSpPr>
        <p:spPr>
          <a:xfrm>
            <a:off x="9205568"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9" name="Oval 48"/>
          <p:cNvSpPr/>
          <p:nvPr/>
        </p:nvSpPr>
        <p:spPr>
          <a:xfrm>
            <a:off x="10043768"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50" name="Oval 49"/>
          <p:cNvSpPr/>
          <p:nvPr/>
        </p:nvSpPr>
        <p:spPr>
          <a:xfrm>
            <a:off x="10653368"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51" name="Oval 50"/>
          <p:cNvSpPr/>
          <p:nvPr/>
        </p:nvSpPr>
        <p:spPr>
          <a:xfrm>
            <a:off x="11415368" y="202154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52" name="Oval 51"/>
          <p:cNvSpPr/>
          <p:nvPr/>
        </p:nvSpPr>
        <p:spPr>
          <a:xfrm>
            <a:off x="10272368" y="2935943"/>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53" name="Straight Connector 52"/>
          <p:cNvCxnSpPr>
            <a:stCxn id="45" idx="3"/>
            <a:endCxn id="46" idx="7"/>
          </p:cNvCxnSpPr>
          <p:nvPr/>
        </p:nvCxnSpPr>
        <p:spPr>
          <a:xfrm flipH="1">
            <a:off x="9987972" y="1203746"/>
            <a:ext cx="340192" cy="2639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5" idx="5"/>
            <a:endCxn id="47" idx="1"/>
          </p:cNvCxnSpPr>
          <p:nvPr/>
        </p:nvCxnSpPr>
        <p:spPr>
          <a:xfrm>
            <a:off x="10597572" y="1203746"/>
            <a:ext cx="416392" cy="263992"/>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6" idx="3"/>
            <a:endCxn id="48" idx="0"/>
          </p:cNvCxnSpPr>
          <p:nvPr/>
        </p:nvCxnSpPr>
        <p:spPr>
          <a:xfrm flipH="1">
            <a:off x="9396068"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6" idx="5"/>
            <a:endCxn id="49" idx="0"/>
          </p:cNvCxnSpPr>
          <p:nvPr/>
        </p:nvCxnSpPr>
        <p:spPr>
          <a:xfrm>
            <a:off x="9987972" y="1737146"/>
            <a:ext cx="2462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7" idx="3"/>
            <a:endCxn id="50" idx="0"/>
          </p:cNvCxnSpPr>
          <p:nvPr/>
        </p:nvCxnSpPr>
        <p:spPr>
          <a:xfrm flipH="1">
            <a:off x="10843868" y="1737146"/>
            <a:ext cx="1700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7" idx="5"/>
            <a:endCxn id="51" idx="0"/>
          </p:cNvCxnSpPr>
          <p:nvPr/>
        </p:nvCxnSpPr>
        <p:spPr>
          <a:xfrm>
            <a:off x="11283372" y="1737146"/>
            <a:ext cx="322496" cy="284396"/>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8" idx="4"/>
            <a:endCxn id="52" idx="2"/>
          </p:cNvCxnSpPr>
          <p:nvPr/>
        </p:nvCxnSpPr>
        <p:spPr>
          <a:xfrm>
            <a:off x="9396068" y="2402542"/>
            <a:ext cx="876300" cy="723901"/>
          </a:xfrm>
          <a:prstGeom prst="line">
            <a:avLst/>
          </a:prstGeom>
          <a:ln w="28575">
            <a:solidFill>
              <a:srgbClr val="B84742"/>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99" name="Oval 98"/>
          <p:cNvSpPr/>
          <p:nvPr/>
        </p:nvSpPr>
        <p:spPr>
          <a:xfrm>
            <a:off x="938831" y="41689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100" name="Oval 99"/>
          <p:cNvSpPr/>
          <p:nvPr/>
        </p:nvSpPr>
        <p:spPr>
          <a:xfrm>
            <a:off x="405431"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101" name="Oval 100"/>
          <p:cNvSpPr/>
          <p:nvPr/>
        </p:nvSpPr>
        <p:spPr>
          <a:xfrm>
            <a:off x="1548431"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102" name="Oval 101"/>
          <p:cNvSpPr/>
          <p:nvPr/>
        </p:nvSpPr>
        <p:spPr>
          <a:xfrm>
            <a:off x="938831" y="531969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103" name="Oval 102"/>
          <p:cNvSpPr/>
          <p:nvPr/>
        </p:nvSpPr>
        <p:spPr>
          <a:xfrm>
            <a:off x="2843831"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104" name="Oval 103"/>
          <p:cNvSpPr/>
          <p:nvPr/>
        </p:nvSpPr>
        <p:spPr>
          <a:xfrm>
            <a:off x="2158031" y="531969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05" name="Straight Connector 104"/>
          <p:cNvCxnSpPr>
            <a:stCxn id="99" idx="3"/>
            <a:endCxn id="100" idx="7"/>
          </p:cNvCxnSpPr>
          <p:nvPr/>
        </p:nvCxnSpPr>
        <p:spPr>
          <a:xfrm flipH="1">
            <a:off x="730635" y="4494199"/>
            <a:ext cx="2639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6" name="Straight Connector 105"/>
          <p:cNvCxnSpPr>
            <a:stCxn id="99" idx="5"/>
            <a:endCxn id="101" idx="1"/>
          </p:cNvCxnSpPr>
          <p:nvPr/>
        </p:nvCxnSpPr>
        <p:spPr>
          <a:xfrm>
            <a:off x="1264035" y="4494199"/>
            <a:ext cx="3401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7" name="Straight Connector 106"/>
          <p:cNvCxnSpPr>
            <a:stCxn id="100" idx="5"/>
            <a:endCxn id="102" idx="2"/>
          </p:cNvCxnSpPr>
          <p:nvPr/>
        </p:nvCxnSpPr>
        <p:spPr>
          <a:xfrm>
            <a:off x="730635" y="5065699"/>
            <a:ext cx="2081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8" name="Straight Connector 107"/>
          <p:cNvCxnSpPr>
            <a:stCxn id="102" idx="7"/>
            <a:endCxn id="101" idx="3"/>
          </p:cNvCxnSpPr>
          <p:nvPr/>
        </p:nvCxnSpPr>
        <p:spPr>
          <a:xfrm flipV="1">
            <a:off x="1264035" y="5065699"/>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09" name="Straight Connector 108"/>
          <p:cNvCxnSpPr>
            <a:stCxn id="101" idx="6"/>
            <a:endCxn id="103" idx="2"/>
          </p:cNvCxnSpPr>
          <p:nvPr/>
        </p:nvCxnSpPr>
        <p:spPr>
          <a:xfrm>
            <a:off x="1929431" y="4930995"/>
            <a:ext cx="914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10" name="Straight Connector 109"/>
          <p:cNvCxnSpPr>
            <a:stCxn id="101" idx="5"/>
            <a:endCxn id="104" idx="1"/>
          </p:cNvCxnSpPr>
          <p:nvPr/>
        </p:nvCxnSpPr>
        <p:spPr>
          <a:xfrm>
            <a:off x="1873635" y="5065699"/>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11" name="Straight Connector 110"/>
          <p:cNvCxnSpPr>
            <a:stCxn id="103" idx="3"/>
            <a:endCxn id="104" idx="6"/>
          </p:cNvCxnSpPr>
          <p:nvPr/>
        </p:nvCxnSpPr>
        <p:spPr>
          <a:xfrm flipH="1">
            <a:off x="2539031" y="5065699"/>
            <a:ext cx="3605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p:nvPr/>
        </p:nvCxnSpPr>
        <p:spPr>
          <a:xfrm>
            <a:off x="69275" y="3906982"/>
            <a:ext cx="11998800" cy="0"/>
          </a:xfrm>
          <a:prstGeom prst="line">
            <a:avLst/>
          </a:prstGeom>
        </p:spPr>
        <p:style>
          <a:lnRef idx="3">
            <a:schemeClr val="dk1"/>
          </a:lnRef>
          <a:fillRef idx="0">
            <a:schemeClr val="dk1"/>
          </a:fillRef>
          <a:effectRef idx="2">
            <a:schemeClr val="dk1"/>
          </a:effectRef>
          <a:fontRef idx="minor">
            <a:schemeClr val="tx1"/>
          </a:fontRef>
        </p:style>
      </p:cxnSp>
      <p:sp>
        <p:nvSpPr>
          <p:cNvPr id="113" name="Oval 112"/>
          <p:cNvSpPr/>
          <p:nvPr/>
        </p:nvSpPr>
        <p:spPr>
          <a:xfrm>
            <a:off x="5387197" y="41715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114" name="Oval 113"/>
          <p:cNvSpPr/>
          <p:nvPr/>
        </p:nvSpPr>
        <p:spPr>
          <a:xfrm>
            <a:off x="4853797" y="47430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115" name="Oval 114"/>
          <p:cNvSpPr/>
          <p:nvPr/>
        </p:nvSpPr>
        <p:spPr>
          <a:xfrm>
            <a:off x="5996797" y="47430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116" name="Oval 115"/>
          <p:cNvSpPr/>
          <p:nvPr/>
        </p:nvSpPr>
        <p:spPr>
          <a:xfrm>
            <a:off x="5387197" y="532225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117" name="Oval 116"/>
          <p:cNvSpPr/>
          <p:nvPr/>
        </p:nvSpPr>
        <p:spPr>
          <a:xfrm>
            <a:off x="7292197" y="47430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118" name="Oval 117"/>
          <p:cNvSpPr/>
          <p:nvPr/>
        </p:nvSpPr>
        <p:spPr>
          <a:xfrm>
            <a:off x="6606397" y="532225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19" name="Straight Connector 118"/>
          <p:cNvCxnSpPr>
            <a:stCxn id="113" idx="3"/>
            <a:endCxn id="114" idx="7"/>
          </p:cNvCxnSpPr>
          <p:nvPr/>
        </p:nvCxnSpPr>
        <p:spPr>
          <a:xfrm flipH="1">
            <a:off x="5179001" y="4496750"/>
            <a:ext cx="2639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0" name="Straight Connector 119"/>
          <p:cNvCxnSpPr>
            <a:stCxn id="114" idx="5"/>
            <a:endCxn id="116" idx="2"/>
          </p:cNvCxnSpPr>
          <p:nvPr/>
        </p:nvCxnSpPr>
        <p:spPr>
          <a:xfrm>
            <a:off x="5179001" y="5068250"/>
            <a:ext cx="2081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1" name="Straight Connector 120"/>
          <p:cNvCxnSpPr>
            <a:stCxn id="116" idx="7"/>
            <a:endCxn id="115" idx="3"/>
          </p:cNvCxnSpPr>
          <p:nvPr/>
        </p:nvCxnSpPr>
        <p:spPr>
          <a:xfrm flipV="1">
            <a:off x="5712401" y="5068250"/>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2" name="Straight Connector 121"/>
          <p:cNvCxnSpPr>
            <a:stCxn id="115" idx="5"/>
            <a:endCxn id="118" idx="1"/>
          </p:cNvCxnSpPr>
          <p:nvPr/>
        </p:nvCxnSpPr>
        <p:spPr>
          <a:xfrm>
            <a:off x="6322001" y="5068250"/>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3" name="Straight Connector 122"/>
          <p:cNvCxnSpPr>
            <a:stCxn id="117" idx="3"/>
            <a:endCxn id="118" idx="6"/>
          </p:cNvCxnSpPr>
          <p:nvPr/>
        </p:nvCxnSpPr>
        <p:spPr>
          <a:xfrm flipH="1">
            <a:off x="6987397" y="5068250"/>
            <a:ext cx="3605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124" name="Oval 123"/>
          <p:cNvSpPr/>
          <p:nvPr/>
        </p:nvSpPr>
        <p:spPr>
          <a:xfrm>
            <a:off x="9604264" y="41689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125" name="Oval 124"/>
          <p:cNvSpPr/>
          <p:nvPr/>
        </p:nvSpPr>
        <p:spPr>
          <a:xfrm>
            <a:off x="9070864"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126" name="Oval 125"/>
          <p:cNvSpPr/>
          <p:nvPr/>
        </p:nvSpPr>
        <p:spPr>
          <a:xfrm>
            <a:off x="10213864"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127" name="Oval 126"/>
          <p:cNvSpPr/>
          <p:nvPr/>
        </p:nvSpPr>
        <p:spPr>
          <a:xfrm>
            <a:off x="9604264" y="531969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128" name="Oval 127"/>
          <p:cNvSpPr/>
          <p:nvPr/>
        </p:nvSpPr>
        <p:spPr>
          <a:xfrm>
            <a:off x="11509264" y="4740495"/>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129" name="Oval 128"/>
          <p:cNvSpPr/>
          <p:nvPr/>
        </p:nvSpPr>
        <p:spPr>
          <a:xfrm>
            <a:off x="10823464" y="5319699"/>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30" name="Straight Connector 129"/>
          <p:cNvCxnSpPr>
            <a:stCxn id="124" idx="3"/>
            <a:endCxn id="125" idx="7"/>
          </p:cNvCxnSpPr>
          <p:nvPr/>
        </p:nvCxnSpPr>
        <p:spPr>
          <a:xfrm flipH="1">
            <a:off x="9396068" y="4494199"/>
            <a:ext cx="2639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1" name="Straight Connector 130"/>
          <p:cNvCxnSpPr>
            <a:stCxn id="124" idx="5"/>
            <a:endCxn id="126" idx="1"/>
          </p:cNvCxnSpPr>
          <p:nvPr/>
        </p:nvCxnSpPr>
        <p:spPr>
          <a:xfrm>
            <a:off x="9929468" y="4494199"/>
            <a:ext cx="340192" cy="3020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2" name="Straight Connector 131"/>
          <p:cNvCxnSpPr>
            <a:stCxn id="125" idx="5"/>
            <a:endCxn id="127" idx="2"/>
          </p:cNvCxnSpPr>
          <p:nvPr/>
        </p:nvCxnSpPr>
        <p:spPr>
          <a:xfrm>
            <a:off x="9396068" y="5065699"/>
            <a:ext cx="208196" cy="4445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3" name="Straight Connector 132"/>
          <p:cNvCxnSpPr>
            <a:stCxn id="126" idx="6"/>
            <a:endCxn id="128" idx="2"/>
          </p:cNvCxnSpPr>
          <p:nvPr/>
        </p:nvCxnSpPr>
        <p:spPr>
          <a:xfrm>
            <a:off x="10594864" y="4930995"/>
            <a:ext cx="914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4" name="Straight Connector 133"/>
          <p:cNvCxnSpPr>
            <a:stCxn id="126" idx="5"/>
            <a:endCxn id="129" idx="1"/>
          </p:cNvCxnSpPr>
          <p:nvPr/>
        </p:nvCxnSpPr>
        <p:spPr>
          <a:xfrm>
            <a:off x="10539068" y="5065699"/>
            <a:ext cx="340192" cy="3097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135" name="TextBox 134"/>
          <p:cNvSpPr txBox="1"/>
          <p:nvPr/>
        </p:nvSpPr>
        <p:spPr>
          <a:xfrm>
            <a:off x="5000886" y="5891199"/>
            <a:ext cx="2124000" cy="400110"/>
          </a:xfrm>
          <a:prstGeom prst="rect">
            <a:avLst/>
          </a:prstGeom>
          <a:noFill/>
        </p:spPr>
        <p:txBody>
          <a:bodyPr wrap="square" rtlCol="0">
            <a:spAutoFit/>
          </a:bodyPr>
          <a:lstStyle/>
          <a:p>
            <a:pPr algn="ctr"/>
            <a:r>
              <a:rPr lang="en-US" sz="2000" b="1" dirty="0"/>
              <a:t>DFS Spanning Tree</a:t>
            </a:r>
          </a:p>
        </p:txBody>
      </p:sp>
      <p:sp>
        <p:nvSpPr>
          <p:cNvPr id="136" name="TextBox 135"/>
          <p:cNvSpPr txBox="1"/>
          <p:nvPr/>
        </p:nvSpPr>
        <p:spPr>
          <a:xfrm>
            <a:off x="9446563" y="5891199"/>
            <a:ext cx="2124000" cy="400110"/>
          </a:xfrm>
          <a:prstGeom prst="rect">
            <a:avLst/>
          </a:prstGeom>
          <a:noFill/>
        </p:spPr>
        <p:txBody>
          <a:bodyPr wrap="square" rtlCol="0">
            <a:spAutoFit/>
          </a:bodyPr>
          <a:lstStyle/>
          <a:p>
            <a:pPr algn="ctr"/>
            <a:r>
              <a:rPr lang="en-US" sz="2000" b="1" dirty="0"/>
              <a:t>BFS Spanning Tree</a:t>
            </a:r>
          </a:p>
        </p:txBody>
      </p:sp>
    </p:spTree>
    <p:extLst>
      <p:ext uri="{BB962C8B-B14F-4D97-AF65-F5344CB8AC3E}">
        <p14:creationId xmlns:p14="http://schemas.microsoft.com/office/powerpoint/2010/main" val="159878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right)">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righ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wipe(up)">
                                      <p:cBhvr>
                                        <p:cTn id="71" dur="500"/>
                                        <p:tgtEl>
                                          <p:spTgt spid="36"/>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wipe(down)">
                                      <p:cBhvr>
                                        <p:cTn id="80" dur="500"/>
                                        <p:tgtEl>
                                          <p:spTgt spid="3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wipe(down)">
                                      <p:cBhvr>
                                        <p:cTn id="89" dur="500"/>
                                        <p:tgtEl>
                                          <p:spTgt spid="38"/>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wipe(down)">
                                      <p:cBhvr>
                                        <p:cTn id="98" dur="500"/>
                                        <p:tgtEl>
                                          <p:spTgt spid="34"/>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wipe(up)">
                                      <p:cBhvr>
                                        <p:cTn id="107" dur="500"/>
                                        <p:tgtEl>
                                          <p:spTgt spid="35"/>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28"/>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4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nodeType="click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wipe(up)">
                                      <p:cBhvr>
                                        <p:cTn id="124" dur="500"/>
                                        <p:tgtEl>
                                          <p:spTgt spid="53"/>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up)">
                                      <p:cBhvr>
                                        <p:cTn id="133" dur="500"/>
                                        <p:tgtEl>
                                          <p:spTgt spid="54"/>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47"/>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nodeType="clickEffect">
                                  <p:stCondLst>
                                    <p:cond delay="0"/>
                                  </p:stCondLst>
                                  <p:childTnLst>
                                    <p:set>
                                      <p:cBhvr>
                                        <p:cTn id="141" dur="1" fill="hold">
                                          <p:stCondLst>
                                            <p:cond delay="0"/>
                                          </p:stCondLst>
                                        </p:cTn>
                                        <p:tgtEl>
                                          <p:spTgt spid="55"/>
                                        </p:tgtEl>
                                        <p:attrNameLst>
                                          <p:attrName>style.visibility</p:attrName>
                                        </p:attrNameLst>
                                      </p:cBhvr>
                                      <p:to>
                                        <p:strVal val="visible"/>
                                      </p:to>
                                    </p:set>
                                    <p:animEffect transition="in" filter="wipe(up)">
                                      <p:cBhvr>
                                        <p:cTn id="142" dur="500"/>
                                        <p:tgtEl>
                                          <p:spTgt spid="55"/>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nodeType="click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wipe(up)">
                                      <p:cBhvr>
                                        <p:cTn id="151" dur="500"/>
                                        <p:tgtEl>
                                          <p:spTgt spid="56"/>
                                        </p:tgtEl>
                                      </p:cBhvr>
                                    </p:animEffec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4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1" fill="hold" nodeType="click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wipe(up)">
                                      <p:cBhvr>
                                        <p:cTn id="160" dur="500"/>
                                        <p:tgtEl>
                                          <p:spTgt spid="57"/>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50"/>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22" presetClass="entr" presetSubtype="1" fill="hold" nodeType="clickEffect">
                                  <p:stCondLst>
                                    <p:cond delay="0"/>
                                  </p:stCondLst>
                                  <p:childTnLst>
                                    <p:set>
                                      <p:cBhvr>
                                        <p:cTn id="168" dur="1" fill="hold">
                                          <p:stCondLst>
                                            <p:cond delay="0"/>
                                          </p:stCondLst>
                                        </p:cTn>
                                        <p:tgtEl>
                                          <p:spTgt spid="58"/>
                                        </p:tgtEl>
                                        <p:attrNameLst>
                                          <p:attrName>style.visibility</p:attrName>
                                        </p:attrNameLst>
                                      </p:cBhvr>
                                      <p:to>
                                        <p:strVal val="visible"/>
                                      </p:to>
                                    </p:set>
                                    <p:animEffect transition="in" filter="wipe(up)">
                                      <p:cBhvr>
                                        <p:cTn id="169" dur="500"/>
                                        <p:tgtEl>
                                          <p:spTgt spid="58"/>
                                        </p:tgtEl>
                                      </p:cBhvr>
                                    </p:animEffec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51"/>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22" presetClass="entr" presetSubtype="1" fill="hold" nodeType="clickEffect">
                                  <p:stCondLst>
                                    <p:cond delay="0"/>
                                  </p:stCondLst>
                                  <p:childTnLst>
                                    <p:set>
                                      <p:cBhvr>
                                        <p:cTn id="177" dur="1" fill="hold">
                                          <p:stCondLst>
                                            <p:cond delay="0"/>
                                          </p:stCondLst>
                                        </p:cTn>
                                        <p:tgtEl>
                                          <p:spTgt spid="59"/>
                                        </p:tgtEl>
                                        <p:attrNameLst>
                                          <p:attrName>style.visibility</p:attrName>
                                        </p:attrNameLst>
                                      </p:cBhvr>
                                      <p:to>
                                        <p:strVal val="visible"/>
                                      </p:to>
                                    </p:set>
                                    <p:animEffect transition="in" filter="wipe(up)">
                                      <p:cBhvr>
                                        <p:cTn id="178" dur="500"/>
                                        <p:tgtEl>
                                          <p:spTgt spid="59"/>
                                        </p:tgtEl>
                                      </p:cBhvr>
                                    </p:animEffec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52"/>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nodeType="clickEffect">
                                  <p:stCondLst>
                                    <p:cond delay="0"/>
                                  </p:stCondLst>
                                  <p:childTnLst>
                                    <p:set>
                                      <p:cBhvr>
                                        <p:cTn id="186" dur="1" fill="hold">
                                          <p:stCondLst>
                                            <p:cond delay="0"/>
                                          </p:stCondLst>
                                        </p:cTn>
                                        <p:tgtEl>
                                          <p:spTgt spid="31"/>
                                        </p:tgtEl>
                                        <p:attrNameLst>
                                          <p:attrName>style.visibility</p:attrName>
                                        </p:attrNameLst>
                                      </p:cBhvr>
                                      <p:to>
                                        <p:strVal val="visible"/>
                                      </p:to>
                                    </p:set>
                                    <p:animEffect transition="in" filter="wipe(left)">
                                      <p:cBhvr>
                                        <p:cTn id="187" dur="500"/>
                                        <p:tgtEl>
                                          <p:spTgt spid="31"/>
                                        </p:tgtEl>
                                      </p:cBhvr>
                                    </p:animEffec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99"/>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100"/>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101"/>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102"/>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103"/>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04"/>
                                        </p:tgtEl>
                                        <p:attrNameLst>
                                          <p:attrName>style.visibility</p:attrName>
                                        </p:attrNameLst>
                                      </p:cBhvr>
                                      <p:to>
                                        <p:strVal val="visible"/>
                                      </p:to>
                                    </p:set>
                                  </p:childTnLst>
                                </p:cTn>
                              </p:par>
                              <p:par>
                                <p:cTn id="202" presetID="1" presetClass="entr" presetSubtype="0" fill="hold" nodeType="withEffect">
                                  <p:stCondLst>
                                    <p:cond delay="0"/>
                                  </p:stCondLst>
                                  <p:childTnLst>
                                    <p:set>
                                      <p:cBhvr>
                                        <p:cTn id="203" dur="1" fill="hold">
                                          <p:stCondLst>
                                            <p:cond delay="0"/>
                                          </p:stCondLst>
                                        </p:cTn>
                                        <p:tgtEl>
                                          <p:spTgt spid="105"/>
                                        </p:tgtEl>
                                        <p:attrNameLst>
                                          <p:attrName>style.visibility</p:attrName>
                                        </p:attrNameLst>
                                      </p:cBhvr>
                                      <p:to>
                                        <p:strVal val="visible"/>
                                      </p:to>
                                    </p:set>
                                  </p:childTnLst>
                                </p:cTn>
                              </p:par>
                              <p:par>
                                <p:cTn id="204" presetID="1" presetClass="entr" presetSubtype="0" fill="hold" nodeType="withEffect">
                                  <p:stCondLst>
                                    <p:cond delay="0"/>
                                  </p:stCondLst>
                                  <p:childTnLst>
                                    <p:set>
                                      <p:cBhvr>
                                        <p:cTn id="205" dur="1" fill="hold">
                                          <p:stCondLst>
                                            <p:cond delay="0"/>
                                          </p:stCondLst>
                                        </p:cTn>
                                        <p:tgtEl>
                                          <p:spTgt spid="106"/>
                                        </p:tgtEl>
                                        <p:attrNameLst>
                                          <p:attrName>style.visibility</p:attrName>
                                        </p:attrNameLst>
                                      </p:cBhvr>
                                      <p:to>
                                        <p:strVal val="visible"/>
                                      </p:to>
                                    </p:set>
                                  </p:childTnLst>
                                </p:cTn>
                              </p:par>
                              <p:par>
                                <p:cTn id="206" presetID="1" presetClass="entr" presetSubtype="0" fill="hold" nodeType="withEffect">
                                  <p:stCondLst>
                                    <p:cond delay="0"/>
                                  </p:stCondLst>
                                  <p:childTnLst>
                                    <p:set>
                                      <p:cBhvr>
                                        <p:cTn id="207" dur="1" fill="hold">
                                          <p:stCondLst>
                                            <p:cond delay="0"/>
                                          </p:stCondLst>
                                        </p:cTn>
                                        <p:tgtEl>
                                          <p:spTgt spid="107"/>
                                        </p:tgtEl>
                                        <p:attrNameLst>
                                          <p:attrName>style.visibility</p:attrName>
                                        </p:attrNameLst>
                                      </p:cBhvr>
                                      <p:to>
                                        <p:strVal val="visible"/>
                                      </p:to>
                                    </p:set>
                                  </p:childTnLst>
                                </p:cTn>
                              </p:par>
                              <p:par>
                                <p:cTn id="208" presetID="1" presetClass="entr" presetSubtype="0" fill="hold" nodeType="withEffect">
                                  <p:stCondLst>
                                    <p:cond delay="0"/>
                                  </p:stCondLst>
                                  <p:childTnLst>
                                    <p:set>
                                      <p:cBhvr>
                                        <p:cTn id="209" dur="1" fill="hold">
                                          <p:stCondLst>
                                            <p:cond delay="0"/>
                                          </p:stCondLst>
                                        </p:cTn>
                                        <p:tgtEl>
                                          <p:spTgt spid="108"/>
                                        </p:tgtEl>
                                        <p:attrNameLst>
                                          <p:attrName>style.visibility</p:attrName>
                                        </p:attrNameLst>
                                      </p:cBhvr>
                                      <p:to>
                                        <p:strVal val="visible"/>
                                      </p:to>
                                    </p:set>
                                  </p:childTnLst>
                                </p:cTn>
                              </p:par>
                              <p:par>
                                <p:cTn id="210" presetID="1" presetClass="entr" presetSubtype="0" fill="hold" nodeType="withEffect">
                                  <p:stCondLst>
                                    <p:cond delay="0"/>
                                  </p:stCondLst>
                                  <p:childTnLst>
                                    <p:set>
                                      <p:cBhvr>
                                        <p:cTn id="211" dur="1" fill="hold">
                                          <p:stCondLst>
                                            <p:cond delay="0"/>
                                          </p:stCondLst>
                                        </p:cTn>
                                        <p:tgtEl>
                                          <p:spTgt spid="109"/>
                                        </p:tgtEl>
                                        <p:attrNameLst>
                                          <p:attrName>style.visibility</p:attrName>
                                        </p:attrNameLst>
                                      </p:cBhvr>
                                      <p:to>
                                        <p:strVal val="visible"/>
                                      </p:to>
                                    </p:set>
                                  </p:childTnLst>
                                </p:cTn>
                              </p:par>
                              <p:par>
                                <p:cTn id="212" presetID="1" presetClass="entr" presetSubtype="0" fill="hold" nodeType="withEffect">
                                  <p:stCondLst>
                                    <p:cond delay="0"/>
                                  </p:stCondLst>
                                  <p:childTnLst>
                                    <p:set>
                                      <p:cBhvr>
                                        <p:cTn id="213" dur="1" fill="hold">
                                          <p:stCondLst>
                                            <p:cond delay="0"/>
                                          </p:stCondLst>
                                        </p:cTn>
                                        <p:tgtEl>
                                          <p:spTgt spid="110"/>
                                        </p:tgtEl>
                                        <p:attrNameLst>
                                          <p:attrName>style.visibility</p:attrName>
                                        </p:attrNameLst>
                                      </p:cBhvr>
                                      <p:to>
                                        <p:strVal val="visible"/>
                                      </p:to>
                                    </p:set>
                                  </p:childTnLst>
                                </p:cTn>
                              </p:par>
                              <p:par>
                                <p:cTn id="214" presetID="1" presetClass="entr" presetSubtype="0" fill="hold" nodeType="withEffect">
                                  <p:stCondLst>
                                    <p:cond delay="0"/>
                                  </p:stCondLst>
                                  <p:childTnLst>
                                    <p:set>
                                      <p:cBhvr>
                                        <p:cTn id="215" dur="1" fill="hold">
                                          <p:stCondLst>
                                            <p:cond delay="0"/>
                                          </p:stCondLst>
                                        </p:cTn>
                                        <p:tgtEl>
                                          <p:spTgt spid="111"/>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135"/>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1" presetClass="entr" presetSubtype="0" fill="hold" grpId="0" nodeType="clickEffect">
                                  <p:stCondLst>
                                    <p:cond delay="0"/>
                                  </p:stCondLst>
                                  <p:childTnLst>
                                    <p:set>
                                      <p:cBhvr>
                                        <p:cTn id="223" dur="1" fill="hold">
                                          <p:stCondLst>
                                            <p:cond delay="0"/>
                                          </p:stCondLst>
                                        </p:cTn>
                                        <p:tgtEl>
                                          <p:spTgt spid="113"/>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22" presetClass="entr" presetSubtype="1" fill="hold" nodeType="clickEffect">
                                  <p:stCondLst>
                                    <p:cond delay="0"/>
                                  </p:stCondLst>
                                  <p:childTnLst>
                                    <p:set>
                                      <p:cBhvr>
                                        <p:cTn id="227" dur="1" fill="hold">
                                          <p:stCondLst>
                                            <p:cond delay="0"/>
                                          </p:stCondLst>
                                        </p:cTn>
                                        <p:tgtEl>
                                          <p:spTgt spid="119"/>
                                        </p:tgtEl>
                                        <p:attrNameLst>
                                          <p:attrName>style.visibility</p:attrName>
                                        </p:attrNameLst>
                                      </p:cBhvr>
                                      <p:to>
                                        <p:strVal val="visible"/>
                                      </p:to>
                                    </p:set>
                                    <p:animEffect transition="in" filter="wipe(up)">
                                      <p:cBhvr>
                                        <p:cTn id="228" dur="500"/>
                                        <p:tgtEl>
                                          <p:spTgt spid="119"/>
                                        </p:tgtEl>
                                      </p:cBhvr>
                                    </p:animEffec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114"/>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22" presetClass="entr" presetSubtype="1" fill="hold" nodeType="clickEffect">
                                  <p:stCondLst>
                                    <p:cond delay="0"/>
                                  </p:stCondLst>
                                  <p:childTnLst>
                                    <p:set>
                                      <p:cBhvr>
                                        <p:cTn id="236" dur="1" fill="hold">
                                          <p:stCondLst>
                                            <p:cond delay="0"/>
                                          </p:stCondLst>
                                        </p:cTn>
                                        <p:tgtEl>
                                          <p:spTgt spid="120"/>
                                        </p:tgtEl>
                                        <p:attrNameLst>
                                          <p:attrName>style.visibility</p:attrName>
                                        </p:attrNameLst>
                                      </p:cBhvr>
                                      <p:to>
                                        <p:strVal val="visible"/>
                                      </p:to>
                                    </p:set>
                                    <p:animEffect transition="in" filter="wipe(up)">
                                      <p:cBhvr>
                                        <p:cTn id="237" dur="500"/>
                                        <p:tgtEl>
                                          <p:spTgt spid="120"/>
                                        </p:tgtEl>
                                      </p:cBhvr>
                                    </p:animEffect>
                                  </p:childTnLst>
                                </p:cTn>
                              </p:par>
                            </p:childTnLst>
                          </p:cTn>
                        </p:par>
                      </p:childTnLst>
                    </p:cTn>
                  </p:par>
                  <p:par>
                    <p:cTn id="238" fill="hold">
                      <p:stCondLst>
                        <p:cond delay="indefinite"/>
                      </p:stCondLst>
                      <p:childTnLst>
                        <p:par>
                          <p:cTn id="239" fill="hold">
                            <p:stCondLst>
                              <p:cond delay="0"/>
                            </p:stCondLst>
                            <p:childTnLst>
                              <p:par>
                                <p:cTn id="240" presetID="1" presetClass="entr" presetSubtype="0" fill="hold" grpId="0" nodeType="clickEffect">
                                  <p:stCondLst>
                                    <p:cond delay="0"/>
                                  </p:stCondLst>
                                  <p:childTnLst>
                                    <p:set>
                                      <p:cBhvr>
                                        <p:cTn id="241" dur="1" fill="hold">
                                          <p:stCondLst>
                                            <p:cond delay="0"/>
                                          </p:stCondLst>
                                        </p:cTn>
                                        <p:tgtEl>
                                          <p:spTgt spid="116"/>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22" presetClass="entr" presetSubtype="4" fill="hold" nodeType="clickEffect">
                                  <p:stCondLst>
                                    <p:cond delay="0"/>
                                  </p:stCondLst>
                                  <p:childTnLst>
                                    <p:set>
                                      <p:cBhvr>
                                        <p:cTn id="245" dur="1" fill="hold">
                                          <p:stCondLst>
                                            <p:cond delay="0"/>
                                          </p:stCondLst>
                                        </p:cTn>
                                        <p:tgtEl>
                                          <p:spTgt spid="121"/>
                                        </p:tgtEl>
                                        <p:attrNameLst>
                                          <p:attrName>style.visibility</p:attrName>
                                        </p:attrNameLst>
                                      </p:cBhvr>
                                      <p:to>
                                        <p:strVal val="visible"/>
                                      </p:to>
                                    </p:set>
                                    <p:animEffect transition="in" filter="wipe(down)">
                                      <p:cBhvr>
                                        <p:cTn id="246" dur="500"/>
                                        <p:tgtEl>
                                          <p:spTgt spid="121"/>
                                        </p:tgtEl>
                                      </p:cBhvr>
                                    </p:animEffec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15"/>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22" presetClass="entr" presetSubtype="1" fill="hold" nodeType="clickEffect">
                                  <p:stCondLst>
                                    <p:cond delay="0"/>
                                  </p:stCondLst>
                                  <p:childTnLst>
                                    <p:set>
                                      <p:cBhvr>
                                        <p:cTn id="254" dur="1" fill="hold">
                                          <p:stCondLst>
                                            <p:cond delay="0"/>
                                          </p:stCondLst>
                                        </p:cTn>
                                        <p:tgtEl>
                                          <p:spTgt spid="122"/>
                                        </p:tgtEl>
                                        <p:attrNameLst>
                                          <p:attrName>style.visibility</p:attrName>
                                        </p:attrNameLst>
                                      </p:cBhvr>
                                      <p:to>
                                        <p:strVal val="visible"/>
                                      </p:to>
                                    </p:set>
                                    <p:animEffect transition="in" filter="wipe(up)">
                                      <p:cBhvr>
                                        <p:cTn id="255" dur="500"/>
                                        <p:tgtEl>
                                          <p:spTgt spid="122"/>
                                        </p:tgtEl>
                                      </p:cBhvr>
                                    </p:animEffect>
                                  </p:childTnLst>
                                </p:cTn>
                              </p:par>
                            </p:childTnLst>
                          </p:cTn>
                        </p:par>
                      </p:childTnLst>
                    </p:cTn>
                  </p:par>
                  <p:par>
                    <p:cTn id="256" fill="hold">
                      <p:stCondLst>
                        <p:cond delay="indefinite"/>
                      </p:stCondLst>
                      <p:childTnLst>
                        <p:par>
                          <p:cTn id="257" fill="hold">
                            <p:stCondLst>
                              <p:cond delay="0"/>
                            </p:stCondLst>
                            <p:childTnLst>
                              <p:par>
                                <p:cTn id="258" presetID="1" presetClass="entr" presetSubtype="0" fill="hold" grpId="0" nodeType="clickEffect">
                                  <p:stCondLst>
                                    <p:cond delay="0"/>
                                  </p:stCondLst>
                                  <p:childTnLst>
                                    <p:set>
                                      <p:cBhvr>
                                        <p:cTn id="259" dur="1" fill="hold">
                                          <p:stCondLst>
                                            <p:cond delay="0"/>
                                          </p:stCondLst>
                                        </p:cTn>
                                        <p:tgtEl>
                                          <p:spTgt spid="118"/>
                                        </p:tgtEl>
                                        <p:attrNameLst>
                                          <p:attrName>style.visibility</p:attrName>
                                        </p:attrNameLst>
                                      </p:cBhvr>
                                      <p:to>
                                        <p:strVal val="visible"/>
                                      </p:to>
                                    </p:set>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123"/>
                                        </p:tgtEl>
                                        <p:attrNameLst>
                                          <p:attrName>style.visibility</p:attrName>
                                        </p:attrNameLst>
                                      </p:cBhvr>
                                      <p:to>
                                        <p:strVal val="visible"/>
                                      </p:to>
                                    </p:set>
                                    <p:animEffect transition="in" filter="wipe(down)">
                                      <p:cBhvr>
                                        <p:cTn id="264" dur="500"/>
                                        <p:tgtEl>
                                          <p:spTgt spid="123"/>
                                        </p:tgtEl>
                                      </p:cBhvr>
                                    </p:animEffec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grpId="0" nodeType="clickEffect">
                                  <p:stCondLst>
                                    <p:cond delay="0"/>
                                  </p:stCondLst>
                                  <p:childTnLst>
                                    <p:set>
                                      <p:cBhvr>
                                        <p:cTn id="268" dur="1" fill="hold">
                                          <p:stCondLst>
                                            <p:cond delay="0"/>
                                          </p:stCondLst>
                                        </p:cTn>
                                        <p:tgtEl>
                                          <p:spTgt spid="117"/>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36"/>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124"/>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22" presetClass="entr" presetSubtype="1" fill="hold" nodeType="clickEffect">
                                  <p:stCondLst>
                                    <p:cond delay="0"/>
                                  </p:stCondLst>
                                  <p:childTnLst>
                                    <p:set>
                                      <p:cBhvr>
                                        <p:cTn id="280" dur="1" fill="hold">
                                          <p:stCondLst>
                                            <p:cond delay="0"/>
                                          </p:stCondLst>
                                        </p:cTn>
                                        <p:tgtEl>
                                          <p:spTgt spid="130"/>
                                        </p:tgtEl>
                                        <p:attrNameLst>
                                          <p:attrName>style.visibility</p:attrName>
                                        </p:attrNameLst>
                                      </p:cBhvr>
                                      <p:to>
                                        <p:strVal val="visible"/>
                                      </p:to>
                                    </p:set>
                                    <p:animEffect transition="in" filter="wipe(up)">
                                      <p:cBhvr>
                                        <p:cTn id="281" dur="500"/>
                                        <p:tgtEl>
                                          <p:spTgt spid="130"/>
                                        </p:tgtEl>
                                      </p:cBhvr>
                                    </p:animEffect>
                                  </p:childTnLst>
                                </p:cTn>
                              </p:par>
                            </p:childTnLst>
                          </p:cTn>
                        </p:par>
                      </p:childTnLst>
                    </p:cTn>
                  </p:par>
                  <p:par>
                    <p:cTn id="282" fill="hold">
                      <p:stCondLst>
                        <p:cond delay="indefinite"/>
                      </p:stCondLst>
                      <p:childTnLst>
                        <p:par>
                          <p:cTn id="283" fill="hold">
                            <p:stCondLst>
                              <p:cond delay="0"/>
                            </p:stCondLst>
                            <p:childTnLst>
                              <p:par>
                                <p:cTn id="284" presetID="1" presetClass="entr" presetSubtype="0" fill="hold" grpId="0" nodeType="clickEffect">
                                  <p:stCondLst>
                                    <p:cond delay="0"/>
                                  </p:stCondLst>
                                  <p:childTnLst>
                                    <p:set>
                                      <p:cBhvr>
                                        <p:cTn id="285" dur="1" fill="hold">
                                          <p:stCondLst>
                                            <p:cond delay="0"/>
                                          </p:stCondLst>
                                        </p:cTn>
                                        <p:tgtEl>
                                          <p:spTgt spid="125"/>
                                        </p:tgtEl>
                                        <p:attrNameLst>
                                          <p:attrName>style.visibility</p:attrName>
                                        </p:attrNameLst>
                                      </p:cBhvr>
                                      <p:to>
                                        <p:strVal val="visible"/>
                                      </p:to>
                                    </p:set>
                                  </p:childTnLst>
                                </p:cTn>
                              </p:par>
                            </p:childTnLst>
                          </p:cTn>
                        </p:par>
                      </p:childTnLst>
                    </p:cTn>
                  </p:par>
                  <p:par>
                    <p:cTn id="286" fill="hold">
                      <p:stCondLst>
                        <p:cond delay="indefinite"/>
                      </p:stCondLst>
                      <p:childTnLst>
                        <p:par>
                          <p:cTn id="287" fill="hold">
                            <p:stCondLst>
                              <p:cond delay="0"/>
                            </p:stCondLst>
                            <p:childTnLst>
                              <p:par>
                                <p:cTn id="288" presetID="22" presetClass="entr" presetSubtype="1" fill="hold" nodeType="clickEffect">
                                  <p:stCondLst>
                                    <p:cond delay="0"/>
                                  </p:stCondLst>
                                  <p:childTnLst>
                                    <p:set>
                                      <p:cBhvr>
                                        <p:cTn id="289" dur="1" fill="hold">
                                          <p:stCondLst>
                                            <p:cond delay="0"/>
                                          </p:stCondLst>
                                        </p:cTn>
                                        <p:tgtEl>
                                          <p:spTgt spid="131"/>
                                        </p:tgtEl>
                                        <p:attrNameLst>
                                          <p:attrName>style.visibility</p:attrName>
                                        </p:attrNameLst>
                                      </p:cBhvr>
                                      <p:to>
                                        <p:strVal val="visible"/>
                                      </p:to>
                                    </p:set>
                                    <p:animEffect transition="in" filter="wipe(up)">
                                      <p:cBhvr>
                                        <p:cTn id="290" dur="500"/>
                                        <p:tgtEl>
                                          <p:spTgt spid="131"/>
                                        </p:tgtEl>
                                      </p:cBhvr>
                                    </p:animEffec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126"/>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22" presetClass="entr" presetSubtype="1" fill="hold" nodeType="clickEffect">
                                  <p:stCondLst>
                                    <p:cond delay="0"/>
                                  </p:stCondLst>
                                  <p:childTnLst>
                                    <p:set>
                                      <p:cBhvr>
                                        <p:cTn id="298" dur="1" fill="hold">
                                          <p:stCondLst>
                                            <p:cond delay="0"/>
                                          </p:stCondLst>
                                        </p:cTn>
                                        <p:tgtEl>
                                          <p:spTgt spid="132"/>
                                        </p:tgtEl>
                                        <p:attrNameLst>
                                          <p:attrName>style.visibility</p:attrName>
                                        </p:attrNameLst>
                                      </p:cBhvr>
                                      <p:to>
                                        <p:strVal val="visible"/>
                                      </p:to>
                                    </p:set>
                                    <p:animEffect transition="in" filter="wipe(up)">
                                      <p:cBhvr>
                                        <p:cTn id="299" dur="500"/>
                                        <p:tgtEl>
                                          <p:spTgt spid="132"/>
                                        </p:tgtEl>
                                      </p:cBhvr>
                                    </p:animEffect>
                                  </p:childTnLst>
                                </p:cTn>
                              </p:par>
                            </p:childTnLst>
                          </p:cTn>
                        </p:par>
                      </p:childTnLst>
                    </p:cTn>
                  </p:par>
                  <p:par>
                    <p:cTn id="300" fill="hold">
                      <p:stCondLst>
                        <p:cond delay="indefinite"/>
                      </p:stCondLst>
                      <p:childTnLst>
                        <p:par>
                          <p:cTn id="301" fill="hold">
                            <p:stCondLst>
                              <p:cond delay="0"/>
                            </p:stCondLst>
                            <p:childTnLst>
                              <p:par>
                                <p:cTn id="302" presetID="1" presetClass="entr" presetSubtype="0" fill="hold" grpId="0" nodeType="clickEffect">
                                  <p:stCondLst>
                                    <p:cond delay="0"/>
                                  </p:stCondLst>
                                  <p:childTnLst>
                                    <p:set>
                                      <p:cBhvr>
                                        <p:cTn id="303" dur="1" fill="hold">
                                          <p:stCondLst>
                                            <p:cond delay="0"/>
                                          </p:stCondLst>
                                        </p:cTn>
                                        <p:tgtEl>
                                          <p:spTgt spid="127"/>
                                        </p:tgtEl>
                                        <p:attrNameLst>
                                          <p:attrName>style.visibility</p:attrName>
                                        </p:attrNameLst>
                                      </p:cBhvr>
                                      <p:to>
                                        <p:strVal val="visible"/>
                                      </p:to>
                                    </p:set>
                                  </p:childTnLst>
                                </p:cTn>
                              </p:par>
                            </p:childTnLst>
                          </p:cTn>
                        </p:par>
                      </p:childTnLst>
                    </p:cTn>
                  </p:par>
                  <p:par>
                    <p:cTn id="304" fill="hold">
                      <p:stCondLst>
                        <p:cond delay="indefinite"/>
                      </p:stCondLst>
                      <p:childTnLst>
                        <p:par>
                          <p:cTn id="305" fill="hold">
                            <p:stCondLst>
                              <p:cond delay="0"/>
                            </p:stCondLst>
                            <p:childTnLst>
                              <p:par>
                                <p:cTn id="306" presetID="22" presetClass="entr" presetSubtype="8" fill="hold" nodeType="clickEffect">
                                  <p:stCondLst>
                                    <p:cond delay="0"/>
                                  </p:stCondLst>
                                  <p:childTnLst>
                                    <p:set>
                                      <p:cBhvr>
                                        <p:cTn id="307" dur="1" fill="hold">
                                          <p:stCondLst>
                                            <p:cond delay="0"/>
                                          </p:stCondLst>
                                        </p:cTn>
                                        <p:tgtEl>
                                          <p:spTgt spid="134"/>
                                        </p:tgtEl>
                                        <p:attrNameLst>
                                          <p:attrName>style.visibility</p:attrName>
                                        </p:attrNameLst>
                                      </p:cBhvr>
                                      <p:to>
                                        <p:strVal val="visible"/>
                                      </p:to>
                                    </p:set>
                                    <p:animEffect transition="in" filter="wipe(left)">
                                      <p:cBhvr>
                                        <p:cTn id="308" dur="500"/>
                                        <p:tgtEl>
                                          <p:spTgt spid="134"/>
                                        </p:tgtEl>
                                      </p:cBhvr>
                                    </p:animEffec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childTnLst>
                                    <p:set>
                                      <p:cBhvr>
                                        <p:cTn id="312" dur="1" fill="hold">
                                          <p:stCondLst>
                                            <p:cond delay="0"/>
                                          </p:stCondLst>
                                        </p:cTn>
                                        <p:tgtEl>
                                          <p:spTgt spid="129"/>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presetID="22" presetClass="entr" presetSubtype="8" fill="hold" nodeType="clickEffect">
                                  <p:stCondLst>
                                    <p:cond delay="0"/>
                                  </p:stCondLst>
                                  <p:childTnLst>
                                    <p:set>
                                      <p:cBhvr>
                                        <p:cTn id="316" dur="1" fill="hold">
                                          <p:stCondLst>
                                            <p:cond delay="0"/>
                                          </p:stCondLst>
                                        </p:cTn>
                                        <p:tgtEl>
                                          <p:spTgt spid="133"/>
                                        </p:tgtEl>
                                        <p:attrNameLst>
                                          <p:attrName>style.visibility</p:attrName>
                                        </p:attrNameLst>
                                      </p:cBhvr>
                                      <p:to>
                                        <p:strVal val="visible"/>
                                      </p:to>
                                    </p:set>
                                    <p:animEffect transition="in" filter="wipe(left)">
                                      <p:cBhvr>
                                        <p:cTn id="317" dur="500"/>
                                        <p:tgtEl>
                                          <p:spTgt spid="133"/>
                                        </p:tgtEl>
                                      </p:cBhvr>
                                    </p:animEffect>
                                  </p:childTnLst>
                                </p:cTn>
                              </p:par>
                            </p:childTnLst>
                          </p:cTn>
                        </p:par>
                      </p:childTnLst>
                    </p:cTn>
                  </p:par>
                  <p:par>
                    <p:cTn id="318" fill="hold">
                      <p:stCondLst>
                        <p:cond delay="indefinite"/>
                      </p:stCondLst>
                      <p:childTnLst>
                        <p:par>
                          <p:cTn id="319" fill="hold">
                            <p:stCondLst>
                              <p:cond delay="0"/>
                            </p:stCondLst>
                            <p:childTnLst>
                              <p:par>
                                <p:cTn id="320" presetID="1" presetClass="entr" presetSubtype="0" fill="hold" grpId="0" nodeType="clickEffect">
                                  <p:stCondLst>
                                    <p:cond delay="0"/>
                                  </p:stCondLst>
                                  <p:childTnLst>
                                    <p:set>
                                      <p:cBhvr>
                                        <p:cTn id="321"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28" grpId="0" animBg="1"/>
      <p:bldP spid="29" grpId="0" animBg="1"/>
      <p:bldP spid="40" grpId="0"/>
      <p:bldP spid="43" grpId="0"/>
      <p:bldP spid="45" grpId="0" animBg="1"/>
      <p:bldP spid="46" grpId="0" animBg="1"/>
      <p:bldP spid="47" grpId="0" animBg="1"/>
      <p:bldP spid="48" grpId="0" animBg="1"/>
      <p:bldP spid="49" grpId="0" animBg="1"/>
      <p:bldP spid="50" grpId="0" animBg="1"/>
      <p:bldP spid="51" grpId="0" animBg="1"/>
      <p:bldP spid="52" grpId="0" animBg="1"/>
      <p:bldP spid="99" grpId="0" animBg="1"/>
      <p:bldP spid="100" grpId="0" animBg="1"/>
      <p:bldP spid="101" grpId="0" animBg="1"/>
      <p:bldP spid="102" grpId="0" animBg="1"/>
      <p:bldP spid="103" grpId="0" animBg="1"/>
      <p:bldP spid="104" grpId="0" animBg="1"/>
      <p:bldP spid="113" grpId="0" animBg="1"/>
      <p:bldP spid="114" grpId="0" animBg="1"/>
      <p:bldP spid="115" grpId="0" animBg="1"/>
      <p:bldP spid="116" grpId="0" animBg="1"/>
      <p:bldP spid="117" grpId="0" animBg="1"/>
      <p:bldP spid="118" grpId="0" animBg="1"/>
      <p:bldP spid="124" grpId="0" animBg="1"/>
      <p:bldP spid="125" grpId="0" animBg="1"/>
      <p:bldP spid="126" grpId="0" animBg="1"/>
      <p:bldP spid="127" grpId="0" animBg="1"/>
      <p:bldP spid="128" grpId="0" animBg="1"/>
      <p:bldP spid="129" grpId="0" animBg="1"/>
      <p:bldP spid="135" grpId="0"/>
      <p:bldP spid="13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Cost Spanning Tree</a:t>
            </a:r>
          </a:p>
        </p:txBody>
      </p:sp>
      <p:sp>
        <p:nvSpPr>
          <p:cNvPr id="3" name="Content Placeholder 2"/>
          <p:cNvSpPr>
            <a:spLocks noGrp="1"/>
          </p:cNvSpPr>
          <p:nvPr>
            <p:ph idx="1"/>
          </p:nvPr>
        </p:nvSpPr>
        <p:spPr/>
        <p:txBody>
          <a:bodyPr/>
          <a:lstStyle/>
          <a:p>
            <a:r>
              <a:rPr lang="en-US" dirty="0"/>
              <a:t>The </a:t>
            </a:r>
            <a:r>
              <a:rPr lang="en-US" b="1" dirty="0">
                <a:solidFill>
                  <a:srgbClr val="C00000"/>
                </a:solidFill>
              </a:rPr>
              <a:t>cost of a spanning tree</a:t>
            </a:r>
            <a:r>
              <a:rPr lang="en-US" dirty="0">
                <a:solidFill>
                  <a:srgbClr val="C00000"/>
                </a:solidFill>
              </a:rPr>
              <a:t> </a:t>
            </a:r>
            <a:r>
              <a:rPr lang="en-US" dirty="0"/>
              <a:t>of a weighted undirected graph is the sum of the costs(weights) of the edges in the spanning tree</a:t>
            </a:r>
          </a:p>
          <a:p>
            <a:r>
              <a:rPr lang="en-US" dirty="0"/>
              <a:t>A </a:t>
            </a:r>
            <a:r>
              <a:rPr lang="en-US" b="1" dirty="0">
                <a:solidFill>
                  <a:srgbClr val="C00000"/>
                </a:solidFill>
              </a:rPr>
              <a:t>minimum cost  spanning tree</a:t>
            </a:r>
            <a:r>
              <a:rPr lang="en-US" dirty="0">
                <a:solidFill>
                  <a:srgbClr val="C00000"/>
                </a:solidFill>
              </a:rPr>
              <a:t> </a:t>
            </a:r>
            <a:r>
              <a:rPr lang="en-US" dirty="0"/>
              <a:t>is a spanning tree of least cost</a:t>
            </a:r>
          </a:p>
          <a:p>
            <a:r>
              <a:rPr lang="en-US" dirty="0"/>
              <a:t>Two techniques for Constructing minimum cost spanning tree</a:t>
            </a:r>
          </a:p>
          <a:p>
            <a:pPr lvl="1"/>
            <a:r>
              <a:rPr lang="en-US" dirty="0"/>
              <a:t>Prim’s Algorithm</a:t>
            </a:r>
          </a:p>
          <a:p>
            <a:pPr lvl="1"/>
            <a:r>
              <a:rPr lang="en-US" dirty="0" err="1"/>
              <a:t>Kruskal’s</a:t>
            </a:r>
            <a:r>
              <a:rPr lang="en-US" dirty="0"/>
              <a:t> Algorithm</a:t>
            </a:r>
          </a:p>
        </p:txBody>
      </p:sp>
    </p:spTree>
    <p:extLst>
      <p:ext uri="{BB962C8B-B14F-4D97-AF65-F5344CB8AC3E}">
        <p14:creationId xmlns:p14="http://schemas.microsoft.com/office/powerpoint/2010/main" val="230538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6D8B8-6840-4D02-A24E-2472497F06EB}"/>
              </a:ext>
            </a:extLst>
          </p:cNvPr>
          <p:cNvSpPr>
            <a:spLocks noGrp="1"/>
          </p:cNvSpPr>
          <p:nvPr>
            <p:ph type="title"/>
          </p:nvPr>
        </p:nvSpPr>
        <p:spPr/>
        <p:txBody>
          <a:bodyPr/>
          <a:lstStyle/>
          <a:p>
            <a:r>
              <a:rPr lang="en-IN" dirty="0"/>
              <a:t>Example:</a:t>
            </a:r>
          </a:p>
        </p:txBody>
      </p:sp>
      <p:pic>
        <p:nvPicPr>
          <p:cNvPr id="1026" name="Picture 2" descr="Example of a graph">
            <a:extLst>
              <a:ext uri="{FF2B5EF4-FFF2-40B4-BE49-F238E27FC236}">
                <a16:creationId xmlns:a16="http://schemas.microsoft.com/office/drawing/2014/main" id="{91DD61CA-938A-416E-9073-2580EBA32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077" y="1323975"/>
            <a:ext cx="8237948" cy="4778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383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Shortest Path Algorithm</a:t>
            </a:r>
            <a:endParaRPr lang="en-US" dirty="0"/>
          </a:p>
        </p:txBody>
      </p:sp>
      <p:sp>
        <p:nvSpPr>
          <p:cNvPr id="3" name="Content Placeholder 2"/>
          <p:cNvSpPr>
            <a:spLocks noGrp="1"/>
          </p:cNvSpPr>
          <p:nvPr>
            <p:ph idx="1"/>
          </p:nvPr>
        </p:nvSpPr>
        <p:spPr/>
        <p:txBody>
          <a:bodyPr/>
          <a:lstStyle/>
          <a:p>
            <a:r>
              <a:rPr lang="en-IN" dirty="0"/>
              <a:t>Let </a:t>
            </a:r>
            <a:r>
              <a:rPr lang="en-IN" b="1" dirty="0">
                <a:solidFill>
                  <a:srgbClr val="C00000"/>
                </a:solidFill>
              </a:rPr>
              <a:t>G = (V,E)</a:t>
            </a:r>
            <a:r>
              <a:rPr lang="en-IN" dirty="0"/>
              <a:t> be a simple diagraph with </a:t>
            </a:r>
            <a:r>
              <a:rPr lang="en-IN" b="1" dirty="0">
                <a:solidFill>
                  <a:srgbClr val="C00000"/>
                </a:solidFill>
              </a:rPr>
              <a:t>n vertices</a:t>
            </a:r>
          </a:p>
          <a:p>
            <a:r>
              <a:rPr lang="en-IN" dirty="0"/>
              <a:t>The problem is to </a:t>
            </a:r>
            <a:r>
              <a:rPr lang="en-IN" b="1" dirty="0">
                <a:solidFill>
                  <a:srgbClr val="C00000"/>
                </a:solidFill>
              </a:rPr>
              <a:t>find out shortest distance </a:t>
            </a:r>
            <a:r>
              <a:rPr lang="en-IN" dirty="0"/>
              <a:t>from a </a:t>
            </a:r>
            <a:r>
              <a:rPr lang="en-IN" b="1" dirty="0">
                <a:solidFill>
                  <a:srgbClr val="C00000"/>
                </a:solidFill>
              </a:rPr>
              <a:t>vertex to all other vertices</a:t>
            </a:r>
            <a:r>
              <a:rPr lang="en-IN" dirty="0">
                <a:solidFill>
                  <a:srgbClr val="C00000"/>
                </a:solidFill>
              </a:rPr>
              <a:t> </a:t>
            </a:r>
            <a:r>
              <a:rPr lang="en-IN" dirty="0"/>
              <a:t>of a graph</a:t>
            </a:r>
          </a:p>
          <a:p>
            <a:r>
              <a:rPr lang="en-IN" b="1" dirty="0" err="1">
                <a:solidFill>
                  <a:srgbClr val="C00000"/>
                </a:solidFill>
              </a:rPr>
              <a:t>Dijkstra</a:t>
            </a:r>
            <a:r>
              <a:rPr lang="en-IN" b="1" dirty="0">
                <a:solidFill>
                  <a:srgbClr val="C00000"/>
                </a:solidFill>
              </a:rPr>
              <a:t> Algorithm</a:t>
            </a:r>
            <a:r>
              <a:rPr lang="en-IN" dirty="0">
                <a:solidFill>
                  <a:srgbClr val="C00000"/>
                </a:solidFill>
              </a:rPr>
              <a:t> </a:t>
            </a:r>
            <a:r>
              <a:rPr lang="en-IN" dirty="0"/>
              <a:t>– it is also called Single Source Shortest Path Algorithm</a:t>
            </a:r>
          </a:p>
        </p:txBody>
      </p:sp>
    </p:spTree>
    <p:extLst>
      <p:ext uri="{BB962C8B-B14F-4D97-AF65-F5344CB8AC3E}">
        <p14:creationId xmlns:p14="http://schemas.microsoft.com/office/powerpoint/2010/main" val="361350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Dijkstra</a:t>
            </a:r>
            <a:r>
              <a:rPr lang="en-IN" dirty="0"/>
              <a:t> Algorithm – Shortest Path</a:t>
            </a:r>
            <a:endParaRPr lang="en-US" dirty="0"/>
          </a:p>
        </p:txBody>
      </p:sp>
      <p:sp>
        <p:nvSpPr>
          <p:cNvPr id="5" name="Oval 4"/>
          <p:cNvSpPr/>
          <p:nvPr/>
        </p:nvSpPr>
        <p:spPr>
          <a:xfrm>
            <a:off x="1981200" y="1752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6" name="Oval 5"/>
          <p:cNvSpPr/>
          <p:nvPr/>
        </p:nvSpPr>
        <p:spPr>
          <a:xfrm>
            <a:off x="3048000" y="1066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7" name="Oval 6"/>
          <p:cNvSpPr/>
          <p:nvPr/>
        </p:nvSpPr>
        <p:spPr>
          <a:xfrm>
            <a:off x="3048000" y="2590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8" name="Oval 7"/>
          <p:cNvSpPr/>
          <p:nvPr/>
        </p:nvSpPr>
        <p:spPr>
          <a:xfrm>
            <a:off x="4724400" y="1066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9" name="Oval 8"/>
          <p:cNvSpPr/>
          <p:nvPr/>
        </p:nvSpPr>
        <p:spPr>
          <a:xfrm>
            <a:off x="4724400" y="25908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10" name="Oval 9"/>
          <p:cNvSpPr/>
          <p:nvPr/>
        </p:nvSpPr>
        <p:spPr>
          <a:xfrm>
            <a:off x="5791200" y="1752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2" name="Straight Connector 11"/>
          <p:cNvCxnSpPr>
            <a:stCxn id="5" idx="7"/>
            <a:endCxn id="6" idx="3"/>
          </p:cNvCxnSpPr>
          <p:nvPr/>
        </p:nvCxnSpPr>
        <p:spPr>
          <a:xfrm flipV="1">
            <a:off x="2306404" y="1392004"/>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6" idx="6"/>
            <a:endCxn id="8" idx="2"/>
          </p:cNvCxnSpPr>
          <p:nvPr/>
        </p:nvCxnSpPr>
        <p:spPr>
          <a:xfrm>
            <a:off x="3429000" y="125730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8" idx="5"/>
            <a:endCxn id="10" idx="1"/>
          </p:cNvCxnSpPr>
          <p:nvPr/>
        </p:nvCxnSpPr>
        <p:spPr>
          <a:xfrm>
            <a:off x="5049604" y="1392004"/>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5" idx="5"/>
            <a:endCxn id="7" idx="1"/>
          </p:cNvCxnSpPr>
          <p:nvPr/>
        </p:nvCxnSpPr>
        <p:spPr>
          <a:xfrm>
            <a:off x="2306404" y="207780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7" idx="6"/>
            <a:endCxn id="9" idx="2"/>
          </p:cNvCxnSpPr>
          <p:nvPr/>
        </p:nvCxnSpPr>
        <p:spPr>
          <a:xfrm>
            <a:off x="3429000" y="278130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9" idx="7"/>
            <a:endCxn id="10" idx="3"/>
          </p:cNvCxnSpPr>
          <p:nvPr/>
        </p:nvCxnSpPr>
        <p:spPr>
          <a:xfrm flipV="1">
            <a:off x="5049604" y="207780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4" name="Straight Connector 23"/>
          <p:cNvCxnSpPr>
            <a:stCxn id="6" idx="4"/>
            <a:endCxn id="7" idx="0"/>
          </p:cNvCxnSpPr>
          <p:nvPr/>
        </p:nvCxnSpPr>
        <p:spPr>
          <a:xfrm>
            <a:off x="3238500" y="144780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a:stCxn id="8" idx="4"/>
            <a:endCxn id="9" idx="0"/>
          </p:cNvCxnSpPr>
          <p:nvPr/>
        </p:nvCxnSpPr>
        <p:spPr>
          <a:xfrm>
            <a:off x="4914900" y="144780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8" name="Straight Connector 27"/>
          <p:cNvCxnSpPr>
            <a:stCxn id="6" idx="5"/>
            <a:endCxn id="9" idx="1"/>
          </p:cNvCxnSpPr>
          <p:nvPr/>
        </p:nvCxnSpPr>
        <p:spPr>
          <a:xfrm>
            <a:off x="3373204" y="1392004"/>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9" name="TextBox 28"/>
          <p:cNvSpPr txBox="1"/>
          <p:nvPr/>
        </p:nvSpPr>
        <p:spPr>
          <a:xfrm>
            <a:off x="2500086" y="1219200"/>
            <a:ext cx="301686" cy="369332"/>
          </a:xfrm>
          <a:prstGeom prst="rect">
            <a:avLst/>
          </a:prstGeom>
          <a:noFill/>
        </p:spPr>
        <p:txBody>
          <a:bodyPr wrap="none" rtlCol="0">
            <a:spAutoFit/>
          </a:bodyPr>
          <a:lstStyle/>
          <a:p>
            <a:r>
              <a:rPr lang="en-IN" b="1" dirty="0"/>
              <a:t>1</a:t>
            </a:r>
            <a:endParaRPr lang="en-US" b="1" dirty="0"/>
          </a:p>
        </p:txBody>
      </p:sp>
      <p:sp>
        <p:nvSpPr>
          <p:cNvPr id="30" name="TextBox 29"/>
          <p:cNvSpPr txBox="1"/>
          <p:nvPr/>
        </p:nvSpPr>
        <p:spPr>
          <a:xfrm>
            <a:off x="2942256" y="1793296"/>
            <a:ext cx="301686" cy="369332"/>
          </a:xfrm>
          <a:prstGeom prst="rect">
            <a:avLst/>
          </a:prstGeom>
          <a:noFill/>
        </p:spPr>
        <p:txBody>
          <a:bodyPr wrap="none" rtlCol="0">
            <a:spAutoFit/>
          </a:bodyPr>
          <a:lstStyle/>
          <a:p>
            <a:r>
              <a:rPr lang="en-IN" b="1" dirty="0"/>
              <a:t>1</a:t>
            </a:r>
            <a:endParaRPr lang="en-US" b="1" dirty="0"/>
          </a:p>
        </p:txBody>
      </p:sp>
      <p:sp>
        <p:nvSpPr>
          <p:cNvPr id="31" name="TextBox 30"/>
          <p:cNvSpPr txBox="1"/>
          <p:nvPr/>
        </p:nvSpPr>
        <p:spPr>
          <a:xfrm>
            <a:off x="2434770" y="2279524"/>
            <a:ext cx="301686" cy="369332"/>
          </a:xfrm>
          <a:prstGeom prst="rect">
            <a:avLst/>
          </a:prstGeom>
          <a:noFill/>
        </p:spPr>
        <p:txBody>
          <a:bodyPr wrap="none" rtlCol="0">
            <a:spAutoFit/>
          </a:bodyPr>
          <a:lstStyle/>
          <a:p>
            <a:r>
              <a:rPr lang="en-IN" b="1" dirty="0"/>
              <a:t>5</a:t>
            </a:r>
            <a:endParaRPr lang="en-US" b="1" dirty="0"/>
          </a:p>
        </p:txBody>
      </p:sp>
      <p:sp>
        <p:nvSpPr>
          <p:cNvPr id="32" name="TextBox 31"/>
          <p:cNvSpPr txBox="1"/>
          <p:nvPr/>
        </p:nvSpPr>
        <p:spPr>
          <a:xfrm>
            <a:off x="3889314" y="914400"/>
            <a:ext cx="301686" cy="369332"/>
          </a:xfrm>
          <a:prstGeom prst="rect">
            <a:avLst/>
          </a:prstGeom>
          <a:noFill/>
        </p:spPr>
        <p:txBody>
          <a:bodyPr wrap="none" rtlCol="0">
            <a:spAutoFit/>
          </a:bodyPr>
          <a:lstStyle/>
          <a:p>
            <a:r>
              <a:rPr lang="en-IN" b="1" dirty="0"/>
              <a:t>2</a:t>
            </a:r>
            <a:endParaRPr lang="en-US" b="1" dirty="0"/>
          </a:p>
        </p:txBody>
      </p:sp>
      <p:sp>
        <p:nvSpPr>
          <p:cNvPr id="33" name="TextBox 32"/>
          <p:cNvSpPr txBox="1"/>
          <p:nvPr/>
        </p:nvSpPr>
        <p:spPr>
          <a:xfrm>
            <a:off x="3965514" y="1676400"/>
            <a:ext cx="301686" cy="369332"/>
          </a:xfrm>
          <a:prstGeom prst="rect">
            <a:avLst/>
          </a:prstGeom>
          <a:noFill/>
        </p:spPr>
        <p:txBody>
          <a:bodyPr wrap="none" rtlCol="0">
            <a:spAutoFit/>
          </a:bodyPr>
          <a:lstStyle/>
          <a:p>
            <a:r>
              <a:rPr lang="en-IN" b="1" dirty="0"/>
              <a:t>4</a:t>
            </a:r>
            <a:endParaRPr lang="en-US" b="1" dirty="0"/>
          </a:p>
        </p:txBody>
      </p:sp>
      <p:sp>
        <p:nvSpPr>
          <p:cNvPr id="34" name="TextBox 33"/>
          <p:cNvSpPr txBox="1"/>
          <p:nvPr/>
        </p:nvSpPr>
        <p:spPr>
          <a:xfrm>
            <a:off x="3813114" y="2754868"/>
            <a:ext cx="301686" cy="369332"/>
          </a:xfrm>
          <a:prstGeom prst="rect">
            <a:avLst/>
          </a:prstGeom>
          <a:noFill/>
        </p:spPr>
        <p:txBody>
          <a:bodyPr wrap="none" rtlCol="0">
            <a:spAutoFit/>
          </a:bodyPr>
          <a:lstStyle/>
          <a:p>
            <a:r>
              <a:rPr lang="en-IN" b="1" dirty="0"/>
              <a:t>5</a:t>
            </a:r>
            <a:endParaRPr lang="en-US" b="1" dirty="0"/>
          </a:p>
        </p:txBody>
      </p:sp>
      <p:sp>
        <p:nvSpPr>
          <p:cNvPr id="35" name="TextBox 34"/>
          <p:cNvSpPr txBox="1"/>
          <p:nvPr/>
        </p:nvSpPr>
        <p:spPr>
          <a:xfrm>
            <a:off x="4898058" y="1764268"/>
            <a:ext cx="301686" cy="369332"/>
          </a:xfrm>
          <a:prstGeom prst="rect">
            <a:avLst/>
          </a:prstGeom>
          <a:noFill/>
        </p:spPr>
        <p:txBody>
          <a:bodyPr wrap="none" rtlCol="0">
            <a:spAutoFit/>
          </a:bodyPr>
          <a:lstStyle/>
          <a:p>
            <a:r>
              <a:rPr lang="en-IN" b="1" dirty="0"/>
              <a:t>7</a:t>
            </a:r>
            <a:endParaRPr lang="en-US" b="1" dirty="0"/>
          </a:p>
        </p:txBody>
      </p:sp>
      <p:sp>
        <p:nvSpPr>
          <p:cNvPr id="36" name="TextBox 35"/>
          <p:cNvSpPr txBox="1"/>
          <p:nvPr/>
        </p:nvSpPr>
        <p:spPr>
          <a:xfrm>
            <a:off x="5358888" y="1266372"/>
            <a:ext cx="301686" cy="369332"/>
          </a:xfrm>
          <a:prstGeom prst="rect">
            <a:avLst/>
          </a:prstGeom>
          <a:noFill/>
        </p:spPr>
        <p:txBody>
          <a:bodyPr wrap="none" rtlCol="0">
            <a:spAutoFit/>
          </a:bodyPr>
          <a:lstStyle/>
          <a:p>
            <a:r>
              <a:rPr lang="en-IN" b="1" dirty="0"/>
              <a:t>6</a:t>
            </a:r>
            <a:endParaRPr lang="en-US" b="1" dirty="0"/>
          </a:p>
        </p:txBody>
      </p:sp>
      <p:sp>
        <p:nvSpPr>
          <p:cNvPr id="37" name="TextBox 36"/>
          <p:cNvSpPr txBox="1"/>
          <p:nvPr/>
        </p:nvSpPr>
        <p:spPr>
          <a:xfrm>
            <a:off x="5410200" y="2297668"/>
            <a:ext cx="301686" cy="369332"/>
          </a:xfrm>
          <a:prstGeom prst="rect">
            <a:avLst/>
          </a:prstGeom>
          <a:noFill/>
        </p:spPr>
        <p:txBody>
          <a:bodyPr wrap="none" rtlCol="0">
            <a:spAutoFit/>
          </a:bodyPr>
          <a:lstStyle/>
          <a:p>
            <a:r>
              <a:rPr lang="en-IN" b="1" dirty="0"/>
              <a:t>2</a:t>
            </a:r>
            <a:endParaRPr lang="en-US" b="1" dirty="0"/>
          </a:p>
        </p:txBody>
      </p:sp>
      <p:graphicFrame>
        <p:nvGraphicFramePr>
          <p:cNvPr id="38" name="Table 37"/>
          <p:cNvGraphicFramePr>
            <a:graphicFrameLocks noGrp="1"/>
          </p:cNvGraphicFramePr>
          <p:nvPr>
            <p:extLst>
              <p:ext uri="{D42A27DB-BD31-4B8C-83A1-F6EECF244321}">
                <p14:modId xmlns:p14="http://schemas.microsoft.com/office/powerpoint/2010/main" val="115380428"/>
              </p:ext>
            </p:extLst>
          </p:nvPr>
        </p:nvGraphicFramePr>
        <p:xfrm>
          <a:off x="8954589" y="1257300"/>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1"/>
                  </a:ext>
                </a:extLst>
              </a:tr>
              <a:tr h="370840">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extLst>
                  <a:ext uri="{0D108BD9-81ED-4DB2-BD59-A6C34878D82A}">
                    <a16:rowId xmlns:a16="http://schemas.microsoft.com/office/drawing/2014/main" val="10002"/>
                  </a:ext>
                </a:extLst>
              </a:tr>
            </a:tbl>
          </a:graphicData>
        </a:graphic>
      </p:graphicFrame>
      <p:sp>
        <p:nvSpPr>
          <p:cNvPr id="41" name="Rectangle 40"/>
          <p:cNvSpPr/>
          <p:nvPr/>
        </p:nvSpPr>
        <p:spPr>
          <a:xfrm>
            <a:off x="7582988" y="1770407"/>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42" name="Rectangle 41"/>
          <p:cNvSpPr/>
          <p:nvPr/>
        </p:nvSpPr>
        <p:spPr>
          <a:xfrm>
            <a:off x="7582988" y="2188866"/>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cxnSp>
        <p:nvCxnSpPr>
          <p:cNvPr id="44" name="Straight Connector 43"/>
          <p:cNvCxnSpPr/>
          <p:nvPr/>
        </p:nvCxnSpPr>
        <p:spPr>
          <a:xfrm>
            <a:off x="121030" y="3352800"/>
            <a:ext cx="11998800" cy="0"/>
          </a:xfrm>
          <a:prstGeom prst="line">
            <a:avLst/>
          </a:prstGeom>
        </p:spPr>
        <p:style>
          <a:lnRef idx="2">
            <a:schemeClr val="dk1"/>
          </a:lnRef>
          <a:fillRef idx="0">
            <a:schemeClr val="dk1"/>
          </a:fillRef>
          <a:effectRef idx="1">
            <a:schemeClr val="dk1"/>
          </a:effectRef>
          <a:fontRef idx="minor">
            <a:schemeClr val="tx1"/>
          </a:fontRef>
        </p:style>
      </p:cxnSp>
      <p:sp>
        <p:nvSpPr>
          <p:cNvPr id="45" name="Oval 44"/>
          <p:cNvSpPr/>
          <p:nvPr/>
        </p:nvSpPr>
        <p:spPr>
          <a:xfrm>
            <a:off x="1981200" y="49530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6" name="Oval 45"/>
          <p:cNvSpPr/>
          <p:nvPr/>
        </p:nvSpPr>
        <p:spPr>
          <a:xfrm>
            <a:off x="3048000" y="4267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7" name="Oval 46"/>
          <p:cNvSpPr/>
          <p:nvPr/>
        </p:nvSpPr>
        <p:spPr>
          <a:xfrm>
            <a:off x="3048000" y="5791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8" name="Oval 47"/>
          <p:cNvSpPr/>
          <p:nvPr/>
        </p:nvSpPr>
        <p:spPr>
          <a:xfrm>
            <a:off x="4724400" y="4267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9" name="Oval 48"/>
          <p:cNvSpPr/>
          <p:nvPr/>
        </p:nvSpPr>
        <p:spPr>
          <a:xfrm>
            <a:off x="4724400" y="57912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50" name="Oval 49"/>
          <p:cNvSpPr/>
          <p:nvPr/>
        </p:nvSpPr>
        <p:spPr>
          <a:xfrm>
            <a:off x="5791200" y="4788932"/>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51" name="Straight Connector 50"/>
          <p:cNvCxnSpPr>
            <a:stCxn id="45" idx="7"/>
            <a:endCxn id="46" idx="3"/>
          </p:cNvCxnSpPr>
          <p:nvPr/>
        </p:nvCxnSpPr>
        <p:spPr>
          <a:xfrm flipV="1">
            <a:off x="2306404" y="4592404"/>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6" idx="6"/>
            <a:endCxn id="48" idx="2"/>
          </p:cNvCxnSpPr>
          <p:nvPr/>
        </p:nvCxnSpPr>
        <p:spPr>
          <a:xfrm>
            <a:off x="3429000" y="445770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8" idx="5"/>
            <a:endCxn id="50" idx="1"/>
          </p:cNvCxnSpPr>
          <p:nvPr/>
        </p:nvCxnSpPr>
        <p:spPr>
          <a:xfrm>
            <a:off x="5049604" y="4592404"/>
            <a:ext cx="797392" cy="25232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5" idx="5"/>
            <a:endCxn id="47" idx="1"/>
          </p:cNvCxnSpPr>
          <p:nvPr/>
        </p:nvCxnSpPr>
        <p:spPr>
          <a:xfrm>
            <a:off x="2306404" y="527820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7" idx="6"/>
            <a:endCxn id="49" idx="2"/>
          </p:cNvCxnSpPr>
          <p:nvPr/>
        </p:nvCxnSpPr>
        <p:spPr>
          <a:xfrm>
            <a:off x="3429000" y="598170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9" idx="7"/>
            <a:endCxn id="50" idx="3"/>
          </p:cNvCxnSpPr>
          <p:nvPr/>
        </p:nvCxnSpPr>
        <p:spPr>
          <a:xfrm flipV="1">
            <a:off x="5049604" y="5114136"/>
            <a:ext cx="797392" cy="73286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6" idx="4"/>
            <a:endCxn id="47" idx="0"/>
          </p:cNvCxnSpPr>
          <p:nvPr/>
        </p:nvCxnSpPr>
        <p:spPr>
          <a:xfrm>
            <a:off x="3238500" y="464820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8" idx="4"/>
            <a:endCxn id="49" idx="0"/>
          </p:cNvCxnSpPr>
          <p:nvPr/>
        </p:nvCxnSpPr>
        <p:spPr>
          <a:xfrm>
            <a:off x="4914900" y="464820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6" idx="5"/>
            <a:endCxn id="49" idx="1"/>
          </p:cNvCxnSpPr>
          <p:nvPr/>
        </p:nvCxnSpPr>
        <p:spPr>
          <a:xfrm>
            <a:off x="3373204" y="4592404"/>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60" name="TextBox 59"/>
          <p:cNvSpPr txBox="1"/>
          <p:nvPr/>
        </p:nvSpPr>
        <p:spPr>
          <a:xfrm>
            <a:off x="2500086" y="4419600"/>
            <a:ext cx="301686" cy="369332"/>
          </a:xfrm>
          <a:prstGeom prst="rect">
            <a:avLst/>
          </a:prstGeom>
          <a:noFill/>
        </p:spPr>
        <p:txBody>
          <a:bodyPr wrap="none" rtlCol="0">
            <a:spAutoFit/>
          </a:bodyPr>
          <a:lstStyle/>
          <a:p>
            <a:r>
              <a:rPr lang="en-IN" b="1" dirty="0"/>
              <a:t>1</a:t>
            </a:r>
            <a:endParaRPr lang="en-US" b="1" dirty="0"/>
          </a:p>
        </p:txBody>
      </p:sp>
      <p:sp>
        <p:nvSpPr>
          <p:cNvPr id="61" name="TextBox 60"/>
          <p:cNvSpPr txBox="1"/>
          <p:nvPr/>
        </p:nvSpPr>
        <p:spPr>
          <a:xfrm>
            <a:off x="2942256" y="4993696"/>
            <a:ext cx="301686" cy="369332"/>
          </a:xfrm>
          <a:prstGeom prst="rect">
            <a:avLst/>
          </a:prstGeom>
          <a:noFill/>
        </p:spPr>
        <p:txBody>
          <a:bodyPr wrap="none" rtlCol="0">
            <a:spAutoFit/>
          </a:bodyPr>
          <a:lstStyle/>
          <a:p>
            <a:r>
              <a:rPr lang="en-IN" b="1" dirty="0"/>
              <a:t>1</a:t>
            </a:r>
            <a:endParaRPr lang="en-US" b="1" dirty="0"/>
          </a:p>
        </p:txBody>
      </p:sp>
      <p:sp>
        <p:nvSpPr>
          <p:cNvPr id="62" name="TextBox 61"/>
          <p:cNvSpPr txBox="1"/>
          <p:nvPr/>
        </p:nvSpPr>
        <p:spPr>
          <a:xfrm>
            <a:off x="2434770" y="5479924"/>
            <a:ext cx="301686" cy="369332"/>
          </a:xfrm>
          <a:prstGeom prst="rect">
            <a:avLst/>
          </a:prstGeom>
          <a:noFill/>
        </p:spPr>
        <p:txBody>
          <a:bodyPr wrap="none" rtlCol="0">
            <a:spAutoFit/>
          </a:bodyPr>
          <a:lstStyle/>
          <a:p>
            <a:r>
              <a:rPr lang="en-IN" b="1" dirty="0"/>
              <a:t>5</a:t>
            </a:r>
            <a:endParaRPr lang="en-US" b="1" dirty="0"/>
          </a:p>
        </p:txBody>
      </p:sp>
      <p:sp>
        <p:nvSpPr>
          <p:cNvPr id="63" name="TextBox 62"/>
          <p:cNvSpPr txBox="1"/>
          <p:nvPr/>
        </p:nvSpPr>
        <p:spPr>
          <a:xfrm>
            <a:off x="3889314" y="4114800"/>
            <a:ext cx="301686" cy="369332"/>
          </a:xfrm>
          <a:prstGeom prst="rect">
            <a:avLst/>
          </a:prstGeom>
          <a:noFill/>
        </p:spPr>
        <p:txBody>
          <a:bodyPr wrap="none" rtlCol="0">
            <a:spAutoFit/>
          </a:bodyPr>
          <a:lstStyle/>
          <a:p>
            <a:r>
              <a:rPr lang="en-IN" b="1" dirty="0"/>
              <a:t>2</a:t>
            </a:r>
            <a:endParaRPr lang="en-US" b="1" dirty="0"/>
          </a:p>
        </p:txBody>
      </p:sp>
      <p:sp>
        <p:nvSpPr>
          <p:cNvPr id="64" name="TextBox 63"/>
          <p:cNvSpPr txBox="1"/>
          <p:nvPr/>
        </p:nvSpPr>
        <p:spPr>
          <a:xfrm>
            <a:off x="3965514" y="4876800"/>
            <a:ext cx="301686" cy="369332"/>
          </a:xfrm>
          <a:prstGeom prst="rect">
            <a:avLst/>
          </a:prstGeom>
          <a:noFill/>
        </p:spPr>
        <p:txBody>
          <a:bodyPr wrap="none" rtlCol="0">
            <a:spAutoFit/>
          </a:bodyPr>
          <a:lstStyle/>
          <a:p>
            <a:r>
              <a:rPr lang="en-IN" b="1" dirty="0"/>
              <a:t>4</a:t>
            </a:r>
            <a:endParaRPr lang="en-US" b="1" dirty="0"/>
          </a:p>
        </p:txBody>
      </p:sp>
      <p:sp>
        <p:nvSpPr>
          <p:cNvPr id="65" name="TextBox 64"/>
          <p:cNvSpPr txBox="1"/>
          <p:nvPr/>
        </p:nvSpPr>
        <p:spPr>
          <a:xfrm>
            <a:off x="3813114" y="5955268"/>
            <a:ext cx="301686" cy="369332"/>
          </a:xfrm>
          <a:prstGeom prst="rect">
            <a:avLst/>
          </a:prstGeom>
          <a:noFill/>
        </p:spPr>
        <p:txBody>
          <a:bodyPr wrap="none" rtlCol="0">
            <a:spAutoFit/>
          </a:bodyPr>
          <a:lstStyle/>
          <a:p>
            <a:r>
              <a:rPr lang="en-IN" b="1" dirty="0"/>
              <a:t>5</a:t>
            </a:r>
            <a:endParaRPr lang="en-US" b="1" dirty="0"/>
          </a:p>
        </p:txBody>
      </p:sp>
      <p:sp>
        <p:nvSpPr>
          <p:cNvPr id="66" name="TextBox 65"/>
          <p:cNvSpPr txBox="1"/>
          <p:nvPr/>
        </p:nvSpPr>
        <p:spPr>
          <a:xfrm>
            <a:off x="4898058" y="4964668"/>
            <a:ext cx="301686" cy="369332"/>
          </a:xfrm>
          <a:prstGeom prst="rect">
            <a:avLst/>
          </a:prstGeom>
          <a:noFill/>
        </p:spPr>
        <p:txBody>
          <a:bodyPr wrap="none" rtlCol="0">
            <a:spAutoFit/>
          </a:bodyPr>
          <a:lstStyle/>
          <a:p>
            <a:r>
              <a:rPr lang="en-IN" b="1" dirty="0"/>
              <a:t>7</a:t>
            </a:r>
            <a:endParaRPr lang="en-US" b="1" dirty="0"/>
          </a:p>
        </p:txBody>
      </p:sp>
      <p:sp>
        <p:nvSpPr>
          <p:cNvPr id="67" name="TextBox 66"/>
          <p:cNvSpPr txBox="1"/>
          <p:nvPr/>
        </p:nvSpPr>
        <p:spPr>
          <a:xfrm>
            <a:off x="5358888" y="4466772"/>
            <a:ext cx="301686" cy="369332"/>
          </a:xfrm>
          <a:prstGeom prst="rect">
            <a:avLst/>
          </a:prstGeom>
          <a:noFill/>
        </p:spPr>
        <p:txBody>
          <a:bodyPr wrap="none" rtlCol="0">
            <a:spAutoFit/>
          </a:bodyPr>
          <a:lstStyle/>
          <a:p>
            <a:r>
              <a:rPr lang="en-IN" b="1" dirty="0"/>
              <a:t>6</a:t>
            </a:r>
            <a:endParaRPr lang="en-US" b="1" dirty="0"/>
          </a:p>
        </p:txBody>
      </p:sp>
      <p:sp>
        <p:nvSpPr>
          <p:cNvPr id="68" name="TextBox 67"/>
          <p:cNvSpPr txBox="1"/>
          <p:nvPr/>
        </p:nvSpPr>
        <p:spPr>
          <a:xfrm>
            <a:off x="5410200" y="5498068"/>
            <a:ext cx="301686" cy="369332"/>
          </a:xfrm>
          <a:prstGeom prst="rect">
            <a:avLst/>
          </a:prstGeom>
          <a:noFill/>
        </p:spPr>
        <p:txBody>
          <a:bodyPr wrap="none" rtlCol="0">
            <a:spAutoFit/>
          </a:bodyPr>
          <a:lstStyle/>
          <a:p>
            <a:r>
              <a:rPr lang="en-IN" b="1" dirty="0"/>
              <a:t>2</a:t>
            </a:r>
            <a:endParaRPr lang="en-US" b="1" dirty="0"/>
          </a:p>
        </p:txBody>
      </p:sp>
      <p:graphicFrame>
        <p:nvGraphicFramePr>
          <p:cNvPr id="69" name="Table 68"/>
          <p:cNvGraphicFramePr>
            <a:graphicFrameLocks noGrp="1"/>
          </p:cNvGraphicFramePr>
          <p:nvPr>
            <p:extLst>
              <p:ext uri="{D42A27DB-BD31-4B8C-83A1-F6EECF244321}">
                <p14:modId xmlns:p14="http://schemas.microsoft.com/office/powerpoint/2010/main" val="2199595528"/>
              </p:ext>
            </p:extLst>
          </p:nvPr>
        </p:nvGraphicFramePr>
        <p:xfrm>
          <a:off x="9080864" y="4103132"/>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extLst>
                  <a:ext uri="{0D108BD9-81ED-4DB2-BD59-A6C34878D82A}">
                    <a16:rowId xmlns:a16="http://schemas.microsoft.com/office/drawing/2014/main" val="10002"/>
                  </a:ext>
                </a:extLst>
              </a:tr>
            </a:tbl>
          </a:graphicData>
        </a:graphic>
      </p:graphicFrame>
      <p:sp>
        <p:nvSpPr>
          <p:cNvPr id="70" name="Rectangle 69"/>
          <p:cNvSpPr/>
          <p:nvPr/>
        </p:nvSpPr>
        <p:spPr>
          <a:xfrm>
            <a:off x="7709263" y="4616239"/>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71" name="Rectangle 70"/>
          <p:cNvSpPr/>
          <p:nvPr/>
        </p:nvSpPr>
        <p:spPr>
          <a:xfrm>
            <a:off x="7709263" y="5034698"/>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sp>
        <p:nvSpPr>
          <p:cNvPr id="72" name="TextBox 71"/>
          <p:cNvSpPr txBox="1"/>
          <p:nvPr/>
        </p:nvSpPr>
        <p:spPr>
          <a:xfrm>
            <a:off x="1647372" y="4964668"/>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0</a:t>
            </a:r>
            <a:endParaRPr lang="en-US" b="1" dirty="0"/>
          </a:p>
        </p:txBody>
      </p:sp>
      <p:sp>
        <p:nvSpPr>
          <p:cNvPr id="73" name="TextBox 72"/>
          <p:cNvSpPr txBox="1"/>
          <p:nvPr/>
        </p:nvSpPr>
        <p:spPr>
          <a:xfrm>
            <a:off x="1841501" y="3447144"/>
            <a:ext cx="5149615" cy="369332"/>
          </a:xfrm>
          <a:prstGeom prst="rect">
            <a:avLst/>
          </a:prstGeom>
          <a:noFill/>
        </p:spPr>
        <p:txBody>
          <a:bodyPr wrap="none" rtlCol="0">
            <a:spAutoFit/>
          </a:bodyPr>
          <a:lstStyle/>
          <a:p>
            <a:r>
              <a:rPr lang="en-IN" b="1" dirty="0"/>
              <a:t>1</a:t>
            </a:r>
            <a:r>
              <a:rPr lang="en-IN" b="1" baseline="30000" dirty="0"/>
              <a:t>st</a:t>
            </a:r>
            <a:r>
              <a:rPr lang="en-IN" b="1" dirty="0"/>
              <a:t> Iteration: </a:t>
            </a:r>
            <a:r>
              <a:rPr lang="en-IN" dirty="0"/>
              <a:t>Select </a:t>
            </a:r>
            <a:r>
              <a:rPr lang="en-IN" b="1" dirty="0"/>
              <a:t>Vertex A</a:t>
            </a:r>
            <a:r>
              <a:rPr lang="en-IN" dirty="0"/>
              <a:t> with minimum distance</a:t>
            </a:r>
            <a:endParaRPr lang="en-US" dirty="0"/>
          </a:p>
        </p:txBody>
      </p:sp>
      <p:sp>
        <p:nvSpPr>
          <p:cNvPr id="74" name="TextBox 73"/>
          <p:cNvSpPr txBox="1"/>
          <p:nvPr/>
        </p:nvSpPr>
        <p:spPr>
          <a:xfrm>
            <a:off x="1638558" y="1775154"/>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0</a:t>
            </a:r>
            <a:endParaRPr lang="en-US" b="1" dirty="0"/>
          </a:p>
        </p:txBody>
      </p:sp>
      <p:sp>
        <p:nvSpPr>
          <p:cNvPr id="75" name="TextBox 74"/>
          <p:cNvSpPr txBox="1"/>
          <p:nvPr/>
        </p:nvSpPr>
        <p:spPr>
          <a:xfrm>
            <a:off x="9482876" y="4560333"/>
            <a:ext cx="458780" cy="461665"/>
          </a:xfrm>
          <a:prstGeom prst="rect">
            <a:avLst/>
          </a:prstGeom>
          <a:noFill/>
        </p:spPr>
        <p:txBody>
          <a:bodyPr wrap="none" rtlCol="0">
            <a:spAutoFit/>
          </a:bodyPr>
          <a:lstStyle/>
          <a:p>
            <a:pPr algn="ctr"/>
            <a:r>
              <a:rPr lang="en-US" sz="2400" b="1" dirty="0"/>
              <a:t>∞</a:t>
            </a:r>
            <a:endParaRPr lang="en-US" sz="2400" dirty="0"/>
          </a:p>
        </p:txBody>
      </p:sp>
      <p:sp>
        <p:nvSpPr>
          <p:cNvPr id="77" name="TextBox 76"/>
          <p:cNvSpPr txBox="1"/>
          <p:nvPr/>
        </p:nvSpPr>
        <p:spPr>
          <a:xfrm>
            <a:off x="2826468" y="3923659"/>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a:t>
            </a:r>
            <a:endParaRPr lang="en-US" b="1" dirty="0"/>
          </a:p>
        </p:txBody>
      </p:sp>
      <p:sp>
        <p:nvSpPr>
          <p:cNvPr id="78" name="TextBox 77"/>
          <p:cNvSpPr txBox="1"/>
          <p:nvPr/>
        </p:nvSpPr>
        <p:spPr>
          <a:xfrm>
            <a:off x="9126632" y="5015968"/>
            <a:ext cx="369012" cy="461665"/>
          </a:xfrm>
          <a:prstGeom prst="rect">
            <a:avLst/>
          </a:prstGeom>
          <a:noFill/>
        </p:spPr>
        <p:txBody>
          <a:bodyPr wrap="none" rtlCol="0">
            <a:spAutoFit/>
          </a:bodyPr>
          <a:lstStyle/>
          <a:p>
            <a:pPr algn="ctr"/>
            <a:r>
              <a:rPr lang="en-US" sz="2400" b="1" dirty="0"/>
              <a:t>A</a:t>
            </a:r>
            <a:endParaRPr lang="en-US" sz="2400" dirty="0"/>
          </a:p>
        </p:txBody>
      </p:sp>
      <p:sp>
        <p:nvSpPr>
          <p:cNvPr id="79" name="TextBox 78"/>
          <p:cNvSpPr txBox="1"/>
          <p:nvPr/>
        </p:nvSpPr>
        <p:spPr>
          <a:xfrm>
            <a:off x="9528667" y="5018932"/>
            <a:ext cx="340157" cy="461665"/>
          </a:xfrm>
          <a:prstGeom prst="rect">
            <a:avLst/>
          </a:prstGeom>
          <a:noFill/>
        </p:spPr>
        <p:txBody>
          <a:bodyPr wrap="none" rtlCol="0">
            <a:spAutoFit/>
          </a:bodyPr>
          <a:lstStyle/>
          <a:p>
            <a:pPr algn="ctr"/>
            <a:r>
              <a:rPr lang="en-US" sz="2400" b="1" dirty="0"/>
              <a:t>0</a:t>
            </a:r>
            <a:endParaRPr lang="en-US" sz="2400" dirty="0"/>
          </a:p>
        </p:txBody>
      </p:sp>
      <p:sp>
        <p:nvSpPr>
          <p:cNvPr id="80" name="TextBox 79"/>
          <p:cNvSpPr txBox="1"/>
          <p:nvPr/>
        </p:nvSpPr>
        <p:spPr>
          <a:xfrm>
            <a:off x="9947345" y="5014466"/>
            <a:ext cx="340157" cy="461665"/>
          </a:xfrm>
          <a:prstGeom prst="rect">
            <a:avLst/>
          </a:prstGeom>
          <a:noFill/>
        </p:spPr>
        <p:txBody>
          <a:bodyPr wrap="none" rtlCol="0">
            <a:spAutoFit/>
          </a:bodyPr>
          <a:lstStyle/>
          <a:p>
            <a:pPr algn="ctr"/>
            <a:r>
              <a:rPr lang="en-US" sz="2400" b="1" dirty="0"/>
              <a:t>0</a:t>
            </a:r>
            <a:endParaRPr lang="en-US" sz="2400" dirty="0"/>
          </a:p>
        </p:txBody>
      </p:sp>
      <p:sp>
        <p:nvSpPr>
          <p:cNvPr id="81" name="TextBox 80"/>
          <p:cNvSpPr txBox="1"/>
          <p:nvPr/>
        </p:nvSpPr>
        <p:spPr>
          <a:xfrm>
            <a:off x="9896470" y="4555868"/>
            <a:ext cx="458780" cy="461665"/>
          </a:xfrm>
          <a:prstGeom prst="rect">
            <a:avLst/>
          </a:prstGeom>
          <a:noFill/>
        </p:spPr>
        <p:txBody>
          <a:bodyPr wrap="none" rtlCol="0">
            <a:spAutoFit/>
          </a:bodyPr>
          <a:lstStyle/>
          <a:p>
            <a:pPr algn="ctr"/>
            <a:r>
              <a:rPr lang="en-US" sz="2400" b="1" dirty="0"/>
              <a:t>∞</a:t>
            </a:r>
            <a:endParaRPr lang="en-US" sz="2400" dirty="0"/>
          </a:p>
        </p:txBody>
      </p:sp>
      <p:sp>
        <p:nvSpPr>
          <p:cNvPr id="82" name="TextBox 81"/>
          <p:cNvSpPr txBox="1"/>
          <p:nvPr/>
        </p:nvSpPr>
        <p:spPr>
          <a:xfrm>
            <a:off x="2667000" y="5987534"/>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a:t>
            </a:r>
            <a:endParaRPr lang="en-US" b="1" dirty="0"/>
          </a:p>
        </p:txBody>
      </p:sp>
      <p:sp>
        <p:nvSpPr>
          <p:cNvPr id="3" name="TextBox 2"/>
          <p:cNvSpPr txBox="1"/>
          <p:nvPr/>
        </p:nvSpPr>
        <p:spPr>
          <a:xfrm>
            <a:off x="9525992" y="4534033"/>
            <a:ext cx="340158" cy="461665"/>
          </a:xfrm>
          <a:prstGeom prst="rect">
            <a:avLst/>
          </a:prstGeom>
          <a:noFill/>
        </p:spPr>
        <p:txBody>
          <a:bodyPr wrap="none" rtlCol="0">
            <a:spAutoFit/>
          </a:bodyPr>
          <a:lstStyle/>
          <a:p>
            <a:pPr algn="ctr"/>
            <a:r>
              <a:rPr lang="en-IN" sz="2400" b="1" dirty="0"/>
              <a:t>1</a:t>
            </a:r>
            <a:endParaRPr lang="en-US" sz="2400" b="1" dirty="0"/>
          </a:p>
        </p:txBody>
      </p:sp>
      <p:sp>
        <p:nvSpPr>
          <p:cNvPr id="84" name="TextBox 83"/>
          <p:cNvSpPr txBox="1"/>
          <p:nvPr/>
        </p:nvSpPr>
        <p:spPr>
          <a:xfrm>
            <a:off x="9955781" y="4544459"/>
            <a:ext cx="340158" cy="461665"/>
          </a:xfrm>
          <a:prstGeom prst="rect">
            <a:avLst/>
          </a:prstGeom>
          <a:noFill/>
        </p:spPr>
        <p:txBody>
          <a:bodyPr wrap="none" rtlCol="0">
            <a:spAutoFit/>
          </a:bodyPr>
          <a:lstStyle/>
          <a:p>
            <a:pPr algn="ctr"/>
            <a:r>
              <a:rPr lang="en-IN" sz="2400" b="1" dirty="0"/>
              <a:t>5</a:t>
            </a:r>
            <a:endParaRPr lang="en-US" sz="2400" b="1" dirty="0"/>
          </a:p>
        </p:txBody>
      </p:sp>
      <p:sp>
        <p:nvSpPr>
          <p:cNvPr id="85" name="TextBox 84"/>
          <p:cNvSpPr txBox="1"/>
          <p:nvPr/>
        </p:nvSpPr>
        <p:spPr>
          <a:xfrm>
            <a:off x="4759751" y="3857789"/>
            <a:ext cx="39145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a:t>
            </a:r>
          </a:p>
        </p:txBody>
      </p:sp>
      <p:sp>
        <p:nvSpPr>
          <p:cNvPr id="86" name="TextBox 85"/>
          <p:cNvSpPr txBox="1"/>
          <p:nvPr/>
        </p:nvSpPr>
        <p:spPr>
          <a:xfrm>
            <a:off x="5131101" y="5928500"/>
            <a:ext cx="39145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a:t>
            </a:r>
          </a:p>
        </p:txBody>
      </p:sp>
      <p:sp>
        <p:nvSpPr>
          <p:cNvPr id="87" name="TextBox 86"/>
          <p:cNvSpPr txBox="1"/>
          <p:nvPr/>
        </p:nvSpPr>
        <p:spPr>
          <a:xfrm>
            <a:off x="5967591" y="4349234"/>
            <a:ext cx="39145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a:t>
            </a:r>
          </a:p>
        </p:txBody>
      </p:sp>
    </p:spTree>
    <p:extLst>
      <p:ext uri="{BB962C8B-B14F-4D97-AF65-F5344CB8AC3E}">
        <p14:creationId xmlns:p14="http://schemas.microsoft.com/office/powerpoint/2010/main" val="145012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wipe(left)">
                                      <p:cBhvr>
                                        <p:cTn id="69" dur="500"/>
                                        <p:tgtEl>
                                          <p:spTgt spid="4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4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6"/>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7"/>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4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51"/>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52"/>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53"/>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54"/>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5"/>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56"/>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57"/>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58"/>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59"/>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0"/>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61"/>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62"/>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63"/>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64"/>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65"/>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66"/>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67"/>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68"/>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2"/>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mph" presetSubtype="2" fill="hold" nodeType="clickEffect">
                                  <p:stCondLst>
                                    <p:cond delay="0"/>
                                  </p:stCondLst>
                                  <p:childTnLst>
                                    <p:animClr clrSpc="rgb" dir="cw">
                                      <p:cBhvr>
                                        <p:cTn id="129" dur="10" fill="hold"/>
                                        <p:tgtEl>
                                          <p:spTgt spid="45"/>
                                        </p:tgtEl>
                                        <p:attrNameLst>
                                          <p:attrName>fillcolor</p:attrName>
                                        </p:attrNameLst>
                                      </p:cBhvr>
                                      <p:to>
                                        <a:schemeClr val="accent2"/>
                                      </p:to>
                                    </p:animClr>
                                    <p:set>
                                      <p:cBhvr>
                                        <p:cTn id="130" dur="10" fill="hold"/>
                                        <p:tgtEl>
                                          <p:spTgt spid="45"/>
                                        </p:tgtEl>
                                        <p:attrNameLst>
                                          <p:attrName>fill.type</p:attrName>
                                        </p:attrNameLst>
                                      </p:cBhvr>
                                      <p:to>
                                        <p:strVal val="solid"/>
                                      </p:to>
                                    </p:set>
                                    <p:set>
                                      <p:cBhvr>
                                        <p:cTn id="131" dur="10" fill="hold"/>
                                        <p:tgtEl>
                                          <p:spTgt spid="45"/>
                                        </p:tgtEl>
                                        <p:attrNameLst>
                                          <p:attrName>fill.on</p:attrName>
                                        </p:attrNameLst>
                                      </p:cBhvr>
                                      <p:to>
                                        <p:strVal val="tru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69"/>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70"/>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1"/>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5"/>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78"/>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79"/>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0"/>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81"/>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77"/>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grpId="1" nodeType="clickEffect">
                                  <p:stCondLst>
                                    <p:cond delay="0"/>
                                  </p:stCondLst>
                                  <p:childTnLst>
                                    <p:set>
                                      <p:cBhvr>
                                        <p:cTn id="157" dur="1" fill="hold">
                                          <p:stCondLst>
                                            <p:cond delay="0"/>
                                          </p:stCondLst>
                                        </p:cTn>
                                        <p:tgtEl>
                                          <p:spTgt spid="75"/>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3"/>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82"/>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xit" presetSubtype="0" fill="hold" grpId="1" nodeType="clickEffect">
                                  <p:stCondLst>
                                    <p:cond delay="0"/>
                                  </p:stCondLst>
                                  <p:childTnLst>
                                    <p:set>
                                      <p:cBhvr>
                                        <p:cTn id="169" dur="1" fill="hold">
                                          <p:stCondLst>
                                            <p:cond delay="0"/>
                                          </p:stCondLst>
                                        </p:cTn>
                                        <p:tgtEl>
                                          <p:spTgt spid="81"/>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84"/>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85"/>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6"/>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29" grpId="0"/>
      <p:bldP spid="30" grpId="0"/>
      <p:bldP spid="31" grpId="0"/>
      <p:bldP spid="32" grpId="0"/>
      <p:bldP spid="33" grpId="0"/>
      <p:bldP spid="34" grpId="0"/>
      <p:bldP spid="35" grpId="0"/>
      <p:bldP spid="36" grpId="0"/>
      <p:bldP spid="37" grpId="0"/>
      <p:bldP spid="41" grpId="0" animBg="1"/>
      <p:bldP spid="42" grpId="0" animBg="1"/>
      <p:bldP spid="45" grpId="0" animBg="1"/>
      <p:bldP spid="46" grpId="0" animBg="1"/>
      <p:bldP spid="47" grpId="0" animBg="1"/>
      <p:bldP spid="48" grpId="0" animBg="1"/>
      <p:bldP spid="49" grpId="0" animBg="1"/>
      <p:bldP spid="50" grpId="0" animBg="1"/>
      <p:bldP spid="60" grpId="0"/>
      <p:bldP spid="61" grpId="0"/>
      <p:bldP spid="62" grpId="0"/>
      <p:bldP spid="63" grpId="0"/>
      <p:bldP spid="64" grpId="0"/>
      <p:bldP spid="65" grpId="0"/>
      <p:bldP spid="66" grpId="0"/>
      <p:bldP spid="67" grpId="0"/>
      <p:bldP spid="68" grpId="0"/>
      <p:bldP spid="70" grpId="0" animBg="1"/>
      <p:bldP spid="71" grpId="0" animBg="1"/>
      <p:bldP spid="72" grpId="0" animBg="1"/>
      <p:bldP spid="73" grpId="0"/>
      <p:bldP spid="74" grpId="0" animBg="1"/>
      <p:bldP spid="75" grpId="0"/>
      <p:bldP spid="75" grpId="1"/>
      <p:bldP spid="77" grpId="0" animBg="1"/>
      <p:bldP spid="78" grpId="0"/>
      <p:bldP spid="79" grpId="0"/>
      <p:bldP spid="80" grpId="0"/>
      <p:bldP spid="81" grpId="0"/>
      <p:bldP spid="81" grpId="1"/>
      <p:bldP spid="82" grpId="0" animBg="1"/>
      <p:bldP spid="3" grpId="0"/>
      <p:bldP spid="84" grpId="0"/>
      <p:bldP spid="85" grpId="0" animBg="1"/>
      <p:bldP spid="86" grpId="0" animBg="1"/>
      <p:bldP spid="8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Dijkstra</a:t>
            </a:r>
            <a:r>
              <a:rPr lang="en-IN" dirty="0"/>
              <a:t> Algorithm – Shortest Path</a:t>
            </a:r>
            <a:endParaRPr lang="en-US" dirty="0"/>
          </a:p>
        </p:txBody>
      </p:sp>
      <p:sp>
        <p:nvSpPr>
          <p:cNvPr id="28" name="Oval 27"/>
          <p:cNvSpPr/>
          <p:nvPr/>
        </p:nvSpPr>
        <p:spPr>
          <a:xfrm>
            <a:off x="2191143" y="4122467"/>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A</a:t>
            </a:r>
          </a:p>
        </p:txBody>
      </p:sp>
      <p:sp>
        <p:nvSpPr>
          <p:cNvPr id="29" name="Oval 28"/>
          <p:cNvSpPr/>
          <p:nvPr/>
        </p:nvSpPr>
        <p:spPr>
          <a:xfrm>
            <a:off x="3257943" y="3436667"/>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B</a:t>
            </a:r>
          </a:p>
        </p:txBody>
      </p:sp>
      <p:sp>
        <p:nvSpPr>
          <p:cNvPr id="30" name="Oval 29"/>
          <p:cNvSpPr/>
          <p:nvPr/>
        </p:nvSpPr>
        <p:spPr>
          <a:xfrm>
            <a:off x="3257943" y="4960667"/>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31" name="Oval 30"/>
          <p:cNvSpPr/>
          <p:nvPr/>
        </p:nvSpPr>
        <p:spPr>
          <a:xfrm>
            <a:off x="4934343" y="3436667"/>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32" name="Oval 31"/>
          <p:cNvSpPr/>
          <p:nvPr/>
        </p:nvSpPr>
        <p:spPr>
          <a:xfrm>
            <a:off x="4934343" y="4960667"/>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33" name="Oval 32"/>
          <p:cNvSpPr/>
          <p:nvPr/>
        </p:nvSpPr>
        <p:spPr>
          <a:xfrm>
            <a:off x="6001143" y="4122467"/>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34" name="Straight Connector 33"/>
          <p:cNvCxnSpPr>
            <a:stCxn id="28" idx="7"/>
            <a:endCxn id="29" idx="3"/>
          </p:cNvCxnSpPr>
          <p:nvPr/>
        </p:nvCxnSpPr>
        <p:spPr>
          <a:xfrm flipV="1">
            <a:off x="2516347" y="3761871"/>
            <a:ext cx="797392" cy="416392"/>
          </a:xfrm>
          <a:prstGeom prst="line">
            <a:avLst/>
          </a:prstGeom>
          <a:ln w="28575"/>
        </p:spPr>
        <p:style>
          <a:lnRef idx="3">
            <a:schemeClr val="dk1"/>
          </a:lnRef>
          <a:fillRef idx="0">
            <a:schemeClr val="dk1"/>
          </a:fillRef>
          <a:effectRef idx="2">
            <a:schemeClr val="dk1"/>
          </a:effectRef>
          <a:fontRef idx="minor">
            <a:schemeClr val="tx1"/>
          </a:fontRef>
        </p:style>
      </p:cxnSp>
      <p:cxnSp>
        <p:nvCxnSpPr>
          <p:cNvPr id="35" name="Straight Connector 34"/>
          <p:cNvCxnSpPr>
            <a:stCxn id="29" idx="6"/>
            <a:endCxn id="31" idx="2"/>
          </p:cNvCxnSpPr>
          <p:nvPr/>
        </p:nvCxnSpPr>
        <p:spPr>
          <a:xfrm>
            <a:off x="3638943" y="3627167"/>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6" name="Straight Connector 35"/>
          <p:cNvCxnSpPr>
            <a:stCxn id="31" idx="5"/>
            <a:endCxn id="33" idx="1"/>
          </p:cNvCxnSpPr>
          <p:nvPr/>
        </p:nvCxnSpPr>
        <p:spPr>
          <a:xfrm>
            <a:off x="5259547" y="3761871"/>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7" name="Straight Connector 36"/>
          <p:cNvCxnSpPr>
            <a:stCxn id="28" idx="5"/>
            <a:endCxn id="30" idx="1"/>
          </p:cNvCxnSpPr>
          <p:nvPr/>
        </p:nvCxnSpPr>
        <p:spPr>
          <a:xfrm>
            <a:off x="2516347" y="4447671"/>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8" name="Straight Connector 37"/>
          <p:cNvCxnSpPr>
            <a:stCxn id="30" idx="6"/>
            <a:endCxn id="32" idx="2"/>
          </p:cNvCxnSpPr>
          <p:nvPr/>
        </p:nvCxnSpPr>
        <p:spPr>
          <a:xfrm>
            <a:off x="3638943" y="5151167"/>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9" name="Straight Connector 38"/>
          <p:cNvCxnSpPr>
            <a:stCxn id="32" idx="7"/>
            <a:endCxn id="33" idx="3"/>
          </p:cNvCxnSpPr>
          <p:nvPr/>
        </p:nvCxnSpPr>
        <p:spPr>
          <a:xfrm flipV="1">
            <a:off x="5259547" y="4447671"/>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0" name="Straight Connector 39"/>
          <p:cNvCxnSpPr>
            <a:stCxn id="29" idx="4"/>
            <a:endCxn id="30" idx="0"/>
          </p:cNvCxnSpPr>
          <p:nvPr/>
        </p:nvCxnSpPr>
        <p:spPr>
          <a:xfrm>
            <a:off x="3448443" y="3817667"/>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a:stCxn id="31" idx="4"/>
            <a:endCxn id="32" idx="0"/>
          </p:cNvCxnSpPr>
          <p:nvPr/>
        </p:nvCxnSpPr>
        <p:spPr>
          <a:xfrm>
            <a:off x="5124843" y="3817667"/>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a:stCxn id="29" idx="5"/>
            <a:endCxn id="32" idx="1"/>
          </p:cNvCxnSpPr>
          <p:nvPr/>
        </p:nvCxnSpPr>
        <p:spPr>
          <a:xfrm>
            <a:off x="3583147" y="3761871"/>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43" name="TextBox 42"/>
          <p:cNvSpPr txBox="1"/>
          <p:nvPr/>
        </p:nvSpPr>
        <p:spPr>
          <a:xfrm>
            <a:off x="2775732" y="3907561"/>
            <a:ext cx="301686" cy="369332"/>
          </a:xfrm>
          <a:prstGeom prst="rect">
            <a:avLst/>
          </a:prstGeom>
          <a:noFill/>
        </p:spPr>
        <p:txBody>
          <a:bodyPr wrap="none" rtlCol="0">
            <a:spAutoFit/>
          </a:bodyPr>
          <a:lstStyle/>
          <a:p>
            <a:r>
              <a:rPr lang="en-IN" b="1" dirty="0"/>
              <a:t>1</a:t>
            </a:r>
            <a:endParaRPr lang="en-US" b="1" dirty="0"/>
          </a:p>
        </p:txBody>
      </p:sp>
      <p:sp>
        <p:nvSpPr>
          <p:cNvPr id="44" name="TextBox 43"/>
          <p:cNvSpPr txBox="1"/>
          <p:nvPr/>
        </p:nvSpPr>
        <p:spPr>
          <a:xfrm>
            <a:off x="3152199" y="4163163"/>
            <a:ext cx="301686" cy="369332"/>
          </a:xfrm>
          <a:prstGeom prst="rect">
            <a:avLst/>
          </a:prstGeom>
          <a:noFill/>
        </p:spPr>
        <p:txBody>
          <a:bodyPr wrap="none" rtlCol="0">
            <a:spAutoFit/>
          </a:bodyPr>
          <a:lstStyle/>
          <a:p>
            <a:r>
              <a:rPr lang="en-IN" b="1" dirty="0"/>
              <a:t>1</a:t>
            </a:r>
            <a:endParaRPr lang="en-US" b="1" dirty="0"/>
          </a:p>
        </p:txBody>
      </p:sp>
      <p:sp>
        <p:nvSpPr>
          <p:cNvPr id="45" name="TextBox 44"/>
          <p:cNvSpPr txBox="1"/>
          <p:nvPr/>
        </p:nvSpPr>
        <p:spPr>
          <a:xfrm>
            <a:off x="2774474" y="4399441"/>
            <a:ext cx="301686" cy="369332"/>
          </a:xfrm>
          <a:prstGeom prst="rect">
            <a:avLst/>
          </a:prstGeom>
          <a:noFill/>
        </p:spPr>
        <p:txBody>
          <a:bodyPr wrap="none" rtlCol="0">
            <a:spAutoFit/>
          </a:bodyPr>
          <a:lstStyle/>
          <a:p>
            <a:r>
              <a:rPr lang="en-IN" b="1" dirty="0"/>
              <a:t>5</a:t>
            </a:r>
            <a:endParaRPr lang="en-US" b="1" dirty="0"/>
          </a:p>
        </p:txBody>
      </p:sp>
      <p:sp>
        <p:nvSpPr>
          <p:cNvPr id="46" name="TextBox 45"/>
          <p:cNvSpPr txBox="1"/>
          <p:nvPr/>
        </p:nvSpPr>
        <p:spPr>
          <a:xfrm>
            <a:off x="4099257" y="3284267"/>
            <a:ext cx="301686" cy="369332"/>
          </a:xfrm>
          <a:prstGeom prst="rect">
            <a:avLst/>
          </a:prstGeom>
          <a:noFill/>
        </p:spPr>
        <p:txBody>
          <a:bodyPr wrap="none" rtlCol="0">
            <a:spAutoFit/>
          </a:bodyPr>
          <a:lstStyle/>
          <a:p>
            <a:r>
              <a:rPr lang="en-IN" b="1" dirty="0"/>
              <a:t>2</a:t>
            </a:r>
            <a:endParaRPr lang="en-US" b="1" dirty="0"/>
          </a:p>
        </p:txBody>
      </p:sp>
      <p:sp>
        <p:nvSpPr>
          <p:cNvPr id="47" name="TextBox 46"/>
          <p:cNvSpPr txBox="1"/>
          <p:nvPr/>
        </p:nvSpPr>
        <p:spPr>
          <a:xfrm>
            <a:off x="4175457" y="4046267"/>
            <a:ext cx="301686" cy="369332"/>
          </a:xfrm>
          <a:prstGeom prst="rect">
            <a:avLst/>
          </a:prstGeom>
          <a:noFill/>
        </p:spPr>
        <p:txBody>
          <a:bodyPr wrap="none" rtlCol="0">
            <a:spAutoFit/>
          </a:bodyPr>
          <a:lstStyle/>
          <a:p>
            <a:r>
              <a:rPr lang="en-IN" b="1" dirty="0"/>
              <a:t>4</a:t>
            </a:r>
            <a:endParaRPr lang="en-US" b="1" dirty="0"/>
          </a:p>
        </p:txBody>
      </p:sp>
      <p:sp>
        <p:nvSpPr>
          <p:cNvPr id="48" name="TextBox 47"/>
          <p:cNvSpPr txBox="1"/>
          <p:nvPr/>
        </p:nvSpPr>
        <p:spPr>
          <a:xfrm>
            <a:off x="5108001" y="4134135"/>
            <a:ext cx="301686" cy="369332"/>
          </a:xfrm>
          <a:prstGeom prst="rect">
            <a:avLst/>
          </a:prstGeom>
          <a:noFill/>
        </p:spPr>
        <p:txBody>
          <a:bodyPr wrap="none" rtlCol="0">
            <a:spAutoFit/>
          </a:bodyPr>
          <a:lstStyle/>
          <a:p>
            <a:r>
              <a:rPr lang="en-IN" b="1" dirty="0"/>
              <a:t>7</a:t>
            </a:r>
            <a:endParaRPr lang="en-US" b="1" dirty="0"/>
          </a:p>
        </p:txBody>
      </p:sp>
      <p:sp>
        <p:nvSpPr>
          <p:cNvPr id="49" name="TextBox 48"/>
          <p:cNvSpPr txBox="1"/>
          <p:nvPr/>
        </p:nvSpPr>
        <p:spPr>
          <a:xfrm>
            <a:off x="5568831" y="3636239"/>
            <a:ext cx="301686" cy="369332"/>
          </a:xfrm>
          <a:prstGeom prst="rect">
            <a:avLst/>
          </a:prstGeom>
          <a:noFill/>
        </p:spPr>
        <p:txBody>
          <a:bodyPr wrap="none" rtlCol="0">
            <a:spAutoFit/>
          </a:bodyPr>
          <a:lstStyle/>
          <a:p>
            <a:r>
              <a:rPr lang="en-IN" b="1" dirty="0"/>
              <a:t>6</a:t>
            </a:r>
            <a:endParaRPr lang="en-US" b="1" dirty="0"/>
          </a:p>
        </p:txBody>
      </p:sp>
      <p:sp>
        <p:nvSpPr>
          <p:cNvPr id="50" name="TextBox 49"/>
          <p:cNvSpPr txBox="1"/>
          <p:nvPr/>
        </p:nvSpPr>
        <p:spPr>
          <a:xfrm>
            <a:off x="5620143" y="4667535"/>
            <a:ext cx="301686" cy="369332"/>
          </a:xfrm>
          <a:prstGeom prst="rect">
            <a:avLst/>
          </a:prstGeom>
          <a:noFill/>
        </p:spPr>
        <p:txBody>
          <a:bodyPr wrap="none" rtlCol="0">
            <a:spAutoFit/>
          </a:bodyPr>
          <a:lstStyle/>
          <a:p>
            <a:r>
              <a:rPr lang="en-IN" b="1" dirty="0"/>
              <a:t>2</a:t>
            </a:r>
            <a:endParaRPr lang="en-US" b="1" dirty="0"/>
          </a:p>
        </p:txBody>
      </p:sp>
      <p:sp>
        <p:nvSpPr>
          <p:cNvPr id="51" name="TextBox 50"/>
          <p:cNvSpPr txBox="1"/>
          <p:nvPr/>
        </p:nvSpPr>
        <p:spPr>
          <a:xfrm>
            <a:off x="1857315" y="4134135"/>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0</a:t>
            </a:r>
            <a:endParaRPr lang="en-US" b="1" dirty="0"/>
          </a:p>
        </p:txBody>
      </p:sp>
      <p:sp>
        <p:nvSpPr>
          <p:cNvPr id="52" name="TextBox 51"/>
          <p:cNvSpPr txBox="1"/>
          <p:nvPr/>
        </p:nvSpPr>
        <p:spPr>
          <a:xfrm>
            <a:off x="1732383" y="913818"/>
            <a:ext cx="4988866" cy="369332"/>
          </a:xfrm>
          <a:prstGeom prst="rect">
            <a:avLst/>
          </a:prstGeom>
          <a:noFill/>
        </p:spPr>
        <p:txBody>
          <a:bodyPr wrap="none" rtlCol="0">
            <a:spAutoFit/>
          </a:bodyPr>
          <a:lstStyle/>
          <a:p>
            <a:r>
              <a:rPr lang="en-IN" b="1" dirty="0"/>
              <a:t>2</a:t>
            </a:r>
            <a:r>
              <a:rPr lang="en-IN" b="1" baseline="30000" dirty="0"/>
              <a:t>nd</a:t>
            </a:r>
            <a:r>
              <a:rPr lang="en-IN" b="1" dirty="0"/>
              <a:t> Iteration: </a:t>
            </a:r>
            <a:r>
              <a:rPr lang="en-IN" dirty="0"/>
              <a:t>Select </a:t>
            </a:r>
            <a:r>
              <a:rPr lang="en-IN" b="1" dirty="0"/>
              <a:t>Vertex B</a:t>
            </a:r>
            <a:r>
              <a:rPr lang="en-IN" dirty="0"/>
              <a:t> with minimum distance</a:t>
            </a:r>
            <a:endParaRPr lang="en-US" dirty="0"/>
          </a:p>
        </p:txBody>
      </p:sp>
      <p:sp>
        <p:nvSpPr>
          <p:cNvPr id="53" name="TextBox 52"/>
          <p:cNvSpPr txBox="1"/>
          <p:nvPr/>
        </p:nvSpPr>
        <p:spPr>
          <a:xfrm>
            <a:off x="3293647" y="2996163"/>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a:t>
            </a:r>
            <a:endParaRPr lang="en-US" b="1" dirty="0"/>
          </a:p>
        </p:txBody>
      </p:sp>
      <p:sp>
        <p:nvSpPr>
          <p:cNvPr id="54" name="TextBox 53"/>
          <p:cNvSpPr txBox="1"/>
          <p:nvPr/>
        </p:nvSpPr>
        <p:spPr>
          <a:xfrm>
            <a:off x="3284937" y="5387791"/>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2</a:t>
            </a:r>
            <a:endParaRPr lang="en-US" b="1" dirty="0"/>
          </a:p>
        </p:txBody>
      </p:sp>
      <p:sp>
        <p:nvSpPr>
          <p:cNvPr id="3" name="TextBox 2"/>
          <p:cNvSpPr txBox="1"/>
          <p:nvPr/>
        </p:nvSpPr>
        <p:spPr>
          <a:xfrm>
            <a:off x="1752600" y="1371600"/>
            <a:ext cx="5304016" cy="369332"/>
          </a:xfrm>
          <a:prstGeom prst="rect">
            <a:avLst/>
          </a:prstGeom>
          <a:noFill/>
        </p:spPr>
        <p:txBody>
          <a:bodyPr wrap="none" rtlCol="0">
            <a:spAutoFit/>
          </a:bodyPr>
          <a:lstStyle/>
          <a:p>
            <a:r>
              <a:rPr lang="en-IN" dirty="0"/>
              <a:t>Cost of going to C via B = </a:t>
            </a:r>
            <a:r>
              <a:rPr lang="en-IN" dirty="0" err="1"/>
              <a:t>dist</a:t>
            </a:r>
            <a:r>
              <a:rPr lang="en-IN" dirty="0"/>
              <a:t>[B] + cost[B][C] = 1 + 1 = 2</a:t>
            </a:r>
            <a:endParaRPr lang="en-US" dirty="0"/>
          </a:p>
        </p:txBody>
      </p:sp>
      <p:sp>
        <p:nvSpPr>
          <p:cNvPr id="55" name="TextBox 54"/>
          <p:cNvSpPr txBox="1"/>
          <p:nvPr/>
        </p:nvSpPr>
        <p:spPr>
          <a:xfrm>
            <a:off x="1752600" y="1752600"/>
            <a:ext cx="5304016" cy="369332"/>
          </a:xfrm>
          <a:prstGeom prst="rect">
            <a:avLst/>
          </a:prstGeom>
          <a:noFill/>
        </p:spPr>
        <p:txBody>
          <a:bodyPr wrap="none" rtlCol="0">
            <a:spAutoFit/>
          </a:bodyPr>
          <a:lstStyle/>
          <a:p>
            <a:r>
              <a:rPr lang="en-IN" dirty="0"/>
              <a:t>Cost of going to D via B = </a:t>
            </a:r>
            <a:r>
              <a:rPr lang="en-IN" dirty="0" err="1"/>
              <a:t>dist</a:t>
            </a:r>
            <a:r>
              <a:rPr lang="en-IN" dirty="0"/>
              <a:t>[B] + cost[B][D] = 1 + 2 = 3</a:t>
            </a:r>
            <a:endParaRPr lang="en-US" dirty="0"/>
          </a:p>
        </p:txBody>
      </p:sp>
      <p:sp>
        <p:nvSpPr>
          <p:cNvPr id="56" name="TextBox 55"/>
          <p:cNvSpPr txBox="1"/>
          <p:nvPr/>
        </p:nvSpPr>
        <p:spPr>
          <a:xfrm>
            <a:off x="1752600" y="2121932"/>
            <a:ext cx="5304016" cy="369332"/>
          </a:xfrm>
          <a:prstGeom prst="rect">
            <a:avLst/>
          </a:prstGeom>
          <a:noFill/>
        </p:spPr>
        <p:txBody>
          <a:bodyPr wrap="none" rtlCol="0">
            <a:spAutoFit/>
          </a:bodyPr>
          <a:lstStyle/>
          <a:p>
            <a:r>
              <a:rPr lang="en-IN" dirty="0"/>
              <a:t>Cost of going to E via B = </a:t>
            </a:r>
            <a:r>
              <a:rPr lang="en-IN" dirty="0" err="1"/>
              <a:t>dist</a:t>
            </a:r>
            <a:r>
              <a:rPr lang="en-IN" dirty="0"/>
              <a:t>[B] + cost[B][E] = 1 + 4 = 5</a:t>
            </a:r>
            <a:endParaRPr lang="en-US" dirty="0"/>
          </a:p>
        </p:txBody>
      </p:sp>
      <p:sp>
        <p:nvSpPr>
          <p:cNvPr id="57" name="TextBox 56"/>
          <p:cNvSpPr txBox="1"/>
          <p:nvPr/>
        </p:nvSpPr>
        <p:spPr>
          <a:xfrm>
            <a:off x="1756044" y="2502932"/>
            <a:ext cx="5422638" cy="369332"/>
          </a:xfrm>
          <a:prstGeom prst="rect">
            <a:avLst/>
          </a:prstGeom>
          <a:noFill/>
        </p:spPr>
        <p:txBody>
          <a:bodyPr wrap="none" rtlCol="0">
            <a:spAutoFit/>
          </a:bodyPr>
          <a:lstStyle/>
          <a:p>
            <a:r>
              <a:rPr lang="en-IN" dirty="0"/>
              <a:t>Cost of going to F via B = </a:t>
            </a:r>
            <a:r>
              <a:rPr lang="en-IN" dirty="0" err="1"/>
              <a:t>dist</a:t>
            </a:r>
            <a:r>
              <a:rPr lang="en-IN" dirty="0"/>
              <a:t>[B] + cost[B][F] = 1 + </a:t>
            </a:r>
            <a:r>
              <a:rPr lang="en-US" b="1" dirty="0"/>
              <a:t>∞</a:t>
            </a:r>
            <a:r>
              <a:rPr lang="en-IN" dirty="0"/>
              <a:t> = </a:t>
            </a:r>
            <a:r>
              <a:rPr lang="en-US" b="1" dirty="0"/>
              <a:t>∞</a:t>
            </a:r>
            <a:endParaRPr lang="en-US" dirty="0"/>
          </a:p>
        </p:txBody>
      </p:sp>
      <p:graphicFrame>
        <p:nvGraphicFramePr>
          <p:cNvPr id="58" name="Table 57"/>
          <p:cNvGraphicFramePr>
            <a:graphicFrameLocks noGrp="1"/>
          </p:cNvGraphicFramePr>
          <p:nvPr>
            <p:extLst>
              <p:ext uri="{D42A27DB-BD31-4B8C-83A1-F6EECF244321}">
                <p14:modId xmlns:p14="http://schemas.microsoft.com/office/powerpoint/2010/main" val="3864913359"/>
              </p:ext>
            </p:extLst>
          </p:nvPr>
        </p:nvGraphicFramePr>
        <p:xfrm>
          <a:off x="8225672" y="1371600"/>
          <a:ext cx="2387918" cy="111252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C</a:t>
                      </a:r>
                      <a:endParaRPr lang="en-US" sz="1800" b="1" dirty="0"/>
                    </a:p>
                  </a:txBody>
                  <a:tcPr/>
                </a:tc>
                <a:tc>
                  <a:txBody>
                    <a:bodyPr/>
                    <a:lstStyle/>
                    <a:p>
                      <a:pPr algn="ctr"/>
                      <a:r>
                        <a:rPr lang="en-IN" sz="1800" b="1" dirty="0"/>
                        <a:t>D</a:t>
                      </a:r>
                      <a:endParaRPr lang="en-US" sz="1800" b="1" dirty="0"/>
                    </a:p>
                  </a:txBody>
                  <a:tcPr/>
                </a:tc>
                <a:tc>
                  <a:txBody>
                    <a:bodyPr/>
                    <a:lstStyle/>
                    <a:p>
                      <a:pPr algn="ctr"/>
                      <a:r>
                        <a:rPr lang="en-IN" sz="1800" b="1" dirty="0"/>
                        <a:t>E</a:t>
                      </a:r>
                      <a:endParaRPr lang="en-US" sz="1800" b="1" dirty="0"/>
                    </a:p>
                  </a:txBody>
                  <a:tcPr/>
                </a:tc>
                <a:tc>
                  <a:txBody>
                    <a:bodyPr/>
                    <a:lstStyle/>
                    <a:p>
                      <a:pPr algn="ctr"/>
                      <a:r>
                        <a:rPr lang="en-IN" sz="1800" b="1" dirty="0"/>
                        <a:t>F</a:t>
                      </a:r>
                      <a:endParaRPr lang="en-US" sz="1800" b="1" dirty="0"/>
                    </a:p>
                  </a:txBody>
                  <a:tcPr/>
                </a:tc>
                <a:extLst>
                  <a:ext uri="{0D108BD9-81ED-4DB2-BD59-A6C34878D82A}">
                    <a16:rowId xmlns:a16="http://schemas.microsoft.com/office/drawing/2014/main" val="10000"/>
                  </a:ext>
                </a:extLst>
              </a:tr>
              <a:tr h="370840">
                <a:tc>
                  <a:txBody>
                    <a:bodyPr/>
                    <a:lstStyle/>
                    <a:p>
                      <a:pPr algn="ctr"/>
                      <a:r>
                        <a:rPr lang="en-US" sz="1800" b="1" dirty="0"/>
                        <a:t>0</a:t>
                      </a:r>
                    </a:p>
                  </a:txBody>
                  <a:tcPr/>
                </a:tc>
                <a:tc>
                  <a:txBody>
                    <a:bodyPr/>
                    <a:lstStyle/>
                    <a:p>
                      <a:pPr algn="ctr"/>
                      <a:r>
                        <a:rPr lang="en-US" sz="1800" b="1" dirty="0"/>
                        <a:t>1</a:t>
                      </a:r>
                    </a:p>
                  </a:txBody>
                  <a:tcPr/>
                </a:tc>
                <a:tc>
                  <a:txBody>
                    <a:bodyPr/>
                    <a:lstStyle/>
                    <a:p>
                      <a:pPr algn="ctr"/>
                      <a:r>
                        <a:rPr lang="en-US" sz="1800" b="1" dirty="0"/>
                        <a:t>5</a:t>
                      </a:r>
                    </a:p>
                  </a:txBody>
                  <a:tcPr/>
                </a:tc>
                <a:tc>
                  <a:txBody>
                    <a:bodyPr/>
                    <a:lstStyle/>
                    <a:p>
                      <a:pPr algn="ctr"/>
                      <a:r>
                        <a:rPr lang="en-US" sz="1800" b="1" dirty="0"/>
                        <a:t>∞</a:t>
                      </a:r>
                    </a:p>
                  </a:txBody>
                  <a:tcPr/>
                </a:tc>
                <a:tc>
                  <a:txBody>
                    <a:bodyPr/>
                    <a:lstStyle/>
                    <a:p>
                      <a:pPr algn="ctr"/>
                      <a:r>
                        <a:rPr lang="en-US" sz="1800" b="1" dirty="0"/>
                        <a:t>∞</a:t>
                      </a:r>
                    </a:p>
                  </a:txBody>
                  <a:tcPr/>
                </a:tc>
                <a:tc>
                  <a:txBody>
                    <a:bodyPr/>
                    <a:lstStyle/>
                    <a:p>
                      <a:pPr algn="ctr"/>
                      <a:r>
                        <a:rPr lang="en-US" sz="1800" b="1" dirty="0"/>
                        <a:t>∞</a:t>
                      </a:r>
                    </a:p>
                  </a:txBody>
                  <a:tcPr/>
                </a:tc>
                <a:extLst>
                  <a:ext uri="{0D108BD9-81ED-4DB2-BD59-A6C34878D82A}">
                    <a16:rowId xmlns:a16="http://schemas.microsoft.com/office/drawing/2014/main" val="10001"/>
                  </a:ext>
                </a:extLst>
              </a:tr>
              <a:tr h="370840">
                <a:tc>
                  <a:txBody>
                    <a:bodyPr/>
                    <a:lstStyle/>
                    <a:p>
                      <a:pPr algn="ctr"/>
                      <a:r>
                        <a:rPr lang="en-IN" sz="1800" b="1" dirty="0"/>
                        <a:t>A</a:t>
                      </a:r>
                      <a:endParaRPr lang="en-US" sz="1800" b="1" dirty="0"/>
                    </a:p>
                  </a:txBody>
                  <a:tcPr/>
                </a:tc>
                <a:tc>
                  <a:txBody>
                    <a:bodyPr/>
                    <a:lstStyle/>
                    <a:p>
                      <a:pPr algn="ctr"/>
                      <a:r>
                        <a:rPr lang="en-IN" sz="1800" b="1" dirty="0"/>
                        <a:t>A</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extLst>
                  <a:ext uri="{0D108BD9-81ED-4DB2-BD59-A6C34878D82A}">
                    <a16:rowId xmlns:a16="http://schemas.microsoft.com/office/drawing/2014/main" val="10002"/>
                  </a:ext>
                </a:extLst>
              </a:tr>
            </a:tbl>
          </a:graphicData>
        </a:graphic>
      </p:graphicFrame>
      <p:sp>
        <p:nvSpPr>
          <p:cNvPr id="59" name="Rectangle 58"/>
          <p:cNvSpPr/>
          <p:nvPr/>
        </p:nvSpPr>
        <p:spPr>
          <a:xfrm>
            <a:off x="7173074" y="1776974"/>
            <a:ext cx="1041148" cy="321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Distance</a:t>
            </a:r>
            <a:endParaRPr lang="en-US" b="1" dirty="0"/>
          </a:p>
        </p:txBody>
      </p:sp>
      <p:sp>
        <p:nvSpPr>
          <p:cNvPr id="60" name="Rectangle 59"/>
          <p:cNvSpPr/>
          <p:nvPr/>
        </p:nvSpPr>
        <p:spPr>
          <a:xfrm>
            <a:off x="7162800" y="2133788"/>
            <a:ext cx="1041148" cy="33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Visited</a:t>
            </a:r>
            <a:endParaRPr lang="en-US" b="1" dirty="0"/>
          </a:p>
        </p:txBody>
      </p:sp>
      <p:sp>
        <p:nvSpPr>
          <p:cNvPr id="61" name="TextBox 60"/>
          <p:cNvSpPr txBox="1"/>
          <p:nvPr/>
        </p:nvSpPr>
        <p:spPr>
          <a:xfrm>
            <a:off x="4956114" y="2990487"/>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3</a:t>
            </a:r>
            <a:endParaRPr lang="en-US" b="1" dirty="0"/>
          </a:p>
        </p:txBody>
      </p:sp>
      <p:cxnSp>
        <p:nvCxnSpPr>
          <p:cNvPr id="62" name="Straight Connector 61"/>
          <p:cNvCxnSpPr>
            <a:stCxn id="29" idx="4"/>
            <a:endCxn id="30" idx="0"/>
          </p:cNvCxnSpPr>
          <p:nvPr/>
        </p:nvCxnSpPr>
        <p:spPr>
          <a:xfrm>
            <a:off x="3448443" y="3817667"/>
            <a:ext cx="0" cy="1143000"/>
          </a:xfrm>
          <a:prstGeom prst="line">
            <a:avLst/>
          </a:prstGeom>
          <a:ln w="28575"/>
        </p:spPr>
        <p:style>
          <a:lnRef idx="3">
            <a:schemeClr val="dk1"/>
          </a:lnRef>
          <a:fillRef idx="0">
            <a:schemeClr val="dk1"/>
          </a:fillRef>
          <a:effectRef idx="2">
            <a:schemeClr val="dk1"/>
          </a:effectRef>
          <a:fontRef idx="minor">
            <a:schemeClr val="tx1"/>
          </a:fontRef>
        </p:style>
      </p:cxnSp>
      <p:cxnSp>
        <p:nvCxnSpPr>
          <p:cNvPr id="63" name="Straight Connector 62"/>
          <p:cNvCxnSpPr>
            <a:stCxn id="29" idx="6"/>
            <a:endCxn id="31" idx="2"/>
          </p:cNvCxnSpPr>
          <p:nvPr/>
        </p:nvCxnSpPr>
        <p:spPr>
          <a:xfrm>
            <a:off x="3638943" y="3627167"/>
            <a:ext cx="1295400"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Straight Connector 63"/>
          <p:cNvCxnSpPr>
            <a:stCxn id="29" idx="5"/>
            <a:endCxn id="32" idx="1"/>
          </p:cNvCxnSpPr>
          <p:nvPr/>
        </p:nvCxnSpPr>
        <p:spPr>
          <a:xfrm>
            <a:off x="3583147" y="3761871"/>
            <a:ext cx="1406992" cy="1254592"/>
          </a:xfrm>
          <a:prstGeom prst="line">
            <a:avLst/>
          </a:prstGeom>
          <a:ln w="28575"/>
        </p:spPr>
        <p:style>
          <a:lnRef idx="3">
            <a:schemeClr val="dk1"/>
          </a:lnRef>
          <a:fillRef idx="0">
            <a:schemeClr val="dk1"/>
          </a:fillRef>
          <a:effectRef idx="2">
            <a:schemeClr val="dk1"/>
          </a:effectRef>
          <a:fontRef idx="minor">
            <a:schemeClr val="tx1"/>
          </a:fontRef>
        </p:style>
      </p:cxnSp>
      <p:sp>
        <p:nvSpPr>
          <p:cNvPr id="65" name="TextBox 64"/>
          <p:cNvSpPr txBox="1"/>
          <p:nvPr/>
        </p:nvSpPr>
        <p:spPr>
          <a:xfrm>
            <a:off x="4974000" y="5387791"/>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a:t>
            </a:r>
            <a:endParaRPr lang="en-US" b="1" dirty="0"/>
          </a:p>
        </p:txBody>
      </p:sp>
      <p:sp>
        <p:nvSpPr>
          <p:cNvPr id="66" name="TextBox 65"/>
          <p:cNvSpPr txBox="1"/>
          <p:nvPr/>
        </p:nvSpPr>
        <p:spPr>
          <a:xfrm>
            <a:off x="6415021" y="4102501"/>
            <a:ext cx="39145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a:t>
            </a:r>
          </a:p>
        </p:txBody>
      </p:sp>
      <p:graphicFrame>
        <p:nvGraphicFramePr>
          <p:cNvPr id="67" name="Table 66"/>
          <p:cNvGraphicFramePr>
            <a:graphicFrameLocks noGrp="1"/>
          </p:cNvGraphicFramePr>
          <p:nvPr>
            <p:extLst>
              <p:ext uri="{D42A27DB-BD31-4B8C-83A1-F6EECF244321}">
                <p14:modId xmlns:p14="http://schemas.microsoft.com/office/powerpoint/2010/main" val="555156935"/>
              </p:ext>
            </p:extLst>
          </p:nvPr>
        </p:nvGraphicFramePr>
        <p:xfrm>
          <a:off x="8153401" y="4168591"/>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r>
                        <a:rPr lang="en-IN" sz="2400" b="1" dirty="0"/>
                        <a:t>1</a:t>
                      </a:r>
                      <a:endParaRPr lang="en-US" sz="2400" b="1" dirty="0"/>
                    </a:p>
                  </a:txBody>
                  <a:tcPr/>
                </a:tc>
                <a:tc>
                  <a:txBody>
                    <a:bodyPr/>
                    <a:lstStyle/>
                    <a:p>
                      <a:pPr algn="ctr"/>
                      <a:r>
                        <a:rPr lang="en-IN" sz="2400" b="1" dirty="0"/>
                        <a:t>2</a:t>
                      </a:r>
                      <a:endParaRPr lang="en-US" sz="2400" b="1" dirty="0"/>
                    </a:p>
                  </a:txBody>
                  <a:tcPr/>
                </a:tc>
                <a:tc>
                  <a:txBody>
                    <a:bodyPr/>
                    <a:lstStyle/>
                    <a:p>
                      <a:pPr algn="ctr"/>
                      <a:r>
                        <a:rPr lang="en-US" sz="2400" b="1" dirty="0"/>
                        <a:t>3</a:t>
                      </a:r>
                    </a:p>
                  </a:txBody>
                  <a:tcPr/>
                </a:tc>
                <a:tc>
                  <a:txBody>
                    <a:bodyPr/>
                    <a:lstStyle/>
                    <a:p>
                      <a:pPr algn="ctr"/>
                      <a:r>
                        <a:rPr lang="en-US" sz="2400" b="1" dirty="0"/>
                        <a:t>5</a:t>
                      </a:r>
                    </a:p>
                  </a:txBody>
                  <a:tcPr/>
                </a:tc>
                <a:tc>
                  <a:txBody>
                    <a:bodyPr/>
                    <a:lstStyle/>
                    <a:p>
                      <a:pPr algn="ctr"/>
                      <a:r>
                        <a:rPr lang="en-US" sz="2400" b="1" dirty="0"/>
                        <a:t>∞</a:t>
                      </a:r>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extLst>
                  <a:ext uri="{0D108BD9-81ED-4DB2-BD59-A6C34878D82A}">
                    <a16:rowId xmlns:a16="http://schemas.microsoft.com/office/drawing/2014/main" val="10002"/>
                  </a:ext>
                </a:extLst>
              </a:tr>
            </a:tbl>
          </a:graphicData>
        </a:graphic>
      </p:graphicFrame>
      <p:sp>
        <p:nvSpPr>
          <p:cNvPr id="68" name="Rectangle 67"/>
          <p:cNvSpPr/>
          <p:nvPr/>
        </p:nvSpPr>
        <p:spPr>
          <a:xfrm>
            <a:off x="6781800" y="4681698"/>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69" name="Rectangle 68"/>
          <p:cNvSpPr/>
          <p:nvPr/>
        </p:nvSpPr>
        <p:spPr>
          <a:xfrm>
            <a:off x="6781800" y="5100157"/>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sp>
        <p:nvSpPr>
          <p:cNvPr id="71" name="TextBox 70"/>
          <p:cNvSpPr txBox="1"/>
          <p:nvPr/>
        </p:nvSpPr>
        <p:spPr>
          <a:xfrm>
            <a:off x="8199169" y="5081427"/>
            <a:ext cx="369012" cy="461665"/>
          </a:xfrm>
          <a:prstGeom prst="rect">
            <a:avLst/>
          </a:prstGeom>
          <a:noFill/>
        </p:spPr>
        <p:txBody>
          <a:bodyPr wrap="none" rtlCol="0">
            <a:spAutoFit/>
          </a:bodyPr>
          <a:lstStyle/>
          <a:p>
            <a:pPr algn="ctr"/>
            <a:r>
              <a:rPr lang="en-US" sz="2400" b="1" dirty="0"/>
              <a:t>A</a:t>
            </a:r>
            <a:endParaRPr lang="en-US" sz="2400" dirty="0"/>
          </a:p>
        </p:txBody>
      </p:sp>
      <p:sp>
        <p:nvSpPr>
          <p:cNvPr id="72" name="TextBox 71"/>
          <p:cNvSpPr txBox="1"/>
          <p:nvPr/>
        </p:nvSpPr>
        <p:spPr>
          <a:xfrm>
            <a:off x="8586777" y="5084391"/>
            <a:ext cx="369012" cy="461665"/>
          </a:xfrm>
          <a:prstGeom prst="rect">
            <a:avLst/>
          </a:prstGeom>
          <a:noFill/>
        </p:spPr>
        <p:txBody>
          <a:bodyPr wrap="none" rtlCol="0">
            <a:spAutoFit/>
          </a:bodyPr>
          <a:lstStyle/>
          <a:p>
            <a:pPr algn="ctr"/>
            <a:r>
              <a:rPr lang="en-US" sz="2400" b="1" dirty="0"/>
              <a:t>A</a:t>
            </a:r>
            <a:endParaRPr lang="en-US" sz="2400" dirty="0"/>
          </a:p>
        </p:txBody>
      </p:sp>
      <p:sp>
        <p:nvSpPr>
          <p:cNvPr id="73" name="TextBox 72"/>
          <p:cNvSpPr txBox="1"/>
          <p:nvPr/>
        </p:nvSpPr>
        <p:spPr>
          <a:xfrm>
            <a:off x="9019882" y="5079925"/>
            <a:ext cx="340157" cy="461665"/>
          </a:xfrm>
          <a:prstGeom prst="rect">
            <a:avLst/>
          </a:prstGeom>
          <a:noFill/>
        </p:spPr>
        <p:txBody>
          <a:bodyPr wrap="none" rtlCol="0">
            <a:spAutoFit/>
          </a:bodyPr>
          <a:lstStyle/>
          <a:p>
            <a:pPr algn="ctr"/>
            <a:r>
              <a:rPr lang="en-US" sz="2400" b="1" dirty="0"/>
              <a:t>0</a:t>
            </a:r>
            <a:endParaRPr lang="en-US" sz="2400" dirty="0"/>
          </a:p>
        </p:txBody>
      </p:sp>
      <p:sp>
        <p:nvSpPr>
          <p:cNvPr id="77" name="TextBox 76"/>
          <p:cNvSpPr txBox="1"/>
          <p:nvPr/>
        </p:nvSpPr>
        <p:spPr>
          <a:xfrm>
            <a:off x="4021551" y="4813017"/>
            <a:ext cx="362343" cy="369332"/>
          </a:xfrm>
          <a:prstGeom prst="rect">
            <a:avLst/>
          </a:prstGeom>
          <a:noFill/>
        </p:spPr>
        <p:txBody>
          <a:bodyPr wrap="square" rtlCol="0">
            <a:spAutoFit/>
          </a:bodyPr>
          <a:lstStyle/>
          <a:p>
            <a:r>
              <a:rPr lang="en-IN" b="1" dirty="0"/>
              <a:t>5</a:t>
            </a:r>
            <a:endParaRPr lang="en-US" b="1" dirty="0"/>
          </a:p>
        </p:txBody>
      </p:sp>
    </p:spTree>
    <p:extLst>
      <p:ext uri="{BB962C8B-B14F-4D97-AF65-F5344CB8AC3E}">
        <p14:creationId xmlns:p14="http://schemas.microsoft.com/office/powerpoint/2010/main" val="65547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wipe(up)">
                                      <p:cBhvr>
                                        <p:cTn id="83" dur="500"/>
                                        <p:tgtEl>
                                          <p:spTgt spid="62"/>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63"/>
                                        </p:tgtEl>
                                        <p:attrNameLst>
                                          <p:attrName>style.visibility</p:attrName>
                                        </p:attrNameLst>
                                      </p:cBhvr>
                                      <p:to>
                                        <p:strVal val="visible"/>
                                      </p:to>
                                    </p:set>
                                    <p:animEffect transition="in" filter="wipe(left)">
                                      <p:cBhvr>
                                        <p:cTn id="92" dur="500"/>
                                        <p:tgtEl>
                                          <p:spTgt spid="63"/>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64"/>
                                        </p:tgtEl>
                                        <p:attrNameLst>
                                          <p:attrName>style.visibility</p:attrName>
                                        </p:attrNameLst>
                                      </p:cBhvr>
                                      <p:to>
                                        <p:strVal val="visible"/>
                                      </p:to>
                                    </p:set>
                                    <p:animEffect transition="in" filter="wipe(left)">
                                      <p:cBhvr>
                                        <p:cTn id="101" dur="500"/>
                                        <p:tgtEl>
                                          <p:spTgt spid="64"/>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65"/>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67"/>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2"/>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73"/>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68"/>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43" grpId="0"/>
      <p:bldP spid="44" grpId="0"/>
      <p:bldP spid="45" grpId="0"/>
      <p:bldP spid="46" grpId="0"/>
      <p:bldP spid="47" grpId="0"/>
      <p:bldP spid="48" grpId="0"/>
      <p:bldP spid="49" grpId="0"/>
      <p:bldP spid="50" grpId="0"/>
      <p:bldP spid="51" grpId="0" animBg="1"/>
      <p:bldP spid="52" grpId="0"/>
      <p:bldP spid="53" grpId="0" animBg="1"/>
      <p:bldP spid="54" grpId="0" animBg="1"/>
      <p:bldP spid="3" grpId="0"/>
      <p:bldP spid="55" grpId="0"/>
      <p:bldP spid="56" grpId="0"/>
      <p:bldP spid="57" grpId="0"/>
      <p:bldP spid="59" grpId="0" animBg="1"/>
      <p:bldP spid="60" grpId="0" animBg="1"/>
      <p:bldP spid="61" grpId="0" animBg="1"/>
      <p:bldP spid="65" grpId="0" animBg="1"/>
      <p:bldP spid="66" grpId="0" animBg="1"/>
      <p:bldP spid="68" grpId="0" animBg="1"/>
      <p:bldP spid="69" grpId="0" animBg="1"/>
      <p:bldP spid="71" grpId="0"/>
      <p:bldP spid="72" grpId="0"/>
      <p:bldP spid="73" grpId="0"/>
      <p:bldP spid="7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Dijkstra</a:t>
            </a:r>
            <a:r>
              <a:rPr lang="en-IN" dirty="0"/>
              <a:t> Algorithm – Shortest Path</a:t>
            </a:r>
            <a:endParaRPr lang="en-US" dirty="0"/>
          </a:p>
        </p:txBody>
      </p:sp>
      <p:sp>
        <p:nvSpPr>
          <p:cNvPr id="4" name="TextBox 3"/>
          <p:cNvSpPr txBox="1"/>
          <p:nvPr/>
        </p:nvSpPr>
        <p:spPr>
          <a:xfrm>
            <a:off x="1732384" y="913818"/>
            <a:ext cx="5668283" cy="369332"/>
          </a:xfrm>
          <a:prstGeom prst="rect">
            <a:avLst/>
          </a:prstGeom>
          <a:noFill/>
        </p:spPr>
        <p:txBody>
          <a:bodyPr wrap="none" rtlCol="0">
            <a:spAutoFit/>
          </a:bodyPr>
          <a:lstStyle/>
          <a:p>
            <a:r>
              <a:rPr lang="en-IN" b="1" dirty="0"/>
              <a:t>3</a:t>
            </a:r>
            <a:r>
              <a:rPr lang="en-IN" b="1" baseline="30000" dirty="0"/>
              <a:t>rd</a:t>
            </a:r>
            <a:r>
              <a:rPr lang="en-IN" b="1" dirty="0"/>
              <a:t> Iteration: </a:t>
            </a:r>
            <a:r>
              <a:rPr lang="en-IN" dirty="0"/>
              <a:t>Select </a:t>
            </a:r>
            <a:r>
              <a:rPr lang="en-IN" b="1" dirty="0"/>
              <a:t>Vertex C</a:t>
            </a:r>
            <a:r>
              <a:rPr lang="en-IN" dirty="0"/>
              <a:t> via B with minimum distance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642992161"/>
              </p:ext>
            </p:extLst>
          </p:nvPr>
        </p:nvGraphicFramePr>
        <p:xfrm>
          <a:off x="8656751" y="1371600"/>
          <a:ext cx="2387918" cy="111252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C</a:t>
                      </a:r>
                      <a:endParaRPr lang="en-US" sz="1800" b="1" dirty="0"/>
                    </a:p>
                  </a:txBody>
                  <a:tcPr/>
                </a:tc>
                <a:tc>
                  <a:txBody>
                    <a:bodyPr/>
                    <a:lstStyle/>
                    <a:p>
                      <a:pPr algn="ctr"/>
                      <a:r>
                        <a:rPr lang="en-IN" sz="1800" b="1" dirty="0"/>
                        <a:t>D</a:t>
                      </a:r>
                      <a:endParaRPr lang="en-US" sz="1800" b="1" dirty="0"/>
                    </a:p>
                  </a:txBody>
                  <a:tcPr/>
                </a:tc>
                <a:tc>
                  <a:txBody>
                    <a:bodyPr/>
                    <a:lstStyle/>
                    <a:p>
                      <a:pPr algn="ctr"/>
                      <a:r>
                        <a:rPr lang="en-IN" sz="1800" b="1" dirty="0"/>
                        <a:t>E</a:t>
                      </a:r>
                      <a:endParaRPr lang="en-US" sz="1800" b="1" dirty="0"/>
                    </a:p>
                  </a:txBody>
                  <a:tcPr/>
                </a:tc>
                <a:tc>
                  <a:txBody>
                    <a:bodyPr/>
                    <a:lstStyle/>
                    <a:p>
                      <a:pPr algn="ctr"/>
                      <a:r>
                        <a:rPr lang="en-IN" sz="1800" b="1" dirty="0"/>
                        <a:t>F</a:t>
                      </a:r>
                      <a:endParaRPr lang="en-US" sz="1800" b="1" dirty="0"/>
                    </a:p>
                  </a:txBody>
                  <a:tcPr/>
                </a:tc>
                <a:extLst>
                  <a:ext uri="{0D108BD9-81ED-4DB2-BD59-A6C34878D82A}">
                    <a16:rowId xmlns:a16="http://schemas.microsoft.com/office/drawing/2014/main" val="10000"/>
                  </a:ext>
                </a:extLst>
              </a:tr>
              <a:tr h="370840">
                <a:tc>
                  <a:txBody>
                    <a:bodyPr/>
                    <a:lstStyle/>
                    <a:p>
                      <a:pPr algn="ctr"/>
                      <a:r>
                        <a:rPr lang="en-US" sz="1800" b="1" dirty="0"/>
                        <a:t>0</a:t>
                      </a:r>
                    </a:p>
                  </a:txBody>
                  <a:tcPr/>
                </a:tc>
                <a:tc>
                  <a:txBody>
                    <a:bodyPr/>
                    <a:lstStyle/>
                    <a:p>
                      <a:pPr algn="ctr"/>
                      <a:r>
                        <a:rPr lang="en-US" sz="1800" b="1" dirty="0"/>
                        <a:t>1</a:t>
                      </a:r>
                    </a:p>
                  </a:txBody>
                  <a:tcPr/>
                </a:tc>
                <a:tc>
                  <a:txBody>
                    <a:bodyPr/>
                    <a:lstStyle/>
                    <a:p>
                      <a:pPr algn="ctr"/>
                      <a:r>
                        <a:rPr lang="en-US" sz="1800" b="1" dirty="0"/>
                        <a:t>2</a:t>
                      </a:r>
                    </a:p>
                  </a:txBody>
                  <a:tcPr/>
                </a:tc>
                <a:tc>
                  <a:txBody>
                    <a:bodyPr/>
                    <a:lstStyle/>
                    <a:p>
                      <a:pPr algn="ctr"/>
                      <a:r>
                        <a:rPr lang="en-IN" sz="1800" b="1" dirty="0"/>
                        <a:t>3</a:t>
                      </a:r>
                      <a:endParaRPr lang="en-US" sz="1800" b="1" dirty="0"/>
                    </a:p>
                  </a:txBody>
                  <a:tcPr/>
                </a:tc>
                <a:tc>
                  <a:txBody>
                    <a:bodyPr/>
                    <a:lstStyle/>
                    <a:p>
                      <a:pPr algn="ctr"/>
                      <a:r>
                        <a:rPr lang="en-US" sz="1800" b="1" dirty="0"/>
                        <a:t>5</a:t>
                      </a:r>
                    </a:p>
                  </a:txBody>
                  <a:tcPr/>
                </a:tc>
                <a:tc>
                  <a:txBody>
                    <a:bodyPr/>
                    <a:lstStyle/>
                    <a:p>
                      <a:pPr algn="ctr"/>
                      <a:r>
                        <a:rPr lang="en-US" sz="1800" b="1" dirty="0"/>
                        <a:t>∞</a:t>
                      </a:r>
                    </a:p>
                  </a:txBody>
                  <a:tcPr/>
                </a:tc>
                <a:extLst>
                  <a:ext uri="{0D108BD9-81ED-4DB2-BD59-A6C34878D82A}">
                    <a16:rowId xmlns:a16="http://schemas.microsoft.com/office/drawing/2014/main" val="10001"/>
                  </a:ext>
                </a:extLst>
              </a:tr>
              <a:tr h="370840">
                <a:tc>
                  <a:txBody>
                    <a:bodyPr/>
                    <a:lstStyle/>
                    <a:p>
                      <a:pPr algn="ctr"/>
                      <a:r>
                        <a:rPr lang="en-IN" sz="1800" b="1" dirty="0"/>
                        <a:t>A</a:t>
                      </a:r>
                      <a:endParaRPr lang="en-US" sz="1800" b="1" dirty="0"/>
                    </a:p>
                  </a:txBody>
                  <a:tcPr/>
                </a:tc>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7604153" y="1776974"/>
            <a:ext cx="1041148" cy="321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Distance</a:t>
            </a:r>
            <a:endParaRPr lang="en-US" b="1" dirty="0"/>
          </a:p>
        </p:txBody>
      </p:sp>
      <p:sp>
        <p:nvSpPr>
          <p:cNvPr id="7" name="Rectangle 6"/>
          <p:cNvSpPr/>
          <p:nvPr/>
        </p:nvSpPr>
        <p:spPr>
          <a:xfrm>
            <a:off x="7593879" y="2133788"/>
            <a:ext cx="1041148" cy="33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Visited</a:t>
            </a:r>
            <a:endParaRPr lang="en-US" b="1" dirty="0"/>
          </a:p>
        </p:txBody>
      </p:sp>
      <p:sp>
        <p:nvSpPr>
          <p:cNvPr id="8" name="Oval 7"/>
          <p:cNvSpPr/>
          <p:nvPr/>
        </p:nvSpPr>
        <p:spPr>
          <a:xfrm>
            <a:off x="1934028" y="381243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A</a:t>
            </a:r>
          </a:p>
        </p:txBody>
      </p:sp>
      <p:sp>
        <p:nvSpPr>
          <p:cNvPr id="9" name="Oval 8"/>
          <p:cNvSpPr/>
          <p:nvPr/>
        </p:nvSpPr>
        <p:spPr>
          <a:xfrm>
            <a:off x="3000828" y="312663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B</a:t>
            </a:r>
          </a:p>
        </p:txBody>
      </p:sp>
      <p:sp>
        <p:nvSpPr>
          <p:cNvPr id="10" name="Oval 9"/>
          <p:cNvSpPr/>
          <p:nvPr/>
        </p:nvSpPr>
        <p:spPr>
          <a:xfrm>
            <a:off x="3000828" y="465063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11" name="Oval 10"/>
          <p:cNvSpPr/>
          <p:nvPr/>
        </p:nvSpPr>
        <p:spPr>
          <a:xfrm>
            <a:off x="4677228" y="312663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12" name="Oval 11"/>
          <p:cNvSpPr/>
          <p:nvPr/>
        </p:nvSpPr>
        <p:spPr>
          <a:xfrm>
            <a:off x="4677228" y="465063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13" name="Oval 12"/>
          <p:cNvSpPr/>
          <p:nvPr/>
        </p:nvSpPr>
        <p:spPr>
          <a:xfrm>
            <a:off x="5744028" y="381243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4" name="Straight Connector 13"/>
          <p:cNvCxnSpPr>
            <a:stCxn id="8" idx="7"/>
            <a:endCxn id="9" idx="3"/>
          </p:cNvCxnSpPr>
          <p:nvPr/>
        </p:nvCxnSpPr>
        <p:spPr>
          <a:xfrm flipV="1">
            <a:off x="2259232" y="3451834"/>
            <a:ext cx="797392" cy="416392"/>
          </a:xfrm>
          <a:prstGeom prst="line">
            <a:avLst/>
          </a:prstGeom>
          <a:ln w="28575"/>
        </p:spPr>
        <p:style>
          <a:lnRef idx="3">
            <a:schemeClr val="dk1"/>
          </a:lnRef>
          <a:fillRef idx="0">
            <a:schemeClr val="dk1"/>
          </a:fillRef>
          <a:effectRef idx="2">
            <a:schemeClr val="dk1"/>
          </a:effectRef>
          <a:fontRef idx="minor">
            <a:schemeClr val="tx1"/>
          </a:fontRef>
        </p:style>
      </p:cxnSp>
      <p:cxnSp>
        <p:nvCxnSpPr>
          <p:cNvPr id="15" name="Straight Connector 14"/>
          <p:cNvCxnSpPr>
            <a:stCxn id="9" idx="6"/>
            <a:endCxn id="11" idx="2"/>
          </p:cNvCxnSpPr>
          <p:nvPr/>
        </p:nvCxnSpPr>
        <p:spPr>
          <a:xfrm>
            <a:off x="3381828" y="331713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11" idx="5"/>
            <a:endCxn id="13" idx="1"/>
          </p:cNvCxnSpPr>
          <p:nvPr/>
        </p:nvCxnSpPr>
        <p:spPr>
          <a:xfrm>
            <a:off x="5002432" y="3451834"/>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8" idx="5"/>
            <a:endCxn id="10" idx="1"/>
          </p:cNvCxnSpPr>
          <p:nvPr/>
        </p:nvCxnSpPr>
        <p:spPr>
          <a:xfrm>
            <a:off x="2259232" y="413763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10" idx="6"/>
            <a:endCxn id="12" idx="2"/>
          </p:cNvCxnSpPr>
          <p:nvPr/>
        </p:nvCxnSpPr>
        <p:spPr>
          <a:xfrm>
            <a:off x="3381828" y="484113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12" idx="7"/>
            <a:endCxn id="13" idx="3"/>
          </p:cNvCxnSpPr>
          <p:nvPr/>
        </p:nvCxnSpPr>
        <p:spPr>
          <a:xfrm flipV="1">
            <a:off x="5002432" y="413763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0" idx="0"/>
          </p:cNvCxnSpPr>
          <p:nvPr/>
        </p:nvCxnSpPr>
        <p:spPr>
          <a:xfrm>
            <a:off x="3191328" y="350763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1" idx="4"/>
            <a:endCxn id="12" idx="0"/>
          </p:cNvCxnSpPr>
          <p:nvPr/>
        </p:nvCxnSpPr>
        <p:spPr>
          <a:xfrm>
            <a:off x="4867728" y="350763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9" idx="5"/>
            <a:endCxn id="12" idx="1"/>
          </p:cNvCxnSpPr>
          <p:nvPr/>
        </p:nvCxnSpPr>
        <p:spPr>
          <a:xfrm>
            <a:off x="3326032" y="3451834"/>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2518617" y="3597524"/>
            <a:ext cx="301686" cy="369332"/>
          </a:xfrm>
          <a:prstGeom prst="rect">
            <a:avLst/>
          </a:prstGeom>
          <a:noFill/>
        </p:spPr>
        <p:txBody>
          <a:bodyPr wrap="none" rtlCol="0">
            <a:spAutoFit/>
          </a:bodyPr>
          <a:lstStyle/>
          <a:p>
            <a:r>
              <a:rPr lang="en-IN" b="1" dirty="0"/>
              <a:t>1</a:t>
            </a:r>
            <a:endParaRPr lang="en-US" b="1" dirty="0"/>
          </a:p>
        </p:txBody>
      </p:sp>
      <p:sp>
        <p:nvSpPr>
          <p:cNvPr id="24" name="TextBox 23"/>
          <p:cNvSpPr txBox="1"/>
          <p:nvPr/>
        </p:nvSpPr>
        <p:spPr>
          <a:xfrm>
            <a:off x="2895084" y="3853126"/>
            <a:ext cx="301686" cy="369332"/>
          </a:xfrm>
          <a:prstGeom prst="rect">
            <a:avLst/>
          </a:prstGeom>
          <a:noFill/>
        </p:spPr>
        <p:txBody>
          <a:bodyPr wrap="none" rtlCol="0">
            <a:spAutoFit/>
          </a:bodyPr>
          <a:lstStyle/>
          <a:p>
            <a:r>
              <a:rPr lang="en-IN" b="1" dirty="0"/>
              <a:t>1</a:t>
            </a:r>
            <a:endParaRPr lang="en-US" b="1" dirty="0"/>
          </a:p>
        </p:txBody>
      </p:sp>
      <p:sp>
        <p:nvSpPr>
          <p:cNvPr id="25" name="TextBox 24"/>
          <p:cNvSpPr txBox="1"/>
          <p:nvPr/>
        </p:nvSpPr>
        <p:spPr>
          <a:xfrm>
            <a:off x="2517359" y="4089404"/>
            <a:ext cx="301686" cy="369332"/>
          </a:xfrm>
          <a:prstGeom prst="rect">
            <a:avLst/>
          </a:prstGeom>
          <a:noFill/>
        </p:spPr>
        <p:txBody>
          <a:bodyPr wrap="none" rtlCol="0">
            <a:spAutoFit/>
          </a:bodyPr>
          <a:lstStyle/>
          <a:p>
            <a:r>
              <a:rPr lang="en-IN" b="1" dirty="0"/>
              <a:t>5</a:t>
            </a:r>
            <a:endParaRPr lang="en-US" b="1" dirty="0"/>
          </a:p>
        </p:txBody>
      </p:sp>
      <p:sp>
        <p:nvSpPr>
          <p:cNvPr id="26" name="TextBox 25"/>
          <p:cNvSpPr txBox="1"/>
          <p:nvPr/>
        </p:nvSpPr>
        <p:spPr>
          <a:xfrm>
            <a:off x="3842142" y="2974230"/>
            <a:ext cx="301686" cy="369332"/>
          </a:xfrm>
          <a:prstGeom prst="rect">
            <a:avLst/>
          </a:prstGeom>
          <a:noFill/>
        </p:spPr>
        <p:txBody>
          <a:bodyPr wrap="none" rtlCol="0">
            <a:spAutoFit/>
          </a:bodyPr>
          <a:lstStyle/>
          <a:p>
            <a:r>
              <a:rPr lang="en-IN" b="1" dirty="0"/>
              <a:t>2</a:t>
            </a:r>
            <a:endParaRPr lang="en-US" b="1" dirty="0"/>
          </a:p>
        </p:txBody>
      </p:sp>
      <p:sp>
        <p:nvSpPr>
          <p:cNvPr id="27" name="TextBox 26"/>
          <p:cNvSpPr txBox="1"/>
          <p:nvPr/>
        </p:nvSpPr>
        <p:spPr>
          <a:xfrm>
            <a:off x="3918342" y="3736230"/>
            <a:ext cx="301686" cy="369332"/>
          </a:xfrm>
          <a:prstGeom prst="rect">
            <a:avLst/>
          </a:prstGeom>
          <a:noFill/>
        </p:spPr>
        <p:txBody>
          <a:bodyPr wrap="none" rtlCol="0">
            <a:spAutoFit/>
          </a:bodyPr>
          <a:lstStyle/>
          <a:p>
            <a:r>
              <a:rPr lang="en-IN" b="1" dirty="0"/>
              <a:t>4</a:t>
            </a:r>
            <a:endParaRPr lang="en-US" b="1" dirty="0"/>
          </a:p>
        </p:txBody>
      </p:sp>
      <p:sp>
        <p:nvSpPr>
          <p:cNvPr id="28" name="TextBox 27"/>
          <p:cNvSpPr txBox="1"/>
          <p:nvPr/>
        </p:nvSpPr>
        <p:spPr>
          <a:xfrm>
            <a:off x="4850886" y="3824098"/>
            <a:ext cx="301686" cy="369332"/>
          </a:xfrm>
          <a:prstGeom prst="rect">
            <a:avLst/>
          </a:prstGeom>
          <a:noFill/>
        </p:spPr>
        <p:txBody>
          <a:bodyPr wrap="none" rtlCol="0">
            <a:spAutoFit/>
          </a:bodyPr>
          <a:lstStyle/>
          <a:p>
            <a:r>
              <a:rPr lang="en-IN" b="1" dirty="0"/>
              <a:t>7</a:t>
            </a:r>
            <a:endParaRPr lang="en-US" b="1" dirty="0"/>
          </a:p>
        </p:txBody>
      </p:sp>
      <p:sp>
        <p:nvSpPr>
          <p:cNvPr id="29" name="TextBox 28"/>
          <p:cNvSpPr txBox="1"/>
          <p:nvPr/>
        </p:nvSpPr>
        <p:spPr>
          <a:xfrm>
            <a:off x="5311716" y="3326202"/>
            <a:ext cx="301686" cy="369332"/>
          </a:xfrm>
          <a:prstGeom prst="rect">
            <a:avLst/>
          </a:prstGeom>
          <a:noFill/>
        </p:spPr>
        <p:txBody>
          <a:bodyPr wrap="none" rtlCol="0">
            <a:spAutoFit/>
          </a:bodyPr>
          <a:lstStyle/>
          <a:p>
            <a:r>
              <a:rPr lang="en-IN" b="1" dirty="0"/>
              <a:t>6</a:t>
            </a:r>
            <a:endParaRPr lang="en-US" b="1" dirty="0"/>
          </a:p>
        </p:txBody>
      </p:sp>
      <p:sp>
        <p:nvSpPr>
          <p:cNvPr id="30" name="TextBox 29"/>
          <p:cNvSpPr txBox="1"/>
          <p:nvPr/>
        </p:nvSpPr>
        <p:spPr>
          <a:xfrm>
            <a:off x="5363028" y="4357498"/>
            <a:ext cx="301686" cy="369332"/>
          </a:xfrm>
          <a:prstGeom prst="rect">
            <a:avLst/>
          </a:prstGeom>
          <a:noFill/>
        </p:spPr>
        <p:txBody>
          <a:bodyPr wrap="none" rtlCol="0">
            <a:spAutoFit/>
          </a:bodyPr>
          <a:lstStyle/>
          <a:p>
            <a:r>
              <a:rPr lang="en-IN" b="1" dirty="0"/>
              <a:t>2</a:t>
            </a:r>
            <a:endParaRPr lang="en-US" b="1" dirty="0"/>
          </a:p>
        </p:txBody>
      </p:sp>
      <p:sp>
        <p:nvSpPr>
          <p:cNvPr id="31" name="TextBox 30"/>
          <p:cNvSpPr txBox="1"/>
          <p:nvPr/>
        </p:nvSpPr>
        <p:spPr>
          <a:xfrm>
            <a:off x="1600200" y="3824098"/>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0</a:t>
            </a:r>
            <a:endParaRPr lang="en-US" b="1" dirty="0"/>
          </a:p>
        </p:txBody>
      </p:sp>
      <p:sp>
        <p:nvSpPr>
          <p:cNvPr id="32" name="TextBox 31"/>
          <p:cNvSpPr txBox="1"/>
          <p:nvPr/>
        </p:nvSpPr>
        <p:spPr>
          <a:xfrm>
            <a:off x="3036532" y="2686126"/>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a:t>
            </a:r>
            <a:endParaRPr lang="en-US" b="1" dirty="0"/>
          </a:p>
        </p:txBody>
      </p:sp>
      <p:sp>
        <p:nvSpPr>
          <p:cNvPr id="33" name="TextBox 32"/>
          <p:cNvSpPr txBox="1"/>
          <p:nvPr/>
        </p:nvSpPr>
        <p:spPr>
          <a:xfrm>
            <a:off x="4698999" y="2680450"/>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3</a:t>
            </a:r>
            <a:endParaRPr lang="en-US" b="1" dirty="0"/>
          </a:p>
        </p:txBody>
      </p:sp>
      <p:sp>
        <p:nvSpPr>
          <p:cNvPr id="37" name="TextBox 36"/>
          <p:cNvSpPr txBox="1"/>
          <p:nvPr/>
        </p:nvSpPr>
        <p:spPr>
          <a:xfrm>
            <a:off x="3005343" y="5062562"/>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2</a:t>
            </a:r>
            <a:endParaRPr lang="en-US" b="1" dirty="0"/>
          </a:p>
        </p:txBody>
      </p:sp>
      <p:sp>
        <p:nvSpPr>
          <p:cNvPr id="38" name="TextBox 37"/>
          <p:cNvSpPr txBox="1"/>
          <p:nvPr/>
        </p:nvSpPr>
        <p:spPr>
          <a:xfrm>
            <a:off x="4737172" y="5095794"/>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a:t>
            </a:r>
            <a:endParaRPr lang="en-US" b="1" dirty="0"/>
          </a:p>
        </p:txBody>
      </p:sp>
      <p:cxnSp>
        <p:nvCxnSpPr>
          <p:cNvPr id="39" name="Straight Connector 38"/>
          <p:cNvCxnSpPr>
            <a:stCxn id="9" idx="4"/>
            <a:endCxn id="10" idx="0"/>
          </p:cNvCxnSpPr>
          <p:nvPr/>
        </p:nvCxnSpPr>
        <p:spPr>
          <a:xfrm>
            <a:off x="3191328" y="3507630"/>
            <a:ext cx="0" cy="1143000"/>
          </a:xfrm>
          <a:prstGeom prst="line">
            <a:avLst/>
          </a:prstGeom>
          <a:ln w="28575"/>
        </p:spPr>
        <p:style>
          <a:lnRef idx="3">
            <a:schemeClr val="dk1"/>
          </a:lnRef>
          <a:fillRef idx="0">
            <a:schemeClr val="dk1"/>
          </a:fillRef>
          <a:effectRef idx="2">
            <a:schemeClr val="dk1"/>
          </a:effectRef>
          <a:fontRef idx="minor">
            <a:schemeClr val="tx1"/>
          </a:fontRef>
        </p:style>
      </p:cxnSp>
      <p:sp>
        <p:nvSpPr>
          <p:cNvPr id="40" name="TextBox 39"/>
          <p:cNvSpPr txBox="1"/>
          <p:nvPr/>
        </p:nvSpPr>
        <p:spPr>
          <a:xfrm>
            <a:off x="5783685" y="4274070"/>
            <a:ext cx="39145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a:t>
            </a:r>
          </a:p>
        </p:txBody>
      </p:sp>
      <p:sp>
        <p:nvSpPr>
          <p:cNvPr id="41" name="TextBox 40"/>
          <p:cNvSpPr txBox="1"/>
          <p:nvPr/>
        </p:nvSpPr>
        <p:spPr>
          <a:xfrm>
            <a:off x="1752600" y="1371600"/>
            <a:ext cx="5491568" cy="369332"/>
          </a:xfrm>
          <a:prstGeom prst="rect">
            <a:avLst/>
          </a:prstGeom>
          <a:noFill/>
        </p:spPr>
        <p:txBody>
          <a:bodyPr wrap="none" rtlCol="0">
            <a:spAutoFit/>
          </a:bodyPr>
          <a:lstStyle/>
          <a:p>
            <a:r>
              <a:rPr lang="en-IN" dirty="0"/>
              <a:t>Cost of going to D via C = </a:t>
            </a:r>
            <a:r>
              <a:rPr lang="en-IN" dirty="0" err="1"/>
              <a:t>dist</a:t>
            </a:r>
            <a:r>
              <a:rPr lang="en-IN" dirty="0"/>
              <a:t>[C] + cost[C][D] = 2 + </a:t>
            </a:r>
            <a:r>
              <a:rPr lang="en-US" b="1" dirty="0"/>
              <a:t>∞</a:t>
            </a:r>
            <a:r>
              <a:rPr lang="en-IN" dirty="0"/>
              <a:t> = </a:t>
            </a:r>
            <a:r>
              <a:rPr lang="en-US" b="1" dirty="0"/>
              <a:t>∞</a:t>
            </a:r>
            <a:endParaRPr lang="en-US" dirty="0"/>
          </a:p>
        </p:txBody>
      </p:sp>
      <p:sp>
        <p:nvSpPr>
          <p:cNvPr id="42" name="TextBox 41"/>
          <p:cNvSpPr txBox="1"/>
          <p:nvPr/>
        </p:nvSpPr>
        <p:spPr>
          <a:xfrm>
            <a:off x="1747432" y="1708616"/>
            <a:ext cx="5276766" cy="369332"/>
          </a:xfrm>
          <a:prstGeom prst="rect">
            <a:avLst/>
          </a:prstGeom>
          <a:noFill/>
        </p:spPr>
        <p:txBody>
          <a:bodyPr wrap="none" rtlCol="0">
            <a:spAutoFit/>
          </a:bodyPr>
          <a:lstStyle/>
          <a:p>
            <a:r>
              <a:rPr lang="en-IN" dirty="0"/>
              <a:t>Cost of going to E via C = </a:t>
            </a:r>
            <a:r>
              <a:rPr lang="en-IN" dirty="0" err="1"/>
              <a:t>dist</a:t>
            </a:r>
            <a:r>
              <a:rPr lang="en-IN" dirty="0"/>
              <a:t>[C] + cost[C][E] = 2 + </a:t>
            </a:r>
            <a:r>
              <a:rPr lang="en-US" b="1" dirty="0"/>
              <a:t>5</a:t>
            </a:r>
            <a:r>
              <a:rPr lang="en-IN" dirty="0"/>
              <a:t> = </a:t>
            </a:r>
            <a:r>
              <a:rPr lang="en-US" b="1" dirty="0"/>
              <a:t>7</a:t>
            </a:r>
            <a:endParaRPr lang="en-US" dirty="0"/>
          </a:p>
        </p:txBody>
      </p:sp>
      <p:sp>
        <p:nvSpPr>
          <p:cNvPr id="43" name="TextBox 42"/>
          <p:cNvSpPr txBox="1"/>
          <p:nvPr/>
        </p:nvSpPr>
        <p:spPr>
          <a:xfrm>
            <a:off x="1752600" y="2057400"/>
            <a:ext cx="5424242" cy="369332"/>
          </a:xfrm>
          <a:prstGeom prst="rect">
            <a:avLst/>
          </a:prstGeom>
          <a:noFill/>
        </p:spPr>
        <p:txBody>
          <a:bodyPr wrap="none" rtlCol="0">
            <a:spAutoFit/>
          </a:bodyPr>
          <a:lstStyle/>
          <a:p>
            <a:r>
              <a:rPr lang="en-IN" dirty="0"/>
              <a:t>Cost of going to F via C = </a:t>
            </a:r>
            <a:r>
              <a:rPr lang="en-IN" dirty="0" err="1"/>
              <a:t>dist</a:t>
            </a:r>
            <a:r>
              <a:rPr lang="en-IN" dirty="0"/>
              <a:t>[C] + cost[C][F] = 2 + </a:t>
            </a:r>
            <a:r>
              <a:rPr lang="en-US" b="1" dirty="0"/>
              <a:t>∞</a:t>
            </a:r>
            <a:r>
              <a:rPr lang="en-IN" dirty="0"/>
              <a:t> = </a:t>
            </a:r>
            <a:r>
              <a:rPr lang="en-US" b="1" dirty="0"/>
              <a:t>∞</a:t>
            </a:r>
            <a:endParaRPr lang="en-US" dirty="0"/>
          </a:p>
        </p:txBody>
      </p:sp>
      <p:cxnSp>
        <p:nvCxnSpPr>
          <p:cNvPr id="44" name="Straight Connector 43"/>
          <p:cNvCxnSpPr>
            <a:stCxn id="9" idx="6"/>
            <a:endCxn id="11" idx="2"/>
          </p:cNvCxnSpPr>
          <p:nvPr/>
        </p:nvCxnSpPr>
        <p:spPr>
          <a:xfrm>
            <a:off x="3381828" y="3317130"/>
            <a:ext cx="1295400"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45" name="Straight Connector 44"/>
          <p:cNvCxnSpPr>
            <a:stCxn id="9" idx="5"/>
            <a:endCxn id="12" idx="1"/>
          </p:cNvCxnSpPr>
          <p:nvPr/>
        </p:nvCxnSpPr>
        <p:spPr>
          <a:xfrm>
            <a:off x="3326032" y="3451834"/>
            <a:ext cx="1406992" cy="1254592"/>
          </a:xfrm>
          <a:prstGeom prst="line">
            <a:avLst/>
          </a:prstGeom>
          <a:ln w="28575"/>
        </p:spPr>
        <p:style>
          <a:lnRef idx="3">
            <a:schemeClr val="dk1"/>
          </a:lnRef>
          <a:fillRef idx="0">
            <a:schemeClr val="dk1"/>
          </a:fillRef>
          <a:effectRef idx="2">
            <a:schemeClr val="dk1"/>
          </a:effectRef>
          <a:fontRef idx="minor">
            <a:schemeClr val="tx1"/>
          </a:fontRef>
        </p:style>
      </p:cxnSp>
      <p:graphicFrame>
        <p:nvGraphicFramePr>
          <p:cNvPr id="46" name="Table 45"/>
          <p:cNvGraphicFramePr>
            <a:graphicFrameLocks noGrp="1"/>
          </p:cNvGraphicFramePr>
          <p:nvPr>
            <p:extLst>
              <p:ext uri="{D42A27DB-BD31-4B8C-83A1-F6EECF244321}">
                <p14:modId xmlns:p14="http://schemas.microsoft.com/office/powerpoint/2010/main" val="3283413509"/>
              </p:ext>
            </p:extLst>
          </p:nvPr>
        </p:nvGraphicFramePr>
        <p:xfrm>
          <a:off x="8719459" y="3823450"/>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r>
                        <a:rPr lang="en-IN" sz="2400" b="1" dirty="0"/>
                        <a:t>1</a:t>
                      </a:r>
                      <a:endParaRPr lang="en-US" sz="2400" b="1" dirty="0"/>
                    </a:p>
                  </a:txBody>
                  <a:tcPr/>
                </a:tc>
                <a:tc>
                  <a:txBody>
                    <a:bodyPr/>
                    <a:lstStyle/>
                    <a:p>
                      <a:pPr algn="ctr"/>
                      <a:r>
                        <a:rPr lang="en-IN" sz="2400" b="1" dirty="0"/>
                        <a:t>2</a:t>
                      </a:r>
                      <a:endParaRPr lang="en-US" sz="2400" b="1" dirty="0"/>
                    </a:p>
                  </a:txBody>
                  <a:tcPr/>
                </a:tc>
                <a:tc>
                  <a:txBody>
                    <a:bodyPr/>
                    <a:lstStyle/>
                    <a:p>
                      <a:pPr algn="ctr"/>
                      <a:r>
                        <a:rPr lang="en-US" sz="2400" b="1" dirty="0"/>
                        <a:t>3</a:t>
                      </a:r>
                    </a:p>
                  </a:txBody>
                  <a:tcPr/>
                </a:tc>
                <a:tc>
                  <a:txBody>
                    <a:bodyPr/>
                    <a:lstStyle/>
                    <a:p>
                      <a:pPr algn="ctr"/>
                      <a:r>
                        <a:rPr lang="en-US" sz="2400" b="1" dirty="0"/>
                        <a:t>5</a:t>
                      </a:r>
                    </a:p>
                  </a:txBody>
                  <a:tcPr/>
                </a:tc>
                <a:tc>
                  <a:txBody>
                    <a:bodyPr/>
                    <a:lstStyle/>
                    <a:p>
                      <a:pPr algn="ctr"/>
                      <a:r>
                        <a:rPr lang="en-US" sz="2400" b="1" dirty="0"/>
                        <a:t>∞</a:t>
                      </a:r>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extLst>
                  <a:ext uri="{0D108BD9-81ED-4DB2-BD59-A6C34878D82A}">
                    <a16:rowId xmlns:a16="http://schemas.microsoft.com/office/drawing/2014/main" val="10002"/>
                  </a:ext>
                </a:extLst>
              </a:tr>
            </a:tbl>
          </a:graphicData>
        </a:graphic>
      </p:graphicFrame>
      <p:sp>
        <p:nvSpPr>
          <p:cNvPr id="47" name="Rectangle 46"/>
          <p:cNvSpPr/>
          <p:nvPr/>
        </p:nvSpPr>
        <p:spPr>
          <a:xfrm>
            <a:off x="7347858" y="4336557"/>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48" name="Rectangle 47"/>
          <p:cNvSpPr/>
          <p:nvPr/>
        </p:nvSpPr>
        <p:spPr>
          <a:xfrm>
            <a:off x="7347858" y="4755016"/>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sp>
        <p:nvSpPr>
          <p:cNvPr id="49" name="TextBox 48"/>
          <p:cNvSpPr txBox="1"/>
          <p:nvPr/>
        </p:nvSpPr>
        <p:spPr>
          <a:xfrm>
            <a:off x="8765227" y="4736286"/>
            <a:ext cx="369012" cy="461665"/>
          </a:xfrm>
          <a:prstGeom prst="rect">
            <a:avLst/>
          </a:prstGeom>
          <a:noFill/>
        </p:spPr>
        <p:txBody>
          <a:bodyPr wrap="none" rtlCol="0">
            <a:spAutoFit/>
          </a:bodyPr>
          <a:lstStyle/>
          <a:p>
            <a:pPr algn="ctr"/>
            <a:r>
              <a:rPr lang="en-US" sz="2400" b="1" dirty="0"/>
              <a:t>A</a:t>
            </a:r>
            <a:endParaRPr lang="en-US" sz="2400" dirty="0"/>
          </a:p>
        </p:txBody>
      </p:sp>
      <p:sp>
        <p:nvSpPr>
          <p:cNvPr id="50" name="TextBox 49"/>
          <p:cNvSpPr txBox="1"/>
          <p:nvPr/>
        </p:nvSpPr>
        <p:spPr>
          <a:xfrm>
            <a:off x="9152835" y="4739250"/>
            <a:ext cx="369012" cy="461665"/>
          </a:xfrm>
          <a:prstGeom prst="rect">
            <a:avLst/>
          </a:prstGeom>
          <a:noFill/>
        </p:spPr>
        <p:txBody>
          <a:bodyPr wrap="none" rtlCol="0">
            <a:spAutoFit/>
          </a:bodyPr>
          <a:lstStyle/>
          <a:p>
            <a:pPr algn="ctr"/>
            <a:r>
              <a:rPr lang="en-US" sz="2400" b="1" dirty="0"/>
              <a:t>A</a:t>
            </a:r>
            <a:endParaRPr lang="en-US" sz="2400" dirty="0"/>
          </a:p>
        </p:txBody>
      </p:sp>
      <p:sp>
        <p:nvSpPr>
          <p:cNvPr id="51" name="TextBox 50"/>
          <p:cNvSpPr txBox="1"/>
          <p:nvPr/>
        </p:nvSpPr>
        <p:spPr>
          <a:xfrm>
            <a:off x="9577123" y="4734784"/>
            <a:ext cx="357790" cy="461665"/>
          </a:xfrm>
          <a:prstGeom prst="rect">
            <a:avLst/>
          </a:prstGeom>
          <a:noFill/>
        </p:spPr>
        <p:txBody>
          <a:bodyPr wrap="none" rtlCol="0">
            <a:spAutoFit/>
          </a:bodyPr>
          <a:lstStyle/>
          <a:p>
            <a:pPr algn="ctr"/>
            <a:r>
              <a:rPr lang="en-IN" sz="2400" b="1" dirty="0"/>
              <a:t>B</a:t>
            </a:r>
            <a:endParaRPr lang="en-US" sz="2400" dirty="0"/>
          </a:p>
        </p:txBody>
      </p:sp>
      <p:sp>
        <p:nvSpPr>
          <p:cNvPr id="52" name="TextBox 51"/>
          <p:cNvSpPr txBox="1"/>
          <p:nvPr/>
        </p:nvSpPr>
        <p:spPr>
          <a:xfrm>
            <a:off x="3827809" y="4493948"/>
            <a:ext cx="362343" cy="369332"/>
          </a:xfrm>
          <a:prstGeom prst="rect">
            <a:avLst/>
          </a:prstGeom>
          <a:noFill/>
        </p:spPr>
        <p:txBody>
          <a:bodyPr wrap="square" rtlCol="0">
            <a:spAutoFit/>
          </a:bodyPr>
          <a:lstStyle/>
          <a:p>
            <a:r>
              <a:rPr lang="en-IN" b="1" dirty="0"/>
              <a:t>5</a:t>
            </a:r>
            <a:endParaRPr lang="en-US" b="1" dirty="0"/>
          </a:p>
        </p:txBody>
      </p:sp>
    </p:spTree>
    <p:extLst>
      <p:ext uri="{BB962C8B-B14F-4D97-AF65-F5344CB8AC3E}">
        <p14:creationId xmlns:p14="http://schemas.microsoft.com/office/powerpoint/2010/main" val="106421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10" fill="hold"/>
                                        <p:tgtEl>
                                          <p:spTgt spid="10"/>
                                        </p:tgtEl>
                                        <p:attrNameLst>
                                          <p:attrName>fillcolor</p:attrName>
                                        </p:attrNameLst>
                                      </p:cBhvr>
                                      <p:to>
                                        <a:schemeClr val="accent2"/>
                                      </p:to>
                                    </p:animClr>
                                    <p:set>
                                      <p:cBhvr>
                                        <p:cTn id="81" dur="10" fill="hold"/>
                                        <p:tgtEl>
                                          <p:spTgt spid="10"/>
                                        </p:tgtEl>
                                        <p:attrNameLst>
                                          <p:attrName>fill.type</p:attrName>
                                        </p:attrNameLst>
                                      </p:cBhvr>
                                      <p:to>
                                        <p:strVal val="solid"/>
                                      </p:to>
                                    </p:set>
                                    <p:set>
                                      <p:cBhvr>
                                        <p:cTn id="82" dur="10" fill="hold"/>
                                        <p:tgtEl>
                                          <p:spTgt spid="10"/>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6"/>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animBg="1"/>
      <p:bldP spid="9" grpId="0" animBg="1"/>
      <p:bldP spid="10" grpId="0" animBg="1"/>
      <p:bldP spid="11" grpId="0" animBg="1"/>
      <p:bldP spid="12" grpId="0" animBg="1"/>
      <p:bldP spid="13" grpId="0" animBg="1"/>
      <p:bldP spid="23" grpId="0"/>
      <p:bldP spid="24" grpId="0"/>
      <p:bldP spid="25" grpId="0"/>
      <p:bldP spid="26" grpId="0"/>
      <p:bldP spid="27" grpId="0"/>
      <p:bldP spid="28" grpId="0"/>
      <p:bldP spid="29" grpId="0"/>
      <p:bldP spid="30" grpId="0"/>
      <p:bldP spid="31" grpId="0" animBg="1"/>
      <p:bldP spid="32" grpId="0" animBg="1"/>
      <p:bldP spid="33" grpId="0" animBg="1"/>
      <p:bldP spid="37" grpId="0" animBg="1"/>
      <p:bldP spid="38" grpId="0" animBg="1"/>
      <p:bldP spid="40" grpId="0" animBg="1"/>
      <p:bldP spid="41" grpId="0"/>
      <p:bldP spid="42" grpId="0"/>
      <p:bldP spid="43" grpId="0"/>
      <p:bldP spid="47" grpId="0" animBg="1"/>
      <p:bldP spid="48" grpId="0" animBg="1"/>
      <p:bldP spid="49" grpId="0"/>
      <p:bldP spid="50" grpId="0"/>
      <p:bldP spid="51" grpId="0"/>
      <p:bldP spid="5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Dijkstra</a:t>
            </a:r>
            <a:r>
              <a:rPr lang="en-IN" dirty="0"/>
              <a:t> Algorithm – Shortest Path</a:t>
            </a:r>
            <a:endParaRPr lang="en-US" dirty="0"/>
          </a:p>
        </p:txBody>
      </p:sp>
      <p:sp>
        <p:nvSpPr>
          <p:cNvPr id="4" name="TextBox 3"/>
          <p:cNvSpPr txBox="1"/>
          <p:nvPr/>
        </p:nvSpPr>
        <p:spPr>
          <a:xfrm>
            <a:off x="1732383" y="913818"/>
            <a:ext cx="6362126" cy="369332"/>
          </a:xfrm>
          <a:prstGeom prst="rect">
            <a:avLst/>
          </a:prstGeom>
          <a:noFill/>
        </p:spPr>
        <p:txBody>
          <a:bodyPr wrap="none" rtlCol="0">
            <a:spAutoFit/>
          </a:bodyPr>
          <a:lstStyle/>
          <a:p>
            <a:r>
              <a:rPr lang="en-IN" b="1" dirty="0"/>
              <a:t>4</a:t>
            </a:r>
            <a:r>
              <a:rPr lang="en-IN" b="1" baseline="30000" dirty="0"/>
              <a:t>th</a:t>
            </a:r>
            <a:r>
              <a:rPr lang="en-IN" b="1" dirty="0"/>
              <a:t> Iteration: </a:t>
            </a:r>
            <a:r>
              <a:rPr lang="en-IN" dirty="0"/>
              <a:t>Select </a:t>
            </a:r>
            <a:r>
              <a:rPr lang="en-IN" b="1" dirty="0"/>
              <a:t>Vertex D</a:t>
            </a:r>
            <a:r>
              <a:rPr lang="en-IN" dirty="0"/>
              <a:t> via path A - B with minimum distance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097198230"/>
              </p:ext>
            </p:extLst>
          </p:nvPr>
        </p:nvGraphicFramePr>
        <p:xfrm>
          <a:off x="8225672" y="1371600"/>
          <a:ext cx="2387918" cy="111252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C</a:t>
                      </a:r>
                      <a:endParaRPr lang="en-US" sz="1800" b="1" dirty="0"/>
                    </a:p>
                  </a:txBody>
                  <a:tcPr/>
                </a:tc>
                <a:tc>
                  <a:txBody>
                    <a:bodyPr/>
                    <a:lstStyle/>
                    <a:p>
                      <a:pPr algn="ctr"/>
                      <a:r>
                        <a:rPr lang="en-IN" sz="1800" b="1" dirty="0"/>
                        <a:t>D</a:t>
                      </a:r>
                      <a:endParaRPr lang="en-US" sz="1800" b="1" dirty="0"/>
                    </a:p>
                  </a:txBody>
                  <a:tcPr/>
                </a:tc>
                <a:tc>
                  <a:txBody>
                    <a:bodyPr/>
                    <a:lstStyle/>
                    <a:p>
                      <a:pPr algn="ctr"/>
                      <a:r>
                        <a:rPr lang="en-IN" sz="1800" b="1" dirty="0"/>
                        <a:t>E</a:t>
                      </a:r>
                      <a:endParaRPr lang="en-US" sz="1800" b="1" dirty="0"/>
                    </a:p>
                  </a:txBody>
                  <a:tcPr/>
                </a:tc>
                <a:tc>
                  <a:txBody>
                    <a:bodyPr/>
                    <a:lstStyle/>
                    <a:p>
                      <a:pPr algn="ctr"/>
                      <a:r>
                        <a:rPr lang="en-IN" sz="1800" b="1" dirty="0"/>
                        <a:t>F</a:t>
                      </a:r>
                      <a:endParaRPr lang="en-US" sz="1800" b="1" dirty="0"/>
                    </a:p>
                  </a:txBody>
                  <a:tcPr/>
                </a:tc>
                <a:extLst>
                  <a:ext uri="{0D108BD9-81ED-4DB2-BD59-A6C34878D82A}">
                    <a16:rowId xmlns:a16="http://schemas.microsoft.com/office/drawing/2014/main" val="10000"/>
                  </a:ext>
                </a:extLst>
              </a:tr>
              <a:tr h="370840">
                <a:tc>
                  <a:txBody>
                    <a:bodyPr/>
                    <a:lstStyle/>
                    <a:p>
                      <a:pPr algn="ctr"/>
                      <a:r>
                        <a:rPr lang="en-US" sz="1800" b="1" dirty="0"/>
                        <a:t>0</a:t>
                      </a:r>
                    </a:p>
                  </a:txBody>
                  <a:tcPr/>
                </a:tc>
                <a:tc>
                  <a:txBody>
                    <a:bodyPr/>
                    <a:lstStyle/>
                    <a:p>
                      <a:pPr algn="ctr"/>
                      <a:r>
                        <a:rPr lang="en-US" sz="1800" b="1" dirty="0"/>
                        <a:t>1</a:t>
                      </a:r>
                    </a:p>
                  </a:txBody>
                  <a:tcPr/>
                </a:tc>
                <a:tc>
                  <a:txBody>
                    <a:bodyPr/>
                    <a:lstStyle/>
                    <a:p>
                      <a:pPr algn="ctr"/>
                      <a:r>
                        <a:rPr lang="en-US" sz="1800" b="1" dirty="0"/>
                        <a:t>2</a:t>
                      </a:r>
                    </a:p>
                  </a:txBody>
                  <a:tcPr/>
                </a:tc>
                <a:tc>
                  <a:txBody>
                    <a:bodyPr/>
                    <a:lstStyle/>
                    <a:p>
                      <a:pPr algn="ctr"/>
                      <a:r>
                        <a:rPr lang="en-IN" sz="1800" b="1" dirty="0"/>
                        <a:t>3</a:t>
                      </a:r>
                      <a:endParaRPr lang="en-US" sz="1800" b="1" dirty="0"/>
                    </a:p>
                  </a:txBody>
                  <a:tcPr/>
                </a:tc>
                <a:tc>
                  <a:txBody>
                    <a:bodyPr/>
                    <a:lstStyle/>
                    <a:p>
                      <a:pPr algn="ctr"/>
                      <a:r>
                        <a:rPr lang="en-US" sz="1800" b="1" dirty="0"/>
                        <a:t>5</a:t>
                      </a:r>
                    </a:p>
                  </a:txBody>
                  <a:tcPr/>
                </a:tc>
                <a:tc>
                  <a:txBody>
                    <a:bodyPr/>
                    <a:lstStyle/>
                    <a:p>
                      <a:pPr algn="ctr"/>
                      <a:r>
                        <a:rPr lang="en-US" sz="1800" b="1" dirty="0"/>
                        <a:t>∞</a:t>
                      </a:r>
                    </a:p>
                  </a:txBody>
                  <a:tcPr/>
                </a:tc>
                <a:extLst>
                  <a:ext uri="{0D108BD9-81ED-4DB2-BD59-A6C34878D82A}">
                    <a16:rowId xmlns:a16="http://schemas.microsoft.com/office/drawing/2014/main" val="10001"/>
                  </a:ext>
                </a:extLst>
              </a:tr>
              <a:tr h="370840">
                <a:tc>
                  <a:txBody>
                    <a:bodyPr/>
                    <a:lstStyle/>
                    <a:p>
                      <a:pPr algn="ctr"/>
                      <a:r>
                        <a:rPr lang="en-IN" sz="1800" b="1" dirty="0"/>
                        <a:t>A</a:t>
                      </a:r>
                      <a:endParaRPr lang="en-US" sz="1800" b="1" dirty="0"/>
                    </a:p>
                  </a:txBody>
                  <a:tcPr/>
                </a:tc>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tc>
                  <a:txBody>
                    <a:bodyPr/>
                    <a:lstStyle/>
                    <a:p>
                      <a:pPr algn="ctr"/>
                      <a:r>
                        <a:rPr lang="en-IN" sz="1800" b="1" dirty="0"/>
                        <a:t>0</a:t>
                      </a:r>
                      <a:endParaRPr lang="en-US" sz="1800" b="1" dirty="0"/>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7173074" y="1776974"/>
            <a:ext cx="1041148" cy="321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Distance</a:t>
            </a:r>
            <a:endParaRPr lang="en-US" b="1" dirty="0"/>
          </a:p>
        </p:txBody>
      </p:sp>
      <p:sp>
        <p:nvSpPr>
          <p:cNvPr id="7" name="Rectangle 6"/>
          <p:cNvSpPr/>
          <p:nvPr/>
        </p:nvSpPr>
        <p:spPr>
          <a:xfrm>
            <a:off x="7162800" y="2133788"/>
            <a:ext cx="1041148" cy="33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Visited</a:t>
            </a:r>
            <a:endParaRPr lang="en-US" b="1" dirty="0"/>
          </a:p>
        </p:txBody>
      </p:sp>
      <p:sp>
        <p:nvSpPr>
          <p:cNvPr id="8" name="Oval 7"/>
          <p:cNvSpPr/>
          <p:nvPr/>
        </p:nvSpPr>
        <p:spPr>
          <a:xfrm>
            <a:off x="1752600" y="3700371"/>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A</a:t>
            </a:r>
          </a:p>
        </p:txBody>
      </p:sp>
      <p:sp>
        <p:nvSpPr>
          <p:cNvPr id="9" name="Oval 8"/>
          <p:cNvSpPr/>
          <p:nvPr/>
        </p:nvSpPr>
        <p:spPr>
          <a:xfrm>
            <a:off x="2819400" y="3014571"/>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B</a:t>
            </a:r>
          </a:p>
        </p:txBody>
      </p:sp>
      <p:sp>
        <p:nvSpPr>
          <p:cNvPr id="10" name="Oval 9"/>
          <p:cNvSpPr/>
          <p:nvPr/>
        </p:nvSpPr>
        <p:spPr>
          <a:xfrm>
            <a:off x="2819400" y="4538571"/>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11" name="Oval 10"/>
          <p:cNvSpPr/>
          <p:nvPr/>
        </p:nvSpPr>
        <p:spPr>
          <a:xfrm>
            <a:off x="4495800" y="3014571"/>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12" name="Oval 11"/>
          <p:cNvSpPr/>
          <p:nvPr/>
        </p:nvSpPr>
        <p:spPr>
          <a:xfrm>
            <a:off x="4495800" y="4538571"/>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13" name="Oval 12"/>
          <p:cNvSpPr/>
          <p:nvPr/>
        </p:nvSpPr>
        <p:spPr>
          <a:xfrm>
            <a:off x="5562600" y="3700371"/>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14" name="Straight Connector 13"/>
          <p:cNvCxnSpPr>
            <a:stCxn id="8" idx="7"/>
            <a:endCxn id="9" idx="3"/>
          </p:cNvCxnSpPr>
          <p:nvPr/>
        </p:nvCxnSpPr>
        <p:spPr>
          <a:xfrm flipV="1">
            <a:off x="2077804" y="3339775"/>
            <a:ext cx="797392" cy="416392"/>
          </a:xfrm>
          <a:prstGeom prst="line">
            <a:avLst/>
          </a:prstGeom>
          <a:ln w="28575"/>
        </p:spPr>
        <p:style>
          <a:lnRef idx="3">
            <a:schemeClr val="dk1"/>
          </a:lnRef>
          <a:fillRef idx="0">
            <a:schemeClr val="dk1"/>
          </a:fillRef>
          <a:effectRef idx="2">
            <a:schemeClr val="dk1"/>
          </a:effectRef>
          <a:fontRef idx="minor">
            <a:schemeClr val="tx1"/>
          </a:fontRef>
        </p:style>
      </p:cxnSp>
      <p:cxnSp>
        <p:nvCxnSpPr>
          <p:cNvPr id="15" name="Straight Connector 14"/>
          <p:cNvCxnSpPr>
            <a:stCxn id="9" idx="6"/>
            <a:endCxn id="11" idx="2"/>
          </p:cNvCxnSpPr>
          <p:nvPr/>
        </p:nvCxnSpPr>
        <p:spPr>
          <a:xfrm>
            <a:off x="3200400" y="3205071"/>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11" idx="5"/>
            <a:endCxn id="13" idx="1"/>
          </p:cNvCxnSpPr>
          <p:nvPr/>
        </p:nvCxnSpPr>
        <p:spPr>
          <a:xfrm>
            <a:off x="4821004" y="3339775"/>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8" idx="5"/>
            <a:endCxn id="10" idx="1"/>
          </p:cNvCxnSpPr>
          <p:nvPr/>
        </p:nvCxnSpPr>
        <p:spPr>
          <a:xfrm>
            <a:off x="2077804" y="4025575"/>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10" idx="6"/>
            <a:endCxn id="12" idx="2"/>
          </p:cNvCxnSpPr>
          <p:nvPr/>
        </p:nvCxnSpPr>
        <p:spPr>
          <a:xfrm>
            <a:off x="3200400" y="4729071"/>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12" idx="7"/>
            <a:endCxn id="13" idx="3"/>
          </p:cNvCxnSpPr>
          <p:nvPr/>
        </p:nvCxnSpPr>
        <p:spPr>
          <a:xfrm flipV="1">
            <a:off x="4821004" y="4025575"/>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0" idx="0"/>
          </p:cNvCxnSpPr>
          <p:nvPr/>
        </p:nvCxnSpPr>
        <p:spPr>
          <a:xfrm>
            <a:off x="3009900" y="3395571"/>
            <a:ext cx="0" cy="1143000"/>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1" idx="4"/>
            <a:endCxn id="12" idx="0"/>
          </p:cNvCxnSpPr>
          <p:nvPr/>
        </p:nvCxnSpPr>
        <p:spPr>
          <a:xfrm>
            <a:off x="4686300" y="3395571"/>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a:stCxn id="9" idx="5"/>
            <a:endCxn id="12" idx="1"/>
          </p:cNvCxnSpPr>
          <p:nvPr/>
        </p:nvCxnSpPr>
        <p:spPr>
          <a:xfrm>
            <a:off x="3144604" y="3339775"/>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2337189" y="3485465"/>
            <a:ext cx="301686" cy="369332"/>
          </a:xfrm>
          <a:prstGeom prst="rect">
            <a:avLst/>
          </a:prstGeom>
          <a:noFill/>
        </p:spPr>
        <p:txBody>
          <a:bodyPr wrap="none" rtlCol="0">
            <a:spAutoFit/>
          </a:bodyPr>
          <a:lstStyle/>
          <a:p>
            <a:r>
              <a:rPr lang="en-IN" b="1" dirty="0"/>
              <a:t>1</a:t>
            </a:r>
            <a:endParaRPr lang="en-US" b="1" dirty="0"/>
          </a:p>
        </p:txBody>
      </p:sp>
      <p:sp>
        <p:nvSpPr>
          <p:cNvPr id="24" name="TextBox 23"/>
          <p:cNvSpPr txBox="1"/>
          <p:nvPr/>
        </p:nvSpPr>
        <p:spPr>
          <a:xfrm>
            <a:off x="2713656" y="3741067"/>
            <a:ext cx="301686" cy="369332"/>
          </a:xfrm>
          <a:prstGeom prst="rect">
            <a:avLst/>
          </a:prstGeom>
          <a:noFill/>
        </p:spPr>
        <p:txBody>
          <a:bodyPr wrap="none" rtlCol="0">
            <a:spAutoFit/>
          </a:bodyPr>
          <a:lstStyle/>
          <a:p>
            <a:r>
              <a:rPr lang="en-IN" b="1" dirty="0"/>
              <a:t>1</a:t>
            </a:r>
            <a:endParaRPr lang="en-US" b="1" dirty="0"/>
          </a:p>
        </p:txBody>
      </p:sp>
      <p:sp>
        <p:nvSpPr>
          <p:cNvPr id="25" name="TextBox 24"/>
          <p:cNvSpPr txBox="1"/>
          <p:nvPr/>
        </p:nvSpPr>
        <p:spPr>
          <a:xfrm>
            <a:off x="2335931" y="3977345"/>
            <a:ext cx="301686" cy="369332"/>
          </a:xfrm>
          <a:prstGeom prst="rect">
            <a:avLst/>
          </a:prstGeom>
          <a:noFill/>
        </p:spPr>
        <p:txBody>
          <a:bodyPr wrap="none" rtlCol="0">
            <a:spAutoFit/>
          </a:bodyPr>
          <a:lstStyle/>
          <a:p>
            <a:r>
              <a:rPr lang="en-IN" b="1" dirty="0"/>
              <a:t>5</a:t>
            </a:r>
            <a:endParaRPr lang="en-US" b="1" dirty="0"/>
          </a:p>
        </p:txBody>
      </p:sp>
      <p:sp>
        <p:nvSpPr>
          <p:cNvPr id="26" name="TextBox 25"/>
          <p:cNvSpPr txBox="1"/>
          <p:nvPr/>
        </p:nvSpPr>
        <p:spPr>
          <a:xfrm>
            <a:off x="3660714" y="2862171"/>
            <a:ext cx="301686" cy="369332"/>
          </a:xfrm>
          <a:prstGeom prst="rect">
            <a:avLst/>
          </a:prstGeom>
          <a:noFill/>
        </p:spPr>
        <p:txBody>
          <a:bodyPr wrap="none" rtlCol="0">
            <a:spAutoFit/>
          </a:bodyPr>
          <a:lstStyle/>
          <a:p>
            <a:r>
              <a:rPr lang="en-IN" b="1" dirty="0"/>
              <a:t>2</a:t>
            </a:r>
            <a:endParaRPr lang="en-US" b="1" dirty="0"/>
          </a:p>
        </p:txBody>
      </p:sp>
      <p:sp>
        <p:nvSpPr>
          <p:cNvPr id="27" name="TextBox 26"/>
          <p:cNvSpPr txBox="1"/>
          <p:nvPr/>
        </p:nvSpPr>
        <p:spPr>
          <a:xfrm>
            <a:off x="3736914" y="3624171"/>
            <a:ext cx="301686" cy="369332"/>
          </a:xfrm>
          <a:prstGeom prst="rect">
            <a:avLst/>
          </a:prstGeom>
          <a:noFill/>
        </p:spPr>
        <p:txBody>
          <a:bodyPr wrap="none" rtlCol="0">
            <a:spAutoFit/>
          </a:bodyPr>
          <a:lstStyle/>
          <a:p>
            <a:r>
              <a:rPr lang="en-IN" b="1" dirty="0"/>
              <a:t>4</a:t>
            </a:r>
            <a:endParaRPr lang="en-US" b="1" dirty="0"/>
          </a:p>
        </p:txBody>
      </p:sp>
      <p:sp>
        <p:nvSpPr>
          <p:cNvPr id="28" name="TextBox 27"/>
          <p:cNvSpPr txBox="1"/>
          <p:nvPr/>
        </p:nvSpPr>
        <p:spPr>
          <a:xfrm>
            <a:off x="4669458" y="3712039"/>
            <a:ext cx="301686" cy="369332"/>
          </a:xfrm>
          <a:prstGeom prst="rect">
            <a:avLst/>
          </a:prstGeom>
          <a:noFill/>
        </p:spPr>
        <p:txBody>
          <a:bodyPr wrap="none" rtlCol="0">
            <a:spAutoFit/>
          </a:bodyPr>
          <a:lstStyle/>
          <a:p>
            <a:r>
              <a:rPr lang="en-IN" b="1" dirty="0"/>
              <a:t>7</a:t>
            </a:r>
            <a:endParaRPr lang="en-US" b="1" dirty="0"/>
          </a:p>
        </p:txBody>
      </p:sp>
      <p:sp>
        <p:nvSpPr>
          <p:cNvPr id="29" name="TextBox 28"/>
          <p:cNvSpPr txBox="1"/>
          <p:nvPr/>
        </p:nvSpPr>
        <p:spPr>
          <a:xfrm>
            <a:off x="5130288" y="3214143"/>
            <a:ext cx="301686" cy="369332"/>
          </a:xfrm>
          <a:prstGeom prst="rect">
            <a:avLst/>
          </a:prstGeom>
          <a:noFill/>
        </p:spPr>
        <p:txBody>
          <a:bodyPr wrap="none" rtlCol="0">
            <a:spAutoFit/>
          </a:bodyPr>
          <a:lstStyle/>
          <a:p>
            <a:r>
              <a:rPr lang="en-IN" b="1" dirty="0"/>
              <a:t>6</a:t>
            </a:r>
            <a:endParaRPr lang="en-US" b="1" dirty="0"/>
          </a:p>
        </p:txBody>
      </p:sp>
      <p:sp>
        <p:nvSpPr>
          <p:cNvPr id="30" name="TextBox 29"/>
          <p:cNvSpPr txBox="1"/>
          <p:nvPr/>
        </p:nvSpPr>
        <p:spPr>
          <a:xfrm>
            <a:off x="5181600" y="4245439"/>
            <a:ext cx="301686" cy="369332"/>
          </a:xfrm>
          <a:prstGeom prst="rect">
            <a:avLst/>
          </a:prstGeom>
          <a:noFill/>
        </p:spPr>
        <p:txBody>
          <a:bodyPr wrap="none" rtlCol="0">
            <a:spAutoFit/>
          </a:bodyPr>
          <a:lstStyle/>
          <a:p>
            <a:r>
              <a:rPr lang="en-IN" b="1" dirty="0"/>
              <a:t>2</a:t>
            </a:r>
            <a:endParaRPr lang="en-US" b="1" dirty="0"/>
          </a:p>
        </p:txBody>
      </p:sp>
      <p:sp>
        <p:nvSpPr>
          <p:cNvPr id="31" name="TextBox 30"/>
          <p:cNvSpPr txBox="1"/>
          <p:nvPr/>
        </p:nvSpPr>
        <p:spPr>
          <a:xfrm>
            <a:off x="2855104" y="2574067"/>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a:t>
            </a:r>
            <a:endParaRPr lang="en-US" b="1" dirty="0"/>
          </a:p>
        </p:txBody>
      </p:sp>
      <p:sp>
        <p:nvSpPr>
          <p:cNvPr id="32" name="TextBox 31"/>
          <p:cNvSpPr txBox="1"/>
          <p:nvPr/>
        </p:nvSpPr>
        <p:spPr>
          <a:xfrm>
            <a:off x="4517571" y="2568391"/>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3</a:t>
            </a:r>
            <a:endParaRPr lang="en-US" b="1" dirty="0"/>
          </a:p>
        </p:txBody>
      </p:sp>
      <p:sp>
        <p:nvSpPr>
          <p:cNvPr id="33" name="TextBox 32"/>
          <p:cNvSpPr txBox="1"/>
          <p:nvPr/>
        </p:nvSpPr>
        <p:spPr>
          <a:xfrm>
            <a:off x="2823915" y="4950503"/>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2</a:t>
            </a:r>
            <a:endParaRPr lang="en-US" b="1" dirty="0"/>
          </a:p>
        </p:txBody>
      </p:sp>
      <p:sp>
        <p:nvSpPr>
          <p:cNvPr id="34" name="TextBox 33"/>
          <p:cNvSpPr txBox="1"/>
          <p:nvPr/>
        </p:nvSpPr>
        <p:spPr>
          <a:xfrm>
            <a:off x="4629792" y="4959933"/>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a:t>
            </a:r>
            <a:endParaRPr lang="en-US" b="1" dirty="0"/>
          </a:p>
        </p:txBody>
      </p:sp>
      <p:cxnSp>
        <p:nvCxnSpPr>
          <p:cNvPr id="35" name="Straight Connector 34"/>
          <p:cNvCxnSpPr/>
          <p:nvPr/>
        </p:nvCxnSpPr>
        <p:spPr>
          <a:xfrm>
            <a:off x="3021279" y="3400599"/>
            <a:ext cx="0" cy="1143000"/>
          </a:xfrm>
          <a:prstGeom prst="line">
            <a:avLst/>
          </a:prstGeom>
          <a:ln w="28575"/>
        </p:spPr>
        <p:style>
          <a:lnRef idx="3">
            <a:schemeClr val="dk1"/>
          </a:lnRef>
          <a:fillRef idx="0">
            <a:schemeClr val="dk1"/>
          </a:fillRef>
          <a:effectRef idx="2">
            <a:schemeClr val="dk1"/>
          </a:effectRef>
          <a:fontRef idx="minor">
            <a:schemeClr val="tx1"/>
          </a:fontRef>
        </p:style>
      </p:cxnSp>
      <p:sp>
        <p:nvSpPr>
          <p:cNvPr id="36" name="TextBox 35"/>
          <p:cNvSpPr txBox="1"/>
          <p:nvPr/>
        </p:nvSpPr>
        <p:spPr>
          <a:xfrm>
            <a:off x="5618396" y="4125305"/>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9</a:t>
            </a:r>
          </a:p>
        </p:txBody>
      </p:sp>
      <p:cxnSp>
        <p:nvCxnSpPr>
          <p:cNvPr id="37" name="Straight Connector 36"/>
          <p:cNvCxnSpPr>
            <a:stCxn id="9" idx="6"/>
            <a:endCxn id="11" idx="2"/>
          </p:cNvCxnSpPr>
          <p:nvPr/>
        </p:nvCxnSpPr>
        <p:spPr>
          <a:xfrm>
            <a:off x="3200400" y="3205071"/>
            <a:ext cx="1295400" cy="0"/>
          </a:xfrm>
          <a:prstGeom prst="line">
            <a:avLst/>
          </a:prstGeom>
          <a:ln w="28575"/>
        </p:spPr>
        <p:style>
          <a:lnRef idx="3">
            <a:schemeClr val="dk1"/>
          </a:lnRef>
          <a:fillRef idx="0">
            <a:schemeClr val="dk1"/>
          </a:fillRef>
          <a:effectRef idx="2">
            <a:schemeClr val="dk1"/>
          </a:effectRef>
          <a:fontRef idx="minor">
            <a:schemeClr val="tx1"/>
          </a:fontRef>
        </p:style>
      </p:cxnSp>
      <p:sp>
        <p:nvSpPr>
          <p:cNvPr id="39" name="TextBox 38"/>
          <p:cNvSpPr txBox="1"/>
          <p:nvPr/>
        </p:nvSpPr>
        <p:spPr>
          <a:xfrm>
            <a:off x="1747432" y="1295400"/>
            <a:ext cx="5451492" cy="369332"/>
          </a:xfrm>
          <a:prstGeom prst="rect">
            <a:avLst/>
          </a:prstGeom>
          <a:noFill/>
        </p:spPr>
        <p:txBody>
          <a:bodyPr wrap="none" rtlCol="0">
            <a:spAutoFit/>
          </a:bodyPr>
          <a:lstStyle/>
          <a:p>
            <a:r>
              <a:rPr lang="en-IN" dirty="0"/>
              <a:t>Cost of going to E via D = </a:t>
            </a:r>
            <a:r>
              <a:rPr lang="en-IN" dirty="0" err="1"/>
              <a:t>dist</a:t>
            </a:r>
            <a:r>
              <a:rPr lang="en-IN" dirty="0"/>
              <a:t>[D] + cost[D][E] = 3 + </a:t>
            </a:r>
            <a:r>
              <a:rPr lang="en-US" b="1" dirty="0"/>
              <a:t>7</a:t>
            </a:r>
            <a:r>
              <a:rPr lang="en-IN" dirty="0"/>
              <a:t> = </a:t>
            </a:r>
            <a:r>
              <a:rPr lang="en-US" b="1" dirty="0"/>
              <a:t>10</a:t>
            </a:r>
            <a:endParaRPr lang="en-US" dirty="0"/>
          </a:p>
        </p:txBody>
      </p:sp>
      <p:sp>
        <p:nvSpPr>
          <p:cNvPr id="40" name="TextBox 39"/>
          <p:cNvSpPr txBox="1"/>
          <p:nvPr/>
        </p:nvSpPr>
        <p:spPr>
          <a:xfrm>
            <a:off x="1752601" y="1644184"/>
            <a:ext cx="5208477" cy="369332"/>
          </a:xfrm>
          <a:prstGeom prst="rect">
            <a:avLst/>
          </a:prstGeom>
          <a:noFill/>
        </p:spPr>
        <p:txBody>
          <a:bodyPr wrap="none" rtlCol="0">
            <a:spAutoFit/>
          </a:bodyPr>
          <a:lstStyle/>
          <a:p>
            <a:r>
              <a:rPr lang="en-IN" dirty="0"/>
              <a:t>Cost of going to F via D = </a:t>
            </a:r>
            <a:r>
              <a:rPr lang="en-IN" dirty="0" err="1"/>
              <a:t>dist</a:t>
            </a:r>
            <a:r>
              <a:rPr lang="en-IN" dirty="0"/>
              <a:t>[D] + cost[D][F] = 3 + </a:t>
            </a:r>
            <a:r>
              <a:rPr lang="en-US" b="1" dirty="0"/>
              <a:t>6</a:t>
            </a:r>
            <a:r>
              <a:rPr lang="en-IN" dirty="0"/>
              <a:t> = </a:t>
            </a:r>
            <a:r>
              <a:rPr lang="en-US" b="1" dirty="0"/>
              <a:t>9</a:t>
            </a:r>
            <a:endParaRPr lang="en-US" dirty="0"/>
          </a:p>
        </p:txBody>
      </p:sp>
      <p:cxnSp>
        <p:nvCxnSpPr>
          <p:cNvPr id="41" name="Straight Connector 40"/>
          <p:cNvCxnSpPr>
            <a:stCxn id="9" idx="5"/>
            <a:endCxn id="12" idx="1"/>
          </p:cNvCxnSpPr>
          <p:nvPr/>
        </p:nvCxnSpPr>
        <p:spPr>
          <a:xfrm>
            <a:off x="3144604" y="3339775"/>
            <a:ext cx="1406992" cy="1254592"/>
          </a:xfrm>
          <a:prstGeom prst="line">
            <a:avLst/>
          </a:prstGeom>
          <a:ln w="28575"/>
        </p:spPr>
        <p:style>
          <a:lnRef idx="3">
            <a:schemeClr val="dk1"/>
          </a:lnRef>
          <a:fillRef idx="0">
            <a:schemeClr val="dk1"/>
          </a:fillRef>
          <a:effectRef idx="2">
            <a:schemeClr val="dk1"/>
          </a:effectRef>
          <a:fontRef idx="minor">
            <a:schemeClr val="tx1"/>
          </a:fontRef>
        </p:style>
      </p:cxnSp>
      <p:cxnSp>
        <p:nvCxnSpPr>
          <p:cNvPr id="42" name="Straight Connector 41"/>
          <p:cNvCxnSpPr>
            <a:stCxn id="11" idx="5"/>
            <a:endCxn id="13" idx="1"/>
          </p:cNvCxnSpPr>
          <p:nvPr/>
        </p:nvCxnSpPr>
        <p:spPr>
          <a:xfrm>
            <a:off x="4821004" y="3339775"/>
            <a:ext cx="797392" cy="416392"/>
          </a:xfrm>
          <a:prstGeom prst="line">
            <a:avLst/>
          </a:prstGeom>
        </p:spPr>
        <p:style>
          <a:lnRef idx="3">
            <a:schemeClr val="dk1"/>
          </a:lnRef>
          <a:fillRef idx="0">
            <a:schemeClr val="dk1"/>
          </a:fillRef>
          <a:effectRef idx="2">
            <a:schemeClr val="dk1"/>
          </a:effectRef>
          <a:fontRef idx="minor">
            <a:schemeClr val="tx1"/>
          </a:fontRef>
        </p:style>
      </p:cxnSp>
      <p:graphicFrame>
        <p:nvGraphicFramePr>
          <p:cNvPr id="43" name="Table 42"/>
          <p:cNvGraphicFramePr>
            <a:graphicFrameLocks noGrp="1"/>
          </p:cNvGraphicFramePr>
          <p:nvPr>
            <p:extLst>
              <p:ext uri="{D42A27DB-BD31-4B8C-83A1-F6EECF244321}">
                <p14:modId xmlns:p14="http://schemas.microsoft.com/office/powerpoint/2010/main" val="2734898739"/>
              </p:ext>
            </p:extLst>
          </p:nvPr>
        </p:nvGraphicFramePr>
        <p:xfrm>
          <a:off x="8001001" y="3863791"/>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r>
                        <a:rPr lang="en-IN" sz="2400" b="1" dirty="0"/>
                        <a:t>1</a:t>
                      </a:r>
                      <a:endParaRPr lang="en-US" sz="2400" b="1" dirty="0"/>
                    </a:p>
                  </a:txBody>
                  <a:tcPr/>
                </a:tc>
                <a:tc>
                  <a:txBody>
                    <a:bodyPr/>
                    <a:lstStyle/>
                    <a:p>
                      <a:pPr algn="ctr"/>
                      <a:r>
                        <a:rPr lang="en-IN" sz="2400" b="1" dirty="0"/>
                        <a:t>2</a:t>
                      </a:r>
                      <a:endParaRPr lang="en-US" sz="2400" b="1" dirty="0"/>
                    </a:p>
                  </a:txBody>
                  <a:tcPr/>
                </a:tc>
                <a:tc>
                  <a:txBody>
                    <a:bodyPr/>
                    <a:lstStyle/>
                    <a:p>
                      <a:pPr algn="ctr"/>
                      <a:r>
                        <a:rPr lang="en-US" sz="2400" b="1" dirty="0"/>
                        <a:t>3</a:t>
                      </a:r>
                    </a:p>
                  </a:txBody>
                  <a:tcPr/>
                </a:tc>
                <a:tc>
                  <a:txBody>
                    <a:bodyPr/>
                    <a:lstStyle/>
                    <a:p>
                      <a:pPr algn="ctr"/>
                      <a:r>
                        <a:rPr lang="en-US" sz="2400" b="1" dirty="0"/>
                        <a:t>5</a:t>
                      </a:r>
                    </a:p>
                  </a:txBody>
                  <a:tcPr/>
                </a:tc>
                <a:tc>
                  <a:txBody>
                    <a:bodyPr/>
                    <a:lstStyle/>
                    <a:p>
                      <a:pPr algn="ctr"/>
                      <a:r>
                        <a:rPr lang="en-US" sz="2400" b="1" dirty="0"/>
                        <a:t>9</a:t>
                      </a:r>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IN" sz="2400" b="1" dirty="0"/>
                        <a:t>1</a:t>
                      </a:r>
                      <a:endParaRPr lang="en-US" sz="2400" b="1" dirty="0"/>
                    </a:p>
                  </a:txBody>
                  <a:tcPr/>
                </a:tc>
                <a:tc>
                  <a:txBody>
                    <a:bodyPr/>
                    <a:lstStyle/>
                    <a:p>
                      <a:pPr algn="ctr"/>
                      <a:r>
                        <a:rPr lang="en-IN" sz="2400" b="1" dirty="0"/>
                        <a:t>0</a:t>
                      </a:r>
                      <a:endParaRPr lang="en-US" sz="2400" b="1" dirty="0"/>
                    </a:p>
                  </a:txBody>
                  <a:tcPr/>
                </a:tc>
                <a:tc>
                  <a:txBody>
                    <a:bodyPr/>
                    <a:lstStyle/>
                    <a:p>
                      <a:pPr algn="ctr"/>
                      <a:r>
                        <a:rPr lang="en-IN" sz="2400" b="1" dirty="0"/>
                        <a:t>0</a:t>
                      </a:r>
                      <a:endParaRPr lang="en-US" sz="2400" b="1" dirty="0"/>
                    </a:p>
                  </a:txBody>
                  <a:tcPr/>
                </a:tc>
                <a:extLst>
                  <a:ext uri="{0D108BD9-81ED-4DB2-BD59-A6C34878D82A}">
                    <a16:rowId xmlns:a16="http://schemas.microsoft.com/office/drawing/2014/main" val="10002"/>
                  </a:ext>
                </a:extLst>
              </a:tr>
            </a:tbl>
          </a:graphicData>
        </a:graphic>
      </p:graphicFrame>
      <p:sp>
        <p:nvSpPr>
          <p:cNvPr id="44" name="Rectangle 43"/>
          <p:cNvSpPr/>
          <p:nvPr/>
        </p:nvSpPr>
        <p:spPr>
          <a:xfrm>
            <a:off x="6629400" y="4376898"/>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45" name="Rectangle 44"/>
          <p:cNvSpPr/>
          <p:nvPr/>
        </p:nvSpPr>
        <p:spPr>
          <a:xfrm>
            <a:off x="6629400" y="4795357"/>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sp>
        <p:nvSpPr>
          <p:cNvPr id="46" name="TextBox 45"/>
          <p:cNvSpPr txBox="1"/>
          <p:nvPr/>
        </p:nvSpPr>
        <p:spPr>
          <a:xfrm>
            <a:off x="8046769" y="4776627"/>
            <a:ext cx="369012" cy="461665"/>
          </a:xfrm>
          <a:prstGeom prst="rect">
            <a:avLst/>
          </a:prstGeom>
          <a:noFill/>
        </p:spPr>
        <p:txBody>
          <a:bodyPr wrap="none" rtlCol="0">
            <a:spAutoFit/>
          </a:bodyPr>
          <a:lstStyle/>
          <a:p>
            <a:pPr algn="ctr"/>
            <a:r>
              <a:rPr lang="en-US" sz="2400" b="1" dirty="0"/>
              <a:t>A</a:t>
            </a:r>
            <a:endParaRPr lang="en-US" sz="2400" dirty="0"/>
          </a:p>
        </p:txBody>
      </p:sp>
      <p:sp>
        <p:nvSpPr>
          <p:cNvPr id="47" name="TextBox 46"/>
          <p:cNvSpPr txBox="1"/>
          <p:nvPr/>
        </p:nvSpPr>
        <p:spPr>
          <a:xfrm>
            <a:off x="8434377" y="4779591"/>
            <a:ext cx="369012" cy="461665"/>
          </a:xfrm>
          <a:prstGeom prst="rect">
            <a:avLst/>
          </a:prstGeom>
          <a:noFill/>
        </p:spPr>
        <p:txBody>
          <a:bodyPr wrap="none" rtlCol="0">
            <a:spAutoFit/>
          </a:bodyPr>
          <a:lstStyle/>
          <a:p>
            <a:pPr algn="ctr"/>
            <a:r>
              <a:rPr lang="en-US" sz="2400" b="1" dirty="0"/>
              <a:t>A</a:t>
            </a:r>
            <a:endParaRPr lang="en-US" sz="2400" dirty="0"/>
          </a:p>
        </p:txBody>
      </p:sp>
      <p:sp>
        <p:nvSpPr>
          <p:cNvPr id="48" name="TextBox 47"/>
          <p:cNvSpPr txBox="1"/>
          <p:nvPr/>
        </p:nvSpPr>
        <p:spPr>
          <a:xfrm>
            <a:off x="8858665" y="4775125"/>
            <a:ext cx="357790" cy="461665"/>
          </a:xfrm>
          <a:prstGeom prst="rect">
            <a:avLst/>
          </a:prstGeom>
          <a:noFill/>
        </p:spPr>
        <p:txBody>
          <a:bodyPr wrap="none" rtlCol="0">
            <a:spAutoFit/>
          </a:bodyPr>
          <a:lstStyle/>
          <a:p>
            <a:pPr algn="ctr"/>
            <a:r>
              <a:rPr lang="en-IN" sz="2400" b="1" dirty="0"/>
              <a:t>B</a:t>
            </a:r>
            <a:endParaRPr lang="en-US" sz="2400" dirty="0"/>
          </a:p>
        </p:txBody>
      </p:sp>
      <p:sp>
        <p:nvSpPr>
          <p:cNvPr id="49" name="TextBox 48"/>
          <p:cNvSpPr txBox="1"/>
          <p:nvPr/>
        </p:nvSpPr>
        <p:spPr>
          <a:xfrm>
            <a:off x="3659208" y="4344169"/>
            <a:ext cx="362343" cy="369332"/>
          </a:xfrm>
          <a:prstGeom prst="rect">
            <a:avLst/>
          </a:prstGeom>
          <a:noFill/>
        </p:spPr>
        <p:txBody>
          <a:bodyPr wrap="square" rtlCol="0">
            <a:spAutoFit/>
          </a:bodyPr>
          <a:lstStyle/>
          <a:p>
            <a:r>
              <a:rPr lang="en-IN" b="1" dirty="0"/>
              <a:t>5</a:t>
            </a:r>
            <a:endParaRPr lang="en-US" b="1" dirty="0"/>
          </a:p>
        </p:txBody>
      </p:sp>
    </p:spTree>
    <p:extLst>
      <p:ext uri="{BB962C8B-B14F-4D97-AF65-F5344CB8AC3E}">
        <p14:creationId xmlns:p14="http://schemas.microsoft.com/office/powerpoint/2010/main" val="3486973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mph" presetSubtype="2" fill="hold" nodeType="withEffect">
                                  <p:stCondLst>
                                    <p:cond delay="0"/>
                                  </p:stCondLst>
                                  <p:childTnLst>
                                    <p:animClr clrSpc="rgb" dir="cw">
                                      <p:cBhvr>
                                        <p:cTn id="80" dur="10" fill="hold"/>
                                        <p:tgtEl>
                                          <p:spTgt spid="11"/>
                                        </p:tgtEl>
                                        <p:attrNameLst>
                                          <p:attrName>fillcolor</p:attrName>
                                        </p:attrNameLst>
                                      </p:cBhvr>
                                      <p:to>
                                        <a:schemeClr val="accent2"/>
                                      </p:to>
                                    </p:animClr>
                                    <p:set>
                                      <p:cBhvr>
                                        <p:cTn id="81" dur="10" fill="hold"/>
                                        <p:tgtEl>
                                          <p:spTgt spid="11"/>
                                        </p:tgtEl>
                                        <p:attrNameLst>
                                          <p:attrName>fill.type</p:attrName>
                                        </p:attrNameLst>
                                      </p:cBhvr>
                                      <p:to>
                                        <p:strVal val="solid"/>
                                      </p:to>
                                    </p:set>
                                    <p:set>
                                      <p:cBhvr>
                                        <p:cTn id="82" dur="10" fill="hold"/>
                                        <p:tgtEl>
                                          <p:spTgt spid="11"/>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8" grpId="0" animBg="1"/>
      <p:bldP spid="9" grpId="0" animBg="1"/>
      <p:bldP spid="10" grpId="0" animBg="1"/>
      <p:bldP spid="11" grpId="0" animBg="1"/>
      <p:bldP spid="12" grpId="0" animBg="1"/>
      <p:bldP spid="13" grpId="0" animBg="1"/>
      <p:bldP spid="23" grpId="0"/>
      <p:bldP spid="24" grpId="0"/>
      <p:bldP spid="25" grpId="0"/>
      <p:bldP spid="26" grpId="0"/>
      <p:bldP spid="27" grpId="0"/>
      <p:bldP spid="28" grpId="0"/>
      <p:bldP spid="29" grpId="0"/>
      <p:bldP spid="30" grpId="0"/>
      <p:bldP spid="31" grpId="0" animBg="1"/>
      <p:bldP spid="32" grpId="0" animBg="1"/>
      <p:bldP spid="33" grpId="0" animBg="1"/>
      <p:bldP spid="34" grpId="0" animBg="1"/>
      <p:bldP spid="36" grpId="0" animBg="1"/>
      <p:bldP spid="39" grpId="0"/>
      <p:bldP spid="40" grpId="0"/>
      <p:bldP spid="44" grpId="0" animBg="1"/>
      <p:bldP spid="45" grpId="0" animBg="1"/>
      <p:bldP spid="46" grpId="0"/>
      <p:bldP spid="47" grpId="0"/>
      <p:bldP spid="48" grpId="0"/>
      <p:bldP spid="4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Dijkstra</a:t>
            </a:r>
            <a:r>
              <a:rPr lang="en-IN" dirty="0"/>
              <a:t> Algorithm – Shortest Path</a:t>
            </a:r>
            <a:endParaRPr lang="en-US" dirty="0"/>
          </a:p>
        </p:txBody>
      </p:sp>
      <p:sp>
        <p:nvSpPr>
          <p:cNvPr id="4" name="TextBox 3"/>
          <p:cNvSpPr txBox="1"/>
          <p:nvPr/>
        </p:nvSpPr>
        <p:spPr>
          <a:xfrm>
            <a:off x="1732383" y="913818"/>
            <a:ext cx="6706772" cy="369332"/>
          </a:xfrm>
          <a:prstGeom prst="rect">
            <a:avLst/>
          </a:prstGeom>
          <a:noFill/>
        </p:spPr>
        <p:txBody>
          <a:bodyPr wrap="none" rtlCol="0">
            <a:spAutoFit/>
          </a:bodyPr>
          <a:lstStyle/>
          <a:p>
            <a:r>
              <a:rPr lang="en-IN" b="1" dirty="0"/>
              <a:t>4</a:t>
            </a:r>
            <a:r>
              <a:rPr lang="en-IN" b="1" baseline="30000" dirty="0"/>
              <a:t>th</a:t>
            </a:r>
            <a:r>
              <a:rPr lang="en-IN" b="1" dirty="0"/>
              <a:t> Iteration: </a:t>
            </a:r>
            <a:r>
              <a:rPr lang="en-IN" dirty="0"/>
              <a:t>Select </a:t>
            </a:r>
            <a:r>
              <a:rPr lang="en-IN" b="1" dirty="0"/>
              <a:t>Vertex E</a:t>
            </a:r>
            <a:r>
              <a:rPr lang="en-IN" dirty="0"/>
              <a:t> via path A – B – E with minimum distance</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370366434"/>
              </p:ext>
            </p:extLst>
          </p:nvPr>
        </p:nvGraphicFramePr>
        <p:xfrm>
          <a:off x="8225672" y="1371600"/>
          <a:ext cx="2387918" cy="111252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C</a:t>
                      </a:r>
                      <a:endParaRPr lang="en-US" sz="1800" b="1" dirty="0"/>
                    </a:p>
                  </a:txBody>
                  <a:tcPr/>
                </a:tc>
                <a:tc>
                  <a:txBody>
                    <a:bodyPr/>
                    <a:lstStyle/>
                    <a:p>
                      <a:pPr algn="ctr"/>
                      <a:r>
                        <a:rPr lang="en-IN" sz="1800" b="1" dirty="0"/>
                        <a:t>D</a:t>
                      </a:r>
                      <a:endParaRPr lang="en-US" sz="1800" b="1" dirty="0"/>
                    </a:p>
                  </a:txBody>
                  <a:tcPr/>
                </a:tc>
                <a:tc>
                  <a:txBody>
                    <a:bodyPr/>
                    <a:lstStyle/>
                    <a:p>
                      <a:pPr algn="ctr"/>
                      <a:r>
                        <a:rPr lang="en-IN" sz="1800" b="1" dirty="0"/>
                        <a:t>E</a:t>
                      </a:r>
                      <a:endParaRPr lang="en-US" sz="1800" b="1" dirty="0"/>
                    </a:p>
                  </a:txBody>
                  <a:tcPr/>
                </a:tc>
                <a:tc>
                  <a:txBody>
                    <a:bodyPr/>
                    <a:lstStyle/>
                    <a:p>
                      <a:pPr algn="ctr"/>
                      <a:r>
                        <a:rPr lang="en-IN" sz="1800" b="1" dirty="0"/>
                        <a:t>F</a:t>
                      </a:r>
                      <a:endParaRPr lang="en-US" sz="1800" b="1" dirty="0"/>
                    </a:p>
                  </a:txBody>
                  <a:tcPr/>
                </a:tc>
                <a:extLst>
                  <a:ext uri="{0D108BD9-81ED-4DB2-BD59-A6C34878D82A}">
                    <a16:rowId xmlns:a16="http://schemas.microsoft.com/office/drawing/2014/main" val="10000"/>
                  </a:ext>
                </a:extLst>
              </a:tr>
              <a:tr h="370840">
                <a:tc>
                  <a:txBody>
                    <a:bodyPr/>
                    <a:lstStyle/>
                    <a:p>
                      <a:pPr algn="ctr"/>
                      <a:r>
                        <a:rPr lang="en-US" sz="1800" b="1" dirty="0"/>
                        <a:t>0</a:t>
                      </a:r>
                    </a:p>
                  </a:txBody>
                  <a:tcPr/>
                </a:tc>
                <a:tc>
                  <a:txBody>
                    <a:bodyPr/>
                    <a:lstStyle/>
                    <a:p>
                      <a:pPr algn="ctr"/>
                      <a:r>
                        <a:rPr lang="en-US" sz="1800" b="1" dirty="0"/>
                        <a:t>1</a:t>
                      </a:r>
                    </a:p>
                  </a:txBody>
                  <a:tcPr/>
                </a:tc>
                <a:tc>
                  <a:txBody>
                    <a:bodyPr/>
                    <a:lstStyle/>
                    <a:p>
                      <a:pPr algn="ctr"/>
                      <a:r>
                        <a:rPr lang="en-US" sz="1800" b="1" dirty="0"/>
                        <a:t>2</a:t>
                      </a:r>
                    </a:p>
                  </a:txBody>
                  <a:tcPr/>
                </a:tc>
                <a:tc>
                  <a:txBody>
                    <a:bodyPr/>
                    <a:lstStyle/>
                    <a:p>
                      <a:pPr algn="ctr"/>
                      <a:r>
                        <a:rPr lang="en-IN" sz="1800" b="1" dirty="0"/>
                        <a:t>3</a:t>
                      </a:r>
                      <a:endParaRPr lang="en-US" sz="1800" b="1" dirty="0"/>
                    </a:p>
                  </a:txBody>
                  <a:tcPr/>
                </a:tc>
                <a:tc>
                  <a:txBody>
                    <a:bodyPr/>
                    <a:lstStyle/>
                    <a:p>
                      <a:pPr algn="ctr"/>
                      <a:r>
                        <a:rPr lang="en-US" sz="1800" b="1" dirty="0"/>
                        <a:t>5</a:t>
                      </a:r>
                    </a:p>
                  </a:txBody>
                  <a:tcPr/>
                </a:tc>
                <a:tc>
                  <a:txBody>
                    <a:bodyPr/>
                    <a:lstStyle/>
                    <a:p>
                      <a:pPr algn="ctr"/>
                      <a:r>
                        <a:rPr lang="en-US" sz="1800" b="1" dirty="0"/>
                        <a:t>9</a:t>
                      </a:r>
                    </a:p>
                  </a:txBody>
                  <a:tcPr/>
                </a:tc>
                <a:extLst>
                  <a:ext uri="{0D108BD9-81ED-4DB2-BD59-A6C34878D82A}">
                    <a16:rowId xmlns:a16="http://schemas.microsoft.com/office/drawing/2014/main" val="10001"/>
                  </a:ext>
                </a:extLst>
              </a:tr>
              <a:tr h="370840">
                <a:tc>
                  <a:txBody>
                    <a:bodyPr/>
                    <a:lstStyle/>
                    <a:p>
                      <a:pPr algn="ctr"/>
                      <a:r>
                        <a:rPr lang="en-IN" sz="1800" b="1" dirty="0"/>
                        <a:t>A</a:t>
                      </a:r>
                      <a:endParaRPr lang="en-US" sz="1800" b="1" dirty="0"/>
                    </a:p>
                  </a:txBody>
                  <a:tcPr/>
                </a:tc>
                <a:tc>
                  <a:txBody>
                    <a:bodyPr/>
                    <a:lstStyle/>
                    <a:p>
                      <a:pPr algn="ctr"/>
                      <a:r>
                        <a:rPr lang="en-IN" sz="1800" b="1" dirty="0"/>
                        <a:t>A</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1</a:t>
                      </a:r>
                      <a:endParaRPr lang="en-US" sz="1800" b="1" dirty="0"/>
                    </a:p>
                  </a:txBody>
                  <a:tcPr/>
                </a:tc>
                <a:tc>
                  <a:txBody>
                    <a:bodyPr/>
                    <a:lstStyle/>
                    <a:p>
                      <a:pPr algn="ctr"/>
                      <a:r>
                        <a:rPr lang="en-IN" sz="1800" b="1" dirty="0"/>
                        <a:t>B</a:t>
                      </a:r>
                      <a:endParaRPr lang="en-US" sz="1800" b="1" dirty="0"/>
                    </a:p>
                  </a:txBody>
                  <a:tcPr/>
                </a:tc>
                <a:tc>
                  <a:txBody>
                    <a:bodyPr/>
                    <a:lstStyle/>
                    <a:p>
                      <a:pPr algn="ctr"/>
                      <a:r>
                        <a:rPr lang="en-IN" sz="1800" b="1" dirty="0"/>
                        <a:t>0</a:t>
                      </a:r>
                      <a:endParaRPr lang="en-US" sz="1800" b="1" dirty="0"/>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7173074" y="1776974"/>
            <a:ext cx="1041148" cy="3215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Distance</a:t>
            </a:r>
            <a:endParaRPr lang="en-US" b="1" dirty="0"/>
          </a:p>
        </p:txBody>
      </p:sp>
      <p:sp>
        <p:nvSpPr>
          <p:cNvPr id="7" name="Rectangle 6"/>
          <p:cNvSpPr/>
          <p:nvPr/>
        </p:nvSpPr>
        <p:spPr>
          <a:xfrm>
            <a:off x="7162800" y="2133788"/>
            <a:ext cx="1041148" cy="336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Visited</a:t>
            </a:r>
            <a:endParaRPr lang="en-US" b="1" dirty="0"/>
          </a:p>
        </p:txBody>
      </p:sp>
      <p:sp>
        <p:nvSpPr>
          <p:cNvPr id="39" name="Oval 38"/>
          <p:cNvSpPr/>
          <p:nvPr/>
        </p:nvSpPr>
        <p:spPr>
          <a:xfrm>
            <a:off x="1752600" y="387518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A</a:t>
            </a:r>
          </a:p>
        </p:txBody>
      </p:sp>
      <p:sp>
        <p:nvSpPr>
          <p:cNvPr id="40" name="Oval 39"/>
          <p:cNvSpPr/>
          <p:nvPr/>
        </p:nvSpPr>
        <p:spPr>
          <a:xfrm>
            <a:off x="2819400" y="3189380"/>
            <a:ext cx="381000" cy="381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B</a:t>
            </a:r>
          </a:p>
        </p:txBody>
      </p:sp>
      <p:sp>
        <p:nvSpPr>
          <p:cNvPr id="41" name="Oval 40"/>
          <p:cNvSpPr/>
          <p:nvPr/>
        </p:nvSpPr>
        <p:spPr>
          <a:xfrm>
            <a:off x="2819400" y="471338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2" name="Oval 41"/>
          <p:cNvSpPr/>
          <p:nvPr/>
        </p:nvSpPr>
        <p:spPr>
          <a:xfrm>
            <a:off x="4495800" y="318938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3" name="Oval 42"/>
          <p:cNvSpPr/>
          <p:nvPr/>
        </p:nvSpPr>
        <p:spPr>
          <a:xfrm>
            <a:off x="4495800" y="471338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E</a:t>
            </a:r>
            <a:endParaRPr lang="en-US" sz="2400" b="1" dirty="0"/>
          </a:p>
        </p:txBody>
      </p:sp>
      <p:sp>
        <p:nvSpPr>
          <p:cNvPr id="44" name="Oval 43"/>
          <p:cNvSpPr/>
          <p:nvPr/>
        </p:nvSpPr>
        <p:spPr>
          <a:xfrm>
            <a:off x="5562600" y="387518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45" name="Straight Connector 44"/>
          <p:cNvCxnSpPr>
            <a:stCxn id="39" idx="7"/>
            <a:endCxn id="40" idx="3"/>
          </p:cNvCxnSpPr>
          <p:nvPr/>
        </p:nvCxnSpPr>
        <p:spPr>
          <a:xfrm flipV="1">
            <a:off x="2077804" y="3514584"/>
            <a:ext cx="797392" cy="416392"/>
          </a:xfrm>
          <a:prstGeom prst="line">
            <a:avLst/>
          </a:prstGeom>
          <a:ln w="28575"/>
        </p:spPr>
        <p:style>
          <a:lnRef idx="3">
            <a:schemeClr val="dk1"/>
          </a:lnRef>
          <a:fillRef idx="0">
            <a:schemeClr val="dk1"/>
          </a:fillRef>
          <a:effectRef idx="2">
            <a:schemeClr val="dk1"/>
          </a:effectRef>
          <a:fontRef idx="minor">
            <a:schemeClr val="tx1"/>
          </a:fontRef>
        </p:style>
      </p:cxnSp>
      <p:cxnSp>
        <p:nvCxnSpPr>
          <p:cNvPr id="46" name="Straight Connector 45"/>
          <p:cNvCxnSpPr>
            <a:stCxn id="40" idx="6"/>
            <a:endCxn id="42" idx="2"/>
          </p:cNvCxnSpPr>
          <p:nvPr/>
        </p:nvCxnSpPr>
        <p:spPr>
          <a:xfrm>
            <a:off x="3200400" y="337988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2" idx="5"/>
            <a:endCxn id="44" idx="1"/>
          </p:cNvCxnSpPr>
          <p:nvPr/>
        </p:nvCxnSpPr>
        <p:spPr>
          <a:xfrm>
            <a:off x="4821004" y="3514584"/>
            <a:ext cx="797392" cy="4163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8" name="Straight Connector 47"/>
          <p:cNvCxnSpPr>
            <a:stCxn id="39" idx="5"/>
            <a:endCxn id="41" idx="1"/>
          </p:cNvCxnSpPr>
          <p:nvPr/>
        </p:nvCxnSpPr>
        <p:spPr>
          <a:xfrm>
            <a:off x="2077804" y="420038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9" name="Straight Connector 48"/>
          <p:cNvCxnSpPr>
            <a:stCxn id="41" idx="6"/>
            <a:endCxn id="43" idx="2"/>
          </p:cNvCxnSpPr>
          <p:nvPr/>
        </p:nvCxnSpPr>
        <p:spPr>
          <a:xfrm>
            <a:off x="3200400" y="4903880"/>
            <a:ext cx="12954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0" name="Straight Connector 49"/>
          <p:cNvCxnSpPr>
            <a:stCxn id="43" idx="7"/>
            <a:endCxn id="44" idx="3"/>
          </p:cNvCxnSpPr>
          <p:nvPr/>
        </p:nvCxnSpPr>
        <p:spPr>
          <a:xfrm flipV="1">
            <a:off x="4821004" y="4200384"/>
            <a:ext cx="797392" cy="5687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1" name="Straight Connector 50"/>
          <p:cNvCxnSpPr>
            <a:stCxn id="40" idx="4"/>
            <a:endCxn id="41" idx="0"/>
          </p:cNvCxnSpPr>
          <p:nvPr/>
        </p:nvCxnSpPr>
        <p:spPr>
          <a:xfrm>
            <a:off x="3009900" y="357038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2" idx="4"/>
            <a:endCxn id="43" idx="0"/>
          </p:cNvCxnSpPr>
          <p:nvPr/>
        </p:nvCxnSpPr>
        <p:spPr>
          <a:xfrm>
            <a:off x="4686300" y="3570380"/>
            <a:ext cx="0" cy="1143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0" idx="5"/>
            <a:endCxn id="43" idx="1"/>
          </p:cNvCxnSpPr>
          <p:nvPr/>
        </p:nvCxnSpPr>
        <p:spPr>
          <a:xfrm>
            <a:off x="3144604" y="3514584"/>
            <a:ext cx="1406992" cy="125459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54" name="TextBox 53"/>
          <p:cNvSpPr txBox="1"/>
          <p:nvPr/>
        </p:nvSpPr>
        <p:spPr>
          <a:xfrm>
            <a:off x="2337189" y="3660274"/>
            <a:ext cx="301686" cy="369332"/>
          </a:xfrm>
          <a:prstGeom prst="rect">
            <a:avLst/>
          </a:prstGeom>
          <a:noFill/>
        </p:spPr>
        <p:txBody>
          <a:bodyPr wrap="none" rtlCol="0">
            <a:spAutoFit/>
          </a:bodyPr>
          <a:lstStyle/>
          <a:p>
            <a:r>
              <a:rPr lang="en-IN" b="1" dirty="0"/>
              <a:t>1</a:t>
            </a:r>
            <a:endParaRPr lang="en-US" b="1" dirty="0"/>
          </a:p>
        </p:txBody>
      </p:sp>
      <p:sp>
        <p:nvSpPr>
          <p:cNvPr id="55" name="TextBox 54"/>
          <p:cNvSpPr txBox="1"/>
          <p:nvPr/>
        </p:nvSpPr>
        <p:spPr>
          <a:xfrm>
            <a:off x="2713656" y="3915876"/>
            <a:ext cx="301686" cy="369332"/>
          </a:xfrm>
          <a:prstGeom prst="rect">
            <a:avLst/>
          </a:prstGeom>
          <a:noFill/>
        </p:spPr>
        <p:txBody>
          <a:bodyPr wrap="none" rtlCol="0">
            <a:spAutoFit/>
          </a:bodyPr>
          <a:lstStyle/>
          <a:p>
            <a:r>
              <a:rPr lang="en-IN" b="1" dirty="0"/>
              <a:t>1</a:t>
            </a:r>
            <a:endParaRPr lang="en-US" b="1" dirty="0"/>
          </a:p>
        </p:txBody>
      </p:sp>
      <p:sp>
        <p:nvSpPr>
          <p:cNvPr id="56" name="TextBox 55"/>
          <p:cNvSpPr txBox="1"/>
          <p:nvPr/>
        </p:nvSpPr>
        <p:spPr>
          <a:xfrm>
            <a:off x="2335931" y="4152154"/>
            <a:ext cx="301686" cy="369332"/>
          </a:xfrm>
          <a:prstGeom prst="rect">
            <a:avLst/>
          </a:prstGeom>
          <a:noFill/>
        </p:spPr>
        <p:txBody>
          <a:bodyPr wrap="none" rtlCol="0">
            <a:spAutoFit/>
          </a:bodyPr>
          <a:lstStyle/>
          <a:p>
            <a:r>
              <a:rPr lang="en-IN" b="1" dirty="0"/>
              <a:t>5</a:t>
            </a:r>
            <a:endParaRPr lang="en-US" b="1" dirty="0"/>
          </a:p>
        </p:txBody>
      </p:sp>
      <p:sp>
        <p:nvSpPr>
          <p:cNvPr id="57" name="TextBox 56"/>
          <p:cNvSpPr txBox="1"/>
          <p:nvPr/>
        </p:nvSpPr>
        <p:spPr>
          <a:xfrm>
            <a:off x="3660714" y="3036980"/>
            <a:ext cx="301686" cy="369332"/>
          </a:xfrm>
          <a:prstGeom prst="rect">
            <a:avLst/>
          </a:prstGeom>
          <a:noFill/>
        </p:spPr>
        <p:txBody>
          <a:bodyPr wrap="none" rtlCol="0">
            <a:spAutoFit/>
          </a:bodyPr>
          <a:lstStyle/>
          <a:p>
            <a:r>
              <a:rPr lang="en-IN" b="1" dirty="0"/>
              <a:t>2</a:t>
            </a:r>
            <a:endParaRPr lang="en-US" b="1" dirty="0"/>
          </a:p>
        </p:txBody>
      </p:sp>
      <p:sp>
        <p:nvSpPr>
          <p:cNvPr id="58" name="TextBox 57"/>
          <p:cNvSpPr txBox="1"/>
          <p:nvPr/>
        </p:nvSpPr>
        <p:spPr>
          <a:xfrm>
            <a:off x="3736914" y="3798980"/>
            <a:ext cx="301686" cy="369332"/>
          </a:xfrm>
          <a:prstGeom prst="rect">
            <a:avLst/>
          </a:prstGeom>
          <a:noFill/>
        </p:spPr>
        <p:txBody>
          <a:bodyPr wrap="none" rtlCol="0">
            <a:spAutoFit/>
          </a:bodyPr>
          <a:lstStyle/>
          <a:p>
            <a:r>
              <a:rPr lang="en-IN" b="1" dirty="0"/>
              <a:t>4</a:t>
            </a:r>
            <a:endParaRPr lang="en-US" b="1" dirty="0"/>
          </a:p>
        </p:txBody>
      </p:sp>
      <p:sp>
        <p:nvSpPr>
          <p:cNvPr id="59" name="TextBox 58"/>
          <p:cNvSpPr txBox="1"/>
          <p:nvPr/>
        </p:nvSpPr>
        <p:spPr>
          <a:xfrm>
            <a:off x="4669458" y="3886848"/>
            <a:ext cx="301686" cy="369332"/>
          </a:xfrm>
          <a:prstGeom prst="rect">
            <a:avLst/>
          </a:prstGeom>
          <a:noFill/>
        </p:spPr>
        <p:txBody>
          <a:bodyPr wrap="none" rtlCol="0">
            <a:spAutoFit/>
          </a:bodyPr>
          <a:lstStyle/>
          <a:p>
            <a:r>
              <a:rPr lang="en-IN" b="1" dirty="0"/>
              <a:t>7</a:t>
            </a:r>
            <a:endParaRPr lang="en-US" b="1" dirty="0"/>
          </a:p>
        </p:txBody>
      </p:sp>
      <p:sp>
        <p:nvSpPr>
          <p:cNvPr id="60" name="TextBox 59"/>
          <p:cNvSpPr txBox="1"/>
          <p:nvPr/>
        </p:nvSpPr>
        <p:spPr>
          <a:xfrm>
            <a:off x="5130288" y="3388952"/>
            <a:ext cx="301686" cy="369332"/>
          </a:xfrm>
          <a:prstGeom prst="rect">
            <a:avLst/>
          </a:prstGeom>
          <a:noFill/>
        </p:spPr>
        <p:txBody>
          <a:bodyPr wrap="none" rtlCol="0">
            <a:spAutoFit/>
          </a:bodyPr>
          <a:lstStyle/>
          <a:p>
            <a:r>
              <a:rPr lang="en-IN" b="1" dirty="0"/>
              <a:t>6</a:t>
            </a:r>
            <a:endParaRPr lang="en-US" b="1" dirty="0"/>
          </a:p>
        </p:txBody>
      </p:sp>
      <p:sp>
        <p:nvSpPr>
          <p:cNvPr id="61" name="TextBox 60"/>
          <p:cNvSpPr txBox="1"/>
          <p:nvPr/>
        </p:nvSpPr>
        <p:spPr>
          <a:xfrm>
            <a:off x="5181600" y="4420248"/>
            <a:ext cx="301686" cy="369332"/>
          </a:xfrm>
          <a:prstGeom prst="rect">
            <a:avLst/>
          </a:prstGeom>
          <a:noFill/>
        </p:spPr>
        <p:txBody>
          <a:bodyPr wrap="none" rtlCol="0">
            <a:spAutoFit/>
          </a:bodyPr>
          <a:lstStyle/>
          <a:p>
            <a:r>
              <a:rPr lang="en-IN" b="1" dirty="0"/>
              <a:t>2</a:t>
            </a:r>
            <a:endParaRPr lang="en-US" b="1" dirty="0"/>
          </a:p>
        </p:txBody>
      </p:sp>
      <p:sp>
        <p:nvSpPr>
          <p:cNvPr id="62" name="TextBox 61"/>
          <p:cNvSpPr txBox="1"/>
          <p:nvPr/>
        </p:nvSpPr>
        <p:spPr>
          <a:xfrm>
            <a:off x="2855104" y="2748876"/>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a:t>
            </a:r>
            <a:endParaRPr lang="en-US" b="1" dirty="0"/>
          </a:p>
        </p:txBody>
      </p:sp>
      <p:sp>
        <p:nvSpPr>
          <p:cNvPr id="63" name="TextBox 62"/>
          <p:cNvSpPr txBox="1"/>
          <p:nvPr/>
        </p:nvSpPr>
        <p:spPr>
          <a:xfrm>
            <a:off x="4517571" y="2743200"/>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3</a:t>
            </a:r>
            <a:endParaRPr lang="en-US" b="1" dirty="0"/>
          </a:p>
        </p:txBody>
      </p:sp>
      <p:sp>
        <p:nvSpPr>
          <p:cNvPr id="64" name="TextBox 63"/>
          <p:cNvSpPr txBox="1"/>
          <p:nvPr/>
        </p:nvSpPr>
        <p:spPr>
          <a:xfrm>
            <a:off x="2823915" y="5125312"/>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2</a:t>
            </a:r>
            <a:endParaRPr lang="en-US" b="1" dirty="0"/>
          </a:p>
        </p:txBody>
      </p:sp>
      <p:sp>
        <p:nvSpPr>
          <p:cNvPr id="65" name="TextBox 64"/>
          <p:cNvSpPr txBox="1"/>
          <p:nvPr/>
        </p:nvSpPr>
        <p:spPr>
          <a:xfrm>
            <a:off x="4553508" y="5125312"/>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a:t>
            </a:r>
            <a:endParaRPr lang="en-US" b="1" dirty="0"/>
          </a:p>
        </p:txBody>
      </p:sp>
      <p:cxnSp>
        <p:nvCxnSpPr>
          <p:cNvPr id="66" name="Straight Connector 65"/>
          <p:cNvCxnSpPr>
            <a:stCxn id="40" idx="4"/>
            <a:endCxn id="41" idx="0"/>
          </p:cNvCxnSpPr>
          <p:nvPr/>
        </p:nvCxnSpPr>
        <p:spPr>
          <a:xfrm>
            <a:off x="3009900" y="3570380"/>
            <a:ext cx="0" cy="1143000"/>
          </a:xfrm>
          <a:prstGeom prst="line">
            <a:avLst/>
          </a:prstGeom>
          <a:ln w="28575"/>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5995982" y="3886848"/>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a:t>7</a:t>
            </a:r>
          </a:p>
        </p:txBody>
      </p:sp>
      <p:cxnSp>
        <p:nvCxnSpPr>
          <p:cNvPr id="68" name="Straight Connector 67"/>
          <p:cNvCxnSpPr>
            <a:stCxn id="40" idx="6"/>
            <a:endCxn id="42" idx="2"/>
          </p:cNvCxnSpPr>
          <p:nvPr/>
        </p:nvCxnSpPr>
        <p:spPr>
          <a:xfrm>
            <a:off x="3200400" y="3379880"/>
            <a:ext cx="1295400"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9" name="Straight Connector 68"/>
          <p:cNvCxnSpPr>
            <a:stCxn id="40" idx="5"/>
            <a:endCxn id="43" idx="1"/>
          </p:cNvCxnSpPr>
          <p:nvPr/>
        </p:nvCxnSpPr>
        <p:spPr>
          <a:xfrm>
            <a:off x="3144604" y="3514584"/>
            <a:ext cx="1406992" cy="1254592"/>
          </a:xfrm>
          <a:prstGeom prst="line">
            <a:avLst/>
          </a:prstGeom>
          <a:ln w="28575"/>
        </p:spPr>
        <p:style>
          <a:lnRef idx="3">
            <a:schemeClr val="dk1"/>
          </a:lnRef>
          <a:fillRef idx="0">
            <a:schemeClr val="dk1"/>
          </a:fillRef>
          <a:effectRef idx="2">
            <a:schemeClr val="dk1"/>
          </a:effectRef>
          <a:fontRef idx="minor">
            <a:schemeClr val="tx1"/>
          </a:fontRef>
        </p:style>
      </p:cxnSp>
      <p:sp>
        <p:nvSpPr>
          <p:cNvPr id="71" name="TextBox 70"/>
          <p:cNvSpPr txBox="1"/>
          <p:nvPr/>
        </p:nvSpPr>
        <p:spPr>
          <a:xfrm>
            <a:off x="1747432" y="1295400"/>
            <a:ext cx="5230278" cy="369332"/>
          </a:xfrm>
          <a:prstGeom prst="rect">
            <a:avLst/>
          </a:prstGeom>
          <a:noFill/>
        </p:spPr>
        <p:txBody>
          <a:bodyPr wrap="none" rtlCol="0">
            <a:spAutoFit/>
          </a:bodyPr>
          <a:lstStyle/>
          <a:p>
            <a:r>
              <a:rPr lang="en-IN" dirty="0"/>
              <a:t>Cost of going to F via E = </a:t>
            </a:r>
            <a:r>
              <a:rPr lang="en-IN" dirty="0" err="1"/>
              <a:t>dist</a:t>
            </a:r>
            <a:r>
              <a:rPr lang="en-IN" dirty="0"/>
              <a:t>[E] + cost[E][F] = 5 + </a:t>
            </a:r>
            <a:r>
              <a:rPr lang="en-US" b="1" dirty="0"/>
              <a:t>2</a:t>
            </a:r>
            <a:r>
              <a:rPr lang="en-IN" dirty="0"/>
              <a:t> = </a:t>
            </a:r>
            <a:r>
              <a:rPr lang="en-US" b="1" dirty="0"/>
              <a:t>7</a:t>
            </a:r>
            <a:endParaRPr lang="en-US" dirty="0"/>
          </a:p>
        </p:txBody>
      </p:sp>
      <p:cxnSp>
        <p:nvCxnSpPr>
          <p:cNvPr id="72" name="Straight Connector 71"/>
          <p:cNvCxnSpPr>
            <a:stCxn id="43" idx="7"/>
            <a:endCxn id="44" idx="3"/>
          </p:cNvCxnSpPr>
          <p:nvPr/>
        </p:nvCxnSpPr>
        <p:spPr>
          <a:xfrm flipV="1">
            <a:off x="4821004" y="4200384"/>
            <a:ext cx="797392" cy="568792"/>
          </a:xfrm>
          <a:prstGeom prst="line">
            <a:avLst/>
          </a:prstGeom>
          <a:ln w="28575"/>
        </p:spPr>
        <p:style>
          <a:lnRef idx="3">
            <a:schemeClr val="dk1"/>
          </a:lnRef>
          <a:fillRef idx="0">
            <a:schemeClr val="dk1"/>
          </a:fillRef>
          <a:effectRef idx="2">
            <a:schemeClr val="dk1"/>
          </a:effectRef>
          <a:fontRef idx="minor">
            <a:schemeClr val="tx1"/>
          </a:fontRef>
        </p:style>
      </p:cxnSp>
      <p:graphicFrame>
        <p:nvGraphicFramePr>
          <p:cNvPr id="73" name="Table 72"/>
          <p:cNvGraphicFramePr>
            <a:graphicFrameLocks noGrp="1"/>
          </p:cNvGraphicFramePr>
          <p:nvPr>
            <p:extLst>
              <p:ext uri="{D42A27DB-BD31-4B8C-83A1-F6EECF244321}">
                <p14:modId xmlns:p14="http://schemas.microsoft.com/office/powerpoint/2010/main" val="389608089"/>
              </p:ext>
            </p:extLst>
          </p:nvPr>
        </p:nvGraphicFramePr>
        <p:xfrm>
          <a:off x="8127682" y="3581400"/>
          <a:ext cx="2387918" cy="1371600"/>
        </p:xfrm>
        <a:graphic>
          <a:graphicData uri="http://schemas.openxmlformats.org/drawingml/2006/table">
            <a:tbl>
              <a:tblPr firstRow="1" bandRow="1">
                <a:tableStyleId>{5C22544A-7EE6-4342-B048-85BDC9FD1C3A}</a:tableStyleId>
              </a:tblPr>
              <a:tblGrid>
                <a:gridCol w="412909">
                  <a:extLst>
                    <a:ext uri="{9D8B030D-6E8A-4147-A177-3AD203B41FA5}">
                      <a16:colId xmlns:a16="http://schemas.microsoft.com/office/drawing/2014/main" val="20000"/>
                    </a:ext>
                  </a:extLst>
                </a:gridCol>
                <a:gridCol w="402375">
                  <a:extLst>
                    <a:ext uri="{9D8B030D-6E8A-4147-A177-3AD203B41FA5}">
                      <a16:colId xmlns:a16="http://schemas.microsoft.com/office/drawing/2014/main" val="20001"/>
                    </a:ext>
                  </a:extLst>
                </a:gridCol>
                <a:gridCol w="445278">
                  <a:extLst>
                    <a:ext uri="{9D8B030D-6E8A-4147-A177-3AD203B41FA5}">
                      <a16:colId xmlns:a16="http://schemas.microsoft.com/office/drawing/2014/main" val="20002"/>
                    </a:ext>
                  </a:extLst>
                </a:gridCol>
                <a:gridCol w="368250">
                  <a:extLst>
                    <a:ext uri="{9D8B030D-6E8A-4147-A177-3AD203B41FA5}">
                      <a16:colId xmlns:a16="http://schemas.microsoft.com/office/drawing/2014/main" val="20003"/>
                    </a:ext>
                  </a:extLst>
                </a:gridCol>
                <a:gridCol w="383064">
                  <a:extLst>
                    <a:ext uri="{9D8B030D-6E8A-4147-A177-3AD203B41FA5}">
                      <a16:colId xmlns:a16="http://schemas.microsoft.com/office/drawing/2014/main" val="20004"/>
                    </a:ext>
                  </a:extLst>
                </a:gridCol>
                <a:gridCol w="376042">
                  <a:extLst>
                    <a:ext uri="{9D8B030D-6E8A-4147-A177-3AD203B41FA5}">
                      <a16:colId xmlns:a16="http://schemas.microsoft.com/office/drawing/2014/main" val="20005"/>
                    </a:ext>
                  </a:extLst>
                </a:gridCol>
              </a:tblGrid>
              <a:tr h="370840">
                <a:tc>
                  <a:txBody>
                    <a:bodyPr/>
                    <a:lstStyle/>
                    <a:p>
                      <a:pPr algn="ctr"/>
                      <a:r>
                        <a:rPr lang="en-IN" sz="2400" b="1" dirty="0"/>
                        <a:t>A</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C</a:t>
                      </a:r>
                      <a:endParaRPr lang="en-US" sz="2400" b="1" dirty="0"/>
                    </a:p>
                  </a:txBody>
                  <a:tcPr/>
                </a:tc>
                <a:tc>
                  <a:txBody>
                    <a:bodyPr/>
                    <a:lstStyle/>
                    <a:p>
                      <a:pPr algn="ctr"/>
                      <a:r>
                        <a:rPr lang="en-IN" sz="2400" b="1" dirty="0"/>
                        <a:t>D</a:t>
                      </a:r>
                      <a:endParaRPr lang="en-US" sz="2400" b="1" dirty="0"/>
                    </a:p>
                  </a:txBody>
                  <a:tcPr/>
                </a:tc>
                <a:tc>
                  <a:txBody>
                    <a:bodyPr/>
                    <a:lstStyle/>
                    <a:p>
                      <a:pPr algn="ctr"/>
                      <a:r>
                        <a:rPr lang="en-IN" sz="2400" b="1" dirty="0"/>
                        <a:t>E</a:t>
                      </a:r>
                      <a:endParaRPr lang="en-US" sz="2400" b="1" dirty="0"/>
                    </a:p>
                  </a:txBody>
                  <a:tcPr/>
                </a:tc>
                <a:tc>
                  <a:txBody>
                    <a:bodyPr/>
                    <a:lstStyle/>
                    <a:p>
                      <a:pPr algn="ctr"/>
                      <a:r>
                        <a:rPr lang="en-IN" sz="2400" b="1" dirty="0"/>
                        <a:t>F</a:t>
                      </a:r>
                      <a:endParaRPr lang="en-US" sz="2400" b="1" dirty="0"/>
                    </a:p>
                  </a:txBody>
                  <a:tcPr/>
                </a:tc>
                <a:extLst>
                  <a:ext uri="{0D108BD9-81ED-4DB2-BD59-A6C34878D82A}">
                    <a16:rowId xmlns:a16="http://schemas.microsoft.com/office/drawing/2014/main" val="10000"/>
                  </a:ext>
                </a:extLst>
              </a:tr>
              <a:tr h="370840">
                <a:tc>
                  <a:txBody>
                    <a:bodyPr/>
                    <a:lstStyle/>
                    <a:p>
                      <a:pPr algn="ctr"/>
                      <a:r>
                        <a:rPr lang="en-US" sz="2400" b="1" dirty="0"/>
                        <a:t>0</a:t>
                      </a:r>
                    </a:p>
                  </a:txBody>
                  <a:tcPr/>
                </a:tc>
                <a:tc>
                  <a:txBody>
                    <a:bodyPr/>
                    <a:lstStyle/>
                    <a:p>
                      <a:pPr algn="ctr"/>
                      <a:r>
                        <a:rPr lang="en-IN" sz="2400" b="1" dirty="0"/>
                        <a:t>1</a:t>
                      </a:r>
                      <a:endParaRPr lang="en-US" sz="2400" b="1" dirty="0"/>
                    </a:p>
                  </a:txBody>
                  <a:tcPr/>
                </a:tc>
                <a:tc>
                  <a:txBody>
                    <a:bodyPr/>
                    <a:lstStyle/>
                    <a:p>
                      <a:pPr algn="ctr"/>
                      <a:r>
                        <a:rPr lang="en-IN" sz="2400" b="1" dirty="0"/>
                        <a:t>2</a:t>
                      </a:r>
                      <a:endParaRPr lang="en-US" sz="2400" b="1" dirty="0"/>
                    </a:p>
                  </a:txBody>
                  <a:tcPr/>
                </a:tc>
                <a:tc>
                  <a:txBody>
                    <a:bodyPr/>
                    <a:lstStyle/>
                    <a:p>
                      <a:pPr algn="ctr"/>
                      <a:r>
                        <a:rPr lang="en-US" sz="2400" b="1" dirty="0"/>
                        <a:t>3</a:t>
                      </a:r>
                    </a:p>
                  </a:txBody>
                  <a:tcPr/>
                </a:tc>
                <a:tc>
                  <a:txBody>
                    <a:bodyPr/>
                    <a:lstStyle/>
                    <a:p>
                      <a:pPr algn="ctr"/>
                      <a:r>
                        <a:rPr lang="en-US" sz="2400" b="1" dirty="0"/>
                        <a:t>5</a:t>
                      </a:r>
                    </a:p>
                  </a:txBody>
                  <a:tcPr/>
                </a:tc>
                <a:tc>
                  <a:txBody>
                    <a:bodyPr/>
                    <a:lstStyle/>
                    <a:p>
                      <a:pPr algn="ctr"/>
                      <a:r>
                        <a:rPr lang="en-US" sz="2400" b="1" dirty="0"/>
                        <a:t>7</a:t>
                      </a:r>
                    </a:p>
                  </a:txBody>
                  <a:tcPr/>
                </a:tc>
                <a:extLst>
                  <a:ext uri="{0D108BD9-81ED-4DB2-BD59-A6C34878D82A}">
                    <a16:rowId xmlns:a16="http://schemas.microsoft.com/office/drawing/2014/main" val="10001"/>
                  </a:ext>
                </a:extLst>
              </a:tr>
              <a:tr h="370840">
                <a:tc>
                  <a:txBody>
                    <a:bodyPr/>
                    <a:lstStyle/>
                    <a:p>
                      <a:pPr algn="ctr"/>
                      <a:endParaRPr lang="en-US" sz="2400" b="1" dirty="0"/>
                    </a:p>
                  </a:txBody>
                  <a:tcPr/>
                </a:tc>
                <a:tc>
                  <a:txBody>
                    <a:bodyPr/>
                    <a:lstStyle/>
                    <a:p>
                      <a:pPr algn="ctr"/>
                      <a:endParaRPr lang="en-US" sz="2400" b="1" dirty="0"/>
                    </a:p>
                  </a:txBody>
                  <a:tcPr/>
                </a:tc>
                <a:tc>
                  <a:txBody>
                    <a:bodyPr/>
                    <a:lstStyle/>
                    <a:p>
                      <a:pPr algn="ct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dirty="0"/>
                        <a:t>B</a:t>
                      </a:r>
                      <a:endParaRPr lang="en-US" sz="2400" b="1" dirty="0"/>
                    </a:p>
                  </a:txBody>
                  <a:tcPr/>
                </a:tc>
                <a:tc>
                  <a:txBody>
                    <a:bodyPr/>
                    <a:lstStyle/>
                    <a:p>
                      <a:pPr algn="ctr"/>
                      <a:r>
                        <a:rPr lang="en-IN" sz="2400" b="1"/>
                        <a:t>E</a:t>
                      </a:r>
                      <a:endParaRPr lang="en-US" sz="2400" b="1" dirty="0"/>
                    </a:p>
                  </a:txBody>
                  <a:tcPr/>
                </a:tc>
                <a:extLst>
                  <a:ext uri="{0D108BD9-81ED-4DB2-BD59-A6C34878D82A}">
                    <a16:rowId xmlns:a16="http://schemas.microsoft.com/office/drawing/2014/main" val="10002"/>
                  </a:ext>
                </a:extLst>
              </a:tr>
            </a:tbl>
          </a:graphicData>
        </a:graphic>
      </p:graphicFrame>
      <p:sp>
        <p:nvSpPr>
          <p:cNvPr id="74" name="Rectangle 73"/>
          <p:cNvSpPr/>
          <p:nvPr/>
        </p:nvSpPr>
        <p:spPr>
          <a:xfrm>
            <a:off x="6756081" y="4094507"/>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Distance</a:t>
            </a:r>
            <a:endParaRPr lang="en-US" sz="2400" b="1" dirty="0"/>
          </a:p>
        </p:txBody>
      </p:sp>
      <p:sp>
        <p:nvSpPr>
          <p:cNvPr id="75" name="Rectangle 74"/>
          <p:cNvSpPr/>
          <p:nvPr/>
        </p:nvSpPr>
        <p:spPr>
          <a:xfrm>
            <a:off x="6756081" y="4512966"/>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t>Visited</a:t>
            </a:r>
            <a:endParaRPr lang="en-US" sz="2400" b="1" dirty="0"/>
          </a:p>
        </p:txBody>
      </p:sp>
      <p:sp>
        <p:nvSpPr>
          <p:cNvPr id="76" name="TextBox 75"/>
          <p:cNvSpPr txBox="1"/>
          <p:nvPr/>
        </p:nvSpPr>
        <p:spPr>
          <a:xfrm>
            <a:off x="8173450" y="4494236"/>
            <a:ext cx="369012" cy="461665"/>
          </a:xfrm>
          <a:prstGeom prst="rect">
            <a:avLst/>
          </a:prstGeom>
          <a:noFill/>
        </p:spPr>
        <p:txBody>
          <a:bodyPr wrap="none" rtlCol="0">
            <a:spAutoFit/>
          </a:bodyPr>
          <a:lstStyle/>
          <a:p>
            <a:pPr algn="ctr"/>
            <a:r>
              <a:rPr lang="en-US" sz="2400" b="1" dirty="0"/>
              <a:t>A</a:t>
            </a:r>
            <a:endParaRPr lang="en-US" sz="2400" dirty="0"/>
          </a:p>
        </p:txBody>
      </p:sp>
      <p:sp>
        <p:nvSpPr>
          <p:cNvPr id="77" name="TextBox 76"/>
          <p:cNvSpPr txBox="1"/>
          <p:nvPr/>
        </p:nvSpPr>
        <p:spPr>
          <a:xfrm>
            <a:off x="8561058" y="4497200"/>
            <a:ext cx="369012" cy="461665"/>
          </a:xfrm>
          <a:prstGeom prst="rect">
            <a:avLst/>
          </a:prstGeom>
          <a:noFill/>
        </p:spPr>
        <p:txBody>
          <a:bodyPr wrap="none" rtlCol="0">
            <a:spAutoFit/>
          </a:bodyPr>
          <a:lstStyle/>
          <a:p>
            <a:pPr algn="ctr"/>
            <a:r>
              <a:rPr lang="en-US" sz="2400" b="1" dirty="0"/>
              <a:t>A</a:t>
            </a:r>
            <a:endParaRPr lang="en-US" sz="2400" dirty="0"/>
          </a:p>
        </p:txBody>
      </p:sp>
      <p:sp>
        <p:nvSpPr>
          <p:cNvPr id="78" name="TextBox 77"/>
          <p:cNvSpPr txBox="1"/>
          <p:nvPr/>
        </p:nvSpPr>
        <p:spPr>
          <a:xfrm>
            <a:off x="8985346" y="4492734"/>
            <a:ext cx="357790" cy="461665"/>
          </a:xfrm>
          <a:prstGeom prst="rect">
            <a:avLst/>
          </a:prstGeom>
          <a:noFill/>
        </p:spPr>
        <p:txBody>
          <a:bodyPr wrap="none" rtlCol="0">
            <a:spAutoFit/>
          </a:bodyPr>
          <a:lstStyle/>
          <a:p>
            <a:pPr algn="ctr"/>
            <a:r>
              <a:rPr lang="en-IN" sz="2400" b="1" dirty="0"/>
              <a:t>B</a:t>
            </a:r>
            <a:endParaRPr lang="en-US" sz="2400" dirty="0"/>
          </a:p>
        </p:txBody>
      </p:sp>
      <p:sp>
        <p:nvSpPr>
          <p:cNvPr id="79" name="TextBox 78"/>
          <p:cNvSpPr txBox="1"/>
          <p:nvPr/>
        </p:nvSpPr>
        <p:spPr>
          <a:xfrm>
            <a:off x="6738216" y="5309979"/>
            <a:ext cx="3579634" cy="830997"/>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pPr algn="ctr"/>
            <a:r>
              <a:rPr lang="en-IN" sz="2400" dirty="0"/>
              <a:t>Shortest Path from A to F is</a:t>
            </a:r>
          </a:p>
          <a:p>
            <a:pPr algn="ctr"/>
            <a:r>
              <a:rPr lang="en-IN" sz="2400" dirty="0">
                <a:solidFill>
                  <a:srgbClr val="C00000"/>
                </a:solidFill>
              </a:rPr>
              <a:t>A </a:t>
            </a:r>
            <a:r>
              <a:rPr lang="en-IN" sz="2400" dirty="0">
                <a:solidFill>
                  <a:srgbClr val="C00000"/>
                </a:solidFill>
                <a:sym typeface="Wingdings" pitchFamily="2" charset="2"/>
              </a:rPr>
              <a:t> B  E  F = 7</a:t>
            </a:r>
            <a:endParaRPr lang="en-US" sz="2400" dirty="0">
              <a:solidFill>
                <a:srgbClr val="C00000"/>
              </a:solidFill>
            </a:endParaRPr>
          </a:p>
        </p:txBody>
      </p:sp>
    </p:spTree>
    <p:extLst>
      <p:ext uri="{BB962C8B-B14F-4D97-AF65-F5344CB8AC3E}">
        <p14:creationId xmlns:p14="http://schemas.microsoft.com/office/powerpoint/2010/main" val="361064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5"/>
                                        </p:tgtEl>
                                        <p:attrNameLst>
                                          <p:attrName>style.visibility</p:attrName>
                                        </p:attrNameLst>
                                      </p:cBhvr>
                                      <p:to>
                                        <p:strVal val="visible"/>
                                      </p:to>
                                    </p:set>
                                  </p:childTnLst>
                                </p:cTn>
                              </p:par>
                              <p:par>
                                <p:cTn id="81" presetID="1" presetClass="emph" presetSubtype="2" fill="hold" nodeType="withEffect">
                                  <p:stCondLst>
                                    <p:cond delay="0"/>
                                  </p:stCondLst>
                                  <p:childTnLst>
                                    <p:animClr clrSpc="rgb" dir="cw">
                                      <p:cBhvr>
                                        <p:cTn id="82" dur="10" fill="hold"/>
                                        <p:tgtEl>
                                          <p:spTgt spid="43"/>
                                        </p:tgtEl>
                                        <p:attrNameLst>
                                          <p:attrName>fillcolor</p:attrName>
                                        </p:attrNameLst>
                                      </p:cBhvr>
                                      <p:to>
                                        <a:schemeClr val="accent2"/>
                                      </p:to>
                                    </p:animClr>
                                    <p:set>
                                      <p:cBhvr>
                                        <p:cTn id="83" dur="10" fill="hold"/>
                                        <p:tgtEl>
                                          <p:spTgt spid="43"/>
                                        </p:tgtEl>
                                        <p:attrNameLst>
                                          <p:attrName>fill.type</p:attrName>
                                        </p:attrNameLst>
                                      </p:cBhvr>
                                      <p:to>
                                        <p:strVal val="solid"/>
                                      </p:to>
                                    </p:set>
                                    <p:set>
                                      <p:cBhvr>
                                        <p:cTn id="84" dur="10" fill="hold"/>
                                        <p:tgtEl>
                                          <p:spTgt spid="43"/>
                                        </p:tgtEl>
                                        <p:attrNameLst>
                                          <p:attrName>fill.on</p:attrName>
                                        </p:attrNameLst>
                                      </p:cBhvr>
                                      <p:to>
                                        <p:strVal val="tru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6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7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7"/>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P spid="39" grpId="0" animBg="1"/>
      <p:bldP spid="40" grpId="0" animBg="1"/>
      <p:bldP spid="41" grpId="0" animBg="1"/>
      <p:bldP spid="42" grpId="0" animBg="1"/>
      <p:bldP spid="43" grpId="0" animBg="1"/>
      <p:bldP spid="44" grpId="0" animBg="1"/>
      <p:bldP spid="54" grpId="0"/>
      <p:bldP spid="55" grpId="0"/>
      <p:bldP spid="56" grpId="0"/>
      <p:bldP spid="57" grpId="0"/>
      <p:bldP spid="58" grpId="0"/>
      <p:bldP spid="59" grpId="0"/>
      <p:bldP spid="60" grpId="0"/>
      <p:bldP spid="61" grpId="0"/>
      <p:bldP spid="62" grpId="0" animBg="1"/>
      <p:bldP spid="63" grpId="0" animBg="1"/>
      <p:bldP spid="64" grpId="0" animBg="1"/>
      <p:bldP spid="65" grpId="0" animBg="1"/>
      <p:bldP spid="67" grpId="0" animBg="1"/>
      <p:bldP spid="71" grpId="0"/>
      <p:bldP spid="74" grpId="0" animBg="1"/>
      <p:bldP spid="75" grpId="0" animBg="1"/>
      <p:bldP spid="76" grpId="0"/>
      <p:bldP spid="77" grpId="0"/>
      <p:bldP spid="78" grpId="0"/>
      <p:bldP spid="7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Shortest Path</a:t>
            </a:r>
            <a:endParaRPr lang="en-US" dirty="0"/>
          </a:p>
        </p:txBody>
      </p:sp>
      <p:sp>
        <p:nvSpPr>
          <p:cNvPr id="3" name="TextBox 2"/>
          <p:cNvSpPr txBox="1"/>
          <p:nvPr/>
        </p:nvSpPr>
        <p:spPr>
          <a:xfrm>
            <a:off x="336000" y="742603"/>
            <a:ext cx="11520000" cy="461665"/>
          </a:xfrm>
          <a:prstGeom prst="rect">
            <a:avLst/>
          </a:prstGeom>
          <a:noFill/>
        </p:spPr>
        <p:txBody>
          <a:bodyPr wrap="square" rtlCol="0">
            <a:spAutoFit/>
          </a:bodyPr>
          <a:lstStyle/>
          <a:p>
            <a:pPr algn="ctr"/>
            <a:r>
              <a:rPr lang="en-IN" sz="2400" dirty="0"/>
              <a:t>Find out shortest path from node 0 to all other nodes using </a:t>
            </a:r>
            <a:r>
              <a:rPr lang="en-IN" sz="2400" dirty="0" err="1"/>
              <a:t>Dijkstra</a:t>
            </a:r>
            <a:r>
              <a:rPr lang="en-IN" sz="2400" dirty="0"/>
              <a:t> Algorithm</a:t>
            </a:r>
            <a:endParaRPr lang="en-US" sz="2400" dirty="0"/>
          </a:p>
        </p:txBody>
      </p:sp>
      <p:sp>
        <p:nvSpPr>
          <p:cNvPr id="50" name="Oval 49"/>
          <p:cNvSpPr/>
          <p:nvPr/>
        </p:nvSpPr>
        <p:spPr>
          <a:xfrm>
            <a:off x="2428087" y="19480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0</a:t>
            </a:r>
            <a:endParaRPr lang="en-US" sz="2400" b="1" dirty="0"/>
          </a:p>
        </p:txBody>
      </p:sp>
      <p:sp>
        <p:nvSpPr>
          <p:cNvPr id="51" name="Oval 50"/>
          <p:cNvSpPr/>
          <p:nvPr/>
        </p:nvSpPr>
        <p:spPr>
          <a:xfrm>
            <a:off x="904087" y="28624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52" name="Oval 51"/>
          <p:cNvSpPr/>
          <p:nvPr/>
        </p:nvSpPr>
        <p:spPr>
          <a:xfrm>
            <a:off x="1742287" y="43102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a:t>
            </a:r>
            <a:endParaRPr lang="en-US" sz="2400" b="1" dirty="0"/>
          </a:p>
        </p:txBody>
      </p:sp>
      <p:sp>
        <p:nvSpPr>
          <p:cNvPr id="53" name="Oval 52"/>
          <p:cNvSpPr/>
          <p:nvPr/>
        </p:nvSpPr>
        <p:spPr>
          <a:xfrm>
            <a:off x="3494887" y="43102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US" sz="2400" b="1" dirty="0"/>
          </a:p>
        </p:txBody>
      </p:sp>
      <p:sp>
        <p:nvSpPr>
          <p:cNvPr id="54" name="Oval 53"/>
          <p:cNvSpPr/>
          <p:nvPr/>
        </p:nvSpPr>
        <p:spPr>
          <a:xfrm>
            <a:off x="4256887" y="26719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a:t>
            </a:r>
            <a:endParaRPr lang="en-US" sz="2400" b="1" dirty="0"/>
          </a:p>
        </p:txBody>
      </p:sp>
      <p:cxnSp>
        <p:nvCxnSpPr>
          <p:cNvPr id="56" name="Straight Connector 55"/>
          <p:cNvCxnSpPr>
            <a:stCxn id="50" idx="2"/>
            <a:endCxn id="51" idx="0"/>
          </p:cNvCxnSpPr>
          <p:nvPr/>
        </p:nvCxnSpPr>
        <p:spPr>
          <a:xfrm flipH="1">
            <a:off x="1094587" y="2138546"/>
            <a:ext cx="1333500" cy="7239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51" idx="4"/>
            <a:endCxn id="52" idx="1"/>
          </p:cNvCxnSpPr>
          <p:nvPr/>
        </p:nvCxnSpPr>
        <p:spPr>
          <a:xfrm>
            <a:off x="1094587" y="3243446"/>
            <a:ext cx="703496" cy="11225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52" idx="5"/>
            <a:endCxn id="53" idx="3"/>
          </p:cNvCxnSpPr>
          <p:nvPr/>
        </p:nvCxnSpPr>
        <p:spPr>
          <a:xfrm>
            <a:off x="2067491" y="4635450"/>
            <a:ext cx="1483192"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2" name="Straight Connector 61"/>
          <p:cNvCxnSpPr>
            <a:stCxn id="50" idx="6"/>
            <a:endCxn id="54" idx="1"/>
          </p:cNvCxnSpPr>
          <p:nvPr/>
        </p:nvCxnSpPr>
        <p:spPr>
          <a:xfrm>
            <a:off x="2809087" y="2138546"/>
            <a:ext cx="1503596" cy="5891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4" name="Straight Connector 63"/>
          <p:cNvCxnSpPr>
            <a:stCxn id="54" idx="4"/>
            <a:endCxn id="53" idx="7"/>
          </p:cNvCxnSpPr>
          <p:nvPr/>
        </p:nvCxnSpPr>
        <p:spPr>
          <a:xfrm flipH="1">
            <a:off x="3820091" y="3052946"/>
            <a:ext cx="627296" cy="13130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9" name="Straight Connector 68"/>
          <p:cNvCxnSpPr>
            <a:stCxn id="50" idx="5"/>
            <a:endCxn id="53" idx="0"/>
          </p:cNvCxnSpPr>
          <p:nvPr/>
        </p:nvCxnSpPr>
        <p:spPr>
          <a:xfrm>
            <a:off x="2753291" y="2273250"/>
            <a:ext cx="932096" cy="20369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1" name="Straight Connector 70"/>
          <p:cNvCxnSpPr>
            <a:stCxn id="52" idx="6"/>
            <a:endCxn id="54" idx="3"/>
          </p:cNvCxnSpPr>
          <p:nvPr/>
        </p:nvCxnSpPr>
        <p:spPr>
          <a:xfrm flipV="1">
            <a:off x="2123287" y="2997150"/>
            <a:ext cx="2189396" cy="15035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2" name="TextBox 71"/>
          <p:cNvSpPr txBox="1"/>
          <p:nvPr/>
        </p:nvSpPr>
        <p:spPr>
          <a:xfrm>
            <a:off x="1458249" y="2144380"/>
            <a:ext cx="418704" cy="369332"/>
          </a:xfrm>
          <a:prstGeom prst="rect">
            <a:avLst/>
          </a:prstGeom>
          <a:noFill/>
        </p:spPr>
        <p:txBody>
          <a:bodyPr wrap="none" rtlCol="0">
            <a:spAutoFit/>
          </a:bodyPr>
          <a:lstStyle/>
          <a:p>
            <a:pPr algn="ctr"/>
            <a:r>
              <a:rPr lang="en-IN" b="1" dirty="0"/>
              <a:t>10</a:t>
            </a:r>
            <a:endParaRPr lang="en-US" b="1" dirty="0"/>
          </a:p>
        </p:txBody>
      </p:sp>
      <p:sp>
        <p:nvSpPr>
          <p:cNvPr id="73" name="TextBox 72"/>
          <p:cNvSpPr txBox="1"/>
          <p:nvPr/>
        </p:nvSpPr>
        <p:spPr>
          <a:xfrm>
            <a:off x="3316581" y="1959714"/>
            <a:ext cx="535724" cy="369332"/>
          </a:xfrm>
          <a:prstGeom prst="rect">
            <a:avLst/>
          </a:prstGeom>
          <a:noFill/>
        </p:spPr>
        <p:txBody>
          <a:bodyPr wrap="none" rtlCol="0">
            <a:spAutoFit/>
          </a:bodyPr>
          <a:lstStyle/>
          <a:p>
            <a:pPr algn="ctr"/>
            <a:r>
              <a:rPr lang="en-IN" b="1" dirty="0"/>
              <a:t>100</a:t>
            </a:r>
            <a:endParaRPr lang="en-US" b="1" dirty="0"/>
          </a:p>
        </p:txBody>
      </p:sp>
      <p:sp>
        <p:nvSpPr>
          <p:cNvPr id="74" name="TextBox 73"/>
          <p:cNvSpPr txBox="1"/>
          <p:nvPr/>
        </p:nvSpPr>
        <p:spPr>
          <a:xfrm>
            <a:off x="2599735" y="2803957"/>
            <a:ext cx="418704" cy="369332"/>
          </a:xfrm>
          <a:prstGeom prst="rect">
            <a:avLst/>
          </a:prstGeom>
          <a:noFill/>
        </p:spPr>
        <p:txBody>
          <a:bodyPr wrap="none" rtlCol="0">
            <a:spAutoFit/>
          </a:bodyPr>
          <a:lstStyle/>
          <a:p>
            <a:pPr algn="ctr"/>
            <a:r>
              <a:rPr lang="en-IN" b="1" dirty="0"/>
              <a:t>30</a:t>
            </a:r>
            <a:endParaRPr lang="en-US" b="1" dirty="0"/>
          </a:p>
        </p:txBody>
      </p:sp>
      <p:sp>
        <p:nvSpPr>
          <p:cNvPr id="75" name="TextBox 74"/>
          <p:cNvSpPr txBox="1"/>
          <p:nvPr/>
        </p:nvSpPr>
        <p:spPr>
          <a:xfrm>
            <a:off x="4207625" y="3564282"/>
            <a:ext cx="418704" cy="369332"/>
          </a:xfrm>
          <a:prstGeom prst="rect">
            <a:avLst/>
          </a:prstGeom>
          <a:noFill/>
        </p:spPr>
        <p:txBody>
          <a:bodyPr wrap="none" rtlCol="0">
            <a:spAutoFit/>
          </a:bodyPr>
          <a:lstStyle/>
          <a:p>
            <a:pPr algn="ctr"/>
            <a:r>
              <a:rPr lang="en-IN" b="1" dirty="0"/>
              <a:t>60</a:t>
            </a:r>
            <a:endParaRPr lang="en-US" b="1" dirty="0"/>
          </a:p>
        </p:txBody>
      </p:sp>
      <p:sp>
        <p:nvSpPr>
          <p:cNvPr id="76" name="TextBox 75"/>
          <p:cNvSpPr txBox="1"/>
          <p:nvPr/>
        </p:nvSpPr>
        <p:spPr>
          <a:xfrm>
            <a:off x="865099" y="3745951"/>
            <a:ext cx="418704" cy="369332"/>
          </a:xfrm>
          <a:prstGeom prst="rect">
            <a:avLst/>
          </a:prstGeom>
          <a:noFill/>
        </p:spPr>
        <p:txBody>
          <a:bodyPr wrap="none" rtlCol="0">
            <a:spAutoFit/>
          </a:bodyPr>
          <a:lstStyle/>
          <a:p>
            <a:pPr algn="ctr"/>
            <a:r>
              <a:rPr lang="en-IN" b="1" dirty="0"/>
              <a:t>50</a:t>
            </a:r>
            <a:endParaRPr lang="en-US" b="1" dirty="0"/>
          </a:p>
        </p:txBody>
      </p:sp>
      <p:sp>
        <p:nvSpPr>
          <p:cNvPr id="77" name="TextBox 76"/>
          <p:cNvSpPr txBox="1"/>
          <p:nvPr/>
        </p:nvSpPr>
        <p:spPr>
          <a:xfrm>
            <a:off x="2368550" y="3709494"/>
            <a:ext cx="418704" cy="369332"/>
          </a:xfrm>
          <a:prstGeom prst="rect">
            <a:avLst/>
          </a:prstGeom>
          <a:noFill/>
        </p:spPr>
        <p:txBody>
          <a:bodyPr wrap="none" rtlCol="0">
            <a:spAutoFit/>
          </a:bodyPr>
          <a:lstStyle/>
          <a:p>
            <a:pPr algn="ctr"/>
            <a:r>
              <a:rPr lang="en-IN" b="1" dirty="0"/>
              <a:t>10</a:t>
            </a:r>
            <a:endParaRPr lang="en-US" b="1" dirty="0"/>
          </a:p>
        </p:txBody>
      </p:sp>
      <p:sp>
        <p:nvSpPr>
          <p:cNvPr id="78" name="TextBox 77"/>
          <p:cNvSpPr txBox="1"/>
          <p:nvPr/>
        </p:nvSpPr>
        <p:spPr>
          <a:xfrm>
            <a:off x="2543939" y="4691246"/>
            <a:ext cx="418704" cy="369332"/>
          </a:xfrm>
          <a:prstGeom prst="rect">
            <a:avLst/>
          </a:prstGeom>
          <a:noFill/>
        </p:spPr>
        <p:txBody>
          <a:bodyPr wrap="none" rtlCol="0">
            <a:spAutoFit/>
          </a:bodyPr>
          <a:lstStyle/>
          <a:p>
            <a:pPr algn="ctr"/>
            <a:r>
              <a:rPr lang="en-IN" b="1" dirty="0"/>
              <a:t>20</a:t>
            </a:r>
            <a:endParaRPr lang="en-US" b="1" dirty="0"/>
          </a:p>
        </p:txBody>
      </p:sp>
      <p:sp>
        <p:nvSpPr>
          <p:cNvPr id="79" name="Oval 78"/>
          <p:cNvSpPr/>
          <p:nvPr/>
        </p:nvSpPr>
        <p:spPr>
          <a:xfrm>
            <a:off x="9021268" y="19480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0</a:t>
            </a:r>
            <a:endParaRPr lang="en-US" sz="2400" b="1" dirty="0"/>
          </a:p>
        </p:txBody>
      </p:sp>
      <p:sp>
        <p:nvSpPr>
          <p:cNvPr id="80" name="Oval 79"/>
          <p:cNvSpPr/>
          <p:nvPr/>
        </p:nvSpPr>
        <p:spPr>
          <a:xfrm>
            <a:off x="7497268" y="28624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81" name="Oval 80"/>
          <p:cNvSpPr/>
          <p:nvPr/>
        </p:nvSpPr>
        <p:spPr>
          <a:xfrm>
            <a:off x="8335468" y="43102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a:t>
            </a:r>
            <a:endParaRPr lang="en-US" sz="2400" b="1" dirty="0"/>
          </a:p>
        </p:txBody>
      </p:sp>
      <p:sp>
        <p:nvSpPr>
          <p:cNvPr id="82" name="Oval 81"/>
          <p:cNvSpPr/>
          <p:nvPr/>
        </p:nvSpPr>
        <p:spPr>
          <a:xfrm>
            <a:off x="10088068" y="43102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US" sz="2400" b="1" dirty="0"/>
          </a:p>
        </p:txBody>
      </p:sp>
      <p:sp>
        <p:nvSpPr>
          <p:cNvPr id="83" name="Oval 82"/>
          <p:cNvSpPr/>
          <p:nvPr/>
        </p:nvSpPr>
        <p:spPr>
          <a:xfrm>
            <a:off x="10850068" y="2671946"/>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a:t>
            </a:r>
            <a:endParaRPr lang="en-US" sz="2400" b="1" dirty="0"/>
          </a:p>
        </p:txBody>
      </p:sp>
      <p:cxnSp>
        <p:nvCxnSpPr>
          <p:cNvPr id="84" name="Straight Connector 83"/>
          <p:cNvCxnSpPr>
            <a:stCxn id="79" idx="2"/>
            <a:endCxn id="80" idx="0"/>
          </p:cNvCxnSpPr>
          <p:nvPr/>
        </p:nvCxnSpPr>
        <p:spPr>
          <a:xfrm flipH="1">
            <a:off x="7687768" y="2138546"/>
            <a:ext cx="1333500" cy="723900"/>
          </a:xfrm>
          <a:prstGeom prst="line">
            <a:avLst/>
          </a:prstGeom>
          <a:ln w="28575"/>
        </p:spPr>
        <p:style>
          <a:lnRef idx="3">
            <a:schemeClr val="dk1"/>
          </a:lnRef>
          <a:fillRef idx="0">
            <a:schemeClr val="dk1"/>
          </a:fillRef>
          <a:effectRef idx="2">
            <a:schemeClr val="dk1"/>
          </a:effectRef>
          <a:fontRef idx="minor">
            <a:schemeClr val="tx1"/>
          </a:fontRef>
        </p:style>
      </p:cxnSp>
      <p:cxnSp>
        <p:nvCxnSpPr>
          <p:cNvPr id="85" name="Straight Connector 84"/>
          <p:cNvCxnSpPr>
            <a:stCxn id="80" idx="4"/>
            <a:endCxn id="81" idx="2"/>
          </p:cNvCxnSpPr>
          <p:nvPr/>
        </p:nvCxnSpPr>
        <p:spPr>
          <a:xfrm>
            <a:off x="7687768" y="3243446"/>
            <a:ext cx="647700" cy="12573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6" name="Straight Connector 85"/>
          <p:cNvCxnSpPr>
            <a:stCxn id="81" idx="6"/>
            <a:endCxn id="82" idx="2"/>
          </p:cNvCxnSpPr>
          <p:nvPr/>
        </p:nvCxnSpPr>
        <p:spPr>
          <a:xfrm>
            <a:off x="8716468" y="4500746"/>
            <a:ext cx="1371600"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87" name="Straight Connector 86"/>
          <p:cNvCxnSpPr>
            <a:stCxn id="79" idx="6"/>
            <a:endCxn id="83" idx="1"/>
          </p:cNvCxnSpPr>
          <p:nvPr/>
        </p:nvCxnSpPr>
        <p:spPr>
          <a:xfrm>
            <a:off x="9402268" y="2138546"/>
            <a:ext cx="1503596" cy="5891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8" name="Straight Connector 87"/>
          <p:cNvCxnSpPr>
            <a:stCxn id="83" idx="4"/>
            <a:endCxn id="82" idx="7"/>
          </p:cNvCxnSpPr>
          <p:nvPr/>
        </p:nvCxnSpPr>
        <p:spPr>
          <a:xfrm flipH="1">
            <a:off x="10413272" y="3052946"/>
            <a:ext cx="627296" cy="131309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9" name="Straight Connector 88"/>
          <p:cNvCxnSpPr>
            <a:stCxn id="79" idx="5"/>
            <a:endCxn id="82" idx="0"/>
          </p:cNvCxnSpPr>
          <p:nvPr/>
        </p:nvCxnSpPr>
        <p:spPr>
          <a:xfrm>
            <a:off x="9346472" y="2273250"/>
            <a:ext cx="932096" cy="2036996"/>
          </a:xfrm>
          <a:prstGeom prst="line">
            <a:avLst/>
          </a:prstGeom>
          <a:ln w="28575"/>
        </p:spPr>
        <p:style>
          <a:lnRef idx="3">
            <a:schemeClr val="dk1"/>
          </a:lnRef>
          <a:fillRef idx="0">
            <a:schemeClr val="dk1"/>
          </a:fillRef>
          <a:effectRef idx="2">
            <a:schemeClr val="dk1"/>
          </a:effectRef>
          <a:fontRef idx="minor">
            <a:schemeClr val="tx1"/>
          </a:fontRef>
        </p:style>
      </p:cxnSp>
      <p:cxnSp>
        <p:nvCxnSpPr>
          <p:cNvPr id="90" name="Straight Connector 89"/>
          <p:cNvCxnSpPr>
            <a:stCxn id="81" idx="7"/>
            <a:endCxn id="83" idx="3"/>
          </p:cNvCxnSpPr>
          <p:nvPr/>
        </p:nvCxnSpPr>
        <p:spPr>
          <a:xfrm flipV="1">
            <a:off x="8660672" y="2997150"/>
            <a:ext cx="2245192" cy="1368892"/>
          </a:xfrm>
          <a:prstGeom prst="line">
            <a:avLst/>
          </a:prstGeom>
          <a:ln w="28575"/>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8051430" y="2144380"/>
            <a:ext cx="418704" cy="369332"/>
          </a:xfrm>
          <a:prstGeom prst="rect">
            <a:avLst/>
          </a:prstGeom>
          <a:noFill/>
        </p:spPr>
        <p:txBody>
          <a:bodyPr wrap="none" rtlCol="0">
            <a:spAutoFit/>
          </a:bodyPr>
          <a:lstStyle/>
          <a:p>
            <a:pPr algn="ctr"/>
            <a:r>
              <a:rPr lang="en-IN" b="1" dirty="0"/>
              <a:t>10</a:t>
            </a:r>
            <a:endParaRPr lang="en-US" b="1" dirty="0"/>
          </a:p>
        </p:txBody>
      </p:sp>
      <p:sp>
        <p:nvSpPr>
          <p:cNvPr id="92" name="TextBox 91"/>
          <p:cNvSpPr txBox="1"/>
          <p:nvPr/>
        </p:nvSpPr>
        <p:spPr>
          <a:xfrm>
            <a:off x="9909762" y="1959714"/>
            <a:ext cx="535724" cy="369332"/>
          </a:xfrm>
          <a:prstGeom prst="rect">
            <a:avLst/>
          </a:prstGeom>
          <a:noFill/>
        </p:spPr>
        <p:txBody>
          <a:bodyPr wrap="none" rtlCol="0">
            <a:spAutoFit/>
          </a:bodyPr>
          <a:lstStyle/>
          <a:p>
            <a:pPr algn="ctr"/>
            <a:r>
              <a:rPr lang="en-IN" b="1" dirty="0"/>
              <a:t>100</a:t>
            </a:r>
            <a:endParaRPr lang="en-US" b="1" dirty="0"/>
          </a:p>
        </p:txBody>
      </p:sp>
      <p:sp>
        <p:nvSpPr>
          <p:cNvPr id="93" name="TextBox 92"/>
          <p:cNvSpPr txBox="1"/>
          <p:nvPr/>
        </p:nvSpPr>
        <p:spPr>
          <a:xfrm>
            <a:off x="9192916" y="2803957"/>
            <a:ext cx="418704" cy="369332"/>
          </a:xfrm>
          <a:prstGeom prst="rect">
            <a:avLst/>
          </a:prstGeom>
          <a:noFill/>
        </p:spPr>
        <p:txBody>
          <a:bodyPr wrap="none" rtlCol="0">
            <a:spAutoFit/>
          </a:bodyPr>
          <a:lstStyle/>
          <a:p>
            <a:pPr algn="ctr"/>
            <a:r>
              <a:rPr lang="en-IN" b="1" dirty="0"/>
              <a:t>30</a:t>
            </a:r>
            <a:endParaRPr lang="en-US" b="1" dirty="0"/>
          </a:p>
        </p:txBody>
      </p:sp>
      <p:sp>
        <p:nvSpPr>
          <p:cNvPr id="94" name="TextBox 93"/>
          <p:cNvSpPr txBox="1"/>
          <p:nvPr/>
        </p:nvSpPr>
        <p:spPr>
          <a:xfrm>
            <a:off x="10800806" y="3564282"/>
            <a:ext cx="418704" cy="369332"/>
          </a:xfrm>
          <a:prstGeom prst="rect">
            <a:avLst/>
          </a:prstGeom>
          <a:noFill/>
        </p:spPr>
        <p:txBody>
          <a:bodyPr wrap="none" rtlCol="0">
            <a:spAutoFit/>
          </a:bodyPr>
          <a:lstStyle/>
          <a:p>
            <a:pPr algn="ctr"/>
            <a:r>
              <a:rPr lang="en-IN" b="1" dirty="0"/>
              <a:t>60</a:t>
            </a:r>
            <a:endParaRPr lang="en-US" b="1" dirty="0"/>
          </a:p>
        </p:txBody>
      </p:sp>
      <p:sp>
        <p:nvSpPr>
          <p:cNvPr id="95" name="TextBox 94"/>
          <p:cNvSpPr txBox="1"/>
          <p:nvPr/>
        </p:nvSpPr>
        <p:spPr>
          <a:xfrm>
            <a:off x="7458280" y="3745951"/>
            <a:ext cx="418704" cy="369332"/>
          </a:xfrm>
          <a:prstGeom prst="rect">
            <a:avLst/>
          </a:prstGeom>
          <a:noFill/>
        </p:spPr>
        <p:txBody>
          <a:bodyPr wrap="none" rtlCol="0">
            <a:spAutoFit/>
          </a:bodyPr>
          <a:lstStyle/>
          <a:p>
            <a:pPr algn="ctr"/>
            <a:r>
              <a:rPr lang="en-IN" b="1" dirty="0"/>
              <a:t>50</a:t>
            </a:r>
            <a:endParaRPr lang="en-US" b="1" dirty="0"/>
          </a:p>
        </p:txBody>
      </p:sp>
      <p:sp>
        <p:nvSpPr>
          <p:cNvPr id="96" name="TextBox 95"/>
          <p:cNvSpPr txBox="1"/>
          <p:nvPr/>
        </p:nvSpPr>
        <p:spPr>
          <a:xfrm>
            <a:off x="8961731" y="3709494"/>
            <a:ext cx="418704" cy="369332"/>
          </a:xfrm>
          <a:prstGeom prst="rect">
            <a:avLst/>
          </a:prstGeom>
          <a:noFill/>
        </p:spPr>
        <p:txBody>
          <a:bodyPr wrap="none" rtlCol="0">
            <a:spAutoFit/>
          </a:bodyPr>
          <a:lstStyle/>
          <a:p>
            <a:pPr algn="ctr"/>
            <a:r>
              <a:rPr lang="en-IN" b="1" dirty="0"/>
              <a:t>10</a:t>
            </a:r>
            <a:endParaRPr lang="en-US" b="1" dirty="0"/>
          </a:p>
        </p:txBody>
      </p:sp>
      <p:sp>
        <p:nvSpPr>
          <p:cNvPr id="97" name="TextBox 96"/>
          <p:cNvSpPr txBox="1"/>
          <p:nvPr/>
        </p:nvSpPr>
        <p:spPr>
          <a:xfrm>
            <a:off x="9137120" y="4691246"/>
            <a:ext cx="418704" cy="369332"/>
          </a:xfrm>
          <a:prstGeom prst="rect">
            <a:avLst/>
          </a:prstGeom>
          <a:noFill/>
        </p:spPr>
        <p:txBody>
          <a:bodyPr wrap="none" rtlCol="0">
            <a:spAutoFit/>
          </a:bodyPr>
          <a:lstStyle/>
          <a:p>
            <a:pPr algn="ctr"/>
            <a:r>
              <a:rPr lang="en-IN" b="1" dirty="0"/>
              <a:t>20</a:t>
            </a:r>
            <a:endParaRPr lang="en-US" b="1" dirty="0"/>
          </a:p>
        </p:txBody>
      </p:sp>
      <p:sp>
        <p:nvSpPr>
          <p:cNvPr id="98" name="TextBox 97"/>
          <p:cNvSpPr txBox="1"/>
          <p:nvPr/>
        </p:nvSpPr>
        <p:spPr>
          <a:xfrm>
            <a:off x="9059486" y="1530588"/>
            <a:ext cx="301686"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0</a:t>
            </a:r>
            <a:endParaRPr lang="en-US" b="1" dirty="0"/>
          </a:p>
        </p:txBody>
      </p:sp>
      <p:sp>
        <p:nvSpPr>
          <p:cNvPr id="99" name="TextBox 98"/>
          <p:cNvSpPr txBox="1"/>
          <p:nvPr/>
        </p:nvSpPr>
        <p:spPr>
          <a:xfrm>
            <a:off x="7116268" y="2487280"/>
            <a:ext cx="41870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10</a:t>
            </a:r>
            <a:endParaRPr lang="en-US" b="1" dirty="0"/>
          </a:p>
        </p:txBody>
      </p:sp>
      <p:sp>
        <p:nvSpPr>
          <p:cNvPr id="100" name="TextBox 99"/>
          <p:cNvSpPr txBox="1"/>
          <p:nvPr/>
        </p:nvSpPr>
        <p:spPr>
          <a:xfrm>
            <a:off x="7935814" y="4691246"/>
            <a:ext cx="41870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50</a:t>
            </a:r>
            <a:endParaRPr lang="en-US" b="1" dirty="0"/>
          </a:p>
        </p:txBody>
      </p:sp>
      <p:sp>
        <p:nvSpPr>
          <p:cNvPr id="101" name="TextBox 100"/>
          <p:cNvSpPr txBox="1"/>
          <p:nvPr/>
        </p:nvSpPr>
        <p:spPr>
          <a:xfrm>
            <a:off x="10787652" y="2219226"/>
            <a:ext cx="41870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60</a:t>
            </a:r>
            <a:endParaRPr lang="en-US" b="1" dirty="0"/>
          </a:p>
        </p:txBody>
      </p:sp>
      <p:sp>
        <p:nvSpPr>
          <p:cNvPr id="102" name="TextBox 101"/>
          <p:cNvSpPr txBox="1"/>
          <p:nvPr/>
        </p:nvSpPr>
        <p:spPr>
          <a:xfrm>
            <a:off x="10517568" y="4635450"/>
            <a:ext cx="418704" cy="369332"/>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IN" b="1" dirty="0"/>
              <a:t>30</a:t>
            </a:r>
            <a:endParaRPr lang="en-US" b="1" dirty="0"/>
          </a:p>
        </p:txBody>
      </p:sp>
      <p:sp>
        <p:nvSpPr>
          <p:cNvPr id="55" name="Right Arrow 54"/>
          <p:cNvSpPr/>
          <p:nvPr/>
        </p:nvSpPr>
        <p:spPr>
          <a:xfrm>
            <a:off x="5451465" y="3070983"/>
            <a:ext cx="1289070" cy="6385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454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wipe(left)">
                                      <p:cBhvr>
                                        <p:cTn id="51" dur="500"/>
                                        <p:tgtEl>
                                          <p:spTgt spid="55"/>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8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8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8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83"/>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84"/>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85"/>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86"/>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87"/>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88"/>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89"/>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9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91"/>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92"/>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93"/>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9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95"/>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9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97"/>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98"/>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00"/>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01"/>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0" grpId="0" animBg="1"/>
      <p:bldP spid="51" grpId="0" animBg="1"/>
      <p:bldP spid="52" grpId="0" animBg="1"/>
      <p:bldP spid="53" grpId="0" animBg="1"/>
      <p:bldP spid="54" grpId="0" animBg="1"/>
      <p:bldP spid="72" grpId="0"/>
      <p:bldP spid="73" grpId="0"/>
      <p:bldP spid="74" grpId="0"/>
      <p:bldP spid="75" grpId="0"/>
      <p:bldP spid="76" grpId="0"/>
      <p:bldP spid="77" grpId="0"/>
      <p:bldP spid="78" grpId="0"/>
      <p:bldP spid="79" grpId="0" animBg="1"/>
      <p:bldP spid="80" grpId="0" animBg="1"/>
      <p:bldP spid="81" grpId="0" animBg="1"/>
      <p:bldP spid="82" grpId="0" animBg="1"/>
      <p:bldP spid="83" grpId="0" animBg="1"/>
      <p:bldP spid="91" grpId="0"/>
      <p:bldP spid="92" grpId="0"/>
      <p:bldP spid="93" grpId="0"/>
      <p:bldP spid="94" grpId="0"/>
      <p:bldP spid="95" grpId="0"/>
      <p:bldP spid="96" grpId="0"/>
      <p:bldP spid="97" grpId="0"/>
      <p:bldP spid="98" grpId="0" animBg="1"/>
      <p:bldP spid="99" grpId="0" animBg="1"/>
      <p:bldP spid="100" grpId="0" animBg="1"/>
      <p:bldP spid="101" grpId="0" animBg="1"/>
      <p:bldP spid="102" grpId="0" animBg="1"/>
      <p:bldP spid="55" grpId="0" animBg="1"/>
    </p:bldLst>
  </p:timing>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19707</TotalTime>
  <Words>4441</Words>
  <Application>Microsoft Macintosh PowerPoint</Application>
  <PresentationFormat>Widescreen</PresentationFormat>
  <Paragraphs>1382</Paragraphs>
  <Slides>53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Cambria Math</vt:lpstr>
      <vt:lpstr>Wingdings 3</vt:lpstr>
      <vt:lpstr>Calibri</vt:lpstr>
      <vt:lpstr>Times New Roman</vt:lpstr>
      <vt:lpstr>Roboto Condensed</vt:lpstr>
      <vt:lpstr>Wingdings</vt:lpstr>
      <vt:lpstr>Consolas</vt:lpstr>
      <vt:lpstr>Arial</vt:lpstr>
      <vt:lpstr>Symbol</vt:lpstr>
      <vt:lpstr>Office Theme</vt:lpstr>
      <vt:lpstr> Non-Linear Data Structure Graph</vt:lpstr>
      <vt:lpstr>Graphs</vt:lpstr>
      <vt:lpstr>Adjacency matrix</vt:lpstr>
      <vt:lpstr>Adjacency matrix</vt:lpstr>
      <vt:lpstr>Adjacency matrix</vt:lpstr>
      <vt:lpstr>Power of Adjacency matrix</vt:lpstr>
      <vt:lpstr>Path matrix or reachability matrix</vt:lpstr>
      <vt:lpstr>Adjacency List Representation</vt:lpstr>
      <vt:lpstr>Graph Traversal</vt:lpstr>
      <vt:lpstr>Depth First Search (DFS)</vt:lpstr>
      <vt:lpstr>Depth First Search (DFS)</vt:lpstr>
      <vt:lpstr>Breadth First Search (BFS)</vt:lpstr>
      <vt:lpstr>Breadth First Search (BFS)</vt:lpstr>
      <vt:lpstr>Difference</vt:lpstr>
      <vt:lpstr>Write DFS &amp; BFS of following Graphs</vt:lpstr>
      <vt:lpstr>Procedure : DFS (vertex V)</vt:lpstr>
      <vt:lpstr>Procedure : DFS (vertex V)</vt:lpstr>
      <vt:lpstr>DFS</vt:lpstr>
      <vt:lpstr>Complexity Analysis</vt:lpstr>
      <vt:lpstr>Procedure : BFS (vertex V)</vt:lpstr>
      <vt:lpstr>Procedure : BFS (vertex V)</vt:lpstr>
      <vt:lpstr>BFS</vt:lpstr>
      <vt:lpstr>Complexity Analysis of Breadth-First Search (BFS) Algorithm:</vt:lpstr>
      <vt:lpstr>Applications of BFS in Graphs:</vt:lpstr>
      <vt:lpstr>Minimum Spanning Tree</vt:lpstr>
      <vt:lpstr>Spanning tree</vt:lpstr>
      <vt:lpstr>Spanning tree</vt:lpstr>
      <vt:lpstr>Spanning tree</vt:lpstr>
      <vt:lpstr>Introduction to Minimum Spanning Tree (MST)</vt:lpstr>
      <vt:lpstr>Spanning Tree Examples </vt:lpstr>
      <vt:lpstr>Kruskal’s Algorithm for MST – Example 1</vt:lpstr>
      <vt:lpstr>PowerPoint Presentation</vt:lpstr>
      <vt:lpstr>PowerPoint Presentation</vt:lpstr>
      <vt:lpstr>PowerPoint Presentation</vt:lpstr>
      <vt:lpstr>Kruskal’s Algorithm – Example 2</vt:lpstr>
      <vt:lpstr>PowerPoint Presentation</vt:lpstr>
      <vt:lpstr>Exercises – Home Work</vt:lpstr>
      <vt:lpstr>Prim’s Algorithm </vt:lpstr>
      <vt:lpstr>PowerPoint Presentation</vt:lpstr>
      <vt:lpstr>PowerPoint Presentation</vt:lpstr>
      <vt:lpstr>PowerPoint Presentation</vt:lpstr>
      <vt:lpstr>Prim’s Algorithm – Example 1</vt:lpstr>
      <vt:lpstr>Exercises – Home Work</vt:lpstr>
      <vt:lpstr>Construct Spanning Tree</vt:lpstr>
      <vt:lpstr>Minimum Cost Spanning Tree</vt:lpstr>
      <vt:lpstr>Example:</vt:lpstr>
      <vt:lpstr>Shortest Path Algorithm</vt:lpstr>
      <vt:lpstr>Dijkstra Algorithm – Shortest Path</vt:lpstr>
      <vt:lpstr>Dijkstra Algorithm – Shortest Path</vt:lpstr>
      <vt:lpstr>Dijkstra Algorithm – Shortest Path</vt:lpstr>
      <vt:lpstr>Dijkstra Algorithm – Shortest Path</vt:lpstr>
      <vt:lpstr>Dijkstra Algorithm – Shortest Path</vt:lpstr>
      <vt:lpstr>Shortest Path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 Non-linear Data Structure</dc:title>
  <dc:creator>ADMIN</dc:creator>
  <cp:lastModifiedBy>khushpithva@gmail.com</cp:lastModifiedBy>
  <cp:revision>892</cp:revision>
  <dcterms:created xsi:type="dcterms:W3CDTF">2020-05-01T05:09:15Z</dcterms:created>
  <dcterms:modified xsi:type="dcterms:W3CDTF">2025-11-17T11:53:25Z</dcterms:modified>
</cp:coreProperties>
</file>