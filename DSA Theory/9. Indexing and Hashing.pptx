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309" r:id="rId2"/>
    <p:sldId id="292" r:id="rId3"/>
    <p:sldId id="638" r:id="rId4"/>
    <p:sldId id="662" r:id="rId5"/>
    <p:sldId id="663" r:id="rId6"/>
    <p:sldId id="664" r:id="rId7"/>
    <p:sldId id="665" r:id="rId8"/>
    <p:sldId id="666" r:id="rId9"/>
    <p:sldId id="667" r:id="rId10"/>
    <p:sldId id="668" r:id="rId11"/>
    <p:sldId id="669" r:id="rId12"/>
    <p:sldId id="670" r:id="rId13"/>
    <p:sldId id="671" r:id="rId14"/>
    <p:sldId id="672" r:id="rId15"/>
    <p:sldId id="673" r:id="rId16"/>
    <p:sldId id="674" r:id="rId17"/>
    <p:sldId id="269" r:id="rId18"/>
    <p:sldId id="688" r:id="rId19"/>
    <p:sldId id="676" r:id="rId20"/>
    <p:sldId id="271" r:id="rId21"/>
    <p:sldId id="686" r:id="rId22"/>
    <p:sldId id="677" r:id="rId23"/>
    <p:sldId id="275" r:id="rId24"/>
    <p:sldId id="685" r:id="rId25"/>
    <p:sldId id="279" r:id="rId26"/>
    <p:sldId id="280" r:id="rId27"/>
    <p:sldId id="281" r:id="rId28"/>
    <p:sldId id="689" r:id="rId29"/>
  </p:sldIdLst>
  <p:sldSz cx="12192000" cy="6858000"/>
  <p:notesSz cx="6858000" cy="9144000"/>
  <p:embeddedFontLst>
    <p:embeddedFont>
      <p:font typeface="Bahnschrift Light" panose="020B0502040204020203" pitchFamily="34" charset="0"/>
      <p:regular r:id="rId31"/>
      <p:bold r:id="rId32"/>
    </p:embeddedFont>
    <p:embeddedFont>
      <p:font typeface="Roboto Condensed" panose="02000000000000000000" pitchFamily="2" charset="0"/>
      <p:regular r:id="rId33"/>
      <p:bold r:id="rId34"/>
      <p:italic r:id="rId35"/>
      <p:boldItalic r:id="rId36"/>
    </p:embeddedFont>
    <p:embeddedFont>
      <p:font typeface="Wingdings 2" pitchFamily="2" charset="2"/>
      <p:regular r:id="rId37"/>
    </p:embeddedFont>
    <p:embeddedFont>
      <p:font typeface="Wingdings 3" pitchFamily="2" charset="2"/>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1B92"/>
    <a:srgbClr val="673BB7"/>
    <a:srgbClr val="607D8B"/>
    <a:srgbClr val="ED524F"/>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3" autoAdjust="0"/>
    <p:restoredTop sz="94660"/>
  </p:normalViewPr>
  <p:slideViewPr>
    <p:cSldViewPr snapToGrid="0">
      <p:cViewPr varScale="1">
        <p:scale>
          <a:sx n="122" d="100"/>
          <a:sy n="122" d="100"/>
        </p:scale>
        <p:origin x="216" y="392"/>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0-04-02T10:23:22.399"/>
    </inkml:context>
    <inkml:brush xml:id="br0">
      <inkml:brushProperty name="width" value="0.05292" units="cm"/>
      <inkml:brushProperty name="height" value="0.05292" units="cm"/>
      <inkml:brushProperty name="color" value="#FF0000"/>
    </inkml:brush>
  </inkml:definitions>
  <inkml:trace contextRef="#ctx0" brushRef="#br0">27305 2699 0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3213" y="7489"/>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11930" y="904567"/>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30600" y="391427"/>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0384"/>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4750" y="888576"/>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6744"/>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60820"/>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Tree>
    <p:extLst>
      <p:ext uri="{BB962C8B-B14F-4D97-AF65-F5344CB8AC3E}">
        <p14:creationId xmlns:p14="http://schemas.microsoft.com/office/powerpoint/2010/main" val="200169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2731625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rgbClr val="212121">
                    <a:lumMod val="90000"/>
                    <a:lumOff val="10000"/>
                  </a:srgbClr>
                </a:solidFill>
              </a:rPr>
              <a:pPr/>
              <a:t>‹#›</a:t>
            </a:fld>
            <a:endParaRPr lang="en-US" b="1" dirty="0">
              <a:solidFill>
                <a:srgbClr val="212121">
                  <a:lumMod val="90000"/>
                  <a:lumOff val="10000"/>
                </a:srgbClr>
              </a:solidFill>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6744"/>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6456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678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CCF4D-746B-4332-8C7F-1A13182AB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F83D59-7C12-4F42-BEA1-4C6752863E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21D979-F28D-4327-9E02-4491FF4E2E05}"/>
              </a:ext>
            </a:extLst>
          </p:cNvPr>
          <p:cNvSpPr>
            <a:spLocks noGrp="1"/>
          </p:cNvSpPr>
          <p:nvPr>
            <p:ph type="dt" sz="half" idx="10"/>
          </p:nvPr>
        </p:nvSpPr>
        <p:spPr/>
        <p:txBody>
          <a:bodyPr/>
          <a:lstStyle/>
          <a:p>
            <a:fld id="{597A73A1-CB2F-476F-8007-72468790F76C}" type="datetimeFigureOut">
              <a:rPr lang="en-IN" smtClean="0"/>
              <a:t>17/11/25</a:t>
            </a:fld>
            <a:endParaRPr lang="en-IN"/>
          </a:p>
        </p:txBody>
      </p:sp>
      <p:sp>
        <p:nvSpPr>
          <p:cNvPr id="5" name="Footer Placeholder 4">
            <a:extLst>
              <a:ext uri="{FF2B5EF4-FFF2-40B4-BE49-F238E27FC236}">
                <a16:creationId xmlns:a16="http://schemas.microsoft.com/office/drawing/2014/main" id="{7B4E6FC2-4CFE-4B8F-9B80-4DBC8C82EE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8209A1-BCEE-41A8-A82E-6E6241B3A0F2}"/>
              </a:ext>
            </a:extLst>
          </p:cNvPr>
          <p:cNvSpPr>
            <a:spLocks noGrp="1"/>
          </p:cNvSpPr>
          <p:nvPr>
            <p:ph type="sldNum" sz="quarter" idx="12"/>
          </p:nvPr>
        </p:nvSpPr>
        <p:spPr/>
        <p:txBody>
          <a:bodyPr/>
          <a:lstStyle/>
          <a:p>
            <a:fld id="{384A7673-D675-42EE-BCDF-630F2DC5FF9B}" type="slidenum">
              <a:rPr lang="en-IN" smtClean="0"/>
              <a:t>‹#›</a:t>
            </a:fld>
            <a:endParaRPr lang="en-IN"/>
          </a:p>
        </p:txBody>
      </p:sp>
    </p:spTree>
    <p:extLst>
      <p:ext uri="{BB962C8B-B14F-4D97-AF65-F5344CB8AC3E}">
        <p14:creationId xmlns:p14="http://schemas.microsoft.com/office/powerpoint/2010/main" val="2403752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11/17/25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88" r:id="rId3"/>
    <p:sldLayoutId id="2147483671" r:id="rId4"/>
    <p:sldLayoutId id="2147483679" r:id="rId5"/>
    <p:sldLayoutId id="2147483696" r:id="rId6"/>
    <p:sldLayoutId id="214748369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3F305CB-DBE2-45D5-8D0B-92106F27C4BB}"/>
              </a:ext>
            </a:extLst>
          </p:cNvPr>
          <p:cNvSpPr>
            <a:spLocks noGrp="1"/>
          </p:cNvSpPr>
          <p:nvPr>
            <p:ph type="ctrTitle"/>
          </p:nvPr>
        </p:nvSpPr>
        <p:spPr>
          <a:xfrm>
            <a:off x="559490" y="1122364"/>
            <a:ext cx="7458354" cy="2992436"/>
          </a:xfrm>
        </p:spPr>
        <p:txBody>
          <a:bodyPr/>
          <a:lstStyle/>
          <a:p>
            <a:br>
              <a:rPr lang="en-US" dirty="0"/>
            </a:br>
            <a:r>
              <a:rPr lang="en-US" dirty="0"/>
              <a:t>Hashing</a:t>
            </a:r>
          </a:p>
        </p:txBody>
      </p:sp>
    </p:spTree>
    <p:extLst>
      <p:ext uri="{BB962C8B-B14F-4D97-AF65-F5344CB8AC3E}">
        <p14:creationId xmlns:p14="http://schemas.microsoft.com/office/powerpoint/2010/main" val="1600834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2" y="731706"/>
            <a:ext cx="6824426" cy="830997"/>
          </a:xfrm>
          <a:prstGeom prst="rect">
            <a:avLst/>
          </a:prstGeom>
          <a:noFill/>
        </p:spPr>
        <p:txBody>
          <a:bodyPr wrap="square" rtlCol="0">
            <a:spAutoFit/>
          </a:bodyPr>
          <a:lstStyle/>
          <a:p>
            <a:r>
              <a:rPr lang="en-US" sz="2400" b="1" dirty="0"/>
              <a:t>Outline</a:t>
            </a:r>
          </a:p>
          <a:p>
            <a:pPr marL="742950" lvl="1" indent="-285750">
              <a:buFont typeface="Arial" panose="020B0604020202020204" pitchFamily="34" charset="0"/>
              <a:buChar char="•"/>
            </a:pPr>
            <a:r>
              <a:rPr lang="en-GB" sz="2400" dirty="0">
                <a:solidFill>
                  <a:schemeClr val="bg1">
                    <a:lumMod val="50000"/>
                  </a:schemeClr>
                </a:solidFill>
              </a:rPr>
              <a:t>Hashing</a:t>
            </a:r>
            <a:endParaRPr lang="en-US" sz="2400" dirty="0">
              <a:solidFill>
                <a:schemeClr val="bg1">
                  <a:lumMod val="50000"/>
                </a:schemeClr>
              </a:solidFill>
            </a:endParaRP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500"/>
                                        <p:tgtEl>
                                          <p:spTgt spid="9">
                                            <p:txEl>
                                              <p:pRg st="0" end="0"/>
                                            </p:txEl>
                                          </p:spTgt>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up)">
                                      <p:cBhvr>
                                        <p:cTn id="26" dur="500"/>
                                        <p:tgtEl>
                                          <p:spTgt spid="8"/>
                                        </p:tgtEl>
                                      </p:cBhvr>
                                    </p:animEffect>
                                  </p:childTnLst>
                                </p:cTn>
                              </p:par>
                            </p:childTnLst>
                          </p:cTn>
                        </p:par>
                        <p:par>
                          <p:cTn id="27" fill="hold">
                            <p:stCondLst>
                              <p:cond delay="1500"/>
                            </p:stCondLst>
                            <p:childTnLst>
                              <p:par>
                                <p:cTn id="28" presetID="22" presetClass="entr" presetSubtype="1"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1" end="1"/>
                                            </p:txEl>
                                          </p:spTgt>
                                        </p:tgtEl>
                                        <p:attrNameLst>
                                          <p:attrName>style.visibility</p:attrName>
                                        </p:attrNameLst>
                                      </p:cBhvr>
                                      <p:to>
                                        <p:strVal val="visible"/>
                                      </p:to>
                                    </p:set>
                                    <p:animEffect transition="in" filter="fade">
                                      <p:cBhvr>
                                        <p:cTn id="35"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gradFill flip="none" rotWithShape="1">
                  <a:gsLst>
                    <a:gs pos="10000">
                      <a:schemeClr val="accent6">
                        <a:lumMod val="50000"/>
                      </a:schemeClr>
                    </a:gs>
                    <a:gs pos="100000">
                      <a:schemeClr val="accent6"/>
                    </a:gs>
                  </a:gsLst>
                  <a:lin ang="0" scaled="1"/>
                  <a:tileRect/>
                </a:gradFill>
              </a:rPr>
              <a:t>Hashing</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45939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C106B-63C0-4253-8EC6-856B6A4EB99D}"/>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307BC7E2-7319-4BE7-9DEE-31CB3E49BD34}"/>
              </a:ext>
            </a:extLst>
          </p:cNvPr>
          <p:cNvSpPr>
            <a:spLocks noGrp="1"/>
          </p:cNvSpPr>
          <p:nvPr>
            <p:ph idx="1"/>
          </p:nvPr>
        </p:nvSpPr>
        <p:spPr/>
        <p:txBody>
          <a:bodyPr/>
          <a:lstStyle/>
          <a:p>
            <a:r>
              <a:rPr lang="en-US" dirty="0"/>
              <a:t>There are several searching techniques like linear search, binary search, search trees etc.</a:t>
            </a:r>
          </a:p>
          <a:p>
            <a:r>
              <a:rPr lang="en-US" dirty="0"/>
              <a:t>In these techniques, time taken to search any particular element depends on the total number of elements.</a:t>
            </a:r>
          </a:p>
          <a:p>
            <a:r>
              <a:rPr lang="en-US" dirty="0"/>
              <a:t>Linear Search takes O(n) time to perform the search in unsorted arrays consisting of n elements.</a:t>
            </a:r>
          </a:p>
          <a:p>
            <a:r>
              <a:rPr lang="en-US" dirty="0"/>
              <a:t>Binary Search takes O(</a:t>
            </a:r>
            <a:r>
              <a:rPr lang="en-US" dirty="0" err="1"/>
              <a:t>logn</a:t>
            </a:r>
            <a:r>
              <a:rPr lang="en-US" dirty="0"/>
              <a:t>) time to perform the search in sorted arrays consisting of n elements.</a:t>
            </a:r>
          </a:p>
          <a:p>
            <a:r>
              <a:rPr lang="en-US" dirty="0"/>
              <a:t>It takes O(</a:t>
            </a:r>
            <a:r>
              <a:rPr lang="en-US" dirty="0" err="1"/>
              <a:t>logn</a:t>
            </a:r>
            <a:r>
              <a:rPr lang="en-US" dirty="0"/>
              <a:t>) time to perform the search in Binary Search Tree consisting of n elements.</a:t>
            </a:r>
          </a:p>
          <a:p>
            <a:r>
              <a:rPr lang="en-US" dirty="0"/>
              <a:t>To guarantee O(</a:t>
            </a:r>
            <a:r>
              <a:rPr lang="en-US" dirty="0" err="1"/>
              <a:t>logn</a:t>
            </a:r>
            <a:r>
              <a:rPr lang="en-US" dirty="0"/>
              <a:t>) search time, height balancing is required in BST(i.e. AVL)</a:t>
            </a:r>
          </a:p>
          <a:p>
            <a:pPr marL="0" indent="0">
              <a:buNone/>
            </a:pPr>
            <a:endParaRPr lang="en-US" dirty="0"/>
          </a:p>
          <a:p>
            <a:pPr marL="0" indent="0">
              <a:buNone/>
            </a:pPr>
            <a:r>
              <a:rPr lang="en-US" dirty="0"/>
              <a:t>The main drawback of these techniques is-</a:t>
            </a:r>
          </a:p>
          <a:p>
            <a:r>
              <a:rPr lang="en-US" dirty="0"/>
              <a:t>As the number of elements increases, time taken to perform the search also increases.</a:t>
            </a:r>
          </a:p>
          <a:p>
            <a:r>
              <a:rPr lang="en-US" dirty="0"/>
              <a:t>This becomes problematic when total number of elements become too large.</a:t>
            </a:r>
          </a:p>
          <a:p>
            <a:pPr marL="0" indent="0">
              <a:buNone/>
            </a:pPr>
            <a:endParaRPr lang="en-IN" dirty="0"/>
          </a:p>
        </p:txBody>
      </p:sp>
    </p:spTree>
    <p:extLst>
      <p:ext uri="{BB962C8B-B14F-4D97-AF65-F5344CB8AC3E}">
        <p14:creationId xmlns:p14="http://schemas.microsoft.com/office/powerpoint/2010/main" val="1467779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F626-E600-4237-A8D2-AD42CB3BF72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88848F6-C8EF-4D67-97EA-AF3D97ABF83B}"/>
              </a:ext>
            </a:extLst>
          </p:cNvPr>
          <p:cNvSpPr>
            <a:spLocks noGrp="1"/>
          </p:cNvSpPr>
          <p:nvPr>
            <p:ph idx="1"/>
          </p:nvPr>
        </p:nvSpPr>
        <p:spPr/>
        <p:txBody>
          <a:bodyPr/>
          <a:lstStyle/>
          <a:p>
            <a:pPr marL="0" indent="0">
              <a:buNone/>
            </a:pPr>
            <a:r>
              <a:rPr lang="en-US" dirty="0"/>
              <a:t>Hashing</a:t>
            </a:r>
          </a:p>
          <a:p>
            <a:r>
              <a:rPr lang="en-US" dirty="0"/>
              <a:t>Hashing is a well-known technique to search any particular record among several records.</a:t>
            </a:r>
          </a:p>
          <a:p>
            <a:r>
              <a:rPr lang="en-US" dirty="0"/>
              <a:t>It minimizes the number of comparisons while performing the search.</a:t>
            </a:r>
          </a:p>
          <a:p>
            <a:pPr marL="0" indent="0">
              <a:buNone/>
            </a:pPr>
            <a:r>
              <a:rPr lang="en-US" dirty="0"/>
              <a:t> </a:t>
            </a:r>
          </a:p>
          <a:p>
            <a:r>
              <a:rPr lang="en-US" dirty="0"/>
              <a:t>Advantage-</a:t>
            </a:r>
          </a:p>
          <a:p>
            <a:pPr lvl="1"/>
            <a:r>
              <a:rPr lang="en-US" dirty="0"/>
              <a:t>Unlike other searching techniques,</a:t>
            </a:r>
          </a:p>
          <a:p>
            <a:pPr lvl="1"/>
            <a:r>
              <a:rPr lang="en-US" dirty="0"/>
              <a:t>Hashing is extremely efficient.</a:t>
            </a:r>
          </a:p>
          <a:p>
            <a:pPr lvl="1"/>
            <a:r>
              <a:rPr lang="en-US" dirty="0"/>
              <a:t>The time taken by it to perform the search does not depend upon the total number of records.</a:t>
            </a:r>
          </a:p>
          <a:p>
            <a:pPr lvl="1"/>
            <a:r>
              <a:rPr lang="en-US" dirty="0"/>
              <a:t>It completes the search with constant time complexity O(1).</a:t>
            </a:r>
          </a:p>
          <a:p>
            <a:endParaRPr lang="en-IN" dirty="0"/>
          </a:p>
        </p:txBody>
      </p:sp>
    </p:spTree>
    <p:extLst>
      <p:ext uri="{BB962C8B-B14F-4D97-AF65-F5344CB8AC3E}">
        <p14:creationId xmlns:p14="http://schemas.microsoft.com/office/powerpoint/2010/main" val="1506887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5AC1D-7CB3-436D-A6E7-5DEDC7008BBE}"/>
              </a:ext>
            </a:extLst>
          </p:cNvPr>
          <p:cNvSpPr>
            <a:spLocks noGrp="1"/>
          </p:cNvSpPr>
          <p:nvPr>
            <p:ph type="title"/>
          </p:nvPr>
        </p:nvSpPr>
        <p:spPr/>
        <p:txBody>
          <a:bodyPr>
            <a:normAutofit/>
          </a:bodyPr>
          <a:lstStyle/>
          <a:p>
            <a:r>
              <a:rPr lang="en-US" dirty="0"/>
              <a:t>Hashing Mechanism-</a:t>
            </a:r>
            <a:endParaRPr lang="en-IN" dirty="0"/>
          </a:p>
        </p:txBody>
      </p:sp>
      <p:sp>
        <p:nvSpPr>
          <p:cNvPr id="3" name="Content Placeholder 2">
            <a:extLst>
              <a:ext uri="{FF2B5EF4-FFF2-40B4-BE49-F238E27FC236}">
                <a16:creationId xmlns:a16="http://schemas.microsoft.com/office/drawing/2014/main" id="{695B75EF-DB18-4514-B64E-B389CC4F17A4}"/>
              </a:ext>
            </a:extLst>
          </p:cNvPr>
          <p:cNvSpPr>
            <a:spLocks noGrp="1"/>
          </p:cNvSpPr>
          <p:nvPr>
            <p:ph idx="1"/>
          </p:nvPr>
        </p:nvSpPr>
        <p:spPr/>
        <p:txBody>
          <a:bodyPr/>
          <a:lstStyle/>
          <a:p>
            <a:r>
              <a:rPr lang="en-US" dirty="0"/>
              <a:t> In hashing,</a:t>
            </a:r>
          </a:p>
          <a:p>
            <a:pPr lvl="1"/>
            <a:r>
              <a:rPr lang="en-US" dirty="0"/>
              <a:t>An array data structure called as Hash table is used to store the data items.</a:t>
            </a:r>
          </a:p>
          <a:p>
            <a:pPr lvl="1"/>
            <a:r>
              <a:rPr lang="en-US" dirty="0"/>
              <a:t>Based on the hash key value, data items are inserted into the hash table.</a:t>
            </a:r>
          </a:p>
          <a:p>
            <a:r>
              <a:rPr lang="en-US" b="1" u="sng" dirty="0">
                <a:effectLst/>
              </a:rPr>
              <a:t>Hash Key Value-</a:t>
            </a:r>
            <a:endParaRPr lang="en-US" b="1" dirty="0"/>
          </a:p>
          <a:p>
            <a:pPr lvl="1"/>
            <a:r>
              <a:rPr lang="en-US" dirty="0"/>
              <a:t> Hash key value is a special value that serves as an index for a data item.</a:t>
            </a:r>
          </a:p>
          <a:p>
            <a:pPr lvl="1"/>
            <a:r>
              <a:rPr lang="en-US" dirty="0"/>
              <a:t>It indicates where the data item should be stored in the hash table.</a:t>
            </a:r>
          </a:p>
          <a:p>
            <a:pPr lvl="1"/>
            <a:r>
              <a:rPr lang="en-US" dirty="0"/>
              <a:t>Hash key value is generated using a hash function.</a:t>
            </a:r>
          </a:p>
          <a:p>
            <a:endParaRPr lang="en-IN" dirty="0"/>
          </a:p>
        </p:txBody>
      </p:sp>
      <p:pic>
        <p:nvPicPr>
          <p:cNvPr id="4" name="Picture 3">
            <a:extLst>
              <a:ext uri="{FF2B5EF4-FFF2-40B4-BE49-F238E27FC236}">
                <a16:creationId xmlns:a16="http://schemas.microsoft.com/office/drawing/2014/main" id="{D0AFE941-5CEE-4256-A360-9F3695AD75B9}"/>
              </a:ext>
            </a:extLst>
          </p:cNvPr>
          <p:cNvPicPr>
            <a:picLocks noChangeAspect="1"/>
          </p:cNvPicPr>
          <p:nvPr/>
        </p:nvPicPr>
        <p:blipFill rotWithShape="1">
          <a:blip r:embed="rId2"/>
          <a:srcRect l="2259" t="11453" r="2060" b="9313"/>
          <a:stretch/>
        </p:blipFill>
        <p:spPr>
          <a:xfrm>
            <a:off x="1867301" y="3683858"/>
            <a:ext cx="7372952" cy="2579570"/>
          </a:xfrm>
          <a:prstGeom prst="rect">
            <a:avLst/>
          </a:prstGeom>
        </p:spPr>
      </p:pic>
    </p:spTree>
    <p:extLst>
      <p:ext uri="{BB962C8B-B14F-4D97-AF65-F5344CB8AC3E}">
        <p14:creationId xmlns:p14="http://schemas.microsoft.com/office/powerpoint/2010/main" val="1527071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91E3-1CE2-4FC0-A434-1630BFE03B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04D233-BE1A-4E46-A812-F135724A5EB8}"/>
              </a:ext>
            </a:extLst>
          </p:cNvPr>
          <p:cNvSpPr>
            <a:spLocks noGrp="1"/>
          </p:cNvSpPr>
          <p:nvPr>
            <p:ph idx="1"/>
          </p:nvPr>
        </p:nvSpPr>
        <p:spPr/>
        <p:txBody>
          <a:bodyPr/>
          <a:lstStyle/>
          <a:p>
            <a:r>
              <a:rPr lang="en-US" dirty="0"/>
              <a:t>Hash Function-</a:t>
            </a:r>
          </a:p>
          <a:p>
            <a:pPr lvl="1"/>
            <a:r>
              <a:rPr lang="en-US" dirty="0"/>
              <a:t>Hash function takes the data item as an input and returns a small integer value as an output.</a:t>
            </a:r>
          </a:p>
          <a:p>
            <a:pPr lvl="1"/>
            <a:r>
              <a:rPr lang="en-US" dirty="0"/>
              <a:t>The small integer value is called as a hash value.</a:t>
            </a:r>
          </a:p>
          <a:p>
            <a:pPr lvl="1"/>
            <a:r>
              <a:rPr lang="en-US" dirty="0"/>
              <a:t>Hash value of the data item is then used as an index for storing it into the hash table.</a:t>
            </a:r>
          </a:p>
          <a:p>
            <a:r>
              <a:rPr lang="en-US" dirty="0"/>
              <a:t>Types of Hash Functions-</a:t>
            </a:r>
          </a:p>
          <a:p>
            <a:pPr lvl="1"/>
            <a:r>
              <a:rPr lang="en-US" dirty="0"/>
              <a:t>Mid Square Hash Function</a:t>
            </a:r>
          </a:p>
          <a:p>
            <a:pPr lvl="1"/>
            <a:r>
              <a:rPr lang="en-US" dirty="0"/>
              <a:t>Division Hash Function</a:t>
            </a:r>
          </a:p>
          <a:p>
            <a:pPr lvl="1"/>
            <a:r>
              <a:rPr lang="en-US" dirty="0"/>
              <a:t>Folding Hash Function </a:t>
            </a:r>
            <a:r>
              <a:rPr lang="en-US" dirty="0" err="1"/>
              <a:t>etc</a:t>
            </a:r>
            <a:endParaRPr lang="en-US" dirty="0"/>
          </a:p>
          <a:p>
            <a:pPr lvl="1"/>
            <a:endParaRPr lang="en-US" dirty="0"/>
          </a:p>
          <a:p>
            <a:r>
              <a:rPr lang="en-US" dirty="0"/>
              <a:t>Properties of Hash Function-</a:t>
            </a:r>
          </a:p>
          <a:p>
            <a:pPr lvl="1"/>
            <a:r>
              <a:rPr lang="en-US" dirty="0">
                <a:solidFill>
                  <a:srgbClr val="C00000"/>
                </a:solidFill>
              </a:rPr>
              <a:t>Easy to compute: </a:t>
            </a:r>
            <a:r>
              <a:rPr lang="en-US" dirty="0"/>
              <a:t>It should be easy to compute and must not become an algorithm in itself.</a:t>
            </a:r>
          </a:p>
          <a:p>
            <a:pPr lvl="1"/>
            <a:r>
              <a:rPr lang="en-US" dirty="0">
                <a:solidFill>
                  <a:srgbClr val="C00000"/>
                </a:solidFill>
              </a:rPr>
              <a:t>Uniform distribution: </a:t>
            </a:r>
            <a:r>
              <a:rPr lang="en-US" dirty="0"/>
              <a:t>It should provide a uniform distribution across the hash table and should not result in clustering.</a:t>
            </a:r>
          </a:p>
          <a:p>
            <a:pPr lvl="1"/>
            <a:r>
              <a:rPr lang="en-US" dirty="0">
                <a:solidFill>
                  <a:srgbClr val="C00000"/>
                </a:solidFill>
              </a:rPr>
              <a:t>Less collisions: </a:t>
            </a:r>
            <a:r>
              <a:rPr lang="en-US" dirty="0"/>
              <a:t>Collisions occur when pairs of elements are mapped to the same hash value. These should be avoided.</a:t>
            </a:r>
          </a:p>
          <a:p>
            <a:endParaRPr lang="en-IN" dirty="0"/>
          </a:p>
        </p:txBody>
      </p:sp>
      <p:graphicFrame>
        <p:nvGraphicFramePr>
          <p:cNvPr id="4" name="Table 3">
            <a:extLst>
              <a:ext uri="{FF2B5EF4-FFF2-40B4-BE49-F238E27FC236}">
                <a16:creationId xmlns:a16="http://schemas.microsoft.com/office/drawing/2014/main" id="{9234D153-802C-4F77-8315-D4996FF921B3}"/>
              </a:ext>
            </a:extLst>
          </p:cNvPr>
          <p:cNvGraphicFramePr>
            <a:graphicFrameLocks noGrp="1"/>
          </p:cNvGraphicFramePr>
          <p:nvPr>
            <p:extLst>
              <p:ext uri="{D42A27DB-BD31-4B8C-83A1-F6EECF244321}">
                <p14:modId xmlns:p14="http://schemas.microsoft.com/office/powerpoint/2010/main" val="1075561024"/>
              </p:ext>
            </p:extLst>
          </p:nvPr>
        </p:nvGraphicFramePr>
        <p:xfrm>
          <a:off x="1606068" y="888576"/>
          <a:ext cx="9989820" cy="365760"/>
        </p:xfrm>
        <a:graphic>
          <a:graphicData uri="http://schemas.openxmlformats.org/drawingml/2006/table">
            <a:tbl>
              <a:tblPr/>
              <a:tblGrid>
                <a:gridCol w="9989820">
                  <a:extLst>
                    <a:ext uri="{9D8B030D-6E8A-4147-A177-3AD203B41FA5}">
                      <a16:colId xmlns:a16="http://schemas.microsoft.com/office/drawing/2014/main" val="410613950"/>
                    </a:ext>
                  </a:extLst>
                </a:gridCol>
              </a:tblGrid>
              <a:tr h="0">
                <a:tc>
                  <a:txBody>
                    <a:bodyPr/>
                    <a:lstStyle/>
                    <a:p>
                      <a:pPr algn="ctr"/>
                      <a:r>
                        <a:rPr lang="en-US" b="1" dirty="0">
                          <a:solidFill>
                            <a:srgbClr val="FF0000"/>
                          </a:solidFill>
                          <a:effectLst/>
                        </a:rPr>
                        <a:t>Hash function is a function that maps any big number or string to a small integer value.</a:t>
                      </a:r>
                    </a:p>
                  </a:txBody>
                  <a:tcPr anchor="ctr">
                    <a:lnL>
                      <a:noFill/>
                    </a:lnL>
                    <a:lnR>
                      <a:noFill/>
                    </a:lnR>
                    <a:lnT>
                      <a:noFill/>
                    </a:lnT>
                    <a:lnB>
                      <a:noFill/>
                    </a:lnB>
                  </a:tcPr>
                </a:tc>
                <a:extLst>
                  <a:ext uri="{0D108BD9-81ED-4DB2-BD59-A6C34878D82A}">
                    <a16:rowId xmlns:a16="http://schemas.microsoft.com/office/drawing/2014/main" val="314843211"/>
                  </a:ext>
                </a:extLst>
              </a:tr>
            </a:tbl>
          </a:graphicData>
        </a:graphic>
      </p:graphicFrame>
    </p:spTree>
    <p:extLst>
      <p:ext uri="{BB962C8B-B14F-4D97-AF65-F5344CB8AC3E}">
        <p14:creationId xmlns:p14="http://schemas.microsoft.com/office/powerpoint/2010/main" val="4210939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210A5-E73E-4425-B93F-3403566D756B}"/>
              </a:ext>
            </a:extLst>
          </p:cNvPr>
          <p:cNvSpPr>
            <a:spLocks noGrp="1"/>
          </p:cNvSpPr>
          <p:nvPr>
            <p:ph type="title"/>
          </p:nvPr>
        </p:nvSpPr>
        <p:spPr/>
        <p:txBody>
          <a:bodyPr/>
          <a:lstStyle/>
          <a:p>
            <a:r>
              <a:rPr lang="en-IN" dirty="0"/>
              <a:t>Hash collision</a:t>
            </a:r>
          </a:p>
        </p:txBody>
      </p:sp>
      <p:sp>
        <p:nvSpPr>
          <p:cNvPr id="3" name="Content Placeholder 2">
            <a:extLst>
              <a:ext uri="{FF2B5EF4-FFF2-40B4-BE49-F238E27FC236}">
                <a16:creationId xmlns:a16="http://schemas.microsoft.com/office/drawing/2014/main" id="{454262EF-0032-4D37-818F-0663A738960A}"/>
              </a:ext>
            </a:extLst>
          </p:cNvPr>
          <p:cNvSpPr>
            <a:spLocks noGrp="1"/>
          </p:cNvSpPr>
          <p:nvPr>
            <p:ph idx="1"/>
          </p:nvPr>
        </p:nvSpPr>
        <p:spPr/>
        <p:txBody>
          <a:bodyPr/>
          <a:lstStyle/>
          <a:p>
            <a:r>
              <a:rPr lang="en-US" dirty="0"/>
              <a:t>In hashing,</a:t>
            </a:r>
          </a:p>
          <a:p>
            <a:pPr lvl="1"/>
            <a:r>
              <a:rPr lang="en-US" dirty="0"/>
              <a:t>Hash function is used to compute the hash value for a key.</a:t>
            </a:r>
          </a:p>
          <a:p>
            <a:pPr lvl="1"/>
            <a:r>
              <a:rPr lang="en-US" dirty="0"/>
              <a:t>Hash value is then used as an index to store the key in the hash table.</a:t>
            </a:r>
          </a:p>
          <a:p>
            <a:pPr lvl="1"/>
            <a:r>
              <a:rPr lang="en-US" dirty="0"/>
              <a:t>Hash function may return the same hash value for two or more keys.</a:t>
            </a:r>
          </a:p>
          <a:p>
            <a:endParaRPr lang="en-IN" dirty="0"/>
          </a:p>
        </p:txBody>
      </p:sp>
      <p:pic>
        <p:nvPicPr>
          <p:cNvPr id="4" name="Picture 3">
            <a:extLst>
              <a:ext uri="{FF2B5EF4-FFF2-40B4-BE49-F238E27FC236}">
                <a16:creationId xmlns:a16="http://schemas.microsoft.com/office/drawing/2014/main" id="{507A5138-8E50-44C2-B60E-DF9032064FFD}"/>
              </a:ext>
            </a:extLst>
          </p:cNvPr>
          <p:cNvPicPr>
            <a:picLocks noChangeAspect="1"/>
          </p:cNvPicPr>
          <p:nvPr/>
        </p:nvPicPr>
        <p:blipFill>
          <a:blip r:embed="rId2"/>
          <a:stretch>
            <a:fillRect/>
          </a:stretch>
        </p:blipFill>
        <p:spPr>
          <a:xfrm>
            <a:off x="6452853" y="2414042"/>
            <a:ext cx="5739147" cy="4152286"/>
          </a:xfrm>
          <a:prstGeom prst="rect">
            <a:avLst/>
          </a:prstGeom>
        </p:spPr>
      </p:pic>
      <p:sp>
        <p:nvSpPr>
          <p:cNvPr id="6" name="TextBox 5">
            <a:extLst>
              <a:ext uri="{FF2B5EF4-FFF2-40B4-BE49-F238E27FC236}">
                <a16:creationId xmlns:a16="http://schemas.microsoft.com/office/drawing/2014/main" id="{11FF0344-798C-42BB-B7DE-9E5D221EAA67}"/>
              </a:ext>
            </a:extLst>
          </p:cNvPr>
          <p:cNvSpPr txBox="1"/>
          <p:nvPr/>
        </p:nvSpPr>
        <p:spPr>
          <a:xfrm>
            <a:off x="356853" y="4167020"/>
            <a:ext cx="6126480" cy="646331"/>
          </a:xfrm>
          <a:prstGeom prst="rect">
            <a:avLst/>
          </a:prstGeom>
          <a:noFill/>
        </p:spPr>
        <p:txBody>
          <a:bodyPr wrap="square">
            <a:spAutoFit/>
          </a:bodyPr>
          <a:lstStyle/>
          <a:p>
            <a:pPr marL="0" indent="0">
              <a:buNone/>
            </a:pPr>
            <a:r>
              <a:rPr lang="en-US" sz="1800" dirty="0"/>
              <a:t>Collision Resolution Techniques are the techniques </a:t>
            </a:r>
          </a:p>
          <a:p>
            <a:pPr marL="0" indent="0">
              <a:buNone/>
            </a:pPr>
            <a:r>
              <a:rPr lang="en-US" sz="1800" dirty="0"/>
              <a:t>used for resolving or handling the collision.</a:t>
            </a:r>
          </a:p>
        </p:txBody>
      </p:sp>
      <p:sp>
        <p:nvSpPr>
          <p:cNvPr id="8" name="TextBox 7">
            <a:extLst>
              <a:ext uri="{FF2B5EF4-FFF2-40B4-BE49-F238E27FC236}">
                <a16:creationId xmlns:a16="http://schemas.microsoft.com/office/drawing/2014/main" id="{7B0139FC-8FB8-4D20-948E-553B2978FCFC}"/>
              </a:ext>
            </a:extLst>
          </p:cNvPr>
          <p:cNvSpPr txBox="1"/>
          <p:nvPr/>
        </p:nvSpPr>
        <p:spPr>
          <a:xfrm>
            <a:off x="356853" y="3262245"/>
            <a:ext cx="6126480" cy="646331"/>
          </a:xfrm>
          <a:prstGeom prst="rect">
            <a:avLst/>
          </a:prstGeom>
          <a:noFill/>
        </p:spPr>
        <p:txBody>
          <a:bodyPr wrap="square">
            <a:spAutoFit/>
          </a:bodyPr>
          <a:lstStyle/>
          <a:p>
            <a:r>
              <a:rPr lang="en-US" dirty="0">
                <a:solidFill>
                  <a:srgbClr val="C00000"/>
                </a:solidFill>
              </a:rPr>
              <a:t>When the hash value of a key maps to an already occupied bucket of the hash table, it is called as a Collision.</a:t>
            </a:r>
          </a:p>
        </p:txBody>
      </p:sp>
    </p:spTree>
    <p:extLst>
      <p:ext uri="{BB962C8B-B14F-4D97-AF65-F5344CB8AC3E}">
        <p14:creationId xmlns:p14="http://schemas.microsoft.com/office/powerpoint/2010/main" val="765390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093C5-3AED-4E30-AF51-DC1BE8923C74}"/>
              </a:ext>
            </a:extLst>
          </p:cNvPr>
          <p:cNvSpPr>
            <a:spLocks noGrp="1"/>
          </p:cNvSpPr>
          <p:nvPr>
            <p:ph type="title"/>
          </p:nvPr>
        </p:nvSpPr>
        <p:spPr/>
        <p:txBody>
          <a:bodyPr>
            <a:normAutofit/>
          </a:bodyPr>
          <a:lstStyle/>
          <a:p>
            <a:r>
              <a:rPr lang="en-IN" dirty="0"/>
              <a:t>1. Separate Chaining/Open Hashing:</a:t>
            </a:r>
          </a:p>
        </p:txBody>
      </p:sp>
      <p:sp>
        <p:nvSpPr>
          <p:cNvPr id="3" name="Content Placeholder 2">
            <a:extLst>
              <a:ext uri="{FF2B5EF4-FFF2-40B4-BE49-F238E27FC236}">
                <a16:creationId xmlns:a16="http://schemas.microsoft.com/office/drawing/2014/main" id="{92D8FE2E-7E6A-44A9-AC16-B5C916B50DF9}"/>
              </a:ext>
            </a:extLst>
          </p:cNvPr>
          <p:cNvSpPr>
            <a:spLocks noGrp="1"/>
          </p:cNvSpPr>
          <p:nvPr>
            <p:ph idx="1"/>
          </p:nvPr>
        </p:nvSpPr>
        <p:spPr/>
        <p:txBody>
          <a:bodyPr/>
          <a:lstStyle/>
          <a:p>
            <a:r>
              <a:rPr lang="en-US" dirty="0"/>
              <a:t>To handle the collision,</a:t>
            </a:r>
          </a:p>
          <a:p>
            <a:pPr lvl="1"/>
            <a:r>
              <a:rPr lang="en-US" dirty="0"/>
              <a:t>This technique creates a linked list to the slot for which collision occurs.</a:t>
            </a:r>
          </a:p>
          <a:p>
            <a:pPr lvl="1"/>
            <a:r>
              <a:rPr lang="en-US" dirty="0"/>
              <a:t>The new key is then inserted in the linked list.</a:t>
            </a:r>
          </a:p>
          <a:p>
            <a:pPr lvl="1"/>
            <a:r>
              <a:rPr lang="en-US" dirty="0"/>
              <a:t>These linked lists to the slots appear like chains.</a:t>
            </a:r>
          </a:p>
          <a:p>
            <a:pPr lvl="1"/>
            <a:r>
              <a:rPr lang="en-US" dirty="0"/>
              <a:t>That is why, this technique is called as separate chaining.</a:t>
            </a:r>
          </a:p>
          <a:p>
            <a:pPr marL="0" indent="0">
              <a:buNone/>
            </a:pPr>
            <a:r>
              <a:rPr lang="en-US" dirty="0">
                <a:solidFill>
                  <a:srgbClr val="C00000"/>
                </a:solidFill>
              </a:rPr>
              <a:t>Time Complexity-</a:t>
            </a:r>
          </a:p>
          <a:p>
            <a:r>
              <a:rPr lang="en-US" dirty="0"/>
              <a:t> For Searching-</a:t>
            </a:r>
          </a:p>
          <a:p>
            <a:pPr lvl="1"/>
            <a:r>
              <a:rPr lang="en-US" dirty="0"/>
              <a:t>In worst case, all the keys might map to the same bucket of the hash table.</a:t>
            </a:r>
          </a:p>
          <a:p>
            <a:pPr lvl="1"/>
            <a:r>
              <a:rPr lang="en-US" dirty="0"/>
              <a:t>In such a case, all the keys will be present in a single linked list.</a:t>
            </a:r>
          </a:p>
          <a:p>
            <a:pPr lvl="1"/>
            <a:r>
              <a:rPr lang="en-US" dirty="0"/>
              <a:t>Sequential search will have to be performed on the linked list to perform the search.</a:t>
            </a:r>
          </a:p>
          <a:p>
            <a:pPr lvl="1"/>
            <a:r>
              <a:rPr lang="en-US" dirty="0"/>
              <a:t>So, time taken for searching in worst case is O(n). </a:t>
            </a:r>
          </a:p>
          <a:p>
            <a:r>
              <a:rPr lang="en-US" dirty="0"/>
              <a:t>For Deletion-</a:t>
            </a:r>
          </a:p>
          <a:p>
            <a:pPr lvl="1"/>
            <a:r>
              <a:rPr lang="en-US" dirty="0"/>
              <a:t> In worst case, the key might have to be searched first and then deleted.</a:t>
            </a:r>
          </a:p>
          <a:p>
            <a:pPr lvl="1"/>
            <a:r>
              <a:rPr lang="en-US" dirty="0"/>
              <a:t>In worst case, time taken for searching is O(n).</a:t>
            </a:r>
          </a:p>
          <a:p>
            <a:pPr lvl="1"/>
            <a:r>
              <a:rPr lang="en-US" dirty="0"/>
              <a:t>So, time taken for deletion in worst case is O(n).</a:t>
            </a:r>
          </a:p>
          <a:p>
            <a:endParaRPr lang="en-IN" dirty="0"/>
          </a:p>
        </p:txBody>
      </p:sp>
    </p:spTree>
    <p:extLst>
      <p:ext uri="{BB962C8B-B14F-4D97-AF65-F5344CB8AC3E}">
        <p14:creationId xmlns:p14="http://schemas.microsoft.com/office/powerpoint/2010/main" val="3253183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4D51-6907-491E-9B08-30D2CCD34BE1}"/>
              </a:ext>
            </a:extLst>
          </p:cNvPr>
          <p:cNvSpPr>
            <a:spLocks noGrp="1"/>
          </p:cNvSpPr>
          <p:nvPr>
            <p:ph type="title"/>
          </p:nvPr>
        </p:nvSpPr>
        <p:spPr/>
        <p:txBody>
          <a:bodyPr/>
          <a:lstStyle/>
          <a:p>
            <a:r>
              <a:rPr lang="en-IN" dirty="0"/>
              <a:t>Hash function</a:t>
            </a:r>
          </a:p>
        </p:txBody>
      </p:sp>
      <p:sp>
        <p:nvSpPr>
          <p:cNvPr id="3" name="Content Placeholder 2">
            <a:extLst>
              <a:ext uri="{FF2B5EF4-FFF2-40B4-BE49-F238E27FC236}">
                <a16:creationId xmlns:a16="http://schemas.microsoft.com/office/drawing/2014/main" id="{1AFA1702-70E9-4A30-A740-7F5B929A08CF}"/>
              </a:ext>
            </a:extLst>
          </p:cNvPr>
          <p:cNvSpPr>
            <a:spLocks noGrp="1"/>
          </p:cNvSpPr>
          <p:nvPr>
            <p:ph idx="1"/>
          </p:nvPr>
        </p:nvSpPr>
        <p:spPr/>
        <p:txBody>
          <a:bodyPr/>
          <a:lstStyle/>
          <a:p>
            <a:pPr marL="0" indent="0">
              <a:buNone/>
            </a:pPr>
            <a:r>
              <a:rPr lang="en-US" dirty="0"/>
              <a:t>The Hash Function is usually a composition of two maps:</a:t>
            </a:r>
          </a:p>
          <a:p>
            <a:pPr marL="457200" indent="-457200">
              <a:buFont typeface="+mj-lt"/>
              <a:buAutoNum type="arabicPeriod"/>
            </a:pPr>
            <a:r>
              <a:rPr lang="en-US" dirty="0"/>
              <a:t>Hash code map</a:t>
            </a:r>
          </a:p>
          <a:p>
            <a:pPr lvl="1"/>
            <a:r>
              <a:rPr lang="en-US" dirty="0"/>
              <a:t>Keys </a:t>
            </a:r>
            <a:r>
              <a:rPr lang="en-US" dirty="0">
                <a:sym typeface="Wingdings" panose="05000000000000000000" pitchFamily="2" charset="2"/>
              </a:rPr>
              <a:t></a:t>
            </a:r>
            <a:r>
              <a:rPr lang="en-US" dirty="0"/>
              <a:t>  Integer</a:t>
            </a:r>
          </a:p>
          <a:p>
            <a:pPr marL="457200" indent="-457200">
              <a:buFont typeface="+mj-lt"/>
              <a:buAutoNum type="arabicPeriod"/>
            </a:pPr>
            <a:r>
              <a:rPr lang="en-US" dirty="0"/>
              <a:t>Compression map</a:t>
            </a:r>
          </a:p>
          <a:p>
            <a:pPr lvl="1"/>
            <a:r>
              <a:rPr lang="en-US" dirty="0"/>
              <a:t>Integer </a:t>
            </a:r>
            <a:r>
              <a:rPr lang="en-US" dirty="0">
                <a:sym typeface="Wingdings" panose="05000000000000000000" pitchFamily="2" charset="2"/>
              </a:rPr>
              <a:t></a:t>
            </a:r>
            <a:r>
              <a:rPr lang="en-US" dirty="0"/>
              <a:t>  A[0……m-1]</a:t>
            </a:r>
          </a:p>
          <a:p>
            <a:endParaRPr lang="en-IN" dirty="0"/>
          </a:p>
        </p:txBody>
      </p:sp>
    </p:spTree>
    <p:extLst>
      <p:ext uri="{BB962C8B-B14F-4D97-AF65-F5344CB8AC3E}">
        <p14:creationId xmlns:p14="http://schemas.microsoft.com/office/powerpoint/2010/main" val="3738487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04C93-530B-46AC-941E-417C56FC0203}"/>
              </a:ext>
            </a:extLst>
          </p:cNvPr>
          <p:cNvSpPr>
            <a:spLocks noGrp="1"/>
          </p:cNvSpPr>
          <p:nvPr>
            <p:ph type="title"/>
          </p:nvPr>
        </p:nvSpPr>
        <p:spPr/>
        <p:txBody>
          <a:bodyPr/>
          <a:lstStyle/>
          <a:p>
            <a:r>
              <a:rPr lang="en-IN" dirty="0"/>
              <a:t>Need for Good hash function</a:t>
            </a:r>
          </a:p>
        </p:txBody>
      </p:sp>
      <p:sp>
        <p:nvSpPr>
          <p:cNvPr id="3" name="Content Placeholder 2">
            <a:extLst>
              <a:ext uri="{FF2B5EF4-FFF2-40B4-BE49-F238E27FC236}">
                <a16:creationId xmlns:a16="http://schemas.microsoft.com/office/drawing/2014/main" id="{8A74A437-7871-4363-B860-77C8D1781F76}"/>
              </a:ext>
            </a:extLst>
          </p:cNvPr>
          <p:cNvSpPr>
            <a:spLocks noGrp="1"/>
          </p:cNvSpPr>
          <p:nvPr>
            <p:ph idx="1"/>
          </p:nvPr>
        </p:nvSpPr>
        <p:spPr/>
        <p:txBody>
          <a:bodyPr/>
          <a:lstStyle/>
          <a:p>
            <a:r>
              <a:rPr lang="en-US" sz="2000" dirty="0"/>
              <a:t>Let us understand the need for a good hash function. Assume that you have to store strings in the hash table by using the hashing technique {“</a:t>
            </a:r>
            <a:r>
              <a:rPr lang="en-US" sz="2000" dirty="0" err="1"/>
              <a:t>abcdef</a:t>
            </a:r>
            <a:r>
              <a:rPr lang="en-US" sz="2000" dirty="0"/>
              <a:t>”, “</a:t>
            </a:r>
            <a:r>
              <a:rPr lang="en-US" sz="2000" dirty="0" err="1"/>
              <a:t>bcdefa</a:t>
            </a:r>
            <a:r>
              <a:rPr lang="en-US" sz="2000" dirty="0"/>
              <a:t>”, “</a:t>
            </a:r>
            <a:r>
              <a:rPr lang="en-US" sz="2000" dirty="0" err="1"/>
              <a:t>cdefab</a:t>
            </a:r>
            <a:r>
              <a:rPr lang="en-US" sz="2000" dirty="0"/>
              <a:t>” , “</a:t>
            </a:r>
            <a:r>
              <a:rPr lang="en-US" sz="2000" dirty="0" err="1"/>
              <a:t>defabc</a:t>
            </a:r>
            <a:r>
              <a:rPr lang="en-US" sz="2000" dirty="0"/>
              <a:t>” }. </a:t>
            </a:r>
          </a:p>
          <a:p>
            <a:r>
              <a:rPr lang="en-US" sz="2000" dirty="0"/>
              <a:t>To compute the index for storing the strings, use a hash function that states the following:</a:t>
            </a:r>
          </a:p>
          <a:p>
            <a:pPr lvl="1"/>
            <a:r>
              <a:rPr lang="en-US" sz="1800" dirty="0"/>
              <a:t>The index for a specific string will be equal to the sum of the ASCII values of the characters modulo 593.</a:t>
            </a:r>
          </a:p>
          <a:p>
            <a:pPr lvl="1"/>
            <a:r>
              <a:rPr lang="en-US" sz="1800" dirty="0"/>
              <a:t>As 593 is a prime number, it will reduce the possibility of indexing different strings (collisions). It is recommended that you use prime numbers in case of modulo. </a:t>
            </a:r>
          </a:p>
          <a:p>
            <a:pPr lvl="1"/>
            <a:r>
              <a:rPr lang="en-US" sz="1800" dirty="0"/>
              <a:t>The ASCII values of a, b, c, d, e, and f are 97, 98, 99, 100, 101, and 102 respectively. Since all the strings contain the same characters with different permutations, the sum will 597. </a:t>
            </a:r>
          </a:p>
          <a:p>
            <a:pPr lvl="1"/>
            <a:r>
              <a:rPr lang="en-US" sz="1800" dirty="0"/>
              <a:t>The hash function will compute the same index for all the strings and the strings will be stored in the hash table in the following format. </a:t>
            </a:r>
          </a:p>
          <a:p>
            <a:pPr lvl="1"/>
            <a:r>
              <a:rPr lang="en-US" sz="1800" dirty="0"/>
              <a:t>As the index of all the strings is the same, you can create a list on that index and insert all the strings in that list</a:t>
            </a:r>
            <a:endParaRPr lang="en-IN" sz="1800" dirty="0"/>
          </a:p>
        </p:txBody>
      </p:sp>
      <p:pic>
        <p:nvPicPr>
          <p:cNvPr id="4" name="Picture 3">
            <a:extLst>
              <a:ext uri="{FF2B5EF4-FFF2-40B4-BE49-F238E27FC236}">
                <a16:creationId xmlns:a16="http://schemas.microsoft.com/office/drawing/2014/main" id="{19F7F793-4532-4120-9CAB-DF97D025C1E5}"/>
              </a:ext>
            </a:extLst>
          </p:cNvPr>
          <p:cNvPicPr>
            <a:picLocks noChangeAspect="1"/>
          </p:cNvPicPr>
          <p:nvPr/>
        </p:nvPicPr>
        <p:blipFill>
          <a:blip r:embed="rId2"/>
          <a:stretch>
            <a:fillRect/>
          </a:stretch>
        </p:blipFill>
        <p:spPr>
          <a:xfrm>
            <a:off x="2983832" y="4153130"/>
            <a:ext cx="6317330" cy="2440573"/>
          </a:xfrm>
          <a:prstGeom prst="rect">
            <a:avLst/>
          </a:prstGeom>
        </p:spPr>
      </p:pic>
    </p:spTree>
    <p:extLst>
      <p:ext uri="{BB962C8B-B14F-4D97-AF65-F5344CB8AC3E}">
        <p14:creationId xmlns:p14="http://schemas.microsoft.com/office/powerpoint/2010/main" val="834979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078D-071B-486F-B870-7363E036A03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E896CCB-5D5D-431B-B76C-260794FC2E35}"/>
              </a:ext>
            </a:extLst>
          </p:cNvPr>
          <p:cNvSpPr>
            <a:spLocks noGrp="1"/>
          </p:cNvSpPr>
          <p:nvPr>
            <p:ph idx="1"/>
          </p:nvPr>
        </p:nvSpPr>
        <p:spPr>
          <a:xfrm>
            <a:off x="134750" y="888576"/>
            <a:ext cx="8749368" cy="5590565"/>
          </a:xfrm>
        </p:spPr>
        <p:txBody>
          <a:bodyPr/>
          <a:lstStyle/>
          <a:p>
            <a:r>
              <a:rPr lang="en-US" sz="2000" dirty="0"/>
              <a:t>Let’s try a different hash function. The index for a specific string will be equal to sum of ASCII values of characters multiplied by their respective order in the string after which it is modulo with 2069 (prime number).</a:t>
            </a:r>
          </a:p>
          <a:p>
            <a:endParaRPr lang="en-US" sz="2000" dirty="0"/>
          </a:p>
          <a:p>
            <a:r>
              <a:rPr lang="en-US" sz="2000" dirty="0">
                <a:solidFill>
                  <a:srgbClr val="C00000"/>
                </a:solidFill>
              </a:rPr>
              <a:t>String                                Hash function                                                                 Index </a:t>
            </a:r>
            <a:br>
              <a:rPr lang="en-US" sz="2000" dirty="0"/>
            </a:br>
            <a:r>
              <a:rPr lang="en-US" sz="2000" dirty="0" err="1"/>
              <a:t>abcdef</a:t>
            </a:r>
            <a:r>
              <a:rPr lang="en-US" sz="2000" dirty="0"/>
              <a:t>     (97*1 + 98*2 + 99*3 + 100*4 + 101*5 + 102*6)%2069       38</a:t>
            </a:r>
            <a:br>
              <a:rPr lang="en-US" sz="2000" dirty="0"/>
            </a:br>
            <a:r>
              <a:rPr lang="en-US" sz="2000" dirty="0" err="1"/>
              <a:t>bcdefa</a:t>
            </a:r>
            <a:r>
              <a:rPr lang="en-US" sz="2000" dirty="0"/>
              <a:t>     (98*1 + 99*2 + 100*3 + 101*4 + 102*5 + 97*6)%2069       23</a:t>
            </a:r>
            <a:br>
              <a:rPr lang="en-US" sz="2000" dirty="0"/>
            </a:br>
            <a:r>
              <a:rPr lang="en-US" sz="2000" dirty="0" err="1"/>
              <a:t>cdefab</a:t>
            </a:r>
            <a:r>
              <a:rPr lang="en-US" sz="2000" dirty="0"/>
              <a:t>     (99*1 + 100*2 + 101*3 + 102*4 + 97*5 + 98*6)%2069      14</a:t>
            </a:r>
            <a:br>
              <a:rPr lang="en-US" sz="2000" dirty="0"/>
            </a:br>
            <a:r>
              <a:rPr lang="en-US" sz="2000" dirty="0" err="1"/>
              <a:t>defabc</a:t>
            </a:r>
            <a:r>
              <a:rPr lang="en-US" sz="2000" dirty="0"/>
              <a:t>          (100*1 + 101*2 + 102*3 + 97*4 + 98*5 + 99*6)%2069                      11 </a:t>
            </a:r>
          </a:p>
          <a:p>
            <a:endParaRPr lang="en-IN" sz="2000" dirty="0"/>
          </a:p>
        </p:txBody>
      </p:sp>
      <p:pic>
        <p:nvPicPr>
          <p:cNvPr id="4" name="Picture 3">
            <a:extLst>
              <a:ext uri="{FF2B5EF4-FFF2-40B4-BE49-F238E27FC236}">
                <a16:creationId xmlns:a16="http://schemas.microsoft.com/office/drawing/2014/main" id="{984AEDC9-9B7E-4730-9B91-B458EBAC5C7E}"/>
              </a:ext>
            </a:extLst>
          </p:cNvPr>
          <p:cNvPicPr>
            <a:picLocks noChangeAspect="1"/>
          </p:cNvPicPr>
          <p:nvPr/>
        </p:nvPicPr>
        <p:blipFill>
          <a:blip r:embed="rId2"/>
          <a:stretch>
            <a:fillRect/>
          </a:stretch>
        </p:blipFill>
        <p:spPr>
          <a:xfrm>
            <a:off x="9138277" y="721584"/>
            <a:ext cx="3053723" cy="5505406"/>
          </a:xfrm>
          <a:prstGeom prst="rect">
            <a:avLst/>
          </a:prstGeom>
        </p:spPr>
      </p:pic>
    </p:spTree>
    <p:extLst>
      <p:ext uri="{BB962C8B-B14F-4D97-AF65-F5344CB8AC3E}">
        <p14:creationId xmlns:p14="http://schemas.microsoft.com/office/powerpoint/2010/main" val="26942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074E-C9BF-4DEA-B3B1-818E37C918B6}"/>
              </a:ext>
            </a:extLst>
          </p:cNvPr>
          <p:cNvSpPr>
            <a:spLocks noGrp="1"/>
          </p:cNvSpPr>
          <p:nvPr>
            <p:ph type="title"/>
          </p:nvPr>
        </p:nvSpPr>
        <p:spPr/>
        <p:txBody>
          <a:bodyPr/>
          <a:lstStyle/>
          <a:p>
            <a:r>
              <a:rPr lang="en-IN" dirty="0"/>
              <a:t>Exercise</a:t>
            </a:r>
          </a:p>
        </p:txBody>
      </p:sp>
      <p:sp>
        <p:nvSpPr>
          <p:cNvPr id="3" name="Content Placeholder 2">
            <a:extLst>
              <a:ext uri="{FF2B5EF4-FFF2-40B4-BE49-F238E27FC236}">
                <a16:creationId xmlns:a16="http://schemas.microsoft.com/office/drawing/2014/main" id="{4D21A2CD-480C-47B5-9B25-4B84DA9D956D}"/>
              </a:ext>
            </a:extLst>
          </p:cNvPr>
          <p:cNvSpPr>
            <a:spLocks noGrp="1"/>
          </p:cNvSpPr>
          <p:nvPr>
            <p:ph idx="1"/>
          </p:nvPr>
        </p:nvSpPr>
        <p:spPr/>
        <p:txBody>
          <a:bodyPr/>
          <a:lstStyle/>
          <a:p>
            <a:r>
              <a:rPr lang="en-US" dirty="0"/>
              <a:t>Using the hash function ‘</a:t>
            </a:r>
            <a:r>
              <a:rPr lang="en-US" dirty="0">
                <a:solidFill>
                  <a:srgbClr val="C00000"/>
                </a:solidFill>
              </a:rPr>
              <a:t>key mod 7</a:t>
            </a:r>
            <a:r>
              <a:rPr lang="en-US" dirty="0"/>
              <a:t>’, insert the following sequence of keys in the hash table-50, 700, 76, 85, 92, 73 and 101. Use separate chaining technique for collision resolution.</a:t>
            </a:r>
            <a:endParaRPr lang="en-IN" dirty="0"/>
          </a:p>
        </p:txBody>
      </p:sp>
      <p:pic>
        <p:nvPicPr>
          <p:cNvPr id="4" name="Picture 3">
            <a:extLst>
              <a:ext uri="{FF2B5EF4-FFF2-40B4-BE49-F238E27FC236}">
                <a16:creationId xmlns:a16="http://schemas.microsoft.com/office/drawing/2014/main" id="{330B026F-61FE-4417-B50C-CE886A635976}"/>
              </a:ext>
            </a:extLst>
          </p:cNvPr>
          <p:cNvPicPr>
            <a:picLocks noChangeAspect="1"/>
          </p:cNvPicPr>
          <p:nvPr/>
        </p:nvPicPr>
        <p:blipFill>
          <a:blip r:embed="rId2"/>
          <a:stretch>
            <a:fillRect/>
          </a:stretch>
        </p:blipFill>
        <p:spPr>
          <a:xfrm>
            <a:off x="5949807" y="2039719"/>
            <a:ext cx="6096000" cy="3352800"/>
          </a:xfrm>
          <a:prstGeom prst="rect">
            <a:avLst/>
          </a:prstGeom>
        </p:spPr>
      </p:pic>
      <p:sp>
        <p:nvSpPr>
          <p:cNvPr id="5" name="Rectangle 4">
            <a:extLst>
              <a:ext uri="{FF2B5EF4-FFF2-40B4-BE49-F238E27FC236}">
                <a16:creationId xmlns:a16="http://schemas.microsoft.com/office/drawing/2014/main" id="{1606BF9E-FF27-4B40-B32C-FB5007429F29}"/>
              </a:ext>
            </a:extLst>
          </p:cNvPr>
          <p:cNvSpPr/>
          <p:nvPr/>
        </p:nvSpPr>
        <p:spPr>
          <a:xfrm>
            <a:off x="0" y="2118806"/>
            <a:ext cx="6103142" cy="1477328"/>
          </a:xfrm>
          <a:prstGeom prst="rect">
            <a:avLst/>
          </a:prstGeom>
        </p:spPr>
        <p:txBody>
          <a:bodyPr wrap="square">
            <a:spAutoFit/>
          </a:bodyPr>
          <a:lstStyle/>
          <a:p>
            <a:r>
              <a:rPr lang="en-US" sz="1400" b="1" u="sng" dirty="0">
                <a:effectLst/>
                <a:latin typeface="Bahnschrift Light" panose="020B0502040204020203" pitchFamily="34" charset="0"/>
              </a:rPr>
              <a:t>Step-01:</a:t>
            </a:r>
            <a:endParaRPr lang="en-US" sz="1400" b="1" dirty="0">
              <a:latin typeface="Bahnschrift Light" panose="020B0502040204020203" pitchFamily="34" charset="0"/>
            </a:endParaRPr>
          </a:p>
          <a:p>
            <a:r>
              <a:rPr lang="en-US" sz="1400" dirty="0">
                <a:latin typeface="Bahnschrift Light" panose="020B0502040204020203" pitchFamily="34" charset="0"/>
              </a:rPr>
              <a:t> </a:t>
            </a:r>
          </a:p>
          <a:p>
            <a:pPr marL="285750" indent="-285750">
              <a:buFont typeface="Arial" panose="020B0604020202020204" pitchFamily="34" charset="0"/>
              <a:buChar char="•"/>
            </a:pPr>
            <a:r>
              <a:rPr lang="en-US" sz="1400" dirty="0">
                <a:latin typeface="Bahnschrift Light" panose="020B0502040204020203" pitchFamily="34" charset="0"/>
              </a:rPr>
              <a:t>Draw an empty hash table.</a:t>
            </a:r>
          </a:p>
          <a:p>
            <a:pPr marL="285750" indent="-285750">
              <a:buFont typeface="Arial" panose="020B0604020202020204" pitchFamily="34" charset="0"/>
              <a:buChar char="•"/>
            </a:pPr>
            <a:r>
              <a:rPr lang="en-US" sz="1400" dirty="0">
                <a:latin typeface="Bahnschrift Light" panose="020B0502040204020203" pitchFamily="34" charset="0"/>
              </a:rPr>
              <a:t>For the given hash function, the possible range of hash values is [0, 6].</a:t>
            </a:r>
          </a:p>
          <a:p>
            <a:pPr marL="285750" indent="-285750">
              <a:buFont typeface="Arial" panose="020B0604020202020204" pitchFamily="34" charset="0"/>
              <a:buChar char="•"/>
            </a:pPr>
            <a:r>
              <a:rPr lang="en-US" sz="1400" dirty="0">
                <a:latin typeface="Bahnschrift Light" panose="020B0502040204020203" pitchFamily="34" charset="0"/>
              </a:rPr>
              <a:t>So, draw an empty hash table consisting of 7 buckets as-</a:t>
            </a:r>
          </a:p>
          <a:p>
            <a:r>
              <a:rPr lang="en-US" sz="2000" dirty="0">
                <a:latin typeface="Bahnschrift Light" panose="020B0502040204020203" pitchFamily="34" charset="0"/>
              </a:rPr>
              <a:t> </a:t>
            </a:r>
          </a:p>
        </p:txBody>
      </p:sp>
      <p:sp>
        <p:nvSpPr>
          <p:cNvPr id="6" name="Rectangle 5">
            <a:extLst>
              <a:ext uri="{FF2B5EF4-FFF2-40B4-BE49-F238E27FC236}">
                <a16:creationId xmlns:a16="http://schemas.microsoft.com/office/drawing/2014/main" id="{3C7FD9E9-310E-4580-A961-861A5EE8A73A}"/>
              </a:ext>
            </a:extLst>
          </p:cNvPr>
          <p:cNvSpPr/>
          <p:nvPr/>
        </p:nvSpPr>
        <p:spPr>
          <a:xfrm>
            <a:off x="16434" y="3292077"/>
            <a:ext cx="6096000" cy="1384995"/>
          </a:xfrm>
          <a:prstGeom prst="rect">
            <a:avLst/>
          </a:prstGeom>
        </p:spPr>
        <p:txBody>
          <a:bodyPr>
            <a:spAutoFit/>
          </a:bodyPr>
          <a:lstStyle/>
          <a:p>
            <a:r>
              <a:rPr lang="en-US" sz="1400" b="1" u="sng" dirty="0">
                <a:effectLst/>
                <a:latin typeface="Bahnschrift Light" panose="020B0502040204020203" pitchFamily="34" charset="0"/>
              </a:rPr>
              <a:t>Step-02:</a:t>
            </a:r>
            <a:endParaRPr lang="en-US" sz="1400" b="1" dirty="0">
              <a:latin typeface="Bahnschrift Light" panose="020B0502040204020203" pitchFamily="34" charset="0"/>
            </a:endParaRPr>
          </a:p>
          <a:p>
            <a:r>
              <a:rPr lang="en-US" sz="1400" dirty="0">
                <a:latin typeface="Bahnschrift Light" panose="020B0502040204020203" pitchFamily="34" charset="0"/>
              </a:rPr>
              <a:t> </a:t>
            </a:r>
          </a:p>
          <a:p>
            <a:pPr marL="171450" indent="-171450">
              <a:buFont typeface="Arial" panose="020B0604020202020204" pitchFamily="34" charset="0"/>
              <a:buChar char="•"/>
            </a:pPr>
            <a:r>
              <a:rPr lang="en-US" sz="1400" dirty="0">
                <a:latin typeface="Bahnschrift Light" panose="020B0502040204020203" pitchFamily="34" charset="0"/>
              </a:rPr>
              <a:t>Insert the given keys in the hash table one by one.</a:t>
            </a:r>
          </a:p>
          <a:p>
            <a:pPr marL="171450" indent="-171450">
              <a:buFont typeface="Arial" panose="020B0604020202020204" pitchFamily="34" charset="0"/>
              <a:buChar char="•"/>
            </a:pPr>
            <a:r>
              <a:rPr lang="en-US" sz="1400" dirty="0">
                <a:latin typeface="Bahnschrift Light" panose="020B0502040204020203" pitchFamily="34" charset="0"/>
              </a:rPr>
              <a:t>The first key to be inserted in the hash table = 50.</a:t>
            </a:r>
          </a:p>
          <a:p>
            <a:pPr marL="171450" indent="-171450">
              <a:buFont typeface="Arial" panose="020B0604020202020204" pitchFamily="34" charset="0"/>
              <a:buChar char="•"/>
            </a:pPr>
            <a:r>
              <a:rPr lang="en-US" sz="1400" dirty="0">
                <a:latin typeface="Bahnschrift Light" panose="020B0502040204020203" pitchFamily="34" charset="0"/>
              </a:rPr>
              <a:t>Bucket of the hash table to which key 50 maps = 50 mod 7 = 1.</a:t>
            </a:r>
          </a:p>
          <a:p>
            <a:pPr marL="171450" indent="-171450">
              <a:buFont typeface="Arial" panose="020B0604020202020204" pitchFamily="34" charset="0"/>
              <a:buChar char="•"/>
            </a:pPr>
            <a:r>
              <a:rPr lang="en-US" sz="1400" dirty="0">
                <a:latin typeface="Bahnschrift Light" panose="020B0502040204020203" pitchFamily="34" charset="0"/>
              </a:rPr>
              <a:t>So, key 50 will be inserted in bucket-1 of the hash table as-</a:t>
            </a:r>
          </a:p>
        </p:txBody>
      </p:sp>
      <p:sp>
        <p:nvSpPr>
          <p:cNvPr id="7" name="Rectangle 6">
            <a:extLst>
              <a:ext uri="{FF2B5EF4-FFF2-40B4-BE49-F238E27FC236}">
                <a16:creationId xmlns:a16="http://schemas.microsoft.com/office/drawing/2014/main" id="{9A2B91B2-63A6-4C86-A174-D4C6ED840AF0}"/>
              </a:ext>
            </a:extLst>
          </p:cNvPr>
          <p:cNvSpPr/>
          <p:nvPr/>
        </p:nvSpPr>
        <p:spPr>
          <a:xfrm>
            <a:off x="915565" y="4752439"/>
            <a:ext cx="1836593" cy="276999"/>
          </a:xfrm>
          <a:prstGeom prst="rect">
            <a:avLst/>
          </a:prstGeom>
        </p:spPr>
        <p:txBody>
          <a:bodyPr wrap="none">
            <a:spAutoFit/>
          </a:bodyPr>
          <a:lstStyle/>
          <a:p>
            <a:r>
              <a:rPr lang="da-DK" sz="1200" dirty="0"/>
              <a:t>700 maps = 700 mod 7 = 0</a:t>
            </a:r>
            <a:endParaRPr lang="en-IN" sz="1200" dirty="0"/>
          </a:p>
        </p:txBody>
      </p:sp>
      <p:sp>
        <p:nvSpPr>
          <p:cNvPr id="9" name="Rectangle 8">
            <a:extLst>
              <a:ext uri="{FF2B5EF4-FFF2-40B4-BE49-F238E27FC236}">
                <a16:creationId xmlns:a16="http://schemas.microsoft.com/office/drawing/2014/main" id="{63FB0312-BAE0-40A1-BC7A-4A9B1A8A86BA}"/>
              </a:ext>
            </a:extLst>
          </p:cNvPr>
          <p:cNvSpPr/>
          <p:nvPr/>
        </p:nvSpPr>
        <p:spPr>
          <a:xfrm>
            <a:off x="915565" y="5029438"/>
            <a:ext cx="1717971" cy="276999"/>
          </a:xfrm>
          <a:prstGeom prst="rect">
            <a:avLst/>
          </a:prstGeom>
        </p:spPr>
        <p:txBody>
          <a:bodyPr wrap="none">
            <a:spAutoFit/>
          </a:bodyPr>
          <a:lstStyle/>
          <a:p>
            <a:r>
              <a:rPr lang="da-DK" sz="1200" dirty="0"/>
              <a:t>76 maps = 76 mod 7 = 6.</a:t>
            </a:r>
            <a:endParaRPr lang="en-IN" sz="1200" dirty="0"/>
          </a:p>
        </p:txBody>
      </p:sp>
      <p:sp>
        <p:nvSpPr>
          <p:cNvPr id="10" name="Rectangle 1">
            <a:extLst>
              <a:ext uri="{FF2B5EF4-FFF2-40B4-BE49-F238E27FC236}">
                <a16:creationId xmlns:a16="http://schemas.microsoft.com/office/drawing/2014/main" id="{CCEC2288-04BC-4FFA-B2E6-2D5F468A3E15}"/>
              </a:ext>
            </a:extLst>
          </p:cNvPr>
          <p:cNvSpPr>
            <a:spLocks noChangeArrowheads="1"/>
          </p:cNvSpPr>
          <p:nvPr/>
        </p:nvSpPr>
        <p:spPr bwMode="auto">
          <a:xfrm>
            <a:off x="915565" y="5152548"/>
            <a:ext cx="58326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85 maps = 85 mod 7 = 1.</a:t>
            </a: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rgbClr val="C00000"/>
                </a:solidFill>
                <a:effectLst/>
                <a:latin typeface="Arial" panose="020B0604020202020204" pitchFamily="34" charset="0"/>
              </a:rPr>
              <a:t>Since bucket-1 is already occupied, so collision occurs</a:t>
            </a:r>
            <a:r>
              <a:rPr kumimoji="0" lang="en-US" altLang="en-US" sz="1200" b="0" i="0" u="none" strike="noStrike" cap="none" normalizeH="0" baseline="0" dirty="0">
                <a:ln>
                  <a:noFill/>
                </a:ln>
                <a:solidFill>
                  <a:schemeClr val="tx1"/>
                </a:solidFill>
                <a:effectLst/>
                <a:latin typeface="Arial" panose="020B0604020202020204" pitchFamily="34" charset="0"/>
              </a:rPr>
              <a:t>. </a:t>
            </a:r>
          </a:p>
        </p:txBody>
      </p:sp>
      <p:sp>
        <p:nvSpPr>
          <p:cNvPr id="11" name="Rectangle 10">
            <a:extLst>
              <a:ext uri="{FF2B5EF4-FFF2-40B4-BE49-F238E27FC236}">
                <a16:creationId xmlns:a16="http://schemas.microsoft.com/office/drawing/2014/main" id="{F94D71EC-1BE0-4498-A797-E69E7A838123}"/>
              </a:ext>
            </a:extLst>
          </p:cNvPr>
          <p:cNvSpPr/>
          <p:nvPr/>
        </p:nvSpPr>
        <p:spPr>
          <a:xfrm>
            <a:off x="915565" y="5787893"/>
            <a:ext cx="1717971" cy="276999"/>
          </a:xfrm>
          <a:prstGeom prst="rect">
            <a:avLst/>
          </a:prstGeom>
        </p:spPr>
        <p:txBody>
          <a:bodyPr wrap="none">
            <a:spAutoFit/>
          </a:bodyPr>
          <a:lstStyle/>
          <a:p>
            <a:r>
              <a:rPr lang="da-DK" sz="1200" dirty="0"/>
              <a:t>92 maps = 92 mod 7 = 1.</a:t>
            </a:r>
            <a:endParaRPr lang="en-IN" sz="1200" dirty="0"/>
          </a:p>
        </p:txBody>
      </p:sp>
      <p:sp>
        <p:nvSpPr>
          <p:cNvPr id="12" name="Rectangle 11">
            <a:extLst>
              <a:ext uri="{FF2B5EF4-FFF2-40B4-BE49-F238E27FC236}">
                <a16:creationId xmlns:a16="http://schemas.microsoft.com/office/drawing/2014/main" id="{62D54514-41AA-4470-B367-8679BAD746E1}"/>
              </a:ext>
            </a:extLst>
          </p:cNvPr>
          <p:cNvSpPr/>
          <p:nvPr/>
        </p:nvSpPr>
        <p:spPr>
          <a:xfrm>
            <a:off x="915565" y="6064892"/>
            <a:ext cx="1717971" cy="276999"/>
          </a:xfrm>
          <a:prstGeom prst="rect">
            <a:avLst/>
          </a:prstGeom>
        </p:spPr>
        <p:txBody>
          <a:bodyPr wrap="none">
            <a:spAutoFit/>
          </a:bodyPr>
          <a:lstStyle/>
          <a:p>
            <a:r>
              <a:rPr lang="da-DK" sz="1200" dirty="0"/>
              <a:t>73 maps = 73 mod 7 = 3.</a:t>
            </a:r>
            <a:endParaRPr lang="en-IN" sz="1200" dirty="0"/>
          </a:p>
        </p:txBody>
      </p:sp>
      <p:sp>
        <p:nvSpPr>
          <p:cNvPr id="13" name="Rectangle 12">
            <a:extLst>
              <a:ext uri="{FF2B5EF4-FFF2-40B4-BE49-F238E27FC236}">
                <a16:creationId xmlns:a16="http://schemas.microsoft.com/office/drawing/2014/main" id="{8D24934E-8041-43CD-AC44-0C09F5E58E16}"/>
              </a:ext>
            </a:extLst>
          </p:cNvPr>
          <p:cNvSpPr/>
          <p:nvPr/>
        </p:nvSpPr>
        <p:spPr>
          <a:xfrm>
            <a:off x="915565" y="6281194"/>
            <a:ext cx="1875065" cy="276999"/>
          </a:xfrm>
          <a:prstGeom prst="rect">
            <a:avLst/>
          </a:prstGeom>
        </p:spPr>
        <p:txBody>
          <a:bodyPr wrap="none">
            <a:spAutoFit/>
          </a:bodyPr>
          <a:lstStyle/>
          <a:p>
            <a:r>
              <a:rPr lang="da-DK" sz="1200" dirty="0"/>
              <a:t>101 maps = 101 mod 7 = 3.</a:t>
            </a:r>
            <a:endParaRPr lang="en-IN" sz="1200" dirty="0"/>
          </a:p>
        </p:txBody>
      </p:sp>
    </p:spTree>
    <p:extLst>
      <p:ext uri="{BB962C8B-B14F-4D97-AF65-F5344CB8AC3E}">
        <p14:creationId xmlns:p14="http://schemas.microsoft.com/office/powerpoint/2010/main" val="3774301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0" grpId="0"/>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16A91-0C87-4A22-8DC2-39DB81C81170}"/>
              </a:ext>
            </a:extLst>
          </p:cNvPr>
          <p:cNvSpPr>
            <a:spLocks noGrp="1"/>
          </p:cNvSpPr>
          <p:nvPr>
            <p:ph type="title"/>
          </p:nvPr>
        </p:nvSpPr>
        <p:spPr/>
        <p:txBody>
          <a:bodyPr/>
          <a:lstStyle/>
          <a:p>
            <a:r>
              <a:rPr lang="en-IN" dirty="0"/>
              <a:t>2. Open Addressing</a:t>
            </a:r>
          </a:p>
        </p:txBody>
      </p:sp>
      <p:sp>
        <p:nvSpPr>
          <p:cNvPr id="3" name="Content Placeholder 2">
            <a:extLst>
              <a:ext uri="{FF2B5EF4-FFF2-40B4-BE49-F238E27FC236}">
                <a16:creationId xmlns:a16="http://schemas.microsoft.com/office/drawing/2014/main" id="{0BFA48C1-F05B-44A1-AA5E-3503813B5B39}"/>
              </a:ext>
            </a:extLst>
          </p:cNvPr>
          <p:cNvSpPr>
            <a:spLocks noGrp="1"/>
          </p:cNvSpPr>
          <p:nvPr>
            <p:ph idx="1"/>
          </p:nvPr>
        </p:nvSpPr>
        <p:spPr/>
        <p:txBody>
          <a:bodyPr/>
          <a:lstStyle/>
          <a:p>
            <a:r>
              <a:rPr lang="en-US" dirty="0"/>
              <a:t>In open addressing,</a:t>
            </a:r>
          </a:p>
          <a:p>
            <a:pPr lvl="1"/>
            <a:r>
              <a:rPr lang="en-US" dirty="0"/>
              <a:t>Unlike separate chaining, all the keys are stored inside the hash table.</a:t>
            </a:r>
          </a:p>
          <a:p>
            <a:pPr lvl="1"/>
            <a:r>
              <a:rPr lang="en-US" dirty="0"/>
              <a:t>No key is stored outside the hash table.</a:t>
            </a:r>
          </a:p>
          <a:p>
            <a:pPr marL="0" indent="0">
              <a:buNone/>
            </a:pPr>
            <a:r>
              <a:rPr lang="en-US" dirty="0"/>
              <a:t>Techniques used for open addressing are-</a:t>
            </a:r>
          </a:p>
          <a:p>
            <a:pPr marL="1001712" lvl="1" indent="-457200">
              <a:buFont typeface="+mj-lt"/>
              <a:buAutoNum type="alphaLcParenR"/>
            </a:pPr>
            <a:r>
              <a:rPr lang="en-US" dirty="0"/>
              <a:t>Linear Probing</a:t>
            </a:r>
          </a:p>
          <a:p>
            <a:pPr marL="1001712" lvl="1" indent="-457200">
              <a:buFont typeface="+mj-lt"/>
              <a:buAutoNum type="alphaLcParenR"/>
            </a:pPr>
            <a:r>
              <a:rPr lang="en-US" dirty="0"/>
              <a:t>Quadratic Probing</a:t>
            </a:r>
          </a:p>
          <a:p>
            <a:pPr marL="1001712" lvl="1" indent="-457200">
              <a:buFont typeface="+mj-lt"/>
              <a:buAutoNum type="alphaLcParenR"/>
            </a:pPr>
            <a:r>
              <a:rPr lang="en-US" dirty="0"/>
              <a:t>Double Hashing</a:t>
            </a:r>
          </a:p>
          <a:p>
            <a:r>
              <a:rPr lang="en-US" dirty="0"/>
              <a:t>Insert Operation-</a:t>
            </a:r>
          </a:p>
          <a:p>
            <a:pPr lvl="1"/>
            <a:r>
              <a:rPr lang="en-US" dirty="0"/>
              <a:t>Hash function is used to compute the hash value for a key to be inserted.</a:t>
            </a:r>
          </a:p>
          <a:p>
            <a:pPr lvl="1"/>
            <a:r>
              <a:rPr lang="en-US" dirty="0"/>
              <a:t>Hash value is then used as an index to store the key in the hash table.</a:t>
            </a:r>
          </a:p>
          <a:p>
            <a:r>
              <a:rPr lang="en-US" dirty="0"/>
              <a:t> In case of collision,</a:t>
            </a:r>
          </a:p>
          <a:p>
            <a:pPr lvl="1"/>
            <a:r>
              <a:rPr lang="en-US" dirty="0"/>
              <a:t>Probing is performed until an empty bucket is found.</a:t>
            </a:r>
          </a:p>
          <a:p>
            <a:pPr lvl="1"/>
            <a:r>
              <a:rPr lang="en-US" dirty="0"/>
              <a:t>Once an empty bucket is found, the key is inserted.</a:t>
            </a:r>
          </a:p>
          <a:p>
            <a:pPr lvl="1"/>
            <a:r>
              <a:rPr lang="en-US" dirty="0"/>
              <a:t>Probing is performed in accordance with the technique used for open addressing</a:t>
            </a:r>
            <a:endParaRPr lang="en-IN" dirty="0"/>
          </a:p>
        </p:txBody>
      </p:sp>
    </p:spTree>
    <p:extLst>
      <p:ext uri="{BB962C8B-B14F-4D97-AF65-F5344CB8AC3E}">
        <p14:creationId xmlns:p14="http://schemas.microsoft.com/office/powerpoint/2010/main" val="2375036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78246-5FC7-48C7-BF49-93498F3255C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059CD5-4BCD-460C-829E-5454119BCF0E}"/>
              </a:ext>
            </a:extLst>
          </p:cNvPr>
          <p:cNvSpPr>
            <a:spLocks noGrp="1"/>
          </p:cNvSpPr>
          <p:nvPr>
            <p:ph idx="1"/>
          </p:nvPr>
        </p:nvSpPr>
        <p:spPr/>
        <p:txBody>
          <a:bodyPr/>
          <a:lstStyle/>
          <a:p>
            <a:r>
              <a:rPr lang="en-US" dirty="0"/>
              <a:t>Search Operation-</a:t>
            </a:r>
          </a:p>
          <a:p>
            <a:pPr lvl="1"/>
            <a:r>
              <a:rPr lang="en-US" dirty="0"/>
              <a:t>To search any particular key,</a:t>
            </a:r>
          </a:p>
          <a:p>
            <a:pPr lvl="1"/>
            <a:r>
              <a:rPr lang="en-US" dirty="0"/>
              <a:t>Its hash value is obtained using the hash function used.</a:t>
            </a:r>
          </a:p>
          <a:p>
            <a:pPr lvl="1"/>
            <a:r>
              <a:rPr lang="en-US" dirty="0"/>
              <a:t>Using the hash value, that bucket of the hash table is checked.</a:t>
            </a:r>
          </a:p>
          <a:p>
            <a:pPr lvl="1"/>
            <a:r>
              <a:rPr lang="en-US" dirty="0"/>
              <a:t>If the required key is found, the key is searched.</a:t>
            </a:r>
          </a:p>
          <a:p>
            <a:pPr lvl="1"/>
            <a:r>
              <a:rPr lang="en-US" dirty="0"/>
              <a:t>Otherwise, the subsequent buckets are checked until the required key or an empty bucket is found.</a:t>
            </a:r>
          </a:p>
          <a:p>
            <a:pPr lvl="1"/>
            <a:r>
              <a:rPr lang="en-US" dirty="0"/>
              <a:t>The empty bucket indicates that the key is not present in the hash table.</a:t>
            </a:r>
          </a:p>
          <a:p>
            <a:r>
              <a:rPr lang="en-US" dirty="0"/>
              <a:t>Delete Operation-</a:t>
            </a:r>
          </a:p>
          <a:p>
            <a:pPr lvl="1"/>
            <a:r>
              <a:rPr lang="en-US" dirty="0"/>
              <a:t>The key is first searched and then deleted.</a:t>
            </a:r>
          </a:p>
          <a:p>
            <a:pPr lvl="1"/>
            <a:r>
              <a:rPr lang="en-US" dirty="0"/>
              <a:t>After deleting the key, that particular bucket is marked as “deleted”.</a:t>
            </a:r>
          </a:p>
          <a:p>
            <a:endParaRPr lang="en-US" dirty="0"/>
          </a:p>
          <a:p>
            <a:r>
              <a:rPr lang="en-US" dirty="0"/>
              <a:t>NOTE-</a:t>
            </a:r>
          </a:p>
          <a:p>
            <a:pPr lvl="1"/>
            <a:r>
              <a:rPr lang="en-US" dirty="0"/>
              <a:t>During insertion, the buckets marked as “deleted” are treated like any other empty bucket.</a:t>
            </a:r>
          </a:p>
          <a:p>
            <a:pPr lvl="1"/>
            <a:r>
              <a:rPr lang="en-US" dirty="0"/>
              <a:t>During searching, the search is not terminated on encountering the bucket marked as “deleted”.</a:t>
            </a:r>
          </a:p>
          <a:p>
            <a:pPr lvl="1"/>
            <a:r>
              <a:rPr lang="en-US" dirty="0"/>
              <a:t>The search terminates only after the required key or an empty bucket is found</a:t>
            </a:r>
            <a:endParaRPr lang="en-IN" dirty="0"/>
          </a:p>
        </p:txBody>
      </p:sp>
    </p:spTree>
    <p:extLst>
      <p:ext uri="{BB962C8B-B14F-4D97-AF65-F5344CB8AC3E}">
        <p14:creationId xmlns:p14="http://schemas.microsoft.com/office/powerpoint/2010/main" val="3608144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62463-A4DB-4983-AA7B-53183414F59D}"/>
              </a:ext>
            </a:extLst>
          </p:cNvPr>
          <p:cNvSpPr>
            <a:spLocks noGrp="1"/>
          </p:cNvSpPr>
          <p:nvPr>
            <p:ph type="title"/>
          </p:nvPr>
        </p:nvSpPr>
        <p:spPr/>
        <p:txBody>
          <a:bodyPr/>
          <a:lstStyle/>
          <a:p>
            <a:r>
              <a:rPr lang="en-IN" dirty="0"/>
              <a:t>a. Linear Probing</a:t>
            </a:r>
          </a:p>
        </p:txBody>
      </p:sp>
      <p:sp>
        <p:nvSpPr>
          <p:cNvPr id="3" name="Content Placeholder 2">
            <a:extLst>
              <a:ext uri="{FF2B5EF4-FFF2-40B4-BE49-F238E27FC236}">
                <a16:creationId xmlns:a16="http://schemas.microsoft.com/office/drawing/2014/main" id="{6077AAFC-F1D1-4E30-BE30-E4F43EA3FE69}"/>
              </a:ext>
            </a:extLst>
          </p:cNvPr>
          <p:cNvSpPr>
            <a:spLocks noGrp="1"/>
          </p:cNvSpPr>
          <p:nvPr>
            <p:ph idx="1"/>
          </p:nvPr>
        </p:nvSpPr>
        <p:spPr/>
        <p:txBody>
          <a:bodyPr/>
          <a:lstStyle/>
          <a:p>
            <a:r>
              <a:rPr lang="en-US" dirty="0"/>
              <a:t>In linear probing,</a:t>
            </a:r>
          </a:p>
          <a:p>
            <a:pPr lvl="1"/>
            <a:r>
              <a:rPr lang="en-US" dirty="0"/>
              <a:t>When collision occurs, we linearly probe for the next bucket.</a:t>
            </a:r>
          </a:p>
          <a:p>
            <a:pPr lvl="1"/>
            <a:r>
              <a:rPr lang="en-US" dirty="0"/>
              <a:t>We keep probing until an empty bucket is found.</a:t>
            </a:r>
          </a:p>
          <a:p>
            <a:r>
              <a:rPr lang="en-US" dirty="0"/>
              <a:t> Advantage-</a:t>
            </a:r>
          </a:p>
          <a:p>
            <a:pPr lvl="1"/>
            <a:r>
              <a:rPr lang="en-US" dirty="0"/>
              <a:t> It is easy to compute.</a:t>
            </a:r>
          </a:p>
          <a:p>
            <a:r>
              <a:rPr lang="en-US" dirty="0"/>
              <a:t> Disadvantage-</a:t>
            </a:r>
          </a:p>
          <a:p>
            <a:pPr lvl="1"/>
            <a:r>
              <a:rPr lang="en-US" dirty="0"/>
              <a:t>The main problem with linear probing is </a:t>
            </a:r>
            <a:r>
              <a:rPr lang="en-US" dirty="0">
                <a:highlight>
                  <a:srgbClr val="FFFF00"/>
                </a:highlight>
              </a:rPr>
              <a:t>clustering.</a:t>
            </a:r>
          </a:p>
          <a:p>
            <a:pPr lvl="1"/>
            <a:r>
              <a:rPr lang="en-US" dirty="0">
                <a:solidFill>
                  <a:srgbClr val="C00000"/>
                </a:solidFill>
              </a:rPr>
              <a:t>Many consecutive elements form groups</a:t>
            </a:r>
            <a:r>
              <a:rPr lang="en-US" dirty="0"/>
              <a:t>.</a:t>
            </a:r>
          </a:p>
          <a:p>
            <a:pPr lvl="1"/>
            <a:r>
              <a:rPr lang="en-US" dirty="0">
                <a:solidFill>
                  <a:srgbClr val="C00000"/>
                </a:solidFill>
              </a:rPr>
              <a:t>Then, it takes time to search an element or to find an empty bucket</a:t>
            </a:r>
            <a:r>
              <a:rPr lang="en-US" dirty="0"/>
              <a:t>.</a:t>
            </a:r>
          </a:p>
          <a:p>
            <a:r>
              <a:rPr lang="en-US" dirty="0"/>
              <a:t>Time Complexity-  Worst time to search an element in linear probing is O (table size).</a:t>
            </a:r>
          </a:p>
          <a:p>
            <a:pPr lvl="1"/>
            <a:r>
              <a:rPr lang="en-US" dirty="0"/>
              <a:t>This is because-</a:t>
            </a:r>
          </a:p>
          <a:p>
            <a:pPr lvl="1"/>
            <a:r>
              <a:rPr lang="en-US" dirty="0"/>
              <a:t>Even if there is only one element present and all other elements are deleted.</a:t>
            </a:r>
          </a:p>
          <a:p>
            <a:pPr lvl="1"/>
            <a:r>
              <a:rPr lang="en-US" dirty="0"/>
              <a:t>Then, “deleted” markers present in the hash table makes search the entire table.</a:t>
            </a:r>
          </a:p>
          <a:p>
            <a:endParaRPr lang="en-IN" dirty="0"/>
          </a:p>
        </p:txBody>
      </p:sp>
    </p:spTree>
    <p:extLst>
      <p:ext uri="{BB962C8B-B14F-4D97-AF65-F5344CB8AC3E}">
        <p14:creationId xmlns:p14="http://schemas.microsoft.com/office/powerpoint/2010/main" val="1574461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CC5CDF6-6B1E-44C8-8D96-951A8184F8CE}"/>
              </a:ext>
            </a:extLst>
          </p:cNvPr>
          <p:cNvSpPr/>
          <p:nvPr/>
        </p:nvSpPr>
        <p:spPr>
          <a:xfrm>
            <a:off x="659905" y="442495"/>
            <a:ext cx="10614735" cy="1846659"/>
          </a:xfrm>
          <a:prstGeom prst="rect">
            <a:avLst/>
          </a:prstGeom>
        </p:spPr>
        <p:txBody>
          <a:bodyPr wrap="square">
            <a:spAutoFit/>
          </a:bodyPr>
          <a:lstStyle/>
          <a:p>
            <a:r>
              <a:rPr lang="en-US" sz="2400" b="1" u="sng" dirty="0">
                <a:effectLst/>
              </a:rPr>
              <a:t>Problem- Linear Probing</a:t>
            </a:r>
            <a:endParaRPr lang="en-US" sz="2400" b="1" dirty="0"/>
          </a:p>
          <a:p>
            <a:r>
              <a:rPr lang="en-US" dirty="0"/>
              <a:t> </a:t>
            </a:r>
          </a:p>
          <a:p>
            <a:r>
              <a:rPr lang="en-US" dirty="0"/>
              <a:t>Using the hash function ‘key mod 7’, insert the following sequence of keys in the hash table-</a:t>
            </a:r>
          </a:p>
          <a:p>
            <a:pPr algn="ctr"/>
            <a:r>
              <a:rPr lang="en-US" dirty="0">
                <a:effectLst/>
              </a:rPr>
              <a:t>50, 700, 76, 85, 92, 73 and 101</a:t>
            </a:r>
          </a:p>
          <a:p>
            <a:r>
              <a:rPr lang="en-US" dirty="0"/>
              <a:t> </a:t>
            </a:r>
          </a:p>
          <a:p>
            <a:r>
              <a:rPr lang="en-US" dirty="0">
                <a:solidFill>
                  <a:srgbClr val="FF0000"/>
                </a:solidFill>
              </a:rPr>
              <a:t>Use linear probing </a:t>
            </a:r>
            <a:r>
              <a:rPr lang="en-US" dirty="0"/>
              <a:t>technique for collision resolution.</a:t>
            </a:r>
          </a:p>
        </p:txBody>
      </p:sp>
      <p:sp>
        <p:nvSpPr>
          <p:cNvPr id="5" name="Rectangle 4">
            <a:extLst>
              <a:ext uri="{FF2B5EF4-FFF2-40B4-BE49-F238E27FC236}">
                <a16:creationId xmlns:a16="http://schemas.microsoft.com/office/drawing/2014/main" id="{E1ABC104-0D11-457C-A113-0CAE7CEA48A4}"/>
              </a:ext>
            </a:extLst>
          </p:cNvPr>
          <p:cNvSpPr/>
          <p:nvPr/>
        </p:nvSpPr>
        <p:spPr>
          <a:xfrm>
            <a:off x="659905" y="2329895"/>
            <a:ext cx="6096000" cy="1015663"/>
          </a:xfrm>
          <a:prstGeom prst="rect">
            <a:avLst/>
          </a:prstGeom>
        </p:spPr>
        <p:txBody>
          <a:bodyPr>
            <a:spAutoFit/>
          </a:bodyPr>
          <a:lstStyle/>
          <a:p>
            <a:r>
              <a:rPr lang="en-US" sz="1200" b="1" u="sng" dirty="0">
                <a:effectLst/>
              </a:rPr>
              <a:t>Step-01:</a:t>
            </a:r>
            <a:endParaRPr lang="en-US" sz="1200" b="1" dirty="0"/>
          </a:p>
          <a:p>
            <a:r>
              <a:rPr lang="en-US" sz="1200" dirty="0"/>
              <a:t> </a:t>
            </a:r>
          </a:p>
          <a:p>
            <a:pPr>
              <a:buFont typeface="Arial" panose="020B0604020202020204" pitchFamily="34" charset="0"/>
              <a:buChar char="•"/>
            </a:pPr>
            <a:r>
              <a:rPr lang="en-US" sz="1200" dirty="0"/>
              <a:t>Draw an empty hash table.</a:t>
            </a:r>
          </a:p>
          <a:p>
            <a:pPr>
              <a:buFont typeface="Arial" panose="020B0604020202020204" pitchFamily="34" charset="0"/>
              <a:buChar char="•"/>
            </a:pPr>
            <a:r>
              <a:rPr lang="en-US" sz="1200" dirty="0"/>
              <a:t>For the given hash function, the possible range of hash values is [0, 6].</a:t>
            </a:r>
          </a:p>
          <a:p>
            <a:pPr>
              <a:buFont typeface="Arial" panose="020B0604020202020204" pitchFamily="34" charset="0"/>
              <a:buChar char="•"/>
            </a:pPr>
            <a:r>
              <a:rPr lang="en-US" sz="1200" dirty="0"/>
              <a:t>So, draw an empty hash table consisting of 7 buckets as-</a:t>
            </a:r>
          </a:p>
        </p:txBody>
      </p:sp>
      <p:pic>
        <p:nvPicPr>
          <p:cNvPr id="6" name="Picture 5">
            <a:extLst>
              <a:ext uri="{FF2B5EF4-FFF2-40B4-BE49-F238E27FC236}">
                <a16:creationId xmlns:a16="http://schemas.microsoft.com/office/drawing/2014/main" id="{1C5C1332-F348-4C17-9A97-689A2977DC23}"/>
              </a:ext>
            </a:extLst>
          </p:cNvPr>
          <p:cNvPicPr>
            <a:picLocks noChangeAspect="1"/>
          </p:cNvPicPr>
          <p:nvPr/>
        </p:nvPicPr>
        <p:blipFill>
          <a:blip r:embed="rId2"/>
          <a:stretch>
            <a:fillRect/>
          </a:stretch>
        </p:blipFill>
        <p:spPr>
          <a:xfrm>
            <a:off x="7039990" y="1939031"/>
            <a:ext cx="1809750" cy="3352800"/>
          </a:xfrm>
          <a:prstGeom prst="rect">
            <a:avLst/>
          </a:prstGeom>
        </p:spPr>
      </p:pic>
      <p:sp>
        <p:nvSpPr>
          <p:cNvPr id="7" name="Rectangle 6">
            <a:extLst>
              <a:ext uri="{FF2B5EF4-FFF2-40B4-BE49-F238E27FC236}">
                <a16:creationId xmlns:a16="http://schemas.microsoft.com/office/drawing/2014/main" id="{59472522-37EA-44E2-B168-8DE1B5CD6825}"/>
              </a:ext>
            </a:extLst>
          </p:cNvPr>
          <p:cNvSpPr/>
          <p:nvPr/>
        </p:nvSpPr>
        <p:spPr>
          <a:xfrm>
            <a:off x="659905" y="3429000"/>
            <a:ext cx="6096000" cy="461665"/>
          </a:xfrm>
          <a:prstGeom prst="rect">
            <a:avLst/>
          </a:prstGeom>
        </p:spPr>
        <p:txBody>
          <a:bodyPr>
            <a:spAutoFit/>
          </a:bodyPr>
          <a:lstStyle/>
          <a:p>
            <a:endParaRPr lang="en-US" sz="1200" dirty="0"/>
          </a:p>
          <a:p>
            <a:pPr>
              <a:buFont typeface="Arial" panose="020B0604020202020204" pitchFamily="34" charset="0"/>
              <a:buChar char="•"/>
            </a:pPr>
            <a:r>
              <a:rPr lang="en-US" sz="1200" dirty="0"/>
              <a:t>50 maps = 50 mod 7 = 1.</a:t>
            </a:r>
          </a:p>
        </p:txBody>
      </p:sp>
      <p:pic>
        <p:nvPicPr>
          <p:cNvPr id="8" name="Picture 7">
            <a:extLst>
              <a:ext uri="{FF2B5EF4-FFF2-40B4-BE49-F238E27FC236}">
                <a16:creationId xmlns:a16="http://schemas.microsoft.com/office/drawing/2014/main" id="{18E660D0-D73A-4FAA-A60F-62F25D276EFD}"/>
              </a:ext>
            </a:extLst>
          </p:cNvPr>
          <p:cNvPicPr>
            <a:picLocks noChangeAspect="1"/>
          </p:cNvPicPr>
          <p:nvPr/>
        </p:nvPicPr>
        <p:blipFill>
          <a:blip r:embed="rId3"/>
          <a:stretch>
            <a:fillRect/>
          </a:stretch>
        </p:blipFill>
        <p:spPr>
          <a:xfrm>
            <a:off x="7039990" y="1939031"/>
            <a:ext cx="1809750" cy="3352800"/>
          </a:xfrm>
          <a:prstGeom prst="rect">
            <a:avLst/>
          </a:prstGeom>
        </p:spPr>
      </p:pic>
      <p:sp>
        <p:nvSpPr>
          <p:cNvPr id="9" name="Rectangle 8">
            <a:extLst>
              <a:ext uri="{FF2B5EF4-FFF2-40B4-BE49-F238E27FC236}">
                <a16:creationId xmlns:a16="http://schemas.microsoft.com/office/drawing/2014/main" id="{A5CEF3F7-36B8-474B-BCAA-765A39E3D2A7}"/>
              </a:ext>
            </a:extLst>
          </p:cNvPr>
          <p:cNvSpPr/>
          <p:nvPr/>
        </p:nvSpPr>
        <p:spPr>
          <a:xfrm>
            <a:off x="659905" y="3974107"/>
            <a:ext cx="1875065" cy="276999"/>
          </a:xfrm>
          <a:prstGeom prst="rect">
            <a:avLst/>
          </a:prstGeom>
        </p:spPr>
        <p:txBody>
          <a:bodyPr wrap="none">
            <a:spAutoFit/>
          </a:bodyPr>
          <a:lstStyle/>
          <a:p>
            <a:r>
              <a:rPr lang="da-DK" sz="1200" dirty="0"/>
              <a:t>700 maps = 700 mod 7 = 0.</a:t>
            </a:r>
            <a:endParaRPr lang="en-IN" sz="1200" dirty="0"/>
          </a:p>
        </p:txBody>
      </p:sp>
      <p:pic>
        <p:nvPicPr>
          <p:cNvPr id="10" name="Picture 9">
            <a:extLst>
              <a:ext uri="{FF2B5EF4-FFF2-40B4-BE49-F238E27FC236}">
                <a16:creationId xmlns:a16="http://schemas.microsoft.com/office/drawing/2014/main" id="{D34C72C0-5E4D-40AD-90E7-5B2333D8B5A9}"/>
              </a:ext>
            </a:extLst>
          </p:cNvPr>
          <p:cNvPicPr>
            <a:picLocks noChangeAspect="1"/>
          </p:cNvPicPr>
          <p:nvPr/>
        </p:nvPicPr>
        <p:blipFill>
          <a:blip r:embed="rId4"/>
          <a:stretch>
            <a:fillRect/>
          </a:stretch>
        </p:blipFill>
        <p:spPr>
          <a:xfrm>
            <a:off x="7039990" y="1939031"/>
            <a:ext cx="1809750" cy="3352800"/>
          </a:xfrm>
          <a:prstGeom prst="rect">
            <a:avLst/>
          </a:prstGeom>
        </p:spPr>
      </p:pic>
      <p:sp>
        <p:nvSpPr>
          <p:cNvPr id="11" name="Rectangle 10">
            <a:extLst>
              <a:ext uri="{FF2B5EF4-FFF2-40B4-BE49-F238E27FC236}">
                <a16:creationId xmlns:a16="http://schemas.microsoft.com/office/drawing/2014/main" id="{409C23E3-4BF8-48D9-AF9E-7BF9883D5E66}"/>
              </a:ext>
            </a:extLst>
          </p:cNvPr>
          <p:cNvSpPr/>
          <p:nvPr/>
        </p:nvSpPr>
        <p:spPr>
          <a:xfrm>
            <a:off x="659905" y="4305689"/>
            <a:ext cx="1717971" cy="276999"/>
          </a:xfrm>
          <a:prstGeom prst="rect">
            <a:avLst/>
          </a:prstGeom>
        </p:spPr>
        <p:txBody>
          <a:bodyPr wrap="none">
            <a:spAutoFit/>
          </a:bodyPr>
          <a:lstStyle/>
          <a:p>
            <a:r>
              <a:rPr lang="da-DK" sz="1200" dirty="0"/>
              <a:t>76 maps = 76 mod 7 = 6.</a:t>
            </a:r>
            <a:endParaRPr lang="en-IN" sz="1200" dirty="0"/>
          </a:p>
        </p:txBody>
      </p:sp>
      <p:pic>
        <p:nvPicPr>
          <p:cNvPr id="12" name="Picture 11">
            <a:extLst>
              <a:ext uri="{FF2B5EF4-FFF2-40B4-BE49-F238E27FC236}">
                <a16:creationId xmlns:a16="http://schemas.microsoft.com/office/drawing/2014/main" id="{84B18D41-FEC6-4E21-9E60-EAD08D402CE0}"/>
              </a:ext>
            </a:extLst>
          </p:cNvPr>
          <p:cNvPicPr>
            <a:picLocks noChangeAspect="1"/>
          </p:cNvPicPr>
          <p:nvPr/>
        </p:nvPicPr>
        <p:blipFill>
          <a:blip r:embed="rId5"/>
          <a:stretch>
            <a:fillRect/>
          </a:stretch>
        </p:blipFill>
        <p:spPr>
          <a:xfrm>
            <a:off x="7050345" y="1939031"/>
            <a:ext cx="1809750" cy="3352800"/>
          </a:xfrm>
          <a:prstGeom prst="rect">
            <a:avLst/>
          </a:prstGeom>
        </p:spPr>
      </p:pic>
      <p:sp>
        <p:nvSpPr>
          <p:cNvPr id="13" name="Rectangle 1">
            <a:extLst>
              <a:ext uri="{FF2B5EF4-FFF2-40B4-BE49-F238E27FC236}">
                <a16:creationId xmlns:a16="http://schemas.microsoft.com/office/drawing/2014/main" id="{4A7BD2FD-C3B2-4FAA-B734-E903B805969A}"/>
              </a:ext>
            </a:extLst>
          </p:cNvPr>
          <p:cNvSpPr>
            <a:spLocks noChangeArrowheads="1"/>
          </p:cNvSpPr>
          <p:nvPr/>
        </p:nvSpPr>
        <p:spPr bwMode="auto">
          <a:xfrm>
            <a:off x="150920" y="4547581"/>
            <a:ext cx="7625918"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85 maps = 85 mod 7 =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Since bucket-1 is already occupied, so collision occurs.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To handle the collision, linear probing technique keeps probing linearly until an empty bucket is found.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The first empty bucket is bucket-2. So, key 85 will be inserted in bucket-2 of the hash table as- </a:t>
            </a:r>
          </a:p>
        </p:txBody>
      </p:sp>
      <p:pic>
        <p:nvPicPr>
          <p:cNvPr id="14" name="Picture 13">
            <a:extLst>
              <a:ext uri="{FF2B5EF4-FFF2-40B4-BE49-F238E27FC236}">
                <a16:creationId xmlns:a16="http://schemas.microsoft.com/office/drawing/2014/main" id="{22F55FD5-9BDE-4A8B-8FD2-5DEBA70135E5}"/>
              </a:ext>
            </a:extLst>
          </p:cNvPr>
          <p:cNvPicPr>
            <a:picLocks noChangeAspect="1"/>
          </p:cNvPicPr>
          <p:nvPr/>
        </p:nvPicPr>
        <p:blipFill>
          <a:blip r:embed="rId6"/>
          <a:stretch>
            <a:fillRect/>
          </a:stretch>
        </p:blipFill>
        <p:spPr>
          <a:xfrm>
            <a:off x="7050345" y="1927039"/>
            <a:ext cx="1809750" cy="3352800"/>
          </a:xfrm>
          <a:prstGeom prst="rect">
            <a:avLst/>
          </a:prstGeom>
        </p:spPr>
      </p:pic>
      <p:sp>
        <p:nvSpPr>
          <p:cNvPr id="15" name="Rectangle 14">
            <a:extLst>
              <a:ext uri="{FF2B5EF4-FFF2-40B4-BE49-F238E27FC236}">
                <a16:creationId xmlns:a16="http://schemas.microsoft.com/office/drawing/2014/main" id="{DF20AB81-1F36-4A71-B969-C51B2C629664}"/>
              </a:ext>
            </a:extLst>
          </p:cNvPr>
          <p:cNvSpPr/>
          <p:nvPr/>
        </p:nvSpPr>
        <p:spPr>
          <a:xfrm>
            <a:off x="659905" y="5620470"/>
            <a:ext cx="1002197" cy="276999"/>
          </a:xfrm>
          <a:prstGeom prst="rect">
            <a:avLst/>
          </a:prstGeom>
        </p:spPr>
        <p:txBody>
          <a:bodyPr wrap="none">
            <a:spAutoFit/>
          </a:bodyPr>
          <a:lstStyle/>
          <a:p>
            <a:r>
              <a:rPr lang="en-IN" sz="1200" dirty="0"/>
              <a:t>92 mod 7 = 1</a:t>
            </a:r>
          </a:p>
        </p:txBody>
      </p:sp>
      <p:pic>
        <p:nvPicPr>
          <p:cNvPr id="16" name="Picture 15">
            <a:extLst>
              <a:ext uri="{FF2B5EF4-FFF2-40B4-BE49-F238E27FC236}">
                <a16:creationId xmlns:a16="http://schemas.microsoft.com/office/drawing/2014/main" id="{B5D67625-54FC-4120-9637-FA7F56E09CB8}"/>
              </a:ext>
            </a:extLst>
          </p:cNvPr>
          <p:cNvPicPr>
            <a:picLocks noChangeAspect="1"/>
          </p:cNvPicPr>
          <p:nvPr/>
        </p:nvPicPr>
        <p:blipFill>
          <a:blip r:embed="rId7"/>
          <a:stretch>
            <a:fillRect/>
          </a:stretch>
        </p:blipFill>
        <p:spPr>
          <a:xfrm>
            <a:off x="7060700" y="1927039"/>
            <a:ext cx="1809750" cy="3352800"/>
          </a:xfrm>
          <a:prstGeom prst="rect">
            <a:avLst/>
          </a:prstGeom>
        </p:spPr>
      </p:pic>
      <p:sp>
        <p:nvSpPr>
          <p:cNvPr id="17" name="Rectangle 16">
            <a:extLst>
              <a:ext uri="{FF2B5EF4-FFF2-40B4-BE49-F238E27FC236}">
                <a16:creationId xmlns:a16="http://schemas.microsoft.com/office/drawing/2014/main" id="{3B082109-5429-4B91-8277-7F1ED5741F0F}"/>
              </a:ext>
            </a:extLst>
          </p:cNvPr>
          <p:cNvSpPr/>
          <p:nvPr/>
        </p:nvSpPr>
        <p:spPr>
          <a:xfrm>
            <a:off x="659905" y="5859732"/>
            <a:ext cx="1002197" cy="276999"/>
          </a:xfrm>
          <a:prstGeom prst="rect">
            <a:avLst/>
          </a:prstGeom>
        </p:spPr>
        <p:txBody>
          <a:bodyPr wrap="none">
            <a:spAutoFit/>
          </a:bodyPr>
          <a:lstStyle/>
          <a:p>
            <a:r>
              <a:rPr lang="en-IN" sz="1200" dirty="0"/>
              <a:t>73 mod 7 = 3</a:t>
            </a:r>
          </a:p>
        </p:txBody>
      </p:sp>
      <p:pic>
        <p:nvPicPr>
          <p:cNvPr id="18" name="Picture 17">
            <a:extLst>
              <a:ext uri="{FF2B5EF4-FFF2-40B4-BE49-F238E27FC236}">
                <a16:creationId xmlns:a16="http://schemas.microsoft.com/office/drawing/2014/main" id="{9C622B6F-6436-48BD-9542-4C0770F4A607}"/>
              </a:ext>
            </a:extLst>
          </p:cNvPr>
          <p:cNvPicPr>
            <a:picLocks noChangeAspect="1"/>
          </p:cNvPicPr>
          <p:nvPr/>
        </p:nvPicPr>
        <p:blipFill>
          <a:blip r:embed="rId8"/>
          <a:stretch>
            <a:fillRect/>
          </a:stretch>
        </p:blipFill>
        <p:spPr>
          <a:xfrm>
            <a:off x="7056287" y="1932373"/>
            <a:ext cx="1809750" cy="3352800"/>
          </a:xfrm>
          <a:prstGeom prst="rect">
            <a:avLst/>
          </a:prstGeom>
        </p:spPr>
      </p:pic>
      <p:sp>
        <p:nvSpPr>
          <p:cNvPr id="19" name="Rectangle 18">
            <a:extLst>
              <a:ext uri="{FF2B5EF4-FFF2-40B4-BE49-F238E27FC236}">
                <a16:creationId xmlns:a16="http://schemas.microsoft.com/office/drawing/2014/main" id="{F74DEF1F-EAFA-442A-9711-3A259B250594}"/>
              </a:ext>
            </a:extLst>
          </p:cNvPr>
          <p:cNvSpPr/>
          <p:nvPr/>
        </p:nvSpPr>
        <p:spPr>
          <a:xfrm>
            <a:off x="584059" y="6046173"/>
            <a:ext cx="1080745" cy="276999"/>
          </a:xfrm>
          <a:prstGeom prst="rect">
            <a:avLst/>
          </a:prstGeom>
        </p:spPr>
        <p:txBody>
          <a:bodyPr wrap="none">
            <a:spAutoFit/>
          </a:bodyPr>
          <a:lstStyle/>
          <a:p>
            <a:r>
              <a:rPr lang="en-IN" sz="1200" dirty="0"/>
              <a:t>101 mod 7 = 3</a:t>
            </a:r>
          </a:p>
        </p:txBody>
      </p:sp>
      <p:pic>
        <p:nvPicPr>
          <p:cNvPr id="20" name="Picture 19">
            <a:extLst>
              <a:ext uri="{FF2B5EF4-FFF2-40B4-BE49-F238E27FC236}">
                <a16:creationId xmlns:a16="http://schemas.microsoft.com/office/drawing/2014/main" id="{619F8259-4A72-48D7-A620-202160B12E4D}"/>
              </a:ext>
            </a:extLst>
          </p:cNvPr>
          <p:cNvPicPr>
            <a:picLocks noChangeAspect="1"/>
          </p:cNvPicPr>
          <p:nvPr/>
        </p:nvPicPr>
        <p:blipFill>
          <a:blip r:embed="rId9"/>
          <a:stretch>
            <a:fillRect/>
          </a:stretch>
        </p:blipFill>
        <p:spPr>
          <a:xfrm>
            <a:off x="7057132" y="1932373"/>
            <a:ext cx="1809750" cy="3352800"/>
          </a:xfrm>
          <a:prstGeom prst="rect">
            <a:avLst/>
          </a:prstGeom>
        </p:spPr>
      </p:pic>
    </p:spTree>
    <p:extLst>
      <p:ext uri="{BB962C8B-B14F-4D97-AF65-F5344CB8AC3E}">
        <p14:creationId xmlns:p14="http://schemas.microsoft.com/office/powerpoint/2010/main" val="119077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5" grpId="0"/>
      <p:bldP spid="17" grpId="0"/>
      <p:bldP spid="1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4A199-DF78-487C-9349-6881478E2062}"/>
              </a:ext>
            </a:extLst>
          </p:cNvPr>
          <p:cNvSpPr>
            <a:spLocks noGrp="1"/>
          </p:cNvSpPr>
          <p:nvPr>
            <p:ph type="title"/>
          </p:nvPr>
        </p:nvSpPr>
        <p:spPr/>
        <p:txBody>
          <a:bodyPr/>
          <a:lstStyle/>
          <a:p>
            <a:r>
              <a:rPr lang="en-IN" dirty="0"/>
              <a:t>b. Quadratic Probing</a:t>
            </a:r>
          </a:p>
        </p:txBody>
      </p:sp>
      <p:sp>
        <p:nvSpPr>
          <p:cNvPr id="3" name="Content Placeholder 2">
            <a:extLst>
              <a:ext uri="{FF2B5EF4-FFF2-40B4-BE49-F238E27FC236}">
                <a16:creationId xmlns:a16="http://schemas.microsoft.com/office/drawing/2014/main" id="{3BB06F52-41E1-454A-A127-ECC1A2BA8CA6}"/>
              </a:ext>
            </a:extLst>
          </p:cNvPr>
          <p:cNvSpPr>
            <a:spLocks noGrp="1"/>
          </p:cNvSpPr>
          <p:nvPr>
            <p:ph idx="1"/>
          </p:nvPr>
        </p:nvSpPr>
        <p:spPr/>
        <p:txBody>
          <a:bodyPr/>
          <a:lstStyle/>
          <a:p>
            <a:r>
              <a:rPr lang="en-US" dirty="0"/>
              <a:t>Quadratic probing is used to find the correct index of the element in the hash table. To eliminate the Primary clustering problem in Linear probing, Quadratic probing in data structure uses a Quadratic polynomial hash function to resolve the collisions in the hash table.</a:t>
            </a:r>
          </a:p>
          <a:p>
            <a:r>
              <a:rPr lang="en-US" dirty="0"/>
              <a:t>Let the hash function for indexing is </a:t>
            </a:r>
            <a:r>
              <a:rPr lang="en-US" dirty="0">
                <a:solidFill>
                  <a:srgbClr val="C00000"/>
                </a:solidFill>
              </a:rPr>
              <a:t>H(k)= k mod 10(num)</a:t>
            </a:r>
          </a:p>
          <a:p>
            <a:pPr lvl="1"/>
            <a:r>
              <a:rPr lang="en-US" dirty="0"/>
              <a:t>While inserting an element in the hash table if the index position in the hash table is already occupied then the collision is resolved by the quadratic hash function as :</a:t>
            </a:r>
          </a:p>
          <a:p>
            <a:r>
              <a:rPr lang="en-US" dirty="0"/>
              <a:t> </a:t>
            </a:r>
            <a:r>
              <a:rPr lang="en-US" dirty="0">
                <a:solidFill>
                  <a:srgbClr val="C00000"/>
                </a:solidFill>
              </a:rPr>
              <a:t>h</a:t>
            </a:r>
            <a:r>
              <a:rPr lang="en-US" baseline="-25000" dirty="0">
                <a:solidFill>
                  <a:srgbClr val="C00000"/>
                </a:solidFill>
              </a:rPr>
              <a:t>i</a:t>
            </a:r>
            <a:r>
              <a:rPr lang="en-US" dirty="0">
                <a:solidFill>
                  <a:srgbClr val="C00000"/>
                </a:solidFill>
              </a:rPr>
              <a:t>(k) = ( H (k) + i</a:t>
            </a:r>
            <a:r>
              <a:rPr lang="en-US" baseline="30000" dirty="0">
                <a:solidFill>
                  <a:srgbClr val="C00000"/>
                </a:solidFill>
              </a:rPr>
              <a:t>2</a:t>
            </a:r>
            <a:r>
              <a:rPr lang="en-US" dirty="0">
                <a:solidFill>
                  <a:srgbClr val="C00000"/>
                </a:solidFill>
              </a:rPr>
              <a:t> ) % 10(num)</a:t>
            </a:r>
          </a:p>
          <a:p>
            <a:pPr lvl="1"/>
            <a:r>
              <a:rPr lang="en-US" dirty="0"/>
              <a:t>where </a:t>
            </a:r>
            <a:r>
              <a:rPr lang="en-US" dirty="0">
                <a:solidFill>
                  <a:srgbClr val="C00000"/>
                </a:solidFill>
              </a:rPr>
              <a:t>h</a:t>
            </a:r>
            <a:r>
              <a:rPr lang="en-US" baseline="-25000" dirty="0">
                <a:solidFill>
                  <a:srgbClr val="C00000"/>
                </a:solidFill>
              </a:rPr>
              <a:t>i</a:t>
            </a:r>
            <a:r>
              <a:rPr lang="en-US" dirty="0">
                <a:solidFill>
                  <a:srgbClr val="C00000"/>
                </a:solidFill>
              </a:rPr>
              <a:t>(k) </a:t>
            </a:r>
            <a:r>
              <a:rPr lang="en-US" dirty="0"/>
              <a:t> is the next index for the key K.</a:t>
            </a:r>
          </a:p>
          <a:p>
            <a:pPr lvl="1"/>
            <a:r>
              <a:rPr lang="en-US" dirty="0" err="1"/>
              <a:t>i</a:t>
            </a:r>
            <a:r>
              <a:rPr lang="en-US" dirty="0"/>
              <a:t> is the collision number.</a:t>
            </a:r>
          </a:p>
          <a:p>
            <a:pPr lvl="1"/>
            <a:r>
              <a:rPr lang="en-US" dirty="0"/>
              <a:t>For first collision </a:t>
            </a:r>
            <a:r>
              <a:rPr lang="en-US" dirty="0" err="1"/>
              <a:t>i</a:t>
            </a:r>
            <a:r>
              <a:rPr lang="en-US" dirty="0"/>
              <a:t>=1,</a:t>
            </a:r>
          </a:p>
          <a:p>
            <a:pPr lvl="1"/>
            <a:r>
              <a:rPr lang="en-US" dirty="0"/>
              <a:t>For second collision </a:t>
            </a:r>
            <a:r>
              <a:rPr lang="en-US" dirty="0" err="1"/>
              <a:t>i</a:t>
            </a:r>
            <a:r>
              <a:rPr lang="en-US" dirty="0"/>
              <a:t>=2,</a:t>
            </a:r>
          </a:p>
          <a:p>
            <a:pPr lvl="1"/>
            <a:r>
              <a:rPr lang="en-US" dirty="0"/>
              <a:t>For third collision, </a:t>
            </a:r>
            <a:r>
              <a:rPr lang="en-US" dirty="0" err="1"/>
              <a:t>i</a:t>
            </a:r>
            <a:r>
              <a:rPr lang="en-US" dirty="0"/>
              <a:t>=3, and so on. This is calculated until a space is assigned to the key element in the hash table.</a:t>
            </a:r>
            <a:endParaRPr lang="en-IN" dirty="0"/>
          </a:p>
        </p:txBody>
      </p:sp>
    </p:spTree>
    <p:extLst>
      <p:ext uri="{BB962C8B-B14F-4D97-AF65-F5344CB8AC3E}">
        <p14:creationId xmlns:p14="http://schemas.microsoft.com/office/powerpoint/2010/main" val="262694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4A199-DF78-487C-9349-6881478E2062}"/>
              </a:ext>
            </a:extLst>
          </p:cNvPr>
          <p:cNvSpPr>
            <a:spLocks noGrp="1"/>
          </p:cNvSpPr>
          <p:nvPr>
            <p:ph type="title"/>
          </p:nvPr>
        </p:nvSpPr>
        <p:spPr/>
        <p:txBody>
          <a:bodyPr/>
          <a:lstStyle/>
          <a:p>
            <a:r>
              <a:rPr lang="en-IN" dirty="0"/>
              <a:t>Quadratic Probing</a:t>
            </a:r>
          </a:p>
        </p:txBody>
      </p:sp>
      <p:sp>
        <p:nvSpPr>
          <p:cNvPr id="3" name="Content Placeholder 2">
            <a:extLst>
              <a:ext uri="{FF2B5EF4-FFF2-40B4-BE49-F238E27FC236}">
                <a16:creationId xmlns:a16="http://schemas.microsoft.com/office/drawing/2014/main" id="{3BB06F52-41E1-454A-A127-ECC1A2BA8CA6}"/>
              </a:ext>
            </a:extLst>
          </p:cNvPr>
          <p:cNvSpPr>
            <a:spLocks noGrp="1"/>
          </p:cNvSpPr>
          <p:nvPr>
            <p:ph idx="1"/>
          </p:nvPr>
        </p:nvSpPr>
        <p:spPr/>
        <p:txBody>
          <a:bodyPr/>
          <a:lstStyle/>
          <a:p>
            <a:r>
              <a:rPr lang="en-US" sz="2000" dirty="0"/>
              <a:t>When collision occurs, we probe for i</a:t>
            </a:r>
            <a:r>
              <a:rPr lang="en-US" sz="2000" baseline="30000" dirty="0"/>
              <a:t>2</a:t>
            </a:r>
            <a:r>
              <a:rPr lang="en-US" sz="2000" dirty="0"/>
              <a:t> bucket in </a:t>
            </a:r>
            <a:r>
              <a:rPr lang="en-US" sz="2000" dirty="0" err="1"/>
              <a:t>i</a:t>
            </a:r>
            <a:r>
              <a:rPr lang="en-US" sz="2000" baseline="30000" dirty="0" err="1"/>
              <a:t>th</a:t>
            </a:r>
            <a:r>
              <a:rPr lang="en-US" sz="2000" dirty="0"/>
              <a:t> iteration.</a:t>
            </a:r>
          </a:p>
          <a:p>
            <a:r>
              <a:rPr lang="en-US" sz="2000" dirty="0"/>
              <a:t>We keep probing until an empty bucket is found.</a:t>
            </a:r>
          </a:p>
          <a:p>
            <a:pPr marL="0" indent="0">
              <a:buNone/>
            </a:pPr>
            <a:r>
              <a:rPr lang="en-US" sz="2000" dirty="0"/>
              <a:t>let hash(x) be the slot index computed using hash function. </a:t>
            </a:r>
          </a:p>
          <a:p>
            <a:pPr lvl="1"/>
            <a:r>
              <a:rPr lang="en-US" sz="1800" dirty="0"/>
              <a:t>If slot hash(x) % S is full, then we try (hash(x) + 1*1) % S </a:t>
            </a:r>
          </a:p>
          <a:p>
            <a:pPr lvl="1"/>
            <a:r>
              <a:rPr lang="en-US" sz="1800" dirty="0"/>
              <a:t>If (hash(x) + 1*1) % S is also full, then we try (hash(x) + 2*2) % S </a:t>
            </a:r>
          </a:p>
          <a:p>
            <a:pPr lvl="1"/>
            <a:r>
              <a:rPr lang="en-US" sz="1800" dirty="0"/>
              <a:t>If (hash(x) + 2*2) % S is also full, then we try (hash(x) + 3*3) % S </a:t>
            </a:r>
          </a:p>
          <a:p>
            <a:endParaRPr lang="en-US" dirty="0"/>
          </a:p>
          <a:p>
            <a:endParaRPr lang="en-IN" dirty="0"/>
          </a:p>
        </p:txBody>
      </p:sp>
      <p:pic>
        <p:nvPicPr>
          <p:cNvPr id="4" name="Picture 3">
            <a:extLst>
              <a:ext uri="{FF2B5EF4-FFF2-40B4-BE49-F238E27FC236}">
                <a16:creationId xmlns:a16="http://schemas.microsoft.com/office/drawing/2014/main" id="{49EB38B7-E824-4AD9-9ED3-B3CF3AE2B420}"/>
              </a:ext>
            </a:extLst>
          </p:cNvPr>
          <p:cNvPicPr>
            <a:picLocks noChangeAspect="1"/>
          </p:cNvPicPr>
          <p:nvPr/>
        </p:nvPicPr>
        <p:blipFill>
          <a:blip r:embed="rId2"/>
          <a:stretch>
            <a:fillRect/>
          </a:stretch>
        </p:blipFill>
        <p:spPr>
          <a:xfrm>
            <a:off x="1783632" y="3249986"/>
            <a:ext cx="1061460" cy="3624849"/>
          </a:xfrm>
          <a:prstGeom prst="rect">
            <a:avLst/>
          </a:prstGeom>
        </p:spPr>
      </p:pic>
      <p:pic>
        <p:nvPicPr>
          <p:cNvPr id="5" name="Picture 4">
            <a:extLst>
              <a:ext uri="{FF2B5EF4-FFF2-40B4-BE49-F238E27FC236}">
                <a16:creationId xmlns:a16="http://schemas.microsoft.com/office/drawing/2014/main" id="{37528714-C6FC-4EEF-96A7-1D1D42A527E1}"/>
              </a:ext>
            </a:extLst>
          </p:cNvPr>
          <p:cNvPicPr>
            <a:picLocks noChangeAspect="1"/>
          </p:cNvPicPr>
          <p:nvPr/>
        </p:nvPicPr>
        <p:blipFill>
          <a:blip r:embed="rId3"/>
          <a:stretch>
            <a:fillRect/>
          </a:stretch>
        </p:blipFill>
        <p:spPr>
          <a:xfrm>
            <a:off x="3307300" y="3339248"/>
            <a:ext cx="962812" cy="3516048"/>
          </a:xfrm>
          <a:prstGeom prst="rect">
            <a:avLst/>
          </a:prstGeom>
        </p:spPr>
      </p:pic>
      <p:pic>
        <p:nvPicPr>
          <p:cNvPr id="6" name="Picture 5">
            <a:extLst>
              <a:ext uri="{FF2B5EF4-FFF2-40B4-BE49-F238E27FC236}">
                <a16:creationId xmlns:a16="http://schemas.microsoft.com/office/drawing/2014/main" id="{8F4F0F7B-8BD1-4C98-9325-EA833B5A6EB4}"/>
              </a:ext>
            </a:extLst>
          </p:cNvPr>
          <p:cNvPicPr>
            <a:picLocks noChangeAspect="1"/>
          </p:cNvPicPr>
          <p:nvPr/>
        </p:nvPicPr>
        <p:blipFill>
          <a:blip r:embed="rId4"/>
          <a:stretch>
            <a:fillRect/>
          </a:stretch>
        </p:blipFill>
        <p:spPr>
          <a:xfrm>
            <a:off x="4797975" y="3342885"/>
            <a:ext cx="1015908" cy="3516049"/>
          </a:xfrm>
          <a:prstGeom prst="rect">
            <a:avLst/>
          </a:prstGeom>
        </p:spPr>
      </p:pic>
      <p:pic>
        <p:nvPicPr>
          <p:cNvPr id="7" name="Picture 6">
            <a:extLst>
              <a:ext uri="{FF2B5EF4-FFF2-40B4-BE49-F238E27FC236}">
                <a16:creationId xmlns:a16="http://schemas.microsoft.com/office/drawing/2014/main" id="{862AC08B-2541-452E-BA6C-AD3D8C026155}"/>
              </a:ext>
            </a:extLst>
          </p:cNvPr>
          <p:cNvPicPr>
            <a:picLocks noChangeAspect="1"/>
          </p:cNvPicPr>
          <p:nvPr/>
        </p:nvPicPr>
        <p:blipFill>
          <a:blip r:embed="rId5"/>
          <a:stretch>
            <a:fillRect/>
          </a:stretch>
        </p:blipFill>
        <p:spPr>
          <a:xfrm>
            <a:off x="6378119" y="3205579"/>
            <a:ext cx="894422" cy="3674584"/>
          </a:xfrm>
          <a:prstGeom prst="rect">
            <a:avLst/>
          </a:prstGeom>
        </p:spPr>
      </p:pic>
      <p:pic>
        <p:nvPicPr>
          <p:cNvPr id="8" name="Picture 7">
            <a:extLst>
              <a:ext uri="{FF2B5EF4-FFF2-40B4-BE49-F238E27FC236}">
                <a16:creationId xmlns:a16="http://schemas.microsoft.com/office/drawing/2014/main" id="{3EE1C395-A91B-4CDC-800F-2F3DBF2F6B2A}"/>
              </a:ext>
            </a:extLst>
          </p:cNvPr>
          <p:cNvPicPr>
            <a:picLocks noChangeAspect="1"/>
          </p:cNvPicPr>
          <p:nvPr/>
        </p:nvPicPr>
        <p:blipFill>
          <a:blip r:embed="rId6"/>
          <a:stretch>
            <a:fillRect/>
          </a:stretch>
        </p:blipFill>
        <p:spPr>
          <a:xfrm>
            <a:off x="7894526" y="3230446"/>
            <a:ext cx="1021820" cy="3624850"/>
          </a:xfrm>
          <a:prstGeom prst="rect">
            <a:avLst/>
          </a:prstGeom>
        </p:spPr>
      </p:pic>
      <p:pic>
        <p:nvPicPr>
          <p:cNvPr id="9" name="Picture 8">
            <a:extLst>
              <a:ext uri="{FF2B5EF4-FFF2-40B4-BE49-F238E27FC236}">
                <a16:creationId xmlns:a16="http://schemas.microsoft.com/office/drawing/2014/main" id="{3EBB62E8-1713-4753-B701-12952AF73A21}"/>
              </a:ext>
            </a:extLst>
          </p:cNvPr>
          <p:cNvPicPr>
            <a:picLocks noChangeAspect="1"/>
          </p:cNvPicPr>
          <p:nvPr/>
        </p:nvPicPr>
        <p:blipFill>
          <a:blip r:embed="rId7"/>
          <a:stretch>
            <a:fillRect/>
          </a:stretch>
        </p:blipFill>
        <p:spPr>
          <a:xfrm>
            <a:off x="9460053" y="3279519"/>
            <a:ext cx="1038811" cy="3595316"/>
          </a:xfrm>
          <a:prstGeom prst="rect">
            <a:avLst/>
          </a:prstGeom>
        </p:spPr>
      </p:pic>
    </p:spTree>
    <p:extLst>
      <p:ext uri="{BB962C8B-B14F-4D97-AF65-F5344CB8AC3E}">
        <p14:creationId xmlns:p14="http://schemas.microsoft.com/office/powerpoint/2010/main" val="321653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fade">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3C7783-948A-4F91-BA92-CC46813D3BF5}"/>
              </a:ext>
            </a:extLst>
          </p:cNvPr>
          <p:cNvSpPr/>
          <p:nvPr/>
        </p:nvSpPr>
        <p:spPr>
          <a:xfrm>
            <a:off x="881848" y="691070"/>
            <a:ext cx="9682579" cy="1846659"/>
          </a:xfrm>
          <a:prstGeom prst="rect">
            <a:avLst/>
          </a:prstGeom>
        </p:spPr>
        <p:txBody>
          <a:bodyPr wrap="square">
            <a:spAutoFit/>
          </a:bodyPr>
          <a:lstStyle/>
          <a:p>
            <a:r>
              <a:rPr lang="en-US" sz="2400" b="1" u="sng" dirty="0"/>
              <a:t>Problem-</a:t>
            </a:r>
            <a:r>
              <a:rPr lang="en-US" sz="2400" b="1" u="sng" dirty="0" err="1"/>
              <a:t>Quadtratic</a:t>
            </a:r>
            <a:r>
              <a:rPr lang="en-US" sz="2400" b="1" u="sng" dirty="0"/>
              <a:t> Probing</a:t>
            </a:r>
            <a:endParaRPr lang="en-US" sz="2400" b="1" dirty="0"/>
          </a:p>
          <a:p>
            <a:r>
              <a:rPr lang="en-US" dirty="0"/>
              <a:t> </a:t>
            </a:r>
          </a:p>
          <a:p>
            <a:r>
              <a:rPr lang="en-US" dirty="0"/>
              <a:t>Using the hash function ‘key mod 7’, insert the following sequence of keys in the hash table-</a:t>
            </a:r>
          </a:p>
          <a:p>
            <a:pPr algn="ctr"/>
            <a:r>
              <a:rPr lang="en-US" dirty="0"/>
              <a:t>50, 700, 76, 85, 92, 73 and 101</a:t>
            </a:r>
          </a:p>
          <a:p>
            <a:r>
              <a:rPr lang="en-US" dirty="0"/>
              <a:t> </a:t>
            </a:r>
          </a:p>
          <a:p>
            <a:r>
              <a:rPr lang="en-US" dirty="0">
                <a:solidFill>
                  <a:srgbClr val="FF0000"/>
                </a:solidFill>
              </a:rPr>
              <a:t>Use quadratic probing </a:t>
            </a:r>
            <a:r>
              <a:rPr lang="en-US" dirty="0"/>
              <a:t>technique for collision resolution.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AE9D95D-A104-48D5-800E-CA0F6D2C3065}"/>
                  </a:ext>
                </a:extLst>
              </p14:cNvPr>
              <p14:cNvContentPartPr/>
              <p14:nvPr/>
            </p14:nvContentPartPr>
            <p14:xfrm>
              <a:off x="9829800" y="971640"/>
              <a:ext cx="360" cy="360"/>
            </p14:xfrm>
          </p:contentPart>
        </mc:Choice>
        <mc:Fallback xmlns="">
          <p:pic>
            <p:nvPicPr>
              <p:cNvPr id="3" name="Ink 2">
                <a:extLst>
                  <a:ext uri="{FF2B5EF4-FFF2-40B4-BE49-F238E27FC236}">
                    <a16:creationId xmlns:a16="http://schemas.microsoft.com/office/drawing/2014/main" id="{DAE9D95D-A104-48D5-800E-CA0F6D2C3065}"/>
                  </a:ext>
                </a:extLst>
              </p:cNvPr>
              <p:cNvPicPr/>
              <p:nvPr/>
            </p:nvPicPr>
            <p:blipFill>
              <a:blip r:embed="rId3"/>
              <a:stretch>
                <a:fillRect/>
              </a:stretch>
            </p:blipFill>
            <p:spPr>
              <a:xfrm>
                <a:off x="9820440" y="962280"/>
                <a:ext cx="19080" cy="19080"/>
              </a:xfrm>
              <a:prstGeom prst="rect">
                <a:avLst/>
              </a:prstGeom>
            </p:spPr>
          </p:pic>
        </mc:Fallback>
      </mc:AlternateContent>
      <p:graphicFrame>
        <p:nvGraphicFramePr>
          <p:cNvPr id="6" name="Table 6">
            <a:extLst>
              <a:ext uri="{FF2B5EF4-FFF2-40B4-BE49-F238E27FC236}">
                <a16:creationId xmlns:a16="http://schemas.microsoft.com/office/drawing/2014/main" id="{CBFBE56F-F40C-47C5-9701-C2BE7CD7B236}"/>
              </a:ext>
            </a:extLst>
          </p:cNvPr>
          <p:cNvGraphicFramePr>
            <a:graphicFrameLocks noGrp="1"/>
          </p:cNvGraphicFramePr>
          <p:nvPr/>
        </p:nvGraphicFramePr>
        <p:xfrm>
          <a:off x="8009515" y="1894980"/>
          <a:ext cx="1143363" cy="4709648"/>
        </p:xfrm>
        <a:graphic>
          <a:graphicData uri="http://schemas.openxmlformats.org/drawingml/2006/table">
            <a:tbl>
              <a:tblPr firstRow="1" bandRow="1">
                <a:tableStyleId>{5940675A-B579-460E-94D1-54222C63F5DA}</a:tableStyleId>
              </a:tblPr>
              <a:tblGrid>
                <a:gridCol w="251116">
                  <a:extLst>
                    <a:ext uri="{9D8B030D-6E8A-4147-A177-3AD203B41FA5}">
                      <a16:colId xmlns:a16="http://schemas.microsoft.com/office/drawing/2014/main" val="3800821862"/>
                    </a:ext>
                  </a:extLst>
                </a:gridCol>
                <a:gridCol w="892247">
                  <a:extLst>
                    <a:ext uri="{9D8B030D-6E8A-4147-A177-3AD203B41FA5}">
                      <a16:colId xmlns:a16="http://schemas.microsoft.com/office/drawing/2014/main" val="2981679645"/>
                    </a:ext>
                  </a:extLst>
                </a:gridCol>
              </a:tblGrid>
              <a:tr h="588706">
                <a:tc>
                  <a:txBody>
                    <a:bodyPr/>
                    <a:lstStyle/>
                    <a:p>
                      <a:r>
                        <a:rPr lang="en-IN" dirty="0" err="1"/>
                        <a:t>i</a:t>
                      </a:r>
                      <a:endParaRPr lang="en-IN" dirty="0"/>
                    </a:p>
                  </a:txBody>
                  <a:tcPr/>
                </a:tc>
                <a:tc>
                  <a:txBody>
                    <a:bodyPr/>
                    <a:lstStyle/>
                    <a:p>
                      <a:r>
                        <a:rPr lang="en-IN" dirty="0"/>
                        <a:t>HT(</a:t>
                      </a:r>
                      <a:r>
                        <a:rPr lang="en-IN" dirty="0" err="1"/>
                        <a:t>i</a:t>
                      </a:r>
                      <a:r>
                        <a:rPr lang="en-IN" dirty="0"/>
                        <a:t>)</a:t>
                      </a:r>
                    </a:p>
                  </a:txBody>
                  <a:tcPr/>
                </a:tc>
                <a:extLst>
                  <a:ext uri="{0D108BD9-81ED-4DB2-BD59-A6C34878D82A}">
                    <a16:rowId xmlns:a16="http://schemas.microsoft.com/office/drawing/2014/main" val="2692042578"/>
                  </a:ext>
                </a:extLst>
              </a:tr>
              <a:tr h="588706">
                <a:tc>
                  <a:txBody>
                    <a:bodyPr/>
                    <a:lstStyle/>
                    <a:p>
                      <a:r>
                        <a:rPr lang="en-IN" dirty="0"/>
                        <a:t>0</a:t>
                      </a:r>
                    </a:p>
                  </a:txBody>
                  <a:tcPr/>
                </a:tc>
                <a:tc>
                  <a:txBody>
                    <a:bodyPr/>
                    <a:lstStyle/>
                    <a:p>
                      <a:r>
                        <a:rPr lang="en-IN" dirty="0"/>
                        <a:t>700</a:t>
                      </a:r>
                    </a:p>
                  </a:txBody>
                  <a:tcPr/>
                </a:tc>
                <a:extLst>
                  <a:ext uri="{0D108BD9-81ED-4DB2-BD59-A6C34878D82A}">
                    <a16:rowId xmlns:a16="http://schemas.microsoft.com/office/drawing/2014/main" val="859843111"/>
                  </a:ext>
                </a:extLst>
              </a:tr>
              <a:tr h="588706">
                <a:tc>
                  <a:txBody>
                    <a:bodyPr/>
                    <a:lstStyle/>
                    <a:p>
                      <a:r>
                        <a:rPr lang="en-IN" dirty="0"/>
                        <a:t>1</a:t>
                      </a:r>
                    </a:p>
                  </a:txBody>
                  <a:tcPr/>
                </a:tc>
                <a:tc>
                  <a:txBody>
                    <a:bodyPr/>
                    <a:lstStyle/>
                    <a:p>
                      <a:r>
                        <a:rPr lang="en-IN" dirty="0"/>
                        <a:t>50</a:t>
                      </a:r>
                    </a:p>
                  </a:txBody>
                  <a:tcPr/>
                </a:tc>
                <a:extLst>
                  <a:ext uri="{0D108BD9-81ED-4DB2-BD59-A6C34878D82A}">
                    <a16:rowId xmlns:a16="http://schemas.microsoft.com/office/drawing/2014/main" val="3213213305"/>
                  </a:ext>
                </a:extLst>
              </a:tr>
              <a:tr h="588706">
                <a:tc>
                  <a:txBody>
                    <a:bodyPr/>
                    <a:lstStyle/>
                    <a:p>
                      <a:r>
                        <a:rPr lang="en-IN" dirty="0"/>
                        <a:t>2</a:t>
                      </a:r>
                    </a:p>
                  </a:txBody>
                  <a:tcPr/>
                </a:tc>
                <a:tc>
                  <a:txBody>
                    <a:bodyPr/>
                    <a:lstStyle/>
                    <a:p>
                      <a:r>
                        <a:rPr lang="en-IN" dirty="0"/>
                        <a:t>85</a:t>
                      </a:r>
                    </a:p>
                  </a:txBody>
                  <a:tcPr/>
                </a:tc>
                <a:extLst>
                  <a:ext uri="{0D108BD9-81ED-4DB2-BD59-A6C34878D82A}">
                    <a16:rowId xmlns:a16="http://schemas.microsoft.com/office/drawing/2014/main" val="4256130491"/>
                  </a:ext>
                </a:extLst>
              </a:tr>
              <a:tr h="588706">
                <a:tc>
                  <a:txBody>
                    <a:bodyPr/>
                    <a:lstStyle/>
                    <a:p>
                      <a:r>
                        <a:rPr lang="en-IN" dirty="0"/>
                        <a:t>3</a:t>
                      </a:r>
                    </a:p>
                  </a:txBody>
                  <a:tcPr/>
                </a:tc>
                <a:tc>
                  <a:txBody>
                    <a:bodyPr/>
                    <a:lstStyle/>
                    <a:p>
                      <a:r>
                        <a:rPr lang="en-IN" dirty="0"/>
                        <a:t>73</a:t>
                      </a:r>
                    </a:p>
                  </a:txBody>
                  <a:tcPr/>
                </a:tc>
                <a:extLst>
                  <a:ext uri="{0D108BD9-81ED-4DB2-BD59-A6C34878D82A}">
                    <a16:rowId xmlns:a16="http://schemas.microsoft.com/office/drawing/2014/main" val="912437794"/>
                  </a:ext>
                </a:extLst>
              </a:tr>
              <a:tr h="588706">
                <a:tc>
                  <a:txBody>
                    <a:bodyPr/>
                    <a:lstStyle/>
                    <a:p>
                      <a:r>
                        <a:rPr lang="en-IN" dirty="0"/>
                        <a:t>4</a:t>
                      </a:r>
                    </a:p>
                  </a:txBody>
                  <a:tcPr/>
                </a:tc>
                <a:tc>
                  <a:txBody>
                    <a:bodyPr/>
                    <a:lstStyle/>
                    <a:p>
                      <a:r>
                        <a:rPr lang="en-IN" dirty="0"/>
                        <a:t>92</a:t>
                      </a:r>
                    </a:p>
                  </a:txBody>
                  <a:tcPr/>
                </a:tc>
                <a:extLst>
                  <a:ext uri="{0D108BD9-81ED-4DB2-BD59-A6C34878D82A}">
                    <a16:rowId xmlns:a16="http://schemas.microsoft.com/office/drawing/2014/main" val="31625498"/>
                  </a:ext>
                </a:extLst>
              </a:tr>
              <a:tr h="588706">
                <a:tc>
                  <a:txBody>
                    <a:bodyPr/>
                    <a:lstStyle/>
                    <a:p>
                      <a:r>
                        <a:rPr lang="en-IN" dirty="0"/>
                        <a:t>5</a:t>
                      </a:r>
                    </a:p>
                  </a:txBody>
                  <a:tcPr/>
                </a:tc>
                <a:tc>
                  <a:txBody>
                    <a:bodyPr/>
                    <a:lstStyle/>
                    <a:p>
                      <a:r>
                        <a:rPr lang="en-IN" dirty="0"/>
                        <a:t>101</a:t>
                      </a:r>
                    </a:p>
                  </a:txBody>
                  <a:tcPr/>
                </a:tc>
                <a:extLst>
                  <a:ext uri="{0D108BD9-81ED-4DB2-BD59-A6C34878D82A}">
                    <a16:rowId xmlns:a16="http://schemas.microsoft.com/office/drawing/2014/main" val="2392017976"/>
                  </a:ext>
                </a:extLst>
              </a:tr>
              <a:tr h="588706">
                <a:tc>
                  <a:txBody>
                    <a:bodyPr/>
                    <a:lstStyle/>
                    <a:p>
                      <a:r>
                        <a:rPr lang="en-IN" dirty="0"/>
                        <a:t>6</a:t>
                      </a:r>
                    </a:p>
                  </a:txBody>
                  <a:tcPr/>
                </a:tc>
                <a:tc>
                  <a:txBody>
                    <a:bodyPr/>
                    <a:lstStyle/>
                    <a:p>
                      <a:r>
                        <a:rPr lang="en-IN" dirty="0"/>
                        <a:t>76</a:t>
                      </a:r>
                    </a:p>
                  </a:txBody>
                  <a:tcPr/>
                </a:tc>
                <a:extLst>
                  <a:ext uri="{0D108BD9-81ED-4DB2-BD59-A6C34878D82A}">
                    <a16:rowId xmlns:a16="http://schemas.microsoft.com/office/drawing/2014/main" val="1252555310"/>
                  </a:ext>
                </a:extLst>
              </a:tr>
            </a:tbl>
          </a:graphicData>
        </a:graphic>
      </p:graphicFrame>
      <p:sp>
        <p:nvSpPr>
          <p:cNvPr id="8" name="TextBox 7">
            <a:extLst>
              <a:ext uri="{FF2B5EF4-FFF2-40B4-BE49-F238E27FC236}">
                <a16:creationId xmlns:a16="http://schemas.microsoft.com/office/drawing/2014/main" id="{43FC09BB-F9F3-408E-B5AA-B6576C466256}"/>
              </a:ext>
            </a:extLst>
          </p:cNvPr>
          <p:cNvSpPr txBox="1"/>
          <p:nvPr/>
        </p:nvSpPr>
        <p:spPr>
          <a:xfrm>
            <a:off x="994299" y="2654423"/>
            <a:ext cx="6246262" cy="2585323"/>
          </a:xfrm>
          <a:prstGeom prst="rect">
            <a:avLst/>
          </a:prstGeom>
          <a:noFill/>
        </p:spPr>
        <p:txBody>
          <a:bodyPr wrap="none" rtlCol="0">
            <a:spAutoFit/>
          </a:bodyPr>
          <a:lstStyle/>
          <a:p>
            <a:r>
              <a:rPr lang="en-IN" dirty="0"/>
              <a:t>50%7   =1</a:t>
            </a:r>
          </a:p>
          <a:p>
            <a:r>
              <a:rPr lang="en-IN" dirty="0"/>
              <a:t>700%7 =0</a:t>
            </a:r>
          </a:p>
          <a:p>
            <a:r>
              <a:rPr lang="en-IN" dirty="0"/>
              <a:t>76%7   =6</a:t>
            </a:r>
          </a:p>
          <a:p>
            <a:r>
              <a:rPr lang="en-IN" dirty="0"/>
              <a:t>85%7   =1 collision, (1+1*1)%7=2</a:t>
            </a:r>
          </a:p>
          <a:p>
            <a:r>
              <a:rPr lang="en-IN" dirty="0"/>
              <a:t>92%7   =4</a:t>
            </a:r>
          </a:p>
          <a:p>
            <a:r>
              <a:rPr lang="en-IN" dirty="0"/>
              <a:t>73%7   =3</a:t>
            </a:r>
          </a:p>
          <a:p>
            <a:r>
              <a:rPr lang="en-IN" dirty="0"/>
              <a:t>101%7 =3 collision, (3+1*1)%7=4 collision, (3+2*2)%7=0 collision</a:t>
            </a:r>
          </a:p>
          <a:p>
            <a:r>
              <a:rPr lang="en-IN" dirty="0"/>
              <a:t>                                   (3+3*3)%7=5</a:t>
            </a:r>
          </a:p>
          <a:p>
            <a:endParaRPr lang="en-IN" dirty="0"/>
          </a:p>
        </p:txBody>
      </p:sp>
    </p:spTree>
    <p:extLst>
      <p:ext uri="{BB962C8B-B14F-4D97-AF65-F5344CB8AC3E}">
        <p14:creationId xmlns:p14="http://schemas.microsoft.com/office/powerpoint/2010/main" val="3577319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0F045-5970-456A-90B6-AC9DF9B0710D}"/>
              </a:ext>
            </a:extLst>
          </p:cNvPr>
          <p:cNvSpPr>
            <a:spLocks noGrp="1"/>
          </p:cNvSpPr>
          <p:nvPr>
            <p:ph type="title"/>
          </p:nvPr>
        </p:nvSpPr>
        <p:spPr/>
        <p:txBody>
          <a:bodyPr/>
          <a:lstStyle/>
          <a:p>
            <a:r>
              <a:rPr lang="en-IN" dirty="0"/>
              <a:t>c. Double Hashing</a:t>
            </a:r>
          </a:p>
        </p:txBody>
      </p:sp>
      <p:pic>
        <p:nvPicPr>
          <p:cNvPr id="4" name="Picture 3">
            <a:extLst>
              <a:ext uri="{FF2B5EF4-FFF2-40B4-BE49-F238E27FC236}">
                <a16:creationId xmlns:a16="http://schemas.microsoft.com/office/drawing/2014/main" id="{D26DCC1B-1E3C-4EC6-B8BF-F08F90B0739B}"/>
              </a:ext>
            </a:extLst>
          </p:cNvPr>
          <p:cNvPicPr>
            <a:picLocks noChangeAspect="1"/>
          </p:cNvPicPr>
          <p:nvPr/>
        </p:nvPicPr>
        <p:blipFill rotWithShape="1">
          <a:blip r:embed="rId2"/>
          <a:srcRect l="7989" t="31439" r="8221" b="34877"/>
          <a:stretch/>
        </p:blipFill>
        <p:spPr>
          <a:xfrm>
            <a:off x="4027490" y="10384"/>
            <a:ext cx="8164510" cy="3282215"/>
          </a:xfrm>
          <a:prstGeom prst="rect">
            <a:avLst/>
          </a:prstGeom>
        </p:spPr>
      </p:pic>
      <p:sp>
        <p:nvSpPr>
          <p:cNvPr id="6" name="TextBox 5">
            <a:extLst>
              <a:ext uri="{FF2B5EF4-FFF2-40B4-BE49-F238E27FC236}">
                <a16:creationId xmlns:a16="http://schemas.microsoft.com/office/drawing/2014/main" id="{77C6C956-72D2-4861-AD9D-EB6AC4EF4C39}"/>
              </a:ext>
            </a:extLst>
          </p:cNvPr>
          <p:cNvSpPr txBox="1"/>
          <p:nvPr/>
        </p:nvSpPr>
        <p:spPr>
          <a:xfrm>
            <a:off x="125128" y="3429001"/>
            <a:ext cx="11973828" cy="2800767"/>
          </a:xfrm>
          <a:prstGeom prst="rect">
            <a:avLst/>
          </a:prstGeom>
          <a:noFill/>
        </p:spPr>
        <p:txBody>
          <a:bodyPr wrap="square">
            <a:spAutoFit/>
          </a:bodyPr>
          <a:lstStyle/>
          <a:p>
            <a:pPr marL="285750" indent="-285750" algn="l">
              <a:buFont typeface="Arial" panose="020B0604020202020204" pitchFamily="34" charset="0"/>
              <a:buChar char="•"/>
            </a:pPr>
            <a:r>
              <a:rPr lang="en-US" sz="2200" b="0" i="0" dirty="0">
                <a:solidFill>
                  <a:srgbClr val="191919"/>
                </a:solidFill>
                <a:effectLst/>
                <a:latin typeface="+mj-lt"/>
              </a:rPr>
              <a:t>In </a:t>
            </a:r>
            <a:r>
              <a:rPr lang="en-US" sz="2200" b="0" i="0" dirty="0">
                <a:solidFill>
                  <a:srgbClr val="C00000"/>
                </a:solidFill>
                <a:effectLst/>
                <a:latin typeface="+mj-lt"/>
              </a:rPr>
              <a:t>double hashing</a:t>
            </a:r>
            <a:r>
              <a:rPr lang="en-US" sz="2200" b="0" i="0" dirty="0">
                <a:solidFill>
                  <a:srgbClr val="191919"/>
                </a:solidFill>
                <a:effectLst/>
                <a:latin typeface="+mj-lt"/>
              </a:rPr>
              <a:t>, we make use of two hash functions. The first hash function is </a:t>
            </a:r>
            <a:r>
              <a:rPr lang="en-US" sz="2200" b="0" i="1" dirty="0">
                <a:solidFill>
                  <a:srgbClr val="191919"/>
                </a:solidFill>
                <a:effectLst/>
                <a:highlight>
                  <a:srgbClr val="FFFF00"/>
                </a:highlight>
                <a:latin typeface="+mj-lt"/>
              </a:rPr>
              <a:t>h</a:t>
            </a:r>
            <a:r>
              <a:rPr lang="en-US" sz="2200" b="0" i="0" baseline="-25000" dirty="0">
                <a:solidFill>
                  <a:srgbClr val="191919"/>
                </a:solidFill>
                <a:effectLst/>
                <a:highlight>
                  <a:srgbClr val="FFFF00"/>
                </a:highlight>
                <a:latin typeface="+mj-lt"/>
              </a:rPr>
              <a:t>1</a:t>
            </a:r>
            <a:r>
              <a:rPr lang="en-US" sz="2200" b="0" i="0" dirty="0">
                <a:solidFill>
                  <a:srgbClr val="191919"/>
                </a:solidFill>
                <a:effectLst/>
                <a:highlight>
                  <a:srgbClr val="FFFF00"/>
                </a:highlight>
                <a:latin typeface="+mj-lt"/>
              </a:rPr>
              <a:t>​(k)</a:t>
            </a:r>
            <a:r>
              <a:rPr lang="en-US" sz="2200" b="0" i="0" dirty="0">
                <a:solidFill>
                  <a:srgbClr val="191919"/>
                </a:solidFill>
                <a:effectLst/>
                <a:latin typeface="+mj-lt"/>
              </a:rPr>
              <a:t>, this function takes in our key and gives out a location on the hash-table. If the new location is empty, we can easily place our key in there without ever using the secondary hash function.</a:t>
            </a:r>
          </a:p>
          <a:p>
            <a:pPr marL="285750" indent="-285750" algn="l">
              <a:buFont typeface="Arial" panose="020B0604020202020204" pitchFamily="34" charset="0"/>
              <a:buChar char="•"/>
            </a:pPr>
            <a:r>
              <a:rPr lang="en-US" sz="2200" b="0" i="0" dirty="0">
                <a:solidFill>
                  <a:srgbClr val="191919"/>
                </a:solidFill>
                <a:effectLst/>
                <a:latin typeface="+mj-lt"/>
              </a:rPr>
              <a:t>However, </a:t>
            </a:r>
            <a:r>
              <a:rPr lang="en-US" sz="2200" b="0" i="0" dirty="0">
                <a:solidFill>
                  <a:srgbClr val="C00000"/>
                </a:solidFill>
                <a:effectLst/>
                <a:latin typeface="+mj-lt"/>
              </a:rPr>
              <a:t>in case of a collision</a:t>
            </a:r>
            <a:r>
              <a:rPr lang="en-US" sz="2200" b="0" i="0" dirty="0">
                <a:solidFill>
                  <a:srgbClr val="191919"/>
                </a:solidFill>
                <a:effectLst/>
                <a:latin typeface="+mj-lt"/>
              </a:rPr>
              <a:t>, </a:t>
            </a:r>
            <a:r>
              <a:rPr lang="en-US" sz="2200" b="0" i="0" dirty="0">
                <a:solidFill>
                  <a:srgbClr val="191919"/>
                </a:solidFill>
                <a:effectLst/>
                <a:highlight>
                  <a:srgbClr val="FFFF00"/>
                </a:highlight>
                <a:latin typeface="+mj-lt"/>
              </a:rPr>
              <a:t>we need to use secondary hash-function </a:t>
            </a:r>
            <a:r>
              <a:rPr lang="en-US" sz="2200" b="0" i="1" dirty="0">
                <a:solidFill>
                  <a:srgbClr val="191919"/>
                </a:solidFill>
                <a:effectLst/>
                <a:highlight>
                  <a:srgbClr val="FFFF00"/>
                </a:highlight>
                <a:latin typeface="+mj-lt"/>
              </a:rPr>
              <a:t>h</a:t>
            </a:r>
            <a:r>
              <a:rPr lang="en-US" sz="2200" b="0" i="0" baseline="-25000" dirty="0">
                <a:solidFill>
                  <a:srgbClr val="191919"/>
                </a:solidFill>
                <a:effectLst/>
                <a:highlight>
                  <a:srgbClr val="FFFF00"/>
                </a:highlight>
                <a:latin typeface="+mj-lt"/>
              </a:rPr>
              <a:t>2</a:t>
            </a:r>
            <a:r>
              <a:rPr lang="en-US" sz="2200" b="0" i="0" dirty="0">
                <a:solidFill>
                  <a:srgbClr val="191919"/>
                </a:solidFill>
                <a:effectLst/>
                <a:highlight>
                  <a:srgbClr val="FFFF00"/>
                </a:highlight>
                <a:latin typeface="+mj-lt"/>
              </a:rPr>
              <a:t>​(k) </a:t>
            </a:r>
            <a:r>
              <a:rPr lang="en-US" sz="2200" b="0" i="0" dirty="0">
                <a:solidFill>
                  <a:srgbClr val="191919"/>
                </a:solidFill>
                <a:effectLst/>
                <a:latin typeface="+mj-lt"/>
              </a:rPr>
              <a:t>in combination with the first hash-function </a:t>
            </a:r>
            <a:r>
              <a:rPr lang="en-US" sz="2200" b="0" i="1" dirty="0">
                <a:solidFill>
                  <a:srgbClr val="191919"/>
                </a:solidFill>
                <a:effectLst/>
                <a:latin typeface="+mj-lt"/>
              </a:rPr>
              <a:t>h</a:t>
            </a:r>
            <a:r>
              <a:rPr lang="en-US" sz="2200" b="0" i="0" baseline="-25000" dirty="0">
                <a:solidFill>
                  <a:srgbClr val="191919"/>
                </a:solidFill>
                <a:effectLst/>
                <a:latin typeface="+mj-lt"/>
              </a:rPr>
              <a:t>1​</a:t>
            </a:r>
            <a:r>
              <a:rPr lang="en-US" sz="2200" b="0" i="0" dirty="0">
                <a:solidFill>
                  <a:srgbClr val="191919"/>
                </a:solidFill>
                <a:effectLst/>
                <a:latin typeface="+mj-lt"/>
              </a:rPr>
              <a:t>(k) to find a new location on the hash-table. The combined hash-function used is of the form </a:t>
            </a:r>
            <a:r>
              <a:rPr lang="en-US" sz="2200" b="0" dirty="0">
                <a:solidFill>
                  <a:srgbClr val="191919"/>
                </a:solidFill>
                <a:effectLst/>
                <a:highlight>
                  <a:srgbClr val="FFFF00"/>
                </a:highlight>
                <a:latin typeface="+mj-lt"/>
              </a:rPr>
              <a:t>h(</a:t>
            </a:r>
            <a:r>
              <a:rPr lang="en-US" sz="2200" b="0" dirty="0" err="1">
                <a:solidFill>
                  <a:srgbClr val="191919"/>
                </a:solidFill>
                <a:effectLst/>
                <a:highlight>
                  <a:srgbClr val="FFFF00"/>
                </a:highlight>
                <a:latin typeface="+mj-lt"/>
              </a:rPr>
              <a:t>k,i</a:t>
            </a:r>
            <a:r>
              <a:rPr lang="en-US" sz="2200" b="0" dirty="0">
                <a:solidFill>
                  <a:srgbClr val="191919"/>
                </a:solidFill>
                <a:effectLst/>
                <a:highlight>
                  <a:srgbClr val="FFFF00"/>
                </a:highlight>
                <a:latin typeface="+mj-lt"/>
              </a:rPr>
              <a:t>) = (h</a:t>
            </a:r>
            <a:r>
              <a:rPr lang="en-US" sz="2200" b="0" baseline="-25000" dirty="0">
                <a:solidFill>
                  <a:srgbClr val="191919"/>
                </a:solidFill>
                <a:effectLst/>
                <a:highlight>
                  <a:srgbClr val="FFFF00"/>
                </a:highlight>
                <a:latin typeface="+mj-lt"/>
              </a:rPr>
              <a:t>1​</a:t>
            </a:r>
            <a:r>
              <a:rPr lang="en-US" sz="2200" b="0" dirty="0">
                <a:solidFill>
                  <a:srgbClr val="191919"/>
                </a:solidFill>
                <a:effectLst/>
                <a:highlight>
                  <a:srgbClr val="FFFF00"/>
                </a:highlight>
                <a:latin typeface="+mj-lt"/>
              </a:rPr>
              <a:t>(k) + </a:t>
            </a:r>
            <a:r>
              <a:rPr lang="en-US" sz="2200" b="0" dirty="0" err="1">
                <a:solidFill>
                  <a:srgbClr val="191919"/>
                </a:solidFill>
                <a:effectLst/>
                <a:highlight>
                  <a:srgbClr val="FFFF00"/>
                </a:highlight>
                <a:latin typeface="+mj-lt"/>
              </a:rPr>
              <a:t>i</a:t>
            </a:r>
            <a:r>
              <a:rPr lang="en-US" sz="2200" b="0" dirty="0">
                <a:solidFill>
                  <a:srgbClr val="191919"/>
                </a:solidFill>
                <a:effectLst/>
                <a:highlight>
                  <a:srgbClr val="FFFF00"/>
                </a:highlight>
                <a:latin typeface="+mj-lt"/>
              </a:rPr>
              <a:t> * h</a:t>
            </a:r>
            <a:r>
              <a:rPr lang="en-US" sz="2200" b="0" baseline="-25000" dirty="0">
                <a:solidFill>
                  <a:srgbClr val="191919"/>
                </a:solidFill>
                <a:effectLst/>
                <a:highlight>
                  <a:srgbClr val="FFFF00"/>
                </a:highlight>
                <a:latin typeface="+mj-lt"/>
              </a:rPr>
              <a:t>2</a:t>
            </a:r>
            <a:r>
              <a:rPr lang="en-US" sz="2200" b="0" dirty="0">
                <a:solidFill>
                  <a:srgbClr val="191919"/>
                </a:solidFill>
                <a:effectLst/>
                <a:highlight>
                  <a:srgbClr val="FFFF00"/>
                </a:highlight>
                <a:latin typeface="+mj-lt"/>
              </a:rPr>
              <a:t>​(k))%m</a:t>
            </a:r>
            <a:r>
              <a:rPr lang="en-US" sz="2200" b="0" dirty="0">
                <a:solidFill>
                  <a:srgbClr val="191919"/>
                </a:solidFill>
                <a:effectLst/>
                <a:latin typeface="+mj-lt"/>
              </a:rPr>
              <a:t>. </a:t>
            </a:r>
          </a:p>
          <a:p>
            <a:pPr marL="285750" indent="-285750" algn="l">
              <a:buFont typeface="Arial" panose="020B0604020202020204" pitchFamily="34" charset="0"/>
              <a:buChar char="•"/>
            </a:pPr>
            <a:r>
              <a:rPr lang="en-US" sz="2200" b="0" i="0" dirty="0">
                <a:solidFill>
                  <a:srgbClr val="191919"/>
                </a:solidFill>
                <a:effectLst/>
                <a:latin typeface="+mj-lt"/>
              </a:rPr>
              <a:t>Here, </a:t>
            </a:r>
            <a:r>
              <a:rPr lang="en-US" sz="2200" b="0" i="0" dirty="0" err="1">
                <a:solidFill>
                  <a:srgbClr val="C00000"/>
                </a:solidFill>
                <a:effectLst/>
                <a:latin typeface="+mj-lt"/>
              </a:rPr>
              <a:t>i</a:t>
            </a:r>
            <a:r>
              <a:rPr lang="en-US" sz="2200" b="0" i="0" dirty="0">
                <a:solidFill>
                  <a:srgbClr val="191919"/>
                </a:solidFill>
                <a:effectLst/>
                <a:latin typeface="+mj-lt"/>
              </a:rPr>
              <a:t> </a:t>
            </a:r>
            <a:r>
              <a:rPr lang="en-US" sz="2200" dirty="0">
                <a:solidFill>
                  <a:srgbClr val="191919"/>
                </a:solidFill>
                <a:latin typeface="+mj-lt"/>
              </a:rPr>
              <a:t>=</a:t>
            </a:r>
            <a:r>
              <a:rPr lang="en-US" sz="2200" b="0" i="0" dirty="0">
                <a:solidFill>
                  <a:srgbClr val="191919"/>
                </a:solidFill>
                <a:effectLst/>
                <a:latin typeface="+mj-lt"/>
              </a:rPr>
              <a:t> an non-negative integer which signifies the collision number, </a:t>
            </a:r>
          </a:p>
          <a:p>
            <a:pPr marL="285750" indent="-285750" algn="l">
              <a:buFont typeface="Arial" panose="020B0604020202020204" pitchFamily="34" charset="0"/>
              <a:buChar char="•"/>
            </a:pPr>
            <a:r>
              <a:rPr lang="en-US" sz="2200" dirty="0">
                <a:solidFill>
                  <a:srgbClr val="191919"/>
                </a:solidFill>
                <a:latin typeface="+mj-lt"/>
              </a:rPr>
              <a:t>          </a:t>
            </a:r>
            <a:r>
              <a:rPr lang="en-US" sz="2200" b="0" i="0" dirty="0">
                <a:solidFill>
                  <a:srgbClr val="C00000"/>
                </a:solidFill>
                <a:effectLst/>
                <a:latin typeface="+mj-lt"/>
              </a:rPr>
              <a:t>k</a:t>
            </a:r>
            <a:r>
              <a:rPr lang="en-US" sz="2200" b="0" i="0" dirty="0">
                <a:solidFill>
                  <a:srgbClr val="191919"/>
                </a:solidFill>
                <a:effectLst/>
                <a:latin typeface="+mj-lt"/>
              </a:rPr>
              <a:t> = element/key which is being hashed and m= hash table size.</a:t>
            </a:r>
          </a:p>
        </p:txBody>
      </p:sp>
    </p:spTree>
    <p:extLst>
      <p:ext uri="{BB962C8B-B14F-4D97-AF65-F5344CB8AC3E}">
        <p14:creationId xmlns:p14="http://schemas.microsoft.com/office/powerpoint/2010/main" val="449285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9F7AF-5717-4410-A7BC-AC34C0B3559A}"/>
              </a:ext>
            </a:extLst>
          </p:cNvPr>
          <p:cNvSpPr>
            <a:spLocks noGrp="1"/>
          </p:cNvSpPr>
          <p:nvPr>
            <p:ph type="title"/>
          </p:nvPr>
        </p:nvSpPr>
        <p:spPr/>
        <p:txBody>
          <a:bodyPr/>
          <a:lstStyle/>
          <a:p>
            <a:r>
              <a:rPr lang="en-IN" dirty="0"/>
              <a:t>Double Hashing</a:t>
            </a:r>
          </a:p>
        </p:txBody>
      </p:sp>
      <p:sp>
        <p:nvSpPr>
          <p:cNvPr id="3" name="Content Placeholder 2">
            <a:extLst>
              <a:ext uri="{FF2B5EF4-FFF2-40B4-BE49-F238E27FC236}">
                <a16:creationId xmlns:a16="http://schemas.microsoft.com/office/drawing/2014/main" id="{6988F90C-55E7-488A-98F3-B473D3E9A1E6}"/>
              </a:ext>
            </a:extLst>
          </p:cNvPr>
          <p:cNvSpPr>
            <a:spLocks noGrp="1"/>
          </p:cNvSpPr>
          <p:nvPr>
            <p:ph idx="1"/>
          </p:nvPr>
        </p:nvSpPr>
        <p:spPr/>
        <p:txBody>
          <a:bodyPr/>
          <a:lstStyle/>
          <a:p>
            <a:r>
              <a:rPr lang="en-US" sz="2000" dirty="0"/>
              <a:t>In double hashing,</a:t>
            </a:r>
          </a:p>
          <a:p>
            <a:pPr lvl="1"/>
            <a:r>
              <a:rPr lang="en-US" sz="1800" dirty="0"/>
              <a:t>We use another hash function hash2(x) and look for </a:t>
            </a:r>
            <a:r>
              <a:rPr lang="en-US" sz="1800" dirty="0" err="1"/>
              <a:t>i</a:t>
            </a:r>
            <a:r>
              <a:rPr lang="en-US" sz="1800" dirty="0"/>
              <a:t> * hash2(x) bucket in </a:t>
            </a:r>
            <a:r>
              <a:rPr lang="en-US" sz="1800" dirty="0" err="1"/>
              <a:t>ith</a:t>
            </a:r>
            <a:r>
              <a:rPr lang="en-US" sz="1800" dirty="0"/>
              <a:t> iteration.</a:t>
            </a:r>
          </a:p>
          <a:p>
            <a:pPr lvl="1"/>
            <a:r>
              <a:rPr lang="en-US" sz="1800" dirty="0"/>
              <a:t>It requires more computation time as two hash functions need to be computed.</a:t>
            </a:r>
          </a:p>
          <a:p>
            <a:pPr lvl="1"/>
            <a:r>
              <a:rPr lang="en-US" sz="1800" dirty="0"/>
              <a:t>let hash(x) be the slot index computed using hash function. </a:t>
            </a:r>
          </a:p>
          <a:p>
            <a:pPr lvl="1"/>
            <a:r>
              <a:rPr lang="en-US" sz="1800" dirty="0"/>
              <a:t>If slot hash(x) % S is full, then we try (hash(x) + 1*hash2(x)) % S </a:t>
            </a:r>
          </a:p>
          <a:p>
            <a:pPr lvl="1"/>
            <a:r>
              <a:rPr lang="en-US" sz="1800" dirty="0"/>
              <a:t>If (hash(x) + 1*hash2(x)) % S is also full, then we try (hash(x) + 2*hash2(x)) % S</a:t>
            </a:r>
          </a:p>
          <a:p>
            <a:pPr lvl="1"/>
            <a:r>
              <a:rPr lang="en-US" sz="1800" dirty="0"/>
              <a:t>If (hash(x) + 2*hash2(x)) % S is also full, then we try (hash(x) + 3*hash2(x)) % S </a:t>
            </a:r>
          </a:p>
          <a:p>
            <a:endParaRPr lang="en-IN" dirty="0"/>
          </a:p>
        </p:txBody>
      </p:sp>
      <p:pic>
        <p:nvPicPr>
          <p:cNvPr id="4" name="Picture 3">
            <a:extLst>
              <a:ext uri="{FF2B5EF4-FFF2-40B4-BE49-F238E27FC236}">
                <a16:creationId xmlns:a16="http://schemas.microsoft.com/office/drawing/2014/main" id="{6C84CCC8-8C02-47FC-ACBF-8BE91E88E68F}"/>
              </a:ext>
            </a:extLst>
          </p:cNvPr>
          <p:cNvPicPr>
            <a:picLocks noChangeAspect="1"/>
          </p:cNvPicPr>
          <p:nvPr/>
        </p:nvPicPr>
        <p:blipFill>
          <a:blip r:embed="rId2"/>
          <a:stretch>
            <a:fillRect/>
          </a:stretch>
        </p:blipFill>
        <p:spPr>
          <a:xfrm>
            <a:off x="4319437" y="3341733"/>
            <a:ext cx="6002942" cy="3516267"/>
          </a:xfrm>
          <a:prstGeom prst="rect">
            <a:avLst/>
          </a:prstGeom>
        </p:spPr>
      </p:pic>
      <p:sp>
        <p:nvSpPr>
          <p:cNvPr id="5" name="TextBox 4">
            <a:extLst>
              <a:ext uri="{FF2B5EF4-FFF2-40B4-BE49-F238E27FC236}">
                <a16:creationId xmlns:a16="http://schemas.microsoft.com/office/drawing/2014/main" id="{7D1BFAF6-1E21-4407-AE42-7ACCA9F0A20E}"/>
              </a:ext>
            </a:extLst>
          </p:cNvPr>
          <p:cNvSpPr txBox="1"/>
          <p:nvPr/>
        </p:nvSpPr>
        <p:spPr>
          <a:xfrm>
            <a:off x="310718" y="4003829"/>
            <a:ext cx="3613212" cy="1754326"/>
          </a:xfrm>
          <a:prstGeom prst="rect">
            <a:avLst/>
          </a:prstGeom>
          <a:noFill/>
        </p:spPr>
        <p:txBody>
          <a:bodyPr wrap="square" rtlCol="0">
            <a:spAutoFit/>
          </a:bodyPr>
          <a:lstStyle/>
          <a:p>
            <a:r>
              <a:rPr lang="en-IN" dirty="0"/>
              <a:t>H1(x)=k%7</a:t>
            </a:r>
          </a:p>
          <a:p>
            <a:r>
              <a:rPr lang="en-IN" dirty="0"/>
              <a:t>H2(x)=R-(</a:t>
            </a:r>
            <a:r>
              <a:rPr lang="en-IN" dirty="0" err="1"/>
              <a:t>k%R</a:t>
            </a:r>
            <a:r>
              <a:rPr lang="en-IN" dirty="0"/>
              <a:t>)</a:t>
            </a:r>
          </a:p>
          <a:p>
            <a:r>
              <a:rPr lang="en-IN" dirty="0"/>
              <a:t>H2(x)=5-(k%5)</a:t>
            </a:r>
          </a:p>
          <a:p>
            <a:endParaRPr lang="en-IN" dirty="0"/>
          </a:p>
          <a:p>
            <a:r>
              <a:rPr lang="en-IN" dirty="0"/>
              <a:t>Where R is prime no, always less than table size</a:t>
            </a:r>
          </a:p>
        </p:txBody>
      </p:sp>
    </p:spTree>
    <p:extLst>
      <p:ext uri="{BB962C8B-B14F-4D97-AF65-F5344CB8AC3E}">
        <p14:creationId xmlns:p14="http://schemas.microsoft.com/office/powerpoint/2010/main" val="4073239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B13232-DB94-480E-8096-0D1CFF821891}"/>
              </a:ext>
            </a:extLst>
          </p:cNvPr>
          <p:cNvSpPr/>
          <p:nvPr/>
        </p:nvSpPr>
        <p:spPr>
          <a:xfrm>
            <a:off x="917359" y="478006"/>
            <a:ext cx="10952086" cy="1846659"/>
          </a:xfrm>
          <a:prstGeom prst="rect">
            <a:avLst/>
          </a:prstGeom>
        </p:spPr>
        <p:txBody>
          <a:bodyPr wrap="square">
            <a:spAutoFit/>
          </a:bodyPr>
          <a:lstStyle/>
          <a:p>
            <a:r>
              <a:rPr lang="en-US" sz="2400" b="1" u="sng" dirty="0"/>
              <a:t>Problem-Double hashing</a:t>
            </a:r>
            <a:endParaRPr lang="en-US" sz="2400" b="1" dirty="0"/>
          </a:p>
          <a:p>
            <a:r>
              <a:rPr lang="en-US" dirty="0"/>
              <a:t> </a:t>
            </a:r>
          </a:p>
          <a:p>
            <a:r>
              <a:rPr lang="en-US" dirty="0"/>
              <a:t>Using the hash function </a:t>
            </a:r>
            <a:r>
              <a:rPr lang="en-US" b="1" dirty="0"/>
              <a:t>h1(k)=k mod 13</a:t>
            </a:r>
            <a:r>
              <a:rPr lang="en-US" dirty="0"/>
              <a:t>, </a:t>
            </a:r>
            <a:r>
              <a:rPr lang="en-US" b="1" dirty="0"/>
              <a:t>h2(k)= 8-(k mod 8</a:t>
            </a:r>
            <a:r>
              <a:rPr lang="en-US" dirty="0"/>
              <a:t>) insert the following sequence of keys in the hash table-</a:t>
            </a:r>
          </a:p>
          <a:p>
            <a:pPr algn="ctr"/>
            <a:endParaRPr lang="en-US" dirty="0"/>
          </a:p>
          <a:p>
            <a:pPr algn="ctr"/>
            <a:r>
              <a:rPr lang="en-US" dirty="0"/>
              <a:t>18, 41, 22, 44, 59, 32, 31, 73</a:t>
            </a:r>
          </a:p>
          <a:p>
            <a:endParaRPr lang="en-US" dirty="0"/>
          </a:p>
        </p:txBody>
      </p:sp>
      <p:graphicFrame>
        <p:nvGraphicFramePr>
          <p:cNvPr id="2" name="Table 2">
            <a:extLst>
              <a:ext uri="{FF2B5EF4-FFF2-40B4-BE49-F238E27FC236}">
                <a16:creationId xmlns:a16="http://schemas.microsoft.com/office/drawing/2014/main" id="{E2CB9908-62DB-4970-9465-A998EBB4DBDC}"/>
              </a:ext>
            </a:extLst>
          </p:cNvPr>
          <p:cNvGraphicFramePr>
            <a:graphicFrameLocks noGrp="1"/>
          </p:cNvGraphicFramePr>
          <p:nvPr/>
        </p:nvGraphicFramePr>
        <p:xfrm>
          <a:off x="8602461" y="1596229"/>
          <a:ext cx="1566416" cy="4922840"/>
        </p:xfrm>
        <a:graphic>
          <a:graphicData uri="http://schemas.openxmlformats.org/drawingml/2006/table">
            <a:tbl>
              <a:tblPr firstRow="1" bandRow="1">
                <a:tableStyleId>{5940675A-B579-460E-94D1-54222C63F5DA}</a:tableStyleId>
              </a:tblPr>
              <a:tblGrid>
                <a:gridCol w="783208">
                  <a:extLst>
                    <a:ext uri="{9D8B030D-6E8A-4147-A177-3AD203B41FA5}">
                      <a16:colId xmlns:a16="http://schemas.microsoft.com/office/drawing/2014/main" val="127666146"/>
                    </a:ext>
                  </a:extLst>
                </a:gridCol>
                <a:gridCol w="783208">
                  <a:extLst>
                    <a:ext uri="{9D8B030D-6E8A-4147-A177-3AD203B41FA5}">
                      <a16:colId xmlns:a16="http://schemas.microsoft.com/office/drawing/2014/main" val="1895157260"/>
                    </a:ext>
                  </a:extLst>
                </a:gridCol>
              </a:tblGrid>
              <a:tr h="378680">
                <a:tc>
                  <a:txBody>
                    <a:bodyPr/>
                    <a:lstStyle/>
                    <a:p>
                      <a:r>
                        <a:rPr lang="en-IN" dirty="0"/>
                        <a:t>0</a:t>
                      </a:r>
                    </a:p>
                  </a:txBody>
                  <a:tcPr/>
                </a:tc>
                <a:tc>
                  <a:txBody>
                    <a:bodyPr/>
                    <a:lstStyle/>
                    <a:p>
                      <a:r>
                        <a:rPr lang="en-IN" dirty="0"/>
                        <a:t>44</a:t>
                      </a:r>
                    </a:p>
                  </a:txBody>
                  <a:tcPr/>
                </a:tc>
                <a:extLst>
                  <a:ext uri="{0D108BD9-81ED-4DB2-BD59-A6C34878D82A}">
                    <a16:rowId xmlns:a16="http://schemas.microsoft.com/office/drawing/2014/main" val="3517526410"/>
                  </a:ext>
                </a:extLst>
              </a:tr>
              <a:tr h="378680">
                <a:tc>
                  <a:txBody>
                    <a:bodyPr/>
                    <a:lstStyle/>
                    <a:p>
                      <a:r>
                        <a:rPr lang="en-IN" dirty="0"/>
                        <a:t>1</a:t>
                      </a:r>
                    </a:p>
                  </a:txBody>
                  <a:tcPr/>
                </a:tc>
                <a:tc>
                  <a:txBody>
                    <a:bodyPr/>
                    <a:lstStyle/>
                    <a:p>
                      <a:endParaRPr lang="en-IN" dirty="0"/>
                    </a:p>
                  </a:txBody>
                  <a:tcPr/>
                </a:tc>
                <a:extLst>
                  <a:ext uri="{0D108BD9-81ED-4DB2-BD59-A6C34878D82A}">
                    <a16:rowId xmlns:a16="http://schemas.microsoft.com/office/drawing/2014/main" val="2937758444"/>
                  </a:ext>
                </a:extLst>
              </a:tr>
              <a:tr h="378680">
                <a:tc>
                  <a:txBody>
                    <a:bodyPr/>
                    <a:lstStyle/>
                    <a:p>
                      <a:r>
                        <a:rPr lang="en-IN" dirty="0"/>
                        <a:t>2</a:t>
                      </a:r>
                    </a:p>
                  </a:txBody>
                  <a:tcPr/>
                </a:tc>
                <a:tc>
                  <a:txBody>
                    <a:bodyPr/>
                    <a:lstStyle/>
                    <a:p>
                      <a:r>
                        <a:rPr lang="en-IN" dirty="0"/>
                        <a:t>41</a:t>
                      </a:r>
                    </a:p>
                  </a:txBody>
                  <a:tcPr/>
                </a:tc>
                <a:extLst>
                  <a:ext uri="{0D108BD9-81ED-4DB2-BD59-A6C34878D82A}">
                    <a16:rowId xmlns:a16="http://schemas.microsoft.com/office/drawing/2014/main" val="2213751748"/>
                  </a:ext>
                </a:extLst>
              </a:tr>
              <a:tr h="378680">
                <a:tc>
                  <a:txBody>
                    <a:bodyPr/>
                    <a:lstStyle/>
                    <a:p>
                      <a:r>
                        <a:rPr lang="en-IN" dirty="0"/>
                        <a:t>3</a:t>
                      </a:r>
                    </a:p>
                  </a:txBody>
                  <a:tcPr/>
                </a:tc>
                <a:tc>
                  <a:txBody>
                    <a:bodyPr/>
                    <a:lstStyle/>
                    <a:p>
                      <a:r>
                        <a:rPr lang="en-IN" dirty="0"/>
                        <a:t>73</a:t>
                      </a:r>
                    </a:p>
                  </a:txBody>
                  <a:tcPr/>
                </a:tc>
                <a:extLst>
                  <a:ext uri="{0D108BD9-81ED-4DB2-BD59-A6C34878D82A}">
                    <a16:rowId xmlns:a16="http://schemas.microsoft.com/office/drawing/2014/main" val="2639730415"/>
                  </a:ext>
                </a:extLst>
              </a:tr>
              <a:tr h="378680">
                <a:tc>
                  <a:txBody>
                    <a:bodyPr/>
                    <a:lstStyle/>
                    <a:p>
                      <a:r>
                        <a:rPr lang="en-IN" dirty="0"/>
                        <a:t>4</a:t>
                      </a:r>
                    </a:p>
                  </a:txBody>
                  <a:tcPr/>
                </a:tc>
                <a:tc>
                  <a:txBody>
                    <a:bodyPr/>
                    <a:lstStyle/>
                    <a:p>
                      <a:endParaRPr lang="en-IN" dirty="0"/>
                    </a:p>
                  </a:txBody>
                  <a:tcPr/>
                </a:tc>
                <a:extLst>
                  <a:ext uri="{0D108BD9-81ED-4DB2-BD59-A6C34878D82A}">
                    <a16:rowId xmlns:a16="http://schemas.microsoft.com/office/drawing/2014/main" val="3541451440"/>
                  </a:ext>
                </a:extLst>
              </a:tr>
              <a:tr h="378680">
                <a:tc>
                  <a:txBody>
                    <a:bodyPr/>
                    <a:lstStyle/>
                    <a:p>
                      <a:r>
                        <a:rPr lang="en-IN" dirty="0"/>
                        <a:t>5</a:t>
                      </a:r>
                    </a:p>
                  </a:txBody>
                  <a:tcPr/>
                </a:tc>
                <a:tc>
                  <a:txBody>
                    <a:bodyPr/>
                    <a:lstStyle/>
                    <a:p>
                      <a:r>
                        <a:rPr lang="en-IN" dirty="0"/>
                        <a:t>18</a:t>
                      </a:r>
                    </a:p>
                  </a:txBody>
                  <a:tcPr/>
                </a:tc>
                <a:extLst>
                  <a:ext uri="{0D108BD9-81ED-4DB2-BD59-A6C34878D82A}">
                    <a16:rowId xmlns:a16="http://schemas.microsoft.com/office/drawing/2014/main" val="1839762170"/>
                  </a:ext>
                </a:extLst>
              </a:tr>
              <a:tr h="378680">
                <a:tc>
                  <a:txBody>
                    <a:bodyPr/>
                    <a:lstStyle/>
                    <a:p>
                      <a:r>
                        <a:rPr lang="en-IN" dirty="0"/>
                        <a:t>6</a:t>
                      </a:r>
                    </a:p>
                  </a:txBody>
                  <a:tcPr/>
                </a:tc>
                <a:tc>
                  <a:txBody>
                    <a:bodyPr/>
                    <a:lstStyle/>
                    <a:p>
                      <a:r>
                        <a:rPr lang="en-IN" dirty="0"/>
                        <a:t>32</a:t>
                      </a:r>
                    </a:p>
                  </a:txBody>
                  <a:tcPr/>
                </a:tc>
                <a:extLst>
                  <a:ext uri="{0D108BD9-81ED-4DB2-BD59-A6C34878D82A}">
                    <a16:rowId xmlns:a16="http://schemas.microsoft.com/office/drawing/2014/main" val="3153221682"/>
                  </a:ext>
                </a:extLst>
              </a:tr>
              <a:tr h="378680">
                <a:tc>
                  <a:txBody>
                    <a:bodyPr/>
                    <a:lstStyle/>
                    <a:p>
                      <a:r>
                        <a:rPr lang="en-IN" dirty="0"/>
                        <a:t>7</a:t>
                      </a:r>
                    </a:p>
                  </a:txBody>
                  <a:tcPr/>
                </a:tc>
                <a:tc>
                  <a:txBody>
                    <a:bodyPr/>
                    <a:lstStyle/>
                    <a:p>
                      <a:r>
                        <a:rPr lang="en-IN" dirty="0"/>
                        <a:t>59</a:t>
                      </a:r>
                    </a:p>
                  </a:txBody>
                  <a:tcPr/>
                </a:tc>
                <a:extLst>
                  <a:ext uri="{0D108BD9-81ED-4DB2-BD59-A6C34878D82A}">
                    <a16:rowId xmlns:a16="http://schemas.microsoft.com/office/drawing/2014/main" val="3975473479"/>
                  </a:ext>
                </a:extLst>
              </a:tr>
              <a:tr h="378680">
                <a:tc>
                  <a:txBody>
                    <a:bodyPr/>
                    <a:lstStyle/>
                    <a:p>
                      <a:r>
                        <a:rPr lang="en-IN" dirty="0"/>
                        <a:t>8</a:t>
                      </a:r>
                    </a:p>
                  </a:txBody>
                  <a:tcPr/>
                </a:tc>
                <a:tc>
                  <a:txBody>
                    <a:bodyPr/>
                    <a:lstStyle/>
                    <a:p>
                      <a:r>
                        <a:rPr lang="en-IN" dirty="0"/>
                        <a:t>31</a:t>
                      </a:r>
                    </a:p>
                  </a:txBody>
                  <a:tcPr/>
                </a:tc>
                <a:extLst>
                  <a:ext uri="{0D108BD9-81ED-4DB2-BD59-A6C34878D82A}">
                    <a16:rowId xmlns:a16="http://schemas.microsoft.com/office/drawing/2014/main" val="747474813"/>
                  </a:ext>
                </a:extLst>
              </a:tr>
              <a:tr h="378680">
                <a:tc>
                  <a:txBody>
                    <a:bodyPr/>
                    <a:lstStyle/>
                    <a:p>
                      <a:r>
                        <a:rPr lang="en-IN" dirty="0"/>
                        <a:t>9</a:t>
                      </a:r>
                    </a:p>
                  </a:txBody>
                  <a:tcPr/>
                </a:tc>
                <a:tc>
                  <a:txBody>
                    <a:bodyPr/>
                    <a:lstStyle/>
                    <a:p>
                      <a:r>
                        <a:rPr lang="en-IN" dirty="0"/>
                        <a:t>22</a:t>
                      </a:r>
                    </a:p>
                  </a:txBody>
                  <a:tcPr/>
                </a:tc>
                <a:extLst>
                  <a:ext uri="{0D108BD9-81ED-4DB2-BD59-A6C34878D82A}">
                    <a16:rowId xmlns:a16="http://schemas.microsoft.com/office/drawing/2014/main" val="2207893787"/>
                  </a:ext>
                </a:extLst>
              </a:tr>
              <a:tr h="378680">
                <a:tc>
                  <a:txBody>
                    <a:bodyPr/>
                    <a:lstStyle/>
                    <a:p>
                      <a:r>
                        <a:rPr lang="en-IN" dirty="0"/>
                        <a:t>10</a:t>
                      </a:r>
                    </a:p>
                  </a:txBody>
                  <a:tcPr/>
                </a:tc>
                <a:tc>
                  <a:txBody>
                    <a:bodyPr/>
                    <a:lstStyle/>
                    <a:p>
                      <a:endParaRPr lang="en-IN" dirty="0"/>
                    </a:p>
                  </a:txBody>
                  <a:tcPr/>
                </a:tc>
                <a:extLst>
                  <a:ext uri="{0D108BD9-81ED-4DB2-BD59-A6C34878D82A}">
                    <a16:rowId xmlns:a16="http://schemas.microsoft.com/office/drawing/2014/main" val="752831355"/>
                  </a:ext>
                </a:extLst>
              </a:tr>
              <a:tr h="378680">
                <a:tc>
                  <a:txBody>
                    <a:bodyPr/>
                    <a:lstStyle/>
                    <a:p>
                      <a:r>
                        <a:rPr lang="en-IN" dirty="0"/>
                        <a:t>11</a:t>
                      </a:r>
                    </a:p>
                  </a:txBody>
                  <a:tcPr/>
                </a:tc>
                <a:tc>
                  <a:txBody>
                    <a:bodyPr/>
                    <a:lstStyle/>
                    <a:p>
                      <a:endParaRPr lang="en-IN" dirty="0"/>
                    </a:p>
                  </a:txBody>
                  <a:tcPr/>
                </a:tc>
                <a:extLst>
                  <a:ext uri="{0D108BD9-81ED-4DB2-BD59-A6C34878D82A}">
                    <a16:rowId xmlns:a16="http://schemas.microsoft.com/office/drawing/2014/main" val="2317540775"/>
                  </a:ext>
                </a:extLst>
              </a:tr>
              <a:tr h="378680">
                <a:tc>
                  <a:txBody>
                    <a:bodyPr/>
                    <a:lstStyle/>
                    <a:p>
                      <a:r>
                        <a:rPr lang="en-IN" dirty="0"/>
                        <a:t>12</a:t>
                      </a:r>
                    </a:p>
                  </a:txBody>
                  <a:tcPr/>
                </a:tc>
                <a:tc>
                  <a:txBody>
                    <a:bodyPr/>
                    <a:lstStyle/>
                    <a:p>
                      <a:endParaRPr lang="en-IN" dirty="0"/>
                    </a:p>
                  </a:txBody>
                  <a:tcPr/>
                </a:tc>
                <a:extLst>
                  <a:ext uri="{0D108BD9-81ED-4DB2-BD59-A6C34878D82A}">
                    <a16:rowId xmlns:a16="http://schemas.microsoft.com/office/drawing/2014/main" val="1797898115"/>
                  </a:ext>
                </a:extLst>
              </a:tr>
            </a:tbl>
          </a:graphicData>
        </a:graphic>
      </p:graphicFrame>
      <p:sp>
        <p:nvSpPr>
          <p:cNvPr id="6" name="TextBox 5">
            <a:extLst>
              <a:ext uri="{FF2B5EF4-FFF2-40B4-BE49-F238E27FC236}">
                <a16:creationId xmlns:a16="http://schemas.microsoft.com/office/drawing/2014/main" id="{98168588-E165-4C04-87F6-4BD1B2EAF1BD}"/>
              </a:ext>
            </a:extLst>
          </p:cNvPr>
          <p:cNvSpPr txBox="1"/>
          <p:nvPr/>
        </p:nvSpPr>
        <p:spPr>
          <a:xfrm>
            <a:off x="994299" y="2232332"/>
            <a:ext cx="5182188" cy="4247317"/>
          </a:xfrm>
          <a:prstGeom prst="rect">
            <a:avLst/>
          </a:prstGeom>
          <a:noFill/>
        </p:spPr>
        <p:txBody>
          <a:bodyPr wrap="none" rtlCol="0">
            <a:spAutoFit/>
          </a:bodyPr>
          <a:lstStyle/>
          <a:p>
            <a:r>
              <a:rPr lang="en-IN" dirty="0"/>
              <a:t>18%13  =5</a:t>
            </a:r>
          </a:p>
          <a:p>
            <a:r>
              <a:rPr lang="en-IN" dirty="0"/>
              <a:t>41%13  =2</a:t>
            </a:r>
          </a:p>
          <a:p>
            <a:r>
              <a:rPr lang="en-IN" dirty="0"/>
              <a:t>22%13  =9</a:t>
            </a:r>
          </a:p>
          <a:p>
            <a:r>
              <a:rPr lang="en-IN" dirty="0"/>
              <a:t>44%13  =5 collision, (5+1*{8-(44%8)})%13=9 collision,</a:t>
            </a:r>
          </a:p>
          <a:p>
            <a:r>
              <a:rPr lang="en-IN" dirty="0"/>
              <a:t>                                    (5+2*{8-(44%8)})%13=0</a:t>
            </a:r>
          </a:p>
          <a:p>
            <a:r>
              <a:rPr lang="en-IN" dirty="0"/>
              <a:t>59%13  =7</a:t>
            </a:r>
          </a:p>
          <a:p>
            <a:r>
              <a:rPr lang="en-IN" dirty="0"/>
              <a:t>32%13  =6</a:t>
            </a:r>
          </a:p>
          <a:p>
            <a:r>
              <a:rPr lang="en-IN" dirty="0"/>
              <a:t>31%13  =5 collision, (5+1*{8-(31%8)})%13=6 collision</a:t>
            </a:r>
          </a:p>
          <a:p>
            <a:r>
              <a:rPr lang="en-IN" dirty="0"/>
              <a:t>                                    (5+2*{8-(31%8)})%13=7 collision</a:t>
            </a:r>
          </a:p>
          <a:p>
            <a:r>
              <a:rPr lang="en-IN" dirty="0"/>
              <a:t>                                    (5+3*{8-(31%8)})%13=8 </a:t>
            </a:r>
          </a:p>
          <a:p>
            <a:endParaRPr lang="en-IN" dirty="0"/>
          </a:p>
          <a:p>
            <a:r>
              <a:rPr lang="en-IN" dirty="0"/>
              <a:t>73%13  =8 collision, (8+1*{8-(73%8)})%13=2 collision</a:t>
            </a:r>
          </a:p>
          <a:p>
            <a:r>
              <a:rPr lang="en-IN" dirty="0"/>
              <a:t>                                    (8+2*{8-(73%8)})%13=9 collision</a:t>
            </a:r>
          </a:p>
          <a:p>
            <a:r>
              <a:rPr lang="en-IN" dirty="0"/>
              <a:t>                                    (8+3*{8-(73%8)})%13=3</a:t>
            </a:r>
          </a:p>
          <a:p>
            <a:r>
              <a:rPr lang="en-IN" dirty="0"/>
              <a:t>                                    </a:t>
            </a:r>
          </a:p>
        </p:txBody>
      </p:sp>
    </p:spTree>
    <p:extLst>
      <p:ext uri="{BB962C8B-B14F-4D97-AF65-F5344CB8AC3E}">
        <p14:creationId xmlns:p14="http://schemas.microsoft.com/office/powerpoint/2010/main" val="1098099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12" end="1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
                                            <p:txEl>
                                              <p:pRg st="13" end="1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5AF091E5-E5A7-4BC0-85A2-2DBB8A68108D}"/>
              </a:ext>
            </a:extLst>
          </p:cNvPr>
          <p:cNvSpPr>
            <a:spLocks noGrp="1"/>
          </p:cNvSpPr>
          <p:nvPr>
            <p:ph idx="1"/>
          </p:nvPr>
        </p:nvSpPr>
        <p:spPr>
          <a:xfrm>
            <a:off x="544498" y="564996"/>
            <a:ext cx="11182904" cy="1112884"/>
          </a:xfrm>
        </p:spPr>
        <p:txBody>
          <a:bodyPr>
            <a:normAutofit fontScale="77500" lnSpcReduction="20000"/>
          </a:bodyPr>
          <a:lstStyle/>
          <a:p>
            <a:pPr marL="0" indent="0">
              <a:buNone/>
            </a:pPr>
            <a:r>
              <a:rPr lang="en-IN" sz="3100" dirty="0"/>
              <a:t>Problem: Double Hashing</a:t>
            </a:r>
            <a:endParaRPr lang="en-IN" dirty="0"/>
          </a:p>
          <a:p>
            <a:pPr marL="0" indent="0">
              <a:buNone/>
            </a:pPr>
            <a:r>
              <a:rPr lang="en-IN" dirty="0"/>
              <a:t>Practice problem : H1(x)= x mod 10, H2(x)= 7 – (x mod 7)</a:t>
            </a:r>
          </a:p>
          <a:p>
            <a:pPr marL="0" indent="0">
              <a:buNone/>
            </a:pPr>
            <a:r>
              <a:rPr lang="en-IN" dirty="0"/>
              <a:t>89,  18,  49,  58,  69</a:t>
            </a:r>
          </a:p>
        </p:txBody>
      </p:sp>
    </p:spTree>
    <p:extLst>
      <p:ext uri="{BB962C8B-B14F-4D97-AF65-F5344CB8AC3E}">
        <p14:creationId xmlns:p14="http://schemas.microsoft.com/office/powerpoint/2010/main" val="246750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082C6C7-6A84-478B-B092-0310B072907C}"/>
              </a:ext>
            </a:extLst>
          </p:cNvPr>
          <p:cNvSpPr/>
          <p:nvPr/>
        </p:nvSpPr>
        <p:spPr>
          <a:xfrm>
            <a:off x="544498" y="566678"/>
            <a:ext cx="11182904" cy="2862322"/>
          </a:xfrm>
          <a:prstGeom prst="rect">
            <a:avLst/>
          </a:prstGeom>
        </p:spPr>
        <p:txBody>
          <a:bodyPr wrap="square">
            <a:spAutoFit/>
          </a:bodyPr>
          <a:lstStyle/>
          <a:p>
            <a:r>
              <a:rPr lang="en-US" b="1" dirty="0"/>
              <a:t>Que – 1.</a:t>
            </a:r>
            <a:r>
              <a:rPr lang="en-US" dirty="0"/>
              <a:t> Given the following input (4322, 1334, 1471, 9679, 1989, 6171, 6173, 4199) and the hash function x mod 10, which of the following statements are true? (GATE CS 2004)</a:t>
            </a:r>
            <a:br>
              <a:rPr lang="en-US" dirty="0"/>
            </a:br>
            <a:r>
              <a:rPr lang="en-US" dirty="0" err="1"/>
              <a:t>i</a:t>
            </a:r>
            <a:r>
              <a:rPr lang="en-US" dirty="0"/>
              <a:t>. 9679, 1989, 4199 hash to the same value</a:t>
            </a:r>
            <a:br>
              <a:rPr lang="en-US" dirty="0"/>
            </a:br>
            <a:r>
              <a:rPr lang="en-US" dirty="0"/>
              <a:t>ii. 1471, 6171 has to the same value</a:t>
            </a:r>
            <a:br>
              <a:rPr lang="en-US" dirty="0"/>
            </a:br>
            <a:r>
              <a:rPr lang="en-US" dirty="0"/>
              <a:t>iii. All elements hash to the same value</a:t>
            </a:r>
            <a:br>
              <a:rPr lang="en-US" dirty="0"/>
            </a:br>
            <a:r>
              <a:rPr lang="en-US" dirty="0"/>
              <a:t>iv. Each element hashes to a different value</a:t>
            </a:r>
            <a:br>
              <a:rPr lang="en-US" dirty="0"/>
            </a:br>
            <a:r>
              <a:rPr lang="en-US" dirty="0"/>
              <a:t>(A) </a:t>
            </a:r>
            <a:r>
              <a:rPr lang="en-US" dirty="0" err="1"/>
              <a:t>i</a:t>
            </a:r>
            <a:r>
              <a:rPr lang="en-US" dirty="0"/>
              <a:t> only</a:t>
            </a:r>
            <a:br>
              <a:rPr lang="en-US" dirty="0"/>
            </a:br>
            <a:r>
              <a:rPr lang="en-US" dirty="0"/>
              <a:t>(B) ii only</a:t>
            </a:r>
            <a:br>
              <a:rPr lang="en-US" dirty="0"/>
            </a:br>
            <a:r>
              <a:rPr lang="en-US" dirty="0"/>
              <a:t>(C) </a:t>
            </a:r>
            <a:r>
              <a:rPr lang="en-US" dirty="0" err="1"/>
              <a:t>i</a:t>
            </a:r>
            <a:r>
              <a:rPr lang="en-US" dirty="0"/>
              <a:t> and ii only</a:t>
            </a:r>
            <a:br>
              <a:rPr lang="en-US" dirty="0"/>
            </a:br>
            <a:r>
              <a:rPr lang="en-US" dirty="0"/>
              <a:t>(D) iii or iv</a:t>
            </a:r>
            <a:endParaRPr lang="en-IN" dirty="0"/>
          </a:p>
        </p:txBody>
      </p:sp>
      <p:sp>
        <p:nvSpPr>
          <p:cNvPr id="5" name="Rectangle 4">
            <a:extLst>
              <a:ext uri="{FF2B5EF4-FFF2-40B4-BE49-F238E27FC236}">
                <a16:creationId xmlns:a16="http://schemas.microsoft.com/office/drawing/2014/main" id="{36A40F1F-4CAE-4EDE-91EF-29631C9AA7DD}"/>
              </a:ext>
            </a:extLst>
          </p:cNvPr>
          <p:cNvSpPr/>
          <p:nvPr/>
        </p:nvSpPr>
        <p:spPr>
          <a:xfrm>
            <a:off x="544498" y="4041616"/>
            <a:ext cx="10907696" cy="646331"/>
          </a:xfrm>
          <a:prstGeom prst="rect">
            <a:avLst/>
          </a:prstGeom>
        </p:spPr>
        <p:txBody>
          <a:bodyPr wrap="square">
            <a:spAutoFit/>
          </a:bodyPr>
          <a:lstStyle/>
          <a:p>
            <a:r>
              <a:rPr lang="en-US" b="1" dirty="0"/>
              <a:t>Que – 2.</a:t>
            </a:r>
            <a:r>
              <a:rPr lang="en-US" dirty="0"/>
              <a:t> The keys 12, 18, 13, 2, 3, 23, 5 and 15 are inserted into an initially empty hash table of length 10 using open addressing with hash function h(k) = k mod 10 and linear probing. What is the resultant hash table?</a:t>
            </a:r>
            <a:endParaRPr lang="en-IN" dirty="0"/>
          </a:p>
        </p:txBody>
      </p:sp>
    </p:spTree>
    <p:extLst>
      <p:ext uri="{BB962C8B-B14F-4D97-AF65-F5344CB8AC3E}">
        <p14:creationId xmlns:p14="http://schemas.microsoft.com/office/powerpoint/2010/main" val="3472944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7351285-7AD8-4E4B-A82C-01381FD593F7}"/>
              </a:ext>
            </a:extLst>
          </p:cNvPr>
          <p:cNvSpPr>
            <a:spLocks noChangeArrowheads="1"/>
          </p:cNvSpPr>
          <p:nvPr/>
        </p:nvSpPr>
        <p:spPr bwMode="auto">
          <a:xfrm>
            <a:off x="627356" y="512620"/>
            <a:ext cx="1127464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Que</a:t>
            </a:r>
            <a:r>
              <a:rPr kumimoji="0" lang="en-US" altLang="en-US" sz="1800" b="1" i="0" u="none" strike="noStrike" cap="none" normalizeH="0" baseline="0" dirty="0">
                <a:ln>
                  <a:noFill/>
                </a:ln>
                <a:solidFill>
                  <a:schemeClr val="tx1"/>
                </a:solidFill>
                <a:effectLst/>
                <a:latin typeface="Arial" panose="020B0604020202020204" pitchFamily="34" charset="0"/>
              </a:rPr>
              <a:t> – 3.</a:t>
            </a:r>
            <a:r>
              <a:rPr kumimoji="0" lang="en-US" altLang="en-US" sz="1800" b="0" i="0" u="none" strike="noStrike" cap="none" normalizeH="0" baseline="0" dirty="0">
                <a:ln>
                  <a:noFill/>
                </a:ln>
                <a:solidFill>
                  <a:schemeClr val="tx1"/>
                </a:solidFill>
                <a:effectLst/>
                <a:latin typeface="Arial" panose="020B0604020202020204" pitchFamily="34" charset="0"/>
              </a:rPr>
              <a:t> A hash table of length 10 uses open addressing with hash function h(k)=k mod 10, and linear probing. After inserting 6 values into an empty hash table, the table is as shown below.</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Which one of the following choices gives a possible order in which the key values could have been inserted in the table?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 46, 42, 34, 52, 23, 33</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 34, 42, 23, 52, 33, 46</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(C)</a:t>
            </a:r>
            <a:r>
              <a:rPr kumimoji="0" lang="en-US" altLang="en-US" sz="1800" b="0" i="0" u="none" strike="noStrike" cap="none" normalizeH="0" baseline="0" dirty="0">
                <a:ln>
                  <a:noFill/>
                </a:ln>
                <a:solidFill>
                  <a:schemeClr val="tx1"/>
                </a:solidFill>
                <a:effectLst/>
                <a:highlight>
                  <a:srgbClr val="00FF00"/>
                </a:highlight>
                <a:latin typeface="Arial" panose="020B0604020202020204" pitchFamily="34" charset="0"/>
              </a:rPr>
              <a:t> 46, 34, 42, 23, 52, 33</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(D) 42, 46, 33, 23, 34, 52 </a:t>
            </a:r>
          </a:p>
        </p:txBody>
      </p:sp>
      <p:pic>
        <p:nvPicPr>
          <p:cNvPr id="2050" name="Picture 2" descr="4">
            <a:extLst>
              <a:ext uri="{FF2B5EF4-FFF2-40B4-BE49-F238E27FC236}">
                <a16:creationId xmlns:a16="http://schemas.microsoft.com/office/drawing/2014/main" id="{B8B7DC18-33CC-4316-B716-D6B54FDF8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4646" y="1512996"/>
            <a:ext cx="986531" cy="20669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DBC8B65-A01B-4F7B-A928-7056F0411660}"/>
              </a:ext>
            </a:extLst>
          </p:cNvPr>
          <p:cNvSpPr/>
          <p:nvPr/>
        </p:nvSpPr>
        <p:spPr>
          <a:xfrm>
            <a:off x="562252" y="3922542"/>
            <a:ext cx="11067495" cy="1754326"/>
          </a:xfrm>
          <a:prstGeom prst="rect">
            <a:avLst/>
          </a:prstGeom>
        </p:spPr>
        <p:txBody>
          <a:bodyPr wrap="square">
            <a:spAutoFit/>
          </a:bodyPr>
          <a:lstStyle/>
          <a:p>
            <a:r>
              <a:rPr lang="en-US" b="1" dirty="0"/>
              <a:t>Que – 4.</a:t>
            </a:r>
            <a:r>
              <a:rPr lang="en-US" dirty="0"/>
              <a:t> How many different insertion sequences of the key values using the same hash function and linear probing will result in the hash table given in Question 3 above?</a:t>
            </a:r>
            <a:br>
              <a:rPr lang="en-US" dirty="0"/>
            </a:br>
            <a:r>
              <a:rPr lang="en-US" dirty="0"/>
              <a:t>(A) 10</a:t>
            </a:r>
            <a:br>
              <a:rPr lang="en-US" dirty="0"/>
            </a:br>
            <a:r>
              <a:rPr lang="en-US" dirty="0"/>
              <a:t>(B) 20</a:t>
            </a:r>
            <a:br>
              <a:rPr lang="en-US" dirty="0"/>
            </a:br>
            <a:r>
              <a:rPr lang="en-US" dirty="0"/>
              <a:t>(C) 30</a:t>
            </a:r>
            <a:br>
              <a:rPr lang="en-US" dirty="0"/>
            </a:br>
            <a:r>
              <a:rPr lang="en-US" dirty="0"/>
              <a:t>(D) 40</a:t>
            </a:r>
            <a:endParaRPr lang="en-IN" dirty="0"/>
          </a:p>
        </p:txBody>
      </p:sp>
    </p:spTree>
    <p:extLst>
      <p:ext uri="{BB962C8B-B14F-4D97-AF65-F5344CB8AC3E}">
        <p14:creationId xmlns:p14="http://schemas.microsoft.com/office/powerpoint/2010/main" val="3372168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638858-1ADA-49EE-A086-5FB0D3BEE69D}"/>
              </a:ext>
            </a:extLst>
          </p:cNvPr>
          <p:cNvSpPr/>
          <p:nvPr/>
        </p:nvSpPr>
        <p:spPr>
          <a:xfrm>
            <a:off x="881848" y="517060"/>
            <a:ext cx="10366159" cy="2031325"/>
          </a:xfrm>
          <a:prstGeom prst="rect">
            <a:avLst/>
          </a:prstGeom>
        </p:spPr>
        <p:txBody>
          <a:bodyPr wrap="square">
            <a:spAutoFit/>
          </a:bodyPr>
          <a:lstStyle/>
          <a:p>
            <a:r>
              <a:rPr lang="en-US" b="1" dirty="0"/>
              <a:t>Que – 5.</a:t>
            </a:r>
            <a:r>
              <a:rPr lang="en-US" dirty="0"/>
              <a:t> Consider a hash table with 100 slots. Collisions are resolved using chaining. Assuming simple uniform hashing, what is the probability that the first 3 slots are unfilled after the first 3 insertions? (GATE-CS-2014)</a:t>
            </a:r>
            <a:br>
              <a:rPr lang="en-US" dirty="0"/>
            </a:br>
            <a:r>
              <a:rPr lang="en-US" dirty="0"/>
              <a:t>(A) (97 × 97 × 97)/100^3</a:t>
            </a:r>
            <a:br>
              <a:rPr lang="en-US" dirty="0"/>
            </a:br>
            <a:r>
              <a:rPr lang="en-US" dirty="0"/>
              <a:t>(B) (99 × 98 × 97)/100^3</a:t>
            </a:r>
            <a:br>
              <a:rPr lang="en-US" dirty="0"/>
            </a:br>
            <a:r>
              <a:rPr lang="en-US" dirty="0"/>
              <a:t>(C) (97 × 96 × 95)/100^3</a:t>
            </a:r>
            <a:br>
              <a:rPr lang="en-US" dirty="0"/>
            </a:br>
            <a:r>
              <a:rPr lang="en-US" dirty="0"/>
              <a:t>(D) (97 × 96 × 95)/(3! × 100^3)</a:t>
            </a:r>
            <a:endParaRPr lang="en-IN" dirty="0"/>
          </a:p>
        </p:txBody>
      </p:sp>
      <p:sp>
        <p:nvSpPr>
          <p:cNvPr id="5" name="Rectangle 4">
            <a:extLst>
              <a:ext uri="{FF2B5EF4-FFF2-40B4-BE49-F238E27FC236}">
                <a16:creationId xmlns:a16="http://schemas.microsoft.com/office/drawing/2014/main" id="{8C46645D-7D66-4767-883C-E02DDF5B2F35}"/>
              </a:ext>
            </a:extLst>
          </p:cNvPr>
          <p:cNvSpPr/>
          <p:nvPr/>
        </p:nvSpPr>
        <p:spPr>
          <a:xfrm>
            <a:off x="881847" y="2981508"/>
            <a:ext cx="10019932" cy="1754326"/>
          </a:xfrm>
          <a:prstGeom prst="rect">
            <a:avLst/>
          </a:prstGeom>
        </p:spPr>
        <p:txBody>
          <a:bodyPr wrap="square">
            <a:spAutoFit/>
          </a:bodyPr>
          <a:lstStyle/>
          <a:p>
            <a:r>
              <a:rPr lang="en-US" b="1" dirty="0"/>
              <a:t>Que – 6.</a:t>
            </a:r>
            <a:r>
              <a:rPr lang="en-US" dirty="0"/>
              <a:t> Which one of the following hash functions on integers will distribute keys most uniformly over 10 buckets numbered 0 to 9 for </a:t>
            </a:r>
            <a:r>
              <a:rPr lang="en-US" dirty="0" err="1"/>
              <a:t>i</a:t>
            </a:r>
            <a:r>
              <a:rPr lang="en-US" dirty="0"/>
              <a:t> ranging from 0 to 2020? (GATE-CS-2015)</a:t>
            </a:r>
            <a:br>
              <a:rPr lang="en-US" dirty="0"/>
            </a:br>
            <a:r>
              <a:rPr lang="en-US" dirty="0"/>
              <a:t>(A) h(</a:t>
            </a:r>
            <a:r>
              <a:rPr lang="en-US" dirty="0" err="1"/>
              <a:t>i</a:t>
            </a:r>
            <a:r>
              <a:rPr lang="en-US" dirty="0"/>
              <a:t>) =i^2 mod 10</a:t>
            </a:r>
            <a:br>
              <a:rPr lang="en-US" dirty="0"/>
            </a:br>
            <a:r>
              <a:rPr lang="en-US" dirty="0"/>
              <a:t>(B) h(</a:t>
            </a:r>
            <a:r>
              <a:rPr lang="en-US" dirty="0" err="1"/>
              <a:t>i</a:t>
            </a:r>
            <a:r>
              <a:rPr lang="en-US" dirty="0"/>
              <a:t>) =i^3 mod 10</a:t>
            </a:r>
            <a:br>
              <a:rPr lang="en-US" dirty="0"/>
            </a:br>
            <a:r>
              <a:rPr lang="en-US" dirty="0"/>
              <a:t>(C) h(</a:t>
            </a:r>
            <a:r>
              <a:rPr lang="en-US" dirty="0" err="1"/>
              <a:t>i</a:t>
            </a:r>
            <a:r>
              <a:rPr lang="en-US" dirty="0"/>
              <a:t>) = (11 ∗ i^2) mod 10</a:t>
            </a:r>
            <a:br>
              <a:rPr lang="en-US" dirty="0"/>
            </a:br>
            <a:r>
              <a:rPr lang="en-US" dirty="0"/>
              <a:t>(D) h(</a:t>
            </a:r>
            <a:r>
              <a:rPr lang="en-US" dirty="0" err="1"/>
              <a:t>i</a:t>
            </a:r>
            <a:r>
              <a:rPr lang="en-US" dirty="0"/>
              <a:t>) = (12 ∗ </a:t>
            </a:r>
            <a:r>
              <a:rPr lang="en-US" dirty="0" err="1"/>
              <a:t>i</a:t>
            </a:r>
            <a:r>
              <a:rPr lang="en-US" dirty="0"/>
              <a:t>) mod 10</a:t>
            </a:r>
            <a:endParaRPr lang="en-IN" dirty="0"/>
          </a:p>
        </p:txBody>
      </p:sp>
    </p:spTree>
    <p:extLst>
      <p:ext uri="{BB962C8B-B14F-4D97-AF65-F5344CB8AC3E}">
        <p14:creationId xmlns:p14="http://schemas.microsoft.com/office/powerpoint/2010/main" val="1208957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A7B92-802C-4FF2-BB2D-07C7AE501214}"/>
              </a:ext>
            </a:extLst>
          </p:cNvPr>
          <p:cNvSpPr>
            <a:spLocks noGrp="1"/>
          </p:cNvSpPr>
          <p:nvPr>
            <p:ph type="title"/>
          </p:nvPr>
        </p:nvSpPr>
        <p:spPr/>
        <p:txBody>
          <a:bodyPr/>
          <a:lstStyle/>
          <a:p>
            <a:r>
              <a:rPr lang="en-IN" dirty="0"/>
              <a:t>Traveling salesman Problem</a:t>
            </a:r>
          </a:p>
        </p:txBody>
      </p:sp>
      <p:sp>
        <p:nvSpPr>
          <p:cNvPr id="3" name="Content Placeholder 2">
            <a:extLst>
              <a:ext uri="{FF2B5EF4-FFF2-40B4-BE49-F238E27FC236}">
                <a16:creationId xmlns:a16="http://schemas.microsoft.com/office/drawing/2014/main" id="{18CA7C91-1B7E-4F5A-82E6-DC52B95B92EA}"/>
              </a:ext>
            </a:extLst>
          </p:cNvPr>
          <p:cNvSpPr>
            <a:spLocks noGrp="1"/>
          </p:cNvSpPr>
          <p:nvPr>
            <p:ph idx="1"/>
          </p:nvPr>
        </p:nvSpPr>
        <p:spPr/>
        <p:txBody>
          <a:bodyPr/>
          <a:lstStyle/>
          <a:p>
            <a:r>
              <a:rPr lang="en-US" dirty="0"/>
              <a:t>The travelling salesman problem is a graph computational problem where the salesman needs to visit all cities (represented using nodes in a graph) in a list just once and the distances (represented using edges in the graph) between all these cities are known.</a:t>
            </a:r>
          </a:p>
          <a:p>
            <a:r>
              <a:rPr lang="en-US" dirty="0"/>
              <a:t> The solution that is needed to be found for this problem is the shortest possible route in which the salesman visits all the cities and returns to the origin city.</a:t>
            </a:r>
          </a:p>
          <a:p>
            <a:r>
              <a:rPr lang="en-US" dirty="0"/>
              <a:t>If you look at the graph below, considering that the salesman starts from the vertex ‘a’, they need to travel through all the remaining vertices b, c, d, e, f and get back to ‘a’ while making sure that the cost taken is minimum.</a:t>
            </a:r>
            <a:endParaRPr lang="en-IN" dirty="0"/>
          </a:p>
        </p:txBody>
      </p:sp>
      <p:pic>
        <p:nvPicPr>
          <p:cNvPr id="1026" name="Picture 2" descr="salesman_graph">
            <a:extLst>
              <a:ext uri="{FF2B5EF4-FFF2-40B4-BE49-F238E27FC236}">
                <a16:creationId xmlns:a16="http://schemas.microsoft.com/office/drawing/2014/main" id="{99C4AE2F-57FD-4E75-8A33-AF6D583F7B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489" y="3833311"/>
            <a:ext cx="6667500" cy="275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205537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11076</TotalTime>
  <Words>3533</Words>
  <Application>Microsoft Macintosh PowerPoint</Application>
  <PresentationFormat>Widescreen</PresentationFormat>
  <Paragraphs>297</Paragraphs>
  <Slides>28</Slides>
  <Notes>0</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Wingdings 3</vt:lpstr>
      <vt:lpstr>Calibri</vt:lpstr>
      <vt:lpstr>Bahnschrift Light</vt:lpstr>
      <vt:lpstr>Roboto Condensed</vt:lpstr>
      <vt:lpstr>Wingdings 2</vt:lpstr>
      <vt:lpstr>Wingdings</vt:lpstr>
      <vt:lpstr>Arial</vt:lpstr>
      <vt:lpstr>Office Theme</vt:lpstr>
      <vt:lpstr> Hashing</vt:lpstr>
      <vt:lpstr>PowerPoint Presentation</vt:lpstr>
      <vt:lpstr>Hashing</vt:lpstr>
      <vt:lpstr>Introduction</vt:lpstr>
      <vt:lpstr>PowerPoint Presentation</vt:lpstr>
      <vt:lpstr>Hashing Mechanism-</vt:lpstr>
      <vt:lpstr>PowerPoint Presentation</vt:lpstr>
      <vt:lpstr>Hash collision</vt:lpstr>
      <vt:lpstr>1. Separate Chaining/Open Hashing:</vt:lpstr>
      <vt:lpstr>Hash function</vt:lpstr>
      <vt:lpstr>Need for Good hash function</vt:lpstr>
      <vt:lpstr>PowerPoint Presentation</vt:lpstr>
      <vt:lpstr>Exercise</vt:lpstr>
      <vt:lpstr>2. Open Addressing</vt:lpstr>
      <vt:lpstr>PowerPoint Presentation</vt:lpstr>
      <vt:lpstr>a. Linear Probing</vt:lpstr>
      <vt:lpstr>PowerPoint Presentation</vt:lpstr>
      <vt:lpstr>b. Quadratic Probing</vt:lpstr>
      <vt:lpstr>Quadratic Probing</vt:lpstr>
      <vt:lpstr>PowerPoint Presentation</vt:lpstr>
      <vt:lpstr>c. Double Hashing</vt:lpstr>
      <vt:lpstr>Double Hashing</vt:lpstr>
      <vt:lpstr>PowerPoint Presentation</vt:lpstr>
      <vt:lpstr>PowerPoint Presentation</vt:lpstr>
      <vt:lpstr>PowerPoint Presentation</vt:lpstr>
      <vt:lpstr>PowerPoint Presentation</vt:lpstr>
      <vt:lpstr>PowerPoint Presentation</vt:lpstr>
      <vt:lpstr>Traveling salesman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khushpithva@gmail.com</cp:lastModifiedBy>
  <cp:revision>1615</cp:revision>
  <dcterms:created xsi:type="dcterms:W3CDTF">2020-05-01T05:09:15Z</dcterms:created>
  <dcterms:modified xsi:type="dcterms:W3CDTF">2025-11-17T12:31:19Z</dcterms:modified>
</cp:coreProperties>
</file>