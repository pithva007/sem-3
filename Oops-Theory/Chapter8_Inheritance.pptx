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60" r:id="rId4"/>
    <p:sldId id="258" r:id="rId5"/>
    <p:sldId id="265" r:id="rId6"/>
    <p:sldId id="266" r:id="rId7"/>
    <p:sldId id="259" r:id="rId8"/>
    <p:sldId id="261" r:id="rId9"/>
    <p:sldId id="267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90" autoAdjust="0"/>
  </p:normalViewPr>
  <p:slideViewPr>
    <p:cSldViewPr snapToGrid="0">
      <p:cViewPr varScale="1">
        <p:scale>
          <a:sx n="58" d="100"/>
          <a:sy n="58" d="100"/>
        </p:scale>
        <p:origin x="9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196F8-DCF1-4AC8-8F3F-1CFFAAF4F699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40E69-1892-4450-99D6-8DD8F1C5E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31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Base class constructors are not inherited</a:t>
            </a:r>
            <a:r>
              <a:rPr lang="en-US" sz="1200" dirty="0"/>
              <a:t> in derived classes – Why?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40E69-1892-4450-99D6-8DD8F1C5EFE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24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17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0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11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>
            <a:lvl1pPr>
              <a:lnSpc>
                <a:spcPts val="16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ts val="16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ts val="16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ts val="16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ts val="16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lnSpc>
                <a:spcPts val="18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ts val="18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ts val="18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ts val="18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9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0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8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6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8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9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29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7853D0-13B4-454F-89C1-25848C6FD71E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25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DE5A-E1AD-4C7C-B837-B4D0B2033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Chapter - 8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2762D-AAB7-47FB-9F8A-330B95219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339196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568C-9ADC-4098-9268-C82C2D37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Inheritance?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3BBCC-EA59-4850-919E-43686330B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The mechanism of deriving a new class from an old one is called Inheritance.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The old class is called </a:t>
            </a:r>
            <a:r>
              <a:rPr lang="en-US" sz="2400" b="1" dirty="0"/>
              <a:t>'BASE' </a:t>
            </a:r>
            <a:r>
              <a:rPr lang="en-US" sz="2400" dirty="0"/>
              <a:t>class, and the new one is called </a:t>
            </a:r>
            <a:r>
              <a:rPr lang="en-US" sz="2400" b="1" dirty="0"/>
              <a:t>‘DERIVED’</a:t>
            </a:r>
            <a:r>
              <a:rPr lang="en-US" sz="2400" dirty="0"/>
              <a:t> class.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Advantages of Inheritance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Code Reusability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Improved Code Maintenance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Method Overriding / Polymorphism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Extensibility / Scalability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553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87DEC-5434-4131-A961-0F087C1B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4661"/>
            <a:ext cx="10058400" cy="933141"/>
          </a:xfrm>
        </p:spPr>
        <p:txBody>
          <a:bodyPr>
            <a:normAutofit/>
          </a:bodyPr>
          <a:lstStyle/>
          <a:p>
            <a:r>
              <a:rPr lang="en-IN" dirty="0"/>
              <a:t>Types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89D2F8-FD90-4F4F-86A4-503039D55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30" name="Picture 6" descr="What are the Types of Inheritance? - Goseeko blog">
            <a:extLst>
              <a:ext uri="{FF2B5EF4-FFF2-40B4-BE49-F238E27FC236}">
                <a16:creationId xmlns:a16="http://schemas.microsoft.com/office/drawing/2014/main" id="{F1D689CE-5595-459A-8001-AD2CAC7D3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030" y="1159073"/>
            <a:ext cx="7200900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88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3494-94E2-4753-BA2A-98DB7B6B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Inheritance – Terminology and Notation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80BF7D-2B2C-4D60-8400-861850FFA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886830"/>
            <a:ext cx="5944029" cy="375452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006144-9294-4F25-8B0E-2F82156A7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60" y="1886830"/>
            <a:ext cx="6110876" cy="195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1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53226"/>
          </a:xfrm>
        </p:spPr>
        <p:txBody>
          <a:bodyPr/>
          <a:lstStyle/>
          <a:p>
            <a:r>
              <a:rPr lang="en-US" altLang="en-US" dirty="0"/>
              <a:t>Inheritance vs. Access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834F-BCAD-4C47-9DE1-3D1137B00E0E}" type="slidenum">
              <a:rPr lang="en-US" smtClean="0"/>
              <a:t>5</a:t>
            </a:fld>
            <a:endParaRPr lang="en-US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2094705" y="1417106"/>
            <a:ext cx="8002590" cy="4954585"/>
            <a:chOff x="47" y="576"/>
            <a:chExt cx="5041" cy="3121"/>
          </a:xfrm>
        </p:grpSpPr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288" y="1008"/>
              <a:ext cx="120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112" charset="0"/>
                </a:rPr>
                <a:t>private: x</a:t>
              </a:r>
            </a:p>
            <a:p>
              <a:pPr eaLnBrk="1" hangingPunct="1"/>
              <a:r>
                <a:rPr lang="en-US" altLang="en-US" dirty="0">
                  <a:latin typeface="Courier New" pitchFamily="112" charset="0"/>
                </a:rPr>
                <a:t>protected: y</a:t>
              </a:r>
            </a:p>
            <a:p>
              <a:pPr eaLnBrk="1" hangingPunct="1"/>
              <a:r>
                <a:rPr lang="en-US" altLang="en-US" dirty="0">
                  <a:latin typeface="Courier New" pitchFamily="112" charset="0"/>
                </a:rPr>
                <a:t>public: z</a:t>
              </a:r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88" y="2064"/>
              <a:ext cx="129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112" charset="0"/>
                </a:rPr>
                <a:t>private: x</a:t>
              </a:r>
            </a:p>
            <a:p>
              <a:pPr eaLnBrk="1" hangingPunct="1"/>
              <a:r>
                <a:rPr lang="en-US" altLang="en-US" dirty="0">
                  <a:latin typeface="Courier New" pitchFamily="112" charset="0"/>
                </a:rPr>
                <a:t>protected: y</a:t>
              </a:r>
            </a:p>
            <a:p>
              <a:pPr eaLnBrk="1" hangingPunct="1"/>
              <a:r>
                <a:rPr lang="en-US" altLang="en-US" dirty="0">
                  <a:latin typeface="Courier New" pitchFamily="112" charset="0"/>
                </a:rPr>
                <a:t>public: z</a:t>
              </a: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336" y="3120"/>
              <a:ext cx="124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>
                  <a:latin typeface="Courier New" pitchFamily="112" charset="0"/>
                </a:rPr>
                <a:t>private: x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protected: y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public: z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47" y="768"/>
              <a:ext cx="153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Base class members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88" y="1056"/>
              <a:ext cx="115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88" y="2112"/>
              <a:ext cx="120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36" y="3168"/>
              <a:ext cx="115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3600" y="1041"/>
              <a:ext cx="1209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>
                  <a:latin typeface="Courier New" pitchFamily="112" charset="0"/>
                </a:rPr>
                <a:t>x</a:t>
              </a:r>
              <a:r>
                <a:rPr lang="en-US" altLang="en-US"/>
                <a:t> is inaccessible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private: y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private: z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3639" y="2064"/>
              <a:ext cx="1170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>
                  <a:latin typeface="Courier New" pitchFamily="112" charset="0"/>
                </a:rPr>
                <a:t>x</a:t>
              </a:r>
              <a:r>
                <a:rPr lang="en-US" altLang="en-US"/>
                <a:t> is inaccessible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protected: y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protected: z</a:t>
              </a:r>
              <a:endParaRPr lang="en-US" altLang="en-US" sz="2000"/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3648" y="3120"/>
              <a:ext cx="120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>
                  <a:latin typeface="Courier New" pitchFamily="112" charset="0"/>
                </a:rPr>
                <a:t>x</a:t>
              </a:r>
              <a:r>
                <a:rPr lang="en-US" altLang="en-US"/>
                <a:t> is inaccessible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protected: y</a:t>
              </a:r>
            </a:p>
            <a:p>
              <a:pPr eaLnBrk="1" hangingPunct="1"/>
              <a:r>
                <a:rPr lang="en-US" altLang="en-US">
                  <a:latin typeface="Courier New" pitchFamily="112" charset="0"/>
                </a:rPr>
                <a:t>public: z</a:t>
              </a:r>
              <a:endParaRPr lang="en-US" altLang="en-US" sz="20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600" y="1056"/>
              <a:ext cx="115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648" y="2064"/>
              <a:ext cx="115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648" y="3120"/>
              <a:ext cx="120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198" y="576"/>
              <a:ext cx="189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en-US"/>
                <a:t>How inherited base class members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en-US"/>
                <a:t>appear in derived class</a:t>
              </a: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1440" y="1296"/>
              <a:ext cx="21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1488" y="2352"/>
              <a:ext cx="21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1488" y="3408"/>
              <a:ext cx="21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042" y="1008"/>
              <a:ext cx="812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en-US">
                  <a:latin typeface="Courier New" pitchFamily="112" charset="0"/>
                </a:rPr>
                <a:t>private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en-US"/>
                <a:t>base class</a:t>
              </a:r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2003" y="2064"/>
              <a:ext cx="890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en-US">
                  <a:latin typeface="Courier New" pitchFamily="112" charset="0"/>
                </a:rPr>
                <a:t>protected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en-US"/>
                <a:t>base class</a:t>
              </a: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2090" y="3120"/>
              <a:ext cx="812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en-US">
                  <a:latin typeface="Courier New" pitchFamily="112" charset="0"/>
                </a:rPr>
                <a:t>public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en-US"/>
                <a:t>base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837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B6FB-4C4A-4503-80C6-DDB77F98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3554"/>
          </a:xfrm>
        </p:spPr>
        <p:txBody>
          <a:bodyPr/>
          <a:lstStyle/>
          <a:p>
            <a:r>
              <a:rPr lang="en-US" altLang="en-US" dirty="0"/>
              <a:t>Inheritance vs. Access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776AD-FEAC-4E4B-AC7C-53E86E03E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AAF07-276B-4397-9EF0-C6665CF4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915" y="1130158"/>
            <a:ext cx="7107633" cy="504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7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CA64-C8AB-4735-8C24-DBD6C146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6031"/>
            <a:ext cx="10058400" cy="925747"/>
          </a:xfrm>
        </p:spPr>
        <p:txBody>
          <a:bodyPr>
            <a:normAutofit/>
          </a:bodyPr>
          <a:lstStyle/>
          <a:p>
            <a:r>
              <a:rPr lang="en-US" altLang="en-US" dirty="0"/>
              <a:t>Single Inheritance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B124E-294C-49AF-9638-79B4AEA542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#include &lt;iostream&gt;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using namespace std;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// Base class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class Animal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public: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    void eat()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        </a:t>
            </a:r>
            <a:r>
              <a:rPr lang="en-GB" sz="1800" dirty="0" err="1"/>
              <a:t>cout</a:t>
            </a:r>
            <a:r>
              <a:rPr lang="en-GB" sz="1800" dirty="0"/>
              <a:t> &lt;&lt; "I can eat!" &lt;&lt; </a:t>
            </a:r>
            <a:r>
              <a:rPr lang="en-GB" sz="1800" dirty="0" err="1"/>
              <a:t>endl</a:t>
            </a:r>
            <a:r>
              <a:rPr lang="en-GB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// Derived class (single inheritance)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class Dog : public Animal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public: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    void bark()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        </a:t>
            </a:r>
            <a:r>
              <a:rPr lang="en-GB" sz="1800" dirty="0" err="1"/>
              <a:t>cout</a:t>
            </a:r>
            <a:r>
              <a:rPr lang="en-GB" sz="1800" dirty="0"/>
              <a:t> &lt;&lt; "I can bark! Woof </a:t>
            </a:r>
            <a:r>
              <a:rPr lang="en-GB" sz="1800" dirty="0" err="1"/>
              <a:t>woof</a:t>
            </a:r>
            <a:r>
              <a:rPr lang="en-GB" sz="1800" dirty="0"/>
              <a:t>!" &lt;&lt; </a:t>
            </a:r>
            <a:r>
              <a:rPr lang="en-GB" sz="1800" dirty="0" err="1"/>
              <a:t>endl</a:t>
            </a:r>
            <a:r>
              <a:rPr lang="en-GB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dirty="0"/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B138A-31CC-44F9-8CBA-137F0130B2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int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    Dog </a:t>
            </a:r>
            <a:r>
              <a:rPr lang="en-GB" sz="2000" dirty="0" err="1"/>
              <a:t>myDog</a:t>
            </a:r>
            <a:r>
              <a:rPr lang="en-GB" sz="20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    </a:t>
            </a:r>
            <a:r>
              <a:rPr lang="en-GB" sz="2000" dirty="0" err="1"/>
              <a:t>myDog.eat</a:t>
            </a:r>
            <a:r>
              <a:rPr lang="en-GB" sz="2000" dirty="0"/>
              <a:t>();   // Inherited from Animal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    </a:t>
            </a:r>
            <a:r>
              <a:rPr lang="en-GB" sz="2000" dirty="0" err="1"/>
              <a:t>myDog.bark</a:t>
            </a:r>
            <a:r>
              <a:rPr lang="en-GB" sz="2000" dirty="0"/>
              <a:t>();  // Own method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 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41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ED4C-B289-4B9F-B3F8-DC4A9379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93159"/>
            <a:ext cx="10058400" cy="1263721"/>
          </a:xfrm>
        </p:spPr>
        <p:txBody>
          <a:bodyPr>
            <a:normAutofit fontScale="90000"/>
          </a:bodyPr>
          <a:lstStyle/>
          <a:p>
            <a:r>
              <a:rPr lang="en-US" dirty="0"/>
              <a:t>Making a private member inheritable</a:t>
            </a:r>
            <a:br>
              <a:rPr lang="en-US" dirty="0"/>
            </a:br>
            <a:r>
              <a:rPr lang="en-US" sz="2700" dirty="0"/>
              <a:t>Use protected instead of private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784D-2287-47E6-95EB-7FCC49618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8226" y="1304817"/>
            <a:ext cx="5726814" cy="5060023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class Base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private: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int </a:t>
            </a:r>
            <a:r>
              <a:rPr lang="en-GB" sz="1600" dirty="0" err="1"/>
              <a:t>privateValue</a:t>
            </a:r>
            <a:r>
              <a:rPr lang="en-GB" sz="1600" dirty="0"/>
              <a:t>;   //  Not inheritable</a:t>
            </a:r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protected: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int </a:t>
            </a:r>
            <a:r>
              <a:rPr lang="en-GB" sz="1600" dirty="0" err="1"/>
              <a:t>protectedValue</a:t>
            </a:r>
            <a:r>
              <a:rPr lang="en-GB" sz="1600" dirty="0"/>
              <a:t>; //  Inheritable (accessible in Derived)</a:t>
            </a:r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public: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// Setter for private value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void </a:t>
            </a:r>
            <a:r>
              <a:rPr lang="en-GB" sz="1600" dirty="0" err="1"/>
              <a:t>setPrivateValue</a:t>
            </a:r>
            <a:r>
              <a:rPr lang="en-GB" sz="1600" dirty="0"/>
              <a:t>(int p)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    </a:t>
            </a:r>
            <a:r>
              <a:rPr lang="en-GB" sz="1600" dirty="0" err="1"/>
              <a:t>privateValue</a:t>
            </a:r>
            <a:r>
              <a:rPr lang="en-GB" sz="1600" dirty="0"/>
              <a:t> = p;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}</a:t>
            </a:r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// Setter for protected value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void </a:t>
            </a:r>
            <a:r>
              <a:rPr lang="en-GB" sz="1600" dirty="0" err="1"/>
              <a:t>setProtectedValue</a:t>
            </a:r>
            <a:r>
              <a:rPr lang="en-GB" sz="1600" dirty="0"/>
              <a:t>(int q)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    </a:t>
            </a:r>
            <a:r>
              <a:rPr lang="en-GB" sz="1600" dirty="0" err="1"/>
              <a:t>protectedValue</a:t>
            </a:r>
            <a:r>
              <a:rPr lang="en-GB" sz="1600" dirty="0"/>
              <a:t> = q;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}</a:t>
            </a:r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void </a:t>
            </a:r>
            <a:r>
              <a:rPr lang="en-GB" sz="1600" dirty="0" err="1"/>
              <a:t>showPrivate</a:t>
            </a:r>
            <a:r>
              <a:rPr lang="en-GB" sz="1600" dirty="0"/>
              <a:t>()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"Private Value (only accessible in Base): " &lt;&lt; </a:t>
            </a:r>
            <a:r>
              <a:rPr lang="en-GB" sz="1600" dirty="0" err="1"/>
              <a:t>privateValue</a:t>
            </a:r>
            <a:r>
              <a:rPr lang="en-GB" sz="1600" dirty="0"/>
              <a:t>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   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/>
              <a:t>};</a:t>
            </a:r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  <a:p>
            <a:pPr marL="0" indent="0">
              <a:spcAft>
                <a:spcPts val="0"/>
              </a:spcAft>
              <a:buNone/>
            </a:pPr>
            <a:endParaRPr lang="en-GB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804F7C-AC1B-4704-8B33-8638702C4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304817"/>
            <a:ext cx="5974080" cy="56610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class Derived : public Base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public: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void </a:t>
            </a:r>
            <a:r>
              <a:rPr lang="en-GB" sz="1600" dirty="0" err="1"/>
              <a:t>showValues</a:t>
            </a:r>
            <a:r>
              <a:rPr lang="en-GB" sz="1600" dirty="0"/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    // </a:t>
            </a:r>
            <a:r>
              <a:rPr lang="en-GB" sz="1600" dirty="0" err="1"/>
              <a:t>cout</a:t>
            </a:r>
            <a:r>
              <a:rPr lang="en-GB" sz="1600" dirty="0"/>
              <a:t> &lt;&lt; </a:t>
            </a:r>
            <a:r>
              <a:rPr lang="en-GB" sz="1600" dirty="0" err="1"/>
              <a:t>privateValue</a:t>
            </a:r>
            <a:r>
              <a:rPr lang="en-GB" sz="1600" dirty="0"/>
              <a:t>;   //  ERROR: private not accessible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"Protected Value (accessible in Derived): " &lt;&lt; </a:t>
            </a:r>
            <a:r>
              <a:rPr lang="en-GB" sz="1600" dirty="0" err="1"/>
              <a:t>protectedValue</a:t>
            </a:r>
            <a:r>
              <a:rPr lang="en-GB" sz="1600" dirty="0"/>
              <a:t>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} };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int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Derived d;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// Set values through setter methods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</a:t>
            </a:r>
            <a:r>
              <a:rPr lang="en-GB" sz="1600" dirty="0" err="1"/>
              <a:t>d.setPrivateValue</a:t>
            </a:r>
            <a:r>
              <a:rPr lang="en-GB" sz="1600" dirty="0"/>
              <a:t>(10);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</a:t>
            </a:r>
            <a:r>
              <a:rPr lang="en-GB" sz="1600" dirty="0" err="1"/>
              <a:t>d.setProtectedValue</a:t>
            </a:r>
            <a:r>
              <a:rPr lang="en-GB" sz="1600" dirty="0"/>
              <a:t>(20);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</a:t>
            </a:r>
            <a:r>
              <a:rPr lang="en-GB" sz="1600" dirty="0" err="1"/>
              <a:t>d.showPrivate</a:t>
            </a:r>
            <a:r>
              <a:rPr lang="en-GB" sz="1600" dirty="0"/>
              <a:t>();   //  Access private through Base's public method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</a:t>
            </a:r>
            <a:r>
              <a:rPr lang="en-GB" sz="1600" dirty="0" err="1"/>
              <a:t>d.showValues</a:t>
            </a:r>
            <a:r>
              <a:rPr lang="en-GB" sz="1600" dirty="0"/>
              <a:t>();    //  Direct access to protected member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600" dirty="0"/>
              <a:t>    return 0;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4348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79C4-D5F6-4543-804E-F04B7685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113017"/>
            <a:ext cx="10058400" cy="559942"/>
          </a:xfrm>
        </p:spPr>
        <p:txBody>
          <a:bodyPr>
            <a:normAutofit fontScale="90000"/>
          </a:bodyPr>
          <a:lstStyle/>
          <a:p>
            <a:r>
              <a:rPr lang="en-GB" dirty="0"/>
              <a:t>Multilevel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26F4-13F9-4511-9276-5D5E80147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559943"/>
            <a:ext cx="4937760" cy="5738115"/>
          </a:xfrm>
        </p:spPr>
        <p:txBody>
          <a:bodyPr>
            <a:noAutofit/>
          </a:bodyPr>
          <a:lstStyle/>
          <a:p>
            <a:r>
              <a:rPr lang="en-GB" sz="1600" dirty="0"/>
              <a:t>class Student {</a:t>
            </a:r>
          </a:p>
          <a:p>
            <a:r>
              <a:rPr lang="en-GB" sz="1600" dirty="0"/>
              <a:t>private:</a:t>
            </a:r>
          </a:p>
          <a:p>
            <a:r>
              <a:rPr lang="en-GB" sz="1600" dirty="0"/>
              <a:t>    int </a:t>
            </a:r>
            <a:r>
              <a:rPr lang="en-GB" sz="1600" dirty="0" err="1"/>
              <a:t>rollNo</a:t>
            </a:r>
            <a:r>
              <a:rPr lang="en-GB" sz="1600" dirty="0"/>
              <a:t>;   </a:t>
            </a:r>
          </a:p>
          <a:p>
            <a:r>
              <a:rPr lang="en-GB" sz="1600" dirty="0"/>
              <a:t>public:</a:t>
            </a:r>
          </a:p>
          <a:p>
            <a:r>
              <a:rPr lang="en-GB" sz="1600" dirty="0"/>
              <a:t>    void </a:t>
            </a:r>
            <a:r>
              <a:rPr lang="en-GB" sz="1600" dirty="0" err="1"/>
              <a:t>getRollNo</a:t>
            </a:r>
            <a:r>
              <a:rPr lang="en-GB" sz="1600" dirty="0"/>
              <a:t>(int r) {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rollNo</a:t>
            </a:r>
            <a:r>
              <a:rPr lang="en-GB" sz="1600" dirty="0"/>
              <a:t> = r;</a:t>
            </a:r>
          </a:p>
          <a:p>
            <a:r>
              <a:rPr lang="en-GB" sz="1600" dirty="0"/>
              <a:t>    }</a:t>
            </a:r>
          </a:p>
          <a:p>
            <a:r>
              <a:rPr lang="en-GB" sz="1600" dirty="0"/>
              <a:t>    void </a:t>
            </a:r>
            <a:r>
              <a:rPr lang="en-GB" sz="1600" dirty="0" err="1"/>
              <a:t>putRollNo</a:t>
            </a:r>
            <a:r>
              <a:rPr lang="en-GB" sz="1600" dirty="0"/>
              <a:t>() {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"Roll Number: " &lt;&lt; </a:t>
            </a:r>
            <a:r>
              <a:rPr lang="en-GB" sz="1600" dirty="0" err="1"/>
              <a:t>rollNo</a:t>
            </a:r>
            <a:r>
              <a:rPr lang="en-GB" sz="1600" dirty="0"/>
              <a:t>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r>
              <a:rPr lang="en-GB" sz="1600" dirty="0"/>
              <a:t>    }</a:t>
            </a:r>
          </a:p>
          <a:p>
            <a:r>
              <a:rPr lang="en-GB" sz="1600" dirty="0"/>
              <a:t>};</a:t>
            </a:r>
          </a:p>
          <a:p>
            <a:r>
              <a:rPr lang="en-GB" sz="1600" dirty="0"/>
              <a:t>// First derived class</a:t>
            </a:r>
          </a:p>
          <a:p>
            <a:r>
              <a:rPr lang="en-GB" sz="1600" dirty="0"/>
              <a:t>class Marks : public Student {</a:t>
            </a:r>
          </a:p>
          <a:p>
            <a:r>
              <a:rPr lang="en-GB" sz="1600" dirty="0"/>
              <a:t>protected:</a:t>
            </a:r>
          </a:p>
          <a:p>
            <a:r>
              <a:rPr lang="en-GB" sz="1600" dirty="0"/>
              <a:t>    int mark1, mark2;</a:t>
            </a:r>
          </a:p>
          <a:p>
            <a:r>
              <a:rPr lang="en-GB" sz="1600" dirty="0"/>
              <a:t>public:</a:t>
            </a:r>
          </a:p>
          <a:p>
            <a:r>
              <a:rPr lang="en-GB" sz="1600" dirty="0"/>
              <a:t>    void </a:t>
            </a:r>
            <a:r>
              <a:rPr lang="en-GB" sz="1600" dirty="0" err="1"/>
              <a:t>getMarks</a:t>
            </a:r>
            <a:r>
              <a:rPr lang="en-GB" sz="1600" dirty="0"/>
              <a:t>(int m1, int m2) {</a:t>
            </a:r>
          </a:p>
          <a:p>
            <a:r>
              <a:rPr lang="en-GB" sz="1600" dirty="0"/>
              <a:t>        mark1 = m1;</a:t>
            </a:r>
          </a:p>
          <a:p>
            <a:r>
              <a:rPr lang="en-GB" sz="1600" dirty="0"/>
              <a:t>        mark2 = m2;</a:t>
            </a:r>
          </a:p>
          <a:p>
            <a:r>
              <a:rPr lang="en-GB" sz="1600" dirty="0"/>
              <a:t>    }</a:t>
            </a:r>
          </a:p>
          <a:p>
            <a:r>
              <a:rPr lang="en-GB" sz="1600" dirty="0"/>
              <a:t>    void </a:t>
            </a:r>
            <a:r>
              <a:rPr lang="en-GB" sz="1600" dirty="0" err="1"/>
              <a:t>putMarks</a:t>
            </a:r>
            <a:r>
              <a:rPr lang="en-GB" sz="1600" dirty="0"/>
              <a:t>() {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"Marks in Subject 1: " &lt;&lt; mark1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"Marks in Subject 2: " &lt;&lt; mark2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r>
              <a:rPr lang="en-GB" sz="1600" dirty="0"/>
              <a:t>    } };</a:t>
            </a:r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6A622-A77D-4A08-9A0E-AB966559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559942"/>
            <a:ext cx="5761748" cy="5738115"/>
          </a:xfrm>
        </p:spPr>
        <p:txBody>
          <a:bodyPr>
            <a:normAutofit/>
          </a:bodyPr>
          <a:lstStyle/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class Result : public Marks {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public: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void </a:t>
            </a:r>
            <a:r>
              <a:rPr lang="en-GB" dirty="0" err="1"/>
              <a:t>displayResult</a:t>
            </a:r>
            <a:r>
              <a:rPr lang="en-GB" dirty="0"/>
              <a:t>() {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int total = mark1 + mark2;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float percentage = total / 2.0;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"Total Marks: " &lt;&lt; total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"Percentage: " &lt;&lt; percentage &lt;&lt; "%";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}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};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// Driver code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 main() {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Result r;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r.getRollNo</a:t>
            </a:r>
            <a:r>
              <a:rPr lang="en-GB" dirty="0"/>
              <a:t>(101);   // from Student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r.getMarks</a:t>
            </a:r>
            <a:r>
              <a:rPr lang="en-GB" dirty="0"/>
              <a:t>(85, 90); // from Marks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"--- Student Details ---"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r.putRollNo</a:t>
            </a:r>
            <a:r>
              <a:rPr lang="en-GB" dirty="0"/>
              <a:t>();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r.putMarks</a:t>
            </a:r>
            <a:r>
              <a:rPr lang="en-GB" dirty="0"/>
              <a:t>();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r.displayResult</a:t>
            </a:r>
            <a:r>
              <a:rPr lang="en-GB" dirty="0"/>
              <a:t>();  // from Result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return 0;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}</a:t>
            </a:r>
          </a:p>
          <a:p>
            <a:pPr indent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43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E486-3243-4EE2-9B42-984AB276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Inheritance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97551E-4161-4C44-B98C-56BA7645F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291" y="1987957"/>
            <a:ext cx="4775741" cy="228609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D2855-A740-4262-BCBC-41F0DD714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54494"/>
            <a:ext cx="6112613" cy="217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0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59CD-A92F-46F0-B583-08BD427B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2217"/>
            <a:ext cx="10058400" cy="702302"/>
          </a:xfrm>
        </p:spPr>
        <p:txBody>
          <a:bodyPr>
            <a:normAutofit fontScale="90000"/>
          </a:bodyPr>
          <a:lstStyle/>
          <a:p>
            <a:r>
              <a:rPr lang="en-GB" dirty="0"/>
              <a:t>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09CDA-8B9F-41A0-822B-9DE2CAFD7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160980"/>
            <a:ext cx="4937760" cy="5137079"/>
          </a:xfrm>
        </p:spPr>
        <p:txBody>
          <a:bodyPr>
            <a:normAutofit/>
          </a:bodyPr>
          <a:lstStyle/>
          <a:p>
            <a:r>
              <a:rPr lang="en-GB" sz="1600" dirty="0"/>
              <a:t>// First base class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MathSkills</a:t>
            </a:r>
            <a:r>
              <a:rPr lang="en-GB" sz="1600" dirty="0"/>
              <a:t> {</a:t>
            </a:r>
          </a:p>
          <a:p>
            <a:r>
              <a:rPr lang="en-GB" sz="1600" dirty="0"/>
              <a:t>public:</a:t>
            </a:r>
          </a:p>
          <a:p>
            <a:r>
              <a:rPr lang="en-GB" sz="1600" dirty="0"/>
              <a:t>    void add(int a, int b) {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"Sum: " &lt;&lt; a + b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r>
              <a:rPr lang="en-GB" sz="1600" dirty="0"/>
              <a:t>    }</a:t>
            </a:r>
          </a:p>
          <a:p>
            <a:r>
              <a:rPr lang="en-GB" sz="1600" dirty="0"/>
              <a:t>};</a:t>
            </a:r>
          </a:p>
          <a:p>
            <a:endParaRPr lang="en-GB" sz="1600" dirty="0"/>
          </a:p>
          <a:p>
            <a:r>
              <a:rPr lang="en-GB" sz="1600" dirty="0"/>
              <a:t>// Second base class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ScienceSkills</a:t>
            </a:r>
            <a:r>
              <a:rPr lang="en-GB" sz="1600" dirty="0"/>
              <a:t> {</a:t>
            </a:r>
          </a:p>
          <a:p>
            <a:r>
              <a:rPr lang="en-GB" sz="1600" dirty="0"/>
              <a:t>public:</a:t>
            </a:r>
          </a:p>
          <a:p>
            <a:r>
              <a:rPr lang="en-GB" sz="1600" dirty="0"/>
              <a:t>    void experiment() {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"Performing experiment..."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r>
              <a:rPr lang="en-GB" sz="1600" dirty="0"/>
              <a:t>    }</a:t>
            </a:r>
          </a:p>
          <a:p>
            <a:r>
              <a:rPr lang="en-GB" sz="1600" dirty="0"/>
              <a:t>};</a:t>
            </a:r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17520-3C88-40F6-A87F-D7208F701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160980"/>
            <a:ext cx="5474071" cy="5208997"/>
          </a:xfr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class </a:t>
            </a:r>
            <a:r>
              <a:rPr lang="en-GB" sz="1600" dirty="0" err="1"/>
              <a:t>SmartStudent</a:t>
            </a:r>
            <a:r>
              <a:rPr lang="en-GB" sz="1600" dirty="0"/>
              <a:t> : public </a:t>
            </a:r>
            <a:r>
              <a:rPr lang="en-GB" sz="1600" dirty="0" err="1"/>
              <a:t>MathSkills</a:t>
            </a:r>
            <a:r>
              <a:rPr lang="en-GB" sz="1600" dirty="0"/>
              <a:t>, public </a:t>
            </a:r>
            <a:r>
              <a:rPr lang="en-GB" sz="1600" dirty="0" err="1"/>
              <a:t>ScienceSkills</a:t>
            </a:r>
            <a:r>
              <a:rPr lang="en-GB" sz="1600" dirty="0"/>
              <a:t> {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public: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void study() {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"Studying..."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}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};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int main() {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</a:t>
            </a:r>
            <a:r>
              <a:rPr lang="en-GB" sz="1600" dirty="0" err="1"/>
              <a:t>SmartStudent</a:t>
            </a:r>
            <a:r>
              <a:rPr lang="en-GB" sz="1600" dirty="0"/>
              <a:t> student;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// Using methods from both parent classes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</a:t>
            </a:r>
            <a:r>
              <a:rPr lang="en-GB" sz="1600" dirty="0" err="1"/>
              <a:t>student.add</a:t>
            </a:r>
            <a:r>
              <a:rPr lang="en-GB" sz="1600" dirty="0"/>
              <a:t>(5, 3);       // From </a:t>
            </a:r>
            <a:r>
              <a:rPr lang="en-GB" sz="1600" dirty="0" err="1"/>
              <a:t>MathSkills</a:t>
            </a:r>
            <a:endParaRPr lang="en-GB" sz="1600" dirty="0"/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</a:t>
            </a:r>
            <a:r>
              <a:rPr lang="en-GB" sz="1600" dirty="0" err="1"/>
              <a:t>student.experiment</a:t>
            </a:r>
            <a:r>
              <a:rPr lang="en-GB" sz="1600" dirty="0"/>
              <a:t>();    // From </a:t>
            </a:r>
            <a:r>
              <a:rPr lang="en-GB" sz="1600" dirty="0" err="1"/>
              <a:t>ScienceSkills</a:t>
            </a:r>
            <a:endParaRPr lang="en-GB" sz="1600" dirty="0"/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</a:t>
            </a:r>
            <a:r>
              <a:rPr lang="en-GB" sz="1600" dirty="0" err="1"/>
              <a:t>student.study</a:t>
            </a:r>
            <a:r>
              <a:rPr lang="en-GB" sz="1600" dirty="0"/>
              <a:t>();         // Own method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    return 0;</a:t>
            </a:r>
          </a:p>
          <a:p>
            <a:pPr indent="0">
              <a:lnSpc>
                <a:spcPct val="100000"/>
              </a:lnSpc>
              <a:spcBef>
                <a:spcPts val="600"/>
              </a:spcBef>
            </a:pPr>
            <a:r>
              <a:rPr lang="en-GB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9694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875F-66BB-43F2-9E86-B95AFFD1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2766"/>
            <a:ext cx="10058400" cy="702302"/>
          </a:xfrm>
        </p:spPr>
        <p:txBody>
          <a:bodyPr>
            <a:normAutofit fontScale="90000"/>
          </a:bodyPr>
          <a:lstStyle/>
          <a:p>
            <a:r>
              <a:rPr lang="en-GB" dirty="0"/>
              <a:t>Ambiguity Resolution: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4486-AB3D-4BBB-81EE-2E6F250F0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058238"/>
            <a:ext cx="4937760" cy="5198724"/>
          </a:xfrm>
        </p:spPr>
        <p:txBody>
          <a:bodyPr>
            <a:noAutofit/>
          </a:bodyPr>
          <a:lstStyle/>
          <a:p>
            <a:pPr indent="0">
              <a:lnSpc>
                <a:spcPct val="120000"/>
              </a:lnSpc>
            </a:pPr>
            <a:r>
              <a:rPr lang="en-US" sz="1600" dirty="0"/>
              <a:t>// Two base classes with same method name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class Father {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public: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void show() {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"Father's method" &lt;&lt; 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} };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class Mother {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public: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void show() {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"Mother's method" &lt;&lt; 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} };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// Derived class from both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class Child : public Father, public Mother {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public: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void display() {</a:t>
            </a:r>
          </a:p>
          <a:p>
            <a:pPr indent="0">
              <a:lnSpc>
                <a:spcPct val="120000"/>
              </a:lnSpc>
            </a:pPr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"Child's method" &lt;&lt; </a:t>
            </a:r>
            <a:r>
              <a:rPr lang="en-US" sz="1600" dirty="0" err="1"/>
              <a:t>endl</a:t>
            </a:r>
            <a:r>
              <a:rPr lang="en-US" sz="1600" dirty="0"/>
              <a:t>;     }};     </a:t>
            </a:r>
          </a:p>
          <a:p>
            <a:pPr indent="0">
              <a:lnSpc>
                <a:spcPct val="120000"/>
              </a:lnSpc>
            </a:pPr>
            <a:endParaRPr lang="en-US" sz="1600" dirty="0"/>
          </a:p>
          <a:p>
            <a:pPr indent="0">
              <a:lnSpc>
                <a:spcPct val="120000"/>
              </a:lnSpc>
            </a:pPr>
            <a:endParaRPr lang="en-GB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E1603-C41E-4E40-823D-65F8479D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058238"/>
            <a:ext cx="4937760" cy="5075434"/>
          </a:xfrm>
        </p:spPr>
        <p:txBody>
          <a:bodyPr>
            <a:normAutofit/>
          </a:bodyPr>
          <a:lstStyle/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int main() {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Child c;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// These would cause ambiguity error: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// </a:t>
            </a:r>
            <a:r>
              <a:rPr lang="en-US" dirty="0" err="1"/>
              <a:t>c.show</a:t>
            </a:r>
            <a:r>
              <a:rPr lang="en-US" dirty="0"/>
              <a:t>(); // Error: ambiguous call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// Resolving ambiguity: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c.Father</a:t>
            </a:r>
            <a:r>
              <a:rPr lang="en-US" dirty="0"/>
              <a:t>::show();  // Call Father's method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c.Mother</a:t>
            </a:r>
            <a:r>
              <a:rPr lang="en-US" dirty="0"/>
              <a:t>::show();  // Call Mother's method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c.display</a:t>
            </a:r>
            <a:r>
              <a:rPr lang="en-US" dirty="0"/>
              <a:t>();       // Call Child's own method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c.showBoth</a:t>
            </a:r>
            <a:r>
              <a:rPr lang="en-US" dirty="0"/>
              <a:t>();      // Call method that resolves ambiguity</a:t>
            </a:r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    return 0; 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2728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DA81-85C0-48DD-951E-C2C75BA1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"/>
            <a:ext cx="10058400" cy="893852"/>
          </a:xfrm>
        </p:spPr>
        <p:txBody>
          <a:bodyPr/>
          <a:lstStyle/>
          <a:p>
            <a:r>
              <a:rPr lang="en-GB" dirty="0"/>
              <a:t>Hierarchical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D45E-3120-4429-BA45-ADE3EE9A5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996593"/>
            <a:ext cx="4937760" cy="487250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B21CA-0AA1-41B4-A124-93827E59B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996593"/>
            <a:ext cx="4937760" cy="4872502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208C9-9F8F-48B0-BAA5-BA3EC39D3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59" y="1402470"/>
            <a:ext cx="5581451" cy="3480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1F0B4-461A-42F5-ACB3-868AAE6BC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22" y="1402470"/>
            <a:ext cx="5581451" cy="395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0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48D4-418B-40A3-824D-B076FC00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62" y="29751"/>
            <a:ext cx="10058400" cy="702302"/>
          </a:xfrm>
        </p:spPr>
        <p:txBody>
          <a:bodyPr>
            <a:normAutofit fontScale="90000"/>
          </a:bodyPr>
          <a:lstStyle/>
          <a:p>
            <a:r>
              <a:rPr lang="en-GB" dirty="0"/>
              <a:t>Hierarchical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743A8-2A66-4389-B2B8-EE526262E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144" y="914400"/>
            <a:ext cx="5654895" cy="5435029"/>
          </a:xfrm>
        </p:spPr>
        <p:txBody>
          <a:bodyPr>
            <a:noAutofit/>
          </a:bodyPr>
          <a:lstStyle/>
          <a:p>
            <a:pPr indent="0">
              <a:lnSpc>
                <a:spcPct val="120000"/>
              </a:lnSpc>
            </a:pPr>
            <a:r>
              <a:rPr lang="en-GB" sz="1600" dirty="0"/>
              <a:t>class Student {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public: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void </a:t>
            </a:r>
            <a:r>
              <a:rPr lang="en-GB" sz="1600" dirty="0" err="1"/>
              <a:t>getRoll</a:t>
            </a:r>
            <a:r>
              <a:rPr lang="en-GB" sz="1600" dirty="0"/>
              <a:t>(int r) {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    roll = r;    	    }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void </a:t>
            </a:r>
            <a:r>
              <a:rPr lang="en-GB" sz="1600" dirty="0" err="1"/>
              <a:t>showRoll</a:t>
            </a:r>
            <a:r>
              <a:rPr lang="en-GB" sz="1600" dirty="0"/>
              <a:t>() {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"Roll: " &lt;&lt; roll &lt;&lt; </a:t>
            </a:r>
            <a:r>
              <a:rPr lang="en-GB" sz="1600" dirty="0" err="1"/>
              <a:t>endl</a:t>
            </a:r>
            <a:r>
              <a:rPr lang="en-GB" sz="1600" dirty="0"/>
              <a:t>;     }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private: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int roll; };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class Science : public Student {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public: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void </a:t>
            </a:r>
            <a:r>
              <a:rPr lang="en-GB" sz="1600" dirty="0" err="1"/>
              <a:t>getMarks</a:t>
            </a:r>
            <a:r>
              <a:rPr lang="en-GB" sz="1600" dirty="0"/>
              <a:t>(int s1, int s2) {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    sub1 = s1;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    sub2 = s2;		    }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void </a:t>
            </a:r>
            <a:r>
              <a:rPr lang="en-GB" sz="1600" dirty="0" err="1"/>
              <a:t>showResult</a:t>
            </a:r>
            <a:r>
              <a:rPr lang="en-GB" sz="1600" dirty="0"/>
              <a:t>() {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"Science Marks: " &lt;&lt; sub1 &lt;&lt; ", " &lt;&lt; sub2 &lt;&lt; </a:t>
            </a:r>
            <a:r>
              <a:rPr lang="en-GB" sz="1600" dirty="0" err="1"/>
              <a:t>endl</a:t>
            </a:r>
            <a:r>
              <a:rPr lang="en-GB" sz="1600" dirty="0"/>
              <a:t>;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        </a:t>
            </a:r>
            <a:r>
              <a:rPr lang="en-GB" sz="1600" dirty="0" err="1"/>
              <a:t>cout</a:t>
            </a:r>
            <a:r>
              <a:rPr lang="en-GB" sz="1600" dirty="0"/>
              <a:t> &lt;&lt; "Total: " &lt;&lt; sub1 + sub2 &lt;&lt; </a:t>
            </a:r>
            <a:r>
              <a:rPr lang="en-GB" sz="1600" dirty="0" err="1"/>
              <a:t>endl</a:t>
            </a:r>
            <a:r>
              <a:rPr lang="en-GB" sz="1600" dirty="0"/>
              <a:t>;     }</a:t>
            </a:r>
          </a:p>
          <a:p>
            <a:pPr indent="0">
              <a:lnSpc>
                <a:spcPct val="120000"/>
              </a:lnSpc>
            </a:pPr>
            <a:r>
              <a:rPr lang="en-GB" sz="1600" dirty="0"/>
              <a:t>private:     int sub1, sub2; };</a:t>
            </a:r>
          </a:p>
          <a:p>
            <a:pPr indent="0">
              <a:lnSpc>
                <a:spcPct val="120000"/>
              </a:lnSpc>
            </a:pPr>
            <a:endParaRPr lang="en-GB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F2875-CB33-4D80-A967-B24949449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5739" y="286605"/>
            <a:ext cx="5654895" cy="6062824"/>
          </a:xfrm>
        </p:spPr>
        <p:txBody>
          <a:bodyPr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class Arts : public Student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public: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void </a:t>
            </a:r>
            <a:r>
              <a:rPr lang="en-GB" sz="1400" dirty="0" err="1"/>
              <a:t>getMarks</a:t>
            </a:r>
            <a:r>
              <a:rPr lang="en-GB" sz="1400" dirty="0"/>
              <a:t>(int s1, int s2)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sub1 = s1;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sub2 = s2;		    }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void </a:t>
            </a:r>
            <a:r>
              <a:rPr lang="en-GB" sz="1400" dirty="0" err="1"/>
              <a:t>showResult</a:t>
            </a:r>
            <a:r>
              <a:rPr lang="en-GB" sz="1400" dirty="0"/>
              <a:t>()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</a:t>
            </a:r>
            <a:r>
              <a:rPr lang="en-GB" sz="1400" dirty="0" err="1"/>
              <a:t>cout</a:t>
            </a:r>
            <a:r>
              <a:rPr lang="en-GB" sz="1400" dirty="0"/>
              <a:t> &lt;&lt; "Arts Marks: " &lt;&lt; sub1 &lt;&lt; ", " &lt;&lt; sub2 &lt;&lt; </a:t>
            </a:r>
            <a:r>
              <a:rPr lang="en-GB" sz="1400" dirty="0" err="1"/>
              <a:t>endl</a:t>
            </a:r>
            <a:r>
              <a:rPr lang="en-GB" sz="1400" dirty="0"/>
              <a:t>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</a:t>
            </a:r>
            <a:r>
              <a:rPr lang="en-GB" sz="1400" dirty="0" err="1"/>
              <a:t>cout</a:t>
            </a:r>
            <a:r>
              <a:rPr lang="en-GB" sz="1400" dirty="0"/>
              <a:t> &lt;&lt; "Total: " &lt;&lt; sub1 + sub2 &lt;&lt; </a:t>
            </a:r>
            <a:r>
              <a:rPr lang="en-GB" sz="1400" dirty="0" err="1"/>
              <a:t>endl</a:t>
            </a:r>
            <a:r>
              <a:rPr lang="en-GB" sz="1400" dirty="0"/>
              <a:t>;     }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private:  int sub1, sub2; };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int main()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Science sci;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Arts art;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</a:t>
            </a:r>
            <a:r>
              <a:rPr lang="en-GB" sz="1400" dirty="0" err="1"/>
              <a:t>cout</a:t>
            </a:r>
            <a:r>
              <a:rPr lang="en-GB" sz="1400" dirty="0"/>
              <a:t> &lt;&lt; "Science Student:" &lt;&lt; </a:t>
            </a:r>
            <a:r>
              <a:rPr lang="en-GB" sz="1400" dirty="0" err="1"/>
              <a:t>endl</a:t>
            </a:r>
            <a:r>
              <a:rPr lang="en-GB" sz="1400" dirty="0"/>
              <a:t>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sci.getRoll</a:t>
            </a:r>
            <a:r>
              <a:rPr lang="en-GB" sz="1400" dirty="0"/>
              <a:t>(101);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sci.getMarks</a:t>
            </a:r>
            <a:r>
              <a:rPr lang="en-GB" sz="1400" dirty="0"/>
              <a:t>(85, 90);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sci.showRoll</a:t>
            </a:r>
            <a:r>
              <a:rPr lang="en-GB" sz="1400" dirty="0"/>
              <a:t>();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sci.showResult</a:t>
            </a:r>
            <a:r>
              <a:rPr lang="en-GB" sz="1400" dirty="0"/>
              <a:t>();     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cout</a:t>
            </a:r>
            <a:r>
              <a:rPr lang="en-GB" sz="1400" dirty="0"/>
              <a:t> &lt;&lt; "\</a:t>
            </a:r>
            <a:r>
              <a:rPr lang="en-GB" sz="1400" dirty="0" err="1"/>
              <a:t>nArts</a:t>
            </a:r>
            <a:r>
              <a:rPr lang="en-GB" sz="1400" dirty="0"/>
              <a:t> Student:" &lt;&lt; </a:t>
            </a:r>
            <a:r>
              <a:rPr lang="en-GB" sz="1400" dirty="0" err="1"/>
              <a:t>endl</a:t>
            </a:r>
            <a:r>
              <a:rPr lang="en-GB" sz="1400" dirty="0"/>
              <a:t>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art.getRoll</a:t>
            </a:r>
            <a:r>
              <a:rPr lang="en-GB" sz="1400" dirty="0"/>
              <a:t>(102);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art.getMarks</a:t>
            </a:r>
            <a:r>
              <a:rPr lang="en-GB" sz="1400" dirty="0"/>
              <a:t>(78, 82);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art.showRoll</a:t>
            </a:r>
            <a:r>
              <a:rPr lang="en-GB" sz="1400" dirty="0"/>
              <a:t>();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</a:t>
            </a:r>
            <a:r>
              <a:rPr lang="en-GB" sz="1400" dirty="0" err="1"/>
              <a:t>art.showResult</a:t>
            </a:r>
            <a:r>
              <a:rPr lang="en-GB" sz="1400" dirty="0"/>
              <a:t>();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return 0; }</a:t>
            </a:r>
          </a:p>
        </p:txBody>
      </p:sp>
    </p:spTree>
    <p:extLst>
      <p:ext uri="{BB962C8B-B14F-4D97-AF65-F5344CB8AC3E}">
        <p14:creationId xmlns:p14="http://schemas.microsoft.com/office/powerpoint/2010/main" val="36659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8FE9-F9B0-4F4E-BD01-76B1BF58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24" y="205701"/>
            <a:ext cx="10058400" cy="422314"/>
          </a:xfrm>
        </p:spPr>
        <p:txBody>
          <a:bodyPr>
            <a:normAutofit fontScale="90000"/>
          </a:bodyPr>
          <a:lstStyle/>
          <a:p>
            <a:r>
              <a:rPr lang="en-GB" dirty="0"/>
              <a:t>Hybrid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E8F2-30A1-4560-AA20-0B40E4F0C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9329" y="678097"/>
            <a:ext cx="4574055" cy="555188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1400" dirty="0"/>
              <a:t>class Person {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protected: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string name;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int age;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public: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void </a:t>
            </a:r>
            <a:r>
              <a:rPr lang="en-GB" sz="1400" dirty="0" err="1"/>
              <a:t>setPerson</a:t>
            </a:r>
            <a:r>
              <a:rPr lang="en-GB" sz="1400" dirty="0"/>
              <a:t>(string n, int a) {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    name = n;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    age = a;     }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void </a:t>
            </a:r>
            <a:r>
              <a:rPr lang="en-GB" sz="1400" dirty="0" err="1"/>
              <a:t>showPerson</a:t>
            </a:r>
            <a:r>
              <a:rPr lang="en-GB" sz="1400" dirty="0"/>
              <a:t>() {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    </a:t>
            </a:r>
            <a:r>
              <a:rPr lang="en-GB" sz="1400" dirty="0" err="1"/>
              <a:t>cout</a:t>
            </a:r>
            <a:r>
              <a:rPr lang="en-GB" sz="1400" dirty="0"/>
              <a:t> &lt;&lt; "Name: " &lt;&lt; name &lt;&lt; ", Age: " &lt;&lt; age &lt;&lt; </a:t>
            </a:r>
            <a:r>
              <a:rPr lang="en-GB" sz="1400" dirty="0" err="1"/>
              <a:t>endl</a:t>
            </a:r>
            <a:r>
              <a:rPr lang="en-GB" sz="1400" dirty="0"/>
              <a:t>;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} };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// Derived from Person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class Student : public Person {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protected: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int </a:t>
            </a:r>
            <a:r>
              <a:rPr lang="en-GB" sz="1400" dirty="0" err="1"/>
              <a:t>rollNo</a:t>
            </a:r>
            <a:r>
              <a:rPr lang="en-GB" sz="1400" dirty="0"/>
              <a:t>;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public: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void </a:t>
            </a:r>
            <a:r>
              <a:rPr lang="en-GB" sz="1400" dirty="0" err="1"/>
              <a:t>setStudent</a:t>
            </a:r>
            <a:r>
              <a:rPr lang="en-GB" sz="1400" dirty="0"/>
              <a:t>(int r) {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    </a:t>
            </a:r>
            <a:r>
              <a:rPr lang="en-GB" sz="1400" dirty="0" err="1"/>
              <a:t>rollNo</a:t>
            </a:r>
            <a:r>
              <a:rPr lang="en-GB" sz="1400" dirty="0"/>
              <a:t> = r;     }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void </a:t>
            </a:r>
            <a:r>
              <a:rPr lang="en-GB" sz="1400" dirty="0" err="1"/>
              <a:t>showStudent</a:t>
            </a:r>
            <a:r>
              <a:rPr lang="en-GB" sz="1400" dirty="0"/>
              <a:t>() {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        </a:t>
            </a:r>
            <a:r>
              <a:rPr lang="en-GB" sz="1400" dirty="0" err="1"/>
              <a:t>cout</a:t>
            </a:r>
            <a:r>
              <a:rPr lang="en-GB" sz="1400" dirty="0"/>
              <a:t> &lt;&lt; "Roll No: " &lt;&lt; </a:t>
            </a:r>
            <a:r>
              <a:rPr lang="en-GB" sz="1400" dirty="0" err="1"/>
              <a:t>rollNo</a:t>
            </a:r>
            <a:r>
              <a:rPr lang="en-GB" sz="1400" dirty="0"/>
              <a:t> &lt;&lt; </a:t>
            </a:r>
            <a:r>
              <a:rPr lang="en-GB" sz="1400" dirty="0" err="1"/>
              <a:t>endl</a:t>
            </a:r>
            <a:r>
              <a:rPr lang="en-GB" sz="1400" dirty="0"/>
              <a:t>;     } };</a:t>
            </a:r>
          </a:p>
          <a:p>
            <a:pPr>
              <a:lnSpc>
                <a:spcPct val="120000"/>
              </a:lnSpc>
            </a:pPr>
            <a:endParaRPr lang="en-GB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02BFE-1EA2-4A76-86DA-AEEEF5691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292" y="678096"/>
            <a:ext cx="4775428" cy="5551887"/>
          </a:xfrm>
        </p:spPr>
        <p:txBody>
          <a:bodyPr>
            <a:normAutofit fontScale="70000" lnSpcReduction="20000"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class Marks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protected: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int m1, m2;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public: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void </a:t>
            </a:r>
            <a:r>
              <a:rPr lang="en-GB" dirty="0" err="1"/>
              <a:t>setMarks</a:t>
            </a:r>
            <a:r>
              <a:rPr lang="en-GB" dirty="0"/>
              <a:t>(int x, int y)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m1 = x; m2 = y;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}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void </a:t>
            </a:r>
            <a:r>
              <a:rPr lang="en-GB" dirty="0" err="1"/>
              <a:t>showMarks</a:t>
            </a:r>
            <a:r>
              <a:rPr lang="en-GB" dirty="0"/>
              <a:t>()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"Marks: " &lt;&lt; m1 &lt;&lt; ", " &lt;&lt; m2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}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};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// Hybrid Inheritance: Derived from Student and Marks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class Result : public Student, public Marks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int total;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public: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void calculate()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total = m1 + m2;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}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void </a:t>
            </a:r>
            <a:r>
              <a:rPr lang="en-GB" dirty="0" err="1"/>
              <a:t>showResult</a:t>
            </a:r>
            <a:r>
              <a:rPr lang="en-GB" dirty="0"/>
              <a:t>() {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showPerson</a:t>
            </a:r>
            <a:r>
              <a:rPr lang="en-GB" dirty="0"/>
              <a:t>();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showStudent</a:t>
            </a:r>
            <a:r>
              <a:rPr lang="en-GB" dirty="0"/>
              <a:t>();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showMarks</a:t>
            </a:r>
            <a:r>
              <a:rPr lang="en-GB" dirty="0"/>
              <a:t>();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"Total = " &lt;&lt; total &lt;&lt; </a:t>
            </a:r>
            <a:r>
              <a:rPr lang="en-GB" dirty="0" err="1"/>
              <a:t>endl</a:t>
            </a:r>
            <a:r>
              <a:rPr lang="en-GB" dirty="0"/>
              <a:t>;     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} };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964E2-35F0-4049-AED9-9B5DCB2D7C7A}"/>
              </a:ext>
            </a:extLst>
          </p:cNvPr>
          <p:cNvSpPr txBox="1"/>
          <p:nvPr/>
        </p:nvSpPr>
        <p:spPr>
          <a:xfrm>
            <a:off x="9059238" y="3556781"/>
            <a:ext cx="32286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r;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r.setPerson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("Alice", 20);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r.setStudent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(101);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r.setMarks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(80, 90);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r.calculate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r.showResult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CD40A-705F-4C21-A2FD-17A58D82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43" y="82193"/>
            <a:ext cx="3323730" cy="21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3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6B0A-B408-4768-94FA-A8F7288A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15" y="220565"/>
            <a:ext cx="5231601" cy="702302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 Base Classes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608CBE-1D23-42BE-9914-2EEAB9236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16" y="1600699"/>
            <a:ext cx="10058400" cy="4023360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r>
              <a:rPr lang="en-GB" dirty="0"/>
              <a:t>Problems with Multiple Inheritance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 Ambiguity Problem</a:t>
            </a:r>
          </a:p>
          <a:p>
            <a:r>
              <a:rPr lang="en-US" dirty="0"/>
              <a:t>If two base classes have a function with the same name, the derived class cannot decide which one to call.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 Diamond Problem (Duplicate Inheritance of Same Base)</a:t>
            </a:r>
          </a:p>
          <a:p>
            <a:r>
              <a:rPr lang="en-US" dirty="0"/>
              <a:t>When two classes inherit from the same base class, and then a third class inherits from both of them, the base class members are inherited </a:t>
            </a:r>
            <a:r>
              <a:rPr lang="en-US" b="1" dirty="0"/>
              <a:t>twice</a:t>
            </a:r>
            <a:r>
              <a:rPr lang="en-US" dirty="0"/>
              <a:t>.</a:t>
            </a:r>
          </a:p>
          <a:p>
            <a:r>
              <a:rPr lang="en-US" b="1" dirty="0"/>
              <a:t>Solution → Virtual Base Classes</a:t>
            </a:r>
          </a:p>
          <a:p>
            <a:r>
              <a:rPr lang="en-US" dirty="0"/>
              <a:t>To solve the </a:t>
            </a:r>
            <a:r>
              <a:rPr lang="en-US" b="1" dirty="0"/>
              <a:t>diamond problem</a:t>
            </a:r>
            <a:r>
              <a:rPr lang="en-US" dirty="0"/>
              <a:t>, we declare the base class as </a:t>
            </a:r>
            <a:r>
              <a:rPr lang="en-US" b="1" dirty="0"/>
              <a:t>virtual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432FD-0AC4-4067-A7EC-3465D78C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416" y="13622"/>
            <a:ext cx="6451637" cy="2841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B3FB4B-E371-4DD9-882F-A44714B3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63" y="5326486"/>
            <a:ext cx="9696674" cy="97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8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E369-C629-4749-952C-2536F4D1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Classes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E4B9-6337-4040-B24A-ACC1B6571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An </a:t>
            </a:r>
            <a:r>
              <a:rPr lang="en-US" sz="2400" b="1" dirty="0"/>
              <a:t>abstract class</a:t>
            </a:r>
            <a:r>
              <a:rPr lang="en-US" sz="2400" dirty="0"/>
              <a:t> is a class that cannot be instantiated (you cannot create objects of it).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b="0" i="0" dirty="0">
                <a:solidFill>
                  <a:srgbClr val="0F1115"/>
                </a:solidFill>
                <a:effectLst/>
              </a:rPr>
              <a:t> It is designed only to act as a </a:t>
            </a:r>
            <a:r>
              <a:rPr lang="en-US" sz="2400" b="1" i="0" dirty="0">
                <a:solidFill>
                  <a:srgbClr val="0F1115"/>
                </a:solidFill>
                <a:effectLst/>
              </a:rPr>
              <a:t>base class</a:t>
            </a:r>
            <a:r>
              <a:rPr lang="en-US" sz="2400" b="0" i="0" dirty="0">
                <a:solidFill>
                  <a:srgbClr val="0F1115"/>
                </a:solidFill>
                <a:effectLst/>
              </a:rPr>
              <a:t> (to be inherited by other classes).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F1115"/>
                </a:solidFill>
              </a:rPr>
              <a:t> </a:t>
            </a:r>
            <a:r>
              <a:rPr lang="en-US" sz="2400" dirty="0"/>
              <a:t>An </a:t>
            </a:r>
            <a:r>
              <a:rPr lang="en-US" sz="2400" b="1" dirty="0"/>
              <a:t>abstract class</a:t>
            </a:r>
            <a:r>
              <a:rPr lang="en-US" sz="2400" dirty="0"/>
              <a:t> is a class that has at least </a:t>
            </a:r>
            <a:r>
              <a:rPr lang="en-US" sz="2400" b="1" dirty="0"/>
              <a:t>one pure virtual function</a:t>
            </a:r>
            <a:r>
              <a:rPr lang="en-US" sz="2400" dirty="0"/>
              <a:t>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37584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F9B-4B07-4D6C-AF6F-21AC287F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665" y="574267"/>
            <a:ext cx="10058400" cy="833280"/>
          </a:xfrm>
        </p:spPr>
        <p:txBody>
          <a:bodyPr/>
          <a:lstStyle/>
          <a:p>
            <a:r>
              <a:rPr lang="en-IN" dirty="0"/>
              <a:t>Constructors in Derived Classes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8EDF-7C4C-4081-93ED-AD7EFD024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92" y="1797539"/>
            <a:ext cx="11085815" cy="533997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2400" dirty="0"/>
              <a:t> </a:t>
            </a:r>
            <a:r>
              <a:rPr lang="en-US" altLang="en-US" sz="2400" b="1" dirty="0"/>
              <a:t>Order of Execution: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200" dirty="0"/>
              <a:t>When an object of a derived class is created, the base class’s constructor is executed first, followed by the derived class’s constructor.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200" dirty="0"/>
              <a:t>When an object of a derived class is destroyed, its destructor is called first, then that of the base class.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2600" b="1" dirty="0"/>
              <a:t> Default Constructor Invocation: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/>
              <a:t>If a base class has a default (no-argument) constructor, and the derived class does not explicitly call a specific base class constructor, the base class's default constructor is automatically invoked.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b="1" dirty="0"/>
              <a:t> Explicit Base Class Constructor Call: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/>
              <a:t>If a base class has a </a:t>
            </a:r>
            <a:r>
              <a:rPr lang="en-US" sz="2200" b="1" dirty="0"/>
              <a:t>parameterized constructor</a:t>
            </a:r>
            <a:r>
              <a:rPr lang="en-US" sz="2200" dirty="0"/>
              <a:t>, the derived class must explicitly call it using an </a:t>
            </a:r>
            <a:r>
              <a:rPr lang="en-US" sz="2200" b="1" dirty="0"/>
              <a:t>initializer list</a:t>
            </a:r>
            <a:r>
              <a:rPr lang="en-US" sz="2200" dirty="0"/>
              <a:t>.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2964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AB08-64E7-4B93-8D8C-CB9A22FCA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316"/>
            <a:ext cx="10058400" cy="528645"/>
          </a:xfrm>
        </p:spPr>
        <p:txBody>
          <a:bodyPr>
            <a:normAutofit fontScale="90000"/>
          </a:bodyPr>
          <a:lstStyle/>
          <a:p>
            <a:r>
              <a:rPr lang="en-IN" dirty="0"/>
              <a:t>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0EB7E-8C5E-467B-ADA8-575C9D39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B3A21-86C1-46D9-AFAD-3319914AE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7" y="627961"/>
            <a:ext cx="7272076" cy="2801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B265F-C07E-4B02-9AB9-B8691C227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369" y="1156606"/>
            <a:ext cx="5080489" cy="2105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2EF068-CE48-4B0F-BBD1-25ABCB21E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47" y="3599045"/>
            <a:ext cx="4661788" cy="717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7A0CA8-B6E5-4694-8C2F-F3026066E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44" y="4406748"/>
            <a:ext cx="2996238" cy="1823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6BE2AE-0687-4D98-848E-0204E02EC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732" y="3429000"/>
            <a:ext cx="6371370" cy="291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9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CE9282-FC1C-4084-B21C-423848C742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6297" y="341523"/>
            <a:ext cx="4511132" cy="5949108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95317-4501-4D6B-B6F2-8382573907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BFD0A1-8273-4D82-8EA7-29DB30005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11" y="341523"/>
            <a:ext cx="3751507" cy="23686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0C5D4-9DB5-4934-9DF7-366E3F16D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10149"/>
            <a:ext cx="3490028" cy="35804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85C52F-3B31-4471-BB9F-8B55C23B1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494" y="1586428"/>
            <a:ext cx="2594505" cy="27872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7DD942-9986-4FBD-8336-063092C38B61}"/>
              </a:ext>
            </a:extLst>
          </p:cNvPr>
          <p:cNvSpPr txBox="1"/>
          <p:nvPr/>
        </p:nvSpPr>
        <p:spPr>
          <a:xfrm>
            <a:off x="2865582" y="0"/>
            <a:ext cx="611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in Derived Class Example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3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E41FF9-5048-47AE-9B4E-D5AAA1D7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23" y="0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IN" dirty="0"/>
              <a:t>Cont..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2452F-0533-438E-9CD0-2AD3E6D02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23" y="702303"/>
            <a:ext cx="11512626" cy="516679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initializer 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way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data members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class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constructor body executes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753E7-AB57-4DD5-831B-53FCB4AE9EE8}"/>
              </a:ext>
            </a:extLst>
          </p:cNvPr>
          <p:cNvSpPr txBox="1"/>
          <p:nvPr/>
        </p:nvSpPr>
        <p:spPr>
          <a:xfrm>
            <a:off x="922662" y="1404606"/>
            <a:ext cx="66238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(parameters) : member1(value1), member2(value2), ... {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 body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BC4D5-F349-41A1-818D-40B45FFB54FF}"/>
              </a:ext>
            </a:extLst>
          </p:cNvPr>
          <p:cNvSpPr txBox="1"/>
          <p:nvPr/>
        </p:nvSpPr>
        <p:spPr>
          <a:xfrm>
            <a:off x="3444608" y="2160707"/>
            <a:ext cx="874739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 {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roll;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Student(int r, string n) : roll(r), name(n) {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"Student created with roll = " &lt;&lt; roll &lt;&lt; ", name = " &lt;&lt; name &lt;&lt;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	};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s1(101, "Alice");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	}</a:t>
            </a:r>
          </a:p>
        </p:txBody>
      </p:sp>
    </p:spTree>
    <p:extLst>
      <p:ext uri="{BB962C8B-B14F-4D97-AF65-F5344CB8AC3E}">
        <p14:creationId xmlns:p14="http://schemas.microsoft.com/office/powerpoint/2010/main" val="162683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4BCB-8010-4CC8-9A1C-615010D8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17628"/>
          </a:xfrm>
        </p:spPr>
        <p:txBody>
          <a:bodyPr>
            <a:normAutofit fontScale="90000"/>
          </a:bodyPr>
          <a:lstStyle/>
          <a:p>
            <a:r>
              <a:rPr lang="en-US" dirty="0"/>
              <a:t>Member classes: nesting of classes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9BAB4A-2E47-404F-827E-44CC2C226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541" y="1024569"/>
            <a:ext cx="11523642" cy="532114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lvl="7"/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35892B-1AE7-4174-AD41-089552C41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5887"/>
            <a:ext cx="2941502" cy="28770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93D6EC-25CC-4BB4-A37C-FFD7E620B9B5}"/>
              </a:ext>
            </a:extLst>
          </p:cNvPr>
          <p:cNvSpPr txBox="1"/>
          <p:nvPr/>
        </p:nvSpPr>
        <p:spPr>
          <a:xfrm>
            <a:off x="2677270" y="1679571"/>
            <a:ext cx="8360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objects of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will contain the objects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kind of relationship is called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containership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9456BC-A17D-4647-8CF2-80C9E031A00A}"/>
              </a:ext>
            </a:extLst>
          </p:cNvPr>
          <p:cNvSpPr txBox="1"/>
          <p:nvPr/>
        </p:nvSpPr>
        <p:spPr>
          <a:xfrm>
            <a:off x="2677270" y="2640856"/>
            <a:ext cx="91989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nested object is created in two stages. First, the member objects are created using their respective constructors and then the other 'ordinary' members are created.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means, constructors of all the member objects should be called before its own constructor body is executed.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accomplished using an initialization list in the constructor of the nested class.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A7B0DB-48DF-498B-AD67-75484087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7" y="4193622"/>
            <a:ext cx="3797495" cy="22480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3CC786-4933-41E7-89E1-FE9846993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993" y="4492409"/>
            <a:ext cx="7924770" cy="155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2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670</TotalTime>
  <Words>2131</Words>
  <Application>Microsoft Office PowerPoint</Application>
  <PresentationFormat>Widescreen</PresentationFormat>
  <Paragraphs>354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Times New Roman</vt:lpstr>
      <vt:lpstr>Wingdings</vt:lpstr>
      <vt:lpstr>Retrospect</vt:lpstr>
      <vt:lpstr>Chapter - 8</vt:lpstr>
      <vt:lpstr>What is Inheritance?</vt:lpstr>
      <vt:lpstr>Types</vt:lpstr>
      <vt:lpstr>Inheritance – Terminology and Notation</vt:lpstr>
      <vt:lpstr>Inheritance vs. Access </vt:lpstr>
      <vt:lpstr>Inheritance vs. Access </vt:lpstr>
      <vt:lpstr>Single Inheritance</vt:lpstr>
      <vt:lpstr>Making a private member inheritable Use protected instead of private </vt:lpstr>
      <vt:lpstr>Multilevel inheritance</vt:lpstr>
      <vt:lpstr>Multiple Inheritance</vt:lpstr>
      <vt:lpstr>Multiple Inheritance</vt:lpstr>
      <vt:lpstr>Ambiguity Resolution:</vt:lpstr>
      <vt:lpstr>Hierarchical Inheritance</vt:lpstr>
      <vt:lpstr>Hierarchical Inheritance</vt:lpstr>
      <vt:lpstr>Hybrid inheritance</vt:lpstr>
      <vt:lpstr>Virtual Base Classes</vt:lpstr>
      <vt:lpstr>Abstract Classes</vt:lpstr>
      <vt:lpstr>Constructors in Derived Classes</vt:lpstr>
      <vt:lpstr>Cont..</vt:lpstr>
      <vt:lpstr>PowerPoint Presentation</vt:lpstr>
      <vt:lpstr>Cont..</vt:lpstr>
      <vt:lpstr>Member classes: nesting of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</dc:title>
  <dc:creator>CSE-10</dc:creator>
  <cp:lastModifiedBy>Nitin Rathore</cp:lastModifiedBy>
  <cp:revision>93</cp:revision>
  <dcterms:created xsi:type="dcterms:W3CDTF">2025-07-02T05:47:51Z</dcterms:created>
  <dcterms:modified xsi:type="dcterms:W3CDTF">2025-09-16T06:18:29Z</dcterms:modified>
</cp:coreProperties>
</file>