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6"/>
  </p:notesMasterIdLst>
  <p:sldIdLst>
    <p:sldId id="310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447" r:id="rId10"/>
    <p:sldId id="273" r:id="rId11"/>
    <p:sldId id="275" r:id="rId12"/>
    <p:sldId id="276" r:id="rId13"/>
    <p:sldId id="277" r:id="rId14"/>
    <p:sldId id="278" r:id="rId15"/>
    <p:sldId id="282" r:id="rId16"/>
    <p:sldId id="449" r:id="rId17"/>
    <p:sldId id="450" r:id="rId18"/>
    <p:sldId id="451" r:id="rId19"/>
    <p:sldId id="283" r:id="rId20"/>
    <p:sldId id="452" r:id="rId21"/>
    <p:sldId id="453" r:id="rId22"/>
    <p:sldId id="448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455" r:id="rId47"/>
    <p:sldId id="307" r:id="rId48"/>
    <p:sldId id="308" r:id="rId49"/>
    <p:sldId id="309" r:id="rId50"/>
    <p:sldId id="311" r:id="rId51"/>
    <p:sldId id="312" r:id="rId52"/>
    <p:sldId id="313" r:id="rId53"/>
    <p:sldId id="456" r:id="rId54"/>
    <p:sldId id="314" r:id="rId55"/>
    <p:sldId id="315" r:id="rId56"/>
    <p:sldId id="316" r:id="rId57"/>
    <p:sldId id="317" r:id="rId58"/>
    <p:sldId id="318" r:id="rId59"/>
    <p:sldId id="454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446" r:id="rId80"/>
    <p:sldId id="338" r:id="rId81"/>
    <p:sldId id="457" r:id="rId82"/>
    <p:sldId id="458" r:id="rId83"/>
    <p:sldId id="339" r:id="rId84"/>
    <p:sldId id="340" r:id="rId85"/>
    <p:sldId id="341" r:id="rId86"/>
    <p:sldId id="342" r:id="rId87"/>
    <p:sldId id="343" r:id="rId88"/>
    <p:sldId id="344" r:id="rId89"/>
    <p:sldId id="459" r:id="rId90"/>
    <p:sldId id="345" r:id="rId91"/>
    <p:sldId id="346" r:id="rId92"/>
    <p:sldId id="347" r:id="rId93"/>
    <p:sldId id="348" r:id="rId94"/>
    <p:sldId id="445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74" autoAdjust="0"/>
    <p:restoredTop sz="94667"/>
  </p:normalViewPr>
  <p:slideViewPr>
    <p:cSldViewPr snapToGrid="0">
      <p:cViewPr varScale="1">
        <p:scale>
          <a:sx n="121" d="100"/>
          <a:sy n="121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331E1-0269-43F9-A95C-0F36EF3F2B33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1565A-A1D7-4086-8B68-043E74E6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4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48CF-0175-F65F-C79C-CC9B468F7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577DF-B80B-E597-26B5-6E531F894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38DCA-648B-7284-7383-C64E5C41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680DB-0A2E-F351-A6F8-17C63377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C6F8-0EB3-659C-D527-F8C55912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9D6D-89A1-23C2-A6D3-B4E696F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700D-24AF-C2D3-0929-DC5CA9DF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CD25E-A28F-5974-54C3-4A539DD9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EE8A8-6202-CA64-4737-8AD35614E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97C18-E6EE-C1BE-8643-3F9080D4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21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0438-B862-9FEA-DB21-06247F56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BB30A-2149-8363-B949-EDA2696FC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C3681-8A6E-0211-ED16-D03212FB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A75B-9C17-8EEC-11A1-A2C0137F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3D8A2-5311-4A5D-B17C-8ED3071F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D564-F96F-4944-67E2-65DEBF44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2A7D-05EE-468D-7F37-AF17B98B1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94DF0-E802-D3ED-73F8-EBCD7662E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FCE31-4851-CD6E-0119-F636B048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646AE-0781-4F56-C5BE-C0E3A057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08E6E-42BF-E437-BE5E-8DCBEAA0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22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6566-E28D-325E-1A3D-A1E9EA36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77892-B683-A37F-EE6D-59CCA04A7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4D4AC-B76C-3E0F-F00C-4C7E7B766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B87F3-2E1F-453F-1626-2E9178BA7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0A5EF-6513-5F28-698D-5510ED2A7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54F75-4911-8A26-BE3A-46FEFDDC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8F2E4-8B06-4363-6FEB-B07F7972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CEF0-4D1A-C820-6912-FD85746B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6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AC64-C545-91E7-FEDC-E655B75F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68C84-7F86-8B63-D534-482514B8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F32B1-6F81-3DBA-3C10-DA5A05E1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8B8C1-664A-8316-CE94-FABF06A2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3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33010-EAC7-6FD7-CF39-34351E37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91542-7CFF-C983-6EED-1A8A18D0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4F29B-D5A9-CFA0-A287-CF4407CA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59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DBA8-ED9A-2025-E6E9-900A6241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6AC3-27F3-815C-3CD2-D9D3C12CB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CA7C5-085A-A637-CD89-5E3EF6844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9D2F7-454A-046C-43C0-95EAA965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941F3-CD68-6E16-F2E7-BA7747B1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3784-E993-9548-13EB-DDD6F4B1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0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7593-C7FC-1A7E-0E5C-986B3E69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CB6BFD-1D88-4383-AB9A-F2BD2E6E6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3F586-04A8-D209-3020-646507876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FEFD6-0AC6-008C-8662-681444CA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C457B-7508-8A06-AD62-6FD39FBC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C68EE-67A6-7955-614C-7A0FB9DC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6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D703-7938-5EEF-D723-401F26AB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9E773-F6F4-5932-1EBB-6512F289D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E59E9-2C59-9950-1197-5C67ABD2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1E78-0AD2-D7D1-FA67-6674FDAF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C720D-9C08-C8A3-4867-4097E830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19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92EE6-1267-9B9C-B12B-DCF051644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98E47-23CB-157F-753F-A2D7D0855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B030-9878-810A-E11A-E16C8BBD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BFA83-CB28-A246-5A9B-9128DD1D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D164F-901E-7A08-5ADD-3DBAD634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92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-16933" y="84175"/>
            <a:ext cx="1193292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rPr lang="en-IN" spc="-10"/>
              <a:t>Prepared</a:t>
            </a:r>
            <a:r>
              <a:rPr lang="en-IN" spc="-65"/>
              <a:t> </a:t>
            </a:r>
            <a:r>
              <a:rPr lang="en-IN"/>
              <a:t>By:</a:t>
            </a:r>
            <a:r>
              <a:rPr lang="en-IN" spc="-55"/>
              <a:t> </a:t>
            </a:r>
            <a:r>
              <a:rPr lang="en-IN" spc="-25"/>
              <a:t>Prof.</a:t>
            </a:r>
            <a:r>
              <a:rPr lang="en-IN" spc="-50"/>
              <a:t> </a:t>
            </a:r>
            <a:r>
              <a:rPr lang="en-IN"/>
              <a:t>Nishat</a:t>
            </a:r>
            <a:r>
              <a:rPr lang="en-IN" spc="-55"/>
              <a:t> </a:t>
            </a:r>
            <a:r>
              <a:rPr lang="en-IN"/>
              <a:t>Shaikh</a:t>
            </a:r>
            <a:r>
              <a:rPr lang="en-IN" spc="-50"/>
              <a:t> </a:t>
            </a:r>
            <a:r>
              <a:rPr lang="en-IN"/>
              <a:t>&amp;</a:t>
            </a:r>
            <a:r>
              <a:rPr lang="en-IN" spc="-55"/>
              <a:t> </a:t>
            </a:r>
            <a:r>
              <a:rPr lang="en-IN" spc="-60"/>
              <a:t>Dr.</a:t>
            </a:r>
            <a:r>
              <a:rPr lang="en-IN" spc="-45"/>
              <a:t> </a:t>
            </a:r>
            <a:r>
              <a:rPr lang="en-IN"/>
              <a:t>Aayushi</a:t>
            </a:r>
            <a:r>
              <a:rPr lang="en-IN" spc="-50"/>
              <a:t> </a:t>
            </a:r>
            <a:r>
              <a:rPr lang="en-IN" spc="-10"/>
              <a:t>Chaudhari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323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A54FA-61F2-CAEF-4AD9-53421D5E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AC761-DB65-BF2C-776D-CD228CFF9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30B3-3BD2-395A-ACC5-5B1881525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853D0-13B4-454F-89C1-25848C6FD71E}" type="datetimeFigureOut">
              <a:rPr lang="en-IN" smtClean="0"/>
              <a:t>27/11/25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5FCE3-9A3B-F3DC-61FF-7F13023B3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95FB-B1D2-FD26-539F-C76FF8C71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1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2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jp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jp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jp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2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5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8.jp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3.jp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DE5A-E1AD-4C7C-B837-B4D0B2033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1605" y="992777"/>
            <a:ext cx="6858000" cy="179070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Chapter - 8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2762D-AAB7-47FB-9F8A-330B95219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1605" y="2832702"/>
            <a:ext cx="6858000" cy="1241822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buSzPts val="2400"/>
            </a:pPr>
            <a:r>
              <a:rPr lang="en-IN" sz="3200" dirty="0"/>
              <a:t>Inheritance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D0442E1-2488-11B8-6434-55EA5CC31A3B}"/>
              </a:ext>
            </a:extLst>
          </p:cNvPr>
          <p:cNvSpPr txBox="1">
            <a:spLocks/>
          </p:cNvSpPr>
          <p:nvPr/>
        </p:nvSpPr>
        <p:spPr>
          <a:xfrm>
            <a:off x="2031380" y="3940707"/>
            <a:ext cx="8396868" cy="179069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Book Referred: Object-Oriented Programming with C++ by E Balaguruswamy </a:t>
            </a:r>
          </a:p>
          <a:p>
            <a:r>
              <a:rPr lang="en-IN" sz="1800" dirty="0"/>
              <a:t>(8</a:t>
            </a:r>
            <a:r>
              <a:rPr lang="en-IN" sz="1800" baseline="30000" dirty="0"/>
              <a:t>th</a:t>
            </a:r>
            <a:r>
              <a:rPr lang="en-IN" sz="1800" dirty="0"/>
              <a:t> Edition) – Chapter 8</a:t>
            </a:r>
          </a:p>
          <a:p>
            <a:endParaRPr lang="en-IN" sz="1800" dirty="0"/>
          </a:p>
          <a:p>
            <a:r>
              <a:rPr lang="en-IN" sz="1800" dirty="0"/>
              <a:t>Prepared By: Dr. Anuja Nair, Assistant Professor, </a:t>
            </a:r>
          </a:p>
          <a:p>
            <a:r>
              <a:rPr lang="en-IN" sz="1800" dirty="0"/>
              <a:t>                            CSE Department, Nirma University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8379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459" y="298350"/>
            <a:ext cx="284734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834" y="879569"/>
            <a:ext cx="11247947" cy="5332101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6" marR="85725" indent="-4572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03555" algn="l"/>
              </a:tabLst>
            </a:pPr>
            <a:r>
              <a:rPr lang="en-IN" sz="2800" b="1" spc="-10" dirty="0">
                <a:solidFill>
                  <a:srgbClr val="0070C0"/>
                </a:solidFill>
                <a:latin typeface="Calibri"/>
                <a:cs typeface="Calibri"/>
              </a:rPr>
              <a:t>Reusability </a:t>
            </a:r>
            <a:r>
              <a:rPr lang="en-IN" sz="2800" spc="-25" dirty="0">
                <a:latin typeface="Calibri"/>
                <a:cs typeface="Calibri"/>
              </a:rPr>
              <a:t>is an </a:t>
            </a:r>
            <a:r>
              <a:rPr lang="en-IN" sz="2800" spc="-10" dirty="0">
                <a:latin typeface="Calibri"/>
                <a:cs typeface="Calibri"/>
              </a:rPr>
              <a:t>important feature </a:t>
            </a:r>
            <a:r>
              <a:rPr lang="en-IN" sz="2800" spc="-25" dirty="0">
                <a:latin typeface="Calibri"/>
                <a:cs typeface="Calibri"/>
              </a:rPr>
              <a:t>of </a:t>
            </a:r>
            <a:r>
              <a:rPr lang="en-IN" sz="2800" spc="-10" dirty="0">
                <a:latin typeface="Calibri"/>
                <a:cs typeface="Calibri"/>
              </a:rPr>
              <a:t>OOP. </a:t>
            </a:r>
            <a:r>
              <a:rPr lang="en-IN" sz="2800" spc="-25" dirty="0">
                <a:latin typeface="Calibri"/>
                <a:cs typeface="Calibri"/>
              </a:rPr>
              <a:t>C+ </a:t>
            </a:r>
            <a:r>
              <a:rPr lang="en-IN" sz="2800" dirty="0">
                <a:latin typeface="Calibri"/>
                <a:cs typeface="Calibri"/>
              </a:rPr>
              <a:t>strongly</a:t>
            </a:r>
            <a:r>
              <a:rPr lang="en-IN" sz="2800" spc="-90" dirty="0">
                <a:latin typeface="Calibri"/>
                <a:cs typeface="Calibri"/>
              </a:rPr>
              <a:t> </a:t>
            </a:r>
            <a:r>
              <a:rPr lang="en-IN" sz="2800" dirty="0">
                <a:latin typeface="Calibri"/>
                <a:cs typeface="Calibri"/>
              </a:rPr>
              <a:t>supports</a:t>
            </a:r>
            <a:r>
              <a:rPr lang="en-IN" sz="2800" spc="-90" dirty="0">
                <a:latin typeface="Calibri"/>
                <a:cs typeface="Calibri"/>
              </a:rPr>
              <a:t> </a:t>
            </a:r>
            <a:r>
              <a:rPr lang="en-IN" sz="2800" dirty="0">
                <a:latin typeface="Calibri"/>
                <a:cs typeface="Calibri"/>
              </a:rPr>
              <a:t>the</a:t>
            </a:r>
            <a:r>
              <a:rPr lang="en-IN" sz="2800" spc="-85" dirty="0">
                <a:latin typeface="Calibri"/>
                <a:cs typeface="Calibri"/>
              </a:rPr>
              <a:t> </a:t>
            </a:r>
            <a:r>
              <a:rPr lang="en-IN" sz="2800" dirty="0">
                <a:latin typeface="Calibri"/>
                <a:cs typeface="Calibri"/>
              </a:rPr>
              <a:t>concept</a:t>
            </a:r>
            <a:r>
              <a:rPr lang="en-IN" sz="2800" spc="-90" dirty="0">
                <a:latin typeface="Calibri"/>
                <a:cs typeface="Calibri"/>
              </a:rPr>
              <a:t> </a:t>
            </a:r>
            <a:r>
              <a:rPr lang="en-IN" sz="2800" dirty="0">
                <a:latin typeface="Calibri"/>
                <a:cs typeface="Calibri"/>
              </a:rPr>
              <a:t>of</a:t>
            </a:r>
            <a:r>
              <a:rPr lang="en-IN" sz="2800" spc="-85" dirty="0">
                <a:latin typeface="Calibri"/>
                <a:cs typeface="Calibri"/>
              </a:rPr>
              <a:t> </a:t>
            </a:r>
            <a:r>
              <a:rPr lang="en-IN" sz="2800" spc="-10" dirty="0">
                <a:latin typeface="Calibri"/>
                <a:cs typeface="Calibri"/>
              </a:rPr>
              <a:t>reusability.</a:t>
            </a:r>
            <a:endParaRPr lang="en-IN" sz="2800" dirty="0">
              <a:latin typeface="Calibri"/>
              <a:cs typeface="Calibri"/>
            </a:endParaRPr>
          </a:p>
          <a:p>
            <a:pPr marL="469266" marR="85725" indent="-4572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Reusing</a:t>
            </a:r>
            <a:r>
              <a:rPr lang="en-US"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existing</a:t>
            </a:r>
            <a:r>
              <a:rPr lang="en-US"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saves</a:t>
            </a:r>
            <a:r>
              <a:rPr sz="2800" b="1" spc="1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time</a:t>
            </a:r>
            <a:r>
              <a:rPr sz="2800" b="1" spc="1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money</a:t>
            </a:r>
            <a:r>
              <a:rPr sz="2800" b="1" spc="1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increases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program’s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reliability</a:t>
            </a:r>
            <a:r>
              <a:rPr lang="en-US" sz="2800" b="1" spc="-10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</a:p>
          <a:p>
            <a:pPr marL="469266" marR="5080" indent="-4572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mechanism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old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r>
              <a:rPr sz="28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/derivation</a:t>
            </a:r>
            <a:r>
              <a:rPr sz="28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/</a:t>
            </a:r>
            <a:r>
              <a:rPr sz="2800" b="1" spc="-7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extending</a:t>
            </a:r>
            <a:r>
              <a:rPr sz="28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classes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266" marR="49530" indent="-4572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lang="en-US"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old</a:t>
            </a:r>
            <a:r>
              <a:rPr lang="en-US"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lang="en-US"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lang="en-US"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referred</a:t>
            </a:r>
            <a:r>
              <a:rPr lang="en-US"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lang="en-US"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lang="en-US" sz="2800" spc="390" dirty="0"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70C0"/>
                </a:solidFill>
                <a:latin typeface="Calibri"/>
                <a:cs typeface="Calibri"/>
              </a:rPr>
              <a:t>base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class/superclass/parent</a:t>
            </a:r>
            <a:r>
              <a:rPr sz="2800" b="1" spc="3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derived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/subclass/child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17547" y="915924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2999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2604" y="103759"/>
            <a:ext cx="2847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spc="-10" dirty="0">
                <a:latin typeface="Calibri"/>
                <a:cs typeface="Calibri"/>
              </a:rPr>
              <a:t>Introduction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7" y="1752599"/>
            <a:ext cx="8798052" cy="44634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92604" y="915924"/>
            <a:ext cx="8762999" cy="509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6" marR="5080">
              <a:lnSpc>
                <a:spcPct val="150000"/>
              </a:lnSpc>
              <a:spcBef>
                <a:spcPts val="100"/>
              </a:spcBef>
              <a:buSzPct val="93750"/>
              <a:tabLst>
                <a:tab pos="49847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derived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inherits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traits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base </a:t>
            </a:r>
            <a:r>
              <a:rPr sz="2400" spc="-10" dirty="0">
                <a:latin typeface="Calibri"/>
                <a:cs typeface="Calibri"/>
              </a:rPr>
              <a:t>class.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Types</a:t>
            </a:r>
            <a:r>
              <a:rPr spc="-11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Inheritance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655368"/>
            <a:ext cx="7305803" cy="451969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1" y="21544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Types</a:t>
            </a:r>
            <a:r>
              <a:rPr spc="-11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Inheritance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1" y="1027768"/>
            <a:ext cx="8229599" cy="533782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56A22-EB9C-3E56-911C-2223DE9459FA}"/>
              </a:ext>
            </a:extLst>
          </p:cNvPr>
          <p:cNvSpPr txBox="1"/>
          <p:nvPr/>
        </p:nvSpPr>
        <p:spPr>
          <a:xfrm>
            <a:off x="5410201" y="6425709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 </a:t>
            </a:r>
            <a:r>
              <a:rPr lang="en-US" dirty="0">
                <a:sym typeface="Wingdings" pitchFamily="2" charset="2"/>
              </a:rPr>
              <a:t> Derived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2605" y="103759"/>
            <a:ext cx="461327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Types</a:t>
            </a:r>
            <a:r>
              <a:rPr spc="-11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53263" y="913810"/>
            <a:ext cx="10196623" cy="437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985" indent="-342900" algn="just">
              <a:lnSpc>
                <a:spcPct val="150000"/>
              </a:lnSpc>
              <a:spcBef>
                <a:spcPts val="100"/>
              </a:spcBef>
              <a:buClr>
                <a:srgbClr val="000000"/>
              </a:buClr>
              <a:buSzPct val="94000"/>
              <a:buFont typeface="Arial" panose="020B0604020202020204" pitchFamily="34" charset="0"/>
              <a:buChar char="•"/>
              <a:tabLst>
                <a:tab pos="509270" algn="l"/>
              </a:tabLst>
            </a:pP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Single</a:t>
            </a:r>
            <a:r>
              <a:rPr sz="2500" b="1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inheritance:</a:t>
            </a:r>
            <a:r>
              <a:rPr sz="2500" b="1" spc="2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  <a:r>
              <a:rPr sz="2500" spc="19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20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deriving</a:t>
            </a:r>
            <a:r>
              <a:rPr sz="2500" spc="20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20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class</a:t>
            </a:r>
            <a:r>
              <a:rPr sz="2500" spc="20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20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only</a:t>
            </a:r>
            <a:r>
              <a:rPr sz="2500" spc="23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one </a:t>
            </a:r>
            <a:r>
              <a:rPr sz="2500" b="1" dirty="0">
                <a:latin typeface="Calibri"/>
                <a:cs typeface="Calibri"/>
              </a:rPr>
              <a:t>base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class</a:t>
            </a:r>
            <a:endParaRPr sz="2500" dirty="0">
              <a:latin typeface="Calibri"/>
              <a:cs typeface="Calibri"/>
            </a:endParaRPr>
          </a:p>
          <a:p>
            <a:pPr marL="355600" indent="-342900" algn="just">
              <a:spcBef>
                <a:spcPts val="1500"/>
              </a:spcBef>
              <a:buClr>
                <a:srgbClr val="000000"/>
              </a:buClr>
              <a:buSzPct val="94000"/>
              <a:buFont typeface="Arial" panose="020B0604020202020204" pitchFamily="34" charset="0"/>
              <a:buChar char="•"/>
              <a:tabLst>
                <a:tab pos="509270" algn="l"/>
                <a:tab pos="2044700" algn="l"/>
                <a:tab pos="3837304" algn="l"/>
                <a:tab pos="5018405" algn="l"/>
                <a:tab pos="5483860" algn="l"/>
                <a:tab pos="6724015" algn="l"/>
                <a:tab pos="7077709" algn="l"/>
                <a:tab pos="7886065" algn="l"/>
              </a:tabLst>
            </a:pPr>
            <a:r>
              <a:rPr sz="2500" b="1" spc="-10" dirty="0">
                <a:solidFill>
                  <a:srgbClr val="0070C0"/>
                </a:solidFill>
                <a:latin typeface="Calibri"/>
                <a:cs typeface="Calibri"/>
              </a:rPr>
              <a:t>Multilevel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500" b="1" spc="-10" dirty="0">
                <a:solidFill>
                  <a:srgbClr val="0070C0"/>
                </a:solidFill>
                <a:latin typeface="Calibri"/>
                <a:cs typeface="Calibri"/>
              </a:rPr>
              <a:t>Inheritance: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process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of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deriving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0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class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from</a:t>
            </a:r>
            <a:r>
              <a:rPr lang="en-US" sz="2500" spc="-2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another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derived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class</a:t>
            </a:r>
            <a:endParaRPr sz="2500" dirty="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150000"/>
              </a:lnSpc>
              <a:buClr>
                <a:srgbClr val="000000"/>
              </a:buClr>
              <a:buSzPct val="94000"/>
              <a:buFont typeface="Arial" panose="020B0604020202020204" pitchFamily="34" charset="0"/>
              <a:buChar char="•"/>
              <a:tabLst>
                <a:tab pos="509270" algn="l"/>
              </a:tabLst>
            </a:pP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Multiple</a:t>
            </a:r>
            <a:r>
              <a:rPr sz="2500" b="1" spc="1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Inheritance:</a:t>
            </a:r>
            <a:r>
              <a:rPr sz="2500" b="1" spc="1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  <a:r>
              <a:rPr sz="2500" spc="1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1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deriving</a:t>
            </a:r>
            <a:r>
              <a:rPr sz="2500" spc="1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1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class</a:t>
            </a:r>
            <a:r>
              <a:rPr sz="2500" spc="1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1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two</a:t>
            </a:r>
            <a:r>
              <a:rPr sz="2500" b="1" spc="130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or </a:t>
            </a:r>
            <a:r>
              <a:rPr sz="2500" b="1" dirty="0">
                <a:latin typeface="Calibri"/>
                <a:cs typeface="Calibri"/>
              </a:rPr>
              <a:t>more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base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classes.</a:t>
            </a:r>
            <a:endParaRPr sz="2500" dirty="0">
              <a:latin typeface="Calibri"/>
              <a:cs typeface="Calibri"/>
            </a:endParaRPr>
          </a:p>
          <a:p>
            <a:pPr marL="354965" marR="22225" indent="-342900" algn="just">
              <a:lnSpc>
                <a:spcPct val="150000"/>
              </a:lnSpc>
              <a:buClr>
                <a:srgbClr val="000000"/>
              </a:buClr>
              <a:buSzPct val="94000"/>
              <a:buFont typeface="Arial" panose="020B0604020202020204" pitchFamily="34" charset="0"/>
              <a:buChar char="•"/>
              <a:tabLst>
                <a:tab pos="509270" algn="l"/>
              </a:tabLst>
            </a:pP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Hierarchical</a:t>
            </a:r>
            <a:r>
              <a:rPr sz="2500" b="1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Inheritance:</a:t>
            </a:r>
            <a:r>
              <a:rPr sz="2500" b="1" spc="22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  <a:r>
              <a:rPr sz="2500" spc="1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21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deriving</a:t>
            </a:r>
            <a:r>
              <a:rPr sz="2500" b="1" spc="204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more</a:t>
            </a:r>
            <a:r>
              <a:rPr sz="2500" b="1" spc="20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than</a:t>
            </a:r>
            <a:r>
              <a:rPr sz="2500" b="1" spc="204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one </a:t>
            </a:r>
            <a:r>
              <a:rPr sz="2500" b="1" dirty="0">
                <a:latin typeface="Calibri"/>
                <a:cs typeface="Calibri"/>
              </a:rPr>
              <a:t>class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base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class.</a:t>
            </a:r>
            <a:endParaRPr sz="2500" dirty="0">
              <a:latin typeface="Calibri"/>
              <a:cs typeface="Calibri"/>
            </a:endParaRPr>
          </a:p>
          <a:p>
            <a:pPr marL="354965" marR="19685" indent="-342900" algn="just">
              <a:lnSpc>
                <a:spcPct val="150000"/>
              </a:lnSpc>
              <a:buClr>
                <a:srgbClr val="000000"/>
              </a:buClr>
              <a:buSzPct val="94000"/>
              <a:buFont typeface="Arial" panose="020B0604020202020204" pitchFamily="34" charset="0"/>
              <a:buChar char="•"/>
              <a:tabLst>
                <a:tab pos="509270" algn="l"/>
                <a:tab pos="1519555" algn="l"/>
                <a:tab pos="3241040" algn="l"/>
                <a:tab pos="5032375" algn="l"/>
                <a:tab pos="5426075" algn="l"/>
                <a:tab pos="6240145" algn="l"/>
                <a:tab pos="6961505" algn="l"/>
                <a:tab pos="7582534" algn="l"/>
                <a:tab pos="8286115" algn="l"/>
              </a:tabLst>
            </a:pPr>
            <a:r>
              <a:rPr sz="2500" b="1" spc="-10" dirty="0">
                <a:solidFill>
                  <a:srgbClr val="0070C0"/>
                </a:solidFill>
                <a:latin typeface="Calibri"/>
                <a:cs typeface="Calibri"/>
              </a:rPr>
              <a:t>Hybrid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500" b="1" spc="-10" dirty="0">
                <a:solidFill>
                  <a:srgbClr val="0070C0"/>
                </a:solidFill>
                <a:latin typeface="Calibri"/>
                <a:cs typeface="Calibri"/>
              </a:rPr>
              <a:t>Inheritance: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500" b="1" spc="-10" dirty="0">
                <a:latin typeface="Calibri"/>
                <a:cs typeface="Calibri"/>
              </a:rPr>
              <a:t>combination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of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more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than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one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type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of </a:t>
            </a:r>
            <a:r>
              <a:rPr sz="2500" spc="-10" dirty="0">
                <a:latin typeface="Calibri"/>
                <a:cs typeface="Calibri"/>
              </a:rPr>
              <a:t>inheritance.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0085" y="20673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spc="-200" dirty="0"/>
              <a:t> </a:t>
            </a:r>
            <a:r>
              <a:rPr dirty="0"/>
              <a:t>Derived</a:t>
            </a:r>
            <a:r>
              <a:rPr spc="-195" dirty="0"/>
              <a:t> </a:t>
            </a:r>
            <a:r>
              <a:rPr spc="-10" dirty="0"/>
              <a:t>Classes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33853" y="2430678"/>
            <a:ext cx="8618219" cy="2758544"/>
            <a:chOff x="109853" y="2430678"/>
            <a:chExt cx="8618219" cy="275854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53" y="3455673"/>
              <a:ext cx="8618219" cy="17335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6000" y="2430678"/>
              <a:ext cx="5181600" cy="1062355"/>
            </a:xfrm>
            <a:custGeom>
              <a:avLst/>
              <a:gdLst/>
              <a:ahLst/>
              <a:cxnLst/>
              <a:rect l="l" t="t" r="r" b="b"/>
              <a:pathLst>
                <a:path w="5181600" h="1062354">
                  <a:moveTo>
                    <a:pt x="5054599" y="761999"/>
                  </a:moveTo>
                  <a:lnTo>
                    <a:pt x="126999" y="761999"/>
                  </a:lnTo>
                  <a:lnTo>
                    <a:pt x="77565" y="752019"/>
                  </a:lnTo>
                  <a:lnTo>
                    <a:pt x="37197" y="724802"/>
                  </a:lnTo>
                  <a:lnTo>
                    <a:pt x="9980" y="684434"/>
                  </a:lnTo>
                  <a:lnTo>
                    <a:pt x="0" y="634999"/>
                  </a:lnTo>
                  <a:lnTo>
                    <a:pt x="0" y="126999"/>
                  </a:lnTo>
                  <a:lnTo>
                    <a:pt x="9980" y="77565"/>
                  </a:lnTo>
                  <a:lnTo>
                    <a:pt x="37197" y="37197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5054599" y="0"/>
                  </a:lnTo>
                  <a:lnTo>
                    <a:pt x="5103200" y="9667"/>
                  </a:lnTo>
                  <a:lnTo>
                    <a:pt x="5144402" y="37197"/>
                  </a:lnTo>
                  <a:lnTo>
                    <a:pt x="5171932" y="78399"/>
                  </a:lnTo>
                  <a:lnTo>
                    <a:pt x="5181599" y="126999"/>
                  </a:lnTo>
                  <a:lnTo>
                    <a:pt x="5181599" y="634999"/>
                  </a:lnTo>
                  <a:lnTo>
                    <a:pt x="5171619" y="684434"/>
                  </a:lnTo>
                  <a:lnTo>
                    <a:pt x="5144402" y="724802"/>
                  </a:lnTo>
                  <a:lnTo>
                    <a:pt x="5104034" y="752019"/>
                  </a:lnTo>
                  <a:lnTo>
                    <a:pt x="5054599" y="761999"/>
                  </a:lnTo>
                  <a:close/>
                </a:path>
                <a:path w="5181600" h="1062354">
                  <a:moveTo>
                    <a:pt x="1622099" y="1062151"/>
                  </a:moveTo>
                  <a:lnTo>
                    <a:pt x="863599" y="761999"/>
                  </a:lnTo>
                  <a:lnTo>
                    <a:pt x="2158999" y="761999"/>
                  </a:lnTo>
                  <a:lnTo>
                    <a:pt x="1622099" y="1062151"/>
                  </a:lnTo>
                  <a:close/>
                </a:path>
              </a:pathLst>
            </a:custGeom>
            <a:solidFill>
              <a:srgbClr val="F1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0" y="2430678"/>
              <a:ext cx="5181600" cy="1062355"/>
            </a:xfrm>
            <a:custGeom>
              <a:avLst/>
              <a:gdLst/>
              <a:ahLst/>
              <a:cxnLst/>
              <a:rect l="l" t="t" r="r" b="b"/>
              <a:pathLst>
                <a:path w="5181600" h="1062354">
                  <a:moveTo>
                    <a:pt x="0" y="126999"/>
                  </a:moveTo>
                  <a:lnTo>
                    <a:pt x="9980" y="77565"/>
                  </a:lnTo>
                  <a:lnTo>
                    <a:pt x="37197" y="37197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863599" y="0"/>
                  </a:lnTo>
                  <a:lnTo>
                    <a:pt x="2158999" y="0"/>
                  </a:lnTo>
                  <a:lnTo>
                    <a:pt x="5054599" y="0"/>
                  </a:lnTo>
                  <a:lnTo>
                    <a:pt x="5079492" y="2462"/>
                  </a:lnTo>
                  <a:lnTo>
                    <a:pt x="5125059" y="21337"/>
                  </a:lnTo>
                  <a:lnTo>
                    <a:pt x="5160262" y="56540"/>
                  </a:lnTo>
                  <a:lnTo>
                    <a:pt x="5179137" y="102107"/>
                  </a:lnTo>
                  <a:lnTo>
                    <a:pt x="5181599" y="126999"/>
                  </a:lnTo>
                  <a:lnTo>
                    <a:pt x="5181599" y="444499"/>
                  </a:lnTo>
                  <a:lnTo>
                    <a:pt x="5181599" y="634999"/>
                  </a:lnTo>
                  <a:lnTo>
                    <a:pt x="5171619" y="684434"/>
                  </a:lnTo>
                  <a:lnTo>
                    <a:pt x="5144402" y="724802"/>
                  </a:lnTo>
                  <a:lnTo>
                    <a:pt x="5104034" y="752019"/>
                  </a:lnTo>
                  <a:lnTo>
                    <a:pt x="5054599" y="761999"/>
                  </a:lnTo>
                  <a:lnTo>
                    <a:pt x="2158999" y="761999"/>
                  </a:lnTo>
                  <a:lnTo>
                    <a:pt x="1622099" y="1062151"/>
                  </a:lnTo>
                  <a:lnTo>
                    <a:pt x="863599" y="761999"/>
                  </a:lnTo>
                  <a:lnTo>
                    <a:pt x="126999" y="761999"/>
                  </a:lnTo>
                  <a:lnTo>
                    <a:pt x="77565" y="752019"/>
                  </a:lnTo>
                  <a:lnTo>
                    <a:pt x="37197" y="724802"/>
                  </a:lnTo>
                  <a:lnTo>
                    <a:pt x="9980" y="684434"/>
                  </a:lnTo>
                  <a:lnTo>
                    <a:pt x="0" y="634999"/>
                  </a:lnTo>
                  <a:lnTo>
                    <a:pt x="0" y="444499"/>
                  </a:lnTo>
                  <a:lnTo>
                    <a:pt x="0" y="1269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91608" y="981967"/>
            <a:ext cx="8588375" cy="12386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SzPct val="94642"/>
              <a:buFont typeface="Arial" panose="020B0604020202020204" pitchFamily="34" charset="0"/>
              <a:buChar char="•"/>
              <a:tabLst>
                <a:tab pos="560705" algn="l"/>
                <a:tab pos="1009015" algn="l"/>
                <a:tab pos="2341245" algn="l"/>
                <a:tab pos="3265170" algn="l"/>
                <a:tab pos="4012565" algn="l"/>
                <a:tab pos="4618990" algn="l"/>
                <a:tab pos="5962650" algn="l"/>
                <a:tab pos="6551930" algn="l"/>
                <a:tab pos="8235315" algn="l"/>
              </a:tabLst>
            </a:pP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derived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class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defined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specifying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its </a:t>
            </a:r>
            <a:r>
              <a:rPr sz="2800" dirty="0">
                <a:latin typeface="Calibri"/>
                <a:cs typeface="Calibri"/>
              </a:rPr>
              <a:t>relationship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own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4923" y="2281935"/>
            <a:ext cx="1063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details.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0223" y="2483116"/>
            <a:ext cx="49473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derived-</a:t>
            </a:r>
            <a:r>
              <a:rPr sz="2000" b="1" spc="-20" dirty="0">
                <a:latin typeface="Calibri"/>
                <a:cs typeface="Calibri"/>
              </a:rPr>
              <a:t>class-</a:t>
            </a:r>
            <a:r>
              <a:rPr sz="2000" b="1" dirty="0">
                <a:latin typeface="Calibri"/>
                <a:cs typeface="Calibri"/>
              </a:rPr>
              <a:t>name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base-class-name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167149" y="3803450"/>
            <a:ext cx="3348990" cy="2847814"/>
            <a:chOff x="5643149" y="3803450"/>
            <a:chExt cx="3348990" cy="2581910"/>
          </a:xfrm>
        </p:grpSpPr>
        <p:sp>
          <p:nvSpPr>
            <p:cNvPr id="13" name="object 13"/>
            <p:cNvSpPr/>
            <p:nvPr/>
          </p:nvSpPr>
          <p:spPr>
            <a:xfrm>
              <a:off x="5643149" y="3803450"/>
              <a:ext cx="3348990" cy="2581910"/>
            </a:xfrm>
            <a:custGeom>
              <a:avLst/>
              <a:gdLst/>
              <a:ahLst/>
              <a:cxnLst/>
              <a:rect l="l" t="t" r="r" b="b"/>
              <a:pathLst>
                <a:path w="3348990" h="2581910">
                  <a:moveTo>
                    <a:pt x="2920946" y="2581592"/>
                  </a:moveTo>
                  <a:lnTo>
                    <a:pt x="575553" y="2581592"/>
                  </a:lnTo>
                  <a:lnTo>
                    <a:pt x="528972" y="2579083"/>
                  </a:lnTo>
                  <a:lnTo>
                    <a:pt x="483844" y="2571731"/>
                  </a:lnTo>
                  <a:lnTo>
                    <a:pt x="440429" y="2559797"/>
                  </a:lnTo>
                  <a:lnTo>
                    <a:pt x="398989" y="2543542"/>
                  </a:lnTo>
                  <a:lnTo>
                    <a:pt x="359784" y="2523225"/>
                  </a:lnTo>
                  <a:lnTo>
                    <a:pt x="323076" y="2499108"/>
                  </a:lnTo>
                  <a:lnTo>
                    <a:pt x="289124" y="2471452"/>
                  </a:lnTo>
                  <a:lnTo>
                    <a:pt x="258189" y="2440518"/>
                  </a:lnTo>
                  <a:lnTo>
                    <a:pt x="230533" y="2406566"/>
                  </a:lnTo>
                  <a:lnTo>
                    <a:pt x="206417" y="2369857"/>
                  </a:lnTo>
                  <a:lnTo>
                    <a:pt x="186100" y="2330652"/>
                  </a:lnTo>
                  <a:lnTo>
                    <a:pt x="169844" y="2289212"/>
                  </a:lnTo>
                  <a:lnTo>
                    <a:pt x="157910" y="2245798"/>
                  </a:lnTo>
                  <a:lnTo>
                    <a:pt x="150559" y="2200669"/>
                  </a:lnTo>
                  <a:lnTo>
                    <a:pt x="148050" y="2154088"/>
                  </a:lnTo>
                  <a:lnTo>
                    <a:pt x="148050" y="1085329"/>
                  </a:lnTo>
                  <a:lnTo>
                    <a:pt x="0" y="0"/>
                  </a:lnTo>
                  <a:lnTo>
                    <a:pt x="148050" y="444073"/>
                  </a:lnTo>
                  <a:lnTo>
                    <a:pt x="3348450" y="444073"/>
                  </a:lnTo>
                  <a:lnTo>
                    <a:pt x="3348450" y="2154088"/>
                  </a:lnTo>
                  <a:lnTo>
                    <a:pt x="3345941" y="2200669"/>
                  </a:lnTo>
                  <a:lnTo>
                    <a:pt x="3338590" y="2245798"/>
                  </a:lnTo>
                  <a:lnTo>
                    <a:pt x="3326656" y="2289212"/>
                  </a:lnTo>
                  <a:lnTo>
                    <a:pt x="3310400" y="2330652"/>
                  </a:lnTo>
                  <a:lnTo>
                    <a:pt x="3290083" y="2369857"/>
                  </a:lnTo>
                  <a:lnTo>
                    <a:pt x="3265967" y="2406566"/>
                  </a:lnTo>
                  <a:lnTo>
                    <a:pt x="3238311" y="2440518"/>
                  </a:lnTo>
                  <a:lnTo>
                    <a:pt x="3207376" y="2471452"/>
                  </a:lnTo>
                  <a:lnTo>
                    <a:pt x="3173424" y="2499108"/>
                  </a:lnTo>
                  <a:lnTo>
                    <a:pt x="3136715" y="2523225"/>
                  </a:lnTo>
                  <a:lnTo>
                    <a:pt x="3097511" y="2543542"/>
                  </a:lnTo>
                  <a:lnTo>
                    <a:pt x="3056070" y="2559797"/>
                  </a:lnTo>
                  <a:lnTo>
                    <a:pt x="3012656" y="2571731"/>
                  </a:lnTo>
                  <a:lnTo>
                    <a:pt x="2967527" y="2579083"/>
                  </a:lnTo>
                  <a:lnTo>
                    <a:pt x="2920946" y="2581592"/>
                  </a:lnTo>
                  <a:close/>
                </a:path>
                <a:path w="3348990" h="2581910">
                  <a:moveTo>
                    <a:pt x="3348450" y="444073"/>
                  </a:moveTo>
                  <a:lnTo>
                    <a:pt x="148050" y="444073"/>
                  </a:lnTo>
                  <a:lnTo>
                    <a:pt x="150559" y="397492"/>
                  </a:lnTo>
                  <a:lnTo>
                    <a:pt x="157910" y="352364"/>
                  </a:lnTo>
                  <a:lnTo>
                    <a:pt x="169844" y="308949"/>
                  </a:lnTo>
                  <a:lnTo>
                    <a:pt x="186100" y="267509"/>
                  </a:lnTo>
                  <a:lnTo>
                    <a:pt x="206417" y="228304"/>
                  </a:lnTo>
                  <a:lnTo>
                    <a:pt x="230533" y="191595"/>
                  </a:lnTo>
                  <a:lnTo>
                    <a:pt x="258189" y="157643"/>
                  </a:lnTo>
                  <a:lnTo>
                    <a:pt x="289124" y="126709"/>
                  </a:lnTo>
                  <a:lnTo>
                    <a:pt x="323076" y="99053"/>
                  </a:lnTo>
                  <a:lnTo>
                    <a:pt x="359784" y="74937"/>
                  </a:lnTo>
                  <a:lnTo>
                    <a:pt x="398989" y="54620"/>
                  </a:lnTo>
                  <a:lnTo>
                    <a:pt x="440429" y="38364"/>
                  </a:lnTo>
                  <a:lnTo>
                    <a:pt x="483844" y="26430"/>
                  </a:lnTo>
                  <a:lnTo>
                    <a:pt x="528972" y="19078"/>
                  </a:lnTo>
                  <a:lnTo>
                    <a:pt x="575553" y="16570"/>
                  </a:lnTo>
                  <a:lnTo>
                    <a:pt x="2920946" y="16570"/>
                  </a:lnTo>
                  <a:lnTo>
                    <a:pt x="2969184" y="19298"/>
                  </a:lnTo>
                  <a:lnTo>
                    <a:pt x="3016435" y="27369"/>
                  </a:lnTo>
                  <a:lnTo>
                    <a:pt x="3062280" y="40608"/>
                  </a:lnTo>
                  <a:lnTo>
                    <a:pt x="3106302" y="58842"/>
                  </a:lnTo>
                  <a:lnTo>
                    <a:pt x="3148080" y="81898"/>
                  </a:lnTo>
                  <a:lnTo>
                    <a:pt x="3187198" y="109603"/>
                  </a:lnTo>
                  <a:lnTo>
                    <a:pt x="3223237" y="141783"/>
                  </a:lnTo>
                  <a:lnTo>
                    <a:pt x="3255417" y="177821"/>
                  </a:lnTo>
                  <a:lnTo>
                    <a:pt x="3283121" y="216939"/>
                  </a:lnTo>
                  <a:lnTo>
                    <a:pt x="3306177" y="258718"/>
                  </a:lnTo>
                  <a:lnTo>
                    <a:pt x="3324412" y="302740"/>
                  </a:lnTo>
                  <a:lnTo>
                    <a:pt x="3337651" y="348585"/>
                  </a:lnTo>
                  <a:lnTo>
                    <a:pt x="3345721" y="395836"/>
                  </a:lnTo>
                  <a:lnTo>
                    <a:pt x="3348450" y="444073"/>
                  </a:lnTo>
                  <a:close/>
                </a:path>
              </a:pathLst>
            </a:custGeom>
            <a:solidFill>
              <a:srgbClr val="FAF9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43149" y="3803450"/>
              <a:ext cx="3348990" cy="2581910"/>
            </a:xfrm>
            <a:custGeom>
              <a:avLst/>
              <a:gdLst/>
              <a:ahLst/>
              <a:cxnLst/>
              <a:rect l="l" t="t" r="r" b="b"/>
              <a:pathLst>
                <a:path w="3348990" h="2581910">
                  <a:moveTo>
                    <a:pt x="148050" y="444073"/>
                  </a:moveTo>
                  <a:lnTo>
                    <a:pt x="150559" y="397492"/>
                  </a:lnTo>
                  <a:lnTo>
                    <a:pt x="157910" y="352364"/>
                  </a:lnTo>
                  <a:lnTo>
                    <a:pt x="169844" y="308949"/>
                  </a:lnTo>
                  <a:lnTo>
                    <a:pt x="186100" y="267509"/>
                  </a:lnTo>
                  <a:lnTo>
                    <a:pt x="206417" y="228304"/>
                  </a:lnTo>
                  <a:lnTo>
                    <a:pt x="230533" y="191595"/>
                  </a:lnTo>
                  <a:lnTo>
                    <a:pt x="258189" y="157643"/>
                  </a:lnTo>
                  <a:lnTo>
                    <a:pt x="289124" y="126709"/>
                  </a:lnTo>
                  <a:lnTo>
                    <a:pt x="323076" y="99053"/>
                  </a:lnTo>
                  <a:lnTo>
                    <a:pt x="359784" y="74937"/>
                  </a:lnTo>
                  <a:lnTo>
                    <a:pt x="398989" y="54620"/>
                  </a:lnTo>
                  <a:lnTo>
                    <a:pt x="440429" y="38364"/>
                  </a:lnTo>
                  <a:lnTo>
                    <a:pt x="483844" y="26430"/>
                  </a:lnTo>
                  <a:lnTo>
                    <a:pt x="528972" y="19078"/>
                  </a:lnTo>
                  <a:lnTo>
                    <a:pt x="575553" y="16570"/>
                  </a:lnTo>
                  <a:lnTo>
                    <a:pt x="681450" y="16570"/>
                  </a:lnTo>
                  <a:lnTo>
                    <a:pt x="1481550" y="16570"/>
                  </a:lnTo>
                  <a:lnTo>
                    <a:pt x="2920946" y="16570"/>
                  </a:lnTo>
                  <a:lnTo>
                    <a:pt x="2969184" y="19298"/>
                  </a:lnTo>
                  <a:lnTo>
                    <a:pt x="3016435" y="27369"/>
                  </a:lnTo>
                  <a:lnTo>
                    <a:pt x="3062280" y="40608"/>
                  </a:lnTo>
                  <a:lnTo>
                    <a:pt x="3106302" y="58842"/>
                  </a:lnTo>
                  <a:lnTo>
                    <a:pt x="3148080" y="81898"/>
                  </a:lnTo>
                  <a:lnTo>
                    <a:pt x="3187198" y="109603"/>
                  </a:lnTo>
                  <a:lnTo>
                    <a:pt x="3223237" y="141783"/>
                  </a:lnTo>
                  <a:lnTo>
                    <a:pt x="3255417" y="177821"/>
                  </a:lnTo>
                  <a:lnTo>
                    <a:pt x="3283121" y="216939"/>
                  </a:lnTo>
                  <a:lnTo>
                    <a:pt x="3306177" y="258718"/>
                  </a:lnTo>
                  <a:lnTo>
                    <a:pt x="3324412" y="302740"/>
                  </a:lnTo>
                  <a:lnTo>
                    <a:pt x="3337651" y="348585"/>
                  </a:lnTo>
                  <a:lnTo>
                    <a:pt x="3345721" y="395836"/>
                  </a:lnTo>
                  <a:lnTo>
                    <a:pt x="3348450" y="444073"/>
                  </a:lnTo>
                  <a:lnTo>
                    <a:pt x="3348450" y="1085329"/>
                  </a:lnTo>
                  <a:lnTo>
                    <a:pt x="3348450" y="2154088"/>
                  </a:lnTo>
                  <a:lnTo>
                    <a:pt x="3345941" y="2200669"/>
                  </a:lnTo>
                  <a:lnTo>
                    <a:pt x="3338590" y="2245798"/>
                  </a:lnTo>
                  <a:lnTo>
                    <a:pt x="3326656" y="2289212"/>
                  </a:lnTo>
                  <a:lnTo>
                    <a:pt x="3310400" y="2330652"/>
                  </a:lnTo>
                  <a:lnTo>
                    <a:pt x="3290083" y="2369857"/>
                  </a:lnTo>
                  <a:lnTo>
                    <a:pt x="3265967" y="2406566"/>
                  </a:lnTo>
                  <a:lnTo>
                    <a:pt x="3238311" y="2440518"/>
                  </a:lnTo>
                  <a:lnTo>
                    <a:pt x="3207376" y="2471452"/>
                  </a:lnTo>
                  <a:lnTo>
                    <a:pt x="3173424" y="2499108"/>
                  </a:lnTo>
                  <a:lnTo>
                    <a:pt x="3136715" y="2523225"/>
                  </a:lnTo>
                  <a:lnTo>
                    <a:pt x="3097511" y="2543542"/>
                  </a:lnTo>
                  <a:lnTo>
                    <a:pt x="3056070" y="2559797"/>
                  </a:lnTo>
                  <a:lnTo>
                    <a:pt x="3012656" y="2571731"/>
                  </a:lnTo>
                  <a:lnTo>
                    <a:pt x="2967527" y="2579083"/>
                  </a:lnTo>
                  <a:lnTo>
                    <a:pt x="2920946" y="2581592"/>
                  </a:lnTo>
                  <a:lnTo>
                    <a:pt x="1481550" y="2581592"/>
                  </a:lnTo>
                  <a:lnTo>
                    <a:pt x="681450" y="2581592"/>
                  </a:lnTo>
                  <a:lnTo>
                    <a:pt x="575553" y="2581592"/>
                  </a:lnTo>
                  <a:lnTo>
                    <a:pt x="528972" y="2579083"/>
                  </a:lnTo>
                  <a:lnTo>
                    <a:pt x="483844" y="2571731"/>
                  </a:lnTo>
                  <a:lnTo>
                    <a:pt x="440429" y="2559797"/>
                  </a:lnTo>
                  <a:lnTo>
                    <a:pt x="398989" y="2543542"/>
                  </a:lnTo>
                  <a:lnTo>
                    <a:pt x="359784" y="2523225"/>
                  </a:lnTo>
                  <a:lnTo>
                    <a:pt x="323076" y="2499108"/>
                  </a:lnTo>
                  <a:lnTo>
                    <a:pt x="289124" y="2471452"/>
                  </a:lnTo>
                  <a:lnTo>
                    <a:pt x="258189" y="2440518"/>
                  </a:lnTo>
                  <a:lnTo>
                    <a:pt x="230533" y="2406566"/>
                  </a:lnTo>
                  <a:lnTo>
                    <a:pt x="206417" y="2369857"/>
                  </a:lnTo>
                  <a:lnTo>
                    <a:pt x="186100" y="2330652"/>
                  </a:lnTo>
                  <a:lnTo>
                    <a:pt x="169844" y="2289212"/>
                  </a:lnTo>
                  <a:lnTo>
                    <a:pt x="157910" y="2245798"/>
                  </a:lnTo>
                  <a:lnTo>
                    <a:pt x="150559" y="2200669"/>
                  </a:lnTo>
                  <a:lnTo>
                    <a:pt x="148050" y="2154088"/>
                  </a:lnTo>
                  <a:lnTo>
                    <a:pt x="148050" y="1085329"/>
                  </a:lnTo>
                  <a:lnTo>
                    <a:pt x="0" y="0"/>
                  </a:lnTo>
                  <a:lnTo>
                    <a:pt x="148050" y="44407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13436" y="3962504"/>
            <a:ext cx="274066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5745" algn="just"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visibility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optional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present,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either </a:t>
            </a:r>
            <a:r>
              <a:rPr sz="1600" b="1" spc="-10" dirty="0">
                <a:latin typeface="Calibri"/>
                <a:cs typeface="Calibri"/>
              </a:rPr>
              <a:t>private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public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12700">
              <a:spcBef>
                <a:spcPts val="192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default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visibility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  <a:p>
            <a:pPr marL="12700"/>
            <a:r>
              <a:rPr sz="1600" b="1" spc="-10" dirty="0">
                <a:latin typeface="Calibri"/>
                <a:cs typeface="Calibri"/>
              </a:rPr>
              <a:t>private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spcBef>
                <a:spcPts val="1920"/>
              </a:spcBef>
            </a:pPr>
            <a:r>
              <a:rPr sz="1600" dirty="0">
                <a:latin typeface="Calibri"/>
                <a:cs typeface="Calibri"/>
              </a:rPr>
              <a:t>Visibility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whether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are </a:t>
            </a:r>
            <a:r>
              <a:rPr sz="1600" b="1" dirty="0">
                <a:latin typeface="Calibri"/>
                <a:cs typeface="Calibri"/>
              </a:rPr>
              <a:t>derived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privately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publicly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1797" y="23093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spc="-200" dirty="0"/>
              <a:t> </a:t>
            </a:r>
            <a:r>
              <a:rPr dirty="0"/>
              <a:t>Derived</a:t>
            </a:r>
            <a:r>
              <a:rPr spc="-195" dirty="0"/>
              <a:t> </a:t>
            </a:r>
            <a:r>
              <a:rPr spc="-10" dirty="0"/>
              <a:t>Classes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598" y="1039301"/>
            <a:ext cx="4952999" cy="52428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DF91-0183-CECA-884A-E0A7747D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Visibility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C6B0-C59B-E153-752C-1E74E0BB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293"/>
            <a:ext cx="10515600" cy="470967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/>
              <a:t>Private Inheritance</a:t>
            </a:r>
          </a:p>
          <a:p>
            <a:pPr lvl="1" algn="just"/>
            <a:r>
              <a:rPr lang="en-IN" dirty="0"/>
              <a:t>Public members of the base class become private members in the derived class.</a:t>
            </a:r>
          </a:p>
          <a:p>
            <a:pPr lvl="1" algn="just"/>
            <a:r>
              <a:rPr lang="en-IN" dirty="0"/>
              <a:t>Therefore, only member functions of the derived class can access them.</a:t>
            </a:r>
          </a:p>
          <a:p>
            <a:pPr lvl="1" algn="just"/>
            <a:r>
              <a:rPr lang="en-IN" dirty="0"/>
              <a:t>Objects of the derived class cannot access base class members directly using the dot (.) operator.</a:t>
            </a:r>
          </a:p>
          <a:p>
            <a:pPr lvl="1" algn="just"/>
            <a:r>
              <a:rPr lang="en-IN" dirty="0"/>
              <a:t>Private inheritance hides the base class interface from outside code </a:t>
            </a:r>
            <a:r>
              <a:rPr lang="en-IN" dirty="0">
                <a:sym typeface="Wingdings" pitchFamily="2" charset="2"/>
              </a:rPr>
              <a:t></a:t>
            </a:r>
            <a:r>
              <a:rPr lang="en-IN" dirty="0"/>
              <a:t> the base class’s public members are no longer accessible through derived objects.</a:t>
            </a:r>
          </a:p>
          <a:p>
            <a:pPr algn="just"/>
            <a:r>
              <a:rPr lang="en-IN" dirty="0"/>
              <a:t>Public Inheritance</a:t>
            </a:r>
          </a:p>
          <a:p>
            <a:pPr lvl="1" algn="just"/>
            <a:r>
              <a:rPr lang="en-IN" dirty="0"/>
              <a:t>Public members of the base class remain public in the derived class.</a:t>
            </a:r>
          </a:p>
          <a:p>
            <a:pPr lvl="1" algn="just"/>
            <a:r>
              <a:rPr lang="en-IN" dirty="0"/>
              <a:t>They are accessible through derived class objects.</a:t>
            </a:r>
          </a:p>
          <a:p>
            <a:pPr lvl="1" algn="just"/>
            <a:r>
              <a:rPr lang="en-IN" dirty="0"/>
              <a:t>Private members of the base class are not inherited and cannot be accessed directly by the derived class.</a:t>
            </a:r>
          </a:p>
          <a:p>
            <a:r>
              <a:rPr lang="en-IN" dirty="0"/>
              <a:t>In both private and public inheritance, private members of the base class are not inherited and cannot be accessed directly by the derived class.</a:t>
            </a:r>
          </a:p>
        </p:txBody>
      </p:sp>
    </p:spTree>
    <p:extLst>
      <p:ext uri="{BB962C8B-B14F-4D97-AF65-F5344CB8AC3E}">
        <p14:creationId xmlns:p14="http://schemas.microsoft.com/office/powerpoint/2010/main" val="2317440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62752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Making</a:t>
            </a:r>
            <a:r>
              <a:rPr spc="-135" dirty="0"/>
              <a:t> </a:t>
            </a:r>
            <a:r>
              <a:rPr spc="-10" dirty="0"/>
              <a:t>Private</a:t>
            </a:r>
            <a:r>
              <a:rPr spc="-135" dirty="0"/>
              <a:t> </a:t>
            </a:r>
            <a:r>
              <a:rPr dirty="0"/>
              <a:t>Member</a:t>
            </a:r>
            <a:r>
              <a:rPr spc="-135" dirty="0"/>
              <a:t> </a:t>
            </a:r>
            <a:r>
              <a:rPr spc="-10" dirty="0"/>
              <a:t>Inheritable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9907" y="1590040"/>
            <a:ext cx="8592185" cy="4597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50000"/>
              </a:lnSpc>
              <a:spcBef>
                <a:spcPts val="100"/>
              </a:spcBef>
              <a:buClr>
                <a:srgbClr val="000000"/>
              </a:buClr>
              <a:buSzPct val="94642"/>
              <a:buFont typeface="Arial" panose="020B0604020202020204" pitchFamily="34" charset="0"/>
              <a:buChar char="•"/>
              <a:tabLst>
                <a:tab pos="513715" algn="l"/>
              </a:tabLst>
            </a:pPr>
            <a:r>
              <a:rPr sz="2000" dirty="0"/>
              <a:t>Private member</a:t>
            </a:r>
            <a:r>
              <a:rPr lang="en-US" sz="2000" dirty="0"/>
              <a:t> </a:t>
            </a:r>
            <a:r>
              <a:rPr sz="2000" dirty="0"/>
              <a:t>of a base class cannot be accessible in derived class directly.</a:t>
            </a:r>
          </a:p>
          <a:p>
            <a:pPr marL="365125" marR="6985" indent="-3429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13715" algn="l"/>
              </a:tabLst>
            </a:pPr>
            <a:r>
              <a:rPr sz="2000" dirty="0"/>
              <a:t>By modifying the visibility limit of the private member to public would make it accessible to all the other functions of the program, thus  taking  away  the advantage of data hiding.</a:t>
            </a:r>
            <a:endParaRPr lang="en-US" sz="2000" dirty="0"/>
          </a:p>
          <a:p>
            <a:pPr marL="354966" marR="19050" indent="-342900" algn="just">
              <a:lnSpc>
                <a:spcPct val="150000"/>
              </a:lnSpc>
              <a:spcBef>
                <a:spcPts val="100"/>
              </a:spcBef>
              <a:buSzPct val="94642"/>
              <a:buFont typeface="Arial" panose="020B0604020202020204" pitchFamily="34" charset="0"/>
              <a:buChar char="•"/>
              <a:tabLst>
                <a:tab pos="503555" algn="l"/>
              </a:tabLst>
            </a:pPr>
            <a:r>
              <a:rPr lang="en-IN" sz="2000" dirty="0"/>
              <a:t>C++ provides a third visibility modifier, protected, which is accessible by the member functions within its class and any class immediately derived from it.</a:t>
            </a:r>
          </a:p>
          <a:p>
            <a:pPr marL="354966" marR="5080" indent="-3429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03555" algn="l"/>
              </a:tabLst>
            </a:pPr>
            <a:r>
              <a:rPr lang="en-IN" sz="2000" dirty="0"/>
              <a:t>It can not be accessed by the functions outside these two classes.</a:t>
            </a:r>
          </a:p>
          <a:p>
            <a:pPr marL="365125" marR="6985" indent="-342900" algn="just">
              <a:lnSpc>
                <a:spcPct val="150000"/>
              </a:lnSpc>
              <a:buSzPct val="94642"/>
              <a:buFont typeface="Arial" panose="020B0604020202020204" pitchFamily="34" charset="0"/>
              <a:buChar char="•"/>
              <a:tabLst>
                <a:tab pos="513715" algn="l"/>
              </a:tabLst>
            </a:pP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548" y="13004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Inheritance</a:t>
            </a:r>
            <a:r>
              <a:rPr spc="-145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10" dirty="0"/>
              <a:t>Accessibility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617" y="4360778"/>
            <a:ext cx="9975273" cy="24972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7548" y="990601"/>
            <a:ext cx="8856863" cy="33701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F9CE5E-ED6F-DF2D-D54A-BDE3FFCB8993}"/>
              </a:ext>
            </a:extLst>
          </p:cNvPr>
          <p:cNvSpPr txBox="1"/>
          <p:nvPr/>
        </p:nvSpPr>
        <p:spPr>
          <a:xfrm>
            <a:off x="6773333" y="5485211"/>
            <a:ext cx="1907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via public/protected functions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739130-A5B8-E04C-99E6-B356C99A7CEF}"/>
              </a:ext>
            </a:extLst>
          </p:cNvPr>
          <p:cNvCxnSpPr/>
          <p:nvPr/>
        </p:nvCxnSpPr>
        <p:spPr>
          <a:xfrm flipH="1">
            <a:off x="6502400" y="5960533"/>
            <a:ext cx="282223" cy="180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6C489B1-9791-0829-A0EF-FC51D2133290}"/>
              </a:ext>
            </a:extLst>
          </p:cNvPr>
          <p:cNvSpPr txBox="1"/>
          <p:nvPr/>
        </p:nvSpPr>
        <p:spPr>
          <a:xfrm>
            <a:off x="9965803" y="819979"/>
            <a:ext cx="163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8a.cpp and 8b.cpp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9830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Making</a:t>
            </a:r>
            <a:r>
              <a:rPr spc="-135" dirty="0"/>
              <a:t> </a:t>
            </a:r>
            <a:r>
              <a:rPr spc="-10" dirty="0"/>
              <a:t>Private</a:t>
            </a:r>
            <a:r>
              <a:rPr spc="-135" dirty="0"/>
              <a:t> </a:t>
            </a:r>
            <a:r>
              <a:rPr dirty="0"/>
              <a:t>Member</a:t>
            </a:r>
            <a:r>
              <a:rPr spc="-135" dirty="0"/>
              <a:t> </a:t>
            </a:r>
            <a:r>
              <a:rPr spc="-10" dirty="0"/>
              <a:t>Inheritable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4227" y="1199897"/>
            <a:ext cx="373189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protected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public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may </a:t>
            </a:r>
            <a:r>
              <a:rPr sz="2800" dirty="0">
                <a:latin typeface="Calibri"/>
                <a:cs typeface="Calibri"/>
              </a:rPr>
              <a:t>appear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3161" y="920753"/>
            <a:ext cx="8949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3555" indent="-490855">
              <a:spcBef>
                <a:spcPts val="100"/>
              </a:spcBef>
              <a:buSzPct val="94642"/>
              <a:buFont typeface="Lucida Sans Unicode"/>
              <a:buChar char="□"/>
              <a:tabLst>
                <a:tab pos="503555" algn="l"/>
                <a:tab pos="1382395" algn="l"/>
                <a:tab pos="3093720" algn="l"/>
                <a:tab pos="4631055" algn="l"/>
                <a:tab pos="5121910" algn="l"/>
                <a:tab pos="6946265" algn="l"/>
                <a:tab pos="790257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keywords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private,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650" spc="-580" dirty="0">
                <a:latin typeface="Lucida Sans Unicode"/>
                <a:cs typeface="Lucida Sans Unicode"/>
              </a:rPr>
              <a:t>□</a:t>
            </a:r>
            <a:r>
              <a:rPr sz="2650" dirty="0">
                <a:latin typeface="Lucida Sans Unicode"/>
                <a:cs typeface="Lucida Sans Unicode"/>
              </a:rPr>
              <a:t>	</a:t>
            </a:r>
            <a:r>
              <a:rPr sz="2800" spc="-10" dirty="0">
                <a:latin typeface="Calibri"/>
                <a:cs typeface="Calibri"/>
              </a:rPr>
              <a:t>However,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normal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0544" y="3310872"/>
            <a:ext cx="1927513" cy="22307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72960" y="1199896"/>
            <a:ext cx="3865879" cy="12386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practice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follows: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7451" y="2908906"/>
            <a:ext cx="4400549" cy="262184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025968" y="5495023"/>
            <a:ext cx="8482965" cy="1151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26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inherit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protected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mode </a:t>
            </a:r>
            <a:r>
              <a:rPr sz="2600" dirty="0">
                <a:latin typeface="Calibri"/>
                <a:cs typeface="Calibri"/>
              </a:rPr>
              <a:t>(known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protected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derivation)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1" y="324534"/>
            <a:ext cx="8984615" cy="6197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25" dirty="0"/>
              <a:t>Effect</a:t>
            </a:r>
            <a:r>
              <a:rPr sz="3900" spc="-120" dirty="0"/>
              <a:t> </a:t>
            </a:r>
            <a:r>
              <a:rPr sz="3900" dirty="0"/>
              <a:t>of</a:t>
            </a:r>
            <a:r>
              <a:rPr sz="3900" spc="-114" dirty="0"/>
              <a:t> </a:t>
            </a:r>
            <a:r>
              <a:rPr sz="3900" dirty="0"/>
              <a:t>inheritance</a:t>
            </a:r>
            <a:r>
              <a:rPr sz="3900" spc="-114" dirty="0"/>
              <a:t> </a:t>
            </a:r>
            <a:r>
              <a:rPr sz="3900" dirty="0"/>
              <a:t>on</a:t>
            </a:r>
            <a:r>
              <a:rPr sz="3900" spc="-120" dirty="0"/>
              <a:t> </a:t>
            </a:r>
            <a:r>
              <a:rPr sz="3900" dirty="0"/>
              <a:t>visibility</a:t>
            </a:r>
            <a:r>
              <a:rPr sz="3900" spc="-114" dirty="0"/>
              <a:t> </a:t>
            </a:r>
            <a:r>
              <a:rPr sz="3900" dirty="0"/>
              <a:t>of</a:t>
            </a:r>
            <a:r>
              <a:rPr sz="3900" spc="-114" dirty="0"/>
              <a:t> </a:t>
            </a:r>
            <a:r>
              <a:rPr sz="3900" spc="-10" dirty="0"/>
              <a:t>members</a:t>
            </a:r>
            <a:endParaRPr sz="3900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0992" y="1013914"/>
            <a:ext cx="8677007" cy="532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F5E44C-9F23-3520-D290-4753E0AA9273}"/>
              </a:ext>
            </a:extLst>
          </p:cNvPr>
          <p:cNvSpPr txBox="1"/>
          <p:nvPr/>
        </p:nvSpPr>
        <p:spPr>
          <a:xfrm>
            <a:off x="6468533" y="2675467"/>
            <a:ext cx="307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Derived : public Base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58C08-6A68-31F7-A563-5A399D4773F3}"/>
              </a:ext>
            </a:extLst>
          </p:cNvPr>
          <p:cNvSpPr txBox="1"/>
          <p:nvPr/>
        </p:nvSpPr>
        <p:spPr>
          <a:xfrm>
            <a:off x="7518400" y="6240282"/>
            <a:ext cx="2788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accessible in Derived with any visibility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49925B-8F19-D139-8AFF-AFF2BF886416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7078133" y="5362222"/>
            <a:ext cx="440267" cy="1201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DD1898B-ADD1-FD35-F974-4016FBE50FA9}"/>
              </a:ext>
            </a:extLst>
          </p:cNvPr>
          <p:cNvSpPr txBox="1"/>
          <p:nvPr/>
        </p:nvSpPr>
        <p:spPr>
          <a:xfrm>
            <a:off x="8556978" y="3133408"/>
            <a:ext cx="34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Derived : protected Base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CA7F1C-B3B2-BC92-03DE-0F36C2DB5F4D}"/>
              </a:ext>
            </a:extLst>
          </p:cNvPr>
          <p:cNvSpPr txBox="1"/>
          <p:nvPr/>
        </p:nvSpPr>
        <p:spPr>
          <a:xfrm>
            <a:off x="1270000" y="3133408"/>
            <a:ext cx="34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Derived : private Base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5C157B-4676-4159-D507-39690A174ED8}"/>
              </a:ext>
            </a:extLst>
          </p:cNvPr>
          <p:cNvSpPr txBox="1"/>
          <p:nvPr/>
        </p:nvSpPr>
        <p:spPr>
          <a:xfrm>
            <a:off x="10035251" y="981669"/>
            <a:ext cx="163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8c.cpp and 8d.cpp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0573" y="19862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Visibility</a:t>
            </a:r>
            <a:r>
              <a:rPr spc="-140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inherited</a:t>
            </a:r>
            <a:r>
              <a:rPr spc="-140" dirty="0"/>
              <a:t> </a:t>
            </a:r>
            <a:r>
              <a:rPr spc="-10" dirty="0"/>
              <a:t>members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6" y="990600"/>
            <a:ext cx="8675858" cy="31629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98596" y="4073660"/>
            <a:ext cx="856297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  <a:tabLst>
                <a:tab pos="5498465" algn="l"/>
                <a:tab pos="7630159" algn="l"/>
              </a:tabLst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Note:</a:t>
            </a:r>
            <a:r>
              <a:rPr sz="2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derived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class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doesn’t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inherit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access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private </a:t>
            </a:r>
            <a:r>
              <a:rPr sz="2800" dirty="0">
                <a:latin typeface="Cambria"/>
                <a:cs typeface="Cambria"/>
              </a:rPr>
              <a:t>data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members.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However,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it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does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inherit</a:t>
            </a:r>
            <a:r>
              <a:rPr sz="2800" spc="-4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full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parent </a:t>
            </a:r>
            <a:r>
              <a:rPr sz="2800" dirty="0">
                <a:latin typeface="Cambria"/>
                <a:cs typeface="Cambria"/>
              </a:rPr>
              <a:t>object,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which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contains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any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private</a:t>
            </a:r>
            <a:r>
              <a:rPr lang="en-US" sz="2800" spc="-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members</a:t>
            </a:r>
            <a:r>
              <a:rPr lang="en-US" sz="2800" spc="-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which </a:t>
            </a:r>
            <a:r>
              <a:rPr sz="2800" dirty="0">
                <a:latin typeface="Cambria"/>
                <a:cs typeface="Cambria"/>
              </a:rPr>
              <a:t>that</a:t>
            </a:r>
            <a:r>
              <a:rPr sz="2800" spc="-5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class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declares.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2F779-6413-59EC-4F9A-ED54C43BF195}"/>
              </a:ext>
            </a:extLst>
          </p:cNvPr>
          <p:cNvSpPr txBox="1"/>
          <p:nvPr/>
        </p:nvSpPr>
        <p:spPr>
          <a:xfrm>
            <a:off x="4213185" y="6169306"/>
            <a:ext cx="7697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 layout when Derived d statement is executed:</a:t>
            </a:r>
          </a:p>
          <a:p>
            <a:r>
              <a:rPr lang="en-US" dirty="0"/>
              <a:t>[ Base::secret | Base’s other data | </a:t>
            </a:r>
            <a:r>
              <a:rPr lang="en-US" dirty="0" err="1"/>
              <a:t>Derived’s</a:t>
            </a:r>
            <a:r>
              <a:rPr lang="en-US" dirty="0"/>
              <a:t> own members 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4815C-7459-0078-53A0-9CDA10A892C6}"/>
              </a:ext>
            </a:extLst>
          </p:cNvPr>
          <p:cNvSpPr txBox="1"/>
          <p:nvPr/>
        </p:nvSpPr>
        <p:spPr>
          <a:xfrm>
            <a:off x="10278319" y="483338"/>
            <a:ext cx="163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8c.cpp and 8d.cpp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6194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Access</a:t>
            </a:r>
            <a:r>
              <a:rPr spc="-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Control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Data</a:t>
            </a:r>
            <a:r>
              <a:rPr spc="-9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Members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16100" y="1125002"/>
            <a:ext cx="8559800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560">
              <a:lnSpc>
                <a:spcPct val="150000"/>
              </a:lnSpc>
              <a:spcBef>
                <a:spcPts val="100"/>
              </a:spcBef>
              <a:tabLst>
                <a:tab pos="1677670" algn="l"/>
                <a:tab pos="2526030" algn="l"/>
                <a:tab pos="3279140" algn="l"/>
                <a:tab pos="4224020" algn="l"/>
                <a:tab pos="5398135" algn="l"/>
                <a:tab pos="5948680" algn="l"/>
                <a:tab pos="6681470" algn="l"/>
                <a:tab pos="7959090" algn="l"/>
              </a:tabLst>
            </a:pPr>
            <a:r>
              <a:rPr sz="2800" b="1" spc="-10" dirty="0">
                <a:latin typeface="Calibri"/>
                <a:cs typeface="Calibri"/>
              </a:rPr>
              <a:t>Functions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that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5" dirty="0">
                <a:latin typeface="Calibri"/>
                <a:cs typeface="Calibri"/>
              </a:rPr>
              <a:t>can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have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access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5" dirty="0">
                <a:latin typeface="Calibri"/>
                <a:cs typeface="Calibri"/>
              </a:rPr>
              <a:t>to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5" dirty="0">
                <a:latin typeface="Calibri"/>
                <a:cs typeface="Calibri"/>
              </a:rPr>
              <a:t>the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private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5" dirty="0">
                <a:latin typeface="Calibri"/>
                <a:cs typeface="Calibri"/>
              </a:rPr>
              <a:t>and </a:t>
            </a:r>
            <a:r>
              <a:rPr sz="2800" b="1" spc="-10" dirty="0">
                <a:latin typeface="Calibri"/>
                <a:cs typeface="Calibri"/>
              </a:rPr>
              <a:t>protected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members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class:</a:t>
            </a:r>
            <a:endParaRPr sz="2800" dirty="0">
              <a:latin typeface="Calibri"/>
              <a:cs typeface="Calibri"/>
            </a:endParaRPr>
          </a:p>
          <a:p>
            <a:pPr marL="926465" indent="-490855">
              <a:spcBef>
                <a:spcPts val="1680"/>
              </a:spcBef>
              <a:buSzPct val="94642"/>
              <a:buFont typeface="Lucida Sans Unicode"/>
              <a:buChar char="□"/>
              <a:tabLst>
                <a:tab pos="9264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friend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class.</a:t>
            </a:r>
            <a:endParaRPr sz="2800" dirty="0">
              <a:latin typeface="Calibri"/>
              <a:cs typeface="Calibri"/>
            </a:endParaRPr>
          </a:p>
          <a:p>
            <a:pPr marL="927100" marR="5080" indent="-491490">
              <a:lnSpc>
                <a:spcPct val="150000"/>
              </a:lnSpc>
              <a:buSzPct val="94642"/>
              <a:buFont typeface="Lucida Sans Unicode"/>
              <a:buChar char="□"/>
              <a:tabLst>
                <a:tab pos="9271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friend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class.</a:t>
            </a:r>
            <a:endParaRPr sz="2800" dirty="0">
              <a:latin typeface="Calibri"/>
              <a:cs typeface="Calibri"/>
            </a:endParaRPr>
          </a:p>
          <a:p>
            <a:pPr marL="926465" indent="-490855">
              <a:spcBef>
                <a:spcPts val="1680"/>
              </a:spcBef>
              <a:buSzPct val="94642"/>
              <a:buFont typeface="Lucida Sans Unicode"/>
              <a:buChar char="□"/>
              <a:tabLst>
                <a:tab pos="9264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66340D-F69C-0E6B-BCD1-C5B4F5A8A3B3}"/>
              </a:ext>
            </a:extLst>
          </p:cNvPr>
          <p:cNvSpPr txBox="1"/>
          <p:nvPr/>
        </p:nvSpPr>
        <p:spPr>
          <a:xfrm>
            <a:off x="8356921" y="5961746"/>
            <a:ext cx="2777924" cy="37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8e.cpp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F296-5C40-77D7-5F1C-13022D1B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function that is a friend of the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3C455-16F4-2BDC-8FE6-61D1E5FD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If a function is declared as friend inside a class, it can access private and protected members directly, even though it’s not a member of that class.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B164D-2D51-AE5C-066C-E70E69865CA6}"/>
              </a:ext>
            </a:extLst>
          </p:cNvPr>
          <p:cNvSpPr txBox="1"/>
          <p:nvPr/>
        </p:nvSpPr>
        <p:spPr>
          <a:xfrm>
            <a:off x="1180618" y="3217762"/>
            <a:ext cx="81370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X {</a:t>
            </a:r>
          </a:p>
          <a:p>
            <a:r>
              <a:rPr lang="en-US" dirty="0"/>
              <a:t>private:</a:t>
            </a:r>
          </a:p>
          <a:p>
            <a:r>
              <a:rPr lang="en-US" dirty="0"/>
              <a:t>    int secret = 42;</a:t>
            </a:r>
          </a:p>
          <a:p>
            <a:r>
              <a:rPr lang="en-US" dirty="0"/>
              <a:t>    friend void show(X obj);   // declare friend function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void show(X obj) {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obj.secret</a:t>
            </a:r>
            <a:r>
              <a:rPr lang="en-US" dirty="0"/>
              <a:t>;   // can access private data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0274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4DB7-6A37-EDDA-5E0A-B0FE9D1C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member function of a class that is a friend of another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25A01-1B4F-BC60-F326-0CFBA9A3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 whole class can also be made a friend of another class.</a:t>
            </a:r>
          </a:p>
          <a:p>
            <a:pPr algn="just"/>
            <a:r>
              <a:rPr lang="en-IN" dirty="0"/>
              <a:t>Then, all member functions of that friend class can access the private/protected data of the other class.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7F62E-5EB2-02A7-A1FF-0B43AA73D8FB}"/>
              </a:ext>
            </a:extLst>
          </p:cNvPr>
          <p:cNvSpPr txBox="1"/>
          <p:nvPr/>
        </p:nvSpPr>
        <p:spPr>
          <a:xfrm>
            <a:off x="1157468" y="3275635"/>
            <a:ext cx="75466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X {</a:t>
            </a:r>
          </a:p>
          <a:p>
            <a:r>
              <a:rPr lang="en-US" dirty="0"/>
              <a:t>private:</a:t>
            </a:r>
          </a:p>
          <a:p>
            <a:r>
              <a:rPr lang="en-US" dirty="0"/>
              <a:t>    int data = 10;</a:t>
            </a:r>
          </a:p>
          <a:p>
            <a:r>
              <a:rPr lang="en-US" dirty="0"/>
              <a:t>    friend class Y;   // make class Y a friend of X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class Y 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    void display(X obj)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obj.data</a:t>
            </a:r>
            <a:r>
              <a:rPr lang="en-US" dirty="0"/>
              <a:t>;   // allowed, because Y is friend of X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83850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85EE-A217-B0F0-C7EE-ECCA8983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23" y="161552"/>
            <a:ext cx="10515600" cy="1325563"/>
          </a:xfrm>
        </p:spPr>
        <p:txBody>
          <a:bodyPr/>
          <a:lstStyle/>
          <a:p>
            <a:r>
              <a:rPr lang="en-IN" dirty="0"/>
              <a:t>A member function of a derived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44B4-255C-1BB3-3B57-7618153E4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111"/>
            <a:ext cx="10515600" cy="4764852"/>
          </a:xfrm>
        </p:spPr>
        <p:txBody>
          <a:bodyPr/>
          <a:lstStyle/>
          <a:p>
            <a:pPr algn="just"/>
            <a:r>
              <a:rPr lang="en-IN" dirty="0"/>
              <a:t>A derived class can access the protected members of its base class.</a:t>
            </a:r>
          </a:p>
          <a:p>
            <a:r>
              <a:rPr lang="en-IN" dirty="0"/>
              <a:t>But it cannot access private members directly.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0EF57-FF03-356C-2DDC-16E33B19CEEA}"/>
              </a:ext>
            </a:extLst>
          </p:cNvPr>
          <p:cNvSpPr txBox="1"/>
          <p:nvPr/>
        </p:nvSpPr>
        <p:spPr>
          <a:xfrm>
            <a:off x="1111170" y="2887682"/>
            <a:ext cx="73614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Base {</a:t>
            </a:r>
          </a:p>
          <a:p>
            <a:r>
              <a:rPr lang="en-US" dirty="0"/>
              <a:t>protected:</a:t>
            </a:r>
          </a:p>
          <a:p>
            <a:r>
              <a:rPr lang="en-US" dirty="0"/>
              <a:t>    int </a:t>
            </a:r>
            <a:r>
              <a:rPr lang="en-US" dirty="0" err="1"/>
              <a:t>prot</a:t>
            </a:r>
            <a:r>
              <a:rPr lang="en-US" dirty="0"/>
              <a:t> = 20;</a:t>
            </a:r>
          </a:p>
          <a:p>
            <a:r>
              <a:rPr lang="en-US" dirty="0"/>
              <a:t>private:</a:t>
            </a:r>
          </a:p>
          <a:p>
            <a:r>
              <a:rPr lang="en-US" dirty="0"/>
              <a:t>    int </a:t>
            </a:r>
            <a:r>
              <a:rPr lang="en-US" dirty="0" err="1"/>
              <a:t>priv</a:t>
            </a:r>
            <a:r>
              <a:rPr lang="en-US" dirty="0"/>
              <a:t> = 10;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class Derived : public Base 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    void show()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prot</a:t>
            </a:r>
            <a:r>
              <a:rPr lang="en-US" dirty="0"/>
              <a:t>;   // allowed</a:t>
            </a:r>
          </a:p>
          <a:p>
            <a:r>
              <a:rPr lang="en-US" dirty="0"/>
              <a:t>        //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priv</a:t>
            </a:r>
            <a:r>
              <a:rPr lang="en-US" dirty="0"/>
              <a:t>; // not allowed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74103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27765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Access</a:t>
            </a:r>
            <a:r>
              <a:rPr spc="-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Control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Data</a:t>
            </a:r>
            <a:r>
              <a:rPr spc="-9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Members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9871" y="1236104"/>
            <a:ext cx="8442035" cy="49992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39F5DF-4282-0358-DFE7-EDBB9419EA6D}"/>
              </a:ext>
            </a:extLst>
          </p:cNvPr>
          <p:cNvSpPr txBox="1"/>
          <p:nvPr/>
        </p:nvSpPr>
        <p:spPr>
          <a:xfrm>
            <a:off x="9042944" y="6133510"/>
            <a:ext cx="2777924" cy="37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8e.cpp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FF4D-3B2F-D6B2-25C1-2E687132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to Data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121CF-B256-81DB-8D4A-00B3420C0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In the image:</a:t>
            </a:r>
          </a:p>
          <a:p>
            <a:pPr lvl="1" algn="just"/>
            <a:r>
              <a:rPr lang="en-IN" dirty="0"/>
              <a:t>Class X has private data and protected data.</a:t>
            </a:r>
          </a:p>
          <a:p>
            <a:pPr lvl="1" algn="just"/>
            <a:r>
              <a:rPr lang="en-IN" dirty="0"/>
              <a:t>Friend function (function1) → can access both private and protected data directly.</a:t>
            </a:r>
          </a:p>
          <a:p>
            <a:pPr lvl="1" algn="just"/>
            <a:r>
              <a:rPr lang="en-IN" dirty="0"/>
              <a:t>Friend class Y → all its functions (fy1, fy2) can also access both.</a:t>
            </a:r>
          </a:p>
          <a:p>
            <a:pPr lvl="1" algn="just"/>
            <a:r>
              <a:rPr lang="en-IN" dirty="0"/>
              <a:t>Derived class Z → inherits from X → can access only protected members, not private ones.</a:t>
            </a:r>
          </a:p>
          <a:p>
            <a:pPr algn="just"/>
            <a:r>
              <a:rPr lang="en-IN" dirty="0"/>
              <a:t>So, the arrows show:</a:t>
            </a:r>
          </a:p>
          <a:p>
            <a:pPr lvl="1" algn="just"/>
            <a:r>
              <a:rPr lang="en-IN" dirty="0"/>
              <a:t>Solid lines = direct member access.</a:t>
            </a:r>
          </a:p>
          <a:p>
            <a:pPr lvl="1" algn="just"/>
            <a:r>
              <a:rPr lang="en-IN" dirty="0"/>
              <a:t>Dotted lines = friendship access.</a:t>
            </a:r>
          </a:p>
          <a:p>
            <a:pPr lvl="1" algn="just"/>
            <a:r>
              <a:rPr lang="en-IN" dirty="0"/>
              <a:t>Dashed lines = inheritance access.</a:t>
            </a:r>
          </a:p>
          <a:p>
            <a:pPr algn="just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1C7A3-85CE-1C66-6B8E-3F837A1A714A}"/>
              </a:ext>
            </a:extLst>
          </p:cNvPr>
          <p:cNvSpPr txBox="1"/>
          <p:nvPr/>
        </p:nvSpPr>
        <p:spPr>
          <a:xfrm>
            <a:off x="8958805" y="1320298"/>
            <a:ext cx="2777924" cy="37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8e.cpp</a:t>
            </a:r>
          </a:p>
        </p:txBody>
      </p:sp>
    </p:spTree>
    <p:extLst>
      <p:ext uri="{BB962C8B-B14F-4D97-AF65-F5344CB8AC3E}">
        <p14:creationId xmlns:p14="http://schemas.microsoft.com/office/powerpoint/2010/main" val="398441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50F5-794A-6FF2-FBAD-A140FFB4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DC5E-3573-23B0-169E-6817C7FD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to Data Members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AD82E-47C6-25D7-D904-D25D72B6D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722256"/>
              </p:ext>
            </p:extLst>
          </p:nvPr>
        </p:nvGraphicFramePr>
        <p:xfrm>
          <a:off x="838200" y="1489736"/>
          <a:ext cx="10515600" cy="219456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39807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26244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8319521"/>
                    </a:ext>
                  </a:extLst>
                </a:gridCol>
              </a:tblGrid>
              <a:tr h="225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Type of Function/Class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Access to Private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Access to Protected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31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Member of same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72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Friend function of the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4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Member of friend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08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Derived class member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23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Unrelated function/class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8989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6234B0-296E-714D-D968-FC09BED964E4}"/>
              </a:ext>
            </a:extLst>
          </p:cNvPr>
          <p:cNvSpPr txBox="1"/>
          <p:nvPr/>
        </p:nvSpPr>
        <p:spPr>
          <a:xfrm>
            <a:off x="9414076" y="5694744"/>
            <a:ext cx="2777924" cy="37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8e.cpp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5D6D2-F232-4B01-958E-235A78DC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572" y="4040070"/>
            <a:ext cx="6009110" cy="265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37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B99F-B8C2-7275-BE6D-F3EF8DB6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8244-E12E-4306-0024-091C960E3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In single inheritance, a class is allowed to inherit from only one class. i.e. one subclass is inherited by one base class only.</a:t>
            </a:r>
            <a:endParaRPr lang="en-US" dirty="0"/>
          </a:p>
        </p:txBody>
      </p:sp>
      <p:pic>
        <p:nvPicPr>
          <p:cNvPr id="8194" name="Picture 2" descr="Single inheritance in C++">
            <a:extLst>
              <a:ext uri="{FF2B5EF4-FFF2-40B4-BE49-F238E27FC236}">
                <a16:creationId xmlns:a16="http://schemas.microsoft.com/office/drawing/2014/main" id="{5AC2FF48-D202-A933-1E39-E9AF97744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631" y="3121940"/>
            <a:ext cx="35306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100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7547" y="955964"/>
            <a:ext cx="8797635" cy="5521034"/>
            <a:chOff x="193547" y="955964"/>
            <a:chExt cx="8797635" cy="552103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7" y="955964"/>
              <a:ext cx="2854452" cy="5409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8600" y="1013913"/>
              <a:ext cx="4952582" cy="546308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4000" y="14784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Single</a:t>
            </a:r>
            <a:r>
              <a:rPr spc="-165" dirty="0"/>
              <a:t> </a:t>
            </a:r>
            <a:r>
              <a:rPr lang="en-US" spc="-10" dirty="0"/>
              <a:t>I</a:t>
            </a:r>
            <a:r>
              <a:rPr spc="-10" dirty="0"/>
              <a:t>nheritance:</a:t>
            </a:r>
            <a:r>
              <a:rPr spc="-160" dirty="0"/>
              <a:t> </a:t>
            </a:r>
            <a:r>
              <a:rPr lang="en-US" spc="-160" dirty="0"/>
              <a:t>P</a:t>
            </a:r>
            <a:r>
              <a:rPr dirty="0"/>
              <a:t>ublic</a:t>
            </a:r>
            <a:r>
              <a:rPr spc="-160" dirty="0"/>
              <a:t> </a:t>
            </a:r>
            <a:r>
              <a:rPr spc="-10" dirty="0"/>
              <a:t>derivation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0225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Single</a:t>
            </a:r>
            <a:r>
              <a:rPr spc="-165" dirty="0"/>
              <a:t> </a:t>
            </a:r>
            <a:r>
              <a:rPr lang="en-US" spc="-10" dirty="0"/>
              <a:t>I</a:t>
            </a:r>
            <a:r>
              <a:rPr spc="-10" dirty="0"/>
              <a:t>nheritance:</a:t>
            </a:r>
            <a:r>
              <a:rPr spc="-160" dirty="0"/>
              <a:t> </a:t>
            </a:r>
            <a:r>
              <a:rPr lang="en-US" spc="-160" dirty="0"/>
              <a:t>P</a:t>
            </a:r>
            <a:r>
              <a:rPr dirty="0"/>
              <a:t>ublic</a:t>
            </a:r>
            <a:r>
              <a:rPr spc="-160" dirty="0"/>
              <a:t> </a:t>
            </a:r>
            <a:r>
              <a:rPr spc="-10" dirty="0"/>
              <a:t>derivation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6869" y="1013911"/>
            <a:ext cx="2712152" cy="42438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7269" y="1600201"/>
            <a:ext cx="1128713" cy="275701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0785" y="960341"/>
            <a:ext cx="8940286" cy="5495924"/>
            <a:chOff x="196785" y="960341"/>
            <a:chExt cx="8940286" cy="549592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785" y="1020840"/>
              <a:ext cx="3003614" cy="53793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0" y="960341"/>
              <a:ext cx="5327071" cy="54959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20785" y="11288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Single</a:t>
            </a:r>
            <a:r>
              <a:rPr spc="-190" dirty="0"/>
              <a:t> </a:t>
            </a:r>
            <a:r>
              <a:rPr lang="en-US" spc="-10" dirty="0"/>
              <a:t>I</a:t>
            </a:r>
            <a:r>
              <a:rPr spc="-10" dirty="0"/>
              <a:t>nheritance:</a:t>
            </a:r>
            <a:r>
              <a:rPr spc="-185" dirty="0"/>
              <a:t> </a:t>
            </a:r>
            <a:r>
              <a:rPr lang="en-US" spc="-10" dirty="0"/>
              <a:t>P</a:t>
            </a:r>
            <a:r>
              <a:rPr spc="-10" dirty="0"/>
              <a:t>rivate</a:t>
            </a:r>
            <a:r>
              <a:rPr spc="-185" dirty="0"/>
              <a:t> </a:t>
            </a:r>
            <a:r>
              <a:rPr spc="-10" dirty="0"/>
              <a:t>derivation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7739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Single</a:t>
            </a:r>
            <a:r>
              <a:rPr spc="-190" dirty="0"/>
              <a:t> </a:t>
            </a:r>
            <a:r>
              <a:rPr lang="en-US" spc="-10" dirty="0"/>
              <a:t>I</a:t>
            </a:r>
            <a:r>
              <a:rPr spc="-10" dirty="0"/>
              <a:t>nheritance:</a:t>
            </a:r>
            <a:r>
              <a:rPr spc="-185" dirty="0"/>
              <a:t> </a:t>
            </a:r>
            <a:r>
              <a:rPr lang="en-US" spc="-10" dirty="0"/>
              <a:t>P</a:t>
            </a:r>
            <a:r>
              <a:rPr spc="-10" dirty="0"/>
              <a:t>rivate</a:t>
            </a:r>
            <a:r>
              <a:rPr spc="-185" dirty="0"/>
              <a:t> </a:t>
            </a:r>
            <a:r>
              <a:rPr spc="-10" dirty="0"/>
              <a:t>derivation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6" y="1219201"/>
            <a:ext cx="3021800" cy="4190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1" y="2209801"/>
            <a:ext cx="3209731" cy="18430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5646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Question 1</a:t>
            </a:r>
            <a:r>
              <a:rPr spc="-195" dirty="0"/>
              <a:t> 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Single</a:t>
            </a:r>
            <a:r>
              <a:rPr spc="-19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9493" y="1017285"/>
            <a:ext cx="8684260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800" b="1" spc="29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28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Vegetable</a:t>
            </a:r>
            <a:r>
              <a:rPr sz="2800" b="1" spc="3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having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Color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getdata()</a:t>
            </a:r>
            <a:r>
              <a:rPr sz="2800" b="1" spc="5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color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putdata()</a:t>
            </a:r>
            <a:r>
              <a:rPr sz="2800" b="1" spc="58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print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color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output. </a:t>
            </a:r>
            <a:r>
              <a:rPr sz="2800" dirty="0">
                <a:latin typeface="Calibri"/>
                <a:cs typeface="Calibri"/>
              </a:rPr>
              <a:t>Vegetable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509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subclass</a:t>
            </a:r>
            <a:r>
              <a:rPr sz="2800" b="1" spc="4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named</a:t>
            </a:r>
            <a:r>
              <a:rPr sz="2800" b="1" spc="4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Tomato</a:t>
            </a:r>
            <a:r>
              <a:rPr sz="2800" b="1" spc="5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having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members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weight</a:t>
            </a:r>
            <a:r>
              <a:rPr sz="2800" b="1" spc="19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size</a:t>
            </a:r>
            <a:r>
              <a:rPr sz="2800" b="1" spc="19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function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gtdata()</a:t>
            </a:r>
            <a:r>
              <a:rPr sz="2800" b="1" spc="11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weight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ptdata()</a:t>
            </a:r>
            <a:r>
              <a:rPr sz="28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weight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C++ </a:t>
            </a:r>
            <a:r>
              <a:rPr sz="2800" dirty="0">
                <a:latin typeface="Calibri"/>
                <a:cs typeface="Calibri"/>
              </a:rPr>
              <a:t>Program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inherits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Vegetable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spc="-35" dirty="0">
                <a:latin typeface="Calibri"/>
                <a:cs typeface="Calibri"/>
              </a:rPr>
              <a:t>Tomato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756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7" y="1034695"/>
            <a:ext cx="8048125" cy="50613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Practical</a:t>
            </a:r>
            <a:r>
              <a:rPr spc="-195" dirty="0"/>
              <a:t> </a:t>
            </a:r>
            <a:r>
              <a:rPr dirty="0"/>
              <a:t>:Single</a:t>
            </a:r>
            <a:r>
              <a:rPr spc="-19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19250" y="864123"/>
            <a:ext cx="8953499" cy="5705474"/>
            <a:chOff x="76200" y="771525"/>
            <a:chExt cx="8953499" cy="570547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771525"/>
              <a:ext cx="8953499" cy="57054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7125" y="4699087"/>
              <a:ext cx="5696792" cy="1166812"/>
            </a:xfrm>
            <a:prstGeom prst="rect">
              <a:avLst/>
            </a:prstGeom>
          </p:spPr>
        </p:pic>
      </p:grpSp>
      <p:sp>
        <p:nvSpPr>
          <p:cNvPr id="11" name="object 2">
            <a:extLst>
              <a:ext uri="{FF2B5EF4-FFF2-40B4-BE49-F238E27FC236}">
                <a16:creationId xmlns:a16="http://schemas.microsoft.com/office/drawing/2014/main" id="{6C8D96D6-01D0-7980-3195-0547D3001DE4}"/>
              </a:ext>
            </a:extLst>
          </p:cNvPr>
          <p:cNvSpPr txBox="1">
            <a:spLocks/>
          </p:cNvSpPr>
          <p:nvPr/>
        </p:nvSpPr>
        <p:spPr>
          <a:xfrm>
            <a:off x="1512425" y="8159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2604" y="103759"/>
            <a:ext cx="511556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4285" algn="l"/>
              </a:tabLst>
            </a:pPr>
            <a:r>
              <a:rPr spc="-10" dirty="0"/>
              <a:t>Multilevel</a:t>
            </a:r>
            <a:r>
              <a:rPr lang="en-US" spc="-10" dirty="0"/>
              <a:t> I</a:t>
            </a:r>
            <a:r>
              <a:rPr spc="-10" dirty="0"/>
              <a:t>nheritance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198" y="1166220"/>
            <a:ext cx="3733798" cy="43201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57580" y="1138344"/>
            <a:ext cx="8081645" cy="5215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 marR="3824604" indent="-490220" algn="just">
              <a:spcBef>
                <a:spcPts val="100"/>
              </a:spcBef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6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600" b="1" spc="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base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50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50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derived</a:t>
            </a:r>
            <a:r>
              <a:rPr sz="2600" spc="53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70C0"/>
                </a:solidFill>
                <a:latin typeface="Calibri"/>
                <a:cs typeface="Calibri"/>
              </a:rPr>
              <a:t>class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turn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serves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base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derived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600" b="1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70C0"/>
                </a:solidFill>
                <a:latin typeface="Calibri"/>
                <a:cs typeface="Calibri"/>
              </a:rPr>
              <a:t>C.</a:t>
            </a:r>
            <a:endParaRPr sz="2600">
              <a:latin typeface="Calibri"/>
              <a:cs typeface="Calibri"/>
            </a:endParaRPr>
          </a:p>
          <a:p>
            <a:pPr marL="502284" marR="3823335" indent="-490220" algn="just"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21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21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B</a:t>
            </a:r>
            <a:r>
              <a:rPr sz="2600" spc="21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1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215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intermediate</a:t>
            </a:r>
            <a:r>
              <a:rPr sz="2600" b="1" spc="64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600" b="1" spc="235" dirty="0">
                <a:solidFill>
                  <a:srgbClr val="0070C0"/>
                </a:solidFill>
                <a:latin typeface="Calibri"/>
                <a:cs typeface="Calibri"/>
              </a:rPr>
              <a:t>   </a:t>
            </a:r>
            <a:r>
              <a:rPr sz="2600" b="1" spc="-10" dirty="0">
                <a:solidFill>
                  <a:srgbClr val="0070C0"/>
                </a:solidFill>
                <a:latin typeface="Calibri"/>
                <a:cs typeface="Calibri"/>
              </a:rPr>
              <a:t>class </a:t>
            </a:r>
            <a:r>
              <a:rPr sz="2600" dirty="0">
                <a:latin typeface="Calibri"/>
                <a:cs typeface="Calibri"/>
              </a:rPr>
              <a:t>since</a:t>
            </a:r>
            <a:r>
              <a:rPr sz="2600" spc="4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4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provides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link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3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inheritance</a:t>
            </a:r>
            <a:r>
              <a:rPr sz="2600" spc="3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37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C.</a:t>
            </a:r>
            <a:endParaRPr sz="2600">
              <a:latin typeface="Calibri"/>
              <a:cs typeface="Calibri"/>
            </a:endParaRPr>
          </a:p>
          <a:p>
            <a:pPr marL="502284" indent="-489584"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chain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ABC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  <a:p>
            <a:pPr marL="502284"/>
            <a:r>
              <a:rPr sz="2600" b="1" spc="-10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r>
              <a:rPr sz="2600" b="1" spc="-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70C0"/>
                </a:solidFill>
                <a:latin typeface="Calibri"/>
                <a:cs typeface="Calibri"/>
              </a:rPr>
              <a:t>path.</a:t>
            </a:r>
            <a:endParaRPr sz="2600">
              <a:latin typeface="Calibri"/>
              <a:cs typeface="Calibri"/>
            </a:endParaRPr>
          </a:p>
          <a:p>
            <a:pPr marL="45085">
              <a:spcBef>
                <a:spcPts val="305"/>
              </a:spcBef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extended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levels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839" y="61026"/>
            <a:ext cx="511556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4285" algn="l"/>
              </a:tabLst>
            </a:pPr>
            <a:r>
              <a:rPr spc="-10" dirty="0"/>
              <a:t>Multilevel</a:t>
            </a:r>
            <a:r>
              <a:rPr lang="en-US" spc="-10" dirty="0"/>
              <a:t> I</a:t>
            </a:r>
            <a:r>
              <a:rPr spc="-10" dirty="0"/>
              <a:t>nheritance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990600"/>
            <a:ext cx="4474323" cy="54583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9839" y="1020841"/>
            <a:ext cx="4322863" cy="48465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4730" y="103759"/>
            <a:ext cx="511556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4285" algn="l"/>
              </a:tabLst>
            </a:pPr>
            <a:r>
              <a:rPr spc="-10" dirty="0"/>
              <a:t>Multilevel</a:t>
            </a:r>
            <a:r>
              <a:rPr lang="en-US" spc="-10" dirty="0"/>
              <a:t> I</a:t>
            </a:r>
            <a:r>
              <a:rPr spc="-10" dirty="0"/>
              <a:t>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8776" y="799719"/>
            <a:ext cx="8409143" cy="5449985"/>
            <a:chOff x="225424" y="992126"/>
            <a:chExt cx="8409143" cy="54499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24" y="992126"/>
              <a:ext cx="7165975" cy="54499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8929" y="4539127"/>
              <a:ext cx="3195638" cy="1257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6066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Question 2</a:t>
            </a:r>
            <a:r>
              <a:rPr spc="-145" dirty="0"/>
              <a:t> </a:t>
            </a:r>
            <a:r>
              <a:rPr dirty="0"/>
              <a:t>:</a:t>
            </a:r>
            <a:r>
              <a:rPr spc="-140" dirty="0"/>
              <a:t> </a:t>
            </a:r>
            <a:r>
              <a:rPr spc="-10" dirty="0"/>
              <a:t>Multilevel</a:t>
            </a:r>
            <a:r>
              <a:rPr spc="-14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9494" y="1017284"/>
            <a:ext cx="8703945" cy="471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shape</a:t>
            </a:r>
            <a:r>
              <a:rPr sz="2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shape_name</a:t>
            </a:r>
            <a:r>
              <a:rPr sz="2800" b="1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get</a:t>
            </a:r>
            <a:r>
              <a:rPr sz="2800" b="1" spc="40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print</a:t>
            </a:r>
            <a:r>
              <a:rPr sz="2800" b="1" spc="4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shape_name.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Circle</a:t>
            </a:r>
            <a:r>
              <a:rPr sz="2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publicly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shape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having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members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radius</a:t>
            </a:r>
            <a:r>
              <a:rPr sz="2800" b="1" spc="204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circle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member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get</a:t>
            </a:r>
            <a:r>
              <a:rPr sz="2800" b="1" spc="3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print</a:t>
            </a:r>
            <a:r>
              <a:rPr sz="2800" b="1" spc="3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radius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circle.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Class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Area</a:t>
            </a:r>
            <a:r>
              <a:rPr sz="2800" b="1" spc="-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publicly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having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area_of_circle</a:t>
            </a:r>
            <a:r>
              <a:rPr sz="28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display </a:t>
            </a:r>
            <a:r>
              <a:rPr sz="2800" dirty="0">
                <a:latin typeface="Calibri"/>
                <a:cs typeface="Calibri"/>
              </a:rPr>
              <a:t>()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circle.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information.</a:t>
            </a:r>
            <a:endParaRPr sz="2800">
              <a:latin typeface="Calibri"/>
              <a:cs typeface="Calibri"/>
            </a:endParaRPr>
          </a:p>
          <a:p>
            <a:pPr marL="12700" algn="just">
              <a:spcBef>
                <a:spcPts val="3359"/>
              </a:spcBef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Multilevel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Inheritance.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5729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1402" y="1013913"/>
            <a:ext cx="7365487" cy="477728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3808" y="4986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57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79003" y="899678"/>
            <a:ext cx="9088996" cy="5563496"/>
            <a:chOff x="55003" y="899678"/>
            <a:chExt cx="9088996" cy="5563496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03" y="899678"/>
              <a:ext cx="6743699" cy="55634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914919"/>
              <a:ext cx="2500743" cy="26664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4750" y="4267200"/>
              <a:ext cx="5429249" cy="8381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6054" y="2667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19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06054" y="1068688"/>
            <a:ext cx="857186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3555" marR="5080" indent="-491490">
              <a:lnSpc>
                <a:spcPct val="150000"/>
              </a:lnSpc>
              <a:spcBef>
                <a:spcPts val="100"/>
              </a:spcBef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multiple</a:t>
            </a:r>
            <a:r>
              <a:rPr sz="2800" b="1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03555" marR="28575" indent="-491490">
              <a:lnSpc>
                <a:spcPct val="150000"/>
              </a:lnSpc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features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existing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starting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  <a:p>
            <a:pPr marL="503555" marR="26670" indent="-491490">
              <a:lnSpc>
                <a:spcPct val="150000"/>
              </a:lnSpc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child</a:t>
            </a:r>
            <a:r>
              <a:rPr sz="2800" b="1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inheriting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physical</a:t>
            </a:r>
            <a:r>
              <a:rPr sz="2800" b="1" spc="1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features</a:t>
            </a:r>
            <a:r>
              <a:rPr sz="2800" b="1" spc="2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</a:t>
            </a:r>
            <a:r>
              <a:rPr sz="2800" dirty="0">
                <a:latin typeface="Calibri"/>
                <a:cs typeface="Calibri"/>
              </a:rPr>
              <a:t>parent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intelligence</a:t>
            </a:r>
            <a:r>
              <a:rPr sz="2800" b="1" spc="-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another.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983" y="4964084"/>
            <a:ext cx="6637233" cy="13582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7546" y="964851"/>
            <a:ext cx="8883778" cy="5498323"/>
            <a:chOff x="193546" y="964851"/>
            <a:chExt cx="8883778" cy="549832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6" y="964851"/>
              <a:ext cx="3997453" cy="54983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969553"/>
              <a:ext cx="4505324" cy="5438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5472" y="5031785"/>
              <a:ext cx="1135506" cy="103118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4036" y="10509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195" dirty="0"/>
              <a:t> </a:t>
            </a:r>
            <a:r>
              <a:rPr spc="-10" dirty="0"/>
              <a:t>Inheritance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7753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Ambiguity</a:t>
            </a:r>
            <a:r>
              <a:rPr spc="-155" dirty="0"/>
              <a:t> </a:t>
            </a:r>
            <a:r>
              <a:rPr spc="-10" dirty="0"/>
              <a:t>Resolution</a:t>
            </a:r>
            <a:r>
              <a:rPr spc="-155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46416" y="777760"/>
            <a:ext cx="859790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715" marR="41275" indent="-501650" algn="just">
              <a:lnSpc>
                <a:spcPct val="150000"/>
              </a:lnSpc>
              <a:spcBef>
                <a:spcPts val="100"/>
              </a:spcBef>
              <a:buClr>
                <a:srgbClr val="000000"/>
              </a:buClr>
              <a:buSzPct val="94642"/>
              <a:buFont typeface="Arial Black"/>
              <a:buChar char="□"/>
              <a:tabLst>
                <a:tab pos="513715" algn="l"/>
              </a:tabLst>
            </a:pP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Ambiguity</a:t>
            </a:r>
            <a:r>
              <a:rPr sz="2800" b="1" spc="39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arise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inheritance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application,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when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function</a:t>
            </a:r>
            <a:r>
              <a:rPr sz="2800" b="1" spc="43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43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derived</a:t>
            </a:r>
            <a:r>
              <a:rPr sz="2800" b="1" spc="43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class</a:t>
            </a:r>
            <a:r>
              <a:rPr sz="2800" b="1" spc="4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overrides</a:t>
            </a:r>
            <a:r>
              <a:rPr sz="2800" b="1" spc="4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43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inherited function.</a:t>
            </a:r>
            <a:endParaRPr sz="2800" dirty="0">
              <a:latin typeface="Calibri"/>
              <a:cs typeface="Calibri"/>
            </a:endParaRPr>
          </a:p>
          <a:p>
            <a:pPr marL="511809" marR="5080" indent="-489584" algn="just">
              <a:lnSpc>
                <a:spcPct val="150000"/>
              </a:lnSpc>
              <a:buSzPct val="94642"/>
              <a:buFont typeface="Lucida Sans Unicode"/>
              <a:buChar char="□"/>
              <a:tabLst>
                <a:tab pos="51371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2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2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derived</a:t>
            </a:r>
            <a:r>
              <a:rPr sz="2800" b="1" spc="275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class</a:t>
            </a:r>
            <a:r>
              <a:rPr sz="2800" b="1" spc="270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object</a:t>
            </a:r>
            <a:r>
              <a:rPr sz="2800" b="1" spc="2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invoke 	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function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defined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derived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only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511809" marR="69215" indent="-489584" algn="just">
              <a:lnSpc>
                <a:spcPct val="150000"/>
              </a:lnSpc>
              <a:buSzPct val="94642"/>
              <a:buFont typeface="Lucida Sans Unicode"/>
              <a:buChar char="□"/>
              <a:tabLst>
                <a:tab pos="513715" algn="l"/>
              </a:tabLst>
            </a:pPr>
            <a:r>
              <a:rPr sz="2800" dirty="0">
                <a:latin typeface="Calibri"/>
                <a:cs typeface="Calibri"/>
              </a:rPr>
              <a:t>However,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invoke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base 	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scope</a:t>
            </a:r>
            <a:r>
              <a:rPr sz="28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resolution</a:t>
            </a:r>
            <a:r>
              <a:rPr sz="28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operator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07067" y="-19571"/>
            <a:ext cx="11932920" cy="816890"/>
          </a:xfrm>
          <a:prstGeom prst="rect">
            <a:avLst/>
          </a:prstGeom>
        </p:spPr>
        <p:txBody>
          <a:bodyPr vert="horz" wrap="square" lIns="0" tIns="138430" rIns="0" bIns="0" rtlCol="0" anchor="ctr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Ambiguity</a:t>
            </a:r>
            <a:r>
              <a:rPr spc="-155" dirty="0"/>
              <a:t> </a:t>
            </a:r>
            <a:r>
              <a:rPr spc="-10" dirty="0"/>
              <a:t>Resolution</a:t>
            </a:r>
            <a:r>
              <a:rPr spc="-155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82910" y="965163"/>
            <a:ext cx="8441020" cy="5498013"/>
            <a:chOff x="158910" y="965162"/>
            <a:chExt cx="8441020" cy="5498013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10" y="965162"/>
              <a:ext cx="6775289" cy="54980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3110" y="2819399"/>
              <a:ext cx="1506820" cy="122698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299560" y="850639"/>
            <a:ext cx="3033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526" y="53719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Ambiguity</a:t>
            </a:r>
            <a:r>
              <a:rPr spc="-155" dirty="0"/>
              <a:t> </a:t>
            </a:r>
            <a:r>
              <a:rPr spc="-10" dirty="0"/>
              <a:t>Resolution</a:t>
            </a:r>
            <a:r>
              <a:rPr spc="-155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07526" y="1293812"/>
            <a:ext cx="857694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0" marR="38100" indent="-489584" algn="just">
              <a:lnSpc>
                <a:spcPct val="150000"/>
              </a:lnSpc>
              <a:spcBef>
                <a:spcPts val="100"/>
              </a:spcBef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face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multiple 	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function</a:t>
            </a:r>
            <a:r>
              <a:rPr sz="2800" b="1" spc="5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with</a:t>
            </a:r>
            <a:r>
              <a:rPr sz="2800" b="1" spc="5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b="1" spc="5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same</a:t>
            </a:r>
            <a:r>
              <a:rPr sz="2800" b="1" spc="4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spc="-20" dirty="0">
                <a:solidFill>
                  <a:srgbClr val="0070C0"/>
                </a:solidFill>
                <a:latin typeface="Calibri"/>
                <a:cs typeface="Calibri"/>
              </a:rPr>
              <a:t>name 	</a:t>
            </a:r>
            <a:r>
              <a:rPr sz="2800" dirty="0">
                <a:latin typeface="Calibri"/>
                <a:cs typeface="Calibri"/>
              </a:rPr>
              <a:t>appears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class.</a:t>
            </a:r>
            <a:endParaRPr sz="2800" dirty="0">
              <a:latin typeface="Calibri"/>
              <a:cs typeface="Calibri"/>
            </a:endParaRPr>
          </a:p>
          <a:p>
            <a:pPr marL="501650" marR="5080" indent="-489584" algn="just">
              <a:lnSpc>
                <a:spcPct val="150000"/>
              </a:lnSpc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solve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defining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6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named 	</a:t>
            </a:r>
            <a:r>
              <a:rPr sz="2800" dirty="0">
                <a:latin typeface="Calibri"/>
                <a:cs typeface="Calibri"/>
              </a:rPr>
              <a:t>instance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within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resolution 	operator</a:t>
            </a:r>
            <a:r>
              <a:rPr sz="28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07067" y="-19571"/>
            <a:ext cx="11932920" cy="816890"/>
          </a:xfrm>
          <a:prstGeom prst="rect">
            <a:avLst/>
          </a:prstGeom>
        </p:spPr>
        <p:txBody>
          <a:bodyPr vert="horz" wrap="square" lIns="0" tIns="138430" rIns="0" bIns="0" rtlCol="0" anchor="ctr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Ambiguity</a:t>
            </a:r>
            <a:r>
              <a:rPr spc="-155" dirty="0"/>
              <a:t> </a:t>
            </a:r>
            <a:r>
              <a:rPr spc="-10" dirty="0"/>
              <a:t>Resolution</a:t>
            </a:r>
            <a:r>
              <a:rPr spc="-155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17547" y="1274526"/>
            <a:ext cx="8724456" cy="5202474"/>
            <a:chOff x="193547" y="1274525"/>
            <a:chExt cx="8724456" cy="520247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7" y="1274525"/>
              <a:ext cx="4226052" cy="4592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0" y="1274525"/>
              <a:ext cx="3888803" cy="45792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9850" y="5895975"/>
              <a:ext cx="1564297" cy="5810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69468" y="793830"/>
            <a:ext cx="34086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2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2065D1-CBDC-9663-36F1-657C3D477E68}"/>
              </a:ext>
            </a:extLst>
          </p:cNvPr>
          <p:cNvSpPr txBox="1"/>
          <p:nvPr/>
        </p:nvSpPr>
        <p:spPr>
          <a:xfrm>
            <a:off x="9005104" y="6204030"/>
            <a:ext cx="2338086" cy="38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8g.cpp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9115" y="71064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09115" y="1498196"/>
            <a:ext cx="8573770" cy="322580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503555" indent="-490855">
              <a:spcBef>
                <a:spcPts val="1780"/>
              </a:spcBef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constructor</a:t>
            </a:r>
            <a:r>
              <a:rPr sz="28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invoked</a:t>
            </a:r>
            <a:r>
              <a:rPr sz="28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implicitly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</a:t>
            </a:r>
            <a:endParaRPr sz="2800" dirty="0">
              <a:latin typeface="Calibri"/>
              <a:cs typeface="Calibri"/>
            </a:endParaRPr>
          </a:p>
          <a:p>
            <a:pPr marL="503555">
              <a:spcBef>
                <a:spcPts val="1680"/>
              </a:spcBef>
            </a:pP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object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28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created</a:t>
            </a:r>
            <a:r>
              <a:rPr lang="en-US" sz="2800" b="1" spc="-10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1620"/>
              </a:spcBef>
            </a:pPr>
            <a:endParaRPr sz="2800" dirty="0">
              <a:latin typeface="Calibri"/>
              <a:cs typeface="Calibri"/>
            </a:endParaRPr>
          </a:p>
          <a:p>
            <a:pPr marL="503555" marR="17145" indent="-491490">
              <a:lnSpc>
                <a:spcPct val="150000"/>
              </a:lnSpc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class,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happen?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022" y="929777"/>
            <a:ext cx="8617884" cy="55045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07067" y="-19571"/>
            <a:ext cx="11932920" cy="816890"/>
          </a:xfrm>
          <a:prstGeom prst="rect">
            <a:avLst/>
          </a:prstGeom>
        </p:spPr>
        <p:txBody>
          <a:bodyPr vert="horz" wrap="square" lIns="0" tIns="138430" rIns="0" bIns="0" rtlCol="0" anchor="ctr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97225" y="862839"/>
            <a:ext cx="63995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Compiler’s</a:t>
            </a:r>
            <a:r>
              <a:rPr sz="23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alibri"/>
                <a:cs typeface="Calibri"/>
              </a:rPr>
              <a:t>Default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alibri"/>
                <a:cs typeface="Calibri"/>
              </a:rPr>
              <a:t>Constructor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3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case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5562600" y="6306478"/>
            <a:ext cx="4114800" cy="46487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1115">
              <a:lnSpc>
                <a:spcPts val="1810"/>
              </a:lnSpc>
            </a:pPr>
            <a:r>
              <a:rPr spc="-10" dirty="0"/>
              <a:t>Prepared</a:t>
            </a:r>
            <a:r>
              <a:rPr spc="-65" dirty="0"/>
              <a:t> </a:t>
            </a:r>
            <a:r>
              <a:rPr dirty="0"/>
              <a:t>By:</a:t>
            </a:r>
            <a:r>
              <a:rPr spc="-55" dirty="0"/>
              <a:t> </a:t>
            </a:r>
            <a:r>
              <a:rPr spc="-25" dirty="0"/>
              <a:t>Prof.</a:t>
            </a:r>
            <a:r>
              <a:rPr spc="-50" dirty="0"/>
              <a:t> </a:t>
            </a:r>
            <a:r>
              <a:rPr dirty="0"/>
              <a:t>Nishat</a:t>
            </a:r>
            <a:r>
              <a:rPr spc="-55" dirty="0"/>
              <a:t> </a:t>
            </a:r>
            <a:r>
              <a:rPr dirty="0"/>
              <a:t>Shaikh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60" dirty="0"/>
              <a:t>Dr.</a:t>
            </a:r>
            <a:r>
              <a:rPr spc="-45" dirty="0"/>
              <a:t> </a:t>
            </a:r>
            <a:r>
              <a:rPr dirty="0"/>
              <a:t>Aayushi</a:t>
            </a:r>
            <a:r>
              <a:rPr spc="-50" dirty="0"/>
              <a:t> </a:t>
            </a:r>
            <a:r>
              <a:rPr spc="-10" dirty="0"/>
              <a:t>Chadhari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07067" y="-19571"/>
            <a:ext cx="11932920" cy="816890"/>
          </a:xfrm>
          <a:prstGeom prst="rect">
            <a:avLst/>
          </a:prstGeom>
        </p:spPr>
        <p:txBody>
          <a:bodyPr vert="horz" wrap="square" lIns="0" tIns="138430" rIns="0" bIns="0" rtlCol="0" anchor="ctr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10620" y="1274619"/>
            <a:ext cx="8567296" cy="5125527"/>
            <a:chOff x="186620" y="1274618"/>
            <a:chExt cx="8567296" cy="5125527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20" y="1274618"/>
              <a:ext cx="7681113" cy="51255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9663" y="5410200"/>
              <a:ext cx="4404253" cy="5524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97226" y="862839"/>
            <a:ext cx="585787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User’s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alibri"/>
                <a:cs typeface="Calibri"/>
              </a:rPr>
              <a:t>Default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alibri"/>
                <a:cs typeface="Calibri"/>
              </a:rPr>
              <a:t>Constructor</a:t>
            </a:r>
            <a:r>
              <a:rPr sz="23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case</a:t>
            </a:r>
            <a:r>
              <a:rPr sz="23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3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691" y="28323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228726"/>
            <a:ext cx="8839199" cy="52482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00460" y="973163"/>
            <a:ext cx="700595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94" algn="ctr"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endParaRPr sz="2000">
              <a:latin typeface="Calibri"/>
              <a:cs typeface="Calibri"/>
            </a:endParaRPr>
          </a:p>
          <a:p>
            <a:pPr marL="323215" marR="6985" indent="-311150" algn="just">
              <a:buFont typeface="Lucida Sans Unicode"/>
              <a:buChar char="□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</a:t>
            </a:r>
            <a:r>
              <a:rPr sz="2000" b="1" spc="1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base</a:t>
            </a:r>
            <a:r>
              <a:rPr sz="2000" b="1" spc="1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class</a:t>
            </a:r>
            <a:r>
              <a:rPr sz="2000" b="1" spc="1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constructor</a:t>
            </a:r>
            <a:r>
              <a:rPr sz="2000" b="1" spc="1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takes</a:t>
            </a:r>
            <a:r>
              <a:rPr sz="2000" b="1" spc="1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any</a:t>
            </a:r>
            <a:r>
              <a:rPr sz="2000" b="1" spc="1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arguments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derived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constructor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function.</a:t>
            </a:r>
            <a:endParaRPr sz="2000">
              <a:latin typeface="Calibri"/>
              <a:cs typeface="Calibri"/>
            </a:endParaRPr>
          </a:p>
          <a:p>
            <a:pPr marL="323215" marR="5080" indent="-311150" algn="just">
              <a:buFont typeface="Lucida Sans Unicode"/>
              <a:buChar char="□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However,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0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0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contains</a:t>
            </a:r>
            <a:r>
              <a:rPr sz="2000" b="1" spc="1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0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constructor</a:t>
            </a:r>
            <a:r>
              <a:rPr sz="20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with</a:t>
            </a:r>
            <a:r>
              <a:rPr sz="20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one</a:t>
            </a:r>
            <a:r>
              <a:rPr sz="2000" b="1" spc="1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Calibri"/>
                <a:cs typeface="Calibri"/>
              </a:rPr>
              <a:t>or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more</a:t>
            </a:r>
            <a:r>
              <a:rPr sz="2000" b="1" spc="1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arguments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mandatory</a:t>
            </a:r>
            <a:r>
              <a:rPr sz="2000" spc="12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derived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b="1" dirty="0">
                <a:latin typeface="Calibri"/>
                <a:cs typeface="Calibri"/>
              </a:rPr>
              <a:t>have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1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constructor,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call</a:t>
            </a:r>
            <a:r>
              <a:rPr sz="2000" b="1" spc="1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base</a:t>
            </a:r>
            <a:r>
              <a:rPr sz="2000" b="1" spc="1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class’s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constructor</a:t>
            </a:r>
            <a:r>
              <a:rPr sz="2000" b="1" spc="1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explicitly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and </a:t>
            </a:r>
            <a:r>
              <a:rPr sz="2000" b="1" dirty="0">
                <a:latin typeface="Calibri"/>
                <a:cs typeface="Calibri"/>
              </a:rPr>
              <a:t>pass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arguments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base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class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constructors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664A-0B15-A9A1-2EED-0EA89153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in Derived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417B-502D-1CC2-B02B-FED6FBA07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What happens here</a:t>
            </a:r>
          </a:p>
          <a:p>
            <a:pPr lvl="1"/>
            <a:r>
              <a:rPr lang="en-IN" sz="1800" dirty="0"/>
              <a:t>Class A has a parameterized constructor → A(int k)</a:t>
            </a:r>
          </a:p>
          <a:p>
            <a:pPr lvl="1"/>
            <a:r>
              <a:rPr lang="en-IN" sz="1800" dirty="0"/>
              <a:t>Because of this, A does not have a default constructor (compiler doesn’t generate one automatically).</a:t>
            </a:r>
          </a:p>
          <a:p>
            <a:pPr lvl="1"/>
            <a:r>
              <a:rPr lang="en-IN" sz="1800" dirty="0"/>
              <a:t>Class B inherits from A.</a:t>
            </a:r>
          </a:p>
          <a:p>
            <a:pPr lvl="1"/>
            <a:r>
              <a:rPr lang="en-IN" sz="1800" dirty="0"/>
              <a:t>When we create an object B </a:t>
            </a:r>
            <a:r>
              <a:rPr lang="en-IN" sz="1800" dirty="0" err="1"/>
              <a:t>obj</a:t>
            </a:r>
            <a:r>
              <a:rPr lang="en-IN" sz="1800" dirty="0"/>
              <a:t>; </a:t>
            </a:r>
            <a:r>
              <a:rPr lang="en-IN" sz="1800" dirty="0">
                <a:sym typeface="Wingdings" pitchFamily="2" charset="2"/>
              </a:rPr>
              <a:t> </a:t>
            </a:r>
            <a:r>
              <a:rPr lang="en-IN" sz="1800" dirty="0"/>
              <a:t>the Base class constructor must be called first. But since A doesn’t have a no-argument (default) constructor, the compiler doesn’t know how to initialize A.</a:t>
            </a:r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r>
              <a:rPr lang="en-IN" sz="2000" dirty="0"/>
              <a:t>That’s because B() tries to call the default constructor of A,</a:t>
            </a:r>
            <a:br>
              <a:rPr lang="en-IN" sz="2000" dirty="0"/>
            </a:br>
            <a:r>
              <a:rPr lang="en-IN" sz="2000" dirty="0"/>
              <a:t>but A() doesn’t exist — only A(int) does.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45A9B-C074-38E3-2EC9-2236DA30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264" y="3978145"/>
            <a:ext cx="8913472" cy="11162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C1B015-710A-CE4B-19FC-D71A6F9E5A16}"/>
              </a:ext>
            </a:extLst>
          </p:cNvPr>
          <p:cNvSpPr txBox="1"/>
          <p:nvPr/>
        </p:nvSpPr>
        <p:spPr>
          <a:xfrm>
            <a:off x="9236597" y="1319514"/>
            <a:ext cx="2268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8h.cpp and 8h_1.cpp</a:t>
            </a:r>
          </a:p>
        </p:txBody>
      </p:sp>
    </p:spTree>
    <p:extLst>
      <p:ext uri="{BB962C8B-B14F-4D97-AF65-F5344CB8AC3E}">
        <p14:creationId xmlns:p14="http://schemas.microsoft.com/office/powerpoint/2010/main" val="3342890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1169" y="937142"/>
            <a:ext cx="8921415" cy="5505214"/>
            <a:chOff x="77169" y="937142"/>
            <a:chExt cx="8921415" cy="550521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7" y="937142"/>
              <a:ext cx="2124074" cy="55049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1735" y="944069"/>
              <a:ext cx="2733674" cy="38565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6252" y="957226"/>
              <a:ext cx="2962275" cy="5214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169" y="957226"/>
              <a:ext cx="2361565" cy="5485130"/>
            </a:xfrm>
            <a:custGeom>
              <a:avLst/>
              <a:gdLst/>
              <a:ahLst/>
              <a:cxnLst/>
              <a:rect l="l" t="t" r="r" b="b"/>
              <a:pathLst>
                <a:path w="2361565" h="5485130">
                  <a:moveTo>
                    <a:pt x="0" y="0"/>
                  </a:moveTo>
                  <a:lnTo>
                    <a:pt x="2361229" y="0"/>
                  </a:lnTo>
                  <a:lnTo>
                    <a:pt x="2361229" y="5484885"/>
                  </a:lnTo>
                  <a:lnTo>
                    <a:pt x="0" y="54848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9600" y="5181600"/>
              <a:ext cx="685799" cy="64545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24199" y="957224"/>
              <a:ext cx="5874385" cy="5457190"/>
            </a:xfrm>
            <a:custGeom>
              <a:avLst/>
              <a:gdLst/>
              <a:ahLst/>
              <a:cxnLst/>
              <a:rect l="l" t="t" r="r" b="b"/>
              <a:pathLst>
                <a:path w="5874384" h="5457190">
                  <a:moveTo>
                    <a:pt x="0" y="0"/>
                  </a:moveTo>
                  <a:lnTo>
                    <a:pt x="5874326" y="0"/>
                  </a:lnTo>
                  <a:lnTo>
                    <a:pt x="5874326" y="5456743"/>
                  </a:lnTo>
                  <a:lnTo>
                    <a:pt x="0" y="54567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371599" y="19844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2CE99-8731-76C1-D466-2B06426A05D6}"/>
              </a:ext>
            </a:extLst>
          </p:cNvPr>
          <p:cNvSpPr txBox="1"/>
          <p:nvPr/>
        </p:nvSpPr>
        <p:spPr>
          <a:xfrm>
            <a:off x="9699585" y="6442111"/>
            <a:ext cx="1770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8i.cpp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964" y="13447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013913"/>
            <a:ext cx="2809652" cy="53646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495800" y="1027766"/>
            <a:ext cx="6172200" cy="4306570"/>
            <a:chOff x="2971800" y="1027766"/>
            <a:chExt cx="6172200" cy="430657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800" y="1027766"/>
              <a:ext cx="6172199" cy="43062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1800" y="3581400"/>
              <a:ext cx="1371600" cy="88174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479096" y="5289879"/>
            <a:ext cx="7616448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multiple inheritance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IN" sz="2400" dirty="0"/>
              <a:t>The base class constructors are called in the order in which they are declared in the inheritance list,</a:t>
            </a:r>
            <a:br>
              <a:rPr lang="en-IN" sz="2400" dirty="0"/>
            </a:br>
            <a:r>
              <a:rPr lang="en-IN" sz="2400" dirty="0"/>
              <a:t>not in the order written in the initializer list.</a:t>
            </a:r>
            <a:endParaRPr lang="en-US" sz="2400" dirty="0"/>
          </a:p>
          <a:p>
            <a:pPr marL="12700" marR="5080" algn="just">
              <a:spcBef>
                <a:spcPts val="10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CAE025-D891-E221-DA04-10A33A0C99A9}"/>
              </a:ext>
            </a:extLst>
          </p:cNvPr>
          <p:cNvSpPr txBox="1"/>
          <p:nvPr/>
        </p:nvSpPr>
        <p:spPr>
          <a:xfrm>
            <a:off x="9677400" y="416689"/>
            <a:ext cx="217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8j.cpp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C1618-C1E1-B502-8140-E3933B4C2BFD}"/>
              </a:ext>
            </a:extLst>
          </p:cNvPr>
          <p:cNvSpPr txBox="1"/>
          <p:nvPr/>
        </p:nvSpPr>
        <p:spPr>
          <a:xfrm>
            <a:off x="0" y="6504972"/>
            <a:ext cx="1209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0200" y="962025"/>
            <a:ext cx="9060871" cy="5472301"/>
            <a:chOff x="76200" y="962025"/>
            <a:chExt cx="9060871" cy="5472301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962025"/>
              <a:ext cx="3952874" cy="54723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3122" y="1027016"/>
              <a:ext cx="4933949" cy="42307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0054" y="2845534"/>
              <a:ext cx="1057274" cy="170528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50819" y="22147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78425" y="5289879"/>
            <a:ext cx="52285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2400" b="1" spc="3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multilevel</a:t>
            </a:r>
            <a:r>
              <a:rPr sz="2400" b="1" spc="3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constructors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executed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inheritance.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9EE0DD-9F7F-8550-31AB-78F5D1FBBDE4}"/>
              </a:ext>
            </a:extLst>
          </p:cNvPr>
          <p:cNvSpPr txBox="1"/>
          <p:nvPr/>
        </p:nvSpPr>
        <p:spPr>
          <a:xfrm>
            <a:off x="9677400" y="416689"/>
            <a:ext cx="217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8k.cpp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8814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35465" y="1025597"/>
            <a:ext cx="86004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marR="35560" indent="-377825">
              <a:spcBef>
                <a:spcPts val="100"/>
              </a:spcBef>
              <a:buFont typeface="Lucida Sans Unicode"/>
              <a:buChar char="□"/>
              <a:tabLst>
                <a:tab pos="389890" algn="l"/>
                <a:tab pos="1099820" algn="l"/>
                <a:tab pos="2508250" algn="l"/>
                <a:tab pos="3825240" algn="l"/>
                <a:tab pos="5128260" algn="l"/>
                <a:tab pos="5604510" algn="l"/>
                <a:tab pos="7251700" algn="l"/>
                <a:tab pos="7900034" algn="l"/>
              </a:tabLst>
            </a:pPr>
            <a:r>
              <a:rPr sz="2700" spc="-25" dirty="0">
                <a:latin typeface="Calibri"/>
                <a:cs typeface="Calibri"/>
              </a:rPr>
              <a:t>C++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supports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another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method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25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initializing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class objects.</a:t>
            </a:r>
            <a:endParaRPr sz="2700">
              <a:latin typeface="Calibri"/>
              <a:cs typeface="Calibri"/>
            </a:endParaRPr>
          </a:p>
          <a:p>
            <a:pPr marL="389890" marR="5080" indent="-377825"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This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method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uses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what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known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initialization</a:t>
            </a:r>
            <a:r>
              <a:rPr sz="2700" b="1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list</a:t>
            </a:r>
            <a:r>
              <a:rPr sz="2700" b="1" spc="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constructor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function.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5465" y="3905956"/>
            <a:ext cx="859536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 marR="9525" indent="-375920" algn="just">
              <a:spcBef>
                <a:spcPts val="100"/>
              </a:spcBef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We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20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210" dirty="0"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70C0"/>
                </a:solidFill>
                <a:latin typeface="Calibri"/>
                <a:cs typeface="Calibri"/>
              </a:rPr>
              <a:t>initialization-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section</a:t>
            </a:r>
            <a:r>
              <a:rPr sz="2700" b="1" spc="22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20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provide</a:t>
            </a:r>
            <a:r>
              <a:rPr sz="2700" spc="2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initial</a:t>
            </a:r>
            <a:r>
              <a:rPr sz="2700" b="1" spc="20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values 	</a:t>
            </a:r>
            <a:r>
              <a:rPr sz="2700" b="1" dirty="0">
                <a:latin typeface="Calibri"/>
                <a:cs typeface="Calibri"/>
              </a:rPr>
              <a:t>to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base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constructor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also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to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initialize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its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own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class 	members.</a:t>
            </a:r>
            <a:endParaRPr sz="2700">
              <a:latin typeface="Calibri"/>
              <a:cs typeface="Calibri"/>
            </a:endParaRPr>
          </a:p>
          <a:p>
            <a:pPr marL="387985" marR="5080" indent="-375920" algn="just"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We</a:t>
            </a:r>
            <a:r>
              <a:rPr sz="2700" spc="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8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either/both</a:t>
            </a:r>
            <a:r>
              <a:rPr sz="2700" spc="8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section(assignment</a:t>
            </a:r>
            <a:r>
              <a:rPr sz="2700" spc="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8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well</a:t>
            </a:r>
            <a:r>
              <a:rPr sz="2700" spc="80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as 	</a:t>
            </a:r>
            <a:r>
              <a:rPr sz="2700" dirty="0">
                <a:latin typeface="Calibri"/>
                <a:cs typeface="Calibri"/>
              </a:rPr>
              <a:t>initialization)</a:t>
            </a:r>
            <a:r>
              <a:rPr sz="2700" spc="2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24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initialize</a:t>
            </a:r>
            <a:r>
              <a:rPr sz="2700" b="1" spc="23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24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data</a:t>
            </a:r>
            <a:r>
              <a:rPr sz="2700" b="1" spc="23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members</a:t>
            </a:r>
            <a:r>
              <a:rPr sz="2700" b="1" spc="23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235" dirty="0">
                <a:latin typeface="Calibri"/>
                <a:cs typeface="Calibri"/>
              </a:rPr>
              <a:t>  </a:t>
            </a:r>
            <a:r>
              <a:rPr sz="2700" b="1" spc="-25" dirty="0">
                <a:latin typeface="Calibri"/>
                <a:cs typeface="Calibri"/>
              </a:rPr>
              <a:t>the 	</a:t>
            </a:r>
            <a:r>
              <a:rPr sz="2700" b="1" spc="-10" dirty="0">
                <a:latin typeface="Calibri"/>
                <a:cs typeface="Calibri"/>
              </a:rPr>
              <a:t>constructor.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521" y="2844441"/>
            <a:ext cx="7010156" cy="111795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14261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97231C-538F-B9D8-3AC9-CCD189068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44" y="832545"/>
            <a:ext cx="7429500" cy="5892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CDEDF6-C144-38BD-D2DC-950FED5C97F6}"/>
              </a:ext>
            </a:extLst>
          </p:cNvPr>
          <p:cNvSpPr txBox="1"/>
          <p:nvPr/>
        </p:nvSpPr>
        <p:spPr>
          <a:xfrm>
            <a:off x="10058400" y="3148314"/>
            <a:ext cx="157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8l.cpp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182" y="946618"/>
            <a:ext cx="8728363" cy="5467349"/>
            <a:chOff x="228182" y="946618"/>
            <a:chExt cx="8728363" cy="546734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182" y="946618"/>
              <a:ext cx="8679722" cy="5467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7910" y="2634595"/>
              <a:ext cx="3878635" cy="6191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36700" y="20693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Destructor</a:t>
            </a:r>
            <a:r>
              <a:rPr spc="-135" dirty="0"/>
              <a:t> </a:t>
            </a:r>
            <a:r>
              <a:rPr dirty="0"/>
              <a:t>in</a:t>
            </a:r>
            <a:r>
              <a:rPr spc="-135" dirty="0"/>
              <a:t> </a:t>
            </a:r>
            <a:r>
              <a:rPr lang="en-US" spc="-10" dirty="0"/>
              <a:t>I</a:t>
            </a:r>
            <a:r>
              <a:rPr spc="-10" dirty="0"/>
              <a:t>nheritance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F258-6A2D-8BFD-8154-67CA4023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 in Inheritance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97EEAC-6F28-8B93-3076-3590CD58C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541343"/>
              </p:ext>
            </p:extLst>
          </p:nvPr>
        </p:nvGraphicFramePr>
        <p:xfrm>
          <a:off x="838200" y="1965960"/>
          <a:ext cx="10515600" cy="14630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81244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2729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4926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Inheritance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Constructor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Destructor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1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Single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Base → Derived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Derived → 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98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Multiple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 order of base class declaration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Reverse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20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Multilevel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Top → Middle → Bottom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Bottom → Middle → 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69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BB7A8D-7AB0-F5EE-198E-5F6047C5E4CA}"/>
              </a:ext>
            </a:extLst>
          </p:cNvPr>
          <p:cNvSpPr txBox="1"/>
          <p:nvPr/>
        </p:nvSpPr>
        <p:spPr>
          <a:xfrm>
            <a:off x="7604567" y="4548851"/>
            <a:ext cx="2222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8m_1.cpp and 8m_2.cpp</a:t>
            </a:r>
          </a:p>
        </p:txBody>
      </p:sp>
    </p:spTree>
    <p:extLst>
      <p:ext uri="{BB962C8B-B14F-4D97-AF65-F5344CB8AC3E}">
        <p14:creationId xmlns:p14="http://schemas.microsoft.com/office/powerpoint/2010/main" val="39105918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12270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Question 3</a:t>
            </a:r>
            <a:r>
              <a:rPr spc="-145" dirty="0"/>
              <a:t> </a:t>
            </a:r>
            <a:r>
              <a:rPr dirty="0"/>
              <a:t>:</a:t>
            </a:r>
            <a:r>
              <a:rPr spc="-145" dirty="0"/>
              <a:t> </a:t>
            </a:r>
            <a:r>
              <a:rPr dirty="0"/>
              <a:t>Multiple</a:t>
            </a:r>
            <a:r>
              <a:rPr spc="-140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0572" y="1064886"/>
            <a:ext cx="8630285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400" b="1" spc="20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alpha</a:t>
            </a:r>
            <a:r>
              <a:rPr sz="2400" b="1" spc="2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member: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int</a:t>
            </a:r>
            <a:r>
              <a:rPr sz="2400" b="1" spc="20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x</a:t>
            </a:r>
            <a:r>
              <a:rPr sz="2400" b="1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one</a:t>
            </a:r>
            <a:r>
              <a:rPr sz="2400" b="1" spc="2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argument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constructor</a:t>
            </a:r>
            <a:r>
              <a:rPr sz="2400" b="1" spc="3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initializes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x.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member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displays</a:t>
            </a:r>
            <a:r>
              <a:rPr sz="2400" b="1" spc="40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x.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400" b="1" spc="3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beta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member: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float</a:t>
            </a:r>
            <a:r>
              <a:rPr sz="2400" b="1" spc="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y</a:t>
            </a:r>
            <a:r>
              <a:rPr sz="2400" b="1" spc="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one</a:t>
            </a:r>
            <a:r>
              <a:rPr sz="2400" b="1" spc="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argument</a:t>
            </a:r>
            <a:r>
              <a:rPr sz="2400" b="1" spc="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constructor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initializes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y.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displays</a:t>
            </a:r>
            <a:r>
              <a:rPr sz="2400" b="1" spc="-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Gamma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publicly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inherits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alpha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members: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int</a:t>
            </a:r>
            <a:r>
              <a:rPr sz="2400" b="1" spc="7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m,</a:t>
            </a:r>
            <a:r>
              <a:rPr sz="2400" b="1" spc="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70C0"/>
                </a:solidFill>
                <a:latin typeface="Calibri"/>
                <a:cs typeface="Calibri"/>
              </a:rPr>
              <a:t>n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45" dirty="0"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constructor</a:t>
            </a:r>
            <a:r>
              <a:rPr sz="2400" b="1" spc="25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passes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argument</a:t>
            </a:r>
            <a:r>
              <a:rPr sz="2400" spc="2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class </a:t>
            </a:r>
            <a:r>
              <a:rPr sz="2400" dirty="0">
                <a:latin typeface="Calibri"/>
                <a:cs typeface="Calibri"/>
              </a:rPr>
              <a:t>constructor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initializes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members.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Gamma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print</a:t>
            </a:r>
            <a:r>
              <a:rPr sz="24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n.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main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Gamma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constructor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constructor.</a:t>
            </a:r>
            <a:endParaRPr sz="2400">
              <a:latin typeface="Calibri"/>
              <a:cs typeface="Calibri"/>
            </a:endParaRPr>
          </a:p>
          <a:p>
            <a:pPr marL="12700" marR="11430" algn="just"/>
            <a:r>
              <a:rPr sz="2400" dirty="0">
                <a:latin typeface="Calibri"/>
                <a:cs typeface="Calibri"/>
              </a:rPr>
              <a:t>Use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24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r>
              <a:rPr sz="2400" b="1" spc="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Constructor</a:t>
            </a:r>
            <a:r>
              <a:rPr sz="2400" b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Derived Class.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255" y="7092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62144" y="913255"/>
            <a:ext cx="9067711" cy="5484906"/>
            <a:chOff x="13855" y="978269"/>
            <a:chExt cx="9067711" cy="5484906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5" y="978270"/>
              <a:ext cx="4634344" cy="54849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0" y="978269"/>
              <a:ext cx="4357166" cy="54638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964" y="2026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90675" y="971345"/>
            <a:ext cx="9077323" cy="5512581"/>
            <a:chOff x="66675" y="971344"/>
            <a:chExt cx="9077323" cy="5512581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" y="1013913"/>
              <a:ext cx="6029324" cy="54000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0" y="971344"/>
              <a:ext cx="2931228" cy="33694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00" y="4393327"/>
              <a:ext cx="3505198" cy="20905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92382" y="7336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Hierarchical</a:t>
            </a:r>
            <a:r>
              <a:rPr spc="-160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62702" y="773684"/>
            <a:ext cx="5442585" cy="578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 marR="21590" indent="-375920" algn="just">
              <a:spcBef>
                <a:spcPts val="100"/>
              </a:spcBef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Many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Programming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problems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can 	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22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cast</a:t>
            </a:r>
            <a:r>
              <a:rPr sz="2700" spc="229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into</a:t>
            </a:r>
            <a:r>
              <a:rPr sz="2700" spc="229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240" dirty="0">
                <a:latin typeface="Calibri"/>
                <a:cs typeface="Calibri"/>
              </a:rPr>
              <a:t> 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hierarchy</a:t>
            </a:r>
            <a:r>
              <a:rPr sz="2700" b="1" spc="229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700" spc="-10" dirty="0">
                <a:latin typeface="Calibri"/>
                <a:cs typeface="Calibri"/>
              </a:rPr>
              <a:t>where 	</a:t>
            </a:r>
            <a:r>
              <a:rPr sz="2700" dirty="0">
                <a:latin typeface="Calibri"/>
                <a:cs typeface="Calibri"/>
              </a:rPr>
              <a:t>certain</a:t>
            </a:r>
            <a:r>
              <a:rPr sz="2700" spc="3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features</a:t>
            </a:r>
            <a:r>
              <a:rPr sz="2700" b="1" spc="6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6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one</a:t>
            </a:r>
            <a:r>
              <a:rPr sz="2700" b="1" spc="6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level</a:t>
            </a:r>
            <a:r>
              <a:rPr sz="2700" b="1" spc="665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are 	</a:t>
            </a:r>
            <a:r>
              <a:rPr sz="2700" b="1" dirty="0">
                <a:latin typeface="Calibri"/>
                <a:cs typeface="Calibri"/>
              </a:rPr>
              <a:t>shared</a:t>
            </a:r>
            <a:r>
              <a:rPr sz="2700" b="1" spc="1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by</a:t>
            </a:r>
            <a:r>
              <a:rPr sz="2700" b="1" spc="1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many</a:t>
            </a:r>
            <a:r>
              <a:rPr sz="2700" b="1" spc="1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others</a:t>
            </a:r>
            <a:r>
              <a:rPr sz="2700" b="1" spc="1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below</a:t>
            </a:r>
            <a:r>
              <a:rPr sz="2700" b="1" spc="15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that 	level</a:t>
            </a:r>
            <a:endParaRPr sz="2700" dirty="0">
              <a:latin typeface="Calibri"/>
              <a:cs typeface="Calibri"/>
            </a:endParaRPr>
          </a:p>
          <a:p>
            <a:pPr marL="387985" marR="31115" indent="-375920" algn="just"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42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base</a:t>
            </a:r>
            <a:r>
              <a:rPr sz="2700" b="1" spc="4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class</a:t>
            </a:r>
            <a:r>
              <a:rPr sz="2700" b="1" spc="4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will</a:t>
            </a:r>
            <a:r>
              <a:rPr sz="2700" b="1" spc="4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include</a:t>
            </a:r>
            <a:r>
              <a:rPr sz="2700" b="1" spc="4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all</a:t>
            </a:r>
            <a:r>
              <a:rPr sz="2700" b="1" spc="415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the 	</a:t>
            </a:r>
            <a:r>
              <a:rPr sz="2700" b="1" dirty="0">
                <a:latin typeface="Calibri"/>
                <a:cs typeface="Calibri"/>
              </a:rPr>
              <a:t>features</a:t>
            </a:r>
            <a:r>
              <a:rPr sz="2700" b="1" spc="4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that</a:t>
            </a:r>
            <a:r>
              <a:rPr sz="2700" b="1" spc="4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are</a:t>
            </a:r>
            <a:r>
              <a:rPr sz="2700" b="1" spc="4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common</a:t>
            </a:r>
            <a:r>
              <a:rPr sz="2700" b="1" spc="4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47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	</a:t>
            </a:r>
            <a:r>
              <a:rPr sz="2700" spc="-10" dirty="0">
                <a:latin typeface="Calibri"/>
                <a:cs typeface="Calibri"/>
              </a:rPr>
              <a:t>subclasses.</a:t>
            </a:r>
            <a:endParaRPr sz="2700" dirty="0">
              <a:latin typeface="Calibri"/>
              <a:cs typeface="Calibri"/>
            </a:endParaRPr>
          </a:p>
          <a:p>
            <a:pPr marL="387985" marR="5080" indent="-375920" algn="just"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49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subclass</a:t>
            </a:r>
            <a:r>
              <a:rPr sz="2700" b="1" spc="49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can</a:t>
            </a:r>
            <a:r>
              <a:rPr sz="2700" b="1" spc="49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be</a:t>
            </a:r>
            <a:r>
              <a:rPr sz="2700" b="1" spc="49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constructed</a:t>
            </a:r>
            <a:r>
              <a:rPr sz="2700" b="1" spc="495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by 	</a:t>
            </a:r>
            <a:r>
              <a:rPr sz="2700" b="1" dirty="0">
                <a:latin typeface="Calibri"/>
                <a:cs typeface="Calibri"/>
              </a:rPr>
              <a:t>inheriting</a:t>
            </a:r>
            <a:r>
              <a:rPr sz="2700" b="1" spc="26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26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properties</a:t>
            </a:r>
            <a:r>
              <a:rPr sz="2700" b="1" spc="26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270" dirty="0">
                <a:latin typeface="Calibri"/>
                <a:cs typeface="Calibri"/>
              </a:rPr>
              <a:t>  </a:t>
            </a:r>
            <a:r>
              <a:rPr sz="2700" b="1" spc="-25" dirty="0">
                <a:latin typeface="Calibri"/>
                <a:cs typeface="Calibri"/>
              </a:rPr>
              <a:t>the 	</a:t>
            </a:r>
            <a:r>
              <a:rPr sz="2700" b="1" dirty="0">
                <a:latin typeface="Calibri"/>
                <a:cs typeface="Calibri"/>
              </a:rPr>
              <a:t>base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class.</a:t>
            </a:r>
            <a:endParaRPr sz="2700" dirty="0">
              <a:latin typeface="Calibri"/>
              <a:cs typeface="Calibri"/>
            </a:endParaRPr>
          </a:p>
          <a:p>
            <a:pPr marL="387985" marR="10160" indent="-375920" algn="just">
              <a:buFont typeface="Lucida Sans Unicode"/>
              <a:buChar char="□"/>
              <a:tabLst>
                <a:tab pos="38989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subclass</a:t>
            </a:r>
            <a:r>
              <a:rPr sz="2700" b="1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can</a:t>
            </a:r>
            <a:r>
              <a:rPr sz="27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serve</a:t>
            </a:r>
            <a:r>
              <a:rPr sz="2700" b="1" spc="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as</a:t>
            </a:r>
            <a:r>
              <a:rPr sz="2700" b="1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7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700" b="1" spc="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class 	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for</a:t>
            </a:r>
            <a:r>
              <a:rPr sz="2700" b="1" spc="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700" b="1" spc="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lower</a:t>
            </a:r>
            <a:r>
              <a:rPr sz="2700" b="1" spc="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level</a:t>
            </a:r>
            <a:r>
              <a:rPr sz="2700" b="1" spc="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classes</a:t>
            </a:r>
            <a:r>
              <a:rPr sz="2700" b="1" spc="4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4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so 	on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601" y="1138032"/>
            <a:ext cx="3508309" cy="24586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5333" y="3857624"/>
            <a:ext cx="3333379" cy="245744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7337" y="930001"/>
            <a:ext cx="9090661" cy="5533173"/>
            <a:chOff x="53337" y="930001"/>
            <a:chExt cx="9090661" cy="553317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7" y="930001"/>
              <a:ext cx="5591174" cy="553317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0" y="985989"/>
              <a:ext cx="4114798" cy="28240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1642" y="4334340"/>
              <a:ext cx="2468288" cy="159067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95400" y="11668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Hierarchical</a:t>
            </a:r>
            <a:r>
              <a:rPr spc="-160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9F756-018F-512E-9FF6-655AC3806472}"/>
              </a:ext>
            </a:extLst>
          </p:cNvPr>
          <p:cNvSpPr txBox="1"/>
          <p:nvPr/>
        </p:nvSpPr>
        <p:spPr>
          <a:xfrm>
            <a:off x="9792182" y="416689"/>
            <a:ext cx="151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8n.cpp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1B1A-AE6C-2CE6-9852-EF7AFF2D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EBD6-D4A1-0578-58A1-FB0212ED6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Function Overriding happens when:</a:t>
            </a:r>
          </a:p>
          <a:p>
            <a:pPr lvl="1" algn="just"/>
            <a:r>
              <a:rPr lang="en-IN" dirty="0"/>
              <a:t>A derived class defines a function with the same name, parameters, and return type as in the base class.</a:t>
            </a:r>
          </a:p>
          <a:p>
            <a:pPr lvl="1" algn="just"/>
            <a:r>
              <a:rPr lang="en-IN" dirty="0"/>
              <a:t>The base class function is marked as virtual.</a:t>
            </a:r>
          </a:p>
          <a:p>
            <a:pPr lvl="1" algn="just"/>
            <a:r>
              <a:rPr lang="en-IN" dirty="0"/>
              <a:t>When called via a base class pointer or reference, the derived version executes (runtime polymorphism).</a:t>
            </a:r>
          </a:p>
          <a:p>
            <a:pPr lvl="1" algn="just"/>
            <a:endParaRPr lang="en-IN" dirty="0"/>
          </a:p>
          <a:p>
            <a:pPr lvl="1" algn="just"/>
            <a:r>
              <a:rPr lang="en-IN" dirty="0">
                <a:highlight>
                  <a:srgbClr val="FFFF00"/>
                </a:highlight>
              </a:rPr>
              <a:t>Virtual Functions - Part of Chapter 9 </a:t>
            </a:r>
          </a:p>
          <a:p>
            <a:pPr lvl="1" algn="just"/>
            <a:endParaRPr lang="en-IN" dirty="0">
              <a:highlight>
                <a:srgbClr val="FFFF00"/>
              </a:highlight>
            </a:endParaRPr>
          </a:p>
          <a:p>
            <a:pPr lvl="1"/>
            <a:r>
              <a:rPr lang="en-IN" dirty="0"/>
              <a:t>Without virtual, the base version of a function is called (compile-time binding).</a:t>
            </a:r>
          </a:p>
          <a:p>
            <a:pPr lvl="1" algn="just"/>
            <a:r>
              <a:rPr lang="en-IN" dirty="0"/>
              <a:t>With virtual, the derived version is called (runtime binding). Virtual allows runtime polymorphism (decides function call based on object type, not pointer type).</a:t>
            </a:r>
          </a:p>
          <a:p>
            <a:pPr lvl="1" algn="just"/>
            <a:endParaRPr lang="en-IN" dirty="0">
              <a:highlight>
                <a:srgbClr val="FFFF00"/>
              </a:highlight>
            </a:endParaRPr>
          </a:p>
          <a:p>
            <a:pPr algn="just"/>
            <a:r>
              <a:rPr lang="en-US" sz="2000" dirty="0"/>
              <a:t>Refer 8f.cpp and 8n_1.cpp</a:t>
            </a:r>
          </a:p>
        </p:txBody>
      </p:sp>
    </p:spTree>
    <p:extLst>
      <p:ext uri="{BB962C8B-B14F-4D97-AF65-F5344CB8AC3E}">
        <p14:creationId xmlns:p14="http://schemas.microsoft.com/office/powerpoint/2010/main" val="13429075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24407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Question 4</a:t>
            </a:r>
            <a:r>
              <a:rPr spc="-185" dirty="0"/>
              <a:t> </a:t>
            </a:r>
            <a:r>
              <a:rPr spc="-20" dirty="0"/>
              <a:t>:Hierarchical</a:t>
            </a:r>
            <a:r>
              <a:rPr spc="-180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9426" y="1063363"/>
            <a:ext cx="8648065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Write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program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create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Medicine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which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stores </a:t>
            </a:r>
            <a:r>
              <a:rPr sz="2700" b="1" spc="-20" dirty="0">
                <a:solidFill>
                  <a:srgbClr val="0070C0"/>
                </a:solidFill>
                <a:latin typeface="Calibri"/>
                <a:cs typeface="Calibri"/>
              </a:rPr>
              <a:t>type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7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medicine,</a:t>
            </a:r>
            <a:r>
              <a:rPr sz="27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name</a:t>
            </a:r>
            <a:r>
              <a:rPr sz="2700" b="1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7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solidFill>
                  <a:srgbClr val="0070C0"/>
                </a:solidFill>
                <a:latin typeface="Calibri"/>
                <a:cs typeface="Calibri"/>
              </a:rPr>
              <a:t>company,</a:t>
            </a:r>
            <a:r>
              <a:rPr sz="2700" b="1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date</a:t>
            </a:r>
            <a:r>
              <a:rPr sz="27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700" b="1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manufacturing</a:t>
            </a:r>
            <a:r>
              <a:rPr sz="2700" spc="-10" dirty="0">
                <a:latin typeface="Calibri"/>
                <a:cs typeface="Calibri"/>
              </a:rPr>
              <a:t>.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Class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Tablet</a:t>
            </a:r>
            <a:r>
              <a:rPr sz="2700" b="1" spc="2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inherited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from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Medicine.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Tablet</a:t>
            </a:r>
            <a:r>
              <a:rPr sz="2700" spc="2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has</a:t>
            </a:r>
            <a:r>
              <a:rPr sz="2700" spc="29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name</a:t>
            </a:r>
            <a:r>
              <a:rPr sz="2700" b="1" spc="2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solidFill>
                  <a:srgbClr val="0070C0"/>
                </a:solidFill>
                <a:latin typeface="Calibri"/>
                <a:cs typeface="Calibri"/>
              </a:rPr>
              <a:t>of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tablet,</a:t>
            </a:r>
            <a:r>
              <a:rPr sz="2700" b="1" spc="3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quantity</a:t>
            </a:r>
            <a:r>
              <a:rPr sz="2700" b="1" spc="3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per</a:t>
            </a:r>
            <a:r>
              <a:rPr sz="2700" b="1" spc="3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pack,</a:t>
            </a:r>
            <a:r>
              <a:rPr sz="2700" b="1" spc="3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price</a:t>
            </a:r>
            <a:r>
              <a:rPr sz="2700" b="1" spc="3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700" b="1" spc="3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one</a:t>
            </a:r>
            <a:r>
              <a:rPr sz="2700" b="1" spc="3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tablet</a:t>
            </a:r>
            <a:r>
              <a:rPr sz="2700" b="1" spc="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3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members.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700" b="1" spc="18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Syrup</a:t>
            </a:r>
            <a:r>
              <a:rPr sz="2700" b="1" spc="19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18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also</a:t>
            </a:r>
            <a:r>
              <a:rPr sz="2700" spc="18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inherited</a:t>
            </a:r>
            <a:r>
              <a:rPr sz="2700" spc="18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from</a:t>
            </a:r>
            <a:r>
              <a:rPr sz="2700" spc="18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Medicine</a:t>
            </a:r>
            <a:r>
              <a:rPr sz="2700" spc="18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18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180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has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quantity</a:t>
            </a:r>
            <a:r>
              <a:rPr sz="2700" b="1" spc="12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per</a:t>
            </a:r>
            <a:r>
              <a:rPr sz="2700" b="1" spc="12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bottle,</a:t>
            </a:r>
            <a:r>
              <a:rPr sz="2700" b="1" spc="12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dosage</a:t>
            </a:r>
            <a:r>
              <a:rPr sz="2700" b="1" spc="12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unit</a:t>
            </a:r>
            <a:r>
              <a:rPr sz="2700" b="1" spc="14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12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members.</a:t>
            </a:r>
            <a:r>
              <a:rPr sz="2700" spc="12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Both</a:t>
            </a:r>
            <a:r>
              <a:rPr sz="2700" spc="125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classes</a:t>
            </a:r>
            <a:r>
              <a:rPr sz="2700" spc="5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contain</a:t>
            </a:r>
            <a:r>
              <a:rPr sz="2700" spc="5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necessary</a:t>
            </a:r>
            <a:r>
              <a:rPr sz="2700" spc="5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member</a:t>
            </a:r>
            <a:r>
              <a:rPr sz="2700" spc="5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functions</a:t>
            </a:r>
            <a:r>
              <a:rPr sz="2700" spc="5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59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input</a:t>
            </a:r>
            <a:r>
              <a:rPr sz="2700" b="1" spc="5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output</a:t>
            </a:r>
            <a:r>
              <a:rPr sz="2700" b="1" spc="3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data.</a:t>
            </a:r>
            <a:r>
              <a:rPr sz="2700" spc="3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Write</a:t>
            </a:r>
            <a:r>
              <a:rPr sz="2700" spc="3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3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main(</a:t>
            </a:r>
            <a:r>
              <a:rPr sz="2700" spc="3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)</a:t>
            </a:r>
            <a:r>
              <a:rPr sz="2700" spc="3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3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enter</a:t>
            </a:r>
            <a:r>
              <a:rPr sz="2700" spc="3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data</a:t>
            </a:r>
            <a:r>
              <a:rPr sz="2700" spc="3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3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tablet</a:t>
            </a:r>
            <a:r>
              <a:rPr sz="2700" spc="3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 </a:t>
            </a:r>
            <a:r>
              <a:rPr sz="2700" dirty="0">
                <a:latin typeface="Calibri"/>
                <a:cs typeface="Calibri"/>
              </a:rPr>
              <a:t>syrup,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also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display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data.</a:t>
            </a:r>
            <a:endParaRPr sz="2700">
              <a:latin typeface="Calibri"/>
              <a:cs typeface="Calibri"/>
            </a:endParaRPr>
          </a:p>
          <a:p>
            <a:pPr marL="12700" algn="just">
              <a:spcBef>
                <a:spcPts val="3240"/>
              </a:spcBef>
            </a:pPr>
            <a:r>
              <a:rPr sz="2700" dirty="0">
                <a:latin typeface="Calibri"/>
                <a:cs typeface="Calibri"/>
              </a:rPr>
              <a:t>Use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concepts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Hierarchical</a:t>
            </a:r>
            <a:r>
              <a:rPr sz="27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33090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6" y="1020840"/>
            <a:ext cx="8714358" cy="531549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8527" y="32398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347" y="1013913"/>
            <a:ext cx="9026652" cy="544926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9803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992128"/>
            <a:ext cx="8762999" cy="548004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2115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319" y="1061901"/>
            <a:ext cx="2783480" cy="4805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2" y="1062125"/>
            <a:ext cx="5971307" cy="45766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37292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spc="-40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3859" y="1062854"/>
            <a:ext cx="870077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19050" indent="-492759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situations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apply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0070C0"/>
                </a:solidFill>
                <a:latin typeface="Calibri"/>
                <a:cs typeface="Calibri"/>
              </a:rPr>
              <a:t>two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or</a:t>
            </a:r>
            <a:r>
              <a:rPr sz="2800" b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more</a:t>
            </a:r>
            <a:r>
              <a:rPr sz="2800" b="1" spc="-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types</a:t>
            </a:r>
            <a:r>
              <a:rPr sz="2800" b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800" b="1" spc="-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inheritance.</a:t>
            </a:r>
            <a:endParaRPr sz="2800" dirty="0">
              <a:latin typeface="Calibri"/>
              <a:cs typeface="Calibri"/>
            </a:endParaRPr>
          </a:p>
          <a:p>
            <a:pPr marL="505459" marR="5080" indent="-492759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instance,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multilevel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multiple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inheritance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1" y="3008166"/>
            <a:ext cx="6248399" cy="300674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942975"/>
            <a:ext cx="8153399" cy="553402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378528" y="21020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spc="-40" dirty="0"/>
              <a:t> </a:t>
            </a:r>
            <a:r>
              <a:rPr spc="-10" dirty="0"/>
              <a:t>Inheritance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3747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spc="-40" dirty="0"/>
              <a:t> </a:t>
            </a:r>
            <a:r>
              <a:rPr spc="-10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4001" y="827403"/>
            <a:ext cx="8845330" cy="5484873"/>
            <a:chOff x="152401" y="992126"/>
            <a:chExt cx="8845330" cy="5484873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1" y="992126"/>
              <a:ext cx="6019800" cy="54848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7625" y="1048548"/>
              <a:ext cx="2600106" cy="20628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9228" y="3966042"/>
              <a:ext cx="1938475" cy="1952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255" y="31350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6406" y="2892816"/>
            <a:ext cx="3428999" cy="32339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13859" y="1062854"/>
            <a:ext cx="8703310" cy="479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5080" indent="-492759" algn="just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Consider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situation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42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class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Grandparent</a:t>
            </a:r>
            <a:r>
              <a:rPr sz="2800" b="1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.This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10" dirty="0">
                <a:latin typeface="Calibri"/>
                <a:cs typeface="Calibri"/>
              </a:rPr>
              <a:t> classes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Parent1</a:t>
            </a:r>
            <a:r>
              <a:rPr sz="2800" b="1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Parent2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child</a:t>
            </a:r>
            <a:r>
              <a:rPr sz="2800" b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below.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505"/>
              </a:spcBef>
              <a:buFont typeface="Lucida Sans Unicode"/>
              <a:buChar char="□"/>
            </a:pPr>
            <a:endParaRPr sz="2800" dirty="0">
              <a:latin typeface="Calibri"/>
              <a:cs typeface="Calibri"/>
            </a:endParaRPr>
          </a:p>
          <a:p>
            <a:pPr marL="505459" marR="3268979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figure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2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members/function</a:t>
            </a:r>
            <a:r>
              <a:rPr sz="2800" spc="21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Grandparent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inherited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twice</a:t>
            </a:r>
            <a:r>
              <a:rPr sz="2800" b="1" spc="2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child.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Parent1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Parent1.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257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3860" y="1062854"/>
            <a:ext cx="8709025" cy="301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5080" indent="-492759" algn="just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Grandparent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accessed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child,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ambiguity</a:t>
            </a:r>
            <a:r>
              <a:rPr sz="2800" b="1" spc="17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arises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data/function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would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called?</a:t>
            </a:r>
            <a:endParaRPr sz="2800" dirty="0">
              <a:latin typeface="Calibri"/>
              <a:cs typeface="Calibri"/>
            </a:endParaRPr>
          </a:p>
          <a:p>
            <a:pPr marL="505459" marR="24765" indent="-492759" algn="just">
              <a:spcBef>
                <a:spcPts val="3359"/>
              </a:spcBef>
              <a:buFont typeface="Lucida Sans Unicode"/>
              <a:buChar char="□"/>
              <a:tabLst>
                <a:tab pos="505459" algn="l"/>
                <a:tab pos="614680" algn="l"/>
              </a:tabLst>
            </a:pPr>
            <a:r>
              <a:rPr sz="2800" dirty="0">
                <a:latin typeface="Calibri"/>
                <a:cs typeface="Calibri"/>
              </a:rPr>
              <a:t>	One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inherited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Parent1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inherited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Parent2.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confuses</a:t>
            </a:r>
            <a:r>
              <a:rPr sz="2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compiler</a:t>
            </a:r>
            <a:r>
              <a:rPr sz="2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2800" b="1" spc="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it</a:t>
            </a:r>
            <a:r>
              <a:rPr sz="2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displays error.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6" y="944069"/>
            <a:ext cx="8714358" cy="553293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36700" y="3884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200E00-63E4-0CF9-FC15-5930E9A28BB0}"/>
              </a:ext>
            </a:extLst>
          </p:cNvPr>
          <p:cNvSpPr txBox="1"/>
          <p:nvPr/>
        </p:nvSpPr>
        <p:spPr>
          <a:xfrm>
            <a:off x="9722734" y="1238491"/>
            <a:ext cx="168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8o.cpp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29895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15100" y="1063363"/>
            <a:ext cx="875919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0" marR="5080" indent="-489584" algn="just">
              <a:spcBef>
                <a:spcPts val="100"/>
              </a:spcBef>
              <a:buFont typeface="Lucida Sans Unicode"/>
              <a:buChar char="□"/>
              <a:tabLst>
                <a:tab pos="504190" algn="l"/>
              </a:tabLst>
            </a:pPr>
            <a:r>
              <a:rPr sz="2700" dirty="0">
                <a:latin typeface="Calibri"/>
                <a:cs typeface="Calibri"/>
              </a:rPr>
              <a:t>To</a:t>
            </a:r>
            <a:r>
              <a:rPr sz="2700" spc="2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resolve</a:t>
            </a:r>
            <a:r>
              <a:rPr sz="2700" spc="2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this</a:t>
            </a:r>
            <a:r>
              <a:rPr sz="2700" spc="2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ambiguity</a:t>
            </a:r>
            <a:r>
              <a:rPr sz="2700" spc="2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when</a:t>
            </a:r>
            <a:r>
              <a:rPr sz="2700" spc="2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2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Grandparent</a:t>
            </a:r>
            <a:r>
              <a:rPr sz="2700" spc="235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is 	</a:t>
            </a:r>
            <a:r>
              <a:rPr sz="2700" dirty="0">
                <a:latin typeface="Calibri"/>
                <a:cs typeface="Calibri"/>
              </a:rPr>
              <a:t>inherited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both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Parent1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Parent2,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40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is 	</a:t>
            </a:r>
            <a:r>
              <a:rPr sz="2700" dirty="0">
                <a:latin typeface="Calibri"/>
                <a:cs typeface="Calibri"/>
              </a:rPr>
              <a:t>declared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virtual</a:t>
            </a:r>
            <a:r>
              <a:rPr sz="2700" b="1" spc="1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700" b="1" spc="10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700" b="1" spc="1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placing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keyword</a:t>
            </a:r>
            <a:r>
              <a:rPr sz="2700" spc="130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virtual 	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60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5101" y="4355202"/>
            <a:ext cx="874331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>
              <a:spcBef>
                <a:spcPts val="100"/>
              </a:spcBef>
            </a:pP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endParaRPr sz="2700">
              <a:latin typeface="Calibri"/>
              <a:cs typeface="Calibri"/>
            </a:endParaRPr>
          </a:p>
          <a:p>
            <a:pPr marL="503555" indent="-490855">
              <a:buFont typeface="Lucida Sans Unicode"/>
              <a:buChar char="□"/>
              <a:tabLst>
                <a:tab pos="503555" algn="l"/>
              </a:tabLst>
            </a:pPr>
            <a:r>
              <a:rPr sz="2700" dirty="0">
                <a:latin typeface="Calibri"/>
                <a:cs typeface="Calibri"/>
              </a:rPr>
              <a:t>virtual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written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before</a:t>
            </a:r>
            <a:r>
              <a:rPr sz="27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or</a:t>
            </a:r>
            <a:r>
              <a:rPr sz="27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after</a:t>
            </a:r>
            <a:r>
              <a:rPr sz="27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7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public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  <a:p>
            <a:pPr marL="501650" marR="5080" indent="-489584" algn="just">
              <a:buFont typeface="Lucida Sans Unicode"/>
              <a:buChar char="□"/>
              <a:tabLst>
                <a:tab pos="504190" algn="l"/>
              </a:tabLst>
            </a:pPr>
            <a:r>
              <a:rPr sz="2700" dirty="0">
                <a:latin typeface="Calibri"/>
                <a:cs typeface="Calibri"/>
              </a:rPr>
              <a:t>Now</a:t>
            </a:r>
            <a:r>
              <a:rPr sz="2700" spc="4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only</a:t>
            </a:r>
            <a:r>
              <a:rPr sz="2700" b="1" spc="4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one</a:t>
            </a:r>
            <a:r>
              <a:rPr sz="2700" b="1" spc="5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copy</a:t>
            </a:r>
            <a:r>
              <a:rPr sz="2700" b="1" spc="4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4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data/function</a:t>
            </a:r>
            <a:r>
              <a:rPr sz="2700" b="1" spc="4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member</a:t>
            </a:r>
            <a:r>
              <a:rPr sz="2700" b="1" spc="45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will</a:t>
            </a:r>
            <a:r>
              <a:rPr sz="2700" b="1" spc="45" dirty="0">
                <a:latin typeface="Calibri"/>
                <a:cs typeface="Calibri"/>
              </a:rPr>
              <a:t>  </a:t>
            </a:r>
            <a:r>
              <a:rPr sz="2700" b="1" spc="-25" dirty="0">
                <a:latin typeface="Calibri"/>
                <a:cs typeface="Calibri"/>
              </a:rPr>
              <a:t>be 	</a:t>
            </a:r>
            <a:r>
              <a:rPr sz="2700" b="1" dirty="0">
                <a:latin typeface="Calibri"/>
                <a:cs typeface="Calibri"/>
              </a:rPr>
              <a:t>copied</a:t>
            </a:r>
            <a:r>
              <a:rPr sz="2700" b="1" spc="3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3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3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Grandparent</a:t>
            </a:r>
            <a:r>
              <a:rPr sz="2700" b="1" spc="3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becomes</a:t>
            </a:r>
            <a:r>
              <a:rPr sz="2700" b="1" spc="3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3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virtual</a:t>
            </a:r>
            <a:r>
              <a:rPr sz="2700" b="1" spc="36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base 	</a:t>
            </a:r>
            <a:r>
              <a:rPr sz="2700" b="1" spc="-10" dirty="0">
                <a:latin typeface="Calibri"/>
                <a:cs typeface="Calibri"/>
              </a:rPr>
              <a:t>class.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301" y="2373411"/>
            <a:ext cx="5372099" cy="235098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9803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15100" y="1063363"/>
            <a:ext cx="8770620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>
              <a:spcBef>
                <a:spcPts val="100"/>
              </a:spcBef>
            </a:pP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endParaRPr sz="2700">
              <a:latin typeface="Calibri"/>
              <a:cs typeface="Calibri"/>
            </a:endParaRPr>
          </a:p>
          <a:p>
            <a:pPr marL="501650" marR="5080" indent="-489584" algn="just">
              <a:buFont typeface="Lucida Sans Unicode"/>
              <a:buChar char="□"/>
              <a:tabLst>
                <a:tab pos="504190" algn="l"/>
              </a:tabLst>
            </a:pPr>
            <a:r>
              <a:rPr sz="2700" dirty="0">
                <a:latin typeface="Calibri"/>
                <a:cs typeface="Calibri"/>
              </a:rPr>
              <a:t>When</a:t>
            </a:r>
            <a:r>
              <a:rPr sz="2700" spc="2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25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25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2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made</a:t>
            </a:r>
            <a:r>
              <a:rPr sz="2700" spc="25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virtual</a:t>
            </a:r>
            <a:r>
              <a:rPr sz="2700" spc="25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base</a:t>
            </a:r>
            <a:r>
              <a:rPr sz="2700" spc="24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class,</a:t>
            </a:r>
            <a:r>
              <a:rPr sz="2700" spc="270" dirty="0">
                <a:latin typeface="Calibri"/>
                <a:cs typeface="Calibri"/>
              </a:rPr>
              <a:t>  </a:t>
            </a:r>
            <a:r>
              <a:rPr sz="2700" b="1" dirty="0">
                <a:latin typeface="Calibri"/>
                <a:cs typeface="Calibri"/>
              </a:rPr>
              <a:t>C++</a:t>
            </a:r>
            <a:r>
              <a:rPr sz="2700" b="1" spc="250" dirty="0">
                <a:latin typeface="Calibri"/>
                <a:cs typeface="Calibri"/>
              </a:rPr>
              <a:t>  </a:t>
            </a:r>
            <a:r>
              <a:rPr sz="2700" b="1" spc="-10" dirty="0">
                <a:latin typeface="Calibri"/>
                <a:cs typeface="Calibri"/>
              </a:rPr>
              <a:t>takes 	</a:t>
            </a:r>
            <a:r>
              <a:rPr sz="2700" b="1" dirty="0">
                <a:latin typeface="Calibri"/>
                <a:cs typeface="Calibri"/>
              </a:rPr>
              <a:t>necessary</a:t>
            </a:r>
            <a:r>
              <a:rPr sz="2700" b="1" spc="2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care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to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see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that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only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one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copy</a:t>
            </a:r>
            <a:r>
              <a:rPr sz="2700" b="1" spc="2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that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class</a:t>
            </a:r>
            <a:r>
              <a:rPr sz="2700" b="1" spc="254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is 	</a:t>
            </a:r>
            <a:r>
              <a:rPr sz="2700" b="1" dirty="0">
                <a:latin typeface="Calibri"/>
                <a:cs typeface="Calibri"/>
              </a:rPr>
              <a:t>inherited,</a:t>
            </a:r>
            <a:r>
              <a:rPr sz="2700" b="1" spc="12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regardless</a:t>
            </a:r>
            <a:r>
              <a:rPr sz="2700" b="1" spc="1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1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how</a:t>
            </a:r>
            <a:r>
              <a:rPr sz="2700" b="1" spc="1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many</a:t>
            </a:r>
            <a:r>
              <a:rPr sz="2700" b="1" spc="1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inheritance</a:t>
            </a:r>
            <a:r>
              <a:rPr sz="2700" b="1" spc="12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path</a:t>
            </a:r>
            <a:r>
              <a:rPr sz="2700" b="1" spc="1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exist 	between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the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virtual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base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class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derived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class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1" y="3124199"/>
            <a:ext cx="6324599" cy="331791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7" y="828704"/>
            <a:ext cx="8714359" cy="546915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36700" y="8185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5255" y="756566"/>
            <a:ext cx="8897658" cy="5538050"/>
            <a:chOff x="221255" y="938949"/>
            <a:chExt cx="8897658" cy="55380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55" y="944069"/>
              <a:ext cx="5722343" cy="55329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938949"/>
              <a:ext cx="3022913" cy="20664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1242" y="3731316"/>
              <a:ext cx="2286738" cy="158076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24000" y="3884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30" dirty="0"/>
              <a:t> </a:t>
            </a:r>
            <a:r>
              <a:rPr dirty="0"/>
              <a:t>Base</a:t>
            </a:r>
            <a:r>
              <a:rPr spc="-130" dirty="0"/>
              <a:t> </a:t>
            </a:r>
            <a:r>
              <a:rPr spc="-10" dirty="0"/>
              <a:t>Classes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2045" y="13407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Question 5</a:t>
            </a:r>
            <a:r>
              <a:rPr spc="-90" dirty="0"/>
              <a:t> </a:t>
            </a:r>
            <a:r>
              <a:rPr dirty="0"/>
              <a:t>:</a:t>
            </a:r>
            <a:r>
              <a:rPr spc="-90" dirty="0"/>
              <a:t> </a:t>
            </a:r>
            <a:r>
              <a:rPr dirty="0"/>
              <a:t>Hybrid</a:t>
            </a:r>
            <a:r>
              <a:rPr spc="-90" dirty="0"/>
              <a:t> </a:t>
            </a:r>
            <a:r>
              <a:rPr spc="-10" dirty="0"/>
              <a:t>Inheritance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90572" y="1002791"/>
            <a:ext cx="8624570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1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00" dirty="0">
                <a:latin typeface="Calibri"/>
                <a:cs typeface="Calibri"/>
              </a:rPr>
              <a:t> 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600" b="1" spc="19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Hospital</a:t>
            </a:r>
            <a:r>
              <a:rPr sz="2600" b="1" spc="204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having</a:t>
            </a:r>
            <a:r>
              <a:rPr sz="2600" spc="200" dirty="0">
                <a:latin typeface="Calibri"/>
                <a:cs typeface="Calibri"/>
              </a:rPr>
              <a:t> 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rollno</a:t>
            </a:r>
            <a:r>
              <a:rPr sz="2600" b="1" spc="200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00" dirty="0">
                <a:latin typeface="Calibri"/>
                <a:cs typeface="Calibri"/>
              </a:rPr>
              <a:t> 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name</a:t>
            </a:r>
            <a:r>
              <a:rPr sz="2600" b="1" spc="195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195" dirty="0">
                <a:latin typeface="Calibri"/>
                <a:cs typeface="Calibri"/>
              </a:rPr>
              <a:t>  </a:t>
            </a:r>
            <a:r>
              <a:rPr sz="2600" spc="-20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members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member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get</a:t>
            </a:r>
            <a:r>
              <a:rPr sz="2600" b="1" spc="1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print</a:t>
            </a:r>
            <a:r>
              <a:rPr sz="2600" b="1" spc="11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data.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Derive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600" b="1" spc="5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Ward</a:t>
            </a:r>
            <a:r>
              <a:rPr sz="2600" b="1" spc="5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5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5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Hospital</a:t>
            </a:r>
            <a:r>
              <a:rPr sz="2600" spc="5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having</a:t>
            </a:r>
            <a:r>
              <a:rPr sz="2600" spc="5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5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members:</a:t>
            </a:r>
            <a:r>
              <a:rPr sz="2600" spc="565" dirty="0"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0070C0"/>
                </a:solidFill>
                <a:latin typeface="Calibri"/>
                <a:cs typeface="Calibri"/>
              </a:rPr>
              <a:t>ward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number</a:t>
            </a:r>
            <a:r>
              <a:rPr sz="2600" b="1" spc="4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member</a:t>
            </a:r>
            <a:r>
              <a:rPr sz="2600" spc="4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50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get</a:t>
            </a:r>
            <a:r>
              <a:rPr sz="2600" b="1" spc="4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48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print</a:t>
            </a:r>
            <a:r>
              <a:rPr sz="2600" b="1" spc="4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data.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Derive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4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600" b="1" spc="4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Room</a:t>
            </a:r>
            <a:r>
              <a:rPr sz="2600" b="1" spc="4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4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Hospital</a:t>
            </a:r>
            <a:r>
              <a:rPr sz="2600" spc="4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having</a:t>
            </a:r>
            <a:r>
              <a:rPr sz="2600" spc="4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4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member</a:t>
            </a:r>
            <a:r>
              <a:rPr sz="2600" spc="484" dirty="0"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70C0"/>
                </a:solidFill>
                <a:latin typeface="Calibri"/>
                <a:cs typeface="Calibri"/>
              </a:rPr>
              <a:t>bed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number</a:t>
            </a:r>
            <a:r>
              <a:rPr sz="2600" b="1" spc="11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nature</a:t>
            </a:r>
            <a:r>
              <a:rPr sz="2600" b="1" spc="1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600" b="1" spc="12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illness</a:t>
            </a:r>
            <a:r>
              <a:rPr sz="26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member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get</a:t>
            </a:r>
            <a:r>
              <a:rPr sz="2600" b="1" spc="1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print</a:t>
            </a:r>
            <a:r>
              <a:rPr sz="2600" b="1" spc="6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data.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Derive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600" b="1" spc="6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Patient</a:t>
            </a:r>
            <a:r>
              <a:rPr sz="2600" b="1" spc="6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Ward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6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 </a:t>
            </a:r>
            <a:r>
              <a:rPr sz="2600" dirty="0">
                <a:latin typeface="Calibri"/>
                <a:cs typeface="Calibri"/>
              </a:rPr>
              <a:t>Room.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main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()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declare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5</a:t>
            </a:r>
            <a:r>
              <a:rPr sz="2600" b="1" spc="1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object</a:t>
            </a:r>
            <a:r>
              <a:rPr sz="2600" b="1" spc="1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600" b="1" spc="1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600" b="1" spc="1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70C0"/>
                </a:solidFill>
                <a:latin typeface="Calibri"/>
                <a:cs typeface="Calibri"/>
              </a:rPr>
              <a:t>Patient</a:t>
            </a:r>
            <a:r>
              <a:rPr sz="2600" b="1" spc="1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get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display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information.</a:t>
            </a:r>
            <a:endParaRPr sz="2600">
              <a:latin typeface="Calibri"/>
              <a:cs typeface="Calibri"/>
            </a:endParaRPr>
          </a:p>
          <a:p>
            <a:pPr marL="12700" algn="just">
              <a:spcBef>
                <a:spcPts val="3120"/>
              </a:spcBef>
            </a:pPr>
            <a:r>
              <a:rPr sz="2600" dirty="0">
                <a:latin typeface="Calibri"/>
                <a:cs typeface="Calibri"/>
              </a:rPr>
              <a:t>Use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concept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Virtual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Base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6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Hybrid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Inheritance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21651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240" y="992126"/>
            <a:ext cx="8493759" cy="548487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18644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787467" y="1095101"/>
            <a:ext cx="8867832" cy="5437222"/>
            <a:chOff x="276167" y="990600"/>
            <a:chExt cx="8867832" cy="5437222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167" y="995361"/>
              <a:ext cx="5715000" cy="54324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400" y="990600"/>
              <a:ext cx="2895599" cy="46684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5937" y="23830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Solution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874" y="928238"/>
            <a:ext cx="4919662" cy="546308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3457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Constructors</a:t>
            </a:r>
            <a:r>
              <a:rPr spc="-12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Derived</a:t>
            </a:r>
            <a:r>
              <a:rPr spc="-12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5466" y="1025597"/>
            <a:ext cx="858964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marR="71120" indent="-377825">
              <a:spcBef>
                <a:spcPts val="100"/>
              </a:spcBef>
              <a:buFont typeface="Lucida Sans Unicode"/>
              <a:buChar char="□"/>
              <a:tabLst>
                <a:tab pos="389890" algn="l"/>
                <a:tab pos="1097280" algn="l"/>
                <a:tab pos="3051175" algn="l"/>
                <a:tab pos="3649979" algn="l"/>
                <a:tab pos="4763135" algn="l"/>
                <a:tab pos="5615305" algn="l"/>
                <a:tab pos="6790055" algn="l"/>
                <a:tab pos="7429500" algn="l"/>
              </a:tabLst>
            </a:pPr>
            <a:r>
              <a:rPr sz="2700" spc="-2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constructors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25" dirty="0">
                <a:solidFill>
                  <a:srgbClr val="0070C0"/>
                </a:solidFill>
                <a:latin typeface="Calibri"/>
                <a:cs typeface="Calibri"/>
              </a:rPr>
              <a:t>for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virtual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20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classes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are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35" dirty="0">
                <a:latin typeface="Calibri"/>
                <a:cs typeface="Calibri"/>
              </a:rPr>
              <a:t>invoked </a:t>
            </a:r>
            <a:r>
              <a:rPr sz="2700" dirty="0">
                <a:latin typeface="Calibri"/>
                <a:cs typeface="Calibri"/>
              </a:rPr>
              <a:t>before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any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non-</a:t>
            </a:r>
            <a:r>
              <a:rPr sz="2700" dirty="0">
                <a:latin typeface="Calibri"/>
                <a:cs typeface="Calibri"/>
              </a:rPr>
              <a:t>virtual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base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classes.</a:t>
            </a:r>
            <a:endParaRPr sz="2700">
              <a:latin typeface="Calibri"/>
              <a:cs typeface="Calibri"/>
            </a:endParaRPr>
          </a:p>
          <a:p>
            <a:pPr marL="389890" marR="5080" indent="-377825">
              <a:buFont typeface="Lucida Sans Unicode"/>
              <a:buChar char="□"/>
              <a:tabLst>
                <a:tab pos="389890" algn="l"/>
                <a:tab pos="781050" algn="l"/>
                <a:tab pos="1378585" algn="l"/>
                <a:tab pos="2276475" algn="l"/>
                <a:tab pos="2667635" algn="l"/>
                <a:tab pos="3629025" algn="l"/>
                <a:tab pos="4379595" algn="l"/>
                <a:tab pos="4961890" algn="l"/>
                <a:tab pos="6383655" algn="l"/>
                <a:tab pos="7043420" algn="l"/>
              </a:tabLst>
            </a:pPr>
            <a:r>
              <a:rPr sz="2700" dirty="0">
                <a:latin typeface="Calibri"/>
                <a:cs typeface="Calibri"/>
              </a:rPr>
              <a:t>If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there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multiple</a:t>
            </a:r>
            <a:r>
              <a:rPr sz="2700" b="1" spc="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virtual</a:t>
            </a:r>
            <a:r>
              <a:rPr sz="2700" b="1" spc="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700" b="1" spc="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classes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they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invoked </a:t>
            </a:r>
            <a:r>
              <a:rPr sz="2700" spc="-25" dirty="0">
                <a:latin typeface="Calibri"/>
                <a:cs typeface="Calibri"/>
              </a:rPr>
              <a:t>in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order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which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they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are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declared.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Any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non-virtual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2690" y="2671517"/>
            <a:ext cx="82061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1019175" algn="l"/>
                <a:tab pos="1692275" algn="l"/>
                <a:tab pos="2561590" algn="l"/>
                <a:tab pos="4438650" algn="l"/>
                <a:tab pos="5574030" algn="l"/>
                <a:tab pos="6263005" algn="l"/>
                <a:tab pos="7536815" algn="l"/>
              </a:tabLst>
            </a:pPr>
            <a:r>
              <a:rPr sz="2700" spc="-10" dirty="0">
                <a:latin typeface="Calibri"/>
                <a:cs typeface="Calibri"/>
              </a:rPr>
              <a:t>bases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are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then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constructed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before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derived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class </a:t>
            </a:r>
            <a:r>
              <a:rPr sz="2700" dirty="0">
                <a:latin typeface="Calibri"/>
                <a:cs typeface="Calibri"/>
              </a:rPr>
              <a:t>constructor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executed.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93241" y="3487928"/>
            <a:ext cx="8639175" cy="2981325"/>
            <a:chOff x="269240" y="3487927"/>
            <a:chExt cx="8639175" cy="2981325"/>
          </a:xfrm>
        </p:grpSpPr>
        <p:sp>
          <p:nvSpPr>
            <p:cNvPr id="10" name="object 10"/>
            <p:cNvSpPr/>
            <p:nvPr/>
          </p:nvSpPr>
          <p:spPr>
            <a:xfrm>
              <a:off x="269240" y="3487927"/>
              <a:ext cx="8639175" cy="2981325"/>
            </a:xfrm>
            <a:custGeom>
              <a:avLst/>
              <a:gdLst/>
              <a:ahLst/>
              <a:cxnLst/>
              <a:rect l="l" t="t" r="r" b="b"/>
              <a:pathLst>
                <a:path w="8639175" h="2981325">
                  <a:moveTo>
                    <a:pt x="8638649" y="2981074"/>
                  </a:moveTo>
                  <a:lnTo>
                    <a:pt x="0" y="2981074"/>
                  </a:lnTo>
                  <a:lnTo>
                    <a:pt x="0" y="0"/>
                  </a:lnTo>
                  <a:lnTo>
                    <a:pt x="8638649" y="0"/>
                  </a:lnTo>
                  <a:lnTo>
                    <a:pt x="8638649" y="2981074"/>
                  </a:lnTo>
                  <a:close/>
                </a:path>
              </a:pathLst>
            </a:custGeom>
            <a:solidFill>
              <a:srgbClr val="E7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9240" y="3487940"/>
              <a:ext cx="8639175" cy="2981325"/>
            </a:xfrm>
            <a:custGeom>
              <a:avLst/>
              <a:gdLst/>
              <a:ahLst/>
              <a:cxnLst/>
              <a:rect l="l" t="t" r="r" b="b"/>
              <a:pathLst>
                <a:path w="8639175" h="2981325">
                  <a:moveTo>
                    <a:pt x="8638642" y="0"/>
                  </a:moveTo>
                  <a:lnTo>
                    <a:pt x="4319321" y="0"/>
                  </a:lnTo>
                  <a:lnTo>
                    <a:pt x="0" y="0"/>
                  </a:lnTo>
                  <a:lnTo>
                    <a:pt x="0" y="472414"/>
                  </a:lnTo>
                  <a:lnTo>
                    <a:pt x="0" y="1152271"/>
                  </a:lnTo>
                  <a:lnTo>
                    <a:pt x="0" y="2066671"/>
                  </a:lnTo>
                  <a:lnTo>
                    <a:pt x="0" y="2981071"/>
                  </a:lnTo>
                  <a:lnTo>
                    <a:pt x="4319321" y="2981071"/>
                  </a:lnTo>
                  <a:lnTo>
                    <a:pt x="8638642" y="2981071"/>
                  </a:lnTo>
                  <a:lnTo>
                    <a:pt x="8638642" y="2066671"/>
                  </a:lnTo>
                  <a:lnTo>
                    <a:pt x="8638642" y="1152271"/>
                  </a:lnTo>
                  <a:lnTo>
                    <a:pt x="8638642" y="472414"/>
                  </a:lnTo>
                  <a:lnTo>
                    <a:pt x="86386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56649" y="3500628"/>
            <a:ext cx="29902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Method</a:t>
            </a:r>
            <a:r>
              <a:rPr sz="25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5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070C0"/>
                </a:solidFill>
                <a:latin typeface="Calibri"/>
                <a:cs typeface="Calibri"/>
              </a:rPr>
              <a:t>inheritance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0855" y="3368710"/>
            <a:ext cx="2490470" cy="305054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spcBef>
                <a:spcPts val="1135"/>
              </a:spcBef>
            </a:pP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Order</a:t>
            </a:r>
            <a:r>
              <a:rPr sz="2500" b="1" spc="-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500" b="1" spc="-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0070C0"/>
                </a:solidFill>
                <a:latin typeface="Calibri"/>
                <a:cs typeface="Calibri"/>
              </a:rPr>
              <a:t>execution</a:t>
            </a:r>
            <a:endParaRPr sz="2500">
              <a:latin typeface="Calibri"/>
              <a:cs typeface="Calibri"/>
            </a:endParaRPr>
          </a:p>
          <a:p>
            <a:pPr marL="55244" marR="230504">
              <a:spcBef>
                <a:spcPts val="750"/>
              </a:spcBef>
            </a:pPr>
            <a:r>
              <a:rPr dirty="0">
                <a:latin typeface="Calibri"/>
                <a:cs typeface="Calibri"/>
              </a:rPr>
              <a:t>A();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constructor </a:t>
            </a:r>
            <a:r>
              <a:rPr dirty="0">
                <a:latin typeface="Calibri"/>
                <a:cs typeface="Calibri"/>
              </a:rPr>
              <a:t>B();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derived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constructor</a:t>
            </a:r>
            <a:endParaRPr>
              <a:latin typeface="Calibri"/>
              <a:cs typeface="Calibri"/>
            </a:endParaRPr>
          </a:p>
          <a:p>
            <a:pPr marL="55244">
              <a:spcBef>
                <a:spcPts val="1035"/>
              </a:spcBef>
            </a:pPr>
            <a:r>
              <a:rPr dirty="0">
                <a:latin typeface="Calibri"/>
                <a:cs typeface="Calibri"/>
              </a:rPr>
              <a:t>B();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base(first)</a:t>
            </a:r>
            <a:endParaRPr>
              <a:latin typeface="Calibri"/>
              <a:cs typeface="Calibri"/>
            </a:endParaRPr>
          </a:p>
          <a:p>
            <a:pPr marL="55244" marR="826135"/>
            <a:r>
              <a:rPr dirty="0">
                <a:latin typeface="Calibri"/>
                <a:cs typeface="Calibri"/>
              </a:rPr>
              <a:t>C();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base(second) </a:t>
            </a:r>
            <a:r>
              <a:rPr dirty="0">
                <a:latin typeface="Calibri"/>
                <a:cs typeface="Calibri"/>
              </a:rPr>
              <a:t>A();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derived</a:t>
            </a:r>
            <a:endParaRPr>
              <a:latin typeface="Calibri"/>
              <a:cs typeface="Calibri"/>
            </a:endParaRPr>
          </a:p>
          <a:p>
            <a:pPr marL="55244" marR="784860">
              <a:spcBef>
                <a:spcPts val="720"/>
              </a:spcBef>
            </a:pPr>
            <a:r>
              <a:rPr dirty="0">
                <a:latin typeface="Calibri"/>
                <a:cs typeface="Calibri"/>
              </a:rPr>
              <a:t>C()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;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virtual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base </a:t>
            </a:r>
            <a:r>
              <a:rPr dirty="0">
                <a:latin typeface="Calibri"/>
                <a:cs typeface="Calibri"/>
              </a:rPr>
              <a:t>B();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ordinary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base </a:t>
            </a:r>
            <a:r>
              <a:rPr dirty="0">
                <a:latin typeface="Calibri"/>
                <a:cs typeface="Calibri"/>
              </a:rPr>
              <a:t>A();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derived</a:t>
            </a:r>
            <a:endParaRPr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79385" y="4009291"/>
            <a:ext cx="4316615" cy="2432821"/>
            <a:chOff x="255384" y="4009290"/>
            <a:chExt cx="4316615" cy="2432821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39" y="4801325"/>
              <a:ext cx="4302760" cy="82060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384" y="5621932"/>
              <a:ext cx="4316615" cy="8201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238" y="4009290"/>
              <a:ext cx="4302761" cy="838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52800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257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Abstract</a:t>
            </a:r>
            <a:r>
              <a:rPr spc="-185" dirty="0"/>
              <a:t> </a:t>
            </a:r>
            <a:r>
              <a:rPr spc="-10" dirty="0"/>
              <a:t>Classes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5101" y="1063363"/>
            <a:ext cx="8773795" cy="5804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3555" indent="-490855">
              <a:spcBef>
                <a:spcPts val="100"/>
              </a:spcBef>
              <a:buFont typeface="Lucida Sans Unicode"/>
              <a:buChar char="□"/>
              <a:tabLst>
                <a:tab pos="503555" algn="l"/>
              </a:tabLst>
            </a:pPr>
            <a:r>
              <a:rPr sz="2700" dirty="0">
                <a:latin typeface="Calibri"/>
                <a:cs typeface="Calibri"/>
              </a:rPr>
              <a:t>An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abstract</a:t>
            </a:r>
            <a:r>
              <a:rPr sz="2700" b="1" spc="-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700" b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not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used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to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create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objects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504190" marR="5080" indent="-492125">
              <a:spcBef>
                <a:spcPts val="3240"/>
              </a:spcBef>
              <a:buFont typeface="Lucida Sans Unicode"/>
              <a:buChar char="□"/>
              <a:tabLst>
                <a:tab pos="504190" algn="l"/>
              </a:tabLst>
            </a:pPr>
            <a:r>
              <a:rPr sz="2700" dirty="0">
                <a:latin typeface="Calibri"/>
                <a:cs typeface="Calibri"/>
              </a:rPr>
              <a:t>It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designed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only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act</a:t>
            </a:r>
            <a:r>
              <a:rPr sz="2700" b="1" spc="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as</a:t>
            </a:r>
            <a:r>
              <a:rPr sz="2700" b="1" spc="8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700" b="1" spc="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700" b="1" spc="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lang="en-US" sz="2700" b="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(to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inherited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by </a:t>
            </a:r>
            <a:r>
              <a:rPr sz="2700" dirty="0">
                <a:latin typeface="Calibri"/>
                <a:cs typeface="Calibri"/>
              </a:rPr>
              <a:t>other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classes)</a:t>
            </a:r>
            <a:endParaRPr sz="2700" dirty="0">
              <a:latin typeface="Calibri"/>
              <a:cs typeface="Calibri"/>
            </a:endParaRPr>
          </a:p>
          <a:p>
            <a:pPr marL="504190" marR="13335" indent="-492125">
              <a:spcBef>
                <a:spcPts val="3240"/>
              </a:spcBef>
              <a:buFont typeface="Lucida Sans Unicode"/>
              <a:buChar char="□"/>
              <a:tabLst>
                <a:tab pos="504190" algn="l"/>
                <a:tab pos="934719" algn="l"/>
                <a:tab pos="1377315" algn="l"/>
                <a:tab pos="1771650" algn="l"/>
                <a:tab pos="2906395" algn="l"/>
                <a:tab pos="4247515" algn="l"/>
                <a:tab pos="4735830" algn="l"/>
                <a:tab pos="6151880" algn="l"/>
                <a:tab pos="8227695" algn="l"/>
              </a:tabLst>
            </a:pPr>
            <a:r>
              <a:rPr sz="2700" spc="-25" dirty="0">
                <a:latin typeface="Calibri"/>
                <a:cs typeface="Calibri"/>
              </a:rPr>
              <a:t>It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is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0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design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concept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and </a:t>
            </a:r>
            <a:r>
              <a:rPr sz="2700" dirty="0">
                <a:latin typeface="Calibri"/>
                <a:cs typeface="Calibri"/>
              </a:rPr>
              <a:t>provides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base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upon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which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other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classes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built.</a:t>
            </a:r>
            <a:endParaRPr lang="en-US" sz="2700" spc="-10" dirty="0">
              <a:latin typeface="Calibri"/>
              <a:cs typeface="Calibri"/>
            </a:endParaRPr>
          </a:p>
          <a:p>
            <a:pPr marL="504190" marR="13335" indent="-492125" algn="just">
              <a:spcBef>
                <a:spcPts val="3240"/>
              </a:spcBef>
              <a:buFont typeface="Lucida Sans Unicode"/>
              <a:buChar char="□"/>
              <a:tabLst>
                <a:tab pos="504190" algn="l"/>
                <a:tab pos="934719" algn="l"/>
                <a:tab pos="1377315" algn="l"/>
                <a:tab pos="1771650" algn="l"/>
                <a:tab pos="2906395" algn="l"/>
                <a:tab pos="4247515" algn="l"/>
                <a:tab pos="4735830" algn="l"/>
                <a:tab pos="6151880" algn="l"/>
                <a:tab pos="8227695" algn="l"/>
              </a:tabLst>
            </a:pPr>
            <a:r>
              <a:rPr lang="en-IN" sz="2700" dirty="0">
                <a:latin typeface="Calibri"/>
                <a:cs typeface="Calibri"/>
              </a:rPr>
              <a:t>An abstract class is a class that cannot be instantiated directly.</a:t>
            </a:r>
          </a:p>
          <a:p>
            <a:pPr marL="504190" marR="13335" indent="-492125" algn="just">
              <a:spcBef>
                <a:spcPts val="3240"/>
              </a:spcBef>
              <a:buFont typeface="Lucida Sans Unicode"/>
              <a:buChar char="□"/>
              <a:tabLst>
                <a:tab pos="504190" algn="l"/>
                <a:tab pos="934719" algn="l"/>
                <a:tab pos="1377315" algn="l"/>
                <a:tab pos="1771650" algn="l"/>
                <a:tab pos="2906395" algn="l"/>
                <a:tab pos="4247515" algn="l"/>
                <a:tab pos="4735830" algn="l"/>
                <a:tab pos="6151880" algn="l"/>
                <a:tab pos="8227695" algn="l"/>
              </a:tabLst>
            </a:pPr>
            <a:r>
              <a:rPr lang="en-IN" sz="2700" dirty="0">
                <a:latin typeface="Calibri"/>
                <a:cs typeface="Calibri"/>
              </a:rPr>
              <a:t>It acts as a blueprint for other classes.</a:t>
            </a:r>
          </a:p>
          <a:p>
            <a:pPr marL="504190" marR="13335" indent="-492125">
              <a:spcBef>
                <a:spcPts val="3240"/>
              </a:spcBef>
              <a:buFont typeface="Lucida Sans Unicode"/>
              <a:buChar char="□"/>
              <a:tabLst>
                <a:tab pos="504190" algn="l"/>
                <a:tab pos="934719" algn="l"/>
                <a:tab pos="1377315" algn="l"/>
                <a:tab pos="1771650" algn="l"/>
                <a:tab pos="2906395" algn="l"/>
                <a:tab pos="4247515" algn="l"/>
                <a:tab pos="4735830" algn="l"/>
                <a:tab pos="6151880" algn="l"/>
                <a:tab pos="8227695" algn="l"/>
              </a:tabLst>
            </a:pPr>
            <a:endParaRPr sz="2700" dirty="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E6165-8D2C-B210-874E-07E9B87C2DB6}"/>
              </a:ext>
            </a:extLst>
          </p:cNvPr>
          <p:cNvSpPr txBox="1"/>
          <p:nvPr/>
        </p:nvSpPr>
        <p:spPr>
          <a:xfrm>
            <a:off x="9664861" y="474562"/>
            <a:ext cx="201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8p.cpp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092D-5B4A-50AF-A21A-3E9116E8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3C9E-9C1B-4F23-7F73-54AA05BE7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pure virtual function is a virtual function that has no definition in the base class.</a:t>
            </a:r>
          </a:p>
          <a:p>
            <a:r>
              <a:rPr lang="en-IN" dirty="0"/>
              <a:t>It’s declared using = 0.</a:t>
            </a:r>
          </a:p>
          <a:p>
            <a:r>
              <a:rPr lang="en-IN" dirty="0"/>
              <a:t>It makes the class abstract, meaning you cannot create objects of it.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17364-FCEC-8847-E1A8-F6B9171672F4}"/>
              </a:ext>
            </a:extLst>
          </p:cNvPr>
          <p:cNvSpPr txBox="1"/>
          <p:nvPr/>
        </p:nvSpPr>
        <p:spPr>
          <a:xfrm>
            <a:off x="9294471" y="717630"/>
            <a:ext cx="1770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8p.cpp</a:t>
            </a:r>
          </a:p>
        </p:txBody>
      </p:sp>
    </p:spTree>
    <p:extLst>
      <p:ext uri="{BB962C8B-B14F-4D97-AF65-F5344CB8AC3E}">
        <p14:creationId xmlns:p14="http://schemas.microsoft.com/office/powerpoint/2010/main" val="32602382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D22B-C1FB-E84C-B18B-1C6E2005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virtual function and pure virtual function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776C2F-33F2-C863-7715-6F0B65E90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1192"/>
              </p:ext>
            </p:extLst>
          </p:nvPr>
        </p:nvGraphicFramePr>
        <p:xfrm>
          <a:off x="838200" y="2746149"/>
          <a:ext cx="10515600" cy="28346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103389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06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19421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Virtual Function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Pure Virtual Function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87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Definition in Base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Has a body (implementation)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 body (= 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70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Overriding in Derived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Optional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Mandatory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40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Instantiation of Base Class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Not allowed (abstract class)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59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Enables polymorphism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Enforces polymorphism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658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Default Behavior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Can be used as-is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Must be overridden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903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Example Use Case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Common behavior that derived can customize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Interface design (abstract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4159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7F979E-1A1A-E723-4797-FBBBB3C8ED59}"/>
              </a:ext>
            </a:extLst>
          </p:cNvPr>
          <p:cNvSpPr txBox="1"/>
          <p:nvPr/>
        </p:nvSpPr>
        <p:spPr>
          <a:xfrm>
            <a:off x="1805652" y="5712920"/>
            <a:ext cx="6053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virtual → provides choice (base class gives a default).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= 0 → provides force (derived class must define it).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5409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1188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Member</a:t>
            </a:r>
            <a:r>
              <a:rPr spc="-95" dirty="0"/>
              <a:t> </a:t>
            </a:r>
            <a:r>
              <a:rPr dirty="0"/>
              <a:t>Classes:</a:t>
            </a:r>
            <a:r>
              <a:rPr spc="-90" dirty="0"/>
              <a:t> </a:t>
            </a:r>
            <a:r>
              <a:rPr dirty="0"/>
              <a:t>Nesting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04385" y="1063363"/>
            <a:ext cx="8749665" cy="372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indent="-501650">
              <a:spcBef>
                <a:spcPts val="100"/>
              </a:spcBef>
              <a:buFont typeface="Arial Black"/>
              <a:buChar char="□"/>
              <a:tabLst>
                <a:tab pos="514350" algn="l"/>
              </a:tabLst>
            </a:pPr>
            <a:r>
              <a:rPr sz="2700" b="1" spc="-20" dirty="0">
                <a:solidFill>
                  <a:srgbClr val="0070C0"/>
                </a:solidFill>
                <a:latin typeface="Calibri"/>
                <a:cs typeface="Calibri"/>
              </a:rPr>
              <a:t>Is-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700" b="1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relationship: </a:t>
            </a:r>
            <a:r>
              <a:rPr sz="2700" dirty="0">
                <a:latin typeface="Calibri"/>
                <a:cs typeface="Calibri"/>
              </a:rPr>
              <a:t>Inheritance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Is-a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relationship</a:t>
            </a:r>
            <a:endParaRPr sz="2700">
              <a:latin typeface="Calibri"/>
              <a:cs typeface="Calibri"/>
            </a:endParaRPr>
          </a:p>
          <a:p>
            <a:pPr marL="971550" lvl="1" indent="-501650">
              <a:buFont typeface="Arial Black"/>
              <a:buChar char="□"/>
              <a:tabLst>
                <a:tab pos="971550" algn="l"/>
              </a:tabLst>
            </a:pPr>
            <a:r>
              <a:rPr sz="2700" b="1" dirty="0">
                <a:latin typeface="Calibri"/>
                <a:cs typeface="Calibri"/>
              </a:rPr>
              <a:t>Ex: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BMW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is-a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[Here,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BMW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&amp;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classes]</a:t>
            </a:r>
            <a:endParaRPr sz="2700">
              <a:latin typeface="Calibri"/>
              <a:cs typeface="Calibri"/>
            </a:endParaRPr>
          </a:p>
          <a:p>
            <a:pPr marL="501650" marR="594360" indent="-501650" algn="r">
              <a:spcBef>
                <a:spcPts val="3240"/>
              </a:spcBef>
              <a:buFont typeface="Arial Black"/>
              <a:buChar char="□"/>
              <a:tabLst>
                <a:tab pos="501650" algn="l"/>
              </a:tabLst>
            </a:pPr>
            <a:r>
              <a:rPr sz="2700" b="1" spc="-25" dirty="0">
                <a:solidFill>
                  <a:srgbClr val="0070C0"/>
                </a:solidFill>
                <a:latin typeface="Calibri"/>
                <a:cs typeface="Calibri"/>
              </a:rPr>
              <a:t>Has-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700" b="1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relationship: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Composition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Has-a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relationship</a:t>
            </a:r>
            <a:endParaRPr sz="2700">
              <a:latin typeface="Calibri"/>
              <a:cs typeface="Calibri"/>
            </a:endParaRPr>
          </a:p>
          <a:p>
            <a:pPr marL="501650" marR="485140" lvl="1" indent="-501650" algn="r">
              <a:buFont typeface="Arial Black"/>
              <a:buChar char="□"/>
              <a:tabLst>
                <a:tab pos="501650" algn="l"/>
              </a:tabLst>
            </a:pPr>
            <a:r>
              <a:rPr sz="2700" b="1" dirty="0">
                <a:latin typeface="Calibri"/>
                <a:cs typeface="Calibri"/>
              </a:rPr>
              <a:t>Ex: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has-a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engine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[Here,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&amp;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engine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classes]</a:t>
            </a:r>
            <a:endParaRPr sz="2700">
              <a:latin typeface="Calibri"/>
              <a:cs typeface="Calibri"/>
            </a:endParaRPr>
          </a:p>
          <a:p>
            <a:pPr marL="514350" indent="-501650">
              <a:spcBef>
                <a:spcPts val="3240"/>
              </a:spcBef>
              <a:buFont typeface="Arial Black"/>
              <a:buChar char="□"/>
              <a:tabLst>
                <a:tab pos="514350" algn="l"/>
              </a:tabLst>
            </a:pP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What</a:t>
            </a:r>
            <a:r>
              <a:rPr sz="2700" b="1" spc="-8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2700" b="1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Nested</a:t>
            </a:r>
            <a:r>
              <a:rPr sz="2700" b="1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70C0"/>
                </a:solidFill>
                <a:latin typeface="Calibri"/>
                <a:cs typeface="Calibri"/>
              </a:rPr>
              <a:t>class?</a:t>
            </a:r>
            <a:endParaRPr sz="2700">
              <a:latin typeface="Calibri"/>
              <a:cs typeface="Calibri"/>
            </a:endParaRPr>
          </a:p>
          <a:p>
            <a:pPr marL="971550" lvl="1" indent="-491490">
              <a:buFont typeface="Lucida Sans Unicode"/>
              <a:buChar char="□"/>
              <a:tabLst>
                <a:tab pos="97155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nested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class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declared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another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class</a:t>
            </a:r>
            <a:endParaRPr sz="2700">
              <a:latin typeface="Calibri"/>
              <a:cs typeface="Calibri"/>
            </a:endParaRPr>
          </a:p>
          <a:p>
            <a:pPr marL="971550" lvl="1" indent="-491490">
              <a:buFont typeface="Lucida Sans Unicode"/>
              <a:buChar char="□"/>
              <a:tabLst>
                <a:tab pos="971550" algn="l"/>
              </a:tabLst>
            </a:pPr>
            <a:r>
              <a:rPr sz="2700" dirty="0">
                <a:latin typeface="Calibri"/>
                <a:cs typeface="Calibri"/>
              </a:rPr>
              <a:t>It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implements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concept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b="1" spc="-25" dirty="0">
                <a:solidFill>
                  <a:srgbClr val="0070C0"/>
                </a:solidFill>
                <a:latin typeface="Calibri"/>
                <a:cs typeface="Calibri"/>
              </a:rPr>
              <a:t>“has-</a:t>
            </a:r>
            <a:r>
              <a:rPr sz="2700" b="1" dirty="0">
                <a:solidFill>
                  <a:srgbClr val="0070C0"/>
                </a:solidFill>
                <a:latin typeface="Calibri"/>
                <a:cs typeface="Calibri"/>
              </a:rPr>
              <a:t>a”</a:t>
            </a:r>
            <a:r>
              <a:rPr sz="2700" b="1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relationship.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07067" y="-19571"/>
            <a:ext cx="11932920" cy="816890"/>
          </a:xfrm>
          <a:prstGeom prst="rect">
            <a:avLst/>
          </a:prstGeom>
        </p:spPr>
        <p:txBody>
          <a:bodyPr vert="horz" wrap="square" lIns="0" tIns="138430" rIns="0" bIns="0" rtlCol="0" anchor="ctr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Member</a:t>
            </a:r>
            <a:r>
              <a:rPr spc="-95" dirty="0"/>
              <a:t> </a:t>
            </a:r>
            <a:r>
              <a:rPr dirty="0"/>
              <a:t>Classes:</a:t>
            </a:r>
            <a:r>
              <a:rPr spc="-90" dirty="0"/>
              <a:t> </a:t>
            </a:r>
            <a:r>
              <a:rPr dirty="0"/>
              <a:t>Nesting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08801" y="1057285"/>
            <a:ext cx="5609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265" algn="l"/>
              </a:tabLst>
            </a:pP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Syntax</a:t>
            </a:r>
            <a:r>
              <a:rPr sz="27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4050" b="1" spc="-15" baseline="1028" dirty="0">
                <a:solidFill>
                  <a:srgbClr val="FF0000"/>
                </a:solidFill>
                <a:latin typeface="Calibri"/>
                <a:cs typeface="Calibri"/>
              </a:rPr>
              <a:t>Syntax</a:t>
            </a:r>
            <a:r>
              <a:rPr sz="4050" b="1" spc="-157" baseline="102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50" b="1" spc="-75" baseline="1028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4050" baseline="1028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25133"/>
            <a:ext cx="3209924" cy="339828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48" y="1997043"/>
            <a:ext cx="4667250" cy="2346357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30267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">
              <a:lnSpc>
                <a:spcPct val="100000"/>
              </a:lnSpc>
              <a:spcBef>
                <a:spcPts val="100"/>
              </a:spcBef>
            </a:pPr>
            <a:r>
              <a:rPr dirty="0"/>
              <a:t>Member</a:t>
            </a:r>
            <a:r>
              <a:rPr spc="-95" dirty="0"/>
              <a:t> </a:t>
            </a:r>
            <a:r>
              <a:rPr dirty="0"/>
              <a:t>Classes:</a:t>
            </a:r>
            <a:r>
              <a:rPr spc="-90" dirty="0"/>
              <a:t> </a:t>
            </a:r>
            <a:r>
              <a:rPr dirty="0"/>
              <a:t>Nesting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3994" y="1042353"/>
            <a:ext cx="765111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 indent="-503555">
              <a:spcBef>
                <a:spcPts val="100"/>
              </a:spcBef>
              <a:buFont typeface="Arial Black"/>
              <a:buChar char="□"/>
              <a:tabLst>
                <a:tab pos="516255" algn="l"/>
              </a:tabLst>
            </a:pP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Defining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Nested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inside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Enclosing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marL="973455" lvl="1" indent="-492759">
              <a:buFont typeface="Lucida Sans Unicode"/>
              <a:buChar char="□"/>
              <a:tabLst>
                <a:tab pos="973455" algn="l"/>
              </a:tabLst>
            </a:pPr>
            <a:r>
              <a:rPr sz="2800" dirty="0">
                <a:latin typeface="Calibri"/>
                <a:cs typeface="Calibri"/>
              </a:rPr>
              <a:t>Nested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private</a:t>
            </a:r>
            <a:endParaRPr sz="2800">
              <a:latin typeface="Calibri"/>
              <a:cs typeface="Calibri"/>
            </a:endParaRPr>
          </a:p>
          <a:p>
            <a:pPr marL="973455" lvl="1" indent="-492759">
              <a:buFont typeface="Lucida Sans Unicode"/>
              <a:buChar char="□"/>
              <a:tabLst>
                <a:tab pos="973455" algn="l"/>
              </a:tabLst>
            </a:pPr>
            <a:r>
              <a:rPr sz="2800" dirty="0">
                <a:latin typeface="Calibri"/>
                <a:cs typeface="Calibri"/>
              </a:rPr>
              <a:t>Nested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public</a:t>
            </a:r>
            <a:endParaRPr sz="2800">
              <a:latin typeface="Calibri"/>
              <a:cs typeface="Calibri"/>
            </a:endParaRPr>
          </a:p>
          <a:p>
            <a:pPr marL="516255" indent="-503555">
              <a:spcBef>
                <a:spcPts val="3359"/>
              </a:spcBef>
              <a:buFont typeface="Arial Black"/>
              <a:buChar char="□"/>
              <a:tabLst>
                <a:tab pos="516255" algn="l"/>
              </a:tabLst>
            </a:pP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Defining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Nested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outside</a:t>
            </a:r>
            <a:r>
              <a:rPr sz="2800" b="1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Enclosing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07067" y="97769"/>
            <a:ext cx="11932920" cy="5822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dirty="0"/>
              <a:t>Defining</a:t>
            </a:r>
            <a:r>
              <a:rPr sz="3700" spc="-130" dirty="0"/>
              <a:t> </a:t>
            </a:r>
            <a:r>
              <a:rPr sz="3700" dirty="0"/>
              <a:t>Nested</a:t>
            </a:r>
            <a:r>
              <a:rPr sz="3700" spc="-130" dirty="0"/>
              <a:t> </a:t>
            </a:r>
            <a:r>
              <a:rPr sz="3700" dirty="0"/>
              <a:t>class</a:t>
            </a:r>
            <a:r>
              <a:rPr sz="3700" spc="-125" dirty="0"/>
              <a:t> </a:t>
            </a:r>
            <a:r>
              <a:rPr sz="3700" dirty="0"/>
              <a:t>inside</a:t>
            </a:r>
            <a:r>
              <a:rPr sz="3700" spc="-130" dirty="0"/>
              <a:t> </a:t>
            </a:r>
            <a:r>
              <a:rPr sz="3700" dirty="0"/>
              <a:t>the</a:t>
            </a:r>
            <a:r>
              <a:rPr sz="3700" spc="-130" dirty="0"/>
              <a:t> </a:t>
            </a:r>
            <a:r>
              <a:rPr sz="3700" dirty="0"/>
              <a:t>Enclosing</a:t>
            </a:r>
            <a:r>
              <a:rPr sz="3700" spc="-125" dirty="0"/>
              <a:t> </a:t>
            </a:r>
            <a:r>
              <a:rPr sz="3700" spc="-10" dirty="0"/>
              <a:t>class</a:t>
            </a:r>
            <a:endParaRPr sz="3700"/>
          </a:p>
        </p:txBody>
      </p:sp>
      <p:grpSp>
        <p:nvGrpSpPr>
          <p:cNvPr id="3" name="object 3"/>
          <p:cNvGrpSpPr/>
          <p:nvPr/>
        </p:nvGrpSpPr>
        <p:grpSpPr>
          <a:xfrm>
            <a:off x="1793240" y="1133476"/>
            <a:ext cx="8722359" cy="5343524"/>
            <a:chOff x="269240" y="1133475"/>
            <a:chExt cx="8722359" cy="534352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" y="1133475"/>
              <a:ext cx="4378959" cy="53435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0" y="4648200"/>
              <a:ext cx="1694329" cy="10667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875" y="1314450"/>
              <a:ext cx="3895724" cy="3181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486318" y="875453"/>
            <a:ext cx="309689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Nested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7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6E227-DE52-84C8-FAF3-1DCE35F890F5}"/>
              </a:ext>
            </a:extLst>
          </p:cNvPr>
          <p:cNvSpPr txBox="1"/>
          <p:nvPr/>
        </p:nvSpPr>
        <p:spPr>
          <a:xfrm>
            <a:off x="9850056" y="1006997"/>
            <a:ext cx="180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8q.cpp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1675" y="799253"/>
            <a:ext cx="8832689" cy="5468332"/>
            <a:chOff x="158910" y="965992"/>
            <a:chExt cx="8832689" cy="5468332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10" y="965992"/>
              <a:ext cx="5022688" cy="54683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400" y="1013913"/>
              <a:ext cx="1981199" cy="221347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9292" y="4053721"/>
              <a:ext cx="1656916" cy="12287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11300" y="-21971"/>
            <a:ext cx="894969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700" dirty="0">
                <a:latin typeface="Calibri"/>
                <a:cs typeface="Calibri"/>
              </a:rPr>
              <a:t>Defining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Nested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class</a:t>
            </a:r>
            <a:r>
              <a:rPr sz="3700" spc="-12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inside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Enclosing</a:t>
            </a:r>
            <a:r>
              <a:rPr sz="3700" spc="-12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class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6318" y="799253"/>
            <a:ext cx="309689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Nested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7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public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86312" y="929746"/>
            <a:ext cx="8625185" cy="5469526"/>
            <a:chOff x="262312" y="929746"/>
            <a:chExt cx="8625185" cy="5469526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312" y="929746"/>
              <a:ext cx="4919286" cy="54695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1944" y="1013912"/>
              <a:ext cx="2775553" cy="16428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890" y="3392891"/>
              <a:ext cx="1684909" cy="125009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11300" y="-21971"/>
            <a:ext cx="894969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700" dirty="0">
                <a:latin typeface="Calibri"/>
                <a:cs typeface="Calibri"/>
              </a:rPr>
              <a:t>Defining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Nested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class</a:t>
            </a:r>
            <a:r>
              <a:rPr sz="3700" spc="-125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inside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the</a:t>
            </a:r>
            <a:r>
              <a:rPr sz="3700" spc="-130" dirty="0">
                <a:latin typeface="Calibri"/>
                <a:cs typeface="Calibri"/>
              </a:rPr>
              <a:t> </a:t>
            </a:r>
            <a:r>
              <a:rPr sz="3700" dirty="0">
                <a:latin typeface="Calibri"/>
                <a:cs typeface="Calibri"/>
              </a:rPr>
              <a:t>Enclosing</a:t>
            </a:r>
            <a:r>
              <a:rPr sz="3700" spc="-12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class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40226" y="799253"/>
            <a:ext cx="32340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Nested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sz="27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private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2032" y="6610375"/>
            <a:ext cx="2317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5F287C-4B6E-F44A-ECE6-C65FC052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Inner/Nested Class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74638B-C0CB-72A4-8A14-4B71CEC39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inner class is a member of the outer class, just like a function or variable.</a:t>
            </a:r>
          </a:p>
          <a:p>
            <a:pPr algn="just"/>
            <a:r>
              <a:rPr lang="en-IN" dirty="0"/>
              <a:t>So, to access it outside, we must scope it properly using Outer::Inner.</a:t>
            </a:r>
          </a:p>
        </p:txBody>
      </p:sp>
    </p:spTree>
    <p:extLst>
      <p:ext uri="{BB962C8B-B14F-4D97-AF65-F5344CB8AC3E}">
        <p14:creationId xmlns:p14="http://schemas.microsoft.com/office/powerpoint/2010/main" val="27102703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57120" y="564036"/>
            <a:ext cx="10237353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Defining</a:t>
            </a:r>
            <a:r>
              <a:rPr sz="3600" spc="-95" dirty="0"/>
              <a:t> </a:t>
            </a:r>
            <a:r>
              <a:rPr sz="3600" dirty="0"/>
              <a:t>Nested</a:t>
            </a:r>
            <a:r>
              <a:rPr sz="3600" spc="-90" dirty="0"/>
              <a:t> </a:t>
            </a:r>
            <a:r>
              <a:rPr sz="3600" dirty="0"/>
              <a:t>class</a:t>
            </a:r>
            <a:r>
              <a:rPr sz="3600" spc="-95" dirty="0"/>
              <a:t> </a:t>
            </a:r>
            <a:r>
              <a:rPr sz="3600" dirty="0"/>
              <a:t>outside</a:t>
            </a:r>
            <a:r>
              <a:rPr sz="3600" spc="-90" dirty="0"/>
              <a:t> </a:t>
            </a:r>
            <a:r>
              <a:rPr sz="3600" dirty="0"/>
              <a:t>the</a:t>
            </a:r>
            <a:r>
              <a:rPr sz="3600" spc="-90" dirty="0"/>
              <a:t> </a:t>
            </a:r>
            <a:r>
              <a:rPr sz="3600" dirty="0"/>
              <a:t>Enclosing</a:t>
            </a:r>
            <a:r>
              <a:rPr sz="3600" spc="-95" dirty="0"/>
              <a:t> </a:t>
            </a:r>
            <a:r>
              <a:rPr sz="3600" spc="-10" dirty="0"/>
              <a:t>class</a:t>
            </a:r>
            <a:endParaRPr sz="3600" dirty="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678873" y="1473336"/>
            <a:ext cx="10515600" cy="39113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4825" indent="-492125">
              <a:lnSpc>
                <a:spcPct val="100000"/>
              </a:lnSpc>
              <a:spcBef>
                <a:spcPts val="100"/>
              </a:spcBef>
              <a:buFont typeface="Lucida Sans Unicode"/>
              <a:buChar char="□"/>
              <a:tabLst>
                <a:tab pos="504825" algn="l"/>
              </a:tabLst>
            </a:pPr>
            <a:r>
              <a:rPr b="0" dirty="0">
                <a:latin typeface="Calibri"/>
                <a:cs typeface="Calibri"/>
              </a:rPr>
              <a:t>C++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b="0" dirty="0">
                <a:latin typeface="Cambria"/>
                <a:cs typeface="Cambria"/>
              </a:rPr>
              <a:t>supports</a:t>
            </a:r>
            <a:r>
              <a:rPr spc="-70" dirty="0">
                <a:latin typeface="Cambria"/>
                <a:cs typeface="Cambria"/>
              </a:rPr>
              <a:t> </a:t>
            </a:r>
            <a:r>
              <a:rPr dirty="0"/>
              <a:t>another</a:t>
            </a:r>
            <a:r>
              <a:rPr spc="-85" dirty="0"/>
              <a:t> </a:t>
            </a:r>
            <a:r>
              <a:rPr spc="-25" dirty="0"/>
              <a:t>way</a:t>
            </a:r>
            <a:r>
              <a:rPr spc="-8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inheriting</a:t>
            </a:r>
            <a:r>
              <a:rPr spc="-85" dirty="0"/>
              <a:t> </a:t>
            </a:r>
            <a:r>
              <a:rPr spc="-10" dirty="0"/>
              <a:t>classes</a:t>
            </a:r>
            <a:r>
              <a:rPr spc="-10" dirty="0">
                <a:latin typeface="Cambria"/>
                <a:cs typeface="Cambria"/>
              </a:rPr>
              <a:t>:</a:t>
            </a:r>
          </a:p>
          <a:p>
            <a:pPr marL="962660" marR="58419" lvl="1" indent="-504190" algn="just">
              <a:lnSpc>
                <a:spcPct val="100000"/>
              </a:lnSpc>
              <a:buFont typeface="Arial Black"/>
              <a:buChar char="□"/>
              <a:tabLst>
                <a:tab pos="962660" algn="l"/>
              </a:tabLst>
            </a:pP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An</a:t>
            </a:r>
            <a:r>
              <a:rPr sz="2800" b="1" spc="175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object</a:t>
            </a:r>
            <a:r>
              <a:rPr sz="2800" b="1" spc="175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can</a:t>
            </a:r>
            <a:r>
              <a:rPr sz="2800" b="1" spc="180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be</a:t>
            </a:r>
            <a:r>
              <a:rPr sz="2800" b="1" spc="175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collection</a:t>
            </a:r>
            <a:r>
              <a:rPr sz="2800" b="1" spc="180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of</a:t>
            </a:r>
            <a:r>
              <a:rPr sz="2800" b="1" spc="180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many</a:t>
            </a:r>
            <a:r>
              <a:rPr sz="2800" b="1" spc="175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b="1" spc="-10" dirty="0">
                <a:solidFill>
                  <a:srgbClr val="0070C0"/>
                </a:solidFill>
                <a:latin typeface="Cambria"/>
                <a:cs typeface="Cambria"/>
              </a:rPr>
              <a:t>other </a:t>
            </a:r>
            <a:r>
              <a:rPr sz="2800" b="1" dirty="0">
                <a:solidFill>
                  <a:srgbClr val="0070C0"/>
                </a:solidFill>
                <a:latin typeface="Cambria"/>
                <a:cs typeface="Cambria"/>
              </a:rPr>
              <a:t>objects</a:t>
            </a:r>
            <a:r>
              <a:rPr sz="2800" b="1" spc="170" dirty="0">
                <a:solidFill>
                  <a:srgbClr val="0070C0"/>
                </a:solidFill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(A</a:t>
            </a:r>
            <a:r>
              <a:rPr sz="2800" spc="16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class</a:t>
            </a:r>
            <a:r>
              <a:rPr sz="2800" spc="16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can</a:t>
            </a:r>
            <a:r>
              <a:rPr sz="2800" spc="16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contain</a:t>
            </a:r>
            <a:r>
              <a:rPr sz="2800" spc="16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objects</a:t>
            </a:r>
            <a:r>
              <a:rPr sz="2800" spc="16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60" dirty="0">
                <a:latin typeface="Cambria"/>
                <a:cs typeface="Cambria"/>
              </a:rPr>
              <a:t>  </a:t>
            </a:r>
            <a:r>
              <a:rPr sz="2800" spc="-10" dirty="0">
                <a:latin typeface="Cambria"/>
                <a:cs typeface="Cambria"/>
              </a:rPr>
              <a:t>other </a:t>
            </a:r>
            <a:r>
              <a:rPr sz="2800" dirty="0">
                <a:latin typeface="Cambria"/>
                <a:cs typeface="Cambria"/>
              </a:rPr>
              <a:t>classes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as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its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members)</a:t>
            </a:r>
            <a:endParaRPr sz="2800" dirty="0">
              <a:latin typeface="Cambria"/>
              <a:cs typeface="Cambria"/>
            </a:endParaRPr>
          </a:p>
          <a:p>
            <a:pPr marL="2965450" marR="5080" lvl="2" indent="-489584" algn="just">
              <a:lnSpc>
                <a:spcPts val="5040"/>
              </a:lnSpc>
              <a:spcBef>
                <a:spcPts val="175"/>
              </a:spcBef>
              <a:buSzPct val="94642"/>
              <a:buFont typeface="Lucida Sans Unicode"/>
              <a:buChar char="□"/>
              <a:tabLst>
                <a:tab pos="2967355" algn="l"/>
              </a:tabLst>
            </a:pPr>
            <a:r>
              <a:rPr sz="2800" dirty="0">
                <a:latin typeface="Cambria"/>
                <a:cs typeface="Cambria"/>
              </a:rPr>
              <a:t>All</a:t>
            </a:r>
            <a:r>
              <a:rPr sz="2800" spc="49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objects</a:t>
            </a:r>
            <a:r>
              <a:rPr sz="2800" spc="50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49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gamma</a:t>
            </a:r>
            <a:r>
              <a:rPr sz="2800" spc="50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class</a:t>
            </a:r>
            <a:r>
              <a:rPr sz="2800" spc="495" dirty="0">
                <a:latin typeface="Cambria"/>
                <a:cs typeface="Cambria"/>
              </a:rPr>
              <a:t>  </a:t>
            </a:r>
            <a:r>
              <a:rPr sz="2800" spc="-20" dirty="0">
                <a:latin typeface="Cambria"/>
                <a:cs typeface="Cambria"/>
              </a:rPr>
              <a:t>will 	</a:t>
            </a:r>
            <a:r>
              <a:rPr sz="2800" dirty="0">
                <a:latin typeface="Cambria"/>
                <a:cs typeface="Cambria"/>
              </a:rPr>
              <a:t>contain</a:t>
            </a:r>
            <a:r>
              <a:rPr sz="2800" spc="-5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the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objects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and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b.</a:t>
            </a:r>
            <a:endParaRPr sz="2800" dirty="0">
              <a:latin typeface="Cambria"/>
              <a:cs typeface="Cambria"/>
            </a:endParaRPr>
          </a:p>
          <a:p>
            <a:pPr marL="2966085" lvl="2" indent="-489584" algn="just">
              <a:lnSpc>
                <a:spcPct val="100000"/>
              </a:lnSpc>
              <a:spcBef>
                <a:spcPts val="1230"/>
              </a:spcBef>
              <a:buSzPct val="94642"/>
              <a:buFont typeface="Lucida Sans Unicode"/>
              <a:buChar char="□"/>
              <a:tabLst>
                <a:tab pos="2966085" algn="l"/>
              </a:tabLst>
            </a:pPr>
            <a:r>
              <a:rPr sz="2800" dirty="0">
                <a:latin typeface="Cambria"/>
                <a:cs typeface="Cambria"/>
              </a:rPr>
              <a:t>This</a:t>
            </a:r>
            <a:r>
              <a:rPr sz="2800" spc="17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kind</a:t>
            </a:r>
            <a:r>
              <a:rPr sz="2800" spc="17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75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relationship</a:t>
            </a:r>
            <a:r>
              <a:rPr sz="2800" spc="180" dirty="0">
                <a:latin typeface="Cambria"/>
                <a:cs typeface="Cambria"/>
              </a:rPr>
              <a:t>  </a:t>
            </a:r>
            <a:r>
              <a:rPr sz="2800" dirty="0">
                <a:latin typeface="Cambria"/>
                <a:cs typeface="Cambria"/>
              </a:rPr>
              <a:t>is</a:t>
            </a:r>
            <a:r>
              <a:rPr sz="2800" spc="175" dirty="0">
                <a:latin typeface="Cambria"/>
                <a:cs typeface="Cambria"/>
              </a:rPr>
              <a:t>  </a:t>
            </a:r>
            <a:r>
              <a:rPr sz="2800" spc="-10" dirty="0">
                <a:latin typeface="Cambria"/>
                <a:cs typeface="Cambria"/>
              </a:rPr>
              <a:t>called</a:t>
            </a:r>
            <a:endParaRPr sz="2800" dirty="0">
              <a:latin typeface="Cambria"/>
              <a:cs typeface="Cambria"/>
            </a:endParaRPr>
          </a:p>
          <a:p>
            <a:pPr marL="2967355">
              <a:lnSpc>
                <a:spcPct val="100000"/>
              </a:lnSpc>
              <a:spcBef>
                <a:spcPts val="1680"/>
              </a:spcBef>
            </a:pPr>
            <a:r>
              <a:rPr dirty="0">
                <a:solidFill>
                  <a:srgbClr val="0070C0"/>
                </a:solidFill>
              </a:rPr>
              <a:t>containership</a:t>
            </a:r>
            <a:r>
              <a:rPr spc="-55" dirty="0">
                <a:solidFill>
                  <a:srgbClr val="0070C0"/>
                </a:solidFill>
              </a:rPr>
              <a:t> </a:t>
            </a:r>
            <a:r>
              <a:rPr b="0" dirty="0">
                <a:latin typeface="Cambria"/>
                <a:cs typeface="Cambria"/>
              </a:rPr>
              <a:t>or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10" dirty="0">
                <a:solidFill>
                  <a:srgbClr val="0070C0"/>
                </a:solidFill>
              </a:rPr>
              <a:t>nesting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873" y="3174597"/>
            <a:ext cx="2160650" cy="3119367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4000" y="206448"/>
            <a:ext cx="9932554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Defining</a:t>
            </a:r>
            <a:r>
              <a:rPr sz="3600" spc="-95" dirty="0"/>
              <a:t> </a:t>
            </a:r>
            <a:r>
              <a:rPr sz="3600" dirty="0"/>
              <a:t>Nested</a:t>
            </a:r>
            <a:r>
              <a:rPr sz="3600" spc="-90" dirty="0"/>
              <a:t> </a:t>
            </a:r>
            <a:r>
              <a:rPr sz="3600" dirty="0"/>
              <a:t>class</a:t>
            </a:r>
            <a:r>
              <a:rPr sz="3600" spc="-95" dirty="0"/>
              <a:t> </a:t>
            </a:r>
            <a:r>
              <a:rPr sz="3600" dirty="0"/>
              <a:t>outside</a:t>
            </a:r>
            <a:r>
              <a:rPr sz="3600" spc="-90" dirty="0"/>
              <a:t> </a:t>
            </a:r>
            <a:r>
              <a:rPr sz="3600" dirty="0"/>
              <a:t>the</a:t>
            </a:r>
            <a:r>
              <a:rPr sz="3600" spc="-90" dirty="0"/>
              <a:t> </a:t>
            </a:r>
            <a:r>
              <a:rPr sz="3600" dirty="0"/>
              <a:t>Enclosing</a:t>
            </a:r>
            <a:r>
              <a:rPr sz="3600" spc="-95" dirty="0"/>
              <a:t> </a:t>
            </a:r>
            <a:r>
              <a:rPr sz="3600" spc="-10" dirty="0"/>
              <a:t>class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1741488" y="825967"/>
            <a:ext cx="853694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Creation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</a:t>
            </a:r>
            <a:r>
              <a:rPr sz="2800" b="1" spc="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object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that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contains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another</a:t>
            </a:r>
            <a:r>
              <a:rPr sz="2800" b="1" spc="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object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very different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than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creation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independent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object.</a:t>
            </a:r>
            <a:endParaRPr sz="2800" dirty="0">
              <a:latin typeface="Calibri"/>
              <a:cs typeface="Calibri"/>
            </a:endParaRPr>
          </a:p>
          <a:p>
            <a:pPr marL="983615" indent="-548005">
              <a:spcBef>
                <a:spcPts val="1680"/>
              </a:spcBef>
              <a:buSzPct val="94642"/>
              <a:buFont typeface="Lucida Sans Unicode"/>
              <a:buChar char="□"/>
              <a:tabLst>
                <a:tab pos="983615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independent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created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constructor</a:t>
            </a:r>
            <a:endParaRPr sz="2800" dirty="0">
              <a:latin typeface="Calibri"/>
              <a:cs typeface="Calibri"/>
            </a:endParaRPr>
          </a:p>
          <a:p>
            <a:pPr marL="984250">
              <a:spcBef>
                <a:spcPts val="1680"/>
              </a:spcBef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declared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arguments.</a:t>
            </a:r>
            <a:endParaRPr sz="2800" dirty="0">
              <a:latin typeface="Calibri"/>
              <a:cs typeface="Calibri"/>
            </a:endParaRPr>
          </a:p>
          <a:p>
            <a:pPr marL="983615" indent="-558165">
              <a:spcBef>
                <a:spcPts val="1680"/>
              </a:spcBef>
              <a:buClr>
                <a:srgbClr val="000000"/>
              </a:buClr>
              <a:buSzPct val="94642"/>
              <a:buFont typeface="Arial Black"/>
              <a:buChar char="□"/>
              <a:tabLst>
                <a:tab pos="983615" algn="l"/>
              </a:tabLst>
            </a:pP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nested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object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created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two</a:t>
            </a:r>
            <a:r>
              <a:rPr sz="28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stages:</a:t>
            </a:r>
            <a:endParaRPr sz="2800" dirty="0">
              <a:latin typeface="Calibri"/>
              <a:cs typeface="Calibri"/>
            </a:endParaRPr>
          </a:p>
          <a:p>
            <a:pPr marL="1441450" marR="51435" lvl="1" indent="-548640">
              <a:lnSpc>
                <a:spcPct val="150000"/>
              </a:lnSpc>
              <a:buSzPct val="94642"/>
              <a:buFont typeface="Courier New"/>
              <a:buChar char="o"/>
              <a:tabLst>
                <a:tab pos="1441450" algn="l"/>
                <a:tab pos="2173605" algn="l"/>
                <a:tab pos="3622040" algn="l"/>
                <a:tab pos="4884420" algn="l"/>
                <a:tab pos="5546090" algn="l"/>
                <a:tab pos="6833870" algn="l"/>
                <a:tab pos="779018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member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objects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created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their </a:t>
            </a:r>
            <a:r>
              <a:rPr sz="2800" dirty="0">
                <a:latin typeface="Calibri"/>
                <a:cs typeface="Calibri"/>
              </a:rPr>
              <a:t>respective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constructors.</a:t>
            </a:r>
            <a:endParaRPr sz="2800" dirty="0">
              <a:latin typeface="Calibri"/>
              <a:cs typeface="Calibri"/>
            </a:endParaRPr>
          </a:p>
          <a:p>
            <a:pPr marL="1440815" lvl="1" indent="-548005">
              <a:spcBef>
                <a:spcPts val="1680"/>
              </a:spcBef>
              <a:buSzPct val="94642"/>
              <a:buFont typeface="Courier New"/>
              <a:buChar char="o"/>
              <a:tabLst>
                <a:tab pos="1440815" algn="l"/>
              </a:tabLst>
            </a:pPr>
            <a:r>
              <a:rPr sz="2800" dirty="0">
                <a:latin typeface="Calibri"/>
                <a:cs typeface="Calibri"/>
              </a:rPr>
              <a:t>Then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ordinary</a:t>
            </a:r>
            <a:r>
              <a:rPr sz="2800" b="1" spc="-9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members</a:t>
            </a:r>
            <a:r>
              <a:rPr sz="28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04352" y="432984"/>
            <a:ext cx="982171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Defining</a:t>
            </a:r>
            <a:r>
              <a:rPr sz="3600" spc="-95" dirty="0"/>
              <a:t> </a:t>
            </a:r>
            <a:r>
              <a:rPr sz="3600" dirty="0"/>
              <a:t>Nested</a:t>
            </a:r>
            <a:r>
              <a:rPr sz="3600" spc="-90" dirty="0"/>
              <a:t> </a:t>
            </a:r>
            <a:r>
              <a:rPr sz="3600" dirty="0"/>
              <a:t>class</a:t>
            </a:r>
            <a:r>
              <a:rPr sz="3600" spc="-95" dirty="0"/>
              <a:t> </a:t>
            </a:r>
            <a:r>
              <a:rPr sz="3600" dirty="0"/>
              <a:t>outside</a:t>
            </a:r>
            <a:r>
              <a:rPr sz="3600" spc="-90" dirty="0"/>
              <a:t> </a:t>
            </a:r>
            <a:r>
              <a:rPr sz="3600" dirty="0"/>
              <a:t>the</a:t>
            </a:r>
            <a:r>
              <a:rPr sz="3600" spc="-90" dirty="0"/>
              <a:t> </a:t>
            </a:r>
            <a:r>
              <a:rPr sz="3600" dirty="0"/>
              <a:t>Enclosing</a:t>
            </a:r>
            <a:r>
              <a:rPr sz="3600" spc="-95" dirty="0"/>
              <a:t> </a:t>
            </a:r>
            <a:r>
              <a:rPr sz="3600" spc="-10" dirty="0"/>
              <a:t>class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1804352" y="1173645"/>
            <a:ext cx="858329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0" marR="5080" indent="-489584" algn="just">
              <a:lnSpc>
                <a:spcPct val="150000"/>
              </a:lnSpc>
              <a:spcBef>
                <a:spcPts val="100"/>
              </a:spcBef>
              <a:buSzPct val="94642"/>
              <a:buFont typeface="Lucida Sans Unicode"/>
              <a:buChar char="□"/>
              <a:tabLst>
                <a:tab pos="50355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Constructors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objects 	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6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own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constructor</a:t>
            </a:r>
            <a:r>
              <a:rPr sz="2800" spc="6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body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spc="-10" dirty="0">
                <a:latin typeface="Calibri"/>
                <a:cs typeface="Calibri"/>
              </a:rPr>
              <a:t>executed.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947" y="3466962"/>
            <a:ext cx="7782183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4000" y="90619"/>
            <a:ext cx="9932554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Defining</a:t>
            </a:r>
            <a:r>
              <a:rPr sz="3600" spc="-95" dirty="0"/>
              <a:t> </a:t>
            </a:r>
            <a:r>
              <a:rPr sz="3600" dirty="0"/>
              <a:t>Nested</a:t>
            </a:r>
            <a:r>
              <a:rPr sz="3600" spc="-90" dirty="0"/>
              <a:t> </a:t>
            </a:r>
            <a:r>
              <a:rPr sz="3600" dirty="0"/>
              <a:t>class</a:t>
            </a:r>
            <a:r>
              <a:rPr sz="3600" spc="-95" dirty="0"/>
              <a:t> </a:t>
            </a:r>
            <a:r>
              <a:rPr sz="3600" dirty="0"/>
              <a:t>outside</a:t>
            </a:r>
            <a:r>
              <a:rPr sz="3600" spc="-90" dirty="0"/>
              <a:t> </a:t>
            </a:r>
            <a:r>
              <a:rPr sz="3600" dirty="0"/>
              <a:t>the</a:t>
            </a:r>
            <a:r>
              <a:rPr sz="3600" spc="-90" dirty="0"/>
              <a:t> </a:t>
            </a:r>
            <a:r>
              <a:rPr sz="3600" dirty="0"/>
              <a:t>Enclosing</a:t>
            </a:r>
            <a:r>
              <a:rPr sz="3600" spc="-95" dirty="0"/>
              <a:t> </a:t>
            </a:r>
            <a:r>
              <a:rPr sz="3600" spc="-10" dirty="0"/>
              <a:t>class</a:t>
            </a:r>
            <a:endParaRPr sz="3600" dirty="0"/>
          </a:p>
        </p:txBody>
      </p:sp>
      <p:grpSp>
        <p:nvGrpSpPr>
          <p:cNvPr id="9" name="object 9"/>
          <p:cNvGrpSpPr/>
          <p:nvPr/>
        </p:nvGrpSpPr>
        <p:grpSpPr>
          <a:xfrm>
            <a:off x="1524000" y="990600"/>
            <a:ext cx="9144000" cy="5143500"/>
            <a:chOff x="0" y="990600"/>
            <a:chExt cx="9144000" cy="51435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0600"/>
              <a:ext cx="4552949" cy="40385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700" y="1000125"/>
              <a:ext cx="4686299" cy="50196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8732" y="4724399"/>
              <a:ext cx="1999173" cy="1409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E4505-20F8-4ECD-AF57-75C8DE38C3F1}"/>
              </a:ext>
            </a:extLst>
          </p:cNvPr>
          <p:cNvSpPr/>
          <p:nvPr/>
        </p:nvSpPr>
        <p:spPr>
          <a:xfrm>
            <a:off x="3368234" y="2398007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059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10014</TotalTime>
  <Words>3864</Words>
  <Application>Microsoft Macintosh PowerPoint</Application>
  <PresentationFormat>Widescreen</PresentationFormat>
  <Paragraphs>405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4" baseType="lpstr">
      <vt:lpstr>Aptos</vt:lpstr>
      <vt:lpstr>Aptos Display</vt:lpstr>
      <vt:lpstr>Arial</vt:lpstr>
      <vt:lpstr>Arial Black</vt:lpstr>
      <vt:lpstr>Calibri</vt:lpstr>
      <vt:lpstr>Cambria</vt:lpstr>
      <vt:lpstr>Courier New</vt:lpstr>
      <vt:lpstr>Lucida Sans Unicode</vt:lpstr>
      <vt:lpstr>Wingdings</vt:lpstr>
      <vt:lpstr>Office Theme</vt:lpstr>
      <vt:lpstr>Chapter - 8</vt:lpstr>
      <vt:lpstr>Introduction</vt:lpstr>
      <vt:lpstr>PowerPoint Presentation</vt:lpstr>
      <vt:lpstr>Types of Inheritance</vt:lpstr>
      <vt:lpstr>Types of Inheritance</vt:lpstr>
      <vt:lpstr>Types of Inheritance</vt:lpstr>
      <vt:lpstr>Defining Derived Classes</vt:lpstr>
      <vt:lpstr>Defining Derived Classes</vt:lpstr>
      <vt:lpstr>Visibility Mode</vt:lpstr>
      <vt:lpstr>Making Private Member Inheritable</vt:lpstr>
      <vt:lpstr>Inheritance and Accessibility</vt:lpstr>
      <vt:lpstr>Making Private Member Inheritable</vt:lpstr>
      <vt:lpstr>Effect of inheritance on visibility of members</vt:lpstr>
      <vt:lpstr>Visibility of inherited members</vt:lpstr>
      <vt:lpstr>Access Control to Data Members</vt:lpstr>
      <vt:lpstr>A function that is a friend of the class</vt:lpstr>
      <vt:lpstr>A member function of a class that is a friend of another class</vt:lpstr>
      <vt:lpstr>A member function of a derived class</vt:lpstr>
      <vt:lpstr>Access Control to Data Members</vt:lpstr>
      <vt:lpstr>Access Control to Data Members</vt:lpstr>
      <vt:lpstr>Access Control to Data Members</vt:lpstr>
      <vt:lpstr>Single Inheritance</vt:lpstr>
      <vt:lpstr>Single Inheritance: Public derivation</vt:lpstr>
      <vt:lpstr>Single Inheritance: Public derivation</vt:lpstr>
      <vt:lpstr>Single Inheritance: Private derivation</vt:lpstr>
      <vt:lpstr>Single Inheritance: Private derivation</vt:lpstr>
      <vt:lpstr>Question 1 : Single Inheritance</vt:lpstr>
      <vt:lpstr>Solution</vt:lpstr>
      <vt:lpstr>Practical :Single Inheritance</vt:lpstr>
      <vt:lpstr>Multilevel Inheritance</vt:lpstr>
      <vt:lpstr>Multilevel Inheritance</vt:lpstr>
      <vt:lpstr>Multilevel Inheritance</vt:lpstr>
      <vt:lpstr>Question 2 : Multilevel Inheritance</vt:lpstr>
      <vt:lpstr>Solution</vt:lpstr>
      <vt:lpstr>Solution</vt:lpstr>
      <vt:lpstr>Multiple Inheritance</vt:lpstr>
      <vt:lpstr>Multiple Inheritance</vt:lpstr>
      <vt:lpstr>Ambiguity Resolution in Inheritance</vt:lpstr>
      <vt:lpstr>Ambiguity Resolution in Inheritance</vt:lpstr>
      <vt:lpstr>Ambiguity Resolution in Inheritance</vt:lpstr>
      <vt:lpstr>Ambiguity Resolution in Inheritance</vt:lpstr>
      <vt:lpstr>Constructors in Derived Classes</vt:lpstr>
      <vt:lpstr>Constructors in Derived Classes</vt:lpstr>
      <vt:lpstr>Constructors in Derived Classes</vt:lpstr>
      <vt:lpstr>Constructors in Derived Classes</vt:lpstr>
      <vt:lpstr>Constructors in Derived Class</vt:lpstr>
      <vt:lpstr>Constructors in Derived Classes</vt:lpstr>
      <vt:lpstr>Constructors in Derived Classes</vt:lpstr>
      <vt:lpstr>Constructors in Derived Classes</vt:lpstr>
      <vt:lpstr>Constructors in Derived Classes</vt:lpstr>
      <vt:lpstr>Constructors in Derived Classes</vt:lpstr>
      <vt:lpstr>Destructor in Inheritance</vt:lpstr>
      <vt:lpstr>Destructor in Inheritance</vt:lpstr>
      <vt:lpstr>Question 3 : Multiple Inheritance</vt:lpstr>
      <vt:lpstr>Solution</vt:lpstr>
      <vt:lpstr>Solution</vt:lpstr>
      <vt:lpstr>Hierarchical Inheritance</vt:lpstr>
      <vt:lpstr>Hierarchical Inheritance</vt:lpstr>
      <vt:lpstr>Function Overriding</vt:lpstr>
      <vt:lpstr>Question 4 :Hierarchical Inheritance</vt:lpstr>
      <vt:lpstr>Solution</vt:lpstr>
      <vt:lpstr>Solution</vt:lpstr>
      <vt:lpstr>Solution</vt:lpstr>
      <vt:lpstr>Solution</vt:lpstr>
      <vt:lpstr>Hybrid Inheritance</vt:lpstr>
      <vt:lpstr>Hybrid Inheritance</vt:lpstr>
      <vt:lpstr>Hybrid Inheritance</vt:lpstr>
      <vt:lpstr>Virtual Base Classes</vt:lpstr>
      <vt:lpstr>Virtual Base Classes</vt:lpstr>
      <vt:lpstr>Virtual Base Classes</vt:lpstr>
      <vt:lpstr>Virtual Base Classes</vt:lpstr>
      <vt:lpstr>Virtual Base Classes</vt:lpstr>
      <vt:lpstr>Virtual Base Classes</vt:lpstr>
      <vt:lpstr>Virtual Base Classes</vt:lpstr>
      <vt:lpstr>Question 5 : Hybrid Inheritance</vt:lpstr>
      <vt:lpstr>Solution</vt:lpstr>
      <vt:lpstr>Solution</vt:lpstr>
      <vt:lpstr>Solution</vt:lpstr>
      <vt:lpstr>Constructors in Derived Classes</vt:lpstr>
      <vt:lpstr>Abstract Classes</vt:lpstr>
      <vt:lpstr>Pure Virtual Function</vt:lpstr>
      <vt:lpstr>Difference between virtual function and pure virtual function</vt:lpstr>
      <vt:lpstr>Member Classes: Nesting of Classes</vt:lpstr>
      <vt:lpstr>Member Classes: Nesting of Classes</vt:lpstr>
      <vt:lpstr>Member Classes: Nesting of Classes</vt:lpstr>
      <vt:lpstr>Defining Nested class inside the Enclosing class</vt:lpstr>
      <vt:lpstr>PowerPoint Presentation</vt:lpstr>
      <vt:lpstr>PowerPoint Presentation</vt:lpstr>
      <vt:lpstr>Inner/Nested Class</vt:lpstr>
      <vt:lpstr>Defining Nested class outside the Enclosing class</vt:lpstr>
      <vt:lpstr>Defining Nested class outside the Enclosing class</vt:lpstr>
      <vt:lpstr>Defining Nested class outside the Enclosing class</vt:lpstr>
      <vt:lpstr>Defining Nested class outside the Enclosing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</dc:title>
  <dc:creator>CSE-10</dc:creator>
  <cp:lastModifiedBy>khushpithva@gmail.com</cp:lastModifiedBy>
  <cp:revision>755</cp:revision>
  <dcterms:created xsi:type="dcterms:W3CDTF">2025-07-02T05:47:51Z</dcterms:created>
  <dcterms:modified xsi:type="dcterms:W3CDTF">2025-11-27T18:09:00Z</dcterms:modified>
</cp:coreProperties>
</file>