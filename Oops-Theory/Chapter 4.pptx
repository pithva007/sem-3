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0"/>
  </p:notesMasterIdLst>
  <p:sldIdLst>
    <p:sldId id="256" r:id="rId2"/>
    <p:sldId id="257" r:id="rId3"/>
    <p:sldId id="258" r:id="rId4"/>
    <p:sldId id="396" r:id="rId5"/>
    <p:sldId id="395" r:id="rId6"/>
    <p:sldId id="397" r:id="rId7"/>
    <p:sldId id="399" r:id="rId8"/>
    <p:sldId id="400" r:id="rId9"/>
    <p:sldId id="401" r:id="rId10"/>
    <p:sldId id="402" r:id="rId11"/>
    <p:sldId id="403" r:id="rId12"/>
    <p:sldId id="404" r:id="rId13"/>
    <p:sldId id="405" r:id="rId14"/>
    <p:sldId id="406" r:id="rId15"/>
    <p:sldId id="407" r:id="rId16"/>
    <p:sldId id="408" r:id="rId17"/>
    <p:sldId id="409" r:id="rId18"/>
    <p:sldId id="410" r:id="rId19"/>
    <p:sldId id="411" r:id="rId20"/>
    <p:sldId id="412" r:id="rId21"/>
    <p:sldId id="413" r:id="rId22"/>
    <p:sldId id="414" r:id="rId23"/>
    <p:sldId id="415" r:id="rId24"/>
    <p:sldId id="416" r:id="rId25"/>
    <p:sldId id="417" r:id="rId26"/>
    <p:sldId id="418" r:id="rId27"/>
    <p:sldId id="419" r:id="rId28"/>
    <p:sldId id="420" r:id="rId29"/>
    <p:sldId id="421" r:id="rId30"/>
    <p:sldId id="446" r:id="rId31"/>
    <p:sldId id="447" r:id="rId32"/>
    <p:sldId id="448" r:id="rId33"/>
    <p:sldId id="449" r:id="rId34"/>
    <p:sldId id="450" r:id="rId35"/>
    <p:sldId id="451" r:id="rId36"/>
    <p:sldId id="452" r:id="rId37"/>
    <p:sldId id="453" r:id="rId38"/>
    <p:sldId id="422" r:id="rId39"/>
    <p:sldId id="423" r:id="rId40"/>
    <p:sldId id="424" r:id="rId41"/>
    <p:sldId id="425" r:id="rId42"/>
    <p:sldId id="426" r:id="rId43"/>
    <p:sldId id="427" r:id="rId44"/>
    <p:sldId id="428" r:id="rId45"/>
    <p:sldId id="429" r:id="rId46"/>
    <p:sldId id="430" r:id="rId47"/>
    <p:sldId id="431" r:id="rId48"/>
    <p:sldId id="445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4331E1-0269-43F9-A95C-0F36EF3F2B33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11565A-A1D7-4086-8B68-043E74E605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3745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853D0-13B4-454F-89C1-25848C6FD71E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1291-8128-4432-B26C-537E08DEF213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5170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853D0-13B4-454F-89C1-25848C6FD71E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1291-8128-4432-B26C-537E08DEF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201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853D0-13B4-454F-89C1-25848C6FD71E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1291-8128-4432-B26C-537E08DEF213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2111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853D0-13B4-454F-89C1-25848C6FD71E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1291-8128-4432-B26C-537E08DEF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849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853D0-13B4-454F-89C1-25848C6FD71E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1291-8128-4432-B26C-537E08DEF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597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853D0-13B4-454F-89C1-25848C6FD71E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1291-8128-4432-B26C-537E08DEF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6204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853D0-13B4-454F-89C1-25848C6FD71E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1291-8128-4432-B26C-537E08DEF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5188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A7853D0-13B4-454F-89C1-25848C6FD71E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E751291-8128-4432-B26C-537E08DEF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7561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853D0-13B4-454F-89C1-25848C6FD71E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1291-8128-4432-B26C-537E08DEF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5785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853D0-13B4-454F-89C1-25848C6FD71E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1291-8128-4432-B26C-537E08DEF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6091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853D0-13B4-454F-89C1-25848C6FD71E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1291-8128-4432-B26C-537E08DEF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4294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A7853D0-13B4-454F-89C1-25848C6FD71E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E751291-8128-4432-B26C-537E08DEF213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8258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3DE5A-E1AD-4C7C-B837-B4D0B20337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IN" dirty="0"/>
              <a:t>Chapter - 4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62762D-AAB7-47FB-9F8A-330B952198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IN" dirty="0"/>
              <a:t>Functions in C++</a:t>
            </a:r>
          </a:p>
        </p:txBody>
      </p:sp>
    </p:spTree>
    <p:extLst>
      <p:ext uri="{BB962C8B-B14F-4D97-AF65-F5344CB8AC3E}">
        <p14:creationId xmlns:p14="http://schemas.microsoft.com/office/powerpoint/2010/main" val="3391968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76AF9D-0831-47FE-BBD5-F337399CEC29}"/>
              </a:ext>
            </a:extLst>
          </p:cNvPr>
          <p:cNvSpPr txBox="1">
            <a:spLocks/>
          </p:cNvSpPr>
          <p:nvPr/>
        </p:nvSpPr>
        <p:spPr>
          <a:xfrm>
            <a:off x="190500" y="106363"/>
            <a:ext cx="8763000" cy="8080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C++ Function</a:t>
            </a:r>
            <a:endParaRPr lang="en-IN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4EFEEE0-CFE3-4F71-8ADD-7A6D836C7BC9}"/>
              </a:ext>
            </a:extLst>
          </p:cNvPr>
          <p:cNvSpPr txBox="1">
            <a:spLocks/>
          </p:cNvSpPr>
          <p:nvPr/>
        </p:nvSpPr>
        <p:spPr>
          <a:xfrm>
            <a:off x="190500" y="821499"/>
            <a:ext cx="8763000" cy="1347362"/>
          </a:xfrm>
          <a:prstGeom prst="rect">
            <a:avLst/>
          </a:prstGeom>
        </p:spPr>
        <p:txBody>
          <a:bodyPr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A </a:t>
            </a:r>
            <a:r>
              <a:rPr lang="en-IN" b="1">
                <a:solidFill>
                  <a:srgbClr val="C00000"/>
                </a:solidFill>
              </a:rPr>
              <a:t>function</a:t>
            </a:r>
            <a:r>
              <a:rPr lang="en-IN"/>
              <a:t> is a group of statements that together perform a task.</a:t>
            </a:r>
          </a:p>
          <a:p>
            <a:r>
              <a:rPr lang="en-IN"/>
              <a:t>Functions are made for code reusability and for saving time and space.</a:t>
            </a:r>
          </a:p>
          <a:p>
            <a:pPr marL="0" indent="0">
              <a:buFont typeface="Calibri" panose="020F0502020204030204" pitchFamily="34" charset="0"/>
              <a:buNone/>
            </a:pPr>
            <a:endParaRPr lang="en-IN" dirty="0"/>
          </a:p>
        </p:txBody>
      </p:sp>
      <p:sp>
        <p:nvSpPr>
          <p:cNvPr id="6" name="Freeform 9">
            <a:extLst>
              <a:ext uri="{FF2B5EF4-FFF2-40B4-BE49-F238E27FC236}">
                <a16:creationId xmlns:a16="http://schemas.microsoft.com/office/drawing/2014/main" id="{E70353EF-0EA1-4940-B4F3-6C051C240B3E}"/>
              </a:ext>
            </a:extLst>
          </p:cNvPr>
          <p:cNvSpPr/>
          <p:nvPr/>
        </p:nvSpPr>
        <p:spPr>
          <a:xfrm>
            <a:off x="5844226" y="2596074"/>
            <a:ext cx="2169441" cy="358858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79429"/>
                </a:lnTo>
                <a:lnTo>
                  <a:pt x="2169441" y="179429"/>
                </a:lnTo>
                <a:lnTo>
                  <a:pt x="2169441" y="358858"/>
                </a:lnTo>
              </a:path>
            </a:pathLst>
          </a:custGeom>
          <a:noFill/>
        </p:spPr>
        <p:style>
          <a:lnRef idx="2">
            <a:schemeClr val="accent1">
              <a:tint val="99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tint val="99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7" name="Freeform 13">
            <a:extLst>
              <a:ext uri="{FF2B5EF4-FFF2-40B4-BE49-F238E27FC236}">
                <a16:creationId xmlns:a16="http://schemas.microsoft.com/office/drawing/2014/main" id="{3622B48B-791B-46B8-BE51-C8054FD03A68}"/>
              </a:ext>
            </a:extLst>
          </p:cNvPr>
          <p:cNvSpPr/>
          <p:nvPr/>
        </p:nvSpPr>
        <p:spPr>
          <a:xfrm>
            <a:off x="3416159" y="2596074"/>
            <a:ext cx="2428067" cy="358858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2428067" y="0"/>
                </a:moveTo>
                <a:lnTo>
                  <a:pt x="2428067" y="179429"/>
                </a:lnTo>
                <a:lnTo>
                  <a:pt x="0" y="179429"/>
                </a:lnTo>
                <a:lnTo>
                  <a:pt x="0" y="358858"/>
                </a:lnTo>
              </a:path>
            </a:pathLst>
          </a:custGeom>
          <a:noFill/>
        </p:spPr>
        <p:style>
          <a:lnRef idx="2">
            <a:schemeClr val="accent1">
              <a:tint val="99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tint val="99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8" name="Freeform 14">
            <a:extLst>
              <a:ext uri="{FF2B5EF4-FFF2-40B4-BE49-F238E27FC236}">
                <a16:creationId xmlns:a16="http://schemas.microsoft.com/office/drawing/2014/main" id="{9477AEC8-120E-40E2-A021-903C88DDAD0B}"/>
              </a:ext>
            </a:extLst>
          </p:cNvPr>
          <p:cNvSpPr/>
          <p:nvPr/>
        </p:nvSpPr>
        <p:spPr>
          <a:xfrm>
            <a:off x="4989801" y="1741649"/>
            <a:ext cx="1708849" cy="854424"/>
          </a:xfrm>
          <a:custGeom>
            <a:avLst/>
            <a:gdLst>
              <a:gd name="connsiteX0" fmla="*/ 0 w 1708849"/>
              <a:gd name="connsiteY0" fmla="*/ 0 h 854424"/>
              <a:gd name="connsiteX1" fmla="*/ 1708849 w 1708849"/>
              <a:gd name="connsiteY1" fmla="*/ 0 h 854424"/>
              <a:gd name="connsiteX2" fmla="*/ 1708849 w 1708849"/>
              <a:gd name="connsiteY2" fmla="*/ 854424 h 854424"/>
              <a:gd name="connsiteX3" fmla="*/ 0 w 1708849"/>
              <a:gd name="connsiteY3" fmla="*/ 854424 h 854424"/>
              <a:gd name="connsiteX4" fmla="*/ 0 w 1708849"/>
              <a:gd name="connsiteY4" fmla="*/ 0 h 854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08849" h="854424">
                <a:moveTo>
                  <a:pt x="0" y="0"/>
                </a:moveTo>
                <a:lnTo>
                  <a:pt x="1708849" y="0"/>
                </a:lnTo>
                <a:lnTo>
                  <a:pt x="1708849" y="854424"/>
                </a:lnTo>
                <a:lnTo>
                  <a:pt x="0" y="85442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240" tIns="15240" rIns="15240" bIns="15240" numCol="1" spcCol="1270" anchor="ctr" anchorCtr="0">
            <a:noAutofit/>
          </a:bodyPr>
          <a:lstStyle/>
          <a:p>
            <a:pPr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/>
              <a:t>Function</a:t>
            </a:r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12003418-A2D0-4471-BA6C-9D288ECD3BC4}"/>
              </a:ext>
            </a:extLst>
          </p:cNvPr>
          <p:cNvSpPr/>
          <p:nvPr/>
        </p:nvSpPr>
        <p:spPr>
          <a:xfrm>
            <a:off x="2026838" y="2954932"/>
            <a:ext cx="2778640" cy="854424"/>
          </a:xfrm>
          <a:custGeom>
            <a:avLst/>
            <a:gdLst>
              <a:gd name="connsiteX0" fmla="*/ 0 w 2778640"/>
              <a:gd name="connsiteY0" fmla="*/ 0 h 854424"/>
              <a:gd name="connsiteX1" fmla="*/ 2778640 w 2778640"/>
              <a:gd name="connsiteY1" fmla="*/ 0 h 854424"/>
              <a:gd name="connsiteX2" fmla="*/ 2778640 w 2778640"/>
              <a:gd name="connsiteY2" fmla="*/ 854424 h 854424"/>
              <a:gd name="connsiteX3" fmla="*/ 0 w 2778640"/>
              <a:gd name="connsiteY3" fmla="*/ 854424 h 854424"/>
              <a:gd name="connsiteX4" fmla="*/ 0 w 2778640"/>
              <a:gd name="connsiteY4" fmla="*/ 0 h 854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8640" h="854424">
                <a:moveTo>
                  <a:pt x="0" y="0"/>
                </a:moveTo>
                <a:lnTo>
                  <a:pt x="2778640" y="0"/>
                </a:lnTo>
                <a:lnTo>
                  <a:pt x="2778640" y="854424"/>
                </a:lnTo>
                <a:lnTo>
                  <a:pt x="0" y="85442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99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99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240" tIns="15240" rIns="15240" bIns="15240" numCol="1" spcCol="1270" anchor="ctr" anchorCtr="0">
            <a:noAutofit/>
          </a:bodyPr>
          <a:lstStyle/>
          <a:p>
            <a:pPr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/>
              <a:t>Library Function</a:t>
            </a:r>
          </a:p>
        </p:txBody>
      </p:sp>
      <p:sp>
        <p:nvSpPr>
          <p:cNvPr id="10" name="Freeform 21">
            <a:extLst>
              <a:ext uri="{FF2B5EF4-FFF2-40B4-BE49-F238E27FC236}">
                <a16:creationId xmlns:a16="http://schemas.microsoft.com/office/drawing/2014/main" id="{540A3B4E-B4BB-4A30-9265-70CB4F08A533}"/>
              </a:ext>
            </a:extLst>
          </p:cNvPr>
          <p:cNvSpPr/>
          <p:nvPr/>
        </p:nvSpPr>
        <p:spPr>
          <a:xfrm>
            <a:off x="2026839" y="4168214"/>
            <a:ext cx="4109337" cy="2070168"/>
          </a:xfrm>
          <a:custGeom>
            <a:avLst/>
            <a:gdLst>
              <a:gd name="connsiteX0" fmla="*/ 0 w 4109337"/>
              <a:gd name="connsiteY0" fmla="*/ 0 h 2070168"/>
              <a:gd name="connsiteX1" fmla="*/ 4109337 w 4109337"/>
              <a:gd name="connsiteY1" fmla="*/ 0 h 2070168"/>
              <a:gd name="connsiteX2" fmla="*/ 4109337 w 4109337"/>
              <a:gd name="connsiteY2" fmla="*/ 2070168 h 2070168"/>
              <a:gd name="connsiteX3" fmla="*/ 0 w 4109337"/>
              <a:gd name="connsiteY3" fmla="*/ 2070168 h 2070168"/>
              <a:gd name="connsiteX4" fmla="*/ 0 w 4109337"/>
              <a:gd name="connsiteY4" fmla="*/ 0 h 207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09337" h="2070168">
                <a:moveTo>
                  <a:pt x="0" y="0"/>
                </a:moveTo>
                <a:lnTo>
                  <a:pt x="4109337" y="0"/>
                </a:lnTo>
                <a:lnTo>
                  <a:pt x="4109337" y="2070168"/>
                </a:lnTo>
                <a:lnTo>
                  <a:pt x="0" y="207016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8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700" tIns="12700" rIns="12700" bIns="12700" numCol="1" spcCol="1270" anchor="ctr" anchorCtr="0">
            <a:noAutofit/>
          </a:bodyPr>
          <a:lstStyle/>
          <a:p>
            <a:pPr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solidFill>
                  <a:schemeClr val="tx1"/>
                </a:solidFill>
              </a:rPr>
              <a:t>  Predefined</a:t>
            </a:r>
          </a:p>
          <a:p>
            <a:pPr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solidFill>
                  <a:schemeClr val="tx1"/>
                </a:solidFill>
              </a:rPr>
              <a:t>  Declarations inside header files</a:t>
            </a:r>
          </a:p>
          <a:p>
            <a:pPr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solidFill>
                  <a:schemeClr val="tx1"/>
                </a:solidFill>
              </a:rPr>
              <a:t>  </a:t>
            </a:r>
            <a:r>
              <a:rPr lang="en-US" sz="2000" dirty="0" err="1">
                <a:solidFill>
                  <a:schemeClr val="tx1"/>
                </a:solidFill>
              </a:rPr>
              <a:t>Eg</a:t>
            </a:r>
            <a:r>
              <a:rPr lang="en-US" sz="2000" dirty="0">
                <a:solidFill>
                  <a:schemeClr val="tx1"/>
                </a:solidFill>
              </a:rPr>
              <a:t>.   </a:t>
            </a:r>
            <a:r>
              <a:rPr lang="en-US" sz="2000" dirty="0" err="1">
                <a:solidFill>
                  <a:schemeClr val="tx1"/>
                </a:solidFill>
              </a:rPr>
              <a:t>printf</a:t>
            </a:r>
            <a:r>
              <a:rPr lang="en-US" sz="2000" dirty="0">
                <a:solidFill>
                  <a:schemeClr val="tx1"/>
                </a:solidFill>
              </a:rPr>
              <a:t>() – </a:t>
            </a:r>
            <a:r>
              <a:rPr lang="en-US" sz="2000" dirty="0" err="1">
                <a:solidFill>
                  <a:schemeClr val="tx1"/>
                </a:solidFill>
              </a:rPr>
              <a:t>stdio.h</a:t>
            </a:r>
            <a:endParaRPr lang="en-US" sz="2000" dirty="0">
              <a:solidFill>
                <a:schemeClr val="tx1"/>
              </a:solidFill>
            </a:endParaRPr>
          </a:p>
          <a:p>
            <a:pPr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solidFill>
                  <a:schemeClr val="tx1"/>
                </a:solidFill>
              </a:rPr>
              <a:t>          pow() – </a:t>
            </a:r>
            <a:r>
              <a:rPr lang="en-US" sz="2000" dirty="0" err="1">
                <a:solidFill>
                  <a:schemeClr val="tx1"/>
                </a:solidFill>
              </a:rPr>
              <a:t>cmath.h</a:t>
            </a:r>
            <a:endParaRPr lang="en-US" sz="2000" dirty="0">
              <a:solidFill>
                <a:schemeClr val="tx1"/>
              </a:solidFill>
            </a:endParaRPr>
          </a:p>
          <a:p>
            <a:pPr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solidFill>
                  <a:schemeClr val="tx1"/>
                </a:solidFill>
              </a:rPr>
              <a:t>          </a:t>
            </a:r>
            <a:r>
              <a:rPr lang="en-US" sz="2000" dirty="0" err="1">
                <a:solidFill>
                  <a:schemeClr val="tx1"/>
                </a:solidFill>
              </a:rPr>
              <a:t>strcmp</a:t>
            </a:r>
            <a:r>
              <a:rPr lang="en-US" sz="2000" dirty="0">
                <a:solidFill>
                  <a:schemeClr val="tx1"/>
                </a:solidFill>
              </a:rPr>
              <a:t>() – </a:t>
            </a:r>
            <a:r>
              <a:rPr lang="en-US" sz="2000" dirty="0" err="1">
                <a:solidFill>
                  <a:schemeClr val="tx1"/>
                </a:solidFill>
              </a:rPr>
              <a:t>cstring.h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1" name="Freeform 22">
            <a:extLst>
              <a:ext uri="{FF2B5EF4-FFF2-40B4-BE49-F238E27FC236}">
                <a16:creationId xmlns:a16="http://schemas.microsoft.com/office/drawing/2014/main" id="{219CCA1B-D816-4D97-8505-F8B1D8EDD21F}"/>
              </a:ext>
            </a:extLst>
          </p:cNvPr>
          <p:cNvSpPr/>
          <p:nvPr/>
        </p:nvSpPr>
        <p:spPr>
          <a:xfrm>
            <a:off x="6365722" y="2954932"/>
            <a:ext cx="3295891" cy="854424"/>
          </a:xfrm>
          <a:custGeom>
            <a:avLst/>
            <a:gdLst>
              <a:gd name="connsiteX0" fmla="*/ 0 w 3295891"/>
              <a:gd name="connsiteY0" fmla="*/ 0 h 854424"/>
              <a:gd name="connsiteX1" fmla="*/ 3295891 w 3295891"/>
              <a:gd name="connsiteY1" fmla="*/ 0 h 854424"/>
              <a:gd name="connsiteX2" fmla="*/ 3295891 w 3295891"/>
              <a:gd name="connsiteY2" fmla="*/ 854424 h 854424"/>
              <a:gd name="connsiteX3" fmla="*/ 0 w 3295891"/>
              <a:gd name="connsiteY3" fmla="*/ 854424 h 854424"/>
              <a:gd name="connsiteX4" fmla="*/ 0 w 3295891"/>
              <a:gd name="connsiteY4" fmla="*/ 0 h 854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5891" h="854424">
                <a:moveTo>
                  <a:pt x="0" y="0"/>
                </a:moveTo>
                <a:lnTo>
                  <a:pt x="3295891" y="0"/>
                </a:lnTo>
                <a:lnTo>
                  <a:pt x="3295891" y="854424"/>
                </a:lnTo>
                <a:lnTo>
                  <a:pt x="0" y="85442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99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99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240" tIns="15240" rIns="15240" bIns="15240" numCol="1" spcCol="1270" anchor="ctr" anchorCtr="0">
            <a:noAutofit/>
          </a:bodyPr>
          <a:lstStyle/>
          <a:p>
            <a:pPr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/>
              <a:t>User Defined Function</a:t>
            </a:r>
          </a:p>
        </p:txBody>
      </p:sp>
      <p:sp>
        <p:nvSpPr>
          <p:cNvPr id="12" name="Freeform 23">
            <a:extLst>
              <a:ext uri="{FF2B5EF4-FFF2-40B4-BE49-F238E27FC236}">
                <a16:creationId xmlns:a16="http://schemas.microsoft.com/office/drawing/2014/main" id="{6DB6BA40-D175-4C7F-A00F-DC1C2DA0C3D4}"/>
              </a:ext>
            </a:extLst>
          </p:cNvPr>
          <p:cNvSpPr/>
          <p:nvPr/>
        </p:nvSpPr>
        <p:spPr>
          <a:xfrm>
            <a:off x="6365722" y="4159101"/>
            <a:ext cx="3480515" cy="1624662"/>
          </a:xfrm>
          <a:custGeom>
            <a:avLst/>
            <a:gdLst>
              <a:gd name="connsiteX0" fmla="*/ 0 w 3480515"/>
              <a:gd name="connsiteY0" fmla="*/ 0 h 1624662"/>
              <a:gd name="connsiteX1" fmla="*/ 3480515 w 3480515"/>
              <a:gd name="connsiteY1" fmla="*/ 0 h 1624662"/>
              <a:gd name="connsiteX2" fmla="*/ 3480515 w 3480515"/>
              <a:gd name="connsiteY2" fmla="*/ 1624662 h 1624662"/>
              <a:gd name="connsiteX3" fmla="*/ 0 w 3480515"/>
              <a:gd name="connsiteY3" fmla="*/ 1624662 h 1624662"/>
              <a:gd name="connsiteX4" fmla="*/ 0 w 3480515"/>
              <a:gd name="connsiteY4" fmla="*/ 0 h 1624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80515" h="1624662">
                <a:moveTo>
                  <a:pt x="0" y="0"/>
                </a:moveTo>
                <a:lnTo>
                  <a:pt x="3480515" y="0"/>
                </a:lnTo>
                <a:lnTo>
                  <a:pt x="3480515" y="1624662"/>
                </a:lnTo>
                <a:lnTo>
                  <a:pt x="0" y="162466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8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700" tIns="12700" rIns="12700" bIns="12700" numCol="1" spcCol="1270" anchor="ctr" anchorCtr="0">
            <a:noAutofit/>
          </a:bodyPr>
          <a:lstStyle/>
          <a:p>
            <a:pPr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solidFill>
                  <a:schemeClr val="tx1"/>
                </a:solidFill>
              </a:rPr>
              <a:t>  Created by User</a:t>
            </a:r>
          </a:p>
          <a:p>
            <a:pPr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solidFill>
                  <a:schemeClr val="tx1"/>
                </a:solidFill>
              </a:rPr>
              <a:t>  Programmer need to declare it</a:t>
            </a:r>
          </a:p>
          <a:p>
            <a:pPr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solidFill>
                  <a:schemeClr val="tx1"/>
                </a:solidFill>
              </a:rPr>
              <a:t>  </a:t>
            </a:r>
            <a:r>
              <a:rPr lang="en-US" sz="2000" dirty="0" err="1">
                <a:solidFill>
                  <a:schemeClr val="tx1"/>
                </a:solidFill>
              </a:rPr>
              <a:t>Eg</a:t>
            </a:r>
            <a:r>
              <a:rPr lang="en-US" sz="2000" dirty="0">
                <a:solidFill>
                  <a:schemeClr val="tx1"/>
                </a:solidFill>
              </a:rPr>
              <a:t>.  factorial()</a:t>
            </a:r>
          </a:p>
          <a:p>
            <a:pPr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solidFill>
                  <a:schemeClr val="tx1"/>
                </a:solidFill>
              </a:rPr>
              <a:t>         </a:t>
            </a:r>
            <a:r>
              <a:rPr lang="en-US" sz="2000" dirty="0" err="1">
                <a:solidFill>
                  <a:schemeClr val="tx1"/>
                </a:solidFill>
              </a:rPr>
              <a:t>areaofcircle</a:t>
            </a:r>
            <a:r>
              <a:rPr lang="en-US" sz="2000" dirty="0">
                <a:solidFill>
                  <a:schemeClr val="tx1"/>
                </a:solidFill>
              </a:rPr>
              <a:t>()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A683495-6987-4BDB-9FE1-F684A99B2242}"/>
              </a:ext>
            </a:extLst>
          </p:cNvPr>
          <p:cNvCxnSpPr/>
          <p:nvPr/>
        </p:nvCxnSpPr>
        <p:spPr>
          <a:xfrm>
            <a:off x="3412348" y="3804054"/>
            <a:ext cx="0" cy="367971"/>
          </a:xfrm>
          <a:prstGeom prst="line">
            <a:avLst/>
          </a:prstGeom>
          <a:noFill/>
        </p:spPr>
        <p:style>
          <a:lnRef idx="2">
            <a:schemeClr val="accent1">
              <a:tint val="99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tint val="99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04522E-96D5-4AF0-8AFF-AA610206307F}"/>
              </a:ext>
            </a:extLst>
          </p:cNvPr>
          <p:cNvCxnSpPr/>
          <p:nvPr/>
        </p:nvCxnSpPr>
        <p:spPr>
          <a:xfrm>
            <a:off x="8013666" y="3805547"/>
            <a:ext cx="0" cy="367971"/>
          </a:xfrm>
          <a:prstGeom prst="line">
            <a:avLst/>
          </a:prstGeom>
          <a:noFill/>
        </p:spPr>
        <p:style>
          <a:lnRef idx="2">
            <a:schemeClr val="accent1">
              <a:tint val="99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tint val="99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cxnSp>
    </p:spTree>
    <p:extLst>
      <p:ext uri="{BB962C8B-B14F-4D97-AF65-F5344CB8AC3E}">
        <p14:creationId xmlns:p14="http://schemas.microsoft.com/office/powerpoint/2010/main" val="3962021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B66A1-BBEE-458E-9064-92061428A3CC}"/>
              </a:ext>
            </a:extLst>
          </p:cNvPr>
          <p:cNvSpPr txBox="1">
            <a:spLocks/>
          </p:cNvSpPr>
          <p:nvPr/>
        </p:nvSpPr>
        <p:spPr>
          <a:xfrm>
            <a:off x="1220403" y="212241"/>
            <a:ext cx="8763000" cy="8080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C++ Function – (Cont…)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579CB-3FDD-489C-B020-D11E565CED97}"/>
              </a:ext>
            </a:extLst>
          </p:cNvPr>
          <p:cNvSpPr txBox="1">
            <a:spLocks/>
          </p:cNvSpPr>
          <p:nvPr/>
        </p:nvSpPr>
        <p:spPr>
          <a:xfrm>
            <a:off x="1220403" y="927377"/>
            <a:ext cx="8763000" cy="666870"/>
          </a:xfrm>
          <a:prstGeom prst="rect">
            <a:avLst/>
          </a:prstGeom>
        </p:spPr>
        <p:txBody>
          <a:bodyPr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There are three elements of user defined function</a:t>
            </a:r>
            <a:endParaRPr lang="en-IN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86D25C5-F972-4A7D-BB1C-02EA6EB51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8579" y="1685115"/>
            <a:ext cx="2580835" cy="40626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func1(); </a:t>
            </a:r>
          </a:p>
          <a:p>
            <a:r>
              <a:rPr lang="en-IN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main() </a:t>
            </a:r>
          </a:p>
          <a:p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.... </a:t>
            </a:r>
          </a:p>
          <a:p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func1(); </a:t>
            </a:r>
          </a:p>
          <a:p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r>
              <a:rPr lang="en-IN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func1() </a:t>
            </a:r>
          </a:p>
          <a:p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.... </a:t>
            </a:r>
          </a:p>
          <a:p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.... </a:t>
            </a:r>
          </a:p>
          <a:p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855082-A8BF-4812-8195-9BABD1F7B451}"/>
              </a:ext>
            </a:extLst>
          </p:cNvPr>
          <p:cNvSpPr txBox="1"/>
          <p:nvPr/>
        </p:nvSpPr>
        <p:spPr>
          <a:xfrm>
            <a:off x="5785627" y="1712992"/>
            <a:ext cx="2594880" cy="43088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200" dirty="0"/>
              <a:t>Function Declaration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7646EA-32A9-4E39-8076-FDB518B85C1D}"/>
              </a:ext>
            </a:extLst>
          </p:cNvPr>
          <p:cNvSpPr txBox="1"/>
          <p:nvPr/>
        </p:nvSpPr>
        <p:spPr>
          <a:xfrm>
            <a:off x="6001651" y="3073892"/>
            <a:ext cx="2160240" cy="43088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200" dirty="0"/>
              <a:t>Function call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19EF6F66-442A-4806-A711-082419CF7B98}"/>
              </a:ext>
            </a:extLst>
          </p:cNvPr>
          <p:cNvSpPr/>
          <p:nvPr/>
        </p:nvSpPr>
        <p:spPr>
          <a:xfrm>
            <a:off x="3603450" y="4460823"/>
            <a:ext cx="468052" cy="1116124"/>
          </a:xfrm>
          <a:prstGeom prst="rightBrace">
            <a:avLst/>
          </a:prstGeom>
          <a:ln w="28575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2CA7FB-AB56-44B4-AB66-C5C86CEE60C3}"/>
              </a:ext>
            </a:extLst>
          </p:cNvPr>
          <p:cNvSpPr txBox="1"/>
          <p:nvPr/>
        </p:nvSpPr>
        <p:spPr>
          <a:xfrm>
            <a:off x="4071501" y="4664942"/>
            <a:ext cx="117406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Function body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24C13E6D-0CF2-4F3C-8FD1-1E160C398A26}"/>
              </a:ext>
            </a:extLst>
          </p:cNvPr>
          <p:cNvSpPr/>
          <p:nvPr/>
        </p:nvSpPr>
        <p:spPr>
          <a:xfrm>
            <a:off x="5027350" y="3991431"/>
            <a:ext cx="468052" cy="1754284"/>
          </a:xfrm>
          <a:prstGeom prst="rightBrace">
            <a:avLst/>
          </a:prstGeom>
          <a:ln w="28575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22BCE4-D3EB-4ACC-B3EB-0FC296084D88}"/>
              </a:ext>
            </a:extLst>
          </p:cNvPr>
          <p:cNvSpPr txBox="1"/>
          <p:nvPr/>
        </p:nvSpPr>
        <p:spPr>
          <a:xfrm>
            <a:off x="6931672" y="4470789"/>
            <a:ext cx="1584834" cy="76944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200" dirty="0"/>
              <a:t>Function </a:t>
            </a:r>
          </a:p>
          <a:p>
            <a:r>
              <a:rPr lang="en-IN" sz="2200" dirty="0"/>
              <a:t>definition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72AA270-7AD0-4DB4-8CFC-ECFFB6C313D5}"/>
              </a:ext>
            </a:extLst>
          </p:cNvPr>
          <p:cNvCxnSpPr/>
          <p:nvPr/>
        </p:nvCxnSpPr>
        <p:spPr>
          <a:xfrm flipH="1">
            <a:off x="4071501" y="1908772"/>
            <a:ext cx="1714126" cy="17638"/>
          </a:xfrm>
          <a:prstGeom prst="straightConnector1">
            <a:avLst/>
          </a:prstGeom>
          <a:ln w="2540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5B82221-4D08-4ED9-B0CE-1D5ABAA54FDE}"/>
              </a:ext>
            </a:extLst>
          </p:cNvPr>
          <p:cNvCxnSpPr/>
          <p:nvPr/>
        </p:nvCxnSpPr>
        <p:spPr>
          <a:xfrm flipH="1">
            <a:off x="3481371" y="3303079"/>
            <a:ext cx="2557994" cy="63491"/>
          </a:xfrm>
          <a:prstGeom prst="straightConnector1">
            <a:avLst/>
          </a:prstGeom>
          <a:ln w="2540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717875D-6356-47B5-A121-13E43B1E1BC4}"/>
              </a:ext>
            </a:extLst>
          </p:cNvPr>
          <p:cNvCxnSpPr>
            <a:stCxn id="10" idx="1"/>
            <a:endCxn id="9" idx="1"/>
          </p:cNvCxnSpPr>
          <p:nvPr/>
        </p:nvCxnSpPr>
        <p:spPr>
          <a:xfrm flipH="1">
            <a:off x="5495402" y="4855510"/>
            <a:ext cx="1436270" cy="13063"/>
          </a:xfrm>
          <a:prstGeom prst="straightConnector1">
            <a:avLst/>
          </a:prstGeom>
          <a:ln w="2540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8513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/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7ED3C4F-7729-4766-9B84-DC95B997DFFF}"/>
              </a:ext>
            </a:extLst>
          </p:cNvPr>
          <p:cNvSpPr txBox="1">
            <a:spLocks/>
          </p:cNvSpPr>
          <p:nvPr/>
        </p:nvSpPr>
        <p:spPr>
          <a:xfrm>
            <a:off x="107504" y="820738"/>
            <a:ext cx="8892988" cy="188818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wrap="square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IN" sz="2800" b="1"/>
              <a:t>Function Declaration</a:t>
            </a:r>
            <a:endParaRPr lang="en-IN" sz="2400" b="1"/>
          </a:p>
          <a:p>
            <a:pPr marL="0" indent="0">
              <a:buFont typeface="Calibri" panose="020F0502020204030204" pitchFamily="34" charset="0"/>
              <a:buNone/>
            </a:pPr>
            <a:r>
              <a:rPr lang="en-IN" sz="2400"/>
              <a:t>     Syntax: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IN" sz="240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IN" sz="2400">
                <a:solidFill>
                  <a:srgbClr val="0000FF"/>
                </a:solidFill>
                <a:latin typeface="Consolas" panose="020B0609020204030204" pitchFamily="49" charset="0"/>
              </a:rPr>
              <a:t>return-type</a:t>
            </a:r>
            <a:r>
              <a:rPr lang="en-IN" sz="2400">
                <a:latin typeface="Consolas" panose="020B0609020204030204" pitchFamily="49" charset="0"/>
              </a:rPr>
              <a:t> function-name (</a:t>
            </a:r>
            <a:r>
              <a:rPr lang="en-IN" sz="2400">
                <a:solidFill>
                  <a:srgbClr val="0000FF"/>
                </a:solidFill>
                <a:latin typeface="Consolas" panose="020B0609020204030204" pitchFamily="49" charset="0"/>
              </a:rPr>
              <a:t>arg-1</a:t>
            </a:r>
            <a:r>
              <a:rPr lang="en-IN" sz="2400">
                <a:latin typeface="Consolas" panose="020B0609020204030204" pitchFamily="49" charset="0"/>
              </a:rPr>
              <a:t>, </a:t>
            </a:r>
            <a:r>
              <a:rPr lang="en-IN" sz="2400">
                <a:solidFill>
                  <a:srgbClr val="0000FF"/>
                </a:solidFill>
                <a:latin typeface="Consolas" panose="020B0609020204030204" pitchFamily="49" charset="0"/>
              </a:rPr>
              <a:t>arg 2</a:t>
            </a:r>
            <a:r>
              <a:rPr lang="en-IN" sz="2400">
                <a:latin typeface="Consolas" panose="020B0609020204030204" pitchFamily="49" charset="0"/>
              </a:rPr>
              <a:t>, …);</a:t>
            </a:r>
            <a:endParaRPr lang="en-IN" sz="2400" b="1">
              <a:solidFill>
                <a:sysClr val="windowText" lastClr="000000"/>
              </a:solidFill>
              <a:effectLst>
                <a:outerShdw blurRad="50800" dist="50800" dir="5400000" algn="ctr" rotWithShape="0">
                  <a:srgbClr val="000000">
                    <a:alpha val="0"/>
                  </a:srgbClr>
                </a:outerShdw>
              </a:effectLst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Font typeface="Calibri" panose="020F0502020204030204" pitchFamily="34" charset="0"/>
              <a:buNone/>
            </a:pPr>
            <a:r>
              <a:rPr lang="en-IN" sz="2400"/>
              <a:t>     Example:   </a:t>
            </a:r>
            <a:r>
              <a:rPr lang="en-IN" sz="24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IN" sz="2400">
                <a:latin typeface="Consolas" panose="020B0609020204030204" pitchFamily="49" charset="0"/>
              </a:rPr>
              <a:t> addition(</a:t>
            </a:r>
            <a:r>
              <a:rPr lang="en-IN" sz="24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IN" sz="2400">
                <a:latin typeface="Consolas" panose="020B0609020204030204" pitchFamily="49" charset="0"/>
              </a:rPr>
              <a:t> , </a:t>
            </a:r>
            <a:r>
              <a:rPr lang="en-IN" sz="24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IN" sz="2400">
                <a:latin typeface="Consolas" panose="020B0609020204030204" pitchFamily="49" charset="0"/>
              </a:rPr>
              <a:t> );</a:t>
            </a:r>
            <a:endParaRPr lang="en-IN" sz="2400" dirty="0">
              <a:latin typeface="Consolas" panose="020B0609020204030204" pitchFamily="49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915BB63-1F27-45D4-9CF3-57A4D4F9D1CC}"/>
              </a:ext>
            </a:extLst>
          </p:cNvPr>
          <p:cNvSpPr txBox="1">
            <a:spLocks/>
          </p:cNvSpPr>
          <p:nvPr/>
        </p:nvSpPr>
        <p:spPr>
          <a:xfrm>
            <a:off x="0" y="106363"/>
            <a:ext cx="8763000" cy="8080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Simple Function – (Cont…)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8BCCFA-C071-4258-B25E-60FFB521C9DF}"/>
              </a:ext>
            </a:extLst>
          </p:cNvPr>
          <p:cNvSpPr/>
          <p:nvPr/>
        </p:nvSpPr>
        <p:spPr>
          <a:xfrm>
            <a:off x="105232" y="2860475"/>
            <a:ext cx="8895260" cy="384720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IN" sz="2800" b="1" dirty="0"/>
              <a:t>Function Definition</a:t>
            </a:r>
          </a:p>
          <a:p>
            <a:r>
              <a:rPr lang="en-IN" sz="2400" dirty="0"/>
              <a:t>     Syntax:</a:t>
            </a:r>
          </a:p>
          <a:p>
            <a:r>
              <a:rPr lang="en-I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IN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return-type</a:t>
            </a:r>
            <a:r>
              <a:rPr lang="en-IN" sz="2400" dirty="0">
                <a:latin typeface="Consolas" panose="020B0609020204030204" pitchFamily="49" charset="0"/>
              </a:rPr>
              <a:t> function-name (</a:t>
            </a:r>
            <a:r>
              <a:rPr lang="en-IN" sz="2400" dirty="0">
                <a:solidFill>
                  <a:srgbClr val="0000FF"/>
                </a:solidFill>
                <a:latin typeface="Consolas" panose="020B0609020204030204" pitchFamily="49" charset="0"/>
              </a:rPr>
              <a:t>arg-1</a:t>
            </a:r>
            <a:r>
              <a:rPr lang="en-IN" sz="2400" dirty="0">
                <a:latin typeface="Consolas" panose="020B0609020204030204" pitchFamily="49" charset="0"/>
              </a:rPr>
              <a:t>, </a:t>
            </a:r>
            <a:r>
              <a:rPr lang="en-IN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arg</a:t>
            </a:r>
            <a:r>
              <a:rPr lang="en-IN" sz="2400" dirty="0">
                <a:solidFill>
                  <a:srgbClr val="0000FF"/>
                </a:solidFill>
                <a:latin typeface="Consolas" panose="020B0609020204030204" pitchFamily="49" charset="0"/>
              </a:rPr>
              <a:t> 2</a:t>
            </a:r>
            <a:r>
              <a:rPr lang="en-IN" sz="2400" dirty="0">
                <a:latin typeface="Consolas" panose="020B0609020204030204" pitchFamily="49" charset="0"/>
              </a:rPr>
              <a:t>, …)</a:t>
            </a:r>
          </a:p>
          <a:p>
            <a:r>
              <a:rPr lang="en-IN" sz="2400" dirty="0">
                <a:latin typeface="Consolas" panose="020B0609020204030204" pitchFamily="49" charset="0"/>
              </a:rPr>
              <a:t>  {  </a:t>
            </a:r>
          </a:p>
          <a:p>
            <a:r>
              <a:rPr lang="en-IN" sz="2400" dirty="0">
                <a:latin typeface="Consolas" panose="020B0609020204030204" pitchFamily="49" charset="0"/>
              </a:rPr>
              <a:t>       ... Function body</a:t>
            </a:r>
          </a:p>
          <a:p>
            <a:r>
              <a:rPr lang="en-IN" sz="2400" dirty="0">
                <a:latin typeface="Consolas" panose="020B0609020204030204" pitchFamily="49" charset="0"/>
              </a:rPr>
              <a:t>  }</a:t>
            </a:r>
          </a:p>
          <a:p>
            <a:r>
              <a:rPr lang="en-IN" sz="2400" dirty="0"/>
              <a:t>     Example:        </a:t>
            </a:r>
            <a:r>
              <a:rPr lang="en-IN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IN" sz="2400" dirty="0">
                <a:latin typeface="Consolas" panose="020B0609020204030204" pitchFamily="49" charset="0"/>
              </a:rPr>
              <a:t> addition(</a:t>
            </a:r>
            <a:r>
              <a:rPr lang="en-IN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IN" sz="2400" dirty="0">
                <a:latin typeface="Consolas" panose="020B0609020204030204" pitchFamily="49" charset="0"/>
              </a:rPr>
              <a:t> x, </a:t>
            </a:r>
            <a:r>
              <a:rPr lang="en-IN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IN" sz="2400" dirty="0">
                <a:latin typeface="Consolas" panose="020B0609020204030204" pitchFamily="49" charset="0"/>
              </a:rPr>
              <a:t> y)</a:t>
            </a:r>
          </a:p>
          <a:p>
            <a:r>
              <a:rPr lang="en-IN" sz="2400" dirty="0">
                <a:latin typeface="Consolas" panose="020B0609020204030204" pitchFamily="49" charset="0"/>
              </a:rPr>
              <a:t>  		 {	</a:t>
            </a:r>
          </a:p>
          <a:p>
            <a:r>
              <a:rPr lang="en-IN" sz="2400" dirty="0">
                <a:latin typeface="Consolas" panose="020B0609020204030204" pitchFamily="49" charset="0"/>
              </a:rPr>
              <a:t>			</a:t>
            </a:r>
            <a:r>
              <a:rPr lang="en-IN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IN" sz="2400" dirty="0">
                <a:latin typeface="Consolas" panose="020B0609020204030204" pitchFamily="49" charset="0"/>
              </a:rPr>
              <a:t> </a:t>
            </a:r>
            <a:r>
              <a:rPr lang="en-IN" sz="2400" dirty="0" err="1">
                <a:latin typeface="Consolas" panose="020B0609020204030204" pitchFamily="49" charset="0"/>
              </a:rPr>
              <a:t>x+y</a:t>
            </a:r>
            <a:r>
              <a:rPr lang="en-IN" sz="2400" dirty="0">
                <a:latin typeface="Consolas" panose="020B0609020204030204" pitchFamily="49" charset="0"/>
              </a:rPr>
              <a:t>;</a:t>
            </a:r>
          </a:p>
          <a:p>
            <a:r>
              <a:rPr lang="en-IN" sz="2400" dirty="0">
                <a:latin typeface="Consolas" panose="020B0609020204030204" pitchFamily="49" charset="0"/>
              </a:rPr>
              <a:t>  		 }</a:t>
            </a:r>
          </a:p>
        </p:txBody>
      </p:sp>
    </p:spTree>
    <p:extLst>
      <p:ext uri="{BB962C8B-B14F-4D97-AF65-F5344CB8AC3E}">
        <p14:creationId xmlns:p14="http://schemas.microsoft.com/office/powerpoint/2010/main" val="897100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DDD6F-0079-408F-B2BE-24B536AEF299}"/>
              </a:ext>
            </a:extLst>
          </p:cNvPr>
          <p:cNvSpPr txBox="1">
            <a:spLocks/>
          </p:cNvSpPr>
          <p:nvPr/>
        </p:nvSpPr>
        <p:spPr>
          <a:xfrm>
            <a:off x="190500" y="106363"/>
            <a:ext cx="8763000" cy="8080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Categories of Function 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A2E4B9-ECB8-4026-A821-AC4D9D408C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9792" y="2204864"/>
            <a:ext cx="6363922" cy="40626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func1(</a:t>
            </a:r>
            <a:r>
              <a:rPr lang="en-IN" sz="2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, </a:t>
            </a:r>
            <a:r>
              <a:rPr lang="en-IN" sz="2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); </a:t>
            </a:r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\\declaration</a:t>
            </a:r>
            <a:endParaRPr lang="en-IN" sz="2400" b="1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main() </a:t>
            </a:r>
          </a:p>
          <a:p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.... </a:t>
            </a:r>
          </a:p>
          <a:p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IN" sz="2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z = func1(5,6); </a:t>
            </a:r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\\function call</a:t>
            </a:r>
            <a:endParaRPr lang="en-IN" sz="2400" b="1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r>
              <a:rPr lang="en-IN" sz="2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func1(</a:t>
            </a:r>
            <a:r>
              <a:rPr lang="en-IN" sz="2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IN" sz="2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b) </a:t>
            </a:r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\\definition</a:t>
            </a:r>
          </a:p>
          <a:p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.... </a:t>
            </a:r>
          </a:p>
          <a:p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IN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sz="24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a+b</a:t>
            </a:r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FAC6BA-2A34-4648-B79C-130B9E097DFB}"/>
              </a:ext>
            </a:extLst>
          </p:cNvPr>
          <p:cNvSpPr txBox="1"/>
          <p:nvPr/>
        </p:nvSpPr>
        <p:spPr>
          <a:xfrm>
            <a:off x="251520" y="1016732"/>
            <a:ext cx="6120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(1) Function </a:t>
            </a:r>
            <a:r>
              <a:rPr lang="en-IN" sz="2400" b="1" dirty="0">
                <a:solidFill>
                  <a:srgbClr val="C00000"/>
                </a:solidFill>
              </a:rPr>
              <a:t>with arguments</a:t>
            </a:r>
            <a:r>
              <a:rPr lang="en-IN" sz="2400" dirty="0">
                <a:solidFill>
                  <a:srgbClr val="C00000"/>
                </a:solidFill>
              </a:rPr>
              <a:t> </a:t>
            </a:r>
            <a:r>
              <a:rPr lang="en-IN" sz="2400" dirty="0"/>
              <a:t>and </a:t>
            </a:r>
            <a:r>
              <a:rPr lang="en-IN" sz="2400" b="1" dirty="0">
                <a:solidFill>
                  <a:srgbClr val="C00000"/>
                </a:solidFill>
              </a:rPr>
              <a:t>returns</a:t>
            </a:r>
            <a:r>
              <a:rPr lang="en-IN" sz="2400" dirty="0"/>
              <a:t> value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25DA69-256F-45EF-A5C8-6F32F0521F86}"/>
              </a:ext>
            </a:extLst>
          </p:cNvPr>
          <p:cNvSpPr/>
          <p:nvPr/>
        </p:nvSpPr>
        <p:spPr>
          <a:xfrm>
            <a:off x="107504" y="2204864"/>
            <a:ext cx="1548172" cy="4680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dirty="0">
                <a:solidFill>
                  <a:schemeClr val="tx1"/>
                </a:solidFill>
              </a:rPr>
              <a:t>Return type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1E7B172-4636-4513-8461-14006B0CE4E6}"/>
              </a:ext>
            </a:extLst>
          </p:cNvPr>
          <p:cNvCxnSpPr>
            <a:stCxn id="5" idx="3"/>
          </p:cNvCxnSpPr>
          <p:nvPr/>
        </p:nvCxnSpPr>
        <p:spPr>
          <a:xfrm flipV="1">
            <a:off x="1655676" y="2420888"/>
            <a:ext cx="1080120" cy="18002"/>
          </a:xfrm>
          <a:prstGeom prst="line">
            <a:avLst/>
          </a:prstGeom>
          <a:ln w="25400">
            <a:solidFill>
              <a:schemeClr val="accent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5DA31B91-801C-4BED-9B7C-570F51BD532A}"/>
              </a:ext>
            </a:extLst>
          </p:cNvPr>
          <p:cNvSpPr/>
          <p:nvPr/>
        </p:nvSpPr>
        <p:spPr>
          <a:xfrm>
            <a:off x="6215310" y="1154603"/>
            <a:ext cx="2871534" cy="10144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dirty="0">
                <a:solidFill>
                  <a:schemeClr val="tx1"/>
                </a:solidFill>
              </a:rPr>
              <a:t>Function arguments/ parameters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5128A75-DE80-4BBE-BFCF-8D7E7A0D01F4}"/>
              </a:ext>
            </a:extLst>
          </p:cNvPr>
          <p:cNvCxnSpPr/>
          <p:nvPr/>
        </p:nvCxnSpPr>
        <p:spPr>
          <a:xfrm flipH="1">
            <a:off x="4738812" y="1696018"/>
            <a:ext cx="1741400" cy="616858"/>
          </a:xfrm>
          <a:prstGeom prst="line">
            <a:avLst/>
          </a:prstGeom>
          <a:ln w="25400">
            <a:solidFill>
              <a:schemeClr val="accent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4BF28A6-4B0F-40A2-9B8A-3016169D0142}"/>
              </a:ext>
            </a:extLst>
          </p:cNvPr>
          <p:cNvCxnSpPr/>
          <p:nvPr/>
        </p:nvCxnSpPr>
        <p:spPr>
          <a:xfrm flipH="1">
            <a:off x="5688124" y="1696018"/>
            <a:ext cx="792088" cy="566561"/>
          </a:xfrm>
          <a:prstGeom prst="line">
            <a:avLst/>
          </a:prstGeom>
          <a:ln w="25400">
            <a:solidFill>
              <a:schemeClr val="accent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7A9BD753-1D2B-4F2A-85FC-667E8DA1945F}"/>
              </a:ext>
            </a:extLst>
          </p:cNvPr>
          <p:cNvSpPr/>
          <p:nvPr/>
        </p:nvSpPr>
        <p:spPr>
          <a:xfrm>
            <a:off x="0" y="3264458"/>
            <a:ext cx="2544430" cy="102611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dirty="0">
                <a:solidFill>
                  <a:schemeClr val="tx1"/>
                </a:solidFill>
              </a:rPr>
              <a:t>Function </a:t>
            </a:r>
            <a:r>
              <a:rPr lang="en-IN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func1</a:t>
            </a:r>
            <a:r>
              <a:rPr lang="en-IN" sz="2200" dirty="0">
                <a:solidFill>
                  <a:schemeClr val="tx1"/>
                </a:solidFill>
              </a:rPr>
              <a:t> returns integer value to variable z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1434C41-AA95-48F7-B8AE-D345F553577F}"/>
              </a:ext>
            </a:extLst>
          </p:cNvPr>
          <p:cNvCxnSpPr/>
          <p:nvPr/>
        </p:nvCxnSpPr>
        <p:spPr>
          <a:xfrm>
            <a:off x="2195736" y="3645024"/>
            <a:ext cx="864096" cy="252028"/>
          </a:xfrm>
          <a:prstGeom prst="line">
            <a:avLst/>
          </a:prstGeom>
          <a:ln w="25400">
            <a:solidFill>
              <a:schemeClr val="accent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3ED78B32-33C9-4CA5-B2E9-0F60CFA5ACBC}"/>
              </a:ext>
            </a:extLst>
          </p:cNvPr>
          <p:cNvSpPr/>
          <p:nvPr/>
        </p:nvSpPr>
        <p:spPr>
          <a:xfrm>
            <a:off x="5254718" y="5913276"/>
            <a:ext cx="3698782" cy="4680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dirty="0">
                <a:solidFill>
                  <a:schemeClr val="tx1"/>
                </a:solidFill>
              </a:rPr>
              <a:t>returns </a:t>
            </a:r>
            <a:r>
              <a:rPr lang="en-IN" sz="2200" dirty="0" err="1">
                <a:solidFill>
                  <a:schemeClr val="tx1"/>
                </a:solidFill>
              </a:rPr>
              <a:t>a+b</a:t>
            </a:r>
            <a:r>
              <a:rPr lang="en-IN" sz="2200" dirty="0">
                <a:solidFill>
                  <a:schemeClr val="tx1"/>
                </a:solidFill>
              </a:rPr>
              <a:t> to calling function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8E205A3-BC61-440E-BF3B-C398DF10CE7B}"/>
              </a:ext>
            </a:extLst>
          </p:cNvPr>
          <p:cNvCxnSpPr/>
          <p:nvPr/>
        </p:nvCxnSpPr>
        <p:spPr>
          <a:xfrm flipH="1">
            <a:off x="5369793" y="4005064"/>
            <a:ext cx="354335" cy="501532"/>
          </a:xfrm>
          <a:prstGeom prst="straightConnector1">
            <a:avLst/>
          </a:prstGeom>
          <a:ln w="2540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AD9BDE8-DD07-4206-B43A-CD0728D758BD}"/>
              </a:ext>
            </a:extLst>
          </p:cNvPr>
          <p:cNvCxnSpPr/>
          <p:nvPr/>
        </p:nvCxnSpPr>
        <p:spPr>
          <a:xfrm>
            <a:off x="6120172" y="3969060"/>
            <a:ext cx="401172" cy="505211"/>
          </a:xfrm>
          <a:prstGeom prst="straightConnector1">
            <a:avLst/>
          </a:prstGeom>
          <a:ln w="2540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26">
            <a:extLst>
              <a:ext uri="{FF2B5EF4-FFF2-40B4-BE49-F238E27FC236}">
                <a16:creationId xmlns:a16="http://schemas.microsoft.com/office/drawing/2014/main" id="{4DF8307A-A493-4EF1-A9C2-2AB696B6A128}"/>
              </a:ext>
            </a:extLst>
          </p:cNvPr>
          <p:cNvCxnSpPr/>
          <p:nvPr/>
        </p:nvCxnSpPr>
        <p:spPr>
          <a:xfrm rot="10800000" flipV="1">
            <a:off x="2843808" y="3965996"/>
            <a:ext cx="1564158" cy="1299208"/>
          </a:xfrm>
          <a:prstGeom prst="curvedConnector3">
            <a:avLst>
              <a:gd name="adj1" fmla="val 182135"/>
            </a:avLst>
          </a:prstGeom>
          <a:ln w="2540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reeform 20">
            <a:extLst>
              <a:ext uri="{FF2B5EF4-FFF2-40B4-BE49-F238E27FC236}">
                <a16:creationId xmlns:a16="http://schemas.microsoft.com/office/drawing/2014/main" id="{A072E325-0A4C-46E6-96B5-84322FC726B2}"/>
              </a:ext>
            </a:extLst>
          </p:cNvPr>
          <p:cNvSpPr/>
          <p:nvPr/>
        </p:nvSpPr>
        <p:spPr>
          <a:xfrm>
            <a:off x="5143500" y="3375212"/>
            <a:ext cx="2070847" cy="2319617"/>
          </a:xfrm>
          <a:custGeom>
            <a:avLst/>
            <a:gdLst>
              <a:gd name="connsiteX0" fmla="*/ 80682 w 2070847"/>
              <a:gd name="connsiteY0" fmla="*/ 2319617 h 2319617"/>
              <a:gd name="connsiteX1" fmla="*/ 2070847 w 2070847"/>
              <a:gd name="connsiteY1" fmla="*/ 2319617 h 2319617"/>
              <a:gd name="connsiteX2" fmla="*/ 2070847 w 2070847"/>
              <a:gd name="connsiteY2" fmla="*/ 0 h 2319617"/>
              <a:gd name="connsiteX3" fmla="*/ 0 w 2070847"/>
              <a:gd name="connsiteY3" fmla="*/ 0 h 2319617"/>
              <a:gd name="connsiteX4" fmla="*/ 0 w 2070847"/>
              <a:gd name="connsiteY4" fmla="*/ 329453 h 2319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70847" h="2319617">
                <a:moveTo>
                  <a:pt x="80682" y="2319617"/>
                </a:moveTo>
                <a:lnTo>
                  <a:pt x="2070847" y="2319617"/>
                </a:lnTo>
                <a:lnTo>
                  <a:pt x="2070847" y="0"/>
                </a:lnTo>
                <a:lnTo>
                  <a:pt x="0" y="0"/>
                </a:lnTo>
                <a:lnTo>
                  <a:pt x="0" y="329453"/>
                </a:lnTo>
              </a:path>
            </a:pathLst>
          </a:custGeom>
          <a:ln w="25400">
            <a:solidFill>
              <a:schemeClr val="accent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431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10" grpId="0" animBg="1"/>
      <p:bldP spid="12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28DFA-7C13-4F3E-BFDB-2DDE32973449}"/>
              </a:ext>
            </a:extLst>
          </p:cNvPr>
          <p:cNvSpPr txBox="1">
            <a:spLocks/>
          </p:cNvSpPr>
          <p:nvPr/>
        </p:nvSpPr>
        <p:spPr>
          <a:xfrm>
            <a:off x="190500" y="106363"/>
            <a:ext cx="8763000" cy="8080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Categories of Function (Cont…) 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E1FBEF-B8AB-47D5-BF89-20EBF1933A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572" y="1952836"/>
            <a:ext cx="8479885" cy="40626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func1(</a:t>
            </a:r>
            <a:r>
              <a:rPr lang="en-IN" sz="2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, </a:t>
            </a:r>
            <a:r>
              <a:rPr lang="en-IN" sz="2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); \\function declaration</a:t>
            </a:r>
          </a:p>
          <a:p>
            <a:r>
              <a:rPr lang="en-IN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main() </a:t>
            </a:r>
          </a:p>
          <a:p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.... </a:t>
            </a:r>
          </a:p>
          <a:p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func1(5,6); \\function call</a:t>
            </a:r>
          </a:p>
          <a:p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r>
              <a:rPr lang="en-IN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func1(</a:t>
            </a:r>
            <a:r>
              <a:rPr lang="en-IN" sz="2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IN" sz="2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b) \\function definition</a:t>
            </a:r>
          </a:p>
          <a:p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.... </a:t>
            </a:r>
          </a:p>
          <a:p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....</a:t>
            </a:r>
          </a:p>
          <a:p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AB43F0-3ECB-4562-9E0D-D708D310F5C9}"/>
              </a:ext>
            </a:extLst>
          </p:cNvPr>
          <p:cNvSpPr txBox="1"/>
          <p:nvPr/>
        </p:nvSpPr>
        <p:spPr>
          <a:xfrm>
            <a:off x="251520" y="1016732"/>
            <a:ext cx="63373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(2) Function </a:t>
            </a:r>
            <a:r>
              <a:rPr lang="en-IN" sz="2400" b="1" dirty="0">
                <a:solidFill>
                  <a:srgbClr val="C00000"/>
                </a:solidFill>
              </a:rPr>
              <a:t>with arguments</a:t>
            </a:r>
            <a:r>
              <a:rPr lang="en-IN" sz="2400" dirty="0"/>
              <a:t> but </a:t>
            </a:r>
            <a:r>
              <a:rPr lang="en-IN" sz="2400" b="1" dirty="0">
                <a:solidFill>
                  <a:srgbClr val="C00000"/>
                </a:solidFill>
              </a:rPr>
              <a:t>no</a:t>
            </a:r>
            <a:r>
              <a:rPr lang="en-IN" sz="2400" dirty="0">
                <a:solidFill>
                  <a:srgbClr val="C00000"/>
                </a:solidFill>
              </a:rPr>
              <a:t> </a:t>
            </a:r>
            <a:r>
              <a:rPr lang="en-IN" sz="2400" b="1" dirty="0">
                <a:solidFill>
                  <a:srgbClr val="C00000"/>
                </a:solidFill>
              </a:rPr>
              <a:t>return</a:t>
            </a:r>
            <a:r>
              <a:rPr lang="en-IN" sz="2400" dirty="0">
                <a:solidFill>
                  <a:srgbClr val="C00000"/>
                </a:solidFill>
              </a:rPr>
              <a:t> </a:t>
            </a:r>
            <a:r>
              <a:rPr lang="en-IN" sz="2400" dirty="0"/>
              <a:t>value</a:t>
            </a:r>
          </a:p>
        </p:txBody>
      </p:sp>
    </p:spTree>
    <p:extLst>
      <p:ext uri="{BB962C8B-B14F-4D97-AF65-F5344CB8AC3E}">
        <p14:creationId xmlns:p14="http://schemas.microsoft.com/office/powerpoint/2010/main" val="1630421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C5EA7-5C25-477C-ABDE-0B0AA6C9ECC5}"/>
              </a:ext>
            </a:extLst>
          </p:cNvPr>
          <p:cNvSpPr txBox="1">
            <a:spLocks/>
          </p:cNvSpPr>
          <p:nvPr/>
        </p:nvSpPr>
        <p:spPr>
          <a:xfrm>
            <a:off x="190500" y="106363"/>
            <a:ext cx="8763000" cy="8080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Categories of Function (Cont..) 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D7925B-9051-4A62-B389-4F42F8123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1700808"/>
            <a:ext cx="4068452" cy="40626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func1(); </a:t>
            </a:r>
          </a:p>
          <a:p>
            <a:r>
              <a:rPr lang="en-IN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main() </a:t>
            </a:r>
          </a:p>
          <a:p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.... </a:t>
            </a:r>
          </a:p>
          <a:p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IN" sz="2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z = func1(); </a:t>
            </a:r>
          </a:p>
          <a:p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r>
              <a:rPr lang="en-IN" sz="2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func1() </a:t>
            </a:r>
          </a:p>
          <a:p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.... </a:t>
            </a:r>
          </a:p>
          <a:p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IN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99; </a:t>
            </a:r>
          </a:p>
          <a:p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AB54E0-5DB9-4FFF-A01B-CEB2C5BF9793}"/>
              </a:ext>
            </a:extLst>
          </p:cNvPr>
          <p:cNvSpPr txBox="1"/>
          <p:nvPr/>
        </p:nvSpPr>
        <p:spPr>
          <a:xfrm>
            <a:off x="251520" y="1016732"/>
            <a:ext cx="6444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(3) Function with</a:t>
            </a: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IN" sz="2400" b="1" dirty="0">
                <a:solidFill>
                  <a:srgbClr val="C00000"/>
                </a:solidFill>
              </a:rPr>
              <a:t>no argument</a:t>
            </a:r>
            <a:r>
              <a:rPr lang="en-IN" sz="2400" dirty="0">
                <a:solidFill>
                  <a:srgbClr val="C00000"/>
                </a:solidFill>
              </a:rPr>
              <a:t> </a:t>
            </a:r>
            <a:r>
              <a:rPr lang="en-IN" sz="2400" dirty="0"/>
              <a:t>but </a:t>
            </a:r>
            <a:r>
              <a:rPr lang="en-IN" sz="2400" b="1" dirty="0">
                <a:solidFill>
                  <a:srgbClr val="C00000"/>
                </a:solidFill>
              </a:rPr>
              <a:t>returns</a:t>
            </a:r>
            <a:r>
              <a:rPr lang="en-IN" sz="2400" dirty="0"/>
              <a:t> value</a:t>
            </a:r>
          </a:p>
        </p:txBody>
      </p:sp>
    </p:spTree>
    <p:extLst>
      <p:ext uri="{BB962C8B-B14F-4D97-AF65-F5344CB8AC3E}">
        <p14:creationId xmlns:p14="http://schemas.microsoft.com/office/powerpoint/2010/main" val="2034531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AA615-29ED-4A8D-99D6-5669E8B88628}"/>
              </a:ext>
            </a:extLst>
          </p:cNvPr>
          <p:cNvSpPr txBox="1">
            <a:spLocks/>
          </p:cNvSpPr>
          <p:nvPr/>
        </p:nvSpPr>
        <p:spPr>
          <a:xfrm>
            <a:off x="190500" y="106363"/>
            <a:ext cx="8763000" cy="8080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Categories of Function (Cont..) 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F1BBAD-DD4E-4E3D-AB9C-7D899DD5C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1700808"/>
            <a:ext cx="4068452" cy="40626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func1(); </a:t>
            </a:r>
          </a:p>
          <a:p>
            <a:r>
              <a:rPr lang="en-IN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main() </a:t>
            </a:r>
          </a:p>
          <a:p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.... </a:t>
            </a:r>
          </a:p>
          <a:p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IN" sz="2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z = func1(); </a:t>
            </a:r>
          </a:p>
          <a:p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r>
              <a:rPr lang="en-IN" sz="2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func1() </a:t>
            </a:r>
          </a:p>
          <a:p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.... </a:t>
            </a:r>
          </a:p>
          <a:p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IN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99; </a:t>
            </a:r>
          </a:p>
          <a:p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2C77BE-52B2-4589-8836-E583DD29450C}"/>
              </a:ext>
            </a:extLst>
          </p:cNvPr>
          <p:cNvSpPr txBox="1"/>
          <p:nvPr/>
        </p:nvSpPr>
        <p:spPr>
          <a:xfrm>
            <a:off x="251520" y="1016732"/>
            <a:ext cx="6444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(3) Function with</a:t>
            </a: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IN" sz="2400" b="1" dirty="0">
                <a:solidFill>
                  <a:srgbClr val="C00000"/>
                </a:solidFill>
              </a:rPr>
              <a:t>no argument</a:t>
            </a:r>
            <a:r>
              <a:rPr lang="en-IN" sz="2400" dirty="0">
                <a:solidFill>
                  <a:srgbClr val="C00000"/>
                </a:solidFill>
              </a:rPr>
              <a:t> </a:t>
            </a:r>
            <a:r>
              <a:rPr lang="en-IN" sz="2400" dirty="0"/>
              <a:t>but </a:t>
            </a:r>
            <a:r>
              <a:rPr lang="en-IN" sz="2400" b="1" dirty="0">
                <a:solidFill>
                  <a:srgbClr val="C00000"/>
                </a:solidFill>
              </a:rPr>
              <a:t>returns</a:t>
            </a:r>
            <a:r>
              <a:rPr lang="en-IN" sz="2400" dirty="0"/>
              <a:t> value</a:t>
            </a:r>
          </a:p>
        </p:txBody>
      </p:sp>
    </p:spTree>
    <p:extLst>
      <p:ext uri="{BB962C8B-B14F-4D97-AF65-F5344CB8AC3E}">
        <p14:creationId xmlns:p14="http://schemas.microsoft.com/office/powerpoint/2010/main" val="2283615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D9AF2-4447-4D98-89EC-60F55926C902}"/>
              </a:ext>
            </a:extLst>
          </p:cNvPr>
          <p:cNvSpPr txBox="1">
            <a:spLocks/>
          </p:cNvSpPr>
          <p:nvPr/>
        </p:nvSpPr>
        <p:spPr>
          <a:xfrm>
            <a:off x="190500" y="106363"/>
            <a:ext cx="8763000" cy="8080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Program: Categories of function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5D867-92F2-4E4B-BC50-1FC545F00742}"/>
              </a:ext>
            </a:extLst>
          </p:cNvPr>
          <p:cNvSpPr txBox="1">
            <a:spLocks/>
          </p:cNvSpPr>
          <p:nvPr/>
        </p:nvSpPr>
        <p:spPr>
          <a:xfrm>
            <a:off x="190500" y="990600"/>
            <a:ext cx="8763000" cy="5334000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/>
              <a:t>Write C++ programs to demonstrate various categories of function, Create function </a:t>
            </a:r>
            <a:r>
              <a:rPr lang="en-IN" b="1">
                <a:solidFill>
                  <a:srgbClr val="C00000"/>
                </a:solidFill>
              </a:rPr>
              <a:t>addition</a:t>
            </a:r>
            <a:r>
              <a:rPr lang="en-IN">
                <a:solidFill>
                  <a:srgbClr val="C00000"/>
                </a:solidFill>
              </a:rPr>
              <a:t> </a:t>
            </a:r>
            <a:r>
              <a:rPr lang="en-IN"/>
              <a:t>for all categories.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9708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4D85B-B05A-4E0F-A210-96FD2A6804ED}"/>
              </a:ext>
            </a:extLst>
          </p:cNvPr>
          <p:cNvSpPr txBox="1">
            <a:spLocks/>
          </p:cNvSpPr>
          <p:nvPr/>
        </p:nvSpPr>
        <p:spPr>
          <a:xfrm>
            <a:off x="190500" y="106363"/>
            <a:ext cx="8763000" cy="80803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/>
              <a:t>Function with argument and returns value</a:t>
            </a:r>
            <a:endParaRPr lang="en-IN" sz="3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177C9C-FF81-4929-B7DA-2B02A6DAD3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919172"/>
            <a:ext cx="4927631" cy="553997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#include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IN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&lt;</a:t>
            </a:r>
            <a:r>
              <a:rPr lang="en-IN" sz="2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iostream</a:t>
            </a:r>
            <a:r>
              <a:rPr lang="en-IN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&gt;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using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namespace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std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; </a:t>
            </a:r>
          </a:p>
          <a:p>
            <a:endParaRPr lang="en-IN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add(</a:t>
            </a:r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); </a:t>
            </a:r>
          </a:p>
          <a:p>
            <a:endParaRPr lang="en-IN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main(){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a=5,b=6,ans;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ans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= add(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a,b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);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cout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&lt;&lt;</a:t>
            </a:r>
            <a:r>
              <a:rPr lang="en-IN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"Addition is="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&lt;&lt;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ans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0;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} </a:t>
            </a:r>
          </a:p>
          <a:p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add(</a:t>
            </a:r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x,</a:t>
            </a:r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y)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x+y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} </a:t>
            </a:r>
            <a:endParaRPr kumimoji="0" lang="en-US" altLang="en-US" sz="2400" i="0" u="none" strike="noStrike" cap="none" normalizeH="0" baseline="0" dirty="0">
              <a:ln>
                <a:noFill/>
              </a:ln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94F6EB-DD2C-470E-81AB-F5D063190F85}"/>
              </a:ext>
            </a:extLst>
          </p:cNvPr>
          <p:cNvSpPr/>
          <p:nvPr/>
        </p:nvSpPr>
        <p:spPr>
          <a:xfrm>
            <a:off x="3773686" y="1374986"/>
            <a:ext cx="1815932" cy="1754326"/>
          </a:xfrm>
          <a:prstGeom prst="rect">
            <a:avLst/>
          </a:prstGeom>
          <a:ln w="19050">
            <a:solidFill>
              <a:schemeClr val="accent1"/>
            </a:solidFill>
            <a:prstDash val="sysDash"/>
          </a:ln>
        </p:spPr>
        <p:txBody>
          <a:bodyPr wrap="square">
            <a:spAutoFit/>
          </a:bodyPr>
          <a:lstStyle/>
          <a:p>
            <a:r>
              <a:rPr lang="en-I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main()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.....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 = fun1(a);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.....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FCE89D4-467A-4B15-BD56-4DB3D4D03A22}"/>
              </a:ext>
            </a:extLst>
          </p:cNvPr>
          <p:cNvCxnSpPr/>
          <p:nvPr/>
        </p:nvCxnSpPr>
        <p:spPr>
          <a:xfrm>
            <a:off x="3659324" y="914400"/>
            <a:ext cx="0" cy="294664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DE23D295-D9B0-4DE0-9BFE-B074AD40D7BE}"/>
              </a:ext>
            </a:extLst>
          </p:cNvPr>
          <p:cNvSpPr/>
          <p:nvPr/>
        </p:nvSpPr>
        <p:spPr>
          <a:xfrm>
            <a:off x="6965020" y="1373748"/>
            <a:ext cx="2115480" cy="1754326"/>
          </a:xfrm>
          <a:prstGeom prst="rect">
            <a:avLst/>
          </a:prstGeom>
          <a:ln w="19050">
            <a:solidFill>
              <a:schemeClr val="accent1"/>
            </a:solidFill>
            <a:prstDash val="sysDash"/>
          </a:ln>
        </p:spPr>
        <p:txBody>
          <a:bodyPr wrap="square">
            <a:spAutoFit/>
          </a:bodyPr>
          <a:lstStyle/>
          <a:p>
            <a:r>
              <a:rPr lang="en-I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fun1(</a:t>
            </a:r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f)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.....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.....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return e;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CD657DC-B94F-4BCC-AA80-3649CDF70EE3}"/>
              </a:ext>
            </a:extLst>
          </p:cNvPr>
          <p:cNvCxnSpPr/>
          <p:nvPr/>
        </p:nvCxnSpPr>
        <p:spPr>
          <a:xfrm>
            <a:off x="5593060" y="1771030"/>
            <a:ext cx="13719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7561D37-C992-41CF-A6EC-80452711F143}"/>
              </a:ext>
            </a:extLst>
          </p:cNvPr>
          <p:cNvSpPr txBox="1"/>
          <p:nvPr/>
        </p:nvSpPr>
        <p:spPr>
          <a:xfrm>
            <a:off x="5781954" y="1126299"/>
            <a:ext cx="1116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Value of</a:t>
            </a:r>
          </a:p>
          <a:p>
            <a:r>
              <a:rPr lang="en-IN" dirty="0"/>
              <a:t>Argument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16E89D3-3349-4E53-8FB9-8311E2EAA320}"/>
              </a:ext>
            </a:extLst>
          </p:cNvPr>
          <p:cNvCxnSpPr/>
          <p:nvPr/>
        </p:nvCxnSpPr>
        <p:spPr>
          <a:xfrm flipH="1">
            <a:off x="5593060" y="2779142"/>
            <a:ext cx="13719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123CFCA-19E9-4295-9571-AFF54B536D65}"/>
              </a:ext>
            </a:extLst>
          </p:cNvPr>
          <p:cNvSpPr txBox="1"/>
          <p:nvPr/>
        </p:nvSpPr>
        <p:spPr>
          <a:xfrm>
            <a:off x="5781954" y="2790871"/>
            <a:ext cx="1116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Function</a:t>
            </a:r>
          </a:p>
          <a:p>
            <a:pPr algn="ctr"/>
            <a:r>
              <a:rPr lang="en-IN" dirty="0"/>
              <a:t>Result</a:t>
            </a:r>
          </a:p>
        </p:txBody>
      </p:sp>
    </p:spTree>
    <p:extLst>
      <p:ext uri="{BB962C8B-B14F-4D97-AF65-F5344CB8AC3E}">
        <p14:creationId xmlns:p14="http://schemas.microsoft.com/office/powerpoint/2010/main" val="597397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1AD45-9F5D-495D-842B-D636C8C9108D}"/>
              </a:ext>
            </a:extLst>
          </p:cNvPr>
          <p:cNvSpPr txBox="1">
            <a:spLocks/>
          </p:cNvSpPr>
          <p:nvPr/>
        </p:nvSpPr>
        <p:spPr>
          <a:xfrm>
            <a:off x="190500" y="106363"/>
            <a:ext cx="8763000" cy="80803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/>
              <a:t>Function with arguments but no return value</a:t>
            </a:r>
            <a:endParaRPr lang="en-IN" sz="3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EE42A8-4C55-47FE-BCB5-03464DBEC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" y="1138633"/>
            <a:ext cx="4587794" cy="517064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#include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IN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&lt;</a:t>
            </a:r>
            <a:r>
              <a:rPr lang="en-IN" sz="2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iostream</a:t>
            </a:r>
            <a:r>
              <a:rPr lang="en-IN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&gt;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using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namespace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std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; </a:t>
            </a:r>
          </a:p>
          <a:p>
            <a:endParaRPr lang="en-IN" sz="24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void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add(</a:t>
            </a:r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); </a:t>
            </a:r>
          </a:p>
          <a:p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main()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a=5,b=6;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add(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a,b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);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0;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} </a:t>
            </a:r>
          </a:p>
          <a:p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void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add(</a:t>
            </a:r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x,</a:t>
            </a:r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y)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cout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&lt;&lt;</a:t>
            </a:r>
            <a:r>
              <a:rPr lang="en-IN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"Addition is="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&lt;&lt;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x+y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} </a:t>
            </a:r>
            <a:endParaRPr kumimoji="0" lang="en-US" altLang="en-US" sz="2400" i="0" u="none" strike="noStrike" cap="none" normalizeH="0" baseline="0" dirty="0">
              <a:ln>
                <a:noFill/>
              </a:ln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A26CAD-8AA0-4EC5-B91C-6D78B938025D}"/>
              </a:ext>
            </a:extLst>
          </p:cNvPr>
          <p:cNvSpPr/>
          <p:nvPr/>
        </p:nvSpPr>
        <p:spPr>
          <a:xfrm>
            <a:off x="3945136" y="1603586"/>
            <a:ext cx="1526964" cy="1754326"/>
          </a:xfrm>
          <a:prstGeom prst="rect">
            <a:avLst/>
          </a:prstGeom>
          <a:ln w="19050">
            <a:solidFill>
              <a:schemeClr val="accent1"/>
            </a:solidFill>
            <a:prstDash val="sysDash"/>
          </a:ln>
        </p:spPr>
        <p:txBody>
          <a:bodyPr wrap="square">
            <a:spAutoFit/>
          </a:bodyPr>
          <a:lstStyle/>
          <a:p>
            <a:r>
              <a:rPr lang="en-I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main()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.....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fun1(a);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.....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73998F6-F900-4ABE-AA77-FE2B6A73AC0E}"/>
              </a:ext>
            </a:extLst>
          </p:cNvPr>
          <p:cNvCxnSpPr/>
          <p:nvPr/>
        </p:nvCxnSpPr>
        <p:spPr>
          <a:xfrm>
            <a:off x="3830774" y="1088740"/>
            <a:ext cx="0" cy="421246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6C6AA085-808D-4CF6-ABFA-93EB43B5EDC1}"/>
              </a:ext>
            </a:extLst>
          </p:cNvPr>
          <p:cNvSpPr/>
          <p:nvPr/>
        </p:nvSpPr>
        <p:spPr>
          <a:xfrm>
            <a:off x="6831670" y="1602348"/>
            <a:ext cx="2243236" cy="1754326"/>
          </a:xfrm>
          <a:prstGeom prst="rect">
            <a:avLst/>
          </a:prstGeom>
          <a:ln w="19050">
            <a:solidFill>
              <a:schemeClr val="accent1"/>
            </a:solidFill>
            <a:prstDash val="sysDash"/>
          </a:ln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fun1(</a:t>
            </a:r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f)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.....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.....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.....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062337E-7F91-48AC-8C0A-9F5CA2B51536}"/>
              </a:ext>
            </a:extLst>
          </p:cNvPr>
          <p:cNvCxnSpPr/>
          <p:nvPr/>
        </p:nvCxnSpPr>
        <p:spPr>
          <a:xfrm>
            <a:off x="5459710" y="1999630"/>
            <a:ext cx="13719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9E0FC18-7102-4535-A83F-F3C835ACFB68}"/>
              </a:ext>
            </a:extLst>
          </p:cNvPr>
          <p:cNvSpPr txBox="1"/>
          <p:nvPr/>
        </p:nvSpPr>
        <p:spPr>
          <a:xfrm>
            <a:off x="5648604" y="1354899"/>
            <a:ext cx="1116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Value of</a:t>
            </a:r>
          </a:p>
          <a:p>
            <a:r>
              <a:rPr lang="en-IN" dirty="0"/>
              <a:t>Argument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89C2B92-9FF0-4508-92B9-D6E2F8DDE27F}"/>
              </a:ext>
            </a:extLst>
          </p:cNvPr>
          <p:cNvCxnSpPr/>
          <p:nvPr/>
        </p:nvCxnSpPr>
        <p:spPr>
          <a:xfrm flipH="1">
            <a:off x="5459710" y="3007742"/>
            <a:ext cx="13719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0892BB2-D26D-44A0-AC2E-40930F547F91}"/>
              </a:ext>
            </a:extLst>
          </p:cNvPr>
          <p:cNvSpPr txBox="1"/>
          <p:nvPr/>
        </p:nvSpPr>
        <p:spPr>
          <a:xfrm>
            <a:off x="5581662" y="3006143"/>
            <a:ext cx="1183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No Return value</a:t>
            </a:r>
          </a:p>
        </p:txBody>
      </p:sp>
    </p:spTree>
    <p:extLst>
      <p:ext uri="{BB962C8B-B14F-4D97-AF65-F5344CB8AC3E}">
        <p14:creationId xmlns:p14="http://schemas.microsoft.com/office/powerpoint/2010/main" val="1854065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72368-C4D7-4890-B753-AA00EBA23B6D}"/>
              </a:ext>
            </a:extLst>
          </p:cNvPr>
          <p:cNvSpPr txBox="1">
            <a:spLocks/>
          </p:cNvSpPr>
          <p:nvPr/>
        </p:nvSpPr>
        <p:spPr>
          <a:xfrm>
            <a:off x="190500" y="106363"/>
            <a:ext cx="8763000" cy="80803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/>
              <a:t>Function with no argument but returns value</a:t>
            </a:r>
            <a:endParaRPr lang="en-IN" sz="3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8F5409-BA6D-4162-A8FA-694C8CDD1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919173"/>
            <a:ext cx="4757713" cy="553997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sz="24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add(); </a:t>
            </a:r>
          </a:p>
          <a:p>
            <a:endParaRPr lang="en-IN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main()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ans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ans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= add();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cout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&lt;&lt;</a:t>
            </a:r>
            <a:r>
              <a:rPr lang="en-IN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"Addition is="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&lt;&lt;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ans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0;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} </a:t>
            </a:r>
          </a:p>
          <a:p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void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add()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a=5,b=6;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a+b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} </a:t>
            </a:r>
            <a:endParaRPr kumimoji="0" lang="en-US" altLang="en-US" sz="2400" i="0" u="none" strike="noStrike" cap="none" normalizeH="0" baseline="0" dirty="0">
              <a:ln>
                <a:noFill/>
              </a:ln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E89A73-5393-41DD-98EE-A5BFB90B9295}"/>
              </a:ext>
            </a:extLst>
          </p:cNvPr>
          <p:cNvSpPr/>
          <p:nvPr/>
        </p:nvSpPr>
        <p:spPr>
          <a:xfrm>
            <a:off x="4243586" y="1603586"/>
            <a:ext cx="1706984" cy="1754326"/>
          </a:xfrm>
          <a:prstGeom prst="rect">
            <a:avLst/>
          </a:prstGeom>
          <a:ln w="19050">
            <a:solidFill>
              <a:schemeClr val="accent1"/>
            </a:solidFill>
            <a:prstDash val="sysDash"/>
          </a:ln>
        </p:spPr>
        <p:txBody>
          <a:bodyPr wrap="square">
            <a:spAutoFit/>
          </a:bodyPr>
          <a:lstStyle/>
          <a:p>
            <a:r>
              <a:rPr lang="en-I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main()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.....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 = fun1();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.....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8A3306A-6439-4C15-A7AC-4B69286639B9}"/>
              </a:ext>
            </a:extLst>
          </p:cNvPr>
          <p:cNvCxnSpPr/>
          <p:nvPr/>
        </p:nvCxnSpPr>
        <p:spPr>
          <a:xfrm>
            <a:off x="4072074" y="1038844"/>
            <a:ext cx="0" cy="249472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0171AA1E-33E0-4BDB-B16B-AC9170FA813C}"/>
              </a:ext>
            </a:extLst>
          </p:cNvPr>
          <p:cNvSpPr/>
          <p:nvPr/>
        </p:nvSpPr>
        <p:spPr>
          <a:xfrm>
            <a:off x="7320620" y="1602348"/>
            <a:ext cx="1664766" cy="1754326"/>
          </a:xfrm>
          <a:prstGeom prst="rect">
            <a:avLst/>
          </a:prstGeom>
          <a:ln w="19050">
            <a:solidFill>
              <a:schemeClr val="accent1"/>
            </a:solidFill>
            <a:prstDash val="sysDash"/>
          </a:ln>
        </p:spPr>
        <p:txBody>
          <a:bodyPr wrap="square">
            <a:spAutoFit/>
          </a:bodyPr>
          <a:lstStyle/>
          <a:p>
            <a:r>
              <a:rPr lang="en-I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fun1()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.....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.....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return e;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BBEEE1E-3CDC-4198-B56C-AF5E3A643930}"/>
              </a:ext>
            </a:extLst>
          </p:cNvPr>
          <p:cNvCxnSpPr/>
          <p:nvPr/>
        </p:nvCxnSpPr>
        <p:spPr>
          <a:xfrm>
            <a:off x="5948660" y="1999630"/>
            <a:ext cx="13719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F351F80-98CD-474D-A99C-6E0F77C2C4EF}"/>
              </a:ext>
            </a:extLst>
          </p:cNvPr>
          <p:cNvSpPr txBox="1"/>
          <p:nvPr/>
        </p:nvSpPr>
        <p:spPr>
          <a:xfrm>
            <a:off x="6137554" y="1354899"/>
            <a:ext cx="954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No</a:t>
            </a:r>
          </a:p>
          <a:p>
            <a:pPr algn="ctr"/>
            <a:r>
              <a:rPr lang="en-IN" dirty="0"/>
              <a:t>Input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2BE82C0-B122-410C-9024-F8B42A5B17B3}"/>
              </a:ext>
            </a:extLst>
          </p:cNvPr>
          <p:cNvCxnSpPr/>
          <p:nvPr/>
        </p:nvCxnSpPr>
        <p:spPr>
          <a:xfrm flipH="1">
            <a:off x="5948660" y="3007742"/>
            <a:ext cx="13719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70C1ECF-0BAC-49B5-9E0B-DCC5440B5B54}"/>
              </a:ext>
            </a:extLst>
          </p:cNvPr>
          <p:cNvSpPr txBox="1"/>
          <p:nvPr/>
        </p:nvSpPr>
        <p:spPr>
          <a:xfrm>
            <a:off x="6070612" y="3006143"/>
            <a:ext cx="1183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Function</a:t>
            </a:r>
          </a:p>
          <a:p>
            <a:pPr algn="ctr"/>
            <a:r>
              <a:rPr lang="en-IN" dirty="0"/>
              <a:t>Result</a:t>
            </a:r>
          </a:p>
        </p:txBody>
      </p:sp>
    </p:spTree>
    <p:extLst>
      <p:ext uri="{BB962C8B-B14F-4D97-AF65-F5344CB8AC3E}">
        <p14:creationId xmlns:p14="http://schemas.microsoft.com/office/powerpoint/2010/main" val="2565710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9FBC8-8805-4376-A616-B6F0680273D1}"/>
              </a:ext>
            </a:extLst>
          </p:cNvPr>
          <p:cNvSpPr txBox="1">
            <a:spLocks/>
          </p:cNvSpPr>
          <p:nvPr/>
        </p:nvSpPr>
        <p:spPr>
          <a:xfrm>
            <a:off x="190500" y="106363"/>
            <a:ext cx="8763000" cy="80803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/>
              <a:t>Function with no argument and no return value</a:t>
            </a:r>
            <a:endParaRPr lang="en-IN"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8E8729-F1D5-4414-B811-CF3E4435D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088740"/>
            <a:ext cx="4757713" cy="443198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void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add(); </a:t>
            </a:r>
          </a:p>
          <a:p>
            <a:endParaRPr lang="en-IN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main()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add(); 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0;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} </a:t>
            </a:r>
          </a:p>
          <a:p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void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add()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a=5,b=6;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cout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&lt;&lt;</a:t>
            </a:r>
            <a:r>
              <a:rPr lang="en-IN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"Addition is="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&lt;&lt;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a+b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} </a:t>
            </a:r>
            <a:endParaRPr kumimoji="0" lang="en-US" altLang="en-US" sz="2400" i="0" u="none" strike="noStrike" cap="none" normalizeH="0" baseline="0" dirty="0">
              <a:ln>
                <a:noFill/>
              </a:ln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F5FEDE-5A4D-4FC1-8F7A-98A41A886E6A}"/>
              </a:ext>
            </a:extLst>
          </p:cNvPr>
          <p:cNvSpPr/>
          <p:nvPr/>
        </p:nvSpPr>
        <p:spPr>
          <a:xfrm>
            <a:off x="3945136" y="1603586"/>
            <a:ext cx="1526964" cy="1754326"/>
          </a:xfrm>
          <a:prstGeom prst="rect">
            <a:avLst/>
          </a:prstGeom>
          <a:ln w="19050">
            <a:solidFill>
              <a:schemeClr val="accent1"/>
            </a:solidFill>
            <a:prstDash val="sysDash"/>
          </a:ln>
        </p:spPr>
        <p:txBody>
          <a:bodyPr wrap="square">
            <a:spAutoFit/>
          </a:bodyPr>
          <a:lstStyle/>
          <a:p>
            <a:r>
              <a:rPr lang="en-I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main()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.....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fun1();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.....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6B8A869-298D-4747-93E4-35065B28CE6D}"/>
              </a:ext>
            </a:extLst>
          </p:cNvPr>
          <p:cNvCxnSpPr/>
          <p:nvPr/>
        </p:nvCxnSpPr>
        <p:spPr>
          <a:xfrm>
            <a:off x="3659324" y="1245819"/>
            <a:ext cx="0" cy="261561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3A13705-E590-485A-9050-533A9C22BA46}"/>
              </a:ext>
            </a:extLst>
          </p:cNvPr>
          <p:cNvSpPr/>
          <p:nvPr/>
        </p:nvSpPr>
        <p:spPr>
          <a:xfrm>
            <a:off x="6831670" y="1602348"/>
            <a:ext cx="1628762" cy="1754326"/>
          </a:xfrm>
          <a:prstGeom prst="rect">
            <a:avLst/>
          </a:prstGeom>
          <a:ln w="19050">
            <a:solidFill>
              <a:schemeClr val="accent1"/>
            </a:solidFill>
            <a:prstDash val="sysDash"/>
          </a:ln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fun1()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.....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.....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.....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FE81DBB-0426-40AD-819F-E584DC679DFC}"/>
              </a:ext>
            </a:extLst>
          </p:cNvPr>
          <p:cNvCxnSpPr/>
          <p:nvPr/>
        </p:nvCxnSpPr>
        <p:spPr>
          <a:xfrm>
            <a:off x="5459710" y="1999630"/>
            <a:ext cx="13719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51BBBAC-07B3-4DA4-BD9F-4BA3FAC976FF}"/>
              </a:ext>
            </a:extLst>
          </p:cNvPr>
          <p:cNvSpPr txBox="1"/>
          <p:nvPr/>
        </p:nvSpPr>
        <p:spPr>
          <a:xfrm>
            <a:off x="5648604" y="1354899"/>
            <a:ext cx="975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No</a:t>
            </a:r>
          </a:p>
          <a:p>
            <a:pPr algn="ctr"/>
            <a:r>
              <a:rPr lang="en-IN" dirty="0"/>
              <a:t>Input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A20F7AE-0371-494B-A8EF-5F85E3A675FC}"/>
              </a:ext>
            </a:extLst>
          </p:cNvPr>
          <p:cNvCxnSpPr/>
          <p:nvPr/>
        </p:nvCxnSpPr>
        <p:spPr>
          <a:xfrm flipH="1">
            <a:off x="5459710" y="3007742"/>
            <a:ext cx="13719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E059A5E-EBCC-4EC6-A0D5-59B0C9DD6FAB}"/>
              </a:ext>
            </a:extLst>
          </p:cNvPr>
          <p:cNvSpPr txBox="1"/>
          <p:nvPr/>
        </p:nvSpPr>
        <p:spPr>
          <a:xfrm>
            <a:off x="5581662" y="3006143"/>
            <a:ext cx="1183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No Return value</a:t>
            </a:r>
          </a:p>
        </p:txBody>
      </p:sp>
    </p:spTree>
    <p:extLst>
      <p:ext uri="{BB962C8B-B14F-4D97-AF65-F5344CB8AC3E}">
        <p14:creationId xmlns:p14="http://schemas.microsoft.com/office/powerpoint/2010/main" val="2572756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92660-8646-4F7F-BF8F-A7A8DB8824A6}"/>
              </a:ext>
            </a:extLst>
          </p:cNvPr>
          <p:cNvSpPr txBox="1">
            <a:spLocks/>
          </p:cNvSpPr>
          <p:nvPr/>
        </p:nvSpPr>
        <p:spPr>
          <a:xfrm>
            <a:off x="190500" y="106363"/>
            <a:ext cx="8763000" cy="8080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Categories of Functions Summary 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CCBD8D-AB3F-4A3D-97E3-EA6D04432328}"/>
              </a:ext>
            </a:extLst>
          </p:cNvPr>
          <p:cNvSpPr/>
          <p:nvPr/>
        </p:nvSpPr>
        <p:spPr>
          <a:xfrm>
            <a:off x="1898857" y="1629988"/>
            <a:ext cx="1815932" cy="1754326"/>
          </a:xfrm>
          <a:prstGeom prst="rect">
            <a:avLst/>
          </a:prstGeom>
          <a:ln w="19050">
            <a:solidFill>
              <a:schemeClr val="accent1"/>
            </a:solidFill>
            <a:prstDash val="sysDash"/>
          </a:ln>
        </p:spPr>
        <p:txBody>
          <a:bodyPr wrap="square">
            <a:spAutoFit/>
          </a:bodyPr>
          <a:lstStyle/>
          <a:p>
            <a:r>
              <a:rPr lang="en-I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main()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.....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 = fun1(a);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.....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87D1AE-B479-4B17-AA76-945A15552827}"/>
              </a:ext>
            </a:extLst>
          </p:cNvPr>
          <p:cNvSpPr/>
          <p:nvPr/>
        </p:nvSpPr>
        <p:spPr>
          <a:xfrm>
            <a:off x="5090191" y="1628750"/>
            <a:ext cx="2115480" cy="1754326"/>
          </a:xfrm>
          <a:prstGeom prst="rect">
            <a:avLst/>
          </a:prstGeom>
          <a:ln w="19050">
            <a:solidFill>
              <a:schemeClr val="accent1"/>
            </a:solidFill>
            <a:prstDash val="sysDash"/>
          </a:ln>
        </p:spPr>
        <p:txBody>
          <a:bodyPr wrap="square">
            <a:spAutoFit/>
          </a:bodyPr>
          <a:lstStyle/>
          <a:p>
            <a:r>
              <a:rPr lang="en-I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fun1(</a:t>
            </a:r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f)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.....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.....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return e;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BE9378D-E131-49A9-B3DA-FB591006E778}"/>
              </a:ext>
            </a:extLst>
          </p:cNvPr>
          <p:cNvCxnSpPr/>
          <p:nvPr/>
        </p:nvCxnSpPr>
        <p:spPr>
          <a:xfrm>
            <a:off x="3718231" y="2026032"/>
            <a:ext cx="13719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A2C25F5-EF0E-479D-B2D0-E9AAA8906EA9}"/>
              </a:ext>
            </a:extLst>
          </p:cNvPr>
          <p:cNvSpPr txBox="1"/>
          <p:nvPr/>
        </p:nvSpPr>
        <p:spPr>
          <a:xfrm>
            <a:off x="3907125" y="1381301"/>
            <a:ext cx="1116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Value of</a:t>
            </a:r>
          </a:p>
          <a:p>
            <a:r>
              <a:rPr lang="en-IN" dirty="0"/>
              <a:t>Argument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5DF0CBB-9F9B-48A2-9D08-5C888CE636D7}"/>
              </a:ext>
            </a:extLst>
          </p:cNvPr>
          <p:cNvCxnSpPr/>
          <p:nvPr/>
        </p:nvCxnSpPr>
        <p:spPr>
          <a:xfrm flipH="1">
            <a:off x="3718231" y="3034144"/>
            <a:ext cx="13719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F4C659C-730D-4FC8-968B-E690FF3827AD}"/>
              </a:ext>
            </a:extLst>
          </p:cNvPr>
          <p:cNvSpPr txBox="1"/>
          <p:nvPr/>
        </p:nvSpPr>
        <p:spPr>
          <a:xfrm>
            <a:off x="3907125" y="2982215"/>
            <a:ext cx="1116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Function</a:t>
            </a:r>
          </a:p>
          <a:p>
            <a:pPr algn="ctr"/>
            <a:r>
              <a:rPr lang="en-IN" dirty="0"/>
              <a:t>Result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16D30A-BCA8-4297-8804-384E3DE12BCC}"/>
              </a:ext>
            </a:extLst>
          </p:cNvPr>
          <p:cNvSpPr txBox="1"/>
          <p:nvPr/>
        </p:nvSpPr>
        <p:spPr>
          <a:xfrm>
            <a:off x="190500" y="948186"/>
            <a:ext cx="8763000" cy="461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400" b="1" dirty="0"/>
              <a:t>(1) Function with argument and returns value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46F5FC-D844-44DE-86A2-6D0344030120}"/>
              </a:ext>
            </a:extLst>
          </p:cNvPr>
          <p:cNvSpPr txBox="1"/>
          <p:nvPr/>
        </p:nvSpPr>
        <p:spPr>
          <a:xfrm>
            <a:off x="190500" y="3627362"/>
            <a:ext cx="8763000" cy="461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400" b="1" dirty="0"/>
              <a:t>(2) Function with argument and but no return value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76911D-68D7-40BD-8742-B0C39B229851}"/>
              </a:ext>
            </a:extLst>
          </p:cNvPr>
          <p:cNvSpPr/>
          <p:nvPr/>
        </p:nvSpPr>
        <p:spPr>
          <a:xfrm>
            <a:off x="2009502" y="4286659"/>
            <a:ext cx="1526964" cy="1754326"/>
          </a:xfrm>
          <a:prstGeom prst="rect">
            <a:avLst/>
          </a:prstGeom>
          <a:ln w="19050">
            <a:solidFill>
              <a:schemeClr val="accent1"/>
            </a:solidFill>
            <a:prstDash val="sysDash"/>
          </a:ln>
        </p:spPr>
        <p:txBody>
          <a:bodyPr wrap="square">
            <a:spAutoFit/>
          </a:bodyPr>
          <a:lstStyle/>
          <a:p>
            <a:r>
              <a:rPr lang="en-I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main()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.....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fun1(a);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.....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0C0268-6229-4A4A-8126-AA378CA8DE56}"/>
              </a:ext>
            </a:extLst>
          </p:cNvPr>
          <p:cNvSpPr/>
          <p:nvPr/>
        </p:nvSpPr>
        <p:spPr>
          <a:xfrm>
            <a:off x="4896036" y="4285421"/>
            <a:ext cx="2243236" cy="1754326"/>
          </a:xfrm>
          <a:prstGeom prst="rect">
            <a:avLst/>
          </a:prstGeom>
          <a:ln w="19050">
            <a:solidFill>
              <a:schemeClr val="accent1"/>
            </a:solidFill>
            <a:prstDash val="sysDash"/>
          </a:ln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fun1(</a:t>
            </a:r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f)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.....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.....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.....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8FD5D5D-5AB7-4373-839F-9F331868F6CA}"/>
              </a:ext>
            </a:extLst>
          </p:cNvPr>
          <p:cNvCxnSpPr/>
          <p:nvPr/>
        </p:nvCxnSpPr>
        <p:spPr>
          <a:xfrm>
            <a:off x="3524076" y="4682703"/>
            <a:ext cx="13719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A611FF5-FDD3-4430-B21B-63B4150CE8D2}"/>
              </a:ext>
            </a:extLst>
          </p:cNvPr>
          <p:cNvSpPr txBox="1"/>
          <p:nvPr/>
        </p:nvSpPr>
        <p:spPr>
          <a:xfrm>
            <a:off x="3712970" y="4037972"/>
            <a:ext cx="1116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Value of</a:t>
            </a:r>
          </a:p>
          <a:p>
            <a:r>
              <a:rPr lang="en-IN" dirty="0"/>
              <a:t>Argument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F4D20B7-B905-4E32-B3B9-BD7F2557AE35}"/>
              </a:ext>
            </a:extLst>
          </p:cNvPr>
          <p:cNvCxnSpPr/>
          <p:nvPr/>
        </p:nvCxnSpPr>
        <p:spPr>
          <a:xfrm flipH="1">
            <a:off x="3524076" y="5690815"/>
            <a:ext cx="13719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EEFDA7C-5C34-49B5-822D-51B9C01D1AA5}"/>
              </a:ext>
            </a:extLst>
          </p:cNvPr>
          <p:cNvSpPr txBox="1"/>
          <p:nvPr/>
        </p:nvSpPr>
        <p:spPr>
          <a:xfrm>
            <a:off x="3618523" y="5660207"/>
            <a:ext cx="1183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No Return value</a:t>
            </a:r>
          </a:p>
        </p:txBody>
      </p:sp>
    </p:spTree>
    <p:extLst>
      <p:ext uri="{BB962C8B-B14F-4D97-AF65-F5344CB8AC3E}">
        <p14:creationId xmlns:p14="http://schemas.microsoft.com/office/powerpoint/2010/main" val="3411677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/>
      <p:bldP spid="8" grpId="0"/>
      <p:bldP spid="10" grpId="0" animBg="1"/>
      <p:bldP spid="11" grpId="0" animBg="1"/>
      <p:bldP spid="12" grpId="0" animBg="1"/>
      <p:bldP spid="14" grpId="0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D5BA5-092A-4F13-B69E-A4B54543AC84}"/>
              </a:ext>
            </a:extLst>
          </p:cNvPr>
          <p:cNvSpPr txBox="1">
            <a:spLocks/>
          </p:cNvSpPr>
          <p:nvPr/>
        </p:nvSpPr>
        <p:spPr>
          <a:xfrm>
            <a:off x="190500" y="106363"/>
            <a:ext cx="8763000" cy="8080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Categories of Functions Summary 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17E32C-0D8D-47C1-B33E-94589440BC92}"/>
              </a:ext>
            </a:extLst>
          </p:cNvPr>
          <p:cNvSpPr txBox="1"/>
          <p:nvPr/>
        </p:nvSpPr>
        <p:spPr>
          <a:xfrm>
            <a:off x="190500" y="948186"/>
            <a:ext cx="8763000" cy="461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400" b="1" dirty="0"/>
              <a:t>(3) Function with no argument and returns value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9A2962-6756-4AD2-973D-657280258084}"/>
              </a:ext>
            </a:extLst>
          </p:cNvPr>
          <p:cNvSpPr txBox="1"/>
          <p:nvPr/>
        </p:nvSpPr>
        <p:spPr>
          <a:xfrm>
            <a:off x="190500" y="3627362"/>
            <a:ext cx="8763000" cy="461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400" b="1" dirty="0"/>
              <a:t>(4) Function with no argument and but no return value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013AB1-CAEA-4928-9A78-5B2FAE5509C9}"/>
              </a:ext>
            </a:extLst>
          </p:cNvPr>
          <p:cNvSpPr/>
          <p:nvPr/>
        </p:nvSpPr>
        <p:spPr>
          <a:xfrm>
            <a:off x="2179042" y="1618840"/>
            <a:ext cx="1706984" cy="1754326"/>
          </a:xfrm>
          <a:prstGeom prst="rect">
            <a:avLst/>
          </a:prstGeom>
          <a:ln w="19050">
            <a:solidFill>
              <a:schemeClr val="accent1"/>
            </a:solidFill>
            <a:prstDash val="sysDash"/>
          </a:ln>
        </p:spPr>
        <p:txBody>
          <a:bodyPr wrap="square">
            <a:spAutoFit/>
          </a:bodyPr>
          <a:lstStyle/>
          <a:p>
            <a:r>
              <a:rPr lang="en-I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main()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.....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 = fun1();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.....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0EA9AC-8524-4C12-9EBF-CB29C59111B2}"/>
              </a:ext>
            </a:extLst>
          </p:cNvPr>
          <p:cNvSpPr/>
          <p:nvPr/>
        </p:nvSpPr>
        <p:spPr>
          <a:xfrm>
            <a:off x="5256076" y="1617602"/>
            <a:ext cx="1664766" cy="1754326"/>
          </a:xfrm>
          <a:prstGeom prst="rect">
            <a:avLst/>
          </a:prstGeom>
          <a:ln w="19050">
            <a:solidFill>
              <a:schemeClr val="accent1"/>
            </a:solidFill>
            <a:prstDash val="sysDash"/>
          </a:ln>
        </p:spPr>
        <p:txBody>
          <a:bodyPr wrap="square">
            <a:spAutoFit/>
          </a:bodyPr>
          <a:lstStyle/>
          <a:p>
            <a:r>
              <a:rPr lang="en-I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fun1()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.....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.....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return e;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5C20BA4-1870-4EA9-BFCA-4A790C9671BA}"/>
              </a:ext>
            </a:extLst>
          </p:cNvPr>
          <p:cNvCxnSpPr/>
          <p:nvPr/>
        </p:nvCxnSpPr>
        <p:spPr>
          <a:xfrm>
            <a:off x="3884116" y="2014884"/>
            <a:ext cx="13719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D6AFC75-B088-4888-8B5D-743FB016A49F}"/>
              </a:ext>
            </a:extLst>
          </p:cNvPr>
          <p:cNvSpPr txBox="1"/>
          <p:nvPr/>
        </p:nvSpPr>
        <p:spPr>
          <a:xfrm>
            <a:off x="4073010" y="1370153"/>
            <a:ext cx="954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No</a:t>
            </a:r>
          </a:p>
          <a:p>
            <a:pPr algn="ctr"/>
            <a:r>
              <a:rPr lang="en-IN" dirty="0"/>
              <a:t>Input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B74E903-0031-445F-8374-D7AA9416939D}"/>
              </a:ext>
            </a:extLst>
          </p:cNvPr>
          <p:cNvCxnSpPr/>
          <p:nvPr/>
        </p:nvCxnSpPr>
        <p:spPr>
          <a:xfrm flipH="1">
            <a:off x="3884116" y="3022996"/>
            <a:ext cx="13719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CF8C216-3A89-430E-829E-B724ACE4EF70}"/>
              </a:ext>
            </a:extLst>
          </p:cNvPr>
          <p:cNvSpPr txBox="1"/>
          <p:nvPr/>
        </p:nvSpPr>
        <p:spPr>
          <a:xfrm>
            <a:off x="4006068" y="3021397"/>
            <a:ext cx="1183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Function</a:t>
            </a:r>
          </a:p>
          <a:p>
            <a:pPr algn="ctr"/>
            <a:r>
              <a:rPr lang="en-IN" dirty="0"/>
              <a:t>Result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884E15-8CBE-43EC-96A3-833BA094EA80}"/>
              </a:ext>
            </a:extLst>
          </p:cNvPr>
          <p:cNvSpPr/>
          <p:nvPr/>
        </p:nvSpPr>
        <p:spPr>
          <a:xfrm>
            <a:off x="2369542" y="4364583"/>
            <a:ext cx="1526964" cy="1754326"/>
          </a:xfrm>
          <a:prstGeom prst="rect">
            <a:avLst/>
          </a:prstGeom>
          <a:ln w="19050">
            <a:solidFill>
              <a:schemeClr val="accent1"/>
            </a:solidFill>
            <a:prstDash val="sysDash"/>
          </a:ln>
        </p:spPr>
        <p:txBody>
          <a:bodyPr wrap="square">
            <a:spAutoFit/>
          </a:bodyPr>
          <a:lstStyle/>
          <a:p>
            <a:r>
              <a:rPr lang="en-I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main()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.....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fun1();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.....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1C1B09-12D1-44CD-B692-B2C39C97CEF7}"/>
              </a:ext>
            </a:extLst>
          </p:cNvPr>
          <p:cNvSpPr/>
          <p:nvPr/>
        </p:nvSpPr>
        <p:spPr>
          <a:xfrm>
            <a:off x="5256076" y="4363345"/>
            <a:ext cx="1628762" cy="1754326"/>
          </a:xfrm>
          <a:prstGeom prst="rect">
            <a:avLst/>
          </a:prstGeom>
          <a:ln w="19050">
            <a:solidFill>
              <a:schemeClr val="accent1"/>
            </a:solidFill>
            <a:prstDash val="sysDash"/>
          </a:ln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fun1()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.....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.....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.....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99AF602-A5DF-4648-A96B-BA0BD1092CCB}"/>
              </a:ext>
            </a:extLst>
          </p:cNvPr>
          <p:cNvCxnSpPr/>
          <p:nvPr/>
        </p:nvCxnSpPr>
        <p:spPr>
          <a:xfrm>
            <a:off x="3884116" y="4760627"/>
            <a:ext cx="13719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2710A25-06A6-4628-AB23-1FFAD70ACD24}"/>
              </a:ext>
            </a:extLst>
          </p:cNvPr>
          <p:cNvSpPr txBox="1"/>
          <p:nvPr/>
        </p:nvSpPr>
        <p:spPr>
          <a:xfrm>
            <a:off x="4073010" y="4115896"/>
            <a:ext cx="975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No</a:t>
            </a:r>
          </a:p>
          <a:p>
            <a:pPr algn="ctr"/>
            <a:r>
              <a:rPr lang="en-IN" dirty="0"/>
              <a:t>Input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DFD77DA-362B-41C1-AEF4-7F1FA8C17E44}"/>
              </a:ext>
            </a:extLst>
          </p:cNvPr>
          <p:cNvCxnSpPr/>
          <p:nvPr/>
        </p:nvCxnSpPr>
        <p:spPr>
          <a:xfrm flipH="1">
            <a:off x="3884116" y="5768739"/>
            <a:ext cx="13719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DDF08F2-613C-49CF-9FB3-12F13BCAFB5E}"/>
              </a:ext>
            </a:extLst>
          </p:cNvPr>
          <p:cNvSpPr txBox="1"/>
          <p:nvPr/>
        </p:nvSpPr>
        <p:spPr>
          <a:xfrm>
            <a:off x="4006068" y="5767140"/>
            <a:ext cx="1183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No Return value</a:t>
            </a:r>
          </a:p>
        </p:txBody>
      </p:sp>
    </p:spTree>
    <p:extLst>
      <p:ext uri="{BB962C8B-B14F-4D97-AF65-F5344CB8AC3E}">
        <p14:creationId xmlns:p14="http://schemas.microsoft.com/office/powerpoint/2010/main" val="2027473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/>
      <p:bldP spid="10" grpId="0"/>
      <p:bldP spid="11" grpId="0" animBg="1"/>
      <p:bldP spid="12" grpId="0" animBg="1"/>
      <p:bldP spid="14" grpId="0"/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A2EA1-08C9-4202-B31B-0816E4DD8974}"/>
              </a:ext>
            </a:extLst>
          </p:cNvPr>
          <p:cNvSpPr txBox="1">
            <a:spLocks/>
          </p:cNvSpPr>
          <p:nvPr/>
        </p:nvSpPr>
        <p:spPr>
          <a:xfrm>
            <a:off x="2466473" y="417832"/>
            <a:ext cx="7772400" cy="147002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7200"/>
              <a:t>Call by Reference</a:t>
            </a:r>
            <a:endParaRPr lang="en-IN" sz="7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0D1232-82D7-4656-AFCC-B8B8BBC790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211" y="1677972"/>
            <a:ext cx="8316924" cy="449114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314DF74-87A6-4BFD-9AB6-F79A45AFFB49}"/>
              </a:ext>
            </a:extLst>
          </p:cNvPr>
          <p:cNvSpPr/>
          <p:nvPr/>
        </p:nvSpPr>
        <p:spPr>
          <a:xfrm>
            <a:off x="5146539" y="5696828"/>
            <a:ext cx="2412268" cy="4680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0221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25C13-6E37-459B-9FAF-DCDED55D57EE}"/>
              </a:ext>
            </a:extLst>
          </p:cNvPr>
          <p:cNvSpPr txBox="1">
            <a:spLocks/>
          </p:cNvSpPr>
          <p:nvPr/>
        </p:nvSpPr>
        <p:spPr>
          <a:xfrm>
            <a:off x="190500" y="106363"/>
            <a:ext cx="8763000" cy="8080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Call by reference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FFB3C-6B48-4DBB-B274-A9707FA88F87}"/>
              </a:ext>
            </a:extLst>
          </p:cNvPr>
          <p:cNvSpPr txBox="1">
            <a:spLocks/>
          </p:cNvSpPr>
          <p:nvPr/>
        </p:nvSpPr>
        <p:spPr>
          <a:xfrm>
            <a:off x="190500" y="990600"/>
            <a:ext cx="8763000" cy="17903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/>
              <a:t>The </a:t>
            </a:r>
            <a:r>
              <a:rPr lang="en-IN" b="1">
                <a:solidFill>
                  <a:srgbClr val="C00000"/>
                </a:solidFill>
              </a:rPr>
              <a:t>call by reference</a:t>
            </a:r>
            <a:r>
              <a:rPr lang="en-IN"/>
              <a:t> method of passing arguments to a function copies the reference of an argument into the </a:t>
            </a:r>
            <a:r>
              <a:rPr lang="en-IN" u="sng">
                <a:solidFill>
                  <a:srgbClr val="C00000"/>
                </a:solidFill>
              </a:rPr>
              <a:t>formal parameter</a:t>
            </a:r>
            <a:r>
              <a:rPr lang="en-IN"/>
              <a:t>.</a:t>
            </a:r>
          </a:p>
          <a:p>
            <a:pPr algn="just"/>
            <a:r>
              <a:rPr lang="en-IN"/>
              <a:t>Inside the function body, the reference is used to access the actual argument used in the call. 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391D69-6F9C-4B48-87D0-B16EC0183720}"/>
              </a:ext>
            </a:extLst>
          </p:cNvPr>
          <p:cNvSpPr txBox="1"/>
          <p:nvPr/>
        </p:nvSpPr>
        <p:spPr>
          <a:xfrm>
            <a:off x="190500" y="4928282"/>
            <a:ext cx="8763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i="1" dirty="0"/>
              <a:t>Note: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2400" i="1" dirty="0"/>
              <a:t>Actual parameters</a:t>
            </a:r>
            <a:r>
              <a:rPr lang="en-IN" sz="2400" dirty="0"/>
              <a:t> are parameters as they appear in function calls.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2400" i="1" dirty="0"/>
              <a:t>Formal parameters</a:t>
            </a:r>
            <a:r>
              <a:rPr lang="en-IN" sz="2400" dirty="0"/>
              <a:t> are parameters as they appear in function declarations / definition.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9ECC0D-643E-4E49-820E-562AB311938B}"/>
              </a:ext>
            </a:extLst>
          </p:cNvPr>
          <p:cNvSpPr/>
          <p:nvPr/>
        </p:nvSpPr>
        <p:spPr>
          <a:xfrm>
            <a:off x="4499992" y="2780928"/>
            <a:ext cx="424847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main(){ </a:t>
            </a:r>
          </a:p>
          <a:p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add(</a:t>
            </a:r>
            <a:r>
              <a:rPr lang="en-IN" sz="24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a,b</a:t>
            </a:r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endParaRPr lang="en-IN" sz="2400" b="1" dirty="0">
              <a:solidFill>
                <a:srgbClr val="0000FF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add(</a:t>
            </a:r>
            <a:r>
              <a:rPr lang="en-IN" sz="2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sz="24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x,</a:t>
            </a:r>
            <a:r>
              <a:rPr lang="en-IN" sz="2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y){ </a:t>
            </a:r>
          </a:p>
          <a:p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	</a:t>
            </a:r>
            <a:r>
              <a:rPr lang="en-IN" sz="24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IN" sz="24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x+y</a:t>
            </a:r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endParaRPr lang="en-US" alt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ular Callout 8">
            <a:extLst>
              <a:ext uri="{FF2B5EF4-FFF2-40B4-BE49-F238E27FC236}">
                <a16:creationId xmlns:a16="http://schemas.microsoft.com/office/drawing/2014/main" id="{7DF5DFDC-80E3-4636-B8B8-16E1E622C576}"/>
              </a:ext>
            </a:extLst>
          </p:cNvPr>
          <p:cNvSpPr/>
          <p:nvPr/>
        </p:nvSpPr>
        <p:spPr>
          <a:xfrm>
            <a:off x="6895778" y="2635405"/>
            <a:ext cx="2160240" cy="324036"/>
          </a:xfrm>
          <a:prstGeom prst="wedgeRectCallout">
            <a:avLst>
              <a:gd name="adj1" fmla="val -63750"/>
              <a:gd name="adj2" fmla="val 135008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Actual Parameters</a:t>
            </a:r>
          </a:p>
        </p:txBody>
      </p:sp>
      <p:sp>
        <p:nvSpPr>
          <p:cNvPr id="7" name="Rectangular Callout 9">
            <a:extLst>
              <a:ext uri="{FF2B5EF4-FFF2-40B4-BE49-F238E27FC236}">
                <a16:creationId xmlns:a16="http://schemas.microsoft.com/office/drawing/2014/main" id="{7197CE72-C412-472E-B648-A02011D68FD4}"/>
              </a:ext>
            </a:extLst>
          </p:cNvPr>
          <p:cNvSpPr/>
          <p:nvPr/>
        </p:nvSpPr>
        <p:spPr>
          <a:xfrm>
            <a:off x="6895778" y="3619825"/>
            <a:ext cx="2160240" cy="324036"/>
          </a:xfrm>
          <a:prstGeom prst="wedgeRectCallout">
            <a:avLst>
              <a:gd name="adj1" fmla="val -45525"/>
              <a:gd name="adj2" fmla="val 162443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Formal Parameters</a:t>
            </a:r>
          </a:p>
        </p:txBody>
      </p:sp>
    </p:spTree>
    <p:extLst>
      <p:ext uri="{BB962C8B-B14F-4D97-AF65-F5344CB8AC3E}">
        <p14:creationId xmlns:p14="http://schemas.microsoft.com/office/powerpoint/2010/main" val="511728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4" grpId="0"/>
      <p:bldP spid="5" grpId="0"/>
      <p:bldP spid="6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6AA75-4785-445D-87DB-1077DE937BD8}"/>
              </a:ext>
            </a:extLst>
          </p:cNvPr>
          <p:cNvSpPr txBox="1">
            <a:spLocks/>
          </p:cNvSpPr>
          <p:nvPr/>
        </p:nvSpPr>
        <p:spPr>
          <a:xfrm>
            <a:off x="190500" y="106363"/>
            <a:ext cx="8763000" cy="808037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Program: Swap using pointer, reference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4D139-F4BE-44AC-9010-258B2604421F}"/>
              </a:ext>
            </a:extLst>
          </p:cNvPr>
          <p:cNvSpPr txBox="1">
            <a:spLocks/>
          </p:cNvSpPr>
          <p:nvPr/>
        </p:nvSpPr>
        <p:spPr>
          <a:xfrm>
            <a:off x="190500" y="990600"/>
            <a:ext cx="8763000" cy="5334000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Write a C++ program that to swap two values using function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400"/>
              <a:t>With pass by pointer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400"/>
              <a:t>With pass by reference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228657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829B7-2929-4689-A6EB-EA156B505129}"/>
              </a:ext>
            </a:extLst>
          </p:cNvPr>
          <p:cNvSpPr txBox="1">
            <a:spLocks/>
          </p:cNvSpPr>
          <p:nvPr/>
        </p:nvSpPr>
        <p:spPr>
          <a:xfrm>
            <a:off x="190500" y="106363"/>
            <a:ext cx="8763000" cy="8080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Program: Solution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25DD90-6268-4D27-ACDF-8C8C2E36882E}"/>
              </a:ext>
            </a:extLst>
          </p:cNvPr>
          <p:cNvSpPr/>
          <p:nvPr/>
        </p:nvSpPr>
        <p:spPr>
          <a:xfrm>
            <a:off x="143508" y="958791"/>
            <a:ext cx="550861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void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swapptr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*x, </a:t>
            </a:r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*y)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z = *x;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*x=*y;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*y=z;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} </a:t>
            </a:r>
          </a:p>
          <a:p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void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swapref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&amp;x, </a:t>
            </a:r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&amp;y)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z = x;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x = y;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y = z;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} </a:t>
            </a:r>
            <a:endParaRPr lang="en-US" altLang="en-US" sz="2400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9AAC70-46D3-4CB8-BB87-9CD38918952D}"/>
              </a:ext>
            </a:extLst>
          </p:cNvPr>
          <p:cNvSpPr/>
          <p:nvPr/>
        </p:nvSpPr>
        <p:spPr>
          <a:xfrm>
            <a:off x="5112060" y="3825044"/>
            <a:ext cx="363640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 err="1"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400" dirty="0">
                <a:latin typeface="Consolas" panose="020B0609020204030204" pitchFamily="49" charset="0"/>
                <a:cs typeface="Courier New" panose="02070309020205020404" pitchFamily="49" charset="0"/>
              </a:rPr>
              <a:t> main()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Consolas" panose="020B0609020204030204" pitchFamily="49" charset="0"/>
                <a:cs typeface="Courier New" panose="02070309020205020404" pitchFamily="49" charset="0"/>
              </a:rPr>
              <a:t>{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Consolas" panose="020B0609020204030204" pitchFamily="49" charset="0"/>
                <a:cs typeface="Courier New" panose="02070309020205020404" pitchFamily="49" charset="0"/>
              </a:rPr>
              <a:t>  ...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400" dirty="0" err="1">
                <a:latin typeface="Consolas" panose="020B0609020204030204" pitchFamily="49" charset="0"/>
                <a:cs typeface="Courier New" panose="02070309020205020404" pitchFamily="49" charset="0"/>
              </a:rPr>
              <a:t>swapptr</a:t>
            </a:r>
            <a:r>
              <a:rPr lang="en-US" altLang="en-US" sz="2400" dirty="0">
                <a:latin typeface="Consolas" panose="020B0609020204030204" pitchFamily="49" charset="0"/>
                <a:cs typeface="Courier New" panose="02070309020205020404" pitchFamily="49" charset="0"/>
              </a:rPr>
              <a:t>(&amp;</a:t>
            </a:r>
            <a:r>
              <a:rPr lang="en-US" altLang="en-US" sz="2400" dirty="0" err="1">
                <a:latin typeface="Consolas" panose="020B0609020204030204" pitchFamily="49" charset="0"/>
                <a:cs typeface="Courier New" panose="02070309020205020404" pitchFamily="49" charset="0"/>
              </a:rPr>
              <a:t>a,&amp;b</a:t>
            </a:r>
            <a:r>
              <a:rPr lang="en-US" altLang="en-US" sz="2400" dirty="0">
                <a:latin typeface="Consolas" panose="020B0609020204030204" pitchFamily="49" charset="0"/>
                <a:cs typeface="Courier New" panose="02070309020205020404" pitchFamily="49" charset="0"/>
              </a:rPr>
              <a:t>);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400" dirty="0" err="1">
                <a:latin typeface="Consolas" panose="020B0609020204030204" pitchFamily="49" charset="0"/>
                <a:cs typeface="Courier New" panose="02070309020205020404" pitchFamily="49" charset="0"/>
              </a:rPr>
              <a:t>swapref</a:t>
            </a:r>
            <a:r>
              <a:rPr lang="en-US" altLang="en-US" sz="2400" dirty="0"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400" dirty="0" err="1">
                <a:latin typeface="Consolas" panose="020B0609020204030204" pitchFamily="49" charset="0"/>
                <a:cs typeface="Courier New" panose="02070309020205020404" pitchFamily="49" charset="0"/>
              </a:rPr>
              <a:t>a,b</a:t>
            </a:r>
            <a:r>
              <a:rPr lang="en-US" altLang="en-US" sz="2400" dirty="0">
                <a:latin typeface="Consolas" panose="020B0609020204030204" pitchFamily="49" charset="0"/>
                <a:cs typeface="Courier New" panose="02070309020205020404" pitchFamily="49" charset="0"/>
              </a:rPr>
              <a:t>);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Consolas" panose="020B0609020204030204" pitchFamily="49" charset="0"/>
                <a:cs typeface="Courier New" panose="02070309020205020404" pitchFamily="49" charset="0"/>
              </a:rPr>
              <a:t>  ...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Consolas" panose="020B0609020204030204" pitchFamily="49" charset="0"/>
                <a:cs typeface="Courier New" panose="02070309020205020404" pitchFamily="49" charset="0"/>
              </a:rPr>
              <a:t>}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FCD9C6-C6D5-4246-9501-1C02941AD298}"/>
              </a:ext>
            </a:extLst>
          </p:cNvPr>
          <p:cNvSpPr txBox="1"/>
          <p:nvPr/>
        </p:nvSpPr>
        <p:spPr>
          <a:xfrm>
            <a:off x="5472100" y="1772816"/>
            <a:ext cx="3528392" cy="461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Pointers as arguments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5181D0F-376B-4DCA-A297-071106F5C67A}"/>
              </a:ext>
            </a:extLst>
          </p:cNvPr>
          <p:cNvCxnSpPr/>
          <p:nvPr/>
        </p:nvCxnSpPr>
        <p:spPr>
          <a:xfrm flipH="1" flipV="1">
            <a:off x="3383868" y="1412776"/>
            <a:ext cx="2268252" cy="590874"/>
          </a:xfrm>
          <a:prstGeom prst="straightConnector1">
            <a:avLst/>
          </a:prstGeom>
          <a:ln w="2540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5597948-1949-4770-903C-5B3142EA2F24}"/>
              </a:ext>
            </a:extLst>
          </p:cNvPr>
          <p:cNvCxnSpPr/>
          <p:nvPr/>
        </p:nvCxnSpPr>
        <p:spPr>
          <a:xfrm flipH="1" flipV="1">
            <a:off x="4644008" y="1412776"/>
            <a:ext cx="1008112" cy="590874"/>
          </a:xfrm>
          <a:prstGeom prst="straightConnector1">
            <a:avLst/>
          </a:prstGeom>
          <a:ln w="2540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7BA3742-1767-4564-9265-105995C153E4}"/>
              </a:ext>
            </a:extLst>
          </p:cNvPr>
          <p:cNvSpPr txBox="1"/>
          <p:nvPr/>
        </p:nvSpPr>
        <p:spPr>
          <a:xfrm>
            <a:off x="5472100" y="2275138"/>
            <a:ext cx="3528392" cy="83099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References as arguments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DF469BE-504D-4BC9-8F66-6DC39C99D87A}"/>
              </a:ext>
            </a:extLst>
          </p:cNvPr>
          <p:cNvCxnSpPr/>
          <p:nvPr/>
        </p:nvCxnSpPr>
        <p:spPr>
          <a:xfrm flipH="1">
            <a:off x="4644008" y="2504963"/>
            <a:ext cx="1008112" cy="708013"/>
          </a:xfrm>
          <a:prstGeom prst="straightConnector1">
            <a:avLst/>
          </a:prstGeom>
          <a:ln w="2540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76D488B-71A7-4F11-94B8-DB22A7D268E7}"/>
              </a:ext>
            </a:extLst>
          </p:cNvPr>
          <p:cNvCxnSpPr/>
          <p:nvPr/>
        </p:nvCxnSpPr>
        <p:spPr>
          <a:xfrm flipH="1">
            <a:off x="3383868" y="2504963"/>
            <a:ext cx="2268252" cy="708013"/>
          </a:xfrm>
          <a:prstGeom prst="straightConnector1">
            <a:avLst/>
          </a:prstGeom>
          <a:ln w="2540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6443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0F0F9C0B-D715-4A7C-B3AB-F66315D8ADF5}"/>
              </a:ext>
            </a:extLst>
          </p:cNvPr>
          <p:cNvSpPr txBox="1">
            <a:spLocks/>
          </p:cNvSpPr>
          <p:nvPr/>
        </p:nvSpPr>
        <p:spPr>
          <a:xfrm>
            <a:off x="0" y="-6350"/>
            <a:ext cx="8763000" cy="8080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Program: Solution</a:t>
            </a:r>
            <a:endParaRPr lang="en-IN" dirty="0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F12B0929-404A-42E6-B46E-CF063A6055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244" y="618447"/>
            <a:ext cx="7986161" cy="627864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void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swapptr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*, </a:t>
            </a:r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*); </a:t>
            </a:r>
          </a:p>
          <a:p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void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swapref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&amp;, </a:t>
            </a:r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&amp;); </a:t>
            </a:r>
          </a:p>
          <a:p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main()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a = 45;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b = 35;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cout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&lt;&lt;</a:t>
            </a:r>
            <a:r>
              <a:rPr lang="en-IN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"Before Swap\n"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cout&lt;&lt;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"a="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&lt;&lt;a&lt;&lt;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" b="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&lt;&lt;b&lt;&lt;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"\n"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; </a:t>
            </a:r>
          </a:p>
          <a:p>
            <a:endParaRPr lang="en-IN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swapptr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(&amp;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a,&amp;b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);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cout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&lt;&lt;</a:t>
            </a:r>
            <a:r>
              <a:rPr lang="en-IN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"After Swap with pass by pointer\n"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cout&lt;&lt;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"a="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&lt;&lt;a&lt;&lt;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" b="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&lt;&lt;b&lt;&lt;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"\n"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; </a:t>
            </a:r>
          </a:p>
          <a:p>
            <a:endParaRPr lang="en-IN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swapref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a,b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);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cout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&lt;&lt;</a:t>
            </a:r>
            <a:r>
              <a:rPr lang="en-IN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"After Swap with pass by reference\n"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cout&lt;&lt;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"a="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&lt;&lt;a&lt;&lt;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" b="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&lt;&lt;b&lt;&lt;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"\n"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} </a:t>
            </a:r>
            <a:endParaRPr kumimoji="0" lang="en-US" altLang="en-US" sz="2200" i="0" u="none" strike="noStrike" cap="none" normalizeH="0" baseline="0" dirty="0">
              <a:ln>
                <a:noFill/>
              </a:ln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25417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A490F-F87F-4402-9A5F-A3F15F9CF815}"/>
              </a:ext>
            </a:extLst>
          </p:cNvPr>
          <p:cNvSpPr txBox="1">
            <a:spLocks/>
          </p:cNvSpPr>
          <p:nvPr/>
        </p:nvSpPr>
        <p:spPr>
          <a:xfrm>
            <a:off x="190500" y="106363"/>
            <a:ext cx="8763000" cy="8080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Program: Solution (Cont…)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D0ECC3-14BB-44C5-91F1-DC0D1F94E7C4}"/>
              </a:ext>
            </a:extLst>
          </p:cNvPr>
          <p:cNvSpPr/>
          <p:nvPr/>
        </p:nvSpPr>
        <p:spPr>
          <a:xfrm>
            <a:off x="143508" y="1052736"/>
            <a:ext cx="586865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void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swapptr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*x, </a:t>
            </a:r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*y)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z = *x;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*x=*y;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*y=z;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} </a:t>
            </a:r>
          </a:p>
          <a:p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void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swapref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&amp;x, </a:t>
            </a:r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&amp;y)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z = x;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x = y;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y = z;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} </a:t>
            </a:r>
            <a:endParaRPr lang="en-US" altLang="en-US" sz="2400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A38D88-65EE-4F84-851C-08DF2C29D09E}"/>
              </a:ext>
            </a:extLst>
          </p:cNvPr>
          <p:cNvSpPr/>
          <p:nvPr/>
        </p:nvSpPr>
        <p:spPr>
          <a:xfrm>
            <a:off x="3077412" y="3861048"/>
            <a:ext cx="6024421" cy="256993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IN" sz="2300" dirty="0"/>
              <a:t>OUTPUT</a:t>
            </a:r>
          </a:p>
          <a:p>
            <a:r>
              <a:rPr lang="en-IN" sz="2300" b="1" dirty="0">
                <a:latin typeface="Courier New" panose="02070309020205020404" pitchFamily="49" charset="0"/>
                <a:cs typeface="Courier New" panose="02070309020205020404" pitchFamily="49" charset="0"/>
              </a:rPr>
              <a:t>Before Swap</a:t>
            </a:r>
          </a:p>
          <a:p>
            <a:r>
              <a:rPr lang="en-IN" sz="2300" b="1" dirty="0">
                <a:latin typeface="Courier New" panose="02070309020205020404" pitchFamily="49" charset="0"/>
                <a:cs typeface="Courier New" panose="02070309020205020404" pitchFamily="49" charset="0"/>
              </a:rPr>
              <a:t>a=45 b=35</a:t>
            </a:r>
          </a:p>
          <a:p>
            <a:r>
              <a:rPr lang="en-IN" sz="2300" b="1" dirty="0">
                <a:latin typeface="Courier New" panose="02070309020205020404" pitchFamily="49" charset="0"/>
                <a:cs typeface="Courier New" panose="02070309020205020404" pitchFamily="49" charset="0"/>
              </a:rPr>
              <a:t>After Swap with pass by pointer</a:t>
            </a:r>
          </a:p>
          <a:p>
            <a:r>
              <a:rPr lang="en-IN" sz="2300" b="1" dirty="0">
                <a:latin typeface="Courier New" panose="02070309020205020404" pitchFamily="49" charset="0"/>
                <a:cs typeface="Courier New" panose="02070309020205020404" pitchFamily="49" charset="0"/>
              </a:rPr>
              <a:t>a=35 b=45</a:t>
            </a:r>
          </a:p>
          <a:p>
            <a:r>
              <a:rPr lang="en-IN" sz="2300" b="1" dirty="0">
                <a:latin typeface="Courier New" panose="02070309020205020404" pitchFamily="49" charset="0"/>
                <a:cs typeface="Courier New" panose="02070309020205020404" pitchFamily="49" charset="0"/>
              </a:rPr>
              <a:t>After Swap with pass by reference</a:t>
            </a:r>
          </a:p>
          <a:p>
            <a:r>
              <a:rPr lang="en-IN" sz="2300" b="1" dirty="0">
                <a:latin typeface="Courier New" panose="02070309020205020404" pitchFamily="49" charset="0"/>
                <a:cs typeface="Courier New" panose="02070309020205020404" pitchFamily="49" charset="0"/>
              </a:rPr>
              <a:t>a=45 b=35</a:t>
            </a:r>
          </a:p>
        </p:txBody>
      </p:sp>
    </p:spTree>
    <p:extLst>
      <p:ext uri="{BB962C8B-B14F-4D97-AF65-F5344CB8AC3E}">
        <p14:creationId xmlns:p14="http://schemas.microsoft.com/office/powerpoint/2010/main" val="2800463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9C22C51-69BE-4914-98F2-82DD12F69A52}"/>
              </a:ext>
            </a:extLst>
          </p:cNvPr>
          <p:cNvSpPr txBox="1">
            <a:spLocks/>
          </p:cNvSpPr>
          <p:nvPr/>
        </p:nvSpPr>
        <p:spPr>
          <a:xfrm>
            <a:off x="190500" y="106363"/>
            <a:ext cx="8763000" cy="8080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Program: Return by Reference</a:t>
            </a:r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D8C7BEC-2652-4CDC-ACD2-A4C0EFCEA3F4}"/>
              </a:ext>
            </a:extLst>
          </p:cNvPr>
          <p:cNvSpPr txBox="1">
            <a:spLocks/>
          </p:cNvSpPr>
          <p:nvPr/>
        </p:nvSpPr>
        <p:spPr>
          <a:xfrm>
            <a:off x="190500" y="990600"/>
            <a:ext cx="8763000" cy="5334000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/>
              <a:t>Write a C++ program to </a:t>
            </a:r>
            <a:r>
              <a:rPr lang="en-IN" b="1">
                <a:solidFill>
                  <a:srgbClr val="C00000"/>
                </a:solidFill>
              </a:rPr>
              <a:t>return reference</a:t>
            </a:r>
            <a:r>
              <a:rPr lang="en-IN"/>
              <a:t> of maximum of two numbers from function max.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7849995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30A4-F077-4F72-93C2-205B58B2B52D}"/>
              </a:ext>
            </a:extLst>
          </p:cNvPr>
          <p:cNvSpPr txBox="1">
            <a:spLocks/>
          </p:cNvSpPr>
          <p:nvPr/>
        </p:nvSpPr>
        <p:spPr>
          <a:xfrm>
            <a:off x="190500" y="106363"/>
            <a:ext cx="8763000" cy="8080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Program: Solution</a:t>
            </a:r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1C7A7EE-CF78-424E-A062-F9BF269B55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524" y="1124744"/>
            <a:ext cx="4417876" cy="517064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&amp; max(</a:t>
            </a:r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&amp;, </a:t>
            </a:r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&amp;); </a:t>
            </a:r>
          </a:p>
          <a:p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main()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a=5,b=6,ans;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ans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= max(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a,b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);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cout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&lt;&lt;</a:t>
            </a:r>
            <a:r>
              <a:rPr lang="en-IN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"Maximum="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&lt;&lt;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ans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} </a:t>
            </a:r>
          </a:p>
          <a:p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&amp; max(</a:t>
            </a:r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&amp;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x,</a:t>
            </a:r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&amp;y)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if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(x&gt;y)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x;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else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y;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} </a:t>
            </a:r>
            <a:endParaRPr kumimoji="0" lang="en-US" altLang="en-US" sz="2400" i="0" u="none" strike="noStrike" cap="none" normalizeH="0" baseline="0" dirty="0">
              <a:ln>
                <a:noFill/>
              </a:ln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D0E817-45AA-402C-A8E1-B5E2798717E6}"/>
              </a:ext>
            </a:extLst>
          </p:cNvPr>
          <p:cNvSpPr txBox="1"/>
          <p:nvPr/>
        </p:nvSpPr>
        <p:spPr>
          <a:xfrm>
            <a:off x="4746585" y="1531657"/>
            <a:ext cx="3209791" cy="83099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Function declaration returning reference 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F13BA2D-3562-42F0-A9E8-F8E6396D1631}"/>
              </a:ext>
            </a:extLst>
          </p:cNvPr>
          <p:cNvSpPr/>
          <p:nvPr/>
        </p:nvSpPr>
        <p:spPr>
          <a:xfrm>
            <a:off x="695784" y="1134516"/>
            <a:ext cx="360000" cy="360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2B14AE0-915A-4CBD-A8C6-CB34997F3244}"/>
              </a:ext>
            </a:extLst>
          </p:cNvPr>
          <p:cNvCxnSpPr>
            <a:endCxn id="5" idx="5"/>
          </p:cNvCxnSpPr>
          <p:nvPr/>
        </p:nvCxnSpPr>
        <p:spPr>
          <a:xfrm flipH="1" flipV="1">
            <a:off x="1003063" y="1441795"/>
            <a:ext cx="3740456" cy="304790"/>
          </a:xfrm>
          <a:prstGeom prst="straightConnector1">
            <a:avLst/>
          </a:prstGeom>
          <a:ln w="2540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5561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000B1-AB78-4B2C-8103-1D634B245E4A}"/>
              </a:ext>
            </a:extLst>
          </p:cNvPr>
          <p:cNvSpPr txBox="1">
            <a:spLocks/>
          </p:cNvSpPr>
          <p:nvPr/>
        </p:nvSpPr>
        <p:spPr>
          <a:xfrm>
            <a:off x="190500" y="106363"/>
            <a:ext cx="8763000" cy="8080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Program: Returning Reference</a:t>
            </a:r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DF4230C-069E-44C8-AD94-78F0513265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" y="949700"/>
            <a:ext cx="4140557" cy="517064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IN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x;</a:t>
            </a:r>
            <a:endParaRPr lang="en-IN" sz="28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IN" sz="2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&amp; </a:t>
            </a:r>
            <a:r>
              <a:rPr lang="en-IN" sz="2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setdata</a:t>
            </a:r>
            <a:r>
              <a:rPr lang="en-IN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(); </a:t>
            </a:r>
          </a:p>
          <a:p>
            <a:r>
              <a:rPr lang="en-IN" sz="2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main() </a:t>
            </a:r>
          </a:p>
          <a:p>
            <a:r>
              <a:rPr lang="en-IN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IN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IN" sz="2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setdata</a:t>
            </a:r>
            <a:r>
              <a:rPr lang="en-IN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() = 56; </a:t>
            </a:r>
          </a:p>
          <a:p>
            <a:r>
              <a:rPr lang="en-IN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IN" sz="2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cout</a:t>
            </a:r>
            <a:r>
              <a:rPr lang="en-IN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&lt;&lt;</a:t>
            </a:r>
            <a:r>
              <a:rPr lang="en-IN" sz="2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"Value="</a:t>
            </a:r>
            <a:r>
              <a:rPr lang="en-IN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&lt;&lt;x;</a:t>
            </a:r>
          </a:p>
          <a:p>
            <a:r>
              <a:rPr lang="en-IN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IN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return </a:t>
            </a:r>
            <a:r>
              <a:rPr lang="en-IN" sz="2800" dirty="0"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0;</a:t>
            </a:r>
          </a:p>
          <a:p>
            <a:r>
              <a:rPr lang="en-IN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} </a:t>
            </a:r>
          </a:p>
          <a:p>
            <a:r>
              <a:rPr lang="en-IN" sz="2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&amp; </a:t>
            </a:r>
            <a:r>
              <a:rPr lang="en-IN" sz="2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setdata</a:t>
            </a:r>
            <a:r>
              <a:rPr lang="en-IN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() </a:t>
            </a:r>
          </a:p>
          <a:p>
            <a:r>
              <a:rPr lang="en-IN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IN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IN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en-IN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x; </a:t>
            </a:r>
          </a:p>
          <a:p>
            <a:r>
              <a:rPr lang="en-IN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} </a:t>
            </a:r>
            <a:endParaRPr kumimoji="0" lang="en-US" altLang="en-US" sz="2800" i="0" u="none" strike="noStrike" cap="none" normalizeH="0" baseline="0" dirty="0">
              <a:ln>
                <a:noFill/>
              </a:ln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897468-246F-41BB-B2DE-0B5A60A77D9D}"/>
              </a:ext>
            </a:extLst>
          </p:cNvPr>
          <p:cNvSpPr/>
          <p:nvPr/>
        </p:nvSpPr>
        <p:spPr>
          <a:xfrm>
            <a:off x="4505356" y="949700"/>
            <a:ext cx="4631023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err="1"/>
              <a:t>setx</a:t>
            </a:r>
            <a:r>
              <a:rPr lang="en-US" sz="2400" dirty="0"/>
              <a:t>() is declared with a reference type,</a:t>
            </a:r>
          </a:p>
          <a:p>
            <a:r>
              <a:rPr lang="en-US" sz="2400" dirty="0"/>
              <a:t>                    </a:t>
            </a:r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&amp;</a:t>
            </a:r>
            <a:endParaRPr lang="en-US" sz="2400" dirty="0"/>
          </a:p>
          <a:p>
            <a:r>
              <a:rPr lang="en-US" sz="2400" dirty="0"/>
              <a:t>     as the return type: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&amp; </a:t>
            </a:r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setx</a:t>
            </a:r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-US" sz="2400" dirty="0"/>
              <a:t>     This function contains</a:t>
            </a:r>
          </a:p>
          <a:p>
            <a:r>
              <a:rPr lang="en-US" sz="2400" dirty="0"/>
              <a:t>     </a:t>
            </a:r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 x;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You can put a call to this function on the left side of the equal sign:</a:t>
            </a:r>
          </a:p>
          <a:p>
            <a:r>
              <a:rPr lang="en-US" sz="2400" dirty="0"/>
              <a:t>     </a:t>
            </a:r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setx</a:t>
            </a:r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= 92;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The result is that the variable returned by the function is assigned the value on the right side of the equal sign.</a:t>
            </a:r>
          </a:p>
        </p:txBody>
      </p:sp>
    </p:spTree>
    <p:extLst>
      <p:ext uri="{BB962C8B-B14F-4D97-AF65-F5344CB8AC3E}">
        <p14:creationId xmlns:p14="http://schemas.microsoft.com/office/powerpoint/2010/main" val="2682408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A0065-677B-4883-AD30-3916E74E210B}"/>
              </a:ext>
            </a:extLst>
          </p:cNvPr>
          <p:cNvSpPr txBox="1">
            <a:spLocks/>
          </p:cNvSpPr>
          <p:nvPr/>
        </p:nvSpPr>
        <p:spPr>
          <a:xfrm>
            <a:off x="190500" y="106363"/>
            <a:ext cx="8763000" cy="8080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Inline Functions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660D8-AB0F-4E66-B7C7-86676C20DF80}"/>
              </a:ext>
            </a:extLst>
          </p:cNvPr>
          <p:cNvSpPr txBox="1">
            <a:spLocks/>
          </p:cNvSpPr>
          <p:nvPr/>
        </p:nvSpPr>
        <p:spPr>
          <a:xfrm>
            <a:off x="190500" y="1260107"/>
            <a:ext cx="8763000" cy="5334000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dirty="0"/>
              <a:t>Every time a function is called it takes a lot of extra time to execute series of instructions such as</a:t>
            </a:r>
          </a:p>
          <a:p>
            <a:pPr marL="857250" lvl="1" indent="-457200" algn="just">
              <a:buClr>
                <a:schemeClr val="tx1"/>
              </a:buClr>
              <a:buFont typeface="+mj-lt"/>
              <a:buAutoNum type="arabicPeriod"/>
            </a:pPr>
            <a:r>
              <a:rPr lang="en-IN" sz="2400" u="sng" dirty="0">
                <a:solidFill>
                  <a:srgbClr val="C00000"/>
                </a:solidFill>
              </a:rPr>
              <a:t>Jumping</a:t>
            </a:r>
            <a:r>
              <a:rPr lang="en-IN" sz="2400" dirty="0"/>
              <a:t> to the function</a:t>
            </a:r>
          </a:p>
          <a:p>
            <a:pPr marL="857250" lvl="1" indent="-457200" algn="just">
              <a:buClr>
                <a:schemeClr val="tx1"/>
              </a:buClr>
              <a:buFont typeface="+mj-lt"/>
              <a:buAutoNum type="arabicPeriod"/>
            </a:pPr>
            <a:r>
              <a:rPr lang="en-IN" sz="2400" dirty="0"/>
              <a:t>Saving </a:t>
            </a:r>
            <a:r>
              <a:rPr lang="en-IN" sz="2400" u="sng" dirty="0">
                <a:solidFill>
                  <a:srgbClr val="C00000"/>
                </a:solidFill>
              </a:rPr>
              <a:t>registers</a:t>
            </a:r>
          </a:p>
          <a:p>
            <a:pPr marL="857250" lvl="1" indent="-457200" algn="just">
              <a:buClr>
                <a:schemeClr val="tx1"/>
              </a:buClr>
              <a:buFont typeface="+mj-lt"/>
              <a:buAutoNum type="arabicPeriod"/>
            </a:pPr>
            <a:r>
              <a:rPr lang="en-IN" sz="2400" dirty="0"/>
              <a:t>Pushing  arguments into </a:t>
            </a:r>
            <a:r>
              <a:rPr lang="en-IN" sz="2400" u="sng" dirty="0">
                <a:solidFill>
                  <a:srgbClr val="C00000"/>
                </a:solidFill>
              </a:rPr>
              <a:t>stack</a:t>
            </a:r>
          </a:p>
          <a:p>
            <a:pPr marL="857250" lvl="1" indent="-457200" algn="just">
              <a:buClr>
                <a:schemeClr val="tx1"/>
              </a:buClr>
              <a:buFont typeface="+mj-lt"/>
              <a:buAutoNum type="arabicPeriod"/>
            </a:pPr>
            <a:r>
              <a:rPr lang="en-IN" sz="2400" u="sng" dirty="0">
                <a:solidFill>
                  <a:srgbClr val="C00000"/>
                </a:solidFill>
              </a:rPr>
              <a:t>Returnin</a:t>
            </a:r>
            <a:r>
              <a:rPr lang="en-IN" sz="2400" dirty="0">
                <a:solidFill>
                  <a:srgbClr val="C00000"/>
                </a:solidFill>
              </a:rPr>
              <a:t>g</a:t>
            </a:r>
            <a:r>
              <a:rPr lang="en-IN" sz="2400" dirty="0"/>
              <a:t> to the calling function</a:t>
            </a:r>
          </a:p>
          <a:p>
            <a:pPr algn="just"/>
            <a:r>
              <a:rPr lang="en-IN" dirty="0"/>
              <a:t>If a function body is small then overhead time is more than actual code execution time so it becomes more time consuming.</a:t>
            </a:r>
          </a:p>
          <a:p>
            <a:pPr algn="just">
              <a:buClr>
                <a:schemeClr val="tx1"/>
              </a:buClr>
            </a:pPr>
            <a:r>
              <a:rPr lang="en-IN" b="1" dirty="0" err="1">
                <a:solidFill>
                  <a:srgbClr val="C00000"/>
                </a:solidFill>
              </a:rPr>
              <a:t>Preprocessor</a:t>
            </a:r>
            <a:r>
              <a:rPr lang="en-IN" b="1" dirty="0">
                <a:solidFill>
                  <a:srgbClr val="C00000"/>
                </a:solidFill>
              </a:rPr>
              <a:t> macros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is a solution to the problem of small functions in C.</a:t>
            </a:r>
          </a:p>
          <a:p>
            <a:pPr algn="just"/>
            <a:r>
              <a:rPr lang="en-IN" dirty="0"/>
              <a:t>In C++, </a:t>
            </a:r>
            <a:r>
              <a:rPr lang="en-IN" b="1" dirty="0">
                <a:solidFill>
                  <a:srgbClr val="C00000"/>
                </a:solidFill>
              </a:rPr>
              <a:t>inline function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is used to reduce the function call overhead.</a:t>
            </a:r>
            <a:endParaRPr lang="en-IN" b="1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endParaRPr lang="en-IN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3873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4811A-4C86-42E2-986D-27024E87BE50}"/>
              </a:ext>
            </a:extLst>
          </p:cNvPr>
          <p:cNvSpPr txBox="1">
            <a:spLocks/>
          </p:cNvSpPr>
          <p:nvPr/>
        </p:nvSpPr>
        <p:spPr>
          <a:xfrm>
            <a:off x="190500" y="106363"/>
            <a:ext cx="8763000" cy="8080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Inline Functions (Cont…)</a:t>
            </a:r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EA91796-7C0C-4F52-A0D6-0FD349194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179" y="1247660"/>
            <a:ext cx="8091822" cy="1477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inline</a:t>
            </a:r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return-type</a:t>
            </a:r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function-name(parameters) </a:t>
            </a:r>
          </a:p>
          <a:p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IN" sz="2400" b="1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function code </a:t>
            </a:r>
            <a:endParaRPr lang="en-IN" sz="2400" b="1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CCA6DF-7F2F-4E18-A846-97A6D209A5C4}"/>
              </a:ext>
            </a:extLst>
          </p:cNvPr>
          <p:cNvSpPr txBox="1"/>
          <p:nvPr/>
        </p:nvSpPr>
        <p:spPr>
          <a:xfrm>
            <a:off x="190500" y="2852936"/>
            <a:ext cx="8763000" cy="83099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400" dirty="0"/>
              <a:t>Add </a:t>
            </a:r>
            <a:r>
              <a:rPr lang="en-IN" sz="2400" b="1" dirty="0">
                <a:solidFill>
                  <a:srgbClr val="C00000"/>
                </a:solidFill>
              </a:rPr>
              <a:t>inline</a:t>
            </a: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IN" sz="2400" dirty="0"/>
              <a:t>word before the function definition to convert simple function to inline function.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26BD801-BE90-4523-9E09-C5E403059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8938" y="3881731"/>
            <a:ext cx="5346015" cy="2585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fr-FR" sz="2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inline</a:t>
            </a:r>
            <a:r>
              <a:rPr lang="fr-FR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2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Max(</a:t>
            </a:r>
            <a:r>
              <a:rPr lang="fr-FR" sz="2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x, </a:t>
            </a:r>
            <a:r>
              <a:rPr lang="fr-FR" sz="2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y) </a:t>
            </a:r>
          </a:p>
          <a:p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IN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(x&gt;y) </a:t>
            </a:r>
          </a:p>
          <a:p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IN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x; </a:t>
            </a:r>
          </a:p>
          <a:p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IN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IN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y; </a:t>
            </a:r>
          </a:p>
          <a:p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1633C6-CCAE-4A26-AD3C-64BD15497808}"/>
              </a:ext>
            </a:extLst>
          </p:cNvPr>
          <p:cNvSpPr txBox="1"/>
          <p:nvPr/>
        </p:nvSpPr>
        <p:spPr>
          <a:xfrm>
            <a:off x="492007" y="3643355"/>
            <a:ext cx="1620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Example: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A4D89F-2F26-441B-83A4-9A7704629162}"/>
              </a:ext>
            </a:extLst>
          </p:cNvPr>
          <p:cNvSpPr txBox="1"/>
          <p:nvPr/>
        </p:nvSpPr>
        <p:spPr>
          <a:xfrm>
            <a:off x="89502" y="890759"/>
            <a:ext cx="1620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Syntax: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44B496-9191-4D42-AC55-1BF4E28E41FC}"/>
              </a:ext>
            </a:extLst>
          </p:cNvPr>
          <p:cNvSpPr/>
          <p:nvPr/>
        </p:nvSpPr>
        <p:spPr>
          <a:xfrm>
            <a:off x="2173625" y="3839144"/>
            <a:ext cx="1271681" cy="4492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6380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/>
      <p:bldP spid="7" grpId="0"/>
      <p:bldP spid="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37354-B0B1-4947-AB49-60D3E655E5A0}"/>
              </a:ext>
            </a:extLst>
          </p:cNvPr>
          <p:cNvSpPr txBox="1">
            <a:spLocks/>
          </p:cNvSpPr>
          <p:nvPr/>
        </p:nvSpPr>
        <p:spPr>
          <a:xfrm>
            <a:off x="190500" y="106363"/>
            <a:ext cx="8763000" cy="8080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Program: Inline function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95BE1-DDAD-4CCD-B3E1-333B11C39CB2}"/>
              </a:ext>
            </a:extLst>
          </p:cNvPr>
          <p:cNvSpPr txBox="1">
            <a:spLocks/>
          </p:cNvSpPr>
          <p:nvPr/>
        </p:nvSpPr>
        <p:spPr>
          <a:xfrm>
            <a:off x="190500" y="990600"/>
            <a:ext cx="8763000" cy="5334000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Write a C++ program to create inline function that returns cube of given number (i.e </a:t>
            </a:r>
            <a:r>
              <a:rPr lang="en-IN" b="1">
                <a:latin typeface="Courier New" panose="02070309020205020404" pitchFamily="49" charset="0"/>
                <a:cs typeface="Courier New" panose="02070309020205020404" pitchFamily="49" charset="0"/>
              </a:rPr>
              <a:t>n=3, cube=(n*n*n)=27</a:t>
            </a:r>
            <a:r>
              <a:rPr lang="en-IN"/>
              <a:t>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35474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B93B4-D5FC-4212-9888-290DD576BD8C}"/>
              </a:ext>
            </a:extLst>
          </p:cNvPr>
          <p:cNvSpPr txBox="1">
            <a:spLocks/>
          </p:cNvSpPr>
          <p:nvPr/>
        </p:nvSpPr>
        <p:spPr>
          <a:xfrm>
            <a:off x="190500" y="106363"/>
            <a:ext cx="8763000" cy="8080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Program: Solution</a:t>
            </a:r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89FE15E-595F-4B40-8809-1FD255EF1C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" y="1213008"/>
            <a:ext cx="7476406" cy="443198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#include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IN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&lt;</a:t>
            </a:r>
            <a:r>
              <a:rPr lang="en-IN" sz="2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iostream</a:t>
            </a:r>
            <a:r>
              <a:rPr lang="en-IN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&gt;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using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namespace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std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; </a:t>
            </a:r>
          </a:p>
          <a:p>
            <a:endParaRPr lang="en-IN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inline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cube(</a:t>
            </a:r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s)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s*s*s;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} </a:t>
            </a:r>
          </a:p>
          <a:p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main()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cout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&lt;&lt; </a:t>
            </a:r>
            <a:r>
              <a:rPr lang="en-IN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"The cube of 3 is: "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&lt;&lt; cube(3);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0;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} </a:t>
            </a:r>
            <a:endParaRPr kumimoji="0" lang="en-US" altLang="en-US" sz="2400" i="0" u="none" strike="noStrike" cap="none" normalizeH="0" baseline="0" dirty="0">
              <a:ln>
                <a:noFill/>
              </a:ln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CB9ADB-3A55-4F99-8CF6-43F19C70DC03}"/>
              </a:ext>
            </a:extLst>
          </p:cNvPr>
          <p:cNvSpPr/>
          <p:nvPr/>
        </p:nvSpPr>
        <p:spPr>
          <a:xfrm>
            <a:off x="6049446" y="4501044"/>
            <a:ext cx="1404156" cy="468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FB95FB-96AF-45B7-B984-C1C23C4428A1}"/>
              </a:ext>
            </a:extLst>
          </p:cNvPr>
          <p:cNvSpPr txBox="1"/>
          <p:nvPr/>
        </p:nvSpPr>
        <p:spPr>
          <a:xfrm>
            <a:off x="2915816" y="5805264"/>
            <a:ext cx="5976664" cy="461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Calls inline function cube with argument 3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D15D25A-1C82-4550-9045-14F5493B1530}"/>
              </a:ext>
            </a:extLst>
          </p:cNvPr>
          <p:cNvCxnSpPr>
            <a:stCxn id="4" idx="1"/>
          </p:cNvCxnSpPr>
          <p:nvPr/>
        </p:nvCxnSpPr>
        <p:spPr>
          <a:xfrm flipH="1">
            <a:off x="3061114" y="4735044"/>
            <a:ext cx="2988332" cy="1070220"/>
          </a:xfrm>
          <a:prstGeom prst="straightConnector1">
            <a:avLst/>
          </a:prstGeom>
          <a:ln w="2540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462D9A5C-8304-4F42-BDB5-EFC4B35CF9DC}"/>
              </a:ext>
            </a:extLst>
          </p:cNvPr>
          <p:cNvSpPr/>
          <p:nvPr/>
        </p:nvSpPr>
        <p:spPr>
          <a:xfrm>
            <a:off x="151123" y="2269444"/>
            <a:ext cx="1144513" cy="4680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6399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9F309-6132-46FE-A899-07340A0B5878}"/>
              </a:ext>
            </a:extLst>
          </p:cNvPr>
          <p:cNvSpPr txBox="1">
            <a:spLocks/>
          </p:cNvSpPr>
          <p:nvPr/>
        </p:nvSpPr>
        <p:spPr>
          <a:xfrm>
            <a:off x="190500" y="106363"/>
            <a:ext cx="8763000" cy="80803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Critical situations </a:t>
            </a:r>
            <a:r>
              <a:rPr lang="en-IN"/>
              <a:t>Inline Functions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DF837-CE97-453B-A8F3-65E89F9DECE3}"/>
              </a:ext>
            </a:extLst>
          </p:cNvPr>
          <p:cNvSpPr txBox="1">
            <a:spLocks/>
          </p:cNvSpPr>
          <p:nvPr/>
        </p:nvSpPr>
        <p:spPr>
          <a:xfrm>
            <a:off x="190500" y="990600"/>
            <a:ext cx="8763000" cy="258241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Some of the situations inline expansion may not work</a:t>
            </a:r>
          </a:p>
          <a:p>
            <a:pPr marL="400050" lvl="1" indent="0">
              <a:buFont typeface="Calibri" pitchFamily="34" charset="0"/>
              <a:buNone/>
            </a:pPr>
            <a:r>
              <a:rPr lang="en-IN" sz="2400"/>
              <a:t>1) If a </a:t>
            </a:r>
            <a:r>
              <a:rPr lang="en-IN" sz="2400" b="1">
                <a:solidFill>
                  <a:srgbClr val="C00000"/>
                </a:solidFill>
              </a:rPr>
              <a:t>loop</a:t>
            </a:r>
            <a:r>
              <a:rPr lang="en-IN" sz="2400"/>
              <a:t>, a </a:t>
            </a:r>
            <a:r>
              <a:rPr lang="en-IN" sz="2400" b="1">
                <a:solidFill>
                  <a:srgbClr val="C00000"/>
                </a:solidFill>
              </a:rPr>
              <a:t>switch</a:t>
            </a:r>
            <a:r>
              <a:rPr lang="en-IN" sz="2400"/>
              <a:t> or a </a:t>
            </a:r>
            <a:r>
              <a:rPr lang="en-IN" sz="2400" b="1">
                <a:solidFill>
                  <a:srgbClr val="C00000"/>
                </a:solidFill>
              </a:rPr>
              <a:t>goto</a:t>
            </a:r>
            <a:r>
              <a:rPr lang="en-IN" sz="2400"/>
              <a:t> exists in function body. </a:t>
            </a:r>
          </a:p>
          <a:p>
            <a:pPr marL="400050" lvl="1" indent="0">
              <a:buFont typeface="Calibri" pitchFamily="34" charset="0"/>
              <a:buNone/>
            </a:pPr>
            <a:r>
              <a:rPr lang="en-IN" sz="2400"/>
              <a:t>2) If function is not returning any value. </a:t>
            </a:r>
          </a:p>
          <a:p>
            <a:pPr marL="400050" lvl="1" indent="0">
              <a:buFont typeface="Calibri" pitchFamily="34" charset="0"/>
              <a:buNone/>
            </a:pPr>
            <a:r>
              <a:rPr lang="en-IN" sz="2400"/>
              <a:t>3) If function contains </a:t>
            </a:r>
            <a:r>
              <a:rPr lang="en-IN" sz="2400" b="1">
                <a:solidFill>
                  <a:srgbClr val="C00000"/>
                </a:solidFill>
              </a:rPr>
              <a:t>static variables</a:t>
            </a:r>
            <a:r>
              <a:rPr lang="en-IN" sz="2400"/>
              <a:t>. </a:t>
            </a:r>
          </a:p>
          <a:p>
            <a:pPr marL="400050" lvl="1" indent="0">
              <a:buFont typeface="Calibri" pitchFamily="34" charset="0"/>
              <a:buNone/>
            </a:pPr>
            <a:r>
              <a:rPr lang="en-IN" sz="2400"/>
              <a:t>4) If function is </a:t>
            </a:r>
            <a:r>
              <a:rPr lang="en-IN" sz="2400" b="1">
                <a:solidFill>
                  <a:srgbClr val="C00000"/>
                </a:solidFill>
              </a:rPr>
              <a:t>recursive</a:t>
            </a:r>
            <a:r>
              <a:rPr lang="en-IN" sz="2400"/>
              <a:t>.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6933511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DDAFA-AC6D-4F4E-BE50-E648784D4EAA}"/>
              </a:ext>
            </a:extLst>
          </p:cNvPr>
          <p:cNvSpPr txBox="1">
            <a:spLocks/>
          </p:cNvSpPr>
          <p:nvPr/>
        </p:nvSpPr>
        <p:spPr>
          <a:xfrm>
            <a:off x="190500" y="106363"/>
            <a:ext cx="8763000" cy="8080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Function Overloading 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5BAA13-97A7-4223-A105-1E766204F664}"/>
              </a:ext>
            </a:extLst>
          </p:cNvPr>
          <p:cNvSpPr/>
          <p:nvPr/>
        </p:nvSpPr>
        <p:spPr>
          <a:xfrm>
            <a:off x="190500" y="1907988"/>
            <a:ext cx="8763000" cy="2196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IN" sz="2400" dirty="0"/>
              <a:t>In 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EC1A0E-243D-4FAD-AF79-2F4BBC8AD478}"/>
              </a:ext>
            </a:extLst>
          </p:cNvPr>
          <p:cNvSpPr/>
          <p:nvPr/>
        </p:nvSpPr>
        <p:spPr>
          <a:xfrm>
            <a:off x="261849" y="2432234"/>
            <a:ext cx="5760640" cy="110799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IN" sz="2200" kern="12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int</a:t>
            </a:r>
            <a:r>
              <a:rPr lang="en-IN" sz="2200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sum(</a:t>
            </a:r>
            <a:r>
              <a:rPr lang="en-IN" sz="2200" kern="12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int</a:t>
            </a:r>
            <a:r>
              <a:rPr lang="en-IN" sz="2200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a, </a:t>
            </a:r>
            <a:r>
              <a:rPr lang="en-IN" sz="2200" kern="12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int</a:t>
            </a:r>
            <a:r>
              <a:rPr lang="en-IN" sz="2200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b);</a:t>
            </a:r>
            <a:endParaRPr lang="en-IN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N" sz="2200" kern="12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int</a:t>
            </a:r>
            <a:r>
              <a:rPr lang="en-IN" sz="2200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sum(</a:t>
            </a:r>
            <a:r>
              <a:rPr lang="en-IN" sz="2200" kern="12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int</a:t>
            </a:r>
            <a:r>
              <a:rPr lang="en-IN" sz="2200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a, </a:t>
            </a:r>
            <a:r>
              <a:rPr lang="en-IN" sz="2200" kern="12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int</a:t>
            </a:r>
            <a:r>
              <a:rPr lang="en-IN" sz="2200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b, </a:t>
            </a:r>
            <a:r>
              <a:rPr lang="en-IN" sz="2200" kern="12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int</a:t>
            </a:r>
            <a:r>
              <a:rPr lang="en-IN" sz="2200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c);</a:t>
            </a:r>
            <a:endParaRPr lang="en-IN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N" sz="2200" kern="12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int</a:t>
            </a:r>
            <a:r>
              <a:rPr lang="en-IN" sz="2200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sum(</a:t>
            </a:r>
            <a:r>
              <a:rPr lang="en-IN" sz="2200" kern="12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int</a:t>
            </a:r>
            <a:r>
              <a:rPr lang="en-IN" sz="2200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a, </a:t>
            </a:r>
            <a:r>
              <a:rPr lang="en-IN" sz="2200" kern="12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int</a:t>
            </a:r>
            <a:r>
              <a:rPr lang="en-IN" sz="2200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b, </a:t>
            </a:r>
            <a:r>
              <a:rPr lang="en-IN" sz="2200" kern="12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int</a:t>
            </a:r>
            <a:r>
              <a:rPr lang="en-IN" sz="2200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c, </a:t>
            </a:r>
            <a:r>
              <a:rPr lang="en-IN" sz="2200" kern="12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int</a:t>
            </a:r>
            <a:r>
              <a:rPr lang="en-IN" sz="2200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d);</a:t>
            </a:r>
            <a:endParaRPr lang="en-IN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5D1022-DCC4-4C7A-83DE-0C1158CFBA6A}"/>
              </a:ext>
            </a:extLst>
          </p:cNvPr>
          <p:cNvSpPr/>
          <p:nvPr/>
        </p:nvSpPr>
        <p:spPr>
          <a:xfrm>
            <a:off x="190500" y="4215709"/>
            <a:ext cx="8763000" cy="2196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IN" sz="2400" dirty="0"/>
              <a:t>In C++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7DA0D2-0FEF-4AFD-AA04-75A866BAABE8}"/>
              </a:ext>
            </a:extLst>
          </p:cNvPr>
          <p:cNvSpPr/>
          <p:nvPr/>
        </p:nvSpPr>
        <p:spPr>
          <a:xfrm>
            <a:off x="256927" y="4771797"/>
            <a:ext cx="5772486" cy="110799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IN" sz="2200" kern="120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int</a:t>
            </a:r>
            <a:r>
              <a:rPr lang="en-IN" sz="2200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sum(</a:t>
            </a:r>
            <a:r>
              <a:rPr lang="en-IN" sz="2200" kern="12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int</a:t>
            </a:r>
            <a:r>
              <a:rPr lang="en-IN" sz="2200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a, </a:t>
            </a:r>
            <a:r>
              <a:rPr lang="en-IN" sz="2200" kern="12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int</a:t>
            </a:r>
            <a:r>
              <a:rPr lang="en-IN" sz="2200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b);</a:t>
            </a:r>
            <a:endParaRPr lang="en-IN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N" sz="2200" kern="12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int</a:t>
            </a:r>
            <a:r>
              <a:rPr lang="en-IN" sz="2200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sum(</a:t>
            </a:r>
            <a:r>
              <a:rPr lang="en-IN" sz="2200" kern="12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int</a:t>
            </a:r>
            <a:r>
              <a:rPr lang="en-IN" sz="2200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a, </a:t>
            </a:r>
            <a:r>
              <a:rPr lang="en-IN" sz="2200" kern="12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int</a:t>
            </a:r>
            <a:r>
              <a:rPr lang="en-IN" sz="2200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b, </a:t>
            </a:r>
            <a:r>
              <a:rPr lang="en-IN" sz="2200" kern="12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int</a:t>
            </a:r>
            <a:r>
              <a:rPr lang="en-IN" sz="2200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c);</a:t>
            </a:r>
            <a:endParaRPr lang="en-IN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N" sz="2200" kern="12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int</a:t>
            </a:r>
            <a:r>
              <a:rPr lang="en-IN" sz="2200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sum(</a:t>
            </a:r>
            <a:r>
              <a:rPr lang="en-IN" sz="2200" kern="12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int</a:t>
            </a:r>
            <a:r>
              <a:rPr lang="en-IN" sz="2200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a, </a:t>
            </a:r>
            <a:r>
              <a:rPr lang="en-IN" sz="2200" kern="12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int</a:t>
            </a:r>
            <a:r>
              <a:rPr lang="en-IN" sz="2200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b, </a:t>
            </a:r>
            <a:r>
              <a:rPr lang="en-IN" sz="2200" kern="12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int</a:t>
            </a:r>
            <a:r>
              <a:rPr lang="en-IN" sz="2200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c, </a:t>
            </a:r>
            <a:r>
              <a:rPr lang="en-IN" sz="2200" kern="12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int</a:t>
            </a:r>
            <a:r>
              <a:rPr lang="en-IN" sz="2200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d);</a:t>
            </a:r>
            <a:endParaRPr lang="en-IN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FDEF91-D38A-44EE-B278-DFDA1FA91042}"/>
              </a:ext>
            </a:extLst>
          </p:cNvPr>
          <p:cNvSpPr/>
          <p:nvPr/>
        </p:nvSpPr>
        <p:spPr>
          <a:xfrm>
            <a:off x="190500" y="980728"/>
            <a:ext cx="8763000" cy="83099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Suppose we want to make functions that add 2 values, add 3 values , add 4 values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45BB9B4D-FA50-42D4-B75A-A622C0675A70}"/>
              </a:ext>
            </a:extLst>
          </p:cNvPr>
          <p:cNvSpPr/>
          <p:nvPr/>
        </p:nvSpPr>
        <p:spPr>
          <a:xfrm>
            <a:off x="6116388" y="2203535"/>
            <a:ext cx="396044" cy="1656183"/>
          </a:xfrm>
          <a:prstGeom prst="rightBrac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A02208-334D-4E1E-BB18-12D21D3D26A6}"/>
              </a:ext>
            </a:extLst>
          </p:cNvPr>
          <p:cNvSpPr txBox="1"/>
          <p:nvPr/>
        </p:nvSpPr>
        <p:spPr>
          <a:xfrm>
            <a:off x="6580656" y="2016736"/>
            <a:ext cx="2311823" cy="193899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dirty="0"/>
              <a:t>Function with same name in a program </a:t>
            </a:r>
            <a:r>
              <a:rPr lang="en-IN" sz="2400" b="1" dirty="0">
                <a:solidFill>
                  <a:srgbClr val="C00000"/>
                </a:solidFill>
              </a:rPr>
              <a:t>is not allowed</a:t>
            </a:r>
            <a:r>
              <a:rPr lang="en-IN" sz="2400" dirty="0"/>
              <a:t> in C language 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CDC823A9-605F-4A4D-BF8B-FF0BA4C70240}"/>
              </a:ext>
            </a:extLst>
          </p:cNvPr>
          <p:cNvSpPr/>
          <p:nvPr/>
        </p:nvSpPr>
        <p:spPr>
          <a:xfrm>
            <a:off x="6095840" y="4497704"/>
            <a:ext cx="396044" cy="1656183"/>
          </a:xfrm>
          <a:prstGeom prst="rightBrace">
            <a:avLst/>
          </a:prstGeom>
          <a:ln w="19050">
            <a:solidFill>
              <a:srgbClr val="008A3E"/>
            </a:solidFill>
            <a:prstDash val="sys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45B3B7-84A9-46EE-B512-3D496A04D254}"/>
              </a:ext>
            </a:extLst>
          </p:cNvPr>
          <p:cNvSpPr txBox="1"/>
          <p:nvPr/>
        </p:nvSpPr>
        <p:spPr>
          <a:xfrm>
            <a:off x="6560108" y="4349815"/>
            <a:ext cx="2311823" cy="1938992"/>
          </a:xfrm>
          <a:prstGeom prst="rect">
            <a:avLst/>
          </a:prstGeom>
          <a:noFill/>
          <a:ln w="19050">
            <a:solidFill>
              <a:srgbClr val="008A3E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dirty="0"/>
              <a:t>Function with same name in a program </a:t>
            </a:r>
            <a:r>
              <a:rPr lang="en-IN" sz="2400" b="1" dirty="0">
                <a:solidFill>
                  <a:srgbClr val="C00000"/>
                </a:solidFill>
              </a:rPr>
              <a:t>is allowed </a:t>
            </a:r>
            <a:r>
              <a:rPr lang="en-IN" sz="2400" dirty="0"/>
              <a:t>in C++ language </a:t>
            </a:r>
          </a:p>
        </p:txBody>
      </p:sp>
    </p:spTree>
    <p:extLst>
      <p:ext uri="{BB962C8B-B14F-4D97-AF65-F5344CB8AC3E}">
        <p14:creationId xmlns:p14="http://schemas.microsoft.com/office/powerpoint/2010/main" val="669896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790DF-71ED-4E41-A992-625C44C9B645}"/>
              </a:ext>
            </a:extLst>
          </p:cNvPr>
          <p:cNvSpPr txBox="1">
            <a:spLocks/>
          </p:cNvSpPr>
          <p:nvPr/>
        </p:nvSpPr>
        <p:spPr>
          <a:xfrm>
            <a:off x="190500" y="106363"/>
            <a:ext cx="8763000" cy="8080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Function overloading – Cont…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5B476-7044-4C3B-8BBC-4202001AD025}"/>
              </a:ext>
            </a:extLst>
          </p:cNvPr>
          <p:cNvSpPr txBox="1">
            <a:spLocks/>
          </p:cNvSpPr>
          <p:nvPr/>
        </p:nvSpPr>
        <p:spPr>
          <a:xfrm>
            <a:off x="190500" y="980728"/>
            <a:ext cx="8763000" cy="266429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dirty="0"/>
              <a:t>C++ provides </a:t>
            </a:r>
            <a:r>
              <a:rPr lang="en-IN" b="1" dirty="0">
                <a:solidFill>
                  <a:srgbClr val="C00000"/>
                </a:solidFill>
              </a:rPr>
              <a:t>function overloading</a:t>
            </a:r>
            <a:r>
              <a:rPr lang="en-IN" dirty="0"/>
              <a:t> which allows to use multiple functions </a:t>
            </a:r>
            <a:r>
              <a:rPr lang="en-IN" b="1" dirty="0">
                <a:solidFill>
                  <a:srgbClr val="C00000"/>
                </a:solidFill>
              </a:rPr>
              <a:t>sharing the same name</a:t>
            </a:r>
            <a:r>
              <a:rPr lang="en-IN" dirty="0"/>
              <a:t> </a:t>
            </a:r>
            <a:r>
              <a:rPr lang="en-US" dirty="0"/>
              <a:t>.</a:t>
            </a:r>
            <a:endParaRPr lang="en-IN" dirty="0"/>
          </a:p>
          <a:p>
            <a:pPr algn="just">
              <a:buClr>
                <a:schemeClr val="tx1"/>
              </a:buClr>
            </a:pPr>
            <a:r>
              <a:rPr lang="en-IN" dirty="0"/>
              <a:t>Function overloading is also known as </a:t>
            </a:r>
            <a:r>
              <a:rPr lang="en-IN" b="1" dirty="0">
                <a:solidFill>
                  <a:srgbClr val="C00000"/>
                </a:solidFill>
              </a:rPr>
              <a:t>Function</a:t>
            </a:r>
            <a:r>
              <a:rPr lang="en-IN" dirty="0"/>
              <a:t> </a:t>
            </a:r>
            <a:r>
              <a:rPr lang="en-IN" b="1" dirty="0">
                <a:solidFill>
                  <a:srgbClr val="C00000"/>
                </a:solidFill>
              </a:rPr>
              <a:t>Polymorphism</a:t>
            </a:r>
            <a:r>
              <a:rPr lang="en-IN" dirty="0"/>
              <a:t> in OOP.</a:t>
            </a:r>
          </a:p>
          <a:p>
            <a:pPr algn="just">
              <a:buClr>
                <a:schemeClr val="tx1"/>
              </a:buClr>
            </a:pPr>
            <a:r>
              <a:rPr lang="en-US" dirty="0"/>
              <a:t>It is the practice of declaring the same function with </a:t>
            </a:r>
            <a:r>
              <a:rPr lang="en-US" b="1" dirty="0">
                <a:solidFill>
                  <a:srgbClr val="C00000"/>
                </a:solidFill>
              </a:rPr>
              <a:t>different signatures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A92E22-61F9-41EC-8540-8B3D5C63E76D}"/>
              </a:ext>
            </a:extLst>
          </p:cNvPr>
          <p:cNvSpPr/>
          <p:nvPr/>
        </p:nvSpPr>
        <p:spPr>
          <a:xfrm>
            <a:off x="190500" y="3724190"/>
            <a:ext cx="8763000" cy="19389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§"/>
            </a:pPr>
            <a:r>
              <a:rPr lang="en-IN" sz="2400" dirty="0"/>
              <a:t>However, the two functions with the same name must differ in at least one of the following, </a:t>
            </a:r>
          </a:p>
          <a:p>
            <a:pPr marL="400050" lvl="1" indent="0" algn="just">
              <a:buNone/>
            </a:pPr>
            <a:r>
              <a:rPr lang="en-IN" sz="2400" dirty="0"/>
              <a:t>a) The </a:t>
            </a:r>
            <a:r>
              <a:rPr lang="en-IN" sz="2400" b="1" dirty="0">
                <a:solidFill>
                  <a:srgbClr val="C00000"/>
                </a:solidFill>
              </a:rPr>
              <a:t>number</a:t>
            </a:r>
            <a:r>
              <a:rPr lang="en-IN" sz="2400" dirty="0"/>
              <a:t> of arguments </a:t>
            </a:r>
          </a:p>
          <a:p>
            <a:pPr marL="400050" lvl="1" indent="0" algn="just">
              <a:buNone/>
            </a:pPr>
            <a:r>
              <a:rPr lang="en-IN" sz="2400" dirty="0"/>
              <a:t>b) The </a:t>
            </a:r>
            <a:r>
              <a:rPr lang="en-IN" sz="2400" b="1" dirty="0">
                <a:solidFill>
                  <a:srgbClr val="C00000"/>
                </a:solidFill>
              </a:rPr>
              <a:t>data type</a:t>
            </a:r>
            <a:r>
              <a:rPr lang="en-IN" sz="2400" dirty="0"/>
              <a:t> of arguments </a:t>
            </a:r>
          </a:p>
          <a:p>
            <a:pPr marL="400050" lvl="1" indent="0" algn="just">
              <a:buNone/>
            </a:pPr>
            <a:r>
              <a:rPr lang="en-US" sz="2400" dirty="0"/>
              <a:t>c) The </a:t>
            </a:r>
            <a:r>
              <a:rPr lang="en-US" sz="2400" b="1" dirty="0">
                <a:solidFill>
                  <a:srgbClr val="C00000"/>
                </a:solidFill>
              </a:rPr>
              <a:t>order</a:t>
            </a:r>
            <a:r>
              <a:rPr lang="en-US" sz="2400" dirty="0"/>
              <a:t> of appearance of arguments</a:t>
            </a:r>
            <a:endParaRPr lang="en-IN" sz="24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F57FA3C-A916-4821-B61A-8637DB879893}"/>
              </a:ext>
            </a:extLst>
          </p:cNvPr>
          <p:cNvSpPr txBox="1">
            <a:spLocks/>
          </p:cNvSpPr>
          <p:nvPr/>
        </p:nvSpPr>
        <p:spPr>
          <a:xfrm>
            <a:off x="190500" y="5747637"/>
            <a:ext cx="8763000" cy="6696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chemeClr val="tx1"/>
              </a:buClr>
            </a:pPr>
            <a:r>
              <a:rPr lang="en-IN" b="1">
                <a:solidFill>
                  <a:srgbClr val="C00000"/>
                </a:solidFill>
              </a:rPr>
              <a:t>Function overloading </a:t>
            </a:r>
            <a:r>
              <a:rPr lang="en-IN"/>
              <a:t>does not depends on return type.</a:t>
            </a:r>
            <a:endParaRPr lang="en-IN" dirty="0"/>
          </a:p>
        </p:txBody>
      </p:sp>
      <p:sp>
        <p:nvSpPr>
          <p:cNvPr id="6" name="Oval Callout 8">
            <a:extLst>
              <a:ext uri="{FF2B5EF4-FFF2-40B4-BE49-F238E27FC236}">
                <a16:creationId xmlns:a16="http://schemas.microsoft.com/office/drawing/2014/main" id="{9D7E8DC5-2C04-4898-9A75-B89F24C2650C}"/>
              </a:ext>
            </a:extLst>
          </p:cNvPr>
          <p:cNvSpPr/>
          <p:nvPr/>
        </p:nvSpPr>
        <p:spPr>
          <a:xfrm>
            <a:off x="6588224" y="4185084"/>
            <a:ext cx="2268252" cy="1404156"/>
          </a:xfrm>
          <a:prstGeom prst="wedgeEllipseCallout">
            <a:avLst>
              <a:gd name="adj1" fmla="val -125924"/>
              <a:gd name="adj2" fmla="val 2775"/>
            </a:avLst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dirty="0">
                <a:solidFill>
                  <a:schemeClr val="tx1"/>
                </a:solidFill>
              </a:rPr>
              <a:t>Arguments make the function unique</a:t>
            </a:r>
          </a:p>
        </p:txBody>
      </p:sp>
    </p:spTree>
    <p:extLst>
      <p:ext uri="{BB962C8B-B14F-4D97-AF65-F5344CB8AC3E}">
        <p14:creationId xmlns:p14="http://schemas.microsoft.com/office/powerpoint/2010/main" val="363784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build="p" animBg="1"/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83F5D-F6E6-412A-944E-C4B0D126318A}"/>
              </a:ext>
            </a:extLst>
          </p:cNvPr>
          <p:cNvSpPr txBox="1">
            <a:spLocks/>
          </p:cNvSpPr>
          <p:nvPr/>
        </p:nvSpPr>
        <p:spPr>
          <a:xfrm>
            <a:off x="190500" y="106363"/>
            <a:ext cx="8763000" cy="8080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Function Overloading</a:t>
            </a: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346C67E-6DD5-43F6-AEA4-553AC6F8A8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43577"/>
              </p:ext>
            </p:extLst>
          </p:nvPr>
        </p:nvGraphicFramePr>
        <p:xfrm>
          <a:off x="232065" y="1088740"/>
          <a:ext cx="6768752" cy="4572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687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IN" sz="2400" b="0" dirty="0"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 sum(</a:t>
                      </a:r>
                      <a:r>
                        <a:rPr lang="en-IN" sz="2400" b="0" kern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IN" sz="2400" b="0" dirty="0"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 a, </a:t>
                      </a:r>
                      <a:r>
                        <a:rPr lang="en-IN" sz="2400" b="0" kern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IN" sz="2400" b="0" dirty="0"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 b);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504A6F2-A80E-4AAA-A952-40D6DED4F4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3224564"/>
              </p:ext>
            </p:extLst>
          </p:nvPr>
        </p:nvGraphicFramePr>
        <p:xfrm>
          <a:off x="7182290" y="1088740"/>
          <a:ext cx="1764196" cy="4572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7641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0" dirty="0">
                          <a:solidFill>
                            <a:srgbClr val="00B050"/>
                          </a:solidFill>
                        </a:rPr>
                        <a:t>Valid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17F78AC-B709-49E2-9217-EB3BED8A47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8712840"/>
              </p:ext>
            </p:extLst>
          </p:nvPr>
        </p:nvGraphicFramePr>
        <p:xfrm>
          <a:off x="232065" y="1724964"/>
          <a:ext cx="6768752" cy="4572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687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0" kern="12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float</a:t>
                      </a:r>
                      <a:r>
                        <a:rPr lang="en-IN" sz="2400" b="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 sum(</a:t>
                      </a:r>
                      <a:r>
                        <a:rPr lang="en-IN" sz="2400" b="0" kern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IN" sz="2400" b="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 a, </a:t>
                      </a:r>
                      <a:r>
                        <a:rPr lang="en-IN" sz="2400" b="0" kern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IN" sz="2400" b="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 b);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80502E8-CAB1-4DAC-863C-7F04BF2BDF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607642"/>
              </p:ext>
            </p:extLst>
          </p:nvPr>
        </p:nvGraphicFramePr>
        <p:xfrm>
          <a:off x="7182290" y="1724964"/>
          <a:ext cx="1764196" cy="4572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7641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400" b="0" dirty="0">
                          <a:solidFill>
                            <a:srgbClr val="FF0000"/>
                          </a:solidFill>
                        </a:rPr>
                        <a:t>Invalid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1F94D2D-9F35-49DE-BA07-290C95DCED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2343629"/>
              </p:ext>
            </p:extLst>
          </p:nvPr>
        </p:nvGraphicFramePr>
        <p:xfrm>
          <a:off x="232065" y="2384884"/>
          <a:ext cx="6768752" cy="4572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687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0" kern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IN" sz="2400" b="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 sum(</a:t>
                      </a:r>
                      <a:r>
                        <a:rPr lang="en-IN" sz="2400" b="0" kern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IN" sz="2400" b="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 a, </a:t>
                      </a:r>
                      <a:r>
                        <a:rPr lang="en-IN" sz="2400" b="0" kern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IN" sz="2400" b="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 c);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63227ED-507A-4676-B7CA-1019A5E662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4580687"/>
              </p:ext>
            </p:extLst>
          </p:nvPr>
        </p:nvGraphicFramePr>
        <p:xfrm>
          <a:off x="7182290" y="2384884"/>
          <a:ext cx="1764196" cy="4572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7641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400" b="0" dirty="0">
                          <a:solidFill>
                            <a:srgbClr val="FF0000"/>
                          </a:solidFill>
                        </a:rPr>
                        <a:t>Invalid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25C5CAB-4D24-4AEE-970B-B76DFF4AC7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233721"/>
              </p:ext>
            </p:extLst>
          </p:nvPr>
        </p:nvGraphicFramePr>
        <p:xfrm>
          <a:off x="232065" y="3068960"/>
          <a:ext cx="6768752" cy="4572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687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0" kern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IN" sz="2400" b="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 sum(</a:t>
                      </a:r>
                      <a:r>
                        <a:rPr lang="en-IN" sz="2400" b="0" kern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IN" sz="2400" b="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 a, </a:t>
                      </a:r>
                      <a:r>
                        <a:rPr lang="en-IN" sz="2400" b="0" kern="12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float</a:t>
                      </a:r>
                      <a:r>
                        <a:rPr lang="en-IN" sz="2400" b="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 b</a:t>
                      </a:r>
                      <a:r>
                        <a:rPr lang="en-IN" sz="24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4643DBB-F4A7-4928-8E77-FD465F08C1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3014269"/>
              </p:ext>
            </p:extLst>
          </p:nvPr>
        </p:nvGraphicFramePr>
        <p:xfrm>
          <a:off x="7182290" y="3068960"/>
          <a:ext cx="1764196" cy="4572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7641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0" dirty="0">
                          <a:solidFill>
                            <a:srgbClr val="00B050"/>
                          </a:solidFill>
                        </a:rPr>
                        <a:t>Valid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A4C5731-EA01-4516-8DE1-883B8B5172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6473951"/>
              </p:ext>
            </p:extLst>
          </p:nvPr>
        </p:nvGraphicFramePr>
        <p:xfrm>
          <a:off x="232065" y="3705184"/>
          <a:ext cx="6768752" cy="4572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687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0" kern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IN" sz="2400" b="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 sum(</a:t>
                      </a:r>
                      <a:r>
                        <a:rPr lang="en-IN" sz="2400" b="0" kern="12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float</a:t>
                      </a:r>
                      <a:r>
                        <a:rPr lang="en-IN" sz="2400" b="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 b, </a:t>
                      </a:r>
                      <a:r>
                        <a:rPr lang="en-IN" sz="2400" b="0" kern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IN" sz="2400" b="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 a);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BDB8210-F93A-4178-AB32-19D1339B86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372668"/>
              </p:ext>
            </p:extLst>
          </p:nvPr>
        </p:nvGraphicFramePr>
        <p:xfrm>
          <a:off x="7182290" y="3705184"/>
          <a:ext cx="1764196" cy="4572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7641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400" b="0" dirty="0">
                          <a:solidFill>
                            <a:srgbClr val="00B050"/>
                          </a:solidFill>
                        </a:rPr>
                        <a:t>Valid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5DABCAF-A21D-4B6E-85F6-7B52412B8E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767609"/>
              </p:ext>
            </p:extLst>
          </p:nvPr>
        </p:nvGraphicFramePr>
        <p:xfrm>
          <a:off x="232065" y="4365104"/>
          <a:ext cx="6768752" cy="4572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687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0" kern="12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float</a:t>
                      </a:r>
                      <a:r>
                        <a:rPr lang="en-IN" sz="2400" b="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 sum(</a:t>
                      </a:r>
                      <a:r>
                        <a:rPr lang="en-IN" sz="2400" b="0" kern="12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float</a:t>
                      </a:r>
                      <a:r>
                        <a:rPr lang="en-IN" sz="2400" b="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 a, </a:t>
                      </a:r>
                      <a:r>
                        <a:rPr lang="en-IN" sz="2400" b="0" kern="12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float</a:t>
                      </a:r>
                      <a:r>
                        <a:rPr lang="en-IN" sz="2400" b="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 b);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AC742F9-BD65-4DF0-BD10-FD7A1C0D6A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6279233"/>
              </p:ext>
            </p:extLst>
          </p:nvPr>
        </p:nvGraphicFramePr>
        <p:xfrm>
          <a:off x="7182290" y="4365104"/>
          <a:ext cx="1764196" cy="4572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7641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400" b="0" dirty="0">
                          <a:solidFill>
                            <a:srgbClr val="00B050"/>
                          </a:solidFill>
                        </a:rPr>
                        <a:t>Valid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7E826AA-AD85-40FD-B8D3-8500ECE542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0895888"/>
              </p:ext>
            </p:extLst>
          </p:nvPr>
        </p:nvGraphicFramePr>
        <p:xfrm>
          <a:off x="232065" y="5037332"/>
          <a:ext cx="6768752" cy="4572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687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0" kern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IN" sz="2400" b="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 sum(</a:t>
                      </a:r>
                      <a:r>
                        <a:rPr lang="en-IN" sz="2400" b="0" kern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IN" sz="2400" b="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 a, </a:t>
                      </a:r>
                      <a:r>
                        <a:rPr lang="en-IN" sz="2400" b="0" kern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IN" sz="2400" b="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 b, </a:t>
                      </a:r>
                      <a:r>
                        <a:rPr lang="en-IN" sz="2400" b="0" kern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IN" sz="2400" b="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 c);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F0788554-C3AA-48A0-8188-20167ACB9A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3765297"/>
              </p:ext>
            </p:extLst>
          </p:nvPr>
        </p:nvGraphicFramePr>
        <p:xfrm>
          <a:off x="7182290" y="5037332"/>
          <a:ext cx="1764196" cy="4572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7641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400" b="0" dirty="0">
                          <a:solidFill>
                            <a:srgbClr val="00B050"/>
                          </a:solidFill>
                        </a:rPr>
                        <a:t>Valid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21CBF7BA-922E-4C40-975A-0B95044B20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1327616"/>
              </p:ext>
            </p:extLst>
          </p:nvPr>
        </p:nvGraphicFramePr>
        <p:xfrm>
          <a:off x="232065" y="5697252"/>
          <a:ext cx="6768752" cy="4572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687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0" kern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IN" sz="2400" b="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 sum(</a:t>
                      </a:r>
                      <a:r>
                        <a:rPr lang="en-IN" sz="2400" b="0" kern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IN" sz="2400" b="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 a, </a:t>
                      </a:r>
                      <a:r>
                        <a:rPr lang="en-IN" sz="2400" b="0" kern="12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float</a:t>
                      </a:r>
                      <a:r>
                        <a:rPr lang="en-IN" sz="2400" b="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 b, </a:t>
                      </a:r>
                      <a:r>
                        <a:rPr lang="en-IN" sz="2400" b="0" kern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IN" sz="2400" b="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 c);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6217D69-0270-4D4E-B359-36E1429DE1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2857636"/>
              </p:ext>
            </p:extLst>
          </p:nvPr>
        </p:nvGraphicFramePr>
        <p:xfrm>
          <a:off x="7182290" y="5697252"/>
          <a:ext cx="1764196" cy="4572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7641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400" b="0" dirty="0">
                          <a:solidFill>
                            <a:srgbClr val="00B050"/>
                          </a:solidFill>
                        </a:rPr>
                        <a:t>Valid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6623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91804-3AE2-4B7F-8C36-0E946C6BF31B}"/>
              </a:ext>
            </a:extLst>
          </p:cNvPr>
          <p:cNvSpPr txBox="1">
            <a:spLocks/>
          </p:cNvSpPr>
          <p:nvPr/>
        </p:nvSpPr>
        <p:spPr>
          <a:xfrm>
            <a:off x="190500" y="106363"/>
            <a:ext cx="8763000" cy="8080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Program: Function overloading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D4CAB-6DF8-45E7-9237-8F0CD3C2D275}"/>
              </a:ext>
            </a:extLst>
          </p:cNvPr>
          <p:cNvSpPr txBox="1">
            <a:spLocks/>
          </p:cNvSpPr>
          <p:nvPr/>
        </p:nvSpPr>
        <p:spPr>
          <a:xfrm>
            <a:off x="190500" y="990600"/>
            <a:ext cx="8763000" cy="5334000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Write a C++ program to demonstrate function overloading. Create function </a:t>
            </a:r>
            <a:r>
              <a:rPr lang="en-IN" b="1">
                <a:solidFill>
                  <a:srgbClr val="C00000"/>
                </a:solidFill>
              </a:rPr>
              <a:t>display()</a:t>
            </a:r>
            <a:r>
              <a:rPr lang="en-IN">
                <a:solidFill>
                  <a:srgbClr val="C00000"/>
                </a:solidFill>
              </a:rPr>
              <a:t> </a:t>
            </a:r>
            <a:r>
              <a:rPr lang="en-IN"/>
              <a:t>with different arguments but same name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02610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F229F-58D4-400B-B40E-6EF704E1803B}"/>
              </a:ext>
            </a:extLst>
          </p:cNvPr>
          <p:cNvSpPr txBox="1">
            <a:spLocks/>
          </p:cNvSpPr>
          <p:nvPr/>
        </p:nvSpPr>
        <p:spPr>
          <a:xfrm>
            <a:off x="190500" y="106363"/>
            <a:ext cx="8763000" cy="8080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Program: Solution (Cont…)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28B432-743F-495A-9F4F-77755F57690F}"/>
              </a:ext>
            </a:extLst>
          </p:cNvPr>
          <p:cNvSpPr/>
          <p:nvPr/>
        </p:nvSpPr>
        <p:spPr>
          <a:xfrm>
            <a:off x="359532" y="1232756"/>
            <a:ext cx="859396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void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display(</a:t>
            </a:r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var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)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cout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&lt;&lt; </a:t>
            </a:r>
            <a:r>
              <a:rPr lang="en-IN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"Integer number: "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&lt;&lt;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var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&lt;&lt;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endl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} </a:t>
            </a:r>
          </a:p>
          <a:p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void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display(</a:t>
            </a:r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float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var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)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cout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&lt;&lt; </a:t>
            </a:r>
            <a:r>
              <a:rPr lang="en-IN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"Float number: "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&lt;&lt;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var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&lt;&lt;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endl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} </a:t>
            </a:r>
          </a:p>
          <a:p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void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display(</a:t>
            </a:r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var1, </a:t>
            </a:r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float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var2) {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cout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&lt;&lt; </a:t>
            </a:r>
            <a:r>
              <a:rPr lang="en-IN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"Integer number: "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&lt;&lt; var1;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cout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&lt;&lt; </a:t>
            </a:r>
            <a:r>
              <a:rPr lang="en-IN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" and float number:"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&lt;&lt; var2;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} </a:t>
            </a:r>
            <a:endParaRPr lang="en-US" altLang="en-US" sz="2400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827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1AEFE-E067-421B-8E0C-6FED5E413370}"/>
              </a:ext>
            </a:extLst>
          </p:cNvPr>
          <p:cNvSpPr txBox="1">
            <a:spLocks/>
          </p:cNvSpPr>
          <p:nvPr/>
        </p:nvSpPr>
        <p:spPr>
          <a:xfrm>
            <a:off x="190500" y="106363"/>
            <a:ext cx="8763000" cy="8080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Program: Solution</a:t>
            </a:r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554AC79-2A1D-40B1-9414-4490DA344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" y="1160748"/>
            <a:ext cx="5749652" cy="29546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main()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a = 5; </a:t>
            </a:r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float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b = 5.5;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 display(a);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 display(b);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 display(a, b);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0;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  <a:endParaRPr kumimoji="0" lang="en-US" altLang="en-US" sz="2400" i="0" u="none" strike="noStrike" cap="none" normalizeH="0" baseline="0" dirty="0">
              <a:ln>
                <a:noFill/>
              </a:ln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2920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5F304-85D4-4BA9-B80A-D9530A69E49B}"/>
              </a:ext>
            </a:extLst>
          </p:cNvPr>
          <p:cNvSpPr txBox="1">
            <a:spLocks/>
          </p:cNvSpPr>
          <p:nvPr/>
        </p:nvSpPr>
        <p:spPr>
          <a:xfrm>
            <a:off x="190500" y="106363"/>
            <a:ext cx="8763000" cy="8080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Program: Function overloading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35615-CF13-4BCE-B089-3E9D132BF7B4}"/>
              </a:ext>
            </a:extLst>
          </p:cNvPr>
          <p:cNvSpPr txBox="1">
            <a:spLocks/>
          </p:cNvSpPr>
          <p:nvPr/>
        </p:nvSpPr>
        <p:spPr>
          <a:xfrm>
            <a:off x="190500" y="990600"/>
            <a:ext cx="8763000" cy="5334000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/>
              <a:t>Write a C++ program to demonstrate function overloading. Create function </a:t>
            </a:r>
            <a:r>
              <a:rPr lang="en-IN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area()</a:t>
            </a:r>
            <a:r>
              <a:rPr lang="en-IN">
                <a:solidFill>
                  <a:srgbClr val="C00000"/>
                </a:solidFill>
              </a:rPr>
              <a:t> </a:t>
            </a:r>
            <a:r>
              <a:rPr lang="en-IN"/>
              <a:t>that calculates area of circle, triangle and box.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43473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6D720-4AA8-4E37-B5DF-D5E320D57411}"/>
              </a:ext>
            </a:extLst>
          </p:cNvPr>
          <p:cNvSpPr txBox="1">
            <a:spLocks/>
          </p:cNvSpPr>
          <p:nvPr/>
        </p:nvSpPr>
        <p:spPr>
          <a:xfrm>
            <a:off x="5666550" y="77674"/>
            <a:ext cx="3333942" cy="1260140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/>
              <a:t>Program #7 </a:t>
            </a:r>
            <a:br>
              <a:rPr lang="en-IN" sz="3600"/>
            </a:br>
            <a:r>
              <a:rPr lang="en-IN" sz="3600"/>
              <a:t>Solution</a:t>
            </a:r>
            <a:endParaRPr lang="en-IN" sz="36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826A88E-50D0-45BC-868F-0B85E5BFF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164" y="63349"/>
            <a:ext cx="5437386" cy="443198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float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area(</a:t>
            </a:r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r)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3.14*r*r;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} </a:t>
            </a:r>
          </a:p>
          <a:p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float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area(</a:t>
            </a:r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h, </a:t>
            </a:r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b)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0.5*h*b;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} </a:t>
            </a:r>
          </a:p>
          <a:p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float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area(</a:t>
            </a:r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l, </a:t>
            </a:r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w, </a:t>
            </a:r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h)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l*w*h;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} </a:t>
            </a:r>
            <a:endParaRPr kumimoji="0" lang="en-US" altLang="en-US" sz="2400" i="0" u="none" strike="noStrike" cap="none" normalizeH="0" baseline="0" dirty="0">
              <a:ln>
                <a:noFill/>
              </a:ln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554F93-879D-472E-98A2-F6B240F46D72}"/>
              </a:ext>
            </a:extLst>
          </p:cNvPr>
          <p:cNvSpPr/>
          <p:nvPr/>
        </p:nvSpPr>
        <p:spPr>
          <a:xfrm>
            <a:off x="226299" y="4293096"/>
            <a:ext cx="808725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main(){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cout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&lt;&lt;</a:t>
            </a:r>
            <a:r>
              <a:rPr lang="en-IN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"area of circle="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&lt;&lt;area(5);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cout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&lt;&lt;“\n area of triangle=</a:t>
            </a:r>
            <a:r>
              <a:rPr lang="en-IN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"&lt;&lt;area(4,9); </a:t>
            </a:r>
            <a:endParaRPr lang="en-IN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cout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&lt;&lt;“\n area of box=</a:t>
            </a:r>
            <a:r>
              <a:rPr lang="en-IN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"&lt;&lt;area(5,8,2); </a:t>
            </a:r>
            <a:endParaRPr lang="en-IN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0;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} </a:t>
            </a:r>
            <a:endParaRPr lang="en-US" altLang="en-US" sz="2400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0190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56902-71BF-40E5-A956-92EEAFE01F50}"/>
              </a:ext>
            </a:extLst>
          </p:cNvPr>
          <p:cNvSpPr txBox="1">
            <a:spLocks/>
          </p:cNvSpPr>
          <p:nvPr/>
        </p:nvSpPr>
        <p:spPr>
          <a:xfrm>
            <a:off x="739140" y="573744"/>
            <a:ext cx="8763000" cy="8080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Default Function Argument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903015-A02E-4B58-AAA3-842FEFA0406B}"/>
              </a:ext>
            </a:extLst>
          </p:cNvPr>
          <p:cNvSpPr/>
          <p:nvPr/>
        </p:nvSpPr>
        <p:spPr>
          <a:xfrm>
            <a:off x="656144" y="2105561"/>
            <a:ext cx="5940660" cy="132343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IN" sz="2000" kern="12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int</a:t>
            </a:r>
            <a:r>
              <a:rPr lang="en-IN" sz="2000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</a:t>
            </a:r>
            <a:r>
              <a:rPr lang="en-IN" sz="2000" kern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cubevolume</a:t>
            </a:r>
            <a:r>
              <a:rPr lang="en-IN" sz="2000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(</a:t>
            </a:r>
            <a:r>
              <a:rPr lang="en-IN" sz="2000" kern="12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int</a:t>
            </a:r>
            <a:r>
              <a:rPr lang="en-IN" sz="2000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l=5, </a:t>
            </a:r>
            <a:r>
              <a:rPr lang="en-IN" sz="2000" kern="12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int</a:t>
            </a:r>
            <a:r>
              <a:rPr lang="en-IN" sz="2000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w=6, </a:t>
            </a:r>
            <a:r>
              <a:rPr lang="en-IN" sz="2000" kern="12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int</a:t>
            </a:r>
            <a:r>
              <a:rPr lang="en-IN" sz="2000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h=7)</a:t>
            </a:r>
            <a:endParaRPr lang="en-IN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N" sz="2000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{</a:t>
            </a:r>
            <a:endParaRPr lang="en-IN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N" sz="2000" kern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  return</a:t>
            </a:r>
            <a:r>
              <a:rPr lang="en-IN" sz="2000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l*w*h;</a:t>
            </a:r>
            <a:endParaRPr lang="en-IN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N" sz="2000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}</a:t>
            </a:r>
            <a:endParaRPr lang="en-IN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A04AA7-1110-4580-80F4-386AC2808204}"/>
              </a:ext>
            </a:extLst>
          </p:cNvPr>
          <p:cNvSpPr/>
          <p:nvPr/>
        </p:nvSpPr>
        <p:spPr>
          <a:xfrm>
            <a:off x="640911" y="3505921"/>
            <a:ext cx="2931557" cy="22467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IN" sz="2000" kern="12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int</a:t>
            </a:r>
            <a:r>
              <a:rPr lang="en-IN" sz="2000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main()</a:t>
            </a:r>
            <a:endParaRPr lang="en-IN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N" sz="2000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{</a:t>
            </a:r>
            <a:endParaRPr lang="en-IN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N" sz="2000" kern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cubevolume</a:t>
            </a:r>
            <a:r>
              <a:rPr lang="en-IN" sz="2000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(); </a:t>
            </a:r>
            <a:endParaRPr lang="en-IN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N" sz="2000" kern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cubevolume</a:t>
            </a:r>
            <a:r>
              <a:rPr lang="en-IN" sz="2000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(9);</a:t>
            </a:r>
            <a:endParaRPr lang="en-IN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N" sz="2000" kern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cubevolume</a:t>
            </a:r>
            <a:r>
              <a:rPr lang="en-IN" sz="2000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(15,12);</a:t>
            </a:r>
            <a:endParaRPr lang="en-IN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N" sz="2000" kern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cubevolume</a:t>
            </a:r>
            <a:r>
              <a:rPr lang="en-IN" sz="2000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(3,4,7);</a:t>
            </a:r>
            <a:endParaRPr lang="en-IN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N" sz="2000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}</a:t>
            </a:r>
            <a:endParaRPr lang="en-IN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1" name="Rounded Rectangular Callout 25">
            <a:extLst>
              <a:ext uri="{FF2B5EF4-FFF2-40B4-BE49-F238E27FC236}">
                <a16:creationId xmlns:a16="http://schemas.microsoft.com/office/drawing/2014/main" id="{478A8A6D-1678-4B6F-98EC-D040A62E1C7C}"/>
              </a:ext>
            </a:extLst>
          </p:cNvPr>
          <p:cNvSpPr/>
          <p:nvPr/>
        </p:nvSpPr>
        <p:spPr>
          <a:xfrm>
            <a:off x="4292548" y="3505921"/>
            <a:ext cx="5209592" cy="739230"/>
          </a:xfrm>
          <a:prstGeom prst="wedgeRoundRectCallout">
            <a:avLst>
              <a:gd name="adj1" fmla="val -79589"/>
              <a:gd name="adj2" fmla="val 69037"/>
              <a:gd name="adj3" fmla="val 16667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300" dirty="0">
                <a:solidFill>
                  <a:schemeClr val="tx1"/>
                </a:solidFill>
              </a:rPr>
              <a:t>Here, there can be four types of function calls possible</a:t>
            </a:r>
          </a:p>
        </p:txBody>
      </p:sp>
      <p:sp>
        <p:nvSpPr>
          <p:cNvPr id="12" name="Rounded Rectangular Callout 26">
            <a:extLst>
              <a:ext uri="{FF2B5EF4-FFF2-40B4-BE49-F238E27FC236}">
                <a16:creationId xmlns:a16="http://schemas.microsoft.com/office/drawing/2014/main" id="{F9424316-7A11-4682-89C1-AC540EF06DF5}"/>
              </a:ext>
            </a:extLst>
          </p:cNvPr>
          <p:cNvSpPr/>
          <p:nvPr/>
        </p:nvSpPr>
        <p:spPr>
          <a:xfrm>
            <a:off x="4292548" y="3492237"/>
            <a:ext cx="5209592" cy="1476694"/>
          </a:xfrm>
          <a:prstGeom prst="wedgeRoundRectCallout">
            <a:avLst>
              <a:gd name="adj1" fmla="val -75606"/>
              <a:gd name="adj2" fmla="val -906"/>
              <a:gd name="adj3" fmla="val 16667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300" dirty="0">
                <a:solidFill>
                  <a:schemeClr val="tx1"/>
                </a:solidFill>
              </a:rPr>
              <a:t>If argument is not specified then, compiler looks at declaration to see how many arguments a function uses and alert program to use default values</a:t>
            </a:r>
          </a:p>
        </p:txBody>
      </p:sp>
    </p:spTree>
    <p:extLst>
      <p:ext uri="{BB962C8B-B14F-4D97-AF65-F5344CB8AC3E}">
        <p14:creationId xmlns:p14="http://schemas.microsoft.com/office/powerpoint/2010/main" val="2435711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1" grpId="1" animBg="1"/>
      <p:bldP spid="1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0BCB2-C8F1-4CF7-BC4E-8631F76322D1}"/>
              </a:ext>
            </a:extLst>
          </p:cNvPr>
          <p:cNvSpPr txBox="1">
            <a:spLocks/>
          </p:cNvSpPr>
          <p:nvPr/>
        </p:nvSpPr>
        <p:spPr>
          <a:xfrm>
            <a:off x="190500" y="106363"/>
            <a:ext cx="8763000" cy="8080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Default Argument Example</a:t>
            </a:r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A083EF2-B152-4292-B976-1703908E4D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701" y="1016732"/>
            <a:ext cx="8953500" cy="40626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volume(</a:t>
            </a:r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l=5,</a:t>
            </a:r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w=6, </a:t>
            </a:r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h=7)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l*w*h;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} </a:t>
            </a:r>
          </a:p>
          <a:p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main() {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cout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&lt;&lt;</a:t>
            </a:r>
            <a:r>
              <a:rPr lang="en-IN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"volume="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&lt;&lt;volume()&lt;&lt;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endl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cout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&lt;&lt;</a:t>
            </a:r>
            <a:r>
              <a:rPr lang="en-IN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"volume="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&lt;&lt;volume(9)&lt;&lt;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endl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cout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&lt;&lt;</a:t>
            </a:r>
            <a:r>
              <a:rPr lang="en-IN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"volume="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&lt;&lt;volume(15,2)&lt;&lt;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endl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cout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&lt;&lt;</a:t>
            </a:r>
            <a:r>
              <a:rPr lang="en-IN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"volume="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&lt;&lt;volume(3,4,7)&lt;&lt;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endl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0;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} </a:t>
            </a:r>
            <a:endParaRPr kumimoji="0" lang="en-US" altLang="en-US" sz="2400" i="0" u="none" strike="noStrike" cap="none" normalizeH="0" baseline="0" dirty="0">
              <a:ln>
                <a:noFill/>
              </a:ln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ight Arrow 5">
            <a:extLst>
              <a:ext uri="{FF2B5EF4-FFF2-40B4-BE49-F238E27FC236}">
                <a16:creationId xmlns:a16="http://schemas.microsoft.com/office/drawing/2014/main" id="{4800D0A7-2F3F-497C-AB5B-293416891839}"/>
              </a:ext>
            </a:extLst>
          </p:cNvPr>
          <p:cNvSpPr/>
          <p:nvPr/>
        </p:nvSpPr>
        <p:spPr>
          <a:xfrm>
            <a:off x="190500" y="2993441"/>
            <a:ext cx="381000" cy="1692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844AB5-FEC0-4BA5-ABFD-E2505C35179F}"/>
              </a:ext>
            </a:extLst>
          </p:cNvPr>
          <p:cNvSpPr txBox="1"/>
          <p:nvPr/>
        </p:nvSpPr>
        <p:spPr>
          <a:xfrm>
            <a:off x="431540" y="5181713"/>
            <a:ext cx="8521960" cy="83099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Function call without passing argument.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Default value </a:t>
            </a:r>
            <a:r>
              <a:rPr lang="en-I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5,6,7</a:t>
            </a:r>
            <a:r>
              <a:rPr lang="en-IN" sz="2400" dirty="0"/>
              <a:t> considered for </a:t>
            </a:r>
            <a:r>
              <a:rPr lang="en-I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l, w, h </a:t>
            </a:r>
            <a:r>
              <a:rPr lang="en-IN" sz="2400" dirty="0"/>
              <a:t>respectively.</a:t>
            </a:r>
          </a:p>
        </p:txBody>
      </p:sp>
      <p:sp>
        <p:nvSpPr>
          <p:cNvPr id="6" name="Right Arrow 9">
            <a:extLst>
              <a:ext uri="{FF2B5EF4-FFF2-40B4-BE49-F238E27FC236}">
                <a16:creationId xmlns:a16="http://schemas.microsoft.com/office/drawing/2014/main" id="{6F69B919-66B3-4924-B63B-CE4870850104}"/>
              </a:ext>
            </a:extLst>
          </p:cNvPr>
          <p:cNvSpPr/>
          <p:nvPr/>
        </p:nvSpPr>
        <p:spPr>
          <a:xfrm>
            <a:off x="190500" y="3329517"/>
            <a:ext cx="381000" cy="1692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ight Arrow 10">
            <a:extLst>
              <a:ext uri="{FF2B5EF4-FFF2-40B4-BE49-F238E27FC236}">
                <a16:creationId xmlns:a16="http://schemas.microsoft.com/office/drawing/2014/main" id="{8B3FE976-E36B-4618-B827-5C39A3BA91CC}"/>
              </a:ext>
            </a:extLst>
          </p:cNvPr>
          <p:cNvSpPr/>
          <p:nvPr/>
        </p:nvSpPr>
        <p:spPr>
          <a:xfrm>
            <a:off x="190500" y="3698850"/>
            <a:ext cx="381000" cy="1692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ight Arrow 11">
            <a:extLst>
              <a:ext uri="{FF2B5EF4-FFF2-40B4-BE49-F238E27FC236}">
                <a16:creationId xmlns:a16="http://schemas.microsoft.com/office/drawing/2014/main" id="{BE58218E-0ACE-42C1-B045-7391BC3DAE2F}"/>
              </a:ext>
            </a:extLst>
          </p:cNvPr>
          <p:cNvSpPr/>
          <p:nvPr/>
        </p:nvSpPr>
        <p:spPr>
          <a:xfrm>
            <a:off x="190500" y="4102619"/>
            <a:ext cx="381000" cy="1692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FF1DF0-56D4-4069-81A6-4E0FFF58BEB4}"/>
              </a:ext>
            </a:extLst>
          </p:cNvPr>
          <p:cNvSpPr txBox="1"/>
          <p:nvPr/>
        </p:nvSpPr>
        <p:spPr>
          <a:xfrm>
            <a:off x="422481" y="5181713"/>
            <a:ext cx="8521960" cy="120032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Function call passing only one argument.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Explicitly value </a:t>
            </a:r>
            <a:r>
              <a:rPr lang="en-I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r>
              <a:rPr lang="en-IN" sz="2400" dirty="0"/>
              <a:t> passed to </a:t>
            </a:r>
            <a:r>
              <a:rPr lang="en-I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Default value </a:t>
            </a:r>
            <a:r>
              <a:rPr lang="en-I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6,7</a:t>
            </a:r>
            <a:r>
              <a:rPr lang="en-IN" sz="2400" dirty="0"/>
              <a:t> considered for  </a:t>
            </a:r>
            <a:r>
              <a:rPr lang="en-IN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w,h</a:t>
            </a:r>
            <a:r>
              <a:rPr lang="en-I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sz="2400" dirty="0"/>
              <a:t>respectively.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4E5447-5DB3-4AB5-9EDB-211305DDBDE6}"/>
              </a:ext>
            </a:extLst>
          </p:cNvPr>
          <p:cNvSpPr txBox="1"/>
          <p:nvPr/>
        </p:nvSpPr>
        <p:spPr>
          <a:xfrm>
            <a:off x="424219" y="5184925"/>
            <a:ext cx="8521960" cy="120032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Function call passing two arguments.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Explicitly value </a:t>
            </a:r>
            <a:r>
              <a:rPr lang="en-I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15,2</a:t>
            </a:r>
            <a:r>
              <a:rPr lang="en-IN" sz="2400" dirty="0"/>
              <a:t> passed to </a:t>
            </a:r>
            <a:r>
              <a:rPr lang="en-IN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l,w</a:t>
            </a:r>
            <a:r>
              <a:rPr lang="en-I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sz="2400" dirty="0"/>
              <a:t>respectively.</a:t>
            </a:r>
            <a:endParaRPr lang="en-IN" sz="24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Default value </a:t>
            </a:r>
            <a:r>
              <a:rPr lang="en-I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IN" sz="2400" dirty="0"/>
              <a:t> considered for  </a:t>
            </a:r>
            <a:r>
              <a:rPr lang="en-I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 </a:t>
            </a:r>
            <a:r>
              <a:rPr lang="en-IN" sz="2400" dirty="0"/>
              <a:t>respectively.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264ED6-9BFE-4B5F-AD99-40500F045B81}"/>
              </a:ext>
            </a:extLst>
          </p:cNvPr>
          <p:cNvSpPr txBox="1"/>
          <p:nvPr/>
        </p:nvSpPr>
        <p:spPr>
          <a:xfrm>
            <a:off x="422481" y="5184925"/>
            <a:ext cx="8521960" cy="83099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Function call passing all arguments.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Explicitly value </a:t>
            </a:r>
            <a:r>
              <a:rPr lang="en-I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3,4,7</a:t>
            </a:r>
            <a:r>
              <a:rPr lang="en-IN" sz="2400" dirty="0"/>
              <a:t> passed to </a:t>
            </a:r>
            <a:r>
              <a:rPr lang="en-IN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l,w,h</a:t>
            </a:r>
            <a:r>
              <a:rPr lang="en-I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sz="2400" dirty="0"/>
              <a:t>respectively.</a:t>
            </a:r>
            <a:endParaRPr lang="en-IN" sz="24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9664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A0754-B8FD-4997-BF74-FB93A5FA5923}"/>
              </a:ext>
            </a:extLst>
          </p:cNvPr>
          <p:cNvSpPr txBox="1">
            <a:spLocks/>
          </p:cNvSpPr>
          <p:nvPr/>
        </p:nvSpPr>
        <p:spPr>
          <a:xfrm>
            <a:off x="190500" y="106363"/>
            <a:ext cx="8763000" cy="8080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Default Arguments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36DAC-F48C-4A1C-8925-492C9EB347F7}"/>
              </a:ext>
            </a:extLst>
          </p:cNvPr>
          <p:cNvSpPr txBox="1">
            <a:spLocks/>
          </p:cNvSpPr>
          <p:nvPr/>
        </p:nvSpPr>
        <p:spPr>
          <a:xfrm>
            <a:off x="190500" y="958175"/>
            <a:ext cx="8763000" cy="3262913"/>
          </a:xfrm>
          <a:prstGeom prst="rect">
            <a:avLst/>
          </a:prstGeom>
          <a:noFill/>
          <a:ln w="19050">
            <a:solidFill>
              <a:schemeClr val="tx2"/>
            </a:solidFill>
            <a:prstDash val="sysDash"/>
          </a:ln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/>
              <a:t>while invoking a function If the argument/s are not passed then, the default values are used.</a:t>
            </a:r>
            <a:endParaRPr lang="en-US"/>
          </a:p>
          <a:p>
            <a:pPr algn="just"/>
            <a:r>
              <a:rPr lang="en-US"/>
              <a:t>We must add default arguments from right to left. </a:t>
            </a:r>
            <a:endParaRPr lang="en-IN"/>
          </a:p>
          <a:p>
            <a:pPr algn="just"/>
            <a:r>
              <a:rPr lang="en-US"/>
              <a:t>We cannot provide a default value to a particular argument in the middle of an argument list.</a:t>
            </a:r>
            <a:endParaRPr lang="en-IN"/>
          </a:p>
          <a:p>
            <a:pPr algn="just"/>
            <a:r>
              <a:rPr lang="en-US"/>
              <a:t>Default arguments are useful in situations where some arguments always have the same value. 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6BAF9E-B6C5-46DC-A2CF-B76DDCF88164}"/>
              </a:ext>
            </a:extLst>
          </p:cNvPr>
          <p:cNvSpPr/>
          <p:nvPr/>
        </p:nvSpPr>
        <p:spPr>
          <a:xfrm>
            <a:off x="190500" y="4840314"/>
            <a:ext cx="8763000" cy="15696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IN" sz="2400" kern="12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int</a:t>
            </a:r>
            <a:r>
              <a:rPr lang="en-IN" sz="2400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</a:t>
            </a:r>
            <a:r>
              <a:rPr lang="en-IN" sz="2400" kern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cubevolume</a:t>
            </a:r>
            <a:r>
              <a:rPr lang="en-IN" sz="2400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( </a:t>
            </a:r>
            <a:r>
              <a:rPr lang="en-IN" sz="2400" kern="12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int</a:t>
            </a:r>
            <a:r>
              <a:rPr lang="en-IN" sz="2400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l = 2, </a:t>
            </a:r>
            <a:r>
              <a:rPr lang="en-IN" sz="2400" kern="12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int</a:t>
            </a:r>
            <a:r>
              <a:rPr lang="en-IN" sz="2400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w = 2, </a:t>
            </a:r>
            <a:r>
              <a:rPr lang="en-IN" sz="2400" kern="12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int</a:t>
            </a:r>
            <a:r>
              <a:rPr lang="en-IN" sz="2400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h = 2 )</a:t>
            </a: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N" sz="2400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{</a:t>
            </a: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N" sz="2400" kern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  return</a:t>
            </a:r>
            <a:r>
              <a:rPr lang="en-IN" sz="2400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l*w*h;</a:t>
            </a: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N" sz="2400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}</a:t>
            </a: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BFA813-A2CB-4EBA-BCC1-5B8A58820D99}"/>
              </a:ext>
            </a:extLst>
          </p:cNvPr>
          <p:cNvSpPr/>
          <p:nvPr/>
        </p:nvSpPr>
        <p:spPr>
          <a:xfrm>
            <a:off x="7596336" y="4921713"/>
            <a:ext cx="684076" cy="324036"/>
          </a:xfrm>
          <a:prstGeom prst="rect">
            <a:avLst/>
          </a:prstGeom>
          <a:solidFill>
            <a:srgbClr val="C6D9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0C8C07-E5ED-4457-A35E-7E81C3F5BEB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2" y="5344571"/>
            <a:ext cx="965213" cy="96521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682E94B-CB09-4F08-9070-DFC79C0F3D38}"/>
              </a:ext>
            </a:extLst>
          </p:cNvPr>
          <p:cNvSpPr/>
          <p:nvPr/>
        </p:nvSpPr>
        <p:spPr>
          <a:xfrm>
            <a:off x="3851920" y="4921712"/>
            <a:ext cx="648072" cy="379495"/>
          </a:xfrm>
          <a:prstGeom prst="rect">
            <a:avLst/>
          </a:prstGeom>
          <a:solidFill>
            <a:srgbClr val="C6D9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999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4" grpId="0" animBg="1"/>
      <p:bldP spid="5" grpId="0" animBg="1"/>
      <p:bldP spid="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3499E-8CA3-404F-ACC5-9656F321219A}"/>
              </a:ext>
            </a:extLst>
          </p:cNvPr>
          <p:cNvSpPr txBox="1">
            <a:spLocks/>
          </p:cNvSpPr>
          <p:nvPr/>
        </p:nvSpPr>
        <p:spPr>
          <a:xfrm>
            <a:off x="190500" y="106363"/>
            <a:ext cx="8763000" cy="8080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Default Arguments (Cont…)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8449E-3D31-423C-9AAA-0FA4B0E14185}"/>
              </a:ext>
            </a:extLst>
          </p:cNvPr>
          <p:cNvSpPr txBox="1">
            <a:spLocks/>
          </p:cNvSpPr>
          <p:nvPr/>
        </p:nvSpPr>
        <p:spPr>
          <a:xfrm>
            <a:off x="190500" y="932110"/>
            <a:ext cx="8763000" cy="5334000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Legal and illegal default arguments</a:t>
            </a:r>
            <a:endParaRPr lang="en-IN" sz="3600"/>
          </a:p>
          <a:p>
            <a:pPr marL="0" indent="0">
              <a:buFont typeface="Calibri" panose="020F0502020204030204" pitchFamily="34" charset="0"/>
              <a:buNone/>
            </a:pPr>
            <a:r>
              <a:rPr lang="en-IN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IN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void f(int a, int b, </a:t>
            </a:r>
            <a:r>
              <a:rPr lang="en-IN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c=0); 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IN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void f(int a, int b=0, </a:t>
            </a:r>
            <a:r>
              <a:rPr lang="en-IN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c=0);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IN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void f(int a=0, int b, </a:t>
            </a:r>
            <a:r>
              <a:rPr lang="en-IN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c=0); 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IN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void f(int a=0, int b, </a:t>
            </a:r>
            <a:r>
              <a:rPr lang="en-IN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c);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IN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void f(int a=0, int b=0, </a:t>
            </a:r>
            <a:r>
              <a:rPr lang="en-IN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c=0); </a:t>
            </a:r>
            <a:endParaRPr lang="en-IN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3034EC-C805-4971-963C-BC8883FE3948}"/>
              </a:ext>
            </a:extLst>
          </p:cNvPr>
          <p:cNvSpPr txBox="1"/>
          <p:nvPr/>
        </p:nvSpPr>
        <p:spPr>
          <a:xfrm>
            <a:off x="5984451" y="1412776"/>
            <a:ext cx="900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B050"/>
                </a:solidFill>
              </a:rPr>
              <a:t>Valid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B0C991-DC0C-44AE-BD84-7E9DEFFC5F99}"/>
              </a:ext>
            </a:extLst>
          </p:cNvPr>
          <p:cNvSpPr txBox="1"/>
          <p:nvPr/>
        </p:nvSpPr>
        <p:spPr>
          <a:xfrm>
            <a:off x="6254621" y="1930510"/>
            <a:ext cx="900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B050"/>
                </a:solidFill>
              </a:rPr>
              <a:t>Valid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051A59-7C04-4473-91CF-0C7E4099D995}"/>
              </a:ext>
            </a:extLst>
          </p:cNvPr>
          <p:cNvSpPr txBox="1"/>
          <p:nvPr/>
        </p:nvSpPr>
        <p:spPr>
          <a:xfrm>
            <a:off x="6621132" y="3410650"/>
            <a:ext cx="900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B050"/>
                </a:solidFill>
              </a:rPr>
              <a:t>Valid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0D44E8-1A0A-47DF-836D-D3C288A63D26}"/>
              </a:ext>
            </a:extLst>
          </p:cNvPr>
          <p:cNvSpPr txBox="1"/>
          <p:nvPr/>
        </p:nvSpPr>
        <p:spPr>
          <a:xfrm>
            <a:off x="5742771" y="2922139"/>
            <a:ext cx="11417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</a:rPr>
              <a:t>Invalid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20F514-CF91-4698-A96A-8B34622E8FC3}"/>
              </a:ext>
            </a:extLst>
          </p:cNvPr>
          <p:cNvSpPr txBox="1"/>
          <p:nvPr/>
        </p:nvSpPr>
        <p:spPr>
          <a:xfrm>
            <a:off x="6164680" y="2430057"/>
            <a:ext cx="12516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</a:rPr>
              <a:t>Invalid</a:t>
            </a:r>
          </a:p>
        </p:txBody>
      </p:sp>
    </p:spTree>
    <p:extLst>
      <p:ext uri="{BB962C8B-B14F-4D97-AF65-F5344CB8AC3E}">
        <p14:creationId xmlns:p14="http://schemas.microsoft.com/office/powerpoint/2010/main" val="125771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8D5B9-51EB-4B96-BE0B-2C42638845C8}"/>
              </a:ext>
            </a:extLst>
          </p:cNvPr>
          <p:cNvSpPr txBox="1">
            <a:spLocks/>
          </p:cNvSpPr>
          <p:nvPr/>
        </p:nvSpPr>
        <p:spPr>
          <a:xfrm>
            <a:off x="190500" y="106363"/>
            <a:ext cx="8763000" cy="8080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Common Mistakes</a:t>
            </a:r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26F2B16-E486-4C63-BA2F-3C748B08C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588" y="1244014"/>
            <a:ext cx="788517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cap="none" normalizeH="0" baseline="0" dirty="0">
                <a:ln>
                  <a:noFill/>
                </a:ln>
                <a:solidFill>
                  <a:srgbClr val="FF56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cap="none" normalizeH="0" dirty="0">
                <a:ln>
                  <a:noFill/>
                </a:ln>
                <a:solidFill>
                  <a:srgbClr val="FF560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kumimoji="0" lang="en-US" altLang="en-US" sz="2400" b="0" i="0" u="none" cap="none" normalizeH="0" dirty="0">
                <a:ln>
                  <a:noFill/>
                </a:ln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add(</a:t>
            </a:r>
            <a:r>
              <a:rPr kumimoji="0" lang="en-US" altLang="en-US" sz="2400" b="0" i="0" u="none" cap="none" normalizeH="0" dirty="0" err="1">
                <a:ln>
                  <a:noFill/>
                </a:ln>
                <a:solidFill>
                  <a:srgbClr val="FF56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2400" b="0" i="0" u="none" cap="none" normalizeH="0" dirty="0">
                <a:ln>
                  <a:noFill/>
                </a:ln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a, </a:t>
            </a:r>
            <a:r>
              <a:rPr kumimoji="0" lang="en-US" altLang="en-US" sz="2400" b="0" i="0" u="none" cap="none" normalizeH="0" dirty="0" err="1">
                <a:ln>
                  <a:noFill/>
                </a:ln>
                <a:solidFill>
                  <a:srgbClr val="FF56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2400" b="0" i="0" u="none" cap="none" normalizeH="0" dirty="0">
                <a:ln>
                  <a:noFill/>
                </a:ln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b </a:t>
            </a:r>
            <a:r>
              <a:rPr kumimoji="0" lang="en-US" altLang="en-US" sz="2400" b="1" i="0" u="none" cap="none" normalizeH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sz="2400" b="0" i="0" u="none" cap="none" normalizeH="0" dirty="0">
                <a:ln>
                  <a:noFill/>
                </a:ln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cap="none" normalizeH="0" dirty="0">
                <a:ln>
                  <a:noFill/>
                </a:ln>
                <a:solidFill>
                  <a:srgbClr val="A8017E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en-US" altLang="en-US" sz="2400" b="0" i="0" u="none" cap="none" normalizeH="0" dirty="0">
                <a:ln>
                  <a:noFill/>
                </a:ln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2400" b="0" i="0" u="none" cap="none" normalizeH="0" dirty="0" err="1">
                <a:ln>
                  <a:noFill/>
                </a:ln>
                <a:solidFill>
                  <a:srgbClr val="FF56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2400" b="0" i="0" u="none" cap="none" normalizeH="0" dirty="0">
                <a:ln>
                  <a:noFill/>
                </a:ln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c, </a:t>
            </a:r>
            <a:r>
              <a:rPr kumimoji="0" lang="en-US" altLang="en-US" sz="2400" b="0" i="0" u="none" cap="none" normalizeH="0" dirty="0" err="1">
                <a:ln>
                  <a:noFill/>
                </a:ln>
                <a:solidFill>
                  <a:srgbClr val="FF56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2400" b="0" i="0" u="none" cap="none" normalizeH="0" dirty="0">
                <a:ln>
                  <a:noFill/>
                </a:ln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d </a:t>
            </a:r>
            <a:r>
              <a:rPr kumimoji="0" lang="en-US" altLang="en-US" sz="2400" b="1" i="0" u="none" cap="none" normalizeH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sz="2400" b="0" i="0" u="none" cap="none" normalizeH="0" dirty="0">
                <a:ln>
                  <a:noFill/>
                </a:ln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cap="none" normalizeH="0" dirty="0">
                <a:ln>
                  <a:noFill/>
                </a:ln>
                <a:solidFill>
                  <a:srgbClr val="A8017E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kumimoji="0" lang="en-US" altLang="en-US" sz="2400" b="0" i="0" u="none" cap="none" normalizeH="0" dirty="0">
                <a:ln>
                  <a:noFill/>
                </a:ln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en-US" altLang="en-US" sz="2400" b="0" i="0" u="none" cap="none" normalizeH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400" b="0" i="0" u="none" cap="none" normalizeH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EF5C3D-BBEA-4322-94A8-7B3AAFC3618B}"/>
              </a:ext>
            </a:extLst>
          </p:cNvPr>
          <p:cNvSpPr/>
          <p:nvPr/>
        </p:nvSpPr>
        <p:spPr>
          <a:xfrm>
            <a:off x="190500" y="4077072"/>
            <a:ext cx="8763000" cy="83099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2400" dirty="0"/>
              <a:t>If you want a single default argument, make sure the argument is the last one.</a:t>
            </a:r>
            <a:endParaRPr lang="en-IN" sz="2400" dirty="0">
              <a:latin typeface="+mj-lt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61EAE68-0905-42BD-B488-BB6BC9A35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588" y="3465004"/>
            <a:ext cx="7205499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cap="none" normalizeH="0" baseline="0" dirty="0">
                <a:ln>
                  <a:noFill/>
                </a:ln>
                <a:solidFill>
                  <a:srgbClr val="FF56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cap="none" normalizeH="0" dirty="0">
                <a:ln>
                  <a:noFill/>
                </a:ln>
                <a:solidFill>
                  <a:srgbClr val="FF560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kumimoji="0" lang="en-US" altLang="en-US" sz="2400" b="0" i="0" u="none" cap="none" normalizeH="0" dirty="0">
                <a:ln>
                  <a:noFill/>
                </a:ln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add(</a:t>
            </a:r>
            <a:r>
              <a:rPr kumimoji="0" lang="en-US" altLang="en-US" sz="2400" b="0" i="0" u="none" cap="none" normalizeH="0" dirty="0" err="1">
                <a:ln>
                  <a:noFill/>
                </a:ln>
                <a:solidFill>
                  <a:srgbClr val="FF56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2400" b="0" i="0" u="none" cap="none" normalizeH="0" dirty="0">
                <a:ln>
                  <a:noFill/>
                </a:ln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a, </a:t>
            </a:r>
            <a:r>
              <a:rPr kumimoji="0" lang="en-US" altLang="en-US" sz="2400" b="0" i="0" u="none" cap="none" normalizeH="0" dirty="0" err="1">
                <a:ln>
                  <a:noFill/>
                </a:ln>
                <a:solidFill>
                  <a:srgbClr val="FF56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2400" b="0" i="0" u="none" cap="none" normalizeH="0" dirty="0">
                <a:ln>
                  <a:noFill/>
                </a:ln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b </a:t>
            </a:r>
            <a:r>
              <a:rPr kumimoji="0" lang="en-US" altLang="en-US" sz="2400" b="1" i="0" u="none" cap="none" normalizeH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sz="2400" b="0" i="0" u="none" cap="none" normalizeH="0" dirty="0">
                <a:ln>
                  <a:noFill/>
                </a:ln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cap="none" normalizeH="0" dirty="0">
                <a:ln>
                  <a:noFill/>
                </a:ln>
                <a:solidFill>
                  <a:srgbClr val="A8017E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en-US" altLang="en-US" sz="2400" b="0" i="0" u="none" cap="none" normalizeH="0" dirty="0">
                <a:ln>
                  <a:noFill/>
                </a:ln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2400" b="0" i="0" u="none" cap="none" normalizeH="0" dirty="0" err="1">
                <a:ln>
                  <a:noFill/>
                </a:ln>
                <a:solidFill>
                  <a:srgbClr val="FF56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2400" b="0" i="0" u="none" cap="none" normalizeH="0" dirty="0">
                <a:ln>
                  <a:noFill/>
                </a:ln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c, </a:t>
            </a:r>
            <a:r>
              <a:rPr kumimoji="0" lang="en-US" altLang="en-US" sz="2400" b="0" i="0" u="none" cap="none" normalizeH="0" dirty="0" err="1">
                <a:ln>
                  <a:noFill/>
                </a:ln>
                <a:solidFill>
                  <a:srgbClr val="FF56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2400" b="0" i="0" u="none" cap="none" normalizeH="0" dirty="0">
                <a:ln>
                  <a:noFill/>
                </a:ln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d);</a:t>
            </a:r>
            <a:r>
              <a:rPr kumimoji="0" lang="en-US" altLang="en-US" sz="2400" b="0" i="0" u="none" cap="none" normalizeH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400" b="0" i="0" u="none" cap="none" normalizeH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224703-1DE6-4211-A013-AE39301BB2B4}"/>
              </a:ext>
            </a:extLst>
          </p:cNvPr>
          <p:cNvSpPr/>
          <p:nvPr/>
        </p:nvSpPr>
        <p:spPr>
          <a:xfrm>
            <a:off x="190500" y="1835610"/>
            <a:ext cx="8763000" cy="83099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rgbClr val="252830"/>
                </a:solidFill>
                <a:latin typeface="+mj-lt"/>
              </a:rPr>
              <a:t>You cannot miss a default argument in between two arguments.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rgbClr val="252830"/>
                </a:solidFill>
                <a:latin typeface="+mj-lt"/>
              </a:rPr>
              <a:t>In this case, </a:t>
            </a:r>
            <a:r>
              <a:rPr lang="en-I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IN" sz="2400" dirty="0">
                <a:solidFill>
                  <a:srgbClr val="252830"/>
                </a:solidFill>
                <a:latin typeface="+mj-lt"/>
              </a:rPr>
              <a:t> should also be assigned a default value.</a:t>
            </a:r>
            <a:endParaRPr lang="en-IN" sz="2400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29C595-1567-4AB6-B871-D39583FDE73A}"/>
              </a:ext>
            </a:extLst>
          </p:cNvPr>
          <p:cNvSpPr txBox="1"/>
          <p:nvPr/>
        </p:nvSpPr>
        <p:spPr>
          <a:xfrm>
            <a:off x="103615" y="1197848"/>
            <a:ext cx="6430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(1)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26A2BB-59CA-4D27-918F-32FA1AD05E97}"/>
              </a:ext>
            </a:extLst>
          </p:cNvPr>
          <p:cNvSpPr txBox="1"/>
          <p:nvPr/>
        </p:nvSpPr>
        <p:spPr>
          <a:xfrm>
            <a:off x="103615" y="3388135"/>
            <a:ext cx="6430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(2)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3454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3E5C4-E388-466D-BD9C-C88C943B9DE6}"/>
              </a:ext>
            </a:extLst>
          </p:cNvPr>
          <p:cNvSpPr txBox="1">
            <a:spLocks/>
          </p:cNvSpPr>
          <p:nvPr/>
        </p:nvSpPr>
        <p:spPr>
          <a:xfrm>
            <a:off x="190500" y="106363"/>
            <a:ext cx="8763000" cy="8080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Program: Default Arguments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ED470-8063-431C-827E-4E1FC24DB33A}"/>
              </a:ext>
            </a:extLst>
          </p:cNvPr>
          <p:cNvSpPr txBox="1">
            <a:spLocks/>
          </p:cNvSpPr>
          <p:nvPr/>
        </p:nvSpPr>
        <p:spPr>
          <a:xfrm>
            <a:off x="190500" y="990600"/>
            <a:ext cx="8763000" cy="5334000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/>
              <a:t>Write a C++ program to create function </a:t>
            </a:r>
            <a:r>
              <a:rPr lang="en-IN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sum()</a:t>
            </a:r>
            <a:r>
              <a:rPr lang="en-IN"/>
              <a:t>, that performs addition of 3 integers also demonstrate Default Arguments concept.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03778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5BDB2-2B6A-423B-8085-F4832384C6C7}"/>
              </a:ext>
            </a:extLst>
          </p:cNvPr>
          <p:cNvSpPr txBox="1">
            <a:spLocks/>
          </p:cNvSpPr>
          <p:nvPr/>
        </p:nvSpPr>
        <p:spPr>
          <a:xfrm>
            <a:off x="190500" y="106363"/>
            <a:ext cx="8763000" cy="8080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Program: Default Arguments</a:t>
            </a:r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497D12F-1E94-4324-BF9A-BC6813DE8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177" y="1160748"/>
            <a:ext cx="8156079" cy="48013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#include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IN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&lt;</a:t>
            </a:r>
            <a:r>
              <a:rPr lang="en-IN" sz="2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iostream</a:t>
            </a:r>
            <a:r>
              <a:rPr lang="en-IN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&gt;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using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namespace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std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sum(</a:t>
            </a:r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x, </a:t>
            </a:r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y=10, </a:t>
            </a:r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z=20)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(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x+y+z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);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} </a:t>
            </a:r>
          </a:p>
          <a:p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main()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cout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&lt;&lt; </a:t>
            </a:r>
            <a:r>
              <a:rPr lang="en-IN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"Sum is : "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&lt;&lt; sum(5) &lt;&lt;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endl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cout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&lt;&lt; </a:t>
            </a:r>
            <a:r>
              <a:rPr lang="en-IN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"Sum is : "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&lt;&lt; sum(5,15) &lt;&lt;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endl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cout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&lt;&lt; </a:t>
            </a:r>
            <a:r>
              <a:rPr lang="en-IN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"Sum is : "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&lt;&lt; sum(5,15,25) &lt;&lt;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endl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0;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} </a:t>
            </a:r>
            <a:endParaRPr kumimoji="0" lang="en-US" altLang="en-US" sz="2400" i="0" u="none" strike="noStrike" cap="none" normalizeH="0" baseline="0" dirty="0">
              <a:ln>
                <a:noFill/>
              </a:ln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83485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F946C-AE21-424C-921B-1DA088932A27}"/>
              </a:ext>
            </a:extLst>
          </p:cNvPr>
          <p:cNvSpPr txBox="1">
            <a:spLocks/>
          </p:cNvSpPr>
          <p:nvPr/>
        </p:nvSpPr>
        <p:spPr>
          <a:xfrm>
            <a:off x="190500" y="106363"/>
            <a:ext cx="8763000" cy="8080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Friend Function	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D4066-CD32-475D-BC9D-8244594A08C5}"/>
              </a:ext>
            </a:extLst>
          </p:cNvPr>
          <p:cNvSpPr txBox="1">
            <a:spLocks/>
          </p:cNvSpPr>
          <p:nvPr/>
        </p:nvSpPr>
        <p:spPr>
          <a:xfrm>
            <a:off x="190500" y="990600"/>
            <a:ext cx="8763000" cy="5334000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 friend function is not a member of a class but has access to private and protected members of the class.</a:t>
            </a:r>
          </a:p>
          <a:p>
            <a:r>
              <a:rPr lang="en-US"/>
              <a:t>Declared using the keyword friend inside the class.</a:t>
            </a:r>
          </a:p>
          <a:p>
            <a:r>
              <a:rPr lang="en-US"/>
              <a:t>It can be declared:</a:t>
            </a:r>
          </a:p>
          <a:p>
            <a:pPr lvl="1"/>
            <a:r>
              <a:rPr lang="en-US"/>
              <a:t>Inside the class using friend</a:t>
            </a:r>
          </a:p>
          <a:p>
            <a:pPr lvl="1"/>
            <a:r>
              <a:rPr lang="en-US"/>
              <a:t>Defined outside the class without scope resolution</a:t>
            </a:r>
          </a:p>
          <a:p>
            <a:r>
              <a:rPr lang="en-US"/>
              <a:t>Typically used for:</a:t>
            </a:r>
          </a:p>
          <a:p>
            <a:pPr lvl="1"/>
            <a:r>
              <a:rPr lang="en-US"/>
              <a:t>Operator overloading</a:t>
            </a:r>
          </a:p>
          <a:p>
            <a:pPr lvl="1"/>
            <a:r>
              <a:rPr lang="en-US"/>
              <a:t>Non-member functions needing access to class internals</a:t>
            </a:r>
          </a:p>
          <a:p>
            <a:r>
              <a:rPr lang="en-US"/>
              <a:t>Example</a:t>
            </a:r>
          </a:p>
          <a:p>
            <a:pPr lvl="1"/>
            <a:r>
              <a:rPr lang="en-US"/>
              <a:t>class ClassName {</a:t>
            </a:r>
          </a:p>
          <a:p>
            <a:pPr lvl="1"/>
            <a:r>
              <a:rPr lang="en-US"/>
              <a:t>   friend return_type function_name(arguments);</a:t>
            </a:r>
          </a:p>
          <a:p>
            <a:pPr lvl="1"/>
            <a:r>
              <a:rPr lang="en-US"/>
              <a:t>};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72243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CB1E1-3D45-47CF-8CAF-490C1D38701A}"/>
              </a:ext>
            </a:extLst>
          </p:cNvPr>
          <p:cNvSpPr txBox="1">
            <a:spLocks/>
          </p:cNvSpPr>
          <p:nvPr/>
        </p:nvSpPr>
        <p:spPr>
          <a:xfrm>
            <a:off x="190500" y="106363"/>
            <a:ext cx="8763000" cy="8080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Key Points About Friend Function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59366-996B-473C-AC9C-B216D9D97C74}"/>
              </a:ext>
            </a:extLst>
          </p:cNvPr>
          <p:cNvSpPr txBox="1">
            <a:spLocks/>
          </p:cNvSpPr>
          <p:nvPr/>
        </p:nvSpPr>
        <p:spPr>
          <a:xfrm>
            <a:off x="190500" y="990600"/>
            <a:ext cx="8763000" cy="5334000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It is not called with object syntax: object.function() doesn’t apply.</a:t>
            </a:r>
          </a:p>
          <a:p>
            <a:r>
              <a:rPr lang="en-US"/>
              <a:t>It does not support inheritance.</a:t>
            </a:r>
          </a:p>
          <a:p>
            <a:r>
              <a:rPr lang="en-US"/>
              <a:t>Used only when tight coupling is necessary.</a:t>
            </a:r>
          </a:p>
          <a:p>
            <a:r>
              <a:rPr lang="en-US"/>
              <a:t>Breaks encapsulation – use sparingly.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98708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63534-59EC-4F57-8CE9-045C9EBAE558}"/>
              </a:ext>
            </a:extLst>
          </p:cNvPr>
          <p:cNvSpPr txBox="1">
            <a:spLocks/>
          </p:cNvSpPr>
          <p:nvPr/>
        </p:nvSpPr>
        <p:spPr>
          <a:xfrm>
            <a:off x="190500" y="106363"/>
            <a:ext cx="8763000" cy="8080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Virtual Function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BA1E5-BB59-4D6E-BB86-D90567E8CB0B}"/>
              </a:ext>
            </a:extLst>
          </p:cNvPr>
          <p:cNvSpPr txBox="1">
            <a:spLocks/>
          </p:cNvSpPr>
          <p:nvPr/>
        </p:nvSpPr>
        <p:spPr>
          <a:xfrm>
            <a:off x="190500" y="990600"/>
            <a:ext cx="8763000" cy="5334000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 virtual function is a member function declared using the keyword virtual.</a:t>
            </a:r>
          </a:p>
          <a:p>
            <a:r>
              <a:rPr lang="en-US"/>
              <a:t>Allows a derived class to override a base class function.</a:t>
            </a:r>
          </a:p>
          <a:p>
            <a:r>
              <a:rPr lang="en-US"/>
              <a:t>Ensures the correct function is called during runtime.</a:t>
            </a:r>
          </a:p>
          <a:p>
            <a:r>
              <a:rPr lang="en-US" b="1"/>
              <a:t>Why Virtual Function?</a:t>
            </a:r>
          </a:p>
          <a:p>
            <a:pPr lvl="1"/>
            <a:r>
              <a:rPr lang="en-US"/>
              <a:t>Used in </a:t>
            </a:r>
            <a:r>
              <a:rPr lang="en-US" b="1"/>
              <a:t>runtime polymorphism</a:t>
            </a:r>
            <a:r>
              <a:rPr lang="en-US"/>
              <a:t> (late binding).</a:t>
            </a:r>
          </a:p>
          <a:p>
            <a:pPr lvl="1"/>
            <a:r>
              <a:rPr lang="en-US"/>
              <a:t>Essential when using </a:t>
            </a:r>
            <a:r>
              <a:rPr lang="en-US" b="1"/>
              <a:t>base class pointers</a:t>
            </a:r>
            <a:r>
              <a:rPr lang="en-US"/>
              <a:t> to refer to </a:t>
            </a:r>
            <a:r>
              <a:rPr lang="en-US" b="1"/>
              <a:t>derived objects</a:t>
            </a:r>
            <a:r>
              <a:rPr lang="en-US"/>
              <a:t>.</a:t>
            </a:r>
          </a:p>
          <a:p>
            <a:r>
              <a:rPr lang="en-US"/>
              <a:t>Example</a:t>
            </a:r>
          </a:p>
          <a:p>
            <a:pPr lvl="1"/>
            <a:r>
              <a:rPr lang="en-US"/>
              <a:t>class Base {</a:t>
            </a:r>
          </a:p>
          <a:p>
            <a:pPr lvl="1"/>
            <a:r>
              <a:rPr lang="en-US"/>
              <a:t>public:</a:t>
            </a:r>
          </a:p>
          <a:p>
            <a:pPr lvl="1"/>
            <a:r>
              <a:rPr lang="en-US"/>
              <a:t>    virtual void show() {</a:t>
            </a:r>
          </a:p>
          <a:p>
            <a:pPr lvl="1"/>
            <a:r>
              <a:rPr lang="en-US"/>
              <a:t>        cout &lt;&lt; "Base class show()" &lt;&lt; endl;</a:t>
            </a:r>
          </a:p>
          <a:p>
            <a:pPr lvl="1"/>
            <a:r>
              <a:rPr lang="en-US"/>
              <a:t>    }</a:t>
            </a:r>
          </a:p>
          <a:p>
            <a:pPr lvl="1"/>
            <a:r>
              <a:rPr lang="en-US"/>
              <a:t>};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49174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7E4505-20F8-4ECD-AF57-75C8DE38C3F1}"/>
              </a:ext>
            </a:extLst>
          </p:cNvPr>
          <p:cNvSpPr/>
          <p:nvPr/>
        </p:nvSpPr>
        <p:spPr>
          <a:xfrm>
            <a:off x="3368234" y="2398007"/>
            <a:ext cx="5455532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4059078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425</TotalTime>
  <Words>3445</Words>
  <Application>Microsoft Office PowerPoint</Application>
  <PresentationFormat>Widescreen</PresentationFormat>
  <Paragraphs>662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6" baseType="lpstr">
      <vt:lpstr>Arial</vt:lpstr>
      <vt:lpstr>Calibri</vt:lpstr>
      <vt:lpstr>Calibri Light</vt:lpstr>
      <vt:lpstr>Consolas</vt:lpstr>
      <vt:lpstr>Courier New</vt:lpstr>
      <vt:lpstr>Times New Roman</vt:lpstr>
      <vt:lpstr>Wingdings</vt:lpstr>
      <vt:lpstr>Retrospect</vt:lpstr>
      <vt:lpstr>Chapter - 4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- 1</dc:title>
  <dc:creator>CSE-10</dc:creator>
  <cp:lastModifiedBy>CSE-3</cp:lastModifiedBy>
  <cp:revision>127</cp:revision>
  <dcterms:created xsi:type="dcterms:W3CDTF">2025-07-02T05:47:51Z</dcterms:created>
  <dcterms:modified xsi:type="dcterms:W3CDTF">2025-07-18T10:16:41Z</dcterms:modified>
</cp:coreProperties>
</file>