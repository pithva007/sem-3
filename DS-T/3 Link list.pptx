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4"/>
  </p:notesMasterIdLst>
  <p:handoutMasterIdLst>
    <p:handoutMasterId r:id="rId75"/>
  </p:handoutMasterIdLst>
  <p:sldIdLst>
    <p:sldId id="283" r:id="rId2"/>
    <p:sldId id="301" r:id="rId3"/>
    <p:sldId id="374" r:id="rId4"/>
    <p:sldId id="302" r:id="rId5"/>
    <p:sldId id="375" r:id="rId6"/>
    <p:sldId id="303" r:id="rId7"/>
    <p:sldId id="304" r:id="rId8"/>
    <p:sldId id="305" r:id="rId9"/>
    <p:sldId id="307" r:id="rId10"/>
    <p:sldId id="309" r:id="rId11"/>
    <p:sldId id="310" r:id="rId12"/>
    <p:sldId id="311" r:id="rId13"/>
    <p:sldId id="312" r:id="rId14"/>
    <p:sldId id="313" r:id="rId15"/>
    <p:sldId id="367" r:id="rId16"/>
    <p:sldId id="314" r:id="rId17"/>
    <p:sldId id="315" r:id="rId18"/>
    <p:sldId id="316" r:id="rId19"/>
    <p:sldId id="317" r:id="rId20"/>
    <p:sldId id="318" r:id="rId21"/>
    <p:sldId id="319" r:id="rId22"/>
    <p:sldId id="320" r:id="rId23"/>
    <p:sldId id="321" r:id="rId24"/>
    <p:sldId id="322" r:id="rId25"/>
    <p:sldId id="323" r:id="rId26"/>
    <p:sldId id="377" r:id="rId27"/>
    <p:sldId id="378" r:id="rId28"/>
    <p:sldId id="324" r:id="rId29"/>
    <p:sldId id="325" r:id="rId30"/>
    <p:sldId id="326" r:id="rId31"/>
    <p:sldId id="327" r:id="rId32"/>
    <p:sldId id="329" r:id="rId33"/>
    <p:sldId id="330" r:id="rId34"/>
    <p:sldId id="332" r:id="rId35"/>
    <p:sldId id="379" r:id="rId36"/>
    <p:sldId id="380" r:id="rId37"/>
    <p:sldId id="381" r:id="rId38"/>
    <p:sldId id="382" r:id="rId39"/>
    <p:sldId id="383" r:id="rId40"/>
    <p:sldId id="384" r:id="rId41"/>
    <p:sldId id="385" r:id="rId42"/>
    <p:sldId id="386" r:id="rId43"/>
    <p:sldId id="387" r:id="rId44"/>
    <p:sldId id="376" r:id="rId45"/>
    <p:sldId id="333" r:id="rId46"/>
    <p:sldId id="334" r:id="rId47"/>
    <p:sldId id="336" r:id="rId48"/>
    <p:sldId id="337" r:id="rId49"/>
    <p:sldId id="339" r:id="rId50"/>
    <p:sldId id="340" r:id="rId51"/>
    <p:sldId id="342" r:id="rId52"/>
    <p:sldId id="343" r:id="rId53"/>
    <p:sldId id="344" r:id="rId54"/>
    <p:sldId id="345" r:id="rId55"/>
    <p:sldId id="346" r:id="rId56"/>
    <p:sldId id="347" r:id="rId57"/>
    <p:sldId id="348" r:id="rId58"/>
    <p:sldId id="356" r:id="rId59"/>
    <p:sldId id="357" r:id="rId60"/>
    <p:sldId id="358" r:id="rId61"/>
    <p:sldId id="359" r:id="rId62"/>
    <p:sldId id="360" r:id="rId63"/>
    <p:sldId id="361" r:id="rId64"/>
    <p:sldId id="368" r:id="rId65"/>
    <p:sldId id="362" r:id="rId66"/>
    <p:sldId id="365" r:id="rId67"/>
    <p:sldId id="369" r:id="rId68"/>
    <p:sldId id="370" r:id="rId69"/>
    <p:sldId id="371" r:id="rId70"/>
    <p:sldId id="372" r:id="rId71"/>
    <p:sldId id="373" r:id="rId72"/>
    <p:sldId id="366" r:id="rId73"/>
  </p:sldIdLst>
  <p:sldSz cx="12192000" cy="6858000"/>
  <p:notesSz cx="6858000" cy="9144000"/>
  <p:embeddedFontLst>
    <p:embeddedFont>
      <p:font typeface="Calibri" panose="020F0502020204030204" pitchFamily="34" charset="0"/>
      <p:regular r:id="rId76"/>
      <p:bold r:id="rId77"/>
      <p:italic r:id="rId78"/>
      <p:boldItalic r:id="rId79"/>
    </p:embeddedFont>
    <p:embeddedFont>
      <p:font typeface="Cambria Math" panose="02040503050406030204" pitchFamily="18" charset="0"/>
      <p:regular r:id="rId80"/>
    </p:embeddedFont>
    <p:embeddedFont>
      <p:font typeface="Consolas" panose="020B0609020204030204" pitchFamily="49" charset="0"/>
      <p:regular r:id="rId81"/>
      <p:bold r:id="rId82"/>
      <p:italic r:id="rId83"/>
      <p:boldItalic r:id="rId84"/>
    </p:embeddedFont>
    <p:embeddedFont>
      <p:font typeface="Roboto Condensed" pitchFamily="2" charset="0"/>
      <p:regular r:id="rId85"/>
      <p:bold r:id="rId86"/>
      <p:italic r:id="rId87"/>
      <p:boldItalic r:id="rId88"/>
    </p:embeddedFont>
    <p:embeddedFont>
      <p:font typeface="Wingdings 3" panose="05040102010807070707" pitchFamily="18" charset="2"/>
      <p:regular r:id="rId8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4742"/>
    <a:srgbClr val="2FA0AE"/>
    <a:srgbClr val="558ED5"/>
    <a:srgbClr val="5C0000"/>
    <a:srgbClr val="1D3064"/>
    <a:srgbClr val="F54337"/>
    <a:srgbClr val="ED524F"/>
    <a:srgbClr val="3366FF"/>
    <a:srgbClr val="301B92"/>
    <a:srgbClr val="673B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03" autoAdjust="0"/>
    <p:restoredTop sz="94660"/>
  </p:normalViewPr>
  <p:slideViewPr>
    <p:cSldViewPr snapToGrid="0">
      <p:cViewPr varScale="1">
        <p:scale>
          <a:sx n="66" d="100"/>
          <a:sy n="66" d="100"/>
        </p:scale>
        <p:origin x="816" y="32"/>
      </p:cViewPr>
      <p:guideLst/>
    </p:cSldViewPr>
  </p:slideViewPr>
  <p:notesTextViewPr>
    <p:cViewPr>
      <p:scale>
        <a:sx n="1" d="1"/>
        <a:sy n="1" d="1"/>
      </p:scale>
      <p:origin x="0" y="0"/>
    </p:cViewPr>
  </p:notesTextViewPr>
  <p:notesViewPr>
    <p:cSldViewPr snapToGrid="0">
      <p:cViewPr varScale="1">
        <p:scale>
          <a:sx n="54" d="100"/>
          <a:sy n="54" d="100"/>
        </p:scale>
        <p:origin x="1944" y="4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5.fntdata"/><Relationship Id="rId85" Type="http://schemas.openxmlformats.org/officeDocument/2006/relationships/font" Target="fonts/font10.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87FD0-6366-498E-B5AA-8D5EAADA1318}" type="datetimeFigureOut">
              <a:rPr lang="en-IN" smtClean="0"/>
              <a:t>05-08-2025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D5F676-4FC3-4D3C-BE37-3352AFB195B1}" type="slidenum">
              <a:rPr lang="en-IN" smtClean="0"/>
              <a:t>‹#›</a:t>
            </a:fld>
            <a:endParaRPr lang="en-IN"/>
          </a:p>
        </p:txBody>
      </p:sp>
    </p:spTree>
    <p:extLst>
      <p:ext uri="{BB962C8B-B14F-4D97-AF65-F5344CB8AC3E}">
        <p14:creationId xmlns:p14="http://schemas.microsoft.com/office/powerpoint/2010/main" val="107242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1" name="Picture 30"/>
          <p:cNvPicPr>
            <a:picLocks noChangeAspect="1"/>
          </p:cNvPicPr>
          <p:nvPr userDrawn="1"/>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239853" y="2673461"/>
            <a:ext cx="4818221" cy="1453114"/>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hank You Slide - Default Colo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701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2"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14000"/>
              </a:lnSpc>
              <a:buClr>
                <a:schemeClr val="accent6"/>
              </a:buClr>
              <a:buFont typeface="Wingdings 3" panose="05040102010807070707" pitchFamily="18" charset="2"/>
              <a:buChar char=""/>
              <a:defRPr sz="2400">
                <a:solidFill>
                  <a:schemeClr val="tx1"/>
                </a:solidFill>
              </a:defRPr>
            </a:lvl1pPr>
            <a:lvl2pPr marL="809625" indent="-352425" algn="just">
              <a:lnSpc>
                <a:spcPct val="114000"/>
              </a:lnSpc>
              <a:buClr>
                <a:schemeClr val="accent6"/>
              </a:buClr>
              <a:buFont typeface="Wingdings 3" panose="05040102010807070707" pitchFamily="18" charset="2"/>
              <a:buChar char=""/>
              <a:defRPr sz="2000">
                <a:solidFill>
                  <a:schemeClr val="tx1"/>
                </a:solidFill>
              </a:defRPr>
            </a:lvl2pPr>
            <a:lvl3pPr marL="1143000" indent="-228600" algn="just">
              <a:lnSpc>
                <a:spcPct val="114000"/>
              </a:lnSpc>
              <a:buClr>
                <a:schemeClr val="accent6"/>
              </a:buClr>
              <a:buFont typeface="Wingdings" panose="05000000000000000000" pitchFamily="2" charset="2"/>
              <a:buChar char="§"/>
              <a:defRPr sz="1800">
                <a:solidFill>
                  <a:schemeClr val="tx1"/>
                </a:solidFill>
              </a:defRPr>
            </a:lvl3pPr>
            <a:lvl4pPr algn="just">
              <a:lnSpc>
                <a:spcPct val="114000"/>
              </a:lnSpc>
              <a:buClr>
                <a:schemeClr val="accent6"/>
              </a:buClr>
              <a:defRPr sz="1600">
                <a:solidFill>
                  <a:schemeClr val="tx1"/>
                </a:solidFill>
              </a:defRPr>
            </a:lvl4pPr>
            <a:lvl5pPr algn="just">
              <a:lnSpc>
                <a:spcPct val="114000"/>
              </a:lnSpc>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125"/>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14000"/>
              </a:lnSpc>
              <a:spcBef>
                <a:spcPts val="1000"/>
              </a:spcBef>
              <a:buClr>
                <a:schemeClr val="accent6"/>
              </a:buClr>
              <a:buFont typeface="Wingdings 3" panose="05040102010807070707" pitchFamily="18" charset="2"/>
              <a:buChar char=""/>
              <a:defRPr sz="2400">
                <a:solidFill>
                  <a:schemeClr val="tx1"/>
                </a:solidFill>
              </a:defRPr>
            </a:lvl1pPr>
            <a:lvl2pPr marL="809625" indent="-352425" algn="just">
              <a:lnSpc>
                <a:spcPct val="114000"/>
              </a:lnSpc>
              <a:spcBef>
                <a:spcPts val="1000"/>
              </a:spcBef>
              <a:buClr>
                <a:schemeClr val="accent6"/>
              </a:buClr>
              <a:buFont typeface="Wingdings 3" panose="05040102010807070707" pitchFamily="18" charset="2"/>
              <a:buChar char=""/>
              <a:defRPr sz="2000">
                <a:solidFill>
                  <a:schemeClr val="tx1"/>
                </a:solidFill>
              </a:defRPr>
            </a:lvl2pPr>
            <a:lvl3pPr marL="1143000" indent="-228600" algn="just">
              <a:lnSpc>
                <a:spcPct val="114000"/>
              </a:lnSpc>
              <a:spcBef>
                <a:spcPts val="1000"/>
              </a:spcBef>
              <a:buClr>
                <a:schemeClr val="accent6"/>
              </a:buClr>
              <a:buFont typeface="Wingdings" panose="05000000000000000000" pitchFamily="2" charset="2"/>
              <a:buChar char="§"/>
              <a:defRPr sz="1800">
                <a:solidFill>
                  <a:schemeClr val="tx1"/>
                </a:solidFill>
              </a:defRPr>
            </a:lvl3pPr>
            <a:lvl4pPr algn="just">
              <a:lnSpc>
                <a:spcPct val="114000"/>
              </a:lnSpc>
              <a:spcBef>
                <a:spcPts val="1000"/>
              </a:spcBef>
              <a:buClr>
                <a:schemeClr val="accent6"/>
              </a:buClr>
              <a:defRPr sz="1600">
                <a:solidFill>
                  <a:schemeClr val="tx1"/>
                </a:solidFill>
              </a:defRPr>
            </a:lvl4pPr>
            <a:lvl5pPr algn="just">
              <a:lnSpc>
                <a:spcPct val="114000"/>
              </a:lnSpc>
              <a:spcBef>
                <a:spcPts val="1000"/>
              </a:spcBef>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2"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8/5/2025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3" r:id="rId2"/>
    <p:sldLayoutId id="2147483670" r:id="rId3"/>
    <p:sldLayoutId id="2147483687" r:id="rId4"/>
    <p:sldLayoutId id="214748368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60510" cy="2563094"/>
          </a:xfrm>
        </p:spPr>
        <p:txBody>
          <a:bodyPr/>
          <a:lstStyle/>
          <a:p>
            <a:br>
              <a:rPr lang="en-US" sz="6000" dirty="0"/>
            </a:br>
            <a:r>
              <a:rPr lang="en-US" sz="6000" dirty="0"/>
              <a:t>Linear Data Structure (Linked List)</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Oval 6">
            <a:extLst>
              <a:ext uri="{FF2B5EF4-FFF2-40B4-BE49-F238E27FC236}">
                <a16:creationId xmlns:a16="http://schemas.microsoft.com/office/drawing/2014/main" id="{A6E485BB-67F6-4A16-8796-9C13A2143F70}"/>
              </a:ext>
            </a:extLst>
          </p:cNvPr>
          <p:cNvSpPr/>
          <p:nvPr/>
        </p:nvSpPr>
        <p:spPr>
          <a:xfrm>
            <a:off x="3426594" y="51013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FD9CE6F-1CF0-44C2-AFD5-E4DDFBDA4D1B}"/>
              </a:ext>
            </a:extLst>
          </p:cNvPr>
          <p:cNvSpPr txBox="1"/>
          <p:nvPr/>
        </p:nvSpPr>
        <p:spPr>
          <a:xfrm>
            <a:off x="0" y="6488668"/>
            <a:ext cx="10876547" cy="369332"/>
          </a:xfrm>
          <a:prstGeom prst="rect">
            <a:avLst/>
          </a:prstGeom>
          <a:noFill/>
        </p:spPr>
        <p:txBody>
          <a:bodyPr wrap="square" rtlCol="0">
            <a:spAutoFit/>
          </a:bodyPr>
          <a:lstStyle/>
          <a:p>
            <a:r>
              <a:rPr lang="en-IN" dirty="0"/>
              <a:t>Source: Internet, NPTEL, reference book etc. </a:t>
            </a:r>
          </a:p>
        </p:txBody>
      </p:sp>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Linked Storage Representation</a:t>
            </a:r>
          </a:p>
        </p:txBody>
      </p:sp>
      <p:sp>
        <p:nvSpPr>
          <p:cNvPr id="3" name="Content Placeholder 2"/>
          <p:cNvSpPr>
            <a:spLocks noGrp="1"/>
          </p:cNvSpPr>
          <p:nvPr>
            <p:ph idx="1"/>
          </p:nvPr>
        </p:nvSpPr>
        <p:spPr/>
        <p:txBody>
          <a:bodyPr/>
          <a:lstStyle/>
          <a:p>
            <a:r>
              <a:rPr lang="en-IN" dirty="0"/>
              <a:t>There are many applications where </a:t>
            </a:r>
            <a:r>
              <a:rPr lang="en-IN" b="1" dirty="0"/>
              <a:t>sequential allocation </a:t>
            </a:r>
            <a:r>
              <a:rPr lang="en-IN" dirty="0"/>
              <a:t>method is </a:t>
            </a:r>
            <a:r>
              <a:rPr lang="en-IN" b="1" dirty="0"/>
              <a:t>unacceptable</a:t>
            </a:r>
            <a:r>
              <a:rPr lang="en-IN" dirty="0"/>
              <a:t> because of following characteristics</a:t>
            </a:r>
          </a:p>
          <a:p>
            <a:pPr lvl="1"/>
            <a:r>
              <a:rPr lang="en-IN" b="1" dirty="0">
                <a:solidFill>
                  <a:srgbClr val="C00000"/>
                </a:solidFill>
              </a:rPr>
              <a:t>Unpredictable storage</a:t>
            </a:r>
            <a:r>
              <a:rPr lang="en-IN" b="1" dirty="0">
                <a:solidFill>
                  <a:srgbClr val="FF0000"/>
                </a:solidFill>
              </a:rPr>
              <a:t> </a:t>
            </a:r>
            <a:r>
              <a:rPr lang="en-IN" dirty="0"/>
              <a:t>requirement</a:t>
            </a:r>
          </a:p>
          <a:p>
            <a:pPr lvl="1"/>
            <a:r>
              <a:rPr lang="en-IN" b="1" dirty="0">
                <a:solidFill>
                  <a:srgbClr val="C00000"/>
                </a:solidFill>
              </a:rPr>
              <a:t>Extensive manipulation</a:t>
            </a:r>
            <a:r>
              <a:rPr lang="en-IN" b="1" dirty="0">
                <a:solidFill>
                  <a:srgbClr val="FF0000"/>
                </a:solidFill>
              </a:rPr>
              <a:t> </a:t>
            </a:r>
            <a:r>
              <a:rPr lang="en-IN" dirty="0"/>
              <a:t>of stored data</a:t>
            </a:r>
          </a:p>
          <a:p>
            <a:r>
              <a:rPr lang="en-IN" dirty="0"/>
              <a:t>One method of obtaining the address of node is to store address in computer’s main memory, we refer this addressing mode as </a:t>
            </a:r>
            <a:r>
              <a:rPr lang="en-IN" b="1" dirty="0">
                <a:solidFill>
                  <a:srgbClr val="C00000"/>
                </a:solidFill>
              </a:rPr>
              <a:t>pointer of link addressing</a:t>
            </a:r>
            <a:r>
              <a:rPr lang="en-IN" dirty="0"/>
              <a:t>.</a:t>
            </a:r>
          </a:p>
          <a:p>
            <a:r>
              <a:rPr lang="en-IN" dirty="0"/>
              <a:t>A simple way to represent a linear list is to expand each node to contain a link or pointer to the next node. This representation is called one-way chain or Singly Linked Linear List.</a:t>
            </a:r>
          </a:p>
          <a:p>
            <a:endParaRPr lang="en-IN" dirty="0"/>
          </a:p>
          <a:p>
            <a:endParaRPr lang="en-US" dirty="0"/>
          </a:p>
        </p:txBody>
      </p:sp>
    </p:spTree>
    <p:extLst>
      <p:ext uri="{BB962C8B-B14F-4D97-AF65-F5344CB8AC3E}">
        <p14:creationId xmlns:p14="http://schemas.microsoft.com/office/powerpoint/2010/main" val="119339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63D4F-2C17-4315-A4BF-AEC711302B31}"/>
              </a:ext>
            </a:extLst>
          </p:cNvPr>
          <p:cNvSpPr>
            <a:spLocks noGrp="1"/>
          </p:cNvSpPr>
          <p:nvPr>
            <p:ph type="title"/>
          </p:nvPr>
        </p:nvSpPr>
        <p:spPr/>
        <p:txBody>
          <a:bodyPr/>
          <a:lstStyle/>
          <a:p>
            <a:r>
              <a:rPr lang="en-IN" dirty="0"/>
              <a:t>Array: Contagious Storage </a:t>
            </a:r>
          </a:p>
        </p:txBody>
      </p:sp>
      <p:sp>
        <p:nvSpPr>
          <p:cNvPr id="3" name="Content Placeholder 2">
            <a:extLst>
              <a:ext uri="{FF2B5EF4-FFF2-40B4-BE49-F238E27FC236}">
                <a16:creationId xmlns:a16="http://schemas.microsoft.com/office/drawing/2014/main" id="{2F34CDD4-9639-4A5B-81F2-97EE259CE343}"/>
              </a:ext>
            </a:extLst>
          </p:cNvPr>
          <p:cNvSpPr>
            <a:spLocks noGrp="1"/>
          </p:cNvSpPr>
          <p:nvPr>
            <p:ph idx="1"/>
          </p:nvPr>
        </p:nvSpPr>
        <p:spPr/>
        <p:txBody>
          <a:bodyPr/>
          <a:lstStyle/>
          <a:p>
            <a:pPr marL="0" indent="0">
              <a:buNone/>
            </a:pPr>
            <a:r>
              <a:rPr lang="en-US" dirty="0"/>
              <a:t>In arrays</a:t>
            </a:r>
          </a:p>
          <a:p>
            <a:r>
              <a:rPr lang="en-US" dirty="0"/>
              <a:t>elements are stored in a contagious memory locations</a:t>
            </a:r>
          </a:p>
          <a:p>
            <a:r>
              <a:rPr lang="en-US" dirty="0"/>
              <a:t>Arrays are static data structure unless we use dynamic memory allocation   </a:t>
            </a:r>
          </a:p>
          <a:p>
            <a:r>
              <a:rPr lang="en-US" dirty="0"/>
              <a:t> Arrays are suitable for</a:t>
            </a:r>
          </a:p>
          <a:p>
            <a:pPr lvl="1">
              <a:buFont typeface="Wingdings" panose="05000000000000000000" pitchFamily="2" charset="2"/>
              <a:buChar char="Ø"/>
            </a:pPr>
            <a:r>
              <a:rPr lang="en-US" dirty="0"/>
              <a:t>	Inserting/deleting an element at the end.</a:t>
            </a:r>
          </a:p>
          <a:p>
            <a:pPr lvl="1">
              <a:buFont typeface="Wingdings" panose="05000000000000000000" pitchFamily="2" charset="2"/>
              <a:buChar char="Ø"/>
            </a:pPr>
            <a:r>
              <a:rPr lang="en-US" dirty="0"/>
              <a:t>	Randomly accessing any element. </a:t>
            </a:r>
          </a:p>
          <a:p>
            <a:pPr lvl="1">
              <a:buFont typeface="Wingdings" panose="05000000000000000000" pitchFamily="2" charset="2"/>
              <a:buChar char="Ø"/>
            </a:pPr>
            <a:r>
              <a:rPr lang="en-US" dirty="0"/>
              <a:t>	Searching the list for a particular value.</a:t>
            </a:r>
          </a:p>
          <a:p>
            <a:endParaRPr lang="en-IN" dirty="0"/>
          </a:p>
        </p:txBody>
      </p:sp>
      <p:pic>
        <p:nvPicPr>
          <p:cNvPr id="4" name="Picture 3">
            <a:extLst>
              <a:ext uri="{FF2B5EF4-FFF2-40B4-BE49-F238E27FC236}">
                <a16:creationId xmlns:a16="http://schemas.microsoft.com/office/drawing/2014/main" id="{EB89EFD9-DA98-4DB3-814A-912FC57B4871}"/>
              </a:ext>
            </a:extLst>
          </p:cNvPr>
          <p:cNvPicPr>
            <a:picLocks noChangeAspect="1"/>
          </p:cNvPicPr>
          <p:nvPr/>
        </p:nvPicPr>
        <p:blipFill>
          <a:blip r:embed="rId2"/>
          <a:stretch>
            <a:fillRect/>
          </a:stretch>
        </p:blipFill>
        <p:spPr>
          <a:xfrm>
            <a:off x="9514478" y="778597"/>
            <a:ext cx="2160240" cy="5093899"/>
          </a:xfrm>
          <a:prstGeom prst="rect">
            <a:avLst/>
          </a:prstGeom>
        </p:spPr>
      </p:pic>
    </p:spTree>
    <p:extLst>
      <p:ext uri="{BB962C8B-B14F-4D97-AF65-F5344CB8AC3E}">
        <p14:creationId xmlns:p14="http://schemas.microsoft.com/office/powerpoint/2010/main" val="270544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Linked Storage Representation</a:t>
            </a:r>
          </a:p>
        </p:txBody>
      </p:sp>
      <p:sp>
        <p:nvSpPr>
          <p:cNvPr id="3" name="Content Placeholder 2"/>
          <p:cNvSpPr>
            <a:spLocks noGrp="1"/>
          </p:cNvSpPr>
          <p:nvPr>
            <p:ph idx="1"/>
          </p:nvPr>
        </p:nvSpPr>
        <p:spPr>
          <a:xfrm>
            <a:off x="131180" y="2780268"/>
            <a:ext cx="11929641" cy="3673741"/>
          </a:xfrm>
        </p:spPr>
        <p:txBody>
          <a:bodyPr/>
          <a:lstStyle/>
          <a:p>
            <a:r>
              <a:rPr lang="en-IN" dirty="0"/>
              <a:t>The linked allocation method of storage can result in both efficient use of computer storage and computer time.</a:t>
            </a:r>
          </a:p>
          <a:p>
            <a:pPr lvl="1"/>
            <a:r>
              <a:rPr lang="en-IN" dirty="0"/>
              <a:t>A linked list is a </a:t>
            </a:r>
            <a:r>
              <a:rPr lang="en-IN" b="1" dirty="0">
                <a:solidFill>
                  <a:srgbClr val="C00000"/>
                </a:solidFill>
              </a:rPr>
              <a:t>non-sequential collection</a:t>
            </a:r>
            <a:r>
              <a:rPr lang="en-IN" b="1" dirty="0">
                <a:solidFill>
                  <a:srgbClr val="FF0000"/>
                </a:solidFill>
              </a:rPr>
              <a:t> </a:t>
            </a:r>
            <a:r>
              <a:rPr lang="en-IN" dirty="0"/>
              <a:t>of data items.</a:t>
            </a:r>
          </a:p>
          <a:p>
            <a:pPr lvl="1"/>
            <a:r>
              <a:rPr lang="en-IN" dirty="0"/>
              <a:t>Each </a:t>
            </a:r>
            <a:r>
              <a:rPr lang="en-IN" b="1" dirty="0"/>
              <a:t>node</a:t>
            </a:r>
            <a:r>
              <a:rPr lang="en-IN" dirty="0"/>
              <a:t> is </a:t>
            </a:r>
            <a:r>
              <a:rPr lang="en-IN" b="1" dirty="0"/>
              <a:t>divided</a:t>
            </a:r>
            <a:r>
              <a:rPr lang="en-IN" dirty="0"/>
              <a:t> into </a:t>
            </a:r>
            <a:r>
              <a:rPr lang="en-IN" b="1" dirty="0"/>
              <a:t>two parts</a:t>
            </a:r>
            <a:r>
              <a:rPr lang="en-IN" dirty="0"/>
              <a:t>, the </a:t>
            </a:r>
            <a:r>
              <a:rPr lang="en-IN" b="1" dirty="0"/>
              <a:t>first part </a:t>
            </a:r>
            <a:r>
              <a:rPr lang="en-IN" dirty="0"/>
              <a:t>represents the </a:t>
            </a:r>
            <a:r>
              <a:rPr lang="en-IN" b="1" dirty="0">
                <a:solidFill>
                  <a:srgbClr val="FF0000"/>
                </a:solidFill>
              </a:rPr>
              <a:t>information</a:t>
            </a:r>
            <a:r>
              <a:rPr lang="en-IN" dirty="0"/>
              <a:t> of the element and the </a:t>
            </a:r>
            <a:r>
              <a:rPr lang="en-IN" b="1" dirty="0"/>
              <a:t>second part </a:t>
            </a:r>
            <a:r>
              <a:rPr lang="en-IN" dirty="0"/>
              <a:t>contains the </a:t>
            </a:r>
            <a:r>
              <a:rPr lang="en-IN" b="1" dirty="0">
                <a:solidFill>
                  <a:srgbClr val="FF0000"/>
                </a:solidFill>
              </a:rPr>
              <a:t>address</a:t>
            </a:r>
            <a:r>
              <a:rPr lang="en-IN" b="1" dirty="0"/>
              <a:t> of the next mode</a:t>
            </a:r>
            <a:r>
              <a:rPr lang="en-IN" dirty="0"/>
              <a:t>.</a:t>
            </a:r>
          </a:p>
          <a:p>
            <a:pPr lvl="1"/>
            <a:r>
              <a:rPr lang="en-IN" dirty="0"/>
              <a:t>The </a:t>
            </a:r>
            <a:r>
              <a:rPr lang="en-IN" b="1" dirty="0"/>
              <a:t>last node </a:t>
            </a:r>
            <a:r>
              <a:rPr lang="en-IN" dirty="0"/>
              <a:t>of the list does not have successor node, so </a:t>
            </a:r>
            <a:r>
              <a:rPr lang="en-IN" b="1" dirty="0">
                <a:solidFill>
                  <a:srgbClr val="FF0000"/>
                </a:solidFill>
              </a:rPr>
              <a:t>null </a:t>
            </a:r>
            <a:r>
              <a:rPr lang="en-IN" b="1" dirty="0"/>
              <a:t>value </a:t>
            </a:r>
            <a:r>
              <a:rPr lang="en-IN" dirty="0"/>
              <a:t>is stored as the address.</a:t>
            </a:r>
          </a:p>
          <a:p>
            <a:pPr lvl="1"/>
            <a:r>
              <a:rPr lang="en-IN" dirty="0"/>
              <a:t>It is possible for a list to have no nodes at all, such a list is called empty list.</a:t>
            </a:r>
          </a:p>
          <a:p>
            <a:pPr lvl="1"/>
            <a:r>
              <a:rPr lang="en-US" dirty="0"/>
              <a:t>There is a pointer (called </a:t>
            </a:r>
            <a:r>
              <a:rPr lang="en-US" dirty="0">
                <a:solidFill>
                  <a:srgbClr val="C00000"/>
                </a:solidFill>
              </a:rPr>
              <a:t>header</a:t>
            </a:r>
            <a:r>
              <a:rPr lang="en-US" dirty="0"/>
              <a:t>) points the first element (also called node)</a:t>
            </a:r>
          </a:p>
        </p:txBody>
      </p:sp>
      <p:grpSp>
        <p:nvGrpSpPr>
          <p:cNvPr id="4" name="Group 3"/>
          <p:cNvGrpSpPr/>
          <p:nvPr/>
        </p:nvGrpSpPr>
        <p:grpSpPr>
          <a:xfrm>
            <a:off x="2475919" y="1330376"/>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4411358" y="1330376"/>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6316358" y="1330376"/>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8221358" y="1330376"/>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4008162" y="1597076"/>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5943600" y="1597076"/>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7848600" y="1597076"/>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8983358" y="1330376"/>
            <a:ext cx="770242"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0" name="TextBox 19"/>
          <p:cNvSpPr txBox="1"/>
          <p:nvPr/>
        </p:nvSpPr>
        <p:spPr>
          <a:xfrm>
            <a:off x="5237752" y="2203871"/>
            <a:ext cx="1716496" cy="461665"/>
          </a:xfrm>
          <a:prstGeom prst="rect">
            <a:avLst/>
          </a:prstGeom>
          <a:noFill/>
        </p:spPr>
        <p:txBody>
          <a:bodyPr wrap="none" rtlCol="0">
            <a:spAutoFit/>
          </a:bodyPr>
          <a:lstStyle/>
          <a:p>
            <a:r>
              <a:rPr lang="en-IN" sz="2400" b="1" dirty="0"/>
              <a:t>A linked List</a:t>
            </a:r>
            <a:endParaRPr lang="en-US" sz="2400" b="1" dirty="0"/>
          </a:p>
        </p:txBody>
      </p:sp>
      <p:sp>
        <p:nvSpPr>
          <p:cNvPr id="21" name="TextBox 20"/>
          <p:cNvSpPr txBox="1"/>
          <p:nvPr/>
        </p:nvSpPr>
        <p:spPr>
          <a:xfrm>
            <a:off x="4869727" y="1844483"/>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22" name="TextBox 21"/>
          <p:cNvSpPr txBox="1"/>
          <p:nvPr/>
        </p:nvSpPr>
        <p:spPr>
          <a:xfrm>
            <a:off x="6776342" y="1857734"/>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23" name="TextBox 22"/>
          <p:cNvSpPr txBox="1"/>
          <p:nvPr/>
        </p:nvSpPr>
        <p:spPr>
          <a:xfrm>
            <a:off x="8704460" y="1857734"/>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24" name="TextBox 23"/>
          <p:cNvSpPr txBox="1"/>
          <p:nvPr/>
        </p:nvSpPr>
        <p:spPr>
          <a:xfrm>
            <a:off x="2939837" y="1856151"/>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25" name="TextBox 24"/>
          <p:cNvSpPr txBox="1"/>
          <p:nvPr/>
        </p:nvSpPr>
        <p:spPr>
          <a:xfrm>
            <a:off x="3309658" y="1418244"/>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26" name="TextBox 25"/>
          <p:cNvSpPr txBox="1"/>
          <p:nvPr/>
        </p:nvSpPr>
        <p:spPr>
          <a:xfrm>
            <a:off x="5234536" y="1406576"/>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27" name="TextBox 26"/>
          <p:cNvSpPr txBox="1"/>
          <p:nvPr/>
        </p:nvSpPr>
        <p:spPr>
          <a:xfrm>
            <a:off x="7146163" y="1406576"/>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cxnSp>
        <p:nvCxnSpPr>
          <p:cNvPr id="29" name="Straight Arrow Connector 28"/>
          <p:cNvCxnSpPr>
            <a:endCxn id="15" idx="0"/>
          </p:cNvCxnSpPr>
          <p:nvPr/>
        </p:nvCxnSpPr>
        <p:spPr>
          <a:xfrm>
            <a:off x="9372600" y="1101776"/>
            <a:ext cx="0" cy="2286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3" name="Straight Connector 32"/>
          <p:cNvCxnSpPr/>
          <p:nvPr/>
        </p:nvCxnSpPr>
        <p:spPr>
          <a:xfrm>
            <a:off x="9372600" y="1101776"/>
            <a:ext cx="3810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35" name="TextBox 34"/>
          <p:cNvSpPr txBox="1"/>
          <p:nvPr/>
        </p:nvSpPr>
        <p:spPr>
          <a:xfrm>
            <a:off x="9760153" y="793378"/>
            <a:ext cx="736099" cy="646331"/>
          </a:xfrm>
          <a:prstGeom prst="rect">
            <a:avLst/>
          </a:prstGeom>
          <a:noFill/>
        </p:spPr>
        <p:txBody>
          <a:bodyPr wrap="none" rtlCol="0">
            <a:spAutoFit/>
          </a:bodyPr>
          <a:lstStyle/>
          <a:p>
            <a:r>
              <a:rPr lang="en-IN" b="1" dirty="0">
                <a:solidFill>
                  <a:srgbClr val="C00000"/>
                </a:solidFill>
              </a:rPr>
              <a:t>NULL </a:t>
            </a:r>
            <a:br>
              <a:rPr lang="en-IN" b="1" dirty="0">
                <a:solidFill>
                  <a:srgbClr val="C00000"/>
                </a:solidFill>
              </a:rPr>
            </a:br>
            <a:r>
              <a:rPr lang="en-IN" b="1" dirty="0">
                <a:solidFill>
                  <a:srgbClr val="C00000"/>
                </a:solidFill>
              </a:rPr>
              <a:t>Value</a:t>
            </a:r>
            <a:endParaRPr lang="en-US" b="1" dirty="0">
              <a:solidFill>
                <a:srgbClr val="C00000"/>
              </a:solidFill>
            </a:endParaRPr>
          </a:p>
        </p:txBody>
      </p:sp>
      <p:sp>
        <p:nvSpPr>
          <p:cNvPr id="36" name="TextBox 35"/>
          <p:cNvSpPr txBox="1"/>
          <p:nvPr/>
        </p:nvSpPr>
        <p:spPr>
          <a:xfrm>
            <a:off x="8233365" y="958551"/>
            <a:ext cx="1132682" cy="369332"/>
          </a:xfrm>
          <a:prstGeom prst="rect">
            <a:avLst/>
          </a:prstGeom>
          <a:noFill/>
        </p:spPr>
        <p:txBody>
          <a:bodyPr wrap="none" rtlCol="0">
            <a:spAutoFit/>
          </a:bodyPr>
          <a:lstStyle/>
          <a:p>
            <a:r>
              <a:rPr lang="en-IN" b="1" dirty="0"/>
              <a:t>Last Node</a:t>
            </a:r>
            <a:endParaRPr lang="en-US" b="1" dirty="0"/>
          </a:p>
        </p:txBody>
      </p:sp>
      <p:sp>
        <p:nvSpPr>
          <p:cNvPr id="32" name="TextBox 31">
            <a:extLst>
              <a:ext uri="{FF2B5EF4-FFF2-40B4-BE49-F238E27FC236}">
                <a16:creationId xmlns:a16="http://schemas.microsoft.com/office/drawing/2014/main" id="{EC5BEE8E-EE26-4253-BD4F-D28E66956832}"/>
              </a:ext>
            </a:extLst>
          </p:cNvPr>
          <p:cNvSpPr txBox="1"/>
          <p:nvPr/>
        </p:nvSpPr>
        <p:spPr>
          <a:xfrm>
            <a:off x="1365179" y="820051"/>
            <a:ext cx="659155" cy="369332"/>
          </a:xfrm>
          <a:prstGeom prst="rect">
            <a:avLst/>
          </a:prstGeom>
          <a:noFill/>
        </p:spPr>
        <p:txBody>
          <a:bodyPr wrap="none" rtlCol="0">
            <a:spAutoFit/>
          </a:bodyPr>
          <a:lstStyle/>
          <a:p>
            <a:r>
              <a:rPr lang="en-IN" b="1" dirty="0">
                <a:solidFill>
                  <a:srgbClr val="C00000"/>
                </a:solidFill>
              </a:rPr>
              <a:t>Head</a:t>
            </a:r>
            <a:endParaRPr lang="en-US" b="1" dirty="0">
              <a:solidFill>
                <a:srgbClr val="C00000"/>
              </a:solidFill>
            </a:endParaRPr>
          </a:p>
        </p:txBody>
      </p:sp>
      <p:cxnSp>
        <p:nvCxnSpPr>
          <p:cNvPr id="34" name="Connector: Elbow 33">
            <a:extLst>
              <a:ext uri="{FF2B5EF4-FFF2-40B4-BE49-F238E27FC236}">
                <a16:creationId xmlns:a16="http://schemas.microsoft.com/office/drawing/2014/main" id="{5DD63206-D99F-450A-A2C2-C5FD89D6A697}"/>
              </a:ext>
            </a:extLst>
          </p:cNvPr>
          <p:cNvCxnSpPr>
            <a:stCxn id="32" idx="2"/>
            <a:endCxn id="5" idx="1"/>
          </p:cNvCxnSpPr>
          <p:nvPr/>
        </p:nvCxnSpPr>
        <p:spPr>
          <a:xfrm rot="16200000" flipH="1">
            <a:off x="1881492" y="1002648"/>
            <a:ext cx="407693" cy="781162"/>
          </a:xfrm>
          <a:prstGeom prst="bentConnector2">
            <a:avLst/>
          </a:prstGeom>
          <a:ln w="38100">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20048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
                                            <p:txEl>
                                              <p:pRg st="5" end="5"/>
                                            </p:tx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p:bldP spid="35" grpId="0"/>
      <p:bldP spid="36"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7B55B-CB56-4016-8648-BC430300A489}"/>
              </a:ext>
            </a:extLst>
          </p:cNvPr>
          <p:cNvSpPr>
            <a:spLocks noGrp="1"/>
          </p:cNvSpPr>
          <p:nvPr>
            <p:ph type="title"/>
          </p:nvPr>
        </p:nvSpPr>
        <p:spPr/>
        <p:txBody>
          <a:bodyPr>
            <a:normAutofit/>
          </a:bodyPr>
          <a:lstStyle/>
          <a:p>
            <a:r>
              <a:rPr lang="en-IN" dirty="0"/>
              <a:t>Array versus Linked Lists</a:t>
            </a:r>
          </a:p>
        </p:txBody>
      </p:sp>
      <p:sp>
        <p:nvSpPr>
          <p:cNvPr id="3" name="Content Placeholder 2">
            <a:extLst>
              <a:ext uri="{FF2B5EF4-FFF2-40B4-BE49-F238E27FC236}">
                <a16:creationId xmlns:a16="http://schemas.microsoft.com/office/drawing/2014/main" id="{EBD39939-C305-4C66-A07C-6A118E4A8E9F}"/>
              </a:ext>
            </a:extLst>
          </p:cNvPr>
          <p:cNvSpPr>
            <a:spLocks noGrp="1"/>
          </p:cNvSpPr>
          <p:nvPr>
            <p:ph idx="1"/>
          </p:nvPr>
        </p:nvSpPr>
        <p:spPr/>
        <p:txBody>
          <a:bodyPr/>
          <a:lstStyle/>
          <a:p>
            <a:pPr marL="0" indent="0">
              <a:buNone/>
            </a:pPr>
            <a:r>
              <a:rPr lang="en-US" dirty="0"/>
              <a:t>In Linked lists </a:t>
            </a:r>
          </a:p>
          <a:p>
            <a:pPr lvl="1"/>
            <a:r>
              <a:rPr lang="en-US" dirty="0"/>
              <a:t>adjacency between any two elements are maintained by means of links or pointers</a:t>
            </a:r>
          </a:p>
          <a:p>
            <a:pPr lvl="1"/>
            <a:r>
              <a:rPr lang="en-US" dirty="0"/>
              <a:t>It is essentially a dynamic data structure</a:t>
            </a:r>
          </a:p>
          <a:p>
            <a:pPr marL="0" indent="0">
              <a:buNone/>
            </a:pPr>
            <a:r>
              <a:rPr lang="en-US" dirty="0"/>
              <a:t>Linked lists are suitable for</a:t>
            </a:r>
          </a:p>
          <a:p>
            <a:pPr lvl="1"/>
            <a:r>
              <a:rPr lang="en-US" dirty="0"/>
              <a:t>Inserting an element at any position.</a:t>
            </a:r>
          </a:p>
          <a:p>
            <a:pPr lvl="1"/>
            <a:r>
              <a:rPr lang="en-US" dirty="0"/>
              <a:t>Deleting an element from any where.</a:t>
            </a:r>
          </a:p>
          <a:p>
            <a:pPr lvl="1"/>
            <a:r>
              <a:rPr lang="en-US" dirty="0"/>
              <a:t>Applications where sequential access is required.</a:t>
            </a:r>
          </a:p>
          <a:p>
            <a:pPr lvl="1"/>
            <a:r>
              <a:rPr lang="en-US" dirty="0"/>
              <a:t>In situations, where the number of elements cannot be predicted beforehand.</a:t>
            </a:r>
          </a:p>
          <a:p>
            <a:endParaRPr lang="en-IN" dirty="0"/>
          </a:p>
        </p:txBody>
      </p:sp>
    </p:spTree>
    <p:extLst>
      <p:ext uri="{BB962C8B-B14F-4D97-AF65-F5344CB8AC3E}">
        <p14:creationId xmlns:p14="http://schemas.microsoft.com/office/powerpoint/2010/main" val="3833888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Pros &amp; Cons of Linked Allocation</a:t>
            </a:r>
            <a:endParaRPr lang="en-US" dirty="0"/>
          </a:p>
        </p:txBody>
      </p:sp>
      <p:sp>
        <p:nvSpPr>
          <p:cNvPr id="3" name="Content Placeholder 2"/>
          <p:cNvSpPr>
            <a:spLocks noGrp="1"/>
          </p:cNvSpPr>
          <p:nvPr>
            <p:ph idx="1"/>
          </p:nvPr>
        </p:nvSpPr>
        <p:spPr/>
        <p:txBody>
          <a:bodyPr>
            <a:normAutofit/>
          </a:bodyPr>
          <a:lstStyle/>
          <a:p>
            <a:r>
              <a:rPr lang="en-US" dirty="0">
                <a:solidFill>
                  <a:srgbClr val="C00000"/>
                </a:solidFill>
              </a:rPr>
              <a:t>Insertion Operation</a:t>
            </a:r>
          </a:p>
          <a:p>
            <a:pPr lvl="1"/>
            <a:r>
              <a:rPr lang="en-US" dirty="0"/>
              <a:t>We have an </a:t>
            </a:r>
            <a:r>
              <a:rPr lang="en-US" i="1" dirty="0"/>
              <a:t>n</a:t>
            </a:r>
            <a:r>
              <a:rPr lang="en-US" dirty="0"/>
              <a:t> elements in list and it is required to insert a new element between the first and second element, what to do with sequential allocation &amp; linked allocation?</a:t>
            </a:r>
          </a:p>
          <a:p>
            <a:pPr lvl="1"/>
            <a:r>
              <a:rPr lang="en-US" dirty="0"/>
              <a:t>Insertion operation is more efficient in Linked allocation.</a:t>
            </a:r>
            <a:endParaRPr lang="en-IN" dirty="0"/>
          </a:p>
        </p:txBody>
      </p:sp>
      <p:grpSp>
        <p:nvGrpSpPr>
          <p:cNvPr id="4" name="Group 3"/>
          <p:cNvGrpSpPr/>
          <p:nvPr/>
        </p:nvGrpSpPr>
        <p:grpSpPr>
          <a:xfrm>
            <a:off x="2190468" y="3048000"/>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4125907" y="3048000"/>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6030907" y="3048000"/>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7935907" y="3048000"/>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3722711" y="3314700"/>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5658149" y="331470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7563149" y="331470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8697907" y="3048000"/>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20" name="TextBox 19"/>
          <p:cNvSpPr txBox="1"/>
          <p:nvPr/>
        </p:nvSpPr>
        <p:spPr>
          <a:xfrm>
            <a:off x="4570829" y="3521766"/>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21" name="TextBox 20"/>
          <p:cNvSpPr txBox="1"/>
          <p:nvPr/>
        </p:nvSpPr>
        <p:spPr>
          <a:xfrm>
            <a:off x="6477444" y="3535017"/>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22" name="TextBox 21"/>
          <p:cNvSpPr txBox="1"/>
          <p:nvPr/>
        </p:nvSpPr>
        <p:spPr>
          <a:xfrm>
            <a:off x="8405562" y="3535017"/>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23" name="TextBox 22"/>
          <p:cNvSpPr txBox="1"/>
          <p:nvPr/>
        </p:nvSpPr>
        <p:spPr>
          <a:xfrm>
            <a:off x="2640939" y="3533434"/>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24" name="TextBox 23"/>
          <p:cNvSpPr txBox="1"/>
          <p:nvPr/>
        </p:nvSpPr>
        <p:spPr>
          <a:xfrm>
            <a:off x="3024207" y="3135868"/>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25" name="TextBox 24"/>
          <p:cNvSpPr txBox="1"/>
          <p:nvPr/>
        </p:nvSpPr>
        <p:spPr>
          <a:xfrm>
            <a:off x="4949085" y="3124200"/>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26" name="TextBox 25"/>
          <p:cNvSpPr txBox="1"/>
          <p:nvPr/>
        </p:nvSpPr>
        <p:spPr>
          <a:xfrm>
            <a:off x="6860712" y="3124200"/>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grpSp>
        <p:nvGrpSpPr>
          <p:cNvPr id="31" name="Group 30"/>
          <p:cNvGrpSpPr/>
          <p:nvPr/>
        </p:nvGrpSpPr>
        <p:grpSpPr>
          <a:xfrm>
            <a:off x="2131363" y="4169252"/>
            <a:ext cx="1532242" cy="533400"/>
            <a:chOff x="951919" y="5486400"/>
            <a:chExt cx="1532242" cy="533400"/>
          </a:xfrm>
        </p:grpSpPr>
        <p:sp>
          <p:nvSpPr>
            <p:cNvPr id="32" name="Rectangle 31"/>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33" name="Rectangle 32"/>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4" name="Group 33"/>
          <p:cNvGrpSpPr/>
          <p:nvPr/>
        </p:nvGrpSpPr>
        <p:grpSpPr>
          <a:xfrm>
            <a:off x="4948070" y="4169252"/>
            <a:ext cx="1532242" cy="533400"/>
            <a:chOff x="951919" y="5486400"/>
            <a:chExt cx="1532242" cy="533400"/>
          </a:xfrm>
        </p:grpSpPr>
        <p:sp>
          <p:nvSpPr>
            <p:cNvPr id="35" name="Rectangle 3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36" name="Rectangle 3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7" name="Group 36"/>
          <p:cNvGrpSpPr/>
          <p:nvPr/>
        </p:nvGrpSpPr>
        <p:grpSpPr>
          <a:xfrm>
            <a:off x="6853070" y="4169252"/>
            <a:ext cx="1532242" cy="533400"/>
            <a:chOff x="951919" y="5486400"/>
            <a:chExt cx="1532242" cy="533400"/>
          </a:xfrm>
        </p:grpSpPr>
        <p:sp>
          <p:nvSpPr>
            <p:cNvPr id="38" name="Rectangle 3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39" name="Rectangle 3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40" name="Group 39"/>
          <p:cNvGrpSpPr/>
          <p:nvPr/>
        </p:nvGrpSpPr>
        <p:grpSpPr>
          <a:xfrm>
            <a:off x="8758070" y="4169252"/>
            <a:ext cx="1532242" cy="533400"/>
            <a:chOff x="951919" y="5486400"/>
            <a:chExt cx="1532242" cy="533400"/>
          </a:xfrm>
        </p:grpSpPr>
        <p:sp>
          <p:nvSpPr>
            <p:cNvPr id="41" name="Rectangle 4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42" name="Rectangle 4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44" name="Straight Arrow Connector 43"/>
          <p:cNvCxnSpPr>
            <a:stCxn id="36" idx="3"/>
            <a:endCxn id="38" idx="1"/>
          </p:cNvCxnSpPr>
          <p:nvPr/>
        </p:nvCxnSpPr>
        <p:spPr>
          <a:xfrm>
            <a:off x="6480312" y="4435952"/>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5" name="Straight Arrow Connector 44"/>
          <p:cNvCxnSpPr>
            <a:stCxn id="39" idx="3"/>
            <a:endCxn id="41" idx="1"/>
          </p:cNvCxnSpPr>
          <p:nvPr/>
        </p:nvCxnSpPr>
        <p:spPr>
          <a:xfrm>
            <a:off x="8385312" y="4435952"/>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6" name="Straight Connector 45"/>
          <p:cNvCxnSpPr/>
          <p:nvPr/>
        </p:nvCxnSpPr>
        <p:spPr>
          <a:xfrm flipH="1">
            <a:off x="9520070" y="4169252"/>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47" name="TextBox 46"/>
          <p:cNvSpPr txBox="1"/>
          <p:nvPr/>
        </p:nvSpPr>
        <p:spPr>
          <a:xfrm>
            <a:off x="5392992" y="4643018"/>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48" name="TextBox 47"/>
          <p:cNvSpPr txBox="1"/>
          <p:nvPr/>
        </p:nvSpPr>
        <p:spPr>
          <a:xfrm>
            <a:off x="7299607" y="4656269"/>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49" name="TextBox 48"/>
          <p:cNvSpPr txBox="1"/>
          <p:nvPr/>
        </p:nvSpPr>
        <p:spPr>
          <a:xfrm>
            <a:off x="9227725" y="4656269"/>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50" name="TextBox 49"/>
          <p:cNvSpPr txBox="1"/>
          <p:nvPr/>
        </p:nvSpPr>
        <p:spPr>
          <a:xfrm>
            <a:off x="2407023" y="4654686"/>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51" name="TextBox 50"/>
          <p:cNvSpPr txBox="1"/>
          <p:nvPr/>
        </p:nvSpPr>
        <p:spPr>
          <a:xfrm>
            <a:off x="2965102" y="4257120"/>
            <a:ext cx="652743" cy="369332"/>
          </a:xfrm>
          <a:prstGeom prst="rect">
            <a:avLst/>
          </a:prstGeom>
          <a:noFill/>
        </p:spPr>
        <p:txBody>
          <a:bodyPr wrap="none" rtlCol="0">
            <a:spAutoFit/>
          </a:bodyPr>
          <a:lstStyle/>
          <a:p>
            <a:r>
              <a:rPr lang="en-IN" b="1" dirty="0">
                <a:solidFill>
                  <a:srgbClr val="FFFF00"/>
                </a:solidFill>
              </a:rPr>
              <a:t>2100</a:t>
            </a:r>
            <a:endParaRPr lang="en-US" b="1" dirty="0">
              <a:solidFill>
                <a:srgbClr val="FFFF00"/>
              </a:solidFill>
            </a:endParaRPr>
          </a:p>
        </p:txBody>
      </p:sp>
      <p:sp>
        <p:nvSpPr>
          <p:cNvPr id="52" name="TextBox 51"/>
          <p:cNvSpPr txBox="1"/>
          <p:nvPr/>
        </p:nvSpPr>
        <p:spPr>
          <a:xfrm>
            <a:off x="5771248" y="4245452"/>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53" name="TextBox 52"/>
          <p:cNvSpPr txBox="1"/>
          <p:nvPr/>
        </p:nvSpPr>
        <p:spPr>
          <a:xfrm>
            <a:off x="7682875" y="4245452"/>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grpSp>
        <p:nvGrpSpPr>
          <p:cNvPr id="55" name="Group 54"/>
          <p:cNvGrpSpPr/>
          <p:nvPr/>
        </p:nvGrpSpPr>
        <p:grpSpPr>
          <a:xfrm>
            <a:off x="3451197" y="5325503"/>
            <a:ext cx="1532242" cy="533400"/>
            <a:chOff x="951919" y="5486400"/>
            <a:chExt cx="1532242" cy="533400"/>
          </a:xfrm>
        </p:grpSpPr>
        <p:sp>
          <p:nvSpPr>
            <p:cNvPr id="56" name="Rectangle 55"/>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X</a:t>
              </a:r>
              <a:endParaRPr lang="en-US" sz="2400" b="1" dirty="0"/>
            </a:p>
          </p:txBody>
        </p:sp>
        <p:sp>
          <p:nvSpPr>
            <p:cNvPr id="57" name="Rectangle 56"/>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58" name="Straight Arrow Connector 57"/>
          <p:cNvCxnSpPr>
            <a:endCxn id="56" idx="1"/>
          </p:cNvCxnSpPr>
          <p:nvPr/>
        </p:nvCxnSpPr>
        <p:spPr>
          <a:xfrm>
            <a:off x="3024207" y="5592203"/>
            <a:ext cx="426991"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9" name="TextBox 58"/>
          <p:cNvSpPr txBox="1"/>
          <p:nvPr/>
        </p:nvSpPr>
        <p:spPr>
          <a:xfrm>
            <a:off x="3896119" y="5799269"/>
            <a:ext cx="652743" cy="369332"/>
          </a:xfrm>
          <a:prstGeom prst="rect">
            <a:avLst/>
          </a:prstGeom>
          <a:noFill/>
        </p:spPr>
        <p:txBody>
          <a:bodyPr wrap="none" rtlCol="0">
            <a:spAutoFit/>
          </a:bodyPr>
          <a:lstStyle/>
          <a:p>
            <a:r>
              <a:rPr lang="en-IN" b="1" dirty="0">
                <a:solidFill>
                  <a:srgbClr val="C00000"/>
                </a:solidFill>
              </a:rPr>
              <a:t>2100</a:t>
            </a:r>
            <a:endParaRPr lang="en-US" b="1" dirty="0">
              <a:solidFill>
                <a:srgbClr val="C00000"/>
              </a:solidFill>
            </a:endParaRPr>
          </a:p>
        </p:txBody>
      </p:sp>
      <p:sp>
        <p:nvSpPr>
          <p:cNvPr id="60" name="TextBox 59"/>
          <p:cNvSpPr txBox="1"/>
          <p:nvPr/>
        </p:nvSpPr>
        <p:spPr>
          <a:xfrm>
            <a:off x="4274375" y="5401703"/>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cxnSp>
        <p:nvCxnSpPr>
          <p:cNvPr id="62" name="Straight Connector 61"/>
          <p:cNvCxnSpPr/>
          <p:nvPr/>
        </p:nvCxnSpPr>
        <p:spPr>
          <a:xfrm>
            <a:off x="3674847" y="4430118"/>
            <a:ext cx="306464"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4" name="Straight Connector 63"/>
          <p:cNvCxnSpPr/>
          <p:nvPr/>
        </p:nvCxnSpPr>
        <p:spPr>
          <a:xfrm>
            <a:off x="3981311" y="4430119"/>
            <a:ext cx="0" cy="41081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6" name="Straight Connector 65"/>
          <p:cNvCxnSpPr/>
          <p:nvPr/>
        </p:nvCxnSpPr>
        <p:spPr>
          <a:xfrm flipH="1">
            <a:off x="3024207" y="4827684"/>
            <a:ext cx="957105"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8" name="Straight Connector 67"/>
          <p:cNvCxnSpPr/>
          <p:nvPr/>
        </p:nvCxnSpPr>
        <p:spPr>
          <a:xfrm>
            <a:off x="3024206" y="4827685"/>
            <a:ext cx="0" cy="764519"/>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3" name="Straight Connector 72"/>
          <p:cNvCxnSpPr>
            <a:stCxn id="57" idx="3"/>
          </p:cNvCxnSpPr>
          <p:nvPr/>
        </p:nvCxnSpPr>
        <p:spPr>
          <a:xfrm flipV="1">
            <a:off x="4983439" y="5586369"/>
            <a:ext cx="211490" cy="583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5" name="Straight Connector 74"/>
          <p:cNvCxnSpPr/>
          <p:nvPr/>
        </p:nvCxnSpPr>
        <p:spPr>
          <a:xfrm flipV="1">
            <a:off x="5194929" y="5178001"/>
            <a:ext cx="0" cy="408368"/>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9" name="Straight Connector 78"/>
          <p:cNvCxnSpPr/>
          <p:nvPr/>
        </p:nvCxnSpPr>
        <p:spPr>
          <a:xfrm flipH="1">
            <a:off x="4600745" y="5178001"/>
            <a:ext cx="594184"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81" name="Straight Connector 80"/>
          <p:cNvCxnSpPr/>
          <p:nvPr/>
        </p:nvCxnSpPr>
        <p:spPr>
          <a:xfrm flipV="1">
            <a:off x="4600745" y="4441787"/>
            <a:ext cx="0" cy="736215"/>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87" name="Straight Arrow Connector 86"/>
          <p:cNvCxnSpPr/>
          <p:nvPr/>
        </p:nvCxnSpPr>
        <p:spPr>
          <a:xfrm>
            <a:off x="4602440" y="4441961"/>
            <a:ext cx="331431"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54565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8"/>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73"/>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7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79"/>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81"/>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47" grpId="0"/>
      <p:bldP spid="48" grpId="0"/>
      <p:bldP spid="49" grpId="0"/>
      <p:bldP spid="50" grpId="0"/>
      <p:bldP spid="51" grpId="0"/>
      <p:bldP spid="52" grpId="0"/>
      <p:bldP spid="53" grpId="0"/>
      <p:bldP spid="59" grpId="0"/>
      <p:bldP spid="6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Pros &amp; Cons of Linked Allocation</a:t>
            </a:r>
            <a:endParaRPr lang="en-US" dirty="0"/>
          </a:p>
        </p:txBody>
      </p:sp>
      <p:sp>
        <p:nvSpPr>
          <p:cNvPr id="3" name="Content Placeholder 2"/>
          <p:cNvSpPr>
            <a:spLocks noGrp="1"/>
          </p:cNvSpPr>
          <p:nvPr>
            <p:ph idx="1"/>
          </p:nvPr>
        </p:nvSpPr>
        <p:spPr/>
        <p:txBody>
          <a:bodyPr/>
          <a:lstStyle/>
          <a:p>
            <a:r>
              <a:rPr lang="en-US" dirty="0">
                <a:solidFill>
                  <a:srgbClr val="C00000"/>
                </a:solidFill>
              </a:rPr>
              <a:t>Deletion Operation</a:t>
            </a:r>
          </a:p>
          <a:p>
            <a:pPr lvl="1"/>
            <a:r>
              <a:rPr lang="en-IN" dirty="0"/>
              <a:t>Deletion operation is more efficient in Linked Allocation</a:t>
            </a:r>
            <a:endParaRPr lang="en-US" dirty="0"/>
          </a:p>
        </p:txBody>
      </p:sp>
      <p:grpSp>
        <p:nvGrpSpPr>
          <p:cNvPr id="4" name="Group 3"/>
          <p:cNvGrpSpPr/>
          <p:nvPr/>
        </p:nvGrpSpPr>
        <p:grpSpPr>
          <a:xfrm>
            <a:off x="2190468" y="2209800"/>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4125907" y="2209800"/>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6030907" y="2209800"/>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7935907" y="2209800"/>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3722711" y="2476500"/>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5658149" y="247650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7563149" y="2476500"/>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8697907" y="2209800"/>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21" name="TextBox 20"/>
          <p:cNvSpPr txBox="1"/>
          <p:nvPr/>
        </p:nvSpPr>
        <p:spPr>
          <a:xfrm>
            <a:off x="6477444" y="2696817"/>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22" name="TextBox 21"/>
          <p:cNvSpPr txBox="1"/>
          <p:nvPr/>
        </p:nvSpPr>
        <p:spPr>
          <a:xfrm>
            <a:off x="8405562" y="2696817"/>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23" name="TextBox 22"/>
          <p:cNvSpPr txBox="1"/>
          <p:nvPr/>
        </p:nvSpPr>
        <p:spPr>
          <a:xfrm>
            <a:off x="2640939" y="2695234"/>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24" name="TextBox 23"/>
          <p:cNvSpPr txBox="1"/>
          <p:nvPr/>
        </p:nvSpPr>
        <p:spPr>
          <a:xfrm>
            <a:off x="3024207" y="2297668"/>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25" name="TextBox 24"/>
          <p:cNvSpPr txBox="1"/>
          <p:nvPr/>
        </p:nvSpPr>
        <p:spPr>
          <a:xfrm>
            <a:off x="4949085" y="2286000"/>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26" name="TextBox 25"/>
          <p:cNvSpPr txBox="1"/>
          <p:nvPr/>
        </p:nvSpPr>
        <p:spPr>
          <a:xfrm>
            <a:off x="6860712" y="2286000"/>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sp>
        <p:nvSpPr>
          <p:cNvPr id="27" name="Multiply 26"/>
          <p:cNvSpPr/>
          <p:nvPr/>
        </p:nvSpPr>
        <p:spPr>
          <a:xfrm>
            <a:off x="4253458" y="2209800"/>
            <a:ext cx="1285383" cy="1524000"/>
          </a:xfrm>
          <a:prstGeom prst="mathMultiply">
            <a:avLst/>
          </a:prstGeom>
          <a:solidFill>
            <a:srgbClr val="B84742"/>
          </a:solidFill>
          <a:ln>
            <a:solidFill>
              <a:srgbClr val="B84742"/>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grpSp>
        <p:nvGrpSpPr>
          <p:cNvPr id="28" name="Group 27"/>
          <p:cNvGrpSpPr/>
          <p:nvPr/>
        </p:nvGrpSpPr>
        <p:grpSpPr>
          <a:xfrm>
            <a:off x="2131363" y="4477651"/>
            <a:ext cx="1532242" cy="533400"/>
            <a:chOff x="951919" y="5486400"/>
            <a:chExt cx="1532242" cy="533400"/>
          </a:xfrm>
        </p:grpSpPr>
        <p:sp>
          <p:nvSpPr>
            <p:cNvPr id="29" name="Rectangle 28"/>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30" name="Rectangle 29"/>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1" name="Group 30"/>
          <p:cNvGrpSpPr/>
          <p:nvPr/>
        </p:nvGrpSpPr>
        <p:grpSpPr>
          <a:xfrm>
            <a:off x="4066802" y="4477651"/>
            <a:ext cx="1532242" cy="533400"/>
            <a:chOff x="951919" y="5486400"/>
            <a:chExt cx="1532242" cy="533400"/>
          </a:xfrm>
        </p:grpSpPr>
        <p:sp>
          <p:nvSpPr>
            <p:cNvPr id="32" name="Rectangle 31"/>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33" name="Rectangle 32"/>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4" name="Group 33"/>
          <p:cNvGrpSpPr/>
          <p:nvPr/>
        </p:nvGrpSpPr>
        <p:grpSpPr>
          <a:xfrm>
            <a:off x="5971802" y="4477651"/>
            <a:ext cx="1532242" cy="533400"/>
            <a:chOff x="951919" y="5486400"/>
            <a:chExt cx="1532242" cy="533400"/>
          </a:xfrm>
        </p:grpSpPr>
        <p:sp>
          <p:nvSpPr>
            <p:cNvPr id="35" name="Rectangle 3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36" name="Rectangle 3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7" name="Group 36"/>
          <p:cNvGrpSpPr/>
          <p:nvPr/>
        </p:nvGrpSpPr>
        <p:grpSpPr>
          <a:xfrm>
            <a:off x="7876802" y="4477651"/>
            <a:ext cx="1532242" cy="533400"/>
            <a:chOff x="951919" y="5486400"/>
            <a:chExt cx="1532242" cy="533400"/>
          </a:xfrm>
        </p:grpSpPr>
        <p:sp>
          <p:nvSpPr>
            <p:cNvPr id="38" name="Rectangle 3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39" name="Rectangle 3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41" name="Straight Arrow Connector 40"/>
          <p:cNvCxnSpPr>
            <a:endCxn id="35" idx="1"/>
          </p:cNvCxnSpPr>
          <p:nvPr/>
        </p:nvCxnSpPr>
        <p:spPr>
          <a:xfrm>
            <a:off x="5715000" y="4744351"/>
            <a:ext cx="256802"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a:stCxn id="36" idx="3"/>
            <a:endCxn id="38" idx="1"/>
          </p:cNvCxnSpPr>
          <p:nvPr/>
        </p:nvCxnSpPr>
        <p:spPr>
          <a:xfrm>
            <a:off x="7504044" y="47443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3" name="Straight Connector 42"/>
          <p:cNvCxnSpPr/>
          <p:nvPr/>
        </p:nvCxnSpPr>
        <p:spPr>
          <a:xfrm flipH="1">
            <a:off x="8638802" y="4477651"/>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44" name="TextBox 43"/>
          <p:cNvSpPr txBox="1"/>
          <p:nvPr/>
        </p:nvSpPr>
        <p:spPr>
          <a:xfrm>
            <a:off x="4511724" y="4951417"/>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45" name="TextBox 44"/>
          <p:cNvSpPr txBox="1"/>
          <p:nvPr/>
        </p:nvSpPr>
        <p:spPr>
          <a:xfrm>
            <a:off x="6418339" y="4964668"/>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46" name="TextBox 45"/>
          <p:cNvSpPr txBox="1"/>
          <p:nvPr/>
        </p:nvSpPr>
        <p:spPr>
          <a:xfrm>
            <a:off x="8346457" y="4964668"/>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47" name="TextBox 46"/>
          <p:cNvSpPr txBox="1"/>
          <p:nvPr/>
        </p:nvSpPr>
        <p:spPr>
          <a:xfrm>
            <a:off x="2581834" y="4963085"/>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48" name="TextBox 47"/>
          <p:cNvSpPr txBox="1"/>
          <p:nvPr/>
        </p:nvSpPr>
        <p:spPr>
          <a:xfrm>
            <a:off x="2965102" y="4565519"/>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49" name="TextBox 48"/>
          <p:cNvSpPr txBox="1"/>
          <p:nvPr/>
        </p:nvSpPr>
        <p:spPr>
          <a:xfrm>
            <a:off x="4889980" y="4553851"/>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50" name="TextBox 49"/>
          <p:cNvSpPr txBox="1"/>
          <p:nvPr/>
        </p:nvSpPr>
        <p:spPr>
          <a:xfrm>
            <a:off x="6801607" y="4553851"/>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cxnSp>
        <p:nvCxnSpPr>
          <p:cNvPr id="52" name="Straight Connector 51"/>
          <p:cNvCxnSpPr>
            <a:stCxn id="30" idx="3"/>
          </p:cNvCxnSpPr>
          <p:nvPr/>
        </p:nvCxnSpPr>
        <p:spPr>
          <a:xfrm>
            <a:off x="3663606" y="4744351"/>
            <a:ext cx="146395" cy="583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4" name="Straight Connector 53"/>
          <p:cNvCxnSpPr/>
          <p:nvPr/>
        </p:nvCxnSpPr>
        <p:spPr>
          <a:xfrm flipV="1">
            <a:off x="3810000" y="4038601"/>
            <a:ext cx="0" cy="69991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6" name="Straight Connector 55"/>
          <p:cNvCxnSpPr/>
          <p:nvPr/>
        </p:nvCxnSpPr>
        <p:spPr>
          <a:xfrm>
            <a:off x="3810000" y="4038600"/>
            <a:ext cx="19050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p:nvPr/>
        </p:nvCxnSpPr>
        <p:spPr>
          <a:xfrm>
            <a:off x="5715000" y="4038601"/>
            <a:ext cx="0" cy="711585"/>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0" name="TextBox 19"/>
          <p:cNvSpPr txBox="1"/>
          <p:nvPr/>
        </p:nvSpPr>
        <p:spPr>
          <a:xfrm>
            <a:off x="4570829" y="2683566"/>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Tree>
    <p:extLst>
      <p:ext uri="{BB962C8B-B14F-4D97-AF65-F5344CB8AC3E}">
        <p14:creationId xmlns:p14="http://schemas.microsoft.com/office/powerpoint/2010/main" val="326769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31"/>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44"/>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2" grpId="0"/>
      <p:bldP spid="23" grpId="0"/>
      <p:bldP spid="24" grpId="0"/>
      <p:bldP spid="25" grpId="0"/>
      <p:bldP spid="26" grpId="0"/>
      <p:bldP spid="27" grpId="0" animBg="1"/>
      <p:bldP spid="44" grpId="0"/>
      <p:bldP spid="44" grpId="1"/>
      <p:bldP spid="45" grpId="0"/>
      <p:bldP spid="46" grpId="0"/>
      <p:bldP spid="47" grpId="0"/>
      <p:bldP spid="48" grpId="0"/>
      <p:bldP spid="49" grpId="0"/>
      <p:bldP spid="49" grpId="1"/>
      <p:bldP spid="50"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Pros &amp; Cons of Linked Allocation</a:t>
            </a:r>
            <a:endParaRPr lang="en-US" dirty="0"/>
          </a:p>
        </p:txBody>
      </p:sp>
      <p:sp>
        <p:nvSpPr>
          <p:cNvPr id="3" name="Content Placeholder 2"/>
          <p:cNvSpPr>
            <a:spLocks noGrp="1"/>
          </p:cNvSpPr>
          <p:nvPr>
            <p:ph idx="1"/>
          </p:nvPr>
        </p:nvSpPr>
        <p:spPr/>
        <p:txBody>
          <a:bodyPr>
            <a:normAutofit/>
          </a:bodyPr>
          <a:lstStyle/>
          <a:p>
            <a:r>
              <a:rPr lang="en-US" dirty="0">
                <a:solidFill>
                  <a:srgbClr val="C00000"/>
                </a:solidFill>
              </a:rPr>
              <a:t>Search Operation</a:t>
            </a:r>
          </a:p>
          <a:p>
            <a:pPr lvl="1"/>
            <a:r>
              <a:rPr lang="en-IN" b="1" dirty="0">
                <a:solidFill>
                  <a:srgbClr val="34495E"/>
                </a:solidFill>
              </a:rPr>
              <a:t>If particular node in the list is required</a:t>
            </a:r>
            <a:r>
              <a:rPr lang="en-IN" dirty="0"/>
              <a:t>, it is necessary to follow links from the first node onwards until the desired node is found, in this situation </a:t>
            </a:r>
            <a:r>
              <a:rPr lang="en-IN" b="1" dirty="0"/>
              <a:t>it is more time consuming </a:t>
            </a:r>
            <a:r>
              <a:rPr lang="en-IN" dirty="0"/>
              <a:t>to go through linked list than a sequential list.</a:t>
            </a:r>
          </a:p>
          <a:p>
            <a:pPr lvl="1"/>
            <a:r>
              <a:rPr lang="en-IN" dirty="0"/>
              <a:t>Search operation is more time consuming in Linked Allocation.</a:t>
            </a:r>
          </a:p>
          <a:p>
            <a:r>
              <a:rPr lang="en-US" dirty="0">
                <a:solidFill>
                  <a:srgbClr val="C00000"/>
                </a:solidFill>
              </a:rPr>
              <a:t>Join Operation</a:t>
            </a:r>
          </a:p>
          <a:p>
            <a:pPr marL="606425" lvl="2">
              <a:buFont typeface="Wingdings" panose="05000000000000000000" pitchFamily="2" charset="2"/>
              <a:buChar char="§"/>
            </a:pPr>
            <a:r>
              <a:rPr lang="en-IN" dirty="0"/>
              <a:t>Join operation is more efficient in Linked Allocation.</a:t>
            </a:r>
          </a:p>
          <a:p>
            <a:endParaRPr lang="en-US" dirty="0"/>
          </a:p>
        </p:txBody>
      </p:sp>
      <p:grpSp>
        <p:nvGrpSpPr>
          <p:cNvPr id="4" name="Group 3"/>
          <p:cNvGrpSpPr/>
          <p:nvPr/>
        </p:nvGrpSpPr>
        <p:grpSpPr>
          <a:xfrm>
            <a:off x="1007130" y="4020451"/>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2942569" y="4020451"/>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4847569" y="4020451"/>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6752569" y="4020451"/>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2539373" y="4287151"/>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4474811" y="42871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6379811" y="42871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7514569" y="4020451"/>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20" name="TextBox 19"/>
          <p:cNvSpPr txBox="1"/>
          <p:nvPr/>
        </p:nvSpPr>
        <p:spPr>
          <a:xfrm>
            <a:off x="3387491" y="4548005"/>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21" name="TextBox 20"/>
          <p:cNvSpPr txBox="1"/>
          <p:nvPr/>
        </p:nvSpPr>
        <p:spPr>
          <a:xfrm>
            <a:off x="5294106" y="4561256"/>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22" name="TextBox 21"/>
          <p:cNvSpPr txBox="1"/>
          <p:nvPr/>
        </p:nvSpPr>
        <p:spPr>
          <a:xfrm>
            <a:off x="7222224" y="4561256"/>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23" name="TextBox 22"/>
          <p:cNvSpPr txBox="1"/>
          <p:nvPr/>
        </p:nvSpPr>
        <p:spPr>
          <a:xfrm>
            <a:off x="1457601" y="4559673"/>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
        <p:nvSpPr>
          <p:cNvPr id="24" name="TextBox 23"/>
          <p:cNvSpPr txBox="1"/>
          <p:nvPr/>
        </p:nvSpPr>
        <p:spPr>
          <a:xfrm>
            <a:off x="1840869" y="4108319"/>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25" name="TextBox 24"/>
          <p:cNvSpPr txBox="1"/>
          <p:nvPr/>
        </p:nvSpPr>
        <p:spPr>
          <a:xfrm>
            <a:off x="3765747" y="4096651"/>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26" name="TextBox 25"/>
          <p:cNvSpPr txBox="1"/>
          <p:nvPr/>
        </p:nvSpPr>
        <p:spPr>
          <a:xfrm>
            <a:off x="5677374" y="4096651"/>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grpSp>
        <p:nvGrpSpPr>
          <p:cNvPr id="27" name="Group 26"/>
          <p:cNvGrpSpPr/>
          <p:nvPr/>
        </p:nvGrpSpPr>
        <p:grpSpPr>
          <a:xfrm>
            <a:off x="1902181" y="5544451"/>
            <a:ext cx="1532242" cy="533400"/>
            <a:chOff x="951919" y="5486400"/>
            <a:chExt cx="1532242" cy="533400"/>
          </a:xfrm>
        </p:grpSpPr>
        <p:sp>
          <p:nvSpPr>
            <p:cNvPr id="28" name="Rectangle 27"/>
            <p:cNvSpPr/>
            <p:nvPr/>
          </p:nvSpPr>
          <p:spPr>
            <a:xfrm>
              <a:off x="951919" y="54864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2400" b="1" dirty="0"/>
                <a:t>12</a:t>
              </a:r>
              <a:endParaRPr lang="en-US" sz="2400" b="1" dirty="0"/>
            </a:p>
          </p:txBody>
        </p:sp>
        <p:sp>
          <p:nvSpPr>
            <p:cNvPr id="29" name="Rectangle 28"/>
            <p:cNvSpPr/>
            <p:nvPr/>
          </p:nvSpPr>
          <p:spPr>
            <a:xfrm>
              <a:off x="1722161" y="54864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b="1" dirty="0"/>
            </a:p>
          </p:txBody>
        </p:sp>
      </p:grpSp>
      <p:grpSp>
        <p:nvGrpSpPr>
          <p:cNvPr id="30" name="Group 29"/>
          <p:cNvGrpSpPr/>
          <p:nvPr/>
        </p:nvGrpSpPr>
        <p:grpSpPr>
          <a:xfrm>
            <a:off x="3837620" y="5544451"/>
            <a:ext cx="1532242" cy="533400"/>
            <a:chOff x="951919" y="5486400"/>
            <a:chExt cx="1532242" cy="533400"/>
          </a:xfrm>
        </p:grpSpPr>
        <p:sp>
          <p:nvSpPr>
            <p:cNvPr id="31" name="Rectangle 30"/>
            <p:cNvSpPr/>
            <p:nvPr/>
          </p:nvSpPr>
          <p:spPr>
            <a:xfrm>
              <a:off x="951919" y="54864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2400" b="1" dirty="0"/>
                <a:t>52</a:t>
              </a:r>
              <a:endParaRPr lang="en-US" sz="2400" b="1" dirty="0"/>
            </a:p>
          </p:txBody>
        </p:sp>
        <p:sp>
          <p:nvSpPr>
            <p:cNvPr id="32" name="Rectangle 31"/>
            <p:cNvSpPr/>
            <p:nvPr/>
          </p:nvSpPr>
          <p:spPr>
            <a:xfrm>
              <a:off x="1722161" y="54864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b="1" dirty="0"/>
            </a:p>
          </p:txBody>
        </p:sp>
      </p:grpSp>
      <p:grpSp>
        <p:nvGrpSpPr>
          <p:cNvPr id="33" name="Group 32"/>
          <p:cNvGrpSpPr/>
          <p:nvPr/>
        </p:nvGrpSpPr>
        <p:grpSpPr>
          <a:xfrm>
            <a:off x="5742620" y="5544451"/>
            <a:ext cx="1532242" cy="533400"/>
            <a:chOff x="951919" y="5486400"/>
            <a:chExt cx="1532242" cy="533400"/>
          </a:xfrm>
        </p:grpSpPr>
        <p:sp>
          <p:nvSpPr>
            <p:cNvPr id="34" name="Rectangle 33"/>
            <p:cNvSpPr/>
            <p:nvPr/>
          </p:nvSpPr>
          <p:spPr>
            <a:xfrm>
              <a:off x="951919" y="54864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2400" b="1" dirty="0"/>
                <a:t>15</a:t>
              </a:r>
              <a:endParaRPr lang="en-US" sz="2400" b="1" dirty="0"/>
            </a:p>
          </p:txBody>
        </p:sp>
        <p:sp>
          <p:nvSpPr>
            <p:cNvPr id="35" name="Rectangle 34"/>
            <p:cNvSpPr/>
            <p:nvPr/>
          </p:nvSpPr>
          <p:spPr>
            <a:xfrm>
              <a:off x="1722161" y="54864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b="1" dirty="0"/>
            </a:p>
          </p:txBody>
        </p:sp>
      </p:grpSp>
      <p:grpSp>
        <p:nvGrpSpPr>
          <p:cNvPr id="36" name="Group 35"/>
          <p:cNvGrpSpPr/>
          <p:nvPr/>
        </p:nvGrpSpPr>
        <p:grpSpPr>
          <a:xfrm>
            <a:off x="7647620" y="5544451"/>
            <a:ext cx="1532242" cy="533400"/>
            <a:chOff x="951919" y="5486400"/>
            <a:chExt cx="1532242" cy="533400"/>
          </a:xfrm>
        </p:grpSpPr>
        <p:sp>
          <p:nvSpPr>
            <p:cNvPr id="37" name="Rectangle 36"/>
            <p:cNvSpPr/>
            <p:nvPr/>
          </p:nvSpPr>
          <p:spPr>
            <a:xfrm>
              <a:off x="951919" y="54864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2400" b="1" dirty="0"/>
                <a:t>100</a:t>
              </a:r>
              <a:endParaRPr lang="en-US" sz="2400" b="1" dirty="0"/>
            </a:p>
          </p:txBody>
        </p:sp>
        <p:sp>
          <p:nvSpPr>
            <p:cNvPr id="38" name="Rectangle 37"/>
            <p:cNvSpPr/>
            <p:nvPr/>
          </p:nvSpPr>
          <p:spPr>
            <a:xfrm>
              <a:off x="1722161" y="5486400"/>
              <a:ext cx="7620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400" b="1" dirty="0"/>
            </a:p>
          </p:txBody>
        </p:sp>
      </p:grpSp>
      <p:cxnSp>
        <p:nvCxnSpPr>
          <p:cNvPr id="39" name="Straight Arrow Connector 38"/>
          <p:cNvCxnSpPr>
            <a:stCxn id="29" idx="3"/>
            <a:endCxn id="31" idx="1"/>
          </p:cNvCxnSpPr>
          <p:nvPr/>
        </p:nvCxnSpPr>
        <p:spPr>
          <a:xfrm>
            <a:off x="3434424" y="5811151"/>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a:stCxn id="32" idx="3"/>
            <a:endCxn id="34" idx="1"/>
          </p:cNvCxnSpPr>
          <p:nvPr/>
        </p:nvCxnSpPr>
        <p:spPr>
          <a:xfrm>
            <a:off x="5369862" y="58111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1" name="Straight Arrow Connector 40"/>
          <p:cNvCxnSpPr>
            <a:stCxn id="35" idx="3"/>
            <a:endCxn id="37" idx="1"/>
          </p:cNvCxnSpPr>
          <p:nvPr/>
        </p:nvCxnSpPr>
        <p:spPr>
          <a:xfrm>
            <a:off x="7274862" y="5811151"/>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Connector 41"/>
          <p:cNvCxnSpPr/>
          <p:nvPr/>
        </p:nvCxnSpPr>
        <p:spPr>
          <a:xfrm flipH="1">
            <a:off x="8409620" y="5544451"/>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43" name="TextBox 42"/>
          <p:cNvSpPr txBox="1"/>
          <p:nvPr/>
        </p:nvSpPr>
        <p:spPr>
          <a:xfrm>
            <a:off x="4282541" y="6072005"/>
            <a:ext cx="535724" cy="369332"/>
          </a:xfrm>
          <a:prstGeom prst="rect">
            <a:avLst/>
          </a:prstGeom>
          <a:noFill/>
        </p:spPr>
        <p:txBody>
          <a:bodyPr wrap="none" rtlCol="0">
            <a:spAutoFit/>
          </a:bodyPr>
          <a:lstStyle/>
          <a:p>
            <a:r>
              <a:rPr lang="en-IN" b="1" dirty="0">
                <a:solidFill>
                  <a:srgbClr val="C00000"/>
                </a:solidFill>
              </a:rPr>
              <a:t>580</a:t>
            </a:r>
            <a:endParaRPr lang="en-US" b="1" dirty="0">
              <a:solidFill>
                <a:srgbClr val="C00000"/>
              </a:solidFill>
            </a:endParaRPr>
          </a:p>
        </p:txBody>
      </p:sp>
      <p:sp>
        <p:nvSpPr>
          <p:cNvPr id="44" name="TextBox 43"/>
          <p:cNvSpPr txBox="1"/>
          <p:nvPr/>
        </p:nvSpPr>
        <p:spPr>
          <a:xfrm>
            <a:off x="6189157" y="6085256"/>
            <a:ext cx="652743" cy="369332"/>
          </a:xfrm>
          <a:prstGeom prst="rect">
            <a:avLst/>
          </a:prstGeom>
          <a:noFill/>
        </p:spPr>
        <p:txBody>
          <a:bodyPr wrap="none" rtlCol="0">
            <a:spAutoFit/>
          </a:bodyPr>
          <a:lstStyle/>
          <a:p>
            <a:r>
              <a:rPr lang="en-IN" b="1" dirty="0">
                <a:solidFill>
                  <a:srgbClr val="C00000"/>
                </a:solidFill>
              </a:rPr>
              <a:t>5096</a:t>
            </a:r>
            <a:endParaRPr lang="en-US" b="1" dirty="0">
              <a:solidFill>
                <a:srgbClr val="C00000"/>
              </a:solidFill>
            </a:endParaRPr>
          </a:p>
        </p:txBody>
      </p:sp>
      <p:sp>
        <p:nvSpPr>
          <p:cNvPr id="45" name="TextBox 44"/>
          <p:cNvSpPr txBox="1"/>
          <p:nvPr/>
        </p:nvSpPr>
        <p:spPr>
          <a:xfrm>
            <a:off x="8117275" y="6085256"/>
            <a:ext cx="652743" cy="369332"/>
          </a:xfrm>
          <a:prstGeom prst="rect">
            <a:avLst/>
          </a:prstGeom>
          <a:noFill/>
        </p:spPr>
        <p:txBody>
          <a:bodyPr wrap="none" rtlCol="0">
            <a:spAutoFit/>
          </a:bodyPr>
          <a:lstStyle/>
          <a:p>
            <a:r>
              <a:rPr lang="en-IN" b="1" dirty="0">
                <a:solidFill>
                  <a:srgbClr val="C00000"/>
                </a:solidFill>
              </a:rPr>
              <a:t>5145</a:t>
            </a:r>
            <a:endParaRPr lang="en-US" b="1" dirty="0">
              <a:solidFill>
                <a:srgbClr val="C00000"/>
              </a:solidFill>
            </a:endParaRPr>
          </a:p>
        </p:txBody>
      </p:sp>
      <p:sp>
        <p:nvSpPr>
          <p:cNvPr id="46" name="TextBox 45"/>
          <p:cNvSpPr txBox="1"/>
          <p:nvPr/>
        </p:nvSpPr>
        <p:spPr>
          <a:xfrm>
            <a:off x="2352652" y="6083673"/>
            <a:ext cx="652743" cy="369332"/>
          </a:xfrm>
          <a:prstGeom prst="rect">
            <a:avLst/>
          </a:prstGeom>
          <a:noFill/>
        </p:spPr>
        <p:txBody>
          <a:bodyPr wrap="none" rtlCol="0">
            <a:spAutoFit/>
          </a:bodyPr>
          <a:lstStyle/>
          <a:p>
            <a:r>
              <a:rPr lang="en-IN" b="1" dirty="0">
                <a:solidFill>
                  <a:srgbClr val="C00000"/>
                </a:solidFill>
              </a:rPr>
              <a:t>5050</a:t>
            </a:r>
            <a:endParaRPr lang="en-US" b="1" dirty="0">
              <a:solidFill>
                <a:srgbClr val="C00000"/>
              </a:solidFill>
            </a:endParaRPr>
          </a:p>
        </p:txBody>
      </p:sp>
      <p:sp>
        <p:nvSpPr>
          <p:cNvPr id="47" name="TextBox 46"/>
          <p:cNvSpPr txBox="1"/>
          <p:nvPr/>
        </p:nvSpPr>
        <p:spPr>
          <a:xfrm>
            <a:off x="2735919" y="5632319"/>
            <a:ext cx="535724" cy="369332"/>
          </a:xfrm>
          <a:prstGeom prst="rect">
            <a:avLst/>
          </a:prstGeom>
          <a:noFill/>
        </p:spPr>
        <p:txBody>
          <a:bodyPr wrap="none" rtlCol="0">
            <a:spAutoFit/>
          </a:bodyPr>
          <a:lstStyle/>
          <a:p>
            <a:r>
              <a:rPr lang="en-IN" b="1" dirty="0">
                <a:solidFill>
                  <a:srgbClr val="FFFF00"/>
                </a:solidFill>
              </a:rPr>
              <a:t>580</a:t>
            </a:r>
            <a:endParaRPr lang="en-US" b="1" dirty="0">
              <a:solidFill>
                <a:srgbClr val="FFFF00"/>
              </a:solidFill>
            </a:endParaRPr>
          </a:p>
        </p:txBody>
      </p:sp>
      <p:sp>
        <p:nvSpPr>
          <p:cNvPr id="48" name="TextBox 47"/>
          <p:cNvSpPr txBox="1"/>
          <p:nvPr/>
        </p:nvSpPr>
        <p:spPr>
          <a:xfrm>
            <a:off x="4660798" y="5620651"/>
            <a:ext cx="652743" cy="369332"/>
          </a:xfrm>
          <a:prstGeom prst="rect">
            <a:avLst/>
          </a:prstGeom>
          <a:noFill/>
        </p:spPr>
        <p:txBody>
          <a:bodyPr wrap="none" rtlCol="0">
            <a:spAutoFit/>
          </a:bodyPr>
          <a:lstStyle/>
          <a:p>
            <a:r>
              <a:rPr lang="en-IN" b="1" dirty="0">
                <a:solidFill>
                  <a:srgbClr val="FFFF00"/>
                </a:solidFill>
              </a:rPr>
              <a:t>5096</a:t>
            </a:r>
            <a:endParaRPr lang="en-US" b="1" dirty="0">
              <a:solidFill>
                <a:srgbClr val="FFFF00"/>
              </a:solidFill>
            </a:endParaRPr>
          </a:p>
        </p:txBody>
      </p:sp>
      <p:sp>
        <p:nvSpPr>
          <p:cNvPr id="49" name="TextBox 48"/>
          <p:cNvSpPr txBox="1"/>
          <p:nvPr/>
        </p:nvSpPr>
        <p:spPr>
          <a:xfrm>
            <a:off x="6572425" y="5620651"/>
            <a:ext cx="652743" cy="369332"/>
          </a:xfrm>
          <a:prstGeom prst="rect">
            <a:avLst/>
          </a:prstGeom>
          <a:noFill/>
        </p:spPr>
        <p:txBody>
          <a:bodyPr wrap="none" rtlCol="0">
            <a:spAutoFit/>
          </a:bodyPr>
          <a:lstStyle/>
          <a:p>
            <a:r>
              <a:rPr lang="en-IN" b="1" dirty="0">
                <a:solidFill>
                  <a:srgbClr val="FFFF00"/>
                </a:solidFill>
              </a:rPr>
              <a:t>5145</a:t>
            </a:r>
            <a:endParaRPr lang="en-US" b="1" dirty="0">
              <a:solidFill>
                <a:srgbClr val="FFFF00"/>
              </a:solidFill>
            </a:endParaRPr>
          </a:p>
        </p:txBody>
      </p:sp>
      <p:grpSp>
        <p:nvGrpSpPr>
          <p:cNvPr id="50" name="Group 49"/>
          <p:cNvGrpSpPr/>
          <p:nvPr/>
        </p:nvGrpSpPr>
        <p:grpSpPr>
          <a:xfrm>
            <a:off x="1388130" y="4281318"/>
            <a:ext cx="7410732" cy="1529833"/>
            <a:chOff x="1388130" y="4281318"/>
            <a:chExt cx="7410732" cy="1529833"/>
          </a:xfrm>
        </p:grpSpPr>
        <p:cxnSp>
          <p:nvCxnSpPr>
            <p:cNvPr id="53" name="Straight Connector 52"/>
            <p:cNvCxnSpPr>
              <a:stCxn id="15" idx="3"/>
            </p:cNvCxnSpPr>
            <p:nvPr/>
          </p:nvCxnSpPr>
          <p:spPr>
            <a:xfrm>
              <a:off x="8284811" y="4287151"/>
              <a:ext cx="509930" cy="5834"/>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5" name="Straight Connector 54"/>
            <p:cNvCxnSpPr/>
            <p:nvPr/>
          </p:nvCxnSpPr>
          <p:spPr>
            <a:xfrm>
              <a:off x="8794741" y="4281318"/>
              <a:ext cx="0" cy="824083"/>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7" name="Straight Connector 56"/>
            <p:cNvCxnSpPr/>
            <p:nvPr/>
          </p:nvCxnSpPr>
          <p:spPr>
            <a:xfrm flipH="1">
              <a:off x="1388130" y="5105400"/>
              <a:ext cx="7410732"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9" name="Straight Connector 58"/>
            <p:cNvCxnSpPr/>
            <p:nvPr/>
          </p:nvCxnSpPr>
          <p:spPr>
            <a:xfrm>
              <a:off x="1388130" y="5105401"/>
              <a:ext cx="0" cy="699917"/>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1" name="Straight Arrow Connector 60"/>
            <p:cNvCxnSpPr>
              <a:endCxn id="28" idx="1"/>
            </p:cNvCxnSpPr>
            <p:nvPr/>
          </p:nvCxnSpPr>
          <p:spPr>
            <a:xfrm>
              <a:off x="1388131" y="5805317"/>
              <a:ext cx="514051" cy="583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62" name="TextBox 61"/>
          <p:cNvSpPr txBox="1"/>
          <p:nvPr/>
        </p:nvSpPr>
        <p:spPr>
          <a:xfrm>
            <a:off x="7612720" y="4114800"/>
            <a:ext cx="652743" cy="369332"/>
          </a:xfrm>
          <a:prstGeom prst="rect">
            <a:avLst/>
          </a:prstGeom>
          <a:noFill/>
        </p:spPr>
        <p:txBody>
          <a:bodyPr wrap="none" rtlCol="0">
            <a:spAutoFit/>
          </a:bodyPr>
          <a:lstStyle/>
          <a:p>
            <a:r>
              <a:rPr lang="en-IN" b="1" dirty="0">
                <a:solidFill>
                  <a:srgbClr val="FFFF00"/>
                </a:solidFill>
              </a:rPr>
              <a:t>5050</a:t>
            </a:r>
            <a:endParaRPr lang="en-US" b="1" dirty="0">
              <a:solidFill>
                <a:srgbClr val="FFFF00"/>
              </a:solidFill>
            </a:endParaRPr>
          </a:p>
        </p:txBody>
      </p:sp>
    </p:spTree>
    <p:extLst>
      <p:ext uri="{BB962C8B-B14F-4D97-AF65-F5344CB8AC3E}">
        <p14:creationId xmlns:p14="http://schemas.microsoft.com/office/powerpoint/2010/main" val="136988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19"/>
                                        </p:tgtEl>
                                        <p:attrNameLst>
                                          <p:attrName>style.visibility</p:attrName>
                                        </p:attrNameLst>
                                      </p:cBhvr>
                                      <p:to>
                                        <p:strVal val="hidden"/>
                                      </p:to>
                                    </p:set>
                                  </p:childTnLst>
                                </p:cTn>
                              </p:par>
                              <p:par>
                                <p:cTn id="91" presetID="1" presetClass="entr" presetSubtype="0" fill="hold" grpId="0" nodeType="withEffect">
                                  <p:stCondLst>
                                    <p:cond delay="0"/>
                                  </p:stCondLst>
                                  <p:childTnLst>
                                    <p:set>
                                      <p:cBhvr>
                                        <p:cTn id="92" dur="1" fill="hold">
                                          <p:stCondLst>
                                            <p:cond delay="0"/>
                                          </p:stCondLst>
                                        </p:cTn>
                                        <p:tgtEl>
                                          <p:spTgt spid="6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wipe(up)">
                                      <p:cBhvr>
                                        <p:cTn id="9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43" grpId="0"/>
      <p:bldP spid="44" grpId="0"/>
      <p:bldP spid="45" grpId="0"/>
      <p:bldP spid="46" grpId="0"/>
      <p:bldP spid="47" grpId="0"/>
      <p:bldP spid="48" grpId="0"/>
      <p:bldP spid="49" grpId="0"/>
      <p:bldP spid="6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Pros &amp; Cons of Linked Allocation</a:t>
            </a:r>
            <a:endParaRPr lang="en-US" dirty="0"/>
          </a:p>
        </p:txBody>
      </p:sp>
      <p:sp>
        <p:nvSpPr>
          <p:cNvPr id="3" name="Content Placeholder 2"/>
          <p:cNvSpPr>
            <a:spLocks noGrp="1"/>
          </p:cNvSpPr>
          <p:nvPr>
            <p:ph idx="1"/>
          </p:nvPr>
        </p:nvSpPr>
        <p:spPr/>
        <p:txBody>
          <a:bodyPr>
            <a:normAutofit/>
          </a:bodyPr>
          <a:lstStyle/>
          <a:p>
            <a:r>
              <a:rPr lang="en-IN" dirty="0">
                <a:solidFill>
                  <a:srgbClr val="C00000"/>
                </a:solidFill>
              </a:rPr>
              <a:t>Split Operation</a:t>
            </a:r>
          </a:p>
          <a:p>
            <a:pPr lvl="1"/>
            <a:r>
              <a:rPr lang="en-IN" dirty="0"/>
              <a:t>Split operation is more efficient in Linked Allocation</a:t>
            </a:r>
          </a:p>
          <a:p>
            <a:endParaRPr lang="en-IN" dirty="0"/>
          </a:p>
          <a:p>
            <a:endParaRPr lang="en-US" dirty="0"/>
          </a:p>
          <a:p>
            <a:endParaRPr lang="en-US" dirty="0"/>
          </a:p>
          <a:p>
            <a:endParaRPr lang="en-US" dirty="0"/>
          </a:p>
          <a:p>
            <a:endParaRPr lang="en-IN" dirty="0"/>
          </a:p>
          <a:p>
            <a:r>
              <a:rPr lang="en-IN" dirty="0"/>
              <a:t>Linked list require </a:t>
            </a:r>
            <a:r>
              <a:rPr lang="en-IN" b="1" dirty="0">
                <a:solidFill>
                  <a:srgbClr val="C00000"/>
                </a:solidFill>
              </a:rPr>
              <a:t>more memory</a:t>
            </a:r>
            <a:r>
              <a:rPr lang="en-IN" b="1" dirty="0">
                <a:solidFill>
                  <a:srgbClr val="FF0000"/>
                </a:solidFill>
              </a:rPr>
              <a:t> </a:t>
            </a:r>
            <a:r>
              <a:rPr lang="en-IN" dirty="0"/>
              <a:t>compared to array because along with value it stores pointer to next node.</a:t>
            </a:r>
          </a:p>
          <a:p>
            <a:r>
              <a:rPr lang="en-IN" dirty="0"/>
              <a:t>Linked lists are among the simplest and most common data structures. They can be used to implement other data structures like stacks, queues, and symbolic expressions, etc…</a:t>
            </a:r>
            <a:endParaRPr lang="en-US" dirty="0"/>
          </a:p>
          <a:p>
            <a:endParaRPr lang="en-US" dirty="0"/>
          </a:p>
          <a:p>
            <a:endParaRPr lang="en-US" dirty="0"/>
          </a:p>
        </p:txBody>
      </p:sp>
      <p:sp>
        <p:nvSpPr>
          <p:cNvPr id="5" name="Rectangle 4"/>
          <p:cNvSpPr/>
          <p:nvPr/>
        </p:nvSpPr>
        <p:spPr>
          <a:xfrm>
            <a:off x="2190468"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6" name="Rectangle 5"/>
          <p:cNvSpPr/>
          <p:nvPr/>
        </p:nvSpPr>
        <p:spPr>
          <a:xfrm>
            <a:off x="2960710"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8" name="Rectangle 7"/>
          <p:cNvSpPr/>
          <p:nvPr/>
        </p:nvSpPr>
        <p:spPr>
          <a:xfrm>
            <a:off x="4125907"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9" name="Rectangle 8"/>
          <p:cNvSpPr/>
          <p:nvPr/>
        </p:nvSpPr>
        <p:spPr>
          <a:xfrm>
            <a:off x="4896149"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11" name="Rectangle 10"/>
          <p:cNvSpPr/>
          <p:nvPr/>
        </p:nvSpPr>
        <p:spPr>
          <a:xfrm>
            <a:off x="6030907"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12" name="Rectangle 11"/>
          <p:cNvSpPr/>
          <p:nvPr/>
        </p:nvSpPr>
        <p:spPr>
          <a:xfrm>
            <a:off x="6801149"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14" name="Rectangle 13"/>
          <p:cNvSpPr/>
          <p:nvPr/>
        </p:nvSpPr>
        <p:spPr>
          <a:xfrm>
            <a:off x="7935907"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15" name="Rectangle 14"/>
          <p:cNvSpPr/>
          <p:nvPr/>
        </p:nvSpPr>
        <p:spPr>
          <a:xfrm>
            <a:off x="8706149" y="21849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cxnSp>
        <p:nvCxnSpPr>
          <p:cNvPr id="16" name="Straight Arrow Connector 15"/>
          <p:cNvCxnSpPr>
            <a:stCxn id="6" idx="3"/>
            <a:endCxn id="8" idx="1"/>
          </p:cNvCxnSpPr>
          <p:nvPr/>
        </p:nvCxnSpPr>
        <p:spPr>
          <a:xfrm>
            <a:off x="3722711" y="2451629"/>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5658149" y="2451629"/>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7563149" y="2451629"/>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8697907" y="2184929"/>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20" name="TextBox 19"/>
          <p:cNvSpPr txBox="1"/>
          <p:nvPr/>
        </p:nvSpPr>
        <p:spPr>
          <a:xfrm>
            <a:off x="3024207" y="2272797"/>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21" name="TextBox 20"/>
          <p:cNvSpPr txBox="1"/>
          <p:nvPr/>
        </p:nvSpPr>
        <p:spPr>
          <a:xfrm>
            <a:off x="4949085" y="2261129"/>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sp>
        <p:nvSpPr>
          <p:cNvPr id="22" name="TextBox 21"/>
          <p:cNvSpPr txBox="1"/>
          <p:nvPr/>
        </p:nvSpPr>
        <p:spPr>
          <a:xfrm>
            <a:off x="6860712" y="2261129"/>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sp>
        <p:nvSpPr>
          <p:cNvPr id="23" name="Rectangle 22"/>
          <p:cNvSpPr/>
          <p:nvPr/>
        </p:nvSpPr>
        <p:spPr>
          <a:xfrm>
            <a:off x="2209800"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24" name="Rectangle 23"/>
          <p:cNvSpPr/>
          <p:nvPr/>
        </p:nvSpPr>
        <p:spPr>
          <a:xfrm>
            <a:off x="2980042"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5" name="Rectangle 24"/>
          <p:cNvSpPr/>
          <p:nvPr/>
        </p:nvSpPr>
        <p:spPr>
          <a:xfrm>
            <a:off x="4145239"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26" name="Rectangle 25"/>
          <p:cNvSpPr/>
          <p:nvPr/>
        </p:nvSpPr>
        <p:spPr>
          <a:xfrm>
            <a:off x="4915481"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7" name="Rectangle 26"/>
          <p:cNvSpPr/>
          <p:nvPr/>
        </p:nvSpPr>
        <p:spPr>
          <a:xfrm>
            <a:off x="6050239"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28" name="Rectangle 27"/>
          <p:cNvSpPr/>
          <p:nvPr/>
        </p:nvSpPr>
        <p:spPr>
          <a:xfrm>
            <a:off x="6820481"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9" name="Rectangle 28"/>
          <p:cNvSpPr/>
          <p:nvPr/>
        </p:nvSpPr>
        <p:spPr>
          <a:xfrm>
            <a:off x="7955239"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30" name="Rectangle 29"/>
          <p:cNvSpPr/>
          <p:nvPr/>
        </p:nvSpPr>
        <p:spPr>
          <a:xfrm>
            <a:off x="8725481" y="3480329"/>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cxnSp>
        <p:nvCxnSpPr>
          <p:cNvPr id="31" name="Straight Arrow Connector 30"/>
          <p:cNvCxnSpPr/>
          <p:nvPr/>
        </p:nvCxnSpPr>
        <p:spPr>
          <a:xfrm>
            <a:off x="3742043" y="3708929"/>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p:nvPr/>
        </p:nvCxnSpPr>
        <p:spPr>
          <a:xfrm>
            <a:off x="7582481" y="3785129"/>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4" name="Straight Connector 33"/>
          <p:cNvCxnSpPr/>
          <p:nvPr/>
        </p:nvCxnSpPr>
        <p:spPr>
          <a:xfrm flipH="1">
            <a:off x="8717239" y="3480329"/>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35" name="TextBox 34"/>
          <p:cNvSpPr txBox="1"/>
          <p:nvPr/>
        </p:nvSpPr>
        <p:spPr>
          <a:xfrm>
            <a:off x="3043539" y="3568197"/>
            <a:ext cx="652743" cy="369332"/>
          </a:xfrm>
          <a:prstGeom prst="rect">
            <a:avLst/>
          </a:prstGeom>
          <a:noFill/>
        </p:spPr>
        <p:txBody>
          <a:bodyPr wrap="none" rtlCol="0">
            <a:spAutoFit/>
          </a:bodyPr>
          <a:lstStyle/>
          <a:p>
            <a:r>
              <a:rPr lang="en-IN" b="1" dirty="0">
                <a:solidFill>
                  <a:srgbClr val="FFFF00"/>
                </a:solidFill>
              </a:rPr>
              <a:t>1000</a:t>
            </a:r>
            <a:endParaRPr lang="en-US" b="1" dirty="0">
              <a:solidFill>
                <a:srgbClr val="FFFF00"/>
              </a:solidFill>
            </a:endParaRPr>
          </a:p>
        </p:txBody>
      </p:sp>
      <p:sp>
        <p:nvSpPr>
          <p:cNvPr id="37" name="TextBox 36"/>
          <p:cNvSpPr txBox="1"/>
          <p:nvPr/>
        </p:nvSpPr>
        <p:spPr>
          <a:xfrm>
            <a:off x="6880044" y="3556529"/>
            <a:ext cx="652743" cy="369332"/>
          </a:xfrm>
          <a:prstGeom prst="rect">
            <a:avLst/>
          </a:prstGeom>
          <a:noFill/>
        </p:spPr>
        <p:txBody>
          <a:bodyPr wrap="none" rtlCol="0">
            <a:spAutoFit/>
          </a:bodyPr>
          <a:lstStyle/>
          <a:p>
            <a:r>
              <a:rPr lang="en-IN" b="1" dirty="0">
                <a:solidFill>
                  <a:srgbClr val="FFFF00"/>
                </a:solidFill>
              </a:rPr>
              <a:t>3335</a:t>
            </a:r>
            <a:endParaRPr lang="en-US" b="1" dirty="0">
              <a:solidFill>
                <a:srgbClr val="FFFF00"/>
              </a:solidFill>
            </a:endParaRPr>
          </a:p>
        </p:txBody>
      </p:sp>
      <p:sp>
        <p:nvSpPr>
          <p:cNvPr id="38" name="TextBox 37"/>
          <p:cNvSpPr txBox="1"/>
          <p:nvPr/>
        </p:nvSpPr>
        <p:spPr>
          <a:xfrm>
            <a:off x="4968417" y="3578563"/>
            <a:ext cx="652743" cy="369332"/>
          </a:xfrm>
          <a:prstGeom prst="rect">
            <a:avLst/>
          </a:prstGeom>
          <a:noFill/>
        </p:spPr>
        <p:txBody>
          <a:bodyPr wrap="none" rtlCol="0">
            <a:spAutoFit/>
          </a:bodyPr>
          <a:lstStyle/>
          <a:p>
            <a:r>
              <a:rPr lang="en-IN" b="1" dirty="0">
                <a:solidFill>
                  <a:srgbClr val="FFFF00"/>
                </a:solidFill>
              </a:rPr>
              <a:t>2050</a:t>
            </a:r>
            <a:endParaRPr lang="en-US" b="1" dirty="0">
              <a:solidFill>
                <a:srgbClr val="FFFF00"/>
              </a:solidFill>
            </a:endParaRPr>
          </a:p>
        </p:txBody>
      </p:sp>
      <p:cxnSp>
        <p:nvCxnSpPr>
          <p:cNvPr id="39" name="Straight Connector 38"/>
          <p:cNvCxnSpPr/>
          <p:nvPr/>
        </p:nvCxnSpPr>
        <p:spPr>
          <a:xfrm flipH="1">
            <a:off x="4915502" y="3479870"/>
            <a:ext cx="770242" cy="5334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43" name="TextBox 42"/>
          <p:cNvSpPr txBox="1"/>
          <p:nvPr/>
        </p:nvSpPr>
        <p:spPr>
          <a:xfrm>
            <a:off x="4597723" y="2696795"/>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44" name="TextBox 43"/>
          <p:cNvSpPr txBox="1"/>
          <p:nvPr/>
        </p:nvSpPr>
        <p:spPr>
          <a:xfrm>
            <a:off x="6504338" y="2710046"/>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45" name="TextBox 44"/>
          <p:cNvSpPr txBox="1"/>
          <p:nvPr/>
        </p:nvSpPr>
        <p:spPr>
          <a:xfrm>
            <a:off x="8432456" y="2710046"/>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46" name="TextBox 45"/>
          <p:cNvSpPr txBox="1"/>
          <p:nvPr/>
        </p:nvSpPr>
        <p:spPr>
          <a:xfrm>
            <a:off x="2667833" y="2708463"/>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cxnSp>
        <p:nvCxnSpPr>
          <p:cNvPr id="48" name="Straight Arrow Connector 47"/>
          <p:cNvCxnSpPr/>
          <p:nvPr/>
        </p:nvCxnSpPr>
        <p:spPr>
          <a:xfrm>
            <a:off x="5690191" y="3785129"/>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0" name="TextBox 49"/>
          <p:cNvSpPr txBox="1"/>
          <p:nvPr/>
        </p:nvSpPr>
        <p:spPr>
          <a:xfrm>
            <a:off x="4597723" y="3992195"/>
            <a:ext cx="652743" cy="369332"/>
          </a:xfrm>
          <a:prstGeom prst="rect">
            <a:avLst/>
          </a:prstGeom>
          <a:noFill/>
        </p:spPr>
        <p:txBody>
          <a:bodyPr wrap="none" rtlCol="0">
            <a:spAutoFit/>
          </a:bodyPr>
          <a:lstStyle/>
          <a:p>
            <a:r>
              <a:rPr lang="en-IN" b="1" dirty="0">
                <a:solidFill>
                  <a:srgbClr val="C00000"/>
                </a:solidFill>
              </a:rPr>
              <a:t>1000</a:t>
            </a:r>
            <a:endParaRPr lang="en-US" b="1" dirty="0">
              <a:solidFill>
                <a:srgbClr val="C00000"/>
              </a:solidFill>
            </a:endParaRPr>
          </a:p>
        </p:txBody>
      </p:sp>
      <p:sp>
        <p:nvSpPr>
          <p:cNvPr id="51" name="TextBox 50"/>
          <p:cNvSpPr txBox="1"/>
          <p:nvPr/>
        </p:nvSpPr>
        <p:spPr>
          <a:xfrm>
            <a:off x="6504338" y="4005446"/>
            <a:ext cx="652743" cy="369332"/>
          </a:xfrm>
          <a:prstGeom prst="rect">
            <a:avLst/>
          </a:prstGeom>
          <a:noFill/>
        </p:spPr>
        <p:txBody>
          <a:bodyPr wrap="none" rtlCol="0">
            <a:spAutoFit/>
          </a:bodyPr>
          <a:lstStyle/>
          <a:p>
            <a:r>
              <a:rPr lang="en-IN" b="1" dirty="0">
                <a:solidFill>
                  <a:srgbClr val="C00000"/>
                </a:solidFill>
              </a:rPr>
              <a:t>2050</a:t>
            </a:r>
            <a:endParaRPr lang="en-US" b="1" dirty="0">
              <a:solidFill>
                <a:srgbClr val="C00000"/>
              </a:solidFill>
            </a:endParaRPr>
          </a:p>
        </p:txBody>
      </p:sp>
      <p:sp>
        <p:nvSpPr>
          <p:cNvPr id="52" name="TextBox 51"/>
          <p:cNvSpPr txBox="1"/>
          <p:nvPr/>
        </p:nvSpPr>
        <p:spPr>
          <a:xfrm>
            <a:off x="8432456" y="4005446"/>
            <a:ext cx="652743" cy="369332"/>
          </a:xfrm>
          <a:prstGeom prst="rect">
            <a:avLst/>
          </a:prstGeom>
          <a:noFill/>
        </p:spPr>
        <p:txBody>
          <a:bodyPr wrap="none" rtlCol="0">
            <a:spAutoFit/>
          </a:bodyPr>
          <a:lstStyle/>
          <a:p>
            <a:r>
              <a:rPr lang="en-IN" b="1" dirty="0">
                <a:solidFill>
                  <a:srgbClr val="C00000"/>
                </a:solidFill>
              </a:rPr>
              <a:t>3335</a:t>
            </a:r>
            <a:endParaRPr lang="en-US" b="1" dirty="0">
              <a:solidFill>
                <a:srgbClr val="C00000"/>
              </a:solidFill>
            </a:endParaRPr>
          </a:p>
        </p:txBody>
      </p:sp>
      <p:sp>
        <p:nvSpPr>
          <p:cNvPr id="53" name="TextBox 52"/>
          <p:cNvSpPr txBox="1"/>
          <p:nvPr/>
        </p:nvSpPr>
        <p:spPr>
          <a:xfrm>
            <a:off x="2667833" y="4003863"/>
            <a:ext cx="652743" cy="369332"/>
          </a:xfrm>
          <a:prstGeom prst="rect">
            <a:avLst/>
          </a:prstGeom>
          <a:noFill/>
        </p:spPr>
        <p:txBody>
          <a:bodyPr wrap="none" rtlCol="0">
            <a:spAutoFit/>
          </a:bodyPr>
          <a:lstStyle/>
          <a:p>
            <a:r>
              <a:rPr lang="en-IN" b="1" dirty="0">
                <a:solidFill>
                  <a:srgbClr val="C00000"/>
                </a:solidFill>
              </a:rPr>
              <a:t>5000</a:t>
            </a:r>
            <a:endParaRPr lang="en-US" b="1" dirty="0">
              <a:solidFill>
                <a:srgbClr val="C00000"/>
              </a:solidFill>
            </a:endParaRPr>
          </a:p>
        </p:txBody>
      </p:sp>
    </p:spTree>
    <p:extLst>
      <p:ext uri="{BB962C8B-B14F-4D97-AF65-F5344CB8AC3E}">
        <p14:creationId xmlns:p14="http://schemas.microsoft.com/office/powerpoint/2010/main" val="108564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1" nodeType="clickEffect">
                                  <p:stCondLst>
                                    <p:cond delay="0"/>
                                  </p:stCondLst>
                                  <p:childTnLst>
                                    <p:set>
                                      <p:cBhvr>
                                        <p:cTn id="92" dur="1" fill="hold">
                                          <p:stCondLst>
                                            <p:cond delay="0"/>
                                          </p:stCondLst>
                                        </p:cTn>
                                        <p:tgtEl>
                                          <p:spTgt spid="38"/>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48"/>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8" grpId="0" animBg="1"/>
      <p:bldP spid="9" grpId="0" animBg="1"/>
      <p:bldP spid="11" grpId="0" animBg="1"/>
      <p:bldP spid="12" grpId="0" animBg="1"/>
      <p:bldP spid="14" grpId="0" animBg="1"/>
      <p:bldP spid="15" grpId="0" animBg="1"/>
      <p:bldP spid="20" grpId="0"/>
      <p:bldP spid="21" grpId="0"/>
      <p:bldP spid="22" grpId="0"/>
      <p:bldP spid="23" grpId="0" animBg="1"/>
      <p:bldP spid="24" grpId="0" animBg="1"/>
      <p:bldP spid="25" grpId="0" animBg="1"/>
      <p:bldP spid="26" grpId="0" animBg="1"/>
      <p:bldP spid="27" grpId="0" animBg="1"/>
      <p:bldP spid="28" grpId="0" animBg="1"/>
      <p:bldP spid="29" grpId="0" animBg="1"/>
      <p:bldP spid="30" grpId="0" animBg="1"/>
      <p:bldP spid="35" grpId="0"/>
      <p:bldP spid="37" grpId="0"/>
      <p:bldP spid="38" grpId="0"/>
      <p:bldP spid="38" grpId="1"/>
      <p:bldP spid="43" grpId="0"/>
      <p:bldP spid="44" grpId="0"/>
      <p:bldP spid="45" grpId="0"/>
      <p:bldP spid="46" grpId="0"/>
      <p:bldP spid="50" grpId="0"/>
      <p:bldP spid="51" grpId="0"/>
      <p:bldP spid="52" grpId="0"/>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Operations &amp; Type of Linked List</a:t>
            </a:r>
            <a:endParaRPr lang="en-US" dirty="0"/>
          </a:p>
        </p:txBody>
      </p:sp>
      <p:sp>
        <p:nvSpPr>
          <p:cNvPr id="5" name="Content Placeholder 2"/>
          <p:cNvSpPr txBox="1">
            <a:spLocks/>
          </p:cNvSpPr>
          <p:nvPr/>
        </p:nvSpPr>
        <p:spPr>
          <a:xfrm>
            <a:off x="6252707" y="1461527"/>
            <a:ext cx="3429000" cy="1447800"/>
          </a:xfrm>
          <a:prstGeom prst="rect">
            <a:avLst/>
          </a:prstGeom>
        </p:spPr>
        <p:txBody>
          <a:bodyPr vert="horz" lIns="91440" tIns="45720" rIns="91440" bIns="45720" rtlCol="0">
            <a:normAutofit/>
          </a:bodyPr>
          <a:lstStyle>
            <a:lvl1pPr marL="342900" indent="-342900" algn="just" defTabSz="914400" rtl="0" eaLnBrk="1" latinLnBrk="0" hangingPunct="1">
              <a:lnSpc>
                <a:spcPct val="90000"/>
              </a:lnSpc>
              <a:spcBef>
                <a:spcPts val="600"/>
              </a:spcBef>
              <a:buClrTx/>
              <a:buFont typeface="Wingdings" panose="05000000000000000000" pitchFamily="2" charset="2"/>
              <a:buChar char="§"/>
              <a:defRPr lang="en-US" sz="2400" kern="1200" dirty="0" smtClean="0">
                <a:solidFill>
                  <a:schemeClr val="tx1"/>
                </a:solidFill>
                <a:latin typeface="+mj-lt"/>
                <a:ea typeface="Times New Roman" panose="02020603050405020304" pitchFamily="18" charset="0"/>
                <a:cs typeface="Times New Roman" panose="02020603050405020304" pitchFamily="18" charset="0"/>
              </a:defRPr>
            </a:lvl1pPr>
            <a:lvl2pPr marL="704850" indent="-342900" algn="just" defTabSz="914400" rtl="0" eaLnBrk="1" latinLnBrk="0" hangingPunct="1">
              <a:lnSpc>
                <a:spcPct val="90000"/>
              </a:lnSpc>
              <a:spcBef>
                <a:spcPts val="600"/>
              </a:spcBef>
              <a:buClrTx/>
              <a:buFont typeface="Arial" panose="020B0604020202020204" pitchFamily="34" charset="0"/>
              <a:buChar char="•"/>
              <a:defRPr lang="en-US" sz="2300" kern="1200" dirty="0" smtClean="0">
                <a:solidFill>
                  <a:schemeClr val="tx1"/>
                </a:solidFill>
                <a:latin typeface="+mj-lt"/>
                <a:ea typeface="Times New Roman" panose="02020603050405020304" pitchFamily="18" charset="0"/>
                <a:cs typeface="Times New Roman" panose="02020603050405020304" pitchFamily="18" charset="0"/>
              </a:defRPr>
            </a:lvl2pPr>
            <a:lvl3pPr marL="968375" indent="-342900" algn="just" defTabSz="914400" rtl="0" eaLnBrk="1" latinLnBrk="0" hangingPunct="1">
              <a:lnSpc>
                <a:spcPct val="90000"/>
              </a:lnSpc>
              <a:spcBef>
                <a:spcPts val="600"/>
              </a:spcBef>
              <a:buClrTx/>
              <a:buFont typeface="Arial" pitchFamily="34" charset="0"/>
              <a:buChar char="•"/>
              <a:defRPr lang="en-US" sz="2200" kern="1200" dirty="0" smtClean="0">
                <a:solidFill>
                  <a:schemeClr val="tx1"/>
                </a:solidFill>
                <a:latin typeface="+mj-lt"/>
                <a:ea typeface="Times New Roman" panose="02020603050405020304" pitchFamily="18" charset="0"/>
                <a:cs typeface="Times New Roman" panose="02020603050405020304" pitchFamily="18" charset="0"/>
              </a:defRPr>
            </a:lvl3pPr>
            <a:lvl4pPr marL="1239837" indent="-342900" algn="just" defTabSz="914400" rtl="0" eaLnBrk="1" latinLnBrk="0" hangingPunct="1">
              <a:lnSpc>
                <a:spcPct val="90000"/>
              </a:lnSpc>
              <a:spcBef>
                <a:spcPts val="600"/>
              </a:spcBef>
              <a:buClrTx/>
              <a:buFont typeface="Arial" pitchFamily="34" charset="0"/>
              <a:buChar char="–"/>
              <a:defRPr lang="en-US" sz="2000" kern="1200" dirty="0" smtClean="0">
                <a:solidFill>
                  <a:schemeClr val="tx1"/>
                </a:solidFill>
                <a:latin typeface="+mj-lt"/>
                <a:ea typeface="Times New Roman" panose="02020603050405020304" pitchFamily="18" charset="0"/>
                <a:cs typeface="Times New Roman" panose="02020603050405020304" pitchFamily="18" charset="0"/>
              </a:defRPr>
            </a:lvl4pPr>
            <a:lvl5pPr marL="1454150" indent="-285750" algn="just" defTabSz="914400" rtl="0" eaLnBrk="1" latinLnBrk="0" hangingPunct="1">
              <a:lnSpc>
                <a:spcPct val="90000"/>
              </a:lnSpc>
              <a:spcBef>
                <a:spcPts val="600"/>
              </a:spcBef>
              <a:buClrTx/>
              <a:buFont typeface="Arial" pitchFamily="34" charset="0"/>
              <a:buChar char="»"/>
              <a:defRPr lang="en-US" sz="1600" kern="1200" dirty="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dirty="0"/>
              <a:t>Singly Linked List</a:t>
            </a:r>
          </a:p>
          <a:p>
            <a:r>
              <a:rPr lang="en-IN" dirty="0"/>
              <a:t>Circular Linked List</a:t>
            </a:r>
          </a:p>
          <a:p>
            <a:r>
              <a:rPr lang="en-IN" dirty="0"/>
              <a:t>Doubly Linked List</a:t>
            </a:r>
          </a:p>
        </p:txBody>
      </p:sp>
      <p:sp>
        <p:nvSpPr>
          <p:cNvPr id="7" name="Content Placeholder 2"/>
          <p:cNvSpPr txBox="1">
            <a:spLocks/>
          </p:cNvSpPr>
          <p:nvPr/>
        </p:nvSpPr>
        <p:spPr>
          <a:xfrm>
            <a:off x="179294" y="1461527"/>
            <a:ext cx="4114800" cy="2971800"/>
          </a:xfrm>
          <a:prstGeom prst="rect">
            <a:avLst/>
          </a:prstGeom>
        </p:spPr>
        <p:txBody>
          <a:bodyPr vert="horz" lIns="91440" tIns="45720" rIns="91440" bIns="45720" rtlCol="0">
            <a:normAutofit/>
          </a:bodyPr>
          <a:lstStyle>
            <a:lvl1pPr marL="342900" indent="-342900" algn="just" defTabSz="914400" rtl="0" eaLnBrk="1" latinLnBrk="0" hangingPunct="1">
              <a:lnSpc>
                <a:spcPct val="90000"/>
              </a:lnSpc>
              <a:spcBef>
                <a:spcPts val="600"/>
              </a:spcBef>
              <a:buClrTx/>
              <a:buFont typeface="Wingdings" panose="05000000000000000000" pitchFamily="2" charset="2"/>
              <a:buChar char="§"/>
              <a:defRPr lang="en-US" sz="2400" kern="1200" dirty="0" smtClean="0">
                <a:solidFill>
                  <a:schemeClr val="tx1"/>
                </a:solidFill>
                <a:latin typeface="+mj-lt"/>
                <a:ea typeface="Times New Roman" panose="02020603050405020304" pitchFamily="18" charset="0"/>
                <a:cs typeface="Times New Roman" panose="02020603050405020304" pitchFamily="18" charset="0"/>
              </a:defRPr>
            </a:lvl1pPr>
            <a:lvl2pPr marL="704850" indent="-342900" algn="just" defTabSz="914400" rtl="0" eaLnBrk="1" latinLnBrk="0" hangingPunct="1">
              <a:lnSpc>
                <a:spcPct val="90000"/>
              </a:lnSpc>
              <a:spcBef>
                <a:spcPts val="600"/>
              </a:spcBef>
              <a:buClrTx/>
              <a:buFont typeface="Arial" panose="020B0604020202020204" pitchFamily="34" charset="0"/>
              <a:buChar char="•"/>
              <a:defRPr lang="en-US" sz="2300" kern="1200" dirty="0" smtClean="0">
                <a:solidFill>
                  <a:schemeClr val="tx1"/>
                </a:solidFill>
                <a:latin typeface="+mj-lt"/>
                <a:ea typeface="Times New Roman" panose="02020603050405020304" pitchFamily="18" charset="0"/>
                <a:cs typeface="Times New Roman" panose="02020603050405020304" pitchFamily="18" charset="0"/>
              </a:defRPr>
            </a:lvl2pPr>
            <a:lvl3pPr marL="968375" indent="-342900" algn="just" defTabSz="914400" rtl="0" eaLnBrk="1" latinLnBrk="0" hangingPunct="1">
              <a:lnSpc>
                <a:spcPct val="90000"/>
              </a:lnSpc>
              <a:spcBef>
                <a:spcPts val="600"/>
              </a:spcBef>
              <a:buClrTx/>
              <a:buFont typeface="Arial" pitchFamily="34" charset="0"/>
              <a:buChar char="•"/>
              <a:defRPr lang="en-US" sz="2200" kern="1200" dirty="0" smtClean="0">
                <a:solidFill>
                  <a:schemeClr val="tx1"/>
                </a:solidFill>
                <a:latin typeface="+mj-lt"/>
                <a:ea typeface="Times New Roman" panose="02020603050405020304" pitchFamily="18" charset="0"/>
                <a:cs typeface="Times New Roman" panose="02020603050405020304" pitchFamily="18" charset="0"/>
              </a:defRPr>
            </a:lvl3pPr>
            <a:lvl4pPr marL="1239837" indent="-342900" algn="just" defTabSz="914400" rtl="0" eaLnBrk="1" latinLnBrk="0" hangingPunct="1">
              <a:lnSpc>
                <a:spcPct val="90000"/>
              </a:lnSpc>
              <a:spcBef>
                <a:spcPts val="600"/>
              </a:spcBef>
              <a:buClrTx/>
              <a:buFont typeface="Arial" pitchFamily="34" charset="0"/>
              <a:buChar char="–"/>
              <a:defRPr lang="en-US" sz="2000" kern="1200" dirty="0" smtClean="0">
                <a:solidFill>
                  <a:schemeClr val="tx1"/>
                </a:solidFill>
                <a:latin typeface="+mj-lt"/>
                <a:ea typeface="Times New Roman" panose="02020603050405020304" pitchFamily="18" charset="0"/>
                <a:cs typeface="Times New Roman" panose="02020603050405020304" pitchFamily="18" charset="0"/>
              </a:defRPr>
            </a:lvl4pPr>
            <a:lvl5pPr marL="1454150" indent="-285750" algn="just" defTabSz="914400" rtl="0" eaLnBrk="1" latinLnBrk="0" hangingPunct="1">
              <a:lnSpc>
                <a:spcPct val="90000"/>
              </a:lnSpc>
              <a:spcBef>
                <a:spcPts val="600"/>
              </a:spcBef>
              <a:buClrTx/>
              <a:buFont typeface="Arial" pitchFamily="34" charset="0"/>
              <a:buChar char="»"/>
              <a:defRPr lang="en-US" sz="1600" kern="1200" dirty="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dirty="0"/>
              <a:t>Insert</a:t>
            </a:r>
          </a:p>
          <a:p>
            <a:pPr lvl="1"/>
            <a:r>
              <a:rPr lang="en-IN" dirty="0"/>
              <a:t>Insert at first position</a:t>
            </a:r>
          </a:p>
          <a:p>
            <a:pPr lvl="1"/>
            <a:r>
              <a:rPr lang="en-IN" dirty="0"/>
              <a:t>Insert at last position</a:t>
            </a:r>
          </a:p>
          <a:p>
            <a:pPr lvl="1"/>
            <a:r>
              <a:rPr lang="en-IN" dirty="0"/>
              <a:t>Insert into ordered list</a:t>
            </a:r>
          </a:p>
          <a:p>
            <a:r>
              <a:rPr lang="en-IN" dirty="0"/>
              <a:t>Delete</a:t>
            </a:r>
          </a:p>
          <a:p>
            <a:r>
              <a:rPr lang="en-IN" dirty="0"/>
              <a:t>Traverse list (Print list)</a:t>
            </a:r>
          </a:p>
          <a:p>
            <a:r>
              <a:rPr lang="en-US" dirty="0"/>
              <a:t>Copy linked list</a:t>
            </a:r>
          </a:p>
        </p:txBody>
      </p:sp>
      <p:sp>
        <p:nvSpPr>
          <p:cNvPr id="8" name="TextBox 7"/>
          <p:cNvSpPr txBox="1"/>
          <p:nvPr/>
        </p:nvSpPr>
        <p:spPr>
          <a:xfrm>
            <a:off x="179294" y="824754"/>
            <a:ext cx="5760000"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IN" sz="2800" b="1" dirty="0"/>
              <a:t>Operations on Linked List</a:t>
            </a:r>
          </a:p>
        </p:txBody>
      </p:sp>
      <p:sp>
        <p:nvSpPr>
          <p:cNvPr id="9" name="TextBox 8"/>
          <p:cNvSpPr txBox="1"/>
          <p:nvPr/>
        </p:nvSpPr>
        <p:spPr>
          <a:xfrm>
            <a:off x="6239260" y="824754"/>
            <a:ext cx="5760000"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IN" sz="2800" b="1" dirty="0"/>
              <a:t>Types of Linked List</a:t>
            </a:r>
          </a:p>
        </p:txBody>
      </p:sp>
      <p:cxnSp>
        <p:nvCxnSpPr>
          <p:cNvPr id="11" name="Straight Connector 10"/>
          <p:cNvCxnSpPr/>
          <p:nvPr/>
        </p:nvCxnSpPr>
        <p:spPr>
          <a:xfrm>
            <a:off x="6096000" y="824754"/>
            <a:ext cx="0" cy="38862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972496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Singly Linked List</a:t>
            </a:r>
            <a:endParaRPr lang="en-US" dirty="0"/>
          </a:p>
        </p:txBody>
      </p:sp>
      <p:sp>
        <p:nvSpPr>
          <p:cNvPr id="3" name="Content Placeholder 2"/>
          <p:cNvSpPr>
            <a:spLocks noGrp="1"/>
          </p:cNvSpPr>
          <p:nvPr>
            <p:ph idx="1"/>
          </p:nvPr>
        </p:nvSpPr>
        <p:spPr>
          <a:xfrm>
            <a:off x="131180" y="2501154"/>
            <a:ext cx="11929641" cy="3952855"/>
          </a:xfrm>
        </p:spPr>
        <p:txBody>
          <a:bodyPr>
            <a:normAutofit/>
          </a:bodyPr>
          <a:lstStyle/>
          <a:p>
            <a:r>
              <a:rPr lang="en-IN" dirty="0"/>
              <a:t>It is basic type of linked list. </a:t>
            </a:r>
          </a:p>
          <a:p>
            <a:r>
              <a:rPr lang="en-IN" dirty="0"/>
              <a:t>Each node contains data and pointer to next node.  </a:t>
            </a:r>
          </a:p>
          <a:p>
            <a:r>
              <a:rPr lang="en-IN" dirty="0"/>
              <a:t>Last node’s pointer is null. </a:t>
            </a:r>
          </a:p>
          <a:p>
            <a:r>
              <a:rPr lang="en-IN" dirty="0"/>
              <a:t>First node address is available with pointer variable </a:t>
            </a:r>
            <a:r>
              <a:rPr lang="en-IN" b="1" dirty="0">
                <a:solidFill>
                  <a:srgbClr val="C00000"/>
                </a:solidFill>
              </a:rPr>
              <a:t>FIRST(or START)</a:t>
            </a:r>
            <a:r>
              <a:rPr lang="en-IN" dirty="0"/>
              <a:t>.</a:t>
            </a:r>
          </a:p>
          <a:p>
            <a:r>
              <a:rPr lang="en-IN" b="1" dirty="0">
                <a:solidFill>
                  <a:srgbClr val="C00000"/>
                </a:solidFill>
              </a:rPr>
              <a:t>Limitation</a:t>
            </a:r>
            <a:r>
              <a:rPr lang="en-IN" dirty="0">
                <a:solidFill>
                  <a:srgbClr val="C00000"/>
                </a:solidFill>
              </a:rPr>
              <a:t> </a:t>
            </a:r>
            <a:r>
              <a:rPr lang="en-IN" dirty="0"/>
              <a:t>of singly linked list is </a:t>
            </a:r>
            <a:r>
              <a:rPr lang="en-IN" b="1" dirty="0">
                <a:solidFill>
                  <a:srgbClr val="C00000"/>
                </a:solidFill>
              </a:rPr>
              <a:t>we can traverse only in one direction</a:t>
            </a:r>
            <a:r>
              <a:rPr lang="en-IN" dirty="0"/>
              <a:t>, forward direction.</a:t>
            </a:r>
          </a:p>
        </p:txBody>
      </p:sp>
      <p:grpSp>
        <p:nvGrpSpPr>
          <p:cNvPr id="16" name="Group 15"/>
          <p:cNvGrpSpPr/>
          <p:nvPr/>
        </p:nvGrpSpPr>
        <p:grpSpPr>
          <a:xfrm>
            <a:off x="2133600" y="1141222"/>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A</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next</a:t>
              </a:r>
              <a:endParaRPr lang="en-US" sz="2400" b="1" dirty="0"/>
            </a:p>
          </p:txBody>
        </p:sp>
      </p:grpSp>
      <p:grpSp>
        <p:nvGrpSpPr>
          <p:cNvPr id="17" name="Group 16"/>
          <p:cNvGrpSpPr/>
          <p:nvPr/>
        </p:nvGrpSpPr>
        <p:grpSpPr>
          <a:xfrm>
            <a:off x="4069039" y="1141222"/>
            <a:ext cx="1532242" cy="533400"/>
            <a:chOff x="951919" y="5486400"/>
            <a:chExt cx="1532242" cy="533400"/>
          </a:xfrm>
        </p:grpSpPr>
        <p:sp>
          <p:nvSpPr>
            <p:cNvPr id="18" name="Rectangle 1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B</a:t>
              </a:r>
              <a:endParaRPr lang="en-US" sz="2400" b="1" dirty="0"/>
            </a:p>
          </p:txBody>
        </p:sp>
        <p:sp>
          <p:nvSpPr>
            <p:cNvPr id="19" name="Rectangle 1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next</a:t>
              </a:r>
              <a:endParaRPr lang="en-US" sz="2400" b="1" dirty="0"/>
            </a:p>
          </p:txBody>
        </p:sp>
      </p:grpSp>
      <p:grpSp>
        <p:nvGrpSpPr>
          <p:cNvPr id="20" name="Group 19"/>
          <p:cNvGrpSpPr/>
          <p:nvPr/>
        </p:nvGrpSpPr>
        <p:grpSpPr>
          <a:xfrm>
            <a:off x="5974039" y="1141222"/>
            <a:ext cx="1532242" cy="533400"/>
            <a:chOff x="951919" y="5486400"/>
            <a:chExt cx="1532242" cy="533400"/>
          </a:xfrm>
        </p:grpSpPr>
        <p:sp>
          <p:nvSpPr>
            <p:cNvPr id="21" name="Rectangle 2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22" name="Rectangle 2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next</a:t>
              </a:r>
              <a:endParaRPr lang="en-US" sz="2400" b="1" dirty="0"/>
            </a:p>
          </p:txBody>
        </p:sp>
      </p:grpSp>
      <p:grpSp>
        <p:nvGrpSpPr>
          <p:cNvPr id="23" name="Group 22"/>
          <p:cNvGrpSpPr/>
          <p:nvPr/>
        </p:nvGrpSpPr>
        <p:grpSpPr>
          <a:xfrm>
            <a:off x="7879039" y="1141222"/>
            <a:ext cx="1532242" cy="533400"/>
            <a:chOff x="951919" y="5486400"/>
            <a:chExt cx="1532242" cy="533400"/>
          </a:xfrm>
        </p:grpSpPr>
        <p:sp>
          <p:nvSpPr>
            <p:cNvPr id="24" name="Rectangle 2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D</a:t>
              </a:r>
              <a:endParaRPr lang="en-US" sz="2400" b="1" dirty="0"/>
            </a:p>
          </p:txBody>
        </p:sp>
        <p:sp>
          <p:nvSpPr>
            <p:cNvPr id="25" name="Rectangle 2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7" name="Straight Arrow Connector 26"/>
          <p:cNvCxnSpPr>
            <a:stCxn id="15" idx="3"/>
            <a:endCxn id="18" idx="1"/>
          </p:cNvCxnSpPr>
          <p:nvPr/>
        </p:nvCxnSpPr>
        <p:spPr>
          <a:xfrm>
            <a:off x="3665843" y="1407922"/>
            <a:ext cx="403197"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Arrow Connector 28"/>
          <p:cNvCxnSpPr>
            <a:stCxn id="19" idx="3"/>
            <a:endCxn id="21" idx="1"/>
          </p:cNvCxnSpPr>
          <p:nvPr/>
        </p:nvCxnSpPr>
        <p:spPr>
          <a:xfrm>
            <a:off x="5601281" y="1407922"/>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a:stCxn id="22" idx="3"/>
            <a:endCxn id="24" idx="1"/>
          </p:cNvCxnSpPr>
          <p:nvPr/>
        </p:nvCxnSpPr>
        <p:spPr>
          <a:xfrm>
            <a:off x="7506281" y="1407922"/>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5" name="Straight Connector 34"/>
          <p:cNvCxnSpPr/>
          <p:nvPr/>
        </p:nvCxnSpPr>
        <p:spPr>
          <a:xfrm flipH="1">
            <a:off x="8641039" y="1141222"/>
            <a:ext cx="770242"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6" name="TextBox 25"/>
          <p:cNvSpPr txBox="1"/>
          <p:nvPr/>
        </p:nvSpPr>
        <p:spPr>
          <a:xfrm>
            <a:off x="2217322" y="1903222"/>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33" name="Straight Arrow Connector 32"/>
          <p:cNvCxnSpPr>
            <a:endCxn id="14" idx="2"/>
          </p:cNvCxnSpPr>
          <p:nvPr/>
        </p:nvCxnSpPr>
        <p:spPr>
          <a:xfrm flipV="1">
            <a:off x="2514600" y="1674622"/>
            <a:ext cx="0" cy="304800"/>
          </a:xfrm>
          <a:prstGeom prst="straightConnector1">
            <a:avLst/>
          </a:prstGeom>
          <a:ln w="28575">
            <a:solidFill>
              <a:srgbClr val="B84742"/>
            </a:solidFill>
            <a:tailEnd type="arrow"/>
          </a:ln>
        </p:spPr>
        <p:style>
          <a:lnRef idx="2">
            <a:schemeClr val="dk1"/>
          </a:lnRef>
          <a:fillRef idx="0">
            <a:schemeClr val="dk1"/>
          </a:fillRef>
          <a:effectRef idx="1">
            <a:schemeClr val="dk1"/>
          </a:effectRef>
          <a:fontRef idx="minor">
            <a:schemeClr val="tx1"/>
          </a:fontRef>
        </p:style>
      </p:cxnSp>
      <p:cxnSp>
        <p:nvCxnSpPr>
          <p:cNvPr id="37" name="Straight Arrow Connector 36"/>
          <p:cNvCxnSpPr>
            <a:endCxn id="25" idx="2"/>
          </p:cNvCxnSpPr>
          <p:nvPr/>
        </p:nvCxnSpPr>
        <p:spPr>
          <a:xfrm flipV="1">
            <a:off x="9030281" y="1674622"/>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0" name="Straight Connector 39"/>
          <p:cNvCxnSpPr/>
          <p:nvPr/>
        </p:nvCxnSpPr>
        <p:spPr>
          <a:xfrm>
            <a:off x="9030281" y="1979422"/>
            <a:ext cx="3810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41" name="TextBox 40"/>
          <p:cNvSpPr txBox="1"/>
          <p:nvPr/>
        </p:nvSpPr>
        <p:spPr>
          <a:xfrm>
            <a:off x="9474702" y="1762490"/>
            <a:ext cx="736099" cy="369332"/>
          </a:xfrm>
          <a:prstGeom prst="rect">
            <a:avLst/>
          </a:prstGeom>
          <a:noFill/>
        </p:spPr>
        <p:txBody>
          <a:bodyPr wrap="none" rtlCol="0">
            <a:spAutoFit/>
          </a:bodyPr>
          <a:lstStyle/>
          <a:p>
            <a:r>
              <a:rPr lang="en-IN" b="1" dirty="0">
                <a:solidFill>
                  <a:srgbClr val="C00000"/>
                </a:solidFill>
              </a:rPr>
              <a:t>NULL </a:t>
            </a:r>
            <a:endParaRPr lang="en-US" b="1" dirty="0">
              <a:solidFill>
                <a:srgbClr val="C00000"/>
              </a:solidFill>
            </a:endParaRPr>
          </a:p>
        </p:txBody>
      </p:sp>
    </p:spTree>
    <p:extLst>
      <p:ext uri="{BB962C8B-B14F-4D97-AF65-F5344CB8AC3E}">
        <p14:creationId xmlns:p14="http://schemas.microsoft.com/office/powerpoint/2010/main" val="2767306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Node Structure of Singly List</a:t>
            </a:r>
            <a:endParaRPr lang="en-US" dirty="0"/>
          </a:p>
        </p:txBody>
      </p:sp>
      <p:sp>
        <p:nvSpPr>
          <p:cNvPr id="19" name="Rectangle 18"/>
          <p:cNvSpPr/>
          <p:nvPr/>
        </p:nvSpPr>
        <p:spPr>
          <a:xfrm>
            <a:off x="4211776" y="3928792"/>
            <a:ext cx="5181600" cy="239580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4211776" y="1069480"/>
            <a:ext cx="5181600" cy="268168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384108" y="1317114"/>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Info</a:t>
            </a:r>
            <a:endParaRPr lang="en-US" sz="2400" b="1" dirty="0"/>
          </a:p>
        </p:txBody>
      </p:sp>
      <p:sp>
        <p:nvSpPr>
          <p:cNvPr id="22" name="Rectangle 21"/>
          <p:cNvSpPr/>
          <p:nvPr/>
        </p:nvSpPr>
        <p:spPr>
          <a:xfrm>
            <a:off x="6154350" y="1317114"/>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next</a:t>
            </a:r>
            <a:endParaRPr lang="en-US" sz="2400" b="1" dirty="0"/>
          </a:p>
        </p:txBody>
      </p:sp>
      <p:sp>
        <p:nvSpPr>
          <p:cNvPr id="23" name="TextBox 22"/>
          <p:cNvSpPr txBox="1"/>
          <p:nvPr/>
        </p:nvSpPr>
        <p:spPr>
          <a:xfrm>
            <a:off x="5369594" y="2536315"/>
            <a:ext cx="740908" cy="461665"/>
          </a:xfrm>
          <a:prstGeom prst="rect">
            <a:avLst/>
          </a:prstGeom>
          <a:noFill/>
        </p:spPr>
        <p:txBody>
          <a:bodyPr wrap="none" rtlCol="0">
            <a:spAutoFit/>
          </a:bodyPr>
          <a:lstStyle/>
          <a:p>
            <a:r>
              <a:rPr lang="en-IN" sz="2400" b="1" dirty="0"/>
              <a:t>Data</a:t>
            </a:r>
            <a:endParaRPr lang="en-US" sz="2400" b="1" dirty="0"/>
          </a:p>
        </p:txBody>
      </p:sp>
      <p:sp>
        <p:nvSpPr>
          <p:cNvPr id="24" name="TextBox 23"/>
          <p:cNvSpPr txBox="1"/>
          <p:nvPr/>
        </p:nvSpPr>
        <p:spPr>
          <a:xfrm>
            <a:off x="6321210" y="2550832"/>
            <a:ext cx="1476686" cy="830997"/>
          </a:xfrm>
          <a:prstGeom prst="rect">
            <a:avLst/>
          </a:prstGeom>
          <a:noFill/>
        </p:spPr>
        <p:txBody>
          <a:bodyPr wrap="none" rtlCol="0">
            <a:spAutoFit/>
          </a:bodyPr>
          <a:lstStyle/>
          <a:p>
            <a:r>
              <a:rPr lang="en-IN" sz="2400" b="1" dirty="0"/>
              <a:t>Pointer to </a:t>
            </a:r>
            <a:br>
              <a:rPr lang="en-IN" sz="2400" b="1" dirty="0"/>
            </a:br>
            <a:r>
              <a:rPr lang="en-IN" sz="2400" b="1" dirty="0"/>
              <a:t>Next Node</a:t>
            </a:r>
            <a:endParaRPr lang="en-US" sz="2400" b="1" dirty="0"/>
          </a:p>
        </p:txBody>
      </p:sp>
      <p:cxnSp>
        <p:nvCxnSpPr>
          <p:cNvPr id="25" name="Straight Arrow Connector 24"/>
          <p:cNvCxnSpPr>
            <a:stCxn id="23" idx="0"/>
            <a:endCxn id="21" idx="2"/>
          </p:cNvCxnSpPr>
          <p:nvPr/>
        </p:nvCxnSpPr>
        <p:spPr>
          <a:xfrm flipV="1">
            <a:off x="5740048" y="1850514"/>
            <a:ext cx="25060" cy="685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p:nvPr/>
        </p:nvCxnSpPr>
        <p:spPr>
          <a:xfrm flipV="1">
            <a:off x="6535350" y="1850515"/>
            <a:ext cx="0" cy="70031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7" name="Left Brace 26"/>
          <p:cNvSpPr/>
          <p:nvPr/>
        </p:nvSpPr>
        <p:spPr>
          <a:xfrm>
            <a:off x="4891820" y="1240080"/>
            <a:ext cx="457200" cy="1909465"/>
          </a:xfrm>
          <a:prstGeom prst="leftBrace">
            <a:avLst/>
          </a:prstGeom>
          <a:ln w="28575">
            <a:solidFill>
              <a:srgbClr val="B84742"/>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28" name="TextBox 27"/>
          <p:cNvSpPr txBox="1"/>
          <p:nvPr/>
        </p:nvSpPr>
        <p:spPr>
          <a:xfrm>
            <a:off x="4364176" y="1851856"/>
            <a:ext cx="553998" cy="735138"/>
          </a:xfrm>
          <a:prstGeom prst="rect">
            <a:avLst/>
          </a:prstGeom>
          <a:noFill/>
        </p:spPr>
        <p:txBody>
          <a:bodyPr vert="vert270" wrap="none" rtlCol="0">
            <a:spAutoFit/>
          </a:bodyPr>
          <a:lstStyle/>
          <a:p>
            <a:r>
              <a:rPr lang="en-IN" sz="2400" b="1" dirty="0"/>
              <a:t>Node</a:t>
            </a:r>
            <a:endParaRPr lang="en-US" sz="2400" b="1" dirty="0"/>
          </a:p>
        </p:txBody>
      </p:sp>
      <p:cxnSp>
        <p:nvCxnSpPr>
          <p:cNvPr id="29" name="Straight Arrow Connector 28"/>
          <p:cNvCxnSpPr>
            <a:stCxn id="22" idx="3"/>
          </p:cNvCxnSpPr>
          <p:nvPr/>
        </p:nvCxnSpPr>
        <p:spPr>
          <a:xfrm>
            <a:off x="6916350" y="1583814"/>
            <a:ext cx="49007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0" name="TextBox 29"/>
          <p:cNvSpPr txBox="1"/>
          <p:nvPr/>
        </p:nvSpPr>
        <p:spPr>
          <a:xfrm>
            <a:off x="4287976" y="4076612"/>
            <a:ext cx="5105400" cy="1938992"/>
          </a:xfrm>
          <a:prstGeom prst="rect">
            <a:avLst/>
          </a:prstGeom>
          <a:noFill/>
        </p:spPr>
        <p:txBody>
          <a:bodyPr wrap="square" rtlCol="0">
            <a:spAutoFit/>
          </a:bodyPr>
          <a:lstStyle/>
          <a:p>
            <a:r>
              <a:rPr lang="en-US" sz="2400" b="1" dirty="0" err="1">
                <a:latin typeface="Consolas" pitchFamily="49" charset="0"/>
                <a:cs typeface="Consolas" pitchFamily="49" charset="0"/>
              </a:rPr>
              <a:t>struct</a:t>
            </a:r>
            <a:r>
              <a:rPr lang="en-US" sz="2400" b="1" dirty="0">
                <a:latin typeface="Consolas" pitchFamily="49" charset="0"/>
                <a:cs typeface="Consolas" pitchFamily="49" charset="0"/>
              </a:rPr>
              <a:t> node</a:t>
            </a:r>
          </a:p>
          <a:p>
            <a:r>
              <a:rPr lang="en-US" sz="2400" b="1" dirty="0">
                <a:latin typeface="Consolas" pitchFamily="49" charset="0"/>
                <a:cs typeface="Consolas" pitchFamily="49" charset="0"/>
              </a:rPr>
              <a:t>{</a:t>
            </a:r>
          </a:p>
          <a:p>
            <a:r>
              <a:rPr lang="en-US" sz="2400" b="1" dirty="0">
                <a:latin typeface="Consolas" pitchFamily="49" charset="0"/>
                <a:cs typeface="Consolas" pitchFamily="49" charset="0"/>
              </a:rPr>
              <a:t>          </a:t>
            </a:r>
            <a:r>
              <a:rPr lang="en-US" sz="2400" b="1" dirty="0" err="1">
                <a:latin typeface="Consolas" pitchFamily="49" charset="0"/>
                <a:cs typeface="Consolas" pitchFamily="49" charset="0"/>
              </a:rPr>
              <a:t>int</a:t>
            </a:r>
            <a:r>
              <a:rPr lang="en-US" sz="2400" b="1" dirty="0">
                <a:latin typeface="Consolas" pitchFamily="49" charset="0"/>
                <a:cs typeface="Consolas" pitchFamily="49" charset="0"/>
              </a:rPr>
              <a:t> info;</a:t>
            </a:r>
          </a:p>
          <a:p>
            <a:r>
              <a:rPr lang="en-US" sz="2400" b="1" dirty="0">
                <a:latin typeface="Consolas" pitchFamily="49" charset="0"/>
                <a:cs typeface="Consolas" pitchFamily="49" charset="0"/>
              </a:rPr>
              <a:t>          struct node *next;</a:t>
            </a:r>
          </a:p>
          <a:p>
            <a:r>
              <a:rPr lang="en-US" sz="2400" b="1" dirty="0">
                <a:latin typeface="Consolas" pitchFamily="49" charset="0"/>
                <a:cs typeface="Consolas" pitchFamily="49" charset="0"/>
              </a:rPr>
              <a:t>};</a:t>
            </a:r>
          </a:p>
        </p:txBody>
      </p:sp>
      <p:sp>
        <p:nvSpPr>
          <p:cNvPr id="43" name="TextBox 42"/>
          <p:cNvSpPr txBox="1"/>
          <p:nvPr/>
        </p:nvSpPr>
        <p:spPr>
          <a:xfrm>
            <a:off x="983673" y="1979965"/>
            <a:ext cx="2799434" cy="630942"/>
          </a:xfrm>
          <a:prstGeom prst="rect">
            <a:avLst/>
          </a:prstGeom>
          <a:noFill/>
        </p:spPr>
        <p:txBody>
          <a:bodyPr wrap="square" rtlCol="0">
            <a:spAutoFit/>
          </a:bodyPr>
          <a:lstStyle/>
          <a:p>
            <a:pPr algn="ctr"/>
            <a:r>
              <a:rPr lang="en-IN" sz="3500" b="1" dirty="0"/>
              <a:t>Typical Node</a:t>
            </a:r>
          </a:p>
        </p:txBody>
      </p:sp>
      <p:sp>
        <p:nvSpPr>
          <p:cNvPr id="44" name="TextBox 43"/>
          <p:cNvSpPr txBox="1"/>
          <p:nvPr/>
        </p:nvSpPr>
        <p:spPr>
          <a:xfrm>
            <a:off x="346365" y="4541920"/>
            <a:ext cx="4074051" cy="1169551"/>
          </a:xfrm>
          <a:prstGeom prst="rect">
            <a:avLst/>
          </a:prstGeom>
          <a:noFill/>
        </p:spPr>
        <p:txBody>
          <a:bodyPr wrap="square" rtlCol="0">
            <a:spAutoFit/>
          </a:bodyPr>
          <a:lstStyle/>
          <a:p>
            <a:pPr algn="ctr"/>
            <a:r>
              <a:rPr lang="en-IN" sz="3500" b="1" dirty="0"/>
              <a:t>C Structure to represent a node</a:t>
            </a:r>
          </a:p>
        </p:txBody>
      </p:sp>
      <p:sp>
        <p:nvSpPr>
          <p:cNvPr id="3" name="TextBox 2"/>
          <p:cNvSpPr txBox="1"/>
          <p:nvPr/>
        </p:nvSpPr>
        <p:spPr>
          <a:xfrm>
            <a:off x="7774663" y="1695272"/>
            <a:ext cx="1633782" cy="1200329"/>
          </a:xfrm>
          <a:prstGeom prst="rect">
            <a:avLst/>
          </a:prstGeom>
          <a:noFill/>
        </p:spPr>
        <p:txBody>
          <a:bodyPr wrap="none" rtlCol="0">
            <a:spAutoFit/>
          </a:bodyPr>
          <a:lstStyle/>
          <a:p>
            <a:pPr algn="ctr"/>
            <a:r>
              <a:rPr lang="en-IN" b="1" dirty="0"/>
              <a:t>Accessing Part </a:t>
            </a:r>
          </a:p>
          <a:p>
            <a:pPr algn="ctr"/>
            <a:r>
              <a:rPr lang="en-IN" b="1" dirty="0"/>
              <a:t>of Node</a:t>
            </a:r>
          </a:p>
          <a:p>
            <a:pPr algn="ctr"/>
            <a:r>
              <a:rPr lang="en-IN" b="1" dirty="0">
                <a:solidFill>
                  <a:srgbClr val="B84742"/>
                </a:solidFill>
              </a:rPr>
              <a:t>Info (Node) </a:t>
            </a:r>
          </a:p>
          <a:p>
            <a:pPr algn="ctr"/>
            <a:r>
              <a:rPr lang="en-IN" b="1" dirty="0">
                <a:solidFill>
                  <a:srgbClr val="B84742"/>
                </a:solidFill>
              </a:rPr>
              <a:t>Link (Node)</a:t>
            </a:r>
            <a:endParaRPr lang="en-US" b="1" dirty="0">
              <a:solidFill>
                <a:srgbClr val="B84742"/>
              </a:solidFill>
            </a:endParaRPr>
          </a:p>
        </p:txBody>
      </p:sp>
    </p:spTree>
    <p:extLst>
      <p:ext uri="{BB962C8B-B14F-4D97-AF65-F5344CB8AC3E}">
        <p14:creationId xmlns:p14="http://schemas.microsoft.com/office/powerpoint/2010/main" val="228993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0">
                                            <p:txEl>
                                              <p:pRg st="1" end="1"/>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0">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p:bldP spid="24" grpId="0"/>
      <p:bldP spid="27" grpId="0" animBg="1"/>
      <p:bldP spid="28" grpId="0"/>
      <p:bldP spid="43" grpId="0"/>
      <p:bldP spid="44"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Algorithms for singly linked list</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a:t>Insert at first position</a:t>
            </a:r>
          </a:p>
          <a:p>
            <a:pPr marL="457200" indent="-457200">
              <a:buFont typeface="+mj-lt"/>
              <a:buAutoNum type="arabicPeriod"/>
            </a:pPr>
            <a:r>
              <a:rPr lang="en-US" dirty="0"/>
              <a:t>Insert at last position</a:t>
            </a:r>
          </a:p>
          <a:p>
            <a:pPr marL="457200" indent="-457200">
              <a:buFont typeface="+mj-lt"/>
              <a:buAutoNum type="arabicPeriod"/>
            </a:pPr>
            <a:r>
              <a:rPr lang="en-US" dirty="0"/>
              <a:t>Insert in Ordered Linked list</a:t>
            </a:r>
          </a:p>
          <a:p>
            <a:pPr marL="457200" indent="-457200">
              <a:buFont typeface="+mj-lt"/>
              <a:buAutoNum type="arabicPeriod"/>
            </a:pPr>
            <a:r>
              <a:rPr lang="en-US" dirty="0"/>
              <a:t>Delete Element</a:t>
            </a:r>
          </a:p>
          <a:p>
            <a:pPr marL="457200" indent="-457200">
              <a:buFont typeface="+mj-lt"/>
              <a:buAutoNum type="arabicPeriod"/>
            </a:pPr>
            <a:r>
              <a:rPr lang="en-US" dirty="0"/>
              <a:t>Copy Linked List</a:t>
            </a:r>
          </a:p>
        </p:txBody>
      </p:sp>
    </p:spTree>
    <p:extLst>
      <p:ext uri="{BB962C8B-B14F-4D97-AF65-F5344CB8AC3E}">
        <p14:creationId xmlns:p14="http://schemas.microsoft.com/office/powerpoint/2010/main" val="56791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Malloc function</a:t>
            </a:r>
            <a:endParaRPr lang="en-US" dirty="0"/>
          </a:p>
        </p:txBody>
      </p:sp>
      <p:sp>
        <p:nvSpPr>
          <p:cNvPr id="3" name="Content Placeholder 2"/>
          <p:cNvSpPr>
            <a:spLocks noGrp="1"/>
          </p:cNvSpPr>
          <p:nvPr>
            <p:ph idx="1"/>
          </p:nvPr>
        </p:nvSpPr>
        <p:spPr/>
        <p:txBody>
          <a:bodyPr/>
          <a:lstStyle/>
          <a:p>
            <a:r>
              <a:rPr lang="en-US" dirty="0"/>
              <a:t>An array is a collection of items stored at contiguous memory locations.</a:t>
            </a:r>
          </a:p>
          <a:p>
            <a:endParaRPr lang="en-US" dirty="0"/>
          </a:p>
          <a:p>
            <a:endParaRPr lang="en-US" dirty="0"/>
          </a:p>
          <a:p>
            <a:endParaRPr lang="en-US" dirty="0"/>
          </a:p>
          <a:p>
            <a:r>
              <a:rPr lang="en-US" dirty="0"/>
              <a:t> As can be seen, the length (size) of the array above is 9. But what if there is a requirement to change this length (size)? For example, </a:t>
            </a:r>
          </a:p>
          <a:p>
            <a:pPr lvl="1"/>
            <a:r>
              <a:rPr lang="en-US" dirty="0"/>
              <a:t>If there is a situation where </a:t>
            </a:r>
            <a:r>
              <a:rPr lang="en-US" dirty="0">
                <a:solidFill>
                  <a:srgbClr val="C00000"/>
                </a:solidFill>
              </a:rPr>
              <a:t>only 5 elements are needed </a:t>
            </a:r>
            <a:r>
              <a:rPr lang="en-US" dirty="0"/>
              <a:t>to be entered in this array. In this case, the remaining 4 indices are just wasting memory in this array. So there is a requirement to lessen the length (size) of the array from 9 to 5.</a:t>
            </a:r>
          </a:p>
          <a:p>
            <a:pPr lvl="1"/>
            <a:r>
              <a:rPr lang="en-US" dirty="0"/>
              <a:t>Take another situation. In this, there is an array of 9 elements with all 9 indices filled. But there is a </a:t>
            </a:r>
            <a:r>
              <a:rPr lang="en-US" dirty="0">
                <a:solidFill>
                  <a:srgbClr val="C00000"/>
                </a:solidFill>
              </a:rPr>
              <a:t>need to enter 3 more elements </a:t>
            </a:r>
            <a:r>
              <a:rPr lang="en-US" dirty="0"/>
              <a:t>in this array. In this case, 3 indices more are required. So the length (size) of the array needs to be changed from 9 to 12</a:t>
            </a:r>
          </a:p>
        </p:txBody>
      </p:sp>
      <p:pic>
        <p:nvPicPr>
          <p:cNvPr id="1026" name="Picture 2" descr="Lightbox">
            <a:extLst>
              <a:ext uri="{FF2B5EF4-FFF2-40B4-BE49-F238E27FC236}">
                <a16:creationId xmlns:a16="http://schemas.microsoft.com/office/drawing/2014/main" id="{6C64DFA1-E906-4E7E-A6BF-6F6496E7C3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2503" y="1267180"/>
            <a:ext cx="6236645" cy="1822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785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50968-5605-4034-A5B0-77F6D46FE240}"/>
              </a:ext>
            </a:extLst>
          </p:cNvPr>
          <p:cNvSpPr>
            <a:spLocks noGrp="1"/>
          </p:cNvSpPr>
          <p:nvPr>
            <p:ph type="title"/>
          </p:nvPr>
        </p:nvSpPr>
        <p:spPr/>
        <p:txBody>
          <a:bodyPr/>
          <a:lstStyle/>
          <a:p>
            <a:r>
              <a:rPr lang="en-IN" dirty="0"/>
              <a:t>Malloc function</a:t>
            </a:r>
          </a:p>
        </p:txBody>
      </p:sp>
      <p:sp>
        <p:nvSpPr>
          <p:cNvPr id="3" name="Content Placeholder 2">
            <a:extLst>
              <a:ext uri="{FF2B5EF4-FFF2-40B4-BE49-F238E27FC236}">
                <a16:creationId xmlns:a16="http://schemas.microsoft.com/office/drawing/2014/main" id="{F3B3CC0C-CB4E-41E3-9ED8-82A61DEB8446}"/>
              </a:ext>
            </a:extLst>
          </p:cNvPr>
          <p:cNvSpPr>
            <a:spLocks noGrp="1"/>
          </p:cNvSpPr>
          <p:nvPr>
            <p:ph idx="1"/>
          </p:nvPr>
        </p:nvSpPr>
        <p:spPr/>
        <p:txBody>
          <a:bodyPr/>
          <a:lstStyle/>
          <a:p>
            <a:r>
              <a:rPr lang="en-US" dirty="0"/>
              <a:t>The “malloc” or “memory allocation” method in C is used to dynamically allocate a single large block of memory with the specified size. It returns a pointer of type void which can be cast into a pointer of any form.</a:t>
            </a:r>
          </a:p>
          <a:p>
            <a:endParaRPr lang="en-US" dirty="0"/>
          </a:p>
          <a:p>
            <a:endParaRPr lang="en-US" dirty="0"/>
          </a:p>
          <a:p>
            <a:endParaRPr lang="en-US" dirty="0"/>
          </a:p>
          <a:p>
            <a:endParaRPr lang="en-US" dirty="0"/>
          </a:p>
          <a:p>
            <a:endParaRPr lang="en-US" dirty="0"/>
          </a:p>
          <a:p>
            <a:endParaRPr lang="en-US" dirty="0"/>
          </a:p>
          <a:p>
            <a:r>
              <a:rPr lang="en-US" dirty="0"/>
              <a:t>In our case we want to create new node which is having structure(</a:t>
            </a:r>
            <a:r>
              <a:rPr lang="en-US" dirty="0" err="1"/>
              <a:t>data+next</a:t>
            </a:r>
            <a:r>
              <a:rPr lang="en-US" dirty="0"/>
              <a:t> pointer)</a:t>
            </a:r>
          </a:p>
          <a:p>
            <a:endParaRPr lang="en-IN" dirty="0"/>
          </a:p>
        </p:txBody>
      </p:sp>
      <p:sp>
        <p:nvSpPr>
          <p:cNvPr id="4" name="Rectangle 1">
            <a:extLst>
              <a:ext uri="{FF2B5EF4-FFF2-40B4-BE49-F238E27FC236}">
                <a16:creationId xmlns:a16="http://schemas.microsoft.com/office/drawing/2014/main" id="{D5C11467-678E-4094-9EA8-A17F11F9EE31}"/>
              </a:ext>
            </a:extLst>
          </p:cNvPr>
          <p:cNvSpPr>
            <a:spLocks noChangeArrowheads="1"/>
          </p:cNvSpPr>
          <p:nvPr/>
        </p:nvSpPr>
        <p:spPr bwMode="auto">
          <a:xfrm>
            <a:off x="1780673" y="2395420"/>
            <a:ext cx="6622181" cy="433432"/>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Consolas" panose="020B0609020204030204" pitchFamily="49" charset="0"/>
              </a:rPr>
              <a:t>ptr</a:t>
            </a:r>
            <a:r>
              <a:rPr kumimoji="0" lang="en-US" altLang="en-US" sz="2400" b="0" i="0" u="none" strike="noStrike" cap="none" normalizeH="0" baseline="0" dirty="0">
                <a:ln>
                  <a:noFill/>
                </a:ln>
                <a:solidFill>
                  <a:schemeClr val="tx1"/>
                </a:solidFill>
                <a:effectLst/>
                <a:latin typeface="Consolas" panose="020B0609020204030204" pitchFamily="49" charset="0"/>
              </a:rPr>
              <a:t> = (cast-type*) malloc(byte-size)</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2051" name="Picture 3">
            <a:extLst>
              <a:ext uri="{FF2B5EF4-FFF2-40B4-BE49-F238E27FC236}">
                <a16:creationId xmlns:a16="http://schemas.microsoft.com/office/drawing/2014/main" id="{B8DBAB03-DCA1-4BA3-ACAE-541C3405C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9351" y="2887730"/>
            <a:ext cx="7620000" cy="26289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F661E8AB-E8C6-4AF4-8FA4-76151F6D8625}"/>
              </a:ext>
            </a:extLst>
          </p:cNvPr>
          <p:cNvSpPr>
            <a:spLocks noChangeArrowheads="1"/>
          </p:cNvSpPr>
          <p:nvPr/>
        </p:nvSpPr>
        <p:spPr bwMode="auto">
          <a:xfrm>
            <a:off x="1711692" y="6020577"/>
            <a:ext cx="6622181" cy="433432"/>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Consolas" panose="020B0609020204030204" pitchFamily="49" charset="0"/>
              </a:rPr>
              <a:t>ptr</a:t>
            </a:r>
            <a:r>
              <a:rPr kumimoji="0" lang="en-US" altLang="en-US" sz="2400" b="0" i="0" u="none" strike="noStrike" cap="none" normalizeH="0" baseline="0" dirty="0">
                <a:ln>
                  <a:noFill/>
                </a:ln>
                <a:solidFill>
                  <a:schemeClr val="tx1"/>
                </a:solidFill>
                <a:effectLst/>
                <a:latin typeface="Consolas" panose="020B0609020204030204" pitchFamily="49" charset="0"/>
              </a:rPr>
              <a:t> = (node*) malloc(</a:t>
            </a:r>
            <a:r>
              <a:rPr kumimoji="0" lang="en-US" altLang="en-US" sz="2400" b="0" i="0" u="none" strike="noStrike" cap="none" normalizeH="0" baseline="0" dirty="0" err="1">
                <a:ln>
                  <a:noFill/>
                </a:ln>
                <a:solidFill>
                  <a:schemeClr val="tx1"/>
                </a:solidFill>
                <a:effectLst/>
                <a:latin typeface="Consolas" panose="020B0609020204030204" pitchFamily="49" charset="0"/>
              </a:rPr>
              <a:t>sizeof</a:t>
            </a:r>
            <a:r>
              <a:rPr kumimoji="0" lang="en-US" altLang="en-US" sz="2400" b="0" i="0" u="none" strike="noStrike" cap="none" normalizeH="0" baseline="0" dirty="0">
                <a:ln>
                  <a:noFill/>
                </a:ln>
                <a:solidFill>
                  <a:schemeClr val="tx1"/>
                </a:solidFill>
                <a:effectLst/>
                <a:latin typeface="Consolas" panose="020B0609020204030204" pitchFamily="49" charset="0"/>
              </a:rPr>
              <a:t>(node))</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729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INSERT(X, First)</a:t>
            </a:r>
          </a:p>
        </p:txBody>
      </p:sp>
      <p:sp>
        <p:nvSpPr>
          <p:cNvPr id="3" name="Content Placeholder 2"/>
          <p:cNvSpPr>
            <a:spLocks noGrp="1"/>
          </p:cNvSpPr>
          <p:nvPr>
            <p:ph idx="1"/>
          </p:nvPr>
        </p:nvSpPr>
        <p:spPr/>
        <p:txBody>
          <a:bodyPr/>
          <a:lstStyle/>
          <a:p>
            <a:r>
              <a:rPr lang="en-IN" dirty="0"/>
              <a:t>This function </a:t>
            </a:r>
            <a:r>
              <a:rPr lang="en-IN" b="1" dirty="0">
                <a:solidFill>
                  <a:srgbClr val="C00000"/>
                </a:solidFill>
              </a:rPr>
              <a:t>inserts a new node at the first position</a:t>
            </a:r>
            <a:r>
              <a:rPr lang="en-IN" b="1" dirty="0">
                <a:solidFill>
                  <a:srgbClr val="FF0000"/>
                </a:solidFill>
              </a:rPr>
              <a:t> </a:t>
            </a:r>
            <a:r>
              <a:rPr lang="en-IN" dirty="0"/>
              <a:t>of Singly linked list. </a:t>
            </a:r>
          </a:p>
          <a:p>
            <a:r>
              <a:rPr lang="en-IN" dirty="0"/>
              <a:t>This function returns address of </a:t>
            </a:r>
            <a:r>
              <a:rPr lang="en-IN" b="1" dirty="0">
                <a:solidFill>
                  <a:srgbClr val="C00000"/>
                </a:solidFill>
              </a:rPr>
              <a:t>FIRST</a:t>
            </a:r>
            <a:r>
              <a:rPr lang="en-IN" dirty="0">
                <a:solidFill>
                  <a:srgbClr val="C00000"/>
                </a:solidFill>
              </a:rPr>
              <a:t> </a:t>
            </a:r>
            <a:r>
              <a:rPr lang="en-IN" dirty="0"/>
              <a:t>node.</a:t>
            </a:r>
            <a:endParaRPr lang="en-US" dirty="0"/>
          </a:p>
          <a:p>
            <a:r>
              <a:rPr lang="en-IN" b="1" dirty="0">
                <a:solidFill>
                  <a:srgbClr val="C00000"/>
                </a:solidFill>
              </a:rPr>
              <a:t>X</a:t>
            </a:r>
            <a:r>
              <a:rPr lang="en-IN" dirty="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NEXT</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 </a:t>
            </a:r>
          </a:p>
        </p:txBody>
      </p:sp>
    </p:spTree>
    <p:extLst>
      <p:ext uri="{BB962C8B-B14F-4D97-AF65-F5344CB8AC3E}">
        <p14:creationId xmlns:p14="http://schemas.microsoft.com/office/powerpoint/2010/main" val="20345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INSERT(X,FIRST) </a:t>
            </a:r>
            <a:r>
              <a:rPr lang="en-US" dirty="0" err="1"/>
              <a:t>Cont</a:t>
            </a:r>
            <a:r>
              <a:rPr lang="en-US" dirty="0"/>
              <a:t>…</a:t>
            </a:r>
          </a:p>
        </p:txBody>
      </p:sp>
      <p:sp>
        <p:nvSpPr>
          <p:cNvPr id="4" name="TextBox 3"/>
          <p:cNvSpPr txBox="1"/>
          <p:nvPr/>
        </p:nvSpPr>
        <p:spPr>
          <a:xfrm>
            <a:off x="336000" y="923060"/>
            <a:ext cx="11520000" cy="246221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[Obtain address of new Node in NEW pointer]</a:t>
            </a:r>
          </a:p>
          <a:p>
            <a:r>
              <a:rPr lang="en-IN" sz="2200" dirty="0">
                <a:latin typeface="Consolas" pitchFamily="49" charset="0"/>
                <a:cs typeface="Consolas" pitchFamily="49" charset="0"/>
              </a:rPr>
              <a:t>    NEW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(node*) malloc(</a:t>
            </a:r>
            <a:r>
              <a:rPr lang="en-IN" sz="2200" dirty="0" err="1">
                <a:latin typeface="Consolas" pitchFamily="49" charset="0"/>
                <a:cs typeface="Consolas" pitchFamily="49" charset="0"/>
              </a:rPr>
              <a:t>sizeof</a:t>
            </a:r>
            <a:r>
              <a:rPr lang="en-IN" sz="2200" dirty="0">
                <a:latin typeface="Consolas" pitchFamily="49" charset="0"/>
                <a:cs typeface="Consolas" pitchFamily="49" charset="0"/>
              </a:rPr>
              <a:t>(node))</a:t>
            </a:r>
          </a:p>
          <a:p>
            <a:r>
              <a:rPr lang="en-IN" sz="2200" b="1" dirty="0">
                <a:solidFill>
                  <a:schemeClr val="tx2"/>
                </a:solidFill>
                <a:latin typeface="Consolas" pitchFamily="49" charset="0"/>
                <a:cs typeface="Consolas" pitchFamily="49" charset="0"/>
              </a:rPr>
              <a:t>2. [Initialize fields of new node and its link to the list]</a:t>
            </a:r>
          </a:p>
          <a:p>
            <a:r>
              <a:rPr lang="en-IN" sz="2200" dirty="0">
                <a:latin typeface="Consolas" pitchFamily="49" charset="0"/>
                <a:cs typeface="Consolas" pitchFamily="49" charset="0"/>
              </a:rPr>
              <a:t>    NEW-&gt;INFO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X</a:t>
            </a:r>
          </a:p>
          <a:p>
            <a:r>
              <a:rPr lang="en-IN" sz="2200" dirty="0">
                <a:latin typeface="Consolas" pitchFamily="49" charset="0"/>
                <a:cs typeface="Consolas" pitchFamily="49" charset="0"/>
              </a:rPr>
              <a:t>    NEW-&gt;NEXT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FIRST</a:t>
            </a:r>
          </a:p>
          <a:p>
            <a:r>
              <a:rPr lang="en-IN" sz="2200" b="1" dirty="0">
                <a:solidFill>
                  <a:schemeClr val="tx2"/>
                </a:solidFill>
                <a:latin typeface="Consolas" pitchFamily="49" charset="0"/>
                <a:cs typeface="Consolas" pitchFamily="49" charset="0"/>
              </a:rPr>
              <a:t>3. [Return address of new node]</a:t>
            </a:r>
          </a:p>
          <a:p>
            <a:r>
              <a:rPr lang="en-IN" sz="2200" dirty="0">
                <a:latin typeface="Consolas" pitchFamily="49" charset="0"/>
                <a:cs typeface="Consolas" pitchFamily="49" charset="0"/>
              </a:rPr>
              <a:t>    Return (NEW)</a:t>
            </a:r>
            <a:endParaRPr lang="en-IN" sz="2200" b="1" dirty="0">
              <a:solidFill>
                <a:schemeClr val="tx2">
                  <a:lumMod val="60000"/>
                  <a:lumOff val="40000"/>
                </a:schemeClr>
              </a:solidFill>
              <a:latin typeface="Consolas" pitchFamily="49" charset="0"/>
              <a:cs typeface="Consolas" pitchFamily="49" charset="0"/>
            </a:endParaRPr>
          </a:p>
        </p:txBody>
      </p:sp>
    </p:spTree>
    <p:extLst>
      <p:ext uri="{BB962C8B-B14F-4D97-AF65-F5344CB8AC3E}">
        <p14:creationId xmlns:p14="http://schemas.microsoft.com/office/powerpoint/2010/main" val="377666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INSERT(50, FIRST)</a:t>
            </a:r>
          </a:p>
        </p:txBody>
      </p:sp>
      <p:grpSp>
        <p:nvGrpSpPr>
          <p:cNvPr id="4" name="Group 3"/>
          <p:cNvGrpSpPr/>
          <p:nvPr/>
        </p:nvGrpSpPr>
        <p:grpSpPr>
          <a:xfrm>
            <a:off x="3085519" y="1381023"/>
            <a:ext cx="1532242" cy="533400"/>
            <a:chOff x="951919" y="5486400"/>
            <a:chExt cx="1532242" cy="533400"/>
          </a:xfrm>
        </p:grpSpPr>
        <p:sp>
          <p:nvSpPr>
            <p:cNvPr id="5" name="Rectangle 4"/>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6" name="Rectangle 5"/>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grpSp>
      <p:grpSp>
        <p:nvGrpSpPr>
          <p:cNvPr id="7" name="Group 6"/>
          <p:cNvGrpSpPr/>
          <p:nvPr/>
        </p:nvGrpSpPr>
        <p:grpSpPr>
          <a:xfrm>
            <a:off x="5020958" y="1383268"/>
            <a:ext cx="1532242" cy="533400"/>
            <a:chOff x="951919" y="5486400"/>
            <a:chExt cx="1532242" cy="533400"/>
          </a:xfrm>
        </p:grpSpPr>
        <p:sp>
          <p:nvSpPr>
            <p:cNvPr id="8" name="Rectangle 7"/>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50</a:t>
              </a:r>
              <a:endParaRPr lang="en-US" sz="2400" b="1" dirty="0"/>
            </a:p>
          </p:txBody>
        </p:sp>
        <p:sp>
          <p:nvSpPr>
            <p:cNvPr id="9" name="Rectangle 8"/>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grpSp>
      <p:grpSp>
        <p:nvGrpSpPr>
          <p:cNvPr id="10" name="Group 9"/>
          <p:cNvGrpSpPr/>
          <p:nvPr/>
        </p:nvGrpSpPr>
        <p:grpSpPr>
          <a:xfrm>
            <a:off x="6925958" y="1383268"/>
            <a:ext cx="1532242" cy="533400"/>
            <a:chOff x="951919" y="5486400"/>
            <a:chExt cx="1532242" cy="533400"/>
          </a:xfrm>
        </p:grpSpPr>
        <p:sp>
          <p:nvSpPr>
            <p:cNvPr id="11" name="Rectangle 10"/>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35</a:t>
              </a:r>
              <a:endParaRPr lang="en-US" sz="2400" b="1" dirty="0"/>
            </a:p>
          </p:txBody>
        </p:sp>
        <p:sp>
          <p:nvSpPr>
            <p:cNvPr id="12" name="Rectangle 11"/>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grpSp>
      <p:grpSp>
        <p:nvGrpSpPr>
          <p:cNvPr id="13" name="Group 12"/>
          <p:cNvGrpSpPr/>
          <p:nvPr/>
        </p:nvGrpSpPr>
        <p:grpSpPr>
          <a:xfrm>
            <a:off x="8830958" y="1383268"/>
            <a:ext cx="1532242" cy="533400"/>
            <a:chOff x="951919" y="5486400"/>
            <a:chExt cx="1532242" cy="533400"/>
          </a:xfrm>
        </p:grpSpPr>
        <p:sp>
          <p:nvSpPr>
            <p:cNvPr id="14" name="Rectangle 13"/>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6" name="Straight Arrow Connector 15"/>
          <p:cNvCxnSpPr>
            <a:stCxn id="6" idx="3"/>
            <a:endCxn id="8" idx="1"/>
          </p:cNvCxnSpPr>
          <p:nvPr/>
        </p:nvCxnSpPr>
        <p:spPr>
          <a:xfrm>
            <a:off x="4617761" y="1647723"/>
            <a:ext cx="403197" cy="224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9" idx="3"/>
            <a:endCxn id="11" idx="1"/>
          </p:cNvCxnSpPr>
          <p:nvPr/>
        </p:nvCxnSpPr>
        <p:spPr>
          <a:xfrm>
            <a:off x="6553200" y="1649968"/>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 name="Straight Arrow Connector 17"/>
          <p:cNvCxnSpPr>
            <a:stCxn id="12" idx="3"/>
            <a:endCxn id="14" idx="1"/>
          </p:cNvCxnSpPr>
          <p:nvPr/>
        </p:nvCxnSpPr>
        <p:spPr>
          <a:xfrm>
            <a:off x="8458200" y="1649968"/>
            <a:ext cx="37275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p:nvPr/>
        </p:nvCxnSpPr>
        <p:spPr>
          <a:xfrm flipH="1">
            <a:off x="9592958" y="1383268"/>
            <a:ext cx="770242"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nvGrpSpPr>
          <p:cNvPr id="24" name="Group 23"/>
          <p:cNvGrpSpPr/>
          <p:nvPr/>
        </p:nvGrpSpPr>
        <p:grpSpPr>
          <a:xfrm>
            <a:off x="3169241" y="1914423"/>
            <a:ext cx="734496" cy="720492"/>
            <a:chOff x="3169241" y="1914423"/>
            <a:chExt cx="734496" cy="720492"/>
          </a:xfrm>
        </p:grpSpPr>
        <p:sp>
          <p:nvSpPr>
            <p:cNvPr id="20" name="TextBox 19"/>
            <p:cNvSpPr txBox="1"/>
            <p:nvPr/>
          </p:nvSpPr>
          <p:spPr>
            <a:xfrm>
              <a:off x="3169241" y="2265583"/>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1" name="Straight Arrow Connector 20"/>
            <p:cNvCxnSpPr>
              <a:endCxn id="5" idx="2"/>
            </p:cNvCxnSpPr>
            <p:nvPr/>
          </p:nvCxnSpPr>
          <p:spPr>
            <a:xfrm flipV="1">
              <a:off x="3466519" y="1914423"/>
              <a:ext cx="0" cy="307045"/>
            </a:xfrm>
            <a:prstGeom prst="straightConnector1">
              <a:avLst/>
            </a:prstGeom>
            <a:ln w="28575">
              <a:solidFill>
                <a:srgbClr val="B84742"/>
              </a:solidFill>
              <a:tailEnd type="arrow"/>
            </a:ln>
          </p:spPr>
          <p:style>
            <a:lnRef idx="2">
              <a:schemeClr val="dk1"/>
            </a:lnRef>
            <a:fillRef idx="0">
              <a:schemeClr val="dk1"/>
            </a:fillRef>
            <a:effectRef idx="1">
              <a:schemeClr val="dk1"/>
            </a:effectRef>
            <a:fontRef idx="minor">
              <a:schemeClr val="tx1"/>
            </a:fontRef>
          </p:style>
        </p:cxnSp>
      </p:grpSp>
      <p:grpSp>
        <p:nvGrpSpPr>
          <p:cNvPr id="25" name="Group 24"/>
          <p:cNvGrpSpPr/>
          <p:nvPr/>
        </p:nvGrpSpPr>
        <p:grpSpPr>
          <a:xfrm>
            <a:off x="1164035" y="1381023"/>
            <a:ext cx="1532242" cy="533400"/>
            <a:chOff x="951919" y="5486400"/>
            <a:chExt cx="1532242" cy="533400"/>
          </a:xfrm>
        </p:grpSpPr>
        <p:sp>
          <p:nvSpPr>
            <p:cNvPr id="26" name="Rectangle 25"/>
            <p:cNvSpPr/>
            <p:nvPr/>
          </p:nvSpPr>
          <p:spPr>
            <a:xfrm>
              <a:off x="951919"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7" name="Rectangle 26"/>
            <p:cNvSpPr/>
            <p:nvPr/>
          </p:nvSpPr>
          <p:spPr>
            <a:xfrm>
              <a:off x="1722161" y="5486400"/>
              <a:ext cx="762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link</a:t>
              </a:r>
              <a:endParaRPr lang="en-US" sz="2400" b="1" dirty="0"/>
            </a:p>
          </p:txBody>
        </p:sp>
      </p:grpSp>
      <p:sp>
        <p:nvSpPr>
          <p:cNvPr id="28" name="TextBox 27"/>
          <p:cNvSpPr txBox="1"/>
          <p:nvPr/>
        </p:nvSpPr>
        <p:spPr>
          <a:xfrm>
            <a:off x="1666404" y="1954102"/>
            <a:ext cx="612668" cy="369332"/>
          </a:xfrm>
          <a:prstGeom prst="rect">
            <a:avLst/>
          </a:prstGeom>
          <a:noFill/>
        </p:spPr>
        <p:txBody>
          <a:bodyPr wrap="none" rtlCol="0">
            <a:spAutoFit/>
          </a:bodyPr>
          <a:lstStyle/>
          <a:p>
            <a:r>
              <a:rPr lang="en-IN" b="1" dirty="0">
                <a:solidFill>
                  <a:srgbClr val="C00000"/>
                </a:solidFill>
              </a:rPr>
              <a:t>NEW</a:t>
            </a:r>
            <a:endParaRPr lang="en-US" b="1" dirty="0">
              <a:solidFill>
                <a:srgbClr val="C00000"/>
              </a:solidFill>
            </a:endParaRPr>
          </a:p>
        </p:txBody>
      </p:sp>
      <p:sp>
        <p:nvSpPr>
          <p:cNvPr id="29" name="TextBox 28"/>
          <p:cNvSpPr txBox="1"/>
          <p:nvPr/>
        </p:nvSpPr>
        <p:spPr>
          <a:xfrm>
            <a:off x="1213790" y="1318786"/>
            <a:ext cx="704039" cy="707886"/>
          </a:xfrm>
          <a:prstGeom prst="rect">
            <a:avLst/>
          </a:prstGeom>
          <a:noFill/>
        </p:spPr>
        <p:txBody>
          <a:bodyPr wrap="none" rtlCol="0">
            <a:spAutoFit/>
          </a:bodyPr>
          <a:lstStyle/>
          <a:p>
            <a:r>
              <a:rPr lang="en-IN" sz="4000" b="1" dirty="0">
                <a:solidFill>
                  <a:schemeClr val="bg1"/>
                </a:solidFill>
              </a:rPr>
              <a:t>50</a:t>
            </a:r>
            <a:endParaRPr lang="en-US" sz="4000" b="1" dirty="0">
              <a:solidFill>
                <a:schemeClr val="bg1"/>
              </a:solidFill>
            </a:endParaRPr>
          </a:p>
        </p:txBody>
      </p:sp>
      <p:sp>
        <p:nvSpPr>
          <p:cNvPr id="30" name="TextBox 29"/>
          <p:cNvSpPr txBox="1"/>
          <p:nvPr/>
        </p:nvSpPr>
        <p:spPr>
          <a:xfrm>
            <a:off x="336000" y="3334333"/>
            <a:ext cx="11520000" cy="19389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400" b="1" dirty="0">
                <a:solidFill>
                  <a:schemeClr val="tx2"/>
                </a:solidFill>
                <a:latin typeface="Consolas" pitchFamily="49" charset="0"/>
                <a:cs typeface="Consolas" pitchFamily="49" charset="0"/>
              </a:rPr>
              <a:t>2. [Initialize fields of new node and its link to the list]</a:t>
            </a:r>
          </a:p>
          <a:p>
            <a:r>
              <a:rPr lang="en-IN" sz="2400" dirty="0">
                <a:latin typeface="Consolas" pitchFamily="49" charset="0"/>
                <a:cs typeface="Consolas" pitchFamily="49" charset="0"/>
              </a:rPr>
              <a:t>    NEW-&gt;INFO </a:t>
            </a:r>
            <a:r>
              <a:rPr lang="en-IN" sz="2400" dirty="0">
                <a:latin typeface="Consolas" pitchFamily="49" charset="0"/>
                <a:cs typeface="Consolas" pitchFamily="49" charset="0"/>
                <a:sym typeface="Wingdings" pitchFamily="2" charset="2"/>
              </a:rPr>
              <a:t> </a:t>
            </a:r>
            <a:r>
              <a:rPr lang="en-IN" sz="2400" dirty="0">
                <a:latin typeface="Consolas" pitchFamily="49" charset="0"/>
                <a:cs typeface="Consolas" pitchFamily="49" charset="0"/>
              </a:rPr>
              <a:t>X</a:t>
            </a:r>
          </a:p>
          <a:p>
            <a:r>
              <a:rPr lang="en-IN" sz="2400" dirty="0">
                <a:latin typeface="Consolas" pitchFamily="49" charset="0"/>
                <a:cs typeface="Consolas" pitchFamily="49" charset="0"/>
              </a:rPr>
              <a:t>    NEW-&gt;NEXT </a:t>
            </a:r>
            <a:r>
              <a:rPr lang="en-IN" sz="2400" dirty="0">
                <a:latin typeface="Consolas" pitchFamily="49" charset="0"/>
                <a:cs typeface="Consolas" pitchFamily="49" charset="0"/>
                <a:sym typeface="Wingdings" pitchFamily="2" charset="2"/>
              </a:rPr>
              <a:t> </a:t>
            </a:r>
            <a:r>
              <a:rPr lang="en-IN" sz="2400" dirty="0">
                <a:latin typeface="Consolas" pitchFamily="49" charset="0"/>
                <a:cs typeface="Consolas" pitchFamily="49" charset="0"/>
              </a:rPr>
              <a:t>FIRST</a:t>
            </a:r>
          </a:p>
          <a:p>
            <a:r>
              <a:rPr lang="en-IN" sz="2400" b="1" dirty="0">
                <a:solidFill>
                  <a:schemeClr val="tx2"/>
                </a:solidFill>
                <a:latin typeface="Consolas" pitchFamily="49" charset="0"/>
                <a:cs typeface="Consolas" pitchFamily="49" charset="0"/>
              </a:rPr>
              <a:t>3. [Return address of new node]</a:t>
            </a:r>
          </a:p>
          <a:p>
            <a:r>
              <a:rPr lang="en-IN" sz="2400" dirty="0">
                <a:latin typeface="Consolas" pitchFamily="49" charset="0"/>
                <a:cs typeface="Consolas" pitchFamily="49" charset="0"/>
              </a:rPr>
              <a:t>    Return (NEW)</a:t>
            </a:r>
            <a:endParaRPr lang="en-IN" sz="2400" b="1" dirty="0">
              <a:solidFill>
                <a:schemeClr val="tx2">
                  <a:lumMod val="60000"/>
                  <a:lumOff val="40000"/>
                </a:schemeClr>
              </a:solidFill>
              <a:latin typeface="Consolas" pitchFamily="49" charset="0"/>
              <a:cs typeface="Consolas" pitchFamily="49" charset="0"/>
            </a:endParaRPr>
          </a:p>
        </p:txBody>
      </p:sp>
      <p:cxnSp>
        <p:nvCxnSpPr>
          <p:cNvPr id="36" name="Straight Arrow Connector 35"/>
          <p:cNvCxnSpPr>
            <a:stCxn id="27" idx="3"/>
            <a:endCxn id="5" idx="1"/>
          </p:cNvCxnSpPr>
          <p:nvPr/>
        </p:nvCxnSpPr>
        <p:spPr>
          <a:xfrm>
            <a:off x="2696277" y="1647723"/>
            <a:ext cx="389242"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7" name="TextBox 36"/>
          <p:cNvSpPr txBox="1"/>
          <p:nvPr/>
        </p:nvSpPr>
        <p:spPr>
          <a:xfrm>
            <a:off x="4293263" y="2667001"/>
            <a:ext cx="3605474" cy="461665"/>
          </a:xfrm>
          <a:prstGeom prst="rect">
            <a:avLst/>
          </a:prstGeom>
          <a:noFill/>
        </p:spPr>
        <p:txBody>
          <a:bodyPr wrap="none" rtlCol="0">
            <a:spAutoFit/>
          </a:bodyPr>
          <a:lstStyle/>
          <a:p>
            <a:r>
              <a:rPr lang="en-IN" sz="2400" b="1" dirty="0"/>
              <a:t>FIRST </a:t>
            </a:r>
            <a:r>
              <a:rPr lang="en-IN" sz="2400" b="1" dirty="0">
                <a:sym typeface="Wingdings" pitchFamily="2" charset="2"/>
              </a:rPr>
              <a:t> INSERT (X, FIRST)</a:t>
            </a:r>
            <a:endParaRPr lang="en-US" sz="2400" b="1" dirty="0"/>
          </a:p>
        </p:txBody>
      </p:sp>
    </p:spTree>
    <p:extLst>
      <p:ext uri="{BB962C8B-B14F-4D97-AF65-F5344CB8AC3E}">
        <p14:creationId xmlns:p14="http://schemas.microsoft.com/office/powerpoint/2010/main" val="150219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wipe(left)">
                                      <p:cBhvr>
                                        <p:cTn id="41" dur="500"/>
                                        <p:tgtEl>
                                          <p:spTgt spid="36"/>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5" presetClass="path" presetSubtype="0" accel="50000" decel="50000" fill="hold" nodeType="clickEffect">
                                  <p:stCondLst>
                                    <p:cond delay="0"/>
                                  </p:stCondLst>
                                  <p:childTnLst>
                                    <p:animMotion origin="layout" path="M -3.95833E-6 -2.96296E-6 L -0.15325 -2.96296E-6 " pathEditMode="relative" rAng="0" ptsTypes="AA">
                                      <p:cBhvr>
                                        <p:cTn id="49" dur="2000" fill="hold"/>
                                        <p:tgtEl>
                                          <p:spTgt spid="24"/>
                                        </p:tgtEl>
                                        <p:attrNameLst>
                                          <p:attrName>ppt_x</p:attrName>
                                          <p:attrName>ppt_y</p:attrName>
                                        </p:attrNameLst>
                                      </p:cBhvr>
                                      <p:rCtr x="-766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animBg="1"/>
      <p:bldP spid="3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INSEND(X, FIRST)</a:t>
            </a:r>
          </a:p>
        </p:txBody>
      </p:sp>
      <p:sp>
        <p:nvSpPr>
          <p:cNvPr id="3" name="Content Placeholder 2"/>
          <p:cNvSpPr>
            <a:spLocks noGrp="1"/>
          </p:cNvSpPr>
          <p:nvPr>
            <p:ph idx="1"/>
          </p:nvPr>
        </p:nvSpPr>
        <p:spPr/>
        <p:txBody>
          <a:bodyPr/>
          <a:lstStyle/>
          <a:p>
            <a:r>
              <a:rPr lang="en-IN" dirty="0"/>
              <a:t>This function </a:t>
            </a:r>
            <a:r>
              <a:rPr lang="en-IN" b="1" dirty="0">
                <a:solidFill>
                  <a:srgbClr val="C00000"/>
                </a:solidFill>
              </a:rPr>
              <a:t>inserts</a:t>
            </a:r>
            <a:r>
              <a:rPr lang="en-IN" dirty="0">
                <a:solidFill>
                  <a:srgbClr val="C00000"/>
                </a:solidFill>
              </a:rPr>
              <a:t> </a:t>
            </a:r>
            <a:r>
              <a:rPr lang="en-IN" dirty="0"/>
              <a:t>a new node at the </a:t>
            </a:r>
            <a:r>
              <a:rPr lang="en-IN" b="1" dirty="0">
                <a:solidFill>
                  <a:srgbClr val="C00000"/>
                </a:solidFill>
              </a:rPr>
              <a:t>last position</a:t>
            </a:r>
            <a:r>
              <a:rPr lang="en-IN" b="1" dirty="0">
                <a:solidFill>
                  <a:srgbClr val="FF0000"/>
                </a:solidFill>
              </a:rPr>
              <a:t> </a:t>
            </a:r>
            <a:r>
              <a:rPr lang="en-IN" dirty="0"/>
              <a:t>of linked list. </a:t>
            </a:r>
          </a:p>
          <a:p>
            <a:r>
              <a:rPr lang="en-IN" dirty="0"/>
              <a:t>This function returns address of </a:t>
            </a:r>
            <a:r>
              <a:rPr lang="en-IN" b="1" dirty="0">
                <a:solidFill>
                  <a:srgbClr val="C00000"/>
                </a:solidFill>
              </a:rPr>
              <a:t>FIRST</a:t>
            </a:r>
            <a:r>
              <a:rPr lang="en-IN" dirty="0">
                <a:solidFill>
                  <a:srgbClr val="C00000"/>
                </a:solidFill>
              </a:rPr>
              <a:t> </a:t>
            </a:r>
            <a:r>
              <a:rPr lang="en-IN" dirty="0"/>
              <a:t>node.</a:t>
            </a:r>
            <a:endParaRPr lang="en-US" dirty="0"/>
          </a:p>
          <a:p>
            <a:r>
              <a:rPr lang="en-IN" b="1" dirty="0">
                <a:solidFill>
                  <a:srgbClr val="C00000"/>
                </a:solidFill>
              </a:rPr>
              <a:t>X</a:t>
            </a:r>
            <a:r>
              <a:rPr lang="en-IN" dirty="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NEXT</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 </a:t>
            </a:r>
          </a:p>
          <a:p>
            <a:endParaRPr lang="en-IN" dirty="0"/>
          </a:p>
          <a:p>
            <a:endParaRPr lang="en-IN" dirty="0"/>
          </a:p>
          <a:p>
            <a:endParaRPr lang="en-US" dirty="0"/>
          </a:p>
        </p:txBody>
      </p:sp>
    </p:spTree>
    <p:extLst>
      <p:ext uri="{BB962C8B-B14F-4D97-AF65-F5344CB8AC3E}">
        <p14:creationId xmlns:p14="http://schemas.microsoft.com/office/powerpoint/2010/main" val="70357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INSEND(X, First) </a:t>
            </a:r>
            <a:r>
              <a:rPr lang="en-US" dirty="0" err="1"/>
              <a:t>Cont</a:t>
            </a:r>
            <a:r>
              <a:rPr lang="en-US" dirty="0"/>
              <a:t>…</a:t>
            </a:r>
          </a:p>
        </p:txBody>
      </p:sp>
      <p:sp>
        <p:nvSpPr>
          <p:cNvPr id="4" name="TextBox 3"/>
          <p:cNvSpPr txBox="1"/>
          <p:nvPr/>
        </p:nvSpPr>
        <p:spPr>
          <a:xfrm>
            <a:off x="270683" y="783771"/>
            <a:ext cx="11655018" cy="513986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[Obtain address of new Node in NEW pointer]</a:t>
            </a:r>
          </a:p>
          <a:p>
            <a:r>
              <a:rPr lang="en-IN" sz="2000" dirty="0">
                <a:latin typeface="Consolas" pitchFamily="49" charset="0"/>
                <a:cs typeface="Consolas" pitchFamily="49" charset="0"/>
              </a:rPr>
              <a:t>    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(node*) malloc(</a:t>
            </a:r>
            <a:r>
              <a:rPr lang="en-IN" sz="2000" dirty="0" err="1">
                <a:latin typeface="Consolas" pitchFamily="49" charset="0"/>
                <a:cs typeface="Consolas" pitchFamily="49" charset="0"/>
              </a:rPr>
              <a:t>sizeof</a:t>
            </a:r>
            <a:r>
              <a:rPr lang="en-IN" sz="2000" dirty="0">
                <a:latin typeface="Consolas" pitchFamily="49" charset="0"/>
                <a:cs typeface="Consolas" pitchFamily="49" charset="0"/>
              </a:rPr>
              <a:t>(node))</a:t>
            </a:r>
          </a:p>
          <a:p>
            <a:endParaRPr lang="en-IN" sz="2000" dirty="0">
              <a:latin typeface="Consolas" pitchFamily="49" charset="0"/>
              <a:cs typeface="Consolas" pitchFamily="49" charset="0"/>
            </a:endParaRPr>
          </a:p>
          <a:p>
            <a:r>
              <a:rPr lang="en-US" sz="2000" b="1" dirty="0">
                <a:solidFill>
                  <a:schemeClr val="tx2"/>
                </a:solidFill>
                <a:latin typeface="Consolas" pitchFamily="49" charset="0"/>
                <a:cs typeface="Consolas" pitchFamily="49" charset="0"/>
              </a:rPr>
              <a:t>2. [Initialize fields of new node and its link to the list]</a:t>
            </a:r>
          </a:p>
          <a:p>
            <a:r>
              <a:rPr lang="en-US" sz="2000" b="1" dirty="0">
                <a:solidFill>
                  <a:schemeClr val="tx2"/>
                </a:solidFill>
                <a:latin typeface="Consolas" pitchFamily="49" charset="0"/>
                <a:cs typeface="Consolas" pitchFamily="49" charset="0"/>
              </a:rPr>
              <a:t>    </a:t>
            </a:r>
            <a:r>
              <a:rPr lang="en-US" sz="2000" dirty="0">
                <a:latin typeface="Consolas" pitchFamily="49" charset="0"/>
                <a:cs typeface="Consolas" pitchFamily="49" charset="0"/>
              </a:rPr>
              <a:t>NEW-&gt;INFO </a:t>
            </a:r>
            <a:r>
              <a:rPr lang="en-US" sz="2000" dirty="0">
                <a:latin typeface="Consolas" pitchFamily="49" charset="0"/>
                <a:cs typeface="Consolas" pitchFamily="49" charset="0"/>
                <a:sym typeface="Wingdings" panose="05000000000000000000" pitchFamily="2" charset="2"/>
              </a:rPr>
              <a:t></a:t>
            </a:r>
            <a:r>
              <a:rPr lang="en-US" sz="2000" dirty="0">
                <a:latin typeface="Consolas" pitchFamily="49" charset="0"/>
                <a:cs typeface="Consolas" pitchFamily="49" charset="0"/>
              </a:rPr>
              <a:t> X</a:t>
            </a:r>
          </a:p>
          <a:p>
            <a:r>
              <a:rPr lang="en-US" sz="2000" dirty="0">
                <a:latin typeface="Consolas" pitchFamily="49" charset="0"/>
                <a:cs typeface="Consolas" pitchFamily="49" charset="0"/>
              </a:rPr>
              <a:t>    NEW-&gt;NEXT </a:t>
            </a:r>
            <a:r>
              <a:rPr lang="en-US" sz="2000" dirty="0">
                <a:latin typeface="Consolas" pitchFamily="49" charset="0"/>
                <a:cs typeface="Consolas" pitchFamily="49" charset="0"/>
                <a:sym typeface="Wingdings" panose="05000000000000000000" pitchFamily="2" charset="2"/>
              </a:rPr>
              <a:t></a:t>
            </a:r>
            <a:r>
              <a:rPr lang="en-US" sz="2000" dirty="0">
                <a:latin typeface="Consolas" pitchFamily="49" charset="0"/>
                <a:cs typeface="Consolas" pitchFamily="49" charset="0"/>
              </a:rPr>
              <a:t> NULL</a:t>
            </a:r>
            <a:r>
              <a:rPr lang="en-US" sz="1400" dirty="0">
                <a:latin typeface="Consolas" pitchFamily="49" charset="0"/>
                <a:cs typeface="Consolas" pitchFamily="49" charset="0"/>
              </a:rPr>
              <a:t>(because it will become the last node)</a:t>
            </a:r>
          </a:p>
          <a:p>
            <a:endParaRPr lang="en-US" sz="28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3. [Search for end of list]</a:t>
            </a:r>
          </a:p>
          <a:p>
            <a:r>
              <a:rPr lang="en-IN" sz="2000" b="1" dirty="0">
                <a:solidFill>
                  <a:schemeClr val="tx2"/>
                </a:solidFill>
                <a:latin typeface="Consolas" pitchFamily="49" charset="0"/>
                <a:cs typeface="Consolas" pitchFamily="49" charset="0"/>
              </a:rPr>
              <a:t>    </a:t>
            </a:r>
            <a:r>
              <a:rPr lang="en-IN" sz="2000" dirty="0">
                <a:latin typeface="Consolas" pitchFamily="49" charset="0"/>
                <a:cs typeface="Consolas" pitchFamily="49" charset="0"/>
              </a:rPr>
              <a:t>TEMP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 </a:t>
            </a:r>
            <a:r>
              <a:rPr lang="en-US" sz="1400" dirty="0">
                <a:latin typeface="Consolas" pitchFamily="49" charset="0"/>
                <a:cs typeface="Consolas" pitchFamily="49" charset="0"/>
              </a:rPr>
              <a:t>(use TEMP pointer to traverse last node starting from FIRST node address)</a:t>
            </a:r>
            <a:endParaRPr lang="en-IN" sz="1400" dirty="0">
              <a:latin typeface="Consolas" pitchFamily="49" charset="0"/>
              <a:cs typeface="Consolas" pitchFamily="49" charset="0"/>
            </a:endParaRP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dirty="0">
                <a:latin typeface="Consolas" pitchFamily="49" charset="0"/>
                <a:cs typeface="Consolas" pitchFamily="49" charset="0"/>
              </a:rPr>
              <a:t> while TEMP-&gt;NEXT ≠ NULL</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anose="05000000000000000000" pitchFamily="2" charset="2"/>
              </a:rPr>
              <a:t> TEMP-&gt;NEXT</a:t>
            </a:r>
          </a:p>
          <a:p>
            <a:endParaRPr lang="en-IN" sz="2000" dirty="0">
              <a:latin typeface="Consolas" pitchFamily="49" charset="0"/>
              <a:cs typeface="Consolas" pitchFamily="49" charset="0"/>
              <a:sym typeface="Wingdings" panose="05000000000000000000" pitchFamily="2" charset="2"/>
            </a:endParaRPr>
          </a:p>
          <a:p>
            <a:r>
              <a:rPr lang="en-IN" sz="2000" b="1" dirty="0">
                <a:solidFill>
                  <a:schemeClr val="tx2"/>
                </a:solidFill>
                <a:latin typeface="Consolas" pitchFamily="49" charset="0"/>
                <a:cs typeface="Consolas" pitchFamily="49" charset="0"/>
              </a:rPr>
              <a:t>4. [Set link field of last node to NEW]</a:t>
            </a:r>
          </a:p>
          <a:p>
            <a:r>
              <a:rPr lang="en-IN" sz="2000" dirty="0">
                <a:latin typeface="Consolas" pitchFamily="49" charset="0"/>
                <a:cs typeface="Consolas" pitchFamily="49" charset="0"/>
              </a:rPr>
              <a:t>    TEMP-&gt;NEXT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endParaRPr lang="en-IN" sz="2000" dirty="0">
              <a:latin typeface="Consolas" pitchFamily="49" charset="0"/>
              <a:cs typeface="Consolas" pitchFamily="49" charset="0"/>
            </a:endParaRPr>
          </a:p>
          <a:p>
            <a:endParaRPr lang="en-IN" sz="2000" b="1" dirty="0">
              <a:solidFill>
                <a:schemeClr val="tx2">
                  <a:lumMod val="60000"/>
                  <a:lumOff val="40000"/>
                </a:schemeClr>
              </a:solidFill>
              <a:latin typeface="Consolas" pitchFamily="49" charset="0"/>
              <a:cs typeface="Consolas" pitchFamily="49" charset="0"/>
            </a:endParaRPr>
          </a:p>
        </p:txBody>
      </p:sp>
    </p:spTree>
    <p:extLst>
      <p:ext uri="{BB962C8B-B14F-4D97-AF65-F5344CB8AC3E}">
        <p14:creationId xmlns:p14="http://schemas.microsoft.com/office/powerpoint/2010/main" val="246450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INSEND(50, FIRST)</a:t>
            </a:r>
          </a:p>
        </p:txBody>
      </p:sp>
      <p:grpSp>
        <p:nvGrpSpPr>
          <p:cNvPr id="4" name="Group 3"/>
          <p:cNvGrpSpPr/>
          <p:nvPr/>
        </p:nvGrpSpPr>
        <p:grpSpPr>
          <a:xfrm>
            <a:off x="1536766" y="4826005"/>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1" name="Group 20"/>
          <p:cNvGrpSpPr/>
          <p:nvPr/>
        </p:nvGrpSpPr>
        <p:grpSpPr>
          <a:xfrm>
            <a:off x="2758596" y="4826005"/>
            <a:ext cx="920012" cy="533400"/>
            <a:chOff x="951919" y="5486400"/>
            <a:chExt cx="920012" cy="533400"/>
          </a:xfrm>
        </p:grpSpPr>
        <p:sp>
          <p:nvSpPr>
            <p:cNvPr id="22" name="Rectangle 21"/>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50</a:t>
              </a:r>
              <a:endParaRPr lang="en-US" sz="2400" b="1" dirty="0"/>
            </a:p>
          </p:txBody>
        </p:sp>
        <p:sp>
          <p:nvSpPr>
            <p:cNvPr id="23" name="Rectangle 22"/>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4" name="Group 23"/>
          <p:cNvGrpSpPr/>
          <p:nvPr/>
        </p:nvGrpSpPr>
        <p:grpSpPr>
          <a:xfrm>
            <a:off x="3977796" y="4826005"/>
            <a:ext cx="920012" cy="533400"/>
            <a:chOff x="951919" y="5486400"/>
            <a:chExt cx="920012" cy="533400"/>
          </a:xfrm>
        </p:grpSpPr>
        <p:sp>
          <p:nvSpPr>
            <p:cNvPr id="25" name="Rectangle 2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US" sz="2400" b="1" dirty="0"/>
            </a:p>
          </p:txBody>
        </p:sp>
        <p:sp>
          <p:nvSpPr>
            <p:cNvPr id="26" name="Rectangle 2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7" name="Group 26"/>
          <p:cNvGrpSpPr/>
          <p:nvPr/>
        </p:nvGrpSpPr>
        <p:grpSpPr>
          <a:xfrm>
            <a:off x="5196996" y="4826005"/>
            <a:ext cx="920012" cy="533400"/>
            <a:chOff x="951919" y="5486400"/>
            <a:chExt cx="920012" cy="533400"/>
          </a:xfrm>
        </p:grpSpPr>
        <p:sp>
          <p:nvSpPr>
            <p:cNvPr id="28" name="Rectangle 2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8</a:t>
              </a:r>
              <a:endParaRPr lang="en-US" sz="2400" b="1" dirty="0"/>
            </a:p>
          </p:txBody>
        </p:sp>
        <p:sp>
          <p:nvSpPr>
            <p:cNvPr id="29" name="Rectangle 2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0" name="Group 29"/>
          <p:cNvGrpSpPr/>
          <p:nvPr/>
        </p:nvGrpSpPr>
        <p:grpSpPr>
          <a:xfrm>
            <a:off x="6416196" y="4826005"/>
            <a:ext cx="920012" cy="533400"/>
            <a:chOff x="951919" y="5486400"/>
            <a:chExt cx="920012" cy="533400"/>
          </a:xfrm>
        </p:grpSpPr>
        <p:sp>
          <p:nvSpPr>
            <p:cNvPr id="31" name="Rectangle 3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35</a:t>
              </a:r>
              <a:endParaRPr lang="en-US" sz="2400" b="1" dirty="0"/>
            </a:p>
          </p:txBody>
        </p:sp>
        <p:sp>
          <p:nvSpPr>
            <p:cNvPr id="32" name="Rectangle 3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7" name="Group 56"/>
          <p:cNvGrpSpPr/>
          <p:nvPr/>
        </p:nvGrpSpPr>
        <p:grpSpPr>
          <a:xfrm>
            <a:off x="7635396" y="4826005"/>
            <a:ext cx="1058662" cy="533400"/>
            <a:chOff x="6256538" y="5334000"/>
            <a:chExt cx="1058662" cy="533400"/>
          </a:xfrm>
        </p:grpSpPr>
        <p:sp>
          <p:nvSpPr>
            <p:cNvPr id="34" name="Rectangle 33"/>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44</a:t>
              </a:r>
              <a:endParaRPr lang="en-US" sz="2400" b="1" dirty="0"/>
            </a:p>
          </p:txBody>
        </p:sp>
        <p:sp>
          <p:nvSpPr>
            <p:cNvPr id="35" name="Rectangle 34"/>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7" name="Group 16"/>
          <p:cNvGrpSpPr/>
          <p:nvPr/>
        </p:nvGrpSpPr>
        <p:grpSpPr>
          <a:xfrm>
            <a:off x="9079024" y="4826005"/>
            <a:ext cx="1148612" cy="533400"/>
            <a:chOff x="7690588" y="3352179"/>
            <a:chExt cx="1148612" cy="533400"/>
          </a:xfrm>
        </p:grpSpPr>
        <p:sp>
          <p:nvSpPr>
            <p:cNvPr id="37" name="Rectangle 36"/>
            <p:cNvSpPr/>
            <p:nvPr/>
          </p:nvSpPr>
          <p:spPr>
            <a:xfrm>
              <a:off x="7690588" y="3352179"/>
              <a:ext cx="621758"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38" name="Rectangle 37"/>
            <p:cNvSpPr/>
            <p:nvPr/>
          </p:nvSpPr>
          <p:spPr>
            <a:xfrm>
              <a:off x="8318887" y="3352179"/>
              <a:ext cx="52031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40" name="Straight Arrow Connector 39"/>
          <p:cNvCxnSpPr>
            <a:stCxn id="6" idx="3"/>
            <a:endCxn id="22" idx="1"/>
          </p:cNvCxnSpPr>
          <p:nvPr/>
        </p:nvCxnSpPr>
        <p:spPr>
          <a:xfrm>
            <a:off x="2456778" y="5092705"/>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a:stCxn id="23" idx="3"/>
            <a:endCxn id="25" idx="1"/>
          </p:cNvCxnSpPr>
          <p:nvPr/>
        </p:nvCxnSpPr>
        <p:spPr>
          <a:xfrm>
            <a:off x="3678608" y="5092705"/>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4" name="Straight Arrow Connector 43"/>
          <p:cNvCxnSpPr>
            <a:stCxn id="26" idx="3"/>
            <a:endCxn id="28" idx="1"/>
          </p:cNvCxnSpPr>
          <p:nvPr/>
        </p:nvCxnSpPr>
        <p:spPr>
          <a:xfrm>
            <a:off x="4897808" y="5092705"/>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a:stCxn id="29" idx="3"/>
            <a:endCxn id="31" idx="1"/>
          </p:cNvCxnSpPr>
          <p:nvPr/>
        </p:nvCxnSpPr>
        <p:spPr>
          <a:xfrm>
            <a:off x="6117008" y="5092705"/>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8" name="Straight Arrow Connector 47"/>
          <p:cNvCxnSpPr>
            <a:stCxn id="32" idx="3"/>
            <a:endCxn id="34" idx="1"/>
          </p:cNvCxnSpPr>
          <p:nvPr/>
        </p:nvCxnSpPr>
        <p:spPr>
          <a:xfrm>
            <a:off x="7336208" y="5092705"/>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9" name="TextBox 38"/>
          <p:cNvSpPr txBox="1"/>
          <p:nvPr/>
        </p:nvSpPr>
        <p:spPr>
          <a:xfrm>
            <a:off x="6096000" y="833378"/>
            <a:ext cx="5760000" cy="224676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3. [Search for end of list]</a:t>
            </a:r>
          </a:p>
          <a:p>
            <a:r>
              <a:rPr lang="en-IN" sz="2000" b="1" dirty="0">
                <a:solidFill>
                  <a:schemeClr val="tx2"/>
                </a:solidFill>
                <a:latin typeface="Consolas" pitchFamily="49" charset="0"/>
                <a:cs typeface="Consolas" pitchFamily="49" charset="0"/>
              </a:rPr>
              <a:t>    </a:t>
            </a:r>
            <a:r>
              <a:rPr lang="en-IN" sz="2000" dirty="0">
                <a:latin typeface="Consolas" pitchFamily="49" charset="0"/>
                <a:cs typeface="Consolas" pitchFamily="49" charset="0"/>
              </a:rPr>
              <a:t>TEMP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 </a:t>
            </a:r>
          </a:p>
          <a:p>
            <a:r>
              <a:rPr lang="en-IN" sz="2000" b="1" dirty="0">
                <a:solidFill>
                  <a:schemeClr val="tx2">
                    <a:lumMod val="75000"/>
                  </a:schemeClr>
                </a:solidFill>
                <a:latin typeface="Consolas" pitchFamily="49" charset="0"/>
                <a:cs typeface="Consolas" pitchFamily="49" charset="0"/>
              </a:rPr>
              <a:t>    Repeat</a:t>
            </a:r>
            <a:r>
              <a:rPr lang="en-IN" sz="2000" dirty="0">
                <a:latin typeface="Consolas" pitchFamily="49" charset="0"/>
                <a:cs typeface="Consolas" pitchFamily="49" charset="0"/>
              </a:rPr>
              <a:t> while TEMP-&gt;NEXT ≠ NULL</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anose="05000000000000000000" pitchFamily="2" charset="2"/>
              </a:rPr>
              <a:t> TEMP-&gt;NEXT</a:t>
            </a:r>
          </a:p>
          <a:p>
            <a:endParaRPr lang="en-IN" sz="2000" dirty="0">
              <a:latin typeface="Consolas" pitchFamily="49" charset="0"/>
              <a:cs typeface="Consolas" pitchFamily="49" charset="0"/>
              <a:sym typeface="Wingdings" panose="05000000000000000000" pitchFamily="2" charset="2"/>
            </a:endParaRPr>
          </a:p>
          <a:p>
            <a:r>
              <a:rPr lang="en-IN" sz="2000" b="1" dirty="0">
                <a:solidFill>
                  <a:schemeClr val="tx2"/>
                </a:solidFill>
                <a:latin typeface="Consolas" pitchFamily="49" charset="0"/>
                <a:cs typeface="Consolas" pitchFamily="49" charset="0"/>
              </a:rPr>
              <a:t>4. [Set link field of last node to NEW]</a:t>
            </a:r>
          </a:p>
          <a:p>
            <a:r>
              <a:rPr lang="en-IN" sz="2000" dirty="0">
                <a:latin typeface="Consolas" pitchFamily="49" charset="0"/>
                <a:cs typeface="Consolas" pitchFamily="49" charset="0"/>
              </a:rPr>
              <a:t>    TEMP-&gt;NEXT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p:txBody>
      </p:sp>
      <p:sp>
        <p:nvSpPr>
          <p:cNvPr id="41" name="TextBox 40"/>
          <p:cNvSpPr txBox="1"/>
          <p:nvPr/>
        </p:nvSpPr>
        <p:spPr>
          <a:xfrm>
            <a:off x="290438" y="833378"/>
            <a:ext cx="5760000" cy="255454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[Obtain address of new Node in NEW pointer]</a:t>
            </a:r>
          </a:p>
          <a:p>
            <a:r>
              <a:rPr lang="en-IN" sz="2000" dirty="0">
                <a:latin typeface="Consolas" pitchFamily="49" charset="0"/>
                <a:cs typeface="Consolas" pitchFamily="49" charset="0"/>
              </a:rPr>
              <a:t>    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(node*) malloc(</a:t>
            </a:r>
            <a:r>
              <a:rPr lang="en-IN" sz="2000" dirty="0" err="1">
                <a:latin typeface="Consolas" pitchFamily="49" charset="0"/>
                <a:cs typeface="Consolas" pitchFamily="49" charset="0"/>
              </a:rPr>
              <a:t>sizeof</a:t>
            </a:r>
            <a:r>
              <a:rPr lang="en-IN" sz="2000" dirty="0">
                <a:latin typeface="Consolas" pitchFamily="49" charset="0"/>
                <a:cs typeface="Consolas" pitchFamily="49" charset="0"/>
              </a:rPr>
              <a:t>(node))</a:t>
            </a:r>
          </a:p>
          <a:p>
            <a:endParaRPr lang="en-IN" sz="2000" dirty="0">
              <a:latin typeface="Consolas" pitchFamily="49" charset="0"/>
              <a:cs typeface="Consolas" pitchFamily="49" charset="0"/>
            </a:endParaRPr>
          </a:p>
          <a:p>
            <a:r>
              <a:rPr lang="en-US" sz="2000" b="1" dirty="0">
                <a:solidFill>
                  <a:schemeClr val="tx2"/>
                </a:solidFill>
                <a:latin typeface="Consolas" pitchFamily="49" charset="0"/>
                <a:cs typeface="Consolas" pitchFamily="49" charset="0"/>
              </a:rPr>
              <a:t>2. [Initialize fields of new node and its link to the list]</a:t>
            </a:r>
          </a:p>
          <a:p>
            <a:r>
              <a:rPr lang="en-US" sz="2000" b="1" dirty="0">
                <a:solidFill>
                  <a:schemeClr val="tx2"/>
                </a:solidFill>
                <a:latin typeface="Consolas" pitchFamily="49" charset="0"/>
                <a:cs typeface="Consolas" pitchFamily="49" charset="0"/>
              </a:rPr>
              <a:t>    </a:t>
            </a:r>
            <a:r>
              <a:rPr lang="en-US" sz="2000" dirty="0">
                <a:latin typeface="Consolas" pitchFamily="49" charset="0"/>
                <a:cs typeface="Consolas" pitchFamily="49" charset="0"/>
              </a:rPr>
              <a:t>NEW-&gt;INFO </a:t>
            </a:r>
            <a:r>
              <a:rPr lang="en-US" sz="2000" dirty="0">
                <a:latin typeface="Consolas" pitchFamily="49" charset="0"/>
                <a:cs typeface="Consolas" pitchFamily="49" charset="0"/>
                <a:sym typeface="Wingdings" panose="05000000000000000000" pitchFamily="2" charset="2"/>
              </a:rPr>
              <a:t></a:t>
            </a:r>
            <a:r>
              <a:rPr lang="en-US" sz="2000" dirty="0">
                <a:latin typeface="Consolas" pitchFamily="49" charset="0"/>
                <a:cs typeface="Consolas" pitchFamily="49" charset="0"/>
              </a:rPr>
              <a:t> X</a:t>
            </a:r>
          </a:p>
          <a:p>
            <a:r>
              <a:rPr lang="en-US" sz="2000" dirty="0">
                <a:latin typeface="Consolas" pitchFamily="49" charset="0"/>
                <a:cs typeface="Consolas" pitchFamily="49" charset="0"/>
              </a:rPr>
              <a:t>    NEW-&gt;NEXT </a:t>
            </a:r>
            <a:r>
              <a:rPr lang="en-US" sz="2000" dirty="0">
                <a:latin typeface="Consolas" pitchFamily="49" charset="0"/>
                <a:cs typeface="Consolas" pitchFamily="49" charset="0"/>
                <a:sym typeface="Wingdings" panose="05000000000000000000" pitchFamily="2" charset="2"/>
              </a:rPr>
              <a:t></a:t>
            </a:r>
            <a:r>
              <a:rPr lang="en-US" sz="2000" dirty="0">
                <a:latin typeface="Consolas" pitchFamily="49" charset="0"/>
                <a:cs typeface="Consolas" pitchFamily="49" charset="0"/>
              </a:rPr>
              <a:t> NULL</a:t>
            </a:r>
            <a:endParaRPr lang="en-US" sz="1400" dirty="0">
              <a:latin typeface="Consolas" pitchFamily="49" charset="0"/>
              <a:cs typeface="Consolas" pitchFamily="49" charset="0"/>
            </a:endParaRPr>
          </a:p>
        </p:txBody>
      </p:sp>
      <p:sp>
        <p:nvSpPr>
          <p:cNvPr id="43" name="TextBox 42"/>
          <p:cNvSpPr txBox="1"/>
          <p:nvPr/>
        </p:nvSpPr>
        <p:spPr>
          <a:xfrm>
            <a:off x="1455058" y="5588005"/>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45" name="Straight Arrow Connector 44"/>
          <p:cNvCxnSpPr/>
          <p:nvPr/>
        </p:nvCxnSpPr>
        <p:spPr>
          <a:xfrm flipV="1">
            <a:off x="1773608" y="5359405"/>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p:nvPr/>
        </p:nvCxnSpPr>
        <p:spPr>
          <a:xfrm flipV="1">
            <a:off x="9709525" y="4826006"/>
            <a:ext cx="500743" cy="500743"/>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47" name="TextBox 46"/>
          <p:cNvSpPr txBox="1"/>
          <p:nvPr/>
        </p:nvSpPr>
        <p:spPr>
          <a:xfrm>
            <a:off x="9267929" y="5447894"/>
            <a:ext cx="612668" cy="369332"/>
          </a:xfrm>
          <a:prstGeom prst="rect">
            <a:avLst/>
          </a:prstGeom>
          <a:noFill/>
        </p:spPr>
        <p:txBody>
          <a:bodyPr wrap="none" rtlCol="0">
            <a:spAutoFit/>
          </a:bodyPr>
          <a:lstStyle/>
          <a:p>
            <a:r>
              <a:rPr lang="en-IN" b="1" dirty="0">
                <a:solidFill>
                  <a:srgbClr val="C00000"/>
                </a:solidFill>
              </a:rPr>
              <a:t>NEW</a:t>
            </a:r>
            <a:endParaRPr lang="en-US" b="1" dirty="0">
              <a:solidFill>
                <a:srgbClr val="C00000"/>
              </a:solidFill>
            </a:endParaRPr>
          </a:p>
        </p:txBody>
      </p:sp>
      <p:cxnSp>
        <p:nvCxnSpPr>
          <p:cNvPr id="49" name="Straight Connector 48"/>
          <p:cNvCxnSpPr/>
          <p:nvPr/>
        </p:nvCxnSpPr>
        <p:spPr>
          <a:xfrm flipV="1">
            <a:off x="8178810" y="4826005"/>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58" name="TextBox 57"/>
          <p:cNvSpPr txBox="1"/>
          <p:nvPr/>
        </p:nvSpPr>
        <p:spPr>
          <a:xfrm>
            <a:off x="9109334" y="4864468"/>
            <a:ext cx="591448" cy="461665"/>
          </a:xfrm>
          <a:prstGeom prst="rect">
            <a:avLst/>
          </a:prstGeom>
          <a:noFill/>
        </p:spPr>
        <p:txBody>
          <a:bodyPr wrap="square" rtlCol="0">
            <a:spAutoFit/>
          </a:bodyPr>
          <a:lstStyle/>
          <a:p>
            <a:pPr algn="ctr"/>
            <a:r>
              <a:rPr lang="en-IN" sz="2400" b="1" dirty="0">
                <a:solidFill>
                  <a:srgbClr val="FFFF00"/>
                </a:solidFill>
              </a:rPr>
              <a:t>50</a:t>
            </a:r>
            <a:endParaRPr lang="en-US" sz="2400" b="1" dirty="0">
              <a:solidFill>
                <a:srgbClr val="FFFF00"/>
              </a:solidFill>
            </a:endParaRPr>
          </a:p>
        </p:txBody>
      </p:sp>
      <p:grpSp>
        <p:nvGrpSpPr>
          <p:cNvPr id="62" name="Group 61"/>
          <p:cNvGrpSpPr/>
          <p:nvPr/>
        </p:nvGrpSpPr>
        <p:grpSpPr>
          <a:xfrm>
            <a:off x="1576071" y="3987805"/>
            <a:ext cx="729688" cy="838200"/>
            <a:chOff x="197213" y="4495800"/>
            <a:chExt cx="729688" cy="838200"/>
          </a:xfrm>
        </p:grpSpPr>
        <p:sp>
          <p:nvSpPr>
            <p:cNvPr id="59" name="TextBox 58"/>
            <p:cNvSpPr txBox="1"/>
            <p:nvPr/>
          </p:nvSpPr>
          <p:spPr>
            <a:xfrm>
              <a:off x="197213" y="4495800"/>
              <a:ext cx="729688" cy="369332"/>
            </a:xfrm>
            <a:prstGeom prst="rect">
              <a:avLst/>
            </a:prstGeom>
            <a:noFill/>
          </p:spPr>
          <p:txBody>
            <a:bodyPr wrap="none" rtlCol="0">
              <a:spAutoFit/>
            </a:bodyPr>
            <a:lstStyle/>
            <a:p>
              <a:pPr algn="ctr"/>
              <a:r>
                <a:rPr lang="en-IN" b="1" dirty="0">
                  <a:solidFill>
                    <a:srgbClr val="C00000"/>
                  </a:solidFill>
                </a:rPr>
                <a:t>TEMP</a:t>
              </a:r>
              <a:endParaRPr lang="en-US" b="1" dirty="0">
                <a:solidFill>
                  <a:srgbClr val="C00000"/>
                </a:solidFill>
              </a:endParaRPr>
            </a:p>
          </p:txBody>
        </p:sp>
        <p:cxnSp>
          <p:nvCxnSpPr>
            <p:cNvPr id="61" name="Straight Arrow Connector 60"/>
            <p:cNvCxnSpPr>
              <a:stCxn id="59" idx="2"/>
            </p:cNvCxnSpPr>
            <p:nvPr/>
          </p:nvCxnSpPr>
          <p:spPr>
            <a:xfrm>
              <a:off x="562057" y="4865132"/>
              <a:ext cx="0" cy="4688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cxnSp>
        <p:nvCxnSpPr>
          <p:cNvPr id="74" name="Straight Arrow Connector 73"/>
          <p:cNvCxnSpPr>
            <a:stCxn id="35" idx="3"/>
            <a:endCxn id="37" idx="1"/>
          </p:cNvCxnSpPr>
          <p:nvPr/>
        </p:nvCxnSpPr>
        <p:spPr>
          <a:xfrm>
            <a:off x="8694058" y="5092705"/>
            <a:ext cx="38496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31414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nodeType="clickEffect">
                                  <p:stCondLst>
                                    <p:cond delay="0"/>
                                  </p:stCondLst>
                                  <p:childTnLst>
                                    <p:animMotion origin="layout" path="M -4.58333E-6 -2.59259E-6 L 0.11355 -2.59259E-6 " pathEditMode="relative" rAng="0" ptsTypes="AA">
                                      <p:cBhvr>
                                        <p:cTn id="60" dur="2000" fill="hold"/>
                                        <p:tgtEl>
                                          <p:spTgt spid="62"/>
                                        </p:tgtEl>
                                        <p:attrNameLst>
                                          <p:attrName>ppt_x</p:attrName>
                                          <p:attrName>ppt_y</p:attrName>
                                        </p:attrNameLst>
                                      </p:cBhvr>
                                      <p:rCtr x="5677" y="0"/>
                                    </p:animMotion>
                                  </p:childTnLst>
                                </p:cTn>
                              </p:par>
                            </p:childTnLst>
                          </p:cTn>
                        </p:par>
                      </p:childTnLst>
                    </p:cTn>
                  </p:par>
                  <p:par>
                    <p:cTn id="61" fill="hold">
                      <p:stCondLst>
                        <p:cond delay="indefinite"/>
                      </p:stCondLst>
                      <p:childTnLst>
                        <p:par>
                          <p:cTn id="62" fill="hold">
                            <p:stCondLst>
                              <p:cond delay="0"/>
                            </p:stCondLst>
                            <p:childTnLst>
                              <p:par>
                                <p:cTn id="63" presetID="63" presetClass="path" presetSubtype="0" accel="50000" decel="50000" fill="hold" nodeType="clickEffect">
                                  <p:stCondLst>
                                    <p:cond delay="0"/>
                                  </p:stCondLst>
                                  <p:childTnLst>
                                    <p:animMotion origin="layout" path="M 0.11355 -2.59259E-6 L 0.21237 -2.59259E-6 " pathEditMode="relative" rAng="0" ptsTypes="AA">
                                      <p:cBhvr>
                                        <p:cTn id="64" dur="2000" fill="hold"/>
                                        <p:tgtEl>
                                          <p:spTgt spid="62"/>
                                        </p:tgtEl>
                                        <p:attrNameLst>
                                          <p:attrName>ppt_x</p:attrName>
                                          <p:attrName>ppt_y</p:attrName>
                                        </p:attrNameLst>
                                      </p:cBhvr>
                                      <p:rCtr x="4935" y="0"/>
                                    </p:animMotion>
                                  </p:childTnLst>
                                </p:cTn>
                              </p:par>
                            </p:childTnLst>
                          </p:cTn>
                        </p:par>
                      </p:childTnLst>
                    </p:cTn>
                  </p:par>
                  <p:par>
                    <p:cTn id="65" fill="hold">
                      <p:stCondLst>
                        <p:cond delay="indefinite"/>
                      </p:stCondLst>
                      <p:childTnLst>
                        <p:par>
                          <p:cTn id="66" fill="hold">
                            <p:stCondLst>
                              <p:cond delay="0"/>
                            </p:stCondLst>
                            <p:childTnLst>
                              <p:par>
                                <p:cTn id="67" presetID="63" presetClass="path" presetSubtype="0" accel="50000" decel="50000" fill="hold" nodeType="clickEffect">
                                  <p:stCondLst>
                                    <p:cond delay="0"/>
                                  </p:stCondLst>
                                  <p:childTnLst>
                                    <p:animMotion origin="layout" path="M 0.21237 -2.59259E-6 L 0.31159 -2.59259E-6 " pathEditMode="relative" rAng="0" ptsTypes="AA">
                                      <p:cBhvr>
                                        <p:cTn id="68" dur="2000" fill="hold"/>
                                        <p:tgtEl>
                                          <p:spTgt spid="62"/>
                                        </p:tgtEl>
                                        <p:attrNameLst>
                                          <p:attrName>ppt_x</p:attrName>
                                          <p:attrName>ppt_y</p:attrName>
                                        </p:attrNameLst>
                                      </p:cBhvr>
                                      <p:rCtr x="4961" y="0"/>
                                    </p:animMotion>
                                  </p:childTnLst>
                                </p:cTn>
                              </p:par>
                            </p:childTnLst>
                          </p:cTn>
                        </p:par>
                      </p:childTnLst>
                    </p:cTn>
                  </p:par>
                  <p:par>
                    <p:cTn id="69" fill="hold">
                      <p:stCondLst>
                        <p:cond delay="indefinite"/>
                      </p:stCondLst>
                      <p:childTnLst>
                        <p:par>
                          <p:cTn id="70" fill="hold">
                            <p:stCondLst>
                              <p:cond delay="0"/>
                            </p:stCondLst>
                            <p:childTnLst>
                              <p:par>
                                <p:cTn id="71" presetID="63" presetClass="path" presetSubtype="0" accel="50000" decel="50000" fill="hold" nodeType="clickEffect">
                                  <p:stCondLst>
                                    <p:cond delay="0"/>
                                  </p:stCondLst>
                                  <p:childTnLst>
                                    <p:animMotion origin="layout" path="M 0.31159 -2.59259E-6 L 0.41094 -2.59259E-6 " pathEditMode="relative" rAng="0" ptsTypes="AA">
                                      <p:cBhvr>
                                        <p:cTn id="72" dur="2000" fill="hold"/>
                                        <p:tgtEl>
                                          <p:spTgt spid="62"/>
                                        </p:tgtEl>
                                        <p:attrNameLst>
                                          <p:attrName>ppt_x</p:attrName>
                                          <p:attrName>ppt_y</p:attrName>
                                        </p:attrNameLst>
                                      </p:cBhvr>
                                      <p:rCtr x="4961" y="0"/>
                                    </p:animMotion>
                                  </p:childTnLst>
                                </p:cTn>
                              </p:par>
                            </p:childTnLst>
                          </p:cTn>
                        </p:par>
                      </p:childTnLst>
                    </p:cTn>
                  </p:par>
                  <p:par>
                    <p:cTn id="73" fill="hold">
                      <p:stCondLst>
                        <p:cond delay="indefinite"/>
                      </p:stCondLst>
                      <p:childTnLst>
                        <p:par>
                          <p:cTn id="74" fill="hold">
                            <p:stCondLst>
                              <p:cond delay="0"/>
                            </p:stCondLst>
                            <p:childTnLst>
                              <p:par>
                                <p:cTn id="75" presetID="63" presetClass="path" presetSubtype="0" accel="50000" decel="50000" fill="hold" nodeType="clickEffect">
                                  <p:stCondLst>
                                    <p:cond delay="0"/>
                                  </p:stCondLst>
                                  <p:childTnLst>
                                    <p:animMotion origin="layout" path="M 0.41094 -2.59259E-6 L 0.51094 -2.59259E-6 " pathEditMode="relative" rAng="0" ptsTypes="AA">
                                      <p:cBhvr>
                                        <p:cTn id="76" dur="2000" fill="hold"/>
                                        <p:tgtEl>
                                          <p:spTgt spid="62"/>
                                        </p:tgtEl>
                                        <p:attrNameLst>
                                          <p:attrName>ppt_x</p:attrName>
                                          <p:attrName>ppt_y</p:attrName>
                                        </p:attrNameLst>
                                      </p:cBhvr>
                                      <p:rCtr x="5000" y="0"/>
                                    </p:animMotion>
                                  </p:childTnLst>
                                </p:cTn>
                              </p:par>
                            </p:childTnLst>
                          </p:cTn>
                        </p:par>
                      </p:childTnLst>
                    </p:cTn>
                  </p:par>
                  <p:par>
                    <p:cTn id="77" fill="hold">
                      <p:stCondLst>
                        <p:cond delay="indefinite"/>
                      </p:stCondLst>
                      <p:childTnLst>
                        <p:par>
                          <p:cTn id="78" fill="hold">
                            <p:stCondLst>
                              <p:cond delay="0"/>
                            </p:stCondLst>
                            <p:childTnLst>
                              <p:par>
                                <p:cTn id="79" presetID="22" presetClass="exit" presetSubtype="1" fill="hold" nodeType="clickEffect">
                                  <p:stCondLst>
                                    <p:cond delay="0"/>
                                  </p:stCondLst>
                                  <p:childTnLst>
                                    <p:animEffect transition="out" filter="wipe(up)">
                                      <p:cBhvr>
                                        <p:cTn id="80" dur="500"/>
                                        <p:tgtEl>
                                          <p:spTgt spid="49"/>
                                        </p:tgtEl>
                                      </p:cBhvr>
                                    </p:animEffect>
                                    <p:set>
                                      <p:cBhvr>
                                        <p:cTn id="81" dur="1" fill="hold">
                                          <p:stCondLst>
                                            <p:cond delay="499"/>
                                          </p:stCondLst>
                                        </p:cTn>
                                        <p:tgtEl>
                                          <p:spTgt spid="49"/>
                                        </p:tgtEl>
                                        <p:attrNameLst>
                                          <p:attrName>style.visibility</p:attrName>
                                        </p:attrNameLst>
                                      </p:cBhvr>
                                      <p:to>
                                        <p:strVal val="hidden"/>
                                      </p:to>
                                    </p:set>
                                  </p:childTnLst>
                                </p:cTn>
                              </p:par>
                              <p:par>
                                <p:cTn id="82" presetID="22" presetClass="entr" presetSubtype="8" fill="hold" nodeType="withEffect">
                                  <p:stCondLst>
                                    <p:cond delay="0"/>
                                  </p:stCondLst>
                                  <p:childTnLst>
                                    <p:set>
                                      <p:cBhvr>
                                        <p:cTn id="83" dur="1" fill="hold">
                                          <p:stCondLst>
                                            <p:cond delay="0"/>
                                          </p:stCondLst>
                                        </p:cTn>
                                        <p:tgtEl>
                                          <p:spTgt spid="74"/>
                                        </p:tgtEl>
                                        <p:attrNameLst>
                                          <p:attrName>style.visibility</p:attrName>
                                        </p:attrNameLst>
                                      </p:cBhvr>
                                      <p:to>
                                        <p:strVal val="visible"/>
                                      </p:to>
                                    </p:set>
                                    <p:animEffect transition="in" filter="wipe(left)">
                                      <p:cBhvr>
                                        <p:cTn id="84"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43" grpId="0"/>
      <p:bldP spid="47" grpId="0"/>
      <p:bldP spid="5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INSORD(X, FIRST)</a:t>
            </a:r>
          </a:p>
        </p:txBody>
      </p:sp>
      <p:sp>
        <p:nvSpPr>
          <p:cNvPr id="3" name="Content Placeholder 2"/>
          <p:cNvSpPr>
            <a:spLocks noGrp="1"/>
          </p:cNvSpPr>
          <p:nvPr>
            <p:ph idx="1"/>
          </p:nvPr>
        </p:nvSpPr>
        <p:spPr/>
        <p:txBody>
          <a:bodyPr/>
          <a:lstStyle/>
          <a:p>
            <a:pPr>
              <a:spcBef>
                <a:spcPts val="600"/>
              </a:spcBef>
            </a:pPr>
            <a:r>
              <a:rPr lang="en-IN" dirty="0"/>
              <a:t>This function </a:t>
            </a:r>
            <a:r>
              <a:rPr lang="en-IN" b="1" dirty="0">
                <a:solidFill>
                  <a:srgbClr val="C00000"/>
                </a:solidFill>
              </a:rPr>
              <a:t>inserts</a:t>
            </a:r>
            <a:r>
              <a:rPr lang="en-IN" dirty="0">
                <a:solidFill>
                  <a:srgbClr val="C00000"/>
                </a:solidFill>
              </a:rPr>
              <a:t> </a:t>
            </a:r>
            <a:r>
              <a:rPr lang="en-IN" dirty="0"/>
              <a:t>a new node such that linked list preserves the ordering of the terms in </a:t>
            </a:r>
            <a:r>
              <a:rPr lang="en-IN" b="1" dirty="0">
                <a:solidFill>
                  <a:srgbClr val="C00000"/>
                </a:solidFill>
              </a:rPr>
              <a:t>increasing</a:t>
            </a:r>
            <a:r>
              <a:rPr lang="en-IN" b="1" dirty="0">
                <a:solidFill>
                  <a:srgbClr val="FF0000"/>
                </a:solidFill>
              </a:rPr>
              <a:t> </a:t>
            </a:r>
            <a:r>
              <a:rPr lang="en-IN" b="1" dirty="0">
                <a:solidFill>
                  <a:srgbClr val="C00000"/>
                </a:solidFill>
              </a:rPr>
              <a:t>order</a:t>
            </a:r>
            <a:r>
              <a:rPr lang="en-IN" b="1" dirty="0">
                <a:solidFill>
                  <a:srgbClr val="FF0000"/>
                </a:solidFill>
              </a:rPr>
              <a:t> </a:t>
            </a:r>
            <a:r>
              <a:rPr lang="en-IN" dirty="0"/>
              <a:t>of their </a:t>
            </a:r>
            <a:r>
              <a:rPr lang="en-IN" b="1" dirty="0">
                <a:solidFill>
                  <a:srgbClr val="C00000"/>
                </a:solidFill>
              </a:rPr>
              <a:t>INFO</a:t>
            </a:r>
            <a:r>
              <a:rPr lang="en-IN" dirty="0">
                <a:solidFill>
                  <a:srgbClr val="C00000"/>
                </a:solidFill>
              </a:rPr>
              <a:t> </a:t>
            </a:r>
            <a:r>
              <a:rPr lang="en-IN" dirty="0"/>
              <a:t>field.</a:t>
            </a:r>
          </a:p>
          <a:p>
            <a:pPr>
              <a:spcBef>
                <a:spcPts val="600"/>
              </a:spcBef>
            </a:pPr>
            <a:r>
              <a:rPr lang="en-IN" dirty="0"/>
              <a:t>This function returns address of </a:t>
            </a:r>
            <a:r>
              <a:rPr lang="en-IN" b="1" dirty="0">
                <a:solidFill>
                  <a:srgbClr val="C00000"/>
                </a:solidFill>
              </a:rPr>
              <a:t>FIRST</a:t>
            </a:r>
            <a:r>
              <a:rPr lang="en-IN" dirty="0">
                <a:solidFill>
                  <a:srgbClr val="C00000"/>
                </a:solidFill>
              </a:rPr>
              <a:t> </a:t>
            </a:r>
            <a:r>
              <a:rPr lang="en-IN" dirty="0"/>
              <a:t>node.</a:t>
            </a:r>
            <a:endParaRPr lang="en-US" dirty="0"/>
          </a:p>
          <a:p>
            <a:pPr>
              <a:spcBef>
                <a:spcPts val="600"/>
              </a:spcBef>
            </a:pPr>
            <a:r>
              <a:rPr lang="en-IN" b="1" dirty="0">
                <a:solidFill>
                  <a:srgbClr val="C00000"/>
                </a:solidFill>
              </a:rPr>
              <a:t>X</a:t>
            </a:r>
            <a:r>
              <a:rPr lang="en-IN" dirty="0">
                <a:solidFill>
                  <a:srgbClr val="C00000"/>
                </a:solidFill>
              </a:rPr>
              <a:t> </a:t>
            </a:r>
            <a:r>
              <a:rPr lang="en-IN" dirty="0"/>
              <a:t>is a new element to be inserted.</a:t>
            </a:r>
          </a:p>
          <a:p>
            <a:pPr>
              <a:spcBef>
                <a:spcPts val="600"/>
              </a:spcBef>
            </a:pPr>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pPr>
              <a:spcBef>
                <a:spcPts val="600"/>
              </a:spcBef>
            </a:pPr>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NEXT</a:t>
            </a:r>
            <a:r>
              <a:rPr lang="en-IN" dirty="0">
                <a:solidFill>
                  <a:srgbClr val="C00000"/>
                </a:solidFill>
              </a:rPr>
              <a:t> </a:t>
            </a:r>
            <a:r>
              <a:rPr lang="en-IN" dirty="0"/>
              <a:t>fields. </a:t>
            </a:r>
          </a:p>
          <a:p>
            <a:pPr>
              <a:spcBef>
                <a:spcPts val="600"/>
              </a:spcBef>
            </a:pPr>
            <a:r>
              <a:rPr lang="en-IN" b="1" dirty="0">
                <a:solidFill>
                  <a:srgbClr val="C00000"/>
                </a:solidFill>
              </a:rPr>
              <a:t>NEW</a:t>
            </a:r>
            <a:r>
              <a:rPr lang="en-IN" dirty="0">
                <a:solidFill>
                  <a:srgbClr val="C00000"/>
                </a:solidFill>
              </a:rPr>
              <a:t> </a:t>
            </a:r>
            <a:r>
              <a:rPr lang="en-IN" dirty="0"/>
              <a:t>is a temporary pointer variable. </a:t>
            </a:r>
          </a:p>
          <a:p>
            <a:endParaRPr lang="en-US" dirty="0"/>
          </a:p>
        </p:txBody>
      </p:sp>
      <p:grpSp>
        <p:nvGrpSpPr>
          <p:cNvPr id="4" name="Group 3"/>
          <p:cNvGrpSpPr/>
          <p:nvPr/>
        </p:nvGrpSpPr>
        <p:grpSpPr>
          <a:xfrm>
            <a:off x="1752600" y="4819528"/>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3048000" y="4819528"/>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4343400" y="4819528"/>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5638800" y="4819528"/>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8071588" y="4819528"/>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9380738" y="4819528"/>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a:stCxn id="6" idx="3"/>
            <a:endCxn id="8" idx="1"/>
          </p:cNvCxnSpPr>
          <p:nvPr/>
        </p:nvCxnSpPr>
        <p:spPr>
          <a:xfrm>
            <a:off x="2672612" y="508622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3968012" y="508622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5263412" y="508622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6558812" y="5086228"/>
            <a:ext cx="15127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8991600" y="5086228"/>
            <a:ext cx="3891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V="1">
            <a:off x="9939280" y="4819528"/>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28" name="TextBox 27"/>
          <p:cNvSpPr txBox="1"/>
          <p:nvPr/>
        </p:nvSpPr>
        <p:spPr>
          <a:xfrm>
            <a:off x="1752600" y="5581528"/>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9" name="Straight Arrow Connector 28"/>
          <p:cNvCxnSpPr/>
          <p:nvPr/>
        </p:nvCxnSpPr>
        <p:spPr>
          <a:xfrm flipV="1">
            <a:off x="2071150" y="5352928"/>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0" name="Group 29"/>
          <p:cNvGrpSpPr/>
          <p:nvPr/>
        </p:nvGrpSpPr>
        <p:grpSpPr>
          <a:xfrm>
            <a:off x="6855194" y="5766194"/>
            <a:ext cx="920012" cy="533400"/>
            <a:chOff x="951919" y="5486400"/>
            <a:chExt cx="920012" cy="533400"/>
          </a:xfrm>
        </p:grpSpPr>
        <p:sp>
          <p:nvSpPr>
            <p:cNvPr id="31" name="Rectangle 3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22</a:t>
              </a:r>
              <a:endParaRPr lang="en-US" sz="2400" b="1" dirty="0"/>
            </a:p>
          </p:txBody>
        </p:sp>
        <p:sp>
          <p:nvSpPr>
            <p:cNvPr id="32" name="Rectangle 3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3" name="TextBox 32"/>
          <p:cNvSpPr txBox="1"/>
          <p:nvPr/>
        </p:nvSpPr>
        <p:spPr>
          <a:xfrm>
            <a:off x="5440728" y="4350660"/>
            <a:ext cx="1341073" cy="369332"/>
          </a:xfrm>
          <a:prstGeom prst="rect">
            <a:avLst/>
          </a:prstGeom>
          <a:noFill/>
        </p:spPr>
        <p:txBody>
          <a:bodyPr wrap="none" rtlCol="0">
            <a:spAutoFit/>
          </a:bodyPr>
          <a:lstStyle/>
          <a:p>
            <a:r>
              <a:rPr lang="en-IN" b="1" dirty="0">
                <a:solidFill>
                  <a:srgbClr val="C00000"/>
                </a:solidFill>
              </a:rPr>
              <a:t>Predecessor</a:t>
            </a:r>
            <a:endParaRPr lang="en-US" b="1" dirty="0">
              <a:solidFill>
                <a:srgbClr val="C00000"/>
              </a:solidFill>
            </a:endParaRPr>
          </a:p>
        </p:txBody>
      </p:sp>
      <p:sp>
        <p:nvSpPr>
          <p:cNvPr id="34" name="TextBox 33"/>
          <p:cNvSpPr txBox="1"/>
          <p:nvPr/>
        </p:nvSpPr>
        <p:spPr>
          <a:xfrm>
            <a:off x="7033643" y="6299594"/>
            <a:ext cx="612668" cy="369332"/>
          </a:xfrm>
          <a:prstGeom prst="rect">
            <a:avLst/>
          </a:prstGeom>
          <a:noFill/>
        </p:spPr>
        <p:txBody>
          <a:bodyPr wrap="none" rtlCol="0">
            <a:spAutoFit/>
          </a:bodyPr>
          <a:lstStyle/>
          <a:p>
            <a:pPr algn="ctr"/>
            <a:r>
              <a:rPr lang="en-IN" b="1" dirty="0">
                <a:solidFill>
                  <a:srgbClr val="C00000"/>
                </a:solidFill>
              </a:rPr>
              <a:t>NEW</a:t>
            </a:r>
            <a:endParaRPr lang="en-US" b="1" dirty="0">
              <a:solidFill>
                <a:srgbClr val="C00000"/>
              </a:solidFill>
            </a:endParaRPr>
          </a:p>
        </p:txBody>
      </p:sp>
      <p:cxnSp>
        <p:nvCxnSpPr>
          <p:cNvPr id="38" name="Straight Connector 37"/>
          <p:cNvCxnSpPr>
            <a:stCxn id="32" idx="3"/>
          </p:cNvCxnSpPr>
          <p:nvPr/>
        </p:nvCxnSpPr>
        <p:spPr>
          <a:xfrm>
            <a:off x="7775206" y="6032894"/>
            <a:ext cx="563082"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a:endCxn id="17" idx="2"/>
          </p:cNvCxnSpPr>
          <p:nvPr/>
        </p:nvCxnSpPr>
        <p:spPr>
          <a:xfrm flipV="1">
            <a:off x="8338288" y="5352928"/>
            <a:ext cx="0" cy="67996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Connector 41"/>
          <p:cNvCxnSpPr>
            <a:stCxn id="15" idx="2"/>
          </p:cNvCxnSpPr>
          <p:nvPr/>
        </p:nvCxnSpPr>
        <p:spPr>
          <a:xfrm>
            <a:off x="6368312" y="5352928"/>
            <a:ext cx="0" cy="679966"/>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4" name="Straight Arrow Connector 43"/>
          <p:cNvCxnSpPr>
            <a:endCxn id="31" idx="1"/>
          </p:cNvCxnSpPr>
          <p:nvPr/>
        </p:nvCxnSpPr>
        <p:spPr>
          <a:xfrm>
            <a:off x="6368312" y="6032894"/>
            <a:ext cx="486882"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28328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nodeType="clickEffect">
                                  <p:stCondLst>
                                    <p:cond delay="0"/>
                                  </p:stCondLst>
                                  <p:childTnLst>
                                    <p:set>
                                      <p:cBhvr>
                                        <p:cTn id="76" dur="1" fill="hold">
                                          <p:stCondLst>
                                            <p:cond delay="0"/>
                                          </p:stCondLst>
                                        </p:cTn>
                                        <p:tgtEl>
                                          <p:spTgt spid="25"/>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3" grpId="0"/>
      <p:bldP spid="3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INSORD(X, FIRST)</a:t>
            </a:r>
          </a:p>
        </p:txBody>
      </p:sp>
      <p:sp>
        <p:nvSpPr>
          <p:cNvPr id="4" name="TextBox 3"/>
          <p:cNvSpPr txBox="1"/>
          <p:nvPr/>
        </p:nvSpPr>
        <p:spPr>
          <a:xfrm>
            <a:off x="0" y="711201"/>
            <a:ext cx="11954577" cy="6124754"/>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[Obtain address of new Node in NEW pointer]</a:t>
            </a:r>
          </a:p>
          <a:p>
            <a:r>
              <a:rPr lang="en-IN" sz="2000" dirty="0">
                <a:latin typeface="Consolas" pitchFamily="49" charset="0"/>
                <a:cs typeface="Consolas" pitchFamily="49" charset="0"/>
              </a:rPr>
              <a:t>    NEW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(node*) malloc(</a:t>
            </a:r>
            <a:r>
              <a:rPr lang="en-IN" sz="2000" dirty="0" err="1">
                <a:latin typeface="Consolas" pitchFamily="49" charset="0"/>
                <a:cs typeface="Consolas" pitchFamily="49" charset="0"/>
              </a:rPr>
              <a:t>sizeof</a:t>
            </a:r>
            <a:r>
              <a:rPr lang="en-IN" sz="2000" dirty="0">
                <a:latin typeface="Consolas" pitchFamily="49" charset="0"/>
                <a:cs typeface="Consolas" pitchFamily="49" charset="0"/>
              </a:rPr>
              <a:t>(node))</a:t>
            </a:r>
          </a:p>
          <a:p>
            <a:r>
              <a:rPr lang="en-IN" sz="2000" b="1" dirty="0">
                <a:solidFill>
                  <a:schemeClr val="tx2"/>
                </a:solidFill>
                <a:latin typeface="Consolas" pitchFamily="49" charset="0"/>
                <a:cs typeface="Consolas" pitchFamily="49" charset="0"/>
              </a:rPr>
              <a:t>2. [Initialize fields of new node and its link to the list]</a:t>
            </a:r>
          </a:p>
          <a:p>
            <a:r>
              <a:rPr lang="en-IN" sz="2000" dirty="0">
                <a:latin typeface="Consolas" pitchFamily="49" charset="0"/>
                <a:cs typeface="Consolas" pitchFamily="49" charset="0"/>
              </a:rPr>
              <a:t>    NEW-&gt;INFO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X</a:t>
            </a:r>
          </a:p>
          <a:p>
            <a:r>
              <a:rPr lang="en-IN" sz="2000" dirty="0">
                <a:latin typeface="Consolas" pitchFamily="49" charset="0"/>
                <a:cs typeface="Consolas" pitchFamily="49" charset="0"/>
              </a:rPr>
              <a:t>    NEW-&gt;NEXT </a:t>
            </a:r>
            <a:r>
              <a:rPr lang="en-IN" sz="2000" dirty="0">
                <a:latin typeface="Consolas" pitchFamily="49" charset="0"/>
                <a:cs typeface="Consolas" pitchFamily="49" charset="0"/>
                <a:sym typeface="Wingdings" pitchFamily="2" charset="2"/>
              </a:rPr>
              <a:t> NULL </a:t>
            </a:r>
            <a:r>
              <a:rPr lang="en-IN" sz="1400" dirty="0">
                <a:latin typeface="Consolas" pitchFamily="49" charset="0"/>
                <a:cs typeface="Consolas" pitchFamily="49" charset="0"/>
                <a:sym typeface="Wingdings" pitchFamily="2" charset="2"/>
              </a:rPr>
              <a:t>(initially null)</a:t>
            </a:r>
          </a:p>
          <a:p>
            <a:r>
              <a:rPr lang="en-IN" b="1" dirty="0">
                <a:solidFill>
                  <a:schemeClr val="tx2"/>
                </a:solidFill>
                <a:latin typeface="Consolas" pitchFamily="49" charset="0"/>
                <a:cs typeface="Consolas" pitchFamily="49" charset="0"/>
              </a:rPr>
              <a:t>3. [If new node info is smallest and needs to be added in the first position]</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  NEW-&gt;INFO ≤ FIRST-&gt;INFO</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NEW-&gt;NEXT </a:t>
            </a:r>
            <a:r>
              <a:rPr lang="en-IN" dirty="0">
                <a:latin typeface="Consolas" pitchFamily="49" charset="0"/>
                <a:cs typeface="Consolas" pitchFamily="49" charset="0"/>
                <a:sym typeface="Wingdings" pitchFamily="2" charset="2"/>
              </a:rPr>
              <a:t> </a:t>
            </a:r>
            <a:r>
              <a:rPr lang="en-IN" dirty="0">
                <a:latin typeface="Consolas" pitchFamily="49" charset="0"/>
                <a:cs typeface="Consolas" pitchFamily="49" charset="0"/>
              </a:rPr>
              <a:t>FIRST</a:t>
            </a:r>
          </a:p>
          <a:p>
            <a:r>
              <a:rPr lang="en-IN" dirty="0">
                <a:latin typeface="Consolas" pitchFamily="49" charset="0"/>
                <a:cs typeface="Consolas" pitchFamily="49" charset="0"/>
              </a:rPr>
              <a:t>	    Return (NEW)</a:t>
            </a:r>
          </a:p>
          <a:p>
            <a:r>
              <a:rPr lang="en-IN" sz="2000" b="1" dirty="0">
                <a:solidFill>
                  <a:schemeClr val="tx2"/>
                </a:solidFill>
                <a:latin typeface="Consolas" pitchFamily="49" charset="0"/>
                <a:cs typeface="Consolas" pitchFamily="49" charset="0"/>
              </a:rPr>
              <a:t>4. [Initialize temporary pointer]</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a:t>
            </a:r>
          </a:p>
          <a:p>
            <a:r>
              <a:rPr lang="en-IN" sz="2000" b="1" dirty="0">
                <a:solidFill>
                  <a:schemeClr val="tx2"/>
                </a:solidFill>
                <a:latin typeface="Consolas" pitchFamily="49" charset="0"/>
                <a:cs typeface="Consolas" pitchFamily="49" charset="0"/>
              </a:rPr>
              <a:t>5. [Search for predecessor of new node]</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b="1"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while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TEMP-&gt;NEXT ≠ NULL</a:t>
            </a:r>
          </a:p>
          <a:p>
            <a:r>
              <a:rPr lang="en-IN" sz="2000" dirty="0">
                <a:latin typeface="Consolas" pitchFamily="49" charset="0"/>
                <a:cs typeface="Consolas" pitchFamily="49" charset="0"/>
              </a:rPr>
              <a:t>    </a:t>
            </a:r>
            <a:r>
              <a:rPr lang="en-IN" sz="2000" b="1" dirty="0">
                <a:latin typeface="Consolas" pitchFamily="49" charset="0"/>
                <a:cs typeface="Consolas" pitchFamily="49" charset="0"/>
              </a:rPr>
              <a:t>&amp;</a:t>
            </a:r>
            <a:r>
              <a:rPr lang="en-IN" sz="2000" dirty="0">
                <a:latin typeface="Consolas" pitchFamily="49" charset="0"/>
                <a:cs typeface="Consolas" pitchFamily="49" charset="0"/>
              </a:rPr>
              <a:t> NEW-&gt;INFO ≥ (TEMP-&gt;NEXT)-&gt;INFO</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TEMP-&gt;NEXT</a:t>
            </a:r>
          </a:p>
          <a:p>
            <a:pPr marL="444500" indent="-444500"/>
            <a:r>
              <a:rPr lang="en-IN" sz="2000" b="1" dirty="0">
                <a:solidFill>
                  <a:schemeClr val="tx2"/>
                </a:solidFill>
                <a:latin typeface="Consolas" pitchFamily="49" charset="0"/>
                <a:cs typeface="Consolas" pitchFamily="49" charset="0"/>
              </a:rPr>
              <a:t>6. [Set link field of NEW node and its predecessor]</a:t>
            </a:r>
          </a:p>
          <a:p>
            <a:r>
              <a:rPr lang="en-IN" sz="2000" dirty="0">
                <a:latin typeface="Consolas" pitchFamily="49" charset="0"/>
                <a:cs typeface="Consolas" pitchFamily="49" charset="0"/>
              </a:rPr>
              <a:t>    NEW-&gt;NEXT </a:t>
            </a:r>
            <a:r>
              <a:rPr lang="en-IN" sz="2000" dirty="0">
                <a:latin typeface="Consolas" pitchFamily="49" charset="0"/>
                <a:cs typeface="Consolas" pitchFamily="49" charset="0"/>
                <a:sym typeface="Wingdings" pitchFamily="2" charset="2"/>
              </a:rPr>
              <a:t> TEMP-&gt;NEXT</a:t>
            </a:r>
            <a:endParaRPr lang="en-IN" sz="2000" dirty="0">
              <a:latin typeface="Consolas" pitchFamily="49" charset="0"/>
              <a:cs typeface="Consolas" pitchFamily="49" charset="0"/>
            </a:endParaRPr>
          </a:p>
          <a:p>
            <a:r>
              <a:rPr lang="en-IN" sz="2000" dirty="0">
                <a:latin typeface="Consolas" pitchFamily="49" charset="0"/>
                <a:cs typeface="Consolas" pitchFamily="49" charset="0"/>
              </a:rPr>
              <a:t>    TEMP-&gt;NEXT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b="1" dirty="0">
                <a:solidFill>
                  <a:schemeClr val="tx2"/>
                </a:solidFill>
                <a:latin typeface="Consolas" pitchFamily="49" charset="0"/>
                <a:cs typeface="Consolas" pitchFamily="49" charset="0"/>
              </a:rPr>
              <a:t>7. [Return first node pointer]</a:t>
            </a:r>
          </a:p>
          <a:p>
            <a:r>
              <a:rPr lang="en-IN" sz="2000" dirty="0">
                <a:latin typeface="Consolas" pitchFamily="49" charset="0"/>
                <a:cs typeface="Consolas" pitchFamily="49" charset="0"/>
              </a:rPr>
              <a:t>    Return (FIRST)</a:t>
            </a:r>
          </a:p>
        </p:txBody>
      </p:sp>
    </p:spTree>
    <p:extLst>
      <p:ext uri="{BB962C8B-B14F-4D97-AF65-F5344CB8AC3E}">
        <p14:creationId xmlns:p14="http://schemas.microsoft.com/office/powerpoint/2010/main" val="202363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INSORD(3, FIRST)</a:t>
            </a:r>
          </a:p>
        </p:txBody>
      </p:sp>
      <p:grpSp>
        <p:nvGrpSpPr>
          <p:cNvPr id="4" name="Group 3"/>
          <p:cNvGrpSpPr/>
          <p:nvPr/>
        </p:nvGrpSpPr>
        <p:grpSpPr>
          <a:xfrm>
            <a:off x="3200400" y="1219200"/>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4422230" y="1219200"/>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5641430" y="1219200"/>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6860630" y="1219200"/>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8079830" y="1219200"/>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9299030" y="1219200"/>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a:stCxn id="6" idx="3"/>
            <a:endCxn id="8" idx="1"/>
          </p:cNvCxnSpPr>
          <p:nvPr/>
        </p:nvCxnSpPr>
        <p:spPr>
          <a:xfrm>
            <a:off x="4120412" y="1485900"/>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5342242" y="14859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6561442" y="14859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7780642" y="14859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8999842" y="1485900"/>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1905000" y="2676241"/>
            <a:ext cx="612668" cy="369332"/>
          </a:xfrm>
          <a:prstGeom prst="rect">
            <a:avLst/>
          </a:prstGeom>
          <a:noFill/>
        </p:spPr>
        <p:txBody>
          <a:bodyPr wrap="none" rtlCol="0">
            <a:spAutoFit/>
          </a:bodyPr>
          <a:lstStyle/>
          <a:p>
            <a:r>
              <a:rPr lang="en-IN" b="1" dirty="0">
                <a:solidFill>
                  <a:srgbClr val="C00000"/>
                </a:solidFill>
              </a:rPr>
              <a:t>NEW</a:t>
            </a:r>
            <a:endParaRPr lang="en-US" b="1" dirty="0">
              <a:solidFill>
                <a:srgbClr val="C00000"/>
              </a:solidFill>
            </a:endParaRPr>
          </a:p>
        </p:txBody>
      </p:sp>
      <p:cxnSp>
        <p:nvCxnSpPr>
          <p:cNvPr id="29" name="Straight Connector 28"/>
          <p:cNvCxnSpPr/>
          <p:nvPr/>
        </p:nvCxnSpPr>
        <p:spPr>
          <a:xfrm flipV="1">
            <a:off x="9842444" y="1219200"/>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30" name="TextBox 29"/>
          <p:cNvSpPr txBox="1"/>
          <p:nvPr/>
        </p:nvSpPr>
        <p:spPr>
          <a:xfrm>
            <a:off x="3200400" y="1981200"/>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31" name="Straight Arrow Connector 30"/>
          <p:cNvCxnSpPr/>
          <p:nvPr/>
        </p:nvCxnSpPr>
        <p:spPr>
          <a:xfrm flipV="1">
            <a:off x="3518950" y="1752600"/>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2" name="Group 31"/>
          <p:cNvGrpSpPr/>
          <p:nvPr/>
        </p:nvGrpSpPr>
        <p:grpSpPr>
          <a:xfrm>
            <a:off x="1676400" y="2133600"/>
            <a:ext cx="1148612" cy="533400"/>
            <a:chOff x="7690588" y="3352179"/>
            <a:chExt cx="1148612" cy="533400"/>
          </a:xfrm>
        </p:grpSpPr>
        <p:sp>
          <p:nvSpPr>
            <p:cNvPr id="33" name="Rectangle 32"/>
            <p:cNvSpPr/>
            <p:nvPr/>
          </p:nvSpPr>
          <p:spPr>
            <a:xfrm>
              <a:off x="7690588" y="3352179"/>
              <a:ext cx="621758"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a:t>
              </a:r>
              <a:endParaRPr lang="en-US" sz="2400" b="1" dirty="0"/>
            </a:p>
          </p:txBody>
        </p:sp>
        <p:sp>
          <p:nvSpPr>
            <p:cNvPr id="34" name="Rectangle 33"/>
            <p:cNvSpPr/>
            <p:nvPr/>
          </p:nvSpPr>
          <p:spPr>
            <a:xfrm>
              <a:off x="8318887" y="3352179"/>
              <a:ext cx="52031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5" name="TextBox 34"/>
          <p:cNvSpPr txBox="1"/>
          <p:nvPr/>
        </p:nvSpPr>
        <p:spPr>
          <a:xfrm>
            <a:off x="367552" y="3309470"/>
            <a:ext cx="11456895" cy="19389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400" b="1" dirty="0">
                <a:solidFill>
                  <a:schemeClr val="tx2"/>
                </a:solidFill>
                <a:latin typeface="Consolas" pitchFamily="49" charset="0"/>
                <a:cs typeface="Consolas" pitchFamily="49" charset="0"/>
              </a:rPr>
              <a:t>3. [If new node info is smallest and needs to be added in the first position]</a:t>
            </a:r>
          </a:p>
          <a:p>
            <a:r>
              <a:rPr lang="en-IN" sz="2400" dirty="0">
                <a:latin typeface="Consolas" pitchFamily="49" charset="0"/>
                <a:cs typeface="Consolas" pitchFamily="49" charset="0"/>
              </a:rPr>
              <a:t>    </a:t>
            </a:r>
            <a:r>
              <a:rPr lang="en-IN" sz="2400" b="1" dirty="0">
                <a:solidFill>
                  <a:schemeClr val="tx2">
                    <a:lumMod val="75000"/>
                  </a:schemeClr>
                </a:solidFill>
                <a:latin typeface="Consolas" pitchFamily="49" charset="0"/>
                <a:cs typeface="Consolas" pitchFamily="49" charset="0"/>
              </a:rPr>
              <a:t>IF</a:t>
            </a:r>
            <a:r>
              <a:rPr lang="en-IN" sz="2400" dirty="0">
                <a:solidFill>
                  <a:schemeClr val="tx2">
                    <a:lumMod val="75000"/>
                  </a:schemeClr>
                </a:solidFill>
                <a:latin typeface="Consolas" pitchFamily="49" charset="0"/>
                <a:cs typeface="Consolas" pitchFamily="49" charset="0"/>
              </a:rPr>
              <a:t> </a:t>
            </a:r>
            <a:r>
              <a:rPr lang="en-IN" sz="2400" dirty="0">
                <a:latin typeface="Consolas" pitchFamily="49" charset="0"/>
                <a:cs typeface="Consolas" pitchFamily="49" charset="0"/>
              </a:rPr>
              <a:t>  NEW-&gt;INFO ≤ FIRST-&gt;INFO</a:t>
            </a:r>
          </a:p>
          <a:p>
            <a:r>
              <a:rPr lang="en-IN" sz="2400" dirty="0">
                <a:latin typeface="Consolas" pitchFamily="49" charset="0"/>
                <a:cs typeface="Consolas" pitchFamily="49" charset="0"/>
              </a:rPr>
              <a:t>    </a:t>
            </a:r>
            <a:r>
              <a:rPr lang="en-IN" sz="2400" b="1" dirty="0">
                <a:solidFill>
                  <a:schemeClr val="tx2">
                    <a:lumMod val="75000"/>
                  </a:schemeClr>
                </a:solidFill>
                <a:latin typeface="Consolas" pitchFamily="49" charset="0"/>
                <a:cs typeface="Consolas" pitchFamily="49" charset="0"/>
              </a:rPr>
              <a:t>THEN</a:t>
            </a:r>
            <a:r>
              <a:rPr lang="en-IN" sz="2400" dirty="0">
                <a:solidFill>
                  <a:schemeClr val="tx2">
                    <a:lumMod val="75000"/>
                  </a:schemeClr>
                </a:solidFill>
                <a:latin typeface="Consolas" pitchFamily="49" charset="0"/>
                <a:cs typeface="Consolas" pitchFamily="49" charset="0"/>
              </a:rPr>
              <a:t> </a:t>
            </a:r>
            <a:r>
              <a:rPr lang="en-IN" sz="2400" dirty="0">
                <a:latin typeface="Consolas" pitchFamily="49" charset="0"/>
                <a:cs typeface="Consolas" pitchFamily="49" charset="0"/>
              </a:rPr>
              <a:t>NEW-&gt;NEXT </a:t>
            </a:r>
            <a:r>
              <a:rPr lang="en-IN" sz="2400" dirty="0">
                <a:latin typeface="Consolas" pitchFamily="49" charset="0"/>
                <a:cs typeface="Consolas" pitchFamily="49" charset="0"/>
                <a:sym typeface="Wingdings" pitchFamily="2" charset="2"/>
              </a:rPr>
              <a:t> </a:t>
            </a:r>
            <a:r>
              <a:rPr lang="en-IN" sz="2400" dirty="0">
                <a:latin typeface="Consolas" pitchFamily="49" charset="0"/>
                <a:cs typeface="Consolas" pitchFamily="49" charset="0"/>
              </a:rPr>
              <a:t>FIRST</a:t>
            </a:r>
          </a:p>
          <a:p>
            <a:r>
              <a:rPr lang="en-IN" sz="2400" dirty="0">
                <a:latin typeface="Consolas" pitchFamily="49" charset="0"/>
                <a:cs typeface="Consolas" pitchFamily="49" charset="0"/>
              </a:rPr>
              <a:t>	    Return (NEW)</a:t>
            </a:r>
          </a:p>
        </p:txBody>
      </p:sp>
      <p:cxnSp>
        <p:nvCxnSpPr>
          <p:cNvPr id="37" name="Straight Connector 36"/>
          <p:cNvCxnSpPr>
            <a:stCxn id="34" idx="0"/>
          </p:cNvCxnSpPr>
          <p:nvPr/>
        </p:nvCxnSpPr>
        <p:spPr>
          <a:xfrm flipH="1" flipV="1">
            <a:off x="2564156" y="1485900"/>
            <a:ext cx="701" cy="6477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9" name="Straight Arrow Connector 38"/>
          <p:cNvCxnSpPr>
            <a:endCxn id="5" idx="1"/>
          </p:cNvCxnSpPr>
          <p:nvPr/>
        </p:nvCxnSpPr>
        <p:spPr>
          <a:xfrm>
            <a:off x="2564856" y="1485900"/>
            <a:ext cx="63554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03228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P spid="3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INSORD(22, FIRST)</a:t>
            </a:r>
          </a:p>
        </p:txBody>
      </p:sp>
      <p:sp>
        <p:nvSpPr>
          <p:cNvPr id="4" name="TextBox 3"/>
          <p:cNvSpPr txBox="1"/>
          <p:nvPr/>
        </p:nvSpPr>
        <p:spPr>
          <a:xfrm>
            <a:off x="6160493" y="869402"/>
            <a:ext cx="5760000" cy="19389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marL="444500" indent="-444500"/>
            <a:r>
              <a:rPr lang="en-IN" sz="2000" b="1" dirty="0">
                <a:solidFill>
                  <a:schemeClr val="tx2"/>
                </a:solidFill>
                <a:latin typeface="Consolas" pitchFamily="49" charset="0"/>
                <a:cs typeface="Consolas" pitchFamily="49" charset="0"/>
              </a:rPr>
              <a:t>6. [Set link field of NEW node and its predecessor]</a:t>
            </a:r>
          </a:p>
          <a:p>
            <a:r>
              <a:rPr lang="en-IN" sz="2000" dirty="0">
                <a:latin typeface="Consolas" pitchFamily="49" charset="0"/>
                <a:cs typeface="Consolas" pitchFamily="49" charset="0"/>
              </a:rPr>
              <a:t>    NEW-&gt;NEXT </a:t>
            </a:r>
            <a:r>
              <a:rPr lang="en-IN" sz="2000" dirty="0">
                <a:latin typeface="Consolas" pitchFamily="49" charset="0"/>
                <a:cs typeface="Consolas" pitchFamily="49" charset="0"/>
                <a:sym typeface="Wingdings" pitchFamily="2" charset="2"/>
              </a:rPr>
              <a:t> TEMP-&gt;NEXT</a:t>
            </a:r>
            <a:endParaRPr lang="en-IN" sz="2000" dirty="0">
              <a:latin typeface="Consolas" pitchFamily="49" charset="0"/>
              <a:cs typeface="Consolas" pitchFamily="49" charset="0"/>
            </a:endParaRPr>
          </a:p>
          <a:p>
            <a:r>
              <a:rPr lang="en-IN" sz="2000" dirty="0">
                <a:latin typeface="Consolas" pitchFamily="49" charset="0"/>
                <a:cs typeface="Consolas" pitchFamily="49" charset="0"/>
              </a:rPr>
              <a:t>    TEMP-&gt;NEXT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b="1" dirty="0">
                <a:solidFill>
                  <a:schemeClr val="tx2"/>
                </a:solidFill>
                <a:latin typeface="Consolas" pitchFamily="49" charset="0"/>
                <a:cs typeface="Consolas" pitchFamily="49" charset="0"/>
              </a:rPr>
              <a:t>7. [Return first node pointer]</a:t>
            </a:r>
          </a:p>
          <a:p>
            <a:r>
              <a:rPr lang="en-IN" sz="2000" dirty="0">
                <a:latin typeface="Consolas" pitchFamily="49" charset="0"/>
                <a:cs typeface="Consolas" pitchFamily="49" charset="0"/>
              </a:rPr>
              <a:t>    Return (FIRST)</a:t>
            </a:r>
          </a:p>
        </p:txBody>
      </p:sp>
      <p:sp>
        <p:nvSpPr>
          <p:cNvPr id="5" name="TextBox 4"/>
          <p:cNvSpPr txBox="1"/>
          <p:nvPr/>
        </p:nvSpPr>
        <p:spPr>
          <a:xfrm>
            <a:off x="177034" y="869402"/>
            <a:ext cx="5760000" cy="19389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4. [Initialize temporary pointer]</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a:t>
            </a:r>
          </a:p>
          <a:p>
            <a:r>
              <a:rPr lang="en-IN" sz="2000" b="1" dirty="0">
                <a:solidFill>
                  <a:schemeClr val="tx2"/>
                </a:solidFill>
                <a:latin typeface="Consolas" pitchFamily="49" charset="0"/>
                <a:cs typeface="Consolas" pitchFamily="49" charset="0"/>
              </a:rPr>
              <a:t>5. [Search for predecessor of new node]</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b="1"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while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TEMP-&gt;NEXT ≠ NULL</a:t>
            </a:r>
          </a:p>
          <a:p>
            <a:r>
              <a:rPr lang="en-IN" sz="2000" dirty="0">
                <a:latin typeface="Consolas" pitchFamily="49" charset="0"/>
                <a:cs typeface="Consolas" pitchFamily="49" charset="0"/>
              </a:rPr>
              <a:t>    </a:t>
            </a:r>
            <a:r>
              <a:rPr lang="en-IN" sz="2000" b="1" dirty="0">
                <a:latin typeface="Consolas" pitchFamily="49" charset="0"/>
                <a:cs typeface="Consolas" pitchFamily="49" charset="0"/>
              </a:rPr>
              <a:t>&amp;</a:t>
            </a:r>
            <a:r>
              <a:rPr lang="en-IN" sz="2000" dirty="0">
                <a:latin typeface="Consolas" pitchFamily="49" charset="0"/>
                <a:cs typeface="Consolas" pitchFamily="49" charset="0"/>
              </a:rPr>
              <a:t> NEW-&gt;INFO ≥ (TEMP-&gt;NEXT)-&gt;INFO</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TEMP-&gt;NEXT</a:t>
            </a:r>
          </a:p>
        </p:txBody>
      </p:sp>
      <p:grpSp>
        <p:nvGrpSpPr>
          <p:cNvPr id="6" name="Group 5"/>
          <p:cNvGrpSpPr/>
          <p:nvPr/>
        </p:nvGrpSpPr>
        <p:grpSpPr>
          <a:xfrm>
            <a:off x="1752600" y="3794775"/>
            <a:ext cx="920012" cy="533400"/>
            <a:chOff x="951919" y="5486400"/>
            <a:chExt cx="920012" cy="533400"/>
          </a:xfrm>
        </p:grpSpPr>
        <p:sp>
          <p:nvSpPr>
            <p:cNvPr id="7" name="Rectangle 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3194788" y="3794775"/>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4648200" y="3794775"/>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6096000" y="3794775"/>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8" name="Group 17"/>
          <p:cNvGrpSpPr/>
          <p:nvPr/>
        </p:nvGrpSpPr>
        <p:grpSpPr>
          <a:xfrm>
            <a:off x="7995388" y="3794775"/>
            <a:ext cx="920012" cy="533400"/>
            <a:chOff x="951919" y="5486400"/>
            <a:chExt cx="920012" cy="533400"/>
          </a:xfrm>
        </p:grpSpPr>
        <p:sp>
          <p:nvSpPr>
            <p:cNvPr id="19" name="Rectangle 18"/>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20" name="Rectangle 19"/>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1" name="Group 20"/>
          <p:cNvGrpSpPr/>
          <p:nvPr/>
        </p:nvGrpSpPr>
        <p:grpSpPr>
          <a:xfrm>
            <a:off x="9380738" y="3794775"/>
            <a:ext cx="1058662" cy="533400"/>
            <a:chOff x="6256538" y="5334000"/>
            <a:chExt cx="1058662" cy="533400"/>
          </a:xfrm>
        </p:grpSpPr>
        <p:sp>
          <p:nvSpPr>
            <p:cNvPr id="22" name="Rectangle 21"/>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3" name="Rectangle 22"/>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4" name="Straight Arrow Connector 23"/>
          <p:cNvCxnSpPr>
            <a:stCxn id="8" idx="3"/>
            <a:endCxn id="10" idx="1"/>
          </p:cNvCxnSpPr>
          <p:nvPr/>
        </p:nvCxnSpPr>
        <p:spPr>
          <a:xfrm>
            <a:off x="2672612" y="4061475"/>
            <a:ext cx="5221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1" idx="3"/>
            <a:endCxn id="13" idx="1"/>
          </p:cNvCxnSpPr>
          <p:nvPr/>
        </p:nvCxnSpPr>
        <p:spPr>
          <a:xfrm>
            <a:off x="4114800" y="4061475"/>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4" idx="3"/>
            <a:endCxn id="16" idx="1"/>
          </p:cNvCxnSpPr>
          <p:nvPr/>
        </p:nvCxnSpPr>
        <p:spPr>
          <a:xfrm>
            <a:off x="5568212" y="4061475"/>
            <a:ext cx="5277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Arrow Connector 26"/>
          <p:cNvCxnSpPr>
            <a:stCxn id="17" idx="3"/>
            <a:endCxn id="19" idx="1"/>
          </p:cNvCxnSpPr>
          <p:nvPr/>
        </p:nvCxnSpPr>
        <p:spPr>
          <a:xfrm>
            <a:off x="7016012" y="4061475"/>
            <a:ext cx="9793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8" name="Straight Arrow Connector 27"/>
          <p:cNvCxnSpPr>
            <a:stCxn id="20" idx="3"/>
            <a:endCxn id="22" idx="1"/>
          </p:cNvCxnSpPr>
          <p:nvPr/>
        </p:nvCxnSpPr>
        <p:spPr>
          <a:xfrm>
            <a:off x="8915400" y="4061475"/>
            <a:ext cx="4653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Connector 28"/>
          <p:cNvCxnSpPr/>
          <p:nvPr/>
        </p:nvCxnSpPr>
        <p:spPr>
          <a:xfrm flipV="1">
            <a:off x="9939280" y="3794775"/>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30" name="TextBox 29"/>
          <p:cNvSpPr txBox="1"/>
          <p:nvPr/>
        </p:nvSpPr>
        <p:spPr>
          <a:xfrm>
            <a:off x="1752600" y="4556775"/>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31" name="Straight Arrow Connector 30"/>
          <p:cNvCxnSpPr/>
          <p:nvPr/>
        </p:nvCxnSpPr>
        <p:spPr>
          <a:xfrm flipV="1">
            <a:off x="2071150" y="4328175"/>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2" name="TextBox 31"/>
          <p:cNvSpPr txBox="1"/>
          <p:nvPr/>
        </p:nvSpPr>
        <p:spPr>
          <a:xfrm>
            <a:off x="7324828" y="5544948"/>
            <a:ext cx="612668" cy="369332"/>
          </a:xfrm>
          <a:prstGeom prst="rect">
            <a:avLst/>
          </a:prstGeom>
          <a:noFill/>
        </p:spPr>
        <p:txBody>
          <a:bodyPr wrap="none" rtlCol="0">
            <a:spAutoFit/>
          </a:bodyPr>
          <a:lstStyle/>
          <a:p>
            <a:r>
              <a:rPr lang="en-IN" b="1" dirty="0">
                <a:solidFill>
                  <a:srgbClr val="C00000"/>
                </a:solidFill>
              </a:rPr>
              <a:t>NEW</a:t>
            </a:r>
            <a:endParaRPr lang="en-US" b="1" dirty="0">
              <a:solidFill>
                <a:srgbClr val="C00000"/>
              </a:solidFill>
            </a:endParaRPr>
          </a:p>
        </p:txBody>
      </p:sp>
      <p:grpSp>
        <p:nvGrpSpPr>
          <p:cNvPr id="33" name="Group 32"/>
          <p:cNvGrpSpPr/>
          <p:nvPr/>
        </p:nvGrpSpPr>
        <p:grpSpPr>
          <a:xfrm>
            <a:off x="7096228" y="5002307"/>
            <a:ext cx="1148612" cy="533400"/>
            <a:chOff x="7690588" y="3352179"/>
            <a:chExt cx="1148612" cy="533400"/>
          </a:xfrm>
        </p:grpSpPr>
        <p:sp>
          <p:nvSpPr>
            <p:cNvPr id="34" name="Rectangle 33"/>
            <p:cNvSpPr/>
            <p:nvPr/>
          </p:nvSpPr>
          <p:spPr>
            <a:xfrm>
              <a:off x="7690588" y="3352179"/>
              <a:ext cx="621758"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22</a:t>
              </a:r>
              <a:endParaRPr lang="en-US" sz="2400" b="1" dirty="0"/>
            </a:p>
          </p:txBody>
        </p:sp>
        <p:sp>
          <p:nvSpPr>
            <p:cNvPr id="35" name="Rectangle 34"/>
            <p:cNvSpPr/>
            <p:nvPr/>
          </p:nvSpPr>
          <p:spPr>
            <a:xfrm>
              <a:off x="8318887" y="3352179"/>
              <a:ext cx="520313"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8" name="Group 37"/>
          <p:cNvGrpSpPr/>
          <p:nvPr/>
        </p:nvGrpSpPr>
        <p:grpSpPr>
          <a:xfrm>
            <a:off x="1657205" y="3032775"/>
            <a:ext cx="729688" cy="762000"/>
            <a:chOff x="133205" y="3288268"/>
            <a:chExt cx="729688" cy="762000"/>
          </a:xfrm>
        </p:grpSpPr>
        <p:sp>
          <p:nvSpPr>
            <p:cNvPr id="36" name="TextBox 35"/>
            <p:cNvSpPr txBox="1"/>
            <p:nvPr/>
          </p:nvSpPr>
          <p:spPr>
            <a:xfrm>
              <a:off x="133205" y="3288268"/>
              <a:ext cx="729688" cy="369332"/>
            </a:xfrm>
            <a:prstGeom prst="rect">
              <a:avLst/>
            </a:prstGeom>
            <a:noFill/>
          </p:spPr>
          <p:txBody>
            <a:bodyPr wrap="none" rtlCol="0">
              <a:spAutoFit/>
            </a:bodyPr>
            <a:lstStyle/>
            <a:p>
              <a:pPr algn="ctr"/>
              <a:r>
                <a:rPr lang="en-IN" b="1" dirty="0">
                  <a:solidFill>
                    <a:srgbClr val="C00000"/>
                  </a:solidFill>
                </a:rPr>
                <a:t>TEMP</a:t>
              </a:r>
              <a:endParaRPr lang="en-US" b="1" dirty="0">
                <a:solidFill>
                  <a:srgbClr val="C00000"/>
                </a:solidFill>
              </a:endParaRPr>
            </a:p>
          </p:txBody>
        </p:sp>
        <p:cxnSp>
          <p:nvCxnSpPr>
            <p:cNvPr id="37" name="Straight Arrow Connector 36"/>
            <p:cNvCxnSpPr>
              <a:stCxn id="36" idx="2"/>
              <a:endCxn id="7" idx="0"/>
            </p:cNvCxnSpPr>
            <p:nvPr/>
          </p:nvCxnSpPr>
          <p:spPr>
            <a:xfrm flipH="1">
              <a:off x="495300" y="3657600"/>
              <a:ext cx="2749" cy="39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cxnSp>
        <p:nvCxnSpPr>
          <p:cNvPr id="39" name="Straight Connector 38"/>
          <p:cNvCxnSpPr>
            <a:stCxn id="35" idx="3"/>
          </p:cNvCxnSpPr>
          <p:nvPr/>
        </p:nvCxnSpPr>
        <p:spPr>
          <a:xfrm>
            <a:off x="8244840" y="5269007"/>
            <a:ext cx="283948"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1" name="Straight Arrow Connector 40"/>
          <p:cNvCxnSpPr/>
          <p:nvPr/>
        </p:nvCxnSpPr>
        <p:spPr>
          <a:xfrm flipV="1">
            <a:off x="8528788" y="4328175"/>
            <a:ext cx="0" cy="94083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3" name="Straight Connector 42"/>
          <p:cNvCxnSpPr>
            <a:stCxn id="17" idx="2"/>
          </p:cNvCxnSpPr>
          <p:nvPr/>
        </p:nvCxnSpPr>
        <p:spPr>
          <a:xfrm>
            <a:off x="6825512" y="4328175"/>
            <a:ext cx="0" cy="94083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9" name="Straight Arrow Connector 48"/>
          <p:cNvCxnSpPr>
            <a:endCxn id="34" idx="1"/>
          </p:cNvCxnSpPr>
          <p:nvPr/>
        </p:nvCxnSpPr>
        <p:spPr>
          <a:xfrm>
            <a:off x="6825512" y="5269007"/>
            <a:ext cx="27071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45349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63" presetClass="path" presetSubtype="0" accel="50000" decel="50000" fill="hold" nodeType="clickEffect">
                                  <p:stCondLst>
                                    <p:cond delay="0"/>
                                  </p:stCondLst>
                                  <p:childTnLst>
                                    <p:animMotion origin="layout" path="M 5E-6 7.40741E-7 L 0.13789 7.40741E-7 " pathEditMode="relative" rAng="0" ptsTypes="AA">
                                      <p:cBhvr>
                                        <p:cTn id="46" dur="2000" fill="hold"/>
                                        <p:tgtEl>
                                          <p:spTgt spid="38"/>
                                        </p:tgtEl>
                                        <p:attrNameLst>
                                          <p:attrName>ppt_x</p:attrName>
                                          <p:attrName>ppt_y</p:attrName>
                                        </p:attrNameLst>
                                      </p:cBhvr>
                                      <p:rCtr x="6901" y="0"/>
                                    </p:animMotion>
                                  </p:childTnLst>
                                </p:cTn>
                              </p:par>
                            </p:childTnLst>
                          </p:cTn>
                        </p:par>
                      </p:childTnLst>
                    </p:cTn>
                  </p:par>
                  <p:par>
                    <p:cTn id="47" fill="hold">
                      <p:stCondLst>
                        <p:cond delay="indefinite"/>
                      </p:stCondLst>
                      <p:childTnLst>
                        <p:par>
                          <p:cTn id="48" fill="hold">
                            <p:stCondLst>
                              <p:cond delay="0"/>
                            </p:stCondLst>
                            <p:childTnLst>
                              <p:par>
                                <p:cTn id="49" presetID="63" presetClass="path" presetSubtype="0" accel="50000" decel="50000" fill="hold" nodeType="clickEffect">
                                  <p:stCondLst>
                                    <p:cond delay="0"/>
                                  </p:stCondLst>
                                  <p:childTnLst>
                                    <p:animMotion origin="layout" path="M 0.14023 7.40741E-7 L 0.25 7.40741E-7 " pathEditMode="relative" rAng="0" ptsTypes="AA">
                                      <p:cBhvr>
                                        <p:cTn id="50" dur="2000" fill="hold"/>
                                        <p:tgtEl>
                                          <p:spTgt spid="38"/>
                                        </p:tgtEl>
                                        <p:attrNameLst>
                                          <p:attrName>ppt_x</p:attrName>
                                          <p:attrName>ppt_y</p:attrName>
                                        </p:attrNameLst>
                                      </p:cBhvr>
                                      <p:rCtr x="5482" y="0"/>
                                    </p:animMotion>
                                  </p:childTnLst>
                                </p:cTn>
                              </p:par>
                            </p:childTnLst>
                          </p:cTn>
                        </p:par>
                      </p:childTnLst>
                    </p:cTn>
                  </p:par>
                  <p:par>
                    <p:cTn id="51" fill="hold">
                      <p:stCondLst>
                        <p:cond delay="indefinite"/>
                      </p:stCondLst>
                      <p:childTnLst>
                        <p:par>
                          <p:cTn id="52" fill="hold">
                            <p:stCondLst>
                              <p:cond delay="0"/>
                            </p:stCondLst>
                            <p:childTnLst>
                              <p:par>
                                <p:cTn id="53" presetID="63" presetClass="path" presetSubtype="0" accel="50000" decel="50000" fill="hold" nodeType="clickEffect">
                                  <p:stCondLst>
                                    <p:cond delay="0"/>
                                  </p:stCondLst>
                                  <p:childTnLst>
                                    <p:animMotion origin="layout" path="M 0.2539 7.40741E-7 L 0.36809 7.40741E-7 " pathEditMode="relative" rAng="0" ptsTypes="AA">
                                      <p:cBhvr>
                                        <p:cTn id="54" dur="2000" fill="hold"/>
                                        <p:tgtEl>
                                          <p:spTgt spid="38"/>
                                        </p:tgtEl>
                                        <p:attrNameLst>
                                          <p:attrName>ppt_x</p:attrName>
                                          <p:attrName>ppt_y</p:attrName>
                                        </p:attrNameLst>
                                      </p:cBhvr>
                                      <p:rCtr x="5703" y="0"/>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27"/>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3248-5648-4CD1-A31A-FE323621B69D}"/>
              </a:ext>
            </a:extLst>
          </p:cNvPr>
          <p:cNvSpPr>
            <a:spLocks noGrp="1"/>
          </p:cNvSpPr>
          <p:nvPr>
            <p:ph type="title"/>
          </p:nvPr>
        </p:nvSpPr>
        <p:spPr/>
        <p:txBody>
          <a:bodyPr/>
          <a:lstStyle/>
          <a:p>
            <a:r>
              <a:rPr lang="en-IN" dirty="0"/>
              <a:t>Insert at ANY position</a:t>
            </a:r>
          </a:p>
        </p:txBody>
      </p:sp>
      <p:sp>
        <p:nvSpPr>
          <p:cNvPr id="3" name="Content Placeholder 2">
            <a:extLst>
              <a:ext uri="{FF2B5EF4-FFF2-40B4-BE49-F238E27FC236}">
                <a16:creationId xmlns:a16="http://schemas.microsoft.com/office/drawing/2014/main" id="{0BBF65BA-4FED-4829-B6C0-4C27CCD36392}"/>
              </a:ext>
            </a:extLst>
          </p:cNvPr>
          <p:cNvSpPr>
            <a:spLocks noGrp="1"/>
          </p:cNvSpPr>
          <p:nvPr>
            <p:ph idx="1"/>
          </p:nvPr>
        </p:nvSpPr>
        <p:spPr/>
        <p:txBody>
          <a:bodyPr/>
          <a:lstStyle/>
          <a:p>
            <a:r>
              <a:rPr lang="en-US" dirty="0"/>
              <a:t>Steps to insert node at any position of Singly Linked List</a:t>
            </a:r>
          </a:p>
          <a:p>
            <a:pPr lvl="1"/>
            <a:r>
              <a:rPr lang="en-US" dirty="0">
                <a:solidFill>
                  <a:srgbClr val="FF0000"/>
                </a:solidFill>
                <a:latin typeface="Cambria Math" panose="02040503050406030204" pitchFamily="18" charset="0"/>
                <a:ea typeface="Cambria Math" panose="02040503050406030204" pitchFamily="18" charset="0"/>
              </a:rPr>
              <a:t>Step 1: </a:t>
            </a:r>
            <a:r>
              <a:rPr lang="en-US" dirty="0">
                <a:latin typeface="Cambria Math" panose="02040503050406030204" pitchFamily="18" charset="0"/>
                <a:ea typeface="Cambria Math" panose="02040503050406030204" pitchFamily="18" charset="0"/>
              </a:rPr>
              <a:t>Create a new node. </a:t>
            </a:r>
          </a:p>
          <a:p>
            <a:pPr lvl="1"/>
            <a:endParaRPr lang="en-US" dirty="0"/>
          </a:p>
          <a:p>
            <a:pPr lvl="1"/>
            <a:endParaRPr lang="en-US" dirty="0"/>
          </a:p>
          <a:p>
            <a:pPr lvl="1"/>
            <a:endParaRPr lang="en-US" dirty="0"/>
          </a:p>
          <a:p>
            <a:pPr lvl="1"/>
            <a:r>
              <a:rPr lang="en-US" dirty="0">
                <a:solidFill>
                  <a:srgbClr val="FF0000"/>
                </a:solidFill>
                <a:latin typeface="Cambria Math" panose="02040503050406030204" pitchFamily="18" charset="0"/>
                <a:ea typeface="Cambria Math" panose="02040503050406030204" pitchFamily="18" charset="0"/>
              </a:rPr>
              <a:t>Step 2: </a:t>
            </a:r>
            <a:r>
              <a:rPr lang="en-US" dirty="0">
                <a:latin typeface="Cambria Math" panose="02040503050406030204" pitchFamily="18" charset="0"/>
                <a:ea typeface="Cambria Math" panose="02040503050406030204" pitchFamily="18" charset="0"/>
              </a:rPr>
              <a:t>Traverse to the </a:t>
            </a:r>
            <a:r>
              <a:rPr lang="en-US" dirty="0">
                <a:solidFill>
                  <a:srgbClr val="FF0000"/>
                </a:solidFill>
                <a:latin typeface="Cambria Math" panose="02040503050406030204" pitchFamily="18" charset="0"/>
                <a:ea typeface="Cambria Math" panose="02040503050406030204" pitchFamily="18" charset="0"/>
              </a:rPr>
              <a:t>n-1</a:t>
            </a:r>
            <a:r>
              <a:rPr lang="en-US" baseline="30000" dirty="0">
                <a:latin typeface="Cambria Math" panose="02040503050406030204" pitchFamily="18" charset="0"/>
                <a:ea typeface="Cambria Math" panose="02040503050406030204" pitchFamily="18" charset="0"/>
              </a:rPr>
              <a:t>th</a:t>
            </a:r>
            <a:r>
              <a:rPr lang="en-US" dirty="0">
                <a:latin typeface="Cambria Math" panose="02040503050406030204" pitchFamily="18" charset="0"/>
                <a:ea typeface="Cambria Math" panose="02040503050406030204" pitchFamily="18" charset="0"/>
              </a:rPr>
              <a:t> position of the linked list and connect the new node with the </a:t>
            </a:r>
            <a:r>
              <a:rPr lang="en-US" dirty="0">
                <a:solidFill>
                  <a:srgbClr val="FF0000"/>
                </a:solidFill>
                <a:latin typeface="Cambria Math" panose="02040503050406030204" pitchFamily="18" charset="0"/>
                <a:ea typeface="Cambria Math" panose="02040503050406030204" pitchFamily="18" charset="0"/>
              </a:rPr>
              <a:t>n+1</a:t>
            </a:r>
            <a:r>
              <a:rPr lang="en-US" baseline="30000" dirty="0">
                <a:latin typeface="Cambria Math" panose="02040503050406030204" pitchFamily="18" charset="0"/>
                <a:ea typeface="Cambria Math" panose="02040503050406030204" pitchFamily="18" charset="0"/>
              </a:rPr>
              <a:t>th</a:t>
            </a:r>
            <a:r>
              <a:rPr lang="en-US" dirty="0">
                <a:latin typeface="Cambria Math" panose="02040503050406030204" pitchFamily="18" charset="0"/>
                <a:ea typeface="Cambria Math" panose="02040503050406030204" pitchFamily="18" charset="0"/>
              </a:rPr>
              <a:t> node. (new </a:t>
            </a:r>
            <a:r>
              <a:rPr lang="en-US" dirty="0">
                <a:latin typeface="Cambria Math" panose="02040503050406030204" pitchFamily="18" charset="0"/>
                <a:ea typeface="Cambria Math" panose="02040503050406030204" pitchFamily="18" charset="0"/>
                <a:sym typeface="Wingdings" panose="05000000000000000000" pitchFamily="2" charset="2"/>
              </a:rPr>
              <a:t></a:t>
            </a:r>
            <a:r>
              <a:rPr lang="en-US" dirty="0">
                <a:latin typeface="Cambria Math" panose="02040503050406030204" pitchFamily="18" charset="0"/>
                <a:ea typeface="Cambria Math" panose="02040503050406030204" pitchFamily="18" charset="0"/>
              </a:rPr>
              <a:t>next = temp-&gt;next) where temp is the n-1</a:t>
            </a:r>
            <a:r>
              <a:rPr lang="en-US" baseline="30000" dirty="0">
                <a:latin typeface="Cambria Math" panose="02040503050406030204" pitchFamily="18" charset="0"/>
                <a:ea typeface="Cambria Math" panose="02040503050406030204" pitchFamily="18" charset="0"/>
              </a:rPr>
              <a:t>th</a:t>
            </a:r>
            <a:r>
              <a:rPr lang="en-US" dirty="0">
                <a:latin typeface="Cambria Math" panose="02040503050406030204" pitchFamily="18" charset="0"/>
                <a:ea typeface="Cambria Math" panose="02040503050406030204" pitchFamily="18" charset="0"/>
              </a:rPr>
              <a:t> node. </a:t>
            </a:r>
          </a:p>
          <a:p>
            <a:pPr lvl="1"/>
            <a:endParaRPr lang="en-US" dirty="0"/>
          </a:p>
          <a:p>
            <a:endParaRPr lang="en-IN" dirty="0"/>
          </a:p>
        </p:txBody>
      </p:sp>
      <p:pic>
        <p:nvPicPr>
          <p:cNvPr id="7" name="Picture 6">
            <a:extLst>
              <a:ext uri="{FF2B5EF4-FFF2-40B4-BE49-F238E27FC236}">
                <a16:creationId xmlns:a16="http://schemas.microsoft.com/office/drawing/2014/main" id="{211E00FA-CACB-40A8-B87C-CE4D6C415288}"/>
              </a:ext>
            </a:extLst>
          </p:cNvPr>
          <p:cNvPicPr>
            <a:picLocks noChangeAspect="1"/>
          </p:cNvPicPr>
          <p:nvPr/>
        </p:nvPicPr>
        <p:blipFill>
          <a:blip r:embed="rId2"/>
          <a:stretch>
            <a:fillRect/>
          </a:stretch>
        </p:blipFill>
        <p:spPr>
          <a:xfrm>
            <a:off x="5353270" y="1378294"/>
            <a:ext cx="6182588" cy="1752845"/>
          </a:xfrm>
          <a:prstGeom prst="rect">
            <a:avLst/>
          </a:prstGeom>
        </p:spPr>
      </p:pic>
      <p:pic>
        <p:nvPicPr>
          <p:cNvPr id="9" name="Picture 8">
            <a:extLst>
              <a:ext uri="{FF2B5EF4-FFF2-40B4-BE49-F238E27FC236}">
                <a16:creationId xmlns:a16="http://schemas.microsoft.com/office/drawing/2014/main" id="{EF01F056-3DAE-45E2-ABF8-D28F03A2ACC5}"/>
              </a:ext>
            </a:extLst>
          </p:cNvPr>
          <p:cNvPicPr>
            <a:picLocks noChangeAspect="1"/>
          </p:cNvPicPr>
          <p:nvPr/>
        </p:nvPicPr>
        <p:blipFill>
          <a:blip r:embed="rId3"/>
          <a:stretch>
            <a:fillRect/>
          </a:stretch>
        </p:blipFill>
        <p:spPr>
          <a:xfrm>
            <a:off x="5172270" y="4449546"/>
            <a:ext cx="6363588" cy="1905266"/>
          </a:xfrm>
          <a:prstGeom prst="rect">
            <a:avLst/>
          </a:prstGeom>
        </p:spPr>
      </p:pic>
    </p:spTree>
    <p:extLst>
      <p:ext uri="{BB962C8B-B14F-4D97-AF65-F5344CB8AC3E}">
        <p14:creationId xmlns:p14="http://schemas.microsoft.com/office/powerpoint/2010/main" val="1803620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ACB44-C9F9-4AA9-93DE-7DE597F6BB3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330044-10CE-4A90-AE46-3096B8307113}"/>
              </a:ext>
            </a:extLst>
          </p:cNvPr>
          <p:cNvSpPr>
            <a:spLocks noGrp="1"/>
          </p:cNvSpPr>
          <p:nvPr>
            <p:ph idx="1"/>
          </p:nvPr>
        </p:nvSpPr>
        <p:spPr/>
        <p:txBody>
          <a:bodyPr/>
          <a:lstStyle/>
          <a:p>
            <a:pPr lvl="1"/>
            <a:r>
              <a:rPr lang="en-IN" dirty="0">
                <a:solidFill>
                  <a:srgbClr val="C00000"/>
                </a:solidFill>
                <a:latin typeface="Cambria Math" panose="02040503050406030204" pitchFamily="18" charset="0"/>
                <a:ea typeface="Cambria Math" panose="02040503050406030204" pitchFamily="18" charset="0"/>
                <a:cs typeface="Times New Roman" pitchFamily="18" charset="0"/>
              </a:rPr>
              <a:t>Step 3: </a:t>
            </a:r>
            <a:r>
              <a:rPr lang="en-IN" dirty="0">
                <a:solidFill>
                  <a:srgbClr val="002060"/>
                </a:solidFill>
                <a:latin typeface="Cambria Math" panose="02040503050406030204" pitchFamily="18" charset="0"/>
                <a:ea typeface="Cambria Math" panose="02040503050406030204" pitchFamily="18" charset="0"/>
                <a:cs typeface="Times New Roman" pitchFamily="18" charset="0"/>
              </a:rPr>
              <a:t>Now at last connect the n-1</a:t>
            </a:r>
            <a:r>
              <a:rPr lang="en-IN" baseline="30000" dirty="0">
                <a:solidFill>
                  <a:srgbClr val="002060"/>
                </a:solidFill>
                <a:latin typeface="Cambria Math" panose="02040503050406030204" pitchFamily="18" charset="0"/>
                <a:ea typeface="Cambria Math" panose="02040503050406030204" pitchFamily="18" charset="0"/>
                <a:cs typeface="Times New Roman" pitchFamily="18" charset="0"/>
              </a:rPr>
              <a:t>th</a:t>
            </a:r>
            <a:r>
              <a:rPr lang="en-IN" dirty="0">
                <a:solidFill>
                  <a:srgbClr val="002060"/>
                </a:solidFill>
                <a:latin typeface="Cambria Math" panose="02040503050406030204" pitchFamily="18" charset="0"/>
                <a:ea typeface="Cambria Math" panose="02040503050406030204" pitchFamily="18" charset="0"/>
                <a:cs typeface="Times New Roman" pitchFamily="18" charset="0"/>
              </a:rPr>
              <a:t> node with the new node i.e. the n-1</a:t>
            </a:r>
            <a:r>
              <a:rPr lang="en-IN" baseline="30000" dirty="0">
                <a:solidFill>
                  <a:srgbClr val="002060"/>
                </a:solidFill>
                <a:latin typeface="Cambria Math" panose="02040503050406030204" pitchFamily="18" charset="0"/>
                <a:ea typeface="Cambria Math" panose="02040503050406030204" pitchFamily="18" charset="0"/>
                <a:cs typeface="Times New Roman" pitchFamily="18" charset="0"/>
              </a:rPr>
              <a:t>th</a:t>
            </a:r>
            <a:r>
              <a:rPr lang="en-IN" dirty="0">
                <a:solidFill>
                  <a:srgbClr val="002060"/>
                </a:solidFill>
                <a:latin typeface="Cambria Math" panose="02040503050406030204" pitchFamily="18" charset="0"/>
                <a:ea typeface="Cambria Math" panose="02040503050406030204" pitchFamily="18" charset="0"/>
                <a:cs typeface="Times New Roman" pitchFamily="18" charset="0"/>
              </a:rPr>
              <a:t> node will now point to new node. (</a:t>
            </a:r>
            <a:r>
              <a:rPr lang="en-IN" dirty="0">
                <a:solidFill>
                  <a:srgbClr val="002060"/>
                </a:solidFill>
                <a:latin typeface="Cambria Math" panose="02040503050406030204" pitchFamily="18" charset="0"/>
                <a:ea typeface="Cambria Math" panose="02040503050406030204" pitchFamily="18" charset="0"/>
                <a:cs typeface="Courier New" pitchFamily="49" charset="0"/>
              </a:rPr>
              <a:t>temp-&gt;next = new</a:t>
            </a:r>
            <a:r>
              <a:rPr lang="en-IN" dirty="0">
                <a:solidFill>
                  <a:srgbClr val="002060"/>
                </a:solidFill>
                <a:latin typeface="Cambria Math" panose="02040503050406030204" pitchFamily="18" charset="0"/>
                <a:ea typeface="Cambria Math" panose="02040503050406030204" pitchFamily="18" charset="0"/>
                <a:cs typeface="Times New Roman" pitchFamily="18" charset="0"/>
              </a:rPr>
              <a:t>) where temp is the n-1</a:t>
            </a:r>
            <a:r>
              <a:rPr lang="en-IN" baseline="30000" dirty="0">
                <a:solidFill>
                  <a:srgbClr val="002060"/>
                </a:solidFill>
                <a:latin typeface="Cambria Math" panose="02040503050406030204" pitchFamily="18" charset="0"/>
                <a:ea typeface="Cambria Math" panose="02040503050406030204" pitchFamily="18" charset="0"/>
                <a:cs typeface="Times New Roman" pitchFamily="18" charset="0"/>
              </a:rPr>
              <a:t>th</a:t>
            </a:r>
            <a:r>
              <a:rPr lang="en-IN" dirty="0">
                <a:solidFill>
                  <a:srgbClr val="002060"/>
                </a:solidFill>
                <a:latin typeface="Cambria Math" panose="02040503050406030204" pitchFamily="18" charset="0"/>
                <a:ea typeface="Cambria Math" panose="02040503050406030204" pitchFamily="18" charset="0"/>
                <a:cs typeface="Times New Roman" pitchFamily="18" charset="0"/>
              </a:rPr>
              <a:t> node. </a:t>
            </a:r>
          </a:p>
          <a:p>
            <a:endParaRPr lang="en-IN" dirty="0"/>
          </a:p>
        </p:txBody>
      </p:sp>
      <p:sp>
        <p:nvSpPr>
          <p:cNvPr id="6" name="TextBox 5">
            <a:extLst>
              <a:ext uri="{FF2B5EF4-FFF2-40B4-BE49-F238E27FC236}">
                <a16:creationId xmlns:a16="http://schemas.microsoft.com/office/drawing/2014/main" id="{B89CC5E7-9829-421E-B306-BC0AA084E10F}"/>
              </a:ext>
            </a:extLst>
          </p:cNvPr>
          <p:cNvSpPr txBox="1"/>
          <p:nvPr/>
        </p:nvSpPr>
        <p:spPr>
          <a:xfrm>
            <a:off x="-97857" y="2957361"/>
            <a:ext cx="7846194" cy="3447098"/>
          </a:xfrm>
          <a:prstGeom prst="rect">
            <a:avLst/>
          </a:prstGeom>
          <a:noFill/>
        </p:spPr>
        <p:txBody>
          <a:bodyPr wrap="square">
            <a:spAutoFit/>
          </a:bodyPr>
          <a:lstStyle/>
          <a:p>
            <a:pPr fontAlgn="base"/>
            <a:r>
              <a:rPr lang="en-IN" sz="2000" dirty="0">
                <a:solidFill>
                  <a:srgbClr val="002060"/>
                </a:solidFill>
                <a:latin typeface="Courier New" pitchFamily="49" charset="0"/>
                <a:cs typeface="Courier New" pitchFamily="49" charset="0"/>
              </a:rPr>
              <a:t>  </a:t>
            </a:r>
            <a:r>
              <a:rPr lang="en-IN" b="1" dirty="0">
                <a:solidFill>
                  <a:srgbClr val="002060"/>
                </a:solidFill>
                <a:latin typeface="Courier New" pitchFamily="49" charset="0"/>
                <a:cs typeface="Courier New" pitchFamily="49" charset="0"/>
              </a:rPr>
              <a:t>for(</a:t>
            </a:r>
            <a:r>
              <a:rPr lang="en-IN" b="1" dirty="0" err="1">
                <a:solidFill>
                  <a:srgbClr val="002060"/>
                </a:solidFill>
                <a:latin typeface="Courier New" pitchFamily="49" charset="0"/>
                <a:cs typeface="Courier New" pitchFamily="49" charset="0"/>
              </a:rPr>
              <a:t>i</a:t>
            </a:r>
            <a:r>
              <a:rPr lang="en-IN" b="1" dirty="0">
                <a:solidFill>
                  <a:srgbClr val="002060"/>
                </a:solidFill>
                <a:latin typeface="Courier New" pitchFamily="49" charset="0"/>
                <a:cs typeface="Courier New" pitchFamily="49" charset="0"/>
              </a:rPr>
              <a:t>=1; </a:t>
            </a:r>
            <a:r>
              <a:rPr lang="en-IN" b="1" dirty="0" err="1">
                <a:solidFill>
                  <a:srgbClr val="002060"/>
                </a:solidFill>
                <a:latin typeface="Courier New" pitchFamily="49" charset="0"/>
                <a:cs typeface="Courier New" pitchFamily="49" charset="0"/>
              </a:rPr>
              <a:t>i</a:t>
            </a:r>
            <a:r>
              <a:rPr lang="en-IN" b="1" dirty="0">
                <a:solidFill>
                  <a:srgbClr val="002060"/>
                </a:solidFill>
                <a:latin typeface="Courier New" pitchFamily="49" charset="0"/>
                <a:cs typeface="Courier New" pitchFamily="49" charset="0"/>
              </a:rPr>
              <a:t>&lt; position-1; </a:t>
            </a:r>
            <a:r>
              <a:rPr lang="en-IN" b="1" dirty="0" err="1">
                <a:solidFill>
                  <a:srgbClr val="002060"/>
                </a:solidFill>
                <a:latin typeface="Courier New" pitchFamily="49" charset="0"/>
                <a:cs typeface="Courier New" pitchFamily="49" charset="0"/>
              </a:rPr>
              <a:t>i</a:t>
            </a:r>
            <a:r>
              <a:rPr lang="en-IN" b="1" dirty="0">
                <a:solidFill>
                  <a:srgbClr val="002060"/>
                </a:solidFill>
                <a:latin typeface="Courier New" pitchFamily="49" charset="0"/>
                <a:cs typeface="Courier New" pitchFamily="49" charset="0"/>
              </a:rPr>
              <a:t>++)</a:t>
            </a:r>
            <a:endParaRPr lang="en-IN" dirty="0">
              <a:solidFill>
                <a:srgbClr val="FF0000"/>
              </a:solidFill>
              <a:latin typeface="Courier New" pitchFamily="49" charset="0"/>
              <a:cs typeface="Courier New" pitchFamily="49" charset="0"/>
            </a:endParaRPr>
          </a:p>
          <a:p>
            <a:pPr fontAlgn="base"/>
            <a:r>
              <a:rPr lang="en-IN" dirty="0">
                <a:solidFill>
                  <a:srgbClr val="002060"/>
                </a:solidFill>
                <a:latin typeface="Courier New" pitchFamily="49" charset="0"/>
                <a:cs typeface="Courier New" pitchFamily="49" charset="0"/>
              </a:rPr>
              <a:t>        {</a:t>
            </a:r>
          </a:p>
          <a:p>
            <a:pPr fontAlgn="base"/>
            <a:r>
              <a:rPr lang="en-IN" dirty="0">
                <a:solidFill>
                  <a:srgbClr val="002060"/>
                </a:solidFill>
                <a:latin typeface="Courier New" pitchFamily="49" charset="0"/>
                <a:cs typeface="Courier New" pitchFamily="49" charset="0"/>
              </a:rPr>
              <a:t>            temp = temp-&gt;next;</a:t>
            </a:r>
          </a:p>
          <a:p>
            <a:pPr fontAlgn="base"/>
            <a:r>
              <a:rPr lang="en-IN" dirty="0">
                <a:solidFill>
                  <a:srgbClr val="002060"/>
                </a:solidFill>
                <a:latin typeface="Courier New" pitchFamily="49" charset="0"/>
                <a:cs typeface="Courier New" pitchFamily="49" charset="0"/>
              </a:rPr>
              <a:t>            if(temp == NULL)</a:t>
            </a:r>
          </a:p>
          <a:p>
            <a:pPr fontAlgn="base"/>
            <a:r>
              <a:rPr lang="en-IN" dirty="0">
                <a:solidFill>
                  <a:srgbClr val="002060"/>
                </a:solidFill>
                <a:latin typeface="Courier New" pitchFamily="49" charset="0"/>
                <a:cs typeface="Courier New" pitchFamily="49" charset="0"/>
              </a:rPr>
              <a:t>                break;</a:t>
            </a:r>
          </a:p>
          <a:p>
            <a:pPr fontAlgn="base"/>
            <a:r>
              <a:rPr lang="en-IN" dirty="0">
                <a:solidFill>
                  <a:srgbClr val="002060"/>
                </a:solidFill>
                <a:latin typeface="Courier New" pitchFamily="49" charset="0"/>
                <a:cs typeface="Courier New" pitchFamily="49" charset="0"/>
              </a:rPr>
              <a:t>        } </a:t>
            </a:r>
          </a:p>
          <a:p>
            <a:pPr fontAlgn="base"/>
            <a:r>
              <a:rPr lang="en-IN" dirty="0">
                <a:solidFill>
                  <a:srgbClr val="002060"/>
                </a:solidFill>
                <a:latin typeface="Courier New" pitchFamily="49" charset="0"/>
                <a:cs typeface="Courier New" pitchFamily="49" charset="0"/>
              </a:rPr>
              <a:t>  </a:t>
            </a:r>
            <a:r>
              <a:rPr lang="en-IN" b="1" dirty="0">
                <a:solidFill>
                  <a:srgbClr val="002060"/>
                </a:solidFill>
                <a:latin typeface="Courier New" pitchFamily="49" charset="0"/>
                <a:cs typeface="Courier New" pitchFamily="49" charset="0"/>
              </a:rPr>
              <a:t>if(temp != NULL)</a:t>
            </a:r>
          </a:p>
          <a:p>
            <a:pPr fontAlgn="base"/>
            <a:r>
              <a:rPr lang="en-IN" dirty="0">
                <a:solidFill>
                  <a:srgbClr val="002060"/>
                </a:solidFill>
                <a:latin typeface="Courier New" pitchFamily="49" charset="0"/>
                <a:cs typeface="Courier New" pitchFamily="49" charset="0"/>
              </a:rPr>
              <a:t>        {</a:t>
            </a:r>
          </a:p>
          <a:p>
            <a:pPr fontAlgn="base"/>
            <a:r>
              <a:rPr lang="en-IN" dirty="0">
                <a:solidFill>
                  <a:srgbClr val="002060"/>
                </a:solidFill>
                <a:latin typeface="Courier New" pitchFamily="49" charset="0"/>
                <a:cs typeface="Courier New" pitchFamily="49" charset="0"/>
              </a:rPr>
              <a:t>            new-&gt;next = temp-&gt;next; </a:t>
            </a:r>
          </a:p>
          <a:p>
            <a:pPr fontAlgn="base"/>
            <a:r>
              <a:rPr lang="en-IN" dirty="0">
                <a:solidFill>
                  <a:srgbClr val="002060"/>
                </a:solidFill>
                <a:latin typeface="Courier New" pitchFamily="49" charset="0"/>
                <a:cs typeface="Courier New" pitchFamily="49" charset="0"/>
              </a:rPr>
              <a:t>            temp-&gt;next = new;</a:t>
            </a:r>
          </a:p>
          <a:p>
            <a:pPr fontAlgn="base"/>
            <a:r>
              <a:rPr lang="en-IN" dirty="0">
                <a:solidFill>
                  <a:srgbClr val="002060"/>
                </a:solidFill>
                <a:latin typeface="Courier New" pitchFamily="49" charset="0"/>
                <a:cs typeface="Courier New" pitchFamily="49" charset="0"/>
              </a:rPr>
              <a:t>        }</a:t>
            </a:r>
            <a:r>
              <a:rPr lang="en-IN" b="1" dirty="0">
                <a:solidFill>
                  <a:srgbClr val="002060"/>
                </a:solidFill>
                <a:latin typeface="Courier New" pitchFamily="49" charset="0"/>
                <a:cs typeface="Courier New" pitchFamily="49" charset="0"/>
              </a:rPr>
              <a:t>else</a:t>
            </a:r>
          </a:p>
          <a:p>
            <a:pPr fontAlgn="base"/>
            <a:r>
              <a:rPr lang="en-IN" dirty="0">
                <a:solidFill>
                  <a:srgbClr val="002060"/>
                </a:solidFill>
                <a:latin typeface="Courier New" pitchFamily="49" charset="0"/>
                <a:cs typeface="Courier New" pitchFamily="49" charset="0"/>
              </a:rPr>
              <a:t>           </a:t>
            </a:r>
            <a:r>
              <a:rPr lang="en-IN" dirty="0" err="1">
                <a:solidFill>
                  <a:srgbClr val="002060"/>
                </a:solidFill>
                <a:latin typeface="Courier New" pitchFamily="49" charset="0"/>
                <a:cs typeface="Courier New" pitchFamily="49" charset="0"/>
              </a:rPr>
              <a:t>printf</a:t>
            </a:r>
            <a:r>
              <a:rPr lang="en-IN" dirty="0">
                <a:solidFill>
                  <a:srgbClr val="002060"/>
                </a:solidFill>
                <a:latin typeface="Courier New" pitchFamily="49" charset="0"/>
                <a:cs typeface="Courier New" pitchFamily="49" charset="0"/>
              </a:rPr>
              <a:t>(“Unable to insert”);</a:t>
            </a:r>
            <a:endParaRPr lang="en-IN" sz="2400" dirty="0">
              <a:solidFill>
                <a:srgbClr val="002060"/>
              </a:solidFill>
              <a:latin typeface="Courier New" pitchFamily="49" charset="0"/>
              <a:cs typeface="Courier New" pitchFamily="49" charset="0"/>
            </a:endParaRPr>
          </a:p>
        </p:txBody>
      </p:sp>
      <p:pic>
        <p:nvPicPr>
          <p:cNvPr id="10" name="Picture 9">
            <a:extLst>
              <a:ext uri="{FF2B5EF4-FFF2-40B4-BE49-F238E27FC236}">
                <a16:creationId xmlns:a16="http://schemas.microsoft.com/office/drawing/2014/main" id="{DC8AE889-F31C-4974-BF50-C327F7D3D640}"/>
              </a:ext>
            </a:extLst>
          </p:cNvPr>
          <p:cNvPicPr>
            <a:picLocks noChangeAspect="1"/>
          </p:cNvPicPr>
          <p:nvPr/>
        </p:nvPicPr>
        <p:blipFill>
          <a:blip r:embed="rId2"/>
          <a:stretch>
            <a:fillRect/>
          </a:stretch>
        </p:blipFill>
        <p:spPr>
          <a:xfrm>
            <a:off x="5344758" y="1757044"/>
            <a:ext cx="6716062" cy="2400635"/>
          </a:xfrm>
          <a:prstGeom prst="rect">
            <a:avLst/>
          </a:prstGeom>
        </p:spPr>
      </p:pic>
    </p:spTree>
    <p:extLst>
      <p:ext uri="{BB962C8B-B14F-4D97-AF65-F5344CB8AC3E}">
        <p14:creationId xmlns:p14="http://schemas.microsoft.com/office/powerpoint/2010/main" val="210269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DELETE(X, FIRST)</a:t>
            </a:r>
          </a:p>
        </p:txBody>
      </p:sp>
      <p:sp>
        <p:nvSpPr>
          <p:cNvPr id="3" name="Content Placeholder 2"/>
          <p:cNvSpPr>
            <a:spLocks noGrp="1"/>
          </p:cNvSpPr>
          <p:nvPr>
            <p:ph idx="1"/>
          </p:nvPr>
        </p:nvSpPr>
        <p:spPr/>
        <p:txBody>
          <a:bodyPr/>
          <a:lstStyle/>
          <a:p>
            <a:r>
              <a:rPr lang="en-IN" dirty="0"/>
              <a:t>This algorithm </a:t>
            </a:r>
            <a:r>
              <a:rPr lang="en-IN" b="1" dirty="0">
                <a:solidFill>
                  <a:srgbClr val="C00000"/>
                </a:solidFill>
              </a:rPr>
              <a:t>delete</a:t>
            </a:r>
            <a:r>
              <a:rPr lang="en-IN" dirty="0">
                <a:solidFill>
                  <a:srgbClr val="C00000"/>
                </a:solidFill>
              </a:rPr>
              <a:t> </a:t>
            </a:r>
            <a:r>
              <a:rPr lang="en-IN" dirty="0"/>
              <a:t>a node whose value is given by variable </a:t>
            </a:r>
            <a:r>
              <a:rPr lang="en-IN" b="1" dirty="0">
                <a:solidFill>
                  <a:srgbClr val="C00000"/>
                </a:solidFill>
              </a:rPr>
              <a:t>X</a:t>
            </a:r>
            <a:r>
              <a:rPr lang="en-IN" dirty="0"/>
              <a:t>.</a:t>
            </a:r>
          </a:p>
          <a:p>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NEXT</a:t>
            </a:r>
            <a:r>
              <a:rPr lang="en-IN" dirty="0">
                <a:solidFill>
                  <a:srgbClr val="C00000"/>
                </a:solidFill>
              </a:rPr>
              <a:t> </a:t>
            </a:r>
            <a:r>
              <a:rPr lang="en-IN" dirty="0"/>
              <a:t>fields. </a:t>
            </a:r>
          </a:p>
          <a:p>
            <a:r>
              <a:rPr lang="en-IN" b="1" dirty="0">
                <a:solidFill>
                  <a:srgbClr val="C00000"/>
                </a:solidFill>
              </a:rPr>
              <a:t>TEMP</a:t>
            </a:r>
            <a:r>
              <a:rPr lang="en-IN" b="1" dirty="0">
                <a:solidFill>
                  <a:srgbClr val="FF0000"/>
                </a:solidFill>
              </a:rPr>
              <a:t> </a:t>
            </a:r>
            <a:r>
              <a:rPr lang="en-IN" b="1" dirty="0">
                <a:solidFill>
                  <a:schemeClr val="tx1">
                    <a:lumMod val="95000"/>
                    <a:lumOff val="5000"/>
                  </a:schemeClr>
                </a:solidFill>
              </a:rPr>
              <a:t>is the</a:t>
            </a:r>
            <a:r>
              <a:rPr lang="en-IN" dirty="0"/>
              <a:t> temporary pointer variable. </a:t>
            </a:r>
          </a:p>
        </p:txBody>
      </p:sp>
      <p:grpSp>
        <p:nvGrpSpPr>
          <p:cNvPr id="4" name="Group 3"/>
          <p:cNvGrpSpPr/>
          <p:nvPr/>
        </p:nvGrpSpPr>
        <p:grpSpPr>
          <a:xfrm>
            <a:off x="1752600" y="3718575"/>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3048000" y="3718575"/>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4343400" y="3718575"/>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6090388" y="3718575"/>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8071588" y="3718575"/>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9380738" y="3718575"/>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p:nvPr/>
        </p:nvCxnSpPr>
        <p:spPr>
          <a:xfrm>
            <a:off x="2672612" y="3990219"/>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3968012" y="3985275"/>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5263412" y="3985275"/>
            <a:ext cx="8269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7010400" y="3985275"/>
            <a:ext cx="1061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8991600" y="3985275"/>
            <a:ext cx="3891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V="1">
            <a:off x="9939280" y="3718575"/>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28" name="TextBox 27"/>
          <p:cNvSpPr txBox="1"/>
          <p:nvPr/>
        </p:nvSpPr>
        <p:spPr>
          <a:xfrm>
            <a:off x="1752600" y="4480575"/>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9" name="Straight Arrow Connector 28"/>
          <p:cNvCxnSpPr/>
          <p:nvPr/>
        </p:nvCxnSpPr>
        <p:spPr>
          <a:xfrm flipV="1">
            <a:off x="2071150" y="4256919"/>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7" name="TextBox 36"/>
          <p:cNvSpPr txBox="1"/>
          <p:nvPr/>
        </p:nvSpPr>
        <p:spPr>
          <a:xfrm>
            <a:off x="4421558" y="3285744"/>
            <a:ext cx="729688" cy="369332"/>
          </a:xfrm>
          <a:prstGeom prst="rect">
            <a:avLst/>
          </a:prstGeom>
          <a:noFill/>
        </p:spPr>
        <p:txBody>
          <a:bodyPr wrap="none" rtlCol="0">
            <a:spAutoFit/>
          </a:bodyPr>
          <a:lstStyle/>
          <a:p>
            <a:pPr algn="ctr"/>
            <a:r>
              <a:rPr lang="en-IN" b="1" dirty="0">
                <a:solidFill>
                  <a:srgbClr val="C00000"/>
                </a:solidFill>
              </a:rPr>
              <a:t>TEMP</a:t>
            </a:r>
            <a:endParaRPr lang="en-US" b="1" dirty="0">
              <a:solidFill>
                <a:srgbClr val="C00000"/>
              </a:solidFill>
            </a:endParaRPr>
          </a:p>
        </p:txBody>
      </p:sp>
      <p:sp>
        <p:nvSpPr>
          <p:cNvPr id="38" name="TextBox 37"/>
          <p:cNvSpPr txBox="1"/>
          <p:nvPr/>
        </p:nvSpPr>
        <p:spPr>
          <a:xfrm>
            <a:off x="5835224" y="3285744"/>
            <a:ext cx="1426994" cy="369332"/>
          </a:xfrm>
          <a:prstGeom prst="rect">
            <a:avLst/>
          </a:prstGeom>
          <a:noFill/>
        </p:spPr>
        <p:txBody>
          <a:bodyPr wrap="none" rtlCol="0">
            <a:spAutoFit/>
          </a:bodyPr>
          <a:lstStyle/>
          <a:p>
            <a:pPr algn="ctr"/>
            <a:r>
              <a:rPr lang="en-IN" b="1" dirty="0">
                <a:solidFill>
                  <a:srgbClr val="C00000"/>
                </a:solidFill>
              </a:rPr>
              <a:t>TEMP-&gt;NEXT</a:t>
            </a:r>
            <a:endParaRPr lang="en-US" b="1" dirty="0">
              <a:solidFill>
                <a:srgbClr val="C00000"/>
              </a:solidFill>
            </a:endParaRPr>
          </a:p>
        </p:txBody>
      </p:sp>
      <p:cxnSp>
        <p:nvCxnSpPr>
          <p:cNvPr id="40" name="Straight Connector 39"/>
          <p:cNvCxnSpPr/>
          <p:nvPr/>
        </p:nvCxnSpPr>
        <p:spPr>
          <a:xfrm>
            <a:off x="5072912" y="4251975"/>
            <a:ext cx="0" cy="59793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2" name="Straight Connector 41"/>
          <p:cNvCxnSpPr/>
          <p:nvPr/>
        </p:nvCxnSpPr>
        <p:spPr>
          <a:xfrm>
            <a:off x="5072912" y="4849907"/>
            <a:ext cx="326537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4" name="Straight Arrow Connector 43"/>
          <p:cNvCxnSpPr>
            <a:endCxn id="17" idx="2"/>
          </p:cNvCxnSpPr>
          <p:nvPr/>
        </p:nvCxnSpPr>
        <p:spPr>
          <a:xfrm flipV="1">
            <a:off x="8338288" y="4251975"/>
            <a:ext cx="0" cy="59793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68342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2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13"/>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8" grpId="0"/>
      <p:bldP spid="37" grpId="0"/>
      <p:bldP spid="3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DELETE( X, FIRST)</a:t>
            </a:r>
          </a:p>
        </p:txBody>
      </p:sp>
      <p:sp>
        <p:nvSpPr>
          <p:cNvPr id="4" name="TextBox 3"/>
          <p:cNvSpPr txBox="1"/>
          <p:nvPr/>
        </p:nvSpPr>
        <p:spPr>
          <a:xfrm>
            <a:off x="40578" y="896472"/>
            <a:ext cx="5760000" cy="381642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[Is Empty list?]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FIRST = NULL</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write (‘Underflow’)</a:t>
            </a:r>
          </a:p>
          <a:p>
            <a:r>
              <a:rPr lang="en-IN" sz="2200" dirty="0">
                <a:latin typeface="Consolas" pitchFamily="49" charset="0"/>
                <a:cs typeface="Consolas" pitchFamily="49" charset="0"/>
              </a:rPr>
              <a:t>		Return</a:t>
            </a:r>
          </a:p>
          <a:p>
            <a:r>
              <a:rPr lang="en-IN" sz="2200" b="1" dirty="0">
                <a:solidFill>
                  <a:schemeClr val="tx2"/>
                </a:solidFill>
                <a:latin typeface="Consolas" pitchFamily="49" charset="0"/>
                <a:cs typeface="Consolas" pitchFamily="49" charset="0"/>
              </a:rPr>
              <a:t>2. [Initialize search for X]</a:t>
            </a:r>
          </a:p>
          <a:p>
            <a:r>
              <a:rPr lang="en-IN" sz="2200" dirty="0">
                <a:latin typeface="Consolas" pitchFamily="49" charset="0"/>
                <a:cs typeface="Consolas" pitchFamily="49" charset="0"/>
              </a:rPr>
              <a:t>    TEMP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FIRST</a:t>
            </a:r>
          </a:p>
          <a:p>
            <a:r>
              <a:rPr lang="en-IN" sz="2200" b="1" dirty="0">
                <a:solidFill>
                  <a:schemeClr val="tx2"/>
                </a:solidFill>
                <a:latin typeface="Consolas" pitchFamily="49" charset="0"/>
                <a:cs typeface="Consolas" pitchFamily="49" charset="0"/>
              </a:rPr>
              <a:t>3. [Find 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Repeat</a:t>
            </a:r>
            <a:r>
              <a:rPr lang="en-IN" sz="2200" dirty="0">
                <a:latin typeface="Consolas" pitchFamily="49" charset="0"/>
                <a:cs typeface="Consolas" pitchFamily="49" charset="0"/>
              </a:rPr>
              <a:t> thru step-5 </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while</a:t>
            </a:r>
            <a:r>
              <a:rPr lang="en-IN" sz="2200" dirty="0">
                <a:latin typeface="Consolas" pitchFamily="49" charset="0"/>
                <a:cs typeface="Consolas" pitchFamily="49" charset="0"/>
              </a:rPr>
              <a:t> TEMP-&gt;NEXT-&gt;INFO ≠ X and </a:t>
            </a:r>
          </a:p>
          <a:p>
            <a:r>
              <a:rPr lang="en-IN" sz="2200" dirty="0">
                <a:latin typeface="Consolas" pitchFamily="49" charset="0"/>
                <a:cs typeface="Consolas" pitchFamily="49" charset="0"/>
              </a:rPr>
              <a:t>     TEMP-&gt;NEXT ≠ NULL</a:t>
            </a:r>
          </a:p>
          <a:p>
            <a:r>
              <a:rPr lang="en-IN" sz="2200" b="1" dirty="0">
                <a:solidFill>
                  <a:schemeClr val="tx2"/>
                </a:solidFill>
                <a:latin typeface="Consolas" pitchFamily="49" charset="0"/>
                <a:cs typeface="Consolas" pitchFamily="49" charset="0"/>
              </a:rPr>
              <a:t>     </a:t>
            </a:r>
            <a:r>
              <a:rPr lang="en-IN" sz="2200" dirty="0">
                <a:latin typeface="Consolas" pitchFamily="49" charset="0"/>
                <a:cs typeface="Consolas" pitchFamily="49" charset="0"/>
                <a:sym typeface="Wingdings" pitchFamily="2" charset="2"/>
              </a:rPr>
              <a:t>TEMP  TEMP-&gt;NEXT</a:t>
            </a:r>
            <a:endParaRPr lang="en-IN" sz="2200" dirty="0">
              <a:latin typeface="Consolas" pitchFamily="49" charset="0"/>
              <a:cs typeface="Consolas" pitchFamily="49" charset="0"/>
            </a:endParaRPr>
          </a:p>
        </p:txBody>
      </p:sp>
      <p:sp>
        <p:nvSpPr>
          <p:cNvPr id="5" name="TextBox 4"/>
          <p:cNvSpPr txBox="1"/>
          <p:nvPr/>
        </p:nvSpPr>
        <p:spPr>
          <a:xfrm>
            <a:off x="5977288" y="896472"/>
            <a:ext cx="6214712" cy="4493538"/>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4. [End of the list?]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TEMP-&gt;INFO ≠ 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write (‘</a:t>
            </a:r>
            <a:r>
              <a:rPr lang="en-IN" sz="2200" b="1" dirty="0">
                <a:latin typeface="Consolas" pitchFamily="49" charset="0"/>
                <a:cs typeface="Consolas" pitchFamily="49" charset="0"/>
              </a:rPr>
              <a:t>Node not found</a:t>
            </a:r>
            <a:r>
              <a:rPr lang="en-IN" sz="2200" dirty="0">
                <a:latin typeface="Consolas" pitchFamily="49" charset="0"/>
                <a:cs typeface="Consolas" pitchFamily="49" charset="0"/>
              </a:rPr>
              <a:t>’)</a:t>
            </a:r>
          </a:p>
          <a:p>
            <a:r>
              <a:rPr lang="en-IN" sz="2200" dirty="0">
                <a:latin typeface="Consolas" pitchFamily="49" charset="0"/>
                <a:cs typeface="Consolas" pitchFamily="49" charset="0"/>
              </a:rPr>
              <a:t>       	Return</a:t>
            </a:r>
          </a:p>
          <a:p>
            <a:r>
              <a:rPr lang="en-IN" sz="2200" b="1" dirty="0">
                <a:solidFill>
                  <a:schemeClr val="tx2"/>
                </a:solidFill>
                <a:latin typeface="Consolas" pitchFamily="49" charset="0"/>
                <a:cs typeface="Consolas" pitchFamily="49" charset="0"/>
              </a:rPr>
              <a:t>5. [Delete X]</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X = FIRST-&gt;INFO</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TEMP </a:t>
            </a:r>
            <a:r>
              <a:rPr lang="en-IN" sz="2200" dirty="0">
                <a:latin typeface="Consolas" pitchFamily="49" charset="0"/>
                <a:cs typeface="Consolas" pitchFamily="49" charset="0"/>
                <a:sym typeface="Wingdings" pitchFamily="2" charset="2"/>
              </a:rPr>
              <a:t> FIRST</a:t>
            </a:r>
            <a:endParaRPr lang="en-IN" sz="2200" dirty="0">
              <a:latin typeface="Consolas" pitchFamily="49" charset="0"/>
              <a:cs typeface="Consolas" pitchFamily="49" charset="0"/>
            </a:endParaRPr>
          </a:p>
          <a:p>
            <a:r>
              <a:rPr lang="en-IN" sz="2200" dirty="0">
                <a:latin typeface="Consolas" pitchFamily="49" charset="0"/>
                <a:cs typeface="Consolas" pitchFamily="49" charset="0"/>
              </a:rPr>
              <a:t>         FIRST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FIRST-&gt;NEXT</a:t>
            </a:r>
          </a:p>
          <a:p>
            <a:r>
              <a:rPr lang="en-IN" sz="2200" dirty="0">
                <a:latin typeface="Consolas" pitchFamily="49" charset="0"/>
                <a:cs typeface="Consolas" pitchFamily="49" charset="0"/>
              </a:rPr>
              <a:t>         </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ELSE</a:t>
            </a:r>
            <a:r>
              <a:rPr lang="en-IN" sz="2200" dirty="0">
                <a:latin typeface="Consolas" pitchFamily="49" charset="0"/>
                <a:cs typeface="Consolas" pitchFamily="49" charset="0"/>
              </a:rPr>
              <a:t> TEMP2 </a:t>
            </a:r>
            <a:r>
              <a:rPr lang="en-IN" sz="2200" dirty="0">
                <a:latin typeface="Consolas" pitchFamily="49" charset="0"/>
                <a:cs typeface="Consolas" pitchFamily="49" charset="0"/>
                <a:sym typeface="Wingdings" panose="05000000000000000000" pitchFamily="2" charset="2"/>
              </a:rPr>
              <a:t> TEMPNEXT</a:t>
            </a:r>
            <a:r>
              <a:rPr lang="en-IN" sz="2200" dirty="0">
                <a:latin typeface="Consolas" pitchFamily="49" charset="0"/>
                <a:cs typeface="Consolas" pitchFamily="49" charset="0"/>
              </a:rPr>
              <a:t> </a:t>
            </a:r>
          </a:p>
          <a:p>
            <a:r>
              <a:rPr lang="en-IN" sz="2200" dirty="0">
                <a:latin typeface="Consolas" pitchFamily="49" charset="0"/>
                <a:cs typeface="Consolas" pitchFamily="49" charset="0"/>
              </a:rPr>
              <a:t>         TEMP-&gt;NEXT </a:t>
            </a:r>
            <a:r>
              <a:rPr lang="en-IN" sz="2200" dirty="0">
                <a:latin typeface="Consolas" pitchFamily="49" charset="0"/>
                <a:cs typeface="Consolas" pitchFamily="49" charset="0"/>
                <a:sym typeface="Wingdings" pitchFamily="2" charset="2"/>
              </a:rPr>
              <a:t> TEMP-&gt;NEXT-&gt;NEXT</a:t>
            </a:r>
            <a:endParaRPr lang="en-IN" sz="2200" b="1" dirty="0">
              <a:solidFill>
                <a:schemeClr val="tx2">
                  <a:lumMod val="60000"/>
                  <a:lumOff val="40000"/>
                </a:schemeClr>
              </a:solidFill>
              <a:latin typeface="Consolas" pitchFamily="49" charset="0"/>
              <a:cs typeface="Consolas" pitchFamily="49" charset="0"/>
            </a:endParaRPr>
          </a:p>
          <a:p>
            <a:r>
              <a:rPr lang="en-IN" sz="2200" b="1" dirty="0">
                <a:solidFill>
                  <a:schemeClr val="tx2"/>
                </a:solidFill>
                <a:latin typeface="Consolas" pitchFamily="49" charset="0"/>
                <a:cs typeface="Consolas" pitchFamily="49" charset="0"/>
              </a:rPr>
              <a:t>6. [Free Deleted Node]</a:t>
            </a:r>
          </a:p>
          <a:p>
            <a:r>
              <a:rPr lang="en-IN" sz="2200" dirty="0">
                <a:latin typeface="Consolas" pitchFamily="49" charset="0"/>
                <a:cs typeface="Consolas" pitchFamily="49" charset="0"/>
              </a:rPr>
              <a:t>    Free (TEMP2)</a:t>
            </a:r>
          </a:p>
        </p:txBody>
      </p:sp>
    </p:spTree>
    <p:extLst>
      <p:ext uri="{BB962C8B-B14F-4D97-AF65-F5344CB8AC3E}">
        <p14:creationId xmlns:p14="http://schemas.microsoft.com/office/powerpoint/2010/main" val="247177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 end="1"/>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
                                            <p:txEl>
                                              <p:pRg st="2" end="2"/>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5" end="5"/>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
                                            <p:txEl>
                                              <p:pRg st="6" end="6"/>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
                                            <p:txEl>
                                              <p:pRg st="7" end="7"/>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
                                            <p:txEl>
                                              <p:pRg st="8" end="8"/>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
                                            <p:txEl>
                                              <p:pRg st="9" end="9"/>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DELETE(20, FIRST)</a:t>
            </a:r>
          </a:p>
        </p:txBody>
      </p:sp>
      <p:grpSp>
        <p:nvGrpSpPr>
          <p:cNvPr id="3" name="Group 2"/>
          <p:cNvGrpSpPr/>
          <p:nvPr/>
        </p:nvGrpSpPr>
        <p:grpSpPr>
          <a:xfrm>
            <a:off x="1752600" y="4973633"/>
            <a:ext cx="920012" cy="533400"/>
            <a:chOff x="951919" y="5486400"/>
            <a:chExt cx="920012" cy="533400"/>
          </a:xfrm>
        </p:grpSpPr>
        <p:sp>
          <p:nvSpPr>
            <p:cNvPr id="4" name="Rectangle 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5" name="Rectangle 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6" name="Group 5"/>
          <p:cNvGrpSpPr/>
          <p:nvPr/>
        </p:nvGrpSpPr>
        <p:grpSpPr>
          <a:xfrm>
            <a:off x="3048000" y="4973633"/>
            <a:ext cx="920012" cy="533400"/>
            <a:chOff x="951919" y="5486400"/>
            <a:chExt cx="920012" cy="533400"/>
          </a:xfrm>
        </p:grpSpPr>
        <p:sp>
          <p:nvSpPr>
            <p:cNvPr id="7" name="Rectangle 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4343400" y="4973633"/>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6090388" y="4973633"/>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8071588" y="4973633"/>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8" name="Group 17"/>
          <p:cNvGrpSpPr/>
          <p:nvPr/>
        </p:nvGrpSpPr>
        <p:grpSpPr>
          <a:xfrm>
            <a:off x="9380738" y="4973633"/>
            <a:ext cx="1058662" cy="533400"/>
            <a:chOff x="6256538" y="5334000"/>
            <a:chExt cx="1058662" cy="533400"/>
          </a:xfrm>
        </p:grpSpPr>
        <p:sp>
          <p:nvSpPr>
            <p:cNvPr id="19" name="Rectangle 18"/>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0" name="Rectangle 19"/>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1" name="Straight Arrow Connector 20"/>
          <p:cNvCxnSpPr>
            <a:stCxn id="5" idx="3"/>
            <a:endCxn id="7" idx="1"/>
          </p:cNvCxnSpPr>
          <p:nvPr/>
        </p:nvCxnSpPr>
        <p:spPr>
          <a:xfrm>
            <a:off x="2672612" y="5240333"/>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a:stCxn id="8" idx="3"/>
            <a:endCxn id="10" idx="1"/>
          </p:cNvCxnSpPr>
          <p:nvPr/>
        </p:nvCxnSpPr>
        <p:spPr>
          <a:xfrm>
            <a:off x="3968012" y="5240333"/>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11" idx="3"/>
            <a:endCxn id="13" idx="1"/>
          </p:cNvCxnSpPr>
          <p:nvPr/>
        </p:nvCxnSpPr>
        <p:spPr>
          <a:xfrm>
            <a:off x="5263412" y="5240333"/>
            <a:ext cx="8269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4" idx="3"/>
            <a:endCxn id="16" idx="1"/>
          </p:cNvCxnSpPr>
          <p:nvPr/>
        </p:nvCxnSpPr>
        <p:spPr>
          <a:xfrm>
            <a:off x="7010400" y="5240333"/>
            <a:ext cx="1061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7" idx="3"/>
            <a:endCxn id="19" idx="1"/>
          </p:cNvCxnSpPr>
          <p:nvPr/>
        </p:nvCxnSpPr>
        <p:spPr>
          <a:xfrm>
            <a:off x="8991600" y="5240333"/>
            <a:ext cx="3891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p:nvPr/>
        </p:nvCxnSpPr>
        <p:spPr>
          <a:xfrm flipV="1">
            <a:off x="9939280" y="4973633"/>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27" name="TextBox 26"/>
          <p:cNvSpPr txBox="1"/>
          <p:nvPr/>
        </p:nvSpPr>
        <p:spPr>
          <a:xfrm>
            <a:off x="1724025" y="6040433"/>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8" name="Straight Arrow Connector 27"/>
          <p:cNvCxnSpPr>
            <a:stCxn id="27" idx="0"/>
          </p:cNvCxnSpPr>
          <p:nvPr/>
        </p:nvCxnSpPr>
        <p:spPr>
          <a:xfrm flipH="1" flipV="1">
            <a:off x="2071151" y="5507033"/>
            <a:ext cx="20123"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Connector 30"/>
          <p:cNvCxnSpPr/>
          <p:nvPr/>
        </p:nvCxnSpPr>
        <p:spPr>
          <a:xfrm>
            <a:off x="5072912" y="5507033"/>
            <a:ext cx="0" cy="59793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2" name="Straight Connector 31"/>
          <p:cNvCxnSpPr/>
          <p:nvPr/>
        </p:nvCxnSpPr>
        <p:spPr>
          <a:xfrm>
            <a:off x="5072912" y="6104965"/>
            <a:ext cx="326537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a:endCxn id="16" idx="2"/>
          </p:cNvCxnSpPr>
          <p:nvPr/>
        </p:nvCxnSpPr>
        <p:spPr>
          <a:xfrm flipV="1">
            <a:off x="8338288" y="5507033"/>
            <a:ext cx="0" cy="59793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4" name="TextBox 33"/>
          <p:cNvSpPr txBox="1"/>
          <p:nvPr/>
        </p:nvSpPr>
        <p:spPr>
          <a:xfrm>
            <a:off x="1752601" y="5647765"/>
            <a:ext cx="652743" cy="369332"/>
          </a:xfrm>
          <a:prstGeom prst="rect">
            <a:avLst/>
          </a:prstGeom>
          <a:noFill/>
        </p:spPr>
        <p:txBody>
          <a:bodyPr wrap="none" rtlCol="0">
            <a:spAutoFit/>
          </a:bodyPr>
          <a:lstStyle/>
          <a:p>
            <a:r>
              <a:rPr lang="en-IN" dirty="0"/>
              <a:t>5000</a:t>
            </a:r>
            <a:endParaRPr lang="en-US" dirty="0"/>
          </a:p>
        </p:txBody>
      </p:sp>
      <p:sp>
        <p:nvSpPr>
          <p:cNvPr id="35" name="TextBox 34"/>
          <p:cNvSpPr txBox="1"/>
          <p:nvPr/>
        </p:nvSpPr>
        <p:spPr>
          <a:xfrm>
            <a:off x="3048001" y="5550967"/>
            <a:ext cx="652743" cy="369332"/>
          </a:xfrm>
          <a:prstGeom prst="rect">
            <a:avLst/>
          </a:prstGeom>
          <a:noFill/>
        </p:spPr>
        <p:txBody>
          <a:bodyPr wrap="none" rtlCol="0">
            <a:spAutoFit/>
          </a:bodyPr>
          <a:lstStyle/>
          <a:p>
            <a:r>
              <a:rPr lang="en-IN" dirty="0"/>
              <a:t>4455</a:t>
            </a:r>
            <a:endParaRPr lang="en-US" dirty="0"/>
          </a:p>
        </p:txBody>
      </p:sp>
      <p:sp>
        <p:nvSpPr>
          <p:cNvPr id="36" name="TextBox 35"/>
          <p:cNvSpPr txBox="1"/>
          <p:nvPr/>
        </p:nvSpPr>
        <p:spPr>
          <a:xfrm>
            <a:off x="4343401" y="5516558"/>
            <a:ext cx="652743" cy="369332"/>
          </a:xfrm>
          <a:prstGeom prst="rect">
            <a:avLst/>
          </a:prstGeom>
          <a:noFill/>
        </p:spPr>
        <p:txBody>
          <a:bodyPr wrap="none" rtlCol="0">
            <a:spAutoFit/>
          </a:bodyPr>
          <a:lstStyle/>
          <a:p>
            <a:r>
              <a:rPr lang="en-IN" dirty="0"/>
              <a:t>8564</a:t>
            </a:r>
            <a:endParaRPr lang="en-US" dirty="0"/>
          </a:p>
        </p:txBody>
      </p:sp>
      <p:sp>
        <p:nvSpPr>
          <p:cNvPr id="37" name="TextBox 36"/>
          <p:cNvSpPr txBox="1"/>
          <p:nvPr/>
        </p:nvSpPr>
        <p:spPr>
          <a:xfrm>
            <a:off x="6090389" y="5507033"/>
            <a:ext cx="652743" cy="369332"/>
          </a:xfrm>
          <a:prstGeom prst="rect">
            <a:avLst/>
          </a:prstGeom>
          <a:noFill/>
        </p:spPr>
        <p:txBody>
          <a:bodyPr wrap="none" rtlCol="0">
            <a:spAutoFit/>
          </a:bodyPr>
          <a:lstStyle/>
          <a:p>
            <a:r>
              <a:rPr lang="en-IN" dirty="0"/>
              <a:t>7541</a:t>
            </a:r>
            <a:endParaRPr lang="en-US" dirty="0"/>
          </a:p>
        </p:txBody>
      </p:sp>
      <p:sp>
        <p:nvSpPr>
          <p:cNvPr id="38" name="TextBox 37"/>
          <p:cNvSpPr txBox="1"/>
          <p:nvPr/>
        </p:nvSpPr>
        <p:spPr>
          <a:xfrm>
            <a:off x="8020051" y="5541442"/>
            <a:ext cx="652743" cy="369332"/>
          </a:xfrm>
          <a:prstGeom prst="rect">
            <a:avLst/>
          </a:prstGeom>
          <a:noFill/>
        </p:spPr>
        <p:txBody>
          <a:bodyPr wrap="none" rtlCol="0">
            <a:spAutoFit/>
          </a:bodyPr>
          <a:lstStyle/>
          <a:p>
            <a:r>
              <a:rPr lang="en-IN" dirty="0"/>
              <a:t>1254</a:t>
            </a:r>
            <a:endParaRPr lang="en-US" dirty="0"/>
          </a:p>
        </p:txBody>
      </p:sp>
      <p:sp>
        <p:nvSpPr>
          <p:cNvPr id="39" name="TextBox 38"/>
          <p:cNvSpPr txBox="1"/>
          <p:nvPr/>
        </p:nvSpPr>
        <p:spPr>
          <a:xfrm>
            <a:off x="9380739" y="5507033"/>
            <a:ext cx="652743" cy="369332"/>
          </a:xfrm>
          <a:prstGeom prst="rect">
            <a:avLst/>
          </a:prstGeom>
          <a:noFill/>
        </p:spPr>
        <p:txBody>
          <a:bodyPr wrap="none" rtlCol="0">
            <a:spAutoFit/>
          </a:bodyPr>
          <a:lstStyle/>
          <a:p>
            <a:r>
              <a:rPr lang="en-IN" dirty="0"/>
              <a:t>3254</a:t>
            </a:r>
            <a:endParaRPr lang="en-US" dirty="0"/>
          </a:p>
        </p:txBody>
      </p:sp>
      <p:sp>
        <p:nvSpPr>
          <p:cNvPr id="40" name="TextBox 39"/>
          <p:cNvSpPr txBox="1"/>
          <p:nvPr/>
        </p:nvSpPr>
        <p:spPr>
          <a:xfrm>
            <a:off x="0" y="884735"/>
            <a:ext cx="5760000" cy="224676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2. [Initialize search for X]</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FIRST</a:t>
            </a:r>
          </a:p>
          <a:p>
            <a:r>
              <a:rPr lang="en-IN" sz="2000" b="1" dirty="0">
                <a:solidFill>
                  <a:schemeClr val="tx2"/>
                </a:solidFill>
                <a:latin typeface="Consolas" pitchFamily="49" charset="0"/>
                <a:cs typeface="Consolas" pitchFamily="49" charset="0"/>
              </a:rPr>
              <a:t>3. [Find X]</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a:t>
            </a:r>
            <a:r>
              <a:rPr lang="en-IN" sz="2000" dirty="0">
                <a:latin typeface="Consolas" pitchFamily="49" charset="0"/>
                <a:cs typeface="Consolas" pitchFamily="49" charset="0"/>
              </a:rPr>
              <a:t> thru step-5 </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while</a:t>
            </a:r>
            <a:r>
              <a:rPr lang="en-IN" sz="2000" dirty="0">
                <a:latin typeface="Consolas" pitchFamily="49" charset="0"/>
                <a:cs typeface="Consolas" pitchFamily="49" charset="0"/>
              </a:rPr>
              <a:t> TEMP-&gt;NEXT-&gt;INFO ≠ X and </a:t>
            </a:r>
          </a:p>
          <a:p>
            <a:r>
              <a:rPr lang="en-IN" sz="2000" dirty="0">
                <a:latin typeface="Consolas" pitchFamily="49" charset="0"/>
                <a:cs typeface="Consolas" pitchFamily="49" charset="0"/>
              </a:rPr>
              <a:t>     TEMP-&gt;NEXT ≠ NULL</a:t>
            </a:r>
          </a:p>
          <a:p>
            <a:r>
              <a:rPr lang="en-IN" sz="2000" b="1" dirty="0">
                <a:solidFill>
                  <a:schemeClr val="tx2"/>
                </a:solidFill>
                <a:latin typeface="Consolas" pitchFamily="49" charset="0"/>
                <a:cs typeface="Consolas" pitchFamily="49" charset="0"/>
              </a:rPr>
              <a:t>     </a:t>
            </a:r>
            <a:r>
              <a:rPr lang="en-IN" sz="2000" dirty="0">
                <a:latin typeface="Consolas" pitchFamily="49" charset="0"/>
                <a:cs typeface="Consolas" pitchFamily="49" charset="0"/>
                <a:sym typeface="Wingdings" pitchFamily="2" charset="2"/>
              </a:rPr>
              <a:t>TEMP  TEMP-&gt;NEXT</a:t>
            </a:r>
            <a:endParaRPr lang="en-IN" sz="2000" dirty="0">
              <a:latin typeface="Consolas" pitchFamily="49" charset="0"/>
              <a:cs typeface="Consolas" pitchFamily="49" charset="0"/>
            </a:endParaRPr>
          </a:p>
        </p:txBody>
      </p:sp>
      <p:sp>
        <p:nvSpPr>
          <p:cNvPr id="41" name="TextBox 40"/>
          <p:cNvSpPr txBox="1"/>
          <p:nvPr/>
        </p:nvSpPr>
        <p:spPr>
          <a:xfrm>
            <a:off x="5845199" y="662502"/>
            <a:ext cx="6330215" cy="421653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4. [End of the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TEMP-&gt;INFO ≠ X</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write (‘</a:t>
            </a:r>
            <a:r>
              <a:rPr lang="en-IN" sz="2000" b="1" dirty="0">
                <a:latin typeface="Consolas" pitchFamily="49" charset="0"/>
                <a:cs typeface="Consolas" pitchFamily="49" charset="0"/>
              </a:rPr>
              <a:t>Node not found</a:t>
            </a:r>
            <a:r>
              <a:rPr lang="en-IN" sz="2000" dirty="0">
                <a:latin typeface="Consolas" pitchFamily="49" charset="0"/>
                <a:cs typeface="Consolas" pitchFamily="49" charset="0"/>
              </a:rPr>
              <a:t>’)</a:t>
            </a:r>
          </a:p>
          <a:p>
            <a:r>
              <a:rPr lang="en-IN" sz="2000" dirty="0">
                <a:latin typeface="Consolas" pitchFamily="49" charset="0"/>
                <a:cs typeface="Consolas" pitchFamily="49" charset="0"/>
              </a:rPr>
              <a:t>       	Return</a:t>
            </a:r>
          </a:p>
          <a:p>
            <a:r>
              <a:rPr lang="en-IN" sz="2000" b="1" dirty="0">
                <a:solidFill>
                  <a:schemeClr val="tx2"/>
                </a:solidFill>
                <a:latin typeface="Consolas" pitchFamily="49" charset="0"/>
                <a:cs typeface="Consolas" pitchFamily="49" charset="0"/>
              </a:rPr>
              <a:t>5. [Delete X]</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X = FIRST-&gt;INFO</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itchFamily="2" charset="2"/>
              </a:rPr>
              <a:t> FIRST</a:t>
            </a:r>
            <a:endParaRPr lang="en-IN" sz="2000" dirty="0">
              <a:latin typeface="Consolas" pitchFamily="49" charset="0"/>
              <a:cs typeface="Consolas" pitchFamily="49" charset="0"/>
            </a:endParaRP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FIRST-&gt;NEXT</a:t>
            </a:r>
          </a:p>
          <a:p>
            <a:r>
              <a:rPr lang="en-IN" sz="2000" dirty="0">
                <a:latin typeface="Consolas" pitchFamily="49" charset="0"/>
                <a:cs typeface="Consolas" pitchFamily="49" charset="0"/>
              </a:rPr>
              <a:t>         </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ELSE</a:t>
            </a:r>
            <a:r>
              <a:rPr lang="en-IN" sz="2000" dirty="0">
                <a:latin typeface="Consolas" pitchFamily="49" charset="0"/>
                <a:cs typeface="Consolas" pitchFamily="49" charset="0"/>
              </a:rPr>
              <a:t> TEMP2 </a:t>
            </a:r>
            <a:r>
              <a:rPr lang="en-IN" sz="2000" dirty="0">
                <a:latin typeface="Consolas" pitchFamily="49" charset="0"/>
                <a:cs typeface="Consolas" pitchFamily="49" charset="0"/>
                <a:sym typeface="Wingdings" panose="05000000000000000000" pitchFamily="2" charset="2"/>
              </a:rPr>
              <a:t> TEMPNEXT</a:t>
            </a:r>
            <a:r>
              <a:rPr lang="en-IN" sz="2000" dirty="0">
                <a:latin typeface="Consolas" pitchFamily="49" charset="0"/>
                <a:cs typeface="Consolas" pitchFamily="49" charset="0"/>
              </a:rPr>
              <a:t> </a:t>
            </a:r>
          </a:p>
          <a:p>
            <a:r>
              <a:rPr lang="en-IN" sz="2000" dirty="0">
                <a:latin typeface="Consolas" pitchFamily="49" charset="0"/>
                <a:cs typeface="Consolas" pitchFamily="49" charset="0"/>
              </a:rPr>
              <a:t>         TEMP-&gt;NEXT </a:t>
            </a:r>
            <a:r>
              <a:rPr lang="en-IN" sz="2000" dirty="0">
                <a:latin typeface="Consolas" pitchFamily="49" charset="0"/>
                <a:cs typeface="Consolas" pitchFamily="49" charset="0"/>
                <a:sym typeface="Wingdings" pitchFamily="2" charset="2"/>
              </a:rPr>
              <a:t> TEMP-&gt;NEXT-&gt;NEXT</a:t>
            </a:r>
            <a:endParaRPr lang="en-IN" sz="2000" b="1" dirty="0">
              <a:solidFill>
                <a:schemeClr val="tx2">
                  <a:lumMod val="60000"/>
                  <a:lumOff val="40000"/>
                </a:schemeClr>
              </a:solidFill>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6. [Free Deleted Node]</a:t>
            </a:r>
          </a:p>
          <a:p>
            <a:r>
              <a:rPr lang="en-IN" sz="2000" dirty="0">
                <a:latin typeface="Consolas" pitchFamily="49" charset="0"/>
                <a:cs typeface="Consolas" pitchFamily="49" charset="0"/>
              </a:rPr>
              <a:t>    Free (TEMP2)</a:t>
            </a:r>
          </a:p>
        </p:txBody>
      </p:sp>
      <p:grpSp>
        <p:nvGrpSpPr>
          <p:cNvPr id="49" name="Group 48"/>
          <p:cNvGrpSpPr/>
          <p:nvPr/>
        </p:nvGrpSpPr>
        <p:grpSpPr>
          <a:xfrm>
            <a:off x="2117268" y="4428565"/>
            <a:ext cx="729688" cy="545068"/>
            <a:chOff x="592767" y="4495800"/>
            <a:chExt cx="729688" cy="545068"/>
          </a:xfrm>
        </p:grpSpPr>
        <p:sp>
          <p:nvSpPr>
            <p:cNvPr id="29" name="TextBox 28"/>
            <p:cNvSpPr txBox="1"/>
            <p:nvPr/>
          </p:nvSpPr>
          <p:spPr>
            <a:xfrm>
              <a:off x="592767" y="4495800"/>
              <a:ext cx="729688" cy="369332"/>
            </a:xfrm>
            <a:prstGeom prst="rect">
              <a:avLst/>
            </a:prstGeom>
            <a:noFill/>
          </p:spPr>
          <p:txBody>
            <a:bodyPr wrap="none" rtlCol="0">
              <a:spAutoFit/>
            </a:bodyPr>
            <a:lstStyle/>
            <a:p>
              <a:pPr algn="ctr"/>
              <a:r>
                <a:rPr lang="en-IN" b="1" dirty="0">
                  <a:solidFill>
                    <a:srgbClr val="C00000"/>
                  </a:solidFill>
                </a:rPr>
                <a:t>TEMP</a:t>
              </a:r>
              <a:endParaRPr lang="en-US" b="1" dirty="0">
                <a:solidFill>
                  <a:srgbClr val="C00000"/>
                </a:solidFill>
              </a:endParaRPr>
            </a:p>
          </p:txBody>
        </p:sp>
        <p:cxnSp>
          <p:nvCxnSpPr>
            <p:cNvPr id="48" name="Straight Arrow Connector 47"/>
            <p:cNvCxnSpPr>
              <a:stCxn id="29" idx="2"/>
              <a:endCxn id="5" idx="0"/>
            </p:cNvCxnSpPr>
            <p:nvPr/>
          </p:nvCxnSpPr>
          <p:spPr>
            <a:xfrm>
              <a:off x="957611" y="4865132"/>
              <a:ext cx="501" cy="1757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59060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63" presetClass="path" presetSubtype="0" accel="50000" decel="50000" fill="hold" nodeType="clickEffect">
                                  <p:stCondLst>
                                    <p:cond delay="0"/>
                                  </p:stCondLst>
                                  <p:childTnLst>
                                    <p:animMotion origin="layout" path="M 4.375E-6 3.33333E-6 L 0.10078 3.33333E-6 " pathEditMode="relative" rAng="0" ptsTypes="AA">
                                      <p:cBhvr>
                                        <p:cTn id="62" dur="2000" fill="hold"/>
                                        <p:tgtEl>
                                          <p:spTgt spid="49"/>
                                        </p:tgtEl>
                                        <p:attrNameLst>
                                          <p:attrName>ppt_x</p:attrName>
                                          <p:attrName>ppt_y</p:attrName>
                                        </p:attrNameLst>
                                      </p:cBhvr>
                                      <p:rCtr x="5039" y="0"/>
                                    </p:animMotion>
                                  </p:childTnLst>
                                </p:cTn>
                              </p:par>
                            </p:childTnLst>
                          </p:cTn>
                        </p:par>
                      </p:childTnLst>
                    </p:cTn>
                  </p:par>
                  <p:par>
                    <p:cTn id="63" fill="hold">
                      <p:stCondLst>
                        <p:cond delay="indefinite"/>
                      </p:stCondLst>
                      <p:childTnLst>
                        <p:par>
                          <p:cTn id="64" fill="hold">
                            <p:stCondLst>
                              <p:cond delay="0"/>
                            </p:stCondLst>
                            <p:childTnLst>
                              <p:par>
                                <p:cTn id="65" presetID="63" presetClass="path" presetSubtype="0" accel="50000" decel="50000" fill="hold" nodeType="clickEffect">
                                  <p:stCondLst>
                                    <p:cond delay="0"/>
                                  </p:stCondLst>
                                  <p:childTnLst>
                                    <p:animMotion origin="layout" path="M 0.10078 3.33333E-6 L 0.21002 0.00139 " pathEditMode="relative" rAng="0" ptsTypes="AA">
                                      <p:cBhvr>
                                        <p:cTn id="66" dur="2000" fill="hold"/>
                                        <p:tgtEl>
                                          <p:spTgt spid="49"/>
                                        </p:tgtEl>
                                        <p:attrNameLst>
                                          <p:attrName>ppt_x</p:attrName>
                                          <p:attrName>ppt_y</p:attrName>
                                        </p:attrNameLst>
                                      </p:cBhvr>
                                      <p:rCtr x="5456" y="69"/>
                                    </p:animMotion>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12"/>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23"/>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24"/>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4" grpId="0"/>
      <p:bldP spid="35" grpId="0"/>
      <p:bldP spid="36" grpId="0"/>
      <p:bldP spid="37" grpId="0"/>
      <p:bldP spid="37" grpId="1"/>
      <p:bldP spid="38" grpId="0"/>
      <p:bldP spid="39" grpId="0"/>
      <p:bldP spid="40" grpId="0" animBg="1"/>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COUNT_NODES(FIRST)</a:t>
            </a:r>
          </a:p>
        </p:txBody>
      </p:sp>
      <p:sp>
        <p:nvSpPr>
          <p:cNvPr id="3" name="Content Placeholder 2"/>
          <p:cNvSpPr>
            <a:spLocks noGrp="1"/>
          </p:cNvSpPr>
          <p:nvPr>
            <p:ph idx="1"/>
          </p:nvPr>
        </p:nvSpPr>
        <p:spPr>
          <a:xfrm>
            <a:off x="131180" y="863444"/>
            <a:ext cx="11929641" cy="2281821"/>
          </a:xfrm>
        </p:spPr>
        <p:txBody>
          <a:bodyPr/>
          <a:lstStyle/>
          <a:p>
            <a:r>
              <a:rPr lang="en-IN" dirty="0"/>
              <a:t>This function </a:t>
            </a:r>
            <a:r>
              <a:rPr lang="en-IN" b="1" dirty="0">
                <a:solidFill>
                  <a:srgbClr val="C00000"/>
                </a:solidFill>
              </a:rPr>
              <a:t>counts</a:t>
            </a:r>
            <a:r>
              <a:rPr lang="en-IN" dirty="0">
                <a:solidFill>
                  <a:srgbClr val="C00000"/>
                </a:solidFill>
              </a:rPr>
              <a:t> </a:t>
            </a:r>
            <a:r>
              <a:rPr lang="en-IN" dirty="0"/>
              <a:t>number of nodes</a:t>
            </a:r>
            <a:r>
              <a:rPr lang="en-IN" b="1" dirty="0">
                <a:solidFill>
                  <a:srgbClr val="FF0000"/>
                </a:solidFill>
              </a:rPr>
              <a:t> </a:t>
            </a:r>
            <a:r>
              <a:rPr lang="en-IN" dirty="0"/>
              <a:t>of the linked list and returns </a:t>
            </a:r>
            <a:r>
              <a:rPr lang="en-IN" b="1" dirty="0">
                <a:solidFill>
                  <a:srgbClr val="C00000"/>
                </a:solidFill>
              </a:rPr>
              <a:t>COUNT</a:t>
            </a:r>
            <a:r>
              <a:rPr lang="en-IN" dirty="0"/>
              <a:t>. </a:t>
            </a:r>
          </a:p>
          <a:p>
            <a:r>
              <a:rPr lang="en-IN" b="1" dirty="0">
                <a:solidFill>
                  <a:srgbClr val="C00000"/>
                </a:solidFill>
              </a:rPr>
              <a:t>FIRST</a:t>
            </a:r>
            <a:r>
              <a:rPr lang="en-IN" dirty="0">
                <a:solidFill>
                  <a:srgbClr val="C00000"/>
                </a:solidFill>
              </a:rPr>
              <a:t>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NEXT</a:t>
            </a:r>
            <a:r>
              <a:rPr lang="en-IN" dirty="0">
                <a:solidFill>
                  <a:srgbClr val="C00000"/>
                </a:solidFill>
              </a:rPr>
              <a:t> </a:t>
            </a:r>
            <a:r>
              <a:rPr lang="en-IN" dirty="0"/>
              <a:t>fields. </a:t>
            </a:r>
          </a:p>
          <a:p>
            <a:r>
              <a:rPr lang="en-IN" b="1" dirty="0">
                <a:solidFill>
                  <a:srgbClr val="C00000"/>
                </a:solidFill>
              </a:rPr>
              <a:t>TEMP </a:t>
            </a:r>
            <a:r>
              <a:rPr lang="en-IN" dirty="0"/>
              <a:t>is a Temporary pointer variable.</a:t>
            </a:r>
          </a:p>
          <a:p>
            <a:endParaRPr lang="en-IN" dirty="0"/>
          </a:p>
          <a:p>
            <a:endParaRPr lang="en-US" dirty="0"/>
          </a:p>
        </p:txBody>
      </p:sp>
      <p:sp>
        <p:nvSpPr>
          <p:cNvPr id="4" name="TextBox 3"/>
          <p:cNvSpPr txBox="1"/>
          <p:nvPr/>
        </p:nvSpPr>
        <p:spPr>
          <a:xfrm>
            <a:off x="407895" y="3199053"/>
            <a:ext cx="5760000" cy="246221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[Is list Empty?]</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latin typeface="Consolas" pitchFamily="49" charset="0"/>
                <a:cs typeface="Consolas" pitchFamily="49" charset="0"/>
              </a:rPr>
              <a:t>    FIRST = NULL</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latin typeface="Consolas" pitchFamily="49" charset="0"/>
                <a:cs typeface="Consolas" pitchFamily="49" charset="0"/>
              </a:rPr>
              <a:t>  COUNT </a:t>
            </a:r>
            <a:r>
              <a:rPr lang="en-IN" sz="2200" dirty="0">
                <a:latin typeface="Consolas" pitchFamily="49" charset="0"/>
                <a:cs typeface="Consolas" pitchFamily="49" charset="0"/>
                <a:sym typeface="Wingdings" panose="05000000000000000000" pitchFamily="2" charset="2"/>
              </a:rPr>
              <a:t> 0</a:t>
            </a:r>
            <a:endParaRPr lang="en-IN" sz="2200" dirty="0">
              <a:latin typeface="Consolas" pitchFamily="49" charset="0"/>
              <a:cs typeface="Consolas" pitchFamily="49" charset="0"/>
            </a:endParaRPr>
          </a:p>
          <a:p>
            <a:r>
              <a:rPr lang="en-IN" sz="2200" dirty="0">
                <a:latin typeface="Consolas" pitchFamily="49" charset="0"/>
                <a:cs typeface="Consolas" pitchFamily="49" charset="0"/>
              </a:rPr>
              <a:t>         Return(COUNT)</a:t>
            </a:r>
            <a:endParaRPr lang="en-IN" sz="2200" b="1" dirty="0">
              <a:solidFill>
                <a:schemeClr val="tx2">
                  <a:lumMod val="60000"/>
                  <a:lumOff val="40000"/>
                </a:schemeClr>
              </a:solidFill>
              <a:latin typeface="Consolas" pitchFamily="49" charset="0"/>
              <a:cs typeface="Consolas" pitchFamily="49" charset="0"/>
            </a:endParaRPr>
          </a:p>
          <a:p>
            <a:pPr marL="444500" indent="-444500"/>
            <a:r>
              <a:rPr lang="en-IN" sz="2200" b="1" dirty="0">
                <a:solidFill>
                  <a:schemeClr val="tx2"/>
                </a:solidFill>
                <a:latin typeface="Consolas" pitchFamily="49" charset="0"/>
                <a:cs typeface="Consolas" pitchFamily="49" charset="0"/>
              </a:rPr>
              <a:t>2. [Initialize loop for a last node to update count]</a:t>
            </a:r>
          </a:p>
          <a:p>
            <a:r>
              <a:rPr lang="en-IN" sz="2200" dirty="0">
                <a:latin typeface="Consolas" pitchFamily="49" charset="0"/>
                <a:cs typeface="Consolas" pitchFamily="49" charset="0"/>
              </a:rPr>
              <a:t>    TEMP </a:t>
            </a:r>
            <a:r>
              <a:rPr lang="en-IN" sz="2200" dirty="0">
                <a:latin typeface="Consolas" pitchFamily="49" charset="0"/>
                <a:cs typeface="Consolas" pitchFamily="49" charset="0"/>
                <a:sym typeface="Wingdings" pitchFamily="2" charset="2"/>
              </a:rPr>
              <a:t> </a:t>
            </a:r>
            <a:r>
              <a:rPr lang="en-IN" sz="2200" dirty="0">
                <a:latin typeface="Consolas" pitchFamily="49" charset="0"/>
                <a:cs typeface="Consolas" pitchFamily="49" charset="0"/>
              </a:rPr>
              <a:t>FIRST</a:t>
            </a:r>
          </a:p>
        </p:txBody>
      </p:sp>
      <p:sp>
        <p:nvSpPr>
          <p:cNvPr id="5" name="Rectangle 4"/>
          <p:cNvSpPr/>
          <p:nvPr/>
        </p:nvSpPr>
        <p:spPr>
          <a:xfrm>
            <a:off x="6241081" y="3199053"/>
            <a:ext cx="5760000" cy="2123658"/>
          </a:xfrm>
          <a:prstGeom prst="rect">
            <a:avLst/>
          </a:prstGeom>
          <a:solidFill>
            <a:schemeClr val="bg1">
              <a:lumMod val="95000"/>
            </a:schemeClr>
          </a:solidFill>
        </p:spPr>
        <p:txBody>
          <a:bodyPr>
            <a:spAutoFit/>
          </a:bodyPr>
          <a:lstStyle/>
          <a:p>
            <a:r>
              <a:rPr lang="en-IN" sz="2200" b="1" dirty="0">
                <a:solidFill>
                  <a:schemeClr val="tx2"/>
                </a:solidFill>
                <a:latin typeface="Consolas" pitchFamily="49" charset="0"/>
                <a:cs typeface="Consolas" pitchFamily="49" charset="0"/>
              </a:rPr>
              <a:t>3. [Go for end of list]</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Repeat</a:t>
            </a:r>
            <a:r>
              <a:rPr lang="en-IN" sz="2200" dirty="0">
                <a:solidFill>
                  <a:schemeClr val="tx2">
                    <a:lumMod val="75000"/>
                  </a:schemeClr>
                </a:solidFill>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while</a:t>
            </a:r>
            <a:r>
              <a:rPr lang="en-IN" sz="2200" dirty="0">
                <a:latin typeface="Consolas" pitchFamily="49" charset="0"/>
                <a:cs typeface="Consolas" pitchFamily="49" charset="0"/>
              </a:rPr>
              <a:t> TEMP-&gt;NEXT ≠ NULL</a:t>
            </a:r>
          </a:p>
          <a:p>
            <a:r>
              <a:rPr lang="en-IN" sz="2200" dirty="0">
                <a:latin typeface="Consolas" pitchFamily="49" charset="0"/>
                <a:cs typeface="Consolas" pitchFamily="49" charset="0"/>
              </a:rPr>
              <a:t> 	TEMP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TEMP-&gt;NEXT 	</a:t>
            </a:r>
          </a:p>
          <a:p>
            <a:r>
              <a:rPr lang="en-IN" sz="2200" dirty="0">
                <a:latin typeface="Consolas" pitchFamily="49" charset="0"/>
                <a:cs typeface="Consolas" pitchFamily="49" charset="0"/>
              </a:rPr>
              <a:t>      COUNT </a:t>
            </a:r>
            <a:r>
              <a:rPr lang="en-IN" sz="2200" dirty="0">
                <a:latin typeface="Consolas" pitchFamily="49" charset="0"/>
                <a:cs typeface="Consolas" pitchFamily="49" charset="0"/>
                <a:sym typeface="Wingdings" panose="05000000000000000000" pitchFamily="2" charset="2"/>
              </a:rPr>
              <a:t> COUNT + 1</a:t>
            </a:r>
            <a:endParaRPr lang="en-IN" sz="2200" dirty="0">
              <a:latin typeface="Consolas" pitchFamily="49" charset="0"/>
              <a:cs typeface="Consolas" pitchFamily="49" charset="0"/>
            </a:endParaRPr>
          </a:p>
          <a:p>
            <a:r>
              <a:rPr lang="en-IN" sz="2200" b="1" dirty="0">
                <a:solidFill>
                  <a:schemeClr val="tx2"/>
                </a:solidFill>
                <a:latin typeface="Consolas" pitchFamily="49" charset="0"/>
                <a:cs typeface="Consolas" pitchFamily="49" charset="0"/>
              </a:rPr>
              <a:t>4. [Return Count]</a:t>
            </a:r>
          </a:p>
          <a:p>
            <a:r>
              <a:rPr lang="en-IN" sz="2200" dirty="0">
                <a:latin typeface="Consolas" pitchFamily="49" charset="0"/>
                <a:cs typeface="Consolas" pitchFamily="49" charset="0"/>
              </a:rPr>
              <a:t>    Return (COUNT)</a:t>
            </a:r>
          </a:p>
        </p:txBody>
      </p:sp>
    </p:spTree>
    <p:extLst>
      <p:ext uri="{BB962C8B-B14F-4D97-AF65-F5344CB8AC3E}">
        <p14:creationId xmlns:p14="http://schemas.microsoft.com/office/powerpoint/2010/main" val="1157030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 end="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2" end="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4" end="4"/>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uiExpand="1" build="allAtOnce"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COPY (FIRST)</a:t>
            </a:r>
          </a:p>
        </p:txBody>
      </p:sp>
      <p:sp>
        <p:nvSpPr>
          <p:cNvPr id="6" name="Content Placeholder 2"/>
          <p:cNvSpPr>
            <a:spLocks noGrp="1"/>
          </p:cNvSpPr>
          <p:nvPr>
            <p:ph idx="1"/>
          </p:nvPr>
        </p:nvSpPr>
        <p:spPr>
          <a:xfrm>
            <a:off x="131180" y="863444"/>
            <a:ext cx="12060820" cy="5590565"/>
          </a:xfrm>
        </p:spPr>
        <p:txBody>
          <a:bodyPr>
            <a:normAutofit/>
          </a:bodyPr>
          <a:lstStyle/>
          <a:p>
            <a:r>
              <a:rPr lang="en-IN" dirty="0"/>
              <a:t>This function </a:t>
            </a:r>
            <a:r>
              <a:rPr lang="en-IN" b="1" dirty="0">
                <a:solidFill>
                  <a:srgbClr val="C00000"/>
                </a:solidFill>
              </a:rPr>
              <a:t>Copy</a:t>
            </a:r>
            <a:r>
              <a:rPr lang="en-IN" dirty="0">
                <a:solidFill>
                  <a:srgbClr val="C00000"/>
                </a:solidFill>
              </a:rPr>
              <a:t> </a:t>
            </a:r>
            <a:r>
              <a:rPr lang="en-IN" dirty="0"/>
              <a:t>a Link List and creates new Linked List</a:t>
            </a:r>
          </a:p>
          <a:p>
            <a:r>
              <a:rPr lang="en-IN" dirty="0"/>
              <a:t>This function returns address of first node of newly created linked list. </a:t>
            </a:r>
          </a:p>
          <a:p>
            <a:r>
              <a:rPr lang="en-IN" dirty="0"/>
              <a:t>The </a:t>
            </a:r>
            <a:r>
              <a:rPr lang="en-IN" b="1" dirty="0"/>
              <a:t>new list </a:t>
            </a:r>
            <a:r>
              <a:rPr lang="en-IN" dirty="0"/>
              <a:t>is to contain </a:t>
            </a:r>
            <a:r>
              <a:rPr lang="en-IN" b="1" dirty="0"/>
              <a:t>nodes</a:t>
            </a:r>
            <a:r>
              <a:rPr lang="en-IN" dirty="0"/>
              <a:t> whose </a:t>
            </a:r>
            <a:r>
              <a:rPr lang="en-IN" b="1" dirty="0">
                <a:solidFill>
                  <a:srgbClr val="C00000"/>
                </a:solidFill>
              </a:rPr>
              <a:t>information</a:t>
            </a:r>
            <a:r>
              <a:rPr lang="en-IN" dirty="0">
                <a:solidFill>
                  <a:srgbClr val="C00000"/>
                </a:solidFill>
              </a:rPr>
              <a:t> </a:t>
            </a:r>
            <a:r>
              <a:rPr lang="en-IN" dirty="0"/>
              <a:t>and </a:t>
            </a:r>
            <a:r>
              <a:rPr lang="en-IN" b="1" dirty="0">
                <a:solidFill>
                  <a:srgbClr val="C00000"/>
                </a:solidFill>
              </a:rPr>
              <a:t>pointer</a:t>
            </a:r>
            <a:r>
              <a:rPr lang="en-IN" dirty="0">
                <a:solidFill>
                  <a:srgbClr val="C00000"/>
                </a:solidFill>
              </a:rPr>
              <a:t> </a:t>
            </a:r>
            <a:r>
              <a:rPr lang="en-IN" dirty="0"/>
              <a:t>fields are denoted by </a:t>
            </a:r>
            <a:r>
              <a:rPr lang="en-IN" b="1" dirty="0">
                <a:solidFill>
                  <a:srgbClr val="C00000"/>
                </a:solidFill>
              </a:rPr>
              <a:t>FIELD</a:t>
            </a:r>
            <a:r>
              <a:rPr lang="en-IN" dirty="0">
                <a:solidFill>
                  <a:srgbClr val="C00000"/>
                </a:solidFill>
              </a:rPr>
              <a:t> </a:t>
            </a:r>
            <a:r>
              <a:rPr lang="en-IN" dirty="0"/>
              <a:t>and </a:t>
            </a:r>
            <a:r>
              <a:rPr lang="en-IN" b="1" dirty="0">
                <a:solidFill>
                  <a:srgbClr val="C00000"/>
                </a:solidFill>
              </a:rPr>
              <a:t>PTR</a:t>
            </a:r>
            <a:r>
              <a:rPr lang="en-IN" dirty="0"/>
              <a:t>, respectively. </a:t>
            </a:r>
          </a:p>
          <a:p>
            <a:r>
              <a:rPr lang="en-IN" dirty="0"/>
              <a:t>The address of the </a:t>
            </a:r>
            <a:r>
              <a:rPr lang="en-IN" b="1" dirty="0">
                <a:solidFill>
                  <a:srgbClr val="C00000"/>
                </a:solidFill>
              </a:rPr>
              <a:t>first</a:t>
            </a:r>
            <a:r>
              <a:rPr lang="en-IN" b="1" dirty="0">
                <a:solidFill>
                  <a:srgbClr val="FF0000"/>
                </a:solidFill>
              </a:rPr>
              <a:t> </a:t>
            </a:r>
            <a:r>
              <a:rPr lang="en-IN" b="1" dirty="0">
                <a:solidFill>
                  <a:srgbClr val="C00000"/>
                </a:solidFill>
              </a:rPr>
              <a:t>node</a:t>
            </a:r>
            <a:r>
              <a:rPr lang="en-IN" b="1" dirty="0">
                <a:solidFill>
                  <a:srgbClr val="FF0000"/>
                </a:solidFill>
              </a:rPr>
              <a:t> </a:t>
            </a:r>
            <a:r>
              <a:rPr lang="en-IN" dirty="0"/>
              <a:t>in the newly created list is to be placed in </a:t>
            </a:r>
            <a:r>
              <a:rPr lang="en-IN" b="1" dirty="0">
                <a:solidFill>
                  <a:srgbClr val="C00000"/>
                </a:solidFill>
              </a:rPr>
              <a:t>FIRST2.</a:t>
            </a:r>
            <a:r>
              <a:rPr lang="en-IN" sz="1800" b="1" dirty="0">
                <a:solidFill>
                  <a:srgbClr val="C00000"/>
                </a:solidFill>
              </a:rPr>
              <a:t>(i.e. second </a:t>
            </a:r>
            <a:r>
              <a:rPr lang="en-IN" sz="1800" b="1" dirty="0" err="1">
                <a:solidFill>
                  <a:srgbClr val="C00000"/>
                </a:solidFill>
              </a:rPr>
              <a:t>linklist</a:t>
            </a:r>
            <a:r>
              <a:rPr lang="en-IN" sz="1800" b="1" dirty="0">
                <a:solidFill>
                  <a:srgbClr val="C00000"/>
                </a:solidFill>
              </a:rPr>
              <a:t>)</a:t>
            </a:r>
            <a:endParaRPr lang="en-US" sz="2800" b="1" dirty="0">
              <a:solidFill>
                <a:srgbClr val="C00000"/>
              </a:solidFill>
            </a:endParaRPr>
          </a:p>
          <a:p>
            <a:r>
              <a:rPr lang="en-IN" b="1" dirty="0">
                <a:solidFill>
                  <a:srgbClr val="C00000"/>
                </a:solidFill>
              </a:rPr>
              <a:t>FIRST</a:t>
            </a:r>
            <a:r>
              <a:rPr lang="en-IN" dirty="0">
                <a:solidFill>
                  <a:srgbClr val="C00000"/>
                </a:solidFill>
              </a:rPr>
              <a:t>1 </a:t>
            </a:r>
            <a:r>
              <a:rPr lang="en-IN" dirty="0"/>
              <a:t>is a </a:t>
            </a:r>
            <a:r>
              <a:rPr lang="en-IN" b="1" dirty="0"/>
              <a:t>pointer to the first element</a:t>
            </a:r>
            <a:r>
              <a:rPr lang="en-IN" dirty="0"/>
              <a:t> of a Singly linked linear list.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NEXT</a:t>
            </a:r>
            <a:r>
              <a:rPr lang="en-IN" dirty="0">
                <a:solidFill>
                  <a:srgbClr val="C00000"/>
                </a:solidFill>
              </a:rPr>
              <a:t> </a:t>
            </a:r>
            <a:r>
              <a:rPr lang="en-IN" dirty="0"/>
              <a:t>fields. </a:t>
            </a:r>
          </a:p>
          <a:p>
            <a:r>
              <a:rPr lang="en-IN" b="1" dirty="0">
                <a:solidFill>
                  <a:srgbClr val="C00000"/>
                </a:solidFill>
              </a:rPr>
              <a:t>NEW, TEMP1</a:t>
            </a:r>
            <a:r>
              <a:rPr lang="en-IN" b="1" dirty="0">
                <a:solidFill>
                  <a:srgbClr val="FF0000"/>
                </a:solidFill>
              </a:rPr>
              <a:t> </a:t>
            </a:r>
            <a:r>
              <a:rPr lang="en-IN" b="1" dirty="0"/>
              <a:t>and</a:t>
            </a:r>
            <a:r>
              <a:rPr lang="en-IN" b="1" dirty="0">
                <a:solidFill>
                  <a:srgbClr val="FF0000"/>
                </a:solidFill>
              </a:rPr>
              <a:t> </a:t>
            </a:r>
            <a:r>
              <a:rPr lang="en-IN" b="1" dirty="0">
                <a:solidFill>
                  <a:srgbClr val="C00000"/>
                </a:solidFill>
              </a:rPr>
              <a:t>TEMP2</a:t>
            </a:r>
            <a:r>
              <a:rPr lang="en-IN" dirty="0">
                <a:solidFill>
                  <a:srgbClr val="C00000"/>
                </a:solidFill>
              </a:rPr>
              <a:t> </a:t>
            </a:r>
            <a:r>
              <a:rPr lang="en-IN" dirty="0"/>
              <a:t>are temporary pointer variables. </a:t>
            </a:r>
          </a:p>
          <a:p>
            <a:endParaRPr lang="en-US" dirty="0"/>
          </a:p>
        </p:txBody>
      </p:sp>
    </p:spTree>
    <p:extLst>
      <p:ext uri="{BB962C8B-B14F-4D97-AF65-F5344CB8AC3E}">
        <p14:creationId xmlns:p14="http://schemas.microsoft.com/office/powerpoint/2010/main" val="2713793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COPY (FIRST)</a:t>
            </a:r>
          </a:p>
        </p:txBody>
      </p:sp>
      <p:sp>
        <p:nvSpPr>
          <p:cNvPr id="4" name="TextBox 3"/>
          <p:cNvSpPr txBox="1"/>
          <p:nvPr/>
        </p:nvSpPr>
        <p:spPr>
          <a:xfrm>
            <a:off x="233081" y="710075"/>
            <a:ext cx="11721496" cy="5940088"/>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[Is Empty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FIRST1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Return(NULL)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ELSE  </a:t>
            </a:r>
          </a:p>
          <a:p>
            <a:r>
              <a:rPr lang="en-IN" sz="2000" b="1" dirty="0">
                <a:solidFill>
                  <a:schemeClr val="tx2"/>
                </a:solidFill>
                <a:latin typeface="Consolas" pitchFamily="49" charset="0"/>
                <a:cs typeface="Consolas" pitchFamily="49" charset="0"/>
              </a:rPr>
              <a:t>2. [Initialize Traversal and the first node is copied]</a:t>
            </a:r>
          </a:p>
          <a:p>
            <a:r>
              <a:rPr lang="en-IN" sz="2000" dirty="0">
                <a:latin typeface="Consolas" pitchFamily="49" charset="0"/>
                <a:cs typeface="Consolas" pitchFamily="49" charset="0"/>
              </a:rPr>
              <a:t>    TEMP1 </a:t>
            </a:r>
            <a:r>
              <a:rPr lang="en-IN" sz="2000" dirty="0">
                <a:latin typeface="Consolas" pitchFamily="49" charset="0"/>
                <a:cs typeface="Consolas" pitchFamily="49" charset="0"/>
                <a:sym typeface="Wingdings" pitchFamily="2" charset="2"/>
              </a:rPr>
              <a:t> FIRST1</a:t>
            </a:r>
          </a:p>
          <a:p>
            <a:r>
              <a:rPr lang="en-IN" sz="2000" dirty="0">
                <a:latin typeface="Consolas" pitchFamily="49" charset="0"/>
                <a:cs typeface="Consolas" pitchFamily="49" charset="0"/>
                <a:sym typeface="Wingdings" pitchFamily="2" charset="2"/>
              </a:rPr>
              <a:t>    </a:t>
            </a:r>
            <a:r>
              <a:rPr lang="en-IN" sz="2000" dirty="0">
                <a:highlight>
                  <a:srgbClr val="C0C0C0"/>
                </a:highlight>
                <a:latin typeface="Consolas" pitchFamily="49" charset="0"/>
                <a:cs typeface="Consolas" pitchFamily="49" charset="0"/>
              </a:rPr>
              <a:t>NEW </a:t>
            </a:r>
            <a:r>
              <a:rPr lang="en-IN" sz="2000" dirty="0">
                <a:highlight>
                  <a:srgbClr val="C0C0C0"/>
                </a:highlight>
                <a:latin typeface="Consolas" pitchFamily="49" charset="0"/>
                <a:cs typeface="Consolas" pitchFamily="49" charset="0"/>
                <a:sym typeface="Wingdings" panose="05000000000000000000" pitchFamily="2" charset="2"/>
              </a:rPr>
              <a:t> new node created</a:t>
            </a:r>
          </a:p>
          <a:p>
            <a:r>
              <a:rPr lang="en-IN" sz="2000" dirty="0">
                <a:latin typeface="Consolas" pitchFamily="49" charset="0"/>
                <a:cs typeface="Consolas" pitchFamily="49" charset="0"/>
              </a:rPr>
              <a:t>    </a:t>
            </a:r>
            <a:r>
              <a:rPr lang="en-IN" sz="2000" dirty="0">
                <a:highlight>
                  <a:srgbClr val="C0C0C0"/>
                </a:highlight>
                <a:latin typeface="Consolas" pitchFamily="49" charset="0"/>
                <a:cs typeface="Consolas" pitchFamily="49" charset="0"/>
              </a:rPr>
              <a:t>NEW-&gt;INFO </a:t>
            </a:r>
            <a:r>
              <a:rPr lang="en-IN" sz="2000" dirty="0">
                <a:highlight>
                  <a:srgbClr val="C0C0C0"/>
                </a:highlight>
                <a:latin typeface="Consolas" pitchFamily="49" charset="0"/>
                <a:cs typeface="Consolas" pitchFamily="49" charset="0"/>
                <a:sym typeface="Wingdings" panose="05000000000000000000" pitchFamily="2" charset="2"/>
              </a:rPr>
              <a:t> FIRST1-&gt;INFO</a:t>
            </a:r>
          </a:p>
          <a:p>
            <a:r>
              <a:rPr lang="en-IN" sz="2000" dirty="0">
                <a:latin typeface="Consolas" pitchFamily="49" charset="0"/>
                <a:cs typeface="Consolas" pitchFamily="49" charset="0"/>
                <a:sym typeface="Wingdings" panose="05000000000000000000" pitchFamily="2" charset="2"/>
              </a:rPr>
              <a:t>    FIRST2  NEW</a:t>
            </a:r>
            <a:endParaRPr lang="en-IN" sz="2000" dirty="0">
              <a:latin typeface="Consolas" pitchFamily="49" charset="0"/>
              <a:cs typeface="Consolas" pitchFamily="49" charset="0"/>
            </a:endParaRPr>
          </a:p>
          <a:p>
            <a:r>
              <a:rPr lang="en-IN" sz="2000" dirty="0">
                <a:latin typeface="Consolas" pitchFamily="49" charset="0"/>
                <a:cs typeface="Consolas" pitchFamily="49" charset="0"/>
                <a:sym typeface="Wingdings" pitchFamily="2" charset="2"/>
              </a:rPr>
              <a:t>    TEMP2  FIRST2</a:t>
            </a:r>
            <a:endParaRPr lang="en-IN" sz="2000" dirty="0">
              <a:latin typeface="Consolas" pitchFamily="49" charset="0"/>
              <a:cs typeface="Consolas" pitchFamily="49" charset="0"/>
            </a:endParaRPr>
          </a:p>
          <a:p>
            <a:pPr marL="444500" indent="-444500"/>
            <a:r>
              <a:rPr lang="en-IN" sz="2000" b="1" dirty="0">
                <a:solidFill>
                  <a:schemeClr val="tx2"/>
                </a:solidFill>
                <a:latin typeface="Consolas" pitchFamily="49" charset="0"/>
                <a:cs typeface="Consolas" pitchFamily="49" charset="0"/>
              </a:rPr>
              <a:t>3. [Move to the next node and copy node]</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While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TEMP1-&gt;NEXT ≠ NULL</a:t>
            </a:r>
          </a:p>
          <a:p>
            <a:r>
              <a:rPr lang="en-IN" sz="2000" dirty="0">
                <a:latin typeface="Consolas" pitchFamily="49" charset="0"/>
                <a:cs typeface="Consolas" pitchFamily="49" charset="0"/>
              </a:rPr>
              <a:t>          </a:t>
            </a:r>
            <a:r>
              <a:rPr lang="en-IN" sz="2000" dirty="0">
                <a:highlight>
                  <a:srgbClr val="C0C0C0"/>
                </a:highlight>
                <a:latin typeface="Consolas" pitchFamily="49" charset="0"/>
                <a:cs typeface="Consolas" pitchFamily="49" charset="0"/>
              </a:rPr>
              <a:t>TEMP1 </a:t>
            </a:r>
            <a:r>
              <a:rPr lang="en-IN" sz="2000" dirty="0">
                <a:highlight>
                  <a:srgbClr val="C0C0C0"/>
                </a:highlight>
                <a:latin typeface="Consolas" pitchFamily="49" charset="0"/>
                <a:cs typeface="Consolas" pitchFamily="49" charset="0"/>
                <a:sym typeface="Wingdings" pitchFamily="2" charset="2"/>
              </a:rPr>
              <a:t> </a:t>
            </a:r>
            <a:r>
              <a:rPr lang="en-IN" sz="2000" dirty="0">
                <a:highlight>
                  <a:srgbClr val="C0C0C0"/>
                </a:highlight>
                <a:latin typeface="Consolas" pitchFamily="49" charset="0"/>
                <a:cs typeface="Consolas" pitchFamily="49" charset="0"/>
              </a:rPr>
              <a:t>TEMP1-&gt;NEXT</a:t>
            </a:r>
          </a:p>
          <a:p>
            <a:r>
              <a:rPr lang="en-IN" sz="2000" dirty="0">
                <a:latin typeface="Consolas" pitchFamily="49" charset="0"/>
                <a:cs typeface="Consolas" pitchFamily="49" charset="0"/>
              </a:rPr>
              <a:t>          NEW </a:t>
            </a:r>
            <a:r>
              <a:rPr lang="en-IN" sz="2000" dirty="0">
                <a:latin typeface="Consolas" pitchFamily="49" charset="0"/>
                <a:cs typeface="Consolas" pitchFamily="49" charset="0"/>
                <a:sym typeface="Wingdings" panose="05000000000000000000" pitchFamily="2" charset="2"/>
              </a:rPr>
              <a:t> new node created</a:t>
            </a:r>
          </a:p>
          <a:p>
            <a:r>
              <a:rPr lang="en-IN" sz="2000" dirty="0">
                <a:latin typeface="Consolas" pitchFamily="49" charset="0"/>
                <a:cs typeface="Consolas" pitchFamily="49" charset="0"/>
                <a:sym typeface="Wingdings" panose="05000000000000000000" pitchFamily="2" charset="2"/>
              </a:rPr>
              <a:t>          NEW-&gt;INFO  TEMP1-&gt;INFO</a:t>
            </a:r>
          </a:p>
          <a:p>
            <a:r>
              <a:rPr lang="en-IN" sz="2000" dirty="0">
                <a:latin typeface="Consolas" pitchFamily="49" charset="0"/>
                <a:cs typeface="Consolas" pitchFamily="49" charset="0"/>
                <a:sym typeface="Wingdings" panose="05000000000000000000" pitchFamily="2" charset="2"/>
              </a:rPr>
              <a:t>          TEMP2-&gt;NEXT  NEW</a:t>
            </a:r>
          </a:p>
          <a:p>
            <a:r>
              <a:rPr lang="en-IN" sz="2000" dirty="0">
                <a:latin typeface="Consolas" pitchFamily="49" charset="0"/>
                <a:cs typeface="Consolas" pitchFamily="49" charset="0"/>
                <a:sym typeface="Wingdings" panose="05000000000000000000" pitchFamily="2" charset="2"/>
              </a:rPr>
              <a:t>          </a:t>
            </a:r>
            <a:r>
              <a:rPr lang="en-IN" sz="2000" dirty="0">
                <a:highlight>
                  <a:srgbClr val="C0C0C0"/>
                </a:highlight>
                <a:latin typeface="Consolas" pitchFamily="49" charset="0"/>
                <a:cs typeface="Consolas" pitchFamily="49" charset="0"/>
                <a:sym typeface="Wingdings" panose="05000000000000000000" pitchFamily="2" charset="2"/>
              </a:rPr>
              <a:t>TEMP2  </a:t>
            </a:r>
            <a:r>
              <a:rPr lang="en-IN" sz="2000" dirty="0">
                <a:highlight>
                  <a:srgbClr val="C0C0C0"/>
                </a:highlight>
                <a:latin typeface="Consolas" pitchFamily="49" charset="0"/>
                <a:cs typeface="Consolas" pitchFamily="49" charset="0"/>
              </a:rPr>
              <a:t>TEMP2-&gt;NEXT</a:t>
            </a:r>
          </a:p>
          <a:p>
            <a:r>
              <a:rPr lang="en-IN" sz="2000" b="1" dirty="0">
                <a:solidFill>
                  <a:schemeClr val="tx2"/>
                </a:solidFill>
                <a:latin typeface="Consolas" pitchFamily="49" charset="0"/>
                <a:cs typeface="Consolas" pitchFamily="49" charset="0"/>
              </a:rPr>
              <a:t>4. [Return second list]</a:t>
            </a:r>
          </a:p>
          <a:p>
            <a:r>
              <a:rPr lang="en-IN" sz="2000" b="1" dirty="0">
                <a:solidFill>
                  <a:schemeClr val="tx2"/>
                </a:solidFill>
                <a:latin typeface="Consolas" pitchFamily="49" charset="0"/>
                <a:cs typeface="Consolas" pitchFamily="49" charset="0"/>
              </a:rPr>
              <a:t>   </a:t>
            </a:r>
            <a:r>
              <a:rPr lang="en-IN" sz="2000" dirty="0">
                <a:latin typeface="Consolas" pitchFamily="49" charset="0"/>
                <a:cs typeface="Consolas" pitchFamily="49" charset="0"/>
              </a:rPr>
              <a:t>RETURN(FIRST2)</a:t>
            </a:r>
          </a:p>
        </p:txBody>
      </p:sp>
    </p:spTree>
    <p:extLst>
      <p:ext uri="{BB962C8B-B14F-4D97-AF65-F5344CB8AC3E}">
        <p14:creationId xmlns:p14="http://schemas.microsoft.com/office/powerpoint/2010/main" val="96264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14" end="1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15" end="1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
                                            <p:txEl>
                                              <p:pRg st="17" end="17"/>
                                            </p:txEl>
                                          </p:spTgt>
                                        </p:tgtEl>
                                        <p:attrNameLst>
                                          <p:attrName>style.visibility</p:attrName>
                                        </p:attrNameLst>
                                      </p:cBhvr>
                                      <p:to>
                                        <p:strVal val="visible"/>
                                      </p:to>
                                    </p:set>
                                    <p:animEffect transition="in" filter="fade">
                                      <p:cBhvr>
                                        <p:cTn id="55" dur="500"/>
                                        <p:tgtEl>
                                          <p:spTgt spid="4">
                                            <p:txEl>
                                              <p:pRg st="17" end="17"/>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4">
                                            <p:txEl>
                                              <p:pRg st="18" end="18"/>
                                            </p:txEl>
                                          </p:spTgt>
                                        </p:tgtEl>
                                        <p:attrNameLst>
                                          <p:attrName>style.visibility</p:attrName>
                                        </p:attrNameLst>
                                      </p:cBhvr>
                                      <p:to>
                                        <p:strVal val="visible"/>
                                      </p:to>
                                    </p:set>
                                    <p:animEffect transition="in" filter="fade">
                                      <p:cBhvr>
                                        <p:cTn id="58" dur="500"/>
                                        <p:tgtEl>
                                          <p:spTgt spid="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COPY (FIRST)</a:t>
            </a:r>
          </a:p>
        </p:txBody>
      </p:sp>
      <p:sp>
        <p:nvSpPr>
          <p:cNvPr id="32" name="TextBox 31"/>
          <p:cNvSpPr txBox="1"/>
          <p:nvPr/>
        </p:nvSpPr>
        <p:spPr>
          <a:xfrm>
            <a:off x="205154" y="863991"/>
            <a:ext cx="5819127" cy="224676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2. [Initialize Traversal and the first node is copied]</a:t>
            </a:r>
          </a:p>
          <a:p>
            <a:r>
              <a:rPr lang="en-IN" sz="2000" dirty="0">
                <a:latin typeface="Consolas" pitchFamily="49" charset="0"/>
                <a:cs typeface="Consolas" pitchFamily="49" charset="0"/>
              </a:rPr>
              <a:t>    TEMP1 </a:t>
            </a:r>
            <a:r>
              <a:rPr lang="en-IN" sz="2000" dirty="0">
                <a:latin typeface="Consolas" pitchFamily="49" charset="0"/>
                <a:cs typeface="Consolas" pitchFamily="49" charset="0"/>
                <a:sym typeface="Wingdings" pitchFamily="2" charset="2"/>
              </a:rPr>
              <a:t> FIRST1</a:t>
            </a:r>
          </a:p>
          <a:p>
            <a:r>
              <a:rPr lang="en-IN" sz="2000" dirty="0">
                <a:latin typeface="Consolas" pitchFamily="49" charset="0"/>
                <a:cs typeface="Consolas" pitchFamily="49" charset="0"/>
                <a:sym typeface="Wingdings" pitchFamily="2" charset="2"/>
              </a:rPr>
              <a:t>    </a:t>
            </a:r>
            <a:r>
              <a:rPr lang="en-IN" sz="2000" dirty="0">
                <a:highlight>
                  <a:srgbClr val="C0C0C0"/>
                </a:highlight>
                <a:latin typeface="Consolas" pitchFamily="49" charset="0"/>
                <a:cs typeface="Consolas" pitchFamily="49" charset="0"/>
              </a:rPr>
              <a:t>NEW </a:t>
            </a:r>
            <a:r>
              <a:rPr lang="en-IN" sz="2000" dirty="0">
                <a:highlight>
                  <a:srgbClr val="C0C0C0"/>
                </a:highlight>
                <a:latin typeface="Consolas" pitchFamily="49" charset="0"/>
                <a:cs typeface="Consolas" pitchFamily="49" charset="0"/>
                <a:sym typeface="Wingdings" panose="05000000000000000000" pitchFamily="2" charset="2"/>
              </a:rPr>
              <a:t> new node created</a:t>
            </a:r>
          </a:p>
          <a:p>
            <a:r>
              <a:rPr lang="en-IN" sz="2000" dirty="0">
                <a:latin typeface="Consolas" pitchFamily="49" charset="0"/>
                <a:cs typeface="Consolas" pitchFamily="49" charset="0"/>
              </a:rPr>
              <a:t>    </a:t>
            </a:r>
            <a:r>
              <a:rPr lang="en-IN" sz="2000" dirty="0">
                <a:highlight>
                  <a:srgbClr val="C0C0C0"/>
                </a:highlight>
                <a:latin typeface="Consolas" pitchFamily="49" charset="0"/>
                <a:cs typeface="Consolas" pitchFamily="49" charset="0"/>
              </a:rPr>
              <a:t>NEW-&gt;INFO </a:t>
            </a:r>
            <a:r>
              <a:rPr lang="en-IN" sz="2000" dirty="0">
                <a:highlight>
                  <a:srgbClr val="C0C0C0"/>
                </a:highlight>
                <a:latin typeface="Consolas" pitchFamily="49" charset="0"/>
                <a:cs typeface="Consolas" pitchFamily="49" charset="0"/>
                <a:sym typeface="Wingdings" panose="05000000000000000000" pitchFamily="2" charset="2"/>
              </a:rPr>
              <a:t> FIRST1-&gt;INFO</a:t>
            </a:r>
          </a:p>
          <a:p>
            <a:r>
              <a:rPr lang="en-IN" sz="2000" dirty="0">
                <a:latin typeface="Consolas" pitchFamily="49" charset="0"/>
                <a:cs typeface="Consolas" pitchFamily="49" charset="0"/>
                <a:sym typeface="Wingdings" panose="05000000000000000000" pitchFamily="2" charset="2"/>
              </a:rPr>
              <a:t>    FIRST2  NEW</a:t>
            </a:r>
            <a:endParaRPr lang="en-IN" sz="2000" dirty="0">
              <a:latin typeface="Consolas" pitchFamily="49" charset="0"/>
              <a:cs typeface="Consolas" pitchFamily="49" charset="0"/>
            </a:endParaRPr>
          </a:p>
          <a:p>
            <a:r>
              <a:rPr lang="en-IN" sz="2000" dirty="0">
                <a:latin typeface="Consolas" pitchFamily="49" charset="0"/>
                <a:cs typeface="Consolas" pitchFamily="49" charset="0"/>
                <a:sym typeface="Wingdings" pitchFamily="2" charset="2"/>
              </a:rPr>
              <a:t>    TEMP2  FIRST2</a:t>
            </a:r>
            <a:endParaRPr lang="en-IN" sz="2000" dirty="0">
              <a:latin typeface="Consolas" pitchFamily="49" charset="0"/>
              <a:cs typeface="Consolas" pitchFamily="49" charset="0"/>
            </a:endParaRPr>
          </a:p>
        </p:txBody>
      </p:sp>
      <p:sp>
        <p:nvSpPr>
          <p:cNvPr id="33" name="TextBox 32"/>
          <p:cNvSpPr txBox="1"/>
          <p:nvPr/>
        </p:nvSpPr>
        <p:spPr>
          <a:xfrm>
            <a:off x="6172200" y="863991"/>
            <a:ext cx="5760000" cy="317009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marL="444500" indent="-444500"/>
            <a:r>
              <a:rPr lang="en-IN" sz="2000" b="1" dirty="0">
                <a:solidFill>
                  <a:schemeClr val="tx2"/>
                </a:solidFill>
                <a:latin typeface="Consolas" pitchFamily="49" charset="0"/>
                <a:cs typeface="Consolas" pitchFamily="49" charset="0"/>
              </a:rPr>
              <a:t>3. [Move to the next node and copy node]</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While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TEMP1-&gt;NEXT ≠ NULL</a:t>
            </a:r>
          </a:p>
          <a:p>
            <a:r>
              <a:rPr lang="en-IN" sz="2000" dirty="0">
                <a:latin typeface="Consolas" pitchFamily="49" charset="0"/>
                <a:cs typeface="Consolas" pitchFamily="49" charset="0"/>
              </a:rPr>
              <a:t>          </a:t>
            </a:r>
            <a:r>
              <a:rPr lang="en-IN" sz="2000" dirty="0">
                <a:highlight>
                  <a:srgbClr val="C0C0C0"/>
                </a:highlight>
                <a:latin typeface="Consolas" pitchFamily="49" charset="0"/>
                <a:cs typeface="Consolas" pitchFamily="49" charset="0"/>
              </a:rPr>
              <a:t>TEMP1 </a:t>
            </a:r>
            <a:r>
              <a:rPr lang="en-IN" sz="2000" dirty="0">
                <a:highlight>
                  <a:srgbClr val="C0C0C0"/>
                </a:highlight>
                <a:latin typeface="Consolas" pitchFamily="49" charset="0"/>
                <a:cs typeface="Consolas" pitchFamily="49" charset="0"/>
                <a:sym typeface="Wingdings" pitchFamily="2" charset="2"/>
              </a:rPr>
              <a:t> </a:t>
            </a:r>
            <a:r>
              <a:rPr lang="en-IN" sz="2000" dirty="0">
                <a:highlight>
                  <a:srgbClr val="C0C0C0"/>
                </a:highlight>
                <a:latin typeface="Consolas" pitchFamily="49" charset="0"/>
                <a:cs typeface="Consolas" pitchFamily="49" charset="0"/>
              </a:rPr>
              <a:t>TEMP1-&gt;NEXT</a:t>
            </a:r>
          </a:p>
          <a:p>
            <a:r>
              <a:rPr lang="en-IN" sz="2000" dirty="0">
                <a:latin typeface="Consolas" pitchFamily="49" charset="0"/>
                <a:cs typeface="Consolas" pitchFamily="49" charset="0"/>
              </a:rPr>
              <a:t>          NEW </a:t>
            </a:r>
            <a:r>
              <a:rPr lang="en-IN" sz="2000" dirty="0">
                <a:latin typeface="Consolas" pitchFamily="49" charset="0"/>
                <a:cs typeface="Consolas" pitchFamily="49" charset="0"/>
                <a:sym typeface="Wingdings" panose="05000000000000000000" pitchFamily="2" charset="2"/>
              </a:rPr>
              <a:t> new node created</a:t>
            </a:r>
          </a:p>
          <a:p>
            <a:r>
              <a:rPr lang="en-IN" sz="2000" dirty="0">
                <a:latin typeface="Consolas" pitchFamily="49" charset="0"/>
                <a:cs typeface="Consolas" pitchFamily="49" charset="0"/>
                <a:sym typeface="Wingdings" panose="05000000000000000000" pitchFamily="2" charset="2"/>
              </a:rPr>
              <a:t>          NEW-&gt;INFO  TEMP1-&gt;INFO</a:t>
            </a:r>
          </a:p>
          <a:p>
            <a:r>
              <a:rPr lang="en-IN" sz="2000" dirty="0">
                <a:latin typeface="Consolas" pitchFamily="49" charset="0"/>
                <a:cs typeface="Consolas" pitchFamily="49" charset="0"/>
                <a:sym typeface="Wingdings" panose="05000000000000000000" pitchFamily="2" charset="2"/>
              </a:rPr>
              <a:t>          TEMP2-&gt;NEXT  NEW</a:t>
            </a:r>
          </a:p>
          <a:p>
            <a:r>
              <a:rPr lang="en-IN" sz="2000" dirty="0">
                <a:latin typeface="Consolas" pitchFamily="49" charset="0"/>
                <a:cs typeface="Consolas" pitchFamily="49" charset="0"/>
                <a:sym typeface="Wingdings" panose="05000000000000000000" pitchFamily="2" charset="2"/>
              </a:rPr>
              <a:t>          </a:t>
            </a:r>
            <a:r>
              <a:rPr lang="en-IN" sz="2000" dirty="0">
                <a:highlight>
                  <a:srgbClr val="C0C0C0"/>
                </a:highlight>
                <a:latin typeface="Consolas" pitchFamily="49" charset="0"/>
                <a:cs typeface="Consolas" pitchFamily="49" charset="0"/>
                <a:sym typeface="Wingdings" panose="05000000000000000000" pitchFamily="2" charset="2"/>
              </a:rPr>
              <a:t>TEMP2  </a:t>
            </a:r>
            <a:r>
              <a:rPr lang="en-IN" sz="2000" dirty="0">
                <a:highlight>
                  <a:srgbClr val="C0C0C0"/>
                </a:highlight>
                <a:latin typeface="Consolas" pitchFamily="49" charset="0"/>
                <a:cs typeface="Consolas" pitchFamily="49" charset="0"/>
              </a:rPr>
              <a:t>TEMP2-&gt;NEXT</a:t>
            </a:r>
          </a:p>
          <a:p>
            <a:r>
              <a:rPr lang="en-IN" sz="2000" b="1" dirty="0">
                <a:solidFill>
                  <a:schemeClr val="tx2"/>
                </a:solidFill>
                <a:latin typeface="Consolas" pitchFamily="49" charset="0"/>
                <a:cs typeface="Consolas" pitchFamily="49" charset="0"/>
              </a:rPr>
              <a:t>4. [Return second list]</a:t>
            </a:r>
          </a:p>
          <a:p>
            <a:r>
              <a:rPr lang="en-IN" sz="2000" b="1" dirty="0">
                <a:solidFill>
                  <a:schemeClr val="tx2"/>
                </a:solidFill>
                <a:latin typeface="Consolas" pitchFamily="49" charset="0"/>
                <a:cs typeface="Consolas" pitchFamily="49" charset="0"/>
              </a:rPr>
              <a:t>   </a:t>
            </a:r>
            <a:r>
              <a:rPr lang="en-IN" sz="2000" dirty="0">
                <a:latin typeface="Consolas" pitchFamily="49" charset="0"/>
                <a:cs typeface="Consolas" pitchFamily="49" charset="0"/>
              </a:rPr>
              <a:t>RETURN(FIRST2)</a:t>
            </a:r>
          </a:p>
        </p:txBody>
      </p:sp>
      <p:grpSp>
        <p:nvGrpSpPr>
          <p:cNvPr id="34" name="Group 33"/>
          <p:cNvGrpSpPr/>
          <p:nvPr/>
        </p:nvGrpSpPr>
        <p:grpSpPr>
          <a:xfrm>
            <a:off x="581751" y="4456356"/>
            <a:ext cx="920012" cy="382345"/>
            <a:chOff x="951919" y="5486400"/>
            <a:chExt cx="920012" cy="533400"/>
          </a:xfrm>
        </p:grpSpPr>
        <p:sp>
          <p:nvSpPr>
            <p:cNvPr id="35" name="Rectangle 3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36" name="Rectangle 3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37" name="Group 36"/>
          <p:cNvGrpSpPr/>
          <p:nvPr/>
        </p:nvGrpSpPr>
        <p:grpSpPr>
          <a:xfrm>
            <a:off x="1803581" y="4456356"/>
            <a:ext cx="920012" cy="382345"/>
            <a:chOff x="951919" y="5486400"/>
            <a:chExt cx="920012" cy="533400"/>
          </a:xfrm>
        </p:grpSpPr>
        <p:sp>
          <p:nvSpPr>
            <p:cNvPr id="38" name="Rectangle 3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39" name="Rectangle 3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40" name="Group 39"/>
          <p:cNvGrpSpPr/>
          <p:nvPr/>
        </p:nvGrpSpPr>
        <p:grpSpPr>
          <a:xfrm>
            <a:off x="3022781" y="4456356"/>
            <a:ext cx="920012" cy="382345"/>
            <a:chOff x="951919" y="5486400"/>
            <a:chExt cx="920012" cy="533400"/>
          </a:xfrm>
        </p:grpSpPr>
        <p:sp>
          <p:nvSpPr>
            <p:cNvPr id="41" name="Rectangle 4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42" name="Rectangle 4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43" name="Group 42"/>
          <p:cNvGrpSpPr/>
          <p:nvPr/>
        </p:nvGrpSpPr>
        <p:grpSpPr>
          <a:xfrm>
            <a:off x="4241981" y="4465321"/>
            <a:ext cx="912386" cy="382345"/>
            <a:chOff x="6256538" y="5334000"/>
            <a:chExt cx="912386" cy="533400"/>
          </a:xfrm>
        </p:grpSpPr>
        <p:sp>
          <p:nvSpPr>
            <p:cNvPr id="44" name="Rectangle 43"/>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45" name="Rectangle 44"/>
            <p:cNvSpPr/>
            <p:nvPr/>
          </p:nvSpPr>
          <p:spPr>
            <a:xfrm>
              <a:off x="6795550" y="5334000"/>
              <a:ext cx="373374"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46" name="Straight Arrow Connector 45"/>
          <p:cNvCxnSpPr>
            <a:stCxn id="36" idx="3"/>
            <a:endCxn id="38" idx="1"/>
          </p:cNvCxnSpPr>
          <p:nvPr/>
        </p:nvCxnSpPr>
        <p:spPr>
          <a:xfrm>
            <a:off x="1501763" y="4647528"/>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7" name="Straight Arrow Connector 46"/>
          <p:cNvCxnSpPr>
            <a:stCxn id="39" idx="3"/>
            <a:endCxn id="41" idx="1"/>
          </p:cNvCxnSpPr>
          <p:nvPr/>
        </p:nvCxnSpPr>
        <p:spPr>
          <a:xfrm>
            <a:off x="2723593" y="464752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9" name="Straight Connector 48"/>
          <p:cNvCxnSpPr/>
          <p:nvPr/>
        </p:nvCxnSpPr>
        <p:spPr>
          <a:xfrm flipV="1">
            <a:off x="4780993" y="4465320"/>
            <a:ext cx="373374" cy="373380"/>
          </a:xfrm>
          <a:prstGeom prst="line">
            <a:avLst/>
          </a:prstGeom>
          <a:ln w="28575"/>
        </p:spPr>
        <p:style>
          <a:lnRef idx="3">
            <a:schemeClr val="accent6"/>
          </a:lnRef>
          <a:fillRef idx="0">
            <a:schemeClr val="accent6"/>
          </a:fillRef>
          <a:effectRef idx="2">
            <a:schemeClr val="accent6"/>
          </a:effectRef>
          <a:fontRef idx="minor">
            <a:schemeClr val="tx1"/>
          </a:fontRef>
        </p:style>
      </p:cxnSp>
      <p:sp>
        <p:nvSpPr>
          <p:cNvPr id="50" name="TextBox 49"/>
          <p:cNvSpPr txBox="1"/>
          <p:nvPr/>
        </p:nvSpPr>
        <p:spPr>
          <a:xfrm>
            <a:off x="293448" y="3793153"/>
            <a:ext cx="779380" cy="338554"/>
          </a:xfrm>
          <a:prstGeom prst="rect">
            <a:avLst/>
          </a:prstGeom>
          <a:noFill/>
        </p:spPr>
        <p:txBody>
          <a:bodyPr wrap="none" rtlCol="0">
            <a:spAutoFit/>
          </a:bodyPr>
          <a:lstStyle/>
          <a:p>
            <a:pPr algn="ctr"/>
            <a:r>
              <a:rPr lang="en-IN" sz="1600" b="1" dirty="0">
                <a:solidFill>
                  <a:srgbClr val="C00000"/>
                </a:solidFill>
              </a:rPr>
              <a:t>FIRST1</a:t>
            </a:r>
            <a:endParaRPr lang="en-US" sz="1600" b="1" dirty="0">
              <a:solidFill>
                <a:srgbClr val="C00000"/>
              </a:solidFill>
            </a:endParaRPr>
          </a:p>
        </p:txBody>
      </p:sp>
      <p:grpSp>
        <p:nvGrpSpPr>
          <p:cNvPr id="51" name="Group 50"/>
          <p:cNvGrpSpPr/>
          <p:nvPr/>
        </p:nvGrpSpPr>
        <p:grpSpPr>
          <a:xfrm>
            <a:off x="543651" y="5837820"/>
            <a:ext cx="920012" cy="356810"/>
            <a:chOff x="951919" y="5486400"/>
            <a:chExt cx="920012" cy="533400"/>
          </a:xfrm>
        </p:grpSpPr>
        <p:sp>
          <p:nvSpPr>
            <p:cNvPr id="52" name="Rectangle 51"/>
            <p:cNvSpPr/>
            <p:nvPr/>
          </p:nvSpPr>
          <p:spPr>
            <a:xfrm>
              <a:off x="951919" y="5486400"/>
              <a:ext cx="5334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sp>
          <p:nvSpPr>
            <p:cNvPr id="53" name="Rectangle 52"/>
            <p:cNvSpPr/>
            <p:nvPr/>
          </p:nvSpPr>
          <p:spPr>
            <a:xfrm>
              <a:off x="1490931" y="5486400"/>
              <a:ext cx="381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cxnSp>
        <p:nvCxnSpPr>
          <p:cNvPr id="54" name="Straight Arrow Connector 53"/>
          <p:cNvCxnSpPr/>
          <p:nvPr/>
        </p:nvCxnSpPr>
        <p:spPr>
          <a:xfrm>
            <a:off x="683138" y="4139887"/>
            <a:ext cx="0" cy="3164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5" name="TextBox 54"/>
          <p:cNvSpPr txBox="1"/>
          <p:nvPr/>
        </p:nvSpPr>
        <p:spPr>
          <a:xfrm>
            <a:off x="650543" y="5791201"/>
            <a:ext cx="340158" cy="461665"/>
          </a:xfrm>
          <a:prstGeom prst="rect">
            <a:avLst/>
          </a:prstGeom>
          <a:noFill/>
        </p:spPr>
        <p:txBody>
          <a:bodyPr wrap="none" rtlCol="0">
            <a:spAutoFit/>
          </a:bodyPr>
          <a:lstStyle/>
          <a:p>
            <a:pPr algn="ctr"/>
            <a:r>
              <a:rPr lang="en-IN" sz="2400" b="1" dirty="0">
                <a:solidFill>
                  <a:srgbClr val="FFFF00"/>
                </a:solidFill>
              </a:rPr>
              <a:t>5</a:t>
            </a:r>
            <a:endParaRPr lang="en-US" sz="2400" b="1" dirty="0">
              <a:solidFill>
                <a:srgbClr val="FFFF00"/>
              </a:solidFill>
            </a:endParaRPr>
          </a:p>
        </p:txBody>
      </p:sp>
      <p:sp>
        <p:nvSpPr>
          <p:cNvPr id="56" name="TextBox 55"/>
          <p:cNvSpPr txBox="1"/>
          <p:nvPr/>
        </p:nvSpPr>
        <p:spPr>
          <a:xfrm>
            <a:off x="415275" y="4892040"/>
            <a:ext cx="779380" cy="338554"/>
          </a:xfrm>
          <a:prstGeom prst="rect">
            <a:avLst/>
          </a:prstGeom>
          <a:noFill/>
        </p:spPr>
        <p:txBody>
          <a:bodyPr wrap="none" rtlCol="0">
            <a:spAutoFit/>
          </a:bodyPr>
          <a:lstStyle/>
          <a:p>
            <a:pPr algn="ctr"/>
            <a:r>
              <a:rPr lang="en-IN" sz="1600" b="1" dirty="0"/>
              <a:t>FIRST2</a:t>
            </a:r>
            <a:endParaRPr lang="en-US" sz="1600" b="1" dirty="0"/>
          </a:p>
        </p:txBody>
      </p:sp>
      <p:cxnSp>
        <p:nvCxnSpPr>
          <p:cNvPr id="57" name="Straight Arrow Connector 56"/>
          <p:cNvCxnSpPr>
            <a:stCxn id="56" idx="2"/>
            <a:endCxn id="52" idx="0"/>
          </p:cNvCxnSpPr>
          <p:nvPr/>
        </p:nvCxnSpPr>
        <p:spPr>
          <a:xfrm>
            <a:off x="804965" y="5230594"/>
            <a:ext cx="5386" cy="60722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63" name="Group 62"/>
          <p:cNvGrpSpPr/>
          <p:nvPr/>
        </p:nvGrpSpPr>
        <p:grpSpPr>
          <a:xfrm>
            <a:off x="884044" y="5120640"/>
            <a:ext cx="774571" cy="717180"/>
            <a:chOff x="1058680" y="5181600"/>
            <a:chExt cx="774571" cy="717180"/>
          </a:xfrm>
        </p:grpSpPr>
        <p:sp>
          <p:nvSpPr>
            <p:cNvPr id="60" name="TextBox 59"/>
            <p:cNvSpPr txBox="1"/>
            <p:nvPr/>
          </p:nvSpPr>
          <p:spPr>
            <a:xfrm>
              <a:off x="1058680" y="5181600"/>
              <a:ext cx="774571" cy="338554"/>
            </a:xfrm>
            <a:prstGeom prst="rect">
              <a:avLst/>
            </a:prstGeom>
            <a:noFill/>
          </p:spPr>
          <p:txBody>
            <a:bodyPr wrap="none" rtlCol="0">
              <a:spAutoFit/>
            </a:bodyPr>
            <a:lstStyle/>
            <a:p>
              <a:pPr algn="ctr"/>
              <a:r>
                <a:rPr lang="en-IN" sz="1600" b="1" dirty="0">
                  <a:solidFill>
                    <a:srgbClr val="C00000"/>
                  </a:solidFill>
                </a:rPr>
                <a:t>TEMP2</a:t>
              </a:r>
              <a:endParaRPr lang="en-US" sz="1600" b="1" dirty="0">
                <a:solidFill>
                  <a:srgbClr val="C00000"/>
                </a:solidFill>
              </a:endParaRPr>
            </a:p>
          </p:txBody>
        </p:sp>
        <p:cxnSp>
          <p:nvCxnSpPr>
            <p:cNvPr id="62" name="Straight Arrow Connector 61"/>
            <p:cNvCxnSpPr>
              <a:stCxn id="60" idx="2"/>
              <a:endCxn id="53" idx="0"/>
            </p:cNvCxnSpPr>
            <p:nvPr/>
          </p:nvCxnSpPr>
          <p:spPr>
            <a:xfrm>
              <a:off x="1445966" y="5520154"/>
              <a:ext cx="1833" cy="37862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64" name="Group 63"/>
          <p:cNvGrpSpPr/>
          <p:nvPr/>
        </p:nvGrpSpPr>
        <p:grpSpPr>
          <a:xfrm>
            <a:off x="1800951" y="5830200"/>
            <a:ext cx="920012" cy="356810"/>
            <a:chOff x="951919" y="5486400"/>
            <a:chExt cx="920012" cy="533400"/>
          </a:xfrm>
        </p:grpSpPr>
        <p:sp>
          <p:nvSpPr>
            <p:cNvPr id="65" name="Rectangle 64"/>
            <p:cNvSpPr/>
            <p:nvPr/>
          </p:nvSpPr>
          <p:spPr>
            <a:xfrm>
              <a:off x="951919" y="5486400"/>
              <a:ext cx="5334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sp>
          <p:nvSpPr>
            <p:cNvPr id="66" name="Rectangle 65"/>
            <p:cNvSpPr/>
            <p:nvPr/>
          </p:nvSpPr>
          <p:spPr>
            <a:xfrm>
              <a:off x="1490931" y="5486400"/>
              <a:ext cx="381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sp>
        <p:nvSpPr>
          <p:cNvPr id="67" name="TextBox 66"/>
          <p:cNvSpPr txBox="1"/>
          <p:nvPr/>
        </p:nvSpPr>
        <p:spPr>
          <a:xfrm>
            <a:off x="1831437" y="5791201"/>
            <a:ext cx="495650" cy="461665"/>
          </a:xfrm>
          <a:prstGeom prst="rect">
            <a:avLst/>
          </a:prstGeom>
          <a:noFill/>
        </p:spPr>
        <p:txBody>
          <a:bodyPr wrap="none" rtlCol="0">
            <a:spAutoFit/>
          </a:bodyPr>
          <a:lstStyle/>
          <a:p>
            <a:pPr algn="ctr"/>
            <a:r>
              <a:rPr lang="en-IN" sz="2400" b="1" dirty="0">
                <a:solidFill>
                  <a:srgbClr val="FFFF00"/>
                </a:solidFill>
              </a:rPr>
              <a:t>10</a:t>
            </a:r>
            <a:endParaRPr lang="en-US" sz="2400" b="1" dirty="0">
              <a:solidFill>
                <a:srgbClr val="FFFF00"/>
              </a:solidFill>
            </a:endParaRPr>
          </a:p>
        </p:txBody>
      </p:sp>
      <p:grpSp>
        <p:nvGrpSpPr>
          <p:cNvPr id="68" name="Group 67"/>
          <p:cNvGrpSpPr/>
          <p:nvPr/>
        </p:nvGrpSpPr>
        <p:grpSpPr>
          <a:xfrm>
            <a:off x="3022781" y="5830630"/>
            <a:ext cx="920012" cy="356810"/>
            <a:chOff x="951919" y="5486400"/>
            <a:chExt cx="920012" cy="533400"/>
          </a:xfrm>
        </p:grpSpPr>
        <p:sp>
          <p:nvSpPr>
            <p:cNvPr id="69" name="Rectangle 68"/>
            <p:cNvSpPr/>
            <p:nvPr/>
          </p:nvSpPr>
          <p:spPr>
            <a:xfrm>
              <a:off x="951919" y="5486400"/>
              <a:ext cx="5334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sp>
          <p:nvSpPr>
            <p:cNvPr id="70" name="Rectangle 69"/>
            <p:cNvSpPr/>
            <p:nvPr/>
          </p:nvSpPr>
          <p:spPr>
            <a:xfrm>
              <a:off x="1490931" y="5486400"/>
              <a:ext cx="381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grpSp>
        <p:nvGrpSpPr>
          <p:cNvPr id="71" name="Group 70"/>
          <p:cNvGrpSpPr/>
          <p:nvPr/>
        </p:nvGrpSpPr>
        <p:grpSpPr>
          <a:xfrm>
            <a:off x="4315375" y="5830630"/>
            <a:ext cx="920012" cy="356810"/>
            <a:chOff x="951919" y="5486400"/>
            <a:chExt cx="920012" cy="533400"/>
          </a:xfrm>
        </p:grpSpPr>
        <p:sp>
          <p:nvSpPr>
            <p:cNvPr id="72" name="Rectangle 71"/>
            <p:cNvSpPr/>
            <p:nvPr/>
          </p:nvSpPr>
          <p:spPr>
            <a:xfrm>
              <a:off x="951919" y="5486400"/>
              <a:ext cx="5334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sp>
          <p:nvSpPr>
            <p:cNvPr id="73" name="Rectangle 72"/>
            <p:cNvSpPr/>
            <p:nvPr/>
          </p:nvSpPr>
          <p:spPr>
            <a:xfrm>
              <a:off x="1490931" y="5486400"/>
              <a:ext cx="381000" cy="533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00" b="1" dirty="0"/>
            </a:p>
          </p:txBody>
        </p:sp>
      </p:grpSp>
      <p:sp>
        <p:nvSpPr>
          <p:cNvPr id="74" name="TextBox 73"/>
          <p:cNvSpPr txBox="1"/>
          <p:nvPr/>
        </p:nvSpPr>
        <p:spPr>
          <a:xfrm>
            <a:off x="3034271" y="5791201"/>
            <a:ext cx="495650" cy="461665"/>
          </a:xfrm>
          <a:prstGeom prst="rect">
            <a:avLst/>
          </a:prstGeom>
          <a:noFill/>
        </p:spPr>
        <p:txBody>
          <a:bodyPr wrap="none" rtlCol="0">
            <a:spAutoFit/>
          </a:bodyPr>
          <a:lstStyle/>
          <a:p>
            <a:pPr algn="ctr"/>
            <a:r>
              <a:rPr lang="en-IN" sz="2400" b="1" dirty="0">
                <a:solidFill>
                  <a:srgbClr val="FFFF00"/>
                </a:solidFill>
              </a:rPr>
              <a:t>15</a:t>
            </a:r>
            <a:endParaRPr lang="en-US" sz="2400" b="1" dirty="0">
              <a:solidFill>
                <a:srgbClr val="FFFF00"/>
              </a:solidFill>
            </a:endParaRPr>
          </a:p>
        </p:txBody>
      </p:sp>
      <p:sp>
        <p:nvSpPr>
          <p:cNvPr id="75" name="TextBox 74"/>
          <p:cNvSpPr txBox="1"/>
          <p:nvPr/>
        </p:nvSpPr>
        <p:spPr>
          <a:xfrm>
            <a:off x="4349212" y="5791201"/>
            <a:ext cx="495650" cy="461665"/>
          </a:xfrm>
          <a:prstGeom prst="rect">
            <a:avLst/>
          </a:prstGeom>
          <a:noFill/>
        </p:spPr>
        <p:txBody>
          <a:bodyPr wrap="none" rtlCol="0">
            <a:spAutoFit/>
          </a:bodyPr>
          <a:lstStyle/>
          <a:p>
            <a:pPr algn="ctr"/>
            <a:r>
              <a:rPr lang="en-IN" sz="2400" b="1" dirty="0">
                <a:solidFill>
                  <a:srgbClr val="FFFF00"/>
                </a:solidFill>
              </a:rPr>
              <a:t>30</a:t>
            </a:r>
            <a:endParaRPr lang="en-US" sz="2400" b="1" dirty="0">
              <a:solidFill>
                <a:srgbClr val="FFFF00"/>
              </a:solidFill>
            </a:endParaRPr>
          </a:p>
        </p:txBody>
      </p:sp>
      <p:cxnSp>
        <p:nvCxnSpPr>
          <p:cNvPr id="77" name="Straight Arrow Connector 76"/>
          <p:cNvCxnSpPr>
            <a:stCxn id="42" idx="3"/>
            <a:endCxn id="44" idx="1"/>
          </p:cNvCxnSpPr>
          <p:nvPr/>
        </p:nvCxnSpPr>
        <p:spPr>
          <a:xfrm>
            <a:off x="3942793" y="4647529"/>
            <a:ext cx="299188" cy="896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80" name="TextBox 79"/>
          <p:cNvSpPr txBox="1"/>
          <p:nvPr/>
        </p:nvSpPr>
        <p:spPr>
          <a:xfrm>
            <a:off x="671716" y="6194630"/>
            <a:ext cx="564578" cy="338554"/>
          </a:xfrm>
          <a:prstGeom prst="rect">
            <a:avLst/>
          </a:prstGeom>
          <a:noFill/>
        </p:spPr>
        <p:txBody>
          <a:bodyPr wrap="none" rtlCol="0">
            <a:spAutoFit/>
          </a:bodyPr>
          <a:lstStyle/>
          <a:p>
            <a:pPr algn="ctr"/>
            <a:r>
              <a:rPr lang="en-IN" sz="1600" b="1" dirty="0"/>
              <a:t>NEW</a:t>
            </a:r>
            <a:endParaRPr lang="en-US" sz="1600" b="1" dirty="0"/>
          </a:p>
        </p:txBody>
      </p:sp>
      <p:cxnSp>
        <p:nvCxnSpPr>
          <p:cNvPr id="87" name="Straight Arrow Connector 86"/>
          <p:cNvCxnSpPr>
            <a:stCxn id="53" idx="3"/>
            <a:endCxn id="65" idx="1"/>
          </p:cNvCxnSpPr>
          <p:nvPr/>
        </p:nvCxnSpPr>
        <p:spPr>
          <a:xfrm flipV="1">
            <a:off x="1463663" y="6008605"/>
            <a:ext cx="337288" cy="762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cxnSp>
        <p:nvCxnSpPr>
          <p:cNvPr id="89" name="Straight Arrow Connector 88"/>
          <p:cNvCxnSpPr>
            <a:stCxn id="66" idx="3"/>
            <a:endCxn id="69" idx="1"/>
          </p:cNvCxnSpPr>
          <p:nvPr/>
        </p:nvCxnSpPr>
        <p:spPr>
          <a:xfrm>
            <a:off x="2720963" y="6008605"/>
            <a:ext cx="301818" cy="43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cxnSp>
        <p:nvCxnSpPr>
          <p:cNvPr id="91" name="Straight Arrow Connector 90"/>
          <p:cNvCxnSpPr>
            <a:stCxn id="70" idx="3"/>
            <a:endCxn id="72" idx="1"/>
          </p:cNvCxnSpPr>
          <p:nvPr/>
        </p:nvCxnSpPr>
        <p:spPr>
          <a:xfrm>
            <a:off x="3942793" y="6009035"/>
            <a:ext cx="372582"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cxnSp>
        <p:nvCxnSpPr>
          <p:cNvPr id="92" name="Straight Connector 91"/>
          <p:cNvCxnSpPr/>
          <p:nvPr/>
        </p:nvCxnSpPr>
        <p:spPr>
          <a:xfrm flipV="1">
            <a:off x="4862013" y="5845436"/>
            <a:ext cx="341999" cy="342004"/>
          </a:xfrm>
          <a:prstGeom prst="line">
            <a:avLst/>
          </a:prstGeom>
          <a:ln w="28575"/>
        </p:spPr>
        <p:style>
          <a:lnRef idx="3">
            <a:schemeClr val="dk1"/>
          </a:lnRef>
          <a:fillRef idx="0">
            <a:schemeClr val="dk1"/>
          </a:fillRef>
          <a:effectRef idx="2">
            <a:schemeClr val="dk1"/>
          </a:effectRef>
          <a:fontRef idx="minor">
            <a:schemeClr val="tx1"/>
          </a:fontRef>
        </p:style>
      </p:cxnSp>
      <p:grpSp>
        <p:nvGrpSpPr>
          <p:cNvPr id="5" name="Group 4"/>
          <p:cNvGrpSpPr/>
          <p:nvPr/>
        </p:nvGrpSpPr>
        <p:grpSpPr>
          <a:xfrm>
            <a:off x="916928" y="3784541"/>
            <a:ext cx="774571" cy="671815"/>
            <a:chOff x="2310941" y="3784541"/>
            <a:chExt cx="774571" cy="671815"/>
          </a:xfrm>
        </p:grpSpPr>
        <p:sp>
          <p:nvSpPr>
            <p:cNvPr id="58" name="TextBox 57"/>
            <p:cNvSpPr txBox="1"/>
            <p:nvPr/>
          </p:nvSpPr>
          <p:spPr>
            <a:xfrm>
              <a:off x="2310941" y="3784541"/>
              <a:ext cx="774571" cy="338554"/>
            </a:xfrm>
            <a:prstGeom prst="rect">
              <a:avLst/>
            </a:prstGeom>
            <a:noFill/>
          </p:spPr>
          <p:txBody>
            <a:bodyPr wrap="none" rtlCol="0">
              <a:spAutoFit/>
            </a:bodyPr>
            <a:lstStyle/>
            <a:p>
              <a:pPr algn="ctr"/>
              <a:r>
                <a:rPr lang="en-IN" sz="1600" b="1" dirty="0">
                  <a:solidFill>
                    <a:srgbClr val="C00000"/>
                  </a:solidFill>
                </a:rPr>
                <a:t>TEMP1</a:t>
              </a:r>
            </a:p>
          </p:txBody>
        </p:sp>
        <p:cxnSp>
          <p:nvCxnSpPr>
            <p:cNvPr id="4" name="Straight Arrow Connector 3"/>
            <p:cNvCxnSpPr>
              <a:stCxn id="58" idx="2"/>
              <a:endCxn id="36" idx="0"/>
            </p:cNvCxnSpPr>
            <p:nvPr/>
          </p:nvCxnSpPr>
          <p:spPr>
            <a:xfrm>
              <a:off x="2698227" y="4123095"/>
              <a:ext cx="7049" cy="33326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59" name="TextBox 58"/>
          <p:cNvSpPr txBox="1"/>
          <p:nvPr/>
        </p:nvSpPr>
        <p:spPr>
          <a:xfrm>
            <a:off x="1954302" y="6177753"/>
            <a:ext cx="564578" cy="338554"/>
          </a:xfrm>
          <a:prstGeom prst="rect">
            <a:avLst/>
          </a:prstGeom>
          <a:noFill/>
        </p:spPr>
        <p:txBody>
          <a:bodyPr wrap="none" rtlCol="0">
            <a:spAutoFit/>
          </a:bodyPr>
          <a:lstStyle/>
          <a:p>
            <a:pPr algn="ctr"/>
            <a:r>
              <a:rPr lang="en-IN" sz="1600" b="1" dirty="0"/>
              <a:t>NEW</a:t>
            </a:r>
            <a:endParaRPr lang="en-US" sz="1600" b="1" dirty="0"/>
          </a:p>
        </p:txBody>
      </p:sp>
      <p:sp>
        <p:nvSpPr>
          <p:cNvPr id="61" name="TextBox 60"/>
          <p:cNvSpPr txBox="1"/>
          <p:nvPr/>
        </p:nvSpPr>
        <p:spPr>
          <a:xfrm>
            <a:off x="3198025" y="6177753"/>
            <a:ext cx="564578" cy="338554"/>
          </a:xfrm>
          <a:prstGeom prst="rect">
            <a:avLst/>
          </a:prstGeom>
          <a:noFill/>
        </p:spPr>
        <p:txBody>
          <a:bodyPr wrap="none" rtlCol="0">
            <a:spAutoFit/>
          </a:bodyPr>
          <a:lstStyle/>
          <a:p>
            <a:pPr algn="ctr"/>
            <a:r>
              <a:rPr lang="en-IN" sz="1600" b="1" dirty="0"/>
              <a:t>NEW</a:t>
            </a:r>
            <a:endParaRPr lang="en-US" sz="1600" b="1" dirty="0"/>
          </a:p>
        </p:txBody>
      </p:sp>
      <p:sp>
        <p:nvSpPr>
          <p:cNvPr id="76" name="TextBox 75"/>
          <p:cNvSpPr txBox="1"/>
          <p:nvPr/>
        </p:nvSpPr>
        <p:spPr>
          <a:xfrm>
            <a:off x="4498704" y="6177753"/>
            <a:ext cx="564578" cy="338554"/>
          </a:xfrm>
          <a:prstGeom prst="rect">
            <a:avLst/>
          </a:prstGeom>
          <a:noFill/>
        </p:spPr>
        <p:txBody>
          <a:bodyPr wrap="none" rtlCol="0">
            <a:spAutoFit/>
          </a:bodyPr>
          <a:lstStyle/>
          <a:p>
            <a:pPr algn="ctr"/>
            <a:r>
              <a:rPr lang="en-IN" sz="1600" b="1" dirty="0"/>
              <a:t>NEW</a:t>
            </a:r>
            <a:endParaRPr lang="en-US" sz="1600" b="1" dirty="0"/>
          </a:p>
        </p:txBody>
      </p:sp>
    </p:spTree>
    <p:extLst>
      <p:ext uri="{BB962C8B-B14F-4D97-AF65-F5344CB8AC3E}">
        <p14:creationId xmlns:p14="http://schemas.microsoft.com/office/powerpoint/2010/main" val="392063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63" presetClass="path" presetSubtype="0" accel="50000" decel="50000" fill="hold" nodeType="clickEffect">
                                  <p:stCondLst>
                                    <p:cond delay="0"/>
                                  </p:stCondLst>
                                  <p:childTnLst>
                                    <p:animMotion origin="layout" path="M -1.04167E-6 -4.44444E-6 L 0.07982 -4.44444E-6 " pathEditMode="relative" rAng="0" ptsTypes="AA">
                                      <p:cBhvr>
                                        <p:cTn id="54" dur="2000" fill="hold"/>
                                        <p:tgtEl>
                                          <p:spTgt spid="5"/>
                                        </p:tgtEl>
                                        <p:attrNameLst>
                                          <p:attrName>ppt_x</p:attrName>
                                          <p:attrName>ppt_y</p:attrName>
                                        </p:attrNameLst>
                                      </p:cBhvr>
                                      <p:rCtr x="3984" y="0"/>
                                    </p:animMotion>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8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63" presetClass="path" presetSubtype="0" accel="50000" decel="50000" fill="hold" nodeType="clickEffect">
                                  <p:stCondLst>
                                    <p:cond delay="0"/>
                                  </p:stCondLst>
                                  <p:childTnLst>
                                    <p:animMotion origin="layout" path="M 3.125E-6 -2.59259E-6 L 0.08346 -2.59259E-6 " pathEditMode="relative" rAng="0" ptsTypes="AA">
                                      <p:cBhvr>
                                        <p:cTn id="78" dur="2000" fill="hold"/>
                                        <p:tgtEl>
                                          <p:spTgt spid="63"/>
                                        </p:tgtEl>
                                        <p:attrNameLst>
                                          <p:attrName>ppt_x</p:attrName>
                                          <p:attrName>ppt_y</p:attrName>
                                        </p:attrNameLst>
                                      </p:cBhvr>
                                      <p:rCtr x="4167" y="0"/>
                                    </p:animMotion>
                                  </p:childTnLst>
                                </p:cTn>
                              </p:par>
                            </p:childTnLst>
                          </p:cTn>
                        </p:par>
                      </p:childTnLst>
                    </p:cTn>
                  </p:par>
                  <p:par>
                    <p:cTn id="79" fill="hold">
                      <p:stCondLst>
                        <p:cond delay="indefinite"/>
                      </p:stCondLst>
                      <p:childTnLst>
                        <p:par>
                          <p:cTn id="80" fill="hold">
                            <p:stCondLst>
                              <p:cond delay="0"/>
                            </p:stCondLst>
                            <p:childTnLst>
                              <p:par>
                                <p:cTn id="81" presetID="63" presetClass="path" presetSubtype="0" accel="50000" decel="50000" fill="hold" nodeType="clickEffect">
                                  <p:stCondLst>
                                    <p:cond delay="0"/>
                                  </p:stCondLst>
                                  <p:childTnLst>
                                    <p:animMotion origin="layout" path="M 0.07982 -4.44444E-6 L 0.18268 -4.44444E-6 " pathEditMode="relative" rAng="0" ptsTypes="AA">
                                      <p:cBhvr>
                                        <p:cTn id="82" dur="2000" fill="hold"/>
                                        <p:tgtEl>
                                          <p:spTgt spid="5"/>
                                        </p:tgtEl>
                                        <p:attrNameLst>
                                          <p:attrName>ppt_x</p:attrName>
                                          <p:attrName>ppt_y</p:attrName>
                                        </p:attrNameLst>
                                      </p:cBhvr>
                                      <p:rCtr x="5143" y="0"/>
                                    </p:animMotion>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5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8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63" presetClass="path" presetSubtype="0" accel="50000" decel="50000" fill="hold" nodeType="clickEffect">
                                  <p:stCondLst>
                                    <p:cond delay="0"/>
                                  </p:stCondLst>
                                  <p:childTnLst>
                                    <p:animMotion origin="layout" path="M 0.08346 -2.59259E-6 L 0.18528 -2.59259E-6 " pathEditMode="relative" rAng="0" ptsTypes="AA">
                                      <p:cBhvr>
                                        <p:cTn id="106" dur="2000" fill="hold"/>
                                        <p:tgtEl>
                                          <p:spTgt spid="63"/>
                                        </p:tgtEl>
                                        <p:attrNameLst>
                                          <p:attrName>ppt_x</p:attrName>
                                          <p:attrName>ppt_y</p:attrName>
                                        </p:attrNameLst>
                                      </p:cBhvr>
                                      <p:rCtr x="5091" y="0"/>
                                    </p:animMotion>
                                  </p:childTnLst>
                                </p:cTn>
                              </p:par>
                            </p:childTnLst>
                          </p:cTn>
                        </p:par>
                      </p:childTnLst>
                    </p:cTn>
                  </p:par>
                  <p:par>
                    <p:cTn id="107" fill="hold">
                      <p:stCondLst>
                        <p:cond delay="indefinite"/>
                      </p:stCondLst>
                      <p:childTnLst>
                        <p:par>
                          <p:cTn id="108" fill="hold">
                            <p:stCondLst>
                              <p:cond delay="0"/>
                            </p:stCondLst>
                            <p:childTnLst>
                              <p:par>
                                <p:cTn id="109" presetID="63" presetClass="path" presetSubtype="0" accel="50000" decel="50000" fill="hold" nodeType="clickEffect">
                                  <p:stCondLst>
                                    <p:cond delay="0"/>
                                  </p:stCondLst>
                                  <p:childTnLst>
                                    <p:animMotion origin="layout" path="M 0.18268 -4.44444E-6 L 0.28477 -4.44444E-6 " pathEditMode="relative" rAng="0" ptsTypes="AA">
                                      <p:cBhvr>
                                        <p:cTn id="110" dur="2000" fill="hold"/>
                                        <p:tgtEl>
                                          <p:spTgt spid="5"/>
                                        </p:tgtEl>
                                        <p:attrNameLst>
                                          <p:attrName>ppt_x</p:attrName>
                                          <p:attrName>ppt_y</p:attrName>
                                        </p:attrNameLst>
                                      </p:cBhvr>
                                      <p:rCtr x="5104" y="0"/>
                                    </p:animMotion>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61"/>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7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9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50" grpId="0"/>
      <p:bldP spid="55" grpId="0"/>
      <p:bldP spid="56" grpId="0"/>
      <p:bldP spid="67" grpId="0"/>
      <p:bldP spid="74" grpId="0"/>
      <p:bldP spid="75" grpId="0"/>
      <p:bldP spid="80" grpId="0"/>
      <p:bldP spid="80" grpId="1"/>
      <p:bldP spid="59" grpId="0"/>
      <p:bldP spid="59" grpId="1"/>
      <p:bldP spid="61" grpId="0"/>
      <p:bldP spid="61" grpId="1"/>
      <p:bldP spid="7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D9AC7-7F8C-4A64-BD7B-0F2C44B0C07D}"/>
              </a:ext>
            </a:extLst>
          </p:cNvPr>
          <p:cNvSpPr>
            <a:spLocks noGrp="1"/>
          </p:cNvSpPr>
          <p:nvPr>
            <p:ph type="title"/>
          </p:nvPr>
        </p:nvSpPr>
        <p:spPr/>
        <p:txBody>
          <a:bodyPr/>
          <a:lstStyle/>
          <a:p>
            <a:r>
              <a:rPr lang="en-IN" dirty="0"/>
              <a:t>Comparing two Lists</a:t>
            </a:r>
          </a:p>
        </p:txBody>
      </p:sp>
      <p:sp>
        <p:nvSpPr>
          <p:cNvPr id="3" name="Content Placeholder 2">
            <a:extLst>
              <a:ext uri="{FF2B5EF4-FFF2-40B4-BE49-F238E27FC236}">
                <a16:creationId xmlns:a16="http://schemas.microsoft.com/office/drawing/2014/main" id="{5CF37047-50A4-42C8-AC01-BF57C2345A86}"/>
              </a:ext>
            </a:extLst>
          </p:cNvPr>
          <p:cNvSpPr>
            <a:spLocks noGrp="1"/>
          </p:cNvSpPr>
          <p:nvPr>
            <p:ph idx="1"/>
          </p:nvPr>
        </p:nvSpPr>
        <p:spPr/>
        <p:txBody>
          <a:bodyPr/>
          <a:lstStyle/>
          <a:p>
            <a:pPr marL="0" indent="0">
              <a:buNone/>
            </a:pPr>
            <a:r>
              <a:rPr lang="en-US" dirty="0"/>
              <a:t>Comparing two linked list includes</a:t>
            </a:r>
          </a:p>
          <a:p>
            <a:r>
              <a:rPr lang="en-US" dirty="0"/>
              <a:t>Identifying whether the given two linked list are identical. </a:t>
            </a:r>
          </a:p>
          <a:p>
            <a:r>
              <a:rPr lang="en-US" dirty="0"/>
              <a:t>Two Linked Lists are identical when they have same data and arrangement of data is also same.</a:t>
            </a:r>
          </a:p>
          <a:p>
            <a:r>
              <a:rPr lang="en-US" dirty="0"/>
              <a:t>Checking whether the lists have same values when the arrangement is not same.</a:t>
            </a:r>
          </a:p>
          <a:p>
            <a:endParaRPr lang="en-IN" dirty="0"/>
          </a:p>
        </p:txBody>
      </p:sp>
    </p:spTree>
    <p:extLst>
      <p:ext uri="{BB962C8B-B14F-4D97-AF65-F5344CB8AC3E}">
        <p14:creationId xmlns:p14="http://schemas.microsoft.com/office/powerpoint/2010/main" val="8340300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270C7-5AAA-480E-8B91-B96E0E673A52}"/>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AC0E8086-F4F2-433D-A1A5-93D350C130A1}"/>
              </a:ext>
            </a:extLst>
          </p:cNvPr>
          <p:cNvSpPr txBox="1"/>
          <p:nvPr/>
        </p:nvSpPr>
        <p:spPr>
          <a:xfrm>
            <a:off x="152400" y="671691"/>
            <a:ext cx="11598442" cy="5909310"/>
          </a:xfrm>
          <a:prstGeom prst="rect">
            <a:avLst/>
          </a:prstGeom>
          <a:noFill/>
        </p:spPr>
        <p:txBody>
          <a:bodyPr wrap="square">
            <a:spAutoFit/>
          </a:bodyPr>
          <a:lstStyle/>
          <a:p>
            <a:pPr fontAlgn="base"/>
            <a:r>
              <a:rPr lang="en-IN" sz="1800" dirty="0">
                <a:solidFill>
                  <a:srgbClr val="002060"/>
                </a:solidFill>
                <a:latin typeface="Courier New" pitchFamily="49" charset="0"/>
                <a:cs typeface="Courier New" pitchFamily="49" charset="0"/>
              </a:rPr>
              <a:t>bool </a:t>
            </a:r>
            <a:r>
              <a:rPr lang="en-IN" sz="1800" b="1" dirty="0" err="1">
                <a:solidFill>
                  <a:srgbClr val="002060"/>
                </a:solidFill>
                <a:latin typeface="Courier New" pitchFamily="49" charset="0"/>
                <a:cs typeface="Courier New" pitchFamily="49" charset="0"/>
              </a:rPr>
              <a:t>areIdentical</a:t>
            </a:r>
            <a:r>
              <a:rPr lang="en-IN" sz="1800" dirty="0">
                <a:solidFill>
                  <a:srgbClr val="002060"/>
                </a:solidFill>
                <a:latin typeface="Courier New" pitchFamily="49" charset="0"/>
                <a:cs typeface="Courier New" pitchFamily="49" charset="0"/>
              </a:rPr>
              <a:t>(struct node *a, struct node *b)</a:t>
            </a:r>
          </a:p>
          <a:p>
            <a:pPr fontAlgn="base"/>
            <a:r>
              <a:rPr lang="en-IN" sz="1800" dirty="0">
                <a:solidFill>
                  <a:srgbClr val="002060"/>
                </a:solidFill>
                <a:latin typeface="Courier New" pitchFamily="49" charset="0"/>
                <a:cs typeface="Courier New" pitchFamily="49" charset="0"/>
              </a:rPr>
              <a:t>{</a:t>
            </a:r>
          </a:p>
          <a:p>
            <a:pPr fontAlgn="base"/>
            <a:r>
              <a:rPr lang="en-IN" sz="1800" dirty="0">
                <a:solidFill>
                  <a:srgbClr val="002060"/>
                </a:solidFill>
                <a:latin typeface="Courier New" pitchFamily="49" charset="0"/>
                <a:cs typeface="Courier New" pitchFamily="49" charset="0"/>
              </a:rPr>
              <a:t>    while (a != NULL &amp;&amp; b != NULL)</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if (a-&gt;data != b-&gt;data)</a:t>
            </a:r>
          </a:p>
          <a:p>
            <a:pPr fontAlgn="base"/>
            <a:r>
              <a:rPr lang="en-IN" sz="1800" dirty="0">
                <a:solidFill>
                  <a:srgbClr val="002060"/>
                </a:solidFill>
                <a:latin typeface="Courier New" pitchFamily="49" charset="0"/>
                <a:cs typeface="Courier New" pitchFamily="49" charset="0"/>
              </a:rPr>
              <a:t>            return false; </a:t>
            </a:r>
          </a:p>
          <a:p>
            <a:pPr algn="ctr" fontAlgn="base"/>
            <a:r>
              <a:rPr lang="en-IN" sz="1800" dirty="0">
                <a:solidFill>
                  <a:srgbClr val="002060"/>
                </a:solidFill>
                <a:latin typeface="Courier New" pitchFamily="49" charset="0"/>
                <a:cs typeface="Courier New" pitchFamily="49" charset="0"/>
              </a:rPr>
              <a:t>      </a:t>
            </a:r>
            <a:r>
              <a:rPr lang="en-IN" sz="1200" dirty="0">
                <a:solidFill>
                  <a:srgbClr val="FF0000"/>
                </a:solidFill>
                <a:latin typeface="Courier New" pitchFamily="49" charset="0"/>
                <a:cs typeface="Courier New" pitchFamily="49" charset="0"/>
              </a:rPr>
              <a:t>/* If we reach here, then a and b are not NULL and their data is same, so move to next nodes in both lists */</a:t>
            </a:r>
            <a:endParaRPr lang="en-IN" sz="1800" dirty="0">
              <a:solidFill>
                <a:srgbClr val="FF000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        a = a-&gt;next;</a:t>
            </a:r>
          </a:p>
          <a:p>
            <a:pPr fontAlgn="base"/>
            <a:r>
              <a:rPr lang="en-IN" sz="1800" dirty="0">
                <a:solidFill>
                  <a:srgbClr val="002060"/>
                </a:solidFill>
                <a:latin typeface="Courier New" pitchFamily="49" charset="0"/>
                <a:cs typeface="Courier New" pitchFamily="49" charset="0"/>
              </a:rPr>
              <a:t>        b = b-&gt;next;</a:t>
            </a:r>
          </a:p>
          <a:p>
            <a:pPr fontAlgn="base"/>
            <a:r>
              <a:rPr lang="en-IN" sz="1800" dirty="0">
                <a:solidFill>
                  <a:srgbClr val="002060"/>
                </a:solidFill>
                <a:latin typeface="Courier New" pitchFamily="49" charset="0"/>
                <a:cs typeface="Courier New" pitchFamily="49" charset="0"/>
              </a:rPr>
              <a:t>    } </a:t>
            </a:r>
          </a:p>
          <a:p>
            <a:pPr fontAlgn="base"/>
            <a:r>
              <a:rPr lang="en-IN" sz="1800" dirty="0">
                <a:solidFill>
                  <a:srgbClr val="002060"/>
                </a:solidFill>
                <a:latin typeface="Courier New" pitchFamily="49" charset="0"/>
                <a:cs typeface="Courier New" pitchFamily="49" charset="0"/>
              </a:rPr>
              <a:t>    </a:t>
            </a:r>
            <a:r>
              <a:rPr lang="en-IN" sz="1800" dirty="0">
                <a:solidFill>
                  <a:srgbClr val="FF0000"/>
                </a:solidFill>
                <a:latin typeface="Courier New" pitchFamily="49" charset="0"/>
                <a:cs typeface="Courier New" pitchFamily="49" charset="0"/>
              </a:rPr>
              <a:t>//If linked lists are identical, then 'a' and 'b' must be NULL at this point.</a:t>
            </a:r>
          </a:p>
          <a:p>
            <a:pPr fontAlgn="base"/>
            <a:r>
              <a:rPr lang="en-IN" sz="1800" dirty="0">
                <a:solidFill>
                  <a:srgbClr val="002060"/>
                </a:solidFill>
                <a:latin typeface="Courier New" pitchFamily="49" charset="0"/>
                <a:cs typeface="Courier New" pitchFamily="49" charset="0"/>
              </a:rPr>
              <a:t>    return (a == NULL &amp;&amp; b == NULL);</a:t>
            </a:r>
          </a:p>
          <a:p>
            <a:pPr fontAlgn="base"/>
            <a:r>
              <a:rPr lang="en-IN" sz="1800" dirty="0">
                <a:solidFill>
                  <a:srgbClr val="002060"/>
                </a:solidFill>
                <a:latin typeface="Courier New" pitchFamily="49" charset="0"/>
                <a:cs typeface="Courier New" pitchFamily="49" charset="0"/>
              </a:rPr>
              <a:t>}</a:t>
            </a:r>
          </a:p>
          <a:p>
            <a:pPr fontAlgn="base"/>
            <a:r>
              <a:rPr lang="en-IN" sz="1800" dirty="0">
                <a:solidFill>
                  <a:srgbClr val="002060"/>
                </a:solidFill>
                <a:latin typeface="Courier New" pitchFamily="49" charset="0"/>
                <a:cs typeface="Courier New" pitchFamily="49" charset="0"/>
              </a:rPr>
              <a:t>int main()</a:t>
            </a:r>
          </a:p>
          <a:p>
            <a:pPr fontAlgn="base"/>
            <a:r>
              <a:rPr lang="en-IN" sz="1800" dirty="0">
                <a:solidFill>
                  <a:srgbClr val="002060"/>
                </a:solidFill>
                <a:latin typeface="Courier New" pitchFamily="49" charset="0"/>
                <a:cs typeface="Courier New" pitchFamily="49" charset="0"/>
              </a:rPr>
              <a:t>{</a:t>
            </a:r>
          </a:p>
          <a:p>
            <a:pPr fontAlgn="base"/>
            <a:r>
              <a:rPr lang="en-IN" sz="1800" dirty="0">
                <a:solidFill>
                  <a:srgbClr val="002060"/>
                </a:solidFill>
                <a:latin typeface="Courier New" pitchFamily="49" charset="0"/>
                <a:cs typeface="Courier New" pitchFamily="49" charset="0"/>
              </a:rPr>
              <a:t>    struct node *a, *b;</a:t>
            </a:r>
          </a:p>
          <a:p>
            <a:pPr fontAlgn="base"/>
            <a:r>
              <a:rPr lang="en-IN" sz="1800" dirty="0">
                <a:solidFill>
                  <a:srgbClr val="002060"/>
                </a:solidFill>
                <a:latin typeface="Courier New" pitchFamily="49" charset="0"/>
                <a:cs typeface="Courier New" pitchFamily="49" charset="0"/>
              </a:rPr>
              <a:t>    a = </a:t>
            </a:r>
            <a:r>
              <a:rPr lang="en-IN" sz="1800" dirty="0" err="1">
                <a:solidFill>
                  <a:srgbClr val="002060"/>
                </a:solidFill>
                <a:latin typeface="Courier New" pitchFamily="49" charset="0"/>
                <a:cs typeface="Courier New" pitchFamily="49" charset="0"/>
              </a:rPr>
              <a:t>createList</a:t>
            </a:r>
            <a:r>
              <a:rPr lang="en-IN" sz="1800" dirty="0">
                <a:solidFill>
                  <a:srgbClr val="002060"/>
                </a:solidFill>
                <a:latin typeface="Courier New" pitchFamily="49" charset="0"/>
                <a:cs typeface="Courier New" pitchFamily="49" charset="0"/>
              </a:rPr>
              <a:t>(5);  </a:t>
            </a:r>
            <a:r>
              <a:rPr lang="en-IN" sz="1800" dirty="0">
                <a:solidFill>
                  <a:srgbClr val="FF0000"/>
                </a:solidFill>
                <a:latin typeface="Courier New" pitchFamily="49" charset="0"/>
                <a:cs typeface="Courier New" pitchFamily="49" charset="0"/>
              </a:rPr>
              <a:t>// </a:t>
            </a:r>
            <a:r>
              <a:rPr lang="en-IN" sz="1800" dirty="0" err="1">
                <a:solidFill>
                  <a:srgbClr val="FF0000"/>
                </a:solidFill>
                <a:latin typeface="Courier New" pitchFamily="49" charset="0"/>
                <a:cs typeface="Courier New" pitchFamily="49" charset="0"/>
              </a:rPr>
              <a:t>e.g</a:t>
            </a:r>
            <a:r>
              <a:rPr lang="en-IN" sz="1800" dirty="0">
                <a:solidFill>
                  <a:srgbClr val="FF0000"/>
                </a:solidFill>
                <a:latin typeface="Courier New" pitchFamily="49" charset="0"/>
                <a:cs typeface="Courier New" pitchFamily="49" charset="0"/>
              </a:rPr>
              <a:t>:  a: 5-&gt;4-&gt;3-&gt;2-&gt;1</a:t>
            </a:r>
          </a:p>
          <a:p>
            <a:pPr fontAlgn="base"/>
            <a:r>
              <a:rPr lang="en-IN" sz="1800" dirty="0">
                <a:solidFill>
                  <a:srgbClr val="002060"/>
                </a:solidFill>
                <a:latin typeface="Courier New" pitchFamily="49" charset="0"/>
                <a:cs typeface="Courier New" pitchFamily="49" charset="0"/>
              </a:rPr>
              <a:t>    b = </a:t>
            </a:r>
            <a:r>
              <a:rPr lang="en-IN" sz="1800" dirty="0" err="1">
                <a:solidFill>
                  <a:srgbClr val="002060"/>
                </a:solidFill>
                <a:latin typeface="Courier New" pitchFamily="49" charset="0"/>
                <a:cs typeface="Courier New" pitchFamily="49" charset="0"/>
              </a:rPr>
              <a:t>createList</a:t>
            </a:r>
            <a:r>
              <a:rPr lang="en-IN" sz="1800" dirty="0">
                <a:solidFill>
                  <a:srgbClr val="002060"/>
                </a:solidFill>
                <a:latin typeface="Courier New" pitchFamily="49" charset="0"/>
                <a:cs typeface="Courier New" pitchFamily="49" charset="0"/>
              </a:rPr>
              <a:t>(5);  </a:t>
            </a:r>
            <a:r>
              <a:rPr lang="en-IN" sz="1800" dirty="0">
                <a:solidFill>
                  <a:srgbClr val="FF0000"/>
                </a:solidFill>
                <a:latin typeface="Courier New" pitchFamily="49" charset="0"/>
                <a:cs typeface="Courier New" pitchFamily="49" charset="0"/>
              </a:rPr>
              <a:t>// </a:t>
            </a:r>
            <a:r>
              <a:rPr lang="en-IN" sz="1800" dirty="0" err="1">
                <a:solidFill>
                  <a:srgbClr val="FF0000"/>
                </a:solidFill>
                <a:latin typeface="Courier New" pitchFamily="49" charset="0"/>
                <a:cs typeface="Courier New" pitchFamily="49" charset="0"/>
              </a:rPr>
              <a:t>e.g</a:t>
            </a:r>
            <a:r>
              <a:rPr lang="en-IN" sz="1800" dirty="0">
                <a:solidFill>
                  <a:srgbClr val="FF0000"/>
                </a:solidFill>
                <a:latin typeface="Courier New" pitchFamily="49" charset="0"/>
                <a:cs typeface="Courier New" pitchFamily="49" charset="0"/>
              </a:rPr>
              <a:t>:  b: 5-&gt;4-&gt;3-&gt;2-&gt;1</a:t>
            </a:r>
          </a:p>
          <a:p>
            <a:pPr fontAlgn="base"/>
            <a:r>
              <a:rPr lang="en-IN" sz="1800" dirty="0">
                <a:solidFill>
                  <a:srgbClr val="FF0000"/>
                </a:solidFill>
                <a:latin typeface="Courier New" pitchFamily="49" charset="0"/>
                <a:cs typeface="Courier New" pitchFamily="49" charset="0"/>
              </a:rPr>
              <a:t>    </a:t>
            </a:r>
            <a:r>
              <a:rPr lang="en-IN" sz="1800" b="1" dirty="0" err="1">
                <a:solidFill>
                  <a:srgbClr val="002060"/>
                </a:solidFill>
                <a:latin typeface="Courier New" pitchFamily="49" charset="0"/>
                <a:cs typeface="Courier New" pitchFamily="49" charset="0"/>
              </a:rPr>
              <a:t>areIdentical</a:t>
            </a:r>
            <a:r>
              <a:rPr lang="en-IN" sz="1800" dirty="0">
                <a:solidFill>
                  <a:srgbClr val="002060"/>
                </a:solidFill>
                <a:latin typeface="Courier New" pitchFamily="49" charset="0"/>
                <a:cs typeface="Courier New" pitchFamily="49" charset="0"/>
              </a:rPr>
              <a:t>(a, b)? </a:t>
            </a:r>
            <a:r>
              <a:rPr lang="en-IN" sz="1800" dirty="0" err="1">
                <a:solidFill>
                  <a:srgbClr val="002060"/>
                </a:solidFill>
                <a:latin typeface="Courier New" pitchFamily="49" charset="0"/>
                <a:cs typeface="Courier New" pitchFamily="49" charset="0"/>
              </a:rPr>
              <a:t>printf</a:t>
            </a:r>
            <a:r>
              <a:rPr lang="en-IN" sz="1800" dirty="0">
                <a:solidFill>
                  <a:srgbClr val="002060"/>
                </a:solidFill>
                <a:latin typeface="Courier New" pitchFamily="49" charset="0"/>
                <a:cs typeface="Courier New" pitchFamily="49" charset="0"/>
              </a:rPr>
              <a:t>("Identical"): </a:t>
            </a:r>
            <a:r>
              <a:rPr lang="en-IN" sz="1800" dirty="0" err="1">
                <a:solidFill>
                  <a:srgbClr val="002060"/>
                </a:solidFill>
                <a:latin typeface="Courier New" pitchFamily="49" charset="0"/>
                <a:cs typeface="Courier New" pitchFamily="49" charset="0"/>
              </a:rPr>
              <a:t>printf</a:t>
            </a:r>
            <a:r>
              <a:rPr lang="en-IN" sz="1800" dirty="0">
                <a:solidFill>
                  <a:srgbClr val="002060"/>
                </a:solidFill>
                <a:latin typeface="Courier New" pitchFamily="49" charset="0"/>
                <a:cs typeface="Courier New" pitchFamily="49" charset="0"/>
              </a:rPr>
              <a:t>("Not identical");</a:t>
            </a:r>
            <a:r>
              <a:rPr lang="en-IN" sz="1800" dirty="0">
                <a:solidFill>
                  <a:srgbClr val="FF0000"/>
                </a:solidFill>
                <a:latin typeface="Courier New" pitchFamily="49" charset="0"/>
                <a:cs typeface="Courier New" pitchFamily="49" charset="0"/>
              </a:rPr>
              <a:t> </a:t>
            </a:r>
          </a:p>
          <a:p>
            <a:pPr fontAlgn="base"/>
            <a:r>
              <a:rPr lang="en-IN" sz="1800" dirty="0">
                <a:solidFill>
                  <a:srgbClr val="FF0000"/>
                </a:solidFill>
                <a:latin typeface="Courier New" pitchFamily="49" charset="0"/>
                <a:cs typeface="Courier New" pitchFamily="49" charset="0"/>
              </a:rPr>
              <a:t>    </a:t>
            </a:r>
            <a:r>
              <a:rPr lang="en-IN" sz="1800" dirty="0">
                <a:solidFill>
                  <a:srgbClr val="002060"/>
                </a:solidFill>
                <a:latin typeface="Courier New" pitchFamily="49" charset="0"/>
                <a:cs typeface="Courier New" pitchFamily="49" charset="0"/>
              </a:rPr>
              <a:t>return 0;</a:t>
            </a:r>
          </a:p>
          <a:p>
            <a:pPr fontAlgn="base"/>
            <a:r>
              <a:rPr lang="en-IN" sz="1800" dirty="0">
                <a:solidFill>
                  <a:srgbClr val="002060"/>
                </a:solidFill>
                <a:latin typeface="Courier New" pitchFamily="49" charset="0"/>
                <a:cs typeface="Courier New" pitchFamily="49" charset="0"/>
              </a:rPr>
              <a:t>} </a:t>
            </a:r>
          </a:p>
        </p:txBody>
      </p:sp>
    </p:spTree>
    <p:extLst>
      <p:ext uri="{BB962C8B-B14F-4D97-AF65-F5344CB8AC3E}">
        <p14:creationId xmlns:p14="http://schemas.microsoft.com/office/powerpoint/2010/main" val="641749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D8CBF-2EC3-44B8-9C74-09B97E29292E}"/>
              </a:ext>
            </a:extLst>
          </p:cNvPr>
          <p:cNvSpPr>
            <a:spLocks noGrp="1"/>
          </p:cNvSpPr>
          <p:nvPr>
            <p:ph type="title"/>
          </p:nvPr>
        </p:nvSpPr>
        <p:spPr/>
        <p:txBody>
          <a:bodyPr/>
          <a:lstStyle/>
          <a:p>
            <a:r>
              <a:rPr lang="en-IN" dirty="0"/>
              <a:t>Reversing Link List: Iterative method</a:t>
            </a:r>
          </a:p>
        </p:txBody>
      </p:sp>
      <p:sp>
        <p:nvSpPr>
          <p:cNvPr id="3" name="Content Placeholder 2">
            <a:extLst>
              <a:ext uri="{FF2B5EF4-FFF2-40B4-BE49-F238E27FC236}">
                <a16:creationId xmlns:a16="http://schemas.microsoft.com/office/drawing/2014/main" id="{03DCD977-FE67-4764-B69B-175BE7B7CE84}"/>
              </a:ext>
            </a:extLst>
          </p:cNvPr>
          <p:cNvSpPr>
            <a:spLocks noGrp="1"/>
          </p:cNvSpPr>
          <p:nvPr>
            <p:ph idx="1"/>
          </p:nvPr>
        </p:nvSpPr>
        <p:spPr/>
        <p:txBody>
          <a:bodyPr/>
          <a:lstStyle/>
          <a:p>
            <a:r>
              <a:rPr lang="en-US" sz="2000" dirty="0"/>
              <a:t>Reversing a list can be performed in two ways:</a:t>
            </a:r>
          </a:p>
          <a:p>
            <a:pPr lvl="1"/>
            <a:r>
              <a:rPr lang="en-US" sz="1800" dirty="0"/>
              <a:t>Iterative method</a:t>
            </a:r>
          </a:p>
          <a:p>
            <a:pPr lvl="1"/>
            <a:r>
              <a:rPr lang="en-US" sz="1800" dirty="0"/>
              <a:t>Recursive method</a:t>
            </a:r>
          </a:p>
          <a:p>
            <a:r>
              <a:rPr lang="en-US" sz="2000" dirty="0">
                <a:solidFill>
                  <a:srgbClr val="C00000"/>
                </a:solidFill>
              </a:rPr>
              <a:t>Steps to reverse a Singly Linked List using Iterative method</a:t>
            </a:r>
          </a:p>
          <a:p>
            <a:r>
              <a:rPr lang="en-US" sz="2000" dirty="0"/>
              <a:t>Step 1: Create two more pointers other than head namely </a:t>
            </a:r>
            <a:r>
              <a:rPr lang="en-US" sz="2000" dirty="0" err="1">
                <a:solidFill>
                  <a:srgbClr val="C00000"/>
                </a:solidFill>
              </a:rPr>
              <a:t>prevNode</a:t>
            </a:r>
            <a:r>
              <a:rPr lang="en-US" sz="2000" dirty="0"/>
              <a:t> and </a:t>
            </a:r>
            <a:r>
              <a:rPr lang="en-US" sz="2000" dirty="0" err="1">
                <a:solidFill>
                  <a:srgbClr val="C00000"/>
                </a:solidFill>
              </a:rPr>
              <a:t>curNode</a:t>
            </a:r>
            <a:r>
              <a:rPr lang="en-US" sz="2000" dirty="0"/>
              <a:t> that will hold the reference of previous node and current node respectively. </a:t>
            </a:r>
          </a:p>
          <a:p>
            <a:pPr lvl="1"/>
            <a:r>
              <a:rPr lang="en-US" sz="1800" dirty="0"/>
              <a:t>Make sure that </a:t>
            </a:r>
            <a:r>
              <a:rPr lang="en-US" sz="1800" dirty="0" err="1"/>
              <a:t>prevNode</a:t>
            </a:r>
            <a:r>
              <a:rPr lang="en-US" sz="1800" dirty="0"/>
              <a:t> points to first node i.e. </a:t>
            </a:r>
            <a:r>
              <a:rPr lang="en-US" sz="1800" dirty="0" err="1">
                <a:solidFill>
                  <a:srgbClr val="C00000"/>
                </a:solidFill>
              </a:rPr>
              <a:t>prevNode</a:t>
            </a:r>
            <a:r>
              <a:rPr lang="en-US" sz="1800" dirty="0">
                <a:solidFill>
                  <a:srgbClr val="C00000"/>
                </a:solidFill>
              </a:rPr>
              <a:t> = head</a:t>
            </a:r>
            <a:r>
              <a:rPr lang="en-US" sz="1800" dirty="0"/>
              <a:t>. </a:t>
            </a:r>
          </a:p>
          <a:p>
            <a:pPr lvl="1"/>
            <a:r>
              <a:rPr lang="en-US" sz="1800" dirty="0"/>
              <a:t>head should now point to its next node i.e. </a:t>
            </a:r>
            <a:r>
              <a:rPr lang="en-US" sz="1800" dirty="0">
                <a:solidFill>
                  <a:srgbClr val="C00000"/>
                </a:solidFill>
              </a:rPr>
              <a:t>head = head-&gt;next</a:t>
            </a:r>
            <a:r>
              <a:rPr lang="en-US" sz="1800" dirty="0"/>
              <a:t>. </a:t>
            </a:r>
          </a:p>
          <a:p>
            <a:pPr lvl="1"/>
            <a:r>
              <a:rPr lang="en-US" sz="1800" dirty="0" err="1"/>
              <a:t>curNode</a:t>
            </a:r>
            <a:r>
              <a:rPr lang="en-US" sz="1800" dirty="0"/>
              <a:t> should also points to the second node i.e. </a:t>
            </a:r>
            <a:r>
              <a:rPr lang="en-US" sz="1800" dirty="0" err="1">
                <a:solidFill>
                  <a:srgbClr val="C00000"/>
                </a:solidFill>
              </a:rPr>
              <a:t>curNode</a:t>
            </a:r>
            <a:r>
              <a:rPr lang="en-US" sz="1800" dirty="0">
                <a:solidFill>
                  <a:srgbClr val="C00000"/>
                </a:solidFill>
              </a:rPr>
              <a:t> = head</a:t>
            </a:r>
            <a:r>
              <a:rPr lang="en-US" sz="1800" dirty="0"/>
              <a:t>.</a:t>
            </a:r>
            <a:endParaRPr lang="en-IN" sz="1800" dirty="0"/>
          </a:p>
        </p:txBody>
      </p:sp>
      <p:pic>
        <p:nvPicPr>
          <p:cNvPr id="4" name="Picture 2" descr="Reversing linked list in C">
            <a:extLst>
              <a:ext uri="{FF2B5EF4-FFF2-40B4-BE49-F238E27FC236}">
                <a16:creationId xmlns:a16="http://schemas.microsoft.com/office/drawing/2014/main" id="{FF14CA8A-D129-430C-BD0A-88C93CA9C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1916" y="4812632"/>
            <a:ext cx="6520084" cy="1775496"/>
          </a:xfrm>
          <a:prstGeom prst="rect">
            <a:avLst/>
          </a:prstGeom>
          <a:noFill/>
          <a:ln w="31750">
            <a:solidFill>
              <a:schemeClr val="dk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272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C61B-C3B6-433E-8A48-76D20E7A8F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C18F6C-8028-4820-A582-7FFD0D499D65}"/>
              </a:ext>
            </a:extLst>
          </p:cNvPr>
          <p:cNvSpPr>
            <a:spLocks noGrp="1"/>
          </p:cNvSpPr>
          <p:nvPr>
            <p:ph idx="1"/>
          </p:nvPr>
        </p:nvSpPr>
        <p:spPr/>
        <p:txBody>
          <a:bodyPr/>
          <a:lstStyle/>
          <a:p>
            <a:r>
              <a:rPr lang="en-US" dirty="0">
                <a:solidFill>
                  <a:srgbClr val="C00000"/>
                </a:solidFill>
              </a:rPr>
              <a:t>Step 2: </a:t>
            </a:r>
            <a:r>
              <a:rPr lang="en-US" dirty="0"/>
              <a:t>Now, disconnect the first node from others. We will make sure that it points to none. As this node is going to be our last node. Perform operation </a:t>
            </a:r>
            <a:r>
              <a:rPr lang="en-US" dirty="0" err="1">
                <a:solidFill>
                  <a:srgbClr val="C00000"/>
                </a:solidFill>
              </a:rPr>
              <a:t>prevNode</a:t>
            </a:r>
            <a:r>
              <a:rPr lang="en-US" dirty="0">
                <a:solidFill>
                  <a:srgbClr val="C00000"/>
                </a:solidFill>
              </a:rPr>
              <a:t>-&gt;next = NULL</a:t>
            </a:r>
            <a:endParaRPr lang="en-US" dirty="0"/>
          </a:p>
          <a:p>
            <a:endParaRPr lang="en-US" dirty="0"/>
          </a:p>
          <a:p>
            <a:endParaRPr lang="en-US" dirty="0"/>
          </a:p>
          <a:p>
            <a:endParaRPr lang="en-US" dirty="0"/>
          </a:p>
          <a:p>
            <a:endParaRPr lang="en-US" dirty="0"/>
          </a:p>
          <a:p>
            <a:r>
              <a:rPr lang="en-US" dirty="0">
                <a:solidFill>
                  <a:srgbClr val="C00000"/>
                </a:solidFill>
              </a:rPr>
              <a:t>Step 3: </a:t>
            </a:r>
            <a:r>
              <a:rPr lang="en-US" dirty="0"/>
              <a:t>Move the head node to its next node i.e. </a:t>
            </a:r>
            <a:r>
              <a:rPr lang="en-US" dirty="0">
                <a:solidFill>
                  <a:srgbClr val="C00000"/>
                </a:solidFill>
              </a:rPr>
              <a:t>head = head-&gt;next</a:t>
            </a:r>
            <a:endParaRPr lang="en-US" dirty="0"/>
          </a:p>
          <a:p>
            <a:endParaRPr lang="en-IN" dirty="0"/>
          </a:p>
        </p:txBody>
      </p:sp>
      <p:pic>
        <p:nvPicPr>
          <p:cNvPr id="4" name="Picture 2" descr="Reversing linked list in C">
            <a:extLst>
              <a:ext uri="{FF2B5EF4-FFF2-40B4-BE49-F238E27FC236}">
                <a16:creationId xmlns:a16="http://schemas.microsoft.com/office/drawing/2014/main" id="{6FD2BA35-2B98-4807-80E9-88DA0298C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8412" y="2039089"/>
            <a:ext cx="6781804" cy="1673754"/>
          </a:xfrm>
          <a:prstGeom prst="rect">
            <a:avLst/>
          </a:prstGeom>
          <a:noFill/>
          <a:ln w="31750">
            <a:solidFill>
              <a:schemeClr val="dk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descr="Reversing linked list in C">
            <a:extLst>
              <a:ext uri="{FF2B5EF4-FFF2-40B4-BE49-F238E27FC236}">
                <a16:creationId xmlns:a16="http://schemas.microsoft.com/office/drawing/2014/main" id="{BECD7566-F8EC-4AE4-87BB-B043A762C3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6325" y="4626404"/>
            <a:ext cx="6745978" cy="1827605"/>
          </a:xfrm>
          <a:prstGeom prst="rect">
            <a:avLst/>
          </a:prstGeom>
          <a:noFill/>
          <a:ln w="31750">
            <a:solidFill>
              <a:schemeClr val="dk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131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95B43-8B56-4096-8902-8DF142524C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5625A7-143A-4E02-AC07-1547FB8C684A}"/>
              </a:ext>
            </a:extLst>
          </p:cNvPr>
          <p:cNvSpPr>
            <a:spLocks noGrp="1"/>
          </p:cNvSpPr>
          <p:nvPr>
            <p:ph idx="1"/>
          </p:nvPr>
        </p:nvSpPr>
        <p:spPr/>
        <p:txBody>
          <a:bodyPr/>
          <a:lstStyle/>
          <a:p>
            <a:pPr marL="0" indent="0">
              <a:buNone/>
            </a:pPr>
            <a:r>
              <a:rPr lang="en-US" dirty="0">
                <a:solidFill>
                  <a:srgbClr val="C00000"/>
                </a:solidFill>
              </a:rPr>
              <a:t>Step 4: </a:t>
            </a:r>
            <a:r>
              <a:rPr lang="en-US" dirty="0"/>
              <a:t>Now, re-connect the current node to its previous node  i.e. </a:t>
            </a:r>
            <a:r>
              <a:rPr lang="en-US" dirty="0" err="1">
                <a:solidFill>
                  <a:srgbClr val="C00000"/>
                </a:solidFill>
              </a:rPr>
              <a:t>curNode</a:t>
            </a:r>
            <a:r>
              <a:rPr lang="en-US" dirty="0">
                <a:solidFill>
                  <a:srgbClr val="C00000"/>
                </a:solidFill>
              </a:rPr>
              <a:t>-&gt;next = </a:t>
            </a:r>
            <a:r>
              <a:rPr lang="en-US" dirty="0" err="1">
                <a:solidFill>
                  <a:srgbClr val="C00000"/>
                </a:solidFill>
              </a:rPr>
              <a:t>prevNode</a:t>
            </a:r>
            <a:r>
              <a:rPr lang="en-US" dirty="0">
                <a:solidFill>
                  <a:srgbClr val="C00000"/>
                </a:solidFill>
              </a:rPr>
              <a:t>;</a:t>
            </a:r>
          </a:p>
          <a:p>
            <a:pPr marL="0" indent="0">
              <a:buNone/>
            </a:pPr>
            <a:endParaRPr lang="en-US" dirty="0">
              <a:solidFill>
                <a:srgbClr val="C00000"/>
              </a:solidFill>
            </a:endParaRPr>
          </a:p>
          <a:p>
            <a:pPr marL="0" indent="0">
              <a:buNone/>
            </a:pPr>
            <a:endParaRPr lang="en-US" dirty="0">
              <a:solidFill>
                <a:srgbClr val="C00000"/>
              </a:solidFill>
            </a:endParaRPr>
          </a:p>
          <a:p>
            <a:pPr marL="0" indent="0">
              <a:buNone/>
            </a:pPr>
            <a:endParaRPr lang="en-US" dirty="0">
              <a:solidFill>
                <a:srgbClr val="C00000"/>
              </a:solidFill>
            </a:endParaRPr>
          </a:p>
          <a:p>
            <a:pPr marL="0" indent="0">
              <a:buNone/>
            </a:pPr>
            <a:endParaRPr lang="en-US" dirty="0">
              <a:solidFill>
                <a:srgbClr val="C00000"/>
              </a:solidFill>
            </a:endParaRPr>
          </a:p>
          <a:p>
            <a:pPr marL="0" indent="0">
              <a:buNone/>
            </a:pPr>
            <a:r>
              <a:rPr lang="en-US" dirty="0">
                <a:solidFill>
                  <a:srgbClr val="C00000"/>
                </a:solidFill>
              </a:rPr>
              <a:t>Step 5: </a:t>
            </a:r>
            <a:r>
              <a:rPr lang="en-US" dirty="0"/>
              <a:t>Point the previous node to current node and current node to head node. Means they should now point to</a:t>
            </a:r>
            <a:r>
              <a:rPr lang="en-US" dirty="0">
                <a:solidFill>
                  <a:srgbClr val="C00000"/>
                </a:solidFill>
              </a:rPr>
              <a:t> </a:t>
            </a:r>
            <a:r>
              <a:rPr lang="en-US" dirty="0" err="1">
                <a:solidFill>
                  <a:srgbClr val="C00000"/>
                </a:solidFill>
              </a:rPr>
              <a:t>prevNode</a:t>
            </a:r>
            <a:r>
              <a:rPr lang="en-US" dirty="0">
                <a:solidFill>
                  <a:srgbClr val="C00000"/>
                </a:solidFill>
              </a:rPr>
              <a:t> = </a:t>
            </a:r>
            <a:r>
              <a:rPr lang="en-US" dirty="0" err="1">
                <a:solidFill>
                  <a:srgbClr val="C00000"/>
                </a:solidFill>
              </a:rPr>
              <a:t>curNode</a:t>
            </a:r>
            <a:r>
              <a:rPr lang="en-US" dirty="0">
                <a:solidFill>
                  <a:srgbClr val="C00000"/>
                </a:solidFill>
              </a:rPr>
              <a:t>; and </a:t>
            </a:r>
            <a:r>
              <a:rPr lang="en-US" dirty="0" err="1">
                <a:solidFill>
                  <a:srgbClr val="C00000"/>
                </a:solidFill>
              </a:rPr>
              <a:t>curNode</a:t>
            </a:r>
            <a:r>
              <a:rPr lang="en-US" dirty="0">
                <a:solidFill>
                  <a:srgbClr val="C00000"/>
                </a:solidFill>
              </a:rPr>
              <a:t> = head.</a:t>
            </a:r>
          </a:p>
          <a:p>
            <a:pPr marL="0" indent="0">
              <a:buNone/>
            </a:pPr>
            <a:endParaRPr lang="en-US" dirty="0">
              <a:solidFill>
                <a:srgbClr val="C00000"/>
              </a:solidFill>
            </a:endParaRPr>
          </a:p>
          <a:p>
            <a:endParaRPr lang="en-IN" dirty="0"/>
          </a:p>
        </p:txBody>
      </p:sp>
      <p:pic>
        <p:nvPicPr>
          <p:cNvPr id="4" name="Picture 2" descr="Reversing linked list in C">
            <a:extLst>
              <a:ext uri="{FF2B5EF4-FFF2-40B4-BE49-F238E27FC236}">
                <a16:creationId xmlns:a16="http://schemas.microsoft.com/office/drawing/2014/main" id="{F8ABAAA0-0938-423E-83F2-2C30B23B08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9444" y="1580311"/>
            <a:ext cx="7093111" cy="1759655"/>
          </a:xfrm>
          <a:prstGeom prst="rect">
            <a:avLst/>
          </a:prstGeom>
          <a:noFill/>
          <a:ln w="31750">
            <a:solidFill>
              <a:schemeClr val="dk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descr="Reversing linked list in C">
            <a:extLst>
              <a:ext uri="{FF2B5EF4-FFF2-40B4-BE49-F238E27FC236}">
                <a16:creationId xmlns:a16="http://schemas.microsoft.com/office/drawing/2014/main" id="{A7C4C757-C35D-4273-8D77-F9F3D9ECEB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443" y="4639605"/>
            <a:ext cx="7066935" cy="1814403"/>
          </a:xfrm>
          <a:prstGeom prst="rect">
            <a:avLst/>
          </a:prstGeom>
          <a:noFill/>
          <a:ln w="31750">
            <a:solidFill>
              <a:schemeClr val="dk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31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E24C-531F-415A-8334-F7BC66A7800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E80E90-A047-49AA-9456-4AE99581A8FB}"/>
              </a:ext>
            </a:extLst>
          </p:cNvPr>
          <p:cNvSpPr>
            <a:spLocks noGrp="1"/>
          </p:cNvSpPr>
          <p:nvPr>
            <p:ph idx="1"/>
          </p:nvPr>
        </p:nvSpPr>
        <p:spPr/>
        <p:txBody>
          <a:bodyPr/>
          <a:lstStyle/>
          <a:p>
            <a:r>
              <a:rPr lang="en-US" dirty="0">
                <a:solidFill>
                  <a:srgbClr val="C00000"/>
                </a:solidFill>
              </a:rPr>
              <a:t>Step 6: </a:t>
            </a:r>
            <a:r>
              <a:rPr lang="en-US" dirty="0"/>
              <a:t>Repeat steps 3-5 till head pointer becomes </a:t>
            </a:r>
            <a:r>
              <a:rPr lang="en-US" dirty="0">
                <a:solidFill>
                  <a:srgbClr val="C00000"/>
                </a:solidFill>
              </a:rPr>
              <a:t>NULL</a:t>
            </a:r>
            <a:r>
              <a:rPr lang="en-US" dirty="0"/>
              <a:t>.</a:t>
            </a:r>
          </a:p>
          <a:p>
            <a:r>
              <a:rPr lang="en-US" dirty="0">
                <a:solidFill>
                  <a:srgbClr val="C00000"/>
                </a:solidFill>
              </a:rPr>
              <a:t>Step 7: </a:t>
            </a:r>
            <a:r>
              <a:rPr lang="en-US" dirty="0"/>
              <a:t>Now, after all nodes has been re-connected in the reverse order. Make the last node as the first node. Means the head pointer should point to </a:t>
            </a:r>
            <a:r>
              <a:rPr lang="en-US" dirty="0" err="1"/>
              <a:t>prevNode</a:t>
            </a:r>
            <a:r>
              <a:rPr lang="en-US" dirty="0"/>
              <a:t> pointer. </a:t>
            </a:r>
          </a:p>
          <a:p>
            <a:pPr lvl="1"/>
            <a:r>
              <a:rPr lang="en-US" dirty="0"/>
              <a:t>Perform </a:t>
            </a:r>
            <a:r>
              <a:rPr lang="en-US" dirty="0">
                <a:solidFill>
                  <a:srgbClr val="C00000"/>
                </a:solidFill>
              </a:rPr>
              <a:t>head = </a:t>
            </a:r>
            <a:r>
              <a:rPr lang="en-US" dirty="0" err="1">
                <a:solidFill>
                  <a:srgbClr val="C00000"/>
                </a:solidFill>
              </a:rPr>
              <a:t>prevNode</a:t>
            </a:r>
            <a:r>
              <a:rPr lang="en-US" dirty="0">
                <a:solidFill>
                  <a:srgbClr val="C00000"/>
                </a:solidFill>
              </a:rPr>
              <a:t>;</a:t>
            </a:r>
            <a:r>
              <a:rPr lang="en-US" dirty="0"/>
              <a:t> And finally you end up with a reversed linked list of its original.</a:t>
            </a:r>
          </a:p>
          <a:p>
            <a:endParaRPr lang="en-IN" dirty="0"/>
          </a:p>
        </p:txBody>
      </p:sp>
      <p:pic>
        <p:nvPicPr>
          <p:cNvPr id="4" name="Picture 4" descr="Reversing linked list in C">
            <a:extLst>
              <a:ext uri="{FF2B5EF4-FFF2-40B4-BE49-F238E27FC236}">
                <a16:creationId xmlns:a16="http://schemas.microsoft.com/office/drawing/2014/main" id="{3D13CA59-0431-486B-8A6A-F545BC8F3E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7170" y="3020108"/>
            <a:ext cx="6593412" cy="1638520"/>
          </a:xfrm>
          <a:prstGeom prst="rect">
            <a:avLst/>
          </a:prstGeom>
          <a:noFill/>
          <a:ln w="31750">
            <a:solidFill>
              <a:schemeClr val="dk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236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B3386-B1BF-483D-851B-2E12091C12B2}"/>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E0697781-9C73-4527-9D13-5B3A6FF9C78A}"/>
              </a:ext>
            </a:extLst>
          </p:cNvPr>
          <p:cNvSpPr txBox="1"/>
          <p:nvPr/>
        </p:nvSpPr>
        <p:spPr>
          <a:xfrm>
            <a:off x="481264" y="710075"/>
            <a:ext cx="10395284" cy="6186309"/>
          </a:xfrm>
          <a:prstGeom prst="rect">
            <a:avLst/>
          </a:prstGeom>
          <a:noFill/>
        </p:spPr>
        <p:txBody>
          <a:bodyPr wrap="square">
            <a:spAutoFit/>
          </a:bodyPr>
          <a:lstStyle/>
          <a:p>
            <a:pPr fontAlgn="base"/>
            <a:r>
              <a:rPr lang="en-IN" sz="1800" dirty="0">
                <a:solidFill>
                  <a:srgbClr val="002060"/>
                </a:solidFill>
                <a:latin typeface="Courier New" pitchFamily="49" charset="0"/>
                <a:cs typeface="Courier New" pitchFamily="49" charset="0"/>
              </a:rPr>
              <a:t>void </a:t>
            </a:r>
            <a:r>
              <a:rPr lang="en-IN" sz="1800" b="1" dirty="0" err="1">
                <a:solidFill>
                  <a:srgbClr val="002060"/>
                </a:solidFill>
                <a:latin typeface="Courier New" pitchFamily="49" charset="0"/>
                <a:cs typeface="Courier New" pitchFamily="49" charset="0"/>
              </a:rPr>
              <a:t>reverseList</a:t>
            </a:r>
            <a:r>
              <a:rPr lang="en-IN" sz="1800" dirty="0">
                <a:solidFill>
                  <a:srgbClr val="002060"/>
                </a:solidFill>
                <a:latin typeface="Courier New" pitchFamily="49" charset="0"/>
                <a:cs typeface="Courier New" pitchFamily="49" charset="0"/>
              </a:rPr>
              <a:t>()</a:t>
            </a:r>
          </a:p>
          <a:p>
            <a:pPr fontAlgn="base"/>
            <a:r>
              <a:rPr lang="en-IN" sz="1800" dirty="0">
                <a:solidFill>
                  <a:srgbClr val="002060"/>
                </a:solidFill>
                <a:latin typeface="Courier New" pitchFamily="49" charset="0"/>
                <a:cs typeface="Courier New" pitchFamily="49" charset="0"/>
              </a:rPr>
              <a:t>{</a:t>
            </a:r>
          </a:p>
          <a:p>
            <a:pPr fontAlgn="base"/>
            <a:r>
              <a:rPr lang="en-IN" sz="1800" dirty="0">
                <a:solidFill>
                  <a:srgbClr val="002060"/>
                </a:solidFill>
                <a:latin typeface="Courier New" pitchFamily="49" charset="0"/>
                <a:cs typeface="Courier New" pitchFamily="49" charset="0"/>
              </a:rPr>
              <a:t>    struct node *</a:t>
            </a:r>
            <a:r>
              <a:rPr lang="en-IN" sz="1800" dirty="0" err="1">
                <a:solidFill>
                  <a:srgbClr val="002060"/>
                </a:solidFill>
                <a:latin typeface="Courier New" pitchFamily="49" charset="0"/>
                <a:cs typeface="Courier New" pitchFamily="49" charset="0"/>
              </a:rPr>
              <a:t>prevNode</a:t>
            </a:r>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curNode</a:t>
            </a:r>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if(head != NULL)</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prevNode</a:t>
            </a:r>
            <a:r>
              <a:rPr lang="en-IN" sz="1800" dirty="0">
                <a:solidFill>
                  <a:srgbClr val="002060"/>
                </a:solidFill>
                <a:latin typeface="Courier New" pitchFamily="49" charset="0"/>
                <a:cs typeface="Courier New" pitchFamily="49" charset="0"/>
              </a:rPr>
              <a:t> = head;</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curNode</a:t>
            </a:r>
            <a:r>
              <a:rPr lang="en-IN" sz="1800" dirty="0">
                <a:solidFill>
                  <a:srgbClr val="002060"/>
                </a:solidFill>
                <a:latin typeface="Courier New" pitchFamily="49" charset="0"/>
                <a:cs typeface="Courier New" pitchFamily="49" charset="0"/>
              </a:rPr>
              <a:t> = head-&gt;next;</a:t>
            </a:r>
          </a:p>
          <a:p>
            <a:pPr fontAlgn="base"/>
            <a:r>
              <a:rPr lang="en-IN" sz="1800" dirty="0">
                <a:solidFill>
                  <a:srgbClr val="002060"/>
                </a:solidFill>
                <a:latin typeface="Courier New" pitchFamily="49" charset="0"/>
                <a:cs typeface="Courier New" pitchFamily="49" charset="0"/>
              </a:rPr>
              <a:t>        head = head-&gt;next;</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prevNode</a:t>
            </a:r>
            <a:r>
              <a:rPr lang="en-IN" sz="1800" dirty="0">
                <a:solidFill>
                  <a:srgbClr val="002060"/>
                </a:solidFill>
                <a:latin typeface="Courier New" pitchFamily="49" charset="0"/>
                <a:cs typeface="Courier New" pitchFamily="49" charset="0"/>
              </a:rPr>
              <a:t>-&gt;next = NULL; 	</a:t>
            </a:r>
            <a:r>
              <a:rPr lang="en-IN" sz="1800" dirty="0">
                <a:solidFill>
                  <a:srgbClr val="FF0000"/>
                </a:solidFill>
                <a:latin typeface="Courier New" pitchFamily="49" charset="0"/>
                <a:cs typeface="Courier New" pitchFamily="49" charset="0"/>
              </a:rPr>
              <a:t>//Makes the first node as last node</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while(head != NULL)</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head = head-&gt;next;</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curNode</a:t>
            </a:r>
            <a:r>
              <a:rPr lang="en-IN" sz="1800" dirty="0">
                <a:solidFill>
                  <a:srgbClr val="002060"/>
                </a:solidFill>
                <a:latin typeface="Courier New" pitchFamily="49" charset="0"/>
                <a:cs typeface="Courier New" pitchFamily="49" charset="0"/>
              </a:rPr>
              <a:t>-&gt;next = </a:t>
            </a:r>
            <a:r>
              <a:rPr lang="en-IN" sz="1800" dirty="0" err="1">
                <a:solidFill>
                  <a:srgbClr val="002060"/>
                </a:solidFill>
                <a:latin typeface="Courier New" pitchFamily="49" charset="0"/>
                <a:cs typeface="Courier New" pitchFamily="49" charset="0"/>
              </a:rPr>
              <a:t>prevNode</a:t>
            </a:r>
            <a:r>
              <a:rPr lang="en-IN" sz="1800" dirty="0">
                <a:solidFill>
                  <a:srgbClr val="002060"/>
                </a:solidFill>
                <a:latin typeface="Courier New" pitchFamily="49" charset="0"/>
                <a:cs typeface="Courier New" pitchFamily="49" charset="0"/>
              </a:rPr>
              <a:t>;</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prevNode</a:t>
            </a:r>
            <a:r>
              <a:rPr lang="en-IN" sz="1800" dirty="0">
                <a:solidFill>
                  <a:srgbClr val="002060"/>
                </a:solidFill>
                <a:latin typeface="Courier New" pitchFamily="49" charset="0"/>
                <a:cs typeface="Courier New" pitchFamily="49" charset="0"/>
              </a:rPr>
              <a:t> = </a:t>
            </a:r>
            <a:r>
              <a:rPr lang="en-IN" sz="1800" dirty="0" err="1">
                <a:solidFill>
                  <a:srgbClr val="002060"/>
                </a:solidFill>
                <a:latin typeface="Courier New" pitchFamily="49" charset="0"/>
                <a:cs typeface="Courier New" pitchFamily="49" charset="0"/>
              </a:rPr>
              <a:t>curNode</a:t>
            </a:r>
            <a:r>
              <a:rPr lang="en-IN" sz="1800" dirty="0">
                <a:solidFill>
                  <a:srgbClr val="002060"/>
                </a:solidFill>
                <a:latin typeface="Courier New" pitchFamily="49" charset="0"/>
                <a:cs typeface="Courier New" pitchFamily="49" charset="0"/>
              </a:rPr>
              <a:t>;</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curNode</a:t>
            </a:r>
            <a:r>
              <a:rPr lang="en-IN" sz="1800" dirty="0">
                <a:solidFill>
                  <a:srgbClr val="002060"/>
                </a:solidFill>
                <a:latin typeface="Courier New" pitchFamily="49" charset="0"/>
                <a:cs typeface="Courier New" pitchFamily="49" charset="0"/>
              </a:rPr>
              <a:t> = head;</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head = </a:t>
            </a:r>
            <a:r>
              <a:rPr lang="en-IN" sz="1800" dirty="0" err="1">
                <a:solidFill>
                  <a:srgbClr val="002060"/>
                </a:solidFill>
                <a:latin typeface="Courier New" pitchFamily="49" charset="0"/>
                <a:cs typeface="Courier New" pitchFamily="49" charset="0"/>
              </a:rPr>
              <a:t>prevNode</a:t>
            </a:r>
            <a:r>
              <a:rPr lang="en-IN" sz="1800" dirty="0">
                <a:solidFill>
                  <a:srgbClr val="002060"/>
                </a:solidFill>
                <a:latin typeface="Courier New" pitchFamily="49" charset="0"/>
                <a:cs typeface="Courier New" pitchFamily="49" charset="0"/>
              </a:rPr>
              <a:t>; 		</a:t>
            </a:r>
            <a:r>
              <a:rPr lang="en-IN" sz="1800" dirty="0">
                <a:solidFill>
                  <a:srgbClr val="FF0000"/>
                </a:solidFill>
                <a:latin typeface="Courier New" pitchFamily="49" charset="0"/>
                <a:cs typeface="Courier New" pitchFamily="49" charset="0"/>
              </a:rPr>
              <a:t>//Makes the last node as head</a:t>
            </a:r>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printf</a:t>
            </a:r>
            <a:r>
              <a:rPr lang="en-IN" sz="1800" dirty="0">
                <a:solidFill>
                  <a:srgbClr val="002060"/>
                </a:solidFill>
                <a:latin typeface="Courier New" pitchFamily="49" charset="0"/>
                <a:cs typeface="Courier New" pitchFamily="49" charset="0"/>
              </a:rPr>
              <a:t>("SUCCESSFULLY REVERSED LIST\n");</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a:t>
            </a:r>
          </a:p>
        </p:txBody>
      </p:sp>
    </p:spTree>
    <p:extLst>
      <p:ext uri="{BB962C8B-B14F-4D97-AF65-F5344CB8AC3E}">
        <p14:creationId xmlns:p14="http://schemas.microsoft.com/office/powerpoint/2010/main" val="16771027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6136A-B93B-4F97-84E8-EF64ED7C1541}"/>
              </a:ext>
            </a:extLst>
          </p:cNvPr>
          <p:cNvSpPr>
            <a:spLocks noGrp="1"/>
          </p:cNvSpPr>
          <p:nvPr>
            <p:ph type="title"/>
          </p:nvPr>
        </p:nvSpPr>
        <p:spPr/>
        <p:txBody>
          <a:bodyPr/>
          <a:lstStyle/>
          <a:p>
            <a:r>
              <a:rPr lang="en-IN" dirty="0"/>
              <a:t>Reverse a Link List: Recursive Method(print only)</a:t>
            </a:r>
          </a:p>
        </p:txBody>
      </p:sp>
      <p:sp>
        <p:nvSpPr>
          <p:cNvPr id="5" name="TextBox 4">
            <a:extLst>
              <a:ext uri="{FF2B5EF4-FFF2-40B4-BE49-F238E27FC236}">
                <a16:creationId xmlns:a16="http://schemas.microsoft.com/office/drawing/2014/main" id="{99B927C2-E32F-48EC-BD86-13663D0B25DB}"/>
              </a:ext>
            </a:extLst>
          </p:cNvPr>
          <p:cNvSpPr txBox="1"/>
          <p:nvPr/>
        </p:nvSpPr>
        <p:spPr>
          <a:xfrm>
            <a:off x="182880" y="804311"/>
            <a:ext cx="11444437" cy="5909310"/>
          </a:xfrm>
          <a:prstGeom prst="rect">
            <a:avLst/>
          </a:prstGeom>
          <a:noFill/>
        </p:spPr>
        <p:txBody>
          <a:bodyPr wrap="square">
            <a:spAutoFit/>
          </a:bodyPr>
          <a:lstStyle/>
          <a:p>
            <a:pPr fontAlgn="base"/>
            <a:r>
              <a:rPr lang="en-IN" sz="1800" dirty="0">
                <a:solidFill>
                  <a:srgbClr val="002060"/>
                </a:solidFill>
                <a:latin typeface="Courier New" pitchFamily="49" charset="0"/>
                <a:cs typeface="Courier New" pitchFamily="49" charset="0"/>
              </a:rPr>
              <a:t>void </a:t>
            </a:r>
            <a:r>
              <a:rPr lang="en-IN" sz="1800" b="1" dirty="0" err="1">
                <a:solidFill>
                  <a:srgbClr val="002060"/>
                </a:solidFill>
                <a:latin typeface="Courier New" pitchFamily="49" charset="0"/>
                <a:cs typeface="Courier New" pitchFamily="49" charset="0"/>
              </a:rPr>
              <a:t>Recursive_Reverse</a:t>
            </a:r>
            <a:r>
              <a:rPr lang="en-IN" sz="1800" dirty="0">
                <a:solidFill>
                  <a:srgbClr val="002060"/>
                </a:solidFill>
                <a:latin typeface="Courier New" pitchFamily="49" charset="0"/>
                <a:cs typeface="Courier New" pitchFamily="49" charset="0"/>
              </a:rPr>
              <a:t>(struct node* head)</a:t>
            </a:r>
          </a:p>
          <a:p>
            <a:pPr fontAlgn="base"/>
            <a:r>
              <a:rPr lang="en-IN" sz="1800" dirty="0">
                <a:solidFill>
                  <a:srgbClr val="002060"/>
                </a:solidFill>
                <a:latin typeface="Courier New" pitchFamily="49" charset="0"/>
                <a:cs typeface="Courier New" pitchFamily="49" charset="0"/>
              </a:rPr>
              <a:t>{</a:t>
            </a:r>
            <a:endParaRPr lang="en-IN" sz="1800" dirty="0">
              <a:solidFill>
                <a:srgbClr val="FF000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    if (head == NULL) </a:t>
            </a:r>
            <a:r>
              <a:rPr lang="en-IN" sz="1800" dirty="0">
                <a:solidFill>
                  <a:srgbClr val="FF0000"/>
                </a:solidFill>
                <a:latin typeface="Courier New" pitchFamily="49" charset="0"/>
                <a:cs typeface="Courier New" pitchFamily="49" charset="0"/>
              </a:rPr>
              <a:t>// boundary condition to stop recursion</a:t>
            </a:r>
            <a:endParaRPr lang="en-IN" sz="1800" dirty="0">
              <a:solidFill>
                <a:srgbClr val="00206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       return;</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a:t>
            </a:r>
            <a:r>
              <a:rPr lang="en-IN" sz="1800" b="1" dirty="0" err="1">
                <a:solidFill>
                  <a:srgbClr val="002060"/>
                </a:solidFill>
                <a:latin typeface="Courier New" pitchFamily="49" charset="0"/>
                <a:cs typeface="Courier New" pitchFamily="49" charset="0"/>
              </a:rPr>
              <a:t>Recursive_Reverse</a:t>
            </a:r>
            <a:r>
              <a:rPr lang="en-IN" sz="1800" dirty="0">
                <a:solidFill>
                  <a:srgbClr val="002060"/>
                </a:solidFill>
                <a:latin typeface="Courier New" pitchFamily="49" charset="0"/>
                <a:cs typeface="Courier New" pitchFamily="49" charset="0"/>
              </a:rPr>
              <a:t>(head-&gt;next); </a:t>
            </a:r>
            <a:r>
              <a:rPr lang="en-IN" sz="1800" dirty="0">
                <a:solidFill>
                  <a:srgbClr val="FF0000"/>
                </a:solidFill>
                <a:latin typeface="Courier New" pitchFamily="49" charset="0"/>
                <a:cs typeface="Courier New" pitchFamily="49" charset="0"/>
              </a:rPr>
              <a:t>// print the list after head node</a:t>
            </a:r>
            <a:endParaRPr lang="en-IN" sz="1800" dirty="0">
              <a:solidFill>
                <a:srgbClr val="00206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printf</a:t>
            </a:r>
            <a:r>
              <a:rPr lang="en-IN" sz="1800" dirty="0">
                <a:solidFill>
                  <a:srgbClr val="002060"/>
                </a:solidFill>
                <a:latin typeface="Courier New" pitchFamily="49" charset="0"/>
                <a:cs typeface="Courier New" pitchFamily="49" charset="0"/>
              </a:rPr>
              <a:t>("%d  ", head-&gt;data);</a:t>
            </a:r>
            <a:r>
              <a:rPr lang="en-IN" sz="1800" dirty="0">
                <a:solidFill>
                  <a:srgbClr val="FF0000"/>
                </a:solidFill>
                <a:latin typeface="Courier New" pitchFamily="49" charset="0"/>
                <a:cs typeface="Courier New" pitchFamily="49" charset="0"/>
              </a:rPr>
              <a:t> // After everything else is printed, print head</a:t>
            </a:r>
            <a:endParaRPr lang="en-IN" sz="1800" dirty="0">
              <a:solidFill>
                <a:srgbClr val="00206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a:t>
            </a:r>
          </a:p>
          <a:p>
            <a:pPr fontAlgn="base"/>
            <a:endParaRPr lang="en-IN" sz="1800" dirty="0">
              <a:solidFill>
                <a:srgbClr val="002060"/>
              </a:solidFill>
              <a:latin typeface="Courier New" pitchFamily="49" charset="0"/>
              <a:cs typeface="Courier New" pitchFamily="49" charset="0"/>
            </a:endParaRPr>
          </a:p>
          <a:p>
            <a:pPr fontAlgn="base"/>
            <a:endParaRPr lang="en-IN" sz="1800" dirty="0">
              <a:solidFill>
                <a:srgbClr val="002060"/>
              </a:solidFill>
              <a:latin typeface="Courier New" pitchFamily="49" charset="0"/>
              <a:cs typeface="Courier New" pitchFamily="49" charset="0"/>
            </a:endParaRPr>
          </a:p>
          <a:p>
            <a:pPr fontAlgn="base"/>
            <a:r>
              <a:rPr lang="en-IN" sz="1800" dirty="0">
                <a:solidFill>
                  <a:srgbClr val="FF0000"/>
                </a:solidFill>
                <a:latin typeface="Courier New" pitchFamily="49" charset="0"/>
                <a:cs typeface="Courier New" pitchFamily="49" charset="0"/>
              </a:rPr>
              <a:t>/* It should be called from the main() function as */</a:t>
            </a:r>
          </a:p>
          <a:p>
            <a:pPr fontAlgn="base"/>
            <a:endParaRPr lang="en-IN" sz="1800" dirty="0">
              <a:solidFill>
                <a:srgbClr val="FF000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int main()</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int n = 10;</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createList</a:t>
            </a:r>
            <a:r>
              <a:rPr lang="en-IN" sz="1800" dirty="0">
                <a:solidFill>
                  <a:srgbClr val="002060"/>
                </a:solidFill>
                <a:latin typeface="Courier New" pitchFamily="49" charset="0"/>
                <a:cs typeface="Courier New" pitchFamily="49" charset="0"/>
              </a:rPr>
              <a:t>(n);</a:t>
            </a:r>
            <a:r>
              <a:rPr lang="en-IN" sz="1800" dirty="0">
                <a:solidFill>
                  <a:srgbClr val="FF0000"/>
                </a:solidFill>
                <a:latin typeface="Courier New" pitchFamily="49" charset="0"/>
                <a:cs typeface="Courier New" pitchFamily="49" charset="0"/>
              </a:rPr>
              <a:t> 	// creates 10 nodes in the linked list</a:t>
            </a:r>
          </a:p>
          <a:p>
            <a:pPr fontAlgn="base"/>
            <a:r>
              <a:rPr lang="en-IN" sz="1800" dirty="0">
                <a:solidFill>
                  <a:srgbClr val="FF0000"/>
                </a:solidFill>
                <a:latin typeface="Courier New" pitchFamily="49" charset="0"/>
                <a:cs typeface="Courier New" pitchFamily="49" charset="0"/>
              </a:rPr>
              <a:t>   </a:t>
            </a:r>
            <a:r>
              <a:rPr lang="en-IN" sz="1800" b="1" dirty="0" err="1">
                <a:solidFill>
                  <a:srgbClr val="002060"/>
                </a:solidFill>
                <a:latin typeface="Courier New" pitchFamily="49" charset="0"/>
                <a:cs typeface="Courier New" pitchFamily="49" charset="0"/>
              </a:rPr>
              <a:t>Recursive_Reverse</a:t>
            </a:r>
            <a:r>
              <a:rPr lang="en-IN" sz="1800" dirty="0">
                <a:solidFill>
                  <a:srgbClr val="002060"/>
                </a:solidFill>
                <a:latin typeface="Courier New" pitchFamily="49" charset="0"/>
                <a:cs typeface="Courier New" pitchFamily="49" charset="0"/>
              </a:rPr>
              <a:t>(head);</a:t>
            </a:r>
          </a:p>
          <a:p>
            <a:pPr fontAlgn="base"/>
            <a:endParaRPr lang="en-IN" sz="1800" dirty="0">
              <a:solidFill>
                <a:srgbClr val="00206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   return 0;</a:t>
            </a:r>
          </a:p>
          <a:p>
            <a:pPr fontAlgn="base"/>
            <a:r>
              <a:rPr lang="en-IN" sz="1800" dirty="0">
                <a:solidFill>
                  <a:srgbClr val="002060"/>
                </a:solidFill>
                <a:latin typeface="Courier New" pitchFamily="49" charset="0"/>
                <a:cs typeface="Courier New" pitchFamily="49" charset="0"/>
              </a:rPr>
              <a:t>}</a:t>
            </a:r>
            <a:endParaRPr lang="en-IN" dirty="0"/>
          </a:p>
        </p:txBody>
      </p:sp>
    </p:spTree>
    <p:extLst>
      <p:ext uri="{BB962C8B-B14F-4D97-AF65-F5344CB8AC3E}">
        <p14:creationId xmlns:p14="http://schemas.microsoft.com/office/powerpoint/2010/main" val="14296917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46456-62EA-47FE-9458-2F539A0F5169}"/>
              </a:ext>
            </a:extLst>
          </p:cNvPr>
          <p:cNvSpPr>
            <a:spLocks noGrp="1"/>
          </p:cNvSpPr>
          <p:nvPr>
            <p:ph type="title"/>
          </p:nvPr>
        </p:nvSpPr>
        <p:spPr/>
        <p:txBody>
          <a:bodyPr/>
          <a:lstStyle/>
          <a:p>
            <a:r>
              <a:rPr lang="en-IN" dirty="0"/>
              <a:t>Reverse a Link List: Recursive Method</a:t>
            </a:r>
          </a:p>
        </p:txBody>
      </p:sp>
      <p:sp>
        <p:nvSpPr>
          <p:cNvPr id="5" name="TextBox 4">
            <a:extLst>
              <a:ext uri="{FF2B5EF4-FFF2-40B4-BE49-F238E27FC236}">
                <a16:creationId xmlns:a16="http://schemas.microsoft.com/office/drawing/2014/main" id="{DA84BBBD-DB64-463F-8BDD-3BC49DEAD7AF}"/>
              </a:ext>
            </a:extLst>
          </p:cNvPr>
          <p:cNvSpPr txBox="1"/>
          <p:nvPr/>
        </p:nvSpPr>
        <p:spPr>
          <a:xfrm>
            <a:off x="154004" y="710075"/>
            <a:ext cx="12037996" cy="6186309"/>
          </a:xfrm>
          <a:prstGeom prst="rect">
            <a:avLst/>
          </a:prstGeom>
          <a:noFill/>
        </p:spPr>
        <p:txBody>
          <a:bodyPr wrap="square">
            <a:spAutoFit/>
          </a:bodyPr>
          <a:lstStyle/>
          <a:p>
            <a:pPr fontAlgn="base"/>
            <a:r>
              <a:rPr lang="en-IN" sz="1800" dirty="0">
                <a:solidFill>
                  <a:srgbClr val="002060"/>
                </a:solidFill>
                <a:latin typeface="Courier New" pitchFamily="49" charset="0"/>
                <a:cs typeface="Courier New" pitchFamily="49" charset="0"/>
              </a:rPr>
              <a:t>Struct node* </a:t>
            </a:r>
            <a:r>
              <a:rPr lang="en-IN" sz="1800" b="1" dirty="0">
                <a:solidFill>
                  <a:srgbClr val="002060"/>
                </a:solidFill>
                <a:latin typeface="Courier New" pitchFamily="49" charset="0"/>
                <a:cs typeface="Courier New" pitchFamily="49" charset="0"/>
              </a:rPr>
              <a:t>Recursive_Reverse2</a:t>
            </a:r>
            <a:r>
              <a:rPr lang="en-IN" sz="1800" dirty="0">
                <a:solidFill>
                  <a:srgbClr val="002060"/>
                </a:solidFill>
                <a:latin typeface="Courier New" pitchFamily="49" charset="0"/>
                <a:cs typeface="Courier New" pitchFamily="49" charset="0"/>
              </a:rPr>
              <a:t>(struct node* Node)</a:t>
            </a:r>
          </a:p>
          <a:p>
            <a:pPr fontAlgn="base"/>
            <a:r>
              <a:rPr lang="en-IN" sz="1800" dirty="0">
                <a:solidFill>
                  <a:srgbClr val="002060"/>
                </a:solidFill>
                <a:latin typeface="Courier New" pitchFamily="49" charset="0"/>
                <a:cs typeface="Courier New" pitchFamily="49" charset="0"/>
              </a:rPr>
              <a:t>{</a:t>
            </a:r>
            <a:endParaRPr lang="en-IN" sz="1800" dirty="0">
              <a:solidFill>
                <a:srgbClr val="FF000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    if (Node == NULL) </a:t>
            </a:r>
            <a:r>
              <a:rPr lang="en-IN" sz="1800" dirty="0">
                <a:solidFill>
                  <a:srgbClr val="FF0000"/>
                </a:solidFill>
                <a:latin typeface="Courier New" pitchFamily="49" charset="0"/>
                <a:cs typeface="Courier New" pitchFamily="49" charset="0"/>
              </a:rPr>
              <a:t>// Check if the list is empty</a:t>
            </a:r>
            <a:endParaRPr lang="en-IN" sz="1800" dirty="0">
              <a:solidFill>
                <a:srgbClr val="00206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       return NULL;</a:t>
            </a:r>
          </a:p>
          <a:p>
            <a:pPr fontAlgn="base"/>
            <a:r>
              <a:rPr lang="en-IN" sz="1800" dirty="0">
                <a:solidFill>
                  <a:srgbClr val="002060"/>
                </a:solidFill>
                <a:latin typeface="Courier New" pitchFamily="49" charset="0"/>
                <a:cs typeface="Courier New" pitchFamily="49" charset="0"/>
              </a:rPr>
              <a:t>    if (Node-&gt;next==NULL){ 	</a:t>
            </a:r>
            <a:r>
              <a:rPr lang="en-IN" sz="1800" dirty="0">
                <a:solidFill>
                  <a:srgbClr val="FF0000"/>
                </a:solidFill>
                <a:latin typeface="Courier New" pitchFamily="49" charset="0"/>
                <a:cs typeface="Courier New" pitchFamily="49" charset="0"/>
              </a:rPr>
              <a:t>// Last node to stop recursion</a:t>
            </a:r>
            <a:endParaRPr lang="en-IN" sz="1800" dirty="0">
              <a:solidFill>
                <a:srgbClr val="00206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        head=Node;		</a:t>
            </a:r>
            <a:r>
              <a:rPr lang="en-IN" sz="1800" dirty="0">
                <a:solidFill>
                  <a:srgbClr val="FF0000"/>
                </a:solidFill>
                <a:latin typeface="Courier New" pitchFamily="49" charset="0"/>
                <a:cs typeface="Courier New" pitchFamily="49" charset="0"/>
              </a:rPr>
              <a:t>// Make the last node as head</a:t>
            </a:r>
          </a:p>
          <a:p>
            <a:pPr fontAlgn="base"/>
            <a:r>
              <a:rPr lang="en-IN" sz="1800" dirty="0">
                <a:solidFill>
                  <a:srgbClr val="002060"/>
                </a:solidFill>
                <a:latin typeface="Courier New" pitchFamily="49" charset="0"/>
                <a:cs typeface="Courier New" pitchFamily="49" charset="0"/>
              </a:rPr>
              <a:t>        return Node; </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node* Node1= </a:t>
            </a:r>
            <a:r>
              <a:rPr lang="en-IN" sz="1800" b="1" dirty="0">
                <a:solidFill>
                  <a:srgbClr val="002060"/>
                </a:solidFill>
                <a:latin typeface="Courier New" pitchFamily="49" charset="0"/>
                <a:cs typeface="Courier New" pitchFamily="49" charset="0"/>
              </a:rPr>
              <a:t>Recursive_Reverse2</a:t>
            </a:r>
            <a:r>
              <a:rPr lang="en-IN" sz="1800" dirty="0">
                <a:solidFill>
                  <a:srgbClr val="002060"/>
                </a:solidFill>
                <a:latin typeface="Courier New" pitchFamily="49" charset="0"/>
                <a:cs typeface="Courier New" pitchFamily="49" charset="0"/>
              </a:rPr>
              <a:t>(Node-&gt;next); </a:t>
            </a:r>
            <a:r>
              <a:rPr lang="en-IN" sz="1800" dirty="0">
                <a:solidFill>
                  <a:srgbClr val="FF0000"/>
                </a:solidFill>
                <a:latin typeface="Courier New" pitchFamily="49" charset="0"/>
                <a:cs typeface="Courier New" pitchFamily="49" charset="0"/>
              </a:rPr>
              <a:t>// call for next node</a:t>
            </a:r>
            <a:endParaRPr lang="en-IN" sz="1800" dirty="0">
              <a:solidFill>
                <a:srgbClr val="002060"/>
              </a:solidFill>
              <a:latin typeface="Courier New" pitchFamily="49" charset="0"/>
              <a:cs typeface="Courier New" pitchFamily="49" charset="0"/>
            </a:endParaRPr>
          </a:p>
          <a:p>
            <a:pPr fontAlgn="base"/>
            <a:r>
              <a:rPr lang="en-IN" sz="1800" dirty="0">
                <a:solidFill>
                  <a:srgbClr val="002060"/>
                </a:solidFill>
                <a:latin typeface="Courier New" pitchFamily="49" charset="0"/>
                <a:cs typeface="Courier New" pitchFamily="49" charset="0"/>
              </a:rPr>
              <a:t>    Node1-&gt;next=Node;</a:t>
            </a:r>
          </a:p>
          <a:p>
            <a:pPr fontAlgn="base"/>
            <a:r>
              <a:rPr lang="en-IN" sz="1800" dirty="0">
                <a:solidFill>
                  <a:srgbClr val="002060"/>
                </a:solidFill>
                <a:latin typeface="Courier New" pitchFamily="49" charset="0"/>
                <a:cs typeface="Courier New" pitchFamily="49" charset="0"/>
              </a:rPr>
              <a:t>    Node-&gt;next = NULL;</a:t>
            </a:r>
          </a:p>
          <a:p>
            <a:pPr fontAlgn="base"/>
            <a:r>
              <a:rPr lang="en-IN" sz="1800" dirty="0">
                <a:solidFill>
                  <a:srgbClr val="002060"/>
                </a:solidFill>
                <a:latin typeface="Courier New" pitchFamily="49" charset="0"/>
                <a:cs typeface="Courier New" pitchFamily="49" charset="0"/>
              </a:rPr>
              <a:t>    return Node;</a:t>
            </a:r>
          </a:p>
          <a:p>
            <a:pPr fontAlgn="base"/>
            <a:r>
              <a:rPr lang="en-IN" sz="1800" dirty="0">
                <a:solidFill>
                  <a:srgbClr val="002060"/>
                </a:solidFill>
                <a:latin typeface="Courier New" pitchFamily="49" charset="0"/>
                <a:cs typeface="Courier New" pitchFamily="49" charset="0"/>
              </a:rPr>
              <a:t>}</a:t>
            </a:r>
          </a:p>
          <a:p>
            <a:pPr fontAlgn="base"/>
            <a:r>
              <a:rPr lang="en-IN" sz="1800" dirty="0">
                <a:solidFill>
                  <a:srgbClr val="FF0000"/>
                </a:solidFill>
                <a:latin typeface="Courier New" pitchFamily="49" charset="0"/>
                <a:cs typeface="Courier New" pitchFamily="49" charset="0"/>
              </a:rPr>
              <a:t>/* It should be called from the main() function as */</a:t>
            </a:r>
          </a:p>
          <a:p>
            <a:pPr fontAlgn="base"/>
            <a:r>
              <a:rPr lang="en-IN" sz="1800" dirty="0">
                <a:solidFill>
                  <a:srgbClr val="002060"/>
                </a:solidFill>
                <a:latin typeface="Courier New" pitchFamily="49" charset="0"/>
                <a:cs typeface="Courier New" pitchFamily="49" charset="0"/>
              </a:rPr>
              <a:t>int main()</a:t>
            </a:r>
          </a:p>
          <a:p>
            <a:pPr fontAlgn="base"/>
            <a:r>
              <a:rPr lang="en-IN" sz="1800" dirty="0">
                <a:solidFill>
                  <a:srgbClr val="002060"/>
                </a:solidFill>
                <a:latin typeface="Courier New" pitchFamily="49" charset="0"/>
                <a:cs typeface="Courier New" pitchFamily="49" charset="0"/>
              </a:rPr>
              <a:t>{    </a:t>
            </a:r>
          </a:p>
          <a:p>
            <a:pPr fontAlgn="base"/>
            <a:r>
              <a:rPr lang="en-IN" sz="1800" dirty="0">
                <a:solidFill>
                  <a:srgbClr val="002060"/>
                </a:solidFill>
                <a:latin typeface="Courier New" pitchFamily="49" charset="0"/>
                <a:cs typeface="Courier New" pitchFamily="49" charset="0"/>
              </a:rPr>
              <a:t>   int n = 10;</a:t>
            </a:r>
          </a:p>
          <a:p>
            <a:pPr fontAlgn="base"/>
            <a:r>
              <a:rPr lang="en-IN" sz="1800" dirty="0">
                <a:solidFill>
                  <a:srgbClr val="002060"/>
                </a:solidFill>
                <a:latin typeface="Courier New" pitchFamily="49" charset="0"/>
                <a:cs typeface="Courier New" pitchFamily="49" charset="0"/>
              </a:rPr>
              <a:t>   </a:t>
            </a:r>
            <a:r>
              <a:rPr lang="en-IN" sz="1800" dirty="0" err="1">
                <a:solidFill>
                  <a:srgbClr val="002060"/>
                </a:solidFill>
                <a:latin typeface="Courier New" pitchFamily="49" charset="0"/>
                <a:cs typeface="Courier New" pitchFamily="49" charset="0"/>
              </a:rPr>
              <a:t>createList</a:t>
            </a:r>
            <a:r>
              <a:rPr lang="en-IN" sz="1800" dirty="0">
                <a:solidFill>
                  <a:srgbClr val="002060"/>
                </a:solidFill>
                <a:latin typeface="Courier New" pitchFamily="49" charset="0"/>
                <a:cs typeface="Courier New" pitchFamily="49" charset="0"/>
              </a:rPr>
              <a:t>(n);</a:t>
            </a:r>
            <a:r>
              <a:rPr lang="en-IN" sz="1800" dirty="0">
                <a:solidFill>
                  <a:srgbClr val="FF0000"/>
                </a:solidFill>
                <a:latin typeface="Courier New" pitchFamily="49" charset="0"/>
                <a:cs typeface="Courier New" pitchFamily="49" charset="0"/>
              </a:rPr>
              <a:t> 	// creates 10 nodes in the linked list</a:t>
            </a:r>
          </a:p>
          <a:p>
            <a:pPr fontAlgn="base"/>
            <a:r>
              <a:rPr lang="en-IN" sz="1800" dirty="0">
                <a:solidFill>
                  <a:srgbClr val="FF0000"/>
                </a:solidFill>
                <a:latin typeface="Courier New" pitchFamily="49" charset="0"/>
                <a:cs typeface="Courier New" pitchFamily="49" charset="0"/>
              </a:rPr>
              <a:t>   </a:t>
            </a:r>
            <a:r>
              <a:rPr lang="en-IN" sz="1800" b="1" dirty="0">
                <a:solidFill>
                  <a:srgbClr val="002060"/>
                </a:solidFill>
                <a:latin typeface="Courier New" pitchFamily="49" charset="0"/>
                <a:cs typeface="Courier New" pitchFamily="49" charset="0"/>
              </a:rPr>
              <a:t>Recursive_Reverse2</a:t>
            </a:r>
            <a:r>
              <a:rPr lang="en-IN" sz="1800" dirty="0">
                <a:solidFill>
                  <a:srgbClr val="002060"/>
                </a:solidFill>
                <a:latin typeface="Courier New" pitchFamily="49" charset="0"/>
                <a:cs typeface="Courier New" pitchFamily="49" charset="0"/>
              </a:rPr>
              <a:t>(head);</a:t>
            </a:r>
          </a:p>
          <a:p>
            <a:pPr fontAlgn="base"/>
            <a:r>
              <a:rPr lang="en-IN" sz="1800" dirty="0">
                <a:solidFill>
                  <a:srgbClr val="002060"/>
                </a:solidFill>
                <a:latin typeface="Courier New" pitchFamily="49" charset="0"/>
                <a:cs typeface="Courier New" pitchFamily="49" charset="0"/>
              </a:rPr>
              <a:t>   return 0;</a:t>
            </a:r>
          </a:p>
          <a:p>
            <a:pPr fontAlgn="base"/>
            <a:r>
              <a:rPr lang="en-IN" sz="1800" dirty="0">
                <a:solidFill>
                  <a:srgbClr val="002060"/>
                </a:solidFill>
                <a:latin typeface="Courier New" pitchFamily="49" charset="0"/>
                <a:cs typeface="Courier New" pitchFamily="49" charset="0"/>
              </a:rPr>
              <a:t>}</a:t>
            </a:r>
            <a:endParaRPr lang="en-IN" dirty="0"/>
          </a:p>
        </p:txBody>
      </p:sp>
    </p:spTree>
    <p:extLst>
      <p:ext uri="{BB962C8B-B14F-4D97-AF65-F5344CB8AC3E}">
        <p14:creationId xmlns:p14="http://schemas.microsoft.com/office/powerpoint/2010/main" val="31816269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DEEEA-6899-4190-9A7C-32BA6FD961F5}"/>
              </a:ext>
            </a:extLst>
          </p:cNvPr>
          <p:cNvSpPr>
            <a:spLocks noGrp="1"/>
          </p:cNvSpPr>
          <p:nvPr>
            <p:ph type="title"/>
          </p:nvPr>
        </p:nvSpPr>
        <p:spPr/>
        <p:txBody>
          <a:bodyPr/>
          <a:lstStyle/>
          <a:p>
            <a:r>
              <a:rPr lang="en-IN" dirty="0"/>
              <a:t>Example: Student List</a:t>
            </a:r>
          </a:p>
        </p:txBody>
      </p:sp>
      <p:sp>
        <p:nvSpPr>
          <p:cNvPr id="4" name="Rectangle 3">
            <a:extLst>
              <a:ext uri="{FF2B5EF4-FFF2-40B4-BE49-F238E27FC236}">
                <a16:creationId xmlns:a16="http://schemas.microsoft.com/office/drawing/2014/main" id="{DD44E63C-059B-4C35-AD26-6B09E9C3BBAF}"/>
              </a:ext>
            </a:extLst>
          </p:cNvPr>
          <p:cNvSpPr/>
          <p:nvPr/>
        </p:nvSpPr>
        <p:spPr>
          <a:xfrm>
            <a:off x="398716" y="727945"/>
            <a:ext cx="4320480" cy="2031325"/>
          </a:xfrm>
          <a:prstGeom prst="rect">
            <a:avLst/>
          </a:prstGeom>
        </p:spPr>
        <p:txBody>
          <a:bodyPr wrap="square">
            <a:spAutoFit/>
          </a:bodyPr>
          <a:lstStyle/>
          <a:p>
            <a:r>
              <a:rPr lang="en-IN" b="1" dirty="0">
                <a:solidFill>
                  <a:srgbClr val="C00000"/>
                </a:solidFill>
                <a:latin typeface="Courier New" pitchFamily="49" charset="0"/>
                <a:cs typeface="Courier New" pitchFamily="49" charset="0"/>
              </a:rPr>
              <a:t>struct stud</a:t>
            </a:r>
          </a:p>
          <a:p>
            <a:r>
              <a:rPr lang="en-IN" b="1" dirty="0">
                <a:solidFill>
                  <a:srgbClr val="C00000"/>
                </a:solidFill>
                <a:latin typeface="Courier New" pitchFamily="49" charset="0"/>
                <a:cs typeface="Courier New" pitchFamily="49" charset="0"/>
              </a:rPr>
              <a:t>{</a:t>
            </a:r>
          </a:p>
          <a:p>
            <a:r>
              <a:rPr lang="en-IN" b="1" dirty="0">
                <a:solidFill>
                  <a:srgbClr val="C00000"/>
                </a:solidFill>
                <a:latin typeface="Courier New" pitchFamily="49" charset="0"/>
                <a:cs typeface="Courier New" pitchFamily="49" charset="0"/>
              </a:rPr>
              <a:t>  </a:t>
            </a:r>
            <a:r>
              <a:rPr lang="en-IN" b="1" dirty="0" err="1">
                <a:solidFill>
                  <a:srgbClr val="C00000"/>
                </a:solidFill>
                <a:latin typeface="Courier New" pitchFamily="49" charset="0"/>
                <a:cs typeface="Courier New" pitchFamily="49" charset="0"/>
              </a:rPr>
              <a:t>int</a:t>
            </a:r>
            <a:r>
              <a:rPr lang="en-IN" b="1" dirty="0">
                <a:solidFill>
                  <a:srgbClr val="C00000"/>
                </a:solidFill>
                <a:latin typeface="Courier New" pitchFamily="49" charset="0"/>
                <a:cs typeface="Courier New" pitchFamily="49" charset="0"/>
              </a:rPr>
              <a:t> roll;</a:t>
            </a:r>
          </a:p>
          <a:p>
            <a:r>
              <a:rPr lang="en-IN" b="1" dirty="0">
                <a:solidFill>
                  <a:srgbClr val="C00000"/>
                </a:solidFill>
                <a:latin typeface="Courier New" pitchFamily="49" charset="0"/>
                <a:cs typeface="Courier New" pitchFamily="49" charset="0"/>
              </a:rPr>
              <a:t>  char name[30];</a:t>
            </a:r>
          </a:p>
          <a:p>
            <a:r>
              <a:rPr lang="en-IN" b="1" dirty="0">
                <a:solidFill>
                  <a:srgbClr val="C00000"/>
                </a:solidFill>
                <a:latin typeface="Courier New" pitchFamily="49" charset="0"/>
                <a:cs typeface="Courier New" pitchFamily="49" charset="0"/>
              </a:rPr>
              <a:t>  </a:t>
            </a:r>
            <a:r>
              <a:rPr lang="en-IN" b="1" dirty="0" err="1">
                <a:solidFill>
                  <a:srgbClr val="C00000"/>
                </a:solidFill>
                <a:latin typeface="Courier New" pitchFamily="49" charset="0"/>
                <a:cs typeface="Courier New" pitchFamily="49" charset="0"/>
              </a:rPr>
              <a:t>int</a:t>
            </a:r>
            <a:r>
              <a:rPr lang="en-IN" b="1" dirty="0">
                <a:solidFill>
                  <a:srgbClr val="C00000"/>
                </a:solidFill>
                <a:latin typeface="Courier New" pitchFamily="49" charset="0"/>
                <a:cs typeface="Courier New" pitchFamily="49" charset="0"/>
              </a:rPr>
              <a:t> age;</a:t>
            </a:r>
          </a:p>
          <a:p>
            <a:r>
              <a:rPr lang="en-IN" b="1" dirty="0">
                <a:solidFill>
                  <a:srgbClr val="C00000"/>
                </a:solidFill>
                <a:latin typeface="Courier New" pitchFamily="49" charset="0"/>
                <a:cs typeface="Courier New" pitchFamily="49" charset="0"/>
              </a:rPr>
              <a:t>  </a:t>
            </a:r>
            <a:r>
              <a:rPr lang="en-IN" b="1" dirty="0" err="1">
                <a:solidFill>
                  <a:srgbClr val="C00000"/>
                </a:solidFill>
                <a:latin typeface="Courier New" pitchFamily="49" charset="0"/>
                <a:cs typeface="Courier New" pitchFamily="49" charset="0"/>
              </a:rPr>
              <a:t>struct</a:t>
            </a:r>
            <a:r>
              <a:rPr lang="en-IN" b="1" dirty="0">
                <a:solidFill>
                  <a:srgbClr val="C00000"/>
                </a:solidFill>
                <a:latin typeface="Courier New" pitchFamily="49" charset="0"/>
                <a:cs typeface="Courier New" pitchFamily="49" charset="0"/>
              </a:rPr>
              <a:t> stud *next;</a:t>
            </a:r>
          </a:p>
          <a:p>
            <a:r>
              <a:rPr lang="en-IN" b="1" dirty="0">
                <a:solidFill>
                  <a:srgbClr val="C00000"/>
                </a:solidFill>
                <a:latin typeface="Courier New" pitchFamily="49" charset="0"/>
                <a:cs typeface="Courier New" pitchFamily="49" charset="0"/>
              </a:rPr>
              <a:t>};</a:t>
            </a:r>
          </a:p>
        </p:txBody>
      </p:sp>
      <p:sp>
        <p:nvSpPr>
          <p:cNvPr id="5" name="Rectangle 4">
            <a:extLst>
              <a:ext uri="{FF2B5EF4-FFF2-40B4-BE49-F238E27FC236}">
                <a16:creationId xmlns:a16="http://schemas.microsoft.com/office/drawing/2014/main" id="{28170F81-9CA0-4507-8C5D-DF87880E336C}"/>
              </a:ext>
            </a:extLst>
          </p:cNvPr>
          <p:cNvSpPr/>
          <p:nvPr/>
        </p:nvSpPr>
        <p:spPr>
          <a:xfrm>
            <a:off x="2773772" y="4549437"/>
            <a:ext cx="1008112" cy="28803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6FD2D8C3-6F5C-4446-B470-9214CE4AAEAB}"/>
              </a:ext>
            </a:extLst>
          </p:cNvPr>
          <p:cNvSpPr/>
          <p:nvPr/>
        </p:nvSpPr>
        <p:spPr>
          <a:xfrm>
            <a:off x="2773772" y="4837469"/>
            <a:ext cx="1008112" cy="27895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514133E5-15B1-465F-9967-4B1E0D42FAC0}"/>
              </a:ext>
            </a:extLst>
          </p:cNvPr>
          <p:cNvSpPr/>
          <p:nvPr/>
        </p:nvSpPr>
        <p:spPr>
          <a:xfrm>
            <a:off x="2773772" y="5125501"/>
            <a:ext cx="1008112" cy="27895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059FC86E-6981-42AD-8C3C-6EE3B790F561}"/>
              </a:ext>
            </a:extLst>
          </p:cNvPr>
          <p:cNvSpPr/>
          <p:nvPr/>
        </p:nvSpPr>
        <p:spPr>
          <a:xfrm>
            <a:off x="2773772" y="5416991"/>
            <a:ext cx="1008112" cy="344045"/>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7640DA2-B41F-47ED-ACDC-D3B112330A12}"/>
              </a:ext>
            </a:extLst>
          </p:cNvPr>
          <p:cNvSpPr/>
          <p:nvPr/>
        </p:nvSpPr>
        <p:spPr>
          <a:xfrm>
            <a:off x="5006020" y="4549437"/>
            <a:ext cx="1008112" cy="28803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A3B2A741-EEF0-4BC5-9A5F-55FCF0DFC170}"/>
              </a:ext>
            </a:extLst>
          </p:cNvPr>
          <p:cNvSpPr/>
          <p:nvPr/>
        </p:nvSpPr>
        <p:spPr>
          <a:xfrm>
            <a:off x="5006020" y="4837469"/>
            <a:ext cx="1008112" cy="27895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D4896CE4-A2C6-4E32-9D23-FB6C1E794787}"/>
              </a:ext>
            </a:extLst>
          </p:cNvPr>
          <p:cNvSpPr/>
          <p:nvPr/>
        </p:nvSpPr>
        <p:spPr>
          <a:xfrm>
            <a:off x="5006020" y="5125501"/>
            <a:ext cx="1008112" cy="27895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935D3B2F-0F9A-4E0E-8A33-CBEA3A821D18}"/>
              </a:ext>
            </a:extLst>
          </p:cNvPr>
          <p:cNvSpPr/>
          <p:nvPr/>
        </p:nvSpPr>
        <p:spPr>
          <a:xfrm>
            <a:off x="5006020" y="5416991"/>
            <a:ext cx="1008112" cy="344045"/>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28FE9BDD-4535-4B56-A17D-840921A9428E}"/>
              </a:ext>
            </a:extLst>
          </p:cNvPr>
          <p:cNvSpPr/>
          <p:nvPr/>
        </p:nvSpPr>
        <p:spPr>
          <a:xfrm>
            <a:off x="7361018" y="4551860"/>
            <a:ext cx="1008112" cy="28803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195ADDBE-39F7-4FB9-BD56-ECC434E37980}"/>
              </a:ext>
            </a:extLst>
          </p:cNvPr>
          <p:cNvSpPr/>
          <p:nvPr/>
        </p:nvSpPr>
        <p:spPr>
          <a:xfrm>
            <a:off x="7361018" y="4839892"/>
            <a:ext cx="1008112" cy="27895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6184F75C-6AB3-4CF1-A54F-EBBD475DDA1C}"/>
              </a:ext>
            </a:extLst>
          </p:cNvPr>
          <p:cNvSpPr/>
          <p:nvPr/>
        </p:nvSpPr>
        <p:spPr>
          <a:xfrm>
            <a:off x="7361018" y="5127924"/>
            <a:ext cx="1008112" cy="27895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4F87D758-8C56-4473-B23D-B10CE2328B02}"/>
              </a:ext>
            </a:extLst>
          </p:cNvPr>
          <p:cNvSpPr/>
          <p:nvPr/>
        </p:nvSpPr>
        <p:spPr>
          <a:xfrm>
            <a:off x="7361018" y="5419415"/>
            <a:ext cx="1008112" cy="341622"/>
          </a:xfrm>
          <a:prstGeom prst="rect">
            <a:avLst/>
          </a:prstGeom>
          <a:solidFill>
            <a:schemeClr val="accent2">
              <a:lumMod val="20000"/>
              <a:lumOff val="80000"/>
            </a:schemeClr>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950E110D-8F3F-48B3-A4ED-8536493C983C}"/>
              </a:ext>
            </a:extLst>
          </p:cNvPr>
          <p:cNvSpPr txBox="1"/>
          <p:nvPr/>
        </p:nvSpPr>
        <p:spPr>
          <a:xfrm>
            <a:off x="2210791" y="4468137"/>
            <a:ext cx="576064" cy="369332"/>
          </a:xfrm>
          <a:prstGeom prst="rect">
            <a:avLst/>
          </a:prstGeom>
          <a:noFill/>
        </p:spPr>
        <p:txBody>
          <a:bodyPr wrap="square" rtlCol="0">
            <a:spAutoFit/>
          </a:bodyPr>
          <a:lstStyle/>
          <a:p>
            <a:r>
              <a:rPr lang="en-IN" b="1" dirty="0">
                <a:solidFill>
                  <a:srgbClr val="002060"/>
                </a:solidFill>
              </a:rPr>
              <a:t>roll</a:t>
            </a:r>
          </a:p>
        </p:txBody>
      </p:sp>
      <p:sp>
        <p:nvSpPr>
          <p:cNvPr id="18" name="TextBox 17">
            <a:extLst>
              <a:ext uri="{FF2B5EF4-FFF2-40B4-BE49-F238E27FC236}">
                <a16:creationId xmlns:a16="http://schemas.microsoft.com/office/drawing/2014/main" id="{C3B29AB1-C1F6-42C6-8796-065555D711FB}"/>
              </a:ext>
            </a:extLst>
          </p:cNvPr>
          <p:cNvSpPr txBox="1"/>
          <p:nvPr/>
        </p:nvSpPr>
        <p:spPr>
          <a:xfrm>
            <a:off x="2041647" y="4765461"/>
            <a:ext cx="888186" cy="369332"/>
          </a:xfrm>
          <a:prstGeom prst="rect">
            <a:avLst/>
          </a:prstGeom>
          <a:noFill/>
        </p:spPr>
        <p:txBody>
          <a:bodyPr wrap="square" rtlCol="0">
            <a:spAutoFit/>
          </a:bodyPr>
          <a:lstStyle/>
          <a:p>
            <a:r>
              <a:rPr lang="en-IN" b="1" dirty="0">
                <a:solidFill>
                  <a:srgbClr val="002060"/>
                </a:solidFill>
              </a:rPr>
              <a:t>name</a:t>
            </a:r>
          </a:p>
        </p:txBody>
      </p:sp>
      <p:sp>
        <p:nvSpPr>
          <p:cNvPr id="19" name="TextBox 18">
            <a:extLst>
              <a:ext uri="{FF2B5EF4-FFF2-40B4-BE49-F238E27FC236}">
                <a16:creationId xmlns:a16="http://schemas.microsoft.com/office/drawing/2014/main" id="{B692A778-0F42-4C18-841F-AC2DCBD1D4E5}"/>
              </a:ext>
            </a:extLst>
          </p:cNvPr>
          <p:cNvSpPr txBox="1"/>
          <p:nvPr/>
        </p:nvSpPr>
        <p:spPr>
          <a:xfrm>
            <a:off x="2154410" y="5082734"/>
            <a:ext cx="576064" cy="369332"/>
          </a:xfrm>
          <a:prstGeom prst="rect">
            <a:avLst/>
          </a:prstGeom>
          <a:noFill/>
        </p:spPr>
        <p:txBody>
          <a:bodyPr wrap="square" rtlCol="0">
            <a:spAutoFit/>
          </a:bodyPr>
          <a:lstStyle/>
          <a:p>
            <a:r>
              <a:rPr lang="en-IN" b="1" dirty="0">
                <a:solidFill>
                  <a:srgbClr val="002060"/>
                </a:solidFill>
              </a:rPr>
              <a:t>age</a:t>
            </a:r>
          </a:p>
        </p:txBody>
      </p:sp>
      <p:sp>
        <p:nvSpPr>
          <p:cNvPr id="20" name="TextBox 19">
            <a:extLst>
              <a:ext uri="{FF2B5EF4-FFF2-40B4-BE49-F238E27FC236}">
                <a16:creationId xmlns:a16="http://schemas.microsoft.com/office/drawing/2014/main" id="{B40CAD5E-B958-4B90-AA46-FCE5EA69008E}"/>
              </a:ext>
            </a:extLst>
          </p:cNvPr>
          <p:cNvSpPr txBox="1"/>
          <p:nvPr/>
        </p:nvSpPr>
        <p:spPr>
          <a:xfrm>
            <a:off x="2098028" y="5419414"/>
            <a:ext cx="688827" cy="369332"/>
          </a:xfrm>
          <a:prstGeom prst="rect">
            <a:avLst/>
          </a:prstGeom>
          <a:noFill/>
        </p:spPr>
        <p:txBody>
          <a:bodyPr wrap="square" rtlCol="0">
            <a:spAutoFit/>
          </a:bodyPr>
          <a:lstStyle/>
          <a:p>
            <a:r>
              <a:rPr lang="en-IN" b="1" dirty="0">
                <a:solidFill>
                  <a:srgbClr val="002060"/>
                </a:solidFill>
              </a:rPr>
              <a:t>next</a:t>
            </a:r>
          </a:p>
        </p:txBody>
      </p:sp>
      <p:sp>
        <p:nvSpPr>
          <p:cNvPr id="21" name="Rectangle 20">
            <a:extLst>
              <a:ext uri="{FF2B5EF4-FFF2-40B4-BE49-F238E27FC236}">
                <a16:creationId xmlns:a16="http://schemas.microsoft.com/office/drawing/2014/main" id="{76635A2B-34AF-4DF6-897E-239E9975445D}"/>
              </a:ext>
            </a:extLst>
          </p:cNvPr>
          <p:cNvSpPr/>
          <p:nvPr/>
        </p:nvSpPr>
        <p:spPr>
          <a:xfrm>
            <a:off x="3047637" y="5791567"/>
            <a:ext cx="542312" cy="369332"/>
          </a:xfrm>
          <a:prstGeom prst="rect">
            <a:avLst/>
          </a:prstGeom>
        </p:spPr>
        <p:txBody>
          <a:bodyPr wrap="square">
            <a:spAutoFit/>
          </a:bodyPr>
          <a:lstStyle/>
          <a:p>
            <a:r>
              <a:rPr lang="en-IN" b="1" dirty="0">
                <a:solidFill>
                  <a:srgbClr val="002060"/>
                </a:solidFill>
                <a:cs typeface="Times New Roman" pitchFamily="18" charset="0"/>
              </a:rPr>
              <a:t>n1</a:t>
            </a:r>
            <a:endParaRPr lang="en-IN" b="1" dirty="0">
              <a:cs typeface="Times New Roman" pitchFamily="18" charset="0"/>
            </a:endParaRPr>
          </a:p>
        </p:txBody>
      </p:sp>
      <p:sp>
        <p:nvSpPr>
          <p:cNvPr id="22" name="Rectangle 21">
            <a:extLst>
              <a:ext uri="{FF2B5EF4-FFF2-40B4-BE49-F238E27FC236}">
                <a16:creationId xmlns:a16="http://schemas.microsoft.com/office/drawing/2014/main" id="{06543087-52E6-44C2-9BD7-E21869D4C5CC}"/>
              </a:ext>
            </a:extLst>
          </p:cNvPr>
          <p:cNvSpPr/>
          <p:nvPr/>
        </p:nvSpPr>
        <p:spPr>
          <a:xfrm>
            <a:off x="5318141" y="5791567"/>
            <a:ext cx="542312" cy="369332"/>
          </a:xfrm>
          <a:prstGeom prst="rect">
            <a:avLst/>
          </a:prstGeom>
        </p:spPr>
        <p:txBody>
          <a:bodyPr wrap="square">
            <a:spAutoFit/>
          </a:bodyPr>
          <a:lstStyle/>
          <a:p>
            <a:r>
              <a:rPr lang="en-IN" b="1" dirty="0">
                <a:solidFill>
                  <a:srgbClr val="002060"/>
                </a:solidFill>
                <a:cs typeface="Times New Roman" pitchFamily="18" charset="0"/>
              </a:rPr>
              <a:t>n2</a:t>
            </a:r>
            <a:endParaRPr lang="en-IN" b="1" dirty="0">
              <a:cs typeface="Times New Roman" pitchFamily="18" charset="0"/>
            </a:endParaRPr>
          </a:p>
        </p:txBody>
      </p:sp>
      <p:sp>
        <p:nvSpPr>
          <p:cNvPr id="23" name="Rectangle 22">
            <a:extLst>
              <a:ext uri="{FF2B5EF4-FFF2-40B4-BE49-F238E27FC236}">
                <a16:creationId xmlns:a16="http://schemas.microsoft.com/office/drawing/2014/main" id="{9E7CD323-B7E4-4DBA-8556-F0D48A586292}"/>
              </a:ext>
            </a:extLst>
          </p:cNvPr>
          <p:cNvSpPr/>
          <p:nvPr/>
        </p:nvSpPr>
        <p:spPr>
          <a:xfrm>
            <a:off x="7694405" y="5764281"/>
            <a:ext cx="542312" cy="369332"/>
          </a:xfrm>
          <a:prstGeom prst="rect">
            <a:avLst/>
          </a:prstGeom>
        </p:spPr>
        <p:txBody>
          <a:bodyPr wrap="square">
            <a:spAutoFit/>
          </a:bodyPr>
          <a:lstStyle/>
          <a:p>
            <a:r>
              <a:rPr lang="en-IN" b="1" dirty="0">
                <a:solidFill>
                  <a:srgbClr val="002060"/>
                </a:solidFill>
                <a:cs typeface="Times New Roman" pitchFamily="18" charset="0"/>
              </a:rPr>
              <a:t>n3</a:t>
            </a:r>
            <a:endParaRPr lang="en-IN" b="1" dirty="0">
              <a:cs typeface="Times New Roman" pitchFamily="18" charset="0"/>
            </a:endParaRPr>
          </a:p>
        </p:txBody>
      </p:sp>
      <p:cxnSp>
        <p:nvCxnSpPr>
          <p:cNvPr id="24" name="Elbow Connector 29">
            <a:extLst>
              <a:ext uri="{FF2B5EF4-FFF2-40B4-BE49-F238E27FC236}">
                <a16:creationId xmlns:a16="http://schemas.microsoft.com/office/drawing/2014/main" id="{01183AF5-4ED1-4E44-9D3C-6D6D61DA2404}"/>
              </a:ext>
            </a:extLst>
          </p:cNvPr>
          <p:cNvCxnSpPr>
            <a:endCxn id="9" idx="1"/>
          </p:cNvCxnSpPr>
          <p:nvPr/>
        </p:nvCxnSpPr>
        <p:spPr>
          <a:xfrm flipV="1">
            <a:off x="3277828" y="4693453"/>
            <a:ext cx="1728192" cy="895561"/>
          </a:xfrm>
          <a:prstGeom prst="bentConnector3">
            <a:avLst>
              <a:gd name="adj1" fmla="val 62920"/>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6DB8FBD2-4E20-45B6-A9B5-EE4D6B879674}"/>
              </a:ext>
            </a:extLst>
          </p:cNvPr>
          <p:cNvSpPr/>
          <p:nvPr/>
        </p:nvSpPr>
        <p:spPr>
          <a:xfrm>
            <a:off x="3234740" y="5551079"/>
            <a:ext cx="84053" cy="7847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Elbow Connector 33">
            <a:extLst>
              <a:ext uri="{FF2B5EF4-FFF2-40B4-BE49-F238E27FC236}">
                <a16:creationId xmlns:a16="http://schemas.microsoft.com/office/drawing/2014/main" id="{15821703-36C0-4181-B2E1-48B157CBDB06}"/>
              </a:ext>
            </a:extLst>
          </p:cNvPr>
          <p:cNvCxnSpPr>
            <a:cxnSpLocks/>
          </p:cNvCxnSpPr>
          <p:nvPr/>
        </p:nvCxnSpPr>
        <p:spPr>
          <a:xfrm flipV="1">
            <a:off x="5606173" y="4693453"/>
            <a:ext cx="1728192" cy="895561"/>
          </a:xfrm>
          <a:prstGeom prst="bentConnector3">
            <a:avLst>
              <a:gd name="adj1" fmla="val 62920"/>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39A71C72-0F07-42BA-9A00-64C4F7AE064F}"/>
              </a:ext>
            </a:extLst>
          </p:cNvPr>
          <p:cNvSpPr/>
          <p:nvPr/>
        </p:nvSpPr>
        <p:spPr>
          <a:xfrm>
            <a:off x="5563085" y="5551079"/>
            <a:ext cx="84053" cy="7847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E726A6B8-2748-487D-97C6-67D593EC7A07}"/>
              </a:ext>
            </a:extLst>
          </p:cNvPr>
          <p:cNvSpPr/>
          <p:nvPr/>
        </p:nvSpPr>
        <p:spPr>
          <a:xfrm>
            <a:off x="7826376" y="5557549"/>
            <a:ext cx="84053" cy="7847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236457C6-6937-4E13-86B3-D32E6B2D3983}"/>
              </a:ext>
            </a:extLst>
          </p:cNvPr>
          <p:cNvSpPr txBox="1"/>
          <p:nvPr/>
        </p:nvSpPr>
        <p:spPr>
          <a:xfrm>
            <a:off x="8774525" y="5410597"/>
            <a:ext cx="856316" cy="369332"/>
          </a:xfrm>
          <a:prstGeom prst="rect">
            <a:avLst/>
          </a:prstGeom>
          <a:noFill/>
        </p:spPr>
        <p:txBody>
          <a:bodyPr wrap="square" rtlCol="0">
            <a:spAutoFit/>
          </a:bodyPr>
          <a:lstStyle/>
          <a:p>
            <a:r>
              <a:rPr lang="en-US" altLang="en-US" b="1" dirty="0">
                <a:solidFill>
                  <a:srgbClr val="002060"/>
                </a:solidFill>
                <a:latin typeface="Times New Roman" pitchFamily="18" charset="0"/>
                <a:cs typeface="Times New Roman" pitchFamily="18" charset="0"/>
              </a:rPr>
              <a:t>NULL</a:t>
            </a:r>
            <a:endParaRPr lang="en-IN" b="1" dirty="0">
              <a:solidFill>
                <a:srgbClr val="002060"/>
              </a:solidFill>
            </a:endParaRPr>
          </a:p>
        </p:txBody>
      </p:sp>
      <p:cxnSp>
        <p:nvCxnSpPr>
          <p:cNvPr id="30" name="Straight Arrow Connector 29">
            <a:extLst>
              <a:ext uri="{FF2B5EF4-FFF2-40B4-BE49-F238E27FC236}">
                <a16:creationId xmlns:a16="http://schemas.microsoft.com/office/drawing/2014/main" id="{2A48596D-94DA-44B0-8F29-EE28679C4B59}"/>
              </a:ext>
            </a:extLst>
          </p:cNvPr>
          <p:cNvCxnSpPr>
            <a:stCxn id="28" idx="6"/>
            <a:endCxn id="29" idx="1"/>
          </p:cNvCxnSpPr>
          <p:nvPr/>
        </p:nvCxnSpPr>
        <p:spPr>
          <a:xfrm flipV="1">
            <a:off x="7910429" y="5595263"/>
            <a:ext cx="864096" cy="1525"/>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547AA52-87BA-4FF7-AD6E-C3DFE4949659}"/>
              </a:ext>
            </a:extLst>
          </p:cNvPr>
          <p:cNvSpPr txBox="1"/>
          <p:nvPr/>
        </p:nvSpPr>
        <p:spPr>
          <a:xfrm>
            <a:off x="5563085" y="1615793"/>
            <a:ext cx="6126480" cy="369332"/>
          </a:xfrm>
          <a:prstGeom prst="rect">
            <a:avLst/>
          </a:prstGeom>
          <a:noFill/>
        </p:spPr>
        <p:txBody>
          <a:bodyPr wrap="square">
            <a:spAutoFit/>
          </a:bodyPr>
          <a:lstStyle/>
          <a:p>
            <a:r>
              <a:rPr lang="pt-BR" b="1" dirty="0">
                <a:solidFill>
                  <a:srgbClr val="002060"/>
                </a:solidFill>
                <a:latin typeface="Courier New" pitchFamily="49" charset="0"/>
                <a:cs typeface="Courier New" pitchFamily="49" charset="0"/>
              </a:rPr>
              <a:t>struct stud n1, n2, n3;</a:t>
            </a:r>
            <a:endParaRPr lang="en-IN" b="1" dirty="0">
              <a:solidFill>
                <a:srgbClr val="002060"/>
              </a:solidFill>
              <a:latin typeface="Courier New" pitchFamily="49" charset="0"/>
              <a:cs typeface="Courier New" pitchFamily="49" charset="0"/>
            </a:endParaRPr>
          </a:p>
        </p:txBody>
      </p:sp>
      <p:sp>
        <p:nvSpPr>
          <p:cNvPr id="35" name="TextBox 34">
            <a:extLst>
              <a:ext uri="{FF2B5EF4-FFF2-40B4-BE49-F238E27FC236}">
                <a16:creationId xmlns:a16="http://schemas.microsoft.com/office/drawing/2014/main" id="{38AA9821-88FB-45B9-807E-9E2ABBECF76F}"/>
              </a:ext>
            </a:extLst>
          </p:cNvPr>
          <p:cNvSpPr txBox="1"/>
          <p:nvPr/>
        </p:nvSpPr>
        <p:spPr>
          <a:xfrm>
            <a:off x="5589297" y="2472967"/>
            <a:ext cx="6643518" cy="1200329"/>
          </a:xfrm>
          <a:prstGeom prst="rect">
            <a:avLst/>
          </a:prstGeom>
          <a:noFill/>
        </p:spPr>
        <p:txBody>
          <a:bodyPr wrap="square">
            <a:spAutoFit/>
          </a:bodyPr>
          <a:lstStyle/>
          <a:p>
            <a:r>
              <a:rPr lang="en-IN" b="1" dirty="0">
                <a:solidFill>
                  <a:srgbClr val="002060"/>
                </a:solidFill>
                <a:latin typeface="Courier New" pitchFamily="49" charset="0"/>
                <a:cs typeface="Courier New" pitchFamily="49" charset="0"/>
              </a:rPr>
              <a:t>n1.next = &amp;n2 ;</a:t>
            </a:r>
          </a:p>
          <a:p>
            <a:r>
              <a:rPr lang="en-IN" b="1" dirty="0">
                <a:solidFill>
                  <a:srgbClr val="002060"/>
                </a:solidFill>
                <a:latin typeface="Courier New" pitchFamily="49" charset="0"/>
                <a:cs typeface="Courier New" pitchFamily="49" charset="0"/>
              </a:rPr>
              <a:t>n2.next = &amp;n3 ;</a:t>
            </a:r>
          </a:p>
          <a:p>
            <a:r>
              <a:rPr lang="en-IN" b="1" dirty="0">
                <a:solidFill>
                  <a:srgbClr val="002060"/>
                </a:solidFill>
                <a:latin typeface="Courier New" pitchFamily="49" charset="0"/>
                <a:cs typeface="Courier New" pitchFamily="49" charset="0"/>
              </a:rPr>
              <a:t>n3.next = NULL ;  </a:t>
            </a:r>
            <a:r>
              <a:rPr lang="en-IN" dirty="0">
                <a:solidFill>
                  <a:srgbClr val="FF0000"/>
                </a:solidFill>
                <a:latin typeface="Courier New" pitchFamily="49" charset="0"/>
                <a:cs typeface="Courier New" pitchFamily="49" charset="0"/>
              </a:rPr>
              <a:t>/* No more nodes follow */</a:t>
            </a:r>
            <a:endParaRPr lang="en-IN" dirty="0">
              <a:solidFill>
                <a:srgbClr val="002060"/>
              </a:solidFill>
            </a:endParaRPr>
          </a:p>
          <a:p>
            <a:endParaRPr lang="en-IN" dirty="0">
              <a:solidFill>
                <a:srgbClr val="002060"/>
              </a:solidFill>
            </a:endParaRPr>
          </a:p>
        </p:txBody>
      </p:sp>
    </p:spTree>
    <p:extLst>
      <p:ext uri="{BB962C8B-B14F-4D97-AF65-F5344CB8AC3E}">
        <p14:creationId xmlns:p14="http://schemas.microsoft.com/office/powerpoint/2010/main" val="139333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3" grpId="0"/>
      <p:bldP spid="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Circularly Linked Linear List</a:t>
            </a:r>
            <a:endParaRPr lang="en-US" dirty="0"/>
          </a:p>
        </p:txBody>
      </p:sp>
      <p:sp>
        <p:nvSpPr>
          <p:cNvPr id="3" name="Content Placeholder 2"/>
          <p:cNvSpPr>
            <a:spLocks noGrp="1"/>
          </p:cNvSpPr>
          <p:nvPr>
            <p:ph idx="1"/>
          </p:nvPr>
        </p:nvSpPr>
        <p:spPr/>
        <p:txBody>
          <a:bodyPr>
            <a:normAutofit/>
          </a:bodyPr>
          <a:lstStyle/>
          <a:p>
            <a:r>
              <a:rPr lang="en-IN" dirty="0"/>
              <a:t>If we </a:t>
            </a:r>
            <a:r>
              <a:rPr lang="en-IN" b="1" dirty="0">
                <a:solidFill>
                  <a:srgbClr val="C00000"/>
                </a:solidFill>
              </a:rPr>
              <a:t>replace NULL</a:t>
            </a:r>
            <a:r>
              <a:rPr lang="en-IN" b="1" dirty="0">
                <a:solidFill>
                  <a:srgbClr val="FF0000"/>
                </a:solidFill>
              </a:rPr>
              <a:t> </a:t>
            </a:r>
            <a:r>
              <a:rPr lang="en-IN" dirty="0"/>
              <a:t>pointer of the </a:t>
            </a:r>
            <a:r>
              <a:rPr lang="en-IN" b="1" dirty="0">
                <a:solidFill>
                  <a:srgbClr val="C00000"/>
                </a:solidFill>
              </a:rPr>
              <a:t>last node</a:t>
            </a:r>
            <a:r>
              <a:rPr lang="en-IN" b="1" dirty="0">
                <a:solidFill>
                  <a:srgbClr val="FF0000"/>
                </a:solidFill>
              </a:rPr>
              <a:t> </a:t>
            </a:r>
            <a:r>
              <a:rPr lang="en-IN" dirty="0"/>
              <a:t>of Singly Linked Linear List with the </a:t>
            </a:r>
            <a:r>
              <a:rPr lang="en-IN" b="1" dirty="0">
                <a:solidFill>
                  <a:srgbClr val="C00000"/>
                </a:solidFill>
              </a:rPr>
              <a:t>address of its</a:t>
            </a:r>
            <a:r>
              <a:rPr lang="en-IN" b="1" dirty="0">
                <a:solidFill>
                  <a:srgbClr val="FF0000"/>
                </a:solidFill>
              </a:rPr>
              <a:t> </a:t>
            </a:r>
            <a:r>
              <a:rPr lang="en-IN" b="1" dirty="0">
                <a:solidFill>
                  <a:srgbClr val="C00000"/>
                </a:solidFill>
              </a:rPr>
              <a:t>first node</a:t>
            </a:r>
            <a:r>
              <a:rPr lang="en-IN" dirty="0"/>
              <a:t>, that list becomes circularly linked linear list or </a:t>
            </a:r>
            <a:r>
              <a:rPr lang="en-IN" b="1" dirty="0"/>
              <a:t>Circular List</a:t>
            </a:r>
            <a:r>
              <a:rPr lang="en-IN" dirty="0"/>
              <a:t>.</a:t>
            </a:r>
          </a:p>
          <a:p>
            <a:r>
              <a:rPr lang="en-IN" b="1" dirty="0">
                <a:solidFill>
                  <a:srgbClr val="C00000"/>
                </a:solidFill>
              </a:rPr>
              <a:t>FIRST</a:t>
            </a:r>
            <a:r>
              <a:rPr lang="en-IN" dirty="0">
                <a:solidFill>
                  <a:srgbClr val="C00000"/>
                </a:solidFill>
              </a:rPr>
              <a:t> </a:t>
            </a:r>
            <a:r>
              <a:rPr lang="en-IN" dirty="0"/>
              <a:t>is the address of first node of Circular List</a:t>
            </a:r>
          </a:p>
          <a:p>
            <a:r>
              <a:rPr lang="en-IN" b="1" dirty="0">
                <a:solidFill>
                  <a:srgbClr val="C00000"/>
                </a:solidFill>
              </a:rPr>
              <a:t>LAST</a:t>
            </a:r>
            <a:r>
              <a:rPr lang="en-IN" dirty="0">
                <a:solidFill>
                  <a:srgbClr val="C00000"/>
                </a:solidFill>
              </a:rPr>
              <a:t> </a:t>
            </a:r>
            <a:r>
              <a:rPr lang="en-IN" dirty="0"/>
              <a:t>is the address of the last node of Circular List</a:t>
            </a:r>
          </a:p>
          <a:p>
            <a:r>
              <a:rPr lang="en-IN" b="1" dirty="0"/>
              <a:t>Advantages of Circular List</a:t>
            </a:r>
          </a:p>
          <a:p>
            <a:pPr lvl="1"/>
            <a:r>
              <a:rPr lang="en-IN" dirty="0"/>
              <a:t>In circular list, every node is accessible from given node</a:t>
            </a:r>
          </a:p>
          <a:p>
            <a:pPr lvl="1"/>
            <a:r>
              <a:rPr lang="en-IN" dirty="0"/>
              <a:t>It saves time when we have to go to the first node from the last node. It can be done in single step because there is no need to traverse the in between nodes. But in double linked list, we will have to go through in between nodes </a:t>
            </a:r>
          </a:p>
        </p:txBody>
      </p:sp>
      <p:grpSp>
        <p:nvGrpSpPr>
          <p:cNvPr id="4" name="Group 3"/>
          <p:cNvGrpSpPr/>
          <p:nvPr/>
        </p:nvGrpSpPr>
        <p:grpSpPr>
          <a:xfrm>
            <a:off x="1469568" y="5345668"/>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2691398" y="5345668"/>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3910598" y="5345668"/>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5129798" y="5345668"/>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6348998" y="5345668"/>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7568198" y="5345668"/>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a:stCxn id="6" idx="3"/>
            <a:endCxn id="8" idx="1"/>
          </p:cNvCxnSpPr>
          <p:nvPr/>
        </p:nvCxnSpPr>
        <p:spPr>
          <a:xfrm>
            <a:off x="2389580" y="5612368"/>
            <a:ext cx="30181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3611410" y="561236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4830610" y="561236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6049810" y="561236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7269010" y="5612368"/>
            <a:ext cx="299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V="1">
            <a:off x="8111612" y="5345668"/>
            <a:ext cx="500120" cy="500128"/>
          </a:xfrm>
          <a:prstGeom prst="line">
            <a:avLst/>
          </a:prstGeom>
          <a:ln w="28575">
            <a:solidFill>
              <a:srgbClr val="B84742"/>
            </a:solidFill>
          </a:ln>
        </p:spPr>
        <p:style>
          <a:lnRef idx="3">
            <a:schemeClr val="accent6"/>
          </a:lnRef>
          <a:fillRef idx="0">
            <a:schemeClr val="accent6"/>
          </a:fillRef>
          <a:effectRef idx="2">
            <a:schemeClr val="accent6"/>
          </a:effectRef>
          <a:fontRef idx="minor">
            <a:schemeClr val="tx1"/>
          </a:fontRef>
        </p:style>
      </p:cxnSp>
      <p:sp>
        <p:nvSpPr>
          <p:cNvPr id="28" name="TextBox 27"/>
          <p:cNvSpPr txBox="1"/>
          <p:nvPr/>
        </p:nvSpPr>
        <p:spPr>
          <a:xfrm>
            <a:off x="1317168" y="6107668"/>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9" name="Straight Arrow Connector 28"/>
          <p:cNvCxnSpPr/>
          <p:nvPr/>
        </p:nvCxnSpPr>
        <p:spPr>
          <a:xfrm flipV="1">
            <a:off x="1635718" y="5879068"/>
            <a:ext cx="0" cy="3048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3" name="Freeform 42"/>
          <p:cNvSpPr/>
          <p:nvPr/>
        </p:nvSpPr>
        <p:spPr>
          <a:xfrm>
            <a:off x="2136319" y="5631418"/>
            <a:ext cx="7096125" cy="628650"/>
          </a:xfrm>
          <a:custGeom>
            <a:avLst/>
            <a:gdLst>
              <a:gd name="connsiteX0" fmla="*/ 6486525 w 7096125"/>
              <a:gd name="connsiteY0" fmla="*/ 0 h 628650"/>
              <a:gd name="connsiteX1" fmla="*/ 6486525 w 7096125"/>
              <a:gd name="connsiteY1" fmla="*/ 0 h 628650"/>
              <a:gd name="connsiteX2" fmla="*/ 6934200 w 7096125"/>
              <a:gd name="connsiteY2" fmla="*/ 0 h 628650"/>
              <a:gd name="connsiteX3" fmla="*/ 7096125 w 7096125"/>
              <a:gd name="connsiteY3" fmla="*/ 0 h 628650"/>
              <a:gd name="connsiteX4" fmla="*/ 7096125 w 7096125"/>
              <a:gd name="connsiteY4" fmla="*/ 628650 h 628650"/>
              <a:gd name="connsiteX5" fmla="*/ 0 w 7096125"/>
              <a:gd name="connsiteY5" fmla="*/ 628650 h 628650"/>
              <a:gd name="connsiteX6" fmla="*/ 0 w 7096125"/>
              <a:gd name="connsiteY6" fmla="*/ 22860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96125" h="628650">
                <a:moveTo>
                  <a:pt x="6486525" y="0"/>
                </a:moveTo>
                <a:lnTo>
                  <a:pt x="6486525" y="0"/>
                </a:lnTo>
                <a:lnTo>
                  <a:pt x="6934200" y="0"/>
                </a:lnTo>
                <a:lnTo>
                  <a:pt x="7096125" y="0"/>
                </a:lnTo>
                <a:lnTo>
                  <a:pt x="7096125" y="628650"/>
                </a:lnTo>
                <a:lnTo>
                  <a:pt x="0" y="628650"/>
                </a:lnTo>
                <a:lnTo>
                  <a:pt x="0" y="22860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4" name="TextBox 43"/>
          <p:cNvSpPr txBox="1"/>
          <p:nvPr/>
        </p:nvSpPr>
        <p:spPr>
          <a:xfrm>
            <a:off x="7667485" y="4659868"/>
            <a:ext cx="683200" cy="369332"/>
          </a:xfrm>
          <a:prstGeom prst="rect">
            <a:avLst/>
          </a:prstGeom>
          <a:noFill/>
        </p:spPr>
        <p:txBody>
          <a:bodyPr wrap="none" rtlCol="0">
            <a:spAutoFit/>
          </a:bodyPr>
          <a:lstStyle/>
          <a:p>
            <a:r>
              <a:rPr lang="en-IN" b="1" dirty="0">
                <a:solidFill>
                  <a:srgbClr val="C00000"/>
                </a:solidFill>
              </a:rPr>
              <a:t>LAST</a:t>
            </a:r>
            <a:endParaRPr lang="en-US" b="1" dirty="0">
              <a:solidFill>
                <a:srgbClr val="C00000"/>
              </a:solidFill>
            </a:endParaRPr>
          </a:p>
        </p:txBody>
      </p:sp>
      <p:cxnSp>
        <p:nvCxnSpPr>
          <p:cNvPr id="47" name="Straight Arrow Connector 46"/>
          <p:cNvCxnSpPr/>
          <p:nvPr/>
        </p:nvCxnSpPr>
        <p:spPr>
          <a:xfrm>
            <a:off x="7988727" y="5029200"/>
            <a:ext cx="0" cy="3164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67244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2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wheel(1)">
                                      <p:cBhvr>
                                        <p:cTn id="53" dur="2000"/>
                                        <p:tgtEl>
                                          <p:spTgt spid="43"/>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4"/>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4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3" grpId="0" animBg="1"/>
      <p:bldP spid="4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Circularly Linked Linear List </a:t>
            </a:r>
            <a:r>
              <a:rPr lang="en-IN" dirty="0" err="1"/>
              <a:t>Cont</a:t>
            </a:r>
            <a:r>
              <a:rPr lang="en-IN" dirty="0"/>
              <a:t>…</a:t>
            </a:r>
            <a:endParaRPr lang="en-US" dirty="0"/>
          </a:p>
        </p:txBody>
      </p:sp>
      <p:sp>
        <p:nvSpPr>
          <p:cNvPr id="3" name="Content Placeholder 2"/>
          <p:cNvSpPr>
            <a:spLocks noGrp="1"/>
          </p:cNvSpPr>
          <p:nvPr>
            <p:ph idx="1"/>
          </p:nvPr>
        </p:nvSpPr>
        <p:spPr/>
        <p:txBody>
          <a:bodyPr/>
          <a:lstStyle/>
          <a:p>
            <a:r>
              <a:rPr lang="en-IN" b="1" dirty="0"/>
              <a:t>Disadvantages of Circular List</a:t>
            </a:r>
          </a:p>
          <a:p>
            <a:pPr lvl="1"/>
            <a:r>
              <a:rPr lang="en-IN" dirty="0"/>
              <a:t>It is not easy to reverse the linked list.</a:t>
            </a:r>
          </a:p>
          <a:p>
            <a:pPr lvl="1"/>
            <a:r>
              <a:rPr lang="en-IN" dirty="0"/>
              <a:t>If proper care is not taken, then the problem of infinite loop can occur.</a:t>
            </a:r>
          </a:p>
          <a:p>
            <a:pPr lvl="1"/>
            <a:r>
              <a:rPr lang="en-IN" dirty="0"/>
              <a:t>If we at a node and go back to the previous node, then we can not do it in single step. Instead we have to complete the entire circle by going through the in between nodes and then we will reach the required node.</a:t>
            </a:r>
          </a:p>
          <a:p>
            <a:r>
              <a:rPr lang="en-IN" b="1" dirty="0"/>
              <a:t>Operations on Circular List</a:t>
            </a:r>
          </a:p>
          <a:p>
            <a:pPr lvl="1"/>
            <a:r>
              <a:rPr lang="en-IN" dirty="0"/>
              <a:t>Insert at First</a:t>
            </a:r>
          </a:p>
          <a:p>
            <a:pPr lvl="1"/>
            <a:r>
              <a:rPr lang="en-IN" dirty="0"/>
              <a:t>Insert at Last</a:t>
            </a:r>
          </a:p>
          <a:p>
            <a:pPr lvl="1"/>
            <a:r>
              <a:rPr lang="en-IN" dirty="0"/>
              <a:t>Insert in Ordered List</a:t>
            </a:r>
          </a:p>
          <a:p>
            <a:pPr lvl="1"/>
            <a:r>
              <a:rPr lang="en-IN" dirty="0"/>
              <a:t>Delete a node</a:t>
            </a:r>
          </a:p>
        </p:txBody>
      </p:sp>
    </p:spTree>
    <p:extLst>
      <p:ext uri="{BB962C8B-B14F-4D97-AF65-F5344CB8AC3E}">
        <p14:creationId xmlns:p14="http://schemas.microsoft.com/office/powerpoint/2010/main" val="591618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Procedure: CIR_INS_FIRST(X,FIRST,LAST)</a:t>
            </a:r>
            <a:endParaRPr lang="en-US" dirty="0"/>
          </a:p>
        </p:txBody>
      </p:sp>
      <p:sp>
        <p:nvSpPr>
          <p:cNvPr id="4" name="Content Placeholder 3"/>
          <p:cNvSpPr>
            <a:spLocks noGrp="1"/>
          </p:cNvSpPr>
          <p:nvPr>
            <p:ph idx="1"/>
          </p:nvPr>
        </p:nvSpPr>
        <p:spPr/>
        <p:txBody>
          <a:bodyPr/>
          <a:lstStyle/>
          <a:p>
            <a:r>
              <a:rPr lang="en-IN" dirty="0"/>
              <a:t>This procedure </a:t>
            </a:r>
            <a:r>
              <a:rPr lang="en-IN" b="1" dirty="0">
                <a:solidFill>
                  <a:srgbClr val="C00000"/>
                </a:solidFill>
              </a:rPr>
              <a:t>inserts</a:t>
            </a:r>
            <a:r>
              <a:rPr lang="en-IN" b="1" dirty="0">
                <a:solidFill>
                  <a:srgbClr val="FF0000"/>
                </a:solidFill>
              </a:rPr>
              <a:t> </a:t>
            </a:r>
            <a:r>
              <a:rPr lang="en-IN" b="1" dirty="0">
                <a:solidFill>
                  <a:srgbClr val="C00000"/>
                </a:solidFill>
              </a:rPr>
              <a:t>a new node at the first position</a:t>
            </a:r>
            <a:r>
              <a:rPr lang="en-IN" b="1" dirty="0">
                <a:solidFill>
                  <a:srgbClr val="FF0000"/>
                </a:solidFill>
              </a:rPr>
              <a:t> </a:t>
            </a:r>
            <a:r>
              <a:rPr lang="en-IN" dirty="0"/>
              <a:t>of Circular linked list. </a:t>
            </a:r>
          </a:p>
          <a:p>
            <a:r>
              <a:rPr lang="en-IN" b="1" dirty="0">
                <a:solidFill>
                  <a:srgbClr val="C00000"/>
                </a:solidFill>
              </a:rPr>
              <a:t>X</a:t>
            </a:r>
            <a:r>
              <a:rPr lang="en-IN" dirty="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and </a:t>
            </a:r>
            <a:r>
              <a:rPr lang="en-IN" b="1" dirty="0">
                <a:solidFill>
                  <a:srgbClr val="C00000"/>
                </a:solidFill>
              </a:rPr>
              <a:t>LAST</a:t>
            </a:r>
            <a:r>
              <a:rPr lang="en-IN" dirty="0">
                <a:solidFill>
                  <a:srgbClr val="C00000"/>
                </a:solidFill>
              </a:rPr>
              <a:t> </a:t>
            </a:r>
            <a:r>
              <a:rPr lang="en-IN" dirty="0"/>
              <a:t>are a </a:t>
            </a:r>
            <a:r>
              <a:rPr lang="en-IN" b="1" dirty="0"/>
              <a:t>pointer to the first &amp; last elements</a:t>
            </a:r>
            <a:r>
              <a:rPr lang="en-IN" dirty="0"/>
              <a:t> of a Circular linked linear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NEXT</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a:t>
            </a:r>
            <a:endParaRPr lang="en-US" dirty="0"/>
          </a:p>
        </p:txBody>
      </p:sp>
    </p:spTree>
    <p:extLst>
      <p:ext uri="{BB962C8B-B14F-4D97-AF65-F5344CB8AC3E}">
        <p14:creationId xmlns:p14="http://schemas.microsoft.com/office/powerpoint/2010/main" val="380164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Procedure: CIR_INS_FIRST(X,FIRST,LAST)</a:t>
            </a:r>
          </a:p>
        </p:txBody>
      </p:sp>
      <p:sp>
        <p:nvSpPr>
          <p:cNvPr id="4" name="TextBox 3"/>
          <p:cNvSpPr txBox="1"/>
          <p:nvPr/>
        </p:nvSpPr>
        <p:spPr>
          <a:xfrm>
            <a:off x="233081" y="869700"/>
            <a:ext cx="5760000" cy="1631216"/>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[Creates a new empty node]</a:t>
            </a:r>
          </a:p>
          <a:p>
            <a:r>
              <a:rPr lang="en-IN" sz="2000" dirty="0">
                <a:latin typeface="Consolas" pitchFamily="49" charset="0"/>
                <a:cs typeface="Consolas" pitchFamily="49" charset="0"/>
              </a:rPr>
              <a:t>    NEW     NODE</a:t>
            </a:r>
            <a:r>
              <a:rPr lang="en-IN" sz="1400" dirty="0">
                <a:latin typeface="Consolas" pitchFamily="49" charset="0"/>
                <a:cs typeface="Consolas" pitchFamily="49" charset="0"/>
              </a:rPr>
              <a:t>(malloc call)</a:t>
            </a:r>
            <a:endParaRPr lang="en-IN" sz="2000"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2. [Initialize fields of new node and its link]</a:t>
            </a:r>
          </a:p>
          <a:p>
            <a:r>
              <a:rPr lang="en-IN" sz="2000" dirty="0">
                <a:latin typeface="Consolas" pitchFamily="49" charset="0"/>
                <a:cs typeface="Consolas" pitchFamily="49" charset="0"/>
              </a:rPr>
              <a:t>    NEW-&gt;INFO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X</a:t>
            </a:r>
          </a:p>
        </p:txBody>
      </p:sp>
      <p:sp>
        <p:nvSpPr>
          <p:cNvPr id="5" name="Left Arrow 4"/>
          <p:cNvSpPr/>
          <p:nvPr/>
        </p:nvSpPr>
        <p:spPr>
          <a:xfrm>
            <a:off x="1405915" y="1235697"/>
            <a:ext cx="457200" cy="228600"/>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6" name="Group 5"/>
          <p:cNvGrpSpPr/>
          <p:nvPr/>
        </p:nvGrpSpPr>
        <p:grpSpPr>
          <a:xfrm>
            <a:off x="4454333" y="4737849"/>
            <a:ext cx="920012" cy="533400"/>
            <a:chOff x="951919" y="5486400"/>
            <a:chExt cx="920012" cy="533400"/>
          </a:xfrm>
        </p:grpSpPr>
        <p:sp>
          <p:nvSpPr>
            <p:cNvPr id="7" name="Rectangle 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5825933" y="4737849"/>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7197533" y="4737849"/>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8569133" y="4737849"/>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8" name="Straight Arrow Connector 17"/>
          <p:cNvCxnSpPr>
            <a:stCxn id="8" idx="3"/>
            <a:endCxn id="10" idx="1"/>
          </p:cNvCxnSpPr>
          <p:nvPr/>
        </p:nvCxnSpPr>
        <p:spPr>
          <a:xfrm>
            <a:off x="5374345" y="5004549"/>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a:stCxn id="11" idx="3"/>
            <a:endCxn id="13" idx="1"/>
          </p:cNvCxnSpPr>
          <p:nvPr/>
        </p:nvCxnSpPr>
        <p:spPr>
          <a:xfrm>
            <a:off x="6745945" y="5004549"/>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 name="Straight Arrow Connector 19"/>
          <p:cNvCxnSpPr>
            <a:stCxn id="14" idx="3"/>
            <a:endCxn id="16" idx="1"/>
          </p:cNvCxnSpPr>
          <p:nvPr/>
        </p:nvCxnSpPr>
        <p:spPr>
          <a:xfrm>
            <a:off x="8117545" y="5004549"/>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1" name="Freeform 20"/>
          <p:cNvSpPr/>
          <p:nvPr/>
        </p:nvSpPr>
        <p:spPr>
          <a:xfrm>
            <a:off x="5225693" y="4982688"/>
            <a:ext cx="4586990" cy="659568"/>
          </a:xfrm>
          <a:custGeom>
            <a:avLst/>
            <a:gdLst>
              <a:gd name="connsiteX0" fmla="*/ 4257206 w 4586990"/>
              <a:gd name="connsiteY0" fmla="*/ 0 h 659568"/>
              <a:gd name="connsiteX1" fmla="*/ 4586990 w 4586990"/>
              <a:gd name="connsiteY1" fmla="*/ 0 h 659568"/>
              <a:gd name="connsiteX2" fmla="*/ 4586990 w 4586990"/>
              <a:gd name="connsiteY2" fmla="*/ 659568 h 659568"/>
              <a:gd name="connsiteX3" fmla="*/ 0 w 4586990"/>
              <a:gd name="connsiteY3" fmla="*/ 659568 h 659568"/>
              <a:gd name="connsiteX4" fmla="*/ 0 w 4586990"/>
              <a:gd name="connsiteY4" fmla="*/ 254833 h 65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6990" h="659568">
                <a:moveTo>
                  <a:pt x="4257206" y="0"/>
                </a:moveTo>
                <a:lnTo>
                  <a:pt x="4586990" y="0"/>
                </a:lnTo>
                <a:lnTo>
                  <a:pt x="4586990" y="659568"/>
                </a:lnTo>
                <a:lnTo>
                  <a:pt x="0" y="659568"/>
                </a:lnTo>
                <a:lnTo>
                  <a:pt x="0" y="254833"/>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22" name="Straight Arrow Connector 21"/>
          <p:cNvCxnSpPr/>
          <p:nvPr/>
        </p:nvCxnSpPr>
        <p:spPr>
          <a:xfrm flipV="1">
            <a:off x="4688545" y="5271251"/>
            <a:ext cx="0" cy="2079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3" name="TextBox 22"/>
          <p:cNvSpPr txBox="1"/>
          <p:nvPr/>
        </p:nvSpPr>
        <p:spPr>
          <a:xfrm>
            <a:off x="4324707" y="5477091"/>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24" name="Straight Connector 23"/>
          <p:cNvCxnSpPr/>
          <p:nvPr/>
        </p:nvCxnSpPr>
        <p:spPr>
          <a:xfrm>
            <a:off x="2935945" y="3366249"/>
            <a:ext cx="0" cy="2438400"/>
          </a:xfrm>
          <a:prstGeom prst="line">
            <a:avLst/>
          </a:prstGeom>
        </p:spPr>
        <p:style>
          <a:lnRef idx="3">
            <a:schemeClr val="dk1"/>
          </a:lnRef>
          <a:fillRef idx="0">
            <a:schemeClr val="dk1"/>
          </a:fillRef>
          <a:effectRef idx="2">
            <a:schemeClr val="dk1"/>
          </a:effectRef>
          <a:fontRef idx="minor">
            <a:schemeClr val="tx1"/>
          </a:fontRef>
        </p:style>
      </p:cxnSp>
      <p:grpSp>
        <p:nvGrpSpPr>
          <p:cNvPr id="25" name="Group 24"/>
          <p:cNvGrpSpPr/>
          <p:nvPr/>
        </p:nvGrpSpPr>
        <p:grpSpPr>
          <a:xfrm>
            <a:off x="3393145" y="3594849"/>
            <a:ext cx="920012" cy="533400"/>
            <a:chOff x="951919" y="5486400"/>
            <a:chExt cx="920012" cy="533400"/>
          </a:xfrm>
        </p:grpSpPr>
        <p:sp>
          <p:nvSpPr>
            <p:cNvPr id="26" name="Rectangle 2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7" name="Rectangle 2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8" name="Group 27"/>
          <p:cNvGrpSpPr/>
          <p:nvPr/>
        </p:nvGrpSpPr>
        <p:grpSpPr>
          <a:xfrm>
            <a:off x="1413924" y="4280649"/>
            <a:ext cx="920012" cy="533400"/>
            <a:chOff x="951919" y="5486400"/>
            <a:chExt cx="920012" cy="533400"/>
          </a:xfrm>
        </p:grpSpPr>
        <p:sp>
          <p:nvSpPr>
            <p:cNvPr id="29" name="Rectangle 28"/>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30" name="Rectangle 29"/>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1" name="TextBox 30"/>
          <p:cNvSpPr txBox="1"/>
          <p:nvPr/>
        </p:nvSpPr>
        <p:spPr>
          <a:xfrm>
            <a:off x="1426789" y="4312318"/>
            <a:ext cx="495649" cy="461665"/>
          </a:xfrm>
          <a:prstGeom prst="rect">
            <a:avLst/>
          </a:prstGeom>
          <a:noFill/>
        </p:spPr>
        <p:txBody>
          <a:bodyPr wrap="none" rtlCol="0">
            <a:spAutoFit/>
          </a:bodyPr>
          <a:lstStyle/>
          <a:p>
            <a:r>
              <a:rPr lang="en-IN" sz="2400" b="1" dirty="0">
                <a:solidFill>
                  <a:srgbClr val="FFFF00"/>
                </a:solidFill>
              </a:rPr>
              <a:t>50</a:t>
            </a:r>
            <a:endParaRPr lang="en-US" sz="2400" b="1" dirty="0">
              <a:solidFill>
                <a:srgbClr val="FFFF00"/>
              </a:solidFill>
            </a:endParaRPr>
          </a:p>
        </p:txBody>
      </p:sp>
      <p:sp>
        <p:nvSpPr>
          <p:cNvPr id="32" name="TextBox 31"/>
          <p:cNvSpPr txBox="1"/>
          <p:nvPr/>
        </p:nvSpPr>
        <p:spPr>
          <a:xfrm>
            <a:off x="3409971" y="3630475"/>
            <a:ext cx="495649" cy="461665"/>
          </a:xfrm>
          <a:prstGeom prst="rect">
            <a:avLst/>
          </a:prstGeom>
          <a:noFill/>
        </p:spPr>
        <p:txBody>
          <a:bodyPr wrap="none" rtlCol="0">
            <a:spAutoFit/>
          </a:bodyPr>
          <a:lstStyle/>
          <a:p>
            <a:r>
              <a:rPr lang="en-IN" sz="2400" b="1" dirty="0">
                <a:solidFill>
                  <a:srgbClr val="FFFF00"/>
                </a:solidFill>
              </a:rPr>
              <a:t>50</a:t>
            </a:r>
            <a:endParaRPr lang="en-US" sz="2400" b="1" dirty="0">
              <a:solidFill>
                <a:srgbClr val="FFFF00"/>
              </a:solidFill>
            </a:endParaRPr>
          </a:p>
        </p:txBody>
      </p:sp>
      <p:sp>
        <p:nvSpPr>
          <p:cNvPr id="33" name="TextBox 32"/>
          <p:cNvSpPr txBox="1"/>
          <p:nvPr/>
        </p:nvSpPr>
        <p:spPr>
          <a:xfrm>
            <a:off x="1540012" y="4814049"/>
            <a:ext cx="612668" cy="369332"/>
          </a:xfrm>
          <a:prstGeom prst="rect">
            <a:avLst/>
          </a:prstGeom>
          <a:noFill/>
        </p:spPr>
        <p:txBody>
          <a:bodyPr wrap="none" rtlCol="0">
            <a:spAutoFit/>
          </a:bodyPr>
          <a:lstStyle/>
          <a:p>
            <a:pPr algn="ctr"/>
            <a:r>
              <a:rPr lang="en-IN" b="1" dirty="0"/>
              <a:t>NEW</a:t>
            </a:r>
            <a:endParaRPr lang="en-US" b="1" dirty="0"/>
          </a:p>
        </p:txBody>
      </p:sp>
      <p:sp>
        <p:nvSpPr>
          <p:cNvPr id="34" name="TextBox 33"/>
          <p:cNvSpPr txBox="1"/>
          <p:nvPr/>
        </p:nvSpPr>
        <p:spPr>
          <a:xfrm>
            <a:off x="3519233" y="3181583"/>
            <a:ext cx="612668" cy="369332"/>
          </a:xfrm>
          <a:prstGeom prst="rect">
            <a:avLst/>
          </a:prstGeom>
          <a:noFill/>
        </p:spPr>
        <p:txBody>
          <a:bodyPr wrap="none" rtlCol="0">
            <a:spAutoFit/>
          </a:bodyPr>
          <a:lstStyle/>
          <a:p>
            <a:pPr algn="ctr"/>
            <a:r>
              <a:rPr lang="en-IN" b="1" dirty="0"/>
              <a:t>NEW</a:t>
            </a:r>
            <a:endParaRPr lang="en-US" b="1" dirty="0"/>
          </a:p>
        </p:txBody>
      </p:sp>
      <p:sp>
        <p:nvSpPr>
          <p:cNvPr id="35" name="Freeform 34"/>
          <p:cNvSpPr/>
          <p:nvPr/>
        </p:nvSpPr>
        <p:spPr>
          <a:xfrm>
            <a:off x="1030946" y="4520136"/>
            <a:ext cx="1710047" cy="819397"/>
          </a:xfrm>
          <a:custGeom>
            <a:avLst/>
            <a:gdLst>
              <a:gd name="connsiteX0" fmla="*/ 1306285 w 1710047"/>
              <a:gd name="connsiteY0" fmla="*/ 0 h 819397"/>
              <a:gd name="connsiteX1" fmla="*/ 1710047 w 1710047"/>
              <a:gd name="connsiteY1" fmla="*/ 0 h 819397"/>
              <a:gd name="connsiteX2" fmla="*/ 1710047 w 1710047"/>
              <a:gd name="connsiteY2" fmla="*/ 819397 h 819397"/>
              <a:gd name="connsiteX3" fmla="*/ 0 w 1710047"/>
              <a:gd name="connsiteY3" fmla="*/ 819397 h 819397"/>
              <a:gd name="connsiteX4" fmla="*/ 0 w 1710047"/>
              <a:gd name="connsiteY4" fmla="*/ 11875 h 819397"/>
              <a:gd name="connsiteX5" fmla="*/ 391885 w 1710047"/>
              <a:gd name="connsiteY5" fmla="*/ 11875 h 81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47" h="819397">
                <a:moveTo>
                  <a:pt x="1306285" y="0"/>
                </a:moveTo>
                <a:lnTo>
                  <a:pt x="1710047" y="0"/>
                </a:lnTo>
                <a:lnTo>
                  <a:pt x="1710047" y="819397"/>
                </a:lnTo>
                <a:lnTo>
                  <a:pt x="0" y="819397"/>
                </a:lnTo>
                <a:lnTo>
                  <a:pt x="0" y="11875"/>
                </a:lnTo>
                <a:lnTo>
                  <a:pt x="391885" y="11875"/>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6" name="TextBox 35"/>
          <p:cNvSpPr txBox="1"/>
          <p:nvPr/>
        </p:nvSpPr>
        <p:spPr>
          <a:xfrm>
            <a:off x="1168945" y="3530317"/>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sp>
        <p:nvSpPr>
          <p:cNvPr id="37" name="TextBox 36"/>
          <p:cNvSpPr txBox="1"/>
          <p:nvPr/>
        </p:nvSpPr>
        <p:spPr>
          <a:xfrm>
            <a:off x="1829757" y="3518649"/>
            <a:ext cx="683200" cy="369332"/>
          </a:xfrm>
          <a:prstGeom prst="rect">
            <a:avLst/>
          </a:prstGeom>
          <a:noFill/>
        </p:spPr>
        <p:txBody>
          <a:bodyPr wrap="none" rtlCol="0">
            <a:spAutoFit/>
          </a:bodyPr>
          <a:lstStyle/>
          <a:p>
            <a:pPr algn="ctr"/>
            <a:r>
              <a:rPr lang="en-IN" b="1" dirty="0"/>
              <a:t>LAST</a:t>
            </a:r>
            <a:endParaRPr lang="en-US" b="1" dirty="0"/>
          </a:p>
        </p:txBody>
      </p:sp>
      <p:cxnSp>
        <p:nvCxnSpPr>
          <p:cNvPr id="38" name="Straight Arrow Connector 37"/>
          <p:cNvCxnSpPr>
            <a:stCxn id="36" idx="2"/>
          </p:cNvCxnSpPr>
          <p:nvPr/>
        </p:nvCxnSpPr>
        <p:spPr>
          <a:xfrm>
            <a:off x="1536193" y="3899649"/>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9" name="Straight Arrow Connector 38"/>
          <p:cNvCxnSpPr/>
          <p:nvPr/>
        </p:nvCxnSpPr>
        <p:spPr>
          <a:xfrm flipH="1">
            <a:off x="2175924" y="3899649"/>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0" name="TextBox 39"/>
          <p:cNvSpPr txBox="1"/>
          <p:nvPr/>
        </p:nvSpPr>
        <p:spPr>
          <a:xfrm>
            <a:off x="8803542" y="3921317"/>
            <a:ext cx="683200" cy="369332"/>
          </a:xfrm>
          <a:prstGeom prst="rect">
            <a:avLst/>
          </a:prstGeom>
          <a:noFill/>
        </p:spPr>
        <p:txBody>
          <a:bodyPr wrap="none" rtlCol="0">
            <a:spAutoFit/>
          </a:bodyPr>
          <a:lstStyle/>
          <a:p>
            <a:pPr algn="ctr"/>
            <a:r>
              <a:rPr lang="en-IN" b="1" dirty="0"/>
              <a:t>LAST</a:t>
            </a:r>
            <a:endParaRPr lang="en-US" b="1" dirty="0"/>
          </a:p>
        </p:txBody>
      </p:sp>
      <p:cxnSp>
        <p:nvCxnSpPr>
          <p:cNvPr id="41" name="Straight Arrow Connector 40"/>
          <p:cNvCxnSpPr/>
          <p:nvPr/>
        </p:nvCxnSpPr>
        <p:spPr>
          <a:xfrm flipH="1">
            <a:off x="9149709" y="4302317"/>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2" name="Freeform 41"/>
          <p:cNvSpPr/>
          <p:nvPr/>
        </p:nvSpPr>
        <p:spPr>
          <a:xfrm>
            <a:off x="3164546" y="3878868"/>
            <a:ext cx="6703621" cy="1947553"/>
          </a:xfrm>
          <a:custGeom>
            <a:avLst/>
            <a:gdLst>
              <a:gd name="connsiteX0" fmla="*/ 5462650 w 5830785"/>
              <a:gd name="connsiteY0" fmla="*/ 1104405 h 1947553"/>
              <a:gd name="connsiteX1" fmla="*/ 5830785 w 5830785"/>
              <a:gd name="connsiteY1" fmla="*/ 1104405 h 1947553"/>
              <a:gd name="connsiteX2" fmla="*/ 5830785 w 5830785"/>
              <a:gd name="connsiteY2" fmla="*/ 1947553 h 1947553"/>
              <a:gd name="connsiteX3" fmla="*/ 0 w 5830785"/>
              <a:gd name="connsiteY3" fmla="*/ 1947553 h 1947553"/>
              <a:gd name="connsiteX4" fmla="*/ 0 w 5830785"/>
              <a:gd name="connsiteY4" fmla="*/ 0 h 1947553"/>
              <a:gd name="connsiteX5" fmla="*/ 190006 w 5830785"/>
              <a:gd name="connsiteY5" fmla="*/ 0 h 194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30785" h="1947553">
                <a:moveTo>
                  <a:pt x="5462650" y="1104405"/>
                </a:moveTo>
                <a:lnTo>
                  <a:pt x="5830785" y="1104405"/>
                </a:lnTo>
                <a:lnTo>
                  <a:pt x="5830785" y="1947553"/>
                </a:lnTo>
                <a:lnTo>
                  <a:pt x="0" y="1947553"/>
                </a:lnTo>
                <a:lnTo>
                  <a:pt x="0" y="0"/>
                </a:lnTo>
                <a:lnTo>
                  <a:pt x="190006" y="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3" name="Freeform 42"/>
          <p:cNvSpPr/>
          <p:nvPr/>
        </p:nvSpPr>
        <p:spPr>
          <a:xfrm>
            <a:off x="3716748" y="3855118"/>
            <a:ext cx="1116280" cy="1163781"/>
          </a:xfrm>
          <a:custGeom>
            <a:avLst/>
            <a:gdLst>
              <a:gd name="connsiteX0" fmla="*/ 581891 w 1116280"/>
              <a:gd name="connsiteY0" fmla="*/ 0 h 1163781"/>
              <a:gd name="connsiteX1" fmla="*/ 1116280 w 1116280"/>
              <a:gd name="connsiteY1" fmla="*/ 0 h 1163781"/>
              <a:gd name="connsiteX2" fmla="*/ 1116280 w 1116280"/>
              <a:gd name="connsiteY2" fmla="*/ 498763 h 1163781"/>
              <a:gd name="connsiteX3" fmla="*/ 0 w 1116280"/>
              <a:gd name="connsiteY3" fmla="*/ 498763 h 1163781"/>
              <a:gd name="connsiteX4" fmla="*/ 0 w 1116280"/>
              <a:gd name="connsiteY4" fmla="*/ 1163781 h 1163781"/>
              <a:gd name="connsiteX5" fmla="*/ 736270 w 1116280"/>
              <a:gd name="connsiteY5" fmla="*/ 1163781 h 116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6280" h="1163781">
                <a:moveTo>
                  <a:pt x="581891" y="0"/>
                </a:moveTo>
                <a:lnTo>
                  <a:pt x="1116280" y="0"/>
                </a:lnTo>
                <a:lnTo>
                  <a:pt x="1116280" y="498763"/>
                </a:lnTo>
                <a:lnTo>
                  <a:pt x="0" y="498763"/>
                </a:lnTo>
                <a:lnTo>
                  <a:pt x="0" y="1163781"/>
                </a:lnTo>
                <a:lnTo>
                  <a:pt x="736270" y="1163781"/>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4" name="TextBox 43"/>
          <p:cNvSpPr txBox="1"/>
          <p:nvPr/>
        </p:nvSpPr>
        <p:spPr>
          <a:xfrm>
            <a:off x="3806115" y="2830455"/>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45" name="Straight Arrow Connector 44"/>
          <p:cNvCxnSpPr>
            <a:stCxn id="44" idx="2"/>
          </p:cNvCxnSpPr>
          <p:nvPr/>
        </p:nvCxnSpPr>
        <p:spPr>
          <a:xfrm>
            <a:off x="4173363" y="3199787"/>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6162584" y="869700"/>
            <a:ext cx="5760000" cy="255454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NEW-&gt;NEXT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LAST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ELSE</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NEW-&gt;</a:t>
            </a:r>
            <a:r>
              <a:rPr lang="en-IN" sz="2000" dirty="0">
                <a:latin typeface="Consolas" pitchFamily="49" charset="0"/>
                <a:cs typeface="Consolas" pitchFamily="49" charset="0"/>
                <a:sym typeface="Wingdings" panose="05000000000000000000" pitchFamily="2" charset="2"/>
              </a:rPr>
              <a:t>NEXT</a:t>
            </a:r>
            <a:r>
              <a:rPr lang="en-IN" sz="2000" dirty="0">
                <a:latin typeface="Consolas" pitchFamily="49" charset="0"/>
                <a:cs typeface="Consolas" pitchFamily="49" charset="0"/>
              </a:rPr>
              <a: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a:t>
            </a:r>
          </a:p>
          <a:p>
            <a:r>
              <a:rPr lang="en-IN" sz="2000" dirty="0">
                <a:latin typeface="Consolas" pitchFamily="49" charset="0"/>
                <a:cs typeface="Consolas" pitchFamily="49" charset="0"/>
              </a:rPr>
              <a:t>        LAST-&gt;</a:t>
            </a:r>
            <a:r>
              <a:rPr lang="en-IN" sz="2000" dirty="0">
                <a:latin typeface="Consolas" pitchFamily="49" charset="0"/>
                <a:cs typeface="Consolas" pitchFamily="49" charset="0"/>
                <a:sym typeface="Wingdings" panose="05000000000000000000" pitchFamily="2" charset="2"/>
              </a:rPr>
              <a:t>NEXT</a:t>
            </a:r>
            <a:r>
              <a:rPr lang="en-IN" sz="2000" dirty="0">
                <a:latin typeface="Consolas" pitchFamily="49" charset="0"/>
                <a:cs typeface="Consolas" pitchFamily="49" charset="0"/>
              </a:rPr>
              <a: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endParaRPr lang="en-IN" sz="2000" dirty="0">
              <a:latin typeface="Consolas" pitchFamily="49" charset="0"/>
              <a:cs typeface="Consolas" pitchFamily="49" charset="0"/>
            </a:endParaRPr>
          </a:p>
          <a:p>
            <a:r>
              <a:rPr lang="en-IN" sz="2000" dirty="0">
                <a:latin typeface="Consolas" pitchFamily="49" charset="0"/>
                <a:cs typeface="Consolas" pitchFamily="49" charset="0"/>
              </a:rPr>
              <a:t>   Return</a:t>
            </a:r>
          </a:p>
        </p:txBody>
      </p:sp>
    </p:spTree>
    <p:extLst>
      <p:ext uri="{BB962C8B-B14F-4D97-AF65-F5344CB8AC3E}">
        <p14:creationId xmlns:p14="http://schemas.microsoft.com/office/powerpoint/2010/main" val="358026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6">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heel(1)">
                                      <p:cBhvr>
                                        <p:cTn id="43" dur="20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3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7"/>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3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46">
                                            <p:txEl>
                                              <p:pRg st="3" end="3"/>
                                            </p:txEl>
                                          </p:spTgt>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46">
                                            <p:txEl>
                                              <p:pRg st="4" end="4"/>
                                            </p:txEl>
                                          </p:spTgt>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6">
                                            <p:txEl>
                                              <p:pRg st="5" end="5"/>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2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9"/>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12"/>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5"/>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8"/>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19"/>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20"/>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22"/>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23"/>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41"/>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5"/>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4"/>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32"/>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grpId="0" nodeType="click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wipe(up)">
                                      <p:cBhvr>
                                        <p:cTn id="108" dur="500"/>
                                        <p:tgtEl>
                                          <p:spTgt spid="43"/>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1" nodeType="clickEffect">
                                  <p:stCondLst>
                                    <p:cond delay="0"/>
                                  </p:stCondLst>
                                  <p:childTnLst>
                                    <p:set>
                                      <p:cBhvr>
                                        <p:cTn id="112" dur="1" fill="hold">
                                          <p:stCondLst>
                                            <p:cond delay="0"/>
                                          </p:stCondLst>
                                        </p:cTn>
                                        <p:tgtEl>
                                          <p:spTgt spid="21"/>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21" presetClass="entr" presetSubtype="1" fill="hold" grpId="0" nodeType="click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wheel(1)">
                                      <p:cBhvr>
                                        <p:cTn id="117" dur="2000"/>
                                        <p:tgtEl>
                                          <p:spTgt spid="42"/>
                                        </p:tgtEl>
                                      </p:cBhvr>
                                    </p:animEffect>
                                  </p:childTnLst>
                                </p:cTn>
                              </p:par>
                            </p:childTnLst>
                          </p:cTn>
                        </p:par>
                      </p:childTnLst>
                    </p:cTn>
                  </p:par>
                  <p:par>
                    <p:cTn id="118" fill="hold">
                      <p:stCondLst>
                        <p:cond delay="indefinite"/>
                      </p:stCondLst>
                      <p:childTnLst>
                        <p:par>
                          <p:cTn id="119" fill="hold">
                            <p:stCondLst>
                              <p:cond delay="0"/>
                            </p:stCondLst>
                            <p:childTnLst>
                              <p:par>
                                <p:cTn id="120" presetID="1" presetClass="exit" presetSubtype="0" fill="hold" nodeType="clickEffect">
                                  <p:stCondLst>
                                    <p:cond delay="0"/>
                                  </p:stCondLst>
                                  <p:childTnLst>
                                    <p:set>
                                      <p:cBhvr>
                                        <p:cTn id="121" dur="1" fill="hold">
                                          <p:stCondLst>
                                            <p:cond delay="0"/>
                                          </p:stCondLst>
                                        </p:cTn>
                                        <p:tgtEl>
                                          <p:spTgt spid="22"/>
                                        </p:tgtEl>
                                        <p:attrNameLst>
                                          <p:attrName>style.visibility</p:attrName>
                                        </p:attrNameLst>
                                      </p:cBhvr>
                                      <p:to>
                                        <p:strVal val="hidden"/>
                                      </p:to>
                                    </p:set>
                                  </p:childTnLst>
                                </p:cTn>
                              </p:par>
                              <p:par>
                                <p:cTn id="122" presetID="1" presetClass="exit" presetSubtype="0" fill="hold" grpId="1" nodeType="withEffect">
                                  <p:stCondLst>
                                    <p:cond delay="0"/>
                                  </p:stCondLst>
                                  <p:childTnLst>
                                    <p:set>
                                      <p:cBhvr>
                                        <p:cTn id="123" dur="1" fill="hold">
                                          <p:stCondLst>
                                            <p:cond delay="0"/>
                                          </p:stCondLst>
                                        </p:cTn>
                                        <p:tgtEl>
                                          <p:spTgt spid="23"/>
                                        </p:tgtEl>
                                        <p:attrNameLst>
                                          <p:attrName>style.visibility</p:attrName>
                                        </p:attrNameLst>
                                      </p:cBhvr>
                                      <p:to>
                                        <p:strVal val="hidden"/>
                                      </p:to>
                                    </p:set>
                                  </p:childTnLst>
                                </p:cTn>
                              </p:par>
                              <p:par>
                                <p:cTn id="124" presetID="1" presetClass="entr" presetSubtype="0" fill="hold" grpId="0" nodeType="withEffect">
                                  <p:stCondLst>
                                    <p:cond delay="0"/>
                                  </p:stCondLst>
                                  <p:childTnLst>
                                    <p:set>
                                      <p:cBhvr>
                                        <p:cTn id="125" dur="1" fill="hold">
                                          <p:stCondLst>
                                            <p:cond delay="0"/>
                                          </p:stCondLst>
                                        </p:cTn>
                                        <p:tgtEl>
                                          <p:spTgt spid="44"/>
                                        </p:tgtEl>
                                        <p:attrNameLst>
                                          <p:attrName>style.visibility</p:attrName>
                                        </p:attrNameLst>
                                      </p:cBhvr>
                                      <p:to>
                                        <p:strVal val="visible"/>
                                      </p:to>
                                    </p:set>
                                  </p:childTnLst>
                                </p:cTn>
                              </p:par>
                              <p:par>
                                <p:cTn id="126" presetID="1" presetClass="entr" presetSubtype="0" fill="hold" nodeType="withEffect">
                                  <p:stCondLst>
                                    <p:cond delay="0"/>
                                  </p:stCondLst>
                                  <p:childTnLst>
                                    <p:set>
                                      <p:cBhvr>
                                        <p:cTn id="127" dur="1" fill="hold">
                                          <p:stCondLst>
                                            <p:cond delay="0"/>
                                          </p:stCondLst>
                                        </p:cTn>
                                        <p:tgtEl>
                                          <p:spTgt spid="45"/>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nodeType="clickEffect">
                                  <p:stCondLst>
                                    <p:cond delay="0"/>
                                  </p:stCondLst>
                                  <p:childTnLst>
                                    <p:set>
                                      <p:cBhvr>
                                        <p:cTn id="131" dur="1" fill="hold">
                                          <p:stCondLst>
                                            <p:cond delay="0"/>
                                          </p:stCondLst>
                                        </p:cTn>
                                        <p:tgtEl>
                                          <p:spTgt spid="4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1" grpId="0" animBg="1"/>
      <p:bldP spid="21" grpId="1" animBg="1"/>
      <p:bldP spid="23" grpId="0"/>
      <p:bldP spid="23" grpId="1"/>
      <p:bldP spid="31" grpId="0"/>
      <p:bldP spid="32" grpId="0"/>
      <p:bldP spid="33" grpId="0"/>
      <p:bldP spid="34" grpId="0"/>
      <p:bldP spid="35" grpId="0" animBg="1"/>
      <p:bldP spid="36" grpId="0"/>
      <p:bldP spid="37" grpId="0"/>
      <p:bldP spid="40" grpId="0"/>
      <p:bldP spid="42" grpId="0" animBg="1"/>
      <p:bldP spid="43" grpId="0" animBg="1"/>
      <p:bldP spid="4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Procedure: CIR_INS_LAST(X,FIRST,LAST)</a:t>
            </a:r>
            <a:endParaRPr lang="en-US" dirty="0"/>
          </a:p>
        </p:txBody>
      </p:sp>
      <p:sp>
        <p:nvSpPr>
          <p:cNvPr id="3" name="Content Placeholder 2"/>
          <p:cNvSpPr>
            <a:spLocks noGrp="1"/>
          </p:cNvSpPr>
          <p:nvPr>
            <p:ph idx="1"/>
          </p:nvPr>
        </p:nvSpPr>
        <p:spPr/>
        <p:txBody>
          <a:bodyPr/>
          <a:lstStyle/>
          <a:p>
            <a:r>
              <a:rPr lang="en-IN" dirty="0"/>
              <a:t>This procedure </a:t>
            </a:r>
            <a:r>
              <a:rPr lang="en-IN" b="1" dirty="0">
                <a:solidFill>
                  <a:srgbClr val="C00000"/>
                </a:solidFill>
              </a:rPr>
              <a:t>inserts a new node at the</a:t>
            </a:r>
            <a:r>
              <a:rPr lang="en-IN" b="1" dirty="0">
                <a:solidFill>
                  <a:srgbClr val="FF0000"/>
                </a:solidFill>
              </a:rPr>
              <a:t> </a:t>
            </a:r>
            <a:r>
              <a:rPr lang="en-IN" b="1" dirty="0">
                <a:solidFill>
                  <a:srgbClr val="C00000"/>
                </a:solidFill>
              </a:rPr>
              <a:t>last position</a:t>
            </a:r>
            <a:r>
              <a:rPr lang="en-IN" b="1" dirty="0">
                <a:solidFill>
                  <a:srgbClr val="FF0000"/>
                </a:solidFill>
              </a:rPr>
              <a:t> </a:t>
            </a:r>
            <a:r>
              <a:rPr lang="en-IN" dirty="0"/>
              <a:t>of Circular linked list. </a:t>
            </a:r>
          </a:p>
          <a:p>
            <a:r>
              <a:rPr lang="en-IN" b="1" dirty="0">
                <a:solidFill>
                  <a:srgbClr val="C00000"/>
                </a:solidFill>
              </a:rPr>
              <a:t>X</a:t>
            </a:r>
            <a:r>
              <a:rPr lang="en-IN" dirty="0"/>
              <a:t> is a new element to be inserted.</a:t>
            </a:r>
          </a:p>
          <a:p>
            <a:r>
              <a:rPr lang="en-IN" b="1" dirty="0">
                <a:solidFill>
                  <a:srgbClr val="C00000"/>
                </a:solidFill>
              </a:rPr>
              <a:t>FIRST</a:t>
            </a:r>
            <a:r>
              <a:rPr lang="en-IN" dirty="0">
                <a:solidFill>
                  <a:srgbClr val="C00000"/>
                </a:solidFill>
              </a:rPr>
              <a:t> </a:t>
            </a:r>
            <a:r>
              <a:rPr lang="en-IN" dirty="0"/>
              <a:t>and </a:t>
            </a:r>
            <a:r>
              <a:rPr lang="en-IN" b="1" dirty="0">
                <a:solidFill>
                  <a:srgbClr val="C00000"/>
                </a:solidFill>
              </a:rPr>
              <a:t>LAST</a:t>
            </a:r>
            <a:r>
              <a:rPr lang="en-IN" dirty="0">
                <a:solidFill>
                  <a:srgbClr val="C00000"/>
                </a:solidFill>
              </a:rPr>
              <a:t> </a:t>
            </a:r>
            <a:r>
              <a:rPr lang="en-IN" dirty="0"/>
              <a:t>are a </a:t>
            </a:r>
            <a:r>
              <a:rPr lang="en-IN" b="1" dirty="0"/>
              <a:t>pointer to the first &amp; last elements</a:t>
            </a:r>
            <a:r>
              <a:rPr lang="en-IN" dirty="0"/>
              <a:t> of a Circular linked linear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LINK</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a:t>
            </a:r>
            <a:endParaRPr lang="en-US" dirty="0"/>
          </a:p>
        </p:txBody>
      </p:sp>
    </p:spTree>
    <p:extLst>
      <p:ext uri="{BB962C8B-B14F-4D97-AF65-F5344CB8AC3E}">
        <p14:creationId xmlns:p14="http://schemas.microsoft.com/office/powerpoint/2010/main" val="35129876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Procedure: CIR_INS_LAST( X,FIRST,LAST)</a:t>
            </a:r>
          </a:p>
        </p:txBody>
      </p:sp>
      <p:sp>
        <p:nvSpPr>
          <p:cNvPr id="4" name="TextBox 3"/>
          <p:cNvSpPr txBox="1"/>
          <p:nvPr/>
        </p:nvSpPr>
        <p:spPr>
          <a:xfrm>
            <a:off x="313771" y="860735"/>
            <a:ext cx="5760000" cy="1785104"/>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b="1" dirty="0">
                <a:solidFill>
                  <a:schemeClr val="tx2"/>
                </a:solidFill>
                <a:latin typeface="Consolas" pitchFamily="49" charset="0"/>
                <a:cs typeface="Consolas" pitchFamily="49" charset="0"/>
              </a:rPr>
              <a:t>1. [Creates a new empty node]</a:t>
            </a:r>
          </a:p>
          <a:p>
            <a:r>
              <a:rPr lang="en-IN" sz="2200" dirty="0">
                <a:latin typeface="Consolas" pitchFamily="49" charset="0"/>
                <a:cs typeface="Consolas" pitchFamily="49" charset="0"/>
              </a:rPr>
              <a:t>   NEW     NODE</a:t>
            </a:r>
          </a:p>
          <a:p>
            <a:r>
              <a:rPr lang="en-IN" sz="2200" b="1" dirty="0">
                <a:solidFill>
                  <a:schemeClr val="tx2"/>
                </a:solidFill>
                <a:latin typeface="Consolas" pitchFamily="49" charset="0"/>
                <a:cs typeface="Consolas" pitchFamily="49" charset="0"/>
              </a:rPr>
              <a:t>2. [Initialize fields of new node and its link]</a:t>
            </a:r>
          </a:p>
          <a:p>
            <a:r>
              <a:rPr lang="en-IN" sz="2200" dirty="0">
                <a:latin typeface="Consolas" pitchFamily="49" charset="0"/>
                <a:cs typeface="Consolas" pitchFamily="49" charset="0"/>
              </a:rPr>
              <a:t>   NEW-&gt;INFO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X</a:t>
            </a:r>
          </a:p>
        </p:txBody>
      </p:sp>
      <p:sp>
        <p:nvSpPr>
          <p:cNvPr id="5" name="Left Arrow 4"/>
          <p:cNvSpPr/>
          <p:nvPr/>
        </p:nvSpPr>
        <p:spPr>
          <a:xfrm>
            <a:off x="1500579" y="1293588"/>
            <a:ext cx="457200" cy="228600"/>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p:cNvSpPr txBox="1"/>
          <p:nvPr/>
        </p:nvSpPr>
        <p:spPr>
          <a:xfrm>
            <a:off x="6221507" y="860735"/>
            <a:ext cx="5760000" cy="246221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IF</a:t>
            </a:r>
            <a:r>
              <a:rPr lang="en-IN" sz="2200" dirty="0">
                <a:solidFill>
                  <a:schemeClr val="tx2">
                    <a:lumMod val="75000"/>
                  </a:schemeClr>
                </a:solidFill>
                <a:latin typeface="Consolas" pitchFamily="49" charset="0"/>
                <a:cs typeface="Consolas" pitchFamily="49" charset="0"/>
              </a:rPr>
              <a:t>   </a:t>
            </a:r>
            <a:r>
              <a:rPr lang="en-IN" sz="2200" dirty="0">
                <a:latin typeface="Consolas" pitchFamily="49" charset="0"/>
                <a:cs typeface="Consolas" pitchFamily="49" charset="0"/>
              </a:rPr>
              <a:t>FIRST = NULL</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THEN</a:t>
            </a:r>
            <a:r>
              <a:rPr lang="en-IN" sz="2200" dirty="0">
                <a:solidFill>
                  <a:schemeClr val="tx2">
                    <a:lumMod val="75000"/>
                  </a:schemeClr>
                </a:solidFill>
                <a:latin typeface="Consolas" pitchFamily="49" charset="0"/>
                <a:cs typeface="Consolas" pitchFamily="49" charset="0"/>
              </a:rPr>
              <a:t> </a:t>
            </a:r>
            <a:r>
              <a:rPr lang="en-IN" sz="2200" dirty="0">
                <a:latin typeface="Consolas" pitchFamily="49" charset="0"/>
                <a:cs typeface="Consolas" pitchFamily="49" charset="0"/>
              </a:rPr>
              <a:t>NEW-&gt;NEXT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NEW</a:t>
            </a:r>
          </a:p>
          <a:p>
            <a:r>
              <a:rPr lang="en-IN" sz="2200" dirty="0">
                <a:latin typeface="Consolas" pitchFamily="49" charset="0"/>
                <a:cs typeface="Consolas" pitchFamily="49" charset="0"/>
              </a:rPr>
              <a:t>        FIRST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LAST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NEW</a:t>
            </a:r>
          </a:p>
          <a:p>
            <a:r>
              <a:rPr lang="en-IN" sz="2200" dirty="0">
                <a:latin typeface="Consolas" pitchFamily="49" charset="0"/>
                <a:cs typeface="Consolas" pitchFamily="49" charset="0"/>
              </a:rPr>
              <a:t>   </a:t>
            </a:r>
            <a:r>
              <a:rPr lang="en-IN" sz="2200" b="1" dirty="0">
                <a:solidFill>
                  <a:schemeClr val="tx2">
                    <a:lumMod val="75000"/>
                  </a:schemeClr>
                </a:solidFill>
                <a:latin typeface="Consolas" pitchFamily="49" charset="0"/>
                <a:cs typeface="Consolas" pitchFamily="49" charset="0"/>
              </a:rPr>
              <a:t>ELSE</a:t>
            </a:r>
            <a:r>
              <a:rPr lang="en-IN" sz="2200" dirty="0">
                <a:solidFill>
                  <a:schemeClr val="tx2">
                    <a:lumMod val="75000"/>
                  </a:schemeClr>
                </a:solidFill>
                <a:latin typeface="Consolas" pitchFamily="49" charset="0"/>
                <a:cs typeface="Consolas" pitchFamily="49" charset="0"/>
              </a:rPr>
              <a:t> </a:t>
            </a:r>
            <a:r>
              <a:rPr lang="en-IN" sz="2200" dirty="0">
                <a:latin typeface="Consolas" pitchFamily="49" charset="0"/>
                <a:cs typeface="Consolas" pitchFamily="49" charset="0"/>
              </a:rPr>
              <a:t>NEW-&gt;NEXT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FIRST</a:t>
            </a:r>
          </a:p>
          <a:p>
            <a:r>
              <a:rPr lang="en-IN" sz="2200" dirty="0">
                <a:latin typeface="Consolas" pitchFamily="49" charset="0"/>
                <a:cs typeface="Consolas" pitchFamily="49" charset="0"/>
              </a:rPr>
              <a:t>        LAST-&gt;NEXT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NEW</a:t>
            </a:r>
          </a:p>
          <a:p>
            <a:r>
              <a:rPr lang="en-IN" sz="2200" dirty="0">
                <a:latin typeface="Consolas" pitchFamily="49" charset="0"/>
                <a:cs typeface="Consolas" pitchFamily="49" charset="0"/>
              </a:rPr>
              <a:t>        LAST </a:t>
            </a:r>
            <a:r>
              <a:rPr lang="en-IN" sz="2200" dirty="0">
                <a:latin typeface="Consolas" pitchFamily="49" charset="0"/>
                <a:cs typeface="Consolas" pitchFamily="49" charset="0"/>
                <a:sym typeface="Wingdings" pitchFamily="2" charset="2"/>
              </a:rPr>
              <a:t></a:t>
            </a:r>
            <a:r>
              <a:rPr lang="en-IN" sz="2200" dirty="0">
                <a:latin typeface="Consolas" pitchFamily="49" charset="0"/>
                <a:cs typeface="Consolas" pitchFamily="49" charset="0"/>
              </a:rPr>
              <a:t> NEW</a:t>
            </a:r>
          </a:p>
          <a:p>
            <a:r>
              <a:rPr lang="en-IN" sz="2200" dirty="0">
                <a:latin typeface="Consolas" pitchFamily="49" charset="0"/>
                <a:cs typeface="Consolas" pitchFamily="49" charset="0"/>
              </a:rPr>
              <a:t>   Return</a:t>
            </a:r>
          </a:p>
        </p:txBody>
      </p:sp>
      <p:grpSp>
        <p:nvGrpSpPr>
          <p:cNvPr id="7" name="Group 6"/>
          <p:cNvGrpSpPr/>
          <p:nvPr/>
        </p:nvGrpSpPr>
        <p:grpSpPr>
          <a:xfrm>
            <a:off x="3099576" y="5292226"/>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4471176" y="5292226"/>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5842776" y="5292226"/>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7214376" y="5292226"/>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9" name="Straight Arrow Connector 18"/>
          <p:cNvCxnSpPr>
            <a:stCxn id="9" idx="3"/>
            <a:endCxn id="11" idx="1"/>
          </p:cNvCxnSpPr>
          <p:nvPr/>
        </p:nvCxnSpPr>
        <p:spPr>
          <a:xfrm>
            <a:off x="4019588" y="5558926"/>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 name="Straight Arrow Connector 19"/>
          <p:cNvCxnSpPr>
            <a:stCxn id="12" idx="3"/>
            <a:endCxn id="14" idx="1"/>
          </p:cNvCxnSpPr>
          <p:nvPr/>
        </p:nvCxnSpPr>
        <p:spPr>
          <a:xfrm>
            <a:off x="5391188" y="5558926"/>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a:stCxn id="15" idx="3"/>
            <a:endCxn id="17" idx="1"/>
          </p:cNvCxnSpPr>
          <p:nvPr/>
        </p:nvCxnSpPr>
        <p:spPr>
          <a:xfrm>
            <a:off x="6762788" y="5558926"/>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2" name="Freeform 21"/>
          <p:cNvSpPr/>
          <p:nvPr/>
        </p:nvSpPr>
        <p:spPr>
          <a:xfrm>
            <a:off x="3870936" y="5537065"/>
            <a:ext cx="4586990" cy="659568"/>
          </a:xfrm>
          <a:custGeom>
            <a:avLst/>
            <a:gdLst>
              <a:gd name="connsiteX0" fmla="*/ 4257206 w 4586990"/>
              <a:gd name="connsiteY0" fmla="*/ 0 h 659568"/>
              <a:gd name="connsiteX1" fmla="*/ 4586990 w 4586990"/>
              <a:gd name="connsiteY1" fmla="*/ 0 h 659568"/>
              <a:gd name="connsiteX2" fmla="*/ 4586990 w 4586990"/>
              <a:gd name="connsiteY2" fmla="*/ 659568 h 659568"/>
              <a:gd name="connsiteX3" fmla="*/ 0 w 4586990"/>
              <a:gd name="connsiteY3" fmla="*/ 659568 h 659568"/>
              <a:gd name="connsiteX4" fmla="*/ 0 w 4586990"/>
              <a:gd name="connsiteY4" fmla="*/ 254833 h 65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6990" h="659568">
                <a:moveTo>
                  <a:pt x="4257206" y="0"/>
                </a:moveTo>
                <a:lnTo>
                  <a:pt x="4586990" y="0"/>
                </a:lnTo>
                <a:lnTo>
                  <a:pt x="4586990" y="659568"/>
                </a:lnTo>
                <a:lnTo>
                  <a:pt x="0" y="659568"/>
                </a:lnTo>
                <a:lnTo>
                  <a:pt x="0" y="254833"/>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23" name="Straight Arrow Connector 22"/>
          <p:cNvCxnSpPr/>
          <p:nvPr/>
        </p:nvCxnSpPr>
        <p:spPr>
          <a:xfrm flipV="1">
            <a:off x="3333788" y="5825628"/>
            <a:ext cx="0" cy="2079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4" name="TextBox 23"/>
          <p:cNvSpPr txBox="1"/>
          <p:nvPr/>
        </p:nvSpPr>
        <p:spPr>
          <a:xfrm>
            <a:off x="2969950" y="6031468"/>
            <a:ext cx="734496" cy="369332"/>
          </a:xfrm>
          <a:prstGeom prst="rect">
            <a:avLst/>
          </a:prstGeom>
          <a:noFill/>
          <a:ln w="28575">
            <a:noFill/>
          </a:ln>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25" name="Straight Connector 24"/>
          <p:cNvCxnSpPr/>
          <p:nvPr/>
        </p:nvCxnSpPr>
        <p:spPr>
          <a:xfrm>
            <a:off x="2758822" y="3810000"/>
            <a:ext cx="0" cy="2438400"/>
          </a:xfrm>
          <a:prstGeom prst="line">
            <a:avLst/>
          </a:prstGeom>
        </p:spPr>
        <p:style>
          <a:lnRef idx="3">
            <a:schemeClr val="dk1"/>
          </a:lnRef>
          <a:fillRef idx="0">
            <a:schemeClr val="dk1"/>
          </a:fillRef>
          <a:effectRef idx="2">
            <a:schemeClr val="dk1"/>
          </a:effectRef>
          <a:fontRef idx="minor">
            <a:schemeClr val="tx1"/>
          </a:fontRef>
        </p:style>
      </p:cxnSp>
      <p:grpSp>
        <p:nvGrpSpPr>
          <p:cNvPr id="26" name="Group 25"/>
          <p:cNvGrpSpPr/>
          <p:nvPr/>
        </p:nvGrpSpPr>
        <p:grpSpPr>
          <a:xfrm>
            <a:off x="8563029" y="4038600"/>
            <a:ext cx="920012" cy="533400"/>
            <a:chOff x="951919" y="5486400"/>
            <a:chExt cx="920012" cy="533400"/>
          </a:xfrm>
        </p:grpSpPr>
        <p:sp>
          <p:nvSpPr>
            <p:cNvPr id="27" name="Rectangle 2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8" name="Rectangle 2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29" name="Group 28"/>
          <p:cNvGrpSpPr/>
          <p:nvPr/>
        </p:nvGrpSpPr>
        <p:grpSpPr>
          <a:xfrm>
            <a:off x="1236801" y="4724400"/>
            <a:ext cx="920012" cy="533400"/>
            <a:chOff x="951919" y="5486400"/>
            <a:chExt cx="920012" cy="533400"/>
          </a:xfrm>
        </p:grpSpPr>
        <p:sp>
          <p:nvSpPr>
            <p:cNvPr id="30" name="Rectangle 2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31" name="Rectangle 3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32" name="TextBox 31"/>
          <p:cNvSpPr txBox="1"/>
          <p:nvPr/>
        </p:nvSpPr>
        <p:spPr>
          <a:xfrm>
            <a:off x="1249666" y="4756069"/>
            <a:ext cx="495649" cy="461665"/>
          </a:xfrm>
          <a:prstGeom prst="rect">
            <a:avLst/>
          </a:prstGeom>
          <a:noFill/>
        </p:spPr>
        <p:txBody>
          <a:bodyPr wrap="none" rtlCol="0">
            <a:spAutoFit/>
          </a:bodyPr>
          <a:lstStyle/>
          <a:p>
            <a:r>
              <a:rPr lang="en-IN" sz="2400" b="1" dirty="0">
                <a:solidFill>
                  <a:srgbClr val="FFFF00"/>
                </a:solidFill>
              </a:rPr>
              <a:t>50</a:t>
            </a:r>
            <a:endParaRPr lang="en-US" sz="2400" b="1" dirty="0">
              <a:solidFill>
                <a:srgbClr val="FFFF00"/>
              </a:solidFill>
            </a:endParaRPr>
          </a:p>
        </p:txBody>
      </p:sp>
      <p:sp>
        <p:nvSpPr>
          <p:cNvPr id="33" name="TextBox 32"/>
          <p:cNvSpPr txBox="1"/>
          <p:nvPr/>
        </p:nvSpPr>
        <p:spPr>
          <a:xfrm>
            <a:off x="8579855" y="4074226"/>
            <a:ext cx="495649" cy="461665"/>
          </a:xfrm>
          <a:prstGeom prst="rect">
            <a:avLst/>
          </a:prstGeom>
          <a:noFill/>
        </p:spPr>
        <p:txBody>
          <a:bodyPr wrap="none" rtlCol="0">
            <a:spAutoFit/>
          </a:bodyPr>
          <a:lstStyle/>
          <a:p>
            <a:r>
              <a:rPr lang="en-IN" sz="2400" b="1" dirty="0">
                <a:solidFill>
                  <a:srgbClr val="FFFF00"/>
                </a:solidFill>
              </a:rPr>
              <a:t>50</a:t>
            </a:r>
            <a:endParaRPr lang="en-US" sz="2400" b="1" dirty="0">
              <a:solidFill>
                <a:srgbClr val="FFFF00"/>
              </a:solidFill>
            </a:endParaRPr>
          </a:p>
        </p:txBody>
      </p:sp>
      <p:sp>
        <p:nvSpPr>
          <p:cNvPr id="34" name="TextBox 33"/>
          <p:cNvSpPr txBox="1"/>
          <p:nvPr/>
        </p:nvSpPr>
        <p:spPr>
          <a:xfrm>
            <a:off x="1362889" y="5257800"/>
            <a:ext cx="612668" cy="369332"/>
          </a:xfrm>
          <a:prstGeom prst="rect">
            <a:avLst/>
          </a:prstGeom>
          <a:noFill/>
        </p:spPr>
        <p:txBody>
          <a:bodyPr wrap="none" rtlCol="0">
            <a:spAutoFit/>
          </a:bodyPr>
          <a:lstStyle/>
          <a:p>
            <a:pPr algn="ctr"/>
            <a:r>
              <a:rPr lang="en-IN" b="1" dirty="0"/>
              <a:t>NEW</a:t>
            </a:r>
            <a:endParaRPr lang="en-US" b="1" dirty="0"/>
          </a:p>
        </p:txBody>
      </p:sp>
      <p:sp>
        <p:nvSpPr>
          <p:cNvPr id="35" name="TextBox 34"/>
          <p:cNvSpPr txBox="1"/>
          <p:nvPr/>
        </p:nvSpPr>
        <p:spPr>
          <a:xfrm>
            <a:off x="8689117" y="3625334"/>
            <a:ext cx="612668" cy="369332"/>
          </a:xfrm>
          <a:prstGeom prst="rect">
            <a:avLst/>
          </a:prstGeom>
          <a:noFill/>
        </p:spPr>
        <p:txBody>
          <a:bodyPr wrap="none" rtlCol="0">
            <a:spAutoFit/>
          </a:bodyPr>
          <a:lstStyle/>
          <a:p>
            <a:pPr algn="ctr"/>
            <a:r>
              <a:rPr lang="en-IN" b="1" dirty="0"/>
              <a:t>NEW</a:t>
            </a:r>
            <a:endParaRPr lang="en-US" b="1" dirty="0"/>
          </a:p>
        </p:txBody>
      </p:sp>
      <p:sp>
        <p:nvSpPr>
          <p:cNvPr id="36" name="Freeform 35"/>
          <p:cNvSpPr/>
          <p:nvPr/>
        </p:nvSpPr>
        <p:spPr>
          <a:xfrm>
            <a:off x="853823" y="4963887"/>
            <a:ext cx="1710047" cy="819397"/>
          </a:xfrm>
          <a:custGeom>
            <a:avLst/>
            <a:gdLst>
              <a:gd name="connsiteX0" fmla="*/ 1306285 w 1710047"/>
              <a:gd name="connsiteY0" fmla="*/ 0 h 819397"/>
              <a:gd name="connsiteX1" fmla="*/ 1710047 w 1710047"/>
              <a:gd name="connsiteY1" fmla="*/ 0 h 819397"/>
              <a:gd name="connsiteX2" fmla="*/ 1710047 w 1710047"/>
              <a:gd name="connsiteY2" fmla="*/ 819397 h 819397"/>
              <a:gd name="connsiteX3" fmla="*/ 0 w 1710047"/>
              <a:gd name="connsiteY3" fmla="*/ 819397 h 819397"/>
              <a:gd name="connsiteX4" fmla="*/ 0 w 1710047"/>
              <a:gd name="connsiteY4" fmla="*/ 11875 h 819397"/>
              <a:gd name="connsiteX5" fmla="*/ 391885 w 1710047"/>
              <a:gd name="connsiteY5" fmla="*/ 11875 h 81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47" h="819397">
                <a:moveTo>
                  <a:pt x="1306285" y="0"/>
                </a:moveTo>
                <a:lnTo>
                  <a:pt x="1710047" y="0"/>
                </a:lnTo>
                <a:lnTo>
                  <a:pt x="1710047" y="819397"/>
                </a:lnTo>
                <a:lnTo>
                  <a:pt x="0" y="819397"/>
                </a:lnTo>
                <a:lnTo>
                  <a:pt x="0" y="11875"/>
                </a:lnTo>
                <a:lnTo>
                  <a:pt x="391885" y="11875"/>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7" name="TextBox 36"/>
          <p:cNvSpPr txBox="1"/>
          <p:nvPr/>
        </p:nvSpPr>
        <p:spPr>
          <a:xfrm>
            <a:off x="991822" y="3920280"/>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sp>
        <p:nvSpPr>
          <p:cNvPr id="38" name="TextBox 37"/>
          <p:cNvSpPr txBox="1"/>
          <p:nvPr/>
        </p:nvSpPr>
        <p:spPr>
          <a:xfrm>
            <a:off x="1652634" y="3908612"/>
            <a:ext cx="683200" cy="369332"/>
          </a:xfrm>
          <a:prstGeom prst="rect">
            <a:avLst/>
          </a:prstGeom>
          <a:noFill/>
        </p:spPr>
        <p:txBody>
          <a:bodyPr wrap="none" rtlCol="0">
            <a:spAutoFit/>
          </a:bodyPr>
          <a:lstStyle/>
          <a:p>
            <a:pPr algn="ctr"/>
            <a:r>
              <a:rPr lang="en-IN" b="1" dirty="0"/>
              <a:t>LAST</a:t>
            </a:r>
            <a:endParaRPr lang="en-US" b="1" dirty="0"/>
          </a:p>
        </p:txBody>
      </p:sp>
      <p:cxnSp>
        <p:nvCxnSpPr>
          <p:cNvPr id="39" name="Straight Arrow Connector 38"/>
          <p:cNvCxnSpPr>
            <a:stCxn id="37" idx="2"/>
          </p:cNvCxnSpPr>
          <p:nvPr/>
        </p:nvCxnSpPr>
        <p:spPr>
          <a:xfrm>
            <a:off x="1359070" y="4289612"/>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p:nvPr/>
        </p:nvCxnSpPr>
        <p:spPr>
          <a:xfrm flipH="1">
            <a:off x="1998801" y="4289612"/>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1" name="TextBox 40"/>
          <p:cNvSpPr txBox="1"/>
          <p:nvPr/>
        </p:nvSpPr>
        <p:spPr>
          <a:xfrm>
            <a:off x="7448785" y="4475694"/>
            <a:ext cx="683200" cy="369332"/>
          </a:xfrm>
          <a:prstGeom prst="rect">
            <a:avLst/>
          </a:prstGeom>
          <a:noFill/>
        </p:spPr>
        <p:txBody>
          <a:bodyPr wrap="none" rtlCol="0">
            <a:spAutoFit/>
          </a:bodyPr>
          <a:lstStyle/>
          <a:p>
            <a:pPr algn="ctr"/>
            <a:r>
              <a:rPr lang="en-IN" b="1" dirty="0"/>
              <a:t>LAST</a:t>
            </a:r>
            <a:endParaRPr lang="en-US" b="1" dirty="0"/>
          </a:p>
        </p:txBody>
      </p:sp>
      <p:cxnSp>
        <p:nvCxnSpPr>
          <p:cNvPr id="42" name="Straight Arrow Connector 41"/>
          <p:cNvCxnSpPr/>
          <p:nvPr/>
        </p:nvCxnSpPr>
        <p:spPr>
          <a:xfrm flipH="1">
            <a:off x="7794952" y="4856694"/>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3" name="TextBox 42"/>
          <p:cNvSpPr txBox="1"/>
          <p:nvPr/>
        </p:nvSpPr>
        <p:spPr>
          <a:xfrm>
            <a:off x="9001647" y="3307627"/>
            <a:ext cx="683200" cy="369332"/>
          </a:xfrm>
          <a:prstGeom prst="rect">
            <a:avLst/>
          </a:prstGeom>
          <a:noFill/>
        </p:spPr>
        <p:txBody>
          <a:bodyPr wrap="none" rtlCol="0">
            <a:spAutoFit/>
          </a:bodyPr>
          <a:lstStyle/>
          <a:p>
            <a:pPr algn="ctr"/>
            <a:r>
              <a:rPr lang="en-IN" b="1" dirty="0">
                <a:solidFill>
                  <a:srgbClr val="C00000"/>
                </a:solidFill>
              </a:rPr>
              <a:t>LAST</a:t>
            </a:r>
            <a:endParaRPr lang="en-US" b="1" dirty="0">
              <a:solidFill>
                <a:srgbClr val="C00000"/>
              </a:solidFill>
            </a:endParaRPr>
          </a:p>
        </p:txBody>
      </p:sp>
      <p:cxnSp>
        <p:nvCxnSpPr>
          <p:cNvPr id="44" name="Straight Arrow Connector 43"/>
          <p:cNvCxnSpPr/>
          <p:nvPr/>
        </p:nvCxnSpPr>
        <p:spPr>
          <a:xfrm>
            <a:off x="9343247" y="3608003"/>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5" name="Freeform 44"/>
          <p:cNvSpPr/>
          <p:nvPr/>
        </p:nvSpPr>
        <p:spPr>
          <a:xfrm>
            <a:off x="3746179" y="4562272"/>
            <a:ext cx="5544766" cy="1770434"/>
          </a:xfrm>
          <a:custGeom>
            <a:avLst/>
            <a:gdLst>
              <a:gd name="connsiteX0" fmla="*/ 5544766 w 5544766"/>
              <a:gd name="connsiteY0" fmla="*/ 0 h 1770434"/>
              <a:gd name="connsiteX1" fmla="*/ 5544766 w 5544766"/>
              <a:gd name="connsiteY1" fmla="*/ 1770434 h 1770434"/>
              <a:gd name="connsiteX2" fmla="*/ 0 w 5544766"/>
              <a:gd name="connsiteY2" fmla="*/ 1770434 h 1770434"/>
              <a:gd name="connsiteX3" fmla="*/ 0 w 5544766"/>
              <a:gd name="connsiteY3" fmla="*/ 1264596 h 1770434"/>
            </a:gdLst>
            <a:ahLst/>
            <a:cxnLst>
              <a:cxn ang="0">
                <a:pos x="connsiteX0" y="connsiteY0"/>
              </a:cxn>
              <a:cxn ang="0">
                <a:pos x="connsiteX1" y="connsiteY1"/>
              </a:cxn>
              <a:cxn ang="0">
                <a:pos x="connsiteX2" y="connsiteY2"/>
              </a:cxn>
              <a:cxn ang="0">
                <a:pos x="connsiteX3" y="connsiteY3"/>
              </a:cxn>
            </a:cxnLst>
            <a:rect l="l" t="t" r="r" b="b"/>
            <a:pathLst>
              <a:path w="5544766" h="1770434">
                <a:moveTo>
                  <a:pt x="5544766" y="0"/>
                </a:moveTo>
                <a:lnTo>
                  <a:pt x="5544766" y="1770434"/>
                </a:lnTo>
                <a:lnTo>
                  <a:pt x="0" y="1770434"/>
                </a:lnTo>
                <a:lnTo>
                  <a:pt x="0" y="1264596"/>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6" name="Freeform 45"/>
          <p:cNvSpPr/>
          <p:nvPr/>
        </p:nvSpPr>
        <p:spPr>
          <a:xfrm>
            <a:off x="7977711" y="4357991"/>
            <a:ext cx="593388" cy="914400"/>
          </a:xfrm>
          <a:custGeom>
            <a:avLst/>
            <a:gdLst>
              <a:gd name="connsiteX0" fmla="*/ 0 w 593388"/>
              <a:gd name="connsiteY0" fmla="*/ 914400 h 914400"/>
              <a:gd name="connsiteX1" fmla="*/ 0 w 593388"/>
              <a:gd name="connsiteY1" fmla="*/ 0 h 914400"/>
              <a:gd name="connsiteX2" fmla="*/ 593388 w 593388"/>
              <a:gd name="connsiteY2" fmla="*/ 0 h 914400"/>
            </a:gdLst>
            <a:ahLst/>
            <a:cxnLst>
              <a:cxn ang="0">
                <a:pos x="connsiteX0" y="connsiteY0"/>
              </a:cxn>
              <a:cxn ang="0">
                <a:pos x="connsiteX1" y="connsiteY1"/>
              </a:cxn>
              <a:cxn ang="0">
                <a:pos x="connsiteX2" y="connsiteY2"/>
              </a:cxn>
            </a:cxnLst>
            <a:rect l="l" t="t" r="r" b="b"/>
            <a:pathLst>
              <a:path w="593388" h="914400">
                <a:moveTo>
                  <a:pt x="0" y="914400"/>
                </a:moveTo>
                <a:lnTo>
                  <a:pt x="0" y="0"/>
                </a:lnTo>
                <a:lnTo>
                  <a:pt x="593388" y="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8746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wheel(1)">
                                      <p:cBhvr>
                                        <p:cTn id="43" dur="2000"/>
                                        <p:tgtEl>
                                          <p:spTgt spid="36"/>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3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8"/>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6">
                                            <p:txEl>
                                              <p:pRg st="3" end="3"/>
                                            </p:txEl>
                                          </p:spTgt>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6">
                                            <p:txEl>
                                              <p:pRg st="4" end="4"/>
                                            </p:txEl>
                                          </p:spTgt>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2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7"/>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10"/>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13"/>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6"/>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9"/>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21"/>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22"/>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23"/>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24"/>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42"/>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41"/>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1" presetClass="entr" presetSubtype="1"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wheel(1)">
                                      <p:cBhvr>
                                        <p:cTn id="106" dur="2000"/>
                                        <p:tgtEl>
                                          <p:spTgt spid="45"/>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22"/>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46"/>
                                        </p:tgtEl>
                                        <p:attrNameLst>
                                          <p:attrName>style.visibility</p:attrName>
                                        </p:attrNameLst>
                                      </p:cBhvr>
                                      <p:to>
                                        <p:strVal val="visible"/>
                                      </p:to>
                                    </p:set>
                                    <p:animEffect transition="in" filter="wipe(down)">
                                      <p:cBhvr>
                                        <p:cTn id="115" dur="500"/>
                                        <p:tgtEl>
                                          <p:spTgt spid="46"/>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xit" presetSubtype="0" fill="hold" nodeType="clickEffect">
                                  <p:stCondLst>
                                    <p:cond delay="0"/>
                                  </p:stCondLst>
                                  <p:childTnLst>
                                    <p:set>
                                      <p:cBhvr>
                                        <p:cTn id="119" dur="1" fill="hold">
                                          <p:stCondLst>
                                            <p:cond delay="0"/>
                                          </p:stCondLst>
                                        </p:cTn>
                                        <p:tgtEl>
                                          <p:spTgt spid="42"/>
                                        </p:tgtEl>
                                        <p:attrNameLst>
                                          <p:attrName>style.visibility</p:attrName>
                                        </p:attrNameLst>
                                      </p:cBhvr>
                                      <p:to>
                                        <p:strVal val="hidden"/>
                                      </p:to>
                                    </p:set>
                                  </p:childTnLst>
                                </p:cTn>
                              </p:par>
                              <p:par>
                                <p:cTn id="120" presetID="1" presetClass="exit" presetSubtype="0" fill="hold" grpId="1" nodeType="withEffect">
                                  <p:stCondLst>
                                    <p:cond delay="0"/>
                                  </p:stCondLst>
                                  <p:childTnLst>
                                    <p:set>
                                      <p:cBhvr>
                                        <p:cTn id="121" dur="1" fill="hold">
                                          <p:stCondLst>
                                            <p:cond delay="0"/>
                                          </p:stCondLst>
                                        </p:cTn>
                                        <p:tgtEl>
                                          <p:spTgt spid="41"/>
                                        </p:tgtEl>
                                        <p:attrNameLst>
                                          <p:attrName>style.visibility</p:attrName>
                                        </p:attrNameLst>
                                      </p:cBhvr>
                                      <p:to>
                                        <p:strVal val="hidden"/>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43"/>
                                        </p:tgtEl>
                                        <p:attrNameLst>
                                          <p:attrName>style.visibility</p:attrName>
                                        </p:attrNameLst>
                                      </p:cBhvr>
                                      <p:to>
                                        <p:strVal val="visible"/>
                                      </p:to>
                                    </p:set>
                                  </p:childTnLst>
                                </p:cTn>
                              </p:par>
                              <p:par>
                                <p:cTn id="126" presetID="1" presetClass="entr" presetSubtype="0" fill="hold" nodeType="withEffect">
                                  <p:stCondLst>
                                    <p:cond delay="0"/>
                                  </p:stCondLst>
                                  <p:childTnLst>
                                    <p:set>
                                      <p:cBhvr>
                                        <p:cTn id="127" dur="1" fill="hold">
                                          <p:stCondLst>
                                            <p:cond delay="0"/>
                                          </p:stCondLst>
                                        </p:cTn>
                                        <p:tgtEl>
                                          <p:spTgt spid="44"/>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nodeType="clickEffect">
                                  <p:stCondLst>
                                    <p:cond delay="0"/>
                                  </p:stCondLst>
                                  <p:childTnLst>
                                    <p:set>
                                      <p:cBhvr>
                                        <p:cTn id="131"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2" grpId="0" animBg="1"/>
      <p:bldP spid="22" grpId="1" animBg="1"/>
      <p:bldP spid="24" grpId="0"/>
      <p:bldP spid="32" grpId="0"/>
      <p:bldP spid="33" grpId="0"/>
      <p:bldP spid="34" grpId="0"/>
      <p:bldP spid="35" grpId="0"/>
      <p:bldP spid="36" grpId="0" animBg="1"/>
      <p:bldP spid="37" grpId="0"/>
      <p:bldP spid="38" grpId="0"/>
      <p:bldP spid="41" grpId="0"/>
      <p:bldP spid="41" grpId="1"/>
      <p:bldP spid="43" grpId="0"/>
      <p:bldP spid="45" grpId="0" animBg="1"/>
      <p:bldP spid="4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CIR_INS_ORD(X,FIRST,LAST)</a:t>
            </a:r>
          </a:p>
        </p:txBody>
      </p:sp>
      <p:sp>
        <p:nvSpPr>
          <p:cNvPr id="3" name="Content Placeholder 2"/>
          <p:cNvSpPr>
            <a:spLocks noGrp="1"/>
          </p:cNvSpPr>
          <p:nvPr>
            <p:ph idx="1"/>
          </p:nvPr>
        </p:nvSpPr>
        <p:spPr/>
        <p:txBody>
          <a:bodyPr/>
          <a:lstStyle/>
          <a:p>
            <a:r>
              <a:rPr lang="en-IN" dirty="0"/>
              <a:t>This function </a:t>
            </a:r>
            <a:r>
              <a:rPr lang="en-IN" b="1" dirty="0">
                <a:solidFill>
                  <a:srgbClr val="C00000"/>
                </a:solidFill>
              </a:rPr>
              <a:t>inserts</a:t>
            </a:r>
            <a:r>
              <a:rPr lang="en-IN" dirty="0">
                <a:solidFill>
                  <a:srgbClr val="C00000"/>
                </a:solidFill>
              </a:rPr>
              <a:t> </a:t>
            </a:r>
            <a:r>
              <a:rPr lang="en-IN" dirty="0"/>
              <a:t>a new node such that linked list preserves the ordering of the terms in </a:t>
            </a:r>
            <a:r>
              <a:rPr lang="en-IN" b="1" dirty="0">
                <a:solidFill>
                  <a:srgbClr val="C00000"/>
                </a:solidFill>
              </a:rPr>
              <a:t>increasing order</a:t>
            </a:r>
            <a:r>
              <a:rPr lang="en-IN" b="1" dirty="0">
                <a:solidFill>
                  <a:srgbClr val="FF0000"/>
                </a:solidFill>
              </a:rPr>
              <a:t> </a:t>
            </a:r>
            <a:r>
              <a:rPr lang="en-IN" dirty="0"/>
              <a:t>of their </a:t>
            </a:r>
            <a:r>
              <a:rPr lang="en-IN" b="1" dirty="0">
                <a:solidFill>
                  <a:srgbClr val="C00000"/>
                </a:solidFill>
              </a:rPr>
              <a:t>INFO</a:t>
            </a:r>
            <a:r>
              <a:rPr lang="en-IN" dirty="0">
                <a:solidFill>
                  <a:srgbClr val="C00000"/>
                </a:solidFill>
              </a:rPr>
              <a:t> </a:t>
            </a:r>
            <a:r>
              <a:rPr lang="en-IN" dirty="0"/>
              <a:t>field.</a:t>
            </a:r>
          </a:p>
          <a:p>
            <a:r>
              <a:rPr lang="en-IN" b="1" dirty="0">
                <a:solidFill>
                  <a:srgbClr val="C00000"/>
                </a:solidFill>
              </a:rPr>
              <a:t>X</a:t>
            </a:r>
            <a:r>
              <a:rPr lang="en-IN" dirty="0">
                <a:solidFill>
                  <a:srgbClr val="C00000"/>
                </a:solidFill>
              </a:rPr>
              <a:t> </a:t>
            </a:r>
            <a:r>
              <a:rPr lang="en-IN" dirty="0"/>
              <a:t>is a new element to be inserted.</a:t>
            </a:r>
          </a:p>
          <a:p>
            <a:r>
              <a:rPr lang="en-IN" b="1" dirty="0">
                <a:solidFill>
                  <a:srgbClr val="C00000"/>
                </a:solidFill>
              </a:rPr>
              <a:t>FIRST</a:t>
            </a:r>
            <a:r>
              <a:rPr lang="en-IN" dirty="0">
                <a:solidFill>
                  <a:srgbClr val="C00000"/>
                </a:solidFill>
              </a:rPr>
              <a:t> </a:t>
            </a:r>
            <a:r>
              <a:rPr lang="en-IN" dirty="0"/>
              <a:t>and </a:t>
            </a:r>
            <a:r>
              <a:rPr lang="en-IN" b="1" dirty="0">
                <a:solidFill>
                  <a:srgbClr val="C00000"/>
                </a:solidFill>
              </a:rPr>
              <a:t>LAST</a:t>
            </a:r>
            <a:r>
              <a:rPr lang="en-IN" dirty="0">
                <a:solidFill>
                  <a:srgbClr val="C00000"/>
                </a:solidFill>
              </a:rPr>
              <a:t> </a:t>
            </a:r>
            <a:r>
              <a:rPr lang="en-IN" dirty="0"/>
              <a:t>are a </a:t>
            </a:r>
            <a:r>
              <a:rPr lang="en-IN" b="1" dirty="0"/>
              <a:t>pointer to the first &amp; last elements</a:t>
            </a:r>
            <a:r>
              <a:rPr lang="en-IN" dirty="0"/>
              <a:t> of a Circular linked linear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NEXT</a:t>
            </a:r>
            <a:r>
              <a:rPr lang="en-IN" dirty="0">
                <a:solidFill>
                  <a:srgbClr val="C00000"/>
                </a:solidFill>
              </a:rPr>
              <a:t> </a:t>
            </a:r>
            <a:r>
              <a:rPr lang="en-IN" dirty="0"/>
              <a:t>fields. </a:t>
            </a:r>
          </a:p>
          <a:p>
            <a:r>
              <a:rPr lang="en-IN" b="1" dirty="0">
                <a:solidFill>
                  <a:srgbClr val="C00000"/>
                </a:solidFill>
              </a:rPr>
              <a:t>NEW</a:t>
            </a:r>
            <a:r>
              <a:rPr lang="en-IN" dirty="0">
                <a:solidFill>
                  <a:srgbClr val="C00000"/>
                </a:solidFill>
              </a:rPr>
              <a:t> </a:t>
            </a:r>
            <a:r>
              <a:rPr lang="en-IN" dirty="0"/>
              <a:t>is a temporary pointer variable.</a:t>
            </a:r>
            <a:endParaRPr lang="en-US" dirty="0"/>
          </a:p>
          <a:p>
            <a:pPr marL="0" indent="0">
              <a:buNone/>
            </a:pPr>
            <a:endParaRPr lang="en-US" dirty="0"/>
          </a:p>
        </p:txBody>
      </p:sp>
    </p:spTree>
    <p:extLst>
      <p:ext uri="{BB962C8B-B14F-4D97-AF65-F5344CB8AC3E}">
        <p14:creationId xmlns:p14="http://schemas.microsoft.com/office/powerpoint/2010/main" val="303352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CIR_INS_ORD(X,FIRST,LAST)</a:t>
            </a:r>
          </a:p>
        </p:txBody>
      </p:sp>
      <p:sp>
        <p:nvSpPr>
          <p:cNvPr id="4" name="TextBox 3"/>
          <p:cNvSpPr txBox="1"/>
          <p:nvPr/>
        </p:nvSpPr>
        <p:spPr>
          <a:xfrm>
            <a:off x="226963" y="883024"/>
            <a:ext cx="5760000" cy="532453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 New Empty Node]</a:t>
            </a:r>
          </a:p>
          <a:p>
            <a:r>
              <a:rPr lang="en-IN" sz="2000" dirty="0">
                <a:latin typeface="Consolas" pitchFamily="49" charset="0"/>
                <a:cs typeface="Consolas" pitchFamily="49" charset="0"/>
              </a:rPr>
              <a:t>   NEW     NODE </a:t>
            </a:r>
          </a:p>
          <a:p>
            <a:pPr marL="450850" indent="-450850"/>
            <a:r>
              <a:rPr lang="en-IN" sz="2000" b="1" dirty="0">
                <a:solidFill>
                  <a:schemeClr val="tx2"/>
                </a:solidFill>
                <a:latin typeface="Consolas" pitchFamily="49" charset="0"/>
                <a:cs typeface="Consolas" pitchFamily="49" charset="0"/>
              </a:rPr>
              <a:t>2. [Copy information content into new node]</a:t>
            </a:r>
          </a:p>
          <a:p>
            <a:r>
              <a:rPr lang="en-IN" sz="2000" dirty="0">
                <a:latin typeface="Consolas" pitchFamily="49" charset="0"/>
                <a:cs typeface="Consolas" pitchFamily="49" charset="0"/>
              </a:rPr>
              <a:t>   INFO(NEW)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X</a:t>
            </a:r>
          </a:p>
          <a:p>
            <a:r>
              <a:rPr lang="en-IN" sz="2000" b="1" dirty="0">
                <a:solidFill>
                  <a:schemeClr val="tx2"/>
                </a:solidFill>
                <a:latin typeface="Consolas" pitchFamily="49" charset="0"/>
                <a:cs typeface="Consolas" pitchFamily="49" charset="0"/>
              </a:rPr>
              <a:t>3. [Is Linked List Empty?]</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NEW-&gt;NEXT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a:p>
            <a:pPr marL="450850" indent="-450850"/>
            <a:r>
              <a:rPr lang="en-IN" sz="2000" b="1" dirty="0">
                <a:solidFill>
                  <a:schemeClr val="tx2"/>
                </a:solidFill>
                <a:latin typeface="Consolas" pitchFamily="49" charset="0"/>
                <a:cs typeface="Consolas" pitchFamily="49" charset="0"/>
              </a:rPr>
              <a:t>4. [Does new node data is less than the FIRST node]</a:t>
            </a:r>
          </a:p>
          <a:p>
            <a:r>
              <a:rPr lang="en-IN" sz="2000" dirty="0">
                <a:latin typeface="Consolas" pitchFamily="49" charset="0"/>
                <a:cs typeface="Consolas" pitchFamily="49" charset="0"/>
              </a:rPr>
              <a:t>    IF    NEW-&gt;INFO ≤ FIRST-&gt;INFO</a:t>
            </a:r>
          </a:p>
          <a:p>
            <a:r>
              <a:rPr lang="en-IN" sz="2000" dirty="0">
                <a:latin typeface="Consolas" pitchFamily="49" charset="0"/>
                <a:cs typeface="Consolas" pitchFamily="49" charset="0"/>
              </a:rPr>
              <a:t>    THEN  NEW -&gt;NEXT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FIRST</a:t>
            </a:r>
          </a:p>
          <a:p>
            <a:r>
              <a:rPr lang="en-IN" sz="2000" dirty="0">
                <a:latin typeface="Consolas" pitchFamily="49" charset="0"/>
                <a:cs typeface="Consolas" pitchFamily="49" charset="0"/>
              </a:rPr>
              <a:t>          LAST-&gt;NEXT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p:txBody>
      </p:sp>
      <p:sp>
        <p:nvSpPr>
          <p:cNvPr id="5" name="Left Arrow 4"/>
          <p:cNvSpPr/>
          <p:nvPr/>
        </p:nvSpPr>
        <p:spPr>
          <a:xfrm>
            <a:off x="1307313" y="1270817"/>
            <a:ext cx="457200" cy="228600"/>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p:cNvSpPr txBox="1"/>
          <p:nvPr/>
        </p:nvSpPr>
        <p:spPr>
          <a:xfrm>
            <a:off x="6256606" y="883023"/>
            <a:ext cx="5760000" cy="440120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5. [Initialize Temporary Pointer]</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 </a:t>
            </a:r>
          </a:p>
          <a:p>
            <a:pPr marL="450850" indent="-450850"/>
            <a:r>
              <a:rPr lang="en-IN" sz="2000" b="1" dirty="0">
                <a:solidFill>
                  <a:schemeClr val="tx2"/>
                </a:solidFill>
                <a:latin typeface="Consolas" pitchFamily="49" charset="0"/>
                <a:cs typeface="Consolas" pitchFamily="49" charset="0"/>
              </a:rPr>
              <a:t>6. [Search for Predecessor of new node]</a:t>
            </a:r>
          </a:p>
          <a:p>
            <a:r>
              <a:rPr lang="en-IN" sz="2000" b="1" dirty="0">
                <a:solidFill>
                  <a:schemeClr val="accent2">
                    <a:lumMod val="75000"/>
                  </a:schemeClr>
                </a:solidFill>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 while </a:t>
            </a:r>
            <a:r>
              <a:rPr lang="en-IN" sz="2000" dirty="0">
                <a:latin typeface="Consolas" pitchFamily="49" charset="0"/>
                <a:cs typeface="Consolas" pitchFamily="49" charset="0"/>
              </a:rPr>
              <a:t>TEMP ≠ LAST &amp;  </a:t>
            </a:r>
          </a:p>
          <a:p>
            <a:r>
              <a:rPr lang="en-IN" sz="2000" dirty="0">
                <a:latin typeface="Consolas" pitchFamily="49" charset="0"/>
                <a:cs typeface="Consolas" pitchFamily="49" charset="0"/>
              </a:rPr>
              <a:t>         NEW-&gt;INFO ≥ (TEMP-&gt;NEXT)-&gt;INFO</a:t>
            </a:r>
          </a:p>
          <a:p>
            <a:r>
              <a:rPr lang="en-IN" sz="2000" dirty="0">
                <a:latin typeface="Consolas" pitchFamily="49" charset="0"/>
                <a:cs typeface="Consolas" pitchFamily="49" charset="0"/>
              </a:rPr>
              <a:t> 	  TEMP</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TEMP-&gt;NEXT</a:t>
            </a:r>
          </a:p>
          <a:p>
            <a:pPr marL="450850" indent="-450850"/>
            <a:r>
              <a:rPr lang="en-IN" sz="2000" b="1" dirty="0">
                <a:solidFill>
                  <a:schemeClr val="tx2"/>
                </a:solidFill>
                <a:latin typeface="Consolas" pitchFamily="49" charset="0"/>
                <a:cs typeface="Consolas" pitchFamily="49" charset="0"/>
              </a:rPr>
              <a:t>7. [Set link field of NEW node and its Predecessor]</a:t>
            </a:r>
          </a:p>
          <a:p>
            <a:r>
              <a:rPr lang="en-IN" sz="2000" dirty="0">
                <a:latin typeface="Consolas" pitchFamily="49" charset="0"/>
                <a:cs typeface="Consolas" pitchFamily="49" charset="0"/>
              </a:rPr>
              <a:t>    NEW-&gt;NEXT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TEMP-&gt;NEXT</a:t>
            </a:r>
          </a:p>
          <a:p>
            <a:r>
              <a:rPr lang="en-IN" sz="2000" dirty="0">
                <a:latin typeface="Consolas" pitchFamily="49" charset="0"/>
                <a:cs typeface="Consolas" pitchFamily="49" charset="0"/>
              </a:rPr>
              <a:t>    TEMP-&gt;NEXT</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IF   TEMP = LAST</a:t>
            </a:r>
          </a:p>
          <a:p>
            <a:r>
              <a:rPr lang="en-IN" sz="2000" dirty="0">
                <a:latin typeface="Consolas" pitchFamily="49" charset="0"/>
                <a:cs typeface="Consolas" pitchFamily="49" charset="0"/>
              </a:rPr>
              <a:t>    THEN 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b="1" dirty="0">
                <a:solidFill>
                  <a:schemeClr val="tx2"/>
                </a:solidFill>
                <a:latin typeface="Consolas" pitchFamily="49" charset="0"/>
                <a:cs typeface="Consolas" pitchFamily="49" charset="0"/>
              </a:rPr>
              <a:t>8. [Finished]</a:t>
            </a:r>
          </a:p>
          <a:p>
            <a:r>
              <a:rPr lang="en-IN" sz="2000" dirty="0">
                <a:latin typeface="Consolas" pitchFamily="49" charset="0"/>
                <a:cs typeface="Consolas" pitchFamily="49" charset="0"/>
              </a:rPr>
              <a:t>   Return</a:t>
            </a:r>
          </a:p>
        </p:txBody>
      </p:sp>
    </p:spTree>
    <p:extLst>
      <p:ext uri="{BB962C8B-B14F-4D97-AF65-F5344CB8AC3E}">
        <p14:creationId xmlns:p14="http://schemas.microsoft.com/office/powerpoint/2010/main" val="355561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11" end="11"/>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2" end="12"/>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13" end="13"/>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3" end="3"/>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
                                            <p:txEl>
                                              <p:pRg st="7" end="7"/>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xEl>
                                              <p:pRg st="9" end="9"/>
                                            </p:txEl>
                                          </p:spTgt>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CIR_INS_ORD(3,FIRST,LAST)</a:t>
            </a:r>
          </a:p>
        </p:txBody>
      </p:sp>
      <p:sp>
        <p:nvSpPr>
          <p:cNvPr id="4" name="TextBox 3"/>
          <p:cNvSpPr txBox="1"/>
          <p:nvPr/>
        </p:nvSpPr>
        <p:spPr>
          <a:xfrm>
            <a:off x="153010" y="886107"/>
            <a:ext cx="5760000" cy="317009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 New Empty Node]</a:t>
            </a:r>
          </a:p>
          <a:p>
            <a:r>
              <a:rPr lang="en-IN" sz="2000" dirty="0">
                <a:latin typeface="Consolas" pitchFamily="49" charset="0"/>
                <a:cs typeface="Consolas" pitchFamily="49" charset="0"/>
              </a:rPr>
              <a:t>   NEW     NODE </a:t>
            </a:r>
          </a:p>
          <a:p>
            <a:pPr marL="450850" indent="-450850"/>
            <a:r>
              <a:rPr lang="en-IN" sz="2000" b="1" dirty="0">
                <a:solidFill>
                  <a:schemeClr val="tx2"/>
                </a:solidFill>
                <a:latin typeface="Consolas" pitchFamily="49" charset="0"/>
                <a:cs typeface="Consolas" pitchFamily="49" charset="0"/>
              </a:rPr>
              <a:t>2. [Copy information content into new node]</a:t>
            </a:r>
          </a:p>
          <a:p>
            <a:r>
              <a:rPr lang="en-IN" sz="2000" dirty="0">
                <a:latin typeface="Consolas" pitchFamily="49" charset="0"/>
                <a:cs typeface="Consolas" pitchFamily="49" charset="0"/>
              </a:rPr>
              <a:t>   INFO(NEW)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X</a:t>
            </a:r>
          </a:p>
          <a:p>
            <a:r>
              <a:rPr lang="en-IN" sz="2000" b="1" dirty="0">
                <a:solidFill>
                  <a:schemeClr val="tx2"/>
                </a:solidFill>
                <a:latin typeface="Consolas" pitchFamily="49" charset="0"/>
                <a:cs typeface="Consolas" pitchFamily="49" charset="0"/>
              </a:rPr>
              <a:t>3. [Is Linked List Empty?]</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FIRST = 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NEW-&gt;NEXT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p:txBody>
      </p:sp>
      <p:sp>
        <p:nvSpPr>
          <p:cNvPr id="5" name="TextBox 4"/>
          <p:cNvSpPr txBox="1"/>
          <p:nvPr/>
        </p:nvSpPr>
        <p:spPr>
          <a:xfrm>
            <a:off x="6096000" y="886107"/>
            <a:ext cx="5760000" cy="2246769"/>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marL="450850" indent="-450850"/>
            <a:r>
              <a:rPr lang="en-IN" sz="2000" b="1" dirty="0">
                <a:solidFill>
                  <a:schemeClr val="tx2"/>
                </a:solidFill>
                <a:latin typeface="Consolas" pitchFamily="49" charset="0"/>
                <a:cs typeface="Consolas" pitchFamily="49" charset="0"/>
              </a:rPr>
              <a:t>4. [Does new node data is less than the FIRST node]</a:t>
            </a:r>
          </a:p>
          <a:p>
            <a:r>
              <a:rPr lang="en-IN" sz="2000" dirty="0">
                <a:latin typeface="Consolas" pitchFamily="49" charset="0"/>
                <a:cs typeface="Consolas" pitchFamily="49" charset="0"/>
              </a:rPr>
              <a:t>    IF    NEW-&gt;INFO ≤ FIRST-&gt;INFO</a:t>
            </a:r>
          </a:p>
          <a:p>
            <a:r>
              <a:rPr lang="en-IN" sz="2000" dirty="0">
                <a:latin typeface="Consolas" pitchFamily="49" charset="0"/>
                <a:cs typeface="Consolas" pitchFamily="49" charset="0"/>
              </a:rPr>
              <a:t>    THEN  NEW -&gt;NEXT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FIRST</a:t>
            </a:r>
          </a:p>
          <a:p>
            <a:r>
              <a:rPr lang="en-IN" sz="2000" dirty="0">
                <a:latin typeface="Consolas" pitchFamily="49" charset="0"/>
                <a:cs typeface="Consolas" pitchFamily="49" charset="0"/>
              </a:rPr>
              <a:t>          LAST-&gt;NEXT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FIRST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p:txBody>
      </p:sp>
      <p:sp>
        <p:nvSpPr>
          <p:cNvPr id="6" name="Left Arrow 5"/>
          <p:cNvSpPr/>
          <p:nvPr/>
        </p:nvSpPr>
        <p:spPr>
          <a:xfrm>
            <a:off x="1311786" y="1246831"/>
            <a:ext cx="457200" cy="228600"/>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45" name="Group 44"/>
          <p:cNvGrpSpPr/>
          <p:nvPr/>
        </p:nvGrpSpPr>
        <p:grpSpPr>
          <a:xfrm>
            <a:off x="4080887" y="5508175"/>
            <a:ext cx="920012" cy="533400"/>
            <a:chOff x="951919" y="5486400"/>
            <a:chExt cx="920012" cy="533400"/>
          </a:xfrm>
        </p:grpSpPr>
        <p:sp>
          <p:nvSpPr>
            <p:cNvPr id="46" name="Rectangle 4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47" name="Rectangle 4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48" name="Group 47"/>
          <p:cNvGrpSpPr/>
          <p:nvPr/>
        </p:nvGrpSpPr>
        <p:grpSpPr>
          <a:xfrm>
            <a:off x="5452487" y="5508175"/>
            <a:ext cx="920012" cy="533400"/>
            <a:chOff x="951919" y="5486400"/>
            <a:chExt cx="920012" cy="533400"/>
          </a:xfrm>
        </p:grpSpPr>
        <p:sp>
          <p:nvSpPr>
            <p:cNvPr id="49" name="Rectangle 48"/>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50" name="Rectangle 49"/>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1" name="Group 50"/>
          <p:cNvGrpSpPr/>
          <p:nvPr/>
        </p:nvGrpSpPr>
        <p:grpSpPr>
          <a:xfrm>
            <a:off x="6824087" y="5508175"/>
            <a:ext cx="920012" cy="533400"/>
            <a:chOff x="951919" y="5486400"/>
            <a:chExt cx="920012" cy="533400"/>
          </a:xfrm>
        </p:grpSpPr>
        <p:sp>
          <p:nvSpPr>
            <p:cNvPr id="52" name="Rectangle 51"/>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53" name="Rectangle 52"/>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54" name="Group 53"/>
          <p:cNvGrpSpPr/>
          <p:nvPr/>
        </p:nvGrpSpPr>
        <p:grpSpPr>
          <a:xfrm>
            <a:off x="8195687" y="5508175"/>
            <a:ext cx="920012" cy="533400"/>
            <a:chOff x="951919" y="5486400"/>
            <a:chExt cx="920012" cy="533400"/>
          </a:xfrm>
        </p:grpSpPr>
        <p:sp>
          <p:nvSpPr>
            <p:cNvPr id="55" name="Rectangle 5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56" name="Rectangle 5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57" name="Straight Arrow Connector 56"/>
          <p:cNvCxnSpPr>
            <a:stCxn id="47" idx="3"/>
            <a:endCxn id="49" idx="1"/>
          </p:cNvCxnSpPr>
          <p:nvPr/>
        </p:nvCxnSpPr>
        <p:spPr>
          <a:xfrm>
            <a:off x="5000899" y="5774875"/>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8" name="Straight Arrow Connector 57"/>
          <p:cNvCxnSpPr>
            <a:stCxn id="50" idx="3"/>
            <a:endCxn id="52" idx="1"/>
          </p:cNvCxnSpPr>
          <p:nvPr/>
        </p:nvCxnSpPr>
        <p:spPr>
          <a:xfrm>
            <a:off x="6372499" y="5774875"/>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9" name="Straight Arrow Connector 58"/>
          <p:cNvCxnSpPr>
            <a:stCxn id="53" idx="3"/>
            <a:endCxn id="55" idx="1"/>
          </p:cNvCxnSpPr>
          <p:nvPr/>
        </p:nvCxnSpPr>
        <p:spPr>
          <a:xfrm>
            <a:off x="7744099" y="5774875"/>
            <a:ext cx="451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0" name="Freeform 59"/>
          <p:cNvSpPr/>
          <p:nvPr/>
        </p:nvSpPr>
        <p:spPr>
          <a:xfrm>
            <a:off x="4852247" y="5753014"/>
            <a:ext cx="4586990" cy="659568"/>
          </a:xfrm>
          <a:custGeom>
            <a:avLst/>
            <a:gdLst>
              <a:gd name="connsiteX0" fmla="*/ 4257206 w 4586990"/>
              <a:gd name="connsiteY0" fmla="*/ 0 h 659568"/>
              <a:gd name="connsiteX1" fmla="*/ 4586990 w 4586990"/>
              <a:gd name="connsiteY1" fmla="*/ 0 h 659568"/>
              <a:gd name="connsiteX2" fmla="*/ 4586990 w 4586990"/>
              <a:gd name="connsiteY2" fmla="*/ 659568 h 659568"/>
              <a:gd name="connsiteX3" fmla="*/ 0 w 4586990"/>
              <a:gd name="connsiteY3" fmla="*/ 659568 h 659568"/>
              <a:gd name="connsiteX4" fmla="*/ 0 w 4586990"/>
              <a:gd name="connsiteY4" fmla="*/ 254833 h 65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6990" h="659568">
                <a:moveTo>
                  <a:pt x="4257206" y="0"/>
                </a:moveTo>
                <a:lnTo>
                  <a:pt x="4586990" y="0"/>
                </a:lnTo>
                <a:lnTo>
                  <a:pt x="4586990" y="659568"/>
                </a:lnTo>
                <a:lnTo>
                  <a:pt x="0" y="659568"/>
                </a:lnTo>
                <a:lnTo>
                  <a:pt x="0" y="254833"/>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61" name="Straight Arrow Connector 60"/>
          <p:cNvCxnSpPr/>
          <p:nvPr/>
        </p:nvCxnSpPr>
        <p:spPr>
          <a:xfrm flipV="1">
            <a:off x="4315099" y="6041577"/>
            <a:ext cx="0" cy="2079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2" name="TextBox 61"/>
          <p:cNvSpPr txBox="1"/>
          <p:nvPr/>
        </p:nvSpPr>
        <p:spPr>
          <a:xfrm>
            <a:off x="3951261" y="6247417"/>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63" name="Straight Connector 62"/>
          <p:cNvCxnSpPr/>
          <p:nvPr/>
        </p:nvCxnSpPr>
        <p:spPr>
          <a:xfrm>
            <a:off x="3095899" y="4734107"/>
            <a:ext cx="0" cy="1788617"/>
          </a:xfrm>
          <a:prstGeom prst="line">
            <a:avLst/>
          </a:prstGeom>
        </p:spPr>
        <p:style>
          <a:lnRef idx="3">
            <a:schemeClr val="dk1"/>
          </a:lnRef>
          <a:fillRef idx="0">
            <a:schemeClr val="dk1"/>
          </a:fillRef>
          <a:effectRef idx="2">
            <a:schemeClr val="dk1"/>
          </a:effectRef>
          <a:fontRef idx="minor">
            <a:schemeClr val="tx1"/>
          </a:fontRef>
        </p:style>
      </p:cxnSp>
      <p:grpSp>
        <p:nvGrpSpPr>
          <p:cNvPr id="64" name="Group 63"/>
          <p:cNvGrpSpPr/>
          <p:nvPr/>
        </p:nvGrpSpPr>
        <p:grpSpPr>
          <a:xfrm>
            <a:off x="5623506" y="4365175"/>
            <a:ext cx="920012" cy="533400"/>
            <a:chOff x="951919" y="5486400"/>
            <a:chExt cx="920012" cy="533400"/>
          </a:xfrm>
        </p:grpSpPr>
        <p:sp>
          <p:nvSpPr>
            <p:cNvPr id="65" name="Rectangle 6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66" name="Rectangle 6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67" name="Group 66"/>
          <p:cNvGrpSpPr/>
          <p:nvPr/>
        </p:nvGrpSpPr>
        <p:grpSpPr>
          <a:xfrm>
            <a:off x="1116678" y="5311440"/>
            <a:ext cx="920012" cy="533400"/>
            <a:chOff x="951919" y="5486400"/>
            <a:chExt cx="920012" cy="533400"/>
          </a:xfrm>
        </p:grpSpPr>
        <p:sp>
          <p:nvSpPr>
            <p:cNvPr id="68" name="Rectangle 6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69" name="Rectangle 6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70" name="TextBox 69"/>
          <p:cNvSpPr txBox="1"/>
          <p:nvPr/>
        </p:nvSpPr>
        <p:spPr>
          <a:xfrm>
            <a:off x="1231741" y="5343109"/>
            <a:ext cx="340158" cy="461665"/>
          </a:xfrm>
          <a:prstGeom prst="rect">
            <a:avLst/>
          </a:prstGeom>
          <a:noFill/>
        </p:spPr>
        <p:txBody>
          <a:bodyPr wrap="none" rtlCol="0">
            <a:spAutoFit/>
          </a:bodyPr>
          <a:lstStyle/>
          <a:p>
            <a:r>
              <a:rPr lang="en-IN" sz="2400" b="1" dirty="0">
                <a:solidFill>
                  <a:srgbClr val="FFFF00"/>
                </a:solidFill>
              </a:rPr>
              <a:t>3</a:t>
            </a:r>
            <a:endParaRPr lang="en-US" sz="2400" b="1" dirty="0">
              <a:solidFill>
                <a:srgbClr val="FFFF00"/>
              </a:solidFill>
            </a:endParaRPr>
          </a:p>
        </p:txBody>
      </p:sp>
      <p:sp>
        <p:nvSpPr>
          <p:cNvPr id="71" name="TextBox 70"/>
          <p:cNvSpPr txBox="1"/>
          <p:nvPr/>
        </p:nvSpPr>
        <p:spPr>
          <a:xfrm>
            <a:off x="5727541" y="4400801"/>
            <a:ext cx="340158" cy="461665"/>
          </a:xfrm>
          <a:prstGeom prst="rect">
            <a:avLst/>
          </a:prstGeom>
          <a:noFill/>
        </p:spPr>
        <p:txBody>
          <a:bodyPr wrap="none" rtlCol="0">
            <a:spAutoFit/>
          </a:bodyPr>
          <a:lstStyle/>
          <a:p>
            <a:r>
              <a:rPr lang="en-IN" sz="2400" b="1" dirty="0">
                <a:solidFill>
                  <a:srgbClr val="FFFF00"/>
                </a:solidFill>
              </a:rPr>
              <a:t>3</a:t>
            </a:r>
            <a:endParaRPr lang="en-US" sz="2400" b="1" dirty="0">
              <a:solidFill>
                <a:srgbClr val="FFFF00"/>
              </a:solidFill>
            </a:endParaRPr>
          </a:p>
        </p:txBody>
      </p:sp>
      <p:sp>
        <p:nvSpPr>
          <p:cNvPr id="72" name="TextBox 71"/>
          <p:cNvSpPr txBox="1"/>
          <p:nvPr/>
        </p:nvSpPr>
        <p:spPr>
          <a:xfrm>
            <a:off x="1242766" y="5844840"/>
            <a:ext cx="612668" cy="369332"/>
          </a:xfrm>
          <a:prstGeom prst="rect">
            <a:avLst/>
          </a:prstGeom>
          <a:noFill/>
        </p:spPr>
        <p:txBody>
          <a:bodyPr wrap="none" rtlCol="0">
            <a:spAutoFit/>
          </a:bodyPr>
          <a:lstStyle/>
          <a:p>
            <a:pPr algn="ctr"/>
            <a:r>
              <a:rPr lang="en-IN" b="1" dirty="0"/>
              <a:t>NEW</a:t>
            </a:r>
            <a:endParaRPr lang="en-US" b="1" dirty="0"/>
          </a:p>
        </p:txBody>
      </p:sp>
      <p:sp>
        <p:nvSpPr>
          <p:cNvPr id="73" name="TextBox 72"/>
          <p:cNvSpPr txBox="1"/>
          <p:nvPr/>
        </p:nvSpPr>
        <p:spPr>
          <a:xfrm>
            <a:off x="5749594" y="3951909"/>
            <a:ext cx="612668" cy="369332"/>
          </a:xfrm>
          <a:prstGeom prst="rect">
            <a:avLst/>
          </a:prstGeom>
          <a:noFill/>
        </p:spPr>
        <p:txBody>
          <a:bodyPr wrap="none" rtlCol="0">
            <a:spAutoFit/>
          </a:bodyPr>
          <a:lstStyle/>
          <a:p>
            <a:pPr algn="ctr"/>
            <a:r>
              <a:rPr lang="en-IN" b="1" dirty="0"/>
              <a:t>NEW</a:t>
            </a:r>
            <a:endParaRPr lang="en-US" b="1" dirty="0"/>
          </a:p>
        </p:txBody>
      </p:sp>
      <p:sp>
        <p:nvSpPr>
          <p:cNvPr id="74" name="Freeform 73"/>
          <p:cNvSpPr/>
          <p:nvPr/>
        </p:nvSpPr>
        <p:spPr>
          <a:xfrm>
            <a:off x="733700" y="5550927"/>
            <a:ext cx="1710047" cy="819397"/>
          </a:xfrm>
          <a:custGeom>
            <a:avLst/>
            <a:gdLst>
              <a:gd name="connsiteX0" fmla="*/ 1306285 w 1710047"/>
              <a:gd name="connsiteY0" fmla="*/ 0 h 819397"/>
              <a:gd name="connsiteX1" fmla="*/ 1710047 w 1710047"/>
              <a:gd name="connsiteY1" fmla="*/ 0 h 819397"/>
              <a:gd name="connsiteX2" fmla="*/ 1710047 w 1710047"/>
              <a:gd name="connsiteY2" fmla="*/ 819397 h 819397"/>
              <a:gd name="connsiteX3" fmla="*/ 0 w 1710047"/>
              <a:gd name="connsiteY3" fmla="*/ 819397 h 819397"/>
              <a:gd name="connsiteX4" fmla="*/ 0 w 1710047"/>
              <a:gd name="connsiteY4" fmla="*/ 11875 h 819397"/>
              <a:gd name="connsiteX5" fmla="*/ 391885 w 1710047"/>
              <a:gd name="connsiteY5" fmla="*/ 11875 h 819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047" h="819397">
                <a:moveTo>
                  <a:pt x="1306285" y="0"/>
                </a:moveTo>
                <a:lnTo>
                  <a:pt x="1710047" y="0"/>
                </a:lnTo>
                <a:lnTo>
                  <a:pt x="1710047" y="819397"/>
                </a:lnTo>
                <a:lnTo>
                  <a:pt x="0" y="819397"/>
                </a:lnTo>
                <a:lnTo>
                  <a:pt x="0" y="11875"/>
                </a:lnTo>
                <a:lnTo>
                  <a:pt x="391885" y="11875"/>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75" name="TextBox 74"/>
          <p:cNvSpPr txBox="1"/>
          <p:nvPr/>
        </p:nvSpPr>
        <p:spPr>
          <a:xfrm>
            <a:off x="871699" y="4509099"/>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sp>
        <p:nvSpPr>
          <p:cNvPr id="76" name="TextBox 75"/>
          <p:cNvSpPr txBox="1"/>
          <p:nvPr/>
        </p:nvSpPr>
        <p:spPr>
          <a:xfrm>
            <a:off x="1532511" y="4509099"/>
            <a:ext cx="683200" cy="369332"/>
          </a:xfrm>
          <a:prstGeom prst="rect">
            <a:avLst/>
          </a:prstGeom>
          <a:noFill/>
        </p:spPr>
        <p:txBody>
          <a:bodyPr wrap="none" rtlCol="0">
            <a:spAutoFit/>
          </a:bodyPr>
          <a:lstStyle/>
          <a:p>
            <a:pPr algn="ctr"/>
            <a:r>
              <a:rPr lang="en-IN" b="1" dirty="0"/>
              <a:t>LAST</a:t>
            </a:r>
            <a:endParaRPr lang="en-US" b="1" dirty="0"/>
          </a:p>
        </p:txBody>
      </p:sp>
      <p:cxnSp>
        <p:nvCxnSpPr>
          <p:cNvPr id="77" name="Straight Arrow Connector 76"/>
          <p:cNvCxnSpPr>
            <a:stCxn id="75" idx="2"/>
          </p:cNvCxnSpPr>
          <p:nvPr/>
        </p:nvCxnSpPr>
        <p:spPr>
          <a:xfrm>
            <a:off x="1238947" y="4878431"/>
            <a:ext cx="0" cy="4243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8" name="Straight Arrow Connector 77"/>
          <p:cNvCxnSpPr/>
          <p:nvPr/>
        </p:nvCxnSpPr>
        <p:spPr>
          <a:xfrm flipH="1">
            <a:off x="1878678" y="4890099"/>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79" name="TextBox 78"/>
          <p:cNvSpPr txBox="1"/>
          <p:nvPr/>
        </p:nvSpPr>
        <p:spPr>
          <a:xfrm>
            <a:off x="8430096" y="4691643"/>
            <a:ext cx="683200" cy="369332"/>
          </a:xfrm>
          <a:prstGeom prst="rect">
            <a:avLst/>
          </a:prstGeom>
          <a:noFill/>
        </p:spPr>
        <p:txBody>
          <a:bodyPr wrap="none" rtlCol="0">
            <a:spAutoFit/>
          </a:bodyPr>
          <a:lstStyle/>
          <a:p>
            <a:pPr algn="ctr"/>
            <a:r>
              <a:rPr lang="en-IN" b="1" dirty="0"/>
              <a:t>LAST</a:t>
            </a:r>
            <a:endParaRPr lang="en-US" b="1" dirty="0"/>
          </a:p>
        </p:txBody>
      </p:sp>
      <p:cxnSp>
        <p:nvCxnSpPr>
          <p:cNvPr id="80" name="Straight Arrow Connector 79"/>
          <p:cNvCxnSpPr/>
          <p:nvPr/>
        </p:nvCxnSpPr>
        <p:spPr>
          <a:xfrm flipH="1">
            <a:off x="8776263" y="5072643"/>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83" name="TextBox 82"/>
          <p:cNvSpPr txBox="1"/>
          <p:nvPr/>
        </p:nvSpPr>
        <p:spPr>
          <a:xfrm>
            <a:off x="6036476" y="3600781"/>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cxnSp>
        <p:nvCxnSpPr>
          <p:cNvPr id="84" name="Straight Arrow Connector 83"/>
          <p:cNvCxnSpPr>
            <a:stCxn id="83" idx="2"/>
          </p:cNvCxnSpPr>
          <p:nvPr/>
        </p:nvCxnSpPr>
        <p:spPr>
          <a:xfrm>
            <a:off x="6403724" y="3970113"/>
            <a:ext cx="0"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87" name="Freeform 86"/>
          <p:cNvSpPr/>
          <p:nvPr/>
        </p:nvSpPr>
        <p:spPr>
          <a:xfrm>
            <a:off x="4305203" y="4910451"/>
            <a:ext cx="2030680" cy="593767"/>
          </a:xfrm>
          <a:custGeom>
            <a:avLst/>
            <a:gdLst>
              <a:gd name="connsiteX0" fmla="*/ 2030680 w 2030680"/>
              <a:gd name="connsiteY0" fmla="*/ 0 h 593767"/>
              <a:gd name="connsiteX1" fmla="*/ 2030680 w 2030680"/>
              <a:gd name="connsiteY1" fmla="*/ 178130 h 593767"/>
              <a:gd name="connsiteX2" fmla="*/ 0 w 2030680"/>
              <a:gd name="connsiteY2" fmla="*/ 178130 h 593767"/>
              <a:gd name="connsiteX3" fmla="*/ 0 w 2030680"/>
              <a:gd name="connsiteY3" fmla="*/ 593767 h 593767"/>
            </a:gdLst>
            <a:ahLst/>
            <a:cxnLst>
              <a:cxn ang="0">
                <a:pos x="connsiteX0" y="connsiteY0"/>
              </a:cxn>
              <a:cxn ang="0">
                <a:pos x="connsiteX1" y="connsiteY1"/>
              </a:cxn>
              <a:cxn ang="0">
                <a:pos x="connsiteX2" y="connsiteY2"/>
              </a:cxn>
              <a:cxn ang="0">
                <a:pos x="connsiteX3" y="connsiteY3"/>
              </a:cxn>
            </a:cxnLst>
            <a:rect l="l" t="t" r="r" b="b"/>
            <a:pathLst>
              <a:path w="2030680" h="593767">
                <a:moveTo>
                  <a:pt x="2030680" y="0"/>
                </a:moveTo>
                <a:lnTo>
                  <a:pt x="2030680" y="178130"/>
                </a:lnTo>
                <a:lnTo>
                  <a:pt x="0" y="178130"/>
                </a:lnTo>
                <a:lnTo>
                  <a:pt x="0" y="593767"/>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88" name="Freeform 87"/>
          <p:cNvSpPr/>
          <p:nvPr/>
        </p:nvSpPr>
        <p:spPr>
          <a:xfrm>
            <a:off x="6537765" y="4530440"/>
            <a:ext cx="2861953" cy="1092530"/>
          </a:xfrm>
          <a:custGeom>
            <a:avLst/>
            <a:gdLst>
              <a:gd name="connsiteX0" fmla="*/ 2565070 w 2861953"/>
              <a:gd name="connsiteY0" fmla="*/ 1092530 h 1092530"/>
              <a:gd name="connsiteX1" fmla="*/ 2861953 w 2861953"/>
              <a:gd name="connsiteY1" fmla="*/ 1092530 h 1092530"/>
              <a:gd name="connsiteX2" fmla="*/ 2861953 w 2861953"/>
              <a:gd name="connsiteY2" fmla="*/ 0 h 1092530"/>
              <a:gd name="connsiteX3" fmla="*/ 0 w 2861953"/>
              <a:gd name="connsiteY3" fmla="*/ 0 h 1092530"/>
            </a:gdLst>
            <a:ahLst/>
            <a:cxnLst>
              <a:cxn ang="0">
                <a:pos x="connsiteX0" y="connsiteY0"/>
              </a:cxn>
              <a:cxn ang="0">
                <a:pos x="connsiteX1" y="connsiteY1"/>
              </a:cxn>
              <a:cxn ang="0">
                <a:pos x="connsiteX2" y="connsiteY2"/>
              </a:cxn>
              <a:cxn ang="0">
                <a:pos x="connsiteX3" y="connsiteY3"/>
              </a:cxn>
            </a:cxnLst>
            <a:rect l="l" t="t" r="r" b="b"/>
            <a:pathLst>
              <a:path w="2861953" h="1092530">
                <a:moveTo>
                  <a:pt x="2565070" y="1092530"/>
                </a:moveTo>
                <a:lnTo>
                  <a:pt x="2861953" y="1092530"/>
                </a:lnTo>
                <a:lnTo>
                  <a:pt x="2861953" y="0"/>
                </a:lnTo>
                <a:lnTo>
                  <a:pt x="0" y="0"/>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2009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1" presetClass="entr" presetSubtype="1" fill="hold" grpId="0" nodeType="clickEffect">
                                  <p:stCondLst>
                                    <p:cond delay="0"/>
                                  </p:stCondLst>
                                  <p:childTnLst>
                                    <p:set>
                                      <p:cBhvr>
                                        <p:cTn id="60" dur="1" fill="hold">
                                          <p:stCondLst>
                                            <p:cond delay="0"/>
                                          </p:stCondLst>
                                        </p:cTn>
                                        <p:tgtEl>
                                          <p:spTgt spid="74"/>
                                        </p:tgtEl>
                                        <p:attrNameLst>
                                          <p:attrName>style.visibility</p:attrName>
                                        </p:attrNameLst>
                                      </p:cBhvr>
                                      <p:to>
                                        <p:strVal val="visible"/>
                                      </p:to>
                                    </p:set>
                                    <p:animEffect transition="in" filter="wheel(1)">
                                      <p:cBhvr>
                                        <p:cTn id="61" dur="2000"/>
                                        <p:tgtEl>
                                          <p:spTgt spid="74"/>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75"/>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7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76"/>
                                        </p:tgtEl>
                                        <p:attrNameLst>
                                          <p:attrName>style.visibility</p:attrName>
                                        </p:attrNameLst>
                                      </p:cBhvr>
                                      <p:to>
                                        <p:strVal val="visible"/>
                                      </p:to>
                                    </p:set>
                                  </p:childTnLst>
                                </p:cTn>
                              </p:par>
                              <p:par>
                                <p:cTn id="72" presetID="1" presetClass="entr" presetSubtype="0" fill="hold" nodeType="withEffect">
                                  <p:stCondLst>
                                    <p:cond delay="0"/>
                                  </p:stCondLst>
                                  <p:childTnLst>
                                    <p:set>
                                      <p:cBhvr>
                                        <p:cTn id="73" dur="1" fill="hold">
                                          <p:stCondLst>
                                            <p:cond delay="0"/>
                                          </p:stCondLst>
                                        </p:cTn>
                                        <p:tgtEl>
                                          <p:spTgt spid="7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87"/>
                                        </p:tgtEl>
                                        <p:attrNameLst>
                                          <p:attrName>style.visibility</p:attrName>
                                        </p:attrNameLst>
                                      </p:cBhvr>
                                      <p:to>
                                        <p:strVal val="visible"/>
                                      </p:to>
                                    </p:set>
                                    <p:animEffect transition="in" filter="wipe(up)">
                                      <p:cBhvr>
                                        <p:cTn id="78" dur="500"/>
                                        <p:tgtEl>
                                          <p:spTgt spid="87"/>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1" nodeType="clickEffect">
                                  <p:stCondLst>
                                    <p:cond delay="0"/>
                                  </p:stCondLst>
                                  <p:childTnLst>
                                    <p:set>
                                      <p:cBhvr>
                                        <p:cTn id="82" dur="1" fill="hold">
                                          <p:stCondLst>
                                            <p:cond delay="0"/>
                                          </p:stCondLst>
                                        </p:cTn>
                                        <p:tgtEl>
                                          <p:spTgt spid="60"/>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88"/>
                                        </p:tgtEl>
                                        <p:attrNameLst>
                                          <p:attrName>style.visibility</p:attrName>
                                        </p:attrNameLst>
                                      </p:cBhvr>
                                      <p:to>
                                        <p:strVal val="visible"/>
                                      </p:to>
                                    </p:set>
                                    <p:animEffect transition="in" filter="wipe(down)">
                                      <p:cBhvr>
                                        <p:cTn id="87" dur="500"/>
                                        <p:tgtEl>
                                          <p:spTgt spid="88"/>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nodeType="clickEffect">
                                  <p:stCondLst>
                                    <p:cond delay="0"/>
                                  </p:stCondLst>
                                  <p:childTnLst>
                                    <p:set>
                                      <p:cBhvr>
                                        <p:cTn id="91" dur="1" fill="hold">
                                          <p:stCondLst>
                                            <p:cond delay="0"/>
                                          </p:stCondLst>
                                        </p:cTn>
                                        <p:tgtEl>
                                          <p:spTgt spid="61"/>
                                        </p:tgtEl>
                                        <p:attrNameLst>
                                          <p:attrName>style.visibility</p:attrName>
                                        </p:attrNameLst>
                                      </p:cBhvr>
                                      <p:to>
                                        <p:strVal val="hidden"/>
                                      </p:to>
                                    </p:set>
                                  </p:childTnLst>
                                </p:cTn>
                              </p:par>
                              <p:par>
                                <p:cTn id="92" presetID="1" presetClass="exit" presetSubtype="0" fill="hold" grpId="1" nodeType="withEffect">
                                  <p:stCondLst>
                                    <p:cond delay="0"/>
                                  </p:stCondLst>
                                  <p:childTnLst>
                                    <p:set>
                                      <p:cBhvr>
                                        <p:cTn id="93" dur="1" fill="hold">
                                          <p:stCondLst>
                                            <p:cond delay="0"/>
                                          </p:stCondLst>
                                        </p:cTn>
                                        <p:tgtEl>
                                          <p:spTgt spid="62"/>
                                        </p:tgtEl>
                                        <p:attrNameLst>
                                          <p:attrName>style.visibility</p:attrName>
                                        </p:attrNameLst>
                                      </p:cBhvr>
                                      <p:to>
                                        <p:strVal val="hidden"/>
                                      </p:to>
                                    </p:set>
                                  </p:childTnLst>
                                </p:cTn>
                              </p:par>
                              <p:par>
                                <p:cTn id="94" presetID="1" presetClass="entr" presetSubtype="0" fill="hold" grpId="0" nodeType="withEffect">
                                  <p:stCondLst>
                                    <p:cond delay="0"/>
                                  </p:stCondLst>
                                  <p:childTnLst>
                                    <p:set>
                                      <p:cBhvr>
                                        <p:cTn id="95" dur="1" fill="hold">
                                          <p:stCondLst>
                                            <p:cond delay="0"/>
                                          </p:stCondLst>
                                        </p:cTn>
                                        <p:tgtEl>
                                          <p:spTgt spid="83"/>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0" grpId="0" animBg="1"/>
      <p:bldP spid="60" grpId="1" animBg="1"/>
      <p:bldP spid="62" grpId="0"/>
      <p:bldP spid="62" grpId="1"/>
      <p:bldP spid="70" grpId="0"/>
      <p:bldP spid="71" grpId="0"/>
      <p:bldP spid="72" grpId="0"/>
      <p:bldP spid="73" grpId="0"/>
      <p:bldP spid="74" grpId="0" animBg="1"/>
      <p:bldP spid="75" grpId="0"/>
      <p:bldP spid="76" grpId="0"/>
      <p:bldP spid="79" grpId="0"/>
      <p:bldP spid="83" grpId="0"/>
      <p:bldP spid="87" grpId="0" animBg="1"/>
      <p:bldP spid="8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CIR_INS_ORD(18,FIRST,LAST)</a:t>
            </a:r>
          </a:p>
        </p:txBody>
      </p:sp>
      <p:sp>
        <p:nvSpPr>
          <p:cNvPr id="4" name="TextBox 3"/>
          <p:cNvSpPr txBox="1"/>
          <p:nvPr/>
        </p:nvSpPr>
        <p:spPr>
          <a:xfrm>
            <a:off x="6172200" y="956040"/>
            <a:ext cx="5760000" cy="255454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marL="450850" indent="-450850"/>
            <a:r>
              <a:rPr lang="en-IN" sz="2000" b="1" dirty="0">
                <a:solidFill>
                  <a:schemeClr val="tx2"/>
                </a:solidFill>
                <a:latin typeface="Consolas" pitchFamily="49" charset="0"/>
                <a:cs typeface="Consolas" pitchFamily="49" charset="0"/>
              </a:rPr>
              <a:t>7. [Set link field of NEW node and its Predecessor]</a:t>
            </a:r>
          </a:p>
          <a:p>
            <a:r>
              <a:rPr lang="en-IN" sz="2000" dirty="0">
                <a:latin typeface="Consolas" pitchFamily="49" charset="0"/>
                <a:cs typeface="Consolas" pitchFamily="49" charset="0"/>
              </a:rPr>
              <a:t>    NEW-&gt;NEXT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TEMP-&gt;NEXT</a:t>
            </a:r>
          </a:p>
          <a:p>
            <a:r>
              <a:rPr lang="en-IN" sz="2000" dirty="0">
                <a:latin typeface="Consolas" pitchFamily="49" charset="0"/>
                <a:cs typeface="Consolas" pitchFamily="49" charset="0"/>
              </a:rPr>
              <a:t>    TEMP-&gt;NEXT</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IF   TEMP = LAST</a:t>
            </a:r>
          </a:p>
          <a:p>
            <a:r>
              <a:rPr lang="en-IN" sz="2000" dirty="0">
                <a:latin typeface="Consolas" pitchFamily="49" charset="0"/>
                <a:cs typeface="Consolas" pitchFamily="49" charset="0"/>
              </a:rPr>
              <a:t>    THEN LAST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b="1" dirty="0">
                <a:solidFill>
                  <a:schemeClr val="tx2"/>
                </a:solidFill>
                <a:latin typeface="Consolas" pitchFamily="49" charset="0"/>
                <a:cs typeface="Consolas" pitchFamily="49" charset="0"/>
              </a:rPr>
              <a:t>8. [Finished]</a:t>
            </a:r>
          </a:p>
          <a:p>
            <a:r>
              <a:rPr lang="en-IN" sz="2000" dirty="0">
                <a:latin typeface="Consolas" pitchFamily="49" charset="0"/>
                <a:cs typeface="Consolas" pitchFamily="49" charset="0"/>
              </a:rPr>
              <a:t>   Return</a:t>
            </a:r>
          </a:p>
        </p:txBody>
      </p:sp>
      <p:sp>
        <p:nvSpPr>
          <p:cNvPr id="5" name="TextBox 4"/>
          <p:cNvSpPr txBox="1"/>
          <p:nvPr/>
        </p:nvSpPr>
        <p:spPr>
          <a:xfrm>
            <a:off x="221700" y="956040"/>
            <a:ext cx="5760000" cy="1938992"/>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5. [Initialize Temporary Pointer]</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FIRST </a:t>
            </a:r>
          </a:p>
          <a:p>
            <a:pPr marL="450850" indent="-450850"/>
            <a:r>
              <a:rPr lang="en-IN" sz="2000" b="1" dirty="0">
                <a:solidFill>
                  <a:schemeClr val="tx2"/>
                </a:solidFill>
                <a:latin typeface="Consolas" pitchFamily="49" charset="0"/>
                <a:cs typeface="Consolas" pitchFamily="49" charset="0"/>
              </a:rPr>
              <a:t>6. [Search for Predecessor of new node]</a:t>
            </a:r>
          </a:p>
          <a:p>
            <a:r>
              <a:rPr lang="en-IN" sz="2000" b="1" dirty="0">
                <a:solidFill>
                  <a:schemeClr val="accent2">
                    <a:lumMod val="75000"/>
                  </a:schemeClr>
                </a:solidFill>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Repeat while </a:t>
            </a:r>
            <a:r>
              <a:rPr lang="en-IN" sz="2000" dirty="0">
                <a:latin typeface="Consolas" pitchFamily="49" charset="0"/>
                <a:cs typeface="Consolas" pitchFamily="49" charset="0"/>
              </a:rPr>
              <a:t>TEMP ≠ LAST &amp;  </a:t>
            </a:r>
          </a:p>
          <a:p>
            <a:r>
              <a:rPr lang="en-IN" sz="2000" dirty="0">
                <a:latin typeface="Consolas" pitchFamily="49" charset="0"/>
                <a:cs typeface="Consolas" pitchFamily="49" charset="0"/>
              </a:rPr>
              <a:t>         NEW-&gt;INFO ≥ (TEMP-&gt;NEXT)-&gt;INFO</a:t>
            </a:r>
          </a:p>
          <a:p>
            <a:r>
              <a:rPr lang="en-IN" sz="2000" dirty="0">
                <a:latin typeface="Consolas" pitchFamily="49" charset="0"/>
                <a:cs typeface="Consolas" pitchFamily="49" charset="0"/>
              </a:rPr>
              <a:t> 	  TEMP</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TEMP-&gt;NEXT</a:t>
            </a:r>
          </a:p>
        </p:txBody>
      </p:sp>
      <p:grpSp>
        <p:nvGrpSpPr>
          <p:cNvPr id="6" name="Group 5"/>
          <p:cNvGrpSpPr/>
          <p:nvPr/>
        </p:nvGrpSpPr>
        <p:grpSpPr>
          <a:xfrm>
            <a:off x="587291" y="5059145"/>
            <a:ext cx="920012" cy="533400"/>
            <a:chOff x="951919" y="5486400"/>
            <a:chExt cx="920012" cy="533400"/>
          </a:xfrm>
        </p:grpSpPr>
        <p:sp>
          <p:nvSpPr>
            <p:cNvPr id="7" name="Rectangle 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8" name="Rectangle 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9" name="Group 8"/>
          <p:cNvGrpSpPr/>
          <p:nvPr/>
        </p:nvGrpSpPr>
        <p:grpSpPr>
          <a:xfrm>
            <a:off x="2227737" y="5059145"/>
            <a:ext cx="920012" cy="533400"/>
            <a:chOff x="951919" y="5486400"/>
            <a:chExt cx="920012" cy="533400"/>
          </a:xfrm>
        </p:grpSpPr>
        <p:sp>
          <p:nvSpPr>
            <p:cNvPr id="10" name="Rectangle 9"/>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11" name="Rectangle 10"/>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2" name="Group 11"/>
          <p:cNvGrpSpPr/>
          <p:nvPr/>
        </p:nvGrpSpPr>
        <p:grpSpPr>
          <a:xfrm>
            <a:off x="3980337" y="5059145"/>
            <a:ext cx="920012" cy="533400"/>
            <a:chOff x="951919" y="5486400"/>
            <a:chExt cx="920012" cy="533400"/>
          </a:xfrm>
        </p:grpSpPr>
        <p:sp>
          <p:nvSpPr>
            <p:cNvPr id="13" name="Rectangle 12"/>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4" name="Rectangle 13"/>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5" name="Group 14"/>
          <p:cNvGrpSpPr/>
          <p:nvPr/>
        </p:nvGrpSpPr>
        <p:grpSpPr>
          <a:xfrm>
            <a:off x="6870325" y="5059145"/>
            <a:ext cx="920012" cy="533400"/>
            <a:chOff x="951919" y="5486400"/>
            <a:chExt cx="920012" cy="533400"/>
          </a:xfrm>
        </p:grpSpPr>
        <p:sp>
          <p:nvSpPr>
            <p:cNvPr id="16" name="Rectangle 15"/>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7" name="Rectangle 16"/>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18" name="Straight Arrow Connector 17"/>
          <p:cNvCxnSpPr>
            <a:stCxn id="8" idx="3"/>
            <a:endCxn id="10" idx="1"/>
          </p:cNvCxnSpPr>
          <p:nvPr/>
        </p:nvCxnSpPr>
        <p:spPr>
          <a:xfrm>
            <a:off x="1507303" y="5325845"/>
            <a:ext cx="72043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a:stCxn id="11" idx="3"/>
            <a:endCxn id="13" idx="1"/>
          </p:cNvCxnSpPr>
          <p:nvPr/>
        </p:nvCxnSpPr>
        <p:spPr>
          <a:xfrm>
            <a:off x="3147749" y="5325845"/>
            <a:ext cx="8325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 name="Straight Arrow Connector 19"/>
          <p:cNvCxnSpPr>
            <a:stCxn id="14" idx="3"/>
            <a:endCxn id="16" idx="1"/>
          </p:cNvCxnSpPr>
          <p:nvPr/>
        </p:nvCxnSpPr>
        <p:spPr>
          <a:xfrm>
            <a:off x="4900349" y="5325845"/>
            <a:ext cx="19699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1" name="Freeform 20"/>
          <p:cNvSpPr/>
          <p:nvPr/>
        </p:nvSpPr>
        <p:spPr>
          <a:xfrm>
            <a:off x="1396531" y="5330878"/>
            <a:ext cx="6888886" cy="659568"/>
          </a:xfrm>
          <a:custGeom>
            <a:avLst/>
            <a:gdLst>
              <a:gd name="connsiteX0" fmla="*/ 4257206 w 4586990"/>
              <a:gd name="connsiteY0" fmla="*/ 0 h 659568"/>
              <a:gd name="connsiteX1" fmla="*/ 4586990 w 4586990"/>
              <a:gd name="connsiteY1" fmla="*/ 0 h 659568"/>
              <a:gd name="connsiteX2" fmla="*/ 4586990 w 4586990"/>
              <a:gd name="connsiteY2" fmla="*/ 659568 h 659568"/>
              <a:gd name="connsiteX3" fmla="*/ 0 w 4586990"/>
              <a:gd name="connsiteY3" fmla="*/ 659568 h 659568"/>
              <a:gd name="connsiteX4" fmla="*/ 0 w 4586990"/>
              <a:gd name="connsiteY4" fmla="*/ 254833 h 65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6990" h="659568">
                <a:moveTo>
                  <a:pt x="4257206" y="0"/>
                </a:moveTo>
                <a:lnTo>
                  <a:pt x="4586990" y="0"/>
                </a:lnTo>
                <a:lnTo>
                  <a:pt x="4586990" y="659568"/>
                </a:lnTo>
                <a:lnTo>
                  <a:pt x="0" y="659568"/>
                </a:lnTo>
                <a:lnTo>
                  <a:pt x="0" y="254833"/>
                </a:lnTo>
              </a:path>
            </a:pathLst>
          </a:cu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22" name="Straight Arrow Connector 21"/>
          <p:cNvCxnSpPr/>
          <p:nvPr/>
        </p:nvCxnSpPr>
        <p:spPr>
          <a:xfrm flipV="1">
            <a:off x="821503" y="5592547"/>
            <a:ext cx="0" cy="20798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3" name="TextBox 22"/>
          <p:cNvSpPr txBox="1"/>
          <p:nvPr/>
        </p:nvSpPr>
        <p:spPr>
          <a:xfrm>
            <a:off x="457665" y="5798387"/>
            <a:ext cx="734496" cy="369332"/>
          </a:xfrm>
          <a:prstGeom prst="rect">
            <a:avLst/>
          </a:prstGeom>
          <a:noFill/>
        </p:spPr>
        <p:txBody>
          <a:bodyPr wrap="none" rtlCol="0">
            <a:spAutoFit/>
          </a:bodyPr>
          <a:lstStyle/>
          <a:p>
            <a:pPr algn="ctr"/>
            <a:r>
              <a:rPr lang="en-IN" b="1" dirty="0">
                <a:solidFill>
                  <a:srgbClr val="C00000"/>
                </a:solidFill>
              </a:rPr>
              <a:t>FIRST</a:t>
            </a:r>
            <a:endParaRPr lang="en-US" b="1" dirty="0">
              <a:solidFill>
                <a:srgbClr val="C00000"/>
              </a:solidFill>
            </a:endParaRPr>
          </a:p>
        </p:txBody>
      </p:sp>
      <p:grpSp>
        <p:nvGrpSpPr>
          <p:cNvPr id="24" name="Group 23"/>
          <p:cNvGrpSpPr/>
          <p:nvPr/>
        </p:nvGrpSpPr>
        <p:grpSpPr>
          <a:xfrm>
            <a:off x="4889125" y="3609185"/>
            <a:ext cx="920012" cy="533400"/>
            <a:chOff x="951919" y="5486400"/>
            <a:chExt cx="920012" cy="533400"/>
          </a:xfrm>
        </p:grpSpPr>
        <p:sp>
          <p:nvSpPr>
            <p:cNvPr id="25" name="Rectangle 2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6" name="Rectangle 2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sp>
        <p:nvSpPr>
          <p:cNvPr id="27" name="TextBox 26"/>
          <p:cNvSpPr txBox="1"/>
          <p:nvPr/>
        </p:nvSpPr>
        <p:spPr>
          <a:xfrm>
            <a:off x="4938247" y="3633421"/>
            <a:ext cx="495649" cy="461665"/>
          </a:xfrm>
          <a:prstGeom prst="rect">
            <a:avLst/>
          </a:prstGeom>
          <a:noFill/>
        </p:spPr>
        <p:txBody>
          <a:bodyPr wrap="none" rtlCol="0">
            <a:spAutoFit/>
          </a:bodyPr>
          <a:lstStyle/>
          <a:p>
            <a:r>
              <a:rPr lang="en-IN" sz="2400" b="1" dirty="0">
                <a:solidFill>
                  <a:srgbClr val="FFFF00"/>
                </a:solidFill>
              </a:rPr>
              <a:t>18</a:t>
            </a:r>
            <a:endParaRPr lang="en-US" sz="2400" b="1" dirty="0">
              <a:solidFill>
                <a:srgbClr val="FFFF00"/>
              </a:solidFill>
            </a:endParaRPr>
          </a:p>
        </p:txBody>
      </p:sp>
      <p:sp>
        <p:nvSpPr>
          <p:cNvPr id="28" name="TextBox 27"/>
          <p:cNvSpPr txBox="1"/>
          <p:nvPr/>
        </p:nvSpPr>
        <p:spPr>
          <a:xfrm>
            <a:off x="5097025" y="3195919"/>
            <a:ext cx="612668" cy="369332"/>
          </a:xfrm>
          <a:prstGeom prst="rect">
            <a:avLst/>
          </a:prstGeom>
          <a:noFill/>
        </p:spPr>
        <p:txBody>
          <a:bodyPr wrap="none" rtlCol="0">
            <a:spAutoFit/>
          </a:bodyPr>
          <a:lstStyle/>
          <a:p>
            <a:pPr algn="ctr"/>
            <a:r>
              <a:rPr lang="en-IN" b="1" dirty="0"/>
              <a:t>NEW</a:t>
            </a:r>
            <a:endParaRPr lang="en-US" b="1" dirty="0"/>
          </a:p>
        </p:txBody>
      </p:sp>
      <p:sp>
        <p:nvSpPr>
          <p:cNvPr id="29" name="TextBox 28"/>
          <p:cNvSpPr txBox="1"/>
          <p:nvPr/>
        </p:nvSpPr>
        <p:spPr>
          <a:xfrm>
            <a:off x="7279895" y="4242613"/>
            <a:ext cx="683200" cy="369332"/>
          </a:xfrm>
          <a:prstGeom prst="rect">
            <a:avLst/>
          </a:prstGeom>
          <a:noFill/>
        </p:spPr>
        <p:txBody>
          <a:bodyPr wrap="none" rtlCol="0">
            <a:spAutoFit/>
          </a:bodyPr>
          <a:lstStyle/>
          <a:p>
            <a:pPr algn="ctr"/>
            <a:r>
              <a:rPr lang="en-IN" b="1" dirty="0"/>
              <a:t>LAST</a:t>
            </a:r>
            <a:endParaRPr lang="en-US" b="1" dirty="0"/>
          </a:p>
        </p:txBody>
      </p:sp>
      <p:cxnSp>
        <p:nvCxnSpPr>
          <p:cNvPr id="30" name="Straight Arrow Connector 29"/>
          <p:cNvCxnSpPr/>
          <p:nvPr/>
        </p:nvCxnSpPr>
        <p:spPr>
          <a:xfrm flipH="1">
            <a:off x="7626062" y="4623613"/>
            <a:ext cx="1" cy="41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7" name="Group 36"/>
          <p:cNvGrpSpPr/>
          <p:nvPr/>
        </p:nvGrpSpPr>
        <p:grpSpPr>
          <a:xfrm>
            <a:off x="522638" y="4386938"/>
            <a:ext cx="729687" cy="672207"/>
            <a:chOff x="733300" y="4736560"/>
            <a:chExt cx="729687" cy="672207"/>
          </a:xfrm>
        </p:grpSpPr>
        <p:sp>
          <p:nvSpPr>
            <p:cNvPr id="34" name="TextBox 33"/>
            <p:cNvSpPr txBox="1"/>
            <p:nvPr/>
          </p:nvSpPr>
          <p:spPr>
            <a:xfrm>
              <a:off x="733300" y="4736560"/>
              <a:ext cx="729687" cy="369332"/>
            </a:xfrm>
            <a:prstGeom prst="rect">
              <a:avLst/>
            </a:prstGeom>
            <a:noFill/>
          </p:spPr>
          <p:txBody>
            <a:bodyPr wrap="none" rtlCol="0">
              <a:spAutoFit/>
            </a:bodyPr>
            <a:lstStyle/>
            <a:p>
              <a:r>
                <a:rPr lang="en-IN" b="1" dirty="0">
                  <a:solidFill>
                    <a:srgbClr val="C00000"/>
                  </a:solidFill>
                </a:rPr>
                <a:t>TEMP</a:t>
              </a:r>
              <a:endParaRPr lang="en-US" b="1" dirty="0">
                <a:solidFill>
                  <a:srgbClr val="C00000"/>
                </a:solidFill>
              </a:endParaRPr>
            </a:p>
          </p:txBody>
        </p:sp>
        <p:cxnSp>
          <p:nvCxnSpPr>
            <p:cNvPr id="36" name="Straight Arrow Connector 35"/>
            <p:cNvCxnSpPr>
              <a:stCxn id="34" idx="2"/>
              <a:endCxn id="7" idx="0"/>
            </p:cNvCxnSpPr>
            <p:nvPr/>
          </p:nvCxnSpPr>
          <p:spPr>
            <a:xfrm flipH="1">
              <a:off x="1064653" y="5105892"/>
              <a:ext cx="33491" cy="30287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38" name="Freeform 37"/>
          <p:cNvSpPr/>
          <p:nvPr/>
        </p:nvSpPr>
        <p:spPr>
          <a:xfrm>
            <a:off x="5798251" y="3847084"/>
            <a:ext cx="1306286" cy="1199407"/>
          </a:xfrm>
          <a:custGeom>
            <a:avLst/>
            <a:gdLst>
              <a:gd name="connsiteX0" fmla="*/ 0 w 1306286"/>
              <a:gd name="connsiteY0" fmla="*/ 0 h 1199407"/>
              <a:gd name="connsiteX1" fmla="*/ 1104405 w 1306286"/>
              <a:gd name="connsiteY1" fmla="*/ 0 h 1199407"/>
              <a:gd name="connsiteX2" fmla="*/ 1306286 w 1306286"/>
              <a:gd name="connsiteY2" fmla="*/ 0 h 1199407"/>
              <a:gd name="connsiteX3" fmla="*/ 1306286 w 1306286"/>
              <a:gd name="connsiteY3" fmla="*/ 1199407 h 1199407"/>
            </a:gdLst>
            <a:ahLst/>
            <a:cxnLst>
              <a:cxn ang="0">
                <a:pos x="connsiteX0" y="connsiteY0"/>
              </a:cxn>
              <a:cxn ang="0">
                <a:pos x="connsiteX1" y="connsiteY1"/>
              </a:cxn>
              <a:cxn ang="0">
                <a:pos x="connsiteX2" y="connsiteY2"/>
              </a:cxn>
              <a:cxn ang="0">
                <a:pos x="connsiteX3" y="connsiteY3"/>
              </a:cxn>
            </a:cxnLst>
            <a:rect l="l" t="t" r="r" b="b"/>
            <a:pathLst>
              <a:path w="1306286" h="1199407">
                <a:moveTo>
                  <a:pt x="0" y="0"/>
                </a:moveTo>
                <a:lnTo>
                  <a:pt x="1104405" y="0"/>
                </a:lnTo>
                <a:lnTo>
                  <a:pt x="1306286" y="0"/>
                </a:lnTo>
                <a:lnTo>
                  <a:pt x="1306286" y="119940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9" name="Freeform 38"/>
          <p:cNvSpPr/>
          <p:nvPr/>
        </p:nvSpPr>
        <p:spPr>
          <a:xfrm>
            <a:off x="4670096" y="3823333"/>
            <a:ext cx="201881" cy="1211283"/>
          </a:xfrm>
          <a:custGeom>
            <a:avLst/>
            <a:gdLst>
              <a:gd name="connsiteX0" fmla="*/ 0 w 201881"/>
              <a:gd name="connsiteY0" fmla="*/ 1211283 h 1211283"/>
              <a:gd name="connsiteX1" fmla="*/ 0 w 201881"/>
              <a:gd name="connsiteY1" fmla="*/ 0 h 1211283"/>
              <a:gd name="connsiteX2" fmla="*/ 201881 w 201881"/>
              <a:gd name="connsiteY2" fmla="*/ 0 h 1211283"/>
            </a:gdLst>
            <a:ahLst/>
            <a:cxnLst>
              <a:cxn ang="0">
                <a:pos x="connsiteX0" y="connsiteY0"/>
              </a:cxn>
              <a:cxn ang="0">
                <a:pos x="connsiteX1" y="connsiteY1"/>
              </a:cxn>
              <a:cxn ang="0">
                <a:pos x="connsiteX2" y="connsiteY2"/>
              </a:cxn>
            </a:cxnLst>
            <a:rect l="l" t="t" r="r" b="b"/>
            <a:pathLst>
              <a:path w="201881" h="1211283">
                <a:moveTo>
                  <a:pt x="0" y="1211283"/>
                </a:moveTo>
                <a:lnTo>
                  <a:pt x="0" y="0"/>
                </a:lnTo>
                <a:lnTo>
                  <a:pt x="201881"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460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63" presetClass="path" presetSubtype="0" accel="50000" decel="50000" fill="hold" nodeType="clickEffect">
                                  <p:stCondLst>
                                    <p:cond delay="0"/>
                                  </p:stCondLst>
                                  <p:childTnLst>
                                    <p:animMotion origin="layout" path="M -3.125E-6 -4.07407E-6 L 0.14818 -4.07407E-6 " pathEditMode="relative" rAng="0" ptsTypes="AA">
                                      <p:cBhvr>
                                        <p:cTn id="52" dur="2000" fill="hold"/>
                                        <p:tgtEl>
                                          <p:spTgt spid="37"/>
                                        </p:tgtEl>
                                        <p:attrNameLst>
                                          <p:attrName>ppt_x</p:attrName>
                                          <p:attrName>ppt_y</p:attrName>
                                        </p:attrNameLst>
                                      </p:cBhvr>
                                      <p:rCtr x="7435" y="0"/>
                                    </p:animMotion>
                                  </p:childTnLst>
                                </p:cTn>
                              </p:par>
                            </p:childTnLst>
                          </p:cTn>
                        </p:par>
                      </p:childTnLst>
                    </p:cTn>
                  </p:par>
                  <p:par>
                    <p:cTn id="53" fill="hold">
                      <p:stCondLst>
                        <p:cond delay="indefinite"/>
                      </p:stCondLst>
                      <p:childTnLst>
                        <p:par>
                          <p:cTn id="54" fill="hold">
                            <p:stCondLst>
                              <p:cond delay="0"/>
                            </p:stCondLst>
                            <p:childTnLst>
                              <p:par>
                                <p:cTn id="55" presetID="63" presetClass="path" presetSubtype="0" accel="50000" decel="50000" fill="hold" nodeType="clickEffect">
                                  <p:stCondLst>
                                    <p:cond delay="0"/>
                                  </p:stCondLst>
                                  <p:childTnLst>
                                    <p:animMotion origin="layout" path="M 0.14818 -4.07407E-6 L 0.29883 -4.07407E-6 " pathEditMode="relative" rAng="0" ptsTypes="AA">
                                      <p:cBhvr>
                                        <p:cTn id="56" dur="2000" fill="hold"/>
                                        <p:tgtEl>
                                          <p:spTgt spid="37"/>
                                        </p:tgtEl>
                                        <p:attrNameLst>
                                          <p:attrName>ppt_x</p:attrName>
                                          <p:attrName>ppt_y</p:attrName>
                                        </p:attrNameLst>
                                      </p:cBhvr>
                                      <p:rCtr x="7526" y="0"/>
                                    </p:animMotion>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wipe(up)">
                                      <p:cBhvr>
                                        <p:cTn id="61" dur="500"/>
                                        <p:tgtEl>
                                          <p:spTgt spid="3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wipe(down)">
                                      <p:cBhvr>
                                        <p:cTn id="66" dur="500"/>
                                        <p:tgtEl>
                                          <p:spTgt spid="39"/>
                                        </p:tgtEl>
                                      </p:cBhvr>
                                    </p:animEffect>
                                  </p:childTnLst>
                                </p:cTn>
                              </p:par>
                              <p:par>
                                <p:cTn id="67" presetID="1" presetClass="exit" presetSubtype="0" fill="hold" nodeType="withEffect">
                                  <p:stCondLst>
                                    <p:cond delay="0"/>
                                  </p:stCondLst>
                                  <p:childTnLst>
                                    <p:set>
                                      <p:cBhvr>
                                        <p:cTn id="68"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1" grpId="0" animBg="1"/>
      <p:bldP spid="23" grpId="0"/>
      <p:bldP spid="27" grpId="0"/>
      <p:bldP spid="28" grpId="0"/>
      <p:bldP spid="29" grpId="0"/>
      <p:bldP spid="38" grpId="0" animBg="1"/>
      <p:bldP spid="3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CIR_DELETE(X,FIRST,LAST)</a:t>
            </a:r>
          </a:p>
        </p:txBody>
      </p:sp>
      <p:sp>
        <p:nvSpPr>
          <p:cNvPr id="3" name="Content Placeholder 2"/>
          <p:cNvSpPr>
            <a:spLocks noGrp="1"/>
          </p:cNvSpPr>
          <p:nvPr>
            <p:ph idx="1"/>
          </p:nvPr>
        </p:nvSpPr>
        <p:spPr/>
        <p:txBody>
          <a:bodyPr/>
          <a:lstStyle/>
          <a:p>
            <a:r>
              <a:rPr lang="en-IN" dirty="0"/>
              <a:t>This algorithm </a:t>
            </a:r>
            <a:r>
              <a:rPr lang="en-IN" b="1" dirty="0">
                <a:solidFill>
                  <a:srgbClr val="C00000"/>
                </a:solidFill>
              </a:rPr>
              <a:t>delete</a:t>
            </a:r>
            <a:r>
              <a:rPr lang="en-IN" dirty="0">
                <a:solidFill>
                  <a:srgbClr val="C00000"/>
                </a:solidFill>
              </a:rPr>
              <a:t> </a:t>
            </a:r>
            <a:r>
              <a:rPr lang="en-IN" dirty="0"/>
              <a:t>a node whose value is given by variable </a:t>
            </a:r>
            <a:r>
              <a:rPr lang="en-IN" b="1" dirty="0">
                <a:solidFill>
                  <a:srgbClr val="C00000"/>
                </a:solidFill>
              </a:rPr>
              <a:t>X</a:t>
            </a:r>
            <a:r>
              <a:rPr lang="en-IN" dirty="0"/>
              <a:t>.</a:t>
            </a:r>
          </a:p>
          <a:p>
            <a:r>
              <a:rPr lang="en-IN" b="1" dirty="0">
                <a:solidFill>
                  <a:srgbClr val="C00000"/>
                </a:solidFill>
              </a:rPr>
              <a:t>FIRST</a:t>
            </a:r>
            <a:r>
              <a:rPr lang="en-IN" dirty="0">
                <a:solidFill>
                  <a:srgbClr val="C00000"/>
                </a:solidFill>
              </a:rPr>
              <a:t> </a:t>
            </a:r>
            <a:r>
              <a:rPr lang="en-IN" dirty="0"/>
              <a:t>&amp; </a:t>
            </a:r>
            <a:r>
              <a:rPr lang="en-IN" b="1" dirty="0">
                <a:solidFill>
                  <a:srgbClr val="C00000"/>
                </a:solidFill>
              </a:rPr>
              <a:t>LAST</a:t>
            </a:r>
            <a:r>
              <a:rPr lang="en-IN" dirty="0">
                <a:solidFill>
                  <a:srgbClr val="C00000"/>
                </a:solidFill>
              </a:rPr>
              <a:t> </a:t>
            </a:r>
            <a:r>
              <a:rPr lang="en-IN" dirty="0"/>
              <a:t>are </a:t>
            </a:r>
            <a:r>
              <a:rPr lang="en-IN" b="1" dirty="0"/>
              <a:t>pointers to the First &amp; Last elements</a:t>
            </a:r>
            <a:r>
              <a:rPr lang="en-IN" dirty="0"/>
              <a:t> of a Circular  linked list, respectively. </a:t>
            </a:r>
          </a:p>
          <a:p>
            <a:r>
              <a:rPr lang="en-IN" dirty="0"/>
              <a:t>Typical node contains </a:t>
            </a:r>
            <a:r>
              <a:rPr lang="en-IN" b="1" dirty="0">
                <a:solidFill>
                  <a:srgbClr val="C00000"/>
                </a:solidFill>
              </a:rPr>
              <a:t>INFO</a:t>
            </a:r>
            <a:r>
              <a:rPr lang="en-IN" dirty="0">
                <a:solidFill>
                  <a:srgbClr val="C00000"/>
                </a:solidFill>
              </a:rPr>
              <a:t> </a:t>
            </a:r>
            <a:r>
              <a:rPr lang="en-IN" dirty="0"/>
              <a:t>and </a:t>
            </a:r>
            <a:r>
              <a:rPr lang="en-IN" b="1" dirty="0">
                <a:solidFill>
                  <a:srgbClr val="C00000"/>
                </a:solidFill>
              </a:rPr>
              <a:t>NEXT</a:t>
            </a:r>
            <a:r>
              <a:rPr lang="en-IN" dirty="0">
                <a:solidFill>
                  <a:srgbClr val="C00000"/>
                </a:solidFill>
              </a:rPr>
              <a:t> </a:t>
            </a:r>
            <a:r>
              <a:rPr lang="en-IN" dirty="0"/>
              <a:t>fields. </a:t>
            </a:r>
          </a:p>
          <a:p>
            <a:r>
              <a:rPr lang="en-IN" b="1" dirty="0">
                <a:solidFill>
                  <a:srgbClr val="C00000"/>
                </a:solidFill>
              </a:rPr>
              <a:t>TEMP</a:t>
            </a:r>
            <a:r>
              <a:rPr lang="en-IN" b="1" dirty="0">
                <a:solidFill>
                  <a:srgbClr val="FF0000"/>
                </a:solidFill>
              </a:rPr>
              <a:t> </a:t>
            </a:r>
            <a:r>
              <a:rPr lang="en-IN" dirty="0"/>
              <a:t>temporary pointer variable.</a:t>
            </a:r>
          </a:p>
        </p:txBody>
      </p:sp>
    </p:spTree>
    <p:extLst>
      <p:ext uri="{BB962C8B-B14F-4D97-AF65-F5344CB8AC3E}">
        <p14:creationId xmlns:p14="http://schemas.microsoft.com/office/powerpoint/2010/main" val="28381707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Procedure: CIR_DELETE(X,FIRST,LAST)</a:t>
            </a:r>
          </a:p>
        </p:txBody>
      </p:sp>
      <p:sp>
        <p:nvSpPr>
          <p:cNvPr id="4" name="TextBox 3"/>
          <p:cNvSpPr txBox="1"/>
          <p:nvPr/>
        </p:nvSpPr>
        <p:spPr>
          <a:xfrm>
            <a:off x="246529" y="839679"/>
            <a:ext cx="5760000" cy="3139321"/>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b="1" dirty="0">
                <a:solidFill>
                  <a:schemeClr val="tx2"/>
                </a:solidFill>
                <a:latin typeface="Consolas" pitchFamily="49" charset="0"/>
                <a:cs typeface="Consolas" pitchFamily="49" charset="0"/>
              </a:rPr>
              <a:t>1. [Is Empty List?]</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dirty="0">
                <a:latin typeface="Consolas" pitchFamily="49" charset="0"/>
                <a:cs typeface="Consolas" pitchFamily="49" charset="0"/>
              </a:rPr>
              <a:t>   FIRST = NULL</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latin typeface="Consolas" pitchFamily="49" charset="0"/>
                <a:cs typeface="Consolas" pitchFamily="49" charset="0"/>
              </a:rPr>
              <a:t> write(‘Linked List is Empty’)</a:t>
            </a:r>
          </a:p>
          <a:p>
            <a:r>
              <a:rPr lang="en-IN" dirty="0">
                <a:latin typeface="Consolas" pitchFamily="49" charset="0"/>
                <a:cs typeface="Consolas" pitchFamily="49" charset="0"/>
              </a:rPr>
              <a:t>         Return</a:t>
            </a:r>
          </a:p>
          <a:p>
            <a:r>
              <a:rPr lang="en-IN" b="1" dirty="0">
                <a:solidFill>
                  <a:schemeClr val="tx2"/>
                </a:solidFill>
                <a:latin typeface="Consolas" pitchFamily="49" charset="0"/>
                <a:cs typeface="Consolas" pitchFamily="49" charset="0"/>
              </a:rPr>
              <a:t>2. [Initialize Search for X]</a:t>
            </a:r>
          </a:p>
          <a:p>
            <a:r>
              <a:rPr lang="en-IN" dirty="0">
                <a:latin typeface="Consolas" pitchFamily="49" charset="0"/>
                <a:cs typeface="Consolas" pitchFamily="49" charset="0"/>
              </a:rPr>
              <a:t>    TEMP </a:t>
            </a:r>
            <a:r>
              <a:rPr lang="en-IN" dirty="0">
                <a:latin typeface="Consolas" pitchFamily="49" charset="0"/>
                <a:cs typeface="Consolas" pitchFamily="49" charset="0"/>
                <a:sym typeface="Wingdings" pitchFamily="2" charset="2"/>
              </a:rPr>
              <a:t> FIRST</a:t>
            </a:r>
            <a:endParaRPr lang="en-IN" dirty="0">
              <a:latin typeface="Consolas" pitchFamily="49" charset="0"/>
              <a:cs typeface="Consolas" pitchFamily="49" charset="0"/>
            </a:endParaRPr>
          </a:p>
          <a:p>
            <a:r>
              <a:rPr lang="en-IN" b="1" dirty="0">
                <a:solidFill>
                  <a:schemeClr val="tx2"/>
                </a:solidFill>
                <a:latin typeface="Consolas" pitchFamily="49" charset="0"/>
                <a:cs typeface="Consolas" pitchFamily="49" charset="0"/>
              </a:rPr>
              <a:t>3. [Find X]</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Repeat</a:t>
            </a:r>
            <a:r>
              <a:rPr lang="en-IN" dirty="0">
                <a:latin typeface="Consolas" pitchFamily="49" charset="0"/>
                <a:cs typeface="Consolas" pitchFamily="49" charset="0"/>
              </a:rPr>
              <a:t> thru step 4 </a:t>
            </a:r>
          </a:p>
          <a:p>
            <a:r>
              <a:rPr lang="en-IN" dirty="0">
                <a:latin typeface="Consolas" pitchFamily="49" charset="0"/>
                <a:cs typeface="Consolas" pitchFamily="49" charset="0"/>
              </a:rPr>
              <a:t>        while TEMP-&gt;NEXT-&gt;INFO≠X &amp; TEMP≠LAST</a:t>
            </a:r>
          </a:p>
          <a:p>
            <a:r>
              <a:rPr lang="en-IN" b="1" dirty="0">
                <a:solidFill>
                  <a:schemeClr val="tx2"/>
                </a:solidFill>
                <a:latin typeface="Consolas" pitchFamily="49" charset="0"/>
                <a:cs typeface="Consolas" pitchFamily="49" charset="0"/>
              </a:rPr>
              <a:t>4. [Move to next node]</a:t>
            </a:r>
          </a:p>
          <a:p>
            <a:r>
              <a:rPr lang="en-IN" b="1" dirty="0">
                <a:solidFill>
                  <a:schemeClr val="tx2">
                    <a:lumMod val="60000"/>
                    <a:lumOff val="40000"/>
                  </a:schemeClr>
                </a:solidFill>
                <a:latin typeface="Consolas" pitchFamily="49" charset="0"/>
                <a:cs typeface="Consolas" pitchFamily="49" charset="0"/>
              </a:rPr>
              <a:t>    </a:t>
            </a:r>
            <a:r>
              <a:rPr lang="en-IN" dirty="0">
                <a:latin typeface="Consolas" pitchFamily="49" charset="0"/>
                <a:cs typeface="Consolas" pitchFamily="49" charset="0"/>
              </a:rPr>
              <a:t>TEMP </a:t>
            </a:r>
            <a:r>
              <a:rPr lang="en-IN" dirty="0">
                <a:latin typeface="Consolas" pitchFamily="49" charset="0"/>
                <a:cs typeface="Consolas" pitchFamily="49" charset="0"/>
                <a:sym typeface="Wingdings" pitchFamily="2" charset="2"/>
              </a:rPr>
              <a:t> </a:t>
            </a:r>
            <a:r>
              <a:rPr lang="en-IN" dirty="0">
                <a:latin typeface="Consolas" pitchFamily="49" charset="0"/>
                <a:cs typeface="Consolas" pitchFamily="49" charset="0"/>
              </a:rPr>
              <a:t>TEMP-&gt;NEXT</a:t>
            </a:r>
          </a:p>
        </p:txBody>
      </p:sp>
      <p:sp>
        <p:nvSpPr>
          <p:cNvPr id="5" name="TextBox 4"/>
          <p:cNvSpPr txBox="1"/>
          <p:nvPr/>
        </p:nvSpPr>
        <p:spPr>
          <a:xfrm>
            <a:off x="6181341" y="839679"/>
            <a:ext cx="5760000" cy="5016758"/>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5. [End of Linked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TEMP-&gt;INFO ≠ X</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write(‘Node not found’)</a:t>
            </a:r>
          </a:p>
          <a:p>
            <a:r>
              <a:rPr lang="en-IN" sz="2000" dirty="0">
                <a:latin typeface="Consolas" pitchFamily="49" charset="0"/>
                <a:cs typeface="Consolas" pitchFamily="49" charset="0"/>
              </a:rPr>
              <a:t> 	      Return </a:t>
            </a:r>
          </a:p>
          <a:p>
            <a:r>
              <a:rPr lang="en-IN" sz="2000" b="1" dirty="0">
                <a:solidFill>
                  <a:schemeClr val="tx2"/>
                </a:solidFill>
                <a:latin typeface="Consolas" pitchFamily="49" charset="0"/>
                <a:cs typeface="Consolas" pitchFamily="49" charset="0"/>
              </a:rPr>
              <a:t>6. [Delete X]</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  X = FIRST-&gt;INFO</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TEMP2 </a:t>
            </a:r>
            <a:r>
              <a:rPr lang="en-IN" sz="2000" dirty="0">
                <a:latin typeface="Consolas" pitchFamily="49" charset="0"/>
                <a:cs typeface="Consolas" pitchFamily="49" charset="0"/>
                <a:sym typeface="Wingdings" panose="05000000000000000000" pitchFamily="2" charset="2"/>
              </a:rPr>
              <a:t> FIRST</a:t>
            </a:r>
            <a:endParaRPr lang="en-IN" sz="2000" dirty="0">
              <a:latin typeface="Consolas" pitchFamily="49" charset="0"/>
              <a:cs typeface="Consolas" pitchFamily="49" charset="0"/>
            </a:endParaRPr>
          </a:p>
          <a:p>
            <a:r>
              <a:rPr lang="en-IN" sz="2000" dirty="0">
                <a:latin typeface="Consolas" pitchFamily="49" charset="0"/>
                <a:cs typeface="Consolas" pitchFamily="49" charset="0"/>
              </a:rPr>
              <a:t> 	 FIRST</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FIRST-&gt;NEXT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ELSE</a:t>
            </a:r>
            <a:r>
              <a:rPr lang="en-IN" sz="2000" dirty="0">
                <a:latin typeface="Consolas" pitchFamily="49" charset="0"/>
                <a:cs typeface="Consolas" pitchFamily="49" charset="0"/>
              </a:rPr>
              <a:t> </a:t>
            </a:r>
          </a:p>
          <a:p>
            <a:r>
              <a:rPr lang="en-IN" sz="2000" dirty="0">
                <a:latin typeface="Consolas" pitchFamily="49" charset="0"/>
                <a:cs typeface="Consolas" pitchFamily="49" charset="0"/>
              </a:rPr>
              <a:t>         TEMP2 </a:t>
            </a:r>
            <a:r>
              <a:rPr lang="en-IN" sz="2000" dirty="0">
                <a:latin typeface="Consolas" pitchFamily="49" charset="0"/>
                <a:cs typeface="Consolas" pitchFamily="49" charset="0"/>
                <a:sym typeface="Wingdings" panose="05000000000000000000" pitchFamily="2" charset="2"/>
              </a:rPr>
              <a:t> TEMP-&gt;NEXT</a:t>
            </a:r>
            <a:endParaRPr lang="en-IN" sz="2000" dirty="0">
              <a:latin typeface="Consolas" pitchFamily="49" charset="0"/>
              <a:cs typeface="Consolas" pitchFamily="49" charset="0"/>
            </a:endParaRPr>
          </a:p>
          <a:p>
            <a:r>
              <a:rPr lang="en-IN" sz="2000" dirty="0">
                <a:latin typeface="Consolas" pitchFamily="49" charset="0"/>
                <a:cs typeface="Consolas" pitchFamily="49" charset="0"/>
              </a:rPr>
              <a:t>         TEMP-&gt;NEXT</a:t>
            </a:r>
            <a:r>
              <a:rPr lang="en-IN" sz="2000" dirty="0">
                <a:latin typeface="Consolas" pitchFamily="49" charset="0"/>
                <a:cs typeface="Consolas" pitchFamily="49" charset="0"/>
                <a:sym typeface="Wingdings" pitchFamily="2" charset="2"/>
              </a:rPr>
              <a:t>TEMP-&gt;NEXT-&gt;NEXT</a:t>
            </a:r>
            <a:endParaRPr lang="en-IN" sz="2000" dirty="0">
              <a:latin typeface="Consolas" pitchFamily="49" charset="0"/>
              <a:cs typeface="Consolas" pitchFamily="49" charset="0"/>
            </a:endParaRP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TEMP-&gt;NEXT = LAST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TEMP2 </a:t>
            </a:r>
            <a:r>
              <a:rPr lang="en-IN" sz="2000" dirty="0">
                <a:latin typeface="Consolas" pitchFamily="49" charset="0"/>
                <a:cs typeface="Consolas" pitchFamily="49" charset="0"/>
                <a:sym typeface="Wingdings" panose="05000000000000000000" pitchFamily="2" charset="2"/>
              </a:rPr>
              <a:t></a:t>
            </a:r>
            <a:r>
              <a:rPr lang="en-IN" sz="2000" dirty="0">
                <a:latin typeface="Consolas" pitchFamily="49" charset="0"/>
                <a:cs typeface="Consolas" pitchFamily="49" charset="0"/>
              </a:rPr>
              <a:t>LAST</a:t>
            </a:r>
          </a:p>
          <a:p>
            <a:r>
              <a:rPr lang="en-IN" sz="2000" dirty="0">
                <a:latin typeface="Consolas" pitchFamily="49" charset="0"/>
                <a:cs typeface="Consolas" pitchFamily="49" charset="0"/>
              </a:rPr>
              <a:t>                  LAST</a:t>
            </a:r>
            <a:r>
              <a:rPr lang="en-IN" sz="2000" dirty="0">
                <a:latin typeface="Consolas" pitchFamily="49" charset="0"/>
                <a:cs typeface="Consolas" pitchFamily="49" charset="0"/>
                <a:sym typeface="Wingdings" panose="05000000000000000000" pitchFamily="2" charset="2"/>
              </a:rPr>
              <a:t> TEMP</a:t>
            </a:r>
            <a:r>
              <a:rPr lang="en-IN" sz="2000" dirty="0">
                <a:latin typeface="Consolas" pitchFamily="49" charset="0"/>
                <a:cs typeface="Consolas" pitchFamily="49" charset="0"/>
              </a:rPr>
              <a:t>  </a:t>
            </a:r>
          </a:p>
          <a:p>
            <a:r>
              <a:rPr lang="en-IN" sz="2000" b="1" dirty="0">
                <a:solidFill>
                  <a:schemeClr val="tx2"/>
                </a:solidFill>
                <a:latin typeface="Consolas" pitchFamily="49" charset="0"/>
                <a:cs typeface="Consolas" pitchFamily="49" charset="0"/>
              </a:rPr>
              <a:t>7. [Free Deleted Node]</a:t>
            </a:r>
          </a:p>
          <a:p>
            <a:r>
              <a:rPr lang="en-IN" sz="2000" dirty="0">
                <a:latin typeface="Consolas" pitchFamily="49" charset="0"/>
                <a:cs typeface="Consolas" pitchFamily="49" charset="0"/>
              </a:rPr>
              <a:t>    Free (TEMP2)</a:t>
            </a:r>
          </a:p>
        </p:txBody>
      </p:sp>
    </p:spTree>
    <p:extLst>
      <p:ext uri="{BB962C8B-B14F-4D97-AF65-F5344CB8AC3E}">
        <p14:creationId xmlns:p14="http://schemas.microsoft.com/office/powerpoint/2010/main" val="295610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Procedure: CIR_DELETE(20,FIRST,LAST)</a:t>
            </a:r>
          </a:p>
        </p:txBody>
      </p:sp>
      <p:grpSp>
        <p:nvGrpSpPr>
          <p:cNvPr id="4" name="Group 3"/>
          <p:cNvGrpSpPr/>
          <p:nvPr/>
        </p:nvGrpSpPr>
        <p:grpSpPr>
          <a:xfrm>
            <a:off x="498563" y="5040868"/>
            <a:ext cx="920012" cy="533400"/>
            <a:chOff x="951919" y="5486400"/>
            <a:chExt cx="920012" cy="533400"/>
          </a:xfrm>
        </p:grpSpPr>
        <p:sp>
          <p:nvSpPr>
            <p:cNvPr id="5" name="Rectangle 4"/>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5</a:t>
              </a:r>
              <a:endParaRPr lang="en-US" sz="2400" b="1" dirty="0"/>
            </a:p>
          </p:txBody>
        </p:sp>
        <p:sp>
          <p:nvSpPr>
            <p:cNvPr id="6" name="Rectangle 5"/>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7" name="Group 6"/>
          <p:cNvGrpSpPr/>
          <p:nvPr/>
        </p:nvGrpSpPr>
        <p:grpSpPr>
          <a:xfrm>
            <a:off x="1793963" y="5040868"/>
            <a:ext cx="920012" cy="533400"/>
            <a:chOff x="951919" y="5486400"/>
            <a:chExt cx="920012" cy="533400"/>
          </a:xfrm>
        </p:grpSpPr>
        <p:sp>
          <p:nvSpPr>
            <p:cNvPr id="8" name="Rectangle 7"/>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10</a:t>
              </a:r>
              <a:endParaRPr lang="en-US" sz="2400" b="1" dirty="0"/>
            </a:p>
          </p:txBody>
        </p:sp>
        <p:sp>
          <p:nvSpPr>
            <p:cNvPr id="9" name="Rectangle 8"/>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0" name="Group 9"/>
          <p:cNvGrpSpPr/>
          <p:nvPr/>
        </p:nvGrpSpPr>
        <p:grpSpPr>
          <a:xfrm>
            <a:off x="3089363" y="5040868"/>
            <a:ext cx="920012" cy="533400"/>
            <a:chOff x="951919" y="5486400"/>
            <a:chExt cx="920012" cy="533400"/>
          </a:xfrm>
        </p:grpSpPr>
        <p:sp>
          <p:nvSpPr>
            <p:cNvPr id="11" name="Rectangle 10"/>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15</a:t>
              </a:r>
              <a:endParaRPr lang="en-US" sz="2400" b="1" dirty="0"/>
            </a:p>
          </p:txBody>
        </p:sp>
        <p:sp>
          <p:nvSpPr>
            <p:cNvPr id="12" name="Rectangle 11"/>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3" name="Group 12"/>
          <p:cNvGrpSpPr/>
          <p:nvPr/>
        </p:nvGrpSpPr>
        <p:grpSpPr>
          <a:xfrm>
            <a:off x="4836351" y="5040868"/>
            <a:ext cx="920012" cy="533400"/>
            <a:chOff x="951919" y="5486400"/>
            <a:chExt cx="920012" cy="533400"/>
          </a:xfrm>
        </p:grpSpPr>
        <p:sp>
          <p:nvSpPr>
            <p:cNvPr id="14" name="Rectangle 13"/>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20</a:t>
              </a:r>
              <a:endParaRPr lang="en-US" sz="2400" b="1" dirty="0"/>
            </a:p>
          </p:txBody>
        </p:sp>
        <p:sp>
          <p:nvSpPr>
            <p:cNvPr id="15" name="Rectangle 14"/>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6" name="Group 15"/>
          <p:cNvGrpSpPr/>
          <p:nvPr/>
        </p:nvGrpSpPr>
        <p:grpSpPr>
          <a:xfrm>
            <a:off x="6817551" y="5040868"/>
            <a:ext cx="920012" cy="533400"/>
            <a:chOff x="951919" y="5486400"/>
            <a:chExt cx="920012" cy="533400"/>
          </a:xfrm>
        </p:grpSpPr>
        <p:sp>
          <p:nvSpPr>
            <p:cNvPr id="17" name="Rectangle 16"/>
            <p:cNvSpPr/>
            <p:nvPr/>
          </p:nvSpPr>
          <p:spPr>
            <a:xfrm>
              <a:off x="951919"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25</a:t>
              </a:r>
              <a:endParaRPr lang="en-US" sz="2400" b="1" dirty="0"/>
            </a:p>
          </p:txBody>
        </p:sp>
        <p:sp>
          <p:nvSpPr>
            <p:cNvPr id="18" name="Rectangle 17"/>
            <p:cNvSpPr/>
            <p:nvPr/>
          </p:nvSpPr>
          <p:spPr>
            <a:xfrm>
              <a:off x="1490931" y="5486400"/>
              <a:ext cx="38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grpSp>
        <p:nvGrpSpPr>
          <p:cNvPr id="19" name="Group 18"/>
          <p:cNvGrpSpPr/>
          <p:nvPr/>
        </p:nvGrpSpPr>
        <p:grpSpPr>
          <a:xfrm>
            <a:off x="8126701" y="5040868"/>
            <a:ext cx="1058662" cy="533400"/>
            <a:chOff x="6256538" y="5334000"/>
            <a:chExt cx="1058662" cy="533400"/>
          </a:xfrm>
        </p:grpSpPr>
        <p:sp>
          <p:nvSpPr>
            <p:cNvPr id="20" name="Rectangle 19"/>
            <p:cNvSpPr/>
            <p:nvPr/>
          </p:nvSpPr>
          <p:spPr>
            <a:xfrm>
              <a:off x="6256538" y="53340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30</a:t>
              </a:r>
              <a:endParaRPr lang="en-US" sz="2400" b="1" dirty="0"/>
            </a:p>
          </p:txBody>
        </p:sp>
        <p:sp>
          <p:nvSpPr>
            <p:cNvPr id="21" name="Rectangle 20"/>
            <p:cNvSpPr/>
            <p:nvPr/>
          </p:nvSpPr>
          <p:spPr>
            <a:xfrm>
              <a:off x="6795550" y="5334000"/>
              <a:ext cx="51965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grpSp>
      <p:cxnSp>
        <p:nvCxnSpPr>
          <p:cNvPr id="22" name="Straight Arrow Connector 21"/>
          <p:cNvCxnSpPr>
            <a:stCxn id="6" idx="3"/>
            <a:endCxn id="8" idx="1"/>
          </p:cNvCxnSpPr>
          <p:nvPr/>
        </p:nvCxnSpPr>
        <p:spPr>
          <a:xfrm>
            <a:off x="1418575" y="530756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a:stCxn id="9" idx="3"/>
            <a:endCxn id="11" idx="1"/>
          </p:cNvCxnSpPr>
          <p:nvPr/>
        </p:nvCxnSpPr>
        <p:spPr>
          <a:xfrm>
            <a:off x="2713975" y="5307568"/>
            <a:ext cx="3753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12" idx="3"/>
            <a:endCxn id="14" idx="1"/>
          </p:cNvCxnSpPr>
          <p:nvPr/>
        </p:nvCxnSpPr>
        <p:spPr>
          <a:xfrm>
            <a:off x="4009375" y="5307568"/>
            <a:ext cx="826976"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a:stCxn id="15" idx="3"/>
            <a:endCxn id="17" idx="1"/>
          </p:cNvCxnSpPr>
          <p:nvPr/>
        </p:nvCxnSpPr>
        <p:spPr>
          <a:xfrm>
            <a:off x="5756363" y="5307568"/>
            <a:ext cx="106118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8" idx="3"/>
            <a:endCxn id="20" idx="1"/>
          </p:cNvCxnSpPr>
          <p:nvPr/>
        </p:nvCxnSpPr>
        <p:spPr>
          <a:xfrm>
            <a:off x="7737563" y="5307568"/>
            <a:ext cx="389138"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469988" y="6107668"/>
            <a:ext cx="734496" cy="369332"/>
          </a:xfrm>
          <a:prstGeom prst="rect">
            <a:avLst/>
          </a:prstGeom>
          <a:noFill/>
        </p:spPr>
        <p:txBody>
          <a:bodyPr wrap="none" rtlCol="0">
            <a:spAutoFit/>
          </a:bodyPr>
          <a:lstStyle/>
          <a:p>
            <a:r>
              <a:rPr lang="en-IN" b="1" dirty="0">
                <a:solidFill>
                  <a:srgbClr val="C00000"/>
                </a:solidFill>
              </a:rPr>
              <a:t>FIRST</a:t>
            </a:r>
            <a:endParaRPr lang="en-US" b="1" dirty="0">
              <a:solidFill>
                <a:srgbClr val="C00000"/>
              </a:solidFill>
            </a:endParaRPr>
          </a:p>
        </p:txBody>
      </p:sp>
      <p:cxnSp>
        <p:nvCxnSpPr>
          <p:cNvPr id="29" name="Straight Arrow Connector 28"/>
          <p:cNvCxnSpPr>
            <a:stCxn id="28" idx="0"/>
          </p:cNvCxnSpPr>
          <p:nvPr/>
        </p:nvCxnSpPr>
        <p:spPr>
          <a:xfrm flipH="1" flipV="1">
            <a:off x="817114" y="5574268"/>
            <a:ext cx="20123"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0" name="Straight Connector 29"/>
          <p:cNvCxnSpPr/>
          <p:nvPr/>
        </p:nvCxnSpPr>
        <p:spPr>
          <a:xfrm>
            <a:off x="3818875" y="5574268"/>
            <a:ext cx="0" cy="597932"/>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1" name="Straight Connector 30"/>
          <p:cNvCxnSpPr/>
          <p:nvPr/>
        </p:nvCxnSpPr>
        <p:spPr>
          <a:xfrm>
            <a:off x="3818875" y="6172200"/>
            <a:ext cx="326537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32" name="Straight Arrow Connector 31"/>
          <p:cNvCxnSpPr>
            <a:endCxn id="17" idx="2"/>
          </p:cNvCxnSpPr>
          <p:nvPr/>
        </p:nvCxnSpPr>
        <p:spPr>
          <a:xfrm flipV="1">
            <a:off x="7084251" y="5574268"/>
            <a:ext cx="0" cy="59793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3" name="TextBox 32"/>
          <p:cNvSpPr txBox="1"/>
          <p:nvPr/>
        </p:nvSpPr>
        <p:spPr>
          <a:xfrm>
            <a:off x="498564" y="5715000"/>
            <a:ext cx="652743" cy="369332"/>
          </a:xfrm>
          <a:prstGeom prst="rect">
            <a:avLst/>
          </a:prstGeom>
          <a:noFill/>
        </p:spPr>
        <p:txBody>
          <a:bodyPr wrap="none" rtlCol="0">
            <a:spAutoFit/>
          </a:bodyPr>
          <a:lstStyle/>
          <a:p>
            <a:r>
              <a:rPr lang="en-IN" dirty="0"/>
              <a:t>5000</a:t>
            </a:r>
            <a:endParaRPr lang="en-US" dirty="0"/>
          </a:p>
        </p:txBody>
      </p:sp>
      <p:sp>
        <p:nvSpPr>
          <p:cNvPr id="34" name="TextBox 33"/>
          <p:cNvSpPr txBox="1"/>
          <p:nvPr/>
        </p:nvSpPr>
        <p:spPr>
          <a:xfrm>
            <a:off x="1793964" y="5618202"/>
            <a:ext cx="652743" cy="369332"/>
          </a:xfrm>
          <a:prstGeom prst="rect">
            <a:avLst/>
          </a:prstGeom>
          <a:noFill/>
        </p:spPr>
        <p:txBody>
          <a:bodyPr wrap="none" rtlCol="0">
            <a:spAutoFit/>
          </a:bodyPr>
          <a:lstStyle/>
          <a:p>
            <a:r>
              <a:rPr lang="en-IN" dirty="0"/>
              <a:t>4455</a:t>
            </a:r>
            <a:endParaRPr lang="en-US" dirty="0"/>
          </a:p>
        </p:txBody>
      </p:sp>
      <p:sp>
        <p:nvSpPr>
          <p:cNvPr id="35" name="TextBox 34"/>
          <p:cNvSpPr txBox="1"/>
          <p:nvPr/>
        </p:nvSpPr>
        <p:spPr>
          <a:xfrm>
            <a:off x="3089364" y="5583793"/>
            <a:ext cx="652743" cy="369332"/>
          </a:xfrm>
          <a:prstGeom prst="rect">
            <a:avLst/>
          </a:prstGeom>
          <a:noFill/>
        </p:spPr>
        <p:txBody>
          <a:bodyPr wrap="none" rtlCol="0">
            <a:spAutoFit/>
          </a:bodyPr>
          <a:lstStyle/>
          <a:p>
            <a:r>
              <a:rPr lang="en-IN" dirty="0"/>
              <a:t>8564</a:t>
            </a:r>
            <a:endParaRPr lang="en-US" dirty="0"/>
          </a:p>
        </p:txBody>
      </p:sp>
      <p:sp>
        <p:nvSpPr>
          <p:cNvPr id="36" name="TextBox 35"/>
          <p:cNvSpPr txBox="1"/>
          <p:nvPr/>
        </p:nvSpPr>
        <p:spPr>
          <a:xfrm>
            <a:off x="4836352" y="5574268"/>
            <a:ext cx="652743" cy="369332"/>
          </a:xfrm>
          <a:prstGeom prst="rect">
            <a:avLst/>
          </a:prstGeom>
          <a:noFill/>
        </p:spPr>
        <p:txBody>
          <a:bodyPr wrap="none" rtlCol="0">
            <a:spAutoFit/>
          </a:bodyPr>
          <a:lstStyle/>
          <a:p>
            <a:r>
              <a:rPr lang="en-IN" dirty="0"/>
              <a:t>7541</a:t>
            </a:r>
            <a:endParaRPr lang="en-US" dirty="0"/>
          </a:p>
        </p:txBody>
      </p:sp>
      <p:sp>
        <p:nvSpPr>
          <p:cNvPr id="37" name="TextBox 36"/>
          <p:cNvSpPr txBox="1"/>
          <p:nvPr/>
        </p:nvSpPr>
        <p:spPr>
          <a:xfrm>
            <a:off x="6766014" y="5608677"/>
            <a:ext cx="652743" cy="369332"/>
          </a:xfrm>
          <a:prstGeom prst="rect">
            <a:avLst/>
          </a:prstGeom>
          <a:noFill/>
        </p:spPr>
        <p:txBody>
          <a:bodyPr wrap="none" rtlCol="0">
            <a:spAutoFit/>
          </a:bodyPr>
          <a:lstStyle/>
          <a:p>
            <a:r>
              <a:rPr lang="en-IN" dirty="0"/>
              <a:t>1254</a:t>
            </a:r>
            <a:endParaRPr lang="en-US" dirty="0"/>
          </a:p>
        </p:txBody>
      </p:sp>
      <p:sp>
        <p:nvSpPr>
          <p:cNvPr id="38" name="TextBox 37"/>
          <p:cNvSpPr txBox="1"/>
          <p:nvPr/>
        </p:nvSpPr>
        <p:spPr>
          <a:xfrm>
            <a:off x="8126702" y="5574268"/>
            <a:ext cx="652743" cy="369332"/>
          </a:xfrm>
          <a:prstGeom prst="rect">
            <a:avLst/>
          </a:prstGeom>
          <a:noFill/>
        </p:spPr>
        <p:txBody>
          <a:bodyPr wrap="none" rtlCol="0">
            <a:spAutoFit/>
          </a:bodyPr>
          <a:lstStyle/>
          <a:p>
            <a:r>
              <a:rPr lang="en-IN" dirty="0"/>
              <a:t>3254</a:t>
            </a:r>
            <a:endParaRPr lang="en-US" dirty="0"/>
          </a:p>
        </p:txBody>
      </p:sp>
      <p:grpSp>
        <p:nvGrpSpPr>
          <p:cNvPr id="42" name="Group 41"/>
          <p:cNvGrpSpPr/>
          <p:nvPr/>
        </p:nvGrpSpPr>
        <p:grpSpPr>
          <a:xfrm>
            <a:off x="862731" y="4495800"/>
            <a:ext cx="729688" cy="545068"/>
            <a:chOff x="592768" y="4495800"/>
            <a:chExt cx="729688" cy="545068"/>
          </a:xfrm>
        </p:grpSpPr>
        <p:sp>
          <p:nvSpPr>
            <p:cNvPr id="43" name="TextBox 42"/>
            <p:cNvSpPr txBox="1"/>
            <p:nvPr/>
          </p:nvSpPr>
          <p:spPr>
            <a:xfrm>
              <a:off x="592768" y="4495800"/>
              <a:ext cx="729688" cy="369332"/>
            </a:xfrm>
            <a:prstGeom prst="rect">
              <a:avLst/>
            </a:prstGeom>
            <a:noFill/>
          </p:spPr>
          <p:txBody>
            <a:bodyPr wrap="none" rtlCol="0">
              <a:spAutoFit/>
            </a:bodyPr>
            <a:lstStyle/>
            <a:p>
              <a:pPr algn="ctr"/>
              <a:r>
                <a:rPr lang="en-IN" b="1" dirty="0">
                  <a:solidFill>
                    <a:srgbClr val="C00000"/>
                  </a:solidFill>
                </a:rPr>
                <a:t>TEMP</a:t>
              </a:r>
              <a:endParaRPr lang="en-US" b="1" dirty="0">
                <a:solidFill>
                  <a:srgbClr val="C00000"/>
                </a:solidFill>
              </a:endParaRPr>
            </a:p>
          </p:txBody>
        </p:sp>
        <p:cxnSp>
          <p:nvCxnSpPr>
            <p:cNvPr id="44" name="Straight Arrow Connector 43"/>
            <p:cNvCxnSpPr>
              <a:stCxn id="43" idx="2"/>
              <a:endCxn id="6" idx="0"/>
            </p:cNvCxnSpPr>
            <p:nvPr/>
          </p:nvCxnSpPr>
          <p:spPr>
            <a:xfrm>
              <a:off x="957612" y="4865132"/>
              <a:ext cx="500" cy="1757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5" name="TextBox 44"/>
          <p:cNvSpPr txBox="1"/>
          <p:nvPr/>
        </p:nvSpPr>
        <p:spPr>
          <a:xfrm>
            <a:off x="8771479" y="6075402"/>
            <a:ext cx="683200" cy="369332"/>
          </a:xfrm>
          <a:prstGeom prst="rect">
            <a:avLst/>
          </a:prstGeom>
          <a:noFill/>
        </p:spPr>
        <p:txBody>
          <a:bodyPr wrap="none" rtlCol="0">
            <a:spAutoFit/>
          </a:bodyPr>
          <a:lstStyle/>
          <a:p>
            <a:r>
              <a:rPr lang="en-IN" b="1" dirty="0">
                <a:solidFill>
                  <a:srgbClr val="C00000"/>
                </a:solidFill>
              </a:rPr>
              <a:t>LAST</a:t>
            </a:r>
            <a:endParaRPr lang="en-US" b="1" dirty="0">
              <a:solidFill>
                <a:srgbClr val="C00000"/>
              </a:solidFill>
            </a:endParaRPr>
          </a:p>
        </p:txBody>
      </p:sp>
      <p:cxnSp>
        <p:nvCxnSpPr>
          <p:cNvPr id="46" name="Straight Arrow Connector 45"/>
          <p:cNvCxnSpPr>
            <a:stCxn id="45" idx="0"/>
          </p:cNvCxnSpPr>
          <p:nvPr/>
        </p:nvCxnSpPr>
        <p:spPr>
          <a:xfrm flipV="1">
            <a:off x="9113080" y="5542002"/>
            <a:ext cx="5525"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7" name="TextBox 46"/>
          <p:cNvSpPr txBox="1"/>
          <p:nvPr/>
        </p:nvSpPr>
        <p:spPr>
          <a:xfrm>
            <a:off x="235235" y="848694"/>
            <a:ext cx="5760000" cy="2800767"/>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1600" b="1" dirty="0">
                <a:solidFill>
                  <a:schemeClr val="tx2"/>
                </a:solidFill>
                <a:latin typeface="Consolas" pitchFamily="49" charset="0"/>
                <a:cs typeface="Consolas" pitchFamily="49" charset="0"/>
              </a:rPr>
              <a:t>1. [Is Empty List?]</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IF</a:t>
            </a:r>
            <a:r>
              <a:rPr lang="en-IN" sz="1600" dirty="0">
                <a:latin typeface="Consolas" pitchFamily="49" charset="0"/>
                <a:cs typeface="Consolas" pitchFamily="49" charset="0"/>
              </a:rPr>
              <a:t>   FIRST = NULL</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THEN</a:t>
            </a:r>
            <a:r>
              <a:rPr lang="en-IN" sz="1600" dirty="0">
                <a:latin typeface="Consolas" pitchFamily="49" charset="0"/>
                <a:cs typeface="Consolas" pitchFamily="49" charset="0"/>
              </a:rPr>
              <a:t> write(‘Linked List is Empty’)</a:t>
            </a:r>
          </a:p>
          <a:p>
            <a:r>
              <a:rPr lang="en-IN" sz="1600" dirty="0">
                <a:latin typeface="Consolas" pitchFamily="49" charset="0"/>
                <a:cs typeface="Consolas" pitchFamily="49" charset="0"/>
              </a:rPr>
              <a:t>         Return</a:t>
            </a:r>
          </a:p>
          <a:p>
            <a:r>
              <a:rPr lang="en-IN" sz="1600" b="1" dirty="0">
                <a:solidFill>
                  <a:schemeClr val="tx2"/>
                </a:solidFill>
                <a:latin typeface="Consolas" pitchFamily="49" charset="0"/>
                <a:cs typeface="Consolas" pitchFamily="49" charset="0"/>
              </a:rPr>
              <a:t>2. [Initialize Search for X]</a:t>
            </a:r>
          </a:p>
          <a:p>
            <a:r>
              <a:rPr lang="en-IN" sz="1600" dirty="0">
                <a:latin typeface="Consolas" pitchFamily="49" charset="0"/>
                <a:cs typeface="Consolas" pitchFamily="49" charset="0"/>
              </a:rPr>
              <a:t>    TEMP </a:t>
            </a:r>
            <a:r>
              <a:rPr lang="en-IN" sz="1600" dirty="0">
                <a:latin typeface="Consolas" pitchFamily="49" charset="0"/>
                <a:cs typeface="Consolas" pitchFamily="49" charset="0"/>
                <a:sym typeface="Wingdings" pitchFamily="2" charset="2"/>
              </a:rPr>
              <a:t> FIRST</a:t>
            </a:r>
            <a:endParaRPr lang="en-IN" sz="1600" dirty="0">
              <a:latin typeface="Consolas" pitchFamily="49" charset="0"/>
              <a:cs typeface="Consolas" pitchFamily="49" charset="0"/>
            </a:endParaRPr>
          </a:p>
          <a:p>
            <a:r>
              <a:rPr lang="en-IN" sz="1600" b="1" dirty="0">
                <a:solidFill>
                  <a:schemeClr val="tx2"/>
                </a:solidFill>
                <a:latin typeface="Consolas" pitchFamily="49" charset="0"/>
                <a:cs typeface="Consolas" pitchFamily="49" charset="0"/>
              </a:rPr>
              <a:t>3. [Find X]</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Repeat</a:t>
            </a:r>
            <a:r>
              <a:rPr lang="en-IN" sz="1600" dirty="0">
                <a:latin typeface="Consolas" pitchFamily="49" charset="0"/>
                <a:cs typeface="Consolas" pitchFamily="49" charset="0"/>
              </a:rPr>
              <a:t> thru step 4 </a:t>
            </a:r>
          </a:p>
          <a:p>
            <a:r>
              <a:rPr lang="en-IN" sz="1600" dirty="0">
                <a:latin typeface="Consolas" pitchFamily="49" charset="0"/>
                <a:cs typeface="Consolas" pitchFamily="49" charset="0"/>
              </a:rPr>
              <a:t>        while TEMP-&gt;NEXT-&gt;INFO≠X &amp; TEMP≠LAST</a:t>
            </a:r>
          </a:p>
          <a:p>
            <a:r>
              <a:rPr lang="en-IN" sz="1600" b="1" dirty="0">
                <a:solidFill>
                  <a:schemeClr val="tx2"/>
                </a:solidFill>
                <a:latin typeface="Consolas" pitchFamily="49" charset="0"/>
                <a:cs typeface="Consolas" pitchFamily="49" charset="0"/>
              </a:rPr>
              <a:t>4. [Move to next node]</a:t>
            </a:r>
          </a:p>
          <a:p>
            <a:r>
              <a:rPr lang="en-IN" sz="1600" b="1" dirty="0">
                <a:solidFill>
                  <a:schemeClr val="tx2">
                    <a:lumMod val="60000"/>
                    <a:lumOff val="40000"/>
                  </a:schemeClr>
                </a:solidFill>
                <a:latin typeface="Consolas" pitchFamily="49" charset="0"/>
                <a:cs typeface="Consolas" pitchFamily="49" charset="0"/>
              </a:rPr>
              <a:t>    </a:t>
            </a:r>
            <a:r>
              <a:rPr lang="en-IN" sz="1600" dirty="0">
                <a:latin typeface="Consolas" pitchFamily="49" charset="0"/>
                <a:cs typeface="Consolas" pitchFamily="49" charset="0"/>
              </a:rPr>
              <a:t>TEMP </a:t>
            </a:r>
            <a:r>
              <a:rPr lang="en-IN" sz="1600" dirty="0">
                <a:latin typeface="Consolas" pitchFamily="49" charset="0"/>
                <a:cs typeface="Consolas" pitchFamily="49" charset="0"/>
                <a:sym typeface="Wingdings" pitchFamily="2" charset="2"/>
              </a:rPr>
              <a:t> </a:t>
            </a:r>
            <a:r>
              <a:rPr lang="en-IN" sz="1600" dirty="0">
                <a:latin typeface="Consolas" pitchFamily="49" charset="0"/>
                <a:cs typeface="Consolas" pitchFamily="49" charset="0"/>
              </a:rPr>
              <a:t>TEMP-&gt;NEXT</a:t>
            </a:r>
          </a:p>
        </p:txBody>
      </p:sp>
      <p:sp>
        <p:nvSpPr>
          <p:cNvPr id="48" name="TextBox 47"/>
          <p:cNvSpPr txBox="1"/>
          <p:nvPr/>
        </p:nvSpPr>
        <p:spPr>
          <a:xfrm>
            <a:off x="6166588" y="848694"/>
            <a:ext cx="5760000" cy="403187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1600" b="1" dirty="0">
                <a:solidFill>
                  <a:schemeClr val="tx2"/>
                </a:solidFill>
                <a:latin typeface="Consolas" pitchFamily="49" charset="0"/>
                <a:cs typeface="Consolas" pitchFamily="49" charset="0"/>
              </a:rPr>
              <a:t>5. [End of Linked List?]</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IF</a:t>
            </a:r>
            <a:r>
              <a:rPr lang="en-IN" sz="1600" dirty="0">
                <a:latin typeface="Consolas" pitchFamily="49" charset="0"/>
                <a:cs typeface="Consolas" pitchFamily="49" charset="0"/>
              </a:rPr>
              <a:t>	TEMP-&gt;INFO ≠ X</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THEN</a:t>
            </a:r>
            <a:r>
              <a:rPr lang="en-IN" sz="1600" dirty="0">
                <a:solidFill>
                  <a:schemeClr val="tx2">
                    <a:lumMod val="75000"/>
                  </a:schemeClr>
                </a:solidFill>
                <a:latin typeface="Consolas" pitchFamily="49" charset="0"/>
                <a:cs typeface="Consolas" pitchFamily="49" charset="0"/>
              </a:rPr>
              <a:t> </a:t>
            </a:r>
            <a:r>
              <a:rPr lang="en-IN" sz="1600" dirty="0">
                <a:latin typeface="Consolas" pitchFamily="49" charset="0"/>
                <a:cs typeface="Consolas" pitchFamily="49" charset="0"/>
              </a:rPr>
              <a:t>write(‘Node not found’)</a:t>
            </a:r>
          </a:p>
          <a:p>
            <a:r>
              <a:rPr lang="en-IN" sz="1600" dirty="0">
                <a:latin typeface="Consolas" pitchFamily="49" charset="0"/>
                <a:cs typeface="Consolas" pitchFamily="49" charset="0"/>
              </a:rPr>
              <a:t> 	      Return </a:t>
            </a:r>
          </a:p>
          <a:p>
            <a:r>
              <a:rPr lang="en-IN" sz="1600" b="1" dirty="0">
                <a:solidFill>
                  <a:schemeClr val="tx2"/>
                </a:solidFill>
                <a:latin typeface="Consolas" pitchFamily="49" charset="0"/>
                <a:cs typeface="Consolas" pitchFamily="49" charset="0"/>
              </a:rPr>
              <a:t>6. [Delete X]</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IF</a:t>
            </a:r>
            <a:r>
              <a:rPr lang="en-IN" sz="1600" dirty="0">
                <a:solidFill>
                  <a:schemeClr val="tx2">
                    <a:lumMod val="75000"/>
                  </a:schemeClr>
                </a:solidFill>
                <a:latin typeface="Consolas" pitchFamily="49" charset="0"/>
                <a:cs typeface="Consolas" pitchFamily="49" charset="0"/>
              </a:rPr>
              <a:t> </a:t>
            </a:r>
            <a:r>
              <a:rPr lang="en-IN" sz="1600" dirty="0">
                <a:latin typeface="Consolas" pitchFamily="49" charset="0"/>
                <a:cs typeface="Consolas" pitchFamily="49" charset="0"/>
              </a:rPr>
              <a:t>  X = FIRST-&gt;INFO</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THEN</a:t>
            </a:r>
            <a:r>
              <a:rPr lang="en-IN" sz="1600" dirty="0">
                <a:solidFill>
                  <a:schemeClr val="tx2">
                    <a:lumMod val="75000"/>
                  </a:schemeClr>
                </a:solidFill>
                <a:latin typeface="Consolas" pitchFamily="49" charset="0"/>
                <a:cs typeface="Consolas" pitchFamily="49" charset="0"/>
              </a:rPr>
              <a:t> </a:t>
            </a:r>
            <a:r>
              <a:rPr lang="en-IN" sz="1600" dirty="0">
                <a:latin typeface="Consolas" pitchFamily="49" charset="0"/>
                <a:cs typeface="Consolas" pitchFamily="49" charset="0"/>
              </a:rPr>
              <a:t>TEMP2 </a:t>
            </a:r>
            <a:r>
              <a:rPr lang="en-IN" sz="1600" dirty="0">
                <a:latin typeface="Consolas" pitchFamily="49" charset="0"/>
                <a:cs typeface="Consolas" pitchFamily="49" charset="0"/>
                <a:sym typeface="Wingdings" panose="05000000000000000000" pitchFamily="2" charset="2"/>
              </a:rPr>
              <a:t> FIRST</a:t>
            </a:r>
            <a:endParaRPr lang="en-IN" sz="1600" dirty="0">
              <a:latin typeface="Consolas" pitchFamily="49" charset="0"/>
              <a:cs typeface="Consolas" pitchFamily="49" charset="0"/>
            </a:endParaRPr>
          </a:p>
          <a:p>
            <a:r>
              <a:rPr lang="en-IN" sz="1600" dirty="0">
                <a:latin typeface="Consolas" pitchFamily="49" charset="0"/>
                <a:cs typeface="Consolas" pitchFamily="49" charset="0"/>
              </a:rPr>
              <a:t> 	 FIRST</a:t>
            </a:r>
            <a:r>
              <a:rPr lang="en-IN" sz="1600" dirty="0">
                <a:latin typeface="Consolas" pitchFamily="49" charset="0"/>
                <a:cs typeface="Consolas" pitchFamily="49" charset="0"/>
                <a:sym typeface="Wingdings" pitchFamily="2" charset="2"/>
              </a:rPr>
              <a:t></a:t>
            </a:r>
            <a:r>
              <a:rPr lang="en-IN" sz="1600" dirty="0">
                <a:latin typeface="Consolas" pitchFamily="49" charset="0"/>
                <a:cs typeface="Consolas" pitchFamily="49" charset="0"/>
              </a:rPr>
              <a:t>FIRST-&gt;NEXT</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ELSE</a:t>
            </a:r>
            <a:r>
              <a:rPr lang="en-IN" sz="1600" dirty="0">
                <a:latin typeface="Consolas" pitchFamily="49" charset="0"/>
                <a:cs typeface="Consolas" pitchFamily="49" charset="0"/>
              </a:rPr>
              <a:t> </a:t>
            </a:r>
          </a:p>
          <a:p>
            <a:r>
              <a:rPr lang="en-IN" sz="1600" dirty="0">
                <a:latin typeface="Consolas" pitchFamily="49" charset="0"/>
                <a:cs typeface="Consolas" pitchFamily="49" charset="0"/>
              </a:rPr>
              <a:t>         TEMP2 </a:t>
            </a:r>
            <a:r>
              <a:rPr lang="en-IN" sz="1600" dirty="0">
                <a:latin typeface="Consolas" pitchFamily="49" charset="0"/>
                <a:cs typeface="Consolas" pitchFamily="49" charset="0"/>
                <a:sym typeface="Wingdings" panose="05000000000000000000" pitchFamily="2" charset="2"/>
              </a:rPr>
              <a:t> TEMP-&gt;NEXT</a:t>
            </a:r>
            <a:endParaRPr lang="en-IN" sz="1600" dirty="0">
              <a:latin typeface="Consolas" pitchFamily="49" charset="0"/>
              <a:cs typeface="Consolas" pitchFamily="49" charset="0"/>
            </a:endParaRPr>
          </a:p>
          <a:p>
            <a:r>
              <a:rPr lang="en-IN" sz="1600" dirty="0">
                <a:latin typeface="Consolas" pitchFamily="49" charset="0"/>
                <a:cs typeface="Consolas" pitchFamily="49" charset="0"/>
              </a:rPr>
              <a:t>         TEMP-&gt;NEXT</a:t>
            </a:r>
            <a:r>
              <a:rPr lang="en-IN" sz="1600" dirty="0">
                <a:latin typeface="Consolas" pitchFamily="49" charset="0"/>
                <a:cs typeface="Consolas" pitchFamily="49" charset="0"/>
                <a:sym typeface="Wingdings" pitchFamily="2" charset="2"/>
              </a:rPr>
              <a:t>TEMP-&gt;NEXT-&gt;NEXT</a:t>
            </a:r>
            <a:endParaRPr lang="en-IN" sz="1600" dirty="0">
              <a:latin typeface="Consolas" pitchFamily="49" charset="0"/>
              <a:cs typeface="Consolas" pitchFamily="49" charset="0"/>
            </a:endParaRP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IF</a:t>
            </a:r>
            <a:r>
              <a:rPr lang="en-IN" sz="1600" dirty="0">
                <a:latin typeface="Consolas" pitchFamily="49" charset="0"/>
                <a:cs typeface="Consolas" pitchFamily="49" charset="0"/>
              </a:rPr>
              <a:t>	  TEMP-&gt;NEXT = LAST</a:t>
            </a:r>
          </a:p>
          <a:p>
            <a:r>
              <a:rPr lang="en-IN" sz="1600" dirty="0">
                <a:latin typeface="Consolas" pitchFamily="49" charset="0"/>
                <a:cs typeface="Consolas" pitchFamily="49" charset="0"/>
              </a:rPr>
              <a:t> 	   </a:t>
            </a:r>
            <a:r>
              <a:rPr lang="en-IN" sz="1600" b="1" dirty="0">
                <a:solidFill>
                  <a:schemeClr val="tx2">
                    <a:lumMod val="75000"/>
                  </a:schemeClr>
                </a:solidFill>
                <a:latin typeface="Consolas" pitchFamily="49" charset="0"/>
                <a:cs typeface="Consolas" pitchFamily="49" charset="0"/>
              </a:rPr>
              <a:t>THEN</a:t>
            </a:r>
            <a:r>
              <a:rPr lang="en-IN" sz="1600" dirty="0">
                <a:latin typeface="Consolas" pitchFamily="49" charset="0"/>
                <a:cs typeface="Consolas" pitchFamily="49" charset="0"/>
              </a:rPr>
              <a:t>   TEMP2 </a:t>
            </a:r>
            <a:r>
              <a:rPr lang="en-IN" sz="1600" dirty="0">
                <a:latin typeface="Consolas" pitchFamily="49" charset="0"/>
                <a:cs typeface="Consolas" pitchFamily="49" charset="0"/>
                <a:sym typeface="Wingdings" panose="05000000000000000000" pitchFamily="2" charset="2"/>
              </a:rPr>
              <a:t></a:t>
            </a:r>
            <a:r>
              <a:rPr lang="en-IN" sz="1600" dirty="0">
                <a:latin typeface="Consolas" pitchFamily="49" charset="0"/>
                <a:cs typeface="Consolas" pitchFamily="49" charset="0"/>
              </a:rPr>
              <a:t>LAST</a:t>
            </a:r>
          </a:p>
          <a:p>
            <a:r>
              <a:rPr lang="en-IN" sz="1600" dirty="0">
                <a:latin typeface="Consolas" pitchFamily="49" charset="0"/>
                <a:cs typeface="Consolas" pitchFamily="49" charset="0"/>
              </a:rPr>
              <a:t>                  LAST</a:t>
            </a:r>
            <a:r>
              <a:rPr lang="en-IN" sz="1600" dirty="0">
                <a:latin typeface="Consolas" pitchFamily="49" charset="0"/>
                <a:cs typeface="Consolas" pitchFamily="49" charset="0"/>
                <a:sym typeface="Wingdings" panose="05000000000000000000" pitchFamily="2" charset="2"/>
              </a:rPr>
              <a:t> TEMP</a:t>
            </a:r>
            <a:r>
              <a:rPr lang="en-IN" sz="1600" dirty="0">
                <a:latin typeface="Consolas" pitchFamily="49" charset="0"/>
                <a:cs typeface="Consolas" pitchFamily="49" charset="0"/>
              </a:rPr>
              <a:t>  </a:t>
            </a:r>
          </a:p>
          <a:p>
            <a:r>
              <a:rPr lang="en-IN" sz="1600" b="1" dirty="0">
                <a:solidFill>
                  <a:schemeClr val="tx2"/>
                </a:solidFill>
                <a:latin typeface="Consolas" pitchFamily="49" charset="0"/>
                <a:cs typeface="Consolas" pitchFamily="49" charset="0"/>
              </a:rPr>
              <a:t>7. [Free Deleted Node]</a:t>
            </a:r>
          </a:p>
          <a:p>
            <a:r>
              <a:rPr lang="en-IN" sz="1600" dirty="0">
                <a:latin typeface="Consolas" pitchFamily="49" charset="0"/>
                <a:cs typeface="Consolas" pitchFamily="49" charset="0"/>
              </a:rPr>
              <a:t>    Free (TEMP2)</a:t>
            </a:r>
          </a:p>
        </p:txBody>
      </p:sp>
      <p:sp>
        <p:nvSpPr>
          <p:cNvPr id="49" name="Freeform 48"/>
          <p:cNvSpPr/>
          <p:nvPr/>
        </p:nvSpPr>
        <p:spPr>
          <a:xfrm>
            <a:off x="1184363" y="5581404"/>
            <a:ext cx="7564582" cy="855023"/>
          </a:xfrm>
          <a:custGeom>
            <a:avLst/>
            <a:gdLst>
              <a:gd name="connsiteX0" fmla="*/ 7564582 w 7564582"/>
              <a:gd name="connsiteY0" fmla="*/ 11875 h 855023"/>
              <a:gd name="connsiteX1" fmla="*/ 7564582 w 7564582"/>
              <a:gd name="connsiteY1" fmla="*/ 855023 h 855023"/>
              <a:gd name="connsiteX2" fmla="*/ 0 w 7564582"/>
              <a:gd name="connsiteY2" fmla="*/ 855023 h 855023"/>
              <a:gd name="connsiteX3" fmla="*/ 0 w 7564582"/>
              <a:gd name="connsiteY3" fmla="*/ 0 h 855023"/>
            </a:gdLst>
            <a:ahLst/>
            <a:cxnLst>
              <a:cxn ang="0">
                <a:pos x="connsiteX0" y="connsiteY0"/>
              </a:cxn>
              <a:cxn ang="0">
                <a:pos x="connsiteX1" y="connsiteY1"/>
              </a:cxn>
              <a:cxn ang="0">
                <a:pos x="connsiteX2" y="connsiteY2"/>
              </a:cxn>
              <a:cxn ang="0">
                <a:pos x="connsiteX3" y="connsiteY3"/>
              </a:cxn>
            </a:cxnLst>
            <a:rect l="l" t="t" r="r" b="b"/>
            <a:pathLst>
              <a:path w="7564582" h="855023">
                <a:moveTo>
                  <a:pt x="7564582" y="11875"/>
                </a:moveTo>
                <a:lnTo>
                  <a:pt x="7564582" y="855023"/>
                </a:lnTo>
                <a:lnTo>
                  <a:pt x="0" y="855023"/>
                </a:lnTo>
                <a:lnTo>
                  <a:pt x="0"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9554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nodeType="afterEffect">
                                  <p:stCondLst>
                                    <p:cond delay="0"/>
                                  </p:stCondLst>
                                  <p:childTnLst>
                                    <p:set>
                                      <p:cBhvr>
                                        <p:cTn id="49" dur="1" fill="hold">
                                          <p:stCondLst>
                                            <p:cond delay="0"/>
                                          </p:stCondLst>
                                        </p:cTn>
                                        <p:tgtEl>
                                          <p:spTgt spid="46"/>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63" presetClass="path" presetSubtype="0" accel="50000" decel="50000" fill="hold" nodeType="clickEffect">
                                  <p:stCondLst>
                                    <p:cond delay="0"/>
                                  </p:stCondLst>
                                  <p:childTnLst>
                                    <p:animMotion origin="layout" path="M -1.04167E-6 1.11111E-6 L 0.07149 1.11111E-6 " pathEditMode="relative" rAng="0" ptsTypes="AA">
                                      <p:cBhvr>
                                        <p:cTn id="64" dur="2000" fill="hold"/>
                                        <p:tgtEl>
                                          <p:spTgt spid="42"/>
                                        </p:tgtEl>
                                        <p:attrNameLst>
                                          <p:attrName>ppt_x</p:attrName>
                                          <p:attrName>ppt_y</p:attrName>
                                        </p:attrNameLst>
                                      </p:cBhvr>
                                      <p:rCtr x="3568" y="0"/>
                                    </p:animMotion>
                                  </p:childTnLst>
                                </p:cTn>
                              </p:par>
                            </p:childTnLst>
                          </p:cTn>
                        </p:par>
                      </p:childTnLst>
                    </p:cTn>
                  </p:par>
                  <p:par>
                    <p:cTn id="65" fill="hold">
                      <p:stCondLst>
                        <p:cond delay="indefinite"/>
                      </p:stCondLst>
                      <p:childTnLst>
                        <p:par>
                          <p:cTn id="66" fill="hold">
                            <p:stCondLst>
                              <p:cond delay="0"/>
                            </p:stCondLst>
                            <p:childTnLst>
                              <p:par>
                                <p:cTn id="67" presetID="63" presetClass="path" presetSubtype="0" accel="50000" decel="50000" fill="hold" nodeType="clickEffect">
                                  <p:stCondLst>
                                    <p:cond delay="0"/>
                                  </p:stCondLst>
                                  <p:childTnLst>
                                    <p:animMotion origin="layout" path="M 0.07149 1.11111E-6 L 0.16927 1.11111E-6 " pathEditMode="relative" rAng="0" ptsTypes="AA">
                                      <p:cBhvr>
                                        <p:cTn id="68" dur="2000" fill="hold"/>
                                        <p:tgtEl>
                                          <p:spTgt spid="42"/>
                                        </p:tgtEl>
                                        <p:attrNameLst>
                                          <p:attrName>ppt_x</p:attrName>
                                          <p:attrName>ppt_y</p:attrName>
                                        </p:attrNameLst>
                                      </p:cBhvr>
                                      <p:rCtr x="4883" y="0"/>
                                    </p:animMotion>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nodeType="clickEffect">
                                  <p:stCondLst>
                                    <p:cond delay="0"/>
                                  </p:stCondLst>
                                  <p:childTnLst>
                                    <p:set>
                                      <p:cBhvr>
                                        <p:cTn id="80" dur="1" fill="hold">
                                          <p:stCondLst>
                                            <p:cond delay="0"/>
                                          </p:stCondLst>
                                        </p:cTn>
                                        <p:tgtEl>
                                          <p:spTgt spid="13"/>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24"/>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25"/>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3" grpId="0"/>
      <p:bldP spid="34" grpId="0"/>
      <p:bldP spid="35" grpId="0"/>
      <p:bldP spid="36" grpId="0"/>
      <p:bldP spid="36" grpId="1"/>
      <p:bldP spid="37" grpId="0"/>
      <p:bldP spid="38" grpId="0"/>
      <p:bldP spid="45" grpId="0"/>
      <p:bldP spid="47" grpId="0" animBg="1"/>
      <p:bldP spid="48" grpId="0" animBg="1"/>
      <p:bldP spid="4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Doubly Linked Linear List</a:t>
            </a:r>
            <a:endParaRPr lang="en-US" dirty="0"/>
          </a:p>
        </p:txBody>
      </p:sp>
      <p:sp>
        <p:nvSpPr>
          <p:cNvPr id="3" name="Content Placeholder 2"/>
          <p:cNvSpPr>
            <a:spLocks noGrp="1"/>
          </p:cNvSpPr>
          <p:nvPr>
            <p:ph idx="1"/>
          </p:nvPr>
        </p:nvSpPr>
        <p:spPr/>
        <p:txBody>
          <a:bodyPr/>
          <a:lstStyle/>
          <a:p>
            <a:r>
              <a:rPr lang="en-IN" dirty="0"/>
              <a:t>In certain Applications, it is very desirable that a list be traversed in either forward or reverse direction.</a:t>
            </a:r>
          </a:p>
          <a:p>
            <a:r>
              <a:rPr lang="en-IN" dirty="0"/>
              <a:t>This property implies that each node must contain two link fields instead of usual one.</a:t>
            </a:r>
          </a:p>
          <a:p>
            <a:r>
              <a:rPr lang="en-IN" dirty="0"/>
              <a:t>The links are used to denote </a:t>
            </a:r>
            <a:r>
              <a:rPr lang="en-IN" b="1" dirty="0">
                <a:solidFill>
                  <a:srgbClr val="C00000"/>
                </a:solidFill>
              </a:rPr>
              <a:t>Predecessor</a:t>
            </a:r>
            <a:r>
              <a:rPr lang="en-IN" dirty="0">
                <a:solidFill>
                  <a:srgbClr val="C00000"/>
                </a:solidFill>
              </a:rPr>
              <a:t> </a:t>
            </a:r>
            <a:r>
              <a:rPr lang="en-IN" dirty="0"/>
              <a:t>and </a:t>
            </a:r>
            <a:r>
              <a:rPr lang="en-IN" b="1" dirty="0">
                <a:solidFill>
                  <a:srgbClr val="C00000"/>
                </a:solidFill>
              </a:rPr>
              <a:t>Successor</a:t>
            </a:r>
            <a:r>
              <a:rPr lang="en-IN" dirty="0">
                <a:solidFill>
                  <a:srgbClr val="C00000"/>
                </a:solidFill>
              </a:rPr>
              <a:t> </a:t>
            </a:r>
            <a:r>
              <a:rPr lang="en-IN" dirty="0"/>
              <a:t>of node.</a:t>
            </a:r>
          </a:p>
          <a:p>
            <a:r>
              <a:rPr lang="en-IN" dirty="0"/>
              <a:t>The link denoting its </a:t>
            </a:r>
            <a:r>
              <a:rPr lang="en-IN" b="1" dirty="0">
                <a:solidFill>
                  <a:srgbClr val="C00000"/>
                </a:solidFill>
              </a:rPr>
              <a:t>predecessor</a:t>
            </a:r>
            <a:r>
              <a:rPr lang="en-IN" dirty="0">
                <a:solidFill>
                  <a:srgbClr val="C00000"/>
                </a:solidFill>
              </a:rPr>
              <a:t> </a:t>
            </a:r>
            <a:r>
              <a:rPr lang="en-IN" dirty="0"/>
              <a:t>is called </a:t>
            </a:r>
            <a:r>
              <a:rPr lang="en-IN" b="1" dirty="0">
                <a:solidFill>
                  <a:srgbClr val="C00000"/>
                </a:solidFill>
              </a:rPr>
              <a:t>prev</a:t>
            </a:r>
            <a:r>
              <a:rPr lang="en-IN" b="1" dirty="0"/>
              <a:t>.</a:t>
            </a:r>
          </a:p>
          <a:p>
            <a:r>
              <a:rPr lang="en-IN" dirty="0"/>
              <a:t>The link denoting  its </a:t>
            </a:r>
            <a:r>
              <a:rPr lang="en-IN" b="1" dirty="0">
                <a:solidFill>
                  <a:srgbClr val="C00000"/>
                </a:solidFill>
              </a:rPr>
              <a:t>successor</a:t>
            </a:r>
            <a:r>
              <a:rPr lang="en-IN" dirty="0">
                <a:solidFill>
                  <a:srgbClr val="C00000"/>
                </a:solidFill>
              </a:rPr>
              <a:t> </a:t>
            </a:r>
            <a:r>
              <a:rPr lang="en-IN" dirty="0"/>
              <a:t>is called </a:t>
            </a:r>
            <a:r>
              <a:rPr lang="en-IN" b="1" dirty="0">
                <a:solidFill>
                  <a:srgbClr val="C00000"/>
                </a:solidFill>
              </a:rPr>
              <a:t>next</a:t>
            </a:r>
            <a:r>
              <a:rPr lang="en-IN" b="1" dirty="0"/>
              <a:t>.</a:t>
            </a:r>
          </a:p>
          <a:p>
            <a:r>
              <a:rPr lang="en-IN" dirty="0"/>
              <a:t>A list containing this type of node is called </a:t>
            </a:r>
            <a:r>
              <a:rPr lang="en-IN" b="1" dirty="0">
                <a:solidFill>
                  <a:srgbClr val="C00000"/>
                </a:solidFill>
              </a:rPr>
              <a:t>doubly</a:t>
            </a:r>
            <a:r>
              <a:rPr lang="en-IN" b="1" dirty="0">
                <a:solidFill>
                  <a:srgbClr val="FF0000"/>
                </a:solidFill>
              </a:rPr>
              <a:t> </a:t>
            </a:r>
            <a:r>
              <a:rPr lang="en-IN" b="1" dirty="0">
                <a:solidFill>
                  <a:srgbClr val="C00000"/>
                </a:solidFill>
              </a:rPr>
              <a:t>linked</a:t>
            </a:r>
            <a:r>
              <a:rPr lang="en-IN" b="1" dirty="0">
                <a:solidFill>
                  <a:srgbClr val="FF0000"/>
                </a:solidFill>
              </a:rPr>
              <a:t> </a:t>
            </a:r>
            <a:r>
              <a:rPr lang="en-IN" b="1" dirty="0">
                <a:solidFill>
                  <a:srgbClr val="C00000"/>
                </a:solidFill>
              </a:rPr>
              <a:t>list</a:t>
            </a:r>
            <a:r>
              <a:rPr lang="en-IN" dirty="0">
                <a:solidFill>
                  <a:srgbClr val="C00000"/>
                </a:solidFill>
              </a:rPr>
              <a:t> </a:t>
            </a:r>
            <a:r>
              <a:rPr lang="en-IN" dirty="0"/>
              <a:t>or </a:t>
            </a:r>
            <a:r>
              <a:rPr lang="en-IN" b="1" dirty="0">
                <a:solidFill>
                  <a:srgbClr val="C00000"/>
                </a:solidFill>
              </a:rPr>
              <a:t>two</a:t>
            </a:r>
            <a:r>
              <a:rPr lang="en-IN" b="1" dirty="0">
                <a:solidFill>
                  <a:srgbClr val="FF0000"/>
                </a:solidFill>
              </a:rPr>
              <a:t> </a:t>
            </a:r>
            <a:r>
              <a:rPr lang="en-IN" b="1" dirty="0">
                <a:solidFill>
                  <a:srgbClr val="C00000"/>
                </a:solidFill>
              </a:rPr>
              <a:t>way</a:t>
            </a:r>
            <a:r>
              <a:rPr lang="en-IN" b="1" dirty="0">
                <a:solidFill>
                  <a:srgbClr val="FF0000"/>
                </a:solidFill>
              </a:rPr>
              <a:t> </a:t>
            </a:r>
            <a:r>
              <a:rPr lang="en-IN" b="1" dirty="0">
                <a:solidFill>
                  <a:srgbClr val="C00000"/>
                </a:solidFill>
              </a:rPr>
              <a:t>chain</a:t>
            </a:r>
            <a:r>
              <a:rPr lang="en-IN" dirty="0"/>
              <a:t>.</a:t>
            </a:r>
          </a:p>
        </p:txBody>
      </p:sp>
    </p:spTree>
    <p:extLst>
      <p:ext uri="{BB962C8B-B14F-4D97-AF65-F5344CB8AC3E}">
        <p14:creationId xmlns:p14="http://schemas.microsoft.com/office/powerpoint/2010/main" val="1245907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Doubly Linked Linear List</a:t>
            </a:r>
            <a:endParaRPr lang="en-US" dirty="0"/>
          </a:p>
        </p:txBody>
      </p:sp>
      <p:sp>
        <p:nvSpPr>
          <p:cNvPr id="3" name="Content Placeholder 2"/>
          <p:cNvSpPr>
            <a:spLocks noGrp="1"/>
          </p:cNvSpPr>
          <p:nvPr>
            <p:ph idx="1"/>
          </p:nvPr>
        </p:nvSpPr>
        <p:spPr>
          <a:xfrm>
            <a:off x="131180" y="863445"/>
            <a:ext cx="11929641" cy="2901732"/>
          </a:xfrm>
        </p:spPr>
        <p:txBody>
          <a:bodyPr>
            <a:normAutofit/>
          </a:bodyPr>
          <a:lstStyle/>
          <a:p>
            <a:r>
              <a:rPr lang="en-IN" dirty="0"/>
              <a:t>Typical node of doubly linked linear list contains INFO, LPTR  RPTR Fields</a:t>
            </a:r>
          </a:p>
          <a:p>
            <a:r>
              <a:rPr lang="en-IN" b="1" dirty="0">
                <a:solidFill>
                  <a:srgbClr val="C00000"/>
                </a:solidFill>
              </a:rPr>
              <a:t>PREV</a:t>
            </a:r>
            <a:r>
              <a:rPr lang="en-IN" dirty="0">
                <a:solidFill>
                  <a:srgbClr val="C00000"/>
                </a:solidFill>
              </a:rPr>
              <a:t> </a:t>
            </a:r>
            <a:r>
              <a:rPr lang="en-IN" dirty="0"/>
              <a:t>is pointer variable pointing to Predecessor of a node</a:t>
            </a:r>
          </a:p>
          <a:p>
            <a:r>
              <a:rPr lang="en-IN" b="1" dirty="0">
                <a:solidFill>
                  <a:srgbClr val="C00000"/>
                </a:solidFill>
              </a:rPr>
              <a:t>NEXT</a:t>
            </a:r>
            <a:r>
              <a:rPr lang="en-IN" dirty="0">
                <a:solidFill>
                  <a:srgbClr val="C00000"/>
                </a:solidFill>
              </a:rPr>
              <a:t> </a:t>
            </a:r>
            <a:r>
              <a:rPr lang="en-IN" dirty="0"/>
              <a:t>is pointer variable pointing to Successor of a node</a:t>
            </a:r>
          </a:p>
          <a:p>
            <a:r>
              <a:rPr lang="en-IN" dirty="0"/>
              <a:t>Left most node of doubly linked linear list is called </a:t>
            </a:r>
            <a:r>
              <a:rPr lang="en-IN" b="1" dirty="0">
                <a:solidFill>
                  <a:srgbClr val="C00000"/>
                </a:solidFill>
              </a:rPr>
              <a:t>L</a:t>
            </a:r>
            <a:r>
              <a:rPr lang="en-IN" dirty="0"/>
              <a:t>, </a:t>
            </a:r>
            <a:r>
              <a:rPr lang="en-IN" b="1" dirty="0">
                <a:solidFill>
                  <a:srgbClr val="C00000"/>
                </a:solidFill>
              </a:rPr>
              <a:t>PREV</a:t>
            </a:r>
            <a:r>
              <a:rPr lang="en-IN" dirty="0">
                <a:solidFill>
                  <a:srgbClr val="C00000"/>
                </a:solidFill>
              </a:rPr>
              <a:t> </a:t>
            </a:r>
            <a:r>
              <a:rPr lang="en-IN" dirty="0"/>
              <a:t>of node </a:t>
            </a:r>
            <a:r>
              <a:rPr lang="en-IN" b="1" dirty="0">
                <a:solidFill>
                  <a:srgbClr val="C00000"/>
                </a:solidFill>
              </a:rPr>
              <a:t>L</a:t>
            </a:r>
            <a:r>
              <a:rPr lang="en-IN" b="1" dirty="0">
                <a:solidFill>
                  <a:srgbClr val="FF0000"/>
                </a:solidFill>
              </a:rPr>
              <a:t> </a:t>
            </a:r>
            <a:r>
              <a:rPr lang="en-IN" b="1" dirty="0">
                <a:solidFill>
                  <a:srgbClr val="C00000"/>
                </a:solidFill>
              </a:rPr>
              <a:t>is always NULL</a:t>
            </a:r>
          </a:p>
          <a:p>
            <a:r>
              <a:rPr lang="en-IN" dirty="0"/>
              <a:t>Right most node of doubly linked linear list is called </a:t>
            </a:r>
            <a:r>
              <a:rPr lang="en-IN" b="1" dirty="0">
                <a:solidFill>
                  <a:srgbClr val="C00000"/>
                </a:solidFill>
              </a:rPr>
              <a:t>R</a:t>
            </a:r>
            <a:r>
              <a:rPr lang="en-IN" dirty="0"/>
              <a:t>, </a:t>
            </a:r>
            <a:r>
              <a:rPr lang="en-IN" b="1" dirty="0">
                <a:solidFill>
                  <a:srgbClr val="C00000"/>
                </a:solidFill>
              </a:rPr>
              <a:t>NEXT</a:t>
            </a:r>
            <a:r>
              <a:rPr lang="en-IN" dirty="0">
                <a:solidFill>
                  <a:srgbClr val="C00000"/>
                </a:solidFill>
              </a:rPr>
              <a:t> </a:t>
            </a:r>
            <a:r>
              <a:rPr lang="en-IN" dirty="0"/>
              <a:t>of node </a:t>
            </a:r>
            <a:r>
              <a:rPr lang="en-IN" b="1" dirty="0">
                <a:solidFill>
                  <a:srgbClr val="C00000"/>
                </a:solidFill>
              </a:rPr>
              <a:t>R is always NULL</a:t>
            </a:r>
            <a:endParaRPr lang="en-US" dirty="0"/>
          </a:p>
          <a:p>
            <a:endParaRPr lang="en-US" dirty="0"/>
          </a:p>
        </p:txBody>
      </p:sp>
      <p:grpSp>
        <p:nvGrpSpPr>
          <p:cNvPr id="8" name="Group 7"/>
          <p:cNvGrpSpPr/>
          <p:nvPr/>
        </p:nvGrpSpPr>
        <p:grpSpPr>
          <a:xfrm>
            <a:off x="4128246" y="3917421"/>
            <a:ext cx="1385047" cy="466320"/>
            <a:chOff x="304800" y="4191000"/>
            <a:chExt cx="1066800" cy="381000"/>
          </a:xfrm>
        </p:grpSpPr>
        <p:sp>
          <p:nvSpPr>
            <p:cNvPr id="4" name="Rectangle 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 name="Rectangle 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Rectangle 6"/>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9" name="Group 8"/>
          <p:cNvGrpSpPr/>
          <p:nvPr/>
        </p:nvGrpSpPr>
        <p:grpSpPr>
          <a:xfrm>
            <a:off x="5728446" y="3917421"/>
            <a:ext cx="1385047" cy="466320"/>
            <a:chOff x="304800" y="4191000"/>
            <a:chExt cx="1066800" cy="381000"/>
          </a:xfrm>
        </p:grpSpPr>
        <p:sp>
          <p:nvSpPr>
            <p:cNvPr id="10" name="Rectangle 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1" name="Rectangle 1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2" name="Rectangle 1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3" name="Group 12"/>
          <p:cNvGrpSpPr/>
          <p:nvPr/>
        </p:nvGrpSpPr>
        <p:grpSpPr>
          <a:xfrm>
            <a:off x="7328646" y="3917421"/>
            <a:ext cx="1385047" cy="466320"/>
            <a:chOff x="304800" y="4191000"/>
            <a:chExt cx="1066800" cy="381000"/>
          </a:xfrm>
        </p:grpSpPr>
        <p:sp>
          <p:nvSpPr>
            <p:cNvPr id="14" name="Rectangle 1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5" name="Rectangle 1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6" name="Rectangle 1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7" name="Group 16"/>
          <p:cNvGrpSpPr/>
          <p:nvPr/>
        </p:nvGrpSpPr>
        <p:grpSpPr>
          <a:xfrm>
            <a:off x="8928846" y="3917421"/>
            <a:ext cx="1385047" cy="466320"/>
            <a:chOff x="304800" y="4191000"/>
            <a:chExt cx="1066800" cy="381000"/>
          </a:xfrm>
        </p:grpSpPr>
        <p:sp>
          <p:nvSpPr>
            <p:cNvPr id="18" name="Rectangle 17"/>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9" name="Rectangle 18"/>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20" name="Rectangle 19"/>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22" name="Straight Arrow Connector 21"/>
          <p:cNvCxnSpPr/>
          <p:nvPr/>
        </p:nvCxnSpPr>
        <p:spPr>
          <a:xfrm>
            <a:off x="5271247" y="4044421"/>
            <a:ext cx="69252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 name="Straight Arrow Connector 26"/>
          <p:cNvCxnSpPr/>
          <p:nvPr/>
        </p:nvCxnSpPr>
        <p:spPr>
          <a:xfrm>
            <a:off x="6846047" y="4031721"/>
            <a:ext cx="69252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8" name="Straight Arrow Connector 27"/>
          <p:cNvCxnSpPr/>
          <p:nvPr/>
        </p:nvCxnSpPr>
        <p:spPr>
          <a:xfrm>
            <a:off x="8458947" y="4031721"/>
            <a:ext cx="692524"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9" name="Straight Arrow Connector 28"/>
          <p:cNvCxnSpPr/>
          <p:nvPr/>
        </p:nvCxnSpPr>
        <p:spPr>
          <a:xfrm>
            <a:off x="8458947" y="4260321"/>
            <a:ext cx="692524"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30" name="Straight Arrow Connector 29"/>
          <p:cNvCxnSpPr/>
          <p:nvPr/>
        </p:nvCxnSpPr>
        <p:spPr>
          <a:xfrm>
            <a:off x="6846047" y="4260321"/>
            <a:ext cx="692524"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a:off x="5271247" y="4273021"/>
            <a:ext cx="692524"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39" name="Straight Connector 38"/>
          <p:cNvCxnSpPr/>
          <p:nvPr/>
        </p:nvCxnSpPr>
        <p:spPr>
          <a:xfrm flipH="1">
            <a:off x="9918165" y="3917421"/>
            <a:ext cx="395728" cy="46632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1" name="Straight Connector 40"/>
          <p:cNvCxnSpPr/>
          <p:nvPr/>
        </p:nvCxnSpPr>
        <p:spPr>
          <a:xfrm flipH="1">
            <a:off x="4128245" y="3917421"/>
            <a:ext cx="385916" cy="46632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48" name="TextBox 47"/>
          <p:cNvSpPr txBox="1"/>
          <p:nvPr/>
        </p:nvSpPr>
        <p:spPr>
          <a:xfrm>
            <a:off x="4130800" y="4768320"/>
            <a:ext cx="383360" cy="400110"/>
          </a:xfrm>
          <a:prstGeom prst="rect">
            <a:avLst/>
          </a:prstGeom>
          <a:noFill/>
        </p:spPr>
        <p:txBody>
          <a:bodyPr wrap="square" rtlCol="0">
            <a:spAutoFit/>
          </a:bodyPr>
          <a:lstStyle/>
          <a:p>
            <a:pPr algn="ctr"/>
            <a:r>
              <a:rPr lang="en-IN" sz="2000" b="1" dirty="0"/>
              <a:t>L</a:t>
            </a:r>
            <a:endParaRPr lang="en-US" sz="2000" b="1" dirty="0"/>
          </a:p>
        </p:txBody>
      </p:sp>
      <p:sp>
        <p:nvSpPr>
          <p:cNvPr id="49" name="TextBox 48"/>
          <p:cNvSpPr txBox="1"/>
          <p:nvPr/>
        </p:nvSpPr>
        <p:spPr>
          <a:xfrm>
            <a:off x="9909737" y="4768320"/>
            <a:ext cx="408334" cy="400110"/>
          </a:xfrm>
          <a:prstGeom prst="rect">
            <a:avLst/>
          </a:prstGeom>
          <a:noFill/>
        </p:spPr>
        <p:txBody>
          <a:bodyPr wrap="square" rtlCol="0">
            <a:spAutoFit/>
          </a:bodyPr>
          <a:lstStyle/>
          <a:p>
            <a:pPr algn="ctr"/>
            <a:r>
              <a:rPr lang="en-IN" sz="2000" b="1" dirty="0"/>
              <a:t>R</a:t>
            </a:r>
            <a:endParaRPr lang="en-US" sz="2000" b="1" dirty="0"/>
          </a:p>
        </p:txBody>
      </p:sp>
      <p:cxnSp>
        <p:nvCxnSpPr>
          <p:cNvPr id="51" name="Straight Arrow Connector 50"/>
          <p:cNvCxnSpPr>
            <a:stCxn id="48" idx="0"/>
            <a:endCxn id="5" idx="2"/>
          </p:cNvCxnSpPr>
          <p:nvPr/>
        </p:nvCxnSpPr>
        <p:spPr>
          <a:xfrm flipV="1">
            <a:off x="4322480" y="4383741"/>
            <a:ext cx="3630" cy="38457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2" name="Straight Arrow Connector 51"/>
          <p:cNvCxnSpPr>
            <a:stCxn id="49" idx="0"/>
          </p:cNvCxnSpPr>
          <p:nvPr/>
        </p:nvCxnSpPr>
        <p:spPr>
          <a:xfrm flipV="1">
            <a:off x="10113904" y="4383741"/>
            <a:ext cx="0" cy="38457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4" name="Straight Connector 53"/>
          <p:cNvCxnSpPr/>
          <p:nvPr/>
        </p:nvCxnSpPr>
        <p:spPr>
          <a:xfrm>
            <a:off x="3854824" y="3699312"/>
            <a:ext cx="0" cy="1678752"/>
          </a:xfrm>
          <a:prstGeom prst="line">
            <a:avLst/>
          </a:prstGeom>
          <a:ln w="28575"/>
        </p:spPr>
        <p:style>
          <a:lnRef idx="3">
            <a:schemeClr val="dk1"/>
          </a:lnRef>
          <a:fillRef idx="0">
            <a:schemeClr val="dk1"/>
          </a:fillRef>
          <a:effectRef idx="2">
            <a:schemeClr val="dk1"/>
          </a:effectRef>
          <a:fontRef idx="minor">
            <a:schemeClr val="tx1"/>
          </a:fontRef>
        </p:style>
      </p:cxnSp>
      <p:grpSp>
        <p:nvGrpSpPr>
          <p:cNvPr id="56" name="Group 55"/>
          <p:cNvGrpSpPr/>
          <p:nvPr/>
        </p:nvGrpSpPr>
        <p:grpSpPr>
          <a:xfrm>
            <a:off x="835962" y="3917421"/>
            <a:ext cx="2705573" cy="466320"/>
            <a:chOff x="-76200" y="4191000"/>
            <a:chExt cx="1997075" cy="381000"/>
          </a:xfrm>
        </p:grpSpPr>
        <p:sp>
          <p:nvSpPr>
            <p:cNvPr id="57" name="Rectangle 56"/>
            <p:cNvSpPr/>
            <p:nvPr/>
          </p:nvSpPr>
          <p:spPr>
            <a:xfrm>
              <a:off x="609599" y="4191000"/>
              <a:ext cx="628651"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INFO</a:t>
              </a:r>
              <a:endParaRPr lang="en-US" sz="2000" b="1" dirty="0"/>
            </a:p>
          </p:txBody>
        </p:sp>
        <p:sp>
          <p:nvSpPr>
            <p:cNvPr id="58" name="Rectangle 57"/>
            <p:cNvSpPr/>
            <p:nvPr/>
          </p:nvSpPr>
          <p:spPr>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PREV</a:t>
              </a:r>
              <a:endParaRPr lang="en-US" b="1" dirty="0"/>
            </a:p>
          </p:txBody>
        </p:sp>
        <p:sp>
          <p:nvSpPr>
            <p:cNvPr id="59" name="Rectangle 58"/>
            <p:cNvSpPr/>
            <p:nvPr/>
          </p:nvSpPr>
          <p:spPr>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NEXT</a:t>
              </a:r>
              <a:endParaRPr lang="en-US" b="1" dirty="0"/>
            </a:p>
          </p:txBody>
        </p:sp>
      </p:grpSp>
      <p:sp>
        <p:nvSpPr>
          <p:cNvPr id="60" name="TextBox 59"/>
          <p:cNvSpPr txBox="1"/>
          <p:nvPr/>
        </p:nvSpPr>
        <p:spPr>
          <a:xfrm>
            <a:off x="5964205" y="4755620"/>
            <a:ext cx="3156530" cy="369332"/>
          </a:xfrm>
          <a:prstGeom prst="rect">
            <a:avLst/>
          </a:prstGeom>
          <a:noFill/>
        </p:spPr>
        <p:txBody>
          <a:bodyPr wrap="square" rtlCol="0">
            <a:spAutoFit/>
          </a:bodyPr>
          <a:lstStyle/>
          <a:p>
            <a:pPr algn="ctr"/>
            <a:r>
              <a:rPr lang="en-IN" b="1" dirty="0"/>
              <a:t>Doubly linked linear list</a:t>
            </a:r>
            <a:endParaRPr lang="en-US" b="1" dirty="0"/>
          </a:p>
        </p:txBody>
      </p:sp>
      <p:sp>
        <p:nvSpPr>
          <p:cNvPr id="61" name="TextBox 60"/>
          <p:cNvSpPr txBox="1"/>
          <p:nvPr/>
        </p:nvSpPr>
        <p:spPr>
          <a:xfrm>
            <a:off x="945558" y="4450822"/>
            <a:ext cx="2486380" cy="646331"/>
          </a:xfrm>
          <a:prstGeom prst="rect">
            <a:avLst/>
          </a:prstGeom>
          <a:noFill/>
        </p:spPr>
        <p:txBody>
          <a:bodyPr wrap="square" rtlCol="0">
            <a:spAutoFit/>
          </a:bodyPr>
          <a:lstStyle/>
          <a:p>
            <a:pPr algn="ctr"/>
            <a:r>
              <a:rPr lang="en-IN" b="1" dirty="0"/>
              <a:t>Typical node of</a:t>
            </a:r>
          </a:p>
          <a:p>
            <a:pPr algn="ctr"/>
            <a:r>
              <a:rPr lang="en-IN" b="1" dirty="0"/>
              <a:t>Doubly Linked List</a:t>
            </a:r>
            <a:endParaRPr lang="en-US" b="1" dirty="0"/>
          </a:p>
        </p:txBody>
      </p:sp>
    </p:spTree>
    <p:extLst>
      <p:ext uri="{BB962C8B-B14F-4D97-AF65-F5344CB8AC3E}">
        <p14:creationId xmlns:p14="http://schemas.microsoft.com/office/powerpoint/2010/main" val="3384118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8" grpId="0"/>
      <p:bldP spid="49" grpId="0"/>
      <p:bldP spid="60" grpId="0"/>
      <p:bldP spid="6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Insert node in Doubly Linked List</a:t>
            </a:r>
            <a:endParaRPr lang="en-US" dirty="0"/>
          </a:p>
        </p:txBody>
      </p:sp>
      <p:grpSp>
        <p:nvGrpSpPr>
          <p:cNvPr id="4" name="Group 3"/>
          <p:cNvGrpSpPr/>
          <p:nvPr/>
        </p:nvGrpSpPr>
        <p:grpSpPr>
          <a:xfrm>
            <a:off x="1828800" y="2121932"/>
            <a:ext cx="1066800" cy="381000"/>
            <a:chOff x="304800" y="4191000"/>
            <a:chExt cx="1066800" cy="381000"/>
          </a:xfrm>
        </p:grpSpPr>
        <p:sp>
          <p:nvSpPr>
            <p:cNvPr id="5" name="Rectangle 4"/>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 name="Rectangle 5"/>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Rectangle 6"/>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8" name="Group 7"/>
          <p:cNvGrpSpPr/>
          <p:nvPr/>
        </p:nvGrpSpPr>
        <p:grpSpPr>
          <a:xfrm>
            <a:off x="3429000" y="2121932"/>
            <a:ext cx="1066800" cy="381000"/>
            <a:chOff x="304800" y="4191000"/>
            <a:chExt cx="1066800" cy="381000"/>
          </a:xfrm>
        </p:grpSpPr>
        <p:sp>
          <p:nvSpPr>
            <p:cNvPr id="9" name="Rectangle 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0" name="Rectangle 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1" name="Rectangle 1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2" name="Group 11"/>
          <p:cNvGrpSpPr/>
          <p:nvPr/>
        </p:nvGrpSpPr>
        <p:grpSpPr>
          <a:xfrm>
            <a:off x="7620000" y="2121932"/>
            <a:ext cx="1066800" cy="381000"/>
            <a:chOff x="304800" y="4191000"/>
            <a:chExt cx="1066800" cy="381000"/>
          </a:xfrm>
        </p:grpSpPr>
        <p:sp>
          <p:nvSpPr>
            <p:cNvPr id="13" name="Rectangle 1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4" name="Rectangle 1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5" name="Rectangle 1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6" name="Group 15"/>
          <p:cNvGrpSpPr/>
          <p:nvPr/>
        </p:nvGrpSpPr>
        <p:grpSpPr>
          <a:xfrm>
            <a:off x="9220200" y="2121932"/>
            <a:ext cx="1066800" cy="381000"/>
            <a:chOff x="304800" y="4191000"/>
            <a:chExt cx="1066800" cy="381000"/>
          </a:xfrm>
        </p:grpSpPr>
        <p:sp>
          <p:nvSpPr>
            <p:cNvPr id="17" name="Rectangle 16"/>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8" name="Rectangle 17"/>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9" name="Rectangle 18"/>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20" name="Straight Arrow Connector 19"/>
          <p:cNvCxnSpPr/>
          <p:nvPr/>
        </p:nvCxnSpPr>
        <p:spPr>
          <a:xfrm>
            <a:off x="2895600" y="21981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p:nvPr/>
        </p:nvCxnSpPr>
        <p:spPr>
          <a:xfrm>
            <a:off x="4495800" y="2198132"/>
            <a:ext cx="15240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p:nvPr/>
        </p:nvCxnSpPr>
        <p:spPr>
          <a:xfrm>
            <a:off x="8686800" y="21981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a:off x="8686800" y="24267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p:nvPr/>
        </p:nvCxnSpPr>
        <p:spPr>
          <a:xfrm>
            <a:off x="4495800" y="2426732"/>
            <a:ext cx="15240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p:nvPr/>
        </p:nvCxnSpPr>
        <p:spPr>
          <a:xfrm>
            <a:off x="2895600" y="24267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p:nvPr/>
        </p:nvCxnSpPr>
        <p:spPr>
          <a:xfrm flipV="1">
            <a:off x="9982200" y="212193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H="1">
            <a:off x="1828800" y="212193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1831353" y="2743200"/>
            <a:ext cx="295274" cy="369332"/>
          </a:xfrm>
          <a:prstGeom prst="rect">
            <a:avLst/>
          </a:prstGeom>
          <a:noFill/>
        </p:spPr>
        <p:txBody>
          <a:bodyPr wrap="none" rtlCol="0">
            <a:spAutoFit/>
          </a:bodyPr>
          <a:lstStyle/>
          <a:p>
            <a:pPr algn="ctr"/>
            <a:r>
              <a:rPr lang="en-IN" b="1" dirty="0"/>
              <a:t>L</a:t>
            </a:r>
            <a:endParaRPr lang="en-US" b="1" dirty="0"/>
          </a:p>
        </p:txBody>
      </p:sp>
      <p:sp>
        <p:nvSpPr>
          <p:cNvPr id="29" name="TextBox 28"/>
          <p:cNvSpPr txBox="1"/>
          <p:nvPr/>
        </p:nvSpPr>
        <p:spPr>
          <a:xfrm>
            <a:off x="9972490" y="2731532"/>
            <a:ext cx="314510" cy="369332"/>
          </a:xfrm>
          <a:prstGeom prst="rect">
            <a:avLst/>
          </a:prstGeom>
          <a:noFill/>
        </p:spPr>
        <p:txBody>
          <a:bodyPr wrap="none" rtlCol="0">
            <a:spAutoFit/>
          </a:bodyPr>
          <a:lstStyle/>
          <a:p>
            <a:pPr algn="ctr"/>
            <a:r>
              <a:rPr lang="en-IN" b="1" dirty="0"/>
              <a:t>R</a:t>
            </a:r>
            <a:endParaRPr lang="en-US" b="1" dirty="0"/>
          </a:p>
        </p:txBody>
      </p:sp>
      <p:cxnSp>
        <p:nvCxnSpPr>
          <p:cNvPr id="30" name="Straight Arrow Connector 29"/>
          <p:cNvCxnSpPr>
            <a:stCxn id="28" idx="0"/>
            <a:endCxn id="6" idx="2"/>
          </p:cNvCxnSpPr>
          <p:nvPr/>
        </p:nvCxnSpPr>
        <p:spPr>
          <a:xfrm flipV="1">
            <a:off x="1978990" y="250293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flipV="1">
            <a:off x="10132390" y="250293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2" name="Group 31"/>
          <p:cNvGrpSpPr/>
          <p:nvPr/>
        </p:nvGrpSpPr>
        <p:grpSpPr>
          <a:xfrm>
            <a:off x="6019800" y="2121932"/>
            <a:ext cx="1066800" cy="381000"/>
            <a:chOff x="304800" y="4191000"/>
            <a:chExt cx="1066800" cy="381000"/>
          </a:xfrm>
        </p:grpSpPr>
        <p:sp>
          <p:nvSpPr>
            <p:cNvPr id="33" name="Rectangle 3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4" name="Rectangle 3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5" name="Rectangle 3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36" name="Straight Arrow Connector 35"/>
          <p:cNvCxnSpPr/>
          <p:nvPr/>
        </p:nvCxnSpPr>
        <p:spPr>
          <a:xfrm>
            <a:off x="7086600" y="21981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7" name="Straight Arrow Connector 36"/>
          <p:cNvCxnSpPr/>
          <p:nvPr/>
        </p:nvCxnSpPr>
        <p:spPr>
          <a:xfrm>
            <a:off x="7086600" y="24267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grpSp>
        <p:nvGrpSpPr>
          <p:cNvPr id="40" name="Group 39"/>
          <p:cNvGrpSpPr/>
          <p:nvPr/>
        </p:nvGrpSpPr>
        <p:grpSpPr>
          <a:xfrm>
            <a:off x="4724400" y="2883932"/>
            <a:ext cx="1066800" cy="381000"/>
            <a:chOff x="304800" y="4191000"/>
            <a:chExt cx="1066800" cy="381000"/>
          </a:xfrm>
        </p:grpSpPr>
        <p:sp>
          <p:nvSpPr>
            <p:cNvPr id="41" name="Rectangle 40"/>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2" name="Rectangle 41"/>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3" name="Rectangle 42"/>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44" name="TextBox 43"/>
          <p:cNvSpPr txBox="1"/>
          <p:nvPr/>
        </p:nvSpPr>
        <p:spPr>
          <a:xfrm>
            <a:off x="4900043" y="3276600"/>
            <a:ext cx="612668" cy="369332"/>
          </a:xfrm>
          <a:prstGeom prst="rect">
            <a:avLst/>
          </a:prstGeom>
          <a:noFill/>
        </p:spPr>
        <p:txBody>
          <a:bodyPr wrap="none" rtlCol="0">
            <a:spAutoFit/>
          </a:bodyPr>
          <a:lstStyle/>
          <a:p>
            <a:pPr algn="ctr"/>
            <a:r>
              <a:rPr lang="en-IN" b="1" dirty="0"/>
              <a:t>NEW</a:t>
            </a:r>
            <a:endParaRPr lang="en-US" b="1" dirty="0"/>
          </a:p>
        </p:txBody>
      </p:sp>
      <p:sp>
        <p:nvSpPr>
          <p:cNvPr id="45" name="TextBox 44"/>
          <p:cNvSpPr txBox="1"/>
          <p:nvPr/>
        </p:nvSpPr>
        <p:spPr>
          <a:xfrm>
            <a:off x="6373503" y="1701800"/>
            <a:ext cx="359393" cy="369332"/>
          </a:xfrm>
          <a:prstGeom prst="rect">
            <a:avLst/>
          </a:prstGeom>
          <a:noFill/>
        </p:spPr>
        <p:txBody>
          <a:bodyPr wrap="none" rtlCol="0">
            <a:spAutoFit/>
          </a:bodyPr>
          <a:lstStyle/>
          <a:p>
            <a:pPr algn="ctr"/>
            <a:r>
              <a:rPr lang="en-IN" b="1" dirty="0"/>
              <a:t>M</a:t>
            </a:r>
            <a:endParaRPr lang="en-US" b="1" dirty="0"/>
          </a:p>
        </p:txBody>
      </p:sp>
      <p:sp>
        <p:nvSpPr>
          <p:cNvPr id="46" name="TextBox 45"/>
          <p:cNvSpPr txBox="1"/>
          <p:nvPr/>
        </p:nvSpPr>
        <p:spPr>
          <a:xfrm>
            <a:off x="1752601" y="1524000"/>
            <a:ext cx="2183611" cy="461665"/>
          </a:xfrm>
          <a:prstGeom prst="rect">
            <a:avLst/>
          </a:prstGeom>
          <a:solidFill>
            <a:schemeClr val="bg1">
              <a:lumMod val="95000"/>
            </a:schemeClr>
          </a:solidFill>
        </p:spPr>
        <p:txBody>
          <a:bodyPr wrap="none" rtlCol="0">
            <a:spAutoFit/>
          </a:bodyPr>
          <a:lstStyle/>
          <a:p>
            <a:r>
              <a:rPr lang="en-IN" sz="2400" b="1" dirty="0">
                <a:solidFill>
                  <a:schemeClr val="tx2"/>
                </a:solidFill>
              </a:rPr>
              <a:t>Before Insertion</a:t>
            </a:r>
            <a:endParaRPr lang="en-US" sz="2400" b="1" dirty="0">
              <a:solidFill>
                <a:schemeClr val="tx2"/>
              </a:solidFill>
            </a:endParaRPr>
          </a:p>
        </p:txBody>
      </p:sp>
      <p:sp>
        <p:nvSpPr>
          <p:cNvPr id="47" name="TextBox 46"/>
          <p:cNvSpPr txBox="1"/>
          <p:nvPr/>
        </p:nvSpPr>
        <p:spPr>
          <a:xfrm>
            <a:off x="7226301" y="2922032"/>
            <a:ext cx="2507418" cy="369332"/>
          </a:xfrm>
          <a:prstGeom prst="rect">
            <a:avLst/>
          </a:prstGeom>
          <a:noFill/>
        </p:spPr>
        <p:txBody>
          <a:bodyPr wrap="none" rtlCol="0">
            <a:spAutoFit/>
          </a:bodyPr>
          <a:lstStyle/>
          <a:p>
            <a:r>
              <a:rPr lang="en-IN" b="1" dirty="0"/>
              <a:t>NEW-&gt;PREV </a:t>
            </a:r>
            <a:r>
              <a:rPr lang="en-IN" b="1" dirty="0">
                <a:sym typeface="Wingdings" pitchFamily="2" charset="2"/>
              </a:rPr>
              <a:t> M-&gt;PREV</a:t>
            </a:r>
          </a:p>
        </p:txBody>
      </p:sp>
      <p:sp>
        <p:nvSpPr>
          <p:cNvPr id="48" name="TextBox 47"/>
          <p:cNvSpPr txBox="1"/>
          <p:nvPr/>
        </p:nvSpPr>
        <p:spPr>
          <a:xfrm>
            <a:off x="7226301" y="3276600"/>
            <a:ext cx="1816523" cy="369332"/>
          </a:xfrm>
          <a:prstGeom prst="rect">
            <a:avLst/>
          </a:prstGeom>
          <a:noFill/>
        </p:spPr>
        <p:txBody>
          <a:bodyPr wrap="none" rtlCol="0">
            <a:spAutoFit/>
          </a:bodyPr>
          <a:lstStyle/>
          <a:p>
            <a:r>
              <a:rPr lang="en-IN" b="1" dirty="0"/>
              <a:t>NEW-&gt;NEXT </a:t>
            </a:r>
            <a:r>
              <a:rPr lang="en-IN" b="1" dirty="0">
                <a:sym typeface="Wingdings" pitchFamily="2" charset="2"/>
              </a:rPr>
              <a:t> M</a:t>
            </a:r>
          </a:p>
        </p:txBody>
      </p:sp>
      <p:sp>
        <p:nvSpPr>
          <p:cNvPr id="49" name="TextBox 48"/>
          <p:cNvSpPr txBox="1"/>
          <p:nvPr/>
        </p:nvSpPr>
        <p:spPr>
          <a:xfrm>
            <a:off x="7226301" y="3657600"/>
            <a:ext cx="1813317" cy="369332"/>
          </a:xfrm>
          <a:prstGeom prst="rect">
            <a:avLst/>
          </a:prstGeom>
          <a:noFill/>
        </p:spPr>
        <p:txBody>
          <a:bodyPr wrap="none" rtlCol="0">
            <a:spAutoFit/>
          </a:bodyPr>
          <a:lstStyle/>
          <a:p>
            <a:r>
              <a:rPr lang="en-IN" b="1" dirty="0"/>
              <a:t>M-&gt;PREV </a:t>
            </a:r>
            <a:r>
              <a:rPr lang="en-IN" b="1" dirty="0">
                <a:sym typeface="Wingdings" pitchFamily="2" charset="2"/>
              </a:rPr>
              <a:t></a:t>
            </a:r>
            <a:r>
              <a:rPr lang="en-IN" b="1" dirty="0"/>
              <a:t> NEW</a:t>
            </a:r>
            <a:endParaRPr lang="en-IN" b="1" dirty="0">
              <a:sym typeface="Wingdings" pitchFamily="2" charset="2"/>
            </a:endParaRPr>
          </a:p>
        </p:txBody>
      </p:sp>
      <p:sp>
        <p:nvSpPr>
          <p:cNvPr id="50" name="TextBox 49"/>
          <p:cNvSpPr txBox="1"/>
          <p:nvPr/>
        </p:nvSpPr>
        <p:spPr>
          <a:xfrm>
            <a:off x="7226301" y="4038600"/>
            <a:ext cx="2914580" cy="369332"/>
          </a:xfrm>
          <a:prstGeom prst="rect">
            <a:avLst/>
          </a:prstGeom>
          <a:noFill/>
        </p:spPr>
        <p:txBody>
          <a:bodyPr wrap="none" rtlCol="0">
            <a:spAutoFit/>
          </a:bodyPr>
          <a:lstStyle/>
          <a:p>
            <a:r>
              <a:rPr lang="en-IN" b="1" dirty="0"/>
              <a:t>(NEW-&gt;PREV)-&gt;NEXT </a:t>
            </a:r>
            <a:r>
              <a:rPr lang="en-IN" b="1" dirty="0">
                <a:sym typeface="Wingdings" pitchFamily="2" charset="2"/>
              </a:rPr>
              <a:t></a:t>
            </a:r>
            <a:r>
              <a:rPr lang="en-IN" b="1" dirty="0"/>
              <a:t> NEW</a:t>
            </a:r>
            <a:endParaRPr lang="en-IN" b="1" dirty="0">
              <a:sym typeface="Wingdings" pitchFamily="2" charset="2"/>
            </a:endParaRPr>
          </a:p>
        </p:txBody>
      </p:sp>
      <p:grpSp>
        <p:nvGrpSpPr>
          <p:cNvPr id="51" name="Group 50"/>
          <p:cNvGrpSpPr/>
          <p:nvPr/>
        </p:nvGrpSpPr>
        <p:grpSpPr>
          <a:xfrm>
            <a:off x="1828800" y="4876800"/>
            <a:ext cx="1066800" cy="381000"/>
            <a:chOff x="304800" y="4191000"/>
            <a:chExt cx="1066800" cy="381000"/>
          </a:xfrm>
        </p:grpSpPr>
        <p:sp>
          <p:nvSpPr>
            <p:cNvPr id="52" name="Rectangle 51"/>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3" name="Rectangle 52"/>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4" name="Rectangle 53"/>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55" name="Group 54"/>
          <p:cNvGrpSpPr/>
          <p:nvPr/>
        </p:nvGrpSpPr>
        <p:grpSpPr>
          <a:xfrm>
            <a:off x="3429000" y="4876800"/>
            <a:ext cx="1066800" cy="381000"/>
            <a:chOff x="304800" y="4191000"/>
            <a:chExt cx="1066800" cy="381000"/>
          </a:xfrm>
        </p:grpSpPr>
        <p:sp>
          <p:nvSpPr>
            <p:cNvPr id="56" name="Rectangle 5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7" name="Rectangle 5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8" name="Rectangle 5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59" name="Group 58"/>
          <p:cNvGrpSpPr/>
          <p:nvPr/>
        </p:nvGrpSpPr>
        <p:grpSpPr>
          <a:xfrm>
            <a:off x="7620000" y="4876800"/>
            <a:ext cx="1066800" cy="381000"/>
            <a:chOff x="304800" y="4191000"/>
            <a:chExt cx="1066800" cy="381000"/>
          </a:xfrm>
        </p:grpSpPr>
        <p:sp>
          <p:nvSpPr>
            <p:cNvPr id="60" name="Rectangle 5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1" name="Rectangle 6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2" name="Rectangle 6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63" name="Group 62"/>
          <p:cNvGrpSpPr/>
          <p:nvPr/>
        </p:nvGrpSpPr>
        <p:grpSpPr>
          <a:xfrm>
            <a:off x="9220200" y="4876800"/>
            <a:ext cx="1066800" cy="381000"/>
            <a:chOff x="304800" y="4191000"/>
            <a:chExt cx="1066800" cy="381000"/>
          </a:xfrm>
        </p:grpSpPr>
        <p:sp>
          <p:nvSpPr>
            <p:cNvPr id="64" name="Rectangle 6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5" name="Rectangle 6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6" name="Rectangle 6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67" name="Straight Arrow Connector 66"/>
          <p:cNvCxnSpPr/>
          <p:nvPr/>
        </p:nvCxnSpPr>
        <p:spPr>
          <a:xfrm>
            <a:off x="2895600" y="49530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8" name="Straight Arrow Connector 67"/>
          <p:cNvCxnSpPr/>
          <p:nvPr/>
        </p:nvCxnSpPr>
        <p:spPr>
          <a:xfrm>
            <a:off x="4495800" y="4953000"/>
            <a:ext cx="15240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9" name="Straight Arrow Connector 68"/>
          <p:cNvCxnSpPr/>
          <p:nvPr/>
        </p:nvCxnSpPr>
        <p:spPr>
          <a:xfrm>
            <a:off x="8686800" y="49530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0" name="Straight Arrow Connector 69"/>
          <p:cNvCxnSpPr/>
          <p:nvPr/>
        </p:nvCxnSpPr>
        <p:spPr>
          <a:xfrm>
            <a:off x="8686800" y="51816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1" name="Straight Arrow Connector 70"/>
          <p:cNvCxnSpPr/>
          <p:nvPr/>
        </p:nvCxnSpPr>
        <p:spPr>
          <a:xfrm>
            <a:off x="4495800" y="5181600"/>
            <a:ext cx="15240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2" name="Straight Arrow Connector 71"/>
          <p:cNvCxnSpPr/>
          <p:nvPr/>
        </p:nvCxnSpPr>
        <p:spPr>
          <a:xfrm>
            <a:off x="2895600" y="51816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3" name="Straight Connector 72"/>
          <p:cNvCxnSpPr/>
          <p:nvPr/>
        </p:nvCxnSpPr>
        <p:spPr>
          <a:xfrm flipV="1">
            <a:off x="9982200" y="48768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4" name="Straight Connector 73"/>
          <p:cNvCxnSpPr/>
          <p:nvPr/>
        </p:nvCxnSpPr>
        <p:spPr>
          <a:xfrm flipH="1">
            <a:off x="1828800" y="48768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75" name="TextBox 74"/>
          <p:cNvSpPr txBox="1"/>
          <p:nvPr/>
        </p:nvSpPr>
        <p:spPr>
          <a:xfrm>
            <a:off x="1831353" y="5498068"/>
            <a:ext cx="295274" cy="369332"/>
          </a:xfrm>
          <a:prstGeom prst="rect">
            <a:avLst/>
          </a:prstGeom>
          <a:noFill/>
        </p:spPr>
        <p:txBody>
          <a:bodyPr wrap="none" rtlCol="0">
            <a:spAutoFit/>
          </a:bodyPr>
          <a:lstStyle/>
          <a:p>
            <a:pPr algn="ctr"/>
            <a:r>
              <a:rPr lang="en-IN" b="1" dirty="0"/>
              <a:t>L</a:t>
            </a:r>
            <a:endParaRPr lang="en-US" b="1" dirty="0"/>
          </a:p>
        </p:txBody>
      </p:sp>
      <p:sp>
        <p:nvSpPr>
          <p:cNvPr id="76" name="TextBox 75"/>
          <p:cNvSpPr txBox="1"/>
          <p:nvPr/>
        </p:nvSpPr>
        <p:spPr>
          <a:xfrm>
            <a:off x="9972490" y="5486400"/>
            <a:ext cx="314510" cy="369332"/>
          </a:xfrm>
          <a:prstGeom prst="rect">
            <a:avLst/>
          </a:prstGeom>
          <a:noFill/>
        </p:spPr>
        <p:txBody>
          <a:bodyPr wrap="none" rtlCol="0">
            <a:spAutoFit/>
          </a:bodyPr>
          <a:lstStyle/>
          <a:p>
            <a:pPr algn="ctr"/>
            <a:r>
              <a:rPr lang="en-IN" b="1" dirty="0"/>
              <a:t>R</a:t>
            </a:r>
            <a:endParaRPr lang="en-US" b="1" dirty="0"/>
          </a:p>
        </p:txBody>
      </p:sp>
      <p:cxnSp>
        <p:nvCxnSpPr>
          <p:cNvPr id="77" name="Straight Arrow Connector 76"/>
          <p:cNvCxnSpPr>
            <a:stCxn id="75" idx="0"/>
            <a:endCxn id="53" idx="2"/>
          </p:cNvCxnSpPr>
          <p:nvPr/>
        </p:nvCxnSpPr>
        <p:spPr>
          <a:xfrm flipV="1">
            <a:off x="1978990" y="52578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8" name="Straight Arrow Connector 77"/>
          <p:cNvCxnSpPr/>
          <p:nvPr/>
        </p:nvCxnSpPr>
        <p:spPr>
          <a:xfrm flipV="1">
            <a:off x="10132390" y="52578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79" name="Group 78"/>
          <p:cNvGrpSpPr/>
          <p:nvPr/>
        </p:nvGrpSpPr>
        <p:grpSpPr>
          <a:xfrm>
            <a:off x="6019800" y="4876800"/>
            <a:ext cx="1066800" cy="381000"/>
            <a:chOff x="304800" y="4191000"/>
            <a:chExt cx="1066800" cy="381000"/>
          </a:xfrm>
        </p:grpSpPr>
        <p:sp>
          <p:nvSpPr>
            <p:cNvPr id="80" name="Rectangle 7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1" name="Rectangle 8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2" name="Rectangle 8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83" name="Straight Arrow Connector 82"/>
          <p:cNvCxnSpPr/>
          <p:nvPr/>
        </p:nvCxnSpPr>
        <p:spPr>
          <a:xfrm>
            <a:off x="7086600" y="49530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4" name="Straight Arrow Connector 83"/>
          <p:cNvCxnSpPr/>
          <p:nvPr/>
        </p:nvCxnSpPr>
        <p:spPr>
          <a:xfrm>
            <a:off x="7086600" y="51816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grpSp>
        <p:nvGrpSpPr>
          <p:cNvPr id="85" name="Group 84"/>
          <p:cNvGrpSpPr/>
          <p:nvPr/>
        </p:nvGrpSpPr>
        <p:grpSpPr>
          <a:xfrm>
            <a:off x="4724400" y="5638800"/>
            <a:ext cx="1066800" cy="381000"/>
            <a:chOff x="304800" y="4191000"/>
            <a:chExt cx="1066800" cy="381000"/>
          </a:xfrm>
        </p:grpSpPr>
        <p:sp>
          <p:nvSpPr>
            <p:cNvPr id="86" name="Rectangle 8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7" name="Rectangle 8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8" name="Rectangle 8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89" name="TextBox 88"/>
          <p:cNvSpPr txBox="1"/>
          <p:nvPr/>
        </p:nvSpPr>
        <p:spPr>
          <a:xfrm>
            <a:off x="4900043" y="6031468"/>
            <a:ext cx="612668" cy="369332"/>
          </a:xfrm>
          <a:prstGeom prst="rect">
            <a:avLst/>
          </a:prstGeom>
          <a:noFill/>
        </p:spPr>
        <p:txBody>
          <a:bodyPr wrap="none" rtlCol="0">
            <a:spAutoFit/>
          </a:bodyPr>
          <a:lstStyle/>
          <a:p>
            <a:pPr algn="ctr"/>
            <a:r>
              <a:rPr lang="en-IN" b="1" dirty="0"/>
              <a:t>NEW</a:t>
            </a:r>
            <a:endParaRPr lang="en-US" b="1" dirty="0"/>
          </a:p>
        </p:txBody>
      </p:sp>
      <p:sp>
        <p:nvSpPr>
          <p:cNvPr id="92" name="TextBox 91"/>
          <p:cNvSpPr txBox="1"/>
          <p:nvPr/>
        </p:nvSpPr>
        <p:spPr>
          <a:xfrm>
            <a:off x="1752600" y="4103132"/>
            <a:ext cx="1988045" cy="461665"/>
          </a:xfrm>
          <a:prstGeom prst="rect">
            <a:avLst/>
          </a:prstGeom>
          <a:solidFill>
            <a:schemeClr val="bg1">
              <a:lumMod val="95000"/>
            </a:schemeClr>
          </a:solidFill>
        </p:spPr>
        <p:txBody>
          <a:bodyPr wrap="none" rtlCol="0">
            <a:spAutoFit/>
          </a:bodyPr>
          <a:lstStyle/>
          <a:p>
            <a:r>
              <a:rPr lang="en-IN" sz="2400" b="1" dirty="0">
                <a:solidFill>
                  <a:schemeClr val="tx2"/>
                </a:solidFill>
              </a:rPr>
              <a:t>After Insertion</a:t>
            </a:r>
            <a:endParaRPr lang="en-US" sz="2400" b="1" dirty="0">
              <a:solidFill>
                <a:schemeClr val="tx2"/>
              </a:solidFill>
            </a:endParaRPr>
          </a:p>
        </p:txBody>
      </p:sp>
      <p:sp>
        <p:nvSpPr>
          <p:cNvPr id="99" name="Freeform 98"/>
          <p:cNvSpPr/>
          <p:nvPr/>
        </p:nvSpPr>
        <p:spPr>
          <a:xfrm>
            <a:off x="5791200" y="5263150"/>
            <a:ext cx="342232" cy="417095"/>
          </a:xfrm>
          <a:custGeom>
            <a:avLst/>
            <a:gdLst>
              <a:gd name="connsiteX0" fmla="*/ 0 w 342232"/>
              <a:gd name="connsiteY0" fmla="*/ 417095 h 417095"/>
              <a:gd name="connsiteX1" fmla="*/ 342232 w 342232"/>
              <a:gd name="connsiteY1" fmla="*/ 417095 h 417095"/>
              <a:gd name="connsiteX2" fmla="*/ 342232 w 342232"/>
              <a:gd name="connsiteY2" fmla="*/ 0 h 417095"/>
            </a:gdLst>
            <a:ahLst/>
            <a:cxnLst>
              <a:cxn ang="0">
                <a:pos x="connsiteX0" y="connsiteY0"/>
              </a:cxn>
              <a:cxn ang="0">
                <a:pos x="connsiteX1" y="connsiteY1"/>
              </a:cxn>
              <a:cxn ang="0">
                <a:pos x="connsiteX2" y="connsiteY2"/>
              </a:cxn>
            </a:cxnLst>
            <a:rect l="l" t="t" r="r" b="b"/>
            <a:pathLst>
              <a:path w="342232" h="417095">
                <a:moveTo>
                  <a:pt x="0" y="417095"/>
                </a:moveTo>
                <a:lnTo>
                  <a:pt x="342232" y="417095"/>
                </a:lnTo>
                <a:lnTo>
                  <a:pt x="342232"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2" name="Freeform 101"/>
          <p:cNvSpPr/>
          <p:nvPr/>
        </p:nvSpPr>
        <p:spPr>
          <a:xfrm>
            <a:off x="5807242" y="5273843"/>
            <a:ext cx="491958" cy="673769"/>
          </a:xfrm>
          <a:custGeom>
            <a:avLst/>
            <a:gdLst>
              <a:gd name="connsiteX0" fmla="*/ 491958 w 491958"/>
              <a:gd name="connsiteY0" fmla="*/ 0 h 673769"/>
              <a:gd name="connsiteX1" fmla="*/ 491958 w 491958"/>
              <a:gd name="connsiteY1" fmla="*/ 673769 h 673769"/>
              <a:gd name="connsiteX2" fmla="*/ 0 w 491958"/>
              <a:gd name="connsiteY2" fmla="*/ 673769 h 673769"/>
            </a:gdLst>
            <a:ahLst/>
            <a:cxnLst>
              <a:cxn ang="0">
                <a:pos x="connsiteX0" y="connsiteY0"/>
              </a:cxn>
              <a:cxn ang="0">
                <a:pos x="connsiteX1" y="connsiteY1"/>
              </a:cxn>
              <a:cxn ang="0">
                <a:pos x="connsiteX2" y="connsiteY2"/>
              </a:cxn>
            </a:cxnLst>
            <a:rect l="l" t="t" r="r" b="b"/>
            <a:pathLst>
              <a:path w="491958" h="673769">
                <a:moveTo>
                  <a:pt x="491958" y="0"/>
                </a:moveTo>
                <a:lnTo>
                  <a:pt x="491958" y="673769"/>
                </a:lnTo>
                <a:lnTo>
                  <a:pt x="0" y="67376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3" name="Freeform 102"/>
          <p:cNvSpPr/>
          <p:nvPr/>
        </p:nvSpPr>
        <p:spPr>
          <a:xfrm>
            <a:off x="4427621" y="5268496"/>
            <a:ext cx="288758" cy="449179"/>
          </a:xfrm>
          <a:custGeom>
            <a:avLst/>
            <a:gdLst>
              <a:gd name="connsiteX0" fmla="*/ 0 w 288758"/>
              <a:gd name="connsiteY0" fmla="*/ 0 h 449179"/>
              <a:gd name="connsiteX1" fmla="*/ 0 w 288758"/>
              <a:gd name="connsiteY1" fmla="*/ 449179 h 449179"/>
              <a:gd name="connsiteX2" fmla="*/ 288758 w 288758"/>
              <a:gd name="connsiteY2" fmla="*/ 449179 h 449179"/>
            </a:gdLst>
            <a:ahLst/>
            <a:cxnLst>
              <a:cxn ang="0">
                <a:pos x="connsiteX0" y="connsiteY0"/>
              </a:cxn>
              <a:cxn ang="0">
                <a:pos x="connsiteX1" y="connsiteY1"/>
              </a:cxn>
              <a:cxn ang="0">
                <a:pos x="connsiteX2" y="connsiteY2"/>
              </a:cxn>
            </a:cxnLst>
            <a:rect l="l" t="t" r="r" b="b"/>
            <a:pathLst>
              <a:path w="288758" h="449179">
                <a:moveTo>
                  <a:pt x="0" y="0"/>
                </a:moveTo>
                <a:lnTo>
                  <a:pt x="0" y="449179"/>
                </a:lnTo>
                <a:lnTo>
                  <a:pt x="288758" y="44917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4" name="Freeform 103"/>
          <p:cNvSpPr/>
          <p:nvPr/>
        </p:nvSpPr>
        <p:spPr>
          <a:xfrm>
            <a:off x="4090738" y="5279189"/>
            <a:ext cx="630989" cy="695158"/>
          </a:xfrm>
          <a:custGeom>
            <a:avLst/>
            <a:gdLst>
              <a:gd name="connsiteX0" fmla="*/ 630989 w 630989"/>
              <a:gd name="connsiteY0" fmla="*/ 695158 h 695158"/>
              <a:gd name="connsiteX1" fmla="*/ 0 w 630989"/>
              <a:gd name="connsiteY1" fmla="*/ 695158 h 695158"/>
              <a:gd name="connsiteX2" fmla="*/ 0 w 630989"/>
              <a:gd name="connsiteY2" fmla="*/ 0 h 695158"/>
            </a:gdLst>
            <a:ahLst/>
            <a:cxnLst>
              <a:cxn ang="0">
                <a:pos x="connsiteX0" y="connsiteY0"/>
              </a:cxn>
              <a:cxn ang="0">
                <a:pos x="connsiteX1" y="connsiteY1"/>
              </a:cxn>
              <a:cxn ang="0">
                <a:pos x="connsiteX2" y="connsiteY2"/>
              </a:cxn>
            </a:cxnLst>
            <a:rect l="l" t="t" r="r" b="b"/>
            <a:pathLst>
              <a:path w="630989" h="695158">
                <a:moveTo>
                  <a:pt x="630989" y="695158"/>
                </a:moveTo>
                <a:lnTo>
                  <a:pt x="0" y="695158"/>
                </a:lnTo>
                <a:lnTo>
                  <a:pt x="0"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05" name="TextBox 104"/>
          <p:cNvSpPr txBox="1"/>
          <p:nvPr/>
        </p:nvSpPr>
        <p:spPr>
          <a:xfrm>
            <a:off x="6398235" y="4493736"/>
            <a:ext cx="359393" cy="369332"/>
          </a:xfrm>
          <a:prstGeom prst="rect">
            <a:avLst/>
          </a:prstGeom>
          <a:noFill/>
        </p:spPr>
        <p:txBody>
          <a:bodyPr wrap="none" rtlCol="0">
            <a:spAutoFit/>
          </a:bodyPr>
          <a:lstStyle/>
          <a:p>
            <a:pPr algn="ctr"/>
            <a:r>
              <a:rPr lang="en-IN" b="1" dirty="0"/>
              <a:t>M</a:t>
            </a:r>
            <a:endParaRPr lang="en-US" b="1" dirty="0"/>
          </a:p>
        </p:txBody>
      </p:sp>
      <p:sp>
        <p:nvSpPr>
          <p:cNvPr id="93" name="TextBox 92"/>
          <p:cNvSpPr txBox="1"/>
          <p:nvPr/>
        </p:nvSpPr>
        <p:spPr>
          <a:xfrm>
            <a:off x="2344813" y="825669"/>
            <a:ext cx="7502375" cy="523220"/>
          </a:xfrm>
          <a:prstGeom prst="rect">
            <a:avLst/>
          </a:prstGeom>
          <a:noFill/>
        </p:spPr>
        <p:txBody>
          <a:bodyPr wrap="none" rtlCol="0">
            <a:spAutoFit/>
          </a:bodyPr>
          <a:lstStyle/>
          <a:p>
            <a:pPr algn="ctr"/>
            <a:r>
              <a:rPr lang="en-IN" sz="2800" b="1" dirty="0">
                <a:solidFill>
                  <a:srgbClr val="C00000"/>
                </a:solidFill>
              </a:rPr>
              <a:t>Insertion in the middle of Doubly Linked Linear List</a:t>
            </a:r>
            <a:endParaRPr lang="en-IN" sz="2800" b="1" dirty="0">
              <a:solidFill>
                <a:srgbClr val="C00000"/>
              </a:solidFill>
              <a:sym typeface="Wingdings" pitchFamily="2" charset="2"/>
            </a:endParaRPr>
          </a:p>
        </p:txBody>
      </p:sp>
    </p:spTree>
    <p:extLst>
      <p:ext uri="{BB962C8B-B14F-4D97-AF65-F5344CB8AC3E}">
        <p14:creationId xmlns:p14="http://schemas.microsoft.com/office/powerpoint/2010/main" val="2201446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8"/>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7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8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8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8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nodeType="clickEffect">
                                  <p:stCondLst>
                                    <p:cond delay="0"/>
                                  </p:stCondLst>
                                  <p:childTnLst>
                                    <p:set>
                                      <p:cBhvr>
                                        <p:cTn id="112" dur="1" fill="hold">
                                          <p:stCondLst>
                                            <p:cond delay="0"/>
                                          </p:stCondLst>
                                        </p:cTn>
                                        <p:tgtEl>
                                          <p:spTgt spid="68"/>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71"/>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104"/>
                                        </p:tgtEl>
                                        <p:attrNameLst>
                                          <p:attrName>style.visibility</p:attrName>
                                        </p:attrNameLst>
                                      </p:cBhvr>
                                      <p:to>
                                        <p:strVal val="visible"/>
                                      </p:to>
                                    </p:set>
                                    <p:animEffect transition="in" filter="wipe(down)">
                                      <p:cBhvr>
                                        <p:cTn id="123" dur="500"/>
                                        <p:tgtEl>
                                          <p:spTgt spid="104"/>
                                        </p:tgtEl>
                                      </p:cBhvr>
                                    </p:animEffec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48"/>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99"/>
                                        </p:tgtEl>
                                        <p:attrNameLst>
                                          <p:attrName>style.visibility</p:attrName>
                                        </p:attrNameLst>
                                      </p:cBhvr>
                                      <p:to>
                                        <p:strVal val="visible"/>
                                      </p:to>
                                    </p:set>
                                    <p:animEffect transition="in" filter="wipe(down)">
                                      <p:cBhvr>
                                        <p:cTn id="132" dur="500"/>
                                        <p:tgtEl>
                                          <p:spTgt spid="99"/>
                                        </p:tgtEl>
                                      </p:cBhvr>
                                    </p:animEffec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49"/>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102"/>
                                        </p:tgtEl>
                                        <p:attrNameLst>
                                          <p:attrName>style.visibility</p:attrName>
                                        </p:attrNameLst>
                                      </p:cBhvr>
                                      <p:to>
                                        <p:strVal val="visible"/>
                                      </p:to>
                                    </p:set>
                                    <p:animEffect transition="in" filter="wipe(up)">
                                      <p:cBhvr>
                                        <p:cTn id="141" dur="500"/>
                                        <p:tgtEl>
                                          <p:spTgt spid="102"/>
                                        </p:tgtEl>
                                      </p:cBhvr>
                                    </p:animEffec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50"/>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22" presetClass="entr" presetSubtype="1" fill="hold" grpId="0" nodeType="clickEffect">
                                  <p:stCondLst>
                                    <p:cond delay="0"/>
                                  </p:stCondLst>
                                  <p:childTnLst>
                                    <p:set>
                                      <p:cBhvr>
                                        <p:cTn id="149" dur="1" fill="hold">
                                          <p:stCondLst>
                                            <p:cond delay="0"/>
                                          </p:stCondLst>
                                        </p:cTn>
                                        <p:tgtEl>
                                          <p:spTgt spid="103"/>
                                        </p:tgtEl>
                                        <p:attrNameLst>
                                          <p:attrName>style.visibility</p:attrName>
                                        </p:attrNameLst>
                                      </p:cBhvr>
                                      <p:to>
                                        <p:strVal val="visible"/>
                                      </p:to>
                                    </p:set>
                                    <p:animEffect transition="in" filter="wipe(up)">
                                      <p:cBhvr>
                                        <p:cTn id="150"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44" grpId="0"/>
      <p:bldP spid="45" grpId="0"/>
      <p:bldP spid="46" grpId="0" animBg="1"/>
      <p:bldP spid="47" grpId="0"/>
      <p:bldP spid="48" grpId="0"/>
      <p:bldP spid="49" grpId="0"/>
      <p:bldP spid="50" grpId="0"/>
      <p:bldP spid="75" grpId="0"/>
      <p:bldP spid="76" grpId="0"/>
      <p:bldP spid="89" grpId="0"/>
      <p:bldP spid="92" grpId="0" animBg="1"/>
      <p:bldP spid="99" grpId="0" animBg="1"/>
      <p:bldP spid="102" grpId="0" animBg="1"/>
      <p:bldP spid="103" grpId="0" animBg="1"/>
      <p:bldP spid="104" grpId="0" animBg="1"/>
      <p:bldP spid="105" grpId="0"/>
      <p:bldP spid="9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Insert node in Doubly Linked List</a:t>
            </a:r>
            <a:endParaRPr lang="en-US" dirty="0"/>
          </a:p>
        </p:txBody>
      </p:sp>
      <p:grpSp>
        <p:nvGrpSpPr>
          <p:cNvPr id="4" name="Group 3"/>
          <p:cNvGrpSpPr/>
          <p:nvPr/>
        </p:nvGrpSpPr>
        <p:grpSpPr>
          <a:xfrm>
            <a:off x="2971800" y="1969532"/>
            <a:ext cx="1066800" cy="381000"/>
            <a:chOff x="304800" y="4191000"/>
            <a:chExt cx="1066800" cy="381000"/>
          </a:xfrm>
        </p:grpSpPr>
        <p:sp>
          <p:nvSpPr>
            <p:cNvPr id="5" name="Rectangle 4"/>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 name="Rectangle 5"/>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Rectangle 6"/>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8" name="Group 7"/>
          <p:cNvGrpSpPr/>
          <p:nvPr/>
        </p:nvGrpSpPr>
        <p:grpSpPr>
          <a:xfrm>
            <a:off x="4572000" y="1969532"/>
            <a:ext cx="1066800" cy="381000"/>
            <a:chOff x="304800" y="4191000"/>
            <a:chExt cx="1066800" cy="381000"/>
          </a:xfrm>
        </p:grpSpPr>
        <p:sp>
          <p:nvSpPr>
            <p:cNvPr id="9" name="Rectangle 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0" name="Rectangle 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1" name="Rectangle 1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2" name="Group 11"/>
          <p:cNvGrpSpPr/>
          <p:nvPr/>
        </p:nvGrpSpPr>
        <p:grpSpPr>
          <a:xfrm>
            <a:off x="7772400" y="1969532"/>
            <a:ext cx="1066800" cy="381000"/>
            <a:chOff x="304800" y="4191000"/>
            <a:chExt cx="1066800" cy="381000"/>
          </a:xfrm>
        </p:grpSpPr>
        <p:sp>
          <p:nvSpPr>
            <p:cNvPr id="13" name="Rectangle 1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4" name="Rectangle 1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5" name="Rectangle 1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6" name="Group 15"/>
          <p:cNvGrpSpPr/>
          <p:nvPr/>
        </p:nvGrpSpPr>
        <p:grpSpPr>
          <a:xfrm>
            <a:off x="9372600" y="1969532"/>
            <a:ext cx="1066800" cy="381000"/>
            <a:chOff x="304800" y="4191000"/>
            <a:chExt cx="1066800" cy="381000"/>
          </a:xfrm>
        </p:grpSpPr>
        <p:sp>
          <p:nvSpPr>
            <p:cNvPr id="17" name="Rectangle 16"/>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8" name="Rectangle 17"/>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9" name="Rectangle 18"/>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20" name="Straight Arrow Connector 19"/>
          <p:cNvCxnSpPr/>
          <p:nvPr/>
        </p:nvCxnSpPr>
        <p:spPr>
          <a:xfrm>
            <a:off x="4038600" y="20457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p:nvPr/>
        </p:nvCxnSpPr>
        <p:spPr>
          <a:xfrm>
            <a:off x="8839200" y="20457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a:off x="8839200" y="22743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5" name="Straight Arrow Connector 24"/>
          <p:cNvCxnSpPr/>
          <p:nvPr/>
        </p:nvCxnSpPr>
        <p:spPr>
          <a:xfrm>
            <a:off x="4038600" y="22743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p:nvPr/>
        </p:nvCxnSpPr>
        <p:spPr>
          <a:xfrm flipV="1">
            <a:off x="10134600" y="196953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H="1">
            <a:off x="2971800" y="196953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3140138" y="2590800"/>
            <a:ext cx="295274" cy="369332"/>
          </a:xfrm>
          <a:prstGeom prst="rect">
            <a:avLst/>
          </a:prstGeom>
          <a:noFill/>
        </p:spPr>
        <p:txBody>
          <a:bodyPr wrap="none" rtlCol="0">
            <a:spAutoFit/>
          </a:bodyPr>
          <a:lstStyle/>
          <a:p>
            <a:pPr algn="ctr"/>
            <a:r>
              <a:rPr lang="en-IN" b="1" dirty="0"/>
              <a:t>L</a:t>
            </a:r>
            <a:endParaRPr lang="en-US" b="1" dirty="0"/>
          </a:p>
        </p:txBody>
      </p:sp>
      <p:sp>
        <p:nvSpPr>
          <p:cNvPr id="29" name="TextBox 28"/>
          <p:cNvSpPr txBox="1"/>
          <p:nvPr/>
        </p:nvSpPr>
        <p:spPr>
          <a:xfrm>
            <a:off x="10124890" y="2579132"/>
            <a:ext cx="314510" cy="369332"/>
          </a:xfrm>
          <a:prstGeom prst="rect">
            <a:avLst/>
          </a:prstGeom>
          <a:noFill/>
        </p:spPr>
        <p:txBody>
          <a:bodyPr wrap="none" rtlCol="0">
            <a:spAutoFit/>
          </a:bodyPr>
          <a:lstStyle/>
          <a:p>
            <a:pPr algn="ctr"/>
            <a:r>
              <a:rPr lang="en-IN" b="1" dirty="0"/>
              <a:t>R</a:t>
            </a:r>
            <a:endParaRPr lang="en-US" b="1" dirty="0"/>
          </a:p>
        </p:txBody>
      </p:sp>
      <p:cxnSp>
        <p:nvCxnSpPr>
          <p:cNvPr id="30" name="Straight Arrow Connector 29"/>
          <p:cNvCxnSpPr/>
          <p:nvPr/>
        </p:nvCxnSpPr>
        <p:spPr>
          <a:xfrm flipV="1">
            <a:off x="3295906" y="235053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flipV="1">
            <a:off x="10284790" y="235053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2" name="Group 31"/>
          <p:cNvGrpSpPr/>
          <p:nvPr/>
        </p:nvGrpSpPr>
        <p:grpSpPr>
          <a:xfrm>
            <a:off x="6172200" y="1969532"/>
            <a:ext cx="1066800" cy="381000"/>
            <a:chOff x="304800" y="4191000"/>
            <a:chExt cx="1066800" cy="381000"/>
          </a:xfrm>
        </p:grpSpPr>
        <p:sp>
          <p:nvSpPr>
            <p:cNvPr id="33" name="Rectangle 3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4" name="Rectangle 3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5" name="Rectangle 3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36" name="Straight Arrow Connector 35"/>
          <p:cNvCxnSpPr/>
          <p:nvPr/>
        </p:nvCxnSpPr>
        <p:spPr>
          <a:xfrm>
            <a:off x="7239000" y="2045732"/>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7" name="Straight Arrow Connector 36"/>
          <p:cNvCxnSpPr/>
          <p:nvPr/>
        </p:nvCxnSpPr>
        <p:spPr>
          <a:xfrm>
            <a:off x="7239000" y="2274332"/>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grpSp>
        <p:nvGrpSpPr>
          <p:cNvPr id="38" name="Group 37"/>
          <p:cNvGrpSpPr/>
          <p:nvPr/>
        </p:nvGrpSpPr>
        <p:grpSpPr>
          <a:xfrm>
            <a:off x="1738256" y="3112532"/>
            <a:ext cx="1066800" cy="381000"/>
            <a:chOff x="304800" y="4191000"/>
            <a:chExt cx="1066800" cy="381000"/>
          </a:xfrm>
        </p:grpSpPr>
        <p:sp>
          <p:nvSpPr>
            <p:cNvPr id="39" name="Rectangle 3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0" name="Rectangle 3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41" name="Rectangle 4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42" name="TextBox 41"/>
          <p:cNvSpPr txBox="1"/>
          <p:nvPr/>
        </p:nvSpPr>
        <p:spPr>
          <a:xfrm>
            <a:off x="1913899" y="3505200"/>
            <a:ext cx="612668" cy="369332"/>
          </a:xfrm>
          <a:prstGeom prst="rect">
            <a:avLst/>
          </a:prstGeom>
          <a:noFill/>
        </p:spPr>
        <p:txBody>
          <a:bodyPr wrap="none" rtlCol="0">
            <a:spAutoFit/>
          </a:bodyPr>
          <a:lstStyle/>
          <a:p>
            <a:pPr algn="ctr"/>
            <a:r>
              <a:rPr lang="en-IN" b="1" dirty="0"/>
              <a:t>NEW</a:t>
            </a:r>
            <a:endParaRPr lang="en-US" b="1" dirty="0"/>
          </a:p>
        </p:txBody>
      </p:sp>
      <p:sp>
        <p:nvSpPr>
          <p:cNvPr id="43" name="TextBox 42"/>
          <p:cNvSpPr txBox="1"/>
          <p:nvPr/>
        </p:nvSpPr>
        <p:spPr>
          <a:xfrm>
            <a:off x="2892824" y="1666552"/>
            <a:ext cx="359393" cy="369332"/>
          </a:xfrm>
          <a:prstGeom prst="rect">
            <a:avLst/>
          </a:prstGeom>
          <a:noFill/>
        </p:spPr>
        <p:txBody>
          <a:bodyPr wrap="none" rtlCol="0">
            <a:spAutoFit/>
          </a:bodyPr>
          <a:lstStyle/>
          <a:p>
            <a:pPr algn="ctr"/>
            <a:r>
              <a:rPr lang="en-IN" b="1" dirty="0"/>
              <a:t>M</a:t>
            </a:r>
            <a:endParaRPr lang="en-US" b="1" dirty="0"/>
          </a:p>
        </p:txBody>
      </p:sp>
      <p:sp>
        <p:nvSpPr>
          <p:cNvPr id="44" name="TextBox 43"/>
          <p:cNvSpPr txBox="1"/>
          <p:nvPr/>
        </p:nvSpPr>
        <p:spPr>
          <a:xfrm>
            <a:off x="8390098" y="1419880"/>
            <a:ext cx="2183611" cy="461665"/>
          </a:xfrm>
          <a:prstGeom prst="rect">
            <a:avLst/>
          </a:prstGeom>
          <a:solidFill>
            <a:schemeClr val="bg1">
              <a:lumMod val="95000"/>
            </a:schemeClr>
          </a:solidFill>
        </p:spPr>
        <p:txBody>
          <a:bodyPr wrap="none" rtlCol="0">
            <a:spAutoFit/>
          </a:bodyPr>
          <a:lstStyle>
            <a:defPPr>
              <a:defRPr lang="en-US"/>
            </a:defPPr>
            <a:lvl1pPr>
              <a:defRPr sz="2400" b="1">
                <a:solidFill>
                  <a:schemeClr val="tx2"/>
                </a:solidFill>
              </a:defRPr>
            </a:lvl1pPr>
          </a:lstStyle>
          <a:p>
            <a:r>
              <a:rPr lang="en-IN" dirty="0"/>
              <a:t>Before Insertion</a:t>
            </a:r>
            <a:endParaRPr lang="en-US" dirty="0"/>
          </a:p>
        </p:txBody>
      </p:sp>
      <p:sp>
        <p:nvSpPr>
          <p:cNvPr id="45" name="TextBox 44"/>
          <p:cNvSpPr txBox="1"/>
          <p:nvPr/>
        </p:nvSpPr>
        <p:spPr>
          <a:xfrm>
            <a:off x="7115174" y="2743200"/>
            <a:ext cx="2132315" cy="369332"/>
          </a:xfrm>
          <a:prstGeom prst="rect">
            <a:avLst/>
          </a:prstGeom>
          <a:noFill/>
        </p:spPr>
        <p:txBody>
          <a:bodyPr wrap="none" rtlCol="0">
            <a:spAutoFit/>
          </a:bodyPr>
          <a:lstStyle/>
          <a:p>
            <a:r>
              <a:rPr lang="en-IN" b="1" dirty="0"/>
              <a:t>NEW-&gt;PREV </a:t>
            </a:r>
            <a:r>
              <a:rPr lang="en-IN" b="1" dirty="0">
                <a:sym typeface="Wingdings" pitchFamily="2" charset="2"/>
              </a:rPr>
              <a:t> NULL</a:t>
            </a:r>
          </a:p>
        </p:txBody>
      </p:sp>
      <p:sp>
        <p:nvSpPr>
          <p:cNvPr id="46" name="TextBox 45"/>
          <p:cNvSpPr txBox="1"/>
          <p:nvPr/>
        </p:nvSpPr>
        <p:spPr>
          <a:xfrm>
            <a:off x="7115174" y="3097768"/>
            <a:ext cx="1816523" cy="369332"/>
          </a:xfrm>
          <a:prstGeom prst="rect">
            <a:avLst/>
          </a:prstGeom>
          <a:noFill/>
        </p:spPr>
        <p:txBody>
          <a:bodyPr wrap="none" rtlCol="0">
            <a:spAutoFit/>
          </a:bodyPr>
          <a:lstStyle/>
          <a:p>
            <a:r>
              <a:rPr lang="en-IN" b="1" dirty="0"/>
              <a:t>NEW-&gt;NEXT </a:t>
            </a:r>
            <a:r>
              <a:rPr lang="en-IN" b="1" dirty="0">
                <a:sym typeface="Wingdings" pitchFamily="2" charset="2"/>
              </a:rPr>
              <a:t> M</a:t>
            </a:r>
          </a:p>
        </p:txBody>
      </p:sp>
      <p:sp>
        <p:nvSpPr>
          <p:cNvPr id="47" name="TextBox 46"/>
          <p:cNvSpPr txBox="1"/>
          <p:nvPr/>
        </p:nvSpPr>
        <p:spPr>
          <a:xfrm>
            <a:off x="7115174" y="3429000"/>
            <a:ext cx="1813317" cy="369332"/>
          </a:xfrm>
          <a:prstGeom prst="rect">
            <a:avLst/>
          </a:prstGeom>
          <a:noFill/>
        </p:spPr>
        <p:txBody>
          <a:bodyPr wrap="none" rtlCol="0">
            <a:spAutoFit/>
          </a:bodyPr>
          <a:lstStyle/>
          <a:p>
            <a:r>
              <a:rPr lang="en-IN" b="1" dirty="0"/>
              <a:t>M-&gt;PREV </a:t>
            </a:r>
            <a:r>
              <a:rPr lang="en-IN" b="1" dirty="0">
                <a:sym typeface="Wingdings" pitchFamily="2" charset="2"/>
              </a:rPr>
              <a:t></a:t>
            </a:r>
            <a:r>
              <a:rPr lang="en-IN" b="1" dirty="0"/>
              <a:t> NEW</a:t>
            </a:r>
            <a:endParaRPr lang="en-IN" b="1" dirty="0">
              <a:sym typeface="Wingdings" pitchFamily="2" charset="2"/>
            </a:endParaRPr>
          </a:p>
        </p:txBody>
      </p:sp>
      <p:cxnSp>
        <p:nvCxnSpPr>
          <p:cNvPr id="48" name="Straight Arrow Connector 47"/>
          <p:cNvCxnSpPr/>
          <p:nvPr/>
        </p:nvCxnSpPr>
        <p:spPr>
          <a:xfrm>
            <a:off x="5638800" y="2057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9" name="Straight Arrow Connector 48"/>
          <p:cNvCxnSpPr/>
          <p:nvPr/>
        </p:nvCxnSpPr>
        <p:spPr>
          <a:xfrm>
            <a:off x="5638800" y="2286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sp>
        <p:nvSpPr>
          <p:cNvPr id="53" name="TextBox 52"/>
          <p:cNvSpPr txBox="1"/>
          <p:nvPr/>
        </p:nvSpPr>
        <p:spPr>
          <a:xfrm>
            <a:off x="1898588" y="5029200"/>
            <a:ext cx="295274" cy="369332"/>
          </a:xfrm>
          <a:prstGeom prst="rect">
            <a:avLst/>
          </a:prstGeom>
          <a:noFill/>
        </p:spPr>
        <p:txBody>
          <a:bodyPr wrap="none" rtlCol="0">
            <a:spAutoFit/>
          </a:bodyPr>
          <a:lstStyle/>
          <a:p>
            <a:pPr algn="ctr"/>
            <a:r>
              <a:rPr lang="en-IN" b="1" dirty="0"/>
              <a:t>L</a:t>
            </a:r>
            <a:endParaRPr lang="en-US" b="1" dirty="0"/>
          </a:p>
        </p:txBody>
      </p:sp>
      <p:grpSp>
        <p:nvGrpSpPr>
          <p:cNvPr id="55" name="Group 54"/>
          <p:cNvGrpSpPr/>
          <p:nvPr/>
        </p:nvGrpSpPr>
        <p:grpSpPr>
          <a:xfrm>
            <a:off x="3124200" y="4648200"/>
            <a:ext cx="1066800" cy="381000"/>
            <a:chOff x="304800" y="4191000"/>
            <a:chExt cx="1066800" cy="381000"/>
          </a:xfrm>
        </p:grpSpPr>
        <p:sp>
          <p:nvSpPr>
            <p:cNvPr id="56" name="Rectangle 55"/>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7" name="Rectangle 56"/>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8" name="Rectangle 57"/>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59" name="Group 58"/>
          <p:cNvGrpSpPr/>
          <p:nvPr/>
        </p:nvGrpSpPr>
        <p:grpSpPr>
          <a:xfrm>
            <a:off x="4724400" y="4648200"/>
            <a:ext cx="1066800" cy="381000"/>
            <a:chOff x="304800" y="4191000"/>
            <a:chExt cx="1066800" cy="381000"/>
          </a:xfrm>
        </p:grpSpPr>
        <p:sp>
          <p:nvSpPr>
            <p:cNvPr id="60" name="Rectangle 59"/>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1" name="Rectangle 60"/>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2" name="Rectangle 61"/>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63" name="Group 62"/>
          <p:cNvGrpSpPr/>
          <p:nvPr/>
        </p:nvGrpSpPr>
        <p:grpSpPr>
          <a:xfrm>
            <a:off x="7924800" y="4648200"/>
            <a:ext cx="1066800" cy="381000"/>
            <a:chOff x="304800" y="4191000"/>
            <a:chExt cx="1066800" cy="381000"/>
          </a:xfrm>
        </p:grpSpPr>
        <p:sp>
          <p:nvSpPr>
            <p:cNvPr id="64" name="Rectangle 6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5" name="Rectangle 6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6" name="Rectangle 6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67" name="Group 66"/>
          <p:cNvGrpSpPr/>
          <p:nvPr/>
        </p:nvGrpSpPr>
        <p:grpSpPr>
          <a:xfrm>
            <a:off x="9525000" y="4648200"/>
            <a:ext cx="1066800" cy="381000"/>
            <a:chOff x="304800" y="4191000"/>
            <a:chExt cx="1066800" cy="381000"/>
          </a:xfrm>
        </p:grpSpPr>
        <p:sp>
          <p:nvSpPr>
            <p:cNvPr id="68" name="Rectangle 67"/>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9" name="Rectangle 68"/>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0" name="Rectangle 69"/>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71" name="Straight Arrow Connector 70"/>
          <p:cNvCxnSpPr/>
          <p:nvPr/>
        </p:nvCxnSpPr>
        <p:spPr>
          <a:xfrm>
            <a:off x="4191000" y="4724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2" name="Straight Arrow Connector 71"/>
          <p:cNvCxnSpPr/>
          <p:nvPr/>
        </p:nvCxnSpPr>
        <p:spPr>
          <a:xfrm>
            <a:off x="8991600" y="4724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3" name="Straight Arrow Connector 72"/>
          <p:cNvCxnSpPr/>
          <p:nvPr/>
        </p:nvCxnSpPr>
        <p:spPr>
          <a:xfrm>
            <a:off x="8991600" y="4953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4" name="Straight Arrow Connector 73"/>
          <p:cNvCxnSpPr/>
          <p:nvPr/>
        </p:nvCxnSpPr>
        <p:spPr>
          <a:xfrm>
            <a:off x="4191000" y="4953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75" name="Straight Connector 74"/>
          <p:cNvCxnSpPr/>
          <p:nvPr/>
        </p:nvCxnSpPr>
        <p:spPr>
          <a:xfrm flipV="1">
            <a:off x="10287000" y="46482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6" name="Straight Connector 75"/>
          <p:cNvCxnSpPr/>
          <p:nvPr/>
        </p:nvCxnSpPr>
        <p:spPr>
          <a:xfrm flipH="1">
            <a:off x="3124200" y="46482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77" name="TextBox 76"/>
          <p:cNvSpPr txBox="1"/>
          <p:nvPr/>
        </p:nvSpPr>
        <p:spPr>
          <a:xfrm>
            <a:off x="3214558" y="5285150"/>
            <a:ext cx="295274" cy="369332"/>
          </a:xfrm>
          <a:prstGeom prst="rect">
            <a:avLst/>
          </a:prstGeom>
          <a:noFill/>
        </p:spPr>
        <p:txBody>
          <a:bodyPr wrap="none" rtlCol="0">
            <a:spAutoFit/>
          </a:bodyPr>
          <a:lstStyle/>
          <a:p>
            <a:pPr algn="ctr"/>
            <a:r>
              <a:rPr lang="en-IN" b="1" dirty="0"/>
              <a:t>L</a:t>
            </a:r>
            <a:endParaRPr lang="en-US" b="1" dirty="0"/>
          </a:p>
        </p:txBody>
      </p:sp>
      <p:sp>
        <p:nvSpPr>
          <p:cNvPr id="78" name="TextBox 77"/>
          <p:cNvSpPr txBox="1"/>
          <p:nvPr/>
        </p:nvSpPr>
        <p:spPr>
          <a:xfrm>
            <a:off x="10277290" y="5285150"/>
            <a:ext cx="314510" cy="369332"/>
          </a:xfrm>
          <a:prstGeom prst="rect">
            <a:avLst/>
          </a:prstGeom>
          <a:noFill/>
        </p:spPr>
        <p:txBody>
          <a:bodyPr wrap="none" rtlCol="0">
            <a:spAutoFit/>
          </a:bodyPr>
          <a:lstStyle/>
          <a:p>
            <a:pPr algn="ctr"/>
            <a:r>
              <a:rPr lang="en-IN" b="1" dirty="0"/>
              <a:t>R</a:t>
            </a:r>
            <a:endParaRPr lang="en-US" b="1" dirty="0"/>
          </a:p>
        </p:txBody>
      </p:sp>
      <p:cxnSp>
        <p:nvCxnSpPr>
          <p:cNvPr id="79" name="Straight Arrow Connector 78"/>
          <p:cNvCxnSpPr/>
          <p:nvPr/>
        </p:nvCxnSpPr>
        <p:spPr>
          <a:xfrm flipV="1">
            <a:off x="3370326" y="5044882"/>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0" name="Straight Arrow Connector 79"/>
          <p:cNvCxnSpPr/>
          <p:nvPr/>
        </p:nvCxnSpPr>
        <p:spPr>
          <a:xfrm flipV="1">
            <a:off x="10437190" y="5029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81" name="Group 80"/>
          <p:cNvGrpSpPr/>
          <p:nvPr/>
        </p:nvGrpSpPr>
        <p:grpSpPr>
          <a:xfrm>
            <a:off x="6324600" y="4648200"/>
            <a:ext cx="1066800" cy="381000"/>
            <a:chOff x="304800" y="4191000"/>
            <a:chExt cx="1066800" cy="381000"/>
          </a:xfrm>
        </p:grpSpPr>
        <p:sp>
          <p:nvSpPr>
            <p:cNvPr id="82" name="Rectangle 81"/>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3" name="Rectangle 82"/>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4" name="Rectangle 83"/>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85" name="Straight Arrow Connector 84"/>
          <p:cNvCxnSpPr/>
          <p:nvPr/>
        </p:nvCxnSpPr>
        <p:spPr>
          <a:xfrm>
            <a:off x="7391400" y="4724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6" name="Straight Arrow Connector 85"/>
          <p:cNvCxnSpPr/>
          <p:nvPr/>
        </p:nvCxnSpPr>
        <p:spPr>
          <a:xfrm>
            <a:off x="7391400" y="4953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grpSp>
        <p:nvGrpSpPr>
          <p:cNvPr id="87" name="Group 86"/>
          <p:cNvGrpSpPr/>
          <p:nvPr/>
        </p:nvGrpSpPr>
        <p:grpSpPr>
          <a:xfrm>
            <a:off x="1890656" y="5791200"/>
            <a:ext cx="1066800" cy="381000"/>
            <a:chOff x="304800" y="4191000"/>
            <a:chExt cx="1066800" cy="381000"/>
          </a:xfrm>
        </p:grpSpPr>
        <p:sp>
          <p:nvSpPr>
            <p:cNvPr id="88" name="Rectangle 87"/>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89" name="Rectangle 88"/>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90" name="Rectangle 89"/>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91" name="TextBox 90"/>
          <p:cNvSpPr txBox="1"/>
          <p:nvPr/>
        </p:nvSpPr>
        <p:spPr>
          <a:xfrm>
            <a:off x="2080643" y="6107668"/>
            <a:ext cx="612668" cy="369332"/>
          </a:xfrm>
          <a:prstGeom prst="rect">
            <a:avLst/>
          </a:prstGeom>
          <a:noFill/>
        </p:spPr>
        <p:txBody>
          <a:bodyPr wrap="none" rtlCol="0">
            <a:spAutoFit/>
          </a:bodyPr>
          <a:lstStyle/>
          <a:p>
            <a:pPr algn="ctr"/>
            <a:r>
              <a:rPr lang="en-IN" b="1" dirty="0"/>
              <a:t>NEW</a:t>
            </a:r>
            <a:endParaRPr lang="en-US" b="1" dirty="0"/>
          </a:p>
        </p:txBody>
      </p:sp>
      <p:sp>
        <p:nvSpPr>
          <p:cNvPr id="92" name="TextBox 91"/>
          <p:cNvSpPr txBox="1"/>
          <p:nvPr/>
        </p:nvSpPr>
        <p:spPr>
          <a:xfrm>
            <a:off x="3045224" y="4257352"/>
            <a:ext cx="359393" cy="369332"/>
          </a:xfrm>
          <a:prstGeom prst="rect">
            <a:avLst/>
          </a:prstGeom>
          <a:noFill/>
        </p:spPr>
        <p:txBody>
          <a:bodyPr wrap="none" rtlCol="0">
            <a:spAutoFit/>
          </a:bodyPr>
          <a:lstStyle/>
          <a:p>
            <a:pPr algn="ctr"/>
            <a:r>
              <a:rPr lang="en-IN" b="1" dirty="0"/>
              <a:t>M</a:t>
            </a:r>
            <a:endParaRPr lang="en-US" b="1" dirty="0"/>
          </a:p>
        </p:txBody>
      </p:sp>
      <p:sp>
        <p:nvSpPr>
          <p:cNvPr id="93" name="TextBox 92"/>
          <p:cNvSpPr txBox="1"/>
          <p:nvPr/>
        </p:nvSpPr>
        <p:spPr>
          <a:xfrm>
            <a:off x="8585664" y="4086880"/>
            <a:ext cx="1988045" cy="461665"/>
          </a:xfrm>
          <a:prstGeom prst="rect">
            <a:avLst/>
          </a:prstGeom>
          <a:solidFill>
            <a:schemeClr val="bg1">
              <a:lumMod val="95000"/>
            </a:schemeClr>
          </a:solidFill>
        </p:spPr>
        <p:txBody>
          <a:bodyPr wrap="none" rtlCol="0">
            <a:spAutoFit/>
          </a:bodyPr>
          <a:lstStyle>
            <a:defPPr>
              <a:defRPr lang="en-US"/>
            </a:defPPr>
            <a:lvl1pPr>
              <a:defRPr sz="2400" b="1">
                <a:solidFill>
                  <a:schemeClr val="tx2"/>
                </a:solidFill>
              </a:defRPr>
            </a:lvl1pPr>
          </a:lstStyle>
          <a:p>
            <a:r>
              <a:rPr lang="en-IN" dirty="0"/>
              <a:t>After Insertion</a:t>
            </a:r>
            <a:endParaRPr lang="en-US" dirty="0"/>
          </a:p>
        </p:txBody>
      </p:sp>
      <p:cxnSp>
        <p:nvCxnSpPr>
          <p:cNvPr id="94" name="Straight Arrow Connector 93"/>
          <p:cNvCxnSpPr/>
          <p:nvPr/>
        </p:nvCxnSpPr>
        <p:spPr>
          <a:xfrm>
            <a:off x="5791200" y="4736068"/>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5" name="Straight Arrow Connector 94"/>
          <p:cNvCxnSpPr/>
          <p:nvPr/>
        </p:nvCxnSpPr>
        <p:spPr>
          <a:xfrm>
            <a:off x="5791200" y="4964668"/>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sp>
        <p:nvSpPr>
          <p:cNvPr id="96" name="Freeform 95"/>
          <p:cNvSpPr/>
          <p:nvPr/>
        </p:nvSpPr>
        <p:spPr>
          <a:xfrm>
            <a:off x="3021106" y="5017561"/>
            <a:ext cx="247426" cy="882127"/>
          </a:xfrm>
          <a:custGeom>
            <a:avLst/>
            <a:gdLst>
              <a:gd name="connsiteX0" fmla="*/ 247426 w 247426"/>
              <a:gd name="connsiteY0" fmla="*/ 0 h 882127"/>
              <a:gd name="connsiteX1" fmla="*/ 247426 w 247426"/>
              <a:gd name="connsiteY1" fmla="*/ 882127 h 882127"/>
              <a:gd name="connsiteX2" fmla="*/ 0 w 247426"/>
              <a:gd name="connsiteY2" fmla="*/ 882127 h 882127"/>
            </a:gdLst>
            <a:ahLst/>
            <a:cxnLst>
              <a:cxn ang="0">
                <a:pos x="connsiteX0" y="connsiteY0"/>
              </a:cxn>
              <a:cxn ang="0">
                <a:pos x="connsiteX1" y="connsiteY1"/>
              </a:cxn>
              <a:cxn ang="0">
                <a:pos x="connsiteX2" y="connsiteY2"/>
              </a:cxn>
            </a:cxnLst>
            <a:rect l="l" t="t" r="r" b="b"/>
            <a:pathLst>
              <a:path w="247426" h="882127">
                <a:moveTo>
                  <a:pt x="247426" y="0"/>
                </a:moveTo>
                <a:lnTo>
                  <a:pt x="247426" y="882127"/>
                </a:lnTo>
                <a:lnTo>
                  <a:pt x="0" y="88212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97" name="Freeform 96"/>
          <p:cNvSpPr/>
          <p:nvPr/>
        </p:nvSpPr>
        <p:spPr>
          <a:xfrm>
            <a:off x="2805953" y="4834680"/>
            <a:ext cx="311972" cy="957430"/>
          </a:xfrm>
          <a:custGeom>
            <a:avLst/>
            <a:gdLst>
              <a:gd name="connsiteX0" fmla="*/ 0 w 311972"/>
              <a:gd name="connsiteY0" fmla="*/ 957430 h 957430"/>
              <a:gd name="connsiteX1" fmla="*/ 0 w 311972"/>
              <a:gd name="connsiteY1" fmla="*/ 0 h 957430"/>
              <a:gd name="connsiteX2" fmla="*/ 311972 w 311972"/>
              <a:gd name="connsiteY2" fmla="*/ 0 h 957430"/>
            </a:gdLst>
            <a:ahLst/>
            <a:cxnLst>
              <a:cxn ang="0">
                <a:pos x="connsiteX0" y="connsiteY0"/>
              </a:cxn>
              <a:cxn ang="0">
                <a:pos x="connsiteX1" y="connsiteY1"/>
              </a:cxn>
              <a:cxn ang="0">
                <a:pos x="connsiteX2" y="connsiteY2"/>
              </a:cxn>
            </a:cxnLst>
            <a:rect l="l" t="t" r="r" b="b"/>
            <a:pathLst>
              <a:path w="311972" h="957430">
                <a:moveTo>
                  <a:pt x="0" y="957430"/>
                </a:moveTo>
                <a:lnTo>
                  <a:pt x="0" y="0"/>
                </a:lnTo>
                <a:lnTo>
                  <a:pt x="311972"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98" name="Straight Connector 97"/>
          <p:cNvCxnSpPr/>
          <p:nvPr/>
        </p:nvCxnSpPr>
        <p:spPr>
          <a:xfrm flipH="1">
            <a:off x="1905000" y="5802868"/>
            <a:ext cx="304800" cy="381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99" name="TextBox 98"/>
          <p:cNvSpPr txBox="1"/>
          <p:nvPr/>
        </p:nvSpPr>
        <p:spPr>
          <a:xfrm>
            <a:off x="2609308" y="838201"/>
            <a:ext cx="6973384" cy="523220"/>
          </a:xfrm>
          <a:prstGeom prst="rect">
            <a:avLst/>
          </a:prstGeom>
          <a:noFill/>
        </p:spPr>
        <p:txBody>
          <a:bodyPr wrap="none" rtlCol="0">
            <a:spAutoFit/>
          </a:bodyPr>
          <a:lstStyle>
            <a:defPPr>
              <a:defRPr lang="en-US"/>
            </a:defPPr>
            <a:lvl1pPr algn="ctr">
              <a:defRPr sz="2800" b="1">
                <a:solidFill>
                  <a:srgbClr val="C00000"/>
                </a:solidFill>
              </a:defRPr>
            </a:lvl1pPr>
          </a:lstStyle>
          <a:p>
            <a:r>
              <a:rPr lang="en-IN" dirty="0"/>
              <a:t>Left most insertion in Doubly Linked Linear List</a:t>
            </a:r>
            <a:endParaRPr lang="en-IN" dirty="0">
              <a:sym typeface="Wingdings" pitchFamily="2" charset="2"/>
            </a:endParaRPr>
          </a:p>
        </p:txBody>
      </p:sp>
      <p:cxnSp>
        <p:nvCxnSpPr>
          <p:cNvPr id="101" name="Straight Arrow Connector 100"/>
          <p:cNvCxnSpPr>
            <a:stCxn id="53" idx="2"/>
            <a:endCxn id="89" idx="0"/>
          </p:cNvCxnSpPr>
          <p:nvPr/>
        </p:nvCxnSpPr>
        <p:spPr>
          <a:xfrm flipH="1">
            <a:off x="2043057" y="5398532"/>
            <a:ext cx="3169" cy="3926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02" name="TextBox 101"/>
          <p:cNvSpPr txBox="1"/>
          <p:nvPr/>
        </p:nvSpPr>
        <p:spPr>
          <a:xfrm>
            <a:off x="7118874" y="3733800"/>
            <a:ext cx="1088760" cy="369332"/>
          </a:xfrm>
          <a:prstGeom prst="rect">
            <a:avLst/>
          </a:prstGeom>
          <a:noFill/>
        </p:spPr>
        <p:txBody>
          <a:bodyPr wrap="none" rtlCol="0">
            <a:spAutoFit/>
          </a:bodyPr>
          <a:lstStyle/>
          <a:p>
            <a:r>
              <a:rPr lang="en-IN" b="1" dirty="0"/>
              <a:t>L </a:t>
            </a:r>
            <a:r>
              <a:rPr lang="en-IN" b="1" dirty="0">
                <a:sym typeface="Wingdings" pitchFamily="2" charset="2"/>
              </a:rPr>
              <a:t></a:t>
            </a:r>
            <a:r>
              <a:rPr lang="en-IN" b="1" dirty="0"/>
              <a:t> NEW</a:t>
            </a:r>
            <a:endParaRPr lang="en-IN" b="1" dirty="0">
              <a:sym typeface="Wingdings" pitchFamily="2" charset="2"/>
            </a:endParaRPr>
          </a:p>
        </p:txBody>
      </p:sp>
    </p:spTree>
    <p:extLst>
      <p:ext uri="{BB962C8B-B14F-4D97-AF65-F5344CB8AC3E}">
        <p14:creationId xmlns:p14="http://schemas.microsoft.com/office/powerpoint/2010/main" val="383258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4"/>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7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9"/>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8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5"/>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9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8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9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grpId="0" nodeType="clickEffect">
                                  <p:stCondLst>
                                    <p:cond delay="0"/>
                                  </p:stCondLst>
                                  <p:childTnLst>
                                    <p:set>
                                      <p:cBhvr>
                                        <p:cTn id="118" dur="1" fill="hold">
                                          <p:stCondLst>
                                            <p:cond delay="0"/>
                                          </p:stCondLst>
                                        </p:cTn>
                                        <p:tgtEl>
                                          <p:spTgt spid="97"/>
                                        </p:tgtEl>
                                        <p:attrNameLst>
                                          <p:attrName>style.visibility</p:attrName>
                                        </p:attrNameLst>
                                      </p:cBhvr>
                                      <p:to>
                                        <p:strVal val="visible"/>
                                      </p:to>
                                    </p:set>
                                    <p:animEffect transition="in" filter="wipe(down)">
                                      <p:cBhvr>
                                        <p:cTn id="119" dur="500"/>
                                        <p:tgtEl>
                                          <p:spTgt spid="97"/>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47"/>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grpId="0" nodeType="clickEffect">
                                  <p:stCondLst>
                                    <p:cond delay="0"/>
                                  </p:stCondLst>
                                  <p:childTnLst>
                                    <p:set>
                                      <p:cBhvr>
                                        <p:cTn id="127" dur="1" fill="hold">
                                          <p:stCondLst>
                                            <p:cond delay="0"/>
                                          </p:stCondLst>
                                        </p:cTn>
                                        <p:tgtEl>
                                          <p:spTgt spid="96"/>
                                        </p:tgtEl>
                                        <p:attrNameLst>
                                          <p:attrName>style.visibility</p:attrName>
                                        </p:attrNameLst>
                                      </p:cBhvr>
                                      <p:to>
                                        <p:strVal val="visible"/>
                                      </p:to>
                                    </p:set>
                                    <p:animEffect transition="in" filter="wipe(up)">
                                      <p:cBhvr>
                                        <p:cTn id="128" dur="500"/>
                                        <p:tgtEl>
                                          <p:spTgt spid="96"/>
                                        </p:tgtEl>
                                      </p:cBhvr>
                                    </p:animEffect>
                                  </p:childTnLst>
                                </p:cTn>
                              </p:par>
                              <p:par>
                                <p:cTn id="129" presetID="1" presetClass="exit" presetSubtype="0" fill="hold" nodeType="withEffect">
                                  <p:stCondLst>
                                    <p:cond delay="0"/>
                                  </p:stCondLst>
                                  <p:childTnLst>
                                    <p:set>
                                      <p:cBhvr>
                                        <p:cTn id="130" dur="1" fill="hold">
                                          <p:stCondLst>
                                            <p:cond delay="0"/>
                                          </p:stCondLst>
                                        </p:cTn>
                                        <p:tgtEl>
                                          <p:spTgt spid="76"/>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02"/>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1" nodeType="clickEffect">
                                  <p:stCondLst>
                                    <p:cond delay="0"/>
                                  </p:stCondLst>
                                  <p:childTnLst>
                                    <p:set>
                                      <p:cBhvr>
                                        <p:cTn id="138" dur="1" fill="hold">
                                          <p:stCondLst>
                                            <p:cond delay="0"/>
                                          </p:stCondLst>
                                        </p:cTn>
                                        <p:tgtEl>
                                          <p:spTgt spid="77"/>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0"/>
                                          </p:stCondLst>
                                        </p:cTn>
                                        <p:tgtEl>
                                          <p:spTgt spid="79"/>
                                        </p:tgtEl>
                                        <p:attrNameLst>
                                          <p:attrName>style.visibility</p:attrName>
                                        </p:attrNameLst>
                                      </p:cBhvr>
                                      <p:to>
                                        <p:strVal val="hidden"/>
                                      </p:to>
                                    </p:set>
                                  </p:childTnLst>
                                </p:cTn>
                              </p:par>
                              <p:par>
                                <p:cTn id="141" presetID="1" presetClass="entr" presetSubtype="0" fill="hold" grpId="0" nodeType="withEffect">
                                  <p:stCondLst>
                                    <p:cond delay="0"/>
                                  </p:stCondLst>
                                  <p:childTnLst>
                                    <p:set>
                                      <p:cBhvr>
                                        <p:cTn id="142" dur="1" fill="hold">
                                          <p:stCondLst>
                                            <p:cond delay="0"/>
                                          </p:stCondLst>
                                        </p:cTn>
                                        <p:tgtEl>
                                          <p:spTgt spid="53"/>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42" grpId="0"/>
      <p:bldP spid="43" grpId="0"/>
      <p:bldP spid="44" grpId="0" animBg="1"/>
      <p:bldP spid="45" grpId="0"/>
      <p:bldP spid="46" grpId="0"/>
      <p:bldP spid="47" grpId="0"/>
      <p:bldP spid="53" grpId="0"/>
      <p:bldP spid="77" grpId="0"/>
      <p:bldP spid="77" grpId="1"/>
      <p:bldP spid="78" grpId="0"/>
      <p:bldP spid="91" grpId="0"/>
      <p:bldP spid="92" grpId="0"/>
      <p:bldP spid="93" grpId="0" animBg="1"/>
      <p:bldP spid="96" grpId="0" animBg="1"/>
      <p:bldP spid="97" grpId="0" animBg="1"/>
      <p:bldP spid="99" grpId="0"/>
      <p:bldP spid="10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DOU_INS (L,R,M,X)</a:t>
            </a:r>
            <a:endParaRPr lang="en-US" dirty="0"/>
          </a:p>
        </p:txBody>
      </p:sp>
      <p:sp>
        <p:nvSpPr>
          <p:cNvPr id="3" name="Content Placeholder 2"/>
          <p:cNvSpPr>
            <a:spLocks noGrp="1"/>
          </p:cNvSpPr>
          <p:nvPr>
            <p:ph idx="1"/>
          </p:nvPr>
        </p:nvSpPr>
        <p:spPr/>
        <p:txBody>
          <a:bodyPr/>
          <a:lstStyle/>
          <a:p>
            <a:r>
              <a:rPr lang="en-IN" dirty="0"/>
              <a:t>This algorithm inserts a new node in doubly linked linear list.</a:t>
            </a:r>
          </a:p>
          <a:p>
            <a:r>
              <a:rPr lang="en-IN" dirty="0"/>
              <a:t>The </a:t>
            </a:r>
            <a:r>
              <a:rPr lang="en-IN" b="1" dirty="0">
                <a:solidFill>
                  <a:srgbClr val="C00000"/>
                </a:solidFill>
              </a:rPr>
              <a:t>insertion</a:t>
            </a:r>
            <a:r>
              <a:rPr lang="en-IN" dirty="0">
                <a:solidFill>
                  <a:srgbClr val="C00000"/>
                </a:solidFill>
              </a:rPr>
              <a:t> </a:t>
            </a:r>
            <a:r>
              <a:rPr lang="en-IN" dirty="0"/>
              <a:t>is to be </a:t>
            </a:r>
            <a:r>
              <a:rPr lang="en-IN" b="1" dirty="0">
                <a:solidFill>
                  <a:srgbClr val="C00000"/>
                </a:solidFill>
              </a:rPr>
              <a:t>performed </a:t>
            </a:r>
            <a:r>
              <a:rPr lang="en-IN" dirty="0"/>
              <a:t>to the </a:t>
            </a:r>
            <a:r>
              <a:rPr lang="en-IN" b="1" dirty="0">
                <a:solidFill>
                  <a:srgbClr val="C00000"/>
                </a:solidFill>
              </a:rPr>
              <a:t>left of a specific node</a:t>
            </a:r>
            <a:r>
              <a:rPr lang="en-IN" dirty="0">
                <a:solidFill>
                  <a:srgbClr val="C00000"/>
                </a:solidFill>
              </a:rPr>
              <a:t> </a:t>
            </a:r>
            <a:r>
              <a:rPr lang="en-IN" b="1" dirty="0"/>
              <a:t>with</a:t>
            </a:r>
            <a:r>
              <a:rPr lang="en-IN" dirty="0"/>
              <a:t> its </a:t>
            </a:r>
            <a:r>
              <a:rPr lang="en-IN" b="1" dirty="0"/>
              <a:t>address</a:t>
            </a:r>
            <a:r>
              <a:rPr lang="en-IN" dirty="0"/>
              <a:t> given by the pointer variable </a:t>
            </a:r>
            <a:r>
              <a:rPr lang="en-IN" b="1" dirty="0">
                <a:solidFill>
                  <a:srgbClr val="C00000"/>
                </a:solidFill>
              </a:rPr>
              <a:t>M</a:t>
            </a:r>
            <a:r>
              <a:rPr lang="en-IN" b="1" dirty="0"/>
              <a:t>.</a:t>
            </a:r>
          </a:p>
          <a:p>
            <a:r>
              <a:rPr lang="en-IN" dirty="0"/>
              <a:t>Typical node of doubly linked list contains following fields </a:t>
            </a:r>
            <a:r>
              <a:rPr lang="en-IN" b="1" dirty="0">
                <a:solidFill>
                  <a:srgbClr val="C00000"/>
                </a:solidFill>
              </a:rPr>
              <a:t>PREV</a:t>
            </a:r>
            <a:r>
              <a:rPr lang="en-IN" dirty="0"/>
              <a:t>, </a:t>
            </a:r>
            <a:r>
              <a:rPr lang="en-IN" b="1" dirty="0">
                <a:solidFill>
                  <a:srgbClr val="C00000"/>
                </a:solidFill>
              </a:rPr>
              <a:t>NEXT</a:t>
            </a:r>
            <a:r>
              <a:rPr lang="en-IN" dirty="0">
                <a:solidFill>
                  <a:srgbClr val="C00000"/>
                </a:solidFill>
              </a:rPr>
              <a:t> </a:t>
            </a:r>
            <a:r>
              <a:rPr lang="en-IN" dirty="0"/>
              <a:t>and </a:t>
            </a:r>
            <a:r>
              <a:rPr lang="en-IN" b="1" dirty="0">
                <a:solidFill>
                  <a:srgbClr val="C00000"/>
                </a:solidFill>
              </a:rPr>
              <a:t>INFO</a:t>
            </a:r>
            <a:r>
              <a:rPr lang="en-IN" b="1" dirty="0"/>
              <a:t>.</a:t>
            </a:r>
          </a:p>
          <a:p>
            <a:r>
              <a:rPr lang="en-IN" b="1" dirty="0">
                <a:solidFill>
                  <a:srgbClr val="C00000"/>
                </a:solidFill>
              </a:rPr>
              <a:t>PREV</a:t>
            </a:r>
            <a:r>
              <a:rPr lang="en-IN" dirty="0">
                <a:solidFill>
                  <a:srgbClr val="C00000"/>
                </a:solidFill>
              </a:rPr>
              <a:t> </a:t>
            </a:r>
            <a:r>
              <a:rPr lang="en-IN" dirty="0"/>
              <a:t>is pointer variable pointing to Predecessor of a node.</a:t>
            </a:r>
          </a:p>
          <a:p>
            <a:r>
              <a:rPr lang="en-IN" b="1" dirty="0">
                <a:solidFill>
                  <a:srgbClr val="C00000"/>
                </a:solidFill>
              </a:rPr>
              <a:t>NEXT</a:t>
            </a:r>
            <a:r>
              <a:rPr lang="en-IN" dirty="0">
                <a:solidFill>
                  <a:srgbClr val="C00000"/>
                </a:solidFill>
              </a:rPr>
              <a:t> </a:t>
            </a:r>
            <a:r>
              <a:rPr lang="en-IN" dirty="0"/>
              <a:t>is pointer variable pointing to Successor of a node.</a:t>
            </a:r>
          </a:p>
          <a:p>
            <a:r>
              <a:rPr lang="en-IN" b="1" dirty="0">
                <a:solidFill>
                  <a:srgbClr val="C00000"/>
                </a:solidFill>
              </a:rPr>
              <a:t>L</a:t>
            </a:r>
            <a:r>
              <a:rPr lang="en-IN" dirty="0">
                <a:solidFill>
                  <a:srgbClr val="C00000"/>
                </a:solidFill>
              </a:rPr>
              <a:t> </a:t>
            </a:r>
            <a:r>
              <a:rPr lang="en-IN" dirty="0"/>
              <a:t>&amp; </a:t>
            </a:r>
            <a:r>
              <a:rPr lang="en-IN" b="1" dirty="0">
                <a:solidFill>
                  <a:srgbClr val="C00000"/>
                </a:solidFill>
              </a:rPr>
              <a:t>R</a:t>
            </a:r>
            <a:r>
              <a:rPr lang="en-IN" dirty="0">
                <a:solidFill>
                  <a:srgbClr val="C00000"/>
                </a:solidFill>
              </a:rPr>
              <a:t> </a:t>
            </a:r>
            <a:r>
              <a:rPr lang="en-IN" dirty="0"/>
              <a:t>are pointer variables pointing for Leftmost and Rightmost node of Linked List.</a:t>
            </a:r>
          </a:p>
          <a:p>
            <a:r>
              <a:rPr lang="en-IN" b="1" dirty="0">
                <a:solidFill>
                  <a:srgbClr val="C00000"/>
                </a:solidFill>
              </a:rPr>
              <a:t>NEW</a:t>
            </a:r>
            <a:r>
              <a:rPr lang="en-IN" dirty="0">
                <a:solidFill>
                  <a:srgbClr val="C00000"/>
                </a:solidFill>
              </a:rPr>
              <a:t> </a:t>
            </a:r>
            <a:r>
              <a:rPr lang="en-IN" dirty="0"/>
              <a:t>is the address of New Node.</a:t>
            </a:r>
          </a:p>
          <a:p>
            <a:r>
              <a:rPr lang="en-IN" b="1" dirty="0">
                <a:solidFill>
                  <a:srgbClr val="C00000"/>
                </a:solidFill>
              </a:rPr>
              <a:t>X</a:t>
            </a:r>
            <a:r>
              <a:rPr lang="en-IN" dirty="0">
                <a:solidFill>
                  <a:srgbClr val="C00000"/>
                </a:solidFill>
              </a:rPr>
              <a:t> </a:t>
            </a:r>
            <a:r>
              <a:rPr lang="en-IN" dirty="0"/>
              <a:t>is value to be inserted.</a:t>
            </a:r>
          </a:p>
          <a:p>
            <a:endParaRPr lang="en-US" dirty="0"/>
          </a:p>
        </p:txBody>
      </p:sp>
    </p:spTree>
    <p:extLst>
      <p:ext uri="{BB962C8B-B14F-4D97-AF65-F5344CB8AC3E}">
        <p14:creationId xmlns:p14="http://schemas.microsoft.com/office/powerpoint/2010/main" val="3215242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DOU_INS (L,R,M,X)</a:t>
            </a:r>
            <a:endParaRPr lang="en-US" dirty="0"/>
          </a:p>
        </p:txBody>
      </p:sp>
      <p:sp>
        <p:nvSpPr>
          <p:cNvPr id="4" name="TextBox 3"/>
          <p:cNvSpPr txBox="1"/>
          <p:nvPr/>
        </p:nvSpPr>
        <p:spPr>
          <a:xfrm>
            <a:off x="244200" y="908438"/>
            <a:ext cx="5760000" cy="3416320"/>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 New Empty Node]</a:t>
            </a:r>
          </a:p>
          <a:p>
            <a:r>
              <a:rPr lang="en-IN" sz="2000" b="1" dirty="0">
                <a:solidFill>
                  <a:schemeClr val="tx2">
                    <a:lumMod val="60000"/>
                    <a:lumOff val="40000"/>
                  </a:schemeClr>
                </a:solidFill>
                <a:latin typeface="Consolas" pitchFamily="49" charset="0"/>
                <a:cs typeface="Consolas" pitchFamily="49" charset="0"/>
              </a:rPr>
              <a:t>    </a:t>
            </a:r>
            <a:r>
              <a:rPr lang="en-IN" sz="2000" dirty="0">
                <a:latin typeface="Consolas" pitchFamily="49" charset="0"/>
                <a:cs typeface="Consolas" pitchFamily="49" charset="0"/>
              </a:rPr>
              <a:t>NEW       NODE</a:t>
            </a:r>
          </a:p>
          <a:p>
            <a:r>
              <a:rPr lang="en-IN" sz="2000" b="1" dirty="0">
                <a:solidFill>
                  <a:schemeClr val="tx2"/>
                </a:solidFill>
                <a:latin typeface="Consolas" pitchFamily="49" charset="0"/>
                <a:cs typeface="Consolas" pitchFamily="49" charset="0"/>
              </a:rPr>
              <a:t>2. [Copy information field]</a:t>
            </a:r>
          </a:p>
          <a:p>
            <a:r>
              <a:rPr lang="en-IN" sz="2000" dirty="0">
                <a:latin typeface="Consolas" pitchFamily="49" charset="0"/>
                <a:cs typeface="Consolas" pitchFamily="49" charset="0"/>
              </a:rPr>
              <a:t>    NEW-&gt;INFO </a:t>
            </a:r>
            <a:r>
              <a:rPr lang="en-IN" sz="2000" dirty="0">
                <a:latin typeface="Consolas" pitchFamily="49" charset="0"/>
                <a:cs typeface="Consolas" pitchFamily="49" charset="0"/>
                <a:sym typeface="Wingdings" pitchFamily="2" charset="2"/>
              </a:rPr>
              <a:t> X</a:t>
            </a:r>
          </a:p>
          <a:p>
            <a:r>
              <a:rPr lang="en-IN" sz="2000" b="1" dirty="0">
                <a:solidFill>
                  <a:schemeClr val="tx2"/>
                </a:solidFill>
                <a:latin typeface="Consolas" pitchFamily="49" charset="0"/>
                <a:cs typeface="Consolas" pitchFamily="49" charset="0"/>
              </a:rPr>
              <a:t>3. [Insert into an empty list]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R = NULL </a:t>
            </a:r>
            <a:r>
              <a:rPr lang="en-IN" sz="1100" dirty="0">
                <a:latin typeface="Consolas" pitchFamily="49" charset="0"/>
                <a:cs typeface="Consolas" pitchFamily="49" charset="0"/>
              </a:rPr>
              <a:t>(R is holding the address of the rightmost node if its null, it means list is empty)</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NEW-&gt;PREV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NULL</a:t>
            </a:r>
            <a:endParaRPr lang="en-IN" sz="2000" dirty="0">
              <a:latin typeface="Consolas" pitchFamily="49" charset="0"/>
              <a:cs typeface="Consolas" pitchFamily="49" charset="0"/>
              <a:sym typeface="Wingdings" pitchFamily="2" charset="2"/>
            </a:endParaRPr>
          </a:p>
          <a:p>
            <a:r>
              <a:rPr lang="en-IN" sz="2000" dirty="0">
                <a:latin typeface="Consolas" pitchFamily="49" charset="0"/>
                <a:cs typeface="Consolas" pitchFamily="49" charset="0"/>
              </a:rPr>
              <a:t>         NEW-&gt;NEXT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NULL</a:t>
            </a:r>
          </a:p>
          <a:p>
            <a:r>
              <a:rPr lang="en-IN" sz="2000" dirty="0">
                <a:latin typeface="Consolas" pitchFamily="49" charset="0"/>
                <a:cs typeface="Consolas" pitchFamily="49" charset="0"/>
              </a:rPr>
              <a:t>         L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R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Return</a:t>
            </a:r>
          </a:p>
        </p:txBody>
      </p:sp>
      <p:sp>
        <p:nvSpPr>
          <p:cNvPr id="5" name="Left Arrow 4"/>
          <p:cNvSpPr/>
          <p:nvPr/>
        </p:nvSpPr>
        <p:spPr>
          <a:xfrm>
            <a:off x="1571172" y="1280881"/>
            <a:ext cx="457200" cy="228600"/>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p:cNvSpPr txBox="1"/>
          <p:nvPr/>
        </p:nvSpPr>
        <p:spPr>
          <a:xfrm>
            <a:off x="6172200" y="908438"/>
            <a:ext cx="5760000" cy="4093428"/>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4. [</a:t>
            </a:r>
            <a:r>
              <a:rPr lang="en-IN" sz="2000" b="1" dirty="0" err="1">
                <a:solidFill>
                  <a:schemeClr val="tx2"/>
                </a:solidFill>
                <a:latin typeface="Consolas" pitchFamily="49" charset="0"/>
                <a:cs typeface="Consolas" pitchFamily="49" charset="0"/>
              </a:rPr>
              <a:t>nsertion</a:t>
            </a:r>
            <a:r>
              <a:rPr lang="en-IN" sz="2000" b="1" dirty="0">
                <a:solidFill>
                  <a:schemeClr val="tx2"/>
                </a:solidFill>
                <a:latin typeface="Consolas" pitchFamily="49" charset="0"/>
                <a:cs typeface="Consolas" pitchFamily="49" charset="0"/>
              </a:rPr>
              <a:t> at beginning]</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M = 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NEW-&gt;PREV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NULL</a:t>
            </a:r>
          </a:p>
          <a:p>
            <a:r>
              <a:rPr lang="en-IN" sz="2000" dirty="0">
                <a:latin typeface="Consolas" pitchFamily="49" charset="0"/>
                <a:cs typeface="Consolas" pitchFamily="49" charset="0"/>
              </a:rPr>
              <a:t>         NEW-&gt;NEXT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M</a:t>
            </a:r>
          </a:p>
          <a:p>
            <a:r>
              <a:rPr lang="en-IN" sz="2000" dirty="0">
                <a:latin typeface="Consolas" pitchFamily="49" charset="0"/>
                <a:cs typeface="Consolas" pitchFamily="49" charset="0"/>
              </a:rPr>
              <a:t>         M-&gt;PREV</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L </a:t>
            </a:r>
            <a:r>
              <a:rPr lang="en-IN" sz="2000" dirty="0">
                <a:latin typeface="Consolas" pitchFamily="49" charset="0"/>
                <a:cs typeface="Consolas" pitchFamily="49" charset="0"/>
                <a:sym typeface="Wingdings" pitchFamily="2" charset="2"/>
              </a:rPr>
              <a:t> </a:t>
            </a:r>
            <a:r>
              <a:rPr lang="en-IN" sz="2000" dirty="0">
                <a:latin typeface="Consolas" pitchFamily="49" charset="0"/>
                <a:cs typeface="Consolas" pitchFamily="49" charset="0"/>
              </a:rPr>
              <a:t>NEW</a:t>
            </a:r>
          </a:p>
          <a:p>
            <a:r>
              <a:rPr lang="en-IN" sz="2000" dirty="0">
                <a:latin typeface="Consolas" pitchFamily="49" charset="0"/>
                <a:cs typeface="Consolas" pitchFamily="49" charset="0"/>
              </a:rPr>
              <a:t>         Return</a:t>
            </a:r>
          </a:p>
          <a:p>
            <a:r>
              <a:rPr lang="en-IN" sz="2000" b="1" dirty="0">
                <a:solidFill>
                  <a:schemeClr val="tx2"/>
                </a:solidFill>
                <a:latin typeface="Consolas" pitchFamily="49" charset="0"/>
                <a:cs typeface="Consolas" pitchFamily="49" charset="0"/>
              </a:rPr>
              <a:t>5. [Insert in middle]</a:t>
            </a:r>
          </a:p>
          <a:p>
            <a:r>
              <a:rPr lang="en-IN" sz="2000" dirty="0">
                <a:latin typeface="Consolas" pitchFamily="49" charset="0"/>
                <a:cs typeface="Consolas" pitchFamily="49" charset="0"/>
              </a:rPr>
              <a:t>    NEW-&gt;PREV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LPTR(M)</a:t>
            </a:r>
          </a:p>
          <a:p>
            <a:r>
              <a:rPr lang="en-IN" sz="2000" dirty="0">
                <a:latin typeface="Consolas" pitchFamily="49" charset="0"/>
                <a:cs typeface="Consolas" pitchFamily="49" charset="0"/>
              </a:rPr>
              <a:t>    NEW-&gt;NEXT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M</a:t>
            </a:r>
          </a:p>
          <a:p>
            <a:r>
              <a:rPr lang="en-IN" sz="2000" dirty="0">
                <a:latin typeface="Consolas" pitchFamily="49" charset="0"/>
                <a:cs typeface="Consolas" pitchFamily="49" charset="0"/>
              </a:rPr>
              <a:t>    M-&gt;PREV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(NEW-&gt;PREV)-&gt;NEXT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Return</a:t>
            </a:r>
          </a:p>
        </p:txBody>
      </p:sp>
    </p:spTree>
    <p:extLst>
      <p:ext uri="{BB962C8B-B14F-4D97-AF65-F5344CB8AC3E}">
        <p14:creationId xmlns:p14="http://schemas.microsoft.com/office/powerpoint/2010/main" val="279602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2" end="2"/>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
                                            <p:txEl>
                                              <p:pRg st="3" end="3"/>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
                                            <p:txEl>
                                              <p:pRg st="4" end="4"/>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
                                            <p:txEl>
                                              <p:pRg st="5" end="5"/>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6">
                                            <p:txEl>
                                              <p:pRg st="8" end="8"/>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
                                            <p:txEl>
                                              <p:pRg st="9" end="9"/>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
                                            <p:txEl>
                                              <p:pRg st="10" end="10"/>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6">
                                            <p:txEl>
                                              <p:pRg st="11" end="11"/>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DOU_INS (L,R,M,X)</a:t>
            </a:r>
            <a:endParaRPr lang="en-US" dirty="0"/>
          </a:p>
        </p:txBody>
      </p:sp>
      <p:sp>
        <p:nvSpPr>
          <p:cNvPr id="4" name="TextBox 3"/>
          <p:cNvSpPr txBox="1"/>
          <p:nvPr/>
        </p:nvSpPr>
        <p:spPr>
          <a:xfrm>
            <a:off x="244200" y="908438"/>
            <a:ext cx="5760000" cy="5570756"/>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[Create New Empty Node]</a:t>
            </a:r>
          </a:p>
          <a:p>
            <a:r>
              <a:rPr lang="en-IN" sz="2000" b="1" dirty="0">
                <a:solidFill>
                  <a:schemeClr val="tx2">
                    <a:lumMod val="60000"/>
                    <a:lumOff val="40000"/>
                  </a:schemeClr>
                </a:solidFill>
                <a:latin typeface="Consolas" pitchFamily="49" charset="0"/>
                <a:cs typeface="Consolas" pitchFamily="49" charset="0"/>
              </a:rPr>
              <a:t>    </a:t>
            </a:r>
            <a:r>
              <a:rPr lang="en-IN" sz="2000" dirty="0">
                <a:latin typeface="Consolas" pitchFamily="49" charset="0"/>
                <a:cs typeface="Consolas" pitchFamily="49" charset="0"/>
              </a:rPr>
              <a:t>NEW       NODE</a:t>
            </a:r>
          </a:p>
          <a:p>
            <a:r>
              <a:rPr lang="en-IN" sz="2000" b="1" dirty="0">
                <a:solidFill>
                  <a:schemeClr val="tx2"/>
                </a:solidFill>
                <a:latin typeface="Consolas" pitchFamily="49" charset="0"/>
                <a:cs typeface="Consolas" pitchFamily="49" charset="0"/>
              </a:rPr>
              <a:t>2. [Copy information field]</a:t>
            </a:r>
          </a:p>
          <a:p>
            <a:r>
              <a:rPr lang="en-IN" sz="2000" dirty="0">
                <a:latin typeface="Consolas" pitchFamily="49" charset="0"/>
                <a:cs typeface="Consolas" pitchFamily="49" charset="0"/>
              </a:rPr>
              <a:t>    NEW-&gt;INFO </a:t>
            </a:r>
            <a:r>
              <a:rPr lang="en-IN" sz="2000" dirty="0">
                <a:latin typeface="Consolas" pitchFamily="49" charset="0"/>
                <a:cs typeface="Consolas" pitchFamily="49" charset="0"/>
                <a:sym typeface="Wingdings" pitchFamily="2" charset="2"/>
              </a:rPr>
              <a:t> X</a:t>
            </a:r>
          </a:p>
          <a:p>
            <a:r>
              <a:rPr lang="en-IN" sz="2000" b="1" dirty="0">
                <a:solidFill>
                  <a:schemeClr val="tx2"/>
                </a:solidFill>
                <a:latin typeface="Consolas" pitchFamily="49" charset="0"/>
                <a:cs typeface="Consolas" pitchFamily="49" charset="0"/>
              </a:rPr>
              <a:t>3. [Insert into </a:t>
            </a:r>
            <a:r>
              <a:rPr lang="en-IN" sz="2000" b="1" dirty="0" err="1">
                <a:solidFill>
                  <a:schemeClr val="tx2"/>
                </a:solidFill>
                <a:latin typeface="Consolas" pitchFamily="49" charset="0"/>
                <a:cs typeface="Consolas" pitchFamily="49" charset="0"/>
              </a:rPr>
              <a:t>i</a:t>
            </a:r>
            <a:r>
              <a:rPr lang="en-IN" sz="2000" b="1" baseline="30000" dirty="0" err="1">
                <a:solidFill>
                  <a:schemeClr val="tx2"/>
                </a:solidFill>
                <a:latin typeface="Consolas" pitchFamily="49" charset="0"/>
                <a:cs typeface="Consolas" pitchFamily="49" charset="0"/>
              </a:rPr>
              <a:t>th</a:t>
            </a:r>
            <a:r>
              <a:rPr lang="en-IN" sz="2000" b="1" dirty="0">
                <a:solidFill>
                  <a:schemeClr val="tx2"/>
                </a:solidFill>
                <a:latin typeface="Consolas" pitchFamily="49" charset="0"/>
                <a:cs typeface="Consolas" pitchFamily="49" charset="0"/>
              </a:rPr>
              <a:t> position]</a:t>
            </a:r>
          </a:p>
          <a:p>
            <a:r>
              <a:rPr lang="en-IN" sz="2000" dirty="0">
                <a:latin typeface="Consolas" pitchFamily="49" charset="0"/>
                <a:cs typeface="Consolas" pitchFamily="49" charset="0"/>
              </a:rPr>
              <a:t>    TEMP </a:t>
            </a:r>
            <a:r>
              <a:rPr lang="en-IN" sz="2000" dirty="0">
                <a:latin typeface="Consolas" pitchFamily="49" charset="0"/>
                <a:cs typeface="Consolas" pitchFamily="49" charset="0"/>
                <a:sym typeface="Wingdings" panose="05000000000000000000" pitchFamily="2" charset="2"/>
              </a:rPr>
              <a:t> L, j1</a:t>
            </a:r>
            <a:endParaRPr lang="en-IN" sz="2000" dirty="0">
              <a:latin typeface="Consolas" pitchFamily="49" charset="0"/>
              <a:cs typeface="Consolas" pitchFamily="49" charset="0"/>
            </a:endParaRPr>
          </a:p>
          <a:p>
            <a:r>
              <a:rPr lang="en-IN" sz="2000" dirty="0">
                <a:latin typeface="Consolas" pitchFamily="49" charset="0"/>
                <a:cs typeface="Consolas" pitchFamily="49" charset="0"/>
              </a:rPr>
              <a:t>    while(j!=</a:t>
            </a:r>
            <a:r>
              <a:rPr lang="en-IN" sz="2000" dirty="0" err="1">
                <a:latin typeface="Consolas" pitchFamily="49" charset="0"/>
                <a:cs typeface="Consolas" pitchFamily="49" charset="0"/>
              </a:rPr>
              <a:t>i</a:t>
            </a:r>
            <a:r>
              <a:rPr lang="en-IN" sz="2000" dirty="0">
                <a:latin typeface="Consolas" pitchFamily="49" charset="0"/>
                <a:cs typeface="Consolas" pitchFamily="49" charset="0"/>
              </a:rPr>
              <a:t>)</a:t>
            </a:r>
          </a:p>
          <a:p>
            <a:r>
              <a:rPr lang="en-IN" sz="2000" dirty="0">
                <a:latin typeface="Consolas" pitchFamily="49" charset="0"/>
                <a:cs typeface="Consolas" pitchFamily="49" charset="0"/>
              </a:rPr>
              <a:t>       TEMP</a:t>
            </a:r>
            <a:r>
              <a:rPr lang="en-IN" sz="2000" dirty="0">
                <a:latin typeface="Consolas" pitchFamily="49" charset="0"/>
                <a:cs typeface="Consolas" pitchFamily="49" charset="0"/>
                <a:sym typeface="Wingdings" panose="05000000000000000000" pitchFamily="2" charset="2"/>
              </a:rPr>
              <a:t>TEMP-&gt;NEXT</a:t>
            </a:r>
          </a:p>
          <a:p>
            <a:r>
              <a:rPr lang="en-IN" sz="2000" dirty="0">
                <a:latin typeface="Consolas" pitchFamily="49" charset="0"/>
                <a:cs typeface="Consolas" pitchFamily="49" charset="0"/>
                <a:sym typeface="Wingdings" panose="05000000000000000000" pitchFamily="2" charset="2"/>
              </a:rPr>
              <a:t>       jj+1</a:t>
            </a:r>
          </a:p>
          <a:p>
            <a:r>
              <a:rPr lang="en-IN" sz="1600" dirty="0">
                <a:solidFill>
                  <a:srgbClr val="FF0000"/>
                </a:solidFill>
                <a:latin typeface="Consolas" pitchFamily="49" charset="0"/>
                <a:cs typeface="Consolas" pitchFamily="49" charset="0"/>
              </a:rPr>
              <a:t>we reached to one node before the actual one</a:t>
            </a:r>
          </a:p>
          <a:p>
            <a:r>
              <a:rPr lang="en-IN" sz="2000" b="1" dirty="0">
                <a:solidFill>
                  <a:schemeClr val="tx2"/>
                </a:solidFill>
                <a:latin typeface="Consolas" pitchFamily="49" charset="0"/>
                <a:cs typeface="Consolas" pitchFamily="49" charset="0"/>
              </a:rPr>
              <a:t>4. [Insert the node]</a:t>
            </a:r>
          </a:p>
          <a:p>
            <a:r>
              <a:rPr lang="en-IN" sz="2000" dirty="0">
                <a:latin typeface="Consolas" pitchFamily="49" charset="0"/>
                <a:cs typeface="Consolas" pitchFamily="49" charset="0"/>
              </a:rPr>
              <a:t>    NEW-&gt;PREV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TEMP</a:t>
            </a:r>
          </a:p>
          <a:p>
            <a:r>
              <a:rPr lang="en-IN" sz="2000" dirty="0">
                <a:latin typeface="Consolas" pitchFamily="49" charset="0"/>
                <a:cs typeface="Consolas" pitchFamily="49" charset="0"/>
              </a:rPr>
              <a:t>    NEW-&gt;NEXT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TEMP-&gt;NEXT</a:t>
            </a:r>
          </a:p>
          <a:p>
            <a:r>
              <a:rPr lang="en-IN" sz="2000" dirty="0">
                <a:latin typeface="Consolas" pitchFamily="49" charset="0"/>
                <a:cs typeface="Consolas" pitchFamily="49" charset="0"/>
              </a:rPr>
              <a:t>    TEMP-&gt;NEXT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(NEW-&gt;NEXT)-&gt;PREV)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NEW</a:t>
            </a:r>
          </a:p>
          <a:p>
            <a:r>
              <a:rPr lang="en-IN" sz="2000" dirty="0">
                <a:latin typeface="Consolas" pitchFamily="49" charset="0"/>
                <a:cs typeface="Consolas" pitchFamily="49" charset="0"/>
              </a:rPr>
              <a:t>    Return</a:t>
            </a:r>
          </a:p>
          <a:p>
            <a:endParaRPr lang="en-IN" sz="2000" b="1" dirty="0">
              <a:solidFill>
                <a:schemeClr val="tx2"/>
              </a:solidFill>
              <a:latin typeface="Consolas" pitchFamily="49" charset="0"/>
              <a:cs typeface="Consolas" pitchFamily="49" charset="0"/>
            </a:endParaRPr>
          </a:p>
          <a:p>
            <a:r>
              <a:rPr lang="en-IN" sz="2000" dirty="0">
                <a:latin typeface="Consolas" pitchFamily="49" charset="0"/>
                <a:cs typeface="Consolas" pitchFamily="49" charset="0"/>
              </a:rPr>
              <a:t>    </a:t>
            </a:r>
          </a:p>
        </p:txBody>
      </p:sp>
      <p:sp>
        <p:nvSpPr>
          <p:cNvPr id="5" name="Left Arrow 4"/>
          <p:cNvSpPr/>
          <p:nvPr/>
        </p:nvSpPr>
        <p:spPr>
          <a:xfrm>
            <a:off x="1571172" y="1280881"/>
            <a:ext cx="457200" cy="228600"/>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15422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DOU _DEL (L, R, OLD)</a:t>
            </a:r>
            <a:endParaRPr lang="en-US" dirty="0"/>
          </a:p>
        </p:txBody>
      </p:sp>
      <p:sp>
        <p:nvSpPr>
          <p:cNvPr id="3" name="Content Placeholder 2"/>
          <p:cNvSpPr>
            <a:spLocks noGrp="1"/>
          </p:cNvSpPr>
          <p:nvPr>
            <p:ph idx="1"/>
          </p:nvPr>
        </p:nvSpPr>
        <p:spPr/>
        <p:txBody>
          <a:bodyPr/>
          <a:lstStyle/>
          <a:p>
            <a:r>
              <a:rPr lang="en-IN" dirty="0"/>
              <a:t>This algorithm </a:t>
            </a:r>
            <a:r>
              <a:rPr lang="en-IN" b="1" dirty="0">
                <a:solidFill>
                  <a:srgbClr val="C00000"/>
                </a:solidFill>
              </a:rPr>
              <a:t>deletes</a:t>
            </a:r>
            <a:r>
              <a:rPr lang="en-IN" b="1" dirty="0">
                <a:solidFill>
                  <a:srgbClr val="FF0000"/>
                </a:solidFill>
              </a:rPr>
              <a:t> </a:t>
            </a:r>
            <a:r>
              <a:rPr lang="en-IN" b="1" dirty="0">
                <a:solidFill>
                  <a:srgbClr val="C00000"/>
                </a:solidFill>
              </a:rPr>
              <a:t>the node</a:t>
            </a:r>
            <a:r>
              <a:rPr lang="en-IN" dirty="0">
                <a:solidFill>
                  <a:srgbClr val="C00000"/>
                </a:solidFill>
              </a:rPr>
              <a:t> </a:t>
            </a:r>
            <a:r>
              <a:rPr lang="en-IN" dirty="0"/>
              <a:t>whose </a:t>
            </a:r>
            <a:r>
              <a:rPr lang="en-IN" b="1" dirty="0">
                <a:solidFill>
                  <a:srgbClr val="C00000"/>
                </a:solidFill>
              </a:rPr>
              <a:t>value</a:t>
            </a:r>
            <a:r>
              <a:rPr lang="en-IN" dirty="0">
                <a:solidFill>
                  <a:srgbClr val="C00000"/>
                </a:solidFill>
              </a:rPr>
              <a:t> </a:t>
            </a:r>
            <a:r>
              <a:rPr lang="en-IN" dirty="0"/>
              <a:t>is contained in the variable </a:t>
            </a:r>
            <a:r>
              <a:rPr lang="en-IN" b="1" dirty="0">
                <a:solidFill>
                  <a:srgbClr val="C00000"/>
                </a:solidFill>
              </a:rPr>
              <a:t>OLD.</a:t>
            </a:r>
          </a:p>
          <a:p>
            <a:r>
              <a:rPr lang="en-IN" dirty="0"/>
              <a:t>Typical node of doubly linked list contains following fields </a:t>
            </a:r>
            <a:r>
              <a:rPr lang="en-IN" b="1" dirty="0">
                <a:solidFill>
                  <a:srgbClr val="C00000"/>
                </a:solidFill>
              </a:rPr>
              <a:t>PREV</a:t>
            </a:r>
            <a:r>
              <a:rPr lang="en-IN" dirty="0"/>
              <a:t>, </a:t>
            </a:r>
            <a:r>
              <a:rPr lang="en-IN" b="1" dirty="0">
                <a:solidFill>
                  <a:srgbClr val="C00000"/>
                </a:solidFill>
              </a:rPr>
              <a:t>NEXT</a:t>
            </a:r>
            <a:r>
              <a:rPr lang="en-IN" dirty="0">
                <a:solidFill>
                  <a:srgbClr val="C00000"/>
                </a:solidFill>
              </a:rPr>
              <a:t> </a:t>
            </a:r>
            <a:r>
              <a:rPr lang="en-IN" dirty="0"/>
              <a:t>and </a:t>
            </a:r>
            <a:r>
              <a:rPr lang="en-IN" b="1" dirty="0">
                <a:solidFill>
                  <a:srgbClr val="C00000"/>
                </a:solidFill>
              </a:rPr>
              <a:t>INFO.</a:t>
            </a:r>
          </a:p>
          <a:p>
            <a:r>
              <a:rPr lang="en-IN" b="1" dirty="0">
                <a:solidFill>
                  <a:srgbClr val="C00000"/>
                </a:solidFill>
              </a:rPr>
              <a:t>PREV</a:t>
            </a:r>
            <a:r>
              <a:rPr lang="en-IN" dirty="0">
                <a:solidFill>
                  <a:srgbClr val="C00000"/>
                </a:solidFill>
              </a:rPr>
              <a:t> </a:t>
            </a:r>
            <a:r>
              <a:rPr lang="en-IN" dirty="0"/>
              <a:t>is pointer variable pointing to Predecessor of a node.</a:t>
            </a:r>
          </a:p>
          <a:p>
            <a:r>
              <a:rPr lang="en-IN" b="1" dirty="0">
                <a:solidFill>
                  <a:srgbClr val="C00000"/>
                </a:solidFill>
              </a:rPr>
              <a:t>NEXT</a:t>
            </a:r>
            <a:r>
              <a:rPr lang="en-IN" dirty="0">
                <a:solidFill>
                  <a:srgbClr val="C00000"/>
                </a:solidFill>
              </a:rPr>
              <a:t> </a:t>
            </a:r>
            <a:r>
              <a:rPr lang="en-IN" dirty="0"/>
              <a:t>is pointer variable pointing to Successor of a node.</a:t>
            </a:r>
          </a:p>
          <a:p>
            <a:r>
              <a:rPr lang="en-IN" b="1" dirty="0">
                <a:solidFill>
                  <a:srgbClr val="C00000"/>
                </a:solidFill>
              </a:rPr>
              <a:t>L</a:t>
            </a:r>
            <a:r>
              <a:rPr lang="en-IN" dirty="0">
                <a:solidFill>
                  <a:srgbClr val="C00000"/>
                </a:solidFill>
              </a:rPr>
              <a:t> </a:t>
            </a:r>
            <a:r>
              <a:rPr lang="en-IN" dirty="0"/>
              <a:t>&amp; </a:t>
            </a:r>
            <a:r>
              <a:rPr lang="en-IN" b="1" dirty="0">
                <a:solidFill>
                  <a:srgbClr val="C00000"/>
                </a:solidFill>
              </a:rPr>
              <a:t>R</a:t>
            </a:r>
            <a:r>
              <a:rPr lang="en-IN" dirty="0">
                <a:solidFill>
                  <a:srgbClr val="C00000"/>
                </a:solidFill>
              </a:rPr>
              <a:t> </a:t>
            </a:r>
            <a:r>
              <a:rPr lang="en-IN" dirty="0"/>
              <a:t>are pointer variables pointing for Leftmost and Rightmost node of Linked List.</a:t>
            </a:r>
          </a:p>
          <a:p>
            <a:endParaRPr lang="en-IN" dirty="0"/>
          </a:p>
          <a:p>
            <a:endParaRPr lang="en-US" dirty="0"/>
          </a:p>
          <a:p>
            <a:endParaRPr lang="en-US" dirty="0"/>
          </a:p>
        </p:txBody>
      </p:sp>
    </p:spTree>
    <p:extLst>
      <p:ext uri="{BB962C8B-B14F-4D97-AF65-F5344CB8AC3E}">
        <p14:creationId xmlns:p14="http://schemas.microsoft.com/office/powerpoint/2010/main" val="299862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Delete from Doubly Linked List</a:t>
            </a:r>
            <a:endParaRPr lang="en-US" dirty="0"/>
          </a:p>
        </p:txBody>
      </p:sp>
      <p:grpSp>
        <p:nvGrpSpPr>
          <p:cNvPr id="4" name="Group 3"/>
          <p:cNvGrpSpPr/>
          <p:nvPr/>
        </p:nvGrpSpPr>
        <p:grpSpPr>
          <a:xfrm>
            <a:off x="2362200" y="2997200"/>
            <a:ext cx="1066800" cy="381000"/>
            <a:chOff x="304800" y="4191000"/>
            <a:chExt cx="1066800" cy="381000"/>
          </a:xfrm>
        </p:grpSpPr>
        <p:sp>
          <p:nvSpPr>
            <p:cNvPr id="5" name="Rectangle 4"/>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6" name="Rectangle 5"/>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7" name="Rectangle 6"/>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8" name="Group 7"/>
          <p:cNvGrpSpPr/>
          <p:nvPr/>
        </p:nvGrpSpPr>
        <p:grpSpPr>
          <a:xfrm>
            <a:off x="5562600" y="2997200"/>
            <a:ext cx="1066800" cy="381000"/>
            <a:chOff x="304800" y="4191000"/>
            <a:chExt cx="1066800" cy="381000"/>
          </a:xfrm>
        </p:grpSpPr>
        <p:sp>
          <p:nvSpPr>
            <p:cNvPr id="9" name="Rectangle 8"/>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0" name="Rectangle 9"/>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1" name="Rectangle 10"/>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2" name="Group 11"/>
          <p:cNvGrpSpPr/>
          <p:nvPr/>
        </p:nvGrpSpPr>
        <p:grpSpPr>
          <a:xfrm>
            <a:off x="7162800" y="2997200"/>
            <a:ext cx="1066800" cy="381000"/>
            <a:chOff x="304800" y="4191000"/>
            <a:chExt cx="1066800" cy="381000"/>
          </a:xfrm>
        </p:grpSpPr>
        <p:sp>
          <p:nvSpPr>
            <p:cNvPr id="13" name="Rectangle 12"/>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4" name="Rectangle 13"/>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5" name="Rectangle 14"/>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grpSp>
        <p:nvGrpSpPr>
          <p:cNvPr id="16" name="Group 15"/>
          <p:cNvGrpSpPr/>
          <p:nvPr/>
        </p:nvGrpSpPr>
        <p:grpSpPr>
          <a:xfrm>
            <a:off x="8763000" y="2997200"/>
            <a:ext cx="1066800" cy="381000"/>
            <a:chOff x="304800" y="4191000"/>
            <a:chExt cx="1066800" cy="381000"/>
          </a:xfrm>
        </p:grpSpPr>
        <p:sp>
          <p:nvSpPr>
            <p:cNvPr id="17" name="Rectangle 16"/>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8" name="Rectangle 17"/>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19" name="Rectangle 18"/>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21" name="Straight Arrow Connector 20"/>
          <p:cNvCxnSpPr/>
          <p:nvPr/>
        </p:nvCxnSpPr>
        <p:spPr>
          <a:xfrm>
            <a:off x="6629400" y="3073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p:nvPr/>
        </p:nvCxnSpPr>
        <p:spPr>
          <a:xfrm>
            <a:off x="8229600" y="3073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 name="Straight Arrow Connector 22"/>
          <p:cNvCxnSpPr/>
          <p:nvPr/>
        </p:nvCxnSpPr>
        <p:spPr>
          <a:xfrm>
            <a:off x="8229600" y="3302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p:nvPr/>
        </p:nvCxnSpPr>
        <p:spPr>
          <a:xfrm>
            <a:off x="6629400" y="3302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26" name="Straight Connector 25"/>
          <p:cNvCxnSpPr/>
          <p:nvPr/>
        </p:nvCxnSpPr>
        <p:spPr>
          <a:xfrm flipV="1">
            <a:off x="9525000" y="29972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27" name="Straight Connector 26"/>
          <p:cNvCxnSpPr/>
          <p:nvPr/>
        </p:nvCxnSpPr>
        <p:spPr>
          <a:xfrm flipH="1">
            <a:off x="2362200" y="2997200"/>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2364753" y="3618468"/>
            <a:ext cx="295274" cy="369332"/>
          </a:xfrm>
          <a:prstGeom prst="rect">
            <a:avLst/>
          </a:prstGeom>
          <a:noFill/>
        </p:spPr>
        <p:txBody>
          <a:bodyPr wrap="none" rtlCol="0">
            <a:spAutoFit/>
          </a:bodyPr>
          <a:lstStyle/>
          <a:p>
            <a:pPr algn="ctr"/>
            <a:r>
              <a:rPr lang="en-IN" b="1" dirty="0"/>
              <a:t>L</a:t>
            </a:r>
            <a:endParaRPr lang="en-US" b="1" dirty="0"/>
          </a:p>
        </p:txBody>
      </p:sp>
      <p:sp>
        <p:nvSpPr>
          <p:cNvPr id="29" name="TextBox 28"/>
          <p:cNvSpPr txBox="1"/>
          <p:nvPr/>
        </p:nvSpPr>
        <p:spPr>
          <a:xfrm>
            <a:off x="9515290" y="3606800"/>
            <a:ext cx="314510" cy="369332"/>
          </a:xfrm>
          <a:prstGeom prst="rect">
            <a:avLst/>
          </a:prstGeom>
          <a:noFill/>
        </p:spPr>
        <p:txBody>
          <a:bodyPr wrap="none" rtlCol="0">
            <a:spAutoFit/>
          </a:bodyPr>
          <a:lstStyle/>
          <a:p>
            <a:pPr algn="ctr"/>
            <a:r>
              <a:rPr lang="en-IN" b="1" dirty="0"/>
              <a:t>R</a:t>
            </a:r>
            <a:endParaRPr lang="en-US" b="1" dirty="0"/>
          </a:p>
        </p:txBody>
      </p:sp>
      <p:cxnSp>
        <p:nvCxnSpPr>
          <p:cNvPr id="30" name="Straight Arrow Connector 29"/>
          <p:cNvCxnSpPr>
            <a:stCxn id="28" idx="0"/>
            <a:endCxn id="6" idx="2"/>
          </p:cNvCxnSpPr>
          <p:nvPr/>
        </p:nvCxnSpPr>
        <p:spPr>
          <a:xfrm flipV="1">
            <a:off x="2512390" y="3378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 name="Straight Arrow Connector 30"/>
          <p:cNvCxnSpPr/>
          <p:nvPr/>
        </p:nvCxnSpPr>
        <p:spPr>
          <a:xfrm flipV="1">
            <a:off x="9675190" y="3378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33" name="Group 32"/>
          <p:cNvGrpSpPr/>
          <p:nvPr/>
        </p:nvGrpSpPr>
        <p:grpSpPr>
          <a:xfrm>
            <a:off x="3962400" y="2997200"/>
            <a:ext cx="1066800" cy="381000"/>
            <a:chOff x="304800" y="4191000"/>
            <a:chExt cx="1066800" cy="381000"/>
          </a:xfrm>
        </p:grpSpPr>
        <p:sp>
          <p:nvSpPr>
            <p:cNvPr id="34" name="Rectangle 33"/>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5" name="Rectangle 34"/>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36" name="Rectangle 35"/>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cxnSp>
        <p:nvCxnSpPr>
          <p:cNvPr id="41" name="Straight Arrow Connector 40"/>
          <p:cNvCxnSpPr/>
          <p:nvPr/>
        </p:nvCxnSpPr>
        <p:spPr>
          <a:xfrm>
            <a:off x="3429000" y="3073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p:nvPr/>
        </p:nvCxnSpPr>
        <p:spPr>
          <a:xfrm>
            <a:off x="5029200" y="3073400"/>
            <a:ext cx="533400" cy="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5" name="Straight Arrow Connector 44"/>
          <p:cNvCxnSpPr/>
          <p:nvPr/>
        </p:nvCxnSpPr>
        <p:spPr>
          <a:xfrm>
            <a:off x="5029200" y="3302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p:nvPr/>
        </p:nvCxnSpPr>
        <p:spPr>
          <a:xfrm>
            <a:off x="3429000" y="3302000"/>
            <a:ext cx="533400" cy="0"/>
          </a:xfrm>
          <a:prstGeom prst="straightConnector1">
            <a:avLst/>
          </a:prstGeom>
          <a:ln w="28575">
            <a:solidFill>
              <a:srgbClr val="B84742"/>
            </a:solidFill>
            <a:headEnd type="arrow"/>
            <a:tailEnd type="none"/>
          </a:ln>
        </p:spPr>
        <p:style>
          <a:lnRef idx="2">
            <a:schemeClr val="accent2"/>
          </a:lnRef>
          <a:fillRef idx="0">
            <a:schemeClr val="accent2"/>
          </a:fillRef>
          <a:effectRef idx="1">
            <a:schemeClr val="accent2"/>
          </a:effectRef>
          <a:fontRef idx="minor">
            <a:schemeClr val="tx1"/>
          </a:fontRef>
        </p:style>
      </p:cxnSp>
      <p:sp>
        <p:nvSpPr>
          <p:cNvPr id="47" name="TextBox 46"/>
          <p:cNvSpPr txBox="1"/>
          <p:nvPr/>
        </p:nvSpPr>
        <p:spPr>
          <a:xfrm>
            <a:off x="5804093" y="2619986"/>
            <a:ext cx="583814" cy="369332"/>
          </a:xfrm>
          <a:prstGeom prst="rect">
            <a:avLst/>
          </a:prstGeom>
          <a:noFill/>
        </p:spPr>
        <p:txBody>
          <a:bodyPr wrap="none" rtlCol="0">
            <a:spAutoFit/>
          </a:bodyPr>
          <a:lstStyle/>
          <a:p>
            <a:pPr algn="ctr"/>
            <a:r>
              <a:rPr lang="en-IN" b="1" dirty="0"/>
              <a:t>OLD</a:t>
            </a:r>
            <a:endParaRPr lang="en-US" b="1" dirty="0"/>
          </a:p>
        </p:txBody>
      </p:sp>
      <p:sp>
        <p:nvSpPr>
          <p:cNvPr id="48" name="TextBox 47"/>
          <p:cNvSpPr txBox="1"/>
          <p:nvPr/>
        </p:nvSpPr>
        <p:spPr>
          <a:xfrm>
            <a:off x="2590800" y="2640584"/>
            <a:ext cx="583814" cy="369332"/>
          </a:xfrm>
          <a:prstGeom prst="rect">
            <a:avLst/>
          </a:prstGeom>
          <a:noFill/>
        </p:spPr>
        <p:txBody>
          <a:bodyPr wrap="none" rtlCol="0">
            <a:spAutoFit/>
          </a:bodyPr>
          <a:lstStyle/>
          <a:p>
            <a:pPr algn="ctr"/>
            <a:r>
              <a:rPr lang="en-IN" b="1" dirty="0"/>
              <a:t>OLD</a:t>
            </a:r>
            <a:endParaRPr lang="en-US" b="1" dirty="0"/>
          </a:p>
        </p:txBody>
      </p:sp>
      <p:sp>
        <p:nvSpPr>
          <p:cNvPr id="49" name="TextBox 48"/>
          <p:cNvSpPr txBox="1"/>
          <p:nvPr/>
        </p:nvSpPr>
        <p:spPr>
          <a:xfrm>
            <a:off x="9017386" y="2627868"/>
            <a:ext cx="583814" cy="369332"/>
          </a:xfrm>
          <a:prstGeom prst="rect">
            <a:avLst/>
          </a:prstGeom>
          <a:noFill/>
        </p:spPr>
        <p:txBody>
          <a:bodyPr wrap="none" rtlCol="0">
            <a:spAutoFit/>
          </a:bodyPr>
          <a:lstStyle/>
          <a:p>
            <a:pPr algn="ctr"/>
            <a:r>
              <a:rPr lang="en-IN" b="1" dirty="0"/>
              <a:t>OLD</a:t>
            </a:r>
            <a:endParaRPr lang="en-US" b="1" dirty="0"/>
          </a:p>
        </p:txBody>
      </p:sp>
      <p:grpSp>
        <p:nvGrpSpPr>
          <p:cNvPr id="50" name="Group 49"/>
          <p:cNvGrpSpPr/>
          <p:nvPr/>
        </p:nvGrpSpPr>
        <p:grpSpPr>
          <a:xfrm>
            <a:off x="4613434" y="1219200"/>
            <a:ext cx="1066800" cy="381000"/>
            <a:chOff x="304800" y="4191000"/>
            <a:chExt cx="1066800" cy="381000"/>
          </a:xfrm>
        </p:grpSpPr>
        <p:sp>
          <p:nvSpPr>
            <p:cNvPr id="51" name="Rectangle 50"/>
            <p:cNvSpPr/>
            <p:nvPr/>
          </p:nvSpPr>
          <p:spPr>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10</a:t>
              </a:r>
              <a:endParaRPr lang="en-US" sz="2000" b="1" dirty="0"/>
            </a:p>
          </p:txBody>
        </p:sp>
        <p:sp>
          <p:nvSpPr>
            <p:cNvPr id="52" name="Rectangle 51"/>
            <p:cNvSpPr/>
            <p:nvPr/>
          </p:nvSpPr>
          <p:spPr>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sp>
          <p:nvSpPr>
            <p:cNvPr id="53" name="Rectangle 52"/>
            <p:cNvSpPr/>
            <p:nvPr/>
          </p:nvSpPr>
          <p:spPr>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p>
          </p:txBody>
        </p:sp>
      </p:grpSp>
      <p:sp>
        <p:nvSpPr>
          <p:cNvPr id="54" name="TextBox 53"/>
          <p:cNvSpPr txBox="1"/>
          <p:nvPr/>
        </p:nvSpPr>
        <p:spPr>
          <a:xfrm>
            <a:off x="4877845" y="1611868"/>
            <a:ext cx="583814" cy="369332"/>
          </a:xfrm>
          <a:prstGeom prst="rect">
            <a:avLst/>
          </a:prstGeom>
          <a:noFill/>
        </p:spPr>
        <p:txBody>
          <a:bodyPr wrap="none" rtlCol="0">
            <a:spAutoFit/>
          </a:bodyPr>
          <a:lstStyle/>
          <a:p>
            <a:pPr algn="ctr"/>
            <a:r>
              <a:rPr lang="en-IN" b="1" dirty="0"/>
              <a:t>OLD</a:t>
            </a:r>
            <a:endParaRPr lang="en-US" b="1" dirty="0"/>
          </a:p>
        </p:txBody>
      </p:sp>
      <p:cxnSp>
        <p:nvCxnSpPr>
          <p:cNvPr id="55" name="Straight Connector 54"/>
          <p:cNvCxnSpPr/>
          <p:nvPr/>
        </p:nvCxnSpPr>
        <p:spPr>
          <a:xfrm flipH="1">
            <a:off x="4608952" y="1230868"/>
            <a:ext cx="304800" cy="381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56" name="Straight Connector 55"/>
          <p:cNvCxnSpPr/>
          <p:nvPr/>
        </p:nvCxnSpPr>
        <p:spPr>
          <a:xfrm flipH="1">
            <a:off x="5375434" y="1219200"/>
            <a:ext cx="304800" cy="381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57" name="TextBox 56"/>
          <p:cNvSpPr txBox="1"/>
          <p:nvPr/>
        </p:nvSpPr>
        <p:spPr>
          <a:xfrm>
            <a:off x="4602540" y="1809105"/>
            <a:ext cx="295274" cy="369332"/>
          </a:xfrm>
          <a:prstGeom prst="rect">
            <a:avLst/>
          </a:prstGeom>
          <a:noFill/>
        </p:spPr>
        <p:txBody>
          <a:bodyPr wrap="none" rtlCol="0">
            <a:spAutoFit/>
          </a:bodyPr>
          <a:lstStyle/>
          <a:p>
            <a:pPr algn="ctr"/>
            <a:r>
              <a:rPr lang="en-IN" b="1" dirty="0"/>
              <a:t>L</a:t>
            </a:r>
            <a:endParaRPr lang="en-US" b="1" dirty="0"/>
          </a:p>
        </p:txBody>
      </p:sp>
      <p:cxnSp>
        <p:nvCxnSpPr>
          <p:cNvPr id="58" name="Straight Arrow Connector 57"/>
          <p:cNvCxnSpPr>
            <a:stCxn id="57" idx="0"/>
          </p:cNvCxnSpPr>
          <p:nvPr/>
        </p:nvCxnSpPr>
        <p:spPr>
          <a:xfrm flipV="1">
            <a:off x="4750177" y="1568837"/>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9" name="TextBox 58"/>
          <p:cNvSpPr txBox="1"/>
          <p:nvPr/>
        </p:nvSpPr>
        <p:spPr>
          <a:xfrm>
            <a:off x="5434890" y="1809105"/>
            <a:ext cx="314510" cy="369332"/>
          </a:xfrm>
          <a:prstGeom prst="rect">
            <a:avLst/>
          </a:prstGeom>
          <a:noFill/>
        </p:spPr>
        <p:txBody>
          <a:bodyPr wrap="none" rtlCol="0">
            <a:spAutoFit/>
          </a:bodyPr>
          <a:lstStyle/>
          <a:p>
            <a:pPr algn="ctr"/>
            <a:r>
              <a:rPr lang="en-IN" b="1" dirty="0"/>
              <a:t>R</a:t>
            </a:r>
            <a:endParaRPr lang="en-US" b="1" dirty="0"/>
          </a:p>
        </p:txBody>
      </p:sp>
      <p:cxnSp>
        <p:nvCxnSpPr>
          <p:cNvPr id="60" name="Straight Arrow Connector 59"/>
          <p:cNvCxnSpPr>
            <a:stCxn id="59" idx="0"/>
          </p:cNvCxnSpPr>
          <p:nvPr/>
        </p:nvCxnSpPr>
        <p:spPr>
          <a:xfrm flipV="1">
            <a:off x="5592145" y="1568837"/>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3" name="TextBox 62"/>
          <p:cNvSpPr txBox="1"/>
          <p:nvPr/>
        </p:nvSpPr>
        <p:spPr>
          <a:xfrm>
            <a:off x="6352735" y="1295400"/>
            <a:ext cx="1580882" cy="369332"/>
          </a:xfrm>
          <a:prstGeom prst="rect">
            <a:avLst/>
          </a:prstGeom>
          <a:noFill/>
        </p:spPr>
        <p:txBody>
          <a:bodyPr wrap="none" rtlCol="0">
            <a:spAutoFit/>
          </a:bodyPr>
          <a:lstStyle/>
          <a:p>
            <a:pPr algn="ctr"/>
            <a:r>
              <a:rPr lang="en-IN" b="1" dirty="0"/>
              <a:t>L </a:t>
            </a:r>
            <a:r>
              <a:rPr lang="en-IN" b="1" dirty="0">
                <a:sym typeface="Wingdings" pitchFamily="2" charset="2"/>
              </a:rPr>
              <a:t> R  NULL</a:t>
            </a:r>
            <a:endParaRPr lang="en-US" b="1" dirty="0"/>
          </a:p>
        </p:txBody>
      </p:sp>
      <p:sp>
        <p:nvSpPr>
          <p:cNvPr id="64" name="TextBox 63"/>
          <p:cNvSpPr txBox="1"/>
          <p:nvPr/>
        </p:nvSpPr>
        <p:spPr>
          <a:xfrm>
            <a:off x="1524001" y="4368801"/>
            <a:ext cx="1814920" cy="646331"/>
          </a:xfrm>
          <a:prstGeom prst="rect">
            <a:avLst/>
          </a:prstGeom>
          <a:noFill/>
        </p:spPr>
        <p:txBody>
          <a:bodyPr wrap="none" rtlCol="0">
            <a:spAutoFit/>
          </a:bodyPr>
          <a:lstStyle/>
          <a:p>
            <a:r>
              <a:rPr lang="en-IN" b="1" dirty="0"/>
              <a:t>L </a:t>
            </a:r>
            <a:r>
              <a:rPr lang="en-IN" b="1" dirty="0">
                <a:sym typeface="Wingdings" pitchFamily="2" charset="2"/>
              </a:rPr>
              <a:t></a:t>
            </a:r>
            <a:r>
              <a:rPr lang="en-IN" b="1" dirty="0"/>
              <a:t> L-&gt;NEXT</a:t>
            </a:r>
          </a:p>
          <a:p>
            <a:r>
              <a:rPr lang="en-IN" b="1" dirty="0"/>
              <a:t>L-&gt;PREV </a:t>
            </a:r>
            <a:r>
              <a:rPr lang="en-IN" b="1" dirty="0">
                <a:sym typeface="Wingdings" pitchFamily="2" charset="2"/>
              </a:rPr>
              <a:t></a:t>
            </a:r>
            <a:r>
              <a:rPr lang="en-IN" b="1" dirty="0"/>
              <a:t> NULL</a:t>
            </a:r>
          </a:p>
        </p:txBody>
      </p:sp>
      <p:sp>
        <p:nvSpPr>
          <p:cNvPr id="65" name="TextBox 64"/>
          <p:cNvSpPr txBox="1"/>
          <p:nvPr/>
        </p:nvSpPr>
        <p:spPr>
          <a:xfrm>
            <a:off x="8840962" y="4368801"/>
            <a:ext cx="1835759" cy="646331"/>
          </a:xfrm>
          <a:prstGeom prst="rect">
            <a:avLst/>
          </a:prstGeom>
          <a:noFill/>
        </p:spPr>
        <p:txBody>
          <a:bodyPr wrap="none" rtlCol="0">
            <a:spAutoFit/>
          </a:bodyPr>
          <a:lstStyle/>
          <a:p>
            <a:r>
              <a:rPr lang="en-IN" b="1" dirty="0"/>
              <a:t>R </a:t>
            </a:r>
            <a:r>
              <a:rPr lang="en-IN" b="1" dirty="0">
                <a:sym typeface="Wingdings" pitchFamily="2" charset="2"/>
              </a:rPr>
              <a:t></a:t>
            </a:r>
            <a:r>
              <a:rPr lang="en-IN" b="1" dirty="0"/>
              <a:t> R-&gt;PREV</a:t>
            </a:r>
          </a:p>
          <a:p>
            <a:r>
              <a:rPr lang="en-IN" b="1" dirty="0"/>
              <a:t>R-&gt;NEXT </a:t>
            </a:r>
            <a:r>
              <a:rPr lang="en-IN" b="1" dirty="0">
                <a:sym typeface="Wingdings" pitchFamily="2" charset="2"/>
              </a:rPr>
              <a:t></a:t>
            </a:r>
            <a:r>
              <a:rPr lang="en-IN" b="1" dirty="0"/>
              <a:t> NULL</a:t>
            </a:r>
          </a:p>
        </p:txBody>
      </p:sp>
      <p:sp>
        <p:nvSpPr>
          <p:cNvPr id="66" name="TextBox 65"/>
          <p:cNvSpPr txBox="1"/>
          <p:nvPr/>
        </p:nvSpPr>
        <p:spPr>
          <a:xfrm>
            <a:off x="4572001" y="4673600"/>
            <a:ext cx="3459601" cy="369332"/>
          </a:xfrm>
          <a:prstGeom prst="rect">
            <a:avLst/>
          </a:prstGeom>
          <a:noFill/>
        </p:spPr>
        <p:txBody>
          <a:bodyPr wrap="none" rtlCol="0">
            <a:spAutoFit/>
          </a:bodyPr>
          <a:lstStyle/>
          <a:p>
            <a:r>
              <a:rPr lang="en-IN" b="1" dirty="0"/>
              <a:t>(OLD-&gt;NEXT)-&gt;PREV </a:t>
            </a:r>
            <a:r>
              <a:rPr lang="en-IN" b="1" dirty="0">
                <a:sym typeface="Wingdings" panose="05000000000000000000" pitchFamily="2" charset="2"/>
              </a:rPr>
              <a:t>OLD-&gt;PREV</a:t>
            </a:r>
            <a:endParaRPr lang="en-IN" b="1" dirty="0"/>
          </a:p>
        </p:txBody>
      </p:sp>
      <p:sp>
        <p:nvSpPr>
          <p:cNvPr id="67" name="Freeform 66"/>
          <p:cNvSpPr/>
          <p:nvPr/>
        </p:nvSpPr>
        <p:spPr>
          <a:xfrm>
            <a:off x="4901184" y="2396744"/>
            <a:ext cx="2389632" cy="585216"/>
          </a:xfrm>
          <a:custGeom>
            <a:avLst/>
            <a:gdLst>
              <a:gd name="connsiteX0" fmla="*/ 0 w 2389632"/>
              <a:gd name="connsiteY0" fmla="*/ 585216 h 585216"/>
              <a:gd name="connsiteX1" fmla="*/ 0 w 2389632"/>
              <a:gd name="connsiteY1" fmla="*/ 0 h 585216"/>
              <a:gd name="connsiteX2" fmla="*/ 2389632 w 2389632"/>
              <a:gd name="connsiteY2" fmla="*/ 0 h 585216"/>
              <a:gd name="connsiteX3" fmla="*/ 2389632 w 2389632"/>
              <a:gd name="connsiteY3" fmla="*/ 585216 h 585216"/>
            </a:gdLst>
            <a:ahLst/>
            <a:cxnLst>
              <a:cxn ang="0">
                <a:pos x="connsiteX0" y="connsiteY0"/>
              </a:cxn>
              <a:cxn ang="0">
                <a:pos x="connsiteX1" y="connsiteY1"/>
              </a:cxn>
              <a:cxn ang="0">
                <a:pos x="connsiteX2" y="connsiteY2"/>
              </a:cxn>
              <a:cxn ang="0">
                <a:pos x="connsiteX3" y="connsiteY3"/>
              </a:cxn>
            </a:cxnLst>
            <a:rect l="l" t="t" r="r" b="b"/>
            <a:pathLst>
              <a:path w="2389632" h="585216">
                <a:moveTo>
                  <a:pt x="0" y="585216"/>
                </a:moveTo>
                <a:lnTo>
                  <a:pt x="0" y="0"/>
                </a:lnTo>
                <a:lnTo>
                  <a:pt x="2389632" y="0"/>
                </a:lnTo>
                <a:lnTo>
                  <a:pt x="2389632" y="5852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8" name="Freeform 67"/>
          <p:cNvSpPr/>
          <p:nvPr/>
        </p:nvSpPr>
        <p:spPr>
          <a:xfrm>
            <a:off x="4913376" y="3372104"/>
            <a:ext cx="2401824" cy="512064"/>
          </a:xfrm>
          <a:custGeom>
            <a:avLst/>
            <a:gdLst>
              <a:gd name="connsiteX0" fmla="*/ 2401824 w 2401824"/>
              <a:gd name="connsiteY0" fmla="*/ 12192 h 512064"/>
              <a:gd name="connsiteX1" fmla="*/ 2401824 w 2401824"/>
              <a:gd name="connsiteY1" fmla="*/ 512064 h 512064"/>
              <a:gd name="connsiteX2" fmla="*/ 0 w 2401824"/>
              <a:gd name="connsiteY2" fmla="*/ 512064 h 512064"/>
              <a:gd name="connsiteX3" fmla="*/ 0 w 2401824"/>
              <a:gd name="connsiteY3" fmla="*/ 0 h 512064"/>
            </a:gdLst>
            <a:ahLst/>
            <a:cxnLst>
              <a:cxn ang="0">
                <a:pos x="connsiteX0" y="connsiteY0"/>
              </a:cxn>
              <a:cxn ang="0">
                <a:pos x="connsiteX1" y="connsiteY1"/>
              </a:cxn>
              <a:cxn ang="0">
                <a:pos x="connsiteX2" y="connsiteY2"/>
              </a:cxn>
              <a:cxn ang="0">
                <a:pos x="connsiteX3" y="connsiteY3"/>
              </a:cxn>
            </a:cxnLst>
            <a:rect l="l" t="t" r="r" b="b"/>
            <a:pathLst>
              <a:path w="2401824" h="512064">
                <a:moveTo>
                  <a:pt x="2401824" y="12192"/>
                </a:moveTo>
                <a:lnTo>
                  <a:pt x="2401824" y="512064"/>
                </a:lnTo>
                <a:lnTo>
                  <a:pt x="0" y="512064"/>
                </a:lnTo>
                <a:lnTo>
                  <a:pt x="0" y="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69" name="TextBox 68"/>
          <p:cNvSpPr txBox="1"/>
          <p:nvPr/>
        </p:nvSpPr>
        <p:spPr>
          <a:xfrm>
            <a:off x="4572000" y="4368800"/>
            <a:ext cx="3515706" cy="369332"/>
          </a:xfrm>
          <a:prstGeom prst="rect">
            <a:avLst/>
          </a:prstGeom>
          <a:noFill/>
        </p:spPr>
        <p:txBody>
          <a:bodyPr wrap="none" rtlCol="0">
            <a:spAutoFit/>
          </a:bodyPr>
          <a:lstStyle/>
          <a:p>
            <a:r>
              <a:rPr lang="en-IN" b="1" dirty="0"/>
              <a:t>(OLD-&gt;PREV)-&gt;NEXT </a:t>
            </a:r>
            <a:r>
              <a:rPr lang="en-IN" b="1" dirty="0">
                <a:sym typeface="Wingdings" pitchFamily="2" charset="2"/>
              </a:rPr>
              <a:t> OLD-&gt;NEXT</a:t>
            </a:r>
            <a:endParaRPr lang="en-IN" b="1" dirty="0"/>
          </a:p>
        </p:txBody>
      </p:sp>
      <p:sp>
        <p:nvSpPr>
          <p:cNvPr id="70" name="TextBox 69"/>
          <p:cNvSpPr txBox="1"/>
          <p:nvPr/>
        </p:nvSpPr>
        <p:spPr>
          <a:xfrm>
            <a:off x="3902138" y="3618468"/>
            <a:ext cx="295274" cy="369332"/>
          </a:xfrm>
          <a:prstGeom prst="rect">
            <a:avLst/>
          </a:prstGeom>
          <a:noFill/>
        </p:spPr>
        <p:txBody>
          <a:bodyPr wrap="none" rtlCol="0">
            <a:spAutoFit/>
          </a:bodyPr>
          <a:lstStyle/>
          <a:p>
            <a:pPr algn="ctr"/>
            <a:r>
              <a:rPr lang="en-IN" b="1" dirty="0"/>
              <a:t>L</a:t>
            </a:r>
            <a:endParaRPr lang="en-US" b="1" dirty="0"/>
          </a:p>
        </p:txBody>
      </p:sp>
      <p:cxnSp>
        <p:nvCxnSpPr>
          <p:cNvPr id="71" name="Straight Arrow Connector 70"/>
          <p:cNvCxnSpPr>
            <a:stCxn id="70" idx="0"/>
          </p:cNvCxnSpPr>
          <p:nvPr/>
        </p:nvCxnSpPr>
        <p:spPr>
          <a:xfrm flipV="1">
            <a:off x="4049775" y="3378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2" name="Straight Connector 71"/>
          <p:cNvCxnSpPr/>
          <p:nvPr/>
        </p:nvCxnSpPr>
        <p:spPr>
          <a:xfrm flipH="1">
            <a:off x="3947160" y="3001772"/>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73" name="TextBox 72"/>
          <p:cNvSpPr txBox="1"/>
          <p:nvPr/>
        </p:nvSpPr>
        <p:spPr>
          <a:xfrm>
            <a:off x="7924800" y="3606800"/>
            <a:ext cx="314510" cy="369332"/>
          </a:xfrm>
          <a:prstGeom prst="rect">
            <a:avLst/>
          </a:prstGeom>
          <a:noFill/>
        </p:spPr>
        <p:txBody>
          <a:bodyPr wrap="none" rtlCol="0">
            <a:spAutoFit/>
          </a:bodyPr>
          <a:lstStyle/>
          <a:p>
            <a:pPr algn="ctr"/>
            <a:r>
              <a:rPr lang="en-IN" b="1" dirty="0"/>
              <a:t>R</a:t>
            </a:r>
            <a:endParaRPr lang="en-US" b="1" dirty="0"/>
          </a:p>
        </p:txBody>
      </p:sp>
      <p:cxnSp>
        <p:nvCxnSpPr>
          <p:cNvPr id="74" name="Straight Arrow Connector 73"/>
          <p:cNvCxnSpPr/>
          <p:nvPr/>
        </p:nvCxnSpPr>
        <p:spPr>
          <a:xfrm flipV="1">
            <a:off x="8084700" y="3378200"/>
            <a:ext cx="2210" cy="2402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5" name="Straight Connector 74"/>
          <p:cNvCxnSpPr/>
          <p:nvPr/>
        </p:nvCxnSpPr>
        <p:spPr>
          <a:xfrm flipV="1">
            <a:off x="7924800" y="2989318"/>
            <a:ext cx="304800" cy="3810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88923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28"/>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30"/>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nodeType="clickEffect">
                                  <p:stCondLst>
                                    <p:cond delay="0"/>
                                  </p:stCondLst>
                                  <p:childTnLst>
                                    <p:set>
                                      <p:cBhvr>
                                        <p:cTn id="86" dur="1" fill="hold">
                                          <p:stCondLst>
                                            <p:cond delay="0"/>
                                          </p:stCondLst>
                                        </p:cTn>
                                        <p:tgtEl>
                                          <p:spTgt spid="27"/>
                                        </p:tgtEl>
                                        <p:attrNameLst>
                                          <p:attrName>style.visibility</p:attrName>
                                        </p:attrNameLst>
                                      </p:cBhvr>
                                      <p:to>
                                        <p:strVal val="hidden"/>
                                      </p:to>
                                    </p:set>
                                  </p:childTnLst>
                                </p:cTn>
                              </p:par>
                              <p:par>
                                <p:cTn id="87" presetID="1" presetClass="entr" presetSubtype="0" fill="hold" nodeType="withEffect">
                                  <p:stCondLst>
                                    <p:cond delay="0"/>
                                  </p:stCondLst>
                                  <p:childTnLst>
                                    <p:set>
                                      <p:cBhvr>
                                        <p:cTn id="88" dur="1" fill="hold">
                                          <p:stCondLst>
                                            <p:cond delay="0"/>
                                          </p:stCondLst>
                                        </p:cTn>
                                        <p:tgtEl>
                                          <p:spTgt spid="7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7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73"/>
                                        </p:tgtEl>
                                        <p:attrNameLst>
                                          <p:attrName>style.visibility</p:attrName>
                                        </p:attrNameLst>
                                      </p:cBhvr>
                                      <p:to>
                                        <p:strVal val="visible"/>
                                      </p:to>
                                    </p:set>
                                  </p:childTnLst>
                                </p:cTn>
                              </p:par>
                              <p:par>
                                <p:cTn id="103" presetID="1" presetClass="exit" presetSubtype="0" fill="hold" grpId="1" nodeType="withEffect">
                                  <p:stCondLst>
                                    <p:cond delay="0"/>
                                  </p:stCondLst>
                                  <p:childTnLst>
                                    <p:set>
                                      <p:cBhvr>
                                        <p:cTn id="104" dur="1" fill="hold">
                                          <p:stCondLst>
                                            <p:cond delay="0"/>
                                          </p:stCondLst>
                                        </p:cTn>
                                        <p:tgtEl>
                                          <p:spTgt spid="2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31"/>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75"/>
                                        </p:tgtEl>
                                        <p:attrNameLst>
                                          <p:attrName>style.visibility</p:attrName>
                                        </p:attrNameLst>
                                      </p:cBhvr>
                                      <p:to>
                                        <p:strVal val="visible"/>
                                      </p:to>
                                    </p:set>
                                  </p:childTnLst>
                                </p:cTn>
                              </p:par>
                              <p:par>
                                <p:cTn id="111" presetID="1" presetClass="exit" presetSubtype="0" fill="hold" nodeType="withEffect">
                                  <p:stCondLst>
                                    <p:cond delay="0"/>
                                  </p:stCondLst>
                                  <p:childTnLst>
                                    <p:set>
                                      <p:cBhvr>
                                        <p:cTn id="112" dur="1" fill="hold">
                                          <p:stCondLst>
                                            <p:cond delay="0"/>
                                          </p:stCondLst>
                                        </p:cTn>
                                        <p:tgtEl>
                                          <p:spTgt spid="26"/>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4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6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67"/>
                                        </p:tgtEl>
                                        <p:attrNameLst>
                                          <p:attrName>style.visibility</p:attrName>
                                        </p:attrNameLst>
                                      </p:cBhvr>
                                      <p:to>
                                        <p:strVal val="visible"/>
                                      </p:to>
                                    </p:set>
                                    <p:animEffect transition="in" filter="wipe(left)">
                                      <p:cBhvr>
                                        <p:cTn id="125" dur="500"/>
                                        <p:tgtEl>
                                          <p:spTgt spid="67"/>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66"/>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21" presetClass="entr" presetSubtype="1" fill="hold" grpId="0" nodeType="clickEffect">
                                  <p:stCondLst>
                                    <p:cond delay="0"/>
                                  </p:stCondLst>
                                  <p:childTnLst>
                                    <p:set>
                                      <p:cBhvr>
                                        <p:cTn id="133" dur="1" fill="hold">
                                          <p:stCondLst>
                                            <p:cond delay="0"/>
                                          </p:stCondLst>
                                        </p:cTn>
                                        <p:tgtEl>
                                          <p:spTgt spid="68"/>
                                        </p:tgtEl>
                                        <p:attrNameLst>
                                          <p:attrName>style.visibility</p:attrName>
                                        </p:attrNameLst>
                                      </p:cBhvr>
                                      <p:to>
                                        <p:strVal val="visible"/>
                                      </p:to>
                                    </p:set>
                                    <p:animEffect transition="in" filter="wheel(1)">
                                      <p:cBhvr>
                                        <p:cTn id="134" dur="2000"/>
                                        <p:tgtEl>
                                          <p:spTgt spid="68"/>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nodeType="clickEffect">
                                  <p:stCondLst>
                                    <p:cond delay="0"/>
                                  </p:stCondLst>
                                  <p:childTnLst>
                                    <p:set>
                                      <p:cBhvr>
                                        <p:cTn id="138" dur="1" fill="hold">
                                          <p:stCondLst>
                                            <p:cond delay="0"/>
                                          </p:stCondLst>
                                        </p:cTn>
                                        <p:tgtEl>
                                          <p:spTgt spid="8"/>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0"/>
                                          </p:stCondLst>
                                        </p:cTn>
                                        <p:tgtEl>
                                          <p:spTgt spid="21"/>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24"/>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42"/>
                                        </p:tgtEl>
                                        <p:attrNameLst>
                                          <p:attrName>style.visibility</p:attrName>
                                        </p:attrNameLst>
                                      </p:cBhvr>
                                      <p:to>
                                        <p:strVal val="hidden"/>
                                      </p:to>
                                    </p:set>
                                  </p:childTnLst>
                                </p:cTn>
                              </p:par>
                              <p:par>
                                <p:cTn id="145" presetID="1" presetClass="exit" presetSubtype="0" fill="hold" nodeType="withEffect">
                                  <p:stCondLst>
                                    <p:cond delay="0"/>
                                  </p:stCondLst>
                                  <p:childTnLst>
                                    <p:set>
                                      <p:cBhvr>
                                        <p:cTn id="146" dur="1" fill="hold">
                                          <p:stCondLst>
                                            <p:cond delay="0"/>
                                          </p:stCondLst>
                                        </p:cTn>
                                        <p:tgtEl>
                                          <p:spTgt spid="45"/>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P spid="29" grpId="0"/>
      <p:bldP spid="29" grpId="1"/>
      <p:bldP spid="47" grpId="0"/>
      <p:bldP spid="47" grpId="1"/>
      <p:bldP spid="48" grpId="0"/>
      <p:bldP spid="49" grpId="0"/>
      <p:bldP spid="54" grpId="0"/>
      <p:bldP spid="57" grpId="0"/>
      <p:bldP spid="59" grpId="0"/>
      <p:bldP spid="63" grpId="0"/>
      <p:bldP spid="64" grpId="0"/>
      <p:bldP spid="65" grpId="0"/>
      <p:bldP spid="66" grpId="0"/>
      <p:bldP spid="67" grpId="0" animBg="1"/>
      <p:bldP spid="68" grpId="0" animBg="1"/>
      <p:bldP spid="69" grpId="0"/>
      <p:bldP spid="70" grpId="0"/>
      <p:bldP spid="7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DOU_DEL (L,R,M,X)</a:t>
            </a:r>
            <a:endParaRPr lang="en-US" dirty="0"/>
          </a:p>
        </p:txBody>
      </p:sp>
      <p:sp>
        <p:nvSpPr>
          <p:cNvPr id="4" name="TextBox 3"/>
          <p:cNvSpPr txBox="1"/>
          <p:nvPr/>
        </p:nvSpPr>
        <p:spPr>
          <a:xfrm>
            <a:off x="244200" y="908438"/>
            <a:ext cx="5760000" cy="5632311"/>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[Is underflow ?]</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R=NULL</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solidFill>
                  <a:schemeClr val="tx2">
                    <a:lumMod val="75000"/>
                  </a:schemeClr>
                </a:solidFill>
                <a:latin typeface="Consolas" pitchFamily="49" charset="0"/>
                <a:cs typeface="Consolas" pitchFamily="49" charset="0"/>
              </a:rPr>
              <a:t> </a:t>
            </a:r>
            <a:r>
              <a:rPr lang="en-IN" sz="2000" dirty="0">
                <a:latin typeface="Consolas" pitchFamily="49" charset="0"/>
                <a:cs typeface="Consolas" pitchFamily="49" charset="0"/>
              </a:rPr>
              <a:t>write (‘UNDERFLOW’)</a:t>
            </a:r>
          </a:p>
          <a:p>
            <a:r>
              <a:rPr lang="en-IN" sz="2000" dirty="0">
                <a:latin typeface="Consolas" pitchFamily="49" charset="0"/>
                <a:cs typeface="Consolas" pitchFamily="49" charset="0"/>
              </a:rPr>
              <a:t>         Return</a:t>
            </a:r>
          </a:p>
          <a:p>
            <a:r>
              <a:rPr lang="en-IN" sz="2000" b="1" dirty="0">
                <a:solidFill>
                  <a:schemeClr val="tx2"/>
                </a:solidFill>
                <a:latin typeface="Consolas" pitchFamily="49" charset="0"/>
                <a:cs typeface="Consolas" pitchFamily="49" charset="0"/>
              </a:rPr>
              <a:t>2. [Delete node]</a:t>
            </a:r>
          </a:p>
          <a:p>
            <a:pPr marL="536575"/>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L = R (single node in list)</a:t>
            </a:r>
          </a:p>
          <a:p>
            <a:pPr marL="536575"/>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L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R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NULL</a:t>
            </a:r>
          </a:p>
          <a:p>
            <a:r>
              <a:rPr lang="en-IN" sz="2000" b="1" dirty="0">
                <a:solidFill>
                  <a:schemeClr val="tx2"/>
                </a:solidFill>
                <a:latin typeface="Consolas" pitchFamily="49" charset="0"/>
                <a:cs typeface="Consolas" pitchFamily="49" charset="0"/>
              </a:rPr>
              <a:t>3. [Delete left most node]</a:t>
            </a:r>
          </a:p>
          <a:p>
            <a:r>
              <a:rPr lang="en-IN" sz="2000" b="1" dirty="0">
                <a:solidFill>
                  <a:schemeClr val="tx2"/>
                </a:solidFill>
                <a:latin typeface="Consolas" pitchFamily="49" charset="0"/>
                <a:cs typeface="Consolas" pitchFamily="49" charset="0"/>
              </a:rPr>
              <a:t>   </a:t>
            </a:r>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OLD = L (left most node)</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L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L-&gt;NEXT</a:t>
            </a:r>
          </a:p>
          <a:p>
            <a:r>
              <a:rPr lang="en-IN" sz="2000" dirty="0">
                <a:latin typeface="Consolas" pitchFamily="49" charset="0"/>
                <a:cs typeface="Consolas" pitchFamily="49" charset="0"/>
              </a:rPr>
              <a:t>          L-&gt;PREV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NULL</a:t>
            </a:r>
          </a:p>
          <a:p>
            <a:r>
              <a:rPr lang="en-IN" sz="2000" b="1" dirty="0">
                <a:solidFill>
                  <a:schemeClr val="tx2"/>
                </a:solidFill>
                <a:latin typeface="Consolas" pitchFamily="49" charset="0"/>
                <a:cs typeface="Consolas" pitchFamily="49" charset="0"/>
              </a:rPr>
              <a:t>4. [Delete right most node]</a:t>
            </a:r>
          </a:p>
          <a:p>
            <a:r>
              <a:rPr lang="en-IN" sz="2000" b="1" dirty="0">
                <a:solidFill>
                  <a:schemeClr val="tx2"/>
                </a:solidFill>
                <a:latin typeface="Consolas" pitchFamily="49" charset="0"/>
                <a:cs typeface="Consolas" pitchFamily="49" charset="0"/>
              </a:rPr>
              <a:t>   </a:t>
            </a:r>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IF</a:t>
            </a:r>
            <a:r>
              <a:rPr lang="en-IN" sz="2000" dirty="0">
                <a:latin typeface="Consolas" pitchFamily="49" charset="0"/>
                <a:cs typeface="Consolas" pitchFamily="49" charset="0"/>
              </a:rPr>
              <a:t> OLD = R (right most)</a:t>
            </a:r>
          </a:p>
          <a:p>
            <a:r>
              <a:rPr lang="en-IN" sz="2000" dirty="0">
                <a:latin typeface="Consolas" pitchFamily="49" charset="0"/>
                <a:cs typeface="Consolas" pitchFamily="49" charset="0"/>
              </a:rPr>
              <a:t>    </a:t>
            </a:r>
            <a:r>
              <a:rPr lang="en-IN" sz="2000" b="1" dirty="0">
                <a:solidFill>
                  <a:schemeClr val="tx2">
                    <a:lumMod val="75000"/>
                  </a:schemeClr>
                </a:solidFill>
                <a:latin typeface="Consolas" pitchFamily="49" charset="0"/>
                <a:cs typeface="Consolas" pitchFamily="49" charset="0"/>
              </a:rPr>
              <a:t>THEN</a:t>
            </a:r>
            <a:r>
              <a:rPr lang="en-IN" sz="2000" dirty="0">
                <a:latin typeface="Consolas" pitchFamily="49" charset="0"/>
                <a:cs typeface="Consolas" pitchFamily="49" charset="0"/>
              </a:rPr>
              <a:t>  R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R-&gt;PREV</a:t>
            </a:r>
          </a:p>
          <a:p>
            <a:r>
              <a:rPr lang="en-IN" sz="2000" dirty="0">
                <a:latin typeface="Consolas" pitchFamily="49" charset="0"/>
                <a:cs typeface="Consolas" pitchFamily="49" charset="0"/>
              </a:rPr>
              <a:t>          R-&gt;NEXT </a:t>
            </a:r>
            <a:r>
              <a:rPr lang="en-IN" sz="2000" dirty="0">
                <a:latin typeface="Consolas" pitchFamily="49" charset="0"/>
                <a:cs typeface="Consolas" pitchFamily="49" charset="0"/>
                <a:sym typeface="Wingdings" pitchFamily="2" charset="2"/>
              </a:rPr>
              <a:t></a:t>
            </a:r>
            <a:r>
              <a:rPr lang="en-IN" sz="2000" dirty="0">
                <a:latin typeface="Consolas" pitchFamily="49" charset="0"/>
                <a:cs typeface="Consolas" pitchFamily="49" charset="0"/>
              </a:rPr>
              <a:t> NULL</a:t>
            </a:r>
          </a:p>
          <a:p>
            <a:r>
              <a:rPr lang="en-IN" sz="2000" b="1" dirty="0">
                <a:solidFill>
                  <a:schemeClr val="tx2"/>
                </a:solidFill>
                <a:latin typeface="Consolas" pitchFamily="49" charset="0"/>
                <a:cs typeface="Consolas" pitchFamily="49" charset="0"/>
              </a:rPr>
              <a:t>5. [FREE deleted node ?]</a:t>
            </a:r>
          </a:p>
          <a:p>
            <a:r>
              <a:rPr lang="en-IN" sz="2000" dirty="0">
                <a:latin typeface="Consolas" pitchFamily="49" charset="0"/>
                <a:cs typeface="Consolas" pitchFamily="49" charset="0"/>
              </a:rPr>
              <a:t>    FREE(OLD)</a:t>
            </a:r>
          </a:p>
          <a:p>
            <a:r>
              <a:rPr lang="en-IN" sz="2000" dirty="0">
                <a:latin typeface="Consolas" pitchFamily="49" charset="0"/>
                <a:cs typeface="Consolas" pitchFamily="49" charset="0"/>
              </a:rPr>
              <a:t>    </a:t>
            </a:r>
          </a:p>
        </p:txBody>
      </p:sp>
      <p:sp>
        <p:nvSpPr>
          <p:cNvPr id="6" name="TextBox 5">
            <a:extLst>
              <a:ext uri="{FF2B5EF4-FFF2-40B4-BE49-F238E27FC236}">
                <a16:creationId xmlns:a16="http://schemas.microsoft.com/office/drawing/2014/main" id="{9D8B205E-7F46-4A34-B43B-FB11B767F04A}"/>
              </a:ext>
            </a:extLst>
          </p:cNvPr>
          <p:cNvSpPr txBox="1"/>
          <p:nvPr/>
        </p:nvSpPr>
        <p:spPr>
          <a:xfrm>
            <a:off x="6187802" y="908438"/>
            <a:ext cx="5891904" cy="3724096"/>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6. [delete </a:t>
            </a:r>
            <a:r>
              <a:rPr lang="en-IN" sz="2000" b="1" dirty="0" err="1">
                <a:solidFill>
                  <a:schemeClr val="tx2"/>
                </a:solidFill>
                <a:latin typeface="Consolas" pitchFamily="49" charset="0"/>
                <a:cs typeface="Consolas" pitchFamily="49" charset="0"/>
              </a:rPr>
              <a:t>i</a:t>
            </a:r>
            <a:r>
              <a:rPr lang="en-IN" sz="2000" b="1" baseline="30000" dirty="0" err="1">
                <a:solidFill>
                  <a:schemeClr val="tx2"/>
                </a:solidFill>
                <a:latin typeface="Consolas" pitchFamily="49" charset="0"/>
                <a:cs typeface="Consolas" pitchFamily="49" charset="0"/>
              </a:rPr>
              <a:t>th</a:t>
            </a:r>
            <a:r>
              <a:rPr lang="en-IN" sz="2000" b="1" dirty="0">
                <a:solidFill>
                  <a:schemeClr val="tx2"/>
                </a:solidFill>
                <a:latin typeface="Consolas" pitchFamily="49" charset="0"/>
                <a:cs typeface="Consolas" pitchFamily="49" charset="0"/>
              </a:rPr>
              <a:t> node]</a:t>
            </a:r>
          </a:p>
          <a:p>
            <a:r>
              <a:rPr lang="en-IN" sz="2000" dirty="0">
                <a:latin typeface="Consolas" pitchFamily="49" charset="0"/>
                <a:cs typeface="Consolas" pitchFamily="49" charset="0"/>
              </a:rPr>
              <a:t>    OLD </a:t>
            </a:r>
            <a:r>
              <a:rPr lang="en-IN" sz="2000" dirty="0">
                <a:latin typeface="Consolas" pitchFamily="49" charset="0"/>
                <a:cs typeface="Consolas" pitchFamily="49" charset="0"/>
                <a:sym typeface="Wingdings" panose="05000000000000000000" pitchFamily="2" charset="2"/>
              </a:rPr>
              <a:t> L, j1</a:t>
            </a:r>
            <a:endParaRPr lang="en-IN" sz="2000" dirty="0">
              <a:latin typeface="Consolas" pitchFamily="49" charset="0"/>
              <a:cs typeface="Consolas" pitchFamily="49" charset="0"/>
            </a:endParaRPr>
          </a:p>
          <a:p>
            <a:r>
              <a:rPr lang="en-IN" sz="2000" dirty="0">
                <a:latin typeface="Consolas" pitchFamily="49" charset="0"/>
                <a:cs typeface="Consolas" pitchFamily="49" charset="0"/>
              </a:rPr>
              <a:t>    while(j!=</a:t>
            </a:r>
            <a:r>
              <a:rPr lang="en-IN" sz="2000" dirty="0" err="1">
                <a:latin typeface="Consolas" pitchFamily="49" charset="0"/>
                <a:cs typeface="Consolas" pitchFamily="49" charset="0"/>
              </a:rPr>
              <a:t>i</a:t>
            </a:r>
            <a:r>
              <a:rPr lang="en-IN" sz="2000" dirty="0">
                <a:latin typeface="Consolas" pitchFamily="49" charset="0"/>
                <a:cs typeface="Consolas" pitchFamily="49" charset="0"/>
              </a:rPr>
              <a:t>)</a:t>
            </a:r>
          </a:p>
          <a:p>
            <a:r>
              <a:rPr lang="en-IN" sz="2000" dirty="0">
                <a:latin typeface="Consolas" pitchFamily="49" charset="0"/>
                <a:cs typeface="Consolas" pitchFamily="49" charset="0"/>
              </a:rPr>
              <a:t>       OLD</a:t>
            </a:r>
            <a:r>
              <a:rPr lang="en-IN" sz="2000" dirty="0">
                <a:latin typeface="Consolas" pitchFamily="49" charset="0"/>
                <a:cs typeface="Consolas" pitchFamily="49" charset="0"/>
                <a:sym typeface="Wingdings" panose="05000000000000000000" pitchFamily="2" charset="2"/>
              </a:rPr>
              <a:t>OLD-&gt;NEXT</a:t>
            </a:r>
          </a:p>
          <a:p>
            <a:r>
              <a:rPr lang="en-IN" sz="2000" dirty="0">
                <a:latin typeface="Consolas" pitchFamily="49" charset="0"/>
                <a:cs typeface="Consolas" pitchFamily="49" charset="0"/>
                <a:sym typeface="Wingdings" panose="05000000000000000000" pitchFamily="2" charset="2"/>
              </a:rPr>
              <a:t>       jj+1</a:t>
            </a:r>
          </a:p>
          <a:p>
            <a:r>
              <a:rPr lang="en-IN" sz="1600" dirty="0">
                <a:solidFill>
                  <a:srgbClr val="FF0000"/>
                </a:solidFill>
                <a:latin typeface="Consolas" pitchFamily="49" charset="0"/>
                <a:cs typeface="Consolas" pitchFamily="49" charset="0"/>
              </a:rPr>
              <a:t>we reached to actual node</a:t>
            </a:r>
          </a:p>
          <a:p>
            <a:r>
              <a:rPr lang="en-IN" sz="2000" b="1" dirty="0">
                <a:solidFill>
                  <a:schemeClr val="tx2"/>
                </a:solidFill>
                <a:latin typeface="Consolas" pitchFamily="49" charset="0"/>
                <a:cs typeface="Consolas" pitchFamily="49" charset="0"/>
              </a:rPr>
              <a:t>7. [Delete the node]</a:t>
            </a:r>
          </a:p>
          <a:p>
            <a:r>
              <a:rPr lang="en-IN" sz="2000" b="1" dirty="0">
                <a:solidFill>
                  <a:schemeClr val="tx2"/>
                </a:solidFill>
                <a:latin typeface="Consolas" pitchFamily="49" charset="0"/>
                <a:cs typeface="Consolas" pitchFamily="49" charset="0"/>
              </a:rPr>
              <a:t>    </a:t>
            </a:r>
            <a:r>
              <a:rPr lang="en-US" sz="2000" dirty="0">
                <a:latin typeface="Consolas" pitchFamily="49" charset="0"/>
                <a:cs typeface="Consolas" pitchFamily="49" charset="0"/>
              </a:rPr>
              <a:t>(OLD-&gt;PREV)-&gt;NEXT </a:t>
            </a:r>
            <a:r>
              <a:rPr lang="en-US" sz="2000" dirty="0">
                <a:latin typeface="Consolas" pitchFamily="49" charset="0"/>
                <a:cs typeface="Consolas" pitchFamily="49" charset="0"/>
                <a:sym typeface="Wingdings" panose="05000000000000000000" pitchFamily="2" charset="2"/>
              </a:rPr>
              <a:t></a:t>
            </a:r>
            <a:r>
              <a:rPr lang="en-US" sz="2000" dirty="0">
                <a:latin typeface="Consolas" pitchFamily="49" charset="0"/>
                <a:cs typeface="Consolas" pitchFamily="49" charset="0"/>
              </a:rPr>
              <a:t> OLD-&gt;NEXT</a:t>
            </a:r>
          </a:p>
          <a:p>
            <a:r>
              <a:rPr lang="en-IN" sz="2000" dirty="0">
                <a:latin typeface="Consolas" pitchFamily="49" charset="0"/>
                <a:cs typeface="Consolas" pitchFamily="49" charset="0"/>
              </a:rPr>
              <a:t>    </a:t>
            </a:r>
            <a:r>
              <a:rPr lang="en-US" sz="2000" dirty="0">
                <a:latin typeface="Consolas" pitchFamily="49" charset="0"/>
                <a:cs typeface="Consolas" pitchFamily="49" charset="0"/>
              </a:rPr>
              <a:t>(OLD-&gt;NEXT)-&gt;PREV </a:t>
            </a:r>
            <a:r>
              <a:rPr lang="en-US" sz="2000" dirty="0">
                <a:latin typeface="Consolas" pitchFamily="49" charset="0"/>
                <a:cs typeface="Consolas" pitchFamily="49" charset="0"/>
                <a:sym typeface="Wingdings" panose="05000000000000000000" pitchFamily="2" charset="2"/>
              </a:rPr>
              <a:t></a:t>
            </a:r>
            <a:r>
              <a:rPr lang="en-US" sz="2000" dirty="0">
                <a:latin typeface="Consolas" pitchFamily="49" charset="0"/>
                <a:cs typeface="Consolas" pitchFamily="49" charset="0"/>
              </a:rPr>
              <a:t>OLD-&gt;PREV</a:t>
            </a:r>
          </a:p>
          <a:p>
            <a:r>
              <a:rPr lang="en-IN" sz="2000" dirty="0">
                <a:latin typeface="Consolas" pitchFamily="49" charset="0"/>
                <a:cs typeface="Consolas" pitchFamily="49" charset="0"/>
              </a:rPr>
              <a:t>    FREE(OLD)</a:t>
            </a:r>
          </a:p>
          <a:p>
            <a:endParaRPr lang="en-IN" sz="2000" b="1" dirty="0">
              <a:solidFill>
                <a:schemeClr val="tx2"/>
              </a:solidFill>
              <a:latin typeface="Consolas" pitchFamily="49" charset="0"/>
              <a:cs typeface="Consolas" pitchFamily="49" charset="0"/>
            </a:endParaRPr>
          </a:p>
          <a:p>
            <a:r>
              <a:rPr lang="en-IN" sz="2000" dirty="0">
                <a:latin typeface="Consolas" pitchFamily="49" charset="0"/>
                <a:cs typeface="Consolas" pitchFamily="49" charset="0"/>
              </a:rPr>
              <a:t>    </a:t>
            </a:r>
          </a:p>
        </p:txBody>
      </p:sp>
    </p:spTree>
    <p:extLst>
      <p:ext uri="{BB962C8B-B14F-4D97-AF65-F5344CB8AC3E}">
        <p14:creationId xmlns:p14="http://schemas.microsoft.com/office/powerpoint/2010/main" val="241322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15" end="15"/>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
                                            <p:txEl>
                                              <p:pRg st="0" end="0"/>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
                                            <p:txEl>
                                              <p:pRg st="1" end="1"/>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
                                            <p:txEl>
                                              <p:pRg st="2" end="2"/>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
                                            <p:txEl>
                                              <p:pRg st="3" end="3"/>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6">
                                            <p:txEl>
                                              <p:pRg st="6" end="6"/>
                                            </p:txEl>
                                          </p:spTgt>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
                                            <p:txEl>
                                              <p:pRg st="7" end="7"/>
                                            </p:txEl>
                                          </p:spTgt>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
                                            <p:txEl>
                                              <p:pRg st="8" end="8"/>
                                            </p:txEl>
                                          </p:spTgt>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A7D6-D15E-4992-ABD3-FB59571956C7}"/>
              </a:ext>
            </a:extLst>
          </p:cNvPr>
          <p:cNvSpPr>
            <a:spLocks noGrp="1"/>
          </p:cNvSpPr>
          <p:nvPr>
            <p:ph type="title"/>
          </p:nvPr>
        </p:nvSpPr>
        <p:spPr/>
        <p:txBody>
          <a:bodyPr/>
          <a:lstStyle/>
          <a:p>
            <a:r>
              <a:rPr lang="en-US" dirty="0"/>
              <a:t>Time complexity analysis</a:t>
            </a:r>
            <a:endParaRPr lang="en-IN" dirty="0"/>
          </a:p>
        </p:txBody>
      </p:sp>
      <p:sp>
        <p:nvSpPr>
          <p:cNvPr id="3" name="Content Placeholder 2">
            <a:extLst>
              <a:ext uri="{FF2B5EF4-FFF2-40B4-BE49-F238E27FC236}">
                <a16:creationId xmlns:a16="http://schemas.microsoft.com/office/drawing/2014/main" id="{0D97DA45-BEBA-4FA9-972D-FE81471A8EEB}"/>
              </a:ext>
            </a:extLst>
          </p:cNvPr>
          <p:cNvSpPr>
            <a:spLocks noGrp="1"/>
          </p:cNvSpPr>
          <p:nvPr>
            <p:ph idx="1"/>
          </p:nvPr>
        </p:nvSpPr>
        <p:spPr/>
        <p:txBody>
          <a:bodyPr/>
          <a:lstStyle/>
          <a:p>
            <a:pPr marL="0" indent="0">
              <a:buNone/>
            </a:pPr>
            <a:r>
              <a:rPr lang="en-US" dirty="0">
                <a:solidFill>
                  <a:srgbClr val="C00000"/>
                </a:solidFill>
              </a:rPr>
              <a:t>Array:</a:t>
            </a:r>
          </a:p>
          <a:p>
            <a:r>
              <a:rPr lang="en-US" dirty="0"/>
              <a:t>Accessing an element at a specific memory address takes O(1) time, as its relative address can be calculated in constant time.</a:t>
            </a:r>
          </a:p>
          <a:p>
            <a:r>
              <a:rPr lang="en-US" dirty="0"/>
              <a:t>Similarly editing any element of the array takes O(1) time.</a:t>
            </a:r>
          </a:p>
          <a:p>
            <a:r>
              <a:rPr lang="en-US" dirty="0"/>
              <a:t>Inserting a new element at a particular index in arrays is only possible when we skip all the elements before that index, which takes O(N) time.</a:t>
            </a:r>
          </a:p>
          <a:p>
            <a:r>
              <a:rPr lang="en-US" dirty="0"/>
              <a:t>Similarly, deletion operation also takes O(N) time.</a:t>
            </a:r>
          </a:p>
          <a:p>
            <a:r>
              <a:rPr lang="en-US" dirty="0"/>
              <a:t>Searching operation in arrays takes O(N) time without any specific algorithm as we need to iterate and check every element in the array.</a:t>
            </a:r>
          </a:p>
          <a:p>
            <a:endParaRPr lang="en-IN" dirty="0"/>
          </a:p>
        </p:txBody>
      </p:sp>
    </p:spTree>
    <p:extLst>
      <p:ext uri="{BB962C8B-B14F-4D97-AF65-F5344CB8AC3E}">
        <p14:creationId xmlns:p14="http://schemas.microsoft.com/office/powerpoint/2010/main" val="329958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A7D6-D15E-4992-ABD3-FB59571956C7}"/>
              </a:ext>
            </a:extLst>
          </p:cNvPr>
          <p:cNvSpPr>
            <a:spLocks noGrp="1"/>
          </p:cNvSpPr>
          <p:nvPr>
            <p:ph type="title"/>
          </p:nvPr>
        </p:nvSpPr>
        <p:spPr/>
        <p:txBody>
          <a:bodyPr/>
          <a:lstStyle/>
          <a:p>
            <a:r>
              <a:rPr lang="en-US" dirty="0"/>
              <a:t>Time complexity analysis</a:t>
            </a:r>
            <a:endParaRPr lang="en-IN" dirty="0"/>
          </a:p>
        </p:txBody>
      </p:sp>
      <p:sp>
        <p:nvSpPr>
          <p:cNvPr id="3" name="Content Placeholder 2">
            <a:extLst>
              <a:ext uri="{FF2B5EF4-FFF2-40B4-BE49-F238E27FC236}">
                <a16:creationId xmlns:a16="http://schemas.microsoft.com/office/drawing/2014/main" id="{0D97DA45-BEBA-4FA9-972D-FE81471A8EEB}"/>
              </a:ext>
            </a:extLst>
          </p:cNvPr>
          <p:cNvSpPr>
            <a:spLocks noGrp="1"/>
          </p:cNvSpPr>
          <p:nvPr>
            <p:ph idx="1"/>
          </p:nvPr>
        </p:nvSpPr>
        <p:spPr/>
        <p:txBody>
          <a:bodyPr/>
          <a:lstStyle/>
          <a:p>
            <a:pPr marL="0" indent="0">
              <a:buNone/>
            </a:pPr>
            <a:r>
              <a:rPr lang="en-US" dirty="0">
                <a:solidFill>
                  <a:srgbClr val="C00000"/>
                </a:solidFill>
              </a:rPr>
              <a:t>Queue:</a:t>
            </a:r>
          </a:p>
          <a:p>
            <a:r>
              <a:rPr lang="en-US" dirty="0"/>
              <a:t>To access or edit any element stored in a queue, the time taken is O(N) as to reach any specific element, all the elements after it has to be removed. </a:t>
            </a:r>
          </a:p>
          <a:p>
            <a:r>
              <a:rPr lang="en-US" dirty="0"/>
              <a:t>The searching operation also takes a total time of O(N), as reaching any specific element isn’t possible without popping the elements stored after it.</a:t>
            </a:r>
          </a:p>
          <a:p>
            <a:r>
              <a:rPr lang="en-US" dirty="0"/>
              <a:t>Operations like insertion or deletion in a queue take constant time i.e., O(1). Only the front element can be removed at a time and insertion can only take place at the back.</a:t>
            </a:r>
          </a:p>
          <a:p>
            <a:endParaRPr lang="en-IN" dirty="0"/>
          </a:p>
        </p:txBody>
      </p:sp>
    </p:spTree>
    <p:extLst>
      <p:ext uri="{BB962C8B-B14F-4D97-AF65-F5344CB8AC3E}">
        <p14:creationId xmlns:p14="http://schemas.microsoft.com/office/powerpoint/2010/main" val="38822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A7D6-D15E-4992-ABD3-FB59571956C7}"/>
              </a:ext>
            </a:extLst>
          </p:cNvPr>
          <p:cNvSpPr>
            <a:spLocks noGrp="1"/>
          </p:cNvSpPr>
          <p:nvPr>
            <p:ph type="title"/>
          </p:nvPr>
        </p:nvSpPr>
        <p:spPr/>
        <p:txBody>
          <a:bodyPr/>
          <a:lstStyle/>
          <a:p>
            <a:r>
              <a:rPr lang="en-US" dirty="0"/>
              <a:t>Time complexity analysis</a:t>
            </a:r>
            <a:endParaRPr lang="en-IN" dirty="0"/>
          </a:p>
        </p:txBody>
      </p:sp>
      <p:sp>
        <p:nvSpPr>
          <p:cNvPr id="3" name="Content Placeholder 2">
            <a:extLst>
              <a:ext uri="{FF2B5EF4-FFF2-40B4-BE49-F238E27FC236}">
                <a16:creationId xmlns:a16="http://schemas.microsoft.com/office/drawing/2014/main" id="{0D97DA45-BEBA-4FA9-972D-FE81471A8EEB}"/>
              </a:ext>
            </a:extLst>
          </p:cNvPr>
          <p:cNvSpPr>
            <a:spLocks noGrp="1"/>
          </p:cNvSpPr>
          <p:nvPr>
            <p:ph idx="1"/>
          </p:nvPr>
        </p:nvSpPr>
        <p:spPr/>
        <p:txBody>
          <a:bodyPr/>
          <a:lstStyle/>
          <a:p>
            <a:pPr marL="0" indent="0">
              <a:buNone/>
            </a:pPr>
            <a:r>
              <a:rPr lang="en-US" dirty="0">
                <a:solidFill>
                  <a:srgbClr val="C00000"/>
                </a:solidFill>
              </a:rPr>
              <a:t>Stack:</a:t>
            </a:r>
          </a:p>
          <a:p>
            <a:r>
              <a:rPr lang="en-US" dirty="0"/>
              <a:t>To access or edit any element stored in a stack, the time taken is O(N) as to reach any specific element, all the elements before it has to be removed. </a:t>
            </a:r>
          </a:p>
          <a:p>
            <a:r>
              <a:rPr lang="en-US" dirty="0"/>
              <a:t>The searching operation also takes a total time of O(N), as reaching any specific element isn’t possible without popping the elements stored before it.</a:t>
            </a:r>
          </a:p>
          <a:p>
            <a:r>
              <a:rPr lang="en-US" dirty="0"/>
              <a:t>Operations like insertion or deletion in a stack take constant time i.e. O(1).</a:t>
            </a:r>
            <a:endParaRPr lang="en-IN" dirty="0"/>
          </a:p>
        </p:txBody>
      </p:sp>
    </p:spTree>
    <p:extLst>
      <p:ext uri="{BB962C8B-B14F-4D97-AF65-F5344CB8AC3E}">
        <p14:creationId xmlns:p14="http://schemas.microsoft.com/office/powerpoint/2010/main" val="138492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A7D6-D15E-4992-ABD3-FB59571956C7}"/>
              </a:ext>
            </a:extLst>
          </p:cNvPr>
          <p:cNvSpPr>
            <a:spLocks noGrp="1"/>
          </p:cNvSpPr>
          <p:nvPr>
            <p:ph type="title"/>
          </p:nvPr>
        </p:nvSpPr>
        <p:spPr/>
        <p:txBody>
          <a:bodyPr/>
          <a:lstStyle/>
          <a:p>
            <a:r>
              <a:rPr lang="en-US" dirty="0"/>
              <a:t>Time complexity analysis</a:t>
            </a:r>
            <a:endParaRPr lang="en-IN" dirty="0"/>
          </a:p>
        </p:txBody>
      </p:sp>
      <p:sp>
        <p:nvSpPr>
          <p:cNvPr id="3" name="Content Placeholder 2">
            <a:extLst>
              <a:ext uri="{FF2B5EF4-FFF2-40B4-BE49-F238E27FC236}">
                <a16:creationId xmlns:a16="http://schemas.microsoft.com/office/drawing/2014/main" id="{0D97DA45-BEBA-4FA9-972D-FE81471A8EEB}"/>
              </a:ext>
            </a:extLst>
          </p:cNvPr>
          <p:cNvSpPr>
            <a:spLocks noGrp="1"/>
          </p:cNvSpPr>
          <p:nvPr>
            <p:ph idx="1"/>
          </p:nvPr>
        </p:nvSpPr>
        <p:spPr/>
        <p:txBody>
          <a:bodyPr/>
          <a:lstStyle/>
          <a:p>
            <a:pPr marL="0" indent="0">
              <a:buNone/>
            </a:pPr>
            <a:r>
              <a:rPr lang="en-US" dirty="0">
                <a:solidFill>
                  <a:srgbClr val="C00000"/>
                </a:solidFill>
              </a:rPr>
              <a:t>Link List:</a:t>
            </a:r>
          </a:p>
          <a:p>
            <a:r>
              <a:rPr lang="en-US" dirty="0"/>
              <a:t>For insertion in the linked list, the time complexity is O(1) if done on the head, O(N) if done at any other location, as we need to reach that location by traversing the linked list.</a:t>
            </a:r>
          </a:p>
          <a:p>
            <a:r>
              <a:rPr lang="en-US" dirty="0"/>
              <a:t>For deletion, the time complexity is O(1), if done on the head, O(N), if done at any other location, as we need to reach that location by traversing the linked list.</a:t>
            </a:r>
          </a:p>
          <a:p>
            <a:r>
              <a:rPr lang="en-US" dirty="0"/>
              <a:t>For searching and accessing any elements, the involved time complexity is O(N).</a:t>
            </a:r>
          </a:p>
          <a:p>
            <a:endParaRPr lang="en-IN" dirty="0"/>
          </a:p>
        </p:txBody>
      </p:sp>
    </p:spTree>
    <p:extLst>
      <p:ext uri="{BB962C8B-B14F-4D97-AF65-F5344CB8AC3E}">
        <p14:creationId xmlns:p14="http://schemas.microsoft.com/office/powerpoint/2010/main" val="16677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27C7C9-8878-47F9-9F46-18D6B584D718}"/>
              </a:ext>
            </a:extLst>
          </p:cNvPr>
          <p:cNvPicPr>
            <a:picLocks noChangeAspect="1"/>
          </p:cNvPicPr>
          <p:nvPr/>
        </p:nvPicPr>
        <p:blipFill>
          <a:blip r:embed="rId2"/>
          <a:stretch>
            <a:fillRect/>
          </a:stretch>
        </p:blipFill>
        <p:spPr>
          <a:xfrm>
            <a:off x="395431" y="943276"/>
            <a:ext cx="11152723" cy="4706753"/>
          </a:xfrm>
          <a:prstGeom prst="rect">
            <a:avLst/>
          </a:prstGeom>
        </p:spPr>
      </p:pic>
    </p:spTree>
    <p:extLst>
      <p:ext uri="{BB962C8B-B14F-4D97-AF65-F5344CB8AC3E}">
        <p14:creationId xmlns:p14="http://schemas.microsoft.com/office/powerpoint/2010/main" val="2025292370"/>
      </p:ext>
    </p:extLst>
  </p:cSld>
  <p:clrMapOvr>
    <a:masterClrMapping/>
  </p:clrMapOvr>
</p:sld>
</file>

<file path=ppt/theme/theme1.xml><?xml version="1.0" encoding="utf-8"?>
<a:theme xmlns:a="http://schemas.openxmlformats.org/drawingml/2006/main" name="Office Theme">
  <a:themeElements>
    <a:clrScheme name="DeptPPT">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8982</TotalTime>
  <Words>7209</Words>
  <Application>Microsoft Office PowerPoint</Application>
  <PresentationFormat>Widescreen</PresentationFormat>
  <Paragraphs>1130</Paragraphs>
  <Slides>72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72</vt:i4>
      </vt:variant>
    </vt:vector>
  </HeadingPairs>
  <TitlesOfParts>
    <vt:vector size="82" baseType="lpstr">
      <vt:lpstr>Roboto Condensed</vt:lpstr>
      <vt:lpstr>Wingdings</vt:lpstr>
      <vt:lpstr>Consolas</vt:lpstr>
      <vt:lpstr>Arial</vt:lpstr>
      <vt:lpstr>Wingdings 3</vt:lpstr>
      <vt:lpstr>Times New Roman</vt:lpstr>
      <vt:lpstr>Cambria Math</vt:lpstr>
      <vt:lpstr>Courier New</vt:lpstr>
      <vt:lpstr>Calibri</vt:lpstr>
      <vt:lpstr>Office Theme</vt:lpstr>
      <vt:lpstr> Linear Data Structure (Linked List)</vt:lpstr>
      <vt:lpstr>Linked Storage Representation</vt:lpstr>
      <vt:lpstr>Array: Contagious Storage </vt:lpstr>
      <vt:lpstr>Linked Storage Representation</vt:lpstr>
      <vt:lpstr>Array versus Linked Lists</vt:lpstr>
      <vt:lpstr>Pros &amp; Cons of Linked Allocation</vt:lpstr>
      <vt:lpstr>Pros &amp; Cons of Linked Allocation</vt:lpstr>
      <vt:lpstr>Pros &amp; Cons of Linked Allocation</vt:lpstr>
      <vt:lpstr>Pros &amp; Cons of Linked Allocation</vt:lpstr>
      <vt:lpstr>Operations &amp; Type of Linked List</vt:lpstr>
      <vt:lpstr>Singly Linked List</vt:lpstr>
      <vt:lpstr>Node Structure of Singly List</vt:lpstr>
      <vt:lpstr>Algorithms for singly linked list</vt:lpstr>
      <vt:lpstr>Malloc function</vt:lpstr>
      <vt:lpstr>Malloc function</vt:lpstr>
      <vt:lpstr>Function: INSERT(X, First)</vt:lpstr>
      <vt:lpstr>Function: INSERT(X,FIRST) Cont…</vt:lpstr>
      <vt:lpstr>Example: INSERT(50, FIRST)</vt:lpstr>
      <vt:lpstr>Function: INSEND(X, FIRST)</vt:lpstr>
      <vt:lpstr>Function: INSEND(X, First) Cont…</vt:lpstr>
      <vt:lpstr>Function: INSEND(50, FIRST)</vt:lpstr>
      <vt:lpstr>Function: INSORD(X, FIRST)</vt:lpstr>
      <vt:lpstr>Function: INSORD(X, FIRST)</vt:lpstr>
      <vt:lpstr>Function: INSORD(3, FIRST)</vt:lpstr>
      <vt:lpstr>Function: INSORD(22, FIRST)</vt:lpstr>
      <vt:lpstr>Insert at ANY position</vt:lpstr>
      <vt:lpstr>PowerPoint Presentation</vt:lpstr>
      <vt:lpstr>Procedure: DELETE(X, FIRST)</vt:lpstr>
      <vt:lpstr>Procedure: DELETE( X, FIRST)</vt:lpstr>
      <vt:lpstr>Procedure: DELETE(20, FIRST)</vt:lpstr>
      <vt:lpstr>Function: COUNT_NODES(FIRST)</vt:lpstr>
      <vt:lpstr>Function: COPY (FIRST)</vt:lpstr>
      <vt:lpstr>Function: COPY (FIRST)</vt:lpstr>
      <vt:lpstr>Function: COPY (FIRST)</vt:lpstr>
      <vt:lpstr>Comparing two Lists</vt:lpstr>
      <vt:lpstr>PowerPoint Presentation</vt:lpstr>
      <vt:lpstr>Reversing Link List: Iterative method</vt:lpstr>
      <vt:lpstr>PowerPoint Presentation</vt:lpstr>
      <vt:lpstr>PowerPoint Presentation</vt:lpstr>
      <vt:lpstr>PowerPoint Presentation</vt:lpstr>
      <vt:lpstr>PowerPoint Presentation</vt:lpstr>
      <vt:lpstr>Reverse a Link List: Recursive Method(print only)</vt:lpstr>
      <vt:lpstr>Reverse a Link List: Recursive Method</vt:lpstr>
      <vt:lpstr>Example: Student List</vt:lpstr>
      <vt:lpstr>Circularly Linked Linear List</vt:lpstr>
      <vt:lpstr>Circularly Linked Linear List Cont…</vt:lpstr>
      <vt:lpstr>Procedure: CIR_INS_FIRST(X,FIRST,LAST)</vt:lpstr>
      <vt:lpstr>Procedure: CIR_INS_FIRST(X,FIRST,LAST)</vt:lpstr>
      <vt:lpstr>Procedure: CIR_INS_LAST(X,FIRST,LAST)</vt:lpstr>
      <vt:lpstr>Procedure: CIR_INS_LAST( X,FIRST,LAST)</vt:lpstr>
      <vt:lpstr>Procedure: CIR_INS_ORD(X,FIRST,LAST)</vt:lpstr>
      <vt:lpstr>Procedure: CIR_INS_ORD(X,FIRST,LAST)</vt:lpstr>
      <vt:lpstr>Procedure: CIR_INS_ORD(3,FIRST,LAST)</vt:lpstr>
      <vt:lpstr>Procedure: CIR_INS_ORD(18,FIRST,LAST)</vt:lpstr>
      <vt:lpstr>Procedure: CIR_DELETE(X,FIRST,LAST)</vt:lpstr>
      <vt:lpstr>Procedure: CIR_DELETE(X,FIRST,LAST)</vt:lpstr>
      <vt:lpstr>Procedure: CIR_DELETE(20,FIRST,LAST)</vt:lpstr>
      <vt:lpstr>Doubly Linked Linear List</vt:lpstr>
      <vt:lpstr>Doubly Linked Linear List</vt:lpstr>
      <vt:lpstr>Insert node in Doubly Linked List</vt:lpstr>
      <vt:lpstr>Insert node in Doubly Linked List</vt:lpstr>
      <vt:lpstr>Procedure: DOU_INS (L,R,M,X)</vt:lpstr>
      <vt:lpstr>Procedure: DOU_INS (L,R,M,X)</vt:lpstr>
      <vt:lpstr>Procedure: DOU_INS (L,R,M,X)</vt:lpstr>
      <vt:lpstr>PROCEDURE: DOU _DEL (L, R, OLD)</vt:lpstr>
      <vt:lpstr>Delete from Doubly Linked List</vt:lpstr>
      <vt:lpstr>Procedure: DOU_DEL (L,R,M,X)</vt:lpstr>
      <vt:lpstr>Time complexity analysis</vt:lpstr>
      <vt:lpstr>Time complexity analysis</vt:lpstr>
      <vt:lpstr>Time complexity analysis</vt:lpstr>
      <vt:lpstr>Time complexity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List - Linear Data Structure</dc:title>
  <dc:creator>ADMIN</dc:creator>
  <cp:lastModifiedBy>CSE-30</cp:lastModifiedBy>
  <cp:revision>611</cp:revision>
  <dcterms:created xsi:type="dcterms:W3CDTF">2020-05-01T05:09:15Z</dcterms:created>
  <dcterms:modified xsi:type="dcterms:W3CDTF">2025-08-05T04:06:41Z</dcterms:modified>
</cp:coreProperties>
</file>