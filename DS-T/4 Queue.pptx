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4"/>
  </p:notesMasterIdLst>
  <p:handoutMasterIdLst>
    <p:handoutMasterId r:id="rId25"/>
  </p:handoutMasterIdLst>
  <p:sldIdLst>
    <p:sldId id="283" r:id="rId2"/>
    <p:sldId id="284" r:id="rId3"/>
    <p:sldId id="285" r:id="rId4"/>
    <p:sldId id="286" r:id="rId5"/>
    <p:sldId id="288" r:id="rId6"/>
    <p:sldId id="290" r:id="rId7"/>
    <p:sldId id="311" r:id="rId8"/>
    <p:sldId id="301" r:id="rId9"/>
    <p:sldId id="302" r:id="rId10"/>
    <p:sldId id="303" r:id="rId11"/>
    <p:sldId id="304" r:id="rId12"/>
    <p:sldId id="291" r:id="rId13"/>
    <p:sldId id="292" r:id="rId14"/>
    <p:sldId id="293" r:id="rId15"/>
    <p:sldId id="294" r:id="rId16"/>
    <p:sldId id="305" r:id="rId17"/>
    <p:sldId id="308" r:id="rId18"/>
    <p:sldId id="307" r:id="rId19"/>
    <p:sldId id="299" r:id="rId20"/>
    <p:sldId id="300" r:id="rId21"/>
    <p:sldId id="309" r:id="rId22"/>
    <p:sldId id="310" r:id="rId23"/>
  </p:sldIdLst>
  <p:sldSz cx="12192000" cy="6858000"/>
  <p:notesSz cx="6858000" cy="9144000"/>
  <p:embeddedFontLst>
    <p:embeddedFont>
      <p:font typeface="Calibri" panose="020F0502020204030204" pitchFamily="34" charset="0"/>
      <p:regular r:id="rId26"/>
      <p:bold r:id="rId27"/>
      <p:italic r:id="rId28"/>
      <p:boldItalic r:id="rId29"/>
    </p:embeddedFont>
    <p:embeddedFont>
      <p:font typeface="Consolas" panose="020B0609020204030204" pitchFamily="49" charset="0"/>
      <p:regular r:id="rId30"/>
      <p:bold r:id="rId31"/>
      <p:italic r:id="rId32"/>
      <p:boldItalic r:id="rId33"/>
    </p:embeddedFont>
    <p:embeddedFont>
      <p:font typeface="Roboto Condensed" pitchFamily="2" charset="0"/>
      <p:regular r:id="rId34"/>
      <p:bold r:id="rId35"/>
      <p:italic r:id="rId36"/>
      <p:boldItalic r:id="rId37"/>
    </p:embeddedFont>
    <p:embeddedFont>
      <p:font typeface="Roboto Condensed Light" panose="02000000000000000000" pitchFamily="2" charset="0"/>
      <p:regular r:id="rId38"/>
      <p:italic r:id="rId39"/>
    </p:embeddedFont>
    <p:embeddedFont>
      <p:font typeface="Wingdings 3" panose="05040102010807070707" pitchFamily="18" charset="2"/>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4742"/>
    <a:srgbClr val="2FA0AE"/>
    <a:srgbClr val="558ED5"/>
    <a:srgbClr val="5C0000"/>
    <a:srgbClr val="1D3064"/>
    <a:srgbClr val="F54337"/>
    <a:srgbClr val="ED524F"/>
    <a:srgbClr val="3366FF"/>
    <a:srgbClr val="301B92"/>
    <a:srgbClr val="673B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143" autoAdjust="0"/>
    <p:restoredTop sz="94343" autoAdjust="0"/>
  </p:normalViewPr>
  <p:slideViewPr>
    <p:cSldViewPr snapToGrid="0">
      <p:cViewPr varScale="1">
        <p:scale>
          <a:sx n="61" d="100"/>
          <a:sy n="61" d="100"/>
        </p:scale>
        <p:origin x="1032" y="6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54" d="100"/>
          <a:sy n="54" d="100"/>
        </p:scale>
        <p:origin x="1944" y="4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21" Type="http://schemas.openxmlformats.org/officeDocument/2006/relationships/slide" Target="slides/slide20.xml"/><Relationship Id="rId34" Type="http://schemas.openxmlformats.org/officeDocument/2006/relationships/font" Target="fonts/font9.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7.fntdata"/><Relationship Id="rId37" Type="http://schemas.openxmlformats.org/officeDocument/2006/relationships/font" Target="fonts/font12.fntdata"/><Relationship Id="rId40" Type="http://schemas.openxmlformats.org/officeDocument/2006/relationships/font" Target="fonts/font15.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33" Type="http://schemas.openxmlformats.org/officeDocument/2006/relationships/font" Target="fonts/font8.fntdata"/><Relationship Id="rId38" Type="http://schemas.openxmlformats.org/officeDocument/2006/relationships/font" Target="fonts/font13.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5587FD0-6366-498E-B5AA-8D5EAADA1318}" type="datetimeFigureOut">
              <a:rPr lang="en-IN" smtClean="0"/>
              <a:t>26-08-2025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FD5F676-4FC3-4D3C-BE37-3352AFB195B1}" type="slidenum">
              <a:rPr lang="en-IN" smtClean="0"/>
              <a:t>‹#›</a:t>
            </a:fld>
            <a:endParaRPr lang="en-IN"/>
          </a:p>
        </p:txBody>
      </p:sp>
    </p:spTree>
    <p:extLst>
      <p:ext uri="{BB962C8B-B14F-4D97-AF65-F5344CB8AC3E}">
        <p14:creationId xmlns:p14="http://schemas.microsoft.com/office/powerpoint/2010/main" val="1072425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48E3F3-8B31-41D2-AA9B-9796555DB866}" type="datetimeFigureOut">
              <a:rPr lang="en-US" smtClean="0"/>
              <a:t>8/26/2025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79BDEF-6165-4E72-B1A6-6E8034CEC248}" type="slidenum">
              <a:rPr lang="en-US" smtClean="0"/>
              <a:t>‹#›</a:t>
            </a:fld>
            <a:endParaRPr lang="en-US"/>
          </a:p>
        </p:txBody>
      </p:sp>
    </p:spTree>
    <p:extLst>
      <p:ext uri="{BB962C8B-B14F-4D97-AF65-F5344CB8AC3E}">
        <p14:creationId xmlns:p14="http://schemas.microsoft.com/office/powerpoint/2010/main" val="1766013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12111707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 Default Colo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3F48F6-739E-4659-B107-DABA716A2F34}"/>
              </a:ext>
            </a:extLst>
          </p:cNvPr>
          <p:cNvSpPr>
            <a:spLocks noGrp="1"/>
          </p:cNvSpPr>
          <p:nvPr userDrawn="1">
            <p:ph type="ctrTitle"/>
          </p:nvPr>
        </p:nvSpPr>
        <p:spPr>
          <a:xfrm>
            <a:off x="559490" y="1122364"/>
            <a:ext cx="7035300" cy="2578780"/>
          </a:xfrm>
        </p:spPr>
        <p:txBody>
          <a:bodyPr wrap="square" anchor="t">
            <a:noAutofit/>
          </a:bodyPr>
          <a:lstStyle>
            <a:lvl1pPr algn="l">
              <a:defRPr lang="en-US" sz="6600" b="1" kern="1200" dirty="0">
                <a:solidFill>
                  <a:schemeClr val="tx1">
                    <a:lumMod val="90000"/>
                    <a:lumOff val="10000"/>
                  </a:schemeClr>
                </a:solidFill>
                <a:effectLst>
                  <a:outerShdw blurRad="50800" dist="38100" dir="2700000" algn="tl" rotWithShape="0">
                    <a:prstClr val="black">
                      <a:alpha val="40000"/>
                    </a:prstClr>
                  </a:outerShdw>
                </a:effectLst>
                <a:latin typeface="+mj-lt"/>
                <a:ea typeface="Segoe UI Black" panose="020B0A02040204020203" pitchFamily="34" charset="0"/>
                <a:cs typeface="+mn-cs"/>
              </a:defRPr>
            </a:lvl1pPr>
          </a:lstStyle>
          <a:p>
            <a:r>
              <a:rPr lang="en-US" dirty="0"/>
              <a:t>Click to edit Master title style</a:t>
            </a:r>
          </a:p>
        </p:txBody>
      </p:sp>
      <p:sp>
        <p:nvSpPr>
          <p:cNvPr id="24" name="Text Placeholder 2">
            <a:extLst>
              <a:ext uri="{FF2B5EF4-FFF2-40B4-BE49-F238E27FC236}">
                <a16:creationId xmlns:a16="http://schemas.microsoft.com/office/drawing/2014/main" id="{070A7F06-98AB-45B4-A79D-A6DF8C25DC8E}"/>
              </a:ext>
            </a:extLst>
          </p:cNvPr>
          <p:cNvSpPr>
            <a:spLocks noGrp="1"/>
          </p:cNvSpPr>
          <p:nvPr>
            <p:ph type="body" sz="quarter" idx="16" hasCustomPrompt="1"/>
          </p:nvPr>
        </p:nvSpPr>
        <p:spPr>
          <a:xfrm>
            <a:off x="2581756" y="20384"/>
            <a:ext cx="4646358" cy="734653"/>
          </a:xfrm>
        </p:spPr>
        <p:txBody>
          <a:bodyPr anchor="ctr">
            <a:noAutofit/>
          </a:bodyPr>
          <a:lstStyle>
            <a:lvl1pPr marL="0" indent="0" algn="ctr" defTabSz="914400" rtl="0" eaLnBrk="1" latinLnBrk="0" hangingPunct="1">
              <a:lnSpc>
                <a:spcPct val="90000"/>
              </a:lnSpc>
              <a:spcBef>
                <a:spcPct val="0"/>
              </a:spcBef>
              <a:buNone/>
              <a:defRPr lang="en-US" sz="1800" b="0" kern="1200" dirty="0">
                <a:solidFill>
                  <a:schemeClr val="lt1"/>
                </a:solidFill>
                <a:latin typeface="+mn-lt"/>
                <a:ea typeface="+mn-ea"/>
                <a:cs typeface="+mn-cs"/>
              </a:defRPr>
            </a:lvl1pPr>
          </a:lstStyle>
          <a:p>
            <a:pPr lvl="0"/>
            <a:r>
              <a:rPr lang="en-US" dirty="0"/>
              <a:t>Write Subject Name (Short Name)</a:t>
            </a:r>
          </a:p>
          <a:p>
            <a:pPr lvl="0"/>
            <a:r>
              <a:rPr lang="en-US" dirty="0"/>
              <a:t>GTU # Subject Code</a:t>
            </a:r>
          </a:p>
        </p:txBody>
      </p:sp>
      <p:pic>
        <p:nvPicPr>
          <p:cNvPr id="20" name="Picture 19">
            <a:extLst>
              <a:ext uri="{FF2B5EF4-FFF2-40B4-BE49-F238E27FC236}">
                <a16:creationId xmlns:a16="http://schemas.microsoft.com/office/drawing/2014/main" id="{E0042908-6588-4C7A-9615-8D5899E8A9F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4383" t="-16142" r="-144383" b="22103"/>
          <a:stretch/>
        </p:blipFill>
        <p:spPr>
          <a:xfrm>
            <a:off x="1834747" y="3985791"/>
            <a:ext cx="3075940" cy="2892592"/>
          </a:xfrm>
          <a:prstGeom prst="rect">
            <a:avLst/>
          </a:prstGeom>
        </p:spPr>
      </p:pic>
      <p:pic>
        <p:nvPicPr>
          <p:cNvPr id="31" name="Picture 30"/>
          <p:cNvPicPr>
            <a:picLocks noChangeAspect="1"/>
          </p:cNvPicPr>
          <p:nvPr userDrawn="1"/>
        </p:nvPicPr>
        <p:blipFill>
          <a:blip r:embed="rId3">
            <a:duotone>
              <a:prstClr val="black"/>
              <a:schemeClr val="tx2">
                <a:tint val="45000"/>
                <a:satMod val="400000"/>
              </a:schemeClr>
            </a:duotone>
            <a:extLst>
              <a:ext uri="{28A0092B-C50C-407E-A947-70E740481C1C}">
                <a14:useLocalDpi xmlns:a14="http://schemas.microsoft.com/office/drawing/2010/main" val="0"/>
              </a:ext>
            </a:extLst>
          </a:blip>
          <a:stretch>
            <a:fillRect/>
          </a:stretch>
        </p:blipFill>
        <p:spPr>
          <a:xfrm>
            <a:off x="7594790" y="2237912"/>
            <a:ext cx="4392794" cy="1437753"/>
          </a:xfrm>
          <a:prstGeom prst="rect">
            <a:avLst/>
          </a:prstGeom>
        </p:spPr>
      </p:pic>
    </p:spTree>
    <p:extLst>
      <p:ext uri="{BB962C8B-B14F-4D97-AF65-F5344CB8AC3E}">
        <p14:creationId xmlns:p14="http://schemas.microsoft.com/office/powerpoint/2010/main" val="35705932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hank You Slide - Default Color">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701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 Logo on T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0"/>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80" y="863444"/>
            <a:ext cx="11929641" cy="5590565"/>
          </a:xfrm>
        </p:spPr>
        <p:txBody>
          <a:bodyPr>
            <a:noAutofit/>
          </a:bodyPr>
          <a:lstStyle>
            <a:lvl1pPr marL="265113" indent="-265113" algn="just">
              <a:lnSpc>
                <a:spcPct val="114000"/>
              </a:lnSpc>
              <a:buClr>
                <a:schemeClr val="accent6"/>
              </a:buClr>
              <a:buFont typeface="Wingdings 3" panose="05040102010807070707" pitchFamily="18" charset="2"/>
              <a:buChar char=""/>
              <a:defRPr sz="2400">
                <a:solidFill>
                  <a:schemeClr val="tx1"/>
                </a:solidFill>
              </a:defRPr>
            </a:lvl1pPr>
            <a:lvl2pPr marL="809625" indent="-352425" algn="just">
              <a:lnSpc>
                <a:spcPct val="114000"/>
              </a:lnSpc>
              <a:buClr>
                <a:schemeClr val="accent6"/>
              </a:buClr>
              <a:buFont typeface="Wingdings 3" panose="05040102010807070707" pitchFamily="18" charset="2"/>
              <a:buChar char=""/>
              <a:defRPr sz="2000">
                <a:solidFill>
                  <a:schemeClr val="tx1"/>
                </a:solidFill>
              </a:defRPr>
            </a:lvl2pPr>
            <a:lvl3pPr marL="1143000" indent="-228600" algn="just">
              <a:lnSpc>
                <a:spcPct val="114000"/>
              </a:lnSpc>
              <a:buClr>
                <a:schemeClr val="accent6"/>
              </a:buClr>
              <a:buFont typeface="Wingdings" panose="05000000000000000000" pitchFamily="2" charset="2"/>
              <a:buChar char="§"/>
              <a:defRPr sz="1800">
                <a:solidFill>
                  <a:schemeClr val="tx1"/>
                </a:solidFill>
              </a:defRPr>
            </a:lvl3pPr>
            <a:lvl4pPr algn="just">
              <a:lnSpc>
                <a:spcPct val="114000"/>
              </a:lnSpc>
              <a:buClr>
                <a:schemeClr val="accent6"/>
              </a:buClr>
              <a:defRPr sz="1600">
                <a:solidFill>
                  <a:schemeClr val="tx1"/>
                </a:solidFill>
              </a:defRPr>
            </a:lvl4pPr>
            <a:lvl5pPr algn="just">
              <a:lnSpc>
                <a:spcPct val="114000"/>
              </a:lnSpc>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131180" y="6604000"/>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6633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 Logo on BR">
    <p:spTree>
      <p:nvGrpSpPr>
        <p:cNvPr id="1" name=""/>
        <p:cNvGrpSpPr/>
        <p:nvPr/>
      </p:nvGrpSpPr>
      <p:grpSpPr>
        <a:xfrm>
          <a:off x="0" y="0"/>
          <a:ext cx="0" cy="0"/>
          <a:chOff x="0" y="0"/>
          <a:chExt cx="0" cy="0"/>
        </a:xfrm>
      </p:grpSpPr>
      <p:sp>
        <p:nvSpPr>
          <p:cNvPr id="17" name="Rectangle: Rounded Corners 16">
            <a:extLst>
              <a:ext uri="{FF2B5EF4-FFF2-40B4-BE49-F238E27FC236}">
                <a16:creationId xmlns:a16="http://schemas.microsoft.com/office/drawing/2014/main" id="{7CD05EDD-7D4D-4F15-B3BB-F4E2E35E1780}"/>
              </a:ext>
            </a:extLst>
          </p:cNvPr>
          <p:cNvSpPr/>
          <p:nvPr userDrawn="1"/>
        </p:nvSpPr>
        <p:spPr>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Slide Number Placeholder 3">
            <a:extLst>
              <a:ext uri="{FF2B5EF4-FFF2-40B4-BE49-F238E27FC236}">
                <a16:creationId xmlns:a16="http://schemas.microsoft.com/office/drawing/2014/main" id="{FE084249-8DB7-4B0A-AA7A-A1A407FC0773}"/>
              </a:ext>
            </a:extLst>
          </p:cNvPr>
          <p:cNvSpPr txBox="1">
            <a:spLocks/>
          </p:cNvSpPr>
          <p:nvPr userDrawn="1"/>
        </p:nvSpPr>
        <p:spPr>
          <a:xfrm>
            <a:off x="8610600" y="6604000"/>
            <a:ext cx="2743200" cy="255126"/>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DF2434F-F1F1-4B15-80AA-A2C3BF057F48}" type="slidenum">
              <a:rPr lang="en-US" b="1" smtClean="0">
                <a:solidFill>
                  <a:schemeClr val="tx1">
                    <a:lumMod val="90000"/>
                    <a:lumOff val="10000"/>
                  </a:schemeClr>
                </a:solidFill>
                <a:latin typeface="+mn-lt"/>
              </a:rPr>
              <a:pPr/>
              <a:t>‹#›</a:t>
            </a:fld>
            <a:endParaRPr lang="en-US" b="1" dirty="0">
              <a:solidFill>
                <a:schemeClr val="tx1">
                  <a:lumMod val="90000"/>
                  <a:lumOff val="10000"/>
                </a:schemeClr>
              </a:solidFill>
              <a:latin typeface="+mn-lt"/>
            </a:endParaRPr>
          </a:p>
        </p:txBody>
      </p:sp>
      <p:sp>
        <p:nvSpPr>
          <p:cNvPr id="2" name="Title 1">
            <a:extLst>
              <a:ext uri="{FF2B5EF4-FFF2-40B4-BE49-F238E27FC236}">
                <a16:creationId xmlns:a16="http://schemas.microsoft.com/office/drawing/2014/main" id="{D5CD07E8-CBAA-45BA-85CF-1233D4AA86C9}"/>
              </a:ext>
            </a:extLst>
          </p:cNvPr>
          <p:cNvSpPr>
            <a:spLocks noGrp="1"/>
          </p:cNvSpPr>
          <p:nvPr>
            <p:ph type="title"/>
          </p:nvPr>
        </p:nvSpPr>
        <p:spPr>
          <a:xfrm>
            <a:off x="0" y="1"/>
            <a:ext cx="12192000" cy="711200"/>
          </a:xfrm>
          <a:solidFill>
            <a:srgbClr val="C0C0C0">
              <a:alpha val="50000"/>
            </a:srgbClr>
          </a:solidFill>
          <a:ln>
            <a:noFill/>
          </a:ln>
        </p:spPr>
        <p:txBody>
          <a:bodyPr lIns="216000" tIns="108000" rIns="216000" bIns="108000">
            <a:normAutofit/>
          </a:bodyPr>
          <a:lstStyle>
            <a:lvl1pPr>
              <a:defRPr lang="en-US" sz="3400" b="1" kern="1200" dirty="0">
                <a:solidFill>
                  <a:schemeClr val="tx1">
                    <a:lumMod val="90000"/>
                    <a:lumOff val="10000"/>
                  </a:schemeClr>
                </a:solidFill>
                <a:effectLst/>
                <a:latin typeface="+mj-lt"/>
                <a:ea typeface="+mj-ea"/>
                <a:cs typeface="+mj-cs"/>
              </a:defRPr>
            </a:lvl1pPr>
          </a:lstStyle>
          <a:p>
            <a:r>
              <a:rPr lang="en-US" dirty="0"/>
              <a:t>Click to edit Master title style</a:t>
            </a:r>
          </a:p>
        </p:txBody>
      </p:sp>
      <p:sp>
        <p:nvSpPr>
          <p:cNvPr id="3" name="Content Placeholder 2">
            <a:extLst>
              <a:ext uri="{FF2B5EF4-FFF2-40B4-BE49-F238E27FC236}">
                <a16:creationId xmlns:a16="http://schemas.microsoft.com/office/drawing/2014/main" id="{DC6F4971-704E-42EF-A852-52D75741FB7C}"/>
              </a:ext>
            </a:extLst>
          </p:cNvPr>
          <p:cNvSpPr>
            <a:spLocks noGrp="1"/>
          </p:cNvSpPr>
          <p:nvPr>
            <p:ph idx="1"/>
          </p:nvPr>
        </p:nvSpPr>
        <p:spPr>
          <a:xfrm>
            <a:off x="131178" y="861193"/>
            <a:ext cx="11929641" cy="5590565"/>
          </a:xfrm>
        </p:spPr>
        <p:txBody>
          <a:bodyPr>
            <a:noAutofit/>
          </a:bodyPr>
          <a:lstStyle>
            <a:lvl1pPr marL="265113" indent="-265113" algn="just">
              <a:lnSpc>
                <a:spcPct val="114000"/>
              </a:lnSpc>
              <a:spcBef>
                <a:spcPts val="1000"/>
              </a:spcBef>
              <a:buClr>
                <a:schemeClr val="accent6"/>
              </a:buClr>
              <a:buFont typeface="Wingdings 3" panose="05040102010807070707" pitchFamily="18" charset="2"/>
              <a:buChar char=""/>
              <a:defRPr sz="2400">
                <a:solidFill>
                  <a:schemeClr val="tx1"/>
                </a:solidFill>
              </a:defRPr>
            </a:lvl1pPr>
            <a:lvl2pPr marL="809625" indent="-352425" algn="just">
              <a:lnSpc>
                <a:spcPct val="114000"/>
              </a:lnSpc>
              <a:spcBef>
                <a:spcPts val="1000"/>
              </a:spcBef>
              <a:buClr>
                <a:schemeClr val="accent6"/>
              </a:buClr>
              <a:buFont typeface="Wingdings 3" panose="05040102010807070707" pitchFamily="18" charset="2"/>
              <a:buChar char=""/>
              <a:defRPr sz="2000">
                <a:solidFill>
                  <a:schemeClr val="tx1"/>
                </a:solidFill>
              </a:defRPr>
            </a:lvl2pPr>
            <a:lvl3pPr marL="1143000" indent="-228600" algn="just">
              <a:lnSpc>
                <a:spcPct val="114000"/>
              </a:lnSpc>
              <a:spcBef>
                <a:spcPts val="1000"/>
              </a:spcBef>
              <a:buClr>
                <a:schemeClr val="accent6"/>
              </a:buClr>
              <a:buFont typeface="Wingdings" panose="05000000000000000000" pitchFamily="2" charset="2"/>
              <a:buChar char="§"/>
              <a:defRPr sz="1800">
                <a:solidFill>
                  <a:schemeClr val="tx1"/>
                </a:solidFill>
              </a:defRPr>
            </a:lvl3pPr>
            <a:lvl4pPr algn="just">
              <a:lnSpc>
                <a:spcPct val="114000"/>
              </a:lnSpc>
              <a:spcBef>
                <a:spcPts val="1000"/>
              </a:spcBef>
              <a:buClr>
                <a:schemeClr val="accent6"/>
              </a:buClr>
              <a:defRPr sz="1600">
                <a:solidFill>
                  <a:schemeClr val="tx1"/>
                </a:solidFill>
              </a:defRPr>
            </a:lvl4pPr>
            <a:lvl5pPr algn="just">
              <a:lnSpc>
                <a:spcPct val="114000"/>
              </a:lnSpc>
              <a:spcBef>
                <a:spcPts val="1000"/>
              </a:spcBef>
              <a:buClr>
                <a:schemeClr val="accent6"/>
              </a:buClr>
              <a:defRPr sz="1600">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20" name="Straight Connector 19">
            <a:extLst>
              <a:ext uri="{FF2B5EF4-FFF2-40B4-BE49-F238E27FC236}">
                <a16:creationId xmlns:a16="http://schemas.microsoft.com/office/drawing/2014/main" id="{05596C8C-2163-45E8-B709-8118C381771F}"/>
              </a:ext>
            </a:extLst>
          </p:cNvPr>
          <p:cNvCxnSpPr/>
          <p:nvPr userDrawn="1"/>
        </p:nvCxnSpPr>
        <p:spPr>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F86BF578-C91A-4942-95D5-11408C3CCACF}"/>
              </a:ext>
            </a:extLst>
          </p:cNvPr>
          <p:cNvCxnSpPr/>
          <p:nvPr userDrawn="1"/>
        </p:nvCxnSpPr>
        <p:spPr>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2761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F5063B-909B-4A7F-B502-78022804391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027DDF1-16E2-4622-B8FD-0148CD5CE0F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7EA166-F18A-4D32-AA1F-AE475D49103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D21B45-1703-4330-B544-825BD8F37AF2}" type="datetimeFigureOut">
              <a:rPr lang="en-US" smtClean="0"/>
              <a:t>8/26/2025</a:t>
            </a:fld>
            <a:endParaRPr lang="en-US"/>
          </a:p>
        </p:txBody>
      </p:sp>
      <p:sp>
        <p:nvSpPr>
          <p:cNvPr id="5" name="Footer Placeholder 4">
            <a:extLst>
              <a:ext uri="{FF2B5EF4-FFF2-40B4-BE49-F238E27FC236}">
                <a16:creationId xmlns:a16="http://schemas.microsoft.com/office/drawing/2014/main" id="{205C5379-5B41-4775-9279-F9F7608E662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1A4B342-6FD5-4BB7-B9AE-3C5081C089F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41F3C7-36DD-4595-AA08-2525D86280BD}" type="slidenum">
              <a:rPr lang="en-US" smtClean="0"/>
              <a:t>‹#›</a:t>
            </a:fld>
            <a:endParaRPr lang="en-US"/>
          </a:p>
        </p:txBody>
      </p:sp>
    </p:spTree>
    <p:extLst>
      <p:ext uri="{BB962C8B-B14F-4D97-AF65-F5344CB8AC3E}">
        <p14:creationId xmlns:p14="http://schemas.microsoft.com/office/powerpoint/2010/main" val="791954662"/>
      </p:ext>
    </p:extLst>
  </p:cSld>
  <p:clrMap bg1="lt1" tx1="dk1" bg2="lt2" tx2="dk2" accent1="accent1" accent2="accent2" accent3="accent3" accent4="accent4" accent5="accent5" accent6="accent6" hlink="hlink" folHlink="folHlink"/>
  <p:sldLayoutIdLst>
    <p:sldLayoutId id="2147483667" r:id="rId1"/>
    <p:sldLayoutId id="2147483693" r:id="rId2"/>
    <p:sldLayoutId id="2147483670" r:id="rId3"/>
    <p:sldLayoutId id="2147483687"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image" Target="../media/image5.wmf"/><Relationship Id="rId1" Type="http://schemas.openxmlformats.org/officeDocument/2006/relationships/slideLayout" Target="../slideLayouts/slideLayout4.xml"/><Relationship Id="rId5" Type="http://schemas.openxmlformats.org/officeDocument/2006/relationships/image" Target="../media/image8.wmf"/><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A5353-D4D5-43D7-A039-6CFC6871D64F}"/>
              </a:ext>
            </a:extLst>
          </p:cNvPr>
          <p:cNvSpPr>
            <a:spLocks noGrp="1"/>
          </p:cNvSpPr>
          <p:nvPr>
            <p:ph type="ctrTitle"/>
          </p:nvPr>
        </p:nvSpPr>
        <p:spPr>
          <a:xfrm>
            <a:off x="559490" y="1122364"/>
            <a:ext cx="7060510" cy="2563094"/>
          </a:xfrm>
        </p:spPr>
        <p:txBody>
          <a:bodyPr/>
          <a:lstStyle/>
          <a:p>
            <a:br>
              <a:rPr lang="en-US" sz="6000" dirty="0"/>
            </a:br>
            <a:r>
              <a:rPr lang="en-US" sz="6000" dirty="0"/>
              <a:t>Linear Data Structure Queue</a:t>
            </a:r>
          </a:p>
        </p:txBody>
      </p:sp>
      <p:sp>
        <p:nvSpPr>
          <p:cNvPr id="1027" name="Text Placeholder 1026">
            <a:extLst>
              <a:ext uri="{FF2B5EF4-FFF2-40B4-BE49-F238E27FC236}">
                <a16:creationId xmlns:a16="http://schemas.microsoft.com/office/drawing/2014/main" id="{D1F0AA94-EAF3-4868-942A-0125EFC5C764}"/>
              </a:ext>
            </a:extLst>
          </p:cNvPr>
          <p:cNvSpPr>
            <a:spLocks noGrp="1"/>
          </p:cNvSpPr>
          <p:nvPr>
            <p:ph type="body" sz="quarter" idx="16"/>
          </p:nvPr>
        </p:nvSpPr>
        <p:spPr/>
        <p:txBody>
          <a:bodyPr/>
          <a:lstStyle/>
          <a:p>
            <a:r>
              <a:rPr lang="en-US" b="1" dirty="0"/>
              <a:t>Data Structures </a:t>
            </a:r>
            <a:r>
              <a:rPr lang="en-US" dirty="0">
                <a:latin typeface="Roboto Condensed Light" panose="02000000000000000000" pitchFamily="2" charset="0"/>
                <a:ea typeface="Roboto Condensed Light" panose="02000000000000000000" pitchFamily="2" charset="0"/>
              </a:rPr>
              <a:t>(DS)</a:t>
            </a:r>
          </a:p>
          <a:p>
            <a:r>
              <a:rPr lang="en-US" dirty="0">
                <a:latin typeface="Roboto Condensed Light" panose="02000000000000000000" pitchFamily="2" charset="0"/>
                <a:ea typeface="Roboto Condensed Light" panose="02000000000000000000" pitchFamily="2" charset="0"/>
              </a:rPr>
              <a:t>GTU # 3130702</a:t>
            </a:r>
          </a:p>
        </p:txBody>
      </p:sp>
      <p:sp>
        <p:nvSpPr>
          <p:cNvPr id="11" name="AutoShape 3">
            <a:extLst>
              <a:ext uri="{FF2B5EF4-FFF2-40B4-BE49-F238E27FC236}">
                <a16:creationId xmlns:a16="http://schemas.microsoft.com/office/drawing/2014/main" id="{3D1B70E7-2396-452E-A00A-D1D4AA1E56DF}"/>
              </a:ext>
            </a:extLst>
          </p:cNvPr>
          <p:cNvSpPr>
            <a:spLocks noChangeAspect="1" noChangeArrowheads="1" noTextEdit="1"/>
          </p:cNvSpPr>
          <p:nvPr/>
        </p:nvSpPr>
        <p:spPr bwMode="auto">
          <a:xfrm>
            <a:off x="5573676" y="-3055324"/>
            <a:ext cx="7721600" cy="1457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661001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Queue</a:t>
            </a:r>
            <a:endParaRPr lang="en-US" dirty="0"/>
          </a:p>
        </p:txBody>
      </p:sp>
      <p:sp>
        <p:nvSpPr>
          <p:cNvPr id="3" name="Content Placeholder 2"/>
          <p:cNvSpPr>
            <a:spLocks noGrp="1"/>
          </p:cNvSpPr>
          <p:nvPr>
            <p:ph idx="1"/>
          </p:nvPr>
        </p:nvSpPr>
        <p:spPr/>
        <p:txBody>
          <a:bodyPr>
            <a:normAutofit/>
          </a:bodyPr>
          <a:lstStyle/>
          <a:p>
            <a:r>
              <a:rPr lang="en-IN" dirty="0"/>
              <a:t>A linear list which permits </a:t>
            </a:r>
            <a:r>
              <a:rPr lang="en-IN" b="1" dirty="0">
                <a:solidFill>
                  <a:srgbClr val="C00000"/>
                </a:solidFill>
              </a:rPr>
              <a:t>deletion</a:t>
            </a:r>
            <a:r>
              <a:rPr lang="en-IN" dirty="0">
                <a:solidFill>
                  <a:srgbClr val="C00000"/>
                </a:solidFill>
              </a:rPr>
              <a:t> </a:t>
            </a:r>
            <a:r>
              <a:rPr lang="en-IN" dirty="0"/>
              <a:t>to be performed </a:t>
            </a:r>
            <a:r>
              <a:rPr lang="en-IN" b="1" dirty="0">
                <a:solidFill>
                  <a:srgbClr val="C00000"/>
                </a:solidFill>
              </a:rPr>
              <a:t>at one </a:t>
            </a:r>
            <a:r>
              <a:rPr lang="en-IN" dirty="0"/>
              <a:t>end of the list and </a:t>
            </a:r>
            <a:r>
              <a:rPr lang="en-IN" b="1" dirty="0">
                <a:solidFill>
                  <a:srgbClr val="C00000"/>
                </a:solidFill>
              </a:rPr>
              <a:t>insertion</a:t>
            </a:r>
            <a:r>
              <a:rPr lang="en-IN" dirty="0">
                <a:solidFill>
                  <a:srgbClr val="C00000"/>
                </a:solidFill>
              </a:rPr>
              <a:t> </a:t>
            </a:r>
            <a:r>
              <a:rPr lang="en-IN" b="1" dirty="0">
                <a:solidFill>
                  <a:srgbClr val="C00000"/>
                </a:solidFill>
              </a:rPr>
              <a:t>at the other end</a:t>
            </a:r>
            <a:r>
              <a:rPr lang="en-IN" b="1" dirty="0">
                <a:solidFill>
                  <a:srgbClr val="FF0000"/>
                </a:solidFill>
              </a:rPr>
              <a:t> </a:t>
            </a:r>
            <a:r>
              <a:rPr lang="en-IN" dirty="0"/>
              <a:t>is called </a:t>
            </a:r>
            <a:r>
              <a:rPr lang="en-IN" b="1" dirty="0">
                <a:solidFill>
                  <a:srgbClr val="C00000"/>
                </a:solidFill>
              </a:rPr>
              <a:t>queue</a:t>
            </a:r>
            <a:r>
              <a:rPr lang="en-IN" dirty="0"/>
              <a:t>.</a:t>
            </a:r>
          </a:p>
          <a:p>
            <a:r>
              <a:rPr lang="en-IN" dirty="0"/>
              <a:t>The information in such a list is processed </a:t>
            </a:r>
            <a:r>
              <a:rPr lang="en-IN" b="1" dirty="0">
                <a:solidFill>
                  <a:srgbClr val="C00000"/>
                </a:solidFill>
              </a:rPr>
              <a:t>FIFO (first in first out) or FCFS (first come first served)</a:t>
            </a:r>
            <a:r>
              <a:rPr lang="en-IN" b="1" dirty="0">
                <a:solidFill>
                  <a:srgbClr val="FF0000"/>
                </a:solidFill>
              </a:rPr>
              <a:t> </a:t>
            </a:r>
            <a:r>
              <a:rPr lang="en-IN" dirty="0"/>
              <a:t>manner.</a:t>
            </a:r>
          </a:p>
          <a:p>
            <a:pPr>
              <a:buClr>
                <a:schemeClr val="tx1"/>
              </a:buClr>
            </a:pPr>
            <a:r>
              <a:rPr lang="en-IN" b="1" dirty="0">
                <a:solidFill>
                  <a:srgbClr val="C00000"/>
                </a:solidFill>
              </a:rPr>
              <a:t>Front</a:t>
            </a:r>
            <a:r>
              <a:rPr lang="en-IN" b="1" dirty="0">
                <a:solidFill>
                  <a:srgbClr val="FF0000"/>
                </a:solidFill>
              </a:rPr>
              <a:t> </a:t>
            </a:r>
            <a:r>
              <a:rPr lang="en-IN" dirty="0"/>
              <a:t>is the end of queue from that deletion is to be performed.</a:t>
            </a:r>
          </a:p>
          <a:p>
            <a:pPr>
              <a:buClr>
                <a:schemeClr val="tx1"/>
              </a:buClr>
            </a:pPr>
            <a:r>
              <a:rPr lang="en-IN" b="1" dirty="0">
                <a:solidFill>
                  <a:srgbClr val="C00000"/>
                </a:solidFill>
              </a:rPr>
              <a:t>Rear</a:t>
            </a:r>
            <a:r>
              <a:rPr lang="en-IN" dirty="0">
                <a:solidFill>
                  <a:srgbClr val="C00000"/>
                </a:solidFill>
              </a:rPr>
              <a:t> </a:t>
            </a:r>
            <a:r>
              <a:rPr lang="en-IN" dirty="0"/>
              <a:t>is the end of queue at which new element is to be inserted.</a:t>
            </a:r>
          </a:p>
          <a:p>
            <a:r>
              <a:rPr lang="en-IN" dirty="0"/>
              <a:t>Insertion operation is called </a:t>
            </a:r>
            <a:r>
              <a:rPr lang="en-IN" b="1" dirty="0" err="1">
                <a:solidFill>
                  <a:srgbClr val="C00000"/>
                </a:solidFill>
              </a:rPr>
              <a:t>Enqueue</a:t>
            </a:r>
            <a:r>
              <a:rPr lang="en-IN" dirty="0">
                <a:solidFill>
                  <a:srgbClr val="C00000"/>
                </a:solidFill>
              </a:rPr>
              <a:t> </a:t>
            </a:r>
            <a:r>
              <a:rPr lang="en-IN" dirty="0"/>
              <a:t>&amp; deletion operation is called </a:t>
            </a:r>
            <a:r>
              <a:rPr lang="en-IN" b="1" dirty="0" err="1">
                <a:solidFill>
                  <a:srgbClr val="C00000"/>
                </a:solidFill>
              </a:rPr>
              <a:t>Dequeue</a:t>
            </a:r>
            <a:r>
              <a:rPr lang="en-IN" dirty="0"/>
              <a:t>.</a:t>
            </a:r>
          </a:p>
          <a:p>
            <a:endParaRPr lang="en-IN" b="1" i="1" dirty="0">
              <a:solidFill>
                <a:srgbClr val="FF0000"/>
              </a:solidFill>
            </a:endParaRPr>
          </a:p>
        </p:txBody>
      </p:sp>
      <p:grpSp>
        <p:nvGrpSpPr>
          <p:cNvPr id="37" name="Group 36"/>
          <p:cNvGrpSpPr/>
          <p:nvPr/>
        </p:nvGrpSpPr>
        <p:grpSpPr>
          <a:xfrm>
            <a:off x="4026260" y="4396713"/>
            <a:ext cx="3779856" cy="552889"/>
            <a:chOff x="1066800" y="3823447"/>
            <a:chExt cx="4114800" cy="552889"/>
          </a:xfrm>
        </p:grpSpPr>
        <p:cxnSp>
          <p:nvCxnSpPr>
            <p:cNvPr id="44" name="Straight Connector 43"/>
            <p:cNvCxnSpPr/>
            <p:nvPr/>
          </p:nvCxnSpPr>
          <p:spPr>
            <a:xfrm>
              <a:off x="1066800" y="3823447"/>
              <a:ext cx="41148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46" name="Straight Connector 45"/>
            <p:cNvCxnSpPr/>
            <p:nvPr/>
          </p:nvCxnSpPr>
          <p:spPr>
            <a:xfrm>
              <a:off x="1066800" y="4376336"/>
              <a:ext cx="4114800"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sp>
        <p:nvSpPr>
          <p:cNvPr id="47" name="Rectangle 46"/>
          <p:cNvSpPr/>
          <p:nvPr/>
        </p:nvSpPr>
        <p:spPr>
          <a:xfrm>
            <a:off x="4050536"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10</a:t>
            </a:r>
            <a:endParaRPr lang="en-US" b="1" dirty="0"/>
          </a:p>
        </p:txBody>
      </p:sp>
      <p:sp>
        <p:nvSpPr>
          <p:cNvPr id="48" name="Rectangle 47"/>
          <p:cNvSpPr/>
          <p:nvPr/>
        </p:nvSpPr>
        <p:spPr>
          <a:xfrm>
            <a:off x="6533460"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50</a:t>
            </a:r>
            <a:endParaRPr lang="en-US" b="1" dirty="0"/>
          </a:p>
        </p:txBody>
      </p:sp>
      <p:sp>
        <p:nvSpPr>
          <p:cNvPr id="49" name="Rectangle 48"/>
          <p:cNvSpPr/>
          <p:nvPr/>
        </p:nvSpPr>
        <p:spPr>
          <a:xfrm>
            <a:off x="5293470"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5</a:t>
            </a:r>
            <a:endParaRPr lang="en-US" b="1" dirty="0"/>
          </a:p>
        </p:txBody>
      </p:sp>
      <p:sp>
        <p:nvSpPr>
          <p:cNvPr id="50" name="Rectangle 49"/>
          <p:cNvSpPr/>
          <p:nvPr/>
        </p:nvSpPr>
        <p:spPr>
          <a:xfrm>
            <a:off x="5911911"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80</a:t>
            </a:r>
            <a:endParaRPr lang="en-US" b="1" dirty="0"/>
          </a:p>
        </p:txBody>
      </p:sp>
      <p:sp>
        <p:nvSpPr>
          <p:cNvPr id="51" name="Rectangle 50"/>
          <p:cNvSpPr/>
          <p:nvPr/>
        </p:nvSpPr>
        <p:spPr>
          <a:xfrm>
            <a:off x="4673534"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grpSp>
        <p:nvGrpSpPr>
          <p:cNvPr id="71" name="Group 70"/>
          <p:cNvGrpSpPr/>
          <p:nvPr/>
        </p:nvGrpSpPr>
        <p:grpSpPr>
          <a:xfrm>
            <a:off x="3810000" y="5257800"/>
            <a:ext cx="4081670" cy="533400"/>
            <a:chOff x="2286000" y="5257800"/>
            <a:chExt cx="4081670" cy="533400"/>
          </a:xfrm>
        </p:grpSpPr>
        <p:grpSp>
          <p:nvGrpSpPr>
            <p:cNvPr id="7" name="Group 6"/>
            <p:cNvGrpSpPr/>
            <p:nvPr/>
          </p:nvGrpSpPr>
          <p:grpSpPr>
            <a:xfrm>
              <a:off x="2286000" y="5257800"/>
              <a:ext cx="4081670" cy="533400"/>
              <a:chOff x="2286000" y="5486400"/>
              <a:chExt cx="4081670" cy="533400"/>
            </a:xfrm>
          </p:grpSpPr>
          <p:cxnSp>
            <p:nvCxnSpPr>
              <p:cNvPr id="5" name="Straight Connector 4"/>
              <p:cNvCxnSpPr/>
              <p:nvPr/>
            </p:nvCxnSpPr>
            <p:spPr>
              <a:xfrm>
                <a:off x="2286000" y="54864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cxnSp>
            <p:nvCxnSpPr>
              <p:cNvPr id="52" name="Straight Connector 51"/>
              <p:cNvCxnSpPr/>
              <p:nvPr/>
            </p:nvCxnSpPr>
            <p:spPr>
              <a:xfrm>
                <a:off x="2286000" y="6019800"/>
                <a:ext cx="4081670" cy="0"/>
              </a:xfrm>
              <a:prstGeom prst="line">
                <a:avLst/>
              </a:prstGeom>
              <a:ln w="28575"/>
            </p:spPr>
            <p:style>
              <a:lnRef idx="2">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5153960" y="5257800"/>
              <a:ext cx="533400" cy="533400"/>
              <a:chOff x="1600200" y="5486400"/>
              <a:chExt cx="533400" cy="533400"/>
            </a:xfrm>
          </p:grpSpPr>
          <p:sp>
            <p:nvSpPr>
              <p:cNvPr id="6" name="Rectangle 5"/>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3" name="Straight Connector 52"/>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55" name="Group 54"/>
            <p:cNvGrpSpPr/>
            <p:nvPr/>
          </p:nvGrpSpPr>
          <p:grpSpPr>
            <a:xfrm>
              <a:off x="4614696" y="5257800"/>
              <a:ext cx="533400" cy="533400"/>
              <a:chOff x="1600200" y="5486400"/>
              <a:chExt cx="533400" cy="533400"/>
            </a:xfrm>
          </p:grpSpPr>
          <p:sp>
            <p:nvSpPr>
              <p:cNvPr id="56" name="Rectangle 55"/>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7" name="Straight Connector 56"/>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58" name="Straight Connector 57"/>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59" name="Group 58"/>
            <p:cNvGrpSpPr/>
            <p:nvPr/>
          </p:nvGrpSpPr>
          <p:grpSpPr>
            <a:xfrm>
              <a:off x="4071248" y="5257800"/>
              <a:ext cx="533400" cy="533400"/>
              <a:chOff x="1600200" y="5486400"/>
              <a:chExt cx="533400" cy="533400"/>
            </a:xfrm>
          </p:grpSpPr>
          <p:sp>
            <p:nvSpPr>
              <p:cNvPr id="60" name="Rectangle 59"/>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60"/>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2" name="Straight Connector 61"/>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63" name="Group 62"/>
            <p:cNvGrpSpPr/>
            <p:nvPr/>
          </p:nvGrpSpPr>
          <p:grpSpPr>
            <a:xfrm>
              <a:off x="3527800" y="5257800"/>
              <a:ext cx="533400" cy="533400"/>
              <a:chOff x="1600200" y="5486400"/>
              <a:chExt cx="533400" cy="533400"/>
            </a:xfrm>
          </p:grpSpPr>
          <p:sp>
            <p:nvSpPr>
              <p:cNvPr id="64" name="Rectangle 63"/>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Connector 64"/>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66" name="Straight Connector 65"/>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nvGrpSpPr>
            <p:cNvPr id="67" name="Group 66"/>
            <p:cNvGrpSpPr/>
            <p:nvPr/>
          </p:nvGrpSpPr>
          <p:grpSpPr>
            <a:xfrm>
              <a:off x="2984352" y="5257800"/>
              <a:ext cx="533400" cy="533400"/>
              <a:chOff x="1600200" y="5486400"/>
              <a:chExt cx="533400" cy="533400"/>
            </a:xfrm>
          </p:grpSpPr>
          <p:sp>
            <p:nvSpPr>
              <p:cNvPr id="68" name="Rectangle 67"/>
              <p:cNvSpPr/>
              <p:nvPr/>
            </p:nvSpPr>
            <p:spPr>
              <a:xfrm>
                <a:off x="1600200" y="5486400"/>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p:cNvCxnSpPr/>
              <p:nvPr/>
            </p:nvCxnSpPr>
            <p:spPr>
              <a:xfrm>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70" name="Straight Connector 69"/>
              <p:cNvCxnSpPr/>
              <p:nvPr/>
            </p:nvCxnSpPr>
            <p:spPr>
              <a:xfrm flipV="1">
                <a:off x="1600200" y="5486400"/>
                <a:ext cx="533400" cy="53340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grpSp>
      </p:grpSp>
      <p:grpSp>
        <p:nvGrpSpPr>
          <p:cNvPr id="77" name="Group 76"/>
          <p:cNvGrpSpPr/>
          <p:nvPr/>
        </p:nvGrpSpPr>
        <p:grpSpPr>
          <a:xfrm>
            <a:off x="6638203" y="5791200"/>
            <a:ext cx="612914" cy="609600"/>
            <a:chOff x="5119632" y="5791200"/>
            <a:chExt cx="612914" cy="609600"/>
          </a:xfrm>
        </p:grpSpPr>
        <p:sp>
          <p:nvSpPr>
            <p:cNvPr id="72" name="TextBox 71"/>
            <p:cNvSpPr txBox="1"/>
            <p:nvPr/>
          </p:nvSpPr>
          <p:spPr>
            <a:xfrm>
              <a:off x="5119632" y="6062246"/>
              <a:ext cx="612914" cy="338554"/>
            </a:xfrm>
            <a:prstGeom prst="rect">
              <a:avLst/>
            </a:prstGeom>
            <a:noFill/>
          </p:spPr>
          <p:txBody>
            <a:bodyPr wrap="square" rtlCol="0">
              <a:spAutoFit/>
            </a:bodyPr>
            <a:lstStyle/>
            <a:p>
              <a:pPr algn="ctr"/>
              <a:r>
                <a:rPr lang="en-IN" sz="1600" b="1" dirty="0"/>
                <a:t>Rear</a:t>
              </a:r>
              <a:endParaRPr lang="en-US" sz="1600" b="1" dirty="0"/>
            </a:p>
          </p:txBody>
        </p:sp>
        <p:cxnSp>
          <p:nvCxnSpPr>
            <p:cNvPr id="76" name="Straight Arrow Connector 75"/>
            <p:cNvCxnSpPr>
              <a:stCxn id="72" idx="0"/>
              <a:endCxn id="6" idx="2"/>
            </p:cNvCxnSpPr>
            <p:nvPr/>
          </p:nvCxnSpPr>
          <p:spPr>
            <a:xfrm flipH="1" flipV="1">
              <a:off x="5420660" y="5791200"/>
              <a:ext cx="5429" cy="271046"/>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grpSp>
        <p:nvGrpSpPr>
          <p:cNvPr id="86" name="Group 85"/>
          <p:cNvGrpSpPr/>
          <p:nvPr/>
        </p:nvGrpSpPr>
        <p:grpSpPr>
          <a:xfrm>
            <a:off x="4430060" y="5757446"/>
            <a:ext cx="689984" cy="609600"/>
            <a:chOff x="5069392" y="5791200"/>
            <a:chExt cx="689984" cy="609600"/>
          </a:xfrm>
        </p:grpSpPr>
        <p:sp>
          <p:nvSpPr>
            <p:cNvPr id="79" name="TextBox 78"/>
            <p:cNvSpPr txBox="1"/>
            <p:nvPr/>
          </p:nvSpPr>
          <p:spPr>
            <a:xfrm>
              <a:off x="5069392" y="6062246"/>
              <a:ext cx="689984" cy="338554"/>
            </a:xfrm>
            <a:prstGeom prst="rect">
              <a:avLst/>
            </a:prstGeom>
            <a:noFill/>
          </p:spPr>
          <p:txBody>
            <a:bodyPr wrap="square" rtlCol="0">
              <a:spAutoFit/>
            </a:bodyPr>
            <a:lstStyle/>
            <a:p>
              <a:pPr algn="ctr"/>
              <a:r>
                <a:rPr lang="en-IN" sz="1600" b="1" dirty="0"/>
                <a:t>Front</a:t>
              </a:r>
              <a:endParaRPr lang="en-US" sz="1600" b="1" dirty="0"/>
            </a:p>
          </p:txBody>
        </p:sp>
        <p:cxnSp>
          <p:nvCxnSpPr>
            <p:cNvPr id="85" name="Straight Arrow Connector 84"/>
            <p:cNvCxnSpPr>
              <a:stCxn id="79" idx="0"/>
              <a:endCxn id="6" idx="2"/>
            </p:cNvCxnSpPr>
            <p:nvPr/>
          </p:nvCxnSpPr>
          <p:spPr>
            <a:xfrm flipV="1">
              <a:off x="5414384" y="5791200"/>
              <a:ext cx="6276" cy="271046"/>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42" name="Rectangle 41"/>
          <p:cNvSpPr/>
          <p:nvPr/>
        </p:nvSpPr>
        <p:spPr>
          <a:xfrm>
            <a:off x="7156056" y="4406070"/>
            <a:ext cx="6096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100</a:t>
            </a:r>
            <a:endParaRPr lang="en-US" b="1" dirty="0"/>
          </a:p>
        </p:txBody>
      </p:sp>
      <p:cxnSp>
        <p:nvCxnSpPr>
          <p:cNvPr id="10" name="Straight Arrow Connector 9"/>
          <p:cNvCxnSpPr/>
          <p:nvPr/>
        </p:nvCxnSpPr>
        <p:spPr>
          <a:xfrm flipH="1">
            <a:off x="7543800" y="5524500"/>
            <a:ext cx="990600" cy="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sp>
        <p:nvSpPr>
          <p:cNvPr id="73" name="TextBox 72"/>
          <p:cNvSpPr txBox="1"/>
          <p:nvPr/>
        </p:nvSpPr>
        <p:spPr>
          <a:xfrm>
            <a:off x="8534400" y="5352225"/>
            <a:ext cx="990600" cy="338554"/>
          </a:xfrm>
          <a:prstGeom prst="rect">
            <a:avLst/>
          </a:prstGeom>
          <a:noFill/>
        </p:spPr>
        <p:txBody>
          <a:bodyPr wrap="square" rtlCol="0">
            <a:spAutoFit/>
          </a:bodyPr>
          <a:lstStyle/>
          <a:p>
            <a:pPr algn="ctr"/>
            <a:r>
              <a:rPr lang="en-IN" sz="1600" b="1" dirty="0"/>
              <a:t>Insertion</a:t>
            </a:r>
            <a:endParaRPr lang="en-US" sz="1600" b="1" dirty="0"/>
          </a:p>
        </p:txBody>
      </p:sp>
      <p:cxnSp>
        <p:nvCxnSpPr>
          <p:cNvPr id="74" name="Straight Arrow Connector 73"/>
          <p:cNvCxnSpPr/>
          <p:nvPr/>
        </p:nvCxnSpPr>
        <p:spPr>
          <a:xfrm flipH="1">
            <a:off x="3228860" y="5549747"/>
            <a:ext cx="990600" cy="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sp>
        <p:nvSpPr>
          <p:cNvPr id="75" name="TextBox 74"/>
          <p:cNvSpPr txBox="1"/>
          <p:nvPr/>
        </p:nvSpPr>
        <p:spPr>
          <a:xfrm>
            <a:off x="2226325" y="5374824"/>
            <a:ext cx="990600" cy="338554"/>
          </a:xfrm>
          <a:prstGeom prst="rect">
            <a:avLst/>
          </a:prstGeom>
          <a:noFill/>
        </p:spPr>
        <p:txBody>
          <a:bodyPr wrap="square" rtlCol="0">
            <a:spAutoFit/>
          </a:bodyPr>
          <a:lstStyle/>
          <a:p>
            <a:pPr algn="ctr"/>
            <a:r>
              <a:rPr lang="en-IN" sz="1600" b="1" dirty="0"/>
              <a:t>Deletion</a:t>
            </a:r>
            <a:endParaRPr lang="en-US" sz="1600" b="1" dirty="0"/>
          </a:p>
        </p:txBody>
      </p:sp>
    </p:spTree>
    <p:extLst>
      <p:ext uri="{BB962C8B-B14F-4D97-AF65-F5344CB8AC3E}">
        <p14:creationId xmlns:p14="http://schemas.microsoft.com/office/powerpoint/2010/main" val="425082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
                                        </p:tgtEl>
                                        <p:attrNameLst>
                                          <p:attrName>style.visibility</p:attrName>
                                        </p:attrNameLst>
                                      </p:cBhvr>
                                      <p:to>
                                        <p:strVal val="visible"/>
                                      </p:to>
                                    </p:set>
                                  </p:childTnLst>
                                </p:cTn>
                              </p:par>
                              <p:par>
                                <p:cTn id="19" presetID="35" presetClass="path" presetSubtype="0" accel="50000" decel="50000" fill="hold" grpId="1" nodeType="withEffect">
                                  <p:stCondLst>
                                    <p:cond delay="0"/>
                                  </p:stCondLst>
                                  <p:childTnLst>
                                    <p:animMotion origin="layout" path="M 0.64167 2.22222E-6 L 0 2.22222E-6 " pathEditMode="relative" rAng="0" ptsTypes="AA">
                                      <p:cBhvr>
                                        <p:cTn id="20" dur="2000" fill="hold"/>
                                        <p:tgtEl>
                                          <p:spTgt spid="47"/>
                                        </p:tgtEl>
                                        <p:attrNameLst>
                                          <p:attrName>ppt_x</p:attrName>
                                          <p:attrName>ppt_y</p:attrName>
                                        </p:attrNameLst>
                                      </p:cBhvr>
                                      <p:rCtr x="-32083" y="0"/>
                                    </p:animMotion>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childTnLst>
                                </p:cTn>
                              </p:par>
                            </p:childTnLst>
                          </p:cTn>
                        </p:par>
                        <p:par>
                          <p:cTn id="25" fill="hold">
                            <p:stCondLst>
                              <p:cond delay="0"/>
                            </p:stCondLst>
                            <p:childTnLst>
                              <p:par>
                                <p:cTn id="26" presetID="35" presetClass="path" presetSubtype="0" accel="50000" decel="50000" fill="hold" grpId="1" nodeType="afterEffect">
                                  <p:stCondLst>
                                    <p:cond delay="0"/>
                                  </p:stCondLst>
                                  <p:childTnLst>
                                    <p:animMotion origin="layout" path="M 0.57031 4.80444E-6 L 2.5E-6 4.80444E-6 " pathEditMode="relative" rAng="0" ptsTypes="AA">
                                      <p:cBhvr>
                                        <p:cTn id="27" dur="2000" fill="hold"/>
                                        <p:tgtEl>
                                          <p:spTgt spid="51"/>
                                        </p:tgtEl>
                                        <p:attrNameLst>
                                          <p:attrName>ppt_x</p:attrName>
                                          <p:attrName>ppt_y</p:attrName>
                                        </p:attrNameLst>
                                      </p:cBhvr>
                                      <p:rCtr x="-28524" y="0"/>
                                    </p:animMotion>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49"/>
                                        </p:tgtEl>
                                        <p:attrNameLst>
                                          <p:attrName>style.visibility</p:attrName>
                                        </p:attrNameLst>
                                      </p:cBhvr>
                                      <p:to>
                                        <p:strVal val="visible"/>
                                      </p:to>
                                    </p:set>
                                  </p:childTnLst>
                                </p:cTn>
                              </p:par>
                            </p:childTnLst>
                          </p:cTn>
                        </p:par>
                        <p:par>
                          <p:cTn id="32" fill="hold">
                            <p:stCondLst>
                              <p:cond delay="0"/>
                            </p:stCondLst>
                            <p:childTnLst>
                              <p:par>
                                <p:cTn id="33" presetID="35" presetClass="path" presetSubtype="0" accel="50000" decel="50000" fill="hold" grpId="1" nodeType="afterEffect">
                                  <p:stCondLst>
                                    <p:cond delay="0"/>
                                  </p:stCondLst>
                                  <p:childTnLst>
                                    <p:animMotion origin="layout" path="M 0.50347 0 L 2.22222E-6 0 " pathEditMode="relative" rAng="0" ptsTypes="AA">
                                      <p:cBhvr>
                                        <p:cTn id="34" dur="2000" fill="hold"/>
                                        <p:tgtEl>
                                          <p:spTgt spid="49"/>
                                        </p:tgtEl>
                                        <p:attrNameLst>
                                          <p:attrName>ppt_x</p:attrName>
                                          <p:attrName>ppt_y</p:attrName>
                                        </p:attrNameLst>
                                      </p:cBhvr>
                                      <p:rCtr x="-25174" y="0"/>
                                    </p:animMotion>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0"/>
                                        </p:tgtEl>
                                        <p:attrNameLst>
                                          <p:attrName>style.visibility</p:attrName>
                                        </p:attrNameLst>
                                      </p:cBhvr>
                                      <p:to>
                                        <p:strVal val="visible"/>
                                      </p:to>
                                    </p:set>
                                  </p:childTnLst>
                                </p:cTn>
                              </p:par>
                            </p:childTnLst>
                          </p:cTn>
                        </p:par>
                        <p:par>
                          <p:cTn id="39" fill="hold">
                            <p:stCondLst>
                              <p:cond delay="0"/>
                            </p:stCondLst>
                            <p:childTnLst>
                              <p:par>
                                <p:cTn id="40" presetID="35" presetClass="path" presetSubtype="0" accel="50000" decel="50000" fill="hold" grpId="1" nodeType="afterEffect">
                                  <p:stCondLst>
                                    <p:cond delay="0"/>
                                  </p:stCondLst>
                                  <p:childTnLst>
                                    <p:animMotion origin="layout" path="M 0.43507 -8.25815E-7 L -5.55556E-7 -8.25815E-7 " pathEditMode="relative" rAng="0" ptsTypes="AA">
                                      <p:cBhvr>
                                        <p:cTn id="41" dur="2000" fill="hold"/>
                                        <p:tgtEl>
                                          <p:spTgt spid="50"/>
                                        </p:tgtEl>
                                        <p:attrNameLst>
                                          <p:attrName>ppt_x</p:attrName>
                                          <p:attrName>ppt_y</p:attrName>
                                        </p:attrNameLst>
                                      </p:cBhvr>
                                      <p:rCtr x="-21753" y="0"/>
                                    </p:animMotion>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48"/>
                                        </p:tgtEl>
                                        <p:attrNameLst>
                                          <p:attrName>style.visibility</p:attrName>
                                        </p:attrNameLst>
                                      </p:cBhvr>
                                      <p:to>
                                        <p:strVal val="visible"/>
                                      </p:to>
                                    </p:set>
                                  </p:childTnLst>
                                </p:cTn>
                              </p:par>
                            </p:childTnLst>
                          </p:cTn>
                        </p:par>
                        <p:par>
                          <p:cTn id="46" fill="hold">
                            <p:stCondLst>
                              <p:cond delay="0"/>
                            </p:stCondLst>
                            <p:childTnLst>
                              <p:par>
                                <p:cTn id="47" presetID="35" presetClass="path" presetSubtype="0" accel="50000" decel="50000" fill="hold" grpId="1" nodeType="afterEffect">
                                  <p:stCondLst>
                                    <p:cond delay="0"/>
                                  </p:stCondLst>
                                  <p:childTnLst>
                                    <p:animMotion origin="layout" path="M 0.36667 -8.25815E-7 L -3.33333E-6 -8.25815E-7 " pathEditMode="relative" rAng="0" ptsTypes="AA">
                                      <p:cBhvr>
                                        <p:cTn id="48" dur="2000" fill="hold"/>
                                        <p:tgtEl>
                                          <p:spTgt spid="48"/>
                                        </p:tgtEl>
                                        <p:attrNameLst>
                                          <p:attrName>ppt_x</p:attrName>
                                          <p:attrName>ppt_y</p:attrName>
                                        </p:attrNameLst>
                                      </p:cBhvr>
                                      <p:rCtr x="-18333"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2"/>
                                        </p:tgtEl>
                                        <p:attrNameLst>
                                          <p:attrName>style.visibility</p:attrName>
                                        </p:attrNameLst>
                                      </p:cBhvr>
                                      <p:to>
                                        <p:strVal val="visible"/>
                                      </p:to>
                                    </p:set>
                                  </p:childTnLst>
                                </p:cTn>
                              </p:par>
                            </p:childTnLst>
                          </p:cTn>
                        </p:par>
                        <p:par>
                          <p:cTn id="53" fill="hold">
                            <p:stCondLst>
                              <p:cond delay="0"/>
                            </p:stCondLst>
                            <p:childTnLst>
                              <p:par>
                                <p:cTn id="54" presetID="35" presetClass="path" presetSubtype="0" accel="50000" decel="50000" fill="hold" grpId="1" nodeType="afterEffect">
                                  <p:stCondLst>
                                    <p:cond delay="0"/>
                                  </p:stCondLst>
                                  <p:childTnLst>
                                    <p:animMotion origin="layout" path="M 0.29878 -2.5214E-6 L 4.72222E-6 -2.5214E-6 " pathEditMode="relative" rAng="0" ptsTypes="AA">
                                      <p:cBhvr>
                                        <p:cTn id="55" dur="2000" fill="hold"/>
                                        <p:tgtEl>
                                          <p:spTgt spid="42"/>
                                        </p:tgtEl>
                                        <p:attrNameLst>
                                          <p:attrName>ppt_x</p:attrName>
                                          <p:attrName>ppt_y</p:attrName>
                                        </p:attrNameLst>
                                      </p:cBhvr>
                                      <p:rCtr x="-14948" y="0"/>
                                    </p:animMotion>
                                  </p:childTnLst>
                                </p:cTn>
                              </p:par>
                            </p:childTnLst>
                          </p:cTn>
                        </p:par>
                      </p:childTnLst>
                    </p:cTn>
                  </p:par>
                  <p:par>
                    <p:cTn id="56" fill="hold">
                      <p:stCondLst>
                        <p:cond delay="indefinite"/>
                      </p:stCondLst>
                      <p:childTnLst>
                        <p:par>
                          <p:cTn id="57" fill="hold">
                            <p:stCondLst>
                              <p:cond delay="0"/>
                            </p:stCondLst>
                            <p:childTnLst>
                              <p:par>
                                <p:cTn id="58" presetID="35" presetClass="path" presetSubtype="0" accel="50000" decel="50000" fill="hold" grpId="2" nodeType="clickEffect">
                                  <p:stCondLst>
                                    <p:cond delay="0"/>
                                  </p:stCondLst>
                                  <p:childTnLst>
                                    <p:animMotion origin="layout" path="M -2.22222E-6 -0.00092 L -0.25 -0.00092 " pathEditMode="relative" rAng="0" ptsTypes="AA">
                                      <p:cBhvr>
                                        <p:cTn id="59" dur="2000" fill="hold"/>
                                        <p:tgtEl>
                                          <p:spTgt spid="47"/>
                                        </p:tgtEl>
                                        <p:attrNameLst>
                                          <p:attrName>ppt_x</p:attrName>
                                          <p:attrName>ppt_y</p:attrName>
                                        </p:attrNameLst>
                                      </p:cBhvr>
                                      <p:rCtr x="-12500" y="0"/>
                                    </p:animMotion>
                                  </p:childTnLst>
                                </p:cTn>
                              </p:par>
                            </p:childTnLst>
                          </p:cTn>
                        </p:par>
                        <p:par>
                          <p:cTn id="60" fill="hold">
                            <p:stCondLst>
                              <p:cond delay="2000"/>
                            </p:stCondLst>
                            <p:childTnLst>
                              <p:par>
                                <p:cTn id="61" presetID="1" presetClass="exit" presetSubtype="0" fill="hold" grpId="3" nodeType="afterEffect">
                                  <p:stCondLst>
                                    <p:cond delay="0"/>
                                  </p:stCondLst>
                                  <p:childTnLst>
                                    <p:set>
                                      <p:cBhvr>
                                        <p:cTn id="62" dur="1" fill="hold">
                                          <p:stCondLst>
                                            <p:cond delay="0"/>
                                          </p:stCondLst>
                                        </p:cTn>
                                        <p:tgtEl>
                                          <p:spTgt spid="47"/>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35" presetClass="path" presetSubtype="0" accel="50000" decel="50000" fill="hold" grpId="2" nodeType="clickEffect">
                                  <p:stCondLst>
                                    <p:cond delay="0"/>
                                  </p:stCondLst>
                                  <p:childTnLst>
                                    <p:animMotion origin="layout" path="M 2.22222E-6 4.08281E-6 L -0.31945 4.08281E-6 " pathEditMode="relative" rAng="0" ptsTypes="AA">
                                      <p:cBhvr>
                                        <p:cTn id="66" dur="2000" fill="hold"/>
                                        <p:tgtEl>
                                          <p:spTgt spid="51"/>
                                        </p:tgtEl>
                                        <p:attrNameLst>
                                          <p:attrName>ppt_x</p:attrName>
                                          <p:attrName>ppt_y</p:attrName>
                                        </p:attrNameLst>
                                      </p:cBhvr>
                                      <p:rCtr x="-15972" y="0"/>
                                    </p:animMotion>
                                  </p:childTnLst>
                                </p:cTn>
                              </p:par>
                            </p:childTnLst>
                          </p:cTn>
                        </p:par>
                        <p:par>
                          <p:cTn id="67" fill="hold">
                            <p:stCondLst>
                              <p:cond delay="2000"/>
                            </p:stCondLst>
                            <p:childTnLst>
                              <p:par>
                                <p:cTn id="68" presetID="1" presetClass="exit" presetSubtype="0" fill="hold" grpId="3" nodeType="afterEffect">
                                  <p:stCondLst>
                                    <p:cond delay="0"/>
                                  </p:stCondLst>
                                  <p:childTnLst>
                                    <p:set>
                                      <p:cBhvr>
                                        <p:cTn id="69" dur="1" fill="hold">
                                          <p:stCondLst>
                                            <p:cond delay="0"/>
                                          </p:stCondLst>
                                        </p:cTn>
                                        <p:tgtEl>
                                          <p:spTgt spid="51"/>
                                        </p:tgtEl>
                                        <p:attrNameLst>
                                          <p:attrName>style.visibility</p:attrName>
                                        </p:attrNameLst>
                                      </p:cBhvr>
                                      <p:to>
                                        <p:strVal val="hidden"/>
                                      </p:to>
                                    </p:set>
                                  </p:childTnLst>
                                </p:cTn>
                              </p:par>
                            </p:childTnLst>
                          </p:cTn>
                        </p:par>
                      </p:childTnLst>
                    </p:cTn>
                  </p:par>
                  <p:par>
                    <p:cTn id="70" fill="hold">
                      <p:stCondLst>
                        <p:cond delay="indefinite"/>
                      </p:stCondLst>
                      <p:childTnLst>
                        <p:par>
                          <p:cTn id="71" fill="hold">
                            <p:stCondLst>
                              <p:cond delay="0"/>
                            </p:stCondLst>
                            <p:childTnLst>
                              <p:par>
                                <p:cTn id="72" presetID="35" presetClass="path" presetSubtype="0" accel="50000" decel="50000" fill="hold" grpId="2" nodeType="clickEffect">
                                  <p:stCondLst>
                                    <p:cond delay="0"/>
                                  </p:stCondLst>
                                  <p:childTnLst>
                                    <p:animMotion origin="layout" path="M 3.88889E-6 -4.59635E-6 L -0.38716 -4.59635E-6 " pathEditMode="relative" rAng="0" ptsTypes="AA">
                                      <p:cBhvr>
                                        <p:cTn id="73" dur="2000" fill="hold"/>
                                        <p:tgtEl>
                                          <p:spTgt spid="49"/>
                                        </p:tgtEl>
                                        <p:attrNameLst>
                                          <p:attrName>ppt_x</p:attrName>
                                          <p:attrName>ppt_y</p:attrName>
                                        </p:attrNameLst>
                                      </p:cBhvr>
                                      <p:rCtr x="-19358" y="0"/>
                                    </p:animMotion>
                                  </p:childTnLst>
                                </p:cTn>
                              </p:par>
                            </p:childTnLst>
                          </p:cTn>
                        </p:par>
                        <p:par>
                          <p:cTn id="74" fill="hold">
                            <p:stCondLst>
                              <p:cond delay="2000"/>
                            </p:stCondLst>
                            <p:childTnLst>
                              <p:par>
                                <p:cTn id="75" presetID="1" presetClass="exit" presetSubtype="0" fill="hold" grpId="3" nodeType="afterEffect">
                                  <p:stCondLst>
                                    <p:cond delay="0"/>
                                  </p:stCondLst>
                                  <p:childTnLst>
                                    <p:set>
                                      <p:cBhvr>
                                        <p:cTn id="76" dur="1" fill="hold">
                                          <p:stCondLst>
                                            <p:cond delay="0"/>
                                          </p:stCondLst>
                                        </p:cTn>
                                        <p:tgtEl>
                                          <p:spTgt spid="49"/>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35" presetClass="path" presetSubtype="0" accel="50000" decel="50000" fill="hold" grpId="2" nodeType="clickEffect">
                                  <p:stCondLst>
                                    <p:cond delay="0"/>
                                  </p:stCondLst>
                                  <p:childTnLst>
                                    <p:animMotion origin="layout" path="M -4.44444E-6 -0.00069 L -0.45486 -0.00069 " pathEditMode="relative" rAng="0" ptsTypes="AA">
                                      <p:cBhvr>
                                        <p:cTn id="80" dur="2000" fill="hold"/>
                                        <p:tgtEl>
                                          <p:spTgt spid="50"/>
                                        </p:tgtEl>
                                        <p:attrNameLst>
                                          <p:attrName>ppt_x</p:attrName>
                                          <p:attrName>ppt_y</p:attrName>
                                        </p:attrNameLst>
                                      </p:cBhvr>
                                      <p:rCtr x="-22743" y="0"/>
                                    </p:animMotion>
                                  </p:childTnLst>
                                </p:cTn>
                              </p:par>
                            </p:childTnLst>
                          </p:cTn>
                        </p:par>
                        <p:par>
                          <p:cTn id="81" fill="hold">
                            <p:stCondLst>
                              <p:cond delay="2000"/>
                            </p:stCondLst>
                            <p:childTnLst>
                              <p:par>
                                <p:cTn id="82" presetID="1" presetClass="exit" presetSubtype="0" fill="hold" grpId="3" nodeType="afterEffect">
                                  <p:stCondLst>
                                    <p:cond delay="0"/>
                                  </p:stCondLst>
                                  <p:childTnLst>
                                    <p:set>
                                      <p:cBhvr>
                                        <p:cTn id="83" dur="1" fill="hold">
                                          <p:stCondLst>
                                            <p:cond delay="0"/>
                                          </p:stCondLst>
                                        </p:cTn>
                                        <p:tgtEl>
                                          <p:spTgt spid="50"/>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35" presetClass="path" presetSubtype="0" accel="50000" decel="50000" fill="hold" grpId="2" nodeType="clickEffect">
                                  <p:stCondLst>
                                    <p:cond delay="0"/>
                                  </p:stCondLst>
                                  <p:childTnLst>
                                    <p:animMotion origin="layout" path="M 0 0.00092 L -0.51458 0.00092 " pathEditMode="relative" rAng="0" ptsTypes="AA">
                                      <p:cBhvr>
                                        <p:cTn id="87" dur="2000" fill="hold"/>
                                        <p:tgtEl>
                                          <p:spTgt spid="48"/>
                                        </p:tgtEl>
                                        <p:attrNameLst>
                                          <p:attrName>ppt_x</p:attrName>
                                          <p:attrName>ppt_y</p:attrName>
                                        </p:attrNameLst>
                                      </p:cBhvr>
                                      <p:rCtr x="-25729" y="0"/>
                                    </p:animMotion>
                                  </p:childTnLst>
                                </p:cTn>
                              </p:par>
                            </p:childTnLst>
                          </p:cTn>
                        </p:par>
                        <p:par>
                          <p:cTn id="88" fill="hold">
                            <p:stCondLst>
                              <p:cond delay="2000"/>
                            </p:stCondLst>
                            <p:childTnLst>
                              <p:par>
                                <p:cTn id="89" presetID="1" presetClass="exit" presetSubtype="0" fill="hold" grpId="3" nodeType="afterEffect">
                                  <p:stCondLst>
                                    <p:cond delay="0"/>
                                  </p:stCondLst>
                                  <p:childTnLst>
                                    <p:set>
                                      <p:cBhvr>
                                        <p:cTn id="90" dur="1" fill="hold">
                                          <p:stCondLst>
                                            <p:cond delay="0"/>
                                          </p:stCondLst>
                                        </p:cTn>
                                        <p:tgtEl>
                                          <p:spTgt spid="48"/>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35" presetClass="path" presetSubtype="0" accel="50000" decel="50000" fill="hold" grpId="2" nodeType="clickEffect">
                                  <p:stCondLst>
                                    <p:cond delay="0"/>
                                  </p:stCondLst>
                                  <p:childTnLst>
                                    <p:animMotion origin="layout" path="M 4.44444E-6 -0.00093 L -0.58264 -0.00093 " pathEditMode="relative" rAng="0" ptsTypes="AA">
                                      <p:cBhvr>
                                        <p:cTn id="94" dur="2000" fill="hold"/>
                                        <p:tgtEl>
                                          <p:spTgt spid="42"/>
                                        </p:tgtEl>
                                        <p:attrNameLst>
                                          <p:attrName>ppt_x</p:attrName>
                                          <p:attrName>ppt_y</p:attrName>
                                        </p:attrNameLst>
                                      </p:cBhvr>
                                      <p:rCtr x="-29132" y="0"/>
                                    </p:animMotion>
                                  </p:childTnLst>
                                </p:cTn>
                              </p:par>
                            </p:childTnLst>
                          </p:cTn>
                        </p:par>
                        <p:par>
                          <p:cTn id="95" fill="hold">
                            <p:stCondLst>
                              <p:cond delay="2000"/>
                            </p:stCondLst>
                            <p:childTnLst>
                              <p:par>
                                <p:cTn id="96" presetID="1" presetClass="exit" presetSubtype="0" fill="hold" grpId="3" nodeType="afterEffect">
                                  <p:stCondLst>
                                    <p:cond delay="0"/>
                                  </p:stCondLst>
                                  <p:childTnLst>
                                    <p:set>
                                      <p:cBhvr>
                                        <p:cTn id="97" dur="1" fill="hold">
                                          <p:stCondLst>
                                            <p:cond delay="0"/>
                                          </p:stCondLst>
                                        </p:cTn>
                                        <p:tgtEl>
                                          <p:spTgt spid="42"/>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71"/>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1" presetClass="entr" presetSubtype="0" fill="hold" nodeType="clickEffect">
                                  <p:stCondLst>
                                    <p:cond delay="0"/>
                                  </p:stCondLst>
                                  <p:childTnLst>
                                    <p:set>
                                      <p:cBhvr>
                                        <p:cTn id="10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06" fill="hold">
                      <p:stCondLst>
                        <p:cond delay="indefinite"/>
                      </p:stCondLst>
                      <p:childTnLst>
                        <p:par>
                          <p:cTn id="107" fill="hold">
                            <p:stCondLst>
                              <p:cond delay="0"/>
                            </p:stCondLst>
                            <p:childTnLst>
                              <p:par>
                                <p:cTn id="108" presetID="1" presetClass="entr" presetSubtype="0" fill="hold" nodeType="clickEffect">
                                  <p:stCondLst>
                                    <p:cond delay="0"/>
                                  </p:stCondLst>
                                  <p:childTnLst>
                                    <p:set>
                                      <p:cBhvr>
                                        <p:cTn id="109" dur="1" fill="hold">
                                          <p:stCondLst>
                                            <p:cond delay="0"/>
                                          </p:stCondLst>
                                        </p:cTn>
                                        <p:tgtEl>
                                          <p:spTgt spid="86"/>
                                        </p:tgtEl>
                                        <p:attrNameLst>
                                          <p:attrName>style.visibility</p:attrName>
                                        </p:attrNameLst>
                                      </p:cBhvr>
                                      <p:to>
                                        <p:strVal val="visible"/>
                                      </p:to>
                                    </p:set>
                                  </p:childTnLst>
                                </p:cTn>
                              </p:par>
                            </p:childTnLst>
                          </p:cTn>
                        </p:par>
                      </p:childTnLst>
                    </p:cTn>
                  </p:par>
                  <p:par>
                    <p:cTn id="110" fill="hold">
                      <p:stCondLst>
                        <p:cond delay="indefinite"/>
                      </p:stCondLst>
                      <p:childTnLst>
                        <p:par>
                          <p:cTn id="111" fill="hold">
                            <p:stCondLst>
                              <p:cond delay="0"/>
                            </p:stCondLst>
                            <p:childTnLst>
                              <p:par>
                                <p:cTn id="112" presetID="1" presetClass="entr" presetSubtype="0" fill="hold" grpId="0" nodeType="clickEffect">
                                  <p:stCondLst>
                                    <p:cond delay="0"/>
                                  </p:stCondLst>
                                  <p:childTnLst>
                                    <p:set>
                                      <p:cBhvr>
                                        <p:cTn id="113" dur="1" fill="hold">
                                          <p:stCondLst>
                                            <p:cond delay="0"/>
                                          </p:stCondLst>
                                        </p:cTn>
                                        <p:tgtEl>
                                          <p:spTgt spid="75"/>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74"/>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77"/>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nodeType="clickEffect">
                                  <p:stCondLst>
                                    <p:cond delay="0"/>
                                  </p:stCondLst>
                                  <p:childTnLst>
                                    <p:set>
                                      <p:cBhvr>
                                        <p:cTn id="127" dur="1" fill="hold">
                                          <p:stCondLst>
                                            <p:cond delay="0"/>
                                          </p:stCondLst>
                                        </p:cTn>
                                        <p:tgtEl>
                                          <p:spTgt spid="10"/>
                                        </p:tgtEl>
                                        <p:attrNameLst>
                                          <p:attrName>style.visibility</p:attrName>
                                        </p:attrNameLst>
                                      </p:cBhvr>
                                      <p:to>
                                        <p:strVal val="visible"/>
                                      </p:to>
                                    </p:set>
                                  </p:childTnLst>
                                </p:cTn>
                              </p:par>
                              <p:par>
                                <p:cTn id="128" presetID="1" presetClass="entr" presetSubtype="0" fill="hold" grpId="0" nodeType="withEffect">
                                  <p:stCondLst>
                                    <p:cond delay="0"/>
                                  </p:stCondLst>
                                  <p:childTnLst>
                                    <p:set>
                                      <p:cBhvr>
                                        <p:cTn id="129" dur="1" fill="hold">
                                          <p:stCondLst>
                                            <p:cond delay="0"/>
                                          </p:stCondLst>
                                        </p:cTn>
                                        <p:tgtEl>
                                          <p:spTgt spid="73"/>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ntr" presetSubtype="0" fill="hold" nodeType="clickEffect">
                                  <p:stCondLst>
                                    <p:cond delay="0"/>
                                  </p:stCondLst>
                                  <p:childTnLst>
                                    <p:set>
                                      <p:cBhvr>
                                        <p:cTn id="13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47" grpId="1" animBg="1"/>
      <p:bldP spid="47" grpId="2" animBg="1"/>
      <p:bldP spid="47" grpId="3" animBg="1"/>
      <p:bldP spid="48" grpId="0" animBg="1"/>
      <p:bldP spid="48" grpId="1" animBg="1"/>
      <p:bldP spid="48" grpId="2" animBg="1"/>
      <p:bldP spid="48" grpId="3" animBg="1"/>
      <p:bldP spid="49" grpId="0" animBg="1"/>
      <p:bldP spid="49" grpId="1" animBg="1"/>
      <p:bldP spid="49" grpId="2" animBg="1"/>
      <p:bldP spid="49" grpId="3" animBg="1"/>
      <p:bldP spid="50" grpId="0" animBg="1"/>
      <p:bldP spid="50" grpId="1" animBg="1"/>
      <p:bldP spid="50" grpId="2" animBg="1"/>
      <p:bldP spid="50" grpId="3" animBg="1"/>
      <p:bldP spid="51" grpId="0" animBg="1"/>
      <p:bldP spid="51" grpId="1" animBg="1"/>
      <p:bldP spid="51" grpId="2" animBg="1"/>
      <p:bldP spid="51" grpId="3" animBg="1"/>
      <p:bldP spid="42" grpId="0" animBg="1"/>
      <p:bldP spid="42" grpId="1" animBg="1"/>
      <p:bldP spid="42" grpId="2" animBg="1"/>
      <p:bldP spid="42" grpId="3" animBg="1"/>
      <p:bldP spid="73" grpId="0"/>
      <p:bldP spid="7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Applications of Queue</a:t>
            </a:r>
            <a:endParaRPr lang="en-US" dirty="0"/>
          </a:p>
        </p:txBody>
      </p:sp>
      <p:sp>
        <p:nvSpPr>
          <p:cNvPr id="3" name="Content Placeholder 2"/>
          <p:cNvSpPr>
            <a:spLocks noGrp="1"/>
          </p:cNvSpPr>
          <p:nvPr>
            <p:ph idx="1"/>
          </p:nvPr>
        </p:nvSpPr>
        <p:spPr/>
        <p:txBody>
          <a:bodyPr/>
          <a:lstStyle/>
          <a:p>
            <a:r>
              <a:rPr lang="en-IN" dirty="0"/>
              <a:t>Queue of people at any service point such as ticketing etc.</a:t>
            </a:r>
          </a:p>
          <a:p>
            <a:r>
              <a:rPr lang="en-IN" dirty="0"/>
              <a:t>Queue of air planes waiting for landing instructions.</a:t>
            </a:r>
          </a:p>
          <a:p>
            <a:pPr>
              <a:buClr>
                <a:schemeClr val="tx1"/>
              </a:buClr>
            </a:pPr>
            <a:r>
              <a:rPr lang="en-IN" b="1" dirty="0">
                <a:solidFill>
                  <a:srgbClr val="C00000"/>
                </a:solidFill>
              </a:rPr>
              <a:t>Queue of processes</a:t>
            </a:r>
            <a:r>
              <a:rPr lang="en-IN" b="1" dirty="0">
                <a:solidFill>
                  <a:srgbClr val="FF0000"/>
                </a:solidFill>
              </a:rPr>
              <a:t> </a:t>
            </a:r>
            <a:r>
              <a:rPr lang="en-IN" dirty="0"/>
              <a:t>in OS.</a:t>
            </a:r>
          </a:p>
          <a:p>
            <a:r>
              <a:rPr lang="en-IN" dirty="0"/>
              <a:t>Queue is also used by Operating systems for </a:t>
            </a:r>
            <a:r>
              <a:rPr lang="en-IN" b="1" dirty="0">
                <a:solidFill>
                  <a:srgbClr val="C00000"/>
                </a:solidFill>
              </a:rPr>
              <a:t>Job Scheduling</a:t>
            </a:r>
            <a:r>
              <a:rPr lang="en-IN" dirty="0"/>
              <a:t>.</a:t>
            </a:r>
          </a:p>
          <a:p>
            <a:r>
              <a:rPr lang="en-IN" dirty="0"/>
              <a:t>When a </a:t>
            </a:r>
            <a:r>
              <a:rPr lang="en-IN" b="1" dirty="0">
                <a:solidFill>
                  <a:srgbClr val="C00000"/>
                </a:solidFill>
              </a:rPr>
              <a:t>resource is shared</a:t>
            </a:r>
            <a:r>
              <a:rPr lang="en-IN" dirty="0"/>
              <a:t> among multiple consumers. E.g., in case of printers the first one to be entered is the first to be processed.</a:t>
            </a:r>
          </a:p>
          <a:p>
            <a:r>
              <a:rPr lang="en-IN" dirty="0"/>
              <a:t>When </a:t>
            </a:r>
            <a:r>
              <a:rPr lang="en-IN" b="1" dirty="0">
                <a:solidFill>
                  <a:srgbClr val="C00000"/>
                </a:solidFill>
              </a:rPr>
              <a:t>data is transferred asynchronously</a:t>
            </a:r>
            <a:r>
              <a:rPr lang="en-IN" b="1" dirty="0">
                <a:solidFill>
                  <a:srgbClr val="FF0000"/>
                </a:solidFill>
              </a:rPr>
              <a:t> </a:t>
            </a:r>
            <a:r>
              <a:rPr lang="en-IN" dirty="0"/>
              <a:t>(data not necessarily received at same rate as sent) between two processes. Examples include IO Buffers, pipes, file IO, etc.</a:t>
            </a:r>
          </a:p>
          <a:p>
            <a:r>
              <a:rPr lang="en-IN" dirty="0"/>
              <a:t>Queue is used in </a:t>
            </a:r>
            <a:r>
              <a:rPr lang="en-IN" b="1" dirty="0">
                <a:solidFill>
                  <a:srgbClr val="C00000"/>
                </a:solidFill>
              </a:rPr>
              <a:t>BFS (Breadth First Search)</a:t>
            </a:r>
            <a:r>
              <a:rPr lang="en-IN" b="1" dirty="0">
                <a:solidFill>
                  <a:srgbClr val="FF0000"/>
                </a:solidFill>
              </a:rPr>
              <a:t> </a:t>
            </a:r>
            <a:r>
              <a:rPr lang="en-IN" dirty="0"/>
              <a:t>algorithm. It helps in traversing a tree or graph.</a:t>
            </a:r>
          </a:p>
          <a:p>
            <a:r>
              <a:rPr lang="en-IN" dirty="0"/>
              <a:t>Queue is used in networking to </a:t>
            </a:r>
            <a:r>
              <a:rPr lang="en-IN" b="1" dirty="0">
                <a:solidFill>
                  <a:srgbClr val="C00000"/>
                </a:solidFill>
              </a:rPr>
              <a:t>handle congestion</a:t>
            </a:r>
            <a:r>
              <a:rPr lang="en-IN" dirty="0"/>
              <a:t>.</a:t>
            </a:r>
            <a:endParaRPr lang="en-US" dirty="0"/>
          </a:p>
        </p:txBody>
      </p:sp>
    </p:spTree>
    <p:extLst>
      <p:ext uri="{BB962C8B-B14F-4D97-AF65-F5344CB8AC3E}">
        <p14:creationId xmlns:p14="http://schemas.microsoft.com/office/powerpoint/2010/main" val="8608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Procedure: </a:t>
            </a:r>
            <a:r>
              <a:rPr lang="en-IN" dirty="0" err="1"/>
              <a:t>Enqueue</a:t>
            </a:r>
            <a:r>
              <a:rPr lang="en-IN" dirty="0"/>
              <a:t> (Q, F, R, N,Y)</a:t>
            </a:r>
            <a:endParaRPr lang="en-US" dirty="0"/>
          </a:p>
        </p:txBody>
      </p:sp>
      <p:sp>
        <p:nvSpPr>
          <p:cNvPr id="3" name="Content Placeholder 2"/>
          <p:cNvSpPr>
            <a:spLocks noGrp="1"/>
          </p:cNvSpPr>
          <p:nvPr>
            <p:ph idx="1"/>
          </p:nvPr>
        </p:nvSpPr>
        <p:spPr/>
        <p:txBody>
          <a:bodyPr/>
          <a:lstStyle/>
          <a:p>
            <a:r>
              <a:rPr lang="en-IN" dirty="0"/>
              <a:t>This procedure inserts </a:t>
            </a:r>
            <a:r>
              <a:rPr lang="en-IN" b="1" dirty="0">
                <a:solidFill>
                  <a:srgbClr val="C00000"/>
                </a:solidFill>
              </a:rPr>
              <a:t>Y</a:t>
            </a:r>
            <a:r>
              <a:rPr lang="en-IN" dirty="0"/>
              <a:t> at rear end of Queue.</a:t>
            </a:r>
          </a:p>
          <a:p>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dirty="0"/>
              <a:t> containing </a:t>
            </a:r>
            <a:r>
              <a:rPr lang="en-IN" b="1" dirty="0">
                <a:solidFill>
                  <a:srgbClr val="C00000"/>
                </a:solidFill>
              </a:rPr>
              <a:t>N</a:t>
            </a:r>
            <a:r>
              <a:rPr lang="en-IN" dirty="0"/>
              <a:t> elements.</a:t>
            </a:r>
          </a:p>
          <a:p>
            <a:r>
              <a:rPr lang="en-IN" b="1" dirty="0">
                <a:solidFill>
                  <a:srgbClr val="C00000"/>
                </a:solidFill>
              </a:rPr>
              <a:t>F</a:t>
            </a:r>
            <a:r>
              <a:rPr lang="en-IN" dirty="0"/>
              <a:t> is pointer to the front element of a queue.</a:t>
            </a:r>
          </a:p>
          <a:p>
            <a:r>
              <a:rPr lang="en-IN" b="1" dirty="0">
                <a:solidFill>
                  <a:srgbClr val="C00000"/>
                </a:solidFill>
              </a:rPr>
              <a:t>R</a:t>
            </a:r>
            <a:r>
              <a:rPr lang="en-IN" dirty="0">
                <a:solidFill>
                  <a:srgbClr val="C00000"/>
                </a:solidFill>
              </a:rPr>
              <a:t> </a:t>
            </a:r>
            <a:r>
              <a:rPr lang="en-IN" dirty="0"/>
              <a:t>is pointer to the rear element of a queue.</a:t>
            </a:r>
          </a:p>
          <a:p>
            <a:endParaRPr lang="en-IN" dirty="0"/>
          </a:p>
          <a:p>
            <a:endParaRPr lang="en-US" dirty="0"/>
          </a:p>
        </p:txBody>
      </p:sp>
      <p:sp>
        <p:nvSpPr>
          <p:cNvPr id="4" name="TextBox 3"/>
          <p:cNvSpPr txBox="1"/>
          <p:nvPr/>
        </p:nvSpPr>
        <p:spPr>
          <a:xfrm>
            <a:off x="381000" y="3005266"/>
            <a:ext cx="5715000" cy="360098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[Check for Queue Overflow]</a:t>
            </a:r>
          </a:p>
          <a:p>
            <a:r>
              <a:rPr lang="en-IN" sz="2400"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b="1" dirty="0">
                <a:latin typeface="Consolas" pitchFamily="49" charset="0"/>
                <a:cs typeface="Consolas" pitchFamily="49" charset="0"/>
              </a:rPr>
              <a:t> 	</a:t>
            </a:r>
            <a:r>
              <a:rPr lang="en-IN" dirty="0">
                <a:latin typeface="Consolas" pitchFamily="49" charset="0"/>
                <a:cs typeface="Consolas" pitchFamily="49" charset="0"/>
              </a:rPr>
              <a:t>R &gt;= N</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a:t>
            </a:r>
            <a:r>
              <a:rPr lang="en-IN" dirty="0">
                <a:latin typeface="Consolas" pitchFamily="49" charset="0"/>
                <a:cs typeface="Consolas" pitchFamily="49" charset="0"/>
              </a:rPr>
              <a:t>write (‘Queue Overflow’)</a:t>
            </a:r>
          </a:p>
          <a:p>
            <a:r>
              <a:rPr lang="en-IN" b="1" dirty="0">
                <a:latin typeface="Consolas" pitchFamily="49" charset="0"/>
                <a:cs typeface="Consolas" pitchFamily="49" charset="0"/>
              </a:rPr>
              <a:t>		</a:t>
            </a:r>
            <a:r>
              <a:rPr lang="en-IN" dirty="0">
                <a:latin typeface="Consolas" pitchFamily="49" charset="0"/>
                <a:cs typeface="Consolas" pitchFamily="49" charset="0"/>
              </a:rPr>
              <a:t>Return</a:t>
            </a:r>
          </a:p>
          <a:p>
            <a:r>
              <a:rPr lang="en-IN" sz="2000" b="1" dirty="0">
                <a:solidFill>
                  <a:schemeClr val="tx2"/>
                </a:solidFill>
                <a:latin typeface="Consolas" pitchFamily="49" charset="0"/>
                <a:cs typeface="Consolas" pitchFamily="49" charset="0"/>
              </a:rPr>
              <a:t>2. [Increment REAR pointer]</a:t>
            </a:r>
          </a:p>
          <a:p>
            <a:r>
              <a:rPr lang="en-IN" dirty="0">
                <a:latin typeface="Consolas" pitchFamily="49" charset="0"/>
                <a:cs typeface="Consolas" pitchFamily="49" charset="0"/>
              </a:rPr>
              <a:t>	R </a:t>
            </a:r>
            <a:r>
              <a:rPr lang="en-IN" dirty="0">
                <a:latin typeface="Consolas" pitchFamily="49" charset="0"/>
                <a:cs typeface="Consolas" pitchFamily="49" charset="0"/>
                <a:sym typeface="Wingdings" pitchFamily="2" charset="2"/>
              </a:rPr>
              <a:t></a:t>
            </a:r>
            <a:r>
              <a:rPr lang="en-IN" dirty="0">
                <a:latin typeface="Consolas" pitchFamily="49" charset="0"/>
                <a:cs typeface="Consolas" pitchFamily="49" charset="0"/>
              </a:rPr>
              <a:t> R + 1</a:t>
            </a:r>
          </a:p>
          <a:p>
            <a:r>
              <a:rPr lang="en-IN" sz="2000" b="1" dirty="0">
                <a:solidFill>
                  <a:schemeClr val="tx2"/>
                </a:solidFill>
                <a:latin typeface="Consolas" pitchFamily="49" charset="0"/>
                <a:cs typeface="Consolas" pitchFamily="49" charset="0"/>
              </a:rPr>
              <a:t>3. [Insert element]</a:t>
            </a:r>
          </a:p>
          <a:p>
            <a:r>
              <a:rPr lang="en-IN" b="1" dirty="0">
                <a:latin typeface="Consolas" pitchFamily="49" charset="0"/>
                <a:cs typeface="Consolas" pitchFamily="49" charset="0"/>
              </a:rPr>
              <a:t>	</a:t>
            </a:r>
            <a:r>
              <a:rPr lang="en-IN" dirty="0">
                <a:latin typeface="Consolas" pitchFamily="49" charset="0"/>
                <a:cs typeface="Consolas" pitchFamily="49" charset="0"/>
              </a:rPr>
              <a:t>Q[R] </a:t>
            </a:r>
            <a:r>
              <a:rPr lang="en-IN" dirty="0">
                <a:latin typeface="Consolas" pitchFamily="49" charset="0"/>
                <a:cs typeface="Consolas" pitchFamily="49" charset="0"/>
                <a:sym typeface="Wingdings" pitchFamily="2" charset="2"/>
              </a:rPr>
              <a:t></a:t>
            </a:r>
            <a:r>
              <a:rPr lang="en-IN" dirty="0">
                <a:latin typeface="Consolas" pitchFamily="49" charset="0"/>
                <a:cs typeface="Consolas" pitchFamily="49" charset="0"/>
              </a:rPr>
              <a:t> Y</a:t>
            </a:r>
          </a:p>
          <a:p>
            <a:r>
              <a:rPr lang="en-IN" sz="2000" b="1" dirty="0">
                <a:solidFill>
                  <a:schemeClr val="tx2"/>
                </a:solidFill>
                <a:latin typeface="Consolas" pitchFamily="49" charset="0"/>
                <a:cs typeface="Consolas" pitchFamily="49" charset="0"/>
              </a:rPr>
              <a:t>4. [Is front pointer properly set?]</a:t>
            </a:r>
          </a:p>
          <a:p>
            <a:r>
              <a:rPr lang="en-IN" dirty="0">
                <a:latin typeface="Consolas" pitchFamily="49" charset="0"/>
                <a:cs typeface="Consolas" pitchFamily="49" charset="0"/>
              </a:rPr>
              <a:t>      </a:t>
            </a:r>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b="1" dirty="0">
                <a:latin typeface="Consolas" pitchFamily="49" charset="0"/>
                <a:cs typeface="Consolas" pitchFamily="49" charset="0"/>
              </a:rPr>
              <a:t> 	</a:t>
            </a:r>
            <a:r>
              <a:rPr lang="en-IN" dirty="0">
                <a:latin typeface="Consolas" pitchFamily="49" charset="0"/>
                <a:cs typeface="Consolas" pitchFamily="49" charset="0"/>
              </a:rPr>
              <a:t>F=0</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a:t>
            </a:r>
            <a:r>
              <a:rPr lang="en-IN" dirty="0">
                <a:latin typeface="Consolas" pitchFamily="49" charset="0"/>
                <a:cs typeface="Consolas" pitchFamily="49" charset="0"/>
              </a:rPr>
              <a:t>F </a:t>
            </a:r>
            <a:r>
              <a:rPr lang="en-IN" dirty="0">
                <a:latin typeface="Consolas" pitchFamily="49" charset="0"/>
                <a:cs typeface="Consolas" pitchFamily="49" charset="0"/>
                <a:sym typeface="Wingdings" pitchFamily="2" charset="2"/>
              </a:rPr>
              <a:t></a:t>
            </a:r>
            <a:r>
              <a:rPr lang="en-IN" dirty="0">
                <a:latin typeface="Consolas" pitchFamily="49" charset="0"/>
                <a:cs typeface="Consolas" pitchFamily="49" charset="0"/>
              </a:rPr>
              <a:t> 1</a:t>
            </a:r>
          </a:p>
          <a:p>
            <a:r>
              <a:rPr lang="en-IN" b="1" dirty="0">
                <a:latin typeface="Consolas" pitchFamily="49" charset="0"/>
                <a:cs typeface="Consolas" pitchFamily="49" charset="0"/>
              </a:rPr>
              <a:t>       </a:t>
            </a:r>
            <a:r>
              <a:rPr lang="en-IN" dirty="0">
                <a:latin typeface="Consolas" pitchFamily="49" charset="0"/>
                <a:cs typeface="Consolas" pitchFamily="49" charset="0"/>
              </a:rPr>
              <a:t>Return</a:t>
            </a:r>
          </a:p>
        </p:txBody>
      </p:sp>
      <p:grpSp>
        <p:nvGrpSpPr>
          <p:cNvPr id="5" name="Group 4"/>
          <p:cNvGrpSpPr/>
          <p:nvPr/>
        </p:nvGrpSpPr>
        <p:grpSpPr>
          <a:xfrm>
            <a:off x="8928879" y="1716255"/>
            <a:ext cx="1600200" cy="533400"/>
            <a:chOff x="2286000" y="5486400"/>
            <a:chExt cx="4081670" cy="533400"/>
          </a:xfrm>
        </p:grpSpPr>
        <p:cxnSp>
          <p:nvCxnSpPr>
            <p:cNvPr id="6" name="Straight Connector 5"/>
            <p:cNvCxnSpPr/>
            <p:nvPr/>
          </p:nvCxnSpPr>
          <p:spPr>
            <a:xfrm>
              <a:off x="2286000" y="5486400"/>
              <a:ext cx="408167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286000" y="6019800"/>
              <a:ext cx="4081670" cy="0"/>
            </a:xfrm>
            <a:prstGeom prst="line">
              <a:avLst/>
            </a:prstGeom>
          </p:spPr>
          <p:style>
            <a:lnRef idx="2">
              <a:schemeClr val="accent1"/>
            </a:lnRef>
            <a:fillRef idx="0">
              <a:schemeClr val="accent1"/>
            </a:fillRef>
            <a:effectRef idx="1">
              <a:schemeClr val="accent1"/>
            </a:effectRef>
            <a:fontRef idx="minor">
              <a:schemeClr val="tx1"/>
            </a:fontRef>
          </p:style>
        </p:cxnSp>
      </p:grpSp>
      <p:sp>
        <p:nvSpPr>
          <p:cNvPr id="8" name="Rectangle 7"/>
          <p:cNvSpPr/>
          <p:nvPr/>
        </p:nvSpPr>
        <p:spPr>
          <a:xfrm>
            <a:off x="8909140" y="1716255"/>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5</a:t>
            </a:r>
            <a:endParaRPr lang="en-US" b="1" dirty="0"/>
          </a:p>
        </p:txBody>
      </p:sp>
      <p:sp>
        <p:nvSpPr>
          <p:cNvPr id="9" name="TextBox 8"/>
          <p:cNvSpPr txBox="1"/>
          <p:nvPr/>
        </p:nvSpPr>
        <p:spPr>
          <a:xfrm>
            <a:off x="6378599" y="3005266"/>
            <a:ext cx="2209800" cy="46166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lstStyle/>
          <a:p>
            <a:pPr algn="ctr"/>
            <a:r>
              <a:rPr lang="en-IN" sz="2400" b="1" dirty="0"/>
              <a:t>N=3, R=0, F=0</a:t>
            </a:r>
            <a:endParaRPr lang="en-US" sz="2400" b="1" dirty="0"/>
          </a:p>
        </p:txBody>
      </p:sp>
      <p:sp>
        <p:nvSpPr>
          <p:cNvPr id="10" name="TextBox 9"/>
          <p:cNvSpPr txBox="1"/>
          <p:nvPr/>
        </p:nvSpPr>
        <p:spPr>
          <a:xfrm>
            <a:off x="6383082" y="3614865"/>
            <a:ext cx="685800" cy="400110"/>
          </a:xfrm>
          <a:prstGeom prst="rect">
            <a:avLst/>
          </a:prstGeom>
          <a:noFill/>
        </p:spPr>
        <p:txBody>
          <a:bodyPr wrap="square" rtlCol="0">
            <a:spAutoFit/>
          </a:bodyPr>
          <a:lstStyle/>
          <a:p>
            <a:r>
              <a:rPr lang="en-IN" sz="2000" b="1" dirty="0"/>
              <a:t>F =</a:t>
            </a:r>
            <a:endParaRPr lang="en-US" sz="2000" b="1" dirty="0"/>
          </a:p>
        </p:txBody>
      </p:sp>
      <p:sp>
        <p:nvSpPr>
          <p:cNvPr id="11" name="TextBox 10"/>
          <p:cNvSpPr txBox="1"/>
          <p:nvPr/>
        </p:nvSpPr>
        <p:spPr>
          <a:xfrm>
            <a:off x="6383082" y="3976755"/>
            <a:ext cx="685800" cy="400110"/>
          </a:xfrm>
          <a:prstGeom prst="rect">
            <a:avLst/>
          </a:prstGeom>
          <a:noFill/>
        </p:spPr>
        <p:txBody>
          <a:bodyPr wrap="square" rtlCol="0">
            <a:spAutoFit/>
          </a:bodyPr>
          <a:lstStyle/>
          <a:p>
            <a:r>
              <a:rPr lang="en-IN" sz="2000" b="1" dirty="0"/>
              <a:t>R =</a:t>
            </a:r>
            <a:endParaRPr lang="en-US" sz="2000" b="1" dirty="0"/>
          </a:p>
        </p:txBody>
      </p:sp>
      <p:sp>
        <p:nvSpPr>
          <p:cNvPr id="12" name="TextBox 11"/>
          <p:cNvSpPr txBox="1"/>
          <p:nvPr/>
        </p:nvSpPr>
        <p:spPr>
          <a:xfrm>
            <a:off x="6764082" y="3614865"/>
            <a:ext cx="346364" cy="400110"/>
          </a:xfrm>
          <a:prstGeom prst="rect">
            <a:avLst/>
          </a:prstGeom>
          <a:noFill/>
        </p:spPr>
        <p:txBody>
          <a:bodyPr wrap="square" rtlCol="0">
            <a:spAutoFit/>
          </a:bodyPr>
          <a:lstStyle/>
          <a:p>
            <a:r>
              <a:rPr lang="en-IN" sz="2000" b="1" dirty="0"/>
              <a:t>0</a:t>
            </a:r>
            <a:endParaRPr lang="en-US" sz="2000" b="1" dirty="0"/>
          </a:p>
        </p:txBody>
      </p:sp>
      <p:sp>
        <p:nvSpPr>
          <p:cNvPr id="13" name="TextBox 12"/>
          <p:cNvSpPr txBox="1"/>
          <p:nvPr/>
        </p:nvSpPr>
        <p:spPr>
          <a:xfrm>
            <a:off x="6777145" y="3976755"/>
            <a:ext cx="346364" cy="400110"/>
          </a:xfrm>
          <a:prstGeom prst="rect">
            <a:avLst/>
          </a:prstGeom>
          <a:noFill/>
        </p:spPr>
        <p:txBody>
          <a:bodyPr wrap="square" rtlCol="0">
            <a:spAutoFit/>
          </a:bodyPr>
          <a:lstStyle/>
          <a:p>
            <a:r>
              <a:rPr lang="en-IN" sz="2000" b="1" dirty="0"/>
              <a:t>0</a:t>
            </a:r>
            <a:endParaRPr lang="en-US" sz="2000" b="1" dirty="0"/>
          </a:p>
        </p:txBody>
      </p:sp>
      <p:sp>
        <p:nvSpPr>
          <p:cNvPr id="14" name="TextBox 13"/>
          <p:cNvSpPr txBox="1"/>
          <p:nvPr/>
        </p:nvSpPr>
        <p:spPr>
          <a:xfrm>
            <a:off x="6378599" y="4376865"/>
            <a:ext cx="2819400" cy="369332"/>
          </a:xfrm>
          <a:prstGeom prst="rect">
            <a:avLst/>
          </a:prstGeom>
          <a:noFill/>
        </p:spPr>
        <p:txBody>
          <a:bodyPr wrap="square" rtlCol="0">
            <a:spAutoFit/>
          </a:bodyPr>
          <a:lstStyle/>
          <a:p>
            <a:r>
              <a:rPr lang="en-IN" b="1" dirty="0" err="1"/>
              <a:t>Enqueue</a:t>
            </a:r>
            <a:r>
              <a:rPr lang="en-IN" b="1" dirty="0"/>
              <a:t> (Q, F, R, N=3,</a:t>
            </a:r>
            <a:r>
              <a:rPr lang="en-IN" b="1" dirty="0">
                <a:solidFill>
                  <a:srgbClr val="C00000"/>
                </a:solidFill>
              </a:rPr>
              <a:t>Y=5</a:t>
            </a:r>
            <a:r>
              <a:rPr lang="en-IN" b="1" dirty="0"/>
              <a:t>)</a:t>
            </a:r>
            <a:endParaRPr lang="en-US" b="1" dirty="0"/>
          </a:p>
        </p:txBody>
      </p:sp>
      <p:sp>
        <p:nvSpPr>
          <p:cNvPr id="15" name="TextBox 14"/>
          <p:cNvSpPr txBox="1"/>
          <p:nvPr/>
        </p:nvSpPr>
        <p:spPr>
          <a:xfrm>
            <a:off x="6775099" y="3958854"/>
            <a:ext cx="314510" cy="400110"/>
          </a:xfrm>
          <a:prstGeom prst="rect">
            <a:avLst/>
          </a:prstGeom>
          <a:noFill/>
        </p:spPr>
        <p:txBody>
          <a:bodyPr wrap="none" rtlCol="0">
            <a:spAutoFit/>
          </a:bodyPr>
          <a:lstStyle/>
          <a:p>
            <a:r>
              <a:rPr lang="en-IN" sz="2000" b="1" dirty="0"/>
              <a:t>1</a:t>
            </a:r>
            <a:endParaRPr lang="en-US" sz="2000" b="1" dirty="0"/>
          </a:p>
        </p:txBody>
      </p:sp>
      <p:grpSp>
        <p:nvGrpSpPr>
          <p:cNvPr id="16" name="Group 15"/>
          <p:cNvGrpSpPr/>
          <p:nvPr/>
        </p:nvGrpSpPr>
        <p:grpSpPr>
          <a:xfrm>
            <a:off x="9005078" y="988257"/>
            <a:ext cx="228600" cy="727999"/>
            <a:chOff x="762000" y="4606001"/>
            <a:chExt cx="228600" cy="727999"/>
          </a:xfrm>
        </p:grpSpPr>
        <p:sp>
          <p:nvSpPr>
            <p:cNvPr id="17" name="TextBox 16"/>
            <p:cNvSpPr txBox="1"/>
            <p:nvPr/>
          </p:nvSpPr>
          <p:spPr>
            <a:xfrm>
              <a:off x="762000" y="4606001"/>
              <a:ext cx="228600" cy="369332"/>
            </a:xfrm>
            <a:prstGeom prst="rect">
              <a:avLst/>
            </a:prstGeom>
            <a:noFill/>
          </p:spPr>
          <p:txBody>
            <a:bodyPr wrap="square" rtlCol="0">
              <a:spAutoFit/>
            </a:bodyPr>
            <a:lstStyle/>
            <a:p>
              <a:pPr algn="ctr"/>
              <a:r>
                <a:rPr lang="en-IN" b="1" dirty="0">
                  <a:solidFill>
                    <a:srgbClr val="C00000"/>
                  </a:solidFill>
                </a:rPr>
                <a:t>R</a:t>
              </a:r>
              <a:endParaRPr lang="en-US" b="1" dirty="0">
                <a:solidFill>
                  <a:srgbClr val="C00000"/>
                </a:solidFill>
              </a:endParaRPr>
            </a:p>
          </p:txBody>
        </p:sp>
        <p:cxnSp>
          <p:nvCxnSpPr>
            <p:cNvPr id="18" name="Straight Arrow Connector 17"/>
            <p:cNvCxnSpPr>
              <a:stCxn id="17" idx="2"/>
            </p:cNvCxnSpPr>
            <p:nvPr/>
          </p:nvCxnSpPr>
          <p:spPr>
            <a:xfrm>
              <a:off x="876300" y="4975333"/>
              <a:ext cx="0" cy="358667"/>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19" name="TextBox 18"/>
          <p:cNvSpPr txBox="1"/>
          <p:nvPr/>
        </p:nvSpPr>
        <p:spPr>
          <a:xfrm>
            <a:off x="6378599" y="4706100"/>
            <a:ext cx="2819400" cy="369332"/>
          </a:xfrm>
          <a:prstGeom prst="rect">
            <a:avLst/>
          </a:prstGeom>
          <a:noFill/>
        </p:spPr>
        <p:txBody>
          <a:bodyPr wrap="square" rtlCol="0">
            <a:spAutoFit/>
          </a:bodyPr>
          <a:lstStyle/>
          <a:p>
            <a:r>
              <a:rPr lang="en-IN" b="1" dirty="0" err="1"/>
              <a:t>Enqueue</a:t>
            </a:r>
            <a:r>
              <a:rPr lang="en-IN" b="1" dirty="0"/>
              <a:t> (Q, F, R, N=3,</a:t>
            </a:r>
            <a:r>
              <a:rPr lang="en-IN" b="1" dirty="0">
                <a:solidFill>
                  <a:srgbClr val="C00000"/>
                </a:solidFill>
              </a:rPr>
              <a:t>Y=20</a:t>
            </a:r>
            <a:r>
              <a:rPr lang="en-IN" b="1" dirty="0"/>
              <a:t>)</a:t>
            </a:r>
            <a:endParaRPr lang="en-US" b="1" dirty="0"/>
          </a:p>
        </p:txBody>
      </p:sp>
      <p:sp>
        <p:nvSpPr>
          <p:cNvPr id="20" name="TextBox 19"/>
          <p:cNvSpPr txBox="1"/>
          <p:nvPr/>
        </p:nvSpPr>
        <p:spPr>
          <a:xfrm>
            <a:off x="6774180" y="3954721"/>
            <a:ext cx="314510" cy="400110"/>
          </a:xfrm>
          <a:prstGeom prst="rect">
            <a:avLst/>
          </a:prstGeom>
          <a:noFill/>
        </p:spPr>
        <p:txBody>
          <a:bodyPr wrap="none" rtlCol="0">
            <a:spAutoFit/>
          </a:bodyPr>
          <a:lstStyle/>
          <a:p>
            <a:r>
              <a:rPr lang="en-IN" sz="2000" b="1" dirty="0">
                <a:solidFill>
                  <a:schemeClr val="accent4">
                    <a:lumMod val="50000"/>
                  </a:schemeClr>
                </a:solidFill>
              </a:rPr>
              <a:t>2</a:t>
            </a:r>
            <a:endParaRPr lang="en-US" sz="2000" b="1" dirty="0">
              <a:solidFill>
                <a:schemeClr val="accent4">
                  <a:lumMod val="50000"/>
                </a:schemeClr>
              </a:solidFill>
            </a:endParaRPr>
          </a:p>
        </p:txBody>
      </p:sp>
      <p:sp>
        <p:nvSpPr>
          <p:cNvPr id="21" name="Rectangle 20"/>
          <p:cNvSpPr/>
          <p:nvPr/>
        </p:nvSpPr>
        <p:spPr>
          <a:xfrm>
            <a:off x="9451261" y="1714417"/>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20</a:t>
            </a:r>
            <a:endParaRPr lang="en-US" b="1" dirty="0"/>
          </a:p>
        </p:txBody>
      </p:sp>
      <p:sp>
        <p:nvSpPr>
          <p:cNvPr id="22" name="TextBox 21"/>
          <p:cNvSpPr txBox="1"/>
          <p:nvPr/>
        </p:nvSpPr>
        <p:spPr>
          <a:xfrm>
            <a:off x="6378599" y="5035335"/>
            <a:ext cx="2819400" cy="369332"/>
          </a:xfrm>
          <a:prstGeom prst="rect">
            <a:avLst/>
          </a:prstGeom>
          <a:noFill/>
        </p:spPr>
        <p:txBody>
          <a:bodyPr wrap="square" rtlCol="0">
            <a:spAutoFit/>
          </a:bodyPr>
          <a:lstStyle/>
          <a:p>
            <a:r>
              <a:rPr lang="en-IN" b="1" dirty="0" err="1"/>
              <a:t>Enqueue</a:t>
            </a:r>
            <a:r>
              <a:rPr lang="en-IN" b="1" dirty="0"/>
              <a:t> (Q, F, R, N=3,</a:t>
            </a:r>
            <a:r>
              <a:rPr lang="en-IN" b="1" dirty="0">
                <a:solidFill>
                  <a:srgbClr val="C00000"/>
                </a:solidFill>
              </a:rPr>
              <a:t>Y=80</a:t>
            </a:r>
            <a:r>
              <a:rPr lang="en-IN" b="1" dirty="0"/>
              <a:t>)</a:t>
            </a:r>
            <a:endParaRPr lang="en-US" b="1" dirty="0"/>
          </a:p>
        </p:txBody>
      </p:sp>
      <p:sp>
        <p:nvSpPr>
          <p:cNvPr id="23" name="TextBox 22"/>
          <p:cNvSpPr txBox="1"/>
          <p:nvPr/>
        </p:nvSpPr>
        <p:spPr>
          <a:xfrm>
            <a:off x="6774180" y="3963733"/>
            <a:ext cx="314510" cy="400110"/>
          </a:xfrm>
          <a:prstGeom prst="rect">
            <a:avLst/>
          </a:prstGeom>
          <a:noFill/>
        </p:spPr>
        <p:txBody>
          <a:bodyPr wrap="none" rtlCol="0">
            <a:spAutoFit/>
          </a:bodyPr>
          <a:lstStyle/>
          <a:p>
            <a:r>
              <a:rPr lang="en-IN" sz="2000" b="1" dirty="0">
                <a:solidFill>
                  <a:schemeClr val="accent2">
                    <a:lumMod val="50000"/>
                  </a:schemeClr>
                </a:solidFill>
              </a:rPr>
              <a:t>3</a:t>
            </a:r>
            <a:endParaRPr lang="en-US" sz="2000" b="1" dirty="0">
              <a:solidFill>
                <a:schemeClr val="accent2">
                  <a:lumMod val="50000"/>
                </a:schemeClr>
              </a:solidFill>
            </a:endParaRPr>
          </a:p>
        </p:txBody>
      </p:sp>
      <p:sp>
        <p:nvSpPr>
          <p:cNvPr id="24" name="Rectangle 23"/>
          <p:cNvSpPr/>
          <p:nvPr/>
        </p:nvSpPr>
        <p:spPr>
          <a:xfrm>
            <a:off x="9994759" y="1716255"/>
            <a:ext cx="533400" cy="533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80</a:t>
            </a:r>
            <a:endParaRPr lang="en-US" b="1" dirty="0"/>
          </a:p>
        </p:txBody>
      </p:sp>
      <p:sp>
        <p:nvSpPr>
          <p:cNvPr id="25" name="TextBox 24"/>
          <p:cNvSpPr txBox="1"/>
          <p:nvPr/>
        </p:nvSpPr>
        <p:spPr>
          <a:xfrm>
            <a:off x="6378599" y="5364570"/>
            <a:ext cx="2819400" cy="369332"/>
          </a:xfrm>
          <a:prstGeom prst="rect">
            <a:avLst/>
          </a:prstGeom>
          <a:noFill/>
        </p:spPr>
        <p:txBody>
          <a:bodyPr wrap="square" rtlCol="0">
            <a:spAutoFit/>
          </a:bodyPr>
          <a:lstStyle/>
          <a:p>
            <a:r>
              <a:rPr lang="en-IN" b="1" dirty="0" err="1"/>
              <a:t>Enqueue</a:t>
            </a:r>
            <a:r>
              <a:rPr lang="en-IN" b="1" dirty="0"/>
              <a:t> (Q, F, R, N=3,</a:t>
            </a:r>
            <a:r>
              <a:rPr lang="en-IN" b="1" dirty="0">
                <a:solidFill>
                  <a:srgbClr val="C00000"/>
                </a:solidFill>
              </a:rPr>
              <a:t>Y=3</a:t>
            </a:r>
            <a:r>
              <a:rPr lang="en-IN" b="1" dirty="0"/>
              <a:t>)</a:t>
            </a:r>
            <a:endParaRPr lang="en-US" b="1" dirty="0"/>
          </a:p>
        </p:txBody>
      </p:sp>
      <p:sp>
        <p:nvSpPr>
          <p:cNvPr id="26" name="TextBox 25"/>
          <p:cNvSpPr txBox="1"/>
          <p:nvPr/>
        </p:nvSpPr>
        <p:spPr>
          <a:xfrm>
            <a:off x="6378599" y="5693805"/>
            <a:ext cx="2819400" cy="369332"/>
          </a:xfrm>
          <a:prstGeom prst="rect">
            <a:avLst/>
          </a:prstGeom>
          <a:noFill/>
        </p:spPr>
        <p:txBody>
          <a:bodyPr wrap="square" rtlCol="0">
            <a:spAutoFit/>
          </a:bodyPr>
          <a:lstStyle/>
          <a:p>
            <a:r>
              <a:rPr lang="en-IN" b="1" dirty="0">
                <a:solidFill>
                  <a:srgbClr val="C00000"/>
                </a:solidFill>
              </a:rPr>
              <a:t>Queue Overflow</a:t>
            </a:r>
            <a:endParaRPr lang="en-US" b="1" dirty="0">
              <a:solidFill>
                <a:srgbClr val="C00000"/>
              </a:solidFill>
            </a:endParaRPr>
          </a:p>
        </p:txBody>
      </p:sp>
      <p:grpSp>
        <p:nvGrpSpPr>
          <p:cNvPr id="27" name="Group 26"/>
          <p:cNvGrpSpPr/>
          <p:nvPr/>
        </p:nvGrpSpPr>
        <p:grpSpPr>
          <a:xfrm>
            <a:off x="9060274" y="2249655"/>
            <a:ext cx="227571" cy="674132"/>
            <a:chOff x="817195" y="5867400"/>
            <a:chExt cx="227571" cy="674132"/>
          </a:xfrm>
        </p:grpSpPr>
        <p:sp>
          <p:nvSpPr>
            <p:cNvPr id="28" name="TextBox 27"/>
            <p:cNvSpPr txBox="1"/>
            <p:nvPr/>
          </p:nvSpPr>
          <p:spPr>
            <a:xfrm>
              <a:off x="817195" y="6172200"/>
              <a:ext cx="227571" cy="369332"/>
            </a:xfrm>
            <a:prstGeom prst="rect">
              <a:avLst/>
            </a:prstGeom>
            <a:noFill/>
          </p:spPr>
          <p:txBody>
            <a:bodyPr wrap="square" rtlCol="0">
              <a:spAutoFit/>
            </a:bodyPr>
            <a:lstStyle/>
            <a:p>
              <a:pPr algn="ctr"/>
              <a:r>
                <a:rPr lang="en-IN" b="1" dirty="0">
                  <a:solidFill>
                    <a:srgbClr val="C00000"/>
                  </a:solidFill>
                </a:rPr>
                <a:t>F</a:t>
              </a:r>
              <a:endParaRPr lang="en-US" b="1" dirty="0">
                <a:solidFill>
                  <a:srgbClr val="C00000"/>
                </a:solidFill>
              </a:endParaRPr>
            </a:p>
          </p:txBody>
        </p:sp>
        <p:cxnSp>
          <p:nvCxnSpPr>
            <p:cNvPr id="29" name="Straight Arrow Connector 28"/>
            <p:cNvCxnSpPr>
              <a:stCxn id="28" idx="0"/>
              <a:endCxn id="8" idx="2"/>
            </p:cNvCxnSpPr>
            <p:nvPr/>
          </p:nvCxnSpPr>
          <p:spPr>
            <a:xfrm flipH="1" flipV="1">
              <a:off x="918693" y="5867400"/>
              <a:ext cx="12288" cy="304800"/>
            </a:xfrm>
            <a:prstGeom prst="straightConnector1">
              <a:avLst/>
            </a:prstGeom>
            <a:ln w="28575">
              <a:solidFill>
                <a:srgbClr val="C00000"/>
              </a:solidFill>
              <a:tailEnd type="arrow"/>
            </a:ln>
          </p:spPr>
          <p:style>
            <a:lnRef idx="2">
              <a:schemeClr val="accent2"/>
            </a:lnRef>
            <a:fillRef idx="0">
              <a:schemeClr val="accent2"/>
            </a:fillRef>
            <a:effectRef idx="1">
              <a:schemeClr val="accent2"/>
            </a:effectRef>
            <a:fontRef idx="minor">
              <a:schemeClr val="tx1"/>
            </a:fontRef>
          </p:style>
        </p:cxnSp>
      </p:grpSp>
      <p:sp>
        <p:nvSpPr>
          <p:cNvPr id="30" name="TextBox 29"/>
          <p:cNvSpPr txBox="1"/>
          <p:nvPr/>
        </p:nvSpPr>
        <p:spPr>
          <a:xfrm>
            <a:off x="6785197" y="3614865"/>
            <a:ext cx="134580" cy="400110"/>
          </a:xfrm>
          <a:prstGeom prst="rect">
            <a:avLst/>
          </a:prstGeom>
          <a:noFill/>
        </p:spPr>
        <p:txBody>
          <a:bodyPr wrap="square" rtlCol="0">
            <a:spAutoFit/>
          </a:bodyPr>
          <a:lstStyle/>
          <a:p>
            <a:r>
              <a:rPr lang="en-IN" sz="2000" b="1" dirty="0"/>
              <a:t>1</a:t>
            </a:r>
            <a:endParaRPr lang="en-US" sz="2000" b="1" dirty="0"/>
          </a:p>
        </p:txBody>
      </p:sp>
      <p:sp>
        <p:nvSpPr>
          <p:cNvPr id="31" name="TextBox 30">
            <a:extLst>
              <a:ext uri="{FF2B5EF4-FFF2-40B4-BE49-F238E27FC236}">
                <a16:creationId xmlns:a16="http://schemas.microsoft.com/office/drawing/2014/main" id="{4745F4E7-3140-4773-B428-94E01DC3B770}"/>
              </a:ext>
            </a:extLst>
          </p:cNvPr>
          <p:cNvSpPr txBox="1"/>
          <p:nvPr/>
        </p:nvSpPr>
        <p:spPr>
          <a:xfrm>
            <a:off x="6139450" y="202723"/>
            <a:ext cx="3297698" cy="369332"/>
          </a:xfrm>
          <a:prstGeom prst="rect">
            <a:avLst/>
          </a:prstGeom>
          <a:noFill/>
        </p:spPr>
        <p:txBody>
          <a:bodyPr wrap="none" rtlCol="0">
            <a:spAutoFit/>
          </a:bodyPr>
          <a:lstStyle/>
          <a:p>
            <a:r>
              <a:rPr lang="en-IN" dirty="0">
                <a:solidFill>
                  <a:srgbClr val="FF0000"/>
                </a:solidFill>
              </a:rPr>
              <a:t>*Assuming indexing starts from 1</a:t>
            </a:r>
          </a:p>
        </p:txBody>
      </p:sp>
    </p:spTree>
    <p:extLst>
      <p:ext uri="{BB962C8B-B14F-4D97-AF65-F5344CB8AC3E}">
        <p14:creationId xmlns:p14="http://schemas.microsoft.com/office/powerpoint/2010/main" val="2092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9"/>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0"/>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0" nodeType="clickEffect">
                                  <p:stCondLst>
                                    <p:cond delay="0"/>
                                  </p:stCondLst>
                                  <p:childTnLst>
                                    <p:set>
                                      <p:cBhvr>
                                        <p:cTn id="80" dur="1" fill="hold">
                                          <p:stCondLst>
                                            <p:cond delay="0"/>
                                          </p:stCondLst>
                                        </p:cTn>
                                        <p:tgtEl>
                                          <p:spTgt spid="11"/>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5"/>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4"/>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xit" presetSubtype="0" fill="hold" grpId="1" nodeType="clickEffect">
                                  <p:stCondLst>
                                    <p:cond delay="0"/>
                                  </p:stCondLst>
                                  <p:childTnLst>
                                    <p:set>
                                      <p:cBhvr>
                                        <p:cTn id="96" dur="1" fill="hold">
                                          <p:stCondLst>
                                            <p:cond delay="0"/>
                                          </p:stCondLst>
                                        </p:cTn>
                                        <p:tgtEl>
                                          <p:spTgt spid="13"/>
                                        </p:tgtEl>
                                        <p:attrNameLst>
                                          <p:attrName>style.visibility</p:attrName>
                                        </p:attrNameLst>
                                      </p:cBhvr>
                                      <p:to>
                                        <p:strVal val="hidden"/>
                                      </p:to>
                                    </p:set>
                                  </p:childTnLst>
                                </p:cTn>
                              </p:par>
                              <p:par>
                                <p:cTn id="97" presetID="1" presetClass="entr" presetSubtype="0" fill="hold" grpId="0" nodeType="withEffect">
                                  <p:stCondLst>
                                    <p:cond delay="0"/>
                                  </p:stCondLst>
                                  <p:childTnLst>
                                    <p:set>
                                      <p:cBhvr>
                                        <p:cTn id="98" dur="1" fill="hold">
                                          <p:stCondLst>
                                            <p:cond delay="0"/>
                                          </p:stCondLst>
                                        </p:cTn>
                                        <p:tgtEl>
                                          <p:spTgt spid="15"/>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6"/>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8"/>
                                        </p:tgtEl>
                                        <p:attrNameLst>
                                          <p:attrName>style.visibility</p:attrName>
                                        </p:attrNameLst>
                                      </p:cBhvr>
                                      <p:to>
                                        <p:strVal val="visible"/>
                                      </p:to>
                                    </p:set>
                                  </p:childTnLst>
                                </p:cTn>
                              </p:par>
                              <p:par>
                                <p:cTn id="107" presetID="63" presetClass="path" presetSubtype="0" accel="50000" decel="50000" fill="hold" grpId="1" nodeType="withEffect">
                                  <p:stCondLst>
                                    <p:cond delay="0"/>
                                  </p:stCondLst>
                                  <p:childTnLst>
                                    <p:animMotion origin="layout" path="M -4.16667E-6 -3.7037E-7 L 0.26849 -3.7037E-7 " pathEditMode="relative" rAng="0" ptsTypes="AA">
                                      <p:cBhvr>
                                        <p:cTn id="108" dur="2000" spd="-100000" fill="hold"/>
                                        <p:tgtEl>
                                          <p:spTgt spid="8"/>
                                        </p:tgtEl>
                                        <p:attrNameLst>
                                          <p:attrName>ppt_x</p:attrName>
                                          <p:attrName>ppt_y</p:attrName>
                                        </p:attrNameLst>
                                      </p:cBhvr>
                                      <p:rCtr x="13424" y="0"/>
                                    </p:animMotion>
                                  </p:childTnLst>
                                </p:cTn>
                              </p:par>
                            </p:childTnLst>
                          </p:cTn>
                        </p:par>
                      </p:childTnLst>
                    </p:cTn>
                  </p:par>
                  <p:par>
                    <p:cTn id="109" fill="hold">
                      <p:stCondLst>
                        <p:cond delay="indefinite"/>
                      </p:stCondLst>
                      <p:childTnLst>
                        <p:par>
                          <p:cTn id="110" fill="hold">
                            <p:stCondLst>
                              <p:cond delay="0"/>
                            </p:stCondLst>
                            <p:childTnLst>
                              <p:par>
                                <p:cTn id="111" presetID="1" presetClass="exit" presetSubtype="0" fill="hold" grpId="1" nodeType="clickEffect">
                                  <p:stCondLst>
                                    <p:cond delay="0"/>
                                  </p:stCondLst>
                                  <p:childTnLst>
                                    <p:set>
                                      <p:cBhvr>
                                        <p:cTn id="112" dur="1" fill="hold">
                                          <p:stCondLst>
                                            <p:cond delay="0"/>
                                          </p:stCondLst>
                                        </p:cTn>
                                        <p:tgtEl>
                                          <p:spTgt spid="12"/>
                                        </p:tgtEl>
                                        <p:attrNameLst>
                                          <p:attrName>style.visibility</p:attrName>
                                        </p:attrNameLst>
                                      </p:cBhvr>
                                      <p:to>
                                        <p:strVal val="hidden"/>
                                      </p:to>
                                    </p:set>
                                  </p:childTnLst>
                                </p:cTn>
                              </p:par>
                              <p:par>
                                <p:cTn id="113" presetID="1" presetClass="entr" presetSubtype="0" fill="hold" grpId="0" nodeType="withEffect">
                                  <p:stCondLst>
                                    <p:cond delay="0"/>
                                  </p:stCondLst>
                                  <p:childTnLst>
                                    <p:set>
                                      <p:cBhvr>
                                        <p:cTn id="114" dur="1" fill="hold">
                                          <p:stCondLst>
                                            <p:cond delay="0"/>
                                          </p:stCondLst>
                                        </p:cTn>
                                        <p:tgtEl>
                                          <p:spTgt spid="3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7"/>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1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xit" presetSubtype="0" fill="hold" grpId="1" nodeType="clickEffect">
                                  <p:stCondLst>
                                    <p:cond delay="0"/>
                                  </p:stCondLst>
                                  <p:childTnLst>
                                    <p:set>
                                      <p:cBhvr>
                                        <p:cTn id="126" dur="1" fill="hold">
                                          <p:stCondLst>
                                            <p:cond delay="0"/>
                                          </p:stCondLst>
                                        </p:cTn>
                                        <p:tgtEl>
                                          <p:spTgt spid="15"/>
                                        </p:tgtEl>
                                        <p:attrNameLst>
                                          <p:attrName>style.visibility</p:attrName>
                                        </p:attrNameLst>
                                      </p:cBhvr>
                                      <p:to>
                                        <p:strVal val="hidden"/>
                                      </p:to>
                                    </p:set>
                                  </p:childTnLst>
                                </p:cTn>
                              </p:par>
                              <p:par>
                                <p:cTn id="127" presetID="1" presetClass="entr" presetSubtype="0" fill="hold" grpId="0" nodeType="withEffect">
                                  <p:stCondLst>
                                    <p:cond delay="0"/>
                                  </p:stCondLst>
                                  <p:childTnLst>
                                    <p:set>
                                      <p:cBhvr>
                                        <p:cTn id="128" dur="1" fill="hold">
                                          <p:stCondLst>
                                            <p:cond delay="0"/>
                                          </p:stCondLst>
                                        </p:cTn>
                                        <p:tgtEl>
                                          <p:spTgt spid="20"/>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63" presetClass="path" presetSubtype="0" accel="50000" decel="50000" fill="hold" nodeType="clickEffect">
                                  <p:stCondLst>
                                    <p:cond delay="0"/>
                                  </p:stCondLst>
                                  <p:childTnLst>
                                    <p:animMotion origin="layout" path="M 3.33333E-6 -2.22222E-6 L 0.04843 -2.22222E-6 " pathEditMode="relative" rAng="0" ptsTypes="AA">
                                      <p:cBhvr>
                                        <p:cTn id="132" dur="2000" fill="hold"/>
                                        <p:tgtEl>
                                          <p:spTgt spid="16"/>
                                        </p:tgtEl>
                                        <p:attrNameLst>
                                          <p:attrName>ppt_x</p:attrName>
                                          <p:attrName>ppt_y</p:attrName>
                                        </p:attrNameLst>
                                      </p:cBhvr>
                                      <p:rCtr x="2422" y="0"/>
                                    </p:animMotion>
                                  </p:childTnLst>
                                </p:cTn>
                              </p:par>
                            </p:childTnLst>
                          </p:cTn>
                        </p:par>
                      </p:childTnLst>
                    </p:cTn>
                  </p:par>
                  <p:par>
                    <p:cTn id="133" fill="hold">
                      <p:stCondLst>
                        <p:cond delay="indefinite"/>
                      </p:stCondLst>
                      <p:childTnLst>
                        <p:par>
                          <p:cTn id="134" fill="hold">
                            <p:stCondLst>
                              <p:cond delay="0"/>
                            </p:stCondLst>
                            <p:childTnLst>
                              <p:par>
                                <p:cTn id="135" presetID="1" presetClass="entr" presetSubtype="0" fill="hold" grpId="0" nodeType="clickEffect">
                                  <p:stCondLst>
                                    <p:cond delay="0"/>
                                  </p:stCondLst>
                                  <p:childTnLst>
                                    <p:set>
                                      <p:cBhvr>
                                        <p:cTn id="136" dur="1" fill="hold">
                                          <p:stCondLst>
                                            <p:cond delay="0"/>
                                          </p:stCondLst>
                                        </p:cTn>
                                        <p:tgtEl>
                                          <p:spTgt spid="21"/>
                                        </p:tgtEl>
                                        <p:attrNameLst>
                                          <p:attrName>style.visibility</p:attrName>
                                        </p:attrNameLst>
                                      </p:cBhvr>
                                      <p:to>
                                        <p:strVal val="visible"/>
                                      </p:to>
                                    </p:set>
                                  </p:childTnLst>
                                </p:cTn>
                              </p:par>
                              <p:par>
                                <p:cTn id="137" presetID="63" presetClass="path" presetSubtype="0" accel="50000" decel="50000" fill="hold" grpId="1" nodeType="withEffect">
                                  <p:stCondLst>
                                    <p:cond delay="0"/>
                                  </p:stCondLst>
                                  <p:childTnLst>
                                    <p:animMotion origin="layout" path="M 4.58333E-6 1.11111E-6 L 0.2263 1.11111E-6 " pathEditMode="relative" rAng="0" ptsTypes="AA">
                                      <p:cBhvr>
                                        <p:cTn id="138" dur="2000" spd="-100000" fill="hold"/>
                                        <p:tgtEl>
                                          <p:spTgt spid="21"/>
                                        </p:tgtEl>
                                        <p:attrNameLst>
                                          <p:attrName>ppt_x</p:attrName>
                                          <p:attrName>ppt_y</p:attrName>
                                        </p:attrNameLst>
                                      </p:cBhvr>
                                      <p:rCtr x="11315" y="0"/>
                                    </p:animMotion>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22"/>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xit" presetSubtype="0" fill="hold" grpId="1" nodeType="clickEffect">
                                  <p:stCondLst>
                                    <p:cond delay="0"/>
                                  </p:stCondLst>
                                  <p:childTnLst>
                                    <p:set>
                                      <p:cBhvr>
                                        <p:cTn id="146" dur="1" fill="hold">
                                          <p:stCondLst>
                                            <p:cond delay="0"/>
                                          </p:stCondLst>
                                        </p:cTn>
                                        <p:tgtEl>
                                          <p:spTgt spid="20"/>
                                        </p:tgtEl>
                                        <p:attrNameLst>
                                          <p:attrName>style.visibility</p:attrName>
                                        </p:attrNameLst>
                                      </p:cBhvr>
                                      <p:to>
                                        <p:strVal val="hidden"/>
                                      </p:to>
                                    </p:set>
                                  </p:childTnLst>
                                </p:cTn>
                              </p:par>
                              <p:par>
                                <p:cTn id="147" presetID="1" presetClass="entr" presetSubtype="0" fill="hold" grpId="0" nodeType="withEffect">
                                  <p:stCondLst>
                                    <p:cond delay="0"/>
                                  </p:stCondLst>
                                  <p:childTnLst>
                                    <p:set>
                                      <p:cBhvr>
                                        <p:cTn id="148" dur="1" fill="hold">
                                          <p:stCondLst>
                                            <p:cond delay="0"/>
                                          </p:stCondLst>
                                        </p:cTn>
                                        <p:tgtEl>
                                          <p:spTgt spid="2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63" presetClass="path" presetSubtype="0" accel="50000" decel="50000" fill="hold" nodeType="clickEffect">
                                  <p:stCondLst>
                                    <p:cond delay="0"/>
                                  </p:stCondLst>
                                  <p:childTnLst>
                                    <p:animMotion origin="layout" path="M 0.04843 -2.22222E-6 L 0.09271 -2.22222E-6 " pathEditMode="relative" rAng="0" ptsTypes="AA">
                                      <p:cBhvr>
                                        <p:cTn id="152" dur="2000" fill="hold"/>
                                        <p:tgtEl>
                                          <p:spTgt spid="16"/>
                                        </p:tgtEl>
                                        <p:attrNameLst>
                                          <p:attrName>ppt_x</p:attrName>
                                          <p:attrName>ppt_y</p:attrName>
                                        </p:attrNameLst>
                                      </p:cBhvr>
                                      <p:rCtr x="2214" y="0"/>
                                    </p:animMotion>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4"/>
                                        </p:tgtEl>
                                        <p:attrNameLst>
                                          <p:attrName>style.visibility</p:attrName>
                                        </p:attrNameLst>
                                      </p:cBhvr>
                                      <p:to>
                                        <p:strVal val="visible"/>
                                      </p:to>
                                    </p:set>
                                  </p:childTnLst>
                                </p:cTn>
                              </p:par>
                              <p:par>
                                <p:cTn id="157" presetID="63" presetClass="path" presetSubtype="0" accel="50000" decel="50000" fill="hold" grpId="1" nodeType="withEffect">
                                  <p:stCondLst>
                                    <p:cond delay="0"/>
                                  </p:stCondLst>
                                  <p:childTnLst>
                                    <p:animMotion origin="layout" path="M 3.33333E-6 -3.7037E-7 L 0.1806 -3.7037E-7 " pathEditMode="relative" rAng="0" ptsTypes="AA">
                                      <p:cBhvr>
                                        <p:cTn id="158" dur="2000" spd="-100000" fill="hold"/>
                                        <p:tgtEl>
                                          <p:spTgt spid="24"/>
                                        </p:tgtEl>
                                        <p:attrNameLst>
                                          <p:attrName>ppt_x</p:attrName>
                                          <p:attrName>ppt_y</p:attrName>
                                        </p:attrNameLst>
                                      </p:cBhvr>
                                      <p:rCtr x="9023" y="0"/>
                                    </p:animMotion>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25"/>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presetID="1" presetClass="entr" presetSubtype="0" fill="hold" grpId="0" nodeType="clickEffect">
                                  <p:stCondLst>
                                    <p:cond delay="0"/>
                                  </p:stCondLst>
                                  <p:childTnLst>
                                    <p:set>
                                      <p:cBhvr>
                                        <p:cTn id="166"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8" grpId="1" animBg="1"/>
      <p:bldP spid="9" grpId="0" animBg="1"/>
      <p:bldP spid="10" grpId="0"/>
      <p:bldP spid="11" grpId="0"/>
      <p:bldP spid="12" grpId="0"/>
      <p:bldP spid="12" grpId="1"/>
      <p:bldP spid="13" grpId="0"/>
      <p:bldP spid="13" grpId="1"/>
      <p:bldP spid="14" grpId="0"/>
      <p:bldP spid="15" grpId="0"/>
      <p:bldP spid="15" grpId="1"/>
      <p:bldP spid="19" grpId="0"/>
      <p:bldP spid="20" grpId="0"/>
      <p:bldP spid="20" grpId="1"/>
      <p:bldP spid="21" grpId="0" animBg="1"/>
      <p:bldP spid="21" grpId="1" animBg="1"/>
      <p:bldP spid="22" grpId="0"/>
      <p:bldP spid="23" grpId="0"/>
      <p:bldP spid="24" grpId="0" animBg="1"/>
      <p:bldP spid="24" grpId="1" animBg="1"/>
      <p:bldP spid="25" grpId="0"/>
      <p:bldP spid="26" grpId="0"/>
      <p:bldP spid="3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Function</a:t>
            </a:r>
            <a:r>
              <a:rPr lang="fr-FR" dirty="0"/>
              <a:t>:  </a:t>
            </a:r>
            <a:r>
              <a:rPr lang="fr-FR" dirty="0" err="1"/>
              <a:t>Dequeue</a:t>
            </a:r>
            <a:r>
              <a:rPr lang="fr-FR" dirty="0"/>
              <a:t> (Q, F, R)</a:t>
            </a:r>
            <a:endParaRPr lang="en-US" dirty="0"/>
          </a:p>
        </p:txBody>
      </p:sp>
      <p:sp>
        <p:nvSpPr>
          <p:cNvPr id="3" name="Content Placeholder 2"/>
          <p:cNvSpPr>
            <a:spLocks noGrp="1"/>
          </p:cNvSpPr>
          <p:nvPr>
            <p:ph idx="1"/>
          </p:nvPr>
        </p:nvSpPr>
        <p:spPr/>
        <p:txBody>
          <a:bodyPr/>
          <a:lstStyle/>
          <a:p>
            <a:r>
              <a:rPr lang="en-IN" dirty="0"/>
              <a:t>This function </a:t>
            </a:r>
            <a:r>
              <a:rPr lang="en-IN" b="1" dirty="0">
                <a:solidFill>
                  <a:srgbClr val="C00000"/>
                </a:solidFill>
              </a:rPr>
              <a:t>deletes &amp; returns</a:t>
            </a:r>
            <a:r>
              <a:rPr lang="en-IN" b="1" dirty="0">
                <a:solidFill>
                  <a:srgbClr val="FF0000"/>
                </a:solidFill>
              </a:rPr>
              <a:t> </a:t>
            </a:r>
            <a:r>
              <a:rPr lang="en-IN" dirty="0"/>
              <a:t>an element </a:t>
            </a:r>
            <a:r>
              <a:rPr lang="en-IN" b="1" dirty="0">
                <a:solidFill>
                  <a:srgbClr val="C00000"/>
                </a:solidFill>
              </a:rPr>
              <a:t>from front end</a:t>
            </a:r>
            <a:r>
              <a:rPr lang="en-IN" b="1" dirty="0">
                <a:solidFill>
                  <a:srgbClr val="FF0000"/>
                </a:solidFill>
              </a:rPr>
              <a:t> </a:t>
            </a:r>
            <a:r>
              <a:rPr lang="en-IN" dirty="0"/>
              <a:t>of the Queue.</a:t>
            </a:r>
          </a:p>
          <a:p>
            <a:pPr>
              <a:buClr>
                <a:schemeClr val="tx1"/>
              </a:buClr>
            </a:pPr>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dirty="0"/>
              <a:t> containing </a:t>
            </a:r>
            <a:r>
              <a:rPr lang="en-IN" b="1" dirty="0">
                <a:solidFill>
                  <a:srgbClr val="C00000"/>
                </a:solidFill>
              </a:rPr>
              <a:t>N</a:t>
            </a:r>
            <a:r>
              <a:rPr lang="en-IN" dirty="0"/>
              <a:t> elements.</a:t>
            </a:r>
          </a:p>
          <a:p>
            <a:pPr>
              <a:buClr>
                <a:schemeClr val="tx1"/>
              </a:buClr>
            </a:pPr>
            <a:r>
              <a:rPr lang="en-IN" b="1" dirty="0">
                <a:solidFill>
                  <a:srgbClr val="C00000"/>
                </a:solidFill>
              </a:rPr>
              <a:t>F</a:t>
            </a:r>
            <a:r>
              <a:rPr lang="en-IN" dirty="0"/>
              <a:t> is pointer to the </a:t>
            </a:r>
            <a:r>
              <a:rPr lang="en-IN" b="1" dirty="0">
                <a:solidFill>
                  <a:srgbClr val="C00000"/>
                </a:solidFill>
              </a:rPr>
              <a:t>front</a:t>
            </a:r>
            <a:r>
              <a:rPr lang="en-IN" b="1" dirty="0">
                <a:solidFill>
                  <a:srgbClr val="FF0000"/>
                </a:solidFill>
              </a:rPr>
              <a:t> </a:t>
            </a:r>
            <a:r>
              <a:rPr lang="en-IN" dirty="0"/>
              <a:t>element of a queue.</a:t>
            </a:r>
          </a:p>
          <a:p>
            <a:pPr>
              <a:buClr>
                <a:schemeClr val="tx1"/>
              </a:buClr>
            </a:pPr>
            <a:r>
              <a:rPr lang="en-IN" b="1" dirty="0">
                <a:solidFill>
                  <a:srgbClr val="C00000"/>
                </a:solidFill>
              </a:rPr>
              <a:t>R</a:t>
            </a:r>
            <a:r>
              <a:rPr lang="en-IN" dirty="0"/>
              <a:t> is pointer to the </a:t>
            </a:r>
            <a:r>
              <a:rPr lang="en-IN" b="1" dirty="0">
                <a:solidFill>
                  <a:srgbClr val="C00000"/>
                </a:solidFill>
              </a:rPr>
              <a:t>rear</a:t>
            </a:r>
            <a:r>
              <a:rPr lang="en-IN" dirty="0">
                <a:solidFill>
                  <a:srgbClr val="FF0000"/>
                </a:solidFill>
              </a:rPr>
              <a:t> </a:t>
            </a:r>
            <a:r>
              <a:rPr lang="en-IN" dirty="0"/>
              <a:t>element of a queue.</a:t>
            </a:r>
            <a:endParaRPr lang="en-US" dirty="0"/>
          </a:p>
        </p:txBody>
      </p:sp>
      <p:sp>
        <p:nvSpPr>
          <p:cNvPr id="4" name="TextBox 3"/>
          <p:cNvSpPr txBox="1"/>
          <p:nvPr/>
        </p:nvSpPr>
        <p:spPr>
          <a:xfrm>
            <a:off x="461682" y="2979041"/>
            <a:ext cx="5428129" cy="3508653"/>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pPr marL="457200" indent="-457200">
              <a:buAutoNum type="arabicPeriod"/>
            </a:pPr>
            <a:r>
              <a:rPr lang="en-IN" sz="2000" b="1" dirty="0">
                <a:solidFill>
                  <a:schemeClr val="tx2"/>
                </a:solidFill>
                <a:latin typeface="Consolas" pitchFamily="49" charset="0"/>
                <a:cs typeface="Consolas" pitchFamily="49" charset="0"/>
              </a:rPr>
              <a:t>[Check for Queue Underflow]</a:t>
            </a:r>
          </a:p>
          <a:p>
            <a:pPr marL="538163"/>
            <a:r>
              <a:rPr lang="en-IN" b="1" dirty="0">
                <a:solidFill>
                  <a:schemeClr val="tx2">
                    <a:lumMod val="75000"/>
                  </a:schemeClr>
                </a:solidFill>
                <a:latin typeface="Consolas" pitchFamily="49" charset="0"/>
                <a:cs typeface="Consolas" pitchFamily="49" charset="0"/>
              </a:rPr>
              <a:t>If</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  F = 0</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write (‘Queue Underflow’)</a:t>
            </a:r>
          </a:p>
          <a:p>
            <a:r>
              <a:rPr lang="en-IN" dirty="0">
                <a:latin typeface="Consolas" pitchFamily="49" charset="0"/>
                <a:cs typeface="Consolas" pitchFamily="49" charset="0"/>
              </a:rPr>
              <a:t>	  Return(0)</a:t>
            </a:r>
          </a:p>
          <a:p>
            <a:r>
              <a:rPr lang="en-IN" sz="2000" b="1" dirty="0">
                <a:solidFill>
                  <a:schemeClr val="tx2"/>
                </a:solidFill>
                <a:latin typeface="Consolas" pitchFamily="49" charset="0"/>
                <a:cs typeface="Consolas" pitchFamily="49" charset="0"/>
              </a:rPr>
              <a:t>2. [Delete element]</a:t>
            </a:r>
          </a:p>
          <a:p>
            <a:r>
              <a:rPr lang="en-IN" dirty="0">
                <a:latin typeface="Consolas" pitchFamily="49" charset="0"/>
                <a:cs typeface="Consolas" pitchFamily="49" charset="0"/>
              </a:rPr>
              <a:t>    Y </a:t>
            </a:r>
            <a:r>
              <a:rPr lang="en-IN" dirty="0">
                <a:latin typeface="Consolas" pitchFamily="49" charset="0"/>
                <a:cs typeface="Consolas" pitchFamily="49" charset="0"/>
                <a:sym typeface="Wingdings" pitchFamily="2" charset="2"/>
              </a:rPr>
              <a:t></a:t>
            </a:r>
            <a:r>
              <a:rPr lang="en-IN" dirty="0">
                <a:latin typeface="Consolas" pitchFamily="49" charset="0"/>
                <a:cs typeface="Consolas" pitchFamily="49" charset="0"/>
              </a:rPr>
              <a:t> Q[F]</a:t>
            </a:r>
          </a:p>
          <a:p>
            <a:r>
              <a:rPr lang="en-IN" sz="2000" b="1" dirty="0">
                <a:solidFill>
                  <a:schemeClr val="tx2"/>
                </a:solidFill>
                <a:latin typeface="Consolas" pitchFamily="49" charset="0"/>
                <a:cs typeface="Consolas" pitchFamily="49" charset="0"/>
              </a:rPr>
              <a:t>3. [Is Queue Empty?]</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latin typeface="Consolas" pitchFamily="49" charset="0"/>
                <a:cs typeface="Consolas" pitchFamily="49" charset="0"/>
              </a:rPr>
              <a:t>   F = R</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F </a:t>
            </a:r>
            <a:r>
              <a:rPr lang="en-IN" dirty="0">
                <a:latin typeface="Consolas" pitchFamily="49" charset="0"/>
                <a:cs typeface="Consolas" pitchFamily="49" charset="0"/>
                <a:sym typeface="Wingdings" pitchFamily="2" charset="2"/>
              </a:rPr>
              <a:t> R  0</a:t>
            </a:r>
            <a:br>
              <a:rPr lang="en-IN" dirty="0">
                <a:latin typeface="Consolas" pitchFamily="49" charset="0"/>
                <a:cs typeface="Consolas" pitchFamily="49" charset="0"/>
                <a:sym typeface="Wingdings" pitchFamily="2" charset="2"/>
              </a:rPr>
            </a:br>
            <a:r>
              <a:rPr lang="en-IN" dirty="0">
                <a:latin typeface="Consolas" pitchFamily="49" charset="0"/>
                <a:cs typeface="Consolas" pitchFamily="49" charset="0"/>
                <a:sym typeface="Wingdings" pitchFamily="2" charset="2"/>
              </a:rPr>
              <a:t>    </a:t>
            </a:r>
            <a:r>
              <a:rPr lang="en-IN" b="1" dirty="0">
                <a:solidFill>
                  <a:schemeClr val="tx2">
                    <a:lumMod val="75000"/>
                  </a:schemeClr>
                </a:solidFill>
                <a:latin typeface="Consolas" pitchFamily="49" charset="0"/>
                <a:cs typeface="Consolas" pitchFamily="49" charset="0"/>
                <a:sym typeface="Wingdings" pitchFamily="2" charset="2"/>
              </a:rPr>
              <a:t>Else</a:t>
            </a:r>
            <a:r>
              <a:rPr lang="en-IN" dirty="0">
                <a:solidFill>
                  <a:schemeClr val="tx2">
                    <a:lumMod val="75000"/>
                  </a:schemeClr>
                </a:solidFill>
                <a:latin typeface="Consolas" pitchFamily="49" charset="0"/>
                <a:cs typeface="Consolas" pitchFamily="49" charset="0"/>
                <a:sym typeface="Wingdings" pitchFamily="2" charset="2"/>
              </a:rPr>
              <a:t> </a:t>
            </a:r>
            <a:r>
              <a:rPr lang="en-IN" dirty="0">
                <a:latin typeface="Consolas" pitchFamily="49" charset="0"/>
                <a:cs typeface="Consolas" pitchFamily="49" charset="0"/>
                <a:sym typeface="Wingdings" pitchFamily="2" charset="2"/>
              </a:rPr>
              <a:t>F  F + 1</a:t>
            </a:r>
            <a:endParaRPr lang="en-IN" dirty="0">
              <a:latin typeface="Consolas" pitchFamily="49" charset="0"/>
              <a:cs typeface="Consolas" pitchFamily="49" charset="0"/>
            </a:endParaRPr>
          </a:p>
          <a:p>
            <a:r>
              <a:rPr lang="en-IN" b="1" dirty="0">
                <a:solidFill>
                  <a:schemeClr val="tx2"/>
                </a:solidFill>
                <a:latin typeface="Consolas" pitchFamily="49" charset="0"/>
                <a:cs typeface="Consolas" pitchFamily="49" charset="0"/>
              </a:rPr>
              <a:t>4. [Return Element]</a:t>
            </a:r>
          </a:p>
          <a:p>
            <a:r>
              <a:rPr lang="en-IN" b="1" dirty="0">
                <a:latin typeface="Consolas" pitchFamily="49" charset="0"/>
                <a:cs typeface="Consolas" pitchFamily="49" charset="0"/>
              </a:rPr>
              <a:t>    </a:t>
            </a:r>
            <a:r>
              <a:rPr lang="en-IN" dirty="0">
                <a:latin typeface="Consolas" pitchFamily="49" charset="0"/>
                <a:cs typeface="Consolas" pitchFamily="49" charset="0"/>
              </a:rPr>
              <a:t>Return (Y)</a:t>
            </a:r>
          </a:p>
        </p:txBody>
      </p:sp>
      <p:grpSp>
        <p:nvGrpSpPr>
          <p:cNvPr id="6" name="Group 5"/>
          <p:cNvGrpSpPr/>
          <p:nvPr/>
        </p:nvGrpSpPr>
        <p:grpSpPr>
          <a:xfrm>
            <a:off x="8373033" y="2544675"/>
            <a:ext cx="2655064" cy="457200"/>
            <a:chOff x="5486400" y="1219200"/>
            <a:chExt cx="2655064" cy="457200"/>
          </a:xfrm>
        </p:grpSpPr>
        <p:sp>
          <p:nvSpPr>
            <p:cNvPr id="7" name="Rectangle 6"/>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p:cNvGrpSpPr/>
          <p:nvPr/>
        </p:nvGrpSpPr>
        <p:grpSpPr>
          <a:xfrm>
            <a:off x="8384969" y="4320985"/>
            <a:ext cx="2655064" cy="457200"/>
            <a:chOff x="5486400" y="1219200"/>
            <a:chExt cx="2655064" cy="457200"/>
          </a:xfrm>
        </p:grpSpPr>
        <p:sp>
          <p:nvSpPr>
            <p:cNvPr id="13" name="Rectangle 12"/>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16" name="Rectangle 15"/>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8384969" y="5921186"/>
            <a:ext cx="2655064" cy="457200"/>
            <a:chOff x="5486400" y="1219200"/>
            <a:chExt cx="2655064" cy="457200"/>
          </a:xfrm>
        </p:grpSpPr>
        <p:sp>
          <p:nvSpPr>
            <p:cNvPr id="19" name="Rectangle 18"/>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0" name="Rectangle 19"/>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21" name="Rectangle 20"/>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50</a:t>
              </a:r>
              <a:endParaRPr lang="en-US" b="1" dirty="0"/>
            </a:p>
          </p:txBody>
        </p:sp>
        <p:sp>
          <p:nvSpPr>
            <p:cNvPr id="22" name="Rectangle 21"/>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Box 23"/>
          <p:cNvSpPr txBox="1"/>
          <p:nvPr/>
        </p:nvSpPr>
        <p:spPr>
          <a:xfrm>
            <a:off x="6812306" y="2066361"/>
            <a:ext cx="1327078" cy="646331"/>
          </a:xfrm>
          <a:prstGeom prst="rect">
            <a:avLst/>
          </a:prstGeom>
          <a:noFill/>
        </p:spPr>
        <p:txBody>
          <a:bodyPr wrap="square" rtlCol="0">
            <a:spAutoFit/>
          </a:bodyPr>
          <a:lstStyle/>
          <a:p>
            <a:r>
              <a:rPr lang="en-IN" b="1" dirty="0"/>
              <a:t>Case No 1: </a:t>
            </a:r>
          </a:p>
          <a:p>
            <a:r>
              <a:rPr lang="en-IN" b="1" dirty="0">
                <a:solidFill>
                  <a:schemeClr val="accent3">
                    <a:lumMod val="75000"/>
                  </a:schemeClr>
                </a:solidFill>
              </a:rPr>
              <a:t>F=0, R=0</a:t>
            </a:r>
            <a:endParaRPr lang="en-US" b="1" dirty="0">
              <a:solidFill>
                <a:schemeClr val="accent3">
                  <a:lumMod val="75000"/>
                </a:schemeClr>
              </a:solidFill>
            </a:endParaRPr>
          </a:p>
        </p:txBody>
      </p:sp>
      <p:sp>
        <p:nvSpPr>
          <p:cNvPr id="25" name="TextBox 24"/>
          <p:cNvSpPr txBox="1"/>
          <p:nvPr/>
        </p:nvSpPr>
        <p:spPr>
          <a:xfrm>
            <a:off x="8384969" y="2980760"/>
            <a:ext cx="2655064" cy="369332"/>
          </a:xfrm>
          <a:prstGeom prst="rect">
            <a:avLst/>
          </a:prstGeom>
          <a:noFill/>
        </p:spPr>
        <p:txBody>
          <a:bodyPr wrap="square" rtlCol="0">
            <a:spAutoFit/>
          </a:bodyPr>
          <a:lstStyle/>
          <a:p>
            <a:pPr algn="ctr"/>
            <a:r>
              <a:rPr lang="en-IN" b="1" dirty="0">
                <a:solidFill>
                  <a:srgbClr val="C00000"/>
                </a:solidFill>
              </a:rPr>
              <a:t>Queue Underflow</a:t>
            </a:r>
            <a:endParaRPr lang="en-US" b="1" dirty="0">
              <a:solidFill>
                <a:srgbClr val="C00000"/>
              </a:solidFill>
            </a:endParaRPr>
          </a:p>
        </p:txBody>
      </p:sp>
      <p:sp>
        <p:nvSpPr>
          <p:cNvPr id="26" name="TextBox 25"/>
          <p:cNvSpPr txBox="1"/>
          <p:nvPr/>
        </p:nvSpPr>
        <p:spPr>
          <a:xfrm>
            <a:off x="6893555" y="3482786"/>
            <a:ext cx="1327078" cy="646331"/>
          </a:xfrm>
          <a:prstGeom prst="rect">
            <a:avLst/>
          </a:prstGeom>
          <a:noFill/>
        </p:spPr>
        <p:txBody>
          <a:bodyPr wrap="square" rtlCol="0">
            <a:spAutoFit/>
          </a:bodyPr>
          <a:lstStyle/>
          <a:p>
            <a:r>
              <a:rPr lang="en-IN" b="1" dirty="0"/>
              <a:t>Case No 2: </a:t>
            </a:r>
          </a:p>
          <a:p>
            <a:r>
              <a:rPr lang="en-IN" b="1" dirty="0">
                <a:solidFill>
                  <a:schemeClr val="accent3">
                    <a:lumMod val="75000"/>
                  </a:schemeClr>
                </a:solidFill>
              </a:rPr>
              <a:t>F=3, R=3</a:t>
            </a:r>
            <a:endParaRPr lang="en-US" b="1" dirty="0">
              <a:solidFill>
                <a:schemeClr val="accent3">
                  <a:lumMod val="75000"/>
                </a:schemeClr>
              </a:solidFill>
            </a:endParaRPr>
          </a:p>
        </p:txBody>
      </p:sp>
      <p:grpSp>
        <p:nvGrpSpPr>
          <p:cNvPr id="27" name="Group 26"/>
          <p:cNvGrpSpPr/>
          <p:nvPr/>
        </p:nvGrpSpPr>
        <p:grpSpPr>
          <a:xfrm>
            <a:off x="9483901" y="3558986"/>
            <a:ext cx="228600" cy="727999"/>
            <a:chOff x="802406" y="4606001"/>
            <a:chExt cx="228600" cy="727999"/>
          </a:xfrm>
        </p:grpSpPr>
        <p:sp>
          <p:nvSpPr>
            <p:cNvPr id="28" name="TextBox 27"/>
            <p:cNvSpPr txBox="1"/>
            <p:nvPr/>
          </p:nvSpPr>
          <p:spPr>
            <a:xfrm>
              <a:off x="802406" y="4606001"/>
              <a:ext cx="228600" cy="369332"/>
            </a:xfrm>
            <a:prstGeom prst="rect">
              <a:avLst/>
            </a:prstGeom>
            <a:noFill/>
          </p:spPr>
          <p:txBody>
            <a:bodyPr wrap="square" rtlCol="0">
              <a:spAutoFit/>
            </a:bodyPr>
            <a:lstStyle/>
            <a:p>
              <a:pPr algn="ctr"/>
              <a:r>
                <a:rPr lang="en-IN" b="1" dirty="0">
                  <a:solidFill>
                    <a:srgbClr val="C00000"/>
                  </a:solidFill>
                </a:rPr>
                <a:t>F</a:t>
              </a:r>
              <a:endParaRPr lang="en-US" b="1" dirty="0">
                <a:solidFill>
                  <a:srgbClr val="C00000"/>
                </a:solidFill>
              </a:endParaRPr>
            </a:p>
          </p:txBody>
        </p:sp>
        <p:cxnSp>
          <p:nvCxnSpPr>
            <p:cNvPr id="29" name="Straight Arrow Connector 28"/>
            <p:cNvCxnSpPr>
              <a:stCxn id="28" idx="2"/>
            </p:cNvCxnSpPr>
            <p:nvPr/>
          </p:nvCxnSpPr>
          <p:spPr>
            <a:xfrm>
              <a:off x="916706"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0" name="Group 29"/>
          <p:cNvGrpSpPr/>
          <p:nvPr/>
        </p:nvGrpSpPr>
        <p:grpSpPr>
          <a:xfrm>
            <a:off x="9678531" y="3558986"/>
            <a:ext cx="228600" cy="727999"/>
            <a:chOff x="695898" y="4606001"/>
            <a:chExt cx="228600" cy="727999"/>
          </a:xfrm>
        </p:grpSpPr>
        <p:sp>
          <p:nvSpPr>
            <p:cNvPr id="31" name="TextBox 30"/>
            <p:cNvSpPr txBox="1"/>
            <p:nvPr/>
          </p:nvSpPr>
          <p:spPr>
            <a:xfrm>
              <a:off x="695898" y="4606001"/>
              <a:ext cx="228600" cy="369332"/>
            </a:xfrm>
            <a:prstGeom prst="rect">
              <a:avLst/>
            </a:prstGeom>
            <a:noFill/>
          </p:spPr>
          <p:txBody>
            <a:bodyPr wrap="square" rtlCol="0">
              <a:spAutoFit/>
            </a:bodyPr>
            <a:lstStyle/>
            <a:p>
              <a:pPr algn="ctr"/>
              <a:r>
                <a:rPr lang="en-IN" b="1" dirty="0">
                  <a:solidFill>
                    <a:srgbClr val="C00000"/>
                  </a:solidFill>
                </a:rPr>
                <a:t>R</a:t>
              </a:r>
              <a:endParaRPr lang="en-US" b="1" dirty="0">
                <a:solidFill>
                  <a:srgbClr val="C00000"/>
                </a:solidFill>
              </a:endParaRPr>
            </a:p>
          </p:txBody>
        </p:sp>
        <p:cxnSp>
          <p:nvCxnSpPr>
            <p:cNvPr id="32" name="Straight Arrow Connector 31"/>
            <p:cNvCxnSpPr>
              <a:stCxn id="31" idx="2"/>
            </p:cNvCxnSpPr>
            <p:nvPr/>
          </p:nvCxnSpPr>
          <p:spPr>
            <a:xfrm>
              <a:off x="810198"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cxnSp>
        <p:nvCxnSpPr>
          <p:cNvPr id="33" name="Straight Connector 32"/>
          <p:cNvCxnSpPr/>
          <p:nvPr/>
        </p:nvCxnSpPr>
        <p:spPr>
          <a:xfrm>
            <a:off x="6925233" y="3361761"/>
            <a:ext cx="4038600" cy="0"/>
          </a:xfrm>
          <a:prstGeom prst="line">
            <a:avLst/>
          </a:prstGeom>
        </p:spPr>
        <p:style>
          <a:lnRef idx="1">
            <a:schemeClr val="dk1"/>
          </a:lnRef>
          <a:fillRef idx="0">
            <a:schemeClr val="dk1"/>
          </a:fillRef>
          <a:effectRef idx="0">
            <a:schemeClr val="dk1"/>
          </a:effectRef>
          <a:fontRef idx="minor">
            <a:schemeClr val="tx1"/>
          </a:fontRef>
        </p:style>
      </p:cxnSp>
      <p:sp>
        <p:nvSpPr>
          <p:cNvPr id="34" name="TextBox 33"/>
          <p:cNvSpPr txBox="1"/>
          <p:nvPr/>
        </p:nvSpPr>
        <p:spPr>
          <a:xfrm>
            <a:off x="6903199" y="4320985"/>
            <a:ext cx="1143000" cy="369332"/>
          </a:xfrm>
          <a:prstGeom prst="rect">
            <a:avLst/>
          </a:prstGeom>
          <a:noFill/>
        </p:spPr>
        <p:txBody>
          <a:bodyPr wrap="square" rtlCol="0">
            <a:spAutoFit/>
          </a:bodyPr>
          <a:lstStyle/>
          <a:p>
            <a:r>
              <a:rPr lang="en-IN" b="1" dirty="0">
                <a:solidFill>
                  <a:srgbClr val="00B050"/>
                </a:solidFill>
              </a:rPr>
              <a:t>F=0, R=0</a:t>
            </a:r>
            <a:endParaRPr lang="en-US" b="1" dirty="0">
              <a:solidFill>
                <a:srgbClr val="00B050"/>
              </a:solidFill>
            </a:endParaRPr>
          </a:p>
        </p:txBody>
      </p:sp>
      <p:cxnSp>
        <p:nvCxnSpPr>
          <p:cNvPr id="35" name="Straight Connector 34"/>
          <p:cNvCxnSpPr/>
          <p:nvPr/>
        </p:nvCxnSpPr>
        <p:spPr>
          <a:xfrm>
            <a:off x="6925233" y="4988856"/>
            <a:ext cx="4038600" cy="0"/>
          </a:xfrm>
          <a:prstGeom prst="line">
            <a:avLst/>
          </a:prstGeom>
        </p:spPr>
        <p:style>
          <a:lnRef idx="1">
            <a:schemeClr val="dk1"/>
          </a:lnRef>
          <a:fillRef idx="0">
            <a:schemeClr val="dk1"/>
          </a:fillRef>
          <a:effectRef idx="0">
            <a:schemeClr val="dk1"/>
          </a:effectRef>
          <a:fontRef idx="minor">
            <a:schemeClr val="tx1"/>
          </a:fontRef>
        </p:style>
      </p:cxnSp>
      <p:sp>
        <p:nvSpPr>
          <p:cNvPr id="36" name="TextBox 35"/>
          <p:cNvSpPr txBox="1"/>
          <p:nvPr/>
        </p:nvSpPr>
        <p:spPr>
          <a:xfrm>
            <a:off x="6957819" y="5198656"/>
            <a:ext cx="1327078" cy="646331"/>
          </a:xfrm>
          <a:prstGeom prst="rect">
            <a:avLst/>
          </a:prstGeom>
          <a:noFill/>
        </p:spPr>
        <p:txBody>
          <a:bodyPr wrap="square" rtlCol="0">
            <a:spAutoFit/>
          </a:bodyPr>
          <a:lstStyle/>
          <a:p>
            <a:r>
              <a:rPr lang="en-IN" b="1" dirty="0"/>
              <a:t>Case No 3: </a:t>
            </a:r>
          </a:p>
          <a:p>
            <a:r>
              <a:rPr lang="en-IN" b="1" dirty="0">
                <a:solidFill>
                  <a:schemeClr val="accent3">
                    <a:lumMod val="75000"/>
                  </a:schemeClr>
                </a:solidFill>
              </a:rPr>
              <a:t>F=1, R=3</a:t>
            </a:r>
            <a:endParaRPr lang="en-US" b="1" dirty="0">
              <a:solidFill>
                <a:schemeClr val="accent3">
                  <a:lumMod val="75000"/>
                </a:schemeClr>
              </a:solidFill>
            </a:endParaRPr>
          </a:p>
        </p:txBody>
      </p:sp>
      <p:grpSp>
        <p:nvGrpSpPr>
          <p:cNvPr id="37" name="Group 36"/>
          <p:cNvGrpSpPr/>
          <p:nvPr/>
        </p:nvGrpSpPr>
        <p:grpSpPr>
          <a:xfrm>
            <a:off x="8525433" y="5193188"/>
            <a:ext cx="228600" cy="727999"/>
            <a:chOff x="802406" y="4606001"/>
            <a:chExt cx="228600" cy="727999"/>
          </a:xfrm>
        </p:grpSpPr>
        <p:sp>
          <p:nvSpPr>
            <p:cNvPr id="38" name="TextBox 37"/>
            <p:cNvSpPr txBox="1"/>
            <p:nvPr/>
          </p:nvSpPr>
          <p:spPr>
            <a:xfrm>
              <a:off x="802406" y="4606001"/>
              <a:ext cx="228600" cy="369332"/>
            </a:xfrm>
            <a:prstGeom prst="rect">
              <a:avLst/>
            </a:prstGeom>
            <a:noFill/>
          </p:spPr>
          <p:txBody>
            <a:bodyPr wrap="square" rtlCol="0">
              <a:spAutoFit/>
            </a:bodyPr>
            <a:lstStyle/>
            <a:p>
              <a:pPr algn="ctr"/>
              <a:r>
                <a:rPr lang="en-IN" b="1" dirty="0">
                  <a:solidFill>
                    <a:srgbClr val="C00000"/>
                  </a:solidFill>
                </a:rPr>
                <a:t>F</a:t>
              </a:r>
              <a:endParaRPr lang="en-US" b="1" dirty="0">
                <a:solidFill>
                  <a:srgbClr val="C00000"/>
                </a:solidFill>
              </a:endParaRPr>
            </a:p>
          </p:txBody>
        </p:sp>
        <p:cxnSp>
          <p:nvCxnSpPr>
            <p:cNvPr id="39" name="Straight Arrow Connector 38"/>
            <p:cNvCxnSpPr>
              <a:stCxn id="38" idx="2"/>
            </p:cNvCxnSpPr>
            <p:nvPr/>
          </p:nvCxnSpPr>
          <p:spPr>
            <a:xfrm>
              <a:off x="916706"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40" name="Group 39"/>
          <p:cNvGrpSpPr/>
          <p:nvPr/>
        </p:nvGrpSpPr>
        <p:grpSpPr>
          <a:xfrm>
            <a:off x="9592233" y="5193188"/>
            <a:ext cx="228600" cy="727999"/>
            <a:chOff x="695898" y="4606001"/>
            <a:chExt cx="228600" cy="727999"/>
          </a:xfrm>
        </p:grpSpPr>
        <p:sp>
          <p:nvSpPr>
            <p:cNvPr id="41" name="TextBox 40"/>
            <p:cNvSpPr txBox="1"/>
            <p:nvPr/>
          </p:nvSpPr>
          <p:spPr>
            <a:xfrm>
              <a:off x="695898" y="4606001"/>
              <a:ext cx="228600" cy="369332"/>
            </a:xfrm>
            <a:prstGeom prst="rect">
              <a:avLst/>
            </a:prstGeom>
            <a:noFill/>
          </p:spPr>
          <p:txBody>
            <a:bodyPr wrap="square" rtlCol="0">
              <a:spAutoFit/>
            </a:bodyPr>
            <a:lstStyle/>
            <a:p>
              <a:pPr algn="ctr"/>
              <a:r>
                <a:rPr lang="en-IN" b="1" dirty="0">
                  <a:solidFill>
                    <a:srgbClr val="C00000"/>
                  </a:solidFill>
                </a:rPr>
                <a:t>R</a:t>
              </a:r>
              <a:endParaRPr lang="en-US" b="1" dirty="0">
                <a:solidFill>
                  <a:srgbClr val="C00000"/>
                </a:solidFill>
              </a:endParaRPr>
            </a:p>
          </p:txBody>
        </p:sp>
        <p:cxnSp>
          <p:nvCxnSpPr>
            <p:cNvPr id="42" name="Straight Arrow Connector 41"/>
            <p:cNvCxnSpPr>
              <a:stCxn id="41" idx="2"/>
            </p:cNvCxnSpPr>
            <p:nvPr/>
          </p:nvCxnSpPr>
          <p:spPr>
            <a:xfrm>
              <a:off x="810198" y="4975333"/>
              <a:ext cx="0" cy="358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3" name="TextBox 42"/>
          <p:cNvSpPr txBox="1"/>
          <p:nvPr/>
        </p:nvSpPr>
        <p:spPr>
          <a:xfrm>
            <a:off x="9509520" y="4364919"/>
            <a:ext cx="418704" cy="369332"/>
          </a:xfrm>
          <a:prstGeom prst="rect">
            <a:avLst/>
          </a:prstGeom>
          <a:noFill/>
        </p:spPr>
        <p:txBody>
          <a:bodyPr wrap="none" rtlCol="0">
            <a:spAutoFit/>
          </a:bodyPr>
          <a:lstStyle/>
          <a:p>
            <a:r>
              <a:rPr lang="en-IN" b="1" dirty="0">
                <a:solidFill>
                  <a:schemeClr val="bg1"/>
                </a:solidFill>
              </a:rPr>
              <a:t>50</a:t>
            </a:r>
            <a:endParaRPr lang="en-US" b="1" dirty="0">
              <a:solidFill>
                <a:schemeClr val="bg1"/>
              </a:solidFill>
            </a:endParaRPr>
          </a:p>
        </p:txBody>
      </p:sp>
      <p:sp>
        <p:nvSpPr>
          <p:cNvPr id="44" name="TextBox 43"/>
          <p:cNvSpPr txBox="1"/>
          <p:nvPr/>
        </p:nvSpPr>
        <p:spPr>
          <a:xfrm>
            <a:off x="8493301" y="5976271"/>
            <a:ext cx="301686" cy="369332"/>
          </a:xfrm>
          <a:prstGeom prst="rect">
            <a:avLst/>
          </a:prstGeom>
          <a:noFill/>
        </p:spPr>
        <p:txBody>
          <a:bodyPr wrap="none" rtlCol="0">
            <a:spAutoFit/>
          </a:bodyPr>
          <a:lstStyle/>
          <a:p>
            <a:r>
              <a:rPr lang="en-IN" b="1" dirty="0">
                <a:solidFill>
                  <a:schemeClr val="bg1"/>
                </a:solidFill>
              </a:rPr>
              <a:t>5</a:t>
            </a:r>
            <a:endParaRPr lang="en-US" b="1" dirty="0">
              <a:solidFill>
                <a:schemeClr val="bg1"/>
              </a:solidFill>
            </a:endParaRPr>
          </a:p>
        </p:txBody>
      </p:sp>
      <p:sp>
        <p:nvSpPr>
          <p:cNvPr id="45" name="TextBox 44"/>
          <p:cNvSpPr txBox="1"/>
          <p:nvPr/>
        </p:nvSpPr>
        <p:spPr>
          <a:xfrm>
            <a:off x="6958284" y="6085254"/>
            <a:ext cx="1143000" cy="369332"/>
          </a:xfrm>
          <a:prstGeom prst="rect">
            <a:avLst/>
          </a:prstGeom>
          <a:noFill/>
        </p:spPr>
        <p:txBody>
          <a:bodyPr wrap="square" rtlCol="0">
            <a:spAutoFit/>
          </a:bodyPr>
          <a:lstStyle/>
          <a:p>
            <a:r>
              <a:rPr lang="en-IN" b="1" dirty="0">
                <a:solidFill>
                  <a:srgbClr val="00B050"/>
                </a:solidFill>
              </a:rPr>
              <a:t>F=2, R=3</a:t>
            </a:r>
            <a:endParaRPr lang="en-US" b="1" dirty="0">
              <a:solidFill>
                <a:srgbClr val="00B050"/>
              </a:solidFill>
            </a:endParaRPr>
          </a:p>
        </p:txBody>
      </p:sp>
    </p:spTree>
    <p:extLst>
      <p:ext uri="{BB962C8B-B14F-4D97-AF65-F5344CB8AC3E}">
        <p14:creationId xmlns:p14="http://schemas.microsoft.com/office/powerpoint/2010/main" val="4113048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5"/>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33"/>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6"/>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12"/>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43"/>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30"/>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27"/>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34"/>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7"/>
                                        </p:tgtEl>
                                        <p:attrNameLst>
                                          <p:attrName>style.visibility</p:attrName>
                                        </p:attrNameLst>
                                      </p:cBhvr>
                                      <p:to>
                                        <p:strVal val="hidden"/>
                                      </p:to>
                                    </p:se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30"/>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43"/>
                                        </p:tgtEl>
                                        <p:attrNameLst>
                                          <p:attrName>style.visibility</p:attrName>
                                        </p:attrNameLst>
                                      </p:cBhvr>
                                      <p:to>
                                        <p:strVal val="hidden"/>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3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36"/>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8"/>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44"/>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37"/>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40"/>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63" presetClass="path" presetSubtype="0" accel="50000" decel="50000" fill="hold" nodeType="clickEffect">
                                  <p:stCondLst>
                                    <p:cond delay="0"/>
                                  </p:stCondLst>
                                  <p:childTnLst>
                                    <p:animMotion origin="layout" path="M -3.54167E-6 4.81481E-6 L 0.04388 4.81481E-6 " pathEditMode="relative" rAng="0" ptsTypes="AA">
                                      <p:cBhvr>
                                        <p:cTn id="134" dur="2000" fill="hold"/>
                                        <p:tgtEl>
                                          <p:spTgt spid="37"/>
                                        </p:tgtEl>
                                        <p:attrNameLst>
                                          <p:attrName>ppt_x</p:attrName>
                                          <p:attrName>ppt_y</p:attrName>
                                        </p:attrNameLst>
                                      </p:cBhvr>
                                      <p:rCtr x="2201" y="0"/>
                                    </p:animMotion>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45"/>
                                        </p:tgtEl>
                                        <p:attrNameLst>
                                          <p:attrName>style.visibility</p:attrName>
                                        </p:attrNameLst>
                                      </p:cBhvr>
                                      <p:to>
                                        <p:strVal val="visible"/>
                                      </p:to>
                                    </p:set>
                                  </p:childTnLst>
                                </p:cTn>
                              </p:par>
                            </p:childTnLst>
                          </p:cTn>
                        </p:par>
                      </p:childTnLst>
                    </p:cTn>
                  </p:par>
                  <p:par>
                    <p:cTn id="139" fill="hold">
                      <p:stCondLst>
                        <p:cond delay="indefinite"/>
                      </p:stCondLst>
                      <p:childTnLst>
                        <p:par>
                          <p:cTn id="140" fill="hold">
                            <p:stCondLst>
                              <p:cond delay="0"/>
                            </p:stCondLst>
                            <p:childTnLst>
                              <p:par>
                                <p:cTn id="141" presetID="1" presetClass="exit" presetSubtype="0" fill="hold" grpId="1" nodeType="clickEffect">
                                  <p:stCondLst>
                                    <p:cond delay="0"/>
                                  </p:stCondLst>
                                  <p:childTnLst>
                                    <p:set>
                                      <p:cBhvr>
                                        <p:cTn id="142" dur="1" fill="hold">
                                          <p:stCondLst>
                                            <p:cond delay="0"/>
                                          </p:stCondLst>
                                        </p:cTn>
                                        <p:tgtEl>
                                          <p:spTgt spid="4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4" grpId="0"/>
      <p:bldP spid="25" grpId="0"/>
      <p:bldP spid="26" grpId="0"/>
      <p:bldP spid="34" grpId="0"/>
      <p:bldP spid="36" grpId="0"/>
      <p:bldP spid="43" grpId="0"/>
      <p:bldP spid="43" grpId="1"/>
      <p:bldP spid="44" grpId="0"/>
      <p:bldP spid="44" grpId="1"/>
      <p:bldP spid="4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of Queue Insert / Delete</a:t>
            </a:r>
            <a:endParaRPr lang="en-US" dirty="0"/>
          </a:p>
        </p:txBody>
      </p:sp>
      <p:grpSp>
        <p:nvGrpSpPr>
          <p:cNvPr id="9" name="Group 8"/>
          <p:cNvGrpSpPr/>
          <p:nvPr/>
        </p:nvGrpSpPr>
        <p:grpSpPr>
          <a:xfrm>
            <a:off x="1163771" y="2075330"/>
            <a:ext cx="1828800" cy="381000"/>
            <a:chOff x="381000" y="1219200"/>
            <a:chExt cx="1828800" cy="381000"/>
          </a:xfrm>
        </p:grpSpPr>
        <p:sp>
          <p:nvSpPr>
            <p:cNvPr id="4" name="Rectangle 3"/>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p:cNvGrpSpPr/>
          <p:nvPr/>
        </p:nvGrpSpPr>
        <p:grpSpPr>
          <a:xfrm>
            <a:off x="1163771" y="3598548"/>
            <a:ext cx="1828800" cy="381000"/>
            <a:chOff x="381000" y="1219200"/>
            <a:chExt cx="1828800" cy="381000"/>
          </a:xfrm>
        </p:grpSpPr>
        <p:sp>
          <p:nvSpPr>
            <p:cNvPr id="11" name="Rectangle 10"/>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p:cNvGrpSpPr/>
          <p:nvPr/>
        </p:nvGrpSpPr>
        <p:grpSpPr>
          <a:xfrm>
            <a:off x="1163771" y="5216641"/>
            <a:ext cx="1828800" cy="381000"/>
            <a:chOff x="381000" y="1219200"/>
            <a:chExt cx="1828800" cy="381000"/>
          </a:xfrm>
        </p:grpSpPr>
        <p:sp>
          <p:nvSpPr>
            <p:cNvPr id="16" name="Rectangle 15"/>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p:cNvGrpSpPr/>
          <p:nvPr/>
        </p:nvGrpSpPr>
        <p:grpSpPr>
          <a:xfrm>
            <a:off x="7412171" y="3642874"/>
            <a:ext cx="1828800" cy="381000"/>
            <a:chOff x="381000" y="1219200"/>
            <a:chExt cx="1828800" cy="381000"/>
          </a:xfrm>
        </p:grpSpPr>
        <p:sp>
          <p:nvSpPr>
            <p:cNvPr id="21" name="Rectangle 20"/>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8" name="Group 27"/>
          <p:cNvGrpSpPr/>
          <p:nvPr/>
        </p:nvGrpSpPr>
        <p:grpSpPr>
          <a:xfrm>
            <a:off x="476368" y="2549642"/>
            <a:ext cx="293670" cy="592488"/>
            <a:chOff x="774733" y="1681844"/>
            <a:chExt cx="293670" cy="592488"/>
          </a:xfrm>
        </p:grpSpPr>
        <p:sp>
          <p:nvSpPr>
            <p:cNvPr id="25" name="TextBox 24"/>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7" name="Straight Arrow Connector 26"/>
            <p:cNvCxnSpPr>
              <a:stCxn id="25"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9" name="Group 28"/>
          <p:cNvGrpSpPr/>
          <p:nvPr/>
        </p:nvGrpSpPr>
        <p:grpSpPr>
          <a:xfrm>
            <a:off x="673917" y="2549642"/>
            <a:ext cx="314510" cy="592488"/>
            <a:chOff x="764313" y="1681844"/>
            <a:chExt cx="314510" cy="592488"/>
          </a:xfrm>
        </p:grpSpPr>
        <p:sp>
          <p:nvSpPr>
            <p:cNvPr id="30" name="TextBox 29"/>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31" name="Straight Arrow Connector 30"/>
            <p:cNvCxnSpPr>
              <a:stCxn id="3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32" name="TextBox 31"/>
          <p:cNvSpPr txBox="1"/>
          <p:nvPr/>
        </p:nvSpPr>
        <p:spPr>
          <a:xfrm>
            <a:off x="623203" y="856131"/>
            <a:ext cx="8693968"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dirty="0"/>
              <a:t>Perform following operations on queue with size 4 &amp; draw queue after each operation</a:t>
            </a:r>
          </a:p>
          <a:p>
            <a:pPr algn="ctr"/>
            <a:r>
              <a:rPr lang="en-IN" dirty="0"/>
              <a:t>Insert ‘A’ | Insert ‘B’ | Insert ‘C’ | Delete ‘A’ | Delete ‘B’ | Insert ‘D’ | Insert ‘E’ </a:t>
            </a:r>
            <a:endParaRPr lang="en-US" dirty="0"/>
          </a:p>
        </p:txBody>
      </p:sp>
      <p:sp>
        <p:nvSpPr>
          <p:cNvPr id="33" name="TextBox 32"/>
          <p:cNvSpPr txBox="1"/>
          <p:nvPr/>
        </p:nvSpPr>
        <p:spPr>
          <a:xfrm>
            <a:off x="1163771" y="1618130"/>
            <a:ext cx="1828800" cy="369332"/>
          </a:xfrm>
          <a:prstGeom prst="rect">
            <a:avLst/>
          </a:prstGeom>
          <a:noFill/>
        </p:spPr>
        <p:txBody>
          <a:bodyPr wrap="square" rtlCol="0">
            <a:spAutoFit/>
          </a:bodyPr>
          <a:lstStyle/>
          <a:p>
            <a:pPr algn="ctr"/>
            <a:r>
              <a:rPr lang="en-IN" b="1" dirty="0"/>
              <a:t>Empty Queue</a:t>
            </a:r>
            <a:endParaRPr lang="en-US" b="1" dirty="0"/>
          </a:p>
        </p:txBody>
      </p:sp>
      <p:sp>
        <p:nvSpPr>
          <p:cNvPr id="34" name="TextBox 33"/>
          <p:cNvSpPr txBox="1"/>
          <p:nvPr/>
        </p:nvSpPr>
        <p:spPr>
          <a:xfrm>
            <a:off x="477971" y="2066009"/>
            <a:ext cx="301686" cy="369332"/>
          </a:xfrm>
          <a:prstGeom prst="rect">
            <a:avLst/>
          </a:prstGeom>
          <a:noFill/>
        </p:spPr>
        <p:txBody>
          <a:bodyPr wrap="none" rtlCol="0">
            <a:spAutoFit/>
          </a:bodyPr>
          <a:lstStyle/>
          <a:p>
            <a:pPr algn="ctr"/>
            <a:r>
              <a:rPr lang="en-IN" b="1" dirty="0"/>
              <a:t>0</a:t>
            </a:r>
            <a:endParaRPr lang="en-US" b="1" dirty="0"/>
          </a:p>
        </p:txBody>
      </p:sp>
      <p:sp>
        <p:nvSpPr>
          <p:cNvPr id="35" name="TextBox 34"/>
          <p:cNvSpPr txBox="1"/>
          <p:nvPr/>
        </p:nvSpPr>
        <p:spPr>
          <a:xfrm>
            <a:off x="684801" y="2075330"/>
            <a:ext cx="301686" cy="369332"/>
          </a:xfrm>
          <a:prstGeom prst="rect">
            <a:avLst/>
          </a:prstGeom>
          <a:noFill/>
        </p:spPr>
        <p:txBody>
          <a:bodyPr wrap="none" rtlCol="0">
            <a:spAutoFit/>
          </a:bodyPr>
          <a:lstStyle/>
          <a:p>
            <a:pPr algn="ctr"/>
            <a:r>
              <a:rPr lang="en-IN" b="1" dirty="0"/>
              <a:t>0</a:t>
            </a:r>
            <a:endParaRPr lang="en-US" b="1" dirty="0"/>
          </a:p>
        </p:txBody>
      </p:sp>
      <p:cxnSp>
        <p:nvCxnSpPr>
          <p:cNvPr id="37" name="Straight Connector 36"/>
          <p:cNvCxnSpPr/>
          <p:nvPr/>
        </p:nvCxnSpPr>
        <p:spPr>
          <a:xfrm>
            <a:off x="477971" y="3142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38" name="TextBox 37"/>
          <p:cNvSpPr txBox="1"/>
          <p:nvPr/>
        </p:nvSpPr>
        <p:spPr>
          <a:xfrm>
            <a:off x="1163771" y="3229216"/>
            <a:ext cx="1828800" cy="369332"/>
          </a:xfrm>
          <a:prstGeom prst="rect">
            <a:avLst/>
          </a:prstGeom>
          <a:noFill/>
        </p:spPr>
        <p:txBody>
          <a:bodyPr wrap="square" rtlCol="0">
            <a:spAutoFit/>
          </a:bodyPr>
          <a:lstStyle/>
          <a:p>
            <a:pPr algn="ctr"/>
            <a:r>
              <a:rPr lang="en-IN" b="1" dirty="0"/>
              <a:t>Insert ‘A’</a:t>
            </a:r>
            <a:endParaRPr lang="en-US" b="1" dirty="0"/>
          </a:p>
        </p:txBody>
      </p:sp>
      <p:grpSp>
        <p:nvGrpSpPr>
          <p:cNvPr id="39" name="Group 38"/>
          <p:cNvGrpSpPr/>
          <p:nvPr/>
        </p:nvGrpSpPr>
        <p:grpSpPr>
          <a:xfrm>
            <a:off x="454598" y="3991217"/>
            <a:ext cx="293670" cy="592488"/>
            <a:chOff x="774733" y="1681844"/>
            <a:chExt cx="293670" cy="592488"/>
          </a:xfrm>
        </p:grpSpPr>
        <p:sp>
          <p:nvSpPr>
            <p:cNvPr id="40" name="TextBox 39"/>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41" name="Straight Arrow Connector 40"/>
            <p:cNvCxnSpPr>
              <a:stCxn id="4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42" name="Group 41"/>
          <p:cNvGrpSpPr/>
          <p:nvPr/>
        </p:nvGrpSpPr>
        <p:grpSpPr>
          <a:xfrm>
            <a:off x="630371" y="3997442"/>
            <a:ext cx="314510" cy="592488"/>
            <a:chOff x="764313" y="1681844"/>
            <a:chExt cx="314510" cy="592488"/>
          </a:xfrm>
        </p:grpSpPr>
        <p:sp>
          <p:nvSpPr>
            <p:cNvPr id="43" name="TextBox 42"/>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44" name="Straight Arrow Connector 43"/>
            <p:cNvCxnSpPr>
              <a:stCxn id="4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45" name="TextBox 44"/>
          <p:cNvSpPr txBox="1"/>
          <p:nvPr/>
        </p:nvSpPr>
        <p:spPr>
          <a:xfrm>
            <a:off x="477971" y="3271977"/>
            <a:ext cx="542136" cy="369332"/>
          </a:xfrm>
          <a:prstGeom prst="rect">
            <a:avLst/>
          </a:prstGeom>
          <a:noFill/>
        </p:spPr>
        <p:txBody>
          <a:bodyPr wrap="none" rtlCol="0">
            <a:spAutoFit/>
          </a:bodyPr>
          <a:lstStyle/>
          <a:p>
            <a:r>
              <a:rPr lang="en-IN" b="1" dirty="0">
                <a:solidFill>
                  <a:schemeClr val="accent3">
                    <a:lumMod val="75000"/>
                  </a:schemeClr>
                </a:solidFill>
              </a:rPr>
              <a:t>R=1</a:t>
            </a:r>
            <a:endParaRPr lang="en-US" b="1" dirty="0">
              <a:solidFill>
                <a:schemeClr val="accent3">
                  <a:lumMod val="75000"/>
                </a:schemeClr>
              </a:solidFill>
            </a:endParaRPr>
          </a:p>
        </p:txBody>
      </p:sp>
      <p:sp>
        <p:nvSpPr>
          <p:cNvPr id="46" name="TextBox 45"/>
          <p:cNvSpPr txBox="1"/>
          <p:nvPr/>
        </p:nvSpPr>
        <p:spPr>
          <a:xfrm>
            <a:off x="477971" y="3610216"/>
            <a:ext cx="542136" cy="369332"/>
          </a:xfrm>
          <a:prstGeom prst="rect">
            <a:avLst/>
          </a:prstGeom>
          <a:noFill/>
        </p:spPr>
        <p:txBody>
          <a:bodyPr wrap="none" rtlCol="0">
            <a:spAutoFit/>
          </a:bodyPr>
          <a:lstStyle/>
          <a:p>
            <a:r>
              <a:rPr lang="en-IN" b="1" dirty="0">
                <a:solidFill>
                  <a:schemeClr val="accent3">
                    <a:lumMod val="75000"/>
                  </a:schemeClr>
                </a:solidFill>
              </a:rPr>
              <a:t>F=1</a:t>
            </a:r>
            <a:endParaRPr lang="en-US" b="1" dirty="0">
              <a:solidFill>
                <a:schemeClr val="accent3">
                  <a:lumMod val="75000"/>
                </a:schemeClr>
              </a:solidFill>
            </a:endParaRPr>
          </a:p>
        </p:txBody>
      </p:sp>
      <p:sp>
        <p:nvSpPr>
          <p:cNvPr id="47" name="TextBox 46"/>
          <p:cNvSpPr txBox="1"/>
          <p:nvPr/>
        </p:nvSpPr>
        <p:spPr>
          <a:xfrm>
            <a:off x="1163771" y="3586879"/>
            <a:ext cx="457200" cy="400110"/>
          </a:xfrm>
          <a:prstGeom prst="rect">
            <a:avLst/>
          </a:prstGeom>
          <a:noFill/>
        </p:spPr>
        <p:txBody>
          <a:bodyPr wrap="square" rtlCol="0">
            <a:spAutoFit/>
          </a:bodyPr>
          <a:lstStyle/>
          <a:p>
            <a:pPr algn="ctr"/>
            <a:r>
              <a:rPr lang="en-IN" sz="2000" b="1" dirty="0">
                <a:solidFill>
                  <a:schemeClr val="bg1"/>
                </a:solidFill>
              </a:rPr>
              <a:t>A</a:t>
            </a:r>
            <a:endParaRPr lang="en-US" sz="2000" b="1" dirty="0">
              <a:solidFill>
                <a:schemeClr val="bg1"/>
              </a:solidFill>
            </a:endParaRPr>
          </a:p>
        </p:txBody>
      </p:sp>
      <p:cxnSp>
        <p:nvCxnSpPr>
          <p:cNvPr id="48" name="Straight Connector 47"/>
          <p:cNvCxnSpPr/>
          <p:nvPr/>
        </p:nvCxnSpPr>
        <p:spPr>
          <a:xfrm>
            <a:off x="4779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49" name="TextBox 48"/>
          <p:cNvSpPr txBox="1"/>
          <p:nvPr/>
        </p:nvSpPr>
        <p:spPr>
          <a:xfrm>
            <a:off x="1163771" y="4742330"/>
            <a:ext cx="1828800" cy="369332"/>
          </a:xfrm>
          <a:prstGeom prst="rect">
            <a:avLst/>
          </a:prstGeom>
          <a:noFill/>
        </p:spPr>
        <p:txBody>
          <a:bodyPr wrap="square" rtlCol="0">
            <a:spAutoFit/>
          </a:bodyPr>
          <a:lstStyle/>
          <a:p>
            <a:pPr algn="ctr"/>
            <a:r>
              <a:rPr lang="en-IN" b="1" dirty="0"/>
              <a:t>Insert ‘B’</a:t>
            </a:r>
            <a:endParaRPr lang="en-US" b="1" dirty="0"/>
          </a:p>
        </p:txBody>
      </p:sp>
      <p:grpSp>
        <p:nvGrpSpPr>
          <p:cNvPr id="50" name="Group 49"/>
          <p:cNvGrpSpPr/>
          <p:nvPr/>
        </p:nvGrpSpPr>
        <p:grpSpPr>
          <a:xfrm>
            <a:off x="4217336" y="2476554"/>
            <a:ext cx="293670" cy="592488"/>
            <a:chOff x="774733" y="1681844"/>
            <a:chExt cx="293670" cy="592488"/>
          </a:xfrm>
        </p:grpSpPr>
        <p:sp>
          <p:nvSpPr>
            <p:cNvPr id="51" name="TextBox 50"/>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52" name="Straight Arrow Connector 51"/>
            <p:cNvCxnSpPr>
              <a:stCxn id="51"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53" name="Group 52"/>
          <p:cNvGrpSpPr/>
          <p:nvPr/>
        </p:nvGrpSpPr>
        <p:grpSpPr>
          <a:xfrm>
            <a:off x="1304148" y="5635422"/>
            <a:ext cx="314510" cy="565594"/>
            <a:chOff x="764313" y="1708738"/>
            <a:chExt cx="314510" cy="565594"/>
          </a:xfrm>
        </p:grpSpPr>
        <p:sp>
          <p:nvSpPr>
            <p:cNvPr id="54" name="TextBox 53"/>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55" name="Straight Arrow Connector 54"/>
            <p:cNvCxnSpPr/>
            <p:nvPr/>
          </p:nvCxnSpPr>
          <p:spPr>
            <a:xfrm flipV="1">
              <a:off x="921568" y="1708738"/>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56" name="TextBox 55"/>
          <p:cNvSpPr txBox="1"/>
          <p:nvPr/>
        </p:nvSpPr>
        <p:spPr>
          <a:xfrm>
            <a:off x="1171207" y="5201528"/>
            <a:ext cx="457200" cy="400110"/>
          </a:xfrm>
          <a:prstGeom prst="rect">
            <a:avLst/>
          </a:prstGeom>
          <a:noFill/>
        </p:spPr>
        <p:txBody>
          <a:bodyPr wrap="square" rtlCol="0">
            <a:spAutoFit/>
          </a:bodyPr>
          <a:lstStyle/>
          <a:p>
            <a:pPr algn="ctr"/>
            <a:r>
              <a:rPr lang="en-IN" sz="2000" b="1" dirty="0">
                <a:solidFill>
                  <a:schemeClr val="bg1"/>
                </a:solidFill>
              </a:rPr>
              <a:t>A</a:t>
            </a:r>
            <a:endParaRPr lang="en-US" sz="2000" b="1" dirty="0">
              <a:solidFill>
                <a:schemeClr val="bg1"/>
              </a:solidFill>
            </a:endParaRPr>
          </a:p>
        </p:txBody>
      </p:sp>
      <p:sp>
        <p:nvSpPr>
          <p:cNvPr id="57" name="TextBox 56"/>
          <p:cNvSpPr txBox="1"/>
          <p:nvPr/>
        </p:nvSpPr>
        <p:spPr>
          <a:xfrm>
            <a:off x="532400" y="4999710"/>
            <a:ext cx="546945" cy="646331"/>
          </a:xfrm>
          <a:prstGeom prst="rect">
            <a:avLst/>
          </a:prstGeom>
          <a:noFill/>
        </p:spPr>
        <p:txBody>
          <a:bodyPr wrap="none" rtlCol="0">
            <a:spAutoFit/>
          </a:bodyPr>
          <a:lstStyle/>
          <a:p>
            <a:r>
              <a:rPr lang="en-IN" b="1" dirty="0">
                <a:solidFill>
                  <a:schemeClr val="accent3">
                    <a:lumMod val="75000"/>
                  </a:schemeClr>
                </a:solidFill>
              </a:rPr>
              <a:t>R=2</a:t>
            </a:r>
          </a:p>
          <a:p>
            <a:r>
              <a:rPr lang="en-IN" b="1" dirty="0">
                <a:solidFill>
                  <a:schemeClr val="accent3">
                    <a:lumMod val="75000"/>
                  </a:schemeClr>
                </a:solidFill>
              </a:rPr>
              <a:t>F=1</a:t>
            </a:r>
            <a:endParaRPr lang="en-US" b="1" dirty="0">
              <a:solidFill>
                <a:schemeClr val="accent3">
                  <a:lumMod val="75000"/>
                </a:schemeClr>
              </a:solidFill>
            </a:endParaRPr>
          </a:p>
        </p:txBody>
      </p:sp>
      <p:sp>
        <p:nvSpPr>
          <p:cNvPr id="58" name="TextBox 57"/>
          <p:cNvSpPr txBox="1"/>
          <p:nvPr/>
        </p:nvSpPr>
        <p:spPr>
          <a:xfrm>
            <a:off x="1620971" y="5216641"/>
            <a:ext cx="457200" cy="400110"/>
          </a:xfrm>
          <a:prstGeom prst="rect">
            <a:avLst/>
          </a:prstGeom>
          <a:noFill/>
        </p:spPr>
        <p:txBody>
          <a:bodyPr wrap="square" rtlCol="0">
            <a:spAutoFit/>
          </a:bodyPr>
          <a:lstStyle/>
          <a:p>
            <a:pPr algn="ctr"/>
            <a:r>
              <a:rPr lang="en-IN" sz="2000" b="1" dirty="0">
                <a:solidFill>
                  <a:schemeClr val="bg1"/>
                </a:solidFill>
              </a:rPr>
              <a:t>B</a:t>
            </a:r>
            <a:endParaRPr lang="en-US" sz="2000" b="1" dirty="0">
              <a:solidFill>
                <a:schemeClr val="bg1"/>
              </a:solidFill>
            </a:endParaRPr>
          </a:p>
        </p:txBody>
      </p:sp>
      <p:cxnSp>
        <p:nvCxnSpPr>
          <p:cNvPr id="60" name="Straight Connector 59"/>
          <p:cNvCxnSpPr/>
          <p:nvPr/>
        </p:nvCxnSpPr>
        <p:spPr>
          <a:xfrm>
            <a:off x="3449771" y="1618130"/>
            <a:ext cx="0" cy="4572000"/>
          </a:xfrm>
          <a:prstGeom prst="line">
            <a:avLst/>
          </a:prstGeom>
        </p:spPr>
        <p:style>
          <a:lnRef idx="2">
            <a:schemeClr val="dk1"/>
          </a:lnRef>
          <a:fillRef idx="0">
            <a:schemeClr val="dk1"/>
          </a:fillRef>
          <a:effectRef idx="1">
            <a:schemeClr val="dk1"/>
          </a:effectRef>
          <a:fontRef idx="minor">
            <a:schemeClr val="tx1"/>
          </a:fontRef>
        </p:style>
      </p:cxnSp>
      <p:sp>
        <p:nvSpPr>
          <p:cNvPr id="63" name="TextBox 62"/>
          <p:cNvSpPr txBox="1"/>
          <p:nvPr/>
        </p:nvSpPr>
        <p:spPr>
          <a:xfrm>
            <a:off x="4135571" y="1618130"/>
            <a:ext cx="1828800" cy="369332"/>
          </a:xfrm>
          <a:prstGeom prst="rect">
            <a:avLst/>
          </a:prstGeom>
          <a:noFill/>
        </p:spPr>
        <p:txBody>
          <a:bodyPr wrap="square" rtlCol="0">
            <a:spAutoFit/>
          </a:bodyPr>
          <a:lstStyle/>
          <a:p>
            <a:pPr algn="ctr"/>
            <a:r>
              <a:rPr lang="en-IN" b="1" dirty="0"/>
              <a:t>Insert ‘C’</a:t>
            </a:r>
            <a:endParaRPr lang="en-US" b="1" dirty="0"/>
          </a:p>
        </p:txBody>
      </p:sp>
      <p:cxnSp>
        <p:nvCxnSpPr>
          <p:cNvPr id="64" name="Straight Connector 63"/>
          <p:cNvCxnSpPr/>
          <p:nvPr/>
        </p:nvCxnSpPr>
        <p:spPr>
          <a:xfrm>
            <a:off x="3449771" y="3142130"/>
            <a:ext cx="2971800" cy="0"/>
          </a:xfrm>
          <a:prstGeom prst="line">
            <a:avLst/>
          </a:prstGeom>
        </p:spPr>
        <p:style>
          <a:lnRef idx="2">
            <a:schemeClr val="dk1"/>
          </a:lnRef>
          <a:fillRef idx="0">
            <a:schemeClr val="dk1"/>
          </a:fillRef>
          <a:effectRef idx="1">
            <a:schemeClr val="dk1"/>
          </a:effectRef>
          <a:fontRef idx="minor">
            <a:schemeClr val="tx1"/>
          </a:fontRef>
        </p:style>
      </p:cxnSp>
      <p:cxnSp>
        <p:nvCxnSpPr>
          <p:cNvPr id="65" name="Straight Connector 64"/>
          <p:cNvCxnSpPr/>
          <p:nvPr/>
        </p:nvCxnSpPr>
        <p:spPr>
          <a:xfrm>
            <a:off x="6421571" y="1618130"/>
            <a:ext cx="0" cy="4572000"/>
          </a:xfrm>
          <a:prstGeom prst="line">
            <a:avLst/>
          </a:prstGeom>
        </p:spPr>
        <p:style>
          <a:lnRef idx="2">
            <a:schemeClr val="dk1"/>
          </a:lnRef>
          <a:fillRef idx="0">
            <a:schemeClr val="dk1"/>
          </a:fillRef>
          <a:effectRef idx="1">
            <a:schemeClr val="dk1"/>
          </a:effectRef>
          <a:fontRef idx="minor">
            <a:schemeClr val="tx1"/>
          </a:fontRef>
        </p:style>
      </p:cxnSp>
      <p:cxnSp>
        <p:nvCxnSpPr>
          <p:cNvPr id="66" name="Straight Connector 65"/>
          <p:cNvCxnSpPr/>
          <p:nvPr/>
        </p:nvCxnSpPr>
        <p:spPr>
          <a:xfrm>
            <a:off x="6421571" y="3142130"/>
            <a:ext cx="2971800" cy="0"/>
          </a:xfrm>
          <a:prstGeom prst="line">
            <a:avLst/>
          </a:prstGeom>
        </p:spPr>
        <p:style>
          <a:lnRef idx="2">
            <a:schemeClr val="dk1"/>
          </a:lnRef>
          <a:fillRef idx="0">
            <a:schemeClr val="dk1"/>
          </a:fillRef>
          <a:effectRef idx="1">
            <a:schemeClr val="dk1"/>
          </a:effectRef>
          <a:fontRef idx="minor">
            <a:schemeClr val="tx1"/>
          </a:fontRef>
        </p:style>
      </p:cxnSp>
      <p:grpSp>
        <p:nvGrpSpPr>
          <p:cNvPr id="67" name="Group 66"/>
          <p:cNvGrpSpPr/>
          <p:nvPr/>
        </p:nvGrpSpPr>
        <p:grpSpPr>
          <a:xfrm>
            <a:off x="4135571" y="2075330"/>
            <a:ext cx="1828800" cy="381000"/>
            <a:chOff x="381000" y="1219200"/>
            <a:chExt cx="1828800" cy="381000"/>
          </a:xfrm>
        </p:grpSpPr>
        <p:sp>
          <p:nvSpPr>
            <p:cNvPr id="68" name="Rectangle 67"/>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2" name="TextBox 71"/>
          <p:cNvSpPr txBox="1"/>
          <p:nvPr/>
        </p:nvSpPr>
        <p:spPr>
          <a:xfrm>
            <a:off x="4135571" y="2075330"/>
            <a:ext cx="457200" cy="400110"/>
          </a:xfrm>
          <a:prstGeom prst="rect">
            <a:avLst/>
          </a:prstGeom>
          <a:noFill/>
        </p:spPr>
        <p:txBody>
          <a:bodyPr wrap="square" rtlCol="0">
            <a:spAutoFit/>
          </a:bodyPr>
          <a:lstStyle/>
          <a:p>
            <a:pPr algn="ctr"/>
            <a:r>
              <a:rPr lang="en-IN" sz="2000" b="1" dirty="0">
                <a:solidFill>
                  <a:schemeClr val="bg1"/>
                </a:solidFill>
              </a:rPr>
              <a:t>A</a:t>
            </a:r>
            <a:endParaRPr lang="en-US" sz="2000" b="1" dirty="0">
              <a:solidFill>
                <a:schemeClr val="bg1"/>
              </a:solidFill>
            </a:endParaRPr>
          </a:p>
        </p:txBody>
      </p:sp>
      <p:sp>
        <p:nvSpPr>
          <p:cNvPr id="73" name="TextBox 72"/>
          <p:cNvSpPr txBox="1"/>
          <p:nvPr/>
        </p:nvSpPr>
        <p:spPr>
          <a:xfrm>
            <a:off x="4592771" y="2075330"/>
            <a:ext cx="457200" cy="400110"/>
          </a:xfrm>
          <a:prstGeom prst="rect">
            <a:avLst/>
          </a:prstGeom>
          <a:noFill/>
        </p:spPr>
        <p:txBody>
          <a:bodyPr wrap="square" rtlCol="0">
            <a:spAutoFit/>
          </a:bodyPr>
          <a:lstStyle/>
          <a:p>
            <a:pPr algn="ctr"/>
            <a:r>
              <a:rPr lang="en-IN" sz="2000" b="1" dirty="0">
                <a:solidFill>
                  <a:schemeClr val="bg1"/>
                </a:solidFill>
              </a:rPr>
              <a:t>B</a:t>
            </a:r>
            <a:endParaRPr lang="en-US" sz="2000" b="1" dirty="0">
              <a:solidFill>
                <a:schemeClr val="bg1"/>
              </a:solidFill>
            </a:endParaRPr>
          </a:p>
        </p:txBody>
      </p:sp>
      <p:grpSp>
        <p:nvGrpSpPr>
          <p:cNvPr id="74" name="Group 73"/>
          <p:cNvGrpSpPr/>
          <p:nvPr/>
        </p:nvGrpSpPr>
        <p:grpSpPr>
          <a:xfrm>
            <a:off x="1140394" y="5629732"/>
            <a:ext cx="293670" cy="572201"/>
            <a:chOff x="774733" y="1681843"/>
            <a:chExt cx="293670" cy="629422"/>
          </a:xfrm>
        </p:grpSpPr>
        <p:sp>
          <p:nvSpPr>
            <p:cNvPr id="75" name="TextBox 74"/>
            <p:cNvSpPr txBox="1"/>
            <p:nvPr/>
          </p:nvSpPr>
          <p:spPr>
            <a:xfrm>
              <a:off x="774733" y="1905000"/>
              <a:ext cx="293670" cy="406265"/>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76" name="Straight Arrow Connector 75"/>
            <p:cNvCxnSpPr>
              <a:stCxn id="75" idx="0"/>
            </p:cNvCxnSpPr>
            <p:nvPr/>
          </p:nvCxnSpPr>
          <p:spPr>
            <a:xfrm flipV="1">
              <a:off x="921568" y="1681843"/>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77" name="Group 76"/>
          <p:cNvGrpSpPr/>
          <p:nvPr/>
        </p:nvGrpSpPr>
        <p:grpSpPr>
          <a:xfrm>
            <a:off x="4682170" y="2478103"/>
            <a:ext cx="314510" cy="592488"/>
            <a:chOff x="764313" y="1681844"/>
            <a:chExt cx="314510" cy="592488"/>
          </a:xfrm>
        </p:grpSpPr>
        <p:sp>
          <p:nvSpPr>
            <p:cNvPr id="78" name="TextBox 77"/>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79" name="Straight Arrow Connector 78"/>
            <p:cNvCxnSpPr>
              <a:stCxn id="78"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80" name="TextBox 79"/>
          <p:cNvSpPr txBox="1"/>
          <p:nvPr/>
        </p:nvSpPr>
        <p:spPr>
          <a:xfrm>
            <a:off x="3493315" y="1661675"/>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F=1</a:t>
            </a:r>
          </a:p>
        </p:txBody>
      </p:sp>
      <p:sp>
        <p:nvSpPr>
          <p:cNvPr id="82" name="TextBox 81"/>
          <p:cNvSpPr txBox="1"/>
          <p:nvPr/>
        </p:nvSpPr>
        <p:spPr>
          <a:xfrm>
            <a:off x="5049971" y="2075330"/>
            <a:ext cx="457200"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grpSp>
        <p:nvGrpSpPr>
          <p:cNvPr id="83" name="Group 82"/>
          <p:cNvGrpSpPr/>
          <p:nvPr/>
        </p:nvGrpSpPr>
        <p:grpSpPr>
          <a:xfrm>
            <a:off x="4135571" y="3641309"/>
            <a:ext cx="1828800" cy="381000"/>
            <a:chOff x="381000" y="1219200"/>
            <a:chExt cx="1828800" cy="381000"/>
          </a:xfrm>
        </p:grpSpPr>
        <p:sp>
          <p:nvSpPr>
            <p:cNvPr id="84" name="Rectangle 83"/>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Rectangle 84"/>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Rectangle 85"/>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8" name="TextBox 87"/>
          <p:cNvSpPr txBox="1"/>
          <p:nvPr/>
        </p:nvSpPr>
        <p:spPr>
          <a:xfrm>
            <a:off x="4124685" y="3271977"/>
            <a:ext cx="1828800" cy="369332"/>
          </a:xfrm>
          <a:prstGeom prst="rect">
            <a:avLst/>
          </a:prstGeom>
          <a:noFill/>
        </p:spPr>
        <p:txBody>
          <a:bodyPr wrap="square" rtlCol="0">
            <a:spAutoFit/>
          </a:bodyPr>
          <a:lstStyle/>
          <a:p>
            <a:pPr algn="ctr"/>
            <a:r>
              <a:rPr lang="en-IN" b="1" dirty="0"/>
              <a:t>Delete ‘A’</a:t>
            </a:r>
            <a:endParaRPr lang="en-US" b="1" dirty="0"/>
          </a:p>
        </p:txBody>
      </p:sp>
      <p:sp>
        <p:nvSpPr>
          <p:cNvPr id="89" name="TextBox 88"/>
          <p:cNvSpPr txBox="1"/>
          <p:nvPr/>
        </p:nvSpPr>
        <p:spPr>
          <a:xfrm>
            <a:off x="4124685" y="3631986"/>
            <a:ext cx="457200" cy="400110"/>
          </a:xfrm>
          <a:prstGeom prst="rect">
            <a:avLst/>
          </a:prstGeom>
          <a:noFill/>
        </p:spPr>
        <p:txBody>
          <a:bodyPr wrap="square" rtlCol="0">
            <a:spAutoFit/>
          </a:bodyPr>
          <a:lstStyle/>
          <a:p>
            <a:pPr algn="ctr"/>
            <a:r>
              <a:rPr lang="en-IN" sz="2000" b="1" dirty="0">
                <a:solidFill>
                  <a:schemeClr val="bg1"/>
                </a:solidFill>
              </a:rPr>
              <a:t>A</a:t>
            </a:r>
            <a:endParaRPr lang="en-US" sz="2000" b="1" dirty="0">
              <a:solidFill>
                <a:schemeClr val="bg1"/>
              </a:solidFill>
            </a:endParaRPr>
          </a:p>
        </p:txBody>
      </p:sp>
      <p:sp>
        <p:nvSpPr>
          <p:cNvPr id="90" name="TextBox 89"/>
          <p:cNvSpPr txBox="1"/>
          <p:nvPr/>
        </p:nvSpPr>
        <p:spPr>
          <a:xfrm>
            <a:off x="4592771" y="3631988"/>
            <a:ext cx="457200" cy="400110"/>
          </a:xfrm>
          <a:prstGeom prst="rect">
            <a:avLst/>
          </a:prstGeom>
          <a:noFill/>
        </p:spPr>
        <p:txBody>
          <a:bodyPr wrap="square" rtlCol="0">
            <a:spAutoFit/>
          </a:bodyPr>
          <a:lstStyle/>
          <a:p>
            <a:pPr algn="ctr"/>
            <a:r>
              <a:rPr lang="en-IN" sz="2000" b="1" dirty="0">
                <a:solidFill>
                  <a:schemeClr val="bg1"/>
                </a:solidFill>
              </a:rPr>
              <a:t>B</a:t>
            </a:r>
            <a:endParaRPr lang="en-US" sz="2000" b="1" dirty="0">
              <a:solidFill>
                <a:schemeClr val="bg1"/>
              </a:solidFill>
            </a:endParaRPr>
          </a:p>
        </p:txBody>
      </p:sp>
      <p:sp>
        <p:nvSpPr>
          <p:cNvPr id="91" name="TextBox 90"/>
          <p:cNvSpPr txBox="1"/>
          <p:nvPr/>
        </p:nvSpPr>
        <p:spPr>
          <a:xfrm>
            <a:off x="5049971" y="3631988"/>
            <a:ext cx="457200"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grpSp>
        <p:nvGrpSpPr>
          <p:cNvPr id="92" name="Group 91"/>
          <p:cNvGrpSpPr/>
          <p:nvPr/>
        </p:nvGrpSpPr>
        <p:grpSpPr>
          <a:xfrm>
            <a:off x="4210168" y="4040984"/>
            <a:ext cx="293670" cy="592488"/>
            <a:chOff x="774733" y="1681844"/>
            <a:chExt cx="293670" cy="592488"/>
          </a:xfrm>
        </p:grpSpPr>
        <p:sp>
          <p:nvSpPr>
            <p:cNvPr id="93" name="TextBox 92"/>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94" name="Straight Arrow Connector 93"/>
            <p:cNvCxnSpPr>
              <a:stCxn id="9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95" name="Group 94"/>
          <p:cNvGrpSpPr/>
          <p:nvPr/>
        </p:nvGrpSpPr>
        <p:grpSpPr>
          <a:xfrm>
            <a:off x="5128484" y="4056531"/>
            <a:ext cx="314510" cy="592488"/>
            <a:chOff x="764313" y="1681844"/>
            <a:chExt cx="314510" cy="592488"/>
          </a:xfrm>
        </p:grpSpPr>
        <p:sp>
          <p:nvSpPr>
            <p:cNvPr id="96" name="TextBox 95"/>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97" name="Straight Arrow Connector 96"/>
            <p:cNvCxnSpPr>
              <a:stCxn id="96"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98" name="TextBox 97"/>
          <p:cNvSpPr txBox="1"/>
          <p:nvPr/>
        </p:nvSpPr>
        <p:spPr>
          <a:xfrm>
            <a:off x="3493315" y="3186495"/>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F=2</a:t>
            </a:r>
          </a:p>
        </p:txBody>
      </p:sp>
      <p:cxnSp>
        <p:nvCxnSpPr>
          <p:cNvPr id="99" name="Straight Connector 98"/>
          <p:cNvCxnSpPr/>
          <p:nvPr/>
        </p:nvCxnSpPr>
        <p:spPr>
          <a:xfrm>
            <a:off x="34497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00" name="TextBox 99"/>
          <p:cNvSpPr txBox="1"/>
          <p:nvPr/>
        </p:nvSpPr>
        <p:spPr>
          <a:xfrm>
            <a:off x="4218939" y="4742330"/>
            <a:ext cx="1828800" cy="369332"/>
          </a:xfrm>
          <a:prstGeom prst="rect">
            <a:avLst/>
          </a:prstGeom>
          <a:noFill/>
        </p:spPr>
        <p:txBody>
          <a:bodyPr wrap="square" rtlCol="0">
            <a:spAutoFit/>
          </a:bodyPr>
          <a:lstStyle/>
          <a:p>
            <a:pPr algn="ctr"/>
            <a:r>
              <a:rPr lang="en-IN" b="1" dirty="0"/>
              <a:t>Delete ‘B’</a:t>
            </a:r>
            <a:endParaRPr lang="en-US" b="1" dirty="0"/>
          </a:p>
        </p:txBody>
      </p:sp>
      <p:grpSp>
        <p:nvGrpSpPr>
          <p:cNvPr id="101" name="Group 100"/>
          <p:cNvGrpSpPr/>
          <p:nvPr/>
        </p:nvGrpSpPr>
        <p:grpSpPr>
          <a:xfrm>
            <a:off x="4218939" y="5201528"/>
            <a:ext cx="1828800" cy="381000"/>
            <a:chOff x="381000" y="1219200"/>
            <a:chExt cx="1828800" cy="381000"/>
          </a:xfrm>
        </p:grpSpPr>
        <p:sp>
          <p:nvSpPr>
            <p:cNvPr id="102" name="Rectangle 101"/>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Rectangle 102"/>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6" name="TextBox 105"/>
          <p:cNvSpPr txBox="1"/>
          <p:nvPr/>
        </p:nvSpPr>
        <p:spPr>
          <a:xfrm>
            <a:off x="4671285" y="5199532"/>
            <a:ext cx="451169" cy="400110"/>
          </a:xfrm>
          <a:prstGeom prst="rect">
            <a:avLst/>
          </a:prstGeom>
          <a:noFill/>
        </p:spPr>
        <p:txBody>
          <a:bodyPr wrap="square" rtlCol="0">
            <a:spAutoFit/>
          </a:bodyPr>
          <a:lstStyle/>
          <a:p>
            <a:pPr algn="ctr"/>
            <a:r>
              <a:rPr lang="en-IN" sz="2000" b="1" dirty="0">
                <a:solidFill>
                  <a:schemeClr val="bg1"/>
                </a:solidFill>
              </a:rPr>
              <a:t>B</a:t>
            </a:r>
            <a:endParaRPr lang="en-US" sz="2000" b="1" dirty="0">
              <a:solidFill>
                <a:schemeClr val="bg1"/>
              </a:solidFill>
            </a:endParaRPr>
          </a:p>
        </p:txBody>
      </p:sp>
      <p:sp>
        <p:nvSpPr>
          <p:cNvPr id="107" name="TextBox 106"/>
          <p:cNvSpPr txBox="1"/>
          <p:nvPr/>
        </p:nvSpPr>
        <p:spPr>
          <a:xfrm>
            <a:off x="5128485" y="5189611"/>
            <a:ext cx="451169"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grpSp>
        <p:nvGrpSpPr>
          <p:cNvPr id="108" name="Group 107"/>
          <p:cNvGrpSpPr/>
          <p:nvPr/>
        </p:nvGrpSpPr>
        <p:grpSpPr>
          <a:xfrm>
            <a:off x="5232485" y="5589721"/>
            <a:ext cx="314510" cy="592488"/>
            <a:chOff x="764313" y="1681844"/>
            <a:chExt cx="314510" cy="592488"/>
          </a:xfrm>
        </p:grpSpPr>
        <p:sp>
          <p:nvSpPr>
            <p:cNvPr id="109" name="TextBox 108"/>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10" name="Straight Arrow Connector 109"/>
            <p:cNvCxnSpPr>
              <a:stCxn id="109"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11" name="Group 110"/>
          <p:cNvGrpSpPr/>
          <p:nvPr/>
        </p:nvGrpSpPr>
        <p:grpSpPr>
          <a:xfrm>
            <a:off x="4755591" y="5591416"/>
            <a:ext cx="293670" cy="592488"/>
            <a:chOff x="774733" y="1681844"/>
            <a:chExt cx="293670" cy="592488"/>
          </a:xfrm>
        </p:grpSpPr>
        <p:sp>
          <p:nvSpPr>
            <p:cNvPr id="112" name="TextBox 111"/>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13" name="Straight Arrow Connector 112"/>
            <p:cNvCxnSpPr>
              <a:stCxn id="112"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14" name="TextBox 113"/>
          <p:cNvSpPr txBox="1"/>
          <p:nvPr/>
        </p:nvSpPr>
        <p:spPr>
          <a:xfrm>
            <a:off x="3525971" y="4705600"/>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F=3</a:t>
            </a:r>
          </a:p>
        </p:txBody>
      </p:sp>
      <p:sp>
        <p:nvSpPr>
          <p:cNvPr id="115" name="TextBox 114"/>
          <p:cNvSpPr txBox="1"/>
          <p:nvPr/>
        </p:nvSpPr>
        <p:spPr>
          <a:xfrm>
            <a:off x="7259771" y="1618130"/>
            <a:ext cx="1828800" cy="369332"/>
          </a:xfrm>
          <a:prstGeom prst="rect">
            <a:avLst/>
          </a:prstGeom>
          <a:noFill/>
        </p:spPr>
        <p:txBody>
          <a:bodyPr wrap="square" rtlCol="0">
            <a:spAutoFit/>
          </a:bodyPr>
          <a:lstStyle/>
          <a:p>
            <a:pPr algn="ctr"/>
            <a:r>
              <a:rPr lang="en-IN" b="1" dirty="0"/>
              <a:t>Insert ‘D’</a:t>
            </a:r>
            <a:endParaRPr lang="en-US" b="1" dirty="0"/>
          </a:p>
        </p:txBody>
      </p:sp>
      <p:grpSp>
        <p:nvGrpSpPr>
          <p:cNvPr id="116" name="Group 115"/>
          <p:cNvGrpSpPr/>
          <p:nvPr/>
        </p:nvGrpSpPr>
        <p:grpSpPr>
          <a:xfrm>
            <a:off x="7335971" y="2054341"/>
            <a:ext cx="1828800" cy="381000"/>
            <a:chOff x="381000" y="1219200"/>
            <a:chExt cx="1828800" cy="381000"/>
          </a:xfrm>
        </p:grpSpPr>
        <p:sp>
          <p:nvSpPr>
            <p:cNvPr id="117" name="Rectangle 116"/>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Rectangle 117"/>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9" name="Rectangle 118"/>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Rectangle 119"/>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1" name="Group 120"/>
          <p:cNvGrpSpPr/>
          <p:nvPr/>
        </p:nvGrpSpPr>
        <p:grpSpPr>
          <a:xfrm>
            <a:off x="8226997" y="2451512"/>
            <a:ext cx="293670" cy="592488"/>
            <a:chOff x="774733" y="1681844"/>
            <a:chExt cx="293670" cy="592488"/>
          </a:xfrm>
        </p:grpSpPr>
        <p:sp>
          <p:nvSpPr>
            <p:cNvPr id="122" name="TextBox 121"/>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23" name="Straight Arrow Connector 122"/>
            <p:cNvCxnSpPr>
              <a:stCxn id="122"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24" name="Group 123"/>
          <p:cNvGrpSpPr/>
          <p:nvPr/>
        </p:nvGrpSpPr>
        <p:grpSpPr>
          <a:xfrm>
            <a:off x="8434292" y="2440784"/>
            <a:ext cx="314510" cy="592488"/>
            <a:chOff x="764313" y="1681844"/>
            <a:chExt cx="314510" cy="592488"/>
          </a:xfrm>
        </p:grpSpPr>
        <p:sp>
          <p:nvSpPr>
            <p:cNvPr id="125" name="TextBox 124"/>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26" name="Straight Arrow Connector 125"/>
            <p:cNvCxnSpPr>
              <a:stCxn id="125"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27" name="TextBox 126"/>
          <p:cNvSpPr txBox="1"/>
          <p:nvPr/>
        </p:nvSpPr>
        <p:spPr>
          <a:xfrm>
            <a:off x="8250371" y="2054341"/>
            <a:ext cx="457200"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sp>
        <p:nvSpPr>
          <p:cNvPr id="128" name="TextBox 127"/>
          <p:cNvSpPr txBox="1"/>
          <p:nvPr/>
        </p:nvSpPr>
        <p:spPr>
          <a:xfrm>
            <a:off x="6497771" y="1635437"/>
            <a:ext cx="542136" cy="646331"/>
          </a:xfrm>
          <a:prstGeom prst="rect">
            <a:avLst/>
          </a:prstGeom>
          <a:noFill/>
        </p:spPr>
        <p:txBody>
          <a:bodyPr wrap="none" rtlCol="0">
            <a:spAutoFit/>
          </a:bodyPr>
          <a:lstStyle/>
          <a:p>
            <a:r>
              <a:rPr lang="en-IN" b="1" dirty="0">
                <a:solidFill>
                  <a:schemeClr val="accent3">
                    <a:lumMod val="75000"/>
                  </a:schemeClr>
                </a:solidFill>
              </a:rPr>
              <a:t>R=4</a:t>
            </a:r>
          </a:p>
          <a:p>
            <a:r>
              <a:rPr lang="en-IN" b="1" dirty="0">
                <a:solidFill>
                  <a:schemeClr val="accent3">
                    <a:lumMod val="75000"/>
                  </a:schemeClr>
                </a:solidFill>
              </a:rPr>
              <a:t>F=3</a:t>
            </a:r>
          </a:p>
        </p:txBody>
      </p:sp>
      <p:sp>
        <p:nvSpPr>
          <p:cNvPr id="130" name="TextBox 129"/>
          <p:cNvSpPr txBox="1"/>
          <p:nvPr/>
        </p:nvSpPr>
        <p:spPr>
          <a:xfrm>
            <a:off x="8707571" y="2054341"/>
            <a:ext cx="457200" cy="400110"/>
          </a:xfrm>
          <a:prstGeom prst="rect">
            <a:avLst/>
          </a:prstGeom>
          <a:noFill/>
        </p:spPr>
        <p:txBody>
          <a:bodyPr wrap="square" rtlCol="0">
            <a:spAutoFit/>
          </a:bodyPr>
          <a:lstStyle/>
          <a:p>
            <a:pPr algn="ctr"/>
            <a:r>
              <a:rPr lang="en-IN" sz="2000" b="1" dirty="0">
                <a:solidFill>
                  <a:schemeClr val="bg1"/>
                </a:solidFill>
              </a:rPr>
              <a:t>D</a:t>
            </a:r>
            <a:endParaRPr lang="en-US" sz="2000" b="1" dirty="0">
              <a:solidFill>
                <a:schemeClr val="bg1"/>
              </a:solidFill>
            </a:endParaRPr>
          </a:p>
        </p:txBody>
      </p:sp>
      <p:sp>
        <p:nvSpPr>
          <p:cNvPr id="131" name="TextBox 130"/>
          <p:cNvSpPr txBox="1"/>
          <p:nvPr/>
        </p:nvSpPr>
        <p:spPr>
          <a:xfrm>
            <a:off x="7354293" y="3270954"/>
            <a:ext cx="1828800" cy="369332"/>
          </a:xfrm>
          <a:prstGeom prst="rect">
            <a:avLst/>
          </a:prstGeom>
          <a:noFill/>
        </p:spPr>
        <p:txBody>
          <a:bodyPr wrap="square" rtlCol="0">
            <a:spAutoFit/>
          </a:bodyPr>
          <a:lstStyle/>
          <a:p>
            <a:pPr algn="ctr"/>
            <a:r>
              <a:rPr lang="en-IN" b="1" dirty="0"/>
              <a:t>Insert ‘E’</a:t>
            </a:r>
            <a:endParaRPr lang="en-US" b="1" dirty="0"/>
          </a:p>
        </p:txBody>
      </p:sp>
      <p:grpSp>
        <p:nvGrpSpPr>
          <p:cNvPr id="132" name="Group 131"/>
          <p:cNvGrpSpPr/>
          <p:nvPr/>
        </p:nvGrpSpPr>
        <p:grpSpPr>
          <a:xfrm>
            <a:off x="8850261" y="4040984"/>
            <a:ext cx="314510" cy="592488"/>
            <a:chOff x="764313" y="1681844"/>
            <a:chExt cx="314510" cy="592488"/>
          </a:xfrm>
        </p:grpSpPr>
        <p:sp>
          <p:nvSpPr>
            <p:cNvPr id="133" name="TextBox 132"/>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34" name="Straight Arrow Connector 133"/>
            <p:cNvCxnSpPr>
              <a:stCxn id="13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35" name="Group 134"/>
          <p:cNvGrpSpPr/>
          <p:nvPr/>
        </p:nvGrpSpPr>
        <p:grpSpPr>
          <a:xfrm>
            <a:off x="8403481" y="4045644"/>
            <a:ext cx="293670" cy="592488"/>
            <a:chOff x="774733" y="1681844"/>
            <a:chExt cx="293670" cy="592488"/>
          </a:xfrm>
        </p:grpSpPr>
        <p:sp>
          <p:nvSpPr>
            <p:cNvPr id="136" name="TextBox 135"/>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37" name="Straight Arrow Connector 136"/>
            <p:cNvCxnSpPr>
              <a:stCxn id="136"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38" name="TextBox 137"/>
          <p:cNvSpPr txBox="1"/>
          <p:nvPr/>
        </p:nvSpPr>
        <p:spPr>
          <a:xfrm>
            <a:off x="8337457" y="3642874"/>
            <a:ext cx="457200"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sp>
        <p:nvSpPr>
          <p:cNvPr id="139" name="TextBox 138"/>
          <p:cNvSpPr txBox="1"/>
          <p:nvPr/>
        </p:nvSpPr>
        <p:spPr>
          <a:xfrm>
            <a:off x="8783771" y="3642874"/>
            <a:ext cx="457200" cy="400110"/>
          </a:xfrm>
          <a:prstGeom prst="rect">
            <a:avLst/>
          </a:prstGeom>
          <a:noFill/>
        </p:spPr>
        <p:txBody>
          <a:bodyPr wrap="square" rtlCol="0">
            <a:spAutoFit/>
          </a:bodyPr>
          <a:lstStyle/>
          <a:p>
            <a:pPr algn="ctr"/>
            <a:r>
              <a:rPr lang="en-IN" sz="2000" b="1" dirty="0">
                <a:solidFill>
                  <a:schemeClr val="bg1"/>
                </a:solidFill>
              </a:rPr>
              <a:t>D</a:t>
            </a:r>
            <a:endParaRPr lang="en-US" sz="2000" b="1" dirty="0">
              <a:solidFill>
                <a:schemeClr val="bg1"/>
              </a:solidFill>
            </a:endParaRPr>
          </a:p>
        </p:txBody>
      </p:sp>
      <p:sp>
        <p:nvSpPr>
          <p:cNvPr id="140" name="TextBox 139"/>
          <p:cNvSpPr txBox="1"/>
          <p:nvPr/>
        </p:nvSpPr>
        <p:spPr>
          <a:xfrm>
            <a:off x="6497771" y="3257800"/>
            <a:ext cx="542136" cy="646331"/>
          </a:xfrm>
          <a:prstGeom prst="rect">
            <a:avLst/>
          </a:prstGeom>
          <a:noFill/>
        </p:spPr>
        <p:txBody>
          <a:bodyPr wrap="none" rtlCol="0">
            <a:spAutoFit/>
          </a:bodyPr>
          <a:lstStyle/>
          <a:p>
            <a:r>
              <a:rPr lang="en-IN" b="1" dirty="0">
                <a:solidFill>
                  <a:schemeClr val="accent3">
                    <a:lumMod val="75000"/>
                  </a:schemeClr>
                </a:solidFill>
              </a:rPr>
              <a:t>R=4</a:t>
            </a:r>
          </a:p>
          <a:p>
            <a:r>
              <a:rPr lang="en-IN" b="1" dirty="0">
                <a:solidFill>
                  <a:schemeClr val="accent3">
                    <a:lumMod val="75000"/>
                  </a:schemeClr>
                </a:solidFill>
              </a:rPr>
              <a:t>F=3</a:t>
            </a:r>
          </a:p>
        </p:txBody>
      </p:sp>
      <p:sp>
        <p:nvSpPr>
          <p:cNvPr id="141" name="TextBox 140"/>
          <p:cNvSpPr txBox="1"/>
          <p:nvPr/>
        </p:nvSpPr>
        <p:spPr>
          <a:xfrm>
            <a:off x="6497771" y="4742330"/>
            <a:ext cx="2895600" cy="369332"/>
          </a:xfrm>
          <a:prstGeom prst="rect">
            <a:avLst/>
          </a:prstGeom>
          <a:noFill/>
        </p:spPr>
        <p:txBody>
          <a:bodyPr wrap="square" rtlCol="0">
            <a:spAutoFit/>
          </a:bodyPr>
          <a:lstStyle/>
          <a:p>
            <a:pPr algn="ctr"/>
            <a:r>
              <a:rPr lang="en-IN" b="1" dirty="0">
                <a:solidFill>
                  <a:srgbClr val="C00000"/>
                </a:solidFill>
              </a:rPr>
              <a:t>(R=4) &gt;= (N=4) (</a:t>
            </a:r>
            <a:r>
              <a:rPr lang="en-IN" sz="1600" b="1" dirty="0">
                <a:solidFill>
                  <a:srgbClr val="C00000"/>
                </a:solidFill>
              </a:rPr>
              <a:t>Size of Queue</a:t>
            </a:r>
            <a:r>
              <a:rPr lang="en-IN" b="1" dirty="0">
                <a:solidFill>
                  <a:srgbClr val="C00000"/>
                </a:solidFill>
              </a:rPr>
              <a:t>)</a:t>
            </a:r>
            <a:endParaRPr lang="en-US" b="1" dirty="0">
              <a:solidFill>
                <a:srgbClr val="C00000"/>
              </a:solidFill>
            </a:endParaRPr>
          </a:p>
        </p:txBody>
      </p:sp>
      <p:sp>
        <p:nvSpPr>
          <p:cNvPr id="142" name="TextBox 141"/>
          <p:cNvSpPr txBox="1"/>
          <p:nvPr/>
        </p:nvSpPr>
        <p:spPr>
          <a:xfrm>
            <a:off x="6497771" y="5047910"/>
            <a:ext cx="2895600" cy="369332"/>
          </a:xfrm>
          <a:prstGeom prst="rect">
            <a:avLst/>
          </a:prstGeom>
          <a:noFill/>
        </p:spPr>
        <p:txBody>
          <a:bodyPr wrap="square" rtlCol="0">
            <a:spAutoFit/>
          </a:bodyPr>
          <a:lstStyle/>
          <a:p>
            <a:pPr algn="ctr"/>
            <a:r>
              <a:rPr lang="en-IN" b="1" dirty="0">
                <a:solidFill>
                  <a:schemeClr val="accent3">
                    <a:lumMod val="50000"/>
                  </a:schemeClr>
                </a:solidFill>
              </a:rPr>
              <a:t>Queue Overflow</a:t>
            </a:r>
            <a:endParaRPr lang="en-US" b="1" dirty="0">
              <a:solidFill>
                <a:schemeClr val="accent3">
                  <a:lumMod val="50000"/>
                </a:schemeClr>
              </a:solidFill>
            </a:endParaRPr>
          </a:p>
        </p:txBody>
      </p:sp>
      <p:cxnSp>
        <p:nvCxnSpPr>
          <p:cNvPr id="143" name="Straight Connector 142"/>
          <p:cNvCxnSpPr/>
          <p:nvPr/>
        </p:nvCxnSpPr>
        <p:spPr>
          <a:xfrm>
            <a:off x="6421571" y="466613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44" name="TextBox 143"/>
          <p:cNvSpPr txBox="1"/>
          <p:nvPr/>
        </p:nvSpPr>
        <p:spPr>
          <a:xfrm>
            <a:off x="6497771" y="5439017"/>
            <a:ext cx="2895600" cy="830997"/>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sz="1600" b="1" dirty="0"/>
              <a:t>Queue Overflow, but space is there with Queue, this leads to the memory wastage</a:t>
            </a:r>
            <a:endParaRPr lang="en-US" sz="1600" b="1" dirty="0"/>
          </a:p>
        </p:txBody>
      </p:sp>
    </p:spTree>
    <p:extLst>
      <p:ext uri="{BB962C8B-B14F-4D97-AF65-F5344CB8AC3E}">
        <p14:creationId xmlns:p14="http://schemas.microsoft.com/office/powerpoint/2010/main" val="48260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6.25E-7 4.07407E-6 L 0.05521 4.07407E-6 " pathEditMode="relative" rAng="0" ptsTypes="AA">
                                      <p:cBhvr>
                                        <p:cTn id="48" dur="2000" fill="hold"/>
                                        <p:tgtEl>
                                          <p:spTgt spid="42"/>
                                        </p:tgtEl>
                                        <p:attrNameLst>
                                          <p:attrName>ppt_x</p:attrName>
                                          <p:attrName>ppt_y</p:attrName>
                                        </p:attrNameLst>
                                      </p:cBhvr>
                                      <p:rCtr x="2760"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47"/>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3.95833E-6 1.11022E-16 L 0.05768 1.11022E-16 " pathEditMode="relative" rAng="0" ptsTypes="AA">
                                      <p:cBhvr>
                                        <p:cTn id="60" dur="2000" fill="hold"/>
                                        <p:tgtEl>
                                          <p:spTgt spid="39"/>
                                        </p:tgtEl>
                                        <p:attrNameLst>
                                          <p:attrName>ppt_x</p:attrName>
                                          <p:attrName>ppt_y</p:attrName>
                                        </p:attrNameLst>
                                      </p:cBhvr>
                                      <p:rCtr x="2878" y="0"/>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6"/>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48"/>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5"/>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56"/>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74"/>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53"/>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63" presetClass="path" presetSubtype="0" accel="50000" decel="50000" fill="hold" nodeType="clickEffect">
                                  <p:stCondLst>
                                    <p:cond delay="0"/>
                                  </p:stCondLst>
                                  <p:childTnLst>
                                    <p:animMotion origin="layout" path="M 1.04167E-6 -2.96296E-6 L 0.03216 -2.96296E-6 " pathEditMode="relative" rAng="0" ptsTypes="AA">
                                      <p:cBhvr>
                                        <p:cTn id="86" dur="2000" fill="hold"/>
                                        <p:tgtEl>
                                          <p:spTgt spid="53"/>
                                        </p:tgtEl>
                                        <p:attrNameLst>
                                          <p:attrName>ppt_x</p:attrName>
                                          <p:attrName>ppt_y</p:attrName>
                                        </p:attrNameLst>
                                      </p:cBhvr>
                                      <p:rCtr x="1602" y="0"/>
                                    </p:animMotion>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5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58"/>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60"/>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63"/>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72"/>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73"/>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67"/>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50"/>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7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nodeType="clickEffect">
                                  <p:stCondLst>
                                    <p:cond delay="0"/>
                                  </p:stCondLst>
                                  <p:childTnLst>
                                    <p:animMotion origin="layout" path="M -2.29167E-6 1.85185E-6 L 0.04024 1.85185E-6 " pathEditMode="relative" rAng="0" ptsTypes="AA">
                                      <p:cBhvr>
                                        <p:cTn id="118" dur="2000" fill="hold"/>
                                        <p:tgtEl>
                                          <p:spTgt spid="77"/>
                                        </p:tgtEl>
                                        <p:attrNameLst>
                                          <p:attrName>ppt_x</p:attrName>
                                          <p:attrName>ppt_y</p:attrName>
                                        </p:attrNameLst>
                                      </p:cBhvr>
                                      <p:rCtr x="2005" y="0"/>
                                    </p:animMotion>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80"/>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82">
                                            <p:txEl>
                                              <p:pRg st="0" end="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6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88"/>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89"/>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90"/>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91"/>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83"/>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92"/>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95"/>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63" presetClass="path" presetSubtype="0" accel="50000" decel="50000" fill="hold" nodeType="clickEffect">
                                  <p:stCondLst>
                                    <p:cond delay="0"/>
                                  </p:stCondLst>
                                  <p:childTnLst>
                                    <p:animMotion origin="layout" path="M 1.04167E-6 2.59259E-6 L 0.03958 2.59259E-6 " pathEditMode="relative" rAng="0" ptsTypes="AA">
                                      <p:cBhvr>
                                        <p:cTn id="152" dur="2000" fill="hold"/>
                                        <p:tgtEl>
                                          <p:spTgt spid="92"/>
                                        </p:tgtEl>
                                        <p:attrNameLst>
                                          <p:attrName>ppt_x</p:attrName>
                                          <p:attrName>ppt_y</p:attrName>
                                        </p:attrNameLst>
                                      </p:cBhvr>
                                      <p:rCtr x="1979" y="0"/>
                                    </p:animMotion>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98"/>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89"/>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99"/>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100"/>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101"/>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106"/>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107"/>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11"/>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08"/>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63" presetClass="path" presetSubtype="0" accel="50000" decel="50000" fill="hold" nodeType="clickEffect">
                                  <p:stCondLst>
                                    <p:cond delay="0"/>
                                  </p:stCondLst>
                                  <p:childTnLst>
                                    <p:animMotion origin="layout" path="M -1.04167E-6 -3.33333E-6 L 0.02734 -3.33333E-6 " pathEditMode="relative" rAng="0" ptsTypes="AA">
                                      <p:cBhvr>
                                        <p:cTn id="184" dur="2000" fill="hold"/>
                                        <p:tgtEl>
                                          <p:spTgt spid="111"/>
                                        </p:tgtEl>
                                        <p:attrNameLst>
                                          <p:attrName>ppt_x</p:attrName>
                                          <p:attrName>ppt_y</p:attrName>
                                        </p:attrNameLst>
                                      </p:cBhvr>
                                      <p:rCtr x="1354" y="0"/>
                                    </p:animMotion>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114"/>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106"/>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65"/>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115"/>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116"/>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127"/>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121"/>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124"/>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63" presetClass="path" presetSubtype="0" accel="50000" decel="50000" fill="hold" nodeType="clickEffect">
                                  <p:stCondLst>
                                    <p:cond delay="0"/>
                                  </p:stCondLst>
                                  <p:childTnLst>
                                    <p:animMotion origin="layout" path="M 6.25E-7 -4.07407E-6 L 0.0293 -4.07407E-6 " pathEditMode="relative" rAng="0" ptsTypes="AA">
                                      <p:cBhvr>
                                        <p:cTn id="214" dur="2000" fill="hold"/>
                                        <p:tgtEl>
                                          <p:spTgt spid="124"/>
                                        </p:tgtEl>
                                        <p:attrNameLst>
                                          <p:attrName>ppt_x</p:attrName>
                                          <p:attrName>ppt_y</p:attrName>
                                        </p:attrNameLst>
                                      </p:cBhvr>
                                      <p:rCtr x="1628" y="0"/>
                                    </p:animMotion>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128"/>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130"/>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66"/>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131"/>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20"/>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138"/>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139"/>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135"/>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132"/>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1" presetClass="entr" presetSubtype="0" fill="hold" grpId="0" nodeType="clickEffect">
                                  <p:stCondLst>
                                    <p:cond delay="0"/>
                                  </p:stCondLst>
                                  <p:childTnLst>
                                    <p:set>
                                      <p:cBhvr>
                                        <p:cTn id="246" dur="1" fill="hold">
                                          <p:stCondLst>
                                            <p:cond delay="0"/>
                                          </p:stCondLst>
                                        </p:cTn>
                                        <p:tgtEl>
                                          <p:spTgt spid="140"/>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nodeType="clickEffect">
                                  <p:stCondLst>
                                    <p:cond delay="0"/>
                                  </p:stCondLst>
                                  <p:childTnLst>
                                    <p:set>
                                      <p:cBhvr>
                                        <p:cTn id="250" dur="1" fill="hold">
                                          <p:stCondLst>
                                            <p:cond delay="0"/>
                                          </p:stCondLst>
                                        </p:cTn>
                                        <p:tgtEl>
                                          <p:spTgt spid="143"/>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grpId="0" nodeType="clickEffect">
                                  <p:stCondLst>
                                    <p:cond delay="0"/>
                                  </p:stCondLst>
                                  <p:childTnLst>
                                    <p:set>
                                      <p:cBhvr>
                                        <p:cTn id="254" dur="1" fill="hold">
                                          <p:stCondLst>
                                            <p:cond delay="0"/>
                                          </p:stCondLst>
                                        </p:cTn>
                                        <p:tgtEl>
                                          <p:spTgt spid="141"/>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grpId="0" nodeType="clickEffect">
                                  <p:stCondLst>
                                    <p:cond delay="0"/>
                                  </p:stCondLst>
                                  <p:childTnLst>
                                    <p:set>
                                      <p:cBhvr>
                                        <p:cTn id="258" dur="1" fill="hold">
                                          <p:stCondLst>
                                            <p:cond delay="0"/>
                                          </p:stCondLst>
                                        </p:cTn>
                                        <p:tgtEl>
                                          <p:spTgt spid="142"/>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presetID="1" presetClass="entr" presetSubtype="0" fill="hold" grpId="0" nodeType="clickEffect">
                                  <p:stCondLst>
                                    <p:cond delay="0"/>
                                  </p:stCondLst>
                                  <p:childTnLst>
                                    <p:set>
                                      <p:cBhvr>
                                        <p:cTn id="262"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p:bldP spid="34" grpId="0"/>
      <p:bldP spid="35" grpId="0"/>
      <p:bldP spid="38" grpId="0"/>
      <p:bldP spid="45" grpId="0"/>
      <p:bldP spid="46" grpId="0"/>
      <p:bldP spid="47" grpId="0"/>
      <p:bldP spid="49" grpId="0"/>
      <p:bldP spid="56" grpId="0"/>
      <p:bldP spid="57" grpId="0"/>
      <p:bldP spid="58" grpId="0"/>
      <p:bldP spid="63" grpId="0"/>
      <p:bldP spid="72" grpId="0"/>
      <p:bldP spid="73" grpId="0"/>
      <p:bldP spid="80" grpId="0"/>
      <p:bldP spid="88" grpId="0"/>
      <p:bldP spid="89" grpId="0"/>
      <p:bldP spid="89" grpId="1"/>
      <p:bldP spid="90" grpId="0"/>
      <p:bldP spid="91" grpId="0"/>
      <p:bldP spid="98" grpId="0"/>
      <p:bldP spid="100" grpId="0"/>
      <p:bldP spid="106" grpId="0"/>
      <p:bldP spid="106" grpId="1"/>
      <p:bldP spid="107" grpId="0"/>
      <p:bldP spid="114" grpId="0"/>
      <p:bldP spid="115" grpId="0"/>
      <p:bldP spid="127" grpId="0"/>
      <p:bldP spid="128" grpId="0"/>
      <p:bldP spid="130" grpId="0"/>
      <p:bldP spid="131" grpId="0"/>
      <p:bldP spid="138" grpId="0"/>
      <p:bldP spid="139" grpId="0"/>
      <p:bldP spid="140" grpId="0"/>
      <p:bldP spid="141" grpId="0"/>
      <p:bldP spid="142" grpId="0"/>
      <p:bldP spid="14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6F0EA-30D6-4EFE-8F6E-CB0183CA4380}"/>
              </a:ext>
            </a:extLst>
          </p:cNvPr>
          <p:cNvSpPr>
            <a:spLocks noGrp="1"/>
          </p:cNvSpPr>
          <p:nvPr>
            <p:ph type="title"/>
          </p:nvPr>
        </p:nvSpPr>
        <p:spPr/>
        <p:txBody>
          <a:bodyPr/>
          <a:lstStyle/>
          <a:p>
            <a:r>
              <a:rPr lang="en-US" dirty="0"/>
              <a:t>In C programming where index starts from 0</a:t>
            </a:r>
            <a:endParaRPr lang="en-IN" dirty="0"/>
          </a:p>
        </p:txBody>
      </p:sp>
      <p:pic>
        <p:nvPicPr>
          <p:cNvPr id="4" name="Picture 3">
            <a:extLst>
              <a:ext uri="{FF2B5EF4-FFF2-40B4-BE49-F238E27FC236}">
                <a16:creationId xmlns:a16="http://schemas.microsoft.com/office/drawing/2014/main" id="{D94619B8-81ED-4CE5-8A85-1A342E3D889E}"/>
              </a:ext>
            </a:extLst>
          </p:cNvPr>
          <p:cNvPicPr>
            <a:picLocks noChangeAspect="1"/>
          </p:cNvPicPr>
          <p:nvPr/>
        </p:nvPicPr>
        <p:blipFill>
          <a:blip r:embed="rId2"/>
          <a:stretch>
            <a:fillRect/>
          </a:stretch>
        </p:blipFill>
        <p:spPr>
          <a:xfrm>
            <a:off x="76197" y="711200"/>
            <a:ext cx="6494589" cy="5090509"/>
          </a:xfrm>
          <a:prstGeom prst="rect">
            <a:avLst/>
          </a:prstGeom>
        </p:spPr>
      </p:pic>
      <p:pic>
        <p:nvPicPr>
          <p:cNvPr id="5" name="Content Placeholder 4">
            <a:extLst>
              <a:ext uri="{FF2B5EF4-FFF2-40B4-BE49-F238E27FC236}">
                <a16:creationId xmlns:a16="http://schemas.microsoft.com/office/drawing/2014/main" id="{5BC19066-6FF3-450A-AEA6-12257F55985C}"/>
              </a:ext>
            </a:extLst>
          </p:cNvPr>
          <p:cNvPicPr>
            <a:picLocks noGrp="1" noChangeAspect="1"/>
          </p:cNvPicPr>
          <p:nvPr>
            <p:ph idx="1"/>
          </p:nvPr>
        </p:nvPicPr>
        <p:blipFill>
          <a:blip r:embed="rId3"/>
          <a:stretch>
            <a:fillRect/>
          </a:stretch>
        </p:blipFill>
        <p:spPr>
          <a:xfrm>
            <a:off x="6444482" y="721709"/>
            <a:ext cx="5734381" cy="4383284"/>
          </a:xfrm>
          <a:prstGeom prst="rect">
            <a:avLst/>
          </a:prstGeom>
        </p:spPr>
      </p:pic>
    </p:spTree>
    <p:extLst>
      <p:ext uri="{BB962C8B-B14F-4D97-AF65-F5344CB8AC3E}">
        <p14:creationId xmlns:p14="http://schemas.microsoft.com/office/powerpoint/2010/main" val="380638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0A64B-D9DB-4DDD-B388-ADBAC9CAE078}"/>
              </a:ext>
            </a:extLst>
          </p:cNvPr>
          <p:cNvSpPr>
            <a:spLocks noGrp="1"/>
          </p:cNvSpPr>
          <p:nvPr>
            <p:ph type="title"/>
          </p:nvPr>
        </p:nvSpPr>
        <p:spPr/>
        <p:txBody>
          <a:bodyPr/>
          <a:lstStyle/>
          <a:p>
            <a:r>
              <a:rPr lang="en-US" altLang="en-US" dirty="0"/>
              <a:t>Performance and Limitations</a:t>
            </a:r>
            <a:endParaRPr lang="en-IN" dirty="0"/>
          </a:p>
        </p:txBody>
      </p:sp>
      <p:sp>
        <p:nvSpPr>
          <p:cNvPr id="3" name="Content Placeholder 2">
            <a:extLst>
              <a:ext uri="{FF2B5EF4-FFF2-40B4-BE49-F238E27FC236}">
                <a16:creationId xmlns:a16="http://schemas.microsoft.com/office/drawing/2014/main" id="{C1ABEEFE-8B35-4503-BCF1-AD76BD271D26}"/>
              </a:ext>
            </a:extLst>
          </p:cNvPr>
          <p:cNvSpPr>
            <a:spLocks noGrp="1"/>
          </p:cNvSpPr>
          <p:nvPr>
            <p:ph idx="1"/>
          </p:nvPr>
        </p:nvSpPr>
        <p:spPr/>
        <p:txBody>
          <a:bodyPr/>
          <a:lstStyle/>
          <a:p>
            <a:pPr eaLnBrk="1" hangingPunct="1">
              <a:buClr>
                <a:schemeClr val="tx1"/>
              </a:buClr>
            </a:pPr>
            <a:r>
              <a:rPr lang="en-US" altLang="en-US" sz="2800" u="sng" dirty="0"/>
              <a:t>Performance</a:t>
            </a:r>
          </a:p>
          <a:p>
            <a:pPr lvl="1" eaLnBrk="1" hangingPunct="1"/>
            <a:r>
              <a:rPr lang="en-US" altLang="en-US" sz="2400" dirty="0"/>
              <a:t>Let </a:t>
            </a:r>
            <a:r>
              <a:rPr lang="en-US" altLang="en-US" sz="2400" b="1" i="1" dirty="0">
                <a:latin typeface="Times New Roman" panose="02020603050405020304" charset="0"/>
                <a:sym typeface="Symbol" panose="05050102010706020507" pitchFamily="18" charset="2"/>
              </a:rPr>
              <a:t>n</a:t>
            </a:r>
            <a:r>
              <a:rPr lang="en-US" altLang="en-US" sz="2400" dirty="0"/>
              <a:t> be the number of elements in the queue</a:t>
            </a:r>
          </a:p>
          <a:p>
            <a:pPr lvl="1" eaLnBrk="1" hangingPunct="1"/>
            <a:r>
              <a:rPr lang="en-US" altLang="en-US" sz="2400" dirty="0"/>
              <a:t>The space used is </a:t>
            </a:r>
            <a:r>
              <a:rPr lang="en-US" altLang="en-US" sz="2400" b="1" i="1" dirty="0">
                <a:latin typeface="Times New Roman" panose="02020603050405020304" charset="0"/>
                <a:sym typeface="Symbol" panose="05050102010706020507" pitchFamily="18" charset="2"/>
              </a:rPr>
              <a:t>O</a:t>
            </a:r>
            <a:r>
              <a:rPr lang="en-US" altLang="en-US" sz="2400" dirty="0">
                <a:latin typeface="Times New Roman" panose="02020603050405020304" charset="0"/>
                <a:sym typeface="Symbol" panose="05050102010706020507" pitchFamily="18" charset="2"/>
              </a:rPr>
              <a:t>(</a:t>
            </a:r>
            <a:r>
              <a:rPr lang="en-US" altLang="en-US" sz="2400" b="1" i="1" dirty="0">
                <a:latin typeface="Times New Roman" panose="02020603050405020304" charset="0"/>
                <a:sym typeface="Symbol" panose="05050102010706020507" pitchFamily="18" charset="2"/>
              </a:rPr>
              <a:t>n</a:t>
            </a:r>
            <a:r>
              <a:rPr lang="en-US" altLang="en-US" sz="2400" dirty="0">
                <a:latin typeface="Times New Roman" panose="02020603050405020304" charset="0"/>
                <a:sym typeface="Symbol" panose="05050102010706020507" pitchFamily="18" charset="2"/>
              </a:rPr>
              <a:t>)</a:t>
            </a:r>
            <a:endParaRPr lang="en-US" altLang="en-US" sz="2400" dirty="0"/>
          </a:p>
          <a:p>
            <a:pPr lvl="1" eaLnBrk="1" hangingPunct="1"/>
            <a:r>
              <a:rPr lang="en-US" altLang="en-US" sz="2400" dirty="0"/>
              <a:t>Each operation runs in time </a:t>
            </a:r>
            <a:r>
              <a:rPr lang="en-US" altLang="en-US" sz="2400" b="1" i="1" dirty="0">
                <a:latin typeface="Times New Roman" panose="02020603050405020304" charset="0"/>
                <a:sym typeface="Symbol" panose="05050102010706020507" pitchFamily="18" charset="2"/>
              </a:rPr>
              <a:t>O</a:t>
            </a:r>
            <a:r>
              <a:rPr lang="en-US" altLang="en-US" sz="2400" dirty="0">
                <a:latin typeface="Times New Roman" panose="02020603050405020304" charset="0"/>
                <a:sym typeface="Symbol" panose="05050102010706020507" pitchFamily="18" charset="2"/>
              </a:rPr>
              <a:t>(1)</a:t>
            </a:r>
          </a:p>
          <a:p>
            <a:pPr eaLnBrk="1" hangingPunct="1">
              <a:buClr>
                <a:schemeClr val="tx1"/>
              </a:buClr>
            </a:pPr>
            <a:r>
              <a:rPr lang="en-US" altLang="en-US" sz="2800" u="sng" dirty="0"/>
              <a:t>Limitations</a:t>
            </a:r>
          </a:p>
          <a:p>
            <a:pPr lvl="1" eaLnBrk="1" hangingPunct="1"/>
            <a:r>
              <a:rPr lang="en-US" altLang="en-US" sz="2400" dirty="0"/>
              <a:t>The maximum size of the queue must be defined </a:t>
            </a:r>
            <a:r>
              <a:rPr lang="en-US" altLang="en-US" sz="2400" i="1" dirty="0" err="1"/>
              <a:t>apriori</a:t>
            </a:r>
            <a:r>
              <a:rPr lang="en-US" altLang="en-US" sz="2400" dirty="0"/>
              <a:t> and cannot be changed</a:t>
            </a:r>
          </a:p>
          <a:p>
            <a:pPr lvl="1" eaLnBrk="1" hangingPunct="1"/>
            <a:r>
              <a:rPr lang="en-US" altLang="en-US" sz="2400" dirty="0"/>
              <a:t>Trying to enqueue an element into a full queue causes an implementation-specific exception</a:t>
            </a:r>
          </a:p>
          <a:p>
            <a:endParaRPr lang="en-IN" dirty="0"/>
          </a:p>
        </p:txBody>
      </p:sp>
    </p:spTree>
    <p:extLst>
      <p:ext uri="{BB962C8B-B14F-4D97-AF65-F5344CB8AC3E}">
        <p14:creationId xmlns:p14="http://schemas.microsoft.com/office/powerpoint/2010/main" val="3761585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99EB1-4B9E-468F-B17E-A13BB01C0780}"/>
              </a:ext>
            </a:extLst>
          </p:cNvPr>
          <p:cNvSpPr>
            <a:spLocks noGrp="1"/>
          </p:cNvSpPr>
          <p:nvPr>
            <p:ph type="title"/>
          </p:nvPr>
        </p:nvSpPr>
        <p:spPr/>
        <p:txBody>
          <a:bodyPr/>
          <a:lstStyle/>
          <a:p>
            <a:r>
              <a:rPr lang="en-US" altLang="en-US" dirty="0"/>
              <a:t>Queue with a Singly Linked List</a:t>
            </a:r>
            <a:endParaRPr lang="en-IN" dirty="0"/>
          </a:p>
        </p:txBody>
      </p:sp>
      <p:sp>
        <p:nvSpPr>
          <p:cNvPr id="3" name="Content Placeholder 2">
            <a:extLst>
              <a:ext uri="{FF2B5EF4-FFF2-40B4-BE49-F238E27FC236}">
                <a16:creationId xmlns:a16="http://schemas.microsoft.com/office/drawing/2014/main" id="{C253E268-DA20-4594-9718-C996F5C4CD71}"/>
              </a:ext>
            </a:extLst>
          </p:cNvPr>
          <p:cNvSpPr>
            <a:spLocks noGrp="1"/>
          </p:cNvSpPr>
          <p:nvPr>
            <p:ph idx="1"/>
          </p:nvPr>
        </p:nvSpPr>
        <p:spPr/>
        <p:txBody>
          <a:bodyPr/>
          <a:lstStyle/>
          <a:p>
            <a:pPr eaLnBrk="1" hangingPunct="1">
              <a:lnSpc>
                <a:spcPct val="90000"/>
              </a:lnSpc>
              <a:buClr>
                <a:schemeClr val="tx1"/>
              </a:buClr>
            </a:pPr>
            <a:r>
              <a:rPr lang="en-US" altLang="en-US" sz="2000" dirty="0"/>
              <a:t>We can implement a queue with a singly linked list</a:t>
            </a:r>
          </a:p>
          <a:p>
            <a:pPr lvl="1" eaLnBrk="1" hangingPunct="1">
              <a:lnSpc>
                <a:spcPct val="90000"/>
              </a:lnSpc>
            </a:pPr>
            <a:r>
              <a:rPr lang="en-US" altLang="en-US" sz="1800" dirty="0"/>
              <a:t>The front element is stored at the head of the list</a:t>
            </a:r>
          </a:p>
          <a:p>
            <a:pPr lvl="1" eaLnBrk="1" hangingPunct="1">
              <a:lnSpc>
                <a:spcPct val="90000"/>
              </a:lnSpc>
            </a:pPr>
            <a:r>
              <a:rPr lang="en-US" altLang="en-US" sz="1800" dirty="0"/>
              <a:t>The rear element is stored at the tail of the list</a:t>
            </a:r>
          </a:p>
          <a:p>
            <a:pPr eaLnBrk="1" hangingPunct="1">
              <a:lnSpc>
                <a:spcPct val="90000"/>
              </a:lnSpc>
              <a:buClr>
                <a:schemeClr val="tx1"/>
              </a:buClr>
            </a:pPr>
            <a:r>
              <a:rPr lang="en-US" altLang="en-US" sz="2000" dirty="0"/>
              <a:t>The space used is </a:t>
            </a:r>
            <a:r>
              <a:rPr lang="en-US" altLang="en-US" sz="2000" b="1" i="1" dirty="0">
                <a:latin typeface="Times New Roman" panose="02020603050405020304" charset="0"/>
              </a:rPr>
              <a:t>O</a:t>
            </a:r>
            <a:r>
              <a:rPr lang="en-US" altLang="en-US" sz="2000" dirty="0">
                <a:latin typeface="Times New Roman" panose="02020603050405020304" charset="0"/>
              </a:rPr>
              <a:t>(</a:t>
            </a:r>
            <a:r>
              <a:rPr lang="en-US" altLang="en-US" sz="2000" b="1" i="1" dirty="0">
                <a:latin typeface="Times New Roman" panose="02020603050405020304" charset="0"/>
              </a:rPr>
              <a:t>n</a:t>
            </a:r>
            <a:r>
              <a:rPr lang="en-US" altLang="en-US" sz="2000" dirty="0">
                <a:latin typeface="Times New Roman" panose="02020603050405020304" charset="0"/>
              </a:rPr>
              <a:t>)</a:t>
            </a:r>
            <a:r>
              <a:rPr lang="en-US" altLang="en-US" sz="2000" dirty="0"/>
              <a:t> and each operation of the Queue ADT takes </a:t>
            </a:r>
            <a:r>
              <a:rPr lang="en-US" altLang="en-US" sz="2000" b="1" i="1" dirty="0">
                <a:latin typeface="Times New Roman" panose="02020603050405020304" charset="0"/>
              </a:rPr>
              <a:t>O</a:t>
            </a:r>
            <a:r>
              <a:rPr lang="en-US" altLang="en-US" sz="2000" dirty="0">
                <a:latin typeface="Times New Roman" panose="02020603050405020304" charset="0"/>
              </a:rPr>
              <a:t>(1) </a:t>
            </a:r>
            <a:r>
              <a:rPr lang="en-US" altLang="en-US" sz="2000" dirty="0"/>
              <a:t>time</a:t>
            </a:r>
          </a:p>
          <a:p>
            <a:endParaRPr lang="en-IN" dirty="0"/>
          </a:p>
        </p:txBody>
      </p:sp>
      <p:sp>
        <p:nvSpPr>
          <p:cNvPr id="5" name="Text Box 4">
            <a:extLst>
              <a:ext uri="{FF2B5EF4-FFF2-40B4-BE49-F238E27FC236}">
                <a16:creationId xmlns:a16="http://schemas.microsoft.com/office/drawing/2014/main" id="{41525349-1318-4BBD-85B4-E0A18243298D}"/>
              </a:ext>
            </a:extLst>
          </p:cNvPr>
          <p:cNvSpPr txBox="1">
            <a:spLocks noChangeArrowheads="1"/>
          </p:cNvSpPr>
          <p:nvPr/>
        </p:nvSpPr>
        <p:spPr bwMode="auto">
          <a:xfrm>
            <a:off x="1921419" y="3810001"/>
            <a:ext cx="285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pPr algn="ctr"/>
            <a:r>
              <a:rPr lang="en-US" altLang="en-US" b="1" i="1">
                <a:latin typeface="Times New Roman" panose="02020603050405020304" charset="0"/>
              </a:rPr>
              <a:t>f</a:t>
            </a:r>
          </a:p>
        </p:txBody>
      </p:sp>
      <p:sp>
        <p:nvSpPr>
          <p:cNvPr id="6" name="Line 5">
            <a:extLst>
              <a:ext uri="{FF2B5EF4-FFF2-40B4-BE49-F238E27FC236}">
                <a16:creationId xmlns:a16="http://schemas.microsoft.com/office/drawing/2014/main" id="{1FE5B51E-BBA4-4998-8C66-94D41E2638FB}"/>
              </a:ext>
            </a:extLst>
          </p:cNvPr>
          <p:cNvSpPr>
            <a:spLocks noChangeShapeType="1"/>
          </p:cNvSpPr>
          <p:nvPr/>
        </p:nvSpPr>
        <p:spPr bwMode="auto">
          <a:xfrm rot="5400000" flipV="1">
            <a:off x="2511969" y="3781426"/>
            <a:ext cx="0" cy="60960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7" name="Line 6">
            <a:extLst>
              <a:ext uri="{FF2B5EF4-FFF2-40B4-BE49-F238E27FC236}">
                <a16:creationId xmlns:a16="http://schemas.microsoft.com/office/drawing/2014/main" id="{01DE9104-4EEF-49C9-80CA-518B324CDC4B}"/>
              </a:ext>
            </a:extLst>
          </p:cNvPr>
          <p:cNvSpPr>
            <a:spLocks noChangeShapeType="1"/>
          </p:cNvSpPr>
          <p:nvPr/>
        </p:nvSpPr>
        <p:spPr bwMode="auto">
          <a:xfrm rot="-5400000" flipH="1" flipV="1">
            <a:off x="7893594" y="3505201"/>
            <a:ext cx="609600"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8" name="Rectangle 8">
            <a:extLst>
              <a:ext uri="{FF2B5EF4-FFF2-40B4-BE49-F238E27FC236}">
                <a16:creationId xmlns:a16="http://schemas.microsoft.com/office/drawing/2014/main" id="{F192DC26-3EA2-4ECF-BDA2-68851744C835}"/>
              </a:ext>
            </a:extLst>
          </p:cNvPr>
          <p:cNvSpPr>
            <a:spLocks noChangeArrowheads="1"/>
          </p:cNvSpPr>
          <p:nvPr/>
        </p:nvSpPr>
        <p:spPr bwMode="auto">
          <a:xfrm>
            <a:off x="2816769" y="3816351"/>
            <a:ext cx="536575" cy="536575"/>
          </a:xfrm>
          <a:prstGeom prst="rect">
            <a:avLst/>
          </a:prstGeom>
          <a:solidFill>
            <a:srgbClr val="FFFF00"/>
          </a:solidFill>
          <a:ln w="28575">
            <a:solidFill>
              <a:schemeClr val="tx1"/>
            </a:solidFill>
            <a:miter lim="800000"/>
          </a:ln>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9" name="Rectangle 9">
            <a:extLst>
              <a:ext uri="{FF2B5EF4-FFF2-40B4-BE49-F238E27FC236}">
                <a16:creationId xmlns:a16="http://schemas.microsoft.com/office/drawing/2014/main" id="{5334CC94-0CF4-48F3-93F2-8082C1809703}"/>
              </a:ext>
            </a:extLst>
          </p:cNvPr>
          <p:cNvSpPr>
            <a:spLocks noChangeArrowheads="1"/>
          </p:cNvSpPr>
          <p:nvPr/>
        </p:nvSpPr>
        <p:spPr bwMode="auto">
          <a:xfrm>
            <a:off x="3353344" y="3816351"/>
            <a:ext cx="538163" cy="536575"/>
          </a:xfrm>
          <a:prstGeom prst="rect">
            <a:avLst/>
          </a:prstGeom>
          <a:solidFill>
            <a:srgbClr val="FFFF00"/>
          </a:solidFill>
          <a:ln w="28575">
            <a:solidFill>
              <a:schemeClr val="tx1"/>
            </a:solidFill>
            <a:miter lim="800000"/>
          </a:ln>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10" name="Line 10">
            <a:extLst>
              <a:ext uri="{FF2B5EF4-FFF2-40B4-BE49-F238E27FC236}">
                <a16:creationId xmlns:a16="http://schemas.microsoft.com/office/drawing/2014/main" id="{A526D929-4276-4032-9DBC-55EE624B3672}"/>
              </a:ext>
            </a:extLst>
          </p:cNvPr>
          <p:cNvSpPr>
            <a:spLocks noChangeShapeType="1"/>
          </p:cNvSpPr>
          <p:nvPr/>
        </p:nvSpPr>
        <p:spPr bwMode="auto">
          <a:xfrm>
            <a:off x="3085057" y="4084639"/>
            <a:ext cx="1587" cy="806450"/>
          </a:xfrm>
          <a:prstGeom prst="line">
            <a:avLst/>
          </a:prstGeom>
          <a:noFill/>
          <a:ln w="28575">
            <a:solidFill>
              <a:schemeClr val="tx2"/>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1" name="Line 11">
            <a:extLst>
              <a:ext uri="{FF2B5EF4-FFF2-40B4-BE49-F238E27FC236}">
                <a16:creationId xmlns:a16="http://schemas.microsoft.com/office/drawing/2014/main" id="{76381E47-0996-44BA-A1C1-210BB23AF667}"/>
              </a:ext>
            </a:extLst>
          </p:cNvPr>
          <p:cNvSpPr>
            <a:spLocks noChangeShapeType="1"/>
          </p:cNvSpPr>
          <p:nvPr/>
        </p:nvSpPr>
        <p:spPr bwMode="auto">
          <a:xfrm flipV="1">
            <a:off x="3621632" y="4084639"/>
            <a:ext cx="806450" cy="1587"/>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2" name="Rectangle 12">
            <a:extLst>
              <a:ext uri="{FF2B5EF4-FFF2-40B4-BE49-F238E27FC236}">
                <a16:creationId xmlns:a16="http://schemas.microsoft.com/office/drawing/2014/main" id="{577946C4-0952-4668-B42D-A5770A0792E0}"/>
              </a:ext>
            </a:extLst>
          </p:cNvPr>
          <p:cNvSpPr>
            <a:spLocks noChangeArrowheads="1"/>
          </p:cNvSpPr>
          <p:nvPr/>
        </p:nvSpPr>
        <p:spPr bwMode="auto">
          <a:xfrm>
            <a:off x="4428082" y="3816351"/>
            <a:ext cx="536575" cy="536575"/>
          </a:xfrm>
          <a:prstGeom prst="rect">
            <a:avLst/>
          </a:prstGeom>
          <a:solidFill>
            <a:srgbClr val="FFFF00"/>
          </a:solidFill>
          <a:ln w="28575">
            <a:solidFill>
              <a:schemeClr val="tx1"/>
            </a:solidFill>
            <a:miter lim="800000"/>
          </a:ln>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13" name="Rectangle 13">
            <a:extLst>
              <a:ext uri="{FF2B5EF4-FFF2-40B4-BE49-F238E27FC236}">
                <a16:creationId xmlns:a16="http://schemas.microsoft.com/office/drawing/2014/main" id="{0E42A61E-A216-4111-936A-805015A87796}"/>
              </a:ext>
            </a:extLst>
          </p:cNvPr>
          <p:cNvSpPr>
            <a:spLocks noChangeArrowheads="1"/>
          </p:cNvSpPr>
          <p:nvPr/>
        </p:nvSpPr>
        <p:spPr bwMode="auto">
          <a:xfrm>
            <a:off x="4964657" y="3816351"/>
            <a:ext cx="536575" cy="536575"/>
          </a:xfrm>
          <a:prstGeom prst="rect">
            <a:avLst/>
          </a:prstGeom>
          <a:solidFill>
            <a:srgbClr val="FFFF00"/>
          </a:solidFill>
          <a:ln w="28575">
            <a:solidFill>
              <a:schemeClr val="tx1"/>
            </a:solidFill>
            <a:miter lim="800000"/>
          </a:ln>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14" name="Line 14">
            <a:extLst>
              <a:ext uri="{FF2B5EF4-FFF2-40B4-BE49-F238E27FC236}">
                <a16:creationId xmlns:a16="http://schemas.microsoft.com/office/drawing/2014/main" id="{D6C4E9F9-1565-4681-9799-BB28E69D72E3}"/>
              </a:ext>
            </a:extLst>
          </p:cNvPr>
          <p:cNvSpPr>
            <a:spLocks noChangeShapeType="1"/>
          </p:cNvSpPr>
          <p:nvPr/>
        </p:nvSpPr>
        <p:spPr bwMode="auto">
          <a:xfrm flipV="1">
            <a:off x="5232944" y="4084639"/>
            <a:ext cx="806450" cy="1587"/>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5" name="Rectangle 15">
            <a:extLst>
              <a:ext uri="{FF2B5EF4-FFF2-40B4-BE49-F238E27FC236}">
                <a16:creationId xmlns:a16="http://schemas.microsoft.com/office/drawing/2014/main" id="{77154C69-CACD-417D-A18E-08FB1FE38944}"/>
              </a:ext>
            </a:extLst>
          </p:cNvPr>
          <p:cNvSpPr>
            <a:spLocks noChangeArrowheads="1"/>
          </p:cNvSpPr>
          <p:nvPr/>
        </p:nvSpPr>
        <p:spPr bwMode="auto">
          <a:xfrm>
            <a:off x="6039394" y="3816351"/>
            <a:ext cx="536575" cy="536575"/>
          </a:xfrm>
          <a:prstGeom prst="rect">
            <a:avLst/>
          </a:prstGeom>
          <a:solidFill>
            <a:srgbClr val="FFFF00"/>
          </a:solidFill>
          <a:ln w="28575">
            <a:solidFill>
              <a:schemeClr val="tx1"/>
            </a:solidFill>
            <a:miter lim="800000"/>
          </a:ln>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16" name="Rectangle 16">
            <a:extLst>
              <a:ext uri="{FF2B5EF4-FFF2-40B4-BE49-F238E27FC236}">
                <a16:creationId xmlns:a16="http://schemas.microsoft.com/office/drawing/2014/main" id="{257DDEFD-AF15-4235-9A4E-491E9C0C2DEF}"/>
              </a:ext>
            </a:extLst>
          </p:cNvPr>
          <p:cNvSpPr>
            <a:spLocks noChangeArrowheads="1"/>
          </p:cNvSpPr>
          <p:nvPr/>
        </p:nvSpPr>
        <p:spPr bwMode="auto">
          <a:xfrm>
            <a:off x="6575969" y="3816351"/>
            <a:ext cx="536575" cy="536575"/>
          </a:xfrm>
          <a:prstGeom prst="rect">
            <a:avLst/>
          </a:prstGeom>
          <a:solidFill>
            <a:srgbClr val="FFFF00"/>
          </a:solidFill>
          <a:ln w="28575">
            <a:solidFill>
              <a:schemeClr val="tx1"/>
            </a:solidFill>
            <a:miter lim="800000"/>
          </a:ln>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17" name="Line 17">
            <a:extLst>
              <a:ext uri="{FF2B5EF4-FFF2-40B4-BE49-F238E27FC236}">
                <a16:creationId xmlns:a16="http://schemas.microsoft.com/office/drawing/2014/main" id="{757E0DAC-1815-45B6-A33A-484009787D34}"/>
              </a:ext>
            </a:extLst>
          </p:cNvPr>
          <p:cNvSpPr>
            <a:spLocks noChangeShapeType="1"/>
          </p:cNvSpPr>
          <p:nvPr/>
        </p:nvSpPr>
        <p:spPr bwMode="auto">
          <a:xfrm flipV="1">
            <a:off x="6844257" y="4084639"/>
            <a:ext cx="806450" cy="1587"/>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8" name="Rectangle 18">
            <a:extLst>
              <a:ext uri="{FF2B5EF4-FFF2-40B4-BE49-F238E27FC236}">
                <a16:creationId xmlns:a16="http://schemas.microsoft.com/office/drawing/2014/main" id="{A5C9D063-F884-4A57-BBB4-9F141F549A19}"/>
              </a:ext>
            </a:extLst>
          </p:cNvPr>
          <p:cNvSpPr>
            <a:spLocks noChangeArrowheads="1"/>
          </p:cNvSpPr>
          <p:nvPr/>
        </p:nvSpPr>
        <p:spPr bwMode="auto">
          <a:xfrm>
            <a:off x="7650707" y="3816351"/>
            <a:ext cx="536575" cy="536575"/>
          </a:xfrm>
          <a:prstGeom prst="rect">
            <a:avLst/>
          </a:prstGeom>
          <a:solidFill>
            <a:srgbClr val="FFFF00"/>
          </a:solidFill>
          <a:ln w="28575">
            <a:solidFill>
              <a:schemeClr val="tx1"/>
            </a:solidFill>
            <a:miter lim="800000"/>
          </a:ln>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19" name="Rectangle 19">
            <a:extLst>
              <a:ext uri="{FF2B5EF4-FFF2-40B4-BE49-F238E27FC236}">
                <a16:creationId xmlns:a16="http://schemas.microsoft.com/office/drawing/2014/main" id="{B1F52F11-B33D-434F-90DC-E5328990B465}"/>
              </a:ext>
            </a:extLst>
          </p:cNvPr>
          <p:cNvSpPr>
            <a:spLocks noChangeArrowheads="1"/>
          </p:cNvSpPr>
          <p:nvPr/>
        </p:nvSpPr>
        <p:spPr bwMode="auto">
          <a:xfrm>
            <a:off x="8187282" y="3816351"/>
            <a:ext cx="536575" cy="536575"/>
          </a:xfrm>
          <a:prstGeom prst="rect">
            <a:avLst/>
          </a:prstGeom>
          <a:solidFill>
            <a:srgbClr val="FFFF00"/>
          </a:solidFill>
          <a:ln w="28575">
            <a:solidFill>
              <a:schemeClr val="tx1"/>
            </a:solidFill>
            <a:miter lim="800000"/>
          </a:ln>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20" name="Line 20">
            <a:extLst>
              <a:ext uri="{FF2B5EF4-FFF2-40B4-BE49-F238E27FC236}">
                <a16:creationId xmlns:a16="http://schemas.microsoft.com/office/drawing/2014/main" id="{47C158D1-E496-4C42-87CD-5B239607ADF7}"/>
              </a:ext>
            </a:extLst>
          </p:cNvPr>
          <p:cNvSpPr>
            <a:spLocks noChangeShapeType="1"/>
          </p:cNvSpPr>
          <p:nvPr/>
        </p:nvSpPr>
        <p:spPr bwMode="auto">
          <a:xfrm flipV="1">
            <a:off x="8455569" y="4084639"/>
            <a:ext cx="806450" cy="1587"/>
          </a:xfrm>
          <a:prstGeom prst="line">
            <a:avLst/>
          </a:prstGeom>
          <a:noFill/>
          <a:ln w="28575">
            <a:solidFill>
              <a:schemeClr val="tx1"/>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1" name="Line 21">
            <a:extLst>
              <a:ext uri="{FF2B5EF4-FFF2-40B4-BE49-F238E27FC236}">
                <a16:creationId xmlns:a16="http://schemas.microsoft.com/office/drawing/2014/main" id="{05690A51-78D1-4BC0-9C8B-57CF812B9580}"/>
              </a:ext>
            </a:extLst>
          </p:cNvPr>
          <p:cNvSpPr>
            <a:spLocks noChangeShapeType="1"/>
          </p:cNvSpPr>
          <p:nvPr/>
        </p:nvSpPr>
        <p:spPr bwMode="auto">
          <a:xfrm>
            <a:off x="4696369" y="4084639"/>
            <a:ext cx="1588" cy="806450"/>
          </a:xfrm>
          <a:prstGeom prst="line">
            <a:avLst/>
          </a:prstGeom>
          <a:noFill/>
          <a:ln w="28575">
            <a:solidFill>
              <a:schemeClr val="tx2"/>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2" name="Line 22">
            <a:extLst>
              <a:ext uri="{FF2B5EF4-FFF2-40B4-BE49-F238E27FC236}">
                <a16:creationId xmlns:a16="http://schemas.microsoft.com/office/drawing/2014/main" id="{B47A1160-38B3-4A84-8A76-CC3CA5AF40A6}"/>
              </a:ext>
            </a:extLst>
          </p:cNvPr>
          <p:cNvSpPr>
            <a:spLocks noChangeShapeType="1"/>
          </p:cNvSpPr>
          <p:nvPr/>
        </p:nvSpPr>
        <p:spPr bwMode="auto">
          <a:xfrm>
            <a:off x="6307682" y="4084639"/>
            <a:ext cx="1587" cy="806450"/>
          </a:xfrm>
          <a:prstGeom prst="line">
            <a:avLst/>
          </a:prstGeom>
          <a:noFill/>
          <a:ln w="28575">
            <a:solidFill>
              <a:schemeClr val="tx2"/>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3" name="Line 23">
            <a:extLst>
              <a:ext uri="{FF2B5EF4-FFF2-40B4-BE49-F238E27FC236}">
                <a16:creationId xmlns:a16="http://schemas.microsoft.com/office/drawing/2014/main" id="{F1931281-EDD7-4FBD-884A-21D39EBD8549}"/>
              </a:ext>
            </a:extLst>
          </p:cNvPr>
          <p:cNvSpPr>
            <a:spLocks noChangeShapeType="1"/>
          </p:cNvSpPr>
          <p:nvPr/>
        </p:nvSpPr>
        <p:spPr bwMode="auto">
          <a:xfrm>
            <a:off x="7918994" y="4084639"/>
            <a:ext cx="1588" cy="806450"/>
          </a:xfrm>
          <a:prstGeom prst="line">
            <a:avLst/>
          </a:prstGeom>
          <a:noFill/>
          <a:ln w="28575">
            <a:solidFill>
              <a:schemeClr val="tx2"/>
            </a:solidFill>
            <a:round/>
            <a:headEnd type="oval" w="med" len="me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24" name="Text Box 24">
            <a:extLst>
              <a:ext uri="{FF2B5EF4-FFF2-40B4-BE49-F238E27FC236}">
                <a16:creationId xmlns:a16="http://schemas.microsoft.com/office/drawing/2014/main" id="{78C15569-3AB3-4976-ADE8-13F82F93FFCE}"/>
              </a:ext>
            </a:extLst>
          </p:cNvPr>
          <p:cNvSpPr txBox="1">
            <a:spLocks noChangeArrowheads="1"/>
          </p:cNvSpPr>
          <p:nvPr/>
        </p:nvSpPr>
        <p:spPr bwMode="auto">
          <a:xfrm>
            <a:off x="9209632" y="3910014"/>
            <a:ext cx="403225" cy="382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pPr algn="ctr"/>
            <a:r>
              <a:rPr lang="en-US" altLang="en-US" b="1">
                <a:solidFill>
                  <a:srgbClr val="0000FF"/>
                </a:solidFill>
                <a:sym typeface="Symbol" panose="05050102010706020507" pitchFamily="18" charset="2"/>
              </a:rPr>
              <a:t></a:t>
            </a:r>
            <a:endParaRPr lang="en-US" altLang="en-US" b="1">
              <a:solidFill>
                <a:srgbClr val="0000FF"/>
              </a:solidFill>
            </a:endParaRPr>
          </a:p>
        </p:txBody>
      </p:sp>
      <p:pic>
        <p:nvPicPr>
          <p:cNvPr id="25" name="Picture 25">
            <a:extLst>
              <a:ext uri="{FF2B5EF4-FFF2-40B4-BE49-F238E27FC236}">
                <a16:creationId xmlns:a16="http://schemas.microsoft.com/office/drawing/2014/main" id="{16A393E6-3932-44AE-B52B-001A7B6CFA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40569" y="4927601"/>
            <a:ext cx="685800" cy="835025"/>
          </a:xfrm>
          <a:prstGeom prst="rect">
            <a:avLst/>
          </a:prstGeom>
          <a:solidFill>
            <a:schemeClr val="folHlink"/>
          </a:solidFill>
          <a:ln w="19050">
            <a:solidFill>
              <a:schemeClr val="tx2"/>
            </a:solidFill>
            <a:miter lim="800000"/>
            <a:headEnd/>
            <a:tailEnd/>
          </a:ln>
        </p:spPr>
      </p:pic>
      <p:pic>
        <p:nvPicPr>
          <p:cNvPr id="26" name="Picture 26">
            <a:extLst>
              <a:ext uri="{FF2B5EF4-FFF2-40B4-BE49-F238E27FC236}">
                <a16:creationId xmlns:a16="http://schemas.microsoft.com/office/drawing/2014/main" id="{E2F1649F-C57E-435A-B822-94F6F0A3314D}"/>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59819" y="4927601"/>
            <a:ext cx="685800" cy="803275"/>
          </a:xfrm>
          <a:prstGeom prst="rect">
            <a:avLst/>
          </a:prstGeom>
          <a:solidFill>
            <a:schemeClr val="folHlink"/>
          </a:solidFill>
          <a:ln w="19050">
            <a:solidFill>
              <a:schemeClr val="tx2"/>
            </a:solidFill>
            <a:miter lim="800000"/>
            <a:headEnd/>
            <a:tailEnd/>
          </a:ln>
        </p:spPr>
      </p:pic>
      <p:pic>
        <p:nvPicPr>
          <p:cNvPr id="27" name="Picture 27">
            <a:extLst>
              <a:ext uri="{FF2B5EF4-FFF2-40B4-BE49-F238E27FC236}">
                <a16:creationId xmlns:a16="http://schemas.microsoft.com/office/drawing/2014/main" id="{2A9E520D-BEB6-4D1A-A44B-AB4A1D63BF0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88794" y="4927601"/>
            <a:ext cx="685800" cy="612775"/>
          </a:xfrm>
          <a:prstGeom prst="rect">
            <a:avLst/>
          </a:prstGeom>
          <a:solidFill>
            <a:schemeClr val="folHlink"/>
          </a:solidFill>
          <a:ln w="19050">
            <a:solidFill>
              <a:schemeClr val="tx2"/>
            </a:solidFill>
            <a:miter lim="800000"/>
            <a:headEnd/>
            <a:tailEnd/>
          </a:ln>
        </p:spPr>
      </p:pic>
      <p:pic>
        <p:nvPicPr>
          <p:cNvPr id="28" name="Picture 28">
            <a:extLst>
              <a:ext uri="{FF2B5EF4-FFF2-40B4-BE49-F238E27FC236}">
                <a16:creationId xmlns:a16="http://schemas.microsoft.com/office/drawing/2014/main" id="{80626680-CF43-4CF5-89A6-67B21618366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979069" y="4927601"/>
            <a:ext cx="685800" cy="663575"/>
          </a:xfrm>
          <a:prstGeom prst="rect">
            <a:avLst/>
          </a:prstGeom>
          <a:solidFill>
            <a:schemeClr val="folHlink"/>
          </a:solidFill>
          <a:ln w="19050">
            <a:solidFill>
              <a:schemeClr val="tx2"/>
            </a:solidFill>
            <a:miter lim="800000"/>
            <a:headEnd/>
            <a:tailEnd/>
          </a:ln>
        </p:spPr>
      </p:pic>
      <p:sp>
        <p:nvSpPr>
          <p:cNvPr id="29" name="AutoShape 29">
            <a:extLst>
              <a:ext uri="{FF2B5EF4-FFF2-40B4-BE49-F238E27FC236}">
                <a16:creationId xmlns:a16="http://schemas.microsoft.com/office/drawing/2014/main" id="{F79B5644-17EB-40B3-AE44-A8E21D0DDB1F}"/>
              </a:ext>
            </a:extLst>
          </p:cNvPr>
          <p:cNvSpPr>
            <a:spLocks noChangeArrowheads="1"/>
          </p:cNvSpPr>
          <p:nvPr/>
        </p:nvSpPr>
        <p:spPr bwMode="auto">
          <a:xfrm>
            <a:off x="2511969" y="3282951"/>
            <a:ext cx="6477000" cy="1219200"/>
          </a:xfrm>
          <a:prstGeom prst="roundRect">
            <a:avLst>
              <a:gd name="adj" fmla="val 16667"/>
            </a:avLst>
          </a:prstGeom>
          <a:noFill/>
          <a:ln w="9525">
            <a:solidFill>
              <a:schemeClr val="tx1"/>
            </a:solidFill>
            <a:prstDash val="lgDash"/>
            <a:rou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30" name="Text Box 30">
            <a:extLst>
              <a:ext uri="{FF2B5EF4-FFF2-40B4-BE49-F238E27FC236}">
                <a16:creationId xmlns:a16="http://schemas.microsoft.com/office/drawing/2014/main" id="{C25EFF56-D0B8-40B1-95A4-999D7A1D4CFD}"/>
              </a:ext>
            </a:extLst>
          </p:cNvPr>
          <p:cNvSpPr txBox="1">
            <a:spLocks noChangeArrowheads="1"/>
          </p:cNvSpPr>
          <p:nvPr/>
        </p:nvSpPr>
        <p:spPr bwMode="auto">
          <a:xfrm>
            <a:off x="2664369" y="3244851"/>
            <a:ext cx="849313" cy="398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pPr algn="ctr"/>
            <a:r>
              <a:rPr lang="en-US" altLang="en-US"/>
              <a:t>nodes</a:t>
            </a:r>
          </a:p>
        </p:txBody>
      </p:sp>
      <p:sp>
        <p:nvSpPr>
          <p:cNvPr id="31" name="AutoShape 31">
            <a:extLst>
              <a:ext uri="{FF2B5EF4-FFF2-40B4-BE49-F238E27FC236}">
                <a16:creationId xmlns:a16="http://schemas.microsoft.com/office/drawing/2014/main" id="{573797FB-9F64-449F-856D-D6ECAC279CD9}"/>
              </a:ext>
            </a:extLst>
          </p:cNvPr>
          <p:cNvSpPr>
            <a:spLocks noChangeArrowheads="1"/>
          </p:cNvSpPr>
          <p:nvPr/>
        </p:nvSpPr>
        <p:spPr bwMode="auto">
          <a:xfrm>
            <a:off x="2511969" y="4654551"/>
            <a:ext cx="5943600" cy="1219200"/>
          </a:xfrm>
          <a:prstGeom prst="roundRect">
            <a:avLst>
              <a:gd name="adj" fmla="val 16667"/>
            </a:avLst>
          </a:prstGeom>
          <a:noFill/>
          <a:ln w="9525">
            <a:solidFill>
              <a:schemeClr val="tx2"/>
            </a:solidFill>
            <a:prstDash val="lgDash"/>
            <a:round/>
          </a:ln>
          <a:extLst>
            <a:ext uri="{909E8E84-426E-40DD-AFC4-6F175D3DCCD1}">
              <a14:hiddenFill xmlns:a14="http://schemas.microsoft.com/office/drawing/2010/main">
                <a:solidFill>
                  <a:srgbClr val="FFFFFF"/>
                </a:solidFill>
              </a14:hiddenFill>
            </a:ext>
          </a:extLst>
        </p:spPr>
        <p:txBody>
          <a:bodyPr wrap="none" anchor="ct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endParaRPr lang="en-US" altLang="en-US"/>
          </a:p>
        </p:txBody>
      </p:sp>
      <p:sp>
        <p:nvSpPr>
          <p:cNvPr id="32" name="Text Box 32">
            <a:extLst>
              <a:ext uri="{FF2B5EF4-FFF2-40B4-BE49-F238E27FC236}">
                <a16:creationId xmlns:a16="http://schemas.microsoft.com/office/drawing/2014/main" id="{1C1F49DF-A0D1-4A24-AA84-8D05B09E1BF3}"/>
              </a:ext>
            </a:extLst>
          </p:cNvPr>
          <p:cNvSpPr txBox="1">
            <a:spLocks noChangeArrowheads="1"/>
          </p:cNvSpPr>
          <p:nvPr/>
        </p:nvSpPr>
        <p:spPr bwMode="auto">
          <a:xfrm>
            <a:off x="7026819" y="5518151"/>
            <a:ext cx="1223963"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pPr algn="ctr"/>
            <a:r>
              <a:rPr lang="en-US" altLang="en-US">
                <a:solidFill>
                  <a:srgbClr val="0000FF"/>
                </a:solidFill>
              </a:rPr>
              <a:t>elements</a:t>
            </a:r>
          </a:p>
        </p:txBody>
      </p:sp>
      <p:sp>
        <p:nvSpPr>
          <p:cNvPr id="33" name="Rectangle 33">
            <a:extLst>
              <a:ext uri="{FF2B5EF4-FFF2-40B4-BE49-F238E27FC236}">
                <a16:creationId xmlns:a16="http://schemas.microsoft.com/office/drawing/2014/main" id="{873109E2-0C8E-46FA-96B6-0008EC038DED}"/>
              </a:ext>
            </a:extLst>
          </p:cNvPr>
          <p:cNvSpPr>
            <a:spLocks noChangeArrowheads="1"/>
          </p:cNvSpPr>
          <p:nvPr/>
        </p:nvSpPr>
        <p:spPr bwMode="auto">
          <a:xfrm>
            <a:off x="7901532" y="2774741"/>
            <a:ext cx="639919"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r>
              <a:rPr lang="en-US" altLang="en-US" dirty="0">
                <a:solidFill>
                  <a:srgbClr val="000090"/>
                </a:solidFill>
              </a:rPr>
              <a:t>rear</a:t>
            </a:r>
          </a:p>
        </p:txBody>
      </p:sp>
      <p:sp>
        <p:nvSpPr>
          <p:cNvPr id="35" name="Rectangle 33">
            <a:extLst>
              <a:ext uri="{FF2B5EF4-FFF2-40B4-BE49-F238E27FC236}">
                <a16:creationId xmlns:a16="http://schemas.microsoft.com/office/drawing/2014/main" id="{1A9661A0-7D48-46AA-AFE6-63C2F5A29D4D}"/>
              </a:ext>
            </a:extLst>
          </p:cNvPr>
          <p:cNvSpPr>
            <a:spLocks noChangeArrowheads="1"/>
          </p:cNvSpPr>
          <p:nvPr/>
        </p:nvSpPr>
        <p:spPr bwMode="auto">
          <a:xfrm>
            <a:off x="1553339" y="3870431"/>
            <a:ext cx="698500" cy="382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000">
                <a:solidFill>
                  <a:schemeClr val="bg1"/>
                </a:solidFill>
                <a:latin typeface="Arial" panose="020B0604020202020204" pitchFamily="34" charset="0"/>
                <a:ea typeface="MS PGothic" panose="020B0600070205080204" charset="-128"/>
              </a:defRPr>
            </a:lvl1pPr>
            <a:lvl2pPr marL="37931725" indent="-37474525">
              <a:defRPr sz="2000">
                <a:solidFill>
                  <a:schemeClr val="bg1"/>
                </a:solidFill>
                <a:latin typeface="Arial" panose="020B0604020202020204" pitchFamily="34" charset="0"/>
                <a:ea typeface="MS PGothic" panose="020B0600070205080204" charset="-128"/>
              </a:defRPr>
            </a:lvl2pPr>
            <a:lvl3pPr>
              <a:defRPr sz="2000">
                <a:solidFill>
                  <a:schemeClr val="bg1"/>
                </a:solidFill>
                <a:latin typeface="Arial" panose="020B0604020202020204" pitchFamily="34" charset="0"/>
                <a:ea typeface="MS PGothic" panose="020B0600070205080204" charset="-128"/>
              </a:defRPr>
            </a:lvl3pPr>
            <a:lvl4pPr>
              <a:defRPr sz="2000">
                <a:solidFill>
                  <a:schemeClr val="bg1"/>
                </a:solidFill>
                <a:latin typeface="Arial" panose="020B0604020202020204" pitchFamily="34" charset="0"/>
                <a:ea typeface="MS PGothic" panose="020B0600070205080204" charset="-128"/>
              </a:defRPr>
            </a:lvl4pPr>
            <a:lvl5pPr>
              <a:defRPr sz="2000">
                <a:solidFill>
                  <a:schemeClr val="bg1"/>
                </a:solidFill>
                <a:latin typeface="Arial" panose="020B0604020202020204" pitchFamily="34" charset="0"/>
                <a:ea typeface="MS PGothic" panose="020B0600070205080204" charset="-128"/>
              </a:defRPr>
            </a:lvl5pPr>
            <a:lvl6pPr marL="4572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6pPr>
            <a:lvl7pPr marL="9144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7pPr>
            <a:lvl8pPr marL="13716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8pPr>
            <a:lvl9pPr marL="1828800" eaLnBrk="0" fontAlgn="base" hangingPunct="0">
              <a:lnSpc>
                <a:spcPct val="93000"/>
              </a:lnSpc>
              <a:spcBef>
                <a:spcPts val="500"/>
              </a:spcBef>
              <a:spcAft>
                <a:spcPct val="0"/>
              </a:spcAft>
              <a:defRPr sz="2000">
                <a:solidFill>
                  <a:schemeClr val="bg1"/>
                </a:solidFill>
                <a:latin typeface="Arial" panose="020B0604020202020204" pitchFamily="34" charset="0"/>
                <a:ea typeface="MS PGothic" panose="020B0600070205080204" charset="-128"/>
              </a:defRPr>
            </a:lvl9pPr>
          </a:lstStyle>
          <a:p>
            <a:r>
              <a:rPr lang="en-US" altLang="en-US" dirty="0">
                <a:solidFill>
                  <a:srgbClr val="000090"/>
                </a:solidFill>
              </a:rPr>
              <a:t>front</a:t>
            </a:r>
          </a:p>
        </p:txBody>
      </p:sp>
    </p:spTree>
    <p:extLst>
      <p:ext uri="{BB962C8B-B14F-4D97-AF65-F5344CB8AC3E}">
        <p14:creationId xmlns:p14="http://schemas.microsoft.com/office/powerpoint/2010/main" val="2306136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2E7AC-2920-4A7B-ABD1-A205E63BE41A}"/>
              </a:ext>
            </a:extLst>
          </p:cNvPr>
          <p:cNvSpPr>
            <a:spLocks noGrp="1"/>
          </p:cNvSpPr>
          <p:nvPr>
            <p:ph type="title"/>
          </p:nvPr>
        </p:nvSpPr>
        <p:spPr/>
        <p:txBody>
          <a:bodyPr/>
          <a:lstStyle/>
          <a:p>
            <a:r>
              <a:rPr lang="en-IN" dirty="0"/>
              <a:t>Queue: </a:t>
            </a:r>
            <a:r>
              <a:rPr lang="en-IN" dirty="0" err="1"/>
              <a:t>Linklist</a:t>
            </a:r>
            <a:endParaRPr lang="en-IN" dirty="0"/>
          </a:p>
        </p:txBody>
      </p:sp>
      <p:sp>
        <p:nvSpPr>
          <p:cNvPr id="4" name="Rounded Rectangle 6">
            <a:extLst>
              <a:ext uri="{FF2B5EF4-FFF2-40B4-BE49-F238E27FC236}">
                <a16:creationId xmlns:a16="http://schemas.microsoft.com/office/drawing/2014/main" id="{892EE23A-9DF7-4D9A-98E1-A4C3FFB67F33}"/>
              </a:ext>
            </a:extLst>
          </p:cNvPr>
          <p:cNvSpPr/>
          <p:nvPr/>
        </p:nvSpPr>
        <p:spPr>
          <a:xfrm>
            <a:off x="42043" y="786198"/>
            <a:ext cx="6011917" cy="3302326"/>
          </a:xfrm>
          <a:prstGeom prst="roundRect">
            <a:avLst>
              <a:gd name="adj" fmla="val 2871"/>
            </a:avLst>
          </a:prstGeom>
          <a:solidFill>
            <a:srgbClr val="ECEFF8"/>
          </a:solidFill>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tlCol="0" anchor="ctr"/>
          <a:lstStyle/>
          <a:p>
            <a:pPr>
              <a:lnSpc>
                <a:spcPct val="90000"/>
              </a:lnSpc>
            </a:pPr>
            <a:r>
              <a:rPr lang="en-US" altLang="en-US" sz="1600" dirty="0">
                <a:solidFill>
                  <a:srgbClr val="800080"/>
                </a:solidFill>
                <a:latin typeface="Courier New" panose="02070309020205020404" pitchFamily="49" charset="0"/>
              </a:rPr>
              <a:t>front = NULL, rear = NULL;</a:t>
            </a:r>
          </a:p>
          <a:p>
            <a:pPr>
              <a:lnSpc>
                <a:spcPct val="90000"/>
              </a:lnSpc>
            </a:pPr>
            <a:endParaRPr lang="en-US" altLang="en-US" sz="1600" dirty="0">
              <a:solidFill>
                <a:srgbClr val="800080"/>
              </a:solidFill>
              <a:latin typeface="Courier New" panose="02070309020205020404" pitchFamily="49" charset="0"/>
            </a:endParaRPr>
          </a:p>
          <a:p>
            <a:pPr>
              <a:lnSpc>
                <a:spcPct val="90000"/>
              </a:lnSpc>
            </a:pPr>
            <a:r>
              <a:rPr lang="en-US" altLang="en-US" sz="1600" b="1" dirty="0">
                <a:solidFill>
                  <a:srgbClr val="800080"/>
                </a:solidFill>
                <a:latin typeface="Courier New" panose="02070309020205020404" pitchFamily="49" charset="0"/>
              </a:rPr>
              <a:t>void enqueue(int data)</a:t>
            </a: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a:t>
            </a:r>
          </a:p>
          <a:p>
            <a:pPr>
              <a:lnSpc>
                <a:spcPct val="90000"/>
              </a:lnSpc>
            </a:pPr>
            <a:r>
              <a:rPr lang="en-US" altLang="en-US" sz="1600" dirty="0">
                <a:solidFill>
                  <a:srgbClr val="800080"/>
                </a:solidFill>
                <a:latin typeface="Courier New" panose="02070309020205020404" pitchFamily="49" charset="0"/>
              </a:rPr>
              <a:t>    struct Node* </a:t>
            </a:r>
            <a:r>
              <a:rPr lang="en-US" altLang="en-US" sz="1600" dirty="0" err="1">
                <a:solidFill>
                  <a:srgbClr val="800080"/>
                </a:solidFill>
                <a:latin typeface="Courier New" panose="02070309020205020404" pitchFamily="49" charset="0"/>
              </a:rPr>
              <a:t>new_node</a:t>
            </a:r>
            <a:r>
              <a:rPr lang="en-US" altLang="en-US" sz="1600" dirty="0">
                <a:solidFill>
                  <a:srgbClr val="800080"/>
                </a:solidFill>
                <a:latin typeface="Courier New" panose="02070309020205020404" pitchFamily="49" charset="0"/>
              </a:rPr>
              <a:t> = </a:t>
            </a:r>
            <a:r>
              <a:rPr lang="en-US" altLang="en-US" sz="1600" dirty="0" err="1">
                <a:solidFill>
                  <a:srgbClr val="800080"/>
                </a:solidFill>
                <a:latin typeface="Courier New" panose="02070309020205020404" pitchFamily="49" charset="0"/>
              </a:rPr>
              <a:t>newNode</a:t>
            </a:r>
            <a:r>
              <a:rPr lang="en-US" altLang="en-US" sz="1600" dirty="0">
                <a:solidFill>
                  <a:srgbClr val="800080"/>
                </a:solidFill>
                <a:latin typeface="Courier New" panose="02070309020205020404" pitchFamily="49" charset="0"/>
              </a:rPr>
              <a:t>(data);</a:t>
            </a:r>
          </a:p>
          <a:p>
            <a:pPr>
              <a:lnSpc>
                <a:spcPct val="90000"/>
              </a:lnSpc>
            </a:pPr>
            <a:r>
              <a:rPr lang="en-US" altLang="en-US" sz="1600" dirty="0">
                <a:solidFill>
                  <a:srgbClr val="800080"/>
                </a:solidFill>
                <a:latin typeface="Courier New" panose="02070309020205020404" pitchFamily="49" charset="0"/>
              </a:rPr>
              <a:t>    if (front==NULL and rear==NULL) </a:t>
            </a:r>
          </a:p>
          <a:p>
            <a:pPr>
              <a:lnSpc>
                <a:spcPct val="90000"/>
              </a:lnSpc>
            </a:pP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        front = rear = </a:t>
            </a:r>
            <a:r>
              <a:rPr lang="en-US" altLang="en-US" sz="1600" dirty="0" err="1">
                <a:solidFill>
                  <a:srgbClr val="800080"/>
                </a:solidFill>
                <a:latin typeface="Courier New" panose="02070309020205020404" pitchFamily="49" charset="0"/>
              </a:rPr>
              <a:t>new_node</a:t>
            </a:r>
            <a:r>
              <a:rPr lang="en-US" altLang="en-US" sz="1600" dirty="0">
                <a:solidFill>
                  <a:srgbClr val="800080"/>
                </a:solidFill>
                <a:latin typeface="Courier New" panose="02070309020205020404" pitchFamily="49" charset="0"/>
              </a:rPr>
              <a:t>;</a:t>
            </a:r>
          </a:p>
          <a:p>
            <a:pPr>
              <a:lnSpc>
                <a:spcPct val="90000"/>
              </a:lnSpc>
            </a:pP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    else </a:t>
            </a:r>
          </a:p>
          <a:p>
            <a:pPr>
              <a:lnSpc>
                <a:spcPct val="90000"/>
              </a:lnSpc>
            </a:pP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        rear-&gt;next = </a:t>
            </a:r>
            <a:r>
              <a:rPr lang="en-US" altLang="en-US" sz="1600" dirty="0" err="1">
                <a:solidFill>
                  <a:srgbClr val="800080"/>
                </a:solidFill>
                <a:latin typeface="Courier New" panose="02070309020205020404" pitchFamily="49" charset="0"/>
              </a:rPr>
              <a:t>new_node</a:t>
            </a:r>
            <a:r>
              <a:rPr lang="en-US" altLang="en-US" sz="1600" dirty="0">
                <a:solidFill>
                  <a:srgbClr val="800080"/>
                </a:solidFill>
                <a:latin typeface="Courier New" panose="02070309020205020404" pitchFamily="49" charset="0"/>
              </a:rPr>
              <a:t>;</a:t>
            </a:r>
          </a:p>
          <a:p>
            <a:pPr>
              <a:lnSpc>
                <a:spcPct val="90000"/>
              </a:lnSpc>
            </a:pPr>
            <a:r>
              <a:rPr lang="en-US" altLang="en-US" sz="1600" dirty="0">
                <a:solidFill>
                  <a:srgbClr val="800080"/>
                </a:solidFill>
                <a:latin typeface="Courier New" panose="02070309020205020404" pitchFamily="49" charset="0"/>
              </a:rPr>
              <a:t>        rear = rear-&gt;next;</a:t>
            </a:r>
          </a:p>
          <a:p>
            <a:pPr>
              <a:lnSpc>
                <a:spcPct val="90000"/>
              </a:lnSpc>
            </a:pP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a:t>
            </a:r>
          </a:p>
        </p:txBody>
      </p:sp>
      <p:sp>
        <p:nvSpPr>
          <p:cNvPr id="5" name="Rounded Rectangle 6">
            <a:extLst>
              <a:ext uri="{FF2B5EF4-FFF2-40B4-BE49-F238E27FC236}">
                <a16:creationId xmlns:a16="http://schemas.microsoft.com/office/drawing/2014/main" id="{C0EE1327-D955-4A48-A6F6-66487B8241A1}"/>
              </a:ext>
            </a:extLst>
          </p:cNvPr>
          <p:cNvSpPr/>
          <p:nvPr/>
        </p:nvSpPr>
        <p:spPr>
          <a:xfrm>
            <a:off x="6127533" y="786198"/>
            <a:ext cx="6011917" cy="3302326"/>
          </a:xfrm>
          <a:prstGeom prst="roundRect">
            <a:avLst>
              <a:gd name="adj" fmla="val 2871"/>
            </a:avLst>
          </a:prstGeom>
          <a:solidFill>
            <a:srgbClr val="ECEFF8"/>
          </a:solidFill>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tlCol="0" anchor="ctr"/>
          <a:lstStyle/>
          <a:p>
            <a:pPr>
              <a:lnSpc>
                <a:spcPct val="90000"/>
              </a:lnSpc>
            </a:pPr>
            <a:r>
              <a:rPr lang="en-US" altLang="en-US" sz="1600" b="1" dirty="0">
                <a:solidFill>
                  <a:srgbClr val="800080"/>
                </a:solidFill>
                <a:latin typeface="Courier New" panose="02070309020205020404" pitchFamily="49" charset="0"/>
              </a:rPr>
              <a:t>void dequeue() </a:t>
            </a:r>
          </a:p>
          <a:p>
            <a:pPr>
              <a:lnSpc>
                <a:spcPct val="90000"/>
              </a:lnSpc>
            </a:pPr>
            <a:r>
              <a:rPr lang="en-US" altLang="en-US" sz="1600" dirty="0">
                <a:solidFill>
                  <a:srgbClr val="800080"/>
                </a:solidFill>
                <a:latin typeface="Courier New" panose="02070309020205020404" pitchFamily="49" charset="0"/>
              </a:rPr>
              <a:t>{</a:t>
            </a:r>
          </a:p>
          <a:p>
            <a:pPr>
              <a:lnSpc>
                <a:spcPct val="90000"/>
              </a:lnSpc>
            </a:pPr>
            <a:r>
              <a:rPr lang="en-US" altLang="en-US" sz="1600" dirty="0">
                <a:solidFill>
                  <a:srgbClr val="800080"/>
                </a:solidFill>
                <a:latin typeface="Courier New" panose="02070309020205020404" pitchFamily="49" charset="0"/>
              </a:rPr>
              <a:t> if (front==NULL and rear==NULL)</a:t>
            </a:r>
          </a:p>
          <a:p>
            <a:pPr>
              <a:lnSpc>
                <a:spcPct val="90000"/>
              </a:lnSpc>
            </a:pP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        </a:t>
            </a:r>
            <a:r>
              <a:rPr lang="en-US" altLang="en-US" sz="1600" dirty="0" err="1">
                <a:solidFill>
                  <a:srgbClr val="800080"/>
                </a:solidFill>
                <a:latin typeface="Courier New" panose="02070309020205020404" pitchFamily="49" charset="0"/>
              </a:rPr>
              <a:t>printf</a:t>
            </a:r>
            <a:r>
              <a:rPr lang="en-US" altLang="en-US" sz="1600" dirty="0">
                <a:solidFill>
                  <a:srgbClr val="800080"/>
                </a:solidFill>
                <a:latin typeface="Courier New" panose="02070309020205020404" pitchFamily="49" charset="0"/>
              </a:rPr>
              <a:t>(“Underflow”);</a:t>
            </a:r>
          </a:p>
          <a:p>
            <a:pPr>
              <a:lnSpc>
                <a:spcPct val="90000"/>
              </a:lnSpc>
            </a:pP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 else </a:t>
            </a:r>
          </a:p>
          <a:p>
            <a:pPr>
              <a:lnSpc>
                <a:spcPct val="90000"/>
              </a:lnSpc>
            </a:pP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        temp = front;</a:t>
            </a:r>
          </a:p>
          <a:p>
            <a:pPr>
              <a:lnSpc>
                <a:spcPct val="90000"/>
              </a:lnSpc>
            </a:pPr>
            <a:r>
              <a:rPr lang="en-US" altLang="en-US" sz="1600" dirty="0">
                <a:solidFill>
                  <a:srgbClr val="800080"/>
                </a:solidFill>
                <a:latin typeface="Courier New" panose="02070309020205020404" pitchFamily="49" charset="0"/>
              </a:rPr>
              <a:t>        front = front-&gt;next;</a:t>
            </a:r>
          </a:p>
          <a:p>
            <a:pPr>
              <a:lnSpc>
                <a:spcPct val="90000"/>
              </a:lnSpc>
            </a:pPr>
            <a:r>
              <a:rPr lang="en-US" altLang="en-US" sz="1600" dirty="0">
                <a:solidFill>
                  <a:srgbClr val="800080"/>
                </a:solidFill>
                <a:latin typeface="Courier New" panose="02070309020205020404" pitchFamily="49" charset="0"/>
              </a:rPr>
              <a:t>        if (front == NULL) </a:t>
            </a:r>
          </a:p>
          <a:p>
            <a:pPr>
              <a:lnSpc>
                <a:spcPct val="90000"/>
              </a:lnSpc>
            </a:pPr>
            <a:r>
              <a:rPr lang="en-US" altLang="en-US" sz="1600" dirty="0">
                <a:solidFill>
                  <a:srgbClr val="800080"/>
                </a:solidFill>
                <a:latin typeface="Courier New" panose="02070309020205020404" pitchFamily="49" charset="0"/>
              </a:rPr>
              <a:t>            rear = NULL;</a:t>
            </a:r>
          </a:p>
          <a:p>
            <a:pPr>
              <a:lnSpc>
                <a:spcPct val="90000"/>
              </a:lnSpc>
            </a:pPr>
            <a:r>
              <a:rPr lang="en-US" altLang="en-US" sz="1600" dirty="0">
                <a:solidFill>
                  <a:srgbClr val="800080"/>
                </a:solidFill>
                <a:latin typeface="Courier New" panose="02070309020205020404" pitchFamily="49" charset="0"/>
              </a:rPr>
              <a:t>        free(temp);</a:t>
            </a:r>
          </a:p>
          <a:p>
            <a:pPr>
              <a:lnSpc>
                <a:spcPct val="90000"/>
              </a:lnSpc>
            </a:pPr>
            <a:r>
              <a:rPr lang="en-US" altLang="en-US" sz="1600" dirty="0">
                <a:solidFill>
                  <a:srgbClr val="800080"/>
                </a:solidFill>
                <a:latin typeface="Courier New" panose="02070309020205020404" pitchFamily="49" charset="0"/>
              </a:rPr>
              <a:t>    }</a:t>
            </a:r>
          </a:p>
          <a:p>
            <a:pPr>
              <a:lnSpc>
                <a:spcPct val="90000"/>
              </a:lnSpc>
            </a:pPr>
            <a:r>
              <a:rPr lang="en-US" altLang="en-US" sz="1600" dirty="0">
                <a:solidFill>
                  <a:srgbClr val="800080"/>
                </a:solidFill>
                <a:latin typeface="Courier New" panose="02070309020205020404" pitchFamily="49" charset="0"/>
              </a:rPr>
              <a:t>}</a:t>
            </a:r>
          </a:p>
        </p:txBody>
      </p:sp>
      <p:sp>
        <p:nvSpPr>
          <p:cNvPr id="6" name="Rounded Rectangle 6">
            <a:extLst>
              <a:ext uri="{FF2B5EF4-FFF2-40B4-BE49-F238E27FC236}">
                <a16:creationId xmlns:a16="http://schemas.microsoft.com/office/drawing/2014/main" id="{B20730C5-A9F0-42E9-8E8C-D7D3C5224428}"/>
              </a:ext>
            </a:extLst>
          </p:cNvPr>
          <p:cNvSpPr/>
          <p:nvPr/>
        </p:nvSpPr>
        <p:spPr>
          <a:xfrm>
            <a:off x="2457312" y="4569920"/>
            <a:ext cx="7170163" cy="1978023"/>
          </a:xfrm>
          <a:prstGeom prst="roundRect">
            <a:avLst>
              <a:gd name="adj" fmla="val 2871"/>
            </a:avLst>
          </a:prstGeom>
          <a:solidFill>
            <a:srgbClr val="ECEFF8"/>
          </a:solidFill>
          <a:effectLst>
            <a:outerShdw blurRad="50800" dist="38100" dir="2700000" algn="tl" rotWithShape="0">
              <a:prstClr val="black">
                <a:alpha val="40000"/>
              </a:prstClr>
            </a:outerShdw>
          </a:effectLst>
        </p:spPr>
        <p:style>
          <a:lnRef idx="1">
            <a:schemeClr val="dk1"/>
          </a:lnRef>
          <a:fillRef idx="2">
            <a:schemeClr val="dk1"/>
          </a:fillRef>
          <a:effectRef idx="1">
            <a:schemeClr val="dk1"/>
          </a:effectRef>
          <a:fontRef idx="minor">
            <a:schemeClr val="dk1"/>
          </a:fontRef>
        </p:style>
        <p:txBody>
          <a:bodyPr rtlCol="0" anchor="ctr"/>
          <a:lstStyle/>
          <a:p>
            <a:pPr>
              <a:lnSpc>
                <a:spcPct val="90000"/>
              </a:lnSpc>
            </a:pPr>
            <a:endParaRPr lang="en-US" altLang="en-US" sz="1600" dirty="0">
              <a:solidFill>
                <a:srgbClr val="800080"/>
              </a:solidFill>
              <a:latin typeface="Courier New" panose="02070309020205020404" pitchFamily="49" charset="0"/>
            </a:endParaRPr>
          </a:p>
          <a:p>
            <a:pPr>
              <a:lnSpc>
                <a:spcPct val="90000"/>
              </a:lnSpc>
            </a:pPr>
            <a:r>
              <a:rPr lang="en-US" altLang="en-US" sz="1600" b="1" dirty="0">
                <a:solidFill>
                  <a:srgbClr val="800080"/>
                </a:solidFill>
                <a:latin typeface="Courier New" panose="02070309020205020404" pitchFamily="49" charset="0"/>
              </a:rPr>
              <a:t>void display() </a:t>
            </a:r>
          </a:p>
          <a:p>
            <a:pPr>
              <a:lnSpc>
                <a:spcPct val="90000"/>
              </a:lnSpc>
            </a:pPr>
            <a:r>
              <a:rPr lang="en-US" altLang="en-US" sz="1600" dirty="0">
                <a:solidFill>
                  <a:srgbClr val="800080"/>
                </a:solidFill>
                <a:latin typeface="Courier New" panose="02070309020205020404" pitchFamily="49" charset="0"/>
              </a:rPr>
              <a:t>{</a:t>
            </a:r>
          </a:p>
          <a:p>
            <a:pPr>
              <a:lnSpc>
                <a:spcPct val="90000"/>
              </a:lnSpc>
            </a:pPr>
            <a:r>
              <a:rPr lang="en-US" altLang="en-US" sz="1600" dirty="0">
                <a:solidFill>
                  <a:srgbClr val="800080"/>
                </a:solidFill>
                <a:latin typeface="Courier New" panose="02070309020205020404" pitchFamily="49" charset="0"/>
              </a:rPr>
              <a:t>     for(temp=front; temp!=NULL;  temp=temp-&gt;next) </a:t>
            </a:r>
          </a:p>
          <a:p>
            <a:pPr>
              <a:lnSpc>
                <a:spcPct val="90000"/>
              </a:lnSpc>
            </a:pPr>
            <a:r>
              <a:rPr lang="en-US" altLang="en-US" sz="1600" dirty="0">
                <a:solidFill>
                  <a:srgbClr val="800080"/>
                </a:solidFill>
                <a:latin typeface="Courier New" panose="02070309020205020404" pitchFamily="49" charset="0"/>
              </a:rPr>
              <a:t>        </a:t>
            </a:r>
            <a:r>
              <a:rPr lang="en-US" altLang="en-US" sz="1600" dirty="0" err="1">
                <a:solidFill>
                  <a:srgbClr val="800080"/>
                </a:solidFill>
                <a:latin typeface="Courier New" panose="02070309020205020404" pitchFamily="49" charset="0"/>
              </a:rPr>
              <a:t>printf</a:t>
            </a:r>
            <a:r>
              <a:rPr lang="en-US" altLang="en-US" sz="1600" dirty="0">
                <a:solidFill>
                  <a:srgbClr val="800080"/>
                </a:solidFill>
                <a:latin typeface="Courier New" panose="02070309020205020404" pitchFamily="49" charset="0"/>
              </a:rPr>
              <a:t>("%d ", temp-&gt;value);</a:t>
            </a:r>
          </a:p>
          <a:p>
            <a:pPr>
              <a:lnSpc>
                <a:spcPct val="90000"/>
              </a:lnSpc>
            </a:pPr>
            <a:endParaRPr lang="en-US" altLang="en-US" sz="1600" dirty="0">
              <a:solidFill>
                <a:srgbClr val="800080"/>
              </a:solidFill>
              <a:latin typeface="Courier New" panose="02070309020205020404" pitchFamily="49" charset="0"/>
            </a:endParaRPr>
          </a:p>
          <a:p>
            <a:pPr>
              <a:lnSpc>
                <a:spcPct val="90000"/>
              </a:lnSpc>
            </a:pPr>
            <a:r>
              <a:rPr lang="en-US" altLang="en-US" sz="1600" dirty="0">
                <a:solidFill>
                  <a:srgbClr val="800080"/>
                </a:solidFill>
                <a:latin typeface="Courier New" panose="02070309020205020404" pitchFamily="49" charset="0"/>
              </a:rPr>
              <a:t>}</a:t>
            </a:r>
          </a:p>
        </p:txBody>
      </p:sp>
    </p:spTree>
    <p:extLst>
      <p:ext uri="{BB962C8B-B14F-4D97-AF65-F5344CB8AC3E}">
        <p14:creationId xmlns:p14="http://schemas.microsoft.com/office/powerpoint/2010/main" val="3698859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73BBB-A30B-4574-98B6-37DA15983407}"/>
              </a:ext>
            </a:extLst>
          </p:cNvPr>
          <p:cNvSpPr>
            <a:spLocks noGrp="1"/>
          </p:cNvSpPr>
          <p:nvPr>
            <p:ph type="title"/>
          </p:nvPr>
        </p:nvSpPr>
        <p:spPr/>
        <p:txBody>
          <a:bodyPr/>
          <a:lstStyle/>
          <a:p>
            <a:r>
              <a:rPr lang="en-US" altLang="en-US" dirty="0"/>
              <a:t>Queue Summary</a:t>
            </a:r>
            <a:endParaRPr lang="en-IN" dirty="0"/>
          </a:p>
        </p:txBody>
      </p:sp>
      <p:graphicFrame>
        <p:nvGraphicFramePr>
          <p:cNvPr id="4" name="Table 3">
            <a:extLst>
              <a:ext uri="{FF2B5EF4-FFF2-40B4-BE49-F238E27FC236}">
                <a16:creationId xmlns:a16="http://schemas.microsoft.com/office/drawing/2014/main" id="{4C723DE2-7DFD-4717-8165-A04170AFCE9C}"/>
              </a:ext>
            </a:extLst>
          </p:cNvPr>
          <p:cNvGraphicFramePr>
            <a:graphicFrameLocks noGrp="1"/>
          </p:cNvGraphicFramePr>
          <p:nvPr>
            <p:extLst>
              <p:ext uri="{D42A27DB-BD31-4B8C-83A1-F6EECF244321}">
                <p14:modId xmlns:p14="http://schemas.microsoft.com/office/powerpoint/2010/main" val="3196774319"/>
              </p:ext>
            </p:extLst>
          </p:nvPr>
        </p:nvGraphicFramePr>
        <p:xfrm>
          <a:off x="743607" y="1224784"/>
          <a:ext cx="10576034" cy="4703050"/>
        </p:xfrm>
        <a:graphic>
          <a:graphicData uri="http://schemas.openxmlformats.org/drawingml/2006/table">
            <a:tbl>
              <a:tblPr/>
              <a:tblGrid>
                <a:gridCol w="2644009">
                  <a:extLst>
                    <a:ext uri="{9D8B030D-6E8A-4147-A177-3AD203B41FA5}">
                      <a16:colId xmlns:a16="http://schemas.microsoft.com/office/drawing/2014/main" val="20000"/>
                    </a:ext>
                  </a:extLst>
                </a:gridCol>
                <a:gridCol w="1814516">
                  <a:extLst>
                    <a:ext uri="{9D8B030D-6E8A-4147-A177-3AD203B41FA5}">
                      <a16:colId xmlns:a16="http://schemas.microsoft.com/office/drawing/2014/main" val="20001"/>
                    </a:ext>
                  </a:extLst>
                </a:gridCol>
                <a:gridCol w="3836404">
                  <a:extLst>
                    <a:ext uri="{9D8B030D-6E8A-4147-A177-3AD203B41FA5}">
                      <a16:colId xmlns:a16="http://schemas.microsoft.com/office/drawing/2014/main" val="20002"/>
                    </a:ext>
                  </a:extLst>
                </a:gridCol>
                <a:gridCol w="2281105">
                  <a:extLst>
                    <a:ext uri="{9D8B030D-6E8A-4147-A177-3AD203B41FA5}">
                      <a16:colId xmlns:a16="http://schemas.microsoft.com/office/drawing/2014/main" val="20003"/>
                    </a:ext>
                  </a:extLst>
                </a:gridCol>
              </a:tblGrid>
              <a:tr h="1167344">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endPar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Array </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Fixed-Size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Array</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Expandable (doubling strategy)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List</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Singly-Linked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819386">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dequeue()</a:t>
                      </a:r>
                    </a:p>
                    <a:p>
                      <a:pPr marL="0" marR="0" lvl="0" indent="0" algn="l" defTabSz="4572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 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extLst>
                  <a:ext uri="{0D108BD9-81ED-4DB2-BD59-A6C34878D82A}">
                    <a16:rowId xmlns:a16="http://schemas.microsoft.com/office/drawing/2014/main" val="10001"/>
                  </a:ext>
                </a:extLst>
              </a:tr>
              <a:tr h="1077548">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enqueue(o)</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O(n) Worst Case</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 Best Case</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 Average Case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extLst>
                  <a:ext uri="{0D108BD9-81ED-4DB2-BD59-A6C34878D82A}">
                    <a16:rowId xmlns:a16="http://schemas.microsoft.com/office/drawing/2014/main" val="10002"/>
                  </a:ext>
                </a:extLst>
              </a:tr>
              <a:tr h="819386">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front()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extLst>
                  <a:ext uri="{0D108BD9-81ED-4DB2-BD59-A6C34878D82A}">
                    <a16:rowId xmlns:a16="http://schemas.microsoft.com/office/drawing/2014/main" val="10003"/>
                  </a:ext>
                </a:extLst>
              </a:tr>
              <a:tr h="819386">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Size(), isEmpty()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5555290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Circular Queue</a:t>
            </a:r>
            <a:endParaRPr lang="en-US" dirty="0"/>
          </a:p>
        </p:txBody>
      </p:sp>
      <p:sp>
        <p:nvSpPr>
          <p:cNvPr id="3" name="Content Placeholder 2"/>
          <p:cNvSpPr>
            <a:spLocks noGrp="1"/>
          </p:cNvSpPr>
          <p:nvPr>
            <p:ph idx="1"/>
          </p:nvPr>
        </p:nvSpPr>
        <p:spPr/>
        <p:txBody>
          <a:bodyPr>
            <a:normAutofit/>
          </a:bodyPr>
          <a:lstStyle/>
          <a:p>
            <a:r>
              <a:rPr lang="en-IN" dirty="0"/>
              <a:t>A more suitable method of representing simple queue which prevents an excessive use of memory is to </a:t>
            </a:r>
            <a:r>
              <a:rPr lang="en-IN" b="1" dirty="0">
                <a:solidFill>
                  <a:srgbClr val="C00000"/>
                </a:solidFill>
              </a:rPr>
              <a:t>arrange the elements </a:t>
            </a:r>
            <a:r>
              <a:rPr lang="en-IN" dirty="0"/>
              <a:t>Q[1], Q[2]….,Q[n] </a:t>
            </a:r>
            <a:r>
              <a:rPr lang="en-IN" b="1" dirty="0">
                <a:solidFill>
                  <a:srgbClr val="C00000"/>
                </a:solidFill>
              </a:rPr>
              <a:t>in a circular fashion </a:t>
            </a:r>
            <a:r>
              <a:rPr lang="en-IN" dirty="0"/>
              <a:t>with Q[1] following Q[n], this is called </a:t>
            </a:r>
            <a:r>
              <a:rPr lang="en-IN" b="1" dirty="0">
                <a:solidFill>
                  <a:srgbClr val="C00000"/>
                </a:solidFill>
              </a:rPr>
              <a:t>circular queue</a:t>
            </a:r>
            <a:r>
              <a:rPr lang="en-IN" b="1" dirty="0"/>
              <a:t>.</a:t>
            </a:r>
          </a:p>
          <a:p>
            <a:r>
              <a:rPr lang="en-IN" dirty="0"/>
              <a:t>In  circular queue the last node is connected back to the first node to make a  circle.</a:t>
            </a:r>
          </a:p>
          <a:p>
            <a:r>
              <a:rPr lang="en-IN" dirty="0"/>
              <a:t>Circular queue is a linear data structure. It follows </a:t>
            </a:r>
            <a:r>
              <a:rPr lang="en-IN" b="1" dirty="0">
                <a:solidFill>
                  <a:srgbClr val="C00000"/>
                </a:solidFill>
              </a:rPr>
              <a:t>FIFO</a:t>
            </a:r>
            <a:r>
              <a:rPr lang="en-IN" dirty="0"/>
              <a:t> principle. </a:t>
            </a:r>
          </a:p>
          <a:p>
            <a:r>
              <a:rPr lang="en-IN" dirty="0"/>
              <a:t>It is also called as </a:t>
            </a:r>
            <a:r>
              <a:rPr lang="en-IN" b="1" dirty="0">
                <a:solidFill>
                  <a:srgbClr val="C00000"/>
                </a:solidFill>
              </a:rPr>
              <a:t>“Ring buffer”</a:t>
            </a:r>
            <a:r>
              <a:rPr lang="en-IN" dirty="0">
                <a:solidFill>
                  <a:srgbClr val="C00000"/>
                </a:solidFill>
              </a:rPr>
              <a:t>.</a:t>
            </a:r>
            <a:endParaRPr lang="en-US" dirty="0">
              <a:solidFill>
                <a:srgbClr val="C00000"/>
              </a:solidFill>
            </a:endParaRPr>
          </a:p>
        </p:txBody>
      </p:sp>
      <p:pic>
        <p:nvPicPr>
          <p:cNvPr id="1026" name="Picture 2" descr="E:\Clients\Darshan\Data Structure\images\circularqueues.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6695" y="3482886"/>
            <a:ext cx="3198650" cy="2917335"/>
          </a:xfrm>
          <a:prstGeom prst="rect">
            <a:avLst/>
          </a:prstGeom>
          <a:noFill/>
          <a:extLst>
            <a:ext uri="{909E8E84-426E-40DD-AFC4-6F175D3DCCD1}">
              <a14:hiddenFill xmlns:a14="http://schemas.microsoft.com/office/drawing/2010/main">
                <a:solidFill>
                  <a:srgbClr val="FFFFFF"/>
                </a:solidFill>
              </a14:hiddenFill>
            </a:ext>
          </a:extLst>
        </p:spPr>
      </p:pic>
      <p:grpSp>
        <p:nvGrpSpPr>
          <p:cNvPr id="5" name="Group 4"/>
          <p:cNvGrpSpPr/>
          <p:nvPr/>
        </p:nvGrpSpPr>
        <p:grpSpPr>
          <a:xfrm>
            <a:off x="1797422" y="4572580"/>
            <a:ext cx="3567953" cy="739008"/>
            <a:chOff x="5486400" y="1219200"/>
            <a:chExt cx="2655064" cy="457200"/>
          </a:xfrm>
        </p:grpSpPr>
        <p:sp>
          <p:nvSpPr>
            <p:cNvPr id="6" name="Rectangle 5"/>
            <p:cNvSpPr/>
            <p:nvPr/>
          </p:nvSpPr>
          <p:spPr>
            <a:xfrm>
              <a:off x="5486400"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Q[1]</a:t>
              </a:r>
              <a:endParaRPr lang="en-US" sz="2000" b="1" dirty="0"/>
            </a:p>
          </p:txBody>
        </p:sp>
        <p:sp>
          <p:nvSpPr>
            <p:cNvPr id="7" name="Rectangle 6"/>
            <p:cNvSpPr/>
            <p:nvPr/>
          </p:nvSpPr>
          <p:spPr>
            <a:xfrm>
              <a:off x="6013378"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Q[2]</a:t>
              </a:r>
              <a:endParaRPr lang="en-US" sz="2000" b="1" dirty="0"/>
            </a:p>
          </p:txBody>
        </p:sp>
        <p:sp>
          <p:nvSpPr>
            <p:cNvPr id="8" name="Rectangle 7"/>
            <p:cNvSpPr/>
            <p:nvPr/>
          </p:nvSpPr>
          <p:spPr>
            <a:xfrm>
              <a:off x="654219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9" name="Rectangle 8"/>
            <p:cNvSpPr/>
            <p:nvPr/>
          </p:nvSpPr>
          <p:spPr>
            <a:xfrm>
              <a:off x="70746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800"/>
            </a:p>
          </p:txBody>
        </p:sp>
        <p:sp>
          <p:nvSpPr>
            <p:cNvPr id="10" name="Rectangle 9"/>
            <p:cNvSpPr/>
            <p:nvPr/>
          </p:nvSpPr>
          <p:spPr>
            <a:xfrm>
              <a:off x="7608064" y="1219200"/>
              <a:ext cx="533400"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000" b="1" dirty="0"/>
                <a:t>Q[n]</a:t>
              </a:r>
              <a:endParaRPr lang="en-US" sz="2000" b="1" dirty="0"/>
            </a:p>
          </p:txBody>
        </p:sp>
      </p:grpSp>
      <p:cxnSp>
        <p:nvCxnSpPr>
          <p:cNvPr id="11" name="Straight Connector 10"/>
          <p:cNvCxnSpPr>
            <a:stCxn id="10" idx="3"/>
          </p:cNvCxnSpPr>
          <p:nvPr/>
        </p:nvCxnSpPr>
        <p:spPr>
          <a:xfrm>
            <a:off x="5365375" y="4942084"/>
            <a:ext cx="349245" cy="0"/>
          </a:xfrm>
          <a:prstGeom prst="line">
            <a:avLst/>
          </a:prstGeom>
          <a:ln w="28575">
            <a:solidFill>
              <a:schemeClr val="tx1"/>
            </a:solidFill>
          </a:ln>
          <a:effectLst>
            <a:outerShdw blurRad="50800" dist="38100" dir="2700000" algn="tl" rotWithShape="0">
              <a:prstClr val="black">
                <a:alpha val="40000"/>
              </a:prstClr>
            </a:outerShdw>
          </a:effectLst>
        </p:spPr>
        <p:style>
          <a:lnRef idx="3">
            <a:schemeClr val="dk1"/>
          </a:lnRef>
          <a:fillRef idx="0">
            <a:schemeClr val="dk1"/>
          </a:fillRef>
          <a:effectRef idx="2">
            <a:schemeClr val="dk1"/>
          </a:effectRef>
          <a:fontRef idx="minor">
            <a:schemeClr val="tx1"/>
          </a:fontRef>
        </p:style>
      </p:cxnSp>
      <p:cxnSp>
        <p:nvCxnSpPr>
          <p:cNvPr id="13" name="Straight Connector 12"/>
          <p:cNvCxnSpPr/>
          <p:nvPr/>
        </p:nvCxnSpPr>
        <p:spPr>
          <a:xfrm>
            <a:off x="5714620" y="4942084"/>
            <a:ext cx="0" cy="598104"/>
          </a:xfrm>
          <a:prstGeom prst="line">
            <a:avLst/>
          </a:prstGeom>
          <a:ln w="28575">
            <a:solidFill>
              <a:schemeClr val="tx1"/>
            </a:solidFill>
          </a:ln>
          <a:effectLst>
            <a:outerShdw blurRad="50800" dist="38100" dir="2700000" algn="tl" rotWithShape="0">
              <a:prstClr val="black">
                <a:alpha val="40000"/>
              </a:prstClr>
            </a:outerShdw>
          </a:effectLst>
        </p:spPr>
        <p:style>
          <a:lnRef idx="3">
            <a:schemeClr val="dk1"/>
          </a:lnRef>
          <a:fillRef idx="0">
            <a:schemeClr val="dk1"/>
          </a:fillRef>
          <a:effectRef idx="2">
            <a:schemeClr val="dk1"/>
          </a:effectRef>
          <a:fontRef idx="minor">
            <a:schemeClr val="tx1"/>
          </a:fontRef>
        </p:style>
      </p:cxnSp>
      <p:cxnSp>
        <p:nvCxnSpPr>
          <p:cNvPr id="15" name="Straight Connector 14"/>
          <p:cNvCxnSpPr/>
          <p:nvPr/>
        </p:nvCxnSpPr>
        <p:spPr>
          <a:xfrm flipH="1">
            <a:off x="1492623" y="5540188"/>
            <a:ext cx="4221997" cy="0"/>
          </a:xfrm>
          <a:prstGeom prst="line">
            <a:avLst/>
          </a:prstGeom>
          <a:ln w="28575">
            <a:solidFill>
              <a:schemeClr val="tx1"/>
            </a:solidFill>
          </a:ln>
          <a:effectLst>
            <a:outerShdw blurRad="50800" dist="38100" dir="2700000" algn="tl" rotWithShape="0">
              <a:prstClr val="black">
                <a:alpha val="40000"/>
              </a:prstClr>
            </a:outerShdw>
          </a:effectLst>
        </p:spPr>
        <p:style>
          <a:lnRef idx="3">
            <a:schemeClr val="dk1"/>
          </a:lnRef>
          <a:fillRef idx="0">
            <a:schemeClr val="dk1"/>
          </a:fillRef>
          <a:effectRef idx="2">
            <a:schemeClr val="dk1"/>
          </a:effectRef>
          <a:fontRef idx="minor">
            <a:schemeClr val="tx1"/>
          </a:fontRef>
        </p:style>
      </p:cxnSp>
      <p:cxnSp>
        <p:nvCxnSpPr>
          <p:cNvPr id="17" name="Straight Connector 16"/>
          <p:cNvCxnSpPr/>
          <p:nvPr/>
        </p:nvCxnSpPr>
        <p:spPr>
          <a:xfrm flipV="1">
            <a:off x="1492623" y="4942084"/>
            <a:ext cx="0" cy="598104"/>
          </a:xfrm>
          <a:prstGeom prst="line">
            <a:avLst/>
          </a:prstGeom>
          <a:ln w="28575">
            <a:solidFill>
              <a:schemeClr val="tx1"/>
            </a:solidFill>
          </a:ln>
          <a:effectLst>
            <a:outerShdw blurRad="50800" dist="38100" dir="2700000" algn="tl" rotWithShape="0">
              <a:prstClr val="black">
                <a:alpha val="40000"/>
              </a:prstClr>
            </a:outerShdw>
          </a:effectLst>
        </p:spPr>
        <p:style>
          <a:lnRef idx="3">
            <a:schemeClr val="dk1"/>
          </a:lnRef>
          <a:fillRef idx="0">
            <a:schemeClr val="dk1"/>
          </a:fillRef>
          <a:effectRef idx="2">
            <a:schemeClr val="dk1"/>
          </a:effectRef>
          <a:fontRef idx="minor">
            <a:schemeClr val="tx1"/>
          </a:fontRef>
        </p:style>
      </p:cxnSp>
      <p:cxnSp>
        <p:nvCxnSpPr>
          <p:cNvPr id="19" name="Straight Arrow Connector 18"/>
          <p:cNvCxnSpPr>
            <a:endCxn id="6" idx="1"/>
          </p:cNvCxnSpPr>
          <p:nvPr/>
        </p:nvCxnSpPr>
        <p:spPr>
          <a:xfrm>
            <a:off x="1492622" y="4942084"/>
            <a:ext cx="304800" cy="0"/>
          </a:xfrm>
          <a:prstGeom prst="straightConnector1">
            <a:avLst/>
          </a:prstGeom>
          <a:ln w="28575">
            <a:solidFill>
              <a:schemeClr val="tx1"/>
            </a:solidFill>
            <a:tailEnd type="arrow"/>
          </a:ln>
          <a:effectLst>
            <a:outerShdw blurRad="50800" dist="38100" dir="2700000" algn="tl" rotWithShape="0">
              <a:prstClr val="black">
                <a:alpha val="40000"/>
              </a:prstClr>
            </a:outerShdw>
          </a:effectLst>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60057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9"/>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Procedure: CQINSERT (F, R, Q, N, Y)</a:t>
            </a:r>
            <a:endParaRPr lang="en-US" dirty="0"/>
          </a:p>
        </p:txBody>
      </p:sp>
      <p:sp>
        <p:nvSpPr>
          <p:cNvPr id="3" name="Content Placeholder 2"/>
          <p:cNvSpPr>
            <a:spLocks noGrp="1"/>
          </p:cNvSpPr>
          <p:nvPr>
            <p:ph idx="1"/>
          </p:nvPr>
        </p:nvSpPr>
        <p:spPr/>
        <p:txBody>
          <a:bodyPr/>
          <a:lstStyle/>
          <a:p>
            <a:r>
              <a:rPr lang="en-IN" dirty="0"/>
              <a:t>This procedure inserts </a:t>
            </a:r>
            <a:r>
              <a:rPr lang="en-IN" b="1" dirty="0">
                <a:solidFill>
                  <a:srgbClr val="C00000"/>
                </a:solidFill>
              </a:rPr>
              <a:t>Y</a:t>
            </a:r>
            <a:r>
              <a:rPr lang="en-IN" dirty="0"/>
              <a:t> at rear end of the Circular Queue.</a:t>
            </a:r>
          </a:p>
          <a:p>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dirty="0">
                <a:solidFill>
                  <a:srgbClr val="C00000"/>
                </a:solidFill>
              </a:rPr>
              <a:t> </a:t>
            </a:r>
            <a:r>
              <a:rPr lang="en-IN" dirty="0"/>
              <a:t>containing </a:t>
            </a:r>
            <a:r>
              <a:rPr lang="en-IN" b="1" dirty="0">
                <a:solidFill>
                  <a:srgbClr val="C00000"/>
                </a:solidFill>
              </a:rPr>
              <a:t>N</a:t>
            </a:r>
            <a:r>
              <a:rPr lang="en-IN" dirty="0">
                <a:solidFill>
                  <a:srgbClr val="C00000"/>
                </a:solidFill>
              </a:rPr>
              <a:t> </a:t>
            </a:r>
            <a:r>
              <a:rPr lang="en-IN" dirty="0"/>
              <a:t>elements.</a:t>
            </a:r>
          </a:p>
          <a:p>
            <a:r>
              <a:rPr lang="en-IN" b="1" dirty="0">
                <a:solidFill>
                  <a:srgbClr val="C00000"/>
                </a:solidFill>
              </a:rPr>
              <a:t>F</a:t>
            </a:r>
            <a:r>
              <a:rPr lang="en-IN" dirty="0">
                <a:solidFill>
                  <a:srgbClr val="C00000"/>
                </a:solidFill>
              </a:rPr>
              <a:t> </a:t>
            </a:r>
            <a:r>
              <a:rPr lang="en-IN" dirty="0"/>
              <a:t>is pointer to the front element of a queue.</a:t>
            </a:r>
          </a:p>
          <a:p>
            <a:r>
              <a:rPr lang="en-IN" b="1" dirty="0">
                <a:solidFill>
                  <a:srgbClr val="C00000"/>
                </a:solidFill>
              </a:rPr>
              <a:t>R</a:t>
            </a:r>
            <a:r>
              <a:rPr lang="en-IN" dirty="0">
                <a:solidFill>
                  <a:srgbClr val="C00000"/>
                </a:solidFill>
              </a:rPr>
              <a:t> </a:t>
            </a:r>
            <a:r>
              <a:rPr lang="en-IN" dirty="0"/>
              <a:t>is pointer to the rear element of a queue.</a:t>
            </a:r>
          </a:p>
          <a:p>
            <a:endParaRPr lang="en-US" dirty="0"/>
          </a:p>
        </p:txBody>
      </p:sp>
      <p:sp>
        <p:nvSpPr>
          <p:cNvPr id="4" name="TextBox 3"/>
          <p:cNvSpPr txBox="1"/>
          <p:nvPr/>
        </p:nvSpPr>
        <p:spPr>
          <a:xfrm>
            <a:off x="426290" y="3066629"/>
            <a:ext cx="5543586" cy="3200876"/>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[Overflow]</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b="1" dirty="0">
                <a:latin typeface="Consolas" pitchFamily="49" charset="0"/>
                <a:cs typeface="Consolas" pitchFamily="49" charset="0"/>
              </a:rPr>
              <a:t>    F=(R+1)% N</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Write(‘Overflow’)</a:t>
            </a:r>
          </a:p>
          <a:p>
            <a:r>
              <a:rPr lang="en-IN" b="1" dirty="0">
                <a:latin typeface="Consolas" pitchFamily="49" charset="0"/>
                <a:cs typeface="Consolas" pitchFamily="49" charset="0"/>
              </a:rPr>
              <a:t>	  Return</a:t>
            </a:r>
          </a:p>
          <a:p>
            <a:pPr marL="444500" indent="-444500"/>
            <a:r>
              <a:rPr lang="en-IN" sz="2000" b="1" dirty="0">
                <a:solidFill>
                  <a:schemeClr val="tx2"/>
                </a:solidFill>
                <a:latin typeface="Consolas" pitchFamily="49" charset="0"/>
                <a:cs typeface="Consolas" pitchFamily="49" charset="0"/>
              </a:rPr>
              <a:t>2. [Insert element]</a:t>
            </a:r>
          </a:p>
          <a:p>
            <a:r>
              <a:rPr lang="en-IN" b="1" dirty="0">
                <a:latin typeface="Consolas" pitchFamily="49" charset="0"/>
                <a:cs typeface="Consolas" pitchFamily="49" charset="0"/>
              </a:rPr>
              <a:t>	R </a:t>
            </a:r>
            <a:r>
              <a:rPr lang="en-IN" b="1" dirty="0">
                <a:latin typeface="Consolas" pitchFamily="49" charset="0"/>
                <a:cs typeface="Consolas" pitchFamily="49" charset="0"/>
                <a:sym typeface="Wingdings" panose="05000000000000000000" pitchFamily="2" charset="2"/>
              </a:rPr>
              <a:t> R+1</a:t>
            </a:r>
            <a:endParaRPr lang="en-IN" b="1" dirty="0">
              <a:latin typeface="Consolas" pitchFamily="49" charset="0"/>
              <a:cs typeface="Consolas" pitchFamily="49" charset="0"/>
            </a:endParaRPr>
          </a:p>
          <a:p>
            <a:r>
              <a:rPr lang="en-IN" b="1" dirty="0">
                <a:latin typeface="Consolas" pitchFamily="49" charset="0"/>
                <a:cs typeface="Consolas" pitchFamily="49" charset="0"/>
              </a:rPr>
              <a:t>       Q[R] </a:t>
            </a:r>
            <a:r>
              <a:rPr lang="en-IN" b="1" dirty="0">
                <a:latin typeface="Consolas" pitchFamily="49" charset="0"/>
                <a:cs typeface="Consolas" pitchFamily="49" charset="0"/>
                <a:sym typeface="Wingdings" pitchFamily="2" charset="2"/>
              </a:rPr>
              <a:t></a:t>
            </a:r>
            <a:r>
              <a:rPr lang="en-IN" b="1" dirty="0">
                <a:latin typeface="Consolas" pitchFamily="49" charset="0"/>
                <a:cs typeface="Consolas" pitchFamily="49" charset="0"/>
              </a:rPr>
              <a:t> Y</a:t>
            </a:r>
          </a:p>
          <a:p>
            <a:pPr marL="444500" indent="-444500"/>
            <a:r>
              <a:rPr lang="en-IN" sz="2000" b="1" dirty="0">
                <a:solidFill>
                  <a:schemeClr val="tx2"/>
                </a:solidFill>
                <a:latin typeface="Consolas" pitchFamily="49" charset="0"/>
                <a:cs typeface="Consolas" pitchFamily="49" charset="0"/>
              </a:rPr>
              <a:t>3. [Is front pointer properly set?]</a:t>
            </a:r>
          </a:p>
          <a:p>
            <a:r>
              <a:rPr lang="en-IN" dirty="0">
                <a:latin typeface="Consolas" pitchFamily="49" charset="0"/>
                <a:cs typeface="Consolas" pitchFamily="49" charset="0"/>
              </a:rPr>
              <a:t>      </a:t>
            </a:r>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b="1" dirty="0">
                <a:latin typeface="Consolas" pitchFamily="49" charset="0"/>
                <a:cs typeface="Consolas" pitchFamily="49" charset="0"/>
              </a:rPr>
              <a:t> 	F=0</a:t>
            </a:r>
          </a:p>
          <a:p>
            <a:r>
              <a:rPr lang="en-IN" b="1"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b="1" dirty="0">
                <a:latin typeface="Consolas" pitchFamily="49" charset="0"/>
                <a:cs typeface="Consolas" pitchFamily="49" charset="0"/>
              </a:rPr>
              <a:t>	F </a:t>
            </a:r>
            <a:r>
              <a:rPr lang="en-IN" b="1" dirty="0">
                <a:latin typeface="Consolas" pitchFamily="49" charset="0"/>
                <a:cs typeface="Consolas" pitchFamily="49" charset="0"/>
                <a:sym typeface="Wingdings" pitchFamily="2" charset="2"/>
              </a:rPr>
              <a:t></a:t>
            </a:r>
            <a:r>
              <a:rPr lang="en-IN" b="1" dirty="0">
                <a:latin typeface="Consolas" pitchFamily="49" charset="0"/>
                <a:cs typeface="Consolas" pitchFamily="49" charset="0"/>
              </a:rPr>
              <a:t> 1</a:t>
            </a:r>
          </a:p>
          <a:p>
            <a:r>
              <a:rPr lang="en-IN" b="1" dirty="0">
                <a:latin typeface="Consolas" pitchFamily="49" charset="0"/>
                <a:cs typeface="Consolas" pitchFamily="49" charset="0"/>
              </a:rPr>
              <a:t>       Return</a:t>
            </a:r>
          </a:p>
        </p:txBody>
      </p:sp>
      <p:grpSp>
        <p:nvGrpSpPr>
          <p:cNvPr id="36" name="Group 35"/>
          <p:cNvGrpSpPr/>
          <p:nvPr/>
        </p:nvGrpSpPr>
        <p:grpSpPr>
          <a:xfrm>
            <a:off x="9400637" y="889715"/>
            <a:ext cx="2286000" cy="1306320"/>
            <a:chOff x="239486" y="2480130"/>
            <a:chExt cx="2286000" cy="1306320"/>
          </a:xfrm>
        </p:grpSpPr>
        <p:grpSp>
          <p:nvGrpSpPr>
            <p:cNvPr id="7" name="Group 6"/>
            <p:cNvGrpSpPr/>
            <p:nvPr/>
          </p:nvGrpSpPr>
          <p:grpSpPr>
            <a:xfrm>
              <a:off x="500744" y="3176850"/>
              <a:ext cx="1828800" cy="381000"/>
              <a:chOff x="381000" y="1219200"/>
              <a:chExt cx="1828800" cy="381000"/>
            </a:xfrm>
          </p:grpSpPr>
          <p:sp>
            <p:nvSpPr>
              <p:cNvPr id="8" name="Rectangle 7"/>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11" name="Rectangle 10"/>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15</a:t>
                </a:r>
                <a:endParaRPr lang="en-US" b="1" dirty="0"/>
              </a:p>
            </p:txBody>
          </p:sp>
        </p:grpSp>
        <p:cxnSp>
          <p:nvCxnSpPr>
            <p:cNvPr id="13" name="Straight Connector 12"/>
            <p:cNvCxnSpPr>
              <a:stCxn id="11" idx="3"/>
            </p:cNvCxnSpPr>
            <p:nvPr/>
          </p:nvCxnSpPr>
          <p:spPr>
            <a:xfrm>
              <a:off x="2329544" y="3367350"/>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a:xfrm>
              <a:off x="2514602" y="3367350"/>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7" name="Straight Connector 16"/>
            <p:cNvCxnSpPr/>
            <p:nvPr/>
          </p:nvCxnSpPr>
          <p:spPr>
            <a:xfrm flipH="1">
              <a:off x="239486" y="3786450"/>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21" name="Straight Connector 20"/>
            <p:cNvCxnSpPr/>
            <p:nvPr/>
          </p:nvCxnSpPr>
          <p:spPr>
            <a:xfrm flipV="1">
              <a:off x="239486" y="3367350"/>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23" name="Straight Arrow Connector 22"/>
            <p:cNvCxnSpPr/>
            <p:nvPr/>
          </p:nvCxnSpPr>
          <p:spPr>
            <a:xfrm>
              <a:off x="239486" y="3367350"/>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31" name="Group 30"/>
            <p:cNvGrpSpPr/>
            <p:nvPr/>
          </p:nvGrpSpPr>
          <p:grpSpPr>
            <a:xfrm>
              <a:off x="1937650" y="2480142"/>
              <a:ext cx="314510" cy="680083"/>
              <a:chOff x="1937650" y="5094504"/>
              <a:chExt cx="314510" cy="680083"/>
            </a:xfrm>
          </p:grpSpPr>
          <p:sp>
            <p:nvSpPr>
              <p:cNvPr id="24" name="TextBox 23"/>
              <p:cNvSpPr txBox="1"/>
              <p:nvPr/>
            </p:nvSpPr>
            <p:spPr>
              <a:xfrm>
                <a:off x="1937650" y="5094504"/>
                <a:ext cx="314510" cy="369332"/>
              </a:xfrm>
              <a:prstGeom prst="rect">
                <a:avLst/>
              </a:prstGeom>
              <a:noFill/>
              <a:ln>
                <a:noFill/>
              </a:ln>
            </p:spPr>
            <p:txBody>
              <a:bodyPr wrap="none" rtlCol="0">
                <a:spAutoFit/>
              </a:bodyPr>
              <a:lstStyle/>
              <a:p>
                <a:r>
                  <a:rPr lang="en-IN" b="1" dirty="0">
                    <a:solidFill>
                      <a:srgbClr val="C00000"/>
                    </a:solidFill>
                  </a:rPr>
                  <a:t>R</a:t>
                </a:r>
                <a:endParaRPr lang="en-US" b="1" dirty="0">
                  <a:solidFill>
                    <a:srgbClr val="C00000"/>
                  </a:solidFill>
                </a:endParaRPr>
              </a:p>
            </p:txBody>
          </p:sp>
          <p:cxnSp>
            <p:nvCxnSpPr>
              <p:cNvPr id="28" name="Straight Arrow Connector 27"/>
              <p:cNvCxnSpPr>
                <a:stCxn id="24" idx="2"/>
                <a:endCxn id="11" idx="0"/>
              </p:cNvCxnSpPr>
              <p:nvPr/>
            </p:nvCxnSpPr>
            <p:spPr>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32" name="Group 31"/>
            <p:cNvGrpSpPr/>
            <p:nvPr/>
          </p:nvGrpSpPr>
          <p:grpSpPr>
            <a:xfrm>
              <a:off x="1490955" y="2480130"/>
              <a:ext cx="293670" cy="696708"/>
              <a:chOff x="1936047" y="5094504"/>
              <a:chExt cx="293670" cy="696708"/>
            </a:xfrm>
          </p:grpSpPr>
          <p:sp>
            <p:nvSpPr>
              <p:cNvPr id="33" name="TextBox 32"/>
              <p:cNvSpPr txBox="1"/>
              <p:nvPr/>
            </p:nvSpPr>
            <p:spPr>
              <a:xfrm>
                <a:off x="1936047" y="5094504"/>
                <a:ext cx="293670" cy="369332"/>
              </a:xfrm>
              <a:prstGeom prst="rect">
                <a:avLst/>
              </a:prstGeom>
              <a:noFill/>
              <a:ln>
                <a:noFill/>
              </a:ln>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34" name="Straight Arrow Connector 33"/>
              <p:cNvCxnSpPr>
                <a:stCxn id="33" idx="2"/>
              </p:cNvCxnSpPr>
              <p:nvPr/>
            </p:nvCxnSpPr>
            <p:spPr>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grpSp>
        <p:nvGrpSpPr>
          <p:cNvPr id="54" name="Group 53"/>
          <p:cNvGrpSpPr/>
          <p:nvPr/>
        </p:nvGrpSpPr>
        <p:grpSpPr>
          <a:xfrm>
            <a:off x="9405048" y="2525338"/>
            <a:ext cx="2286000" cy="1306320"/>
            <a:chOff x="2971800" y="2480735"/>
            <a:chExt cx="2286000" cy="1306320"/>
          </a:xfrm>
        </p:grpSpPr>
        <p:grpSp>
          <p:nvGrpSpPr>
            <p:cNvPr id="38" name="Group 37"/>
            <p:cNvGrpSpPr/>
            <p:nvPr/>
          </p:nvGrpSpPr>
          <p:grpSpPr>
            <a:xfrm>
              <a:off x="3233058" y="3177455"/>
              <a:ext cx="1828800" cy="381000"/>
              <a:chOff x="381000" y="1219200"/>
              <a:chExt cx="1828800" cy="381000"/>
            </a:xfrm>
          </p:grpSpPr>
          <p:sp>
            <p:nvSpPr>
              <p:cNvPr id="50" name="Rectangle 49"/>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51" name="Rectangle 50"/>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15</a:t>
                </a:r>
                <a:endParaRPr lang="en-US" b="1" dirty="0"/>
              </a:p>
            </p:txBody>
          </p:sp>
          <p:sp>
            <p:nvSpPr>
              <p:cNvPr id="52" name="Rectangle 51"/>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3" name="Rectangle 52"/>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cxnSp>
          <p:nvCxnSpPr>
            <p:cNvPr id="39" name="Straight Connector 38"/>
            <p:cNvCxnSpPr>
              <a:stCxn id="53" idx="3"/>
            </p:cNvCxnSpPr>
            <p:nvPr/>
          </p:nvCxnSpPr>
          <p:spPr>
            <a:xfrm>
              <a:off x="5061858" y="3367955"/>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0" name="Straight Connector 39"/>
            <p:cNvCxnSpPr/>
            <p:nvPr/>
          </p:nvCxnSpPr>
          <p:spPr>
            <a:xfrm>
              <a:off x="5246916" y="3367955"/>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1" name="Straight Connector 40"/>
            <p:cNvCxnSpPr/>
            <p:nvPr/>
          </p:nvCxnSpPr>
          <p:spPr>
            <a:xfrm flipH="1">
              <a:off x="2971800" y="3787055"/>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2" name="Straight Connector 41"/>
            <p:cNvCxnSpPr/>
            <p:nvPr/>
          </p:nvCxnSpPr>
          <p:spPr>
            <a:xfrm flipV="1">
              <a:off x="2971800" y="3367955"/>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3" name="Straight Arrow Connector 42"/>
            <p:cNvCxnSpPr>
              <a:endCxn id="50" idx="1"/>
            </p:cNvCxnSpPr>
            <p:nvPr/>
          </p:nvCxnSpPr>
          <p:spPr>
            <a:xfrm>
              <a:off x="2971800" y="3367955"/>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44" name="Group 43"/>
            <p:cNvGrpSpPr/>
            <p:nvPr/>
          </p:nvGrpSpPr>
          <p:grpSpPr>
            <a:xfrm>
              <a:off x="3742264" y="2480747"/>
              <a:ext cx="314510" cy="680083"/>
              <a:chOff x="1937650" y="5094504"/>
              <a:chExt cx="314510" cy="680083"/>
            </a:xfrm>
          </p:grpSpPr>
          <p:sp>
            <p:nvSpPr>
              <p:cNvPr id="48" name="TextBox 47"/>
              <p:cNvSpPr txBox="1"/>
              <p:nvPr/>
            </p:nvSpPr>
            <p:spPr>
              <a:xfrm>
                <a:off x="1937650" y="5094504"/>
                <a:ext cx="314510" cy="369332"/>
              </a:xfrm>
              <a:prstGeom prst="rect">
                <a:avLst/>
              </a:prstGeom>
              <a:noFill/>
            </p:spPr>
            <p:txBody>
              <a:bodyPr wrap="none" rtlCol="0">
                <a:spAutoFit/>
              </a:bodyPr>
              <a:lstStyle/>
              <a:p>
                <a:r>
                  <a:rPr lang="en-IN" b="1" dirty="0">
                    <a:solidFill>
                      <a:srgbClr val="C00000"/>
                    </a:solidFill>
                  </a:rPr>
                  <a:t>R</a:t>
                </a:r>
                <a:endParaRPr lang="en-US" b="1" dirty="0">
                  <a:solidFill>
                    <a:srgbClr val="C00000"/>
                  </a:solidFill>
                </a:endParaRPr>
              </a:p>
            </p:txBody>
          </p:sp>
          <p:cxnSp>
            <p:nvCxnSpPr>
              <p:cNvPr id="49" name="Straight Arrow Connector 48"/>
              <p:cNvCxnSpPr>
                <a:stCxn id="48" idx="2"/>
                <a:endCxn id="53" idx="0"/>
              </p:cNvCxnSpPr>
              <p:nvPr/>
            </p:nvCxnSpPr>
            <p:spPr>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45" name="Group 44"/>
            <p:cNvGrpSpPr/>
            <p:nvPr/>
          </p:nvGrpSpPr>
          <p:grpSpPr>
            <a:xfrm>
              <a:off x="3300395" y="2480735"/>
              <a:ext cx="293670" cy="696708"/>
              <a:chOff x="1936047" y="5094504"/>
              <a:chExt cx="293670" cy="696708"/>
            </a:xfrm>
          </p:grpSpPr>
          <p:sp>
            <p:nvSpPr>
              <p:cNvPr id="46" name="TextBox 45"/>
              <p:cNvSpPr txBox="1"/>
              <p:nvPr/>
            </p:nvSpPr>
            <p:spPr>
              <a:xfrm>
                <a:off x="1936047" y="5094504"/>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47" name="Straight Arrow Connector 46"/>
              <p:cNvCxnSpPr>
                <a:stCxn id="46" idx="2"/>
              </p:cNvCxnSpPr>
              <p:nvPr/>
            </p:nvCxnSpPr>
            <p:spPr>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grpSp>
        <p:nvGrpSpPr>
          <p:cNvPr id="72" name="Group 71"/>
          <p:cNvGrpSpPr/>
          <p:nvPr/>
        </p:nvGrpSpPr>
        <p:grpSpPr>
          <a:xfrm>
            <a:off x="9400637" y="4160960"/>
            <a:ext cx="2286000" cy="1306320"/>
            <a:chOff x="6324600" y="2472268"/>
            <a:chExt cx="2286000" cy="1306320"/>
          </a:xfrm>
        </p:grpSpPr>
        <p:grpSp>
          <p:nvGrpSpPr>
            <p:cNvPr id="56" name="Group 55"/>
            <p:cNvGrpSpPr/>
            <p:nvPr/>
          </p:nvGrpSpPr>
          <p:grpSpPr>
            <a:xfrm>
              <a:off x="6585858" y="3168988"/>
              <a:ext cx="1828800" cy="381000"/>
              <a:chOff x="381000" y="1219200"/>
              <a:chExt cx="1828800" cy="381000"/>
            </a:xfrm>
          </p:grpSpPr>
          <p:sp>
            <p:nvSpPr>
              <p:cNvPr id="68" name="Rectangle 67"/>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23</a:t>
                </a:r>
                <a:endParaRPr lang="en-US" b="1" dirty="0"/>
              </a:p>
            </p:txBody>
          </p:sp>
          <p:sp>
            <p:nvSpPr>
              <p:cNvPr id="69" name="Rectangle 68"/>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6</a:t>
                </a:r>
                <a:endParaRPr lang="en-US" b="1" dirty="0"/>
              </a:p>
            </p:txBody>
          </p:sp>
          <p:sp>
            <p:nvSpPr>
              <p:cNvPr id="70" name="Rectangle 69"/>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71" name="Rectangle 70"/>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15</a:t>
                </a:r>
                <a:endParaRPr lang="en-US" b="1" dirty="0"/>
              </a:p>
            </p:txBody>
          </p:sp>
        </p:grpSp>
        <p:cxnSp>
          <p:nvCxnSpPr>
            <p:cNvPr id="57" name="Straight Connector 56"/>
            <p:cNvCxnSpPr>
              <a:stCxn id="71" idx="3"/>
            </p:cNvCxnSpPr>
            <p:nvPr/>
          </p:nvCxnSpPr>
          <p:spPr>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58" name="Straight Connector 57"/>
            <p:cNvCxnSpPr/>
            <p:nvPr/>
          </p:nvCxnSpPr>
          <p:spPr>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59" name="Straight Connector 58"/>
            <p:cNvCxnSpPr/>
            <p:nvPr/>
          </p:nvCxnSpPr>
          <p:spPr>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0" name="Straight Connector 59"/>
            <p:cNvCxnSpPr/>
            <p:nvPr/>
          </p:nvCxnSpPr>
          <p:spPr>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1" name="Straight Arrow Connector 60"/>
            <p:cNvCxnSpPr>
              <a:endCxn id="68" idx="1"/>
            </p:cNvCxnSpPr>
            <p:nvPr/>
          </p:nvCxnSpPr>
          <p:spPr>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nvGrpSpPr>
            <p:cNvPr id="62" name="Group 61"/>
            <p:cNvGrpSpPr/>
            <p:nvPr/>
          </p:nvGrpSpPr>
          <p:grpSpPr>
            <a:xfrm>
              <a:off x="8022764" y="2472280"/>
              <a:ext cx="314510" cy="680083"/>
              <a:chOff x="1937650" y="5094504"/>
              <a:chExt cx="314510" cy="680083"/>
            </a:xfrm>
          </p:grpSpPr>
          <p:sp>
            <p:nvSpPr>
              <p:cNvPr id="66" name="TextBox 65"/>
              <p:cNvSpPr txBox="1"/>
              <p:nvPr/>
            </p:nvSpPr>
            <p:spPr>
              <a:xfrm>
                <a:off x="1937650" y="5094504"/>
                <a:ext cx="314510" cy="369332"/>
              </a:xfrm>
              <a:prstGeom prst="rect">
                <a:avLst/>
              </a:prstGeom>
              <a:noFill/>
            </p:spPr>
            <p:txBody>
              <a:bodyPr wrap="none" rtlCol="0">
                <a:spAutoFit/>
              </a:bodyPr>
              <a:lstStyle/>
              <a:p>
                <a:r>
                  <a:rPr lang="en-IN" b="1" dirty="0">
                    <a:solidFill>
                      <a:srgbClr val="C00000"/>
                    </a:solidFill>
                  </a:rPr>
                  <a:t>R</a:t>
                </a:r>
                <a:endParaRPr lang="en-US" b="1" dirty="0">
                  <a:solidFill>
                    <a:srgbClr val="C00000"/>
                  </a:solidFill>
                </a:endParaRPr>
              </a:p>
            </p:txBody>
          </p:sp>
          <p:cxnSp>
            <p:nvCxnSpPr>
              <p:cNvPr id="67" name="Straight Arrow Connector 66"/>
              <p:cNvCxnSpPr>
                <a:stCxn id="66" idx="2"/>
                <a:endCxn id="71" idx="0"/>
              </p:cNvCxnSpPr>
              <p:nvPr/>
            </p:nvCxnSpPr>
            <p:spPr>
              <a:xfrm>
                <a:off x="2094905" y="5463836"/>
                <a:ext cx="6039" cy="3107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63" name="Group 62"/>
            <p:cNvGrpSpPr/>
            <p:nvPr/>
          </p:nvGrpSpPr>
          <p:grpSpPr>
            <a:xfrm>
              <a:off x="6642133" y="2472268"/>
              <a:ext cx="293670" cy="696708"/>
              <a:chOff x="1936047" y="5094504"/>
              <a:chExt cx="293670" cy="696708"/>
            </a:xfrm>
          </p:grpSpPr>
          <p:sp>
            <p:nvSpPr>
              <p:cNvPr id="64" name="TextBox 63"/>
              <p:cNvSpPr txBox="1"/>
              <p:nvPr/>
            </p:nvSpPr>
            <p:spPr>
              <a:xfrm>
                <a:off x="1936047" y="5094504"/>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65" name="Straight Arrow Connector 64"/>
              <p:cNvCxnSpPr>
                <a:stCxn id="64" idx="2"/>
              </p:cNvCxnSpPr>
              <p:nvPr/>
            </p:nvCxnSpPr>
            <p:spPr>
              <a:xfrm>
                <a:off x="2082882" y="5463836"/>
                <a:ext cx="18062" cy="32737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spTree>
    <p:extLst>
      <p:ext uri="{BB962C8B-B14F-4D97-AF65-F5344CB8AC3E}">
        <p14:creationId xmlns:p14="http://schemas.microsoft.com/office/powerpoint/2010/main" val="42512033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1" end="1"/>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2" end="2"/>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3" end="3"/>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4" end="4"/>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5" end="5"/>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
                                            <p:txEl>
                                              <p:pRg st="6" end="6"/>
                                            </p:txEl>
                                          </p:spTgt>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
                                            <p:txEl>
                                              <p:pRg st="7" end="7"/>
                                            </p:txEl>
                                          </p:spTgt>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4">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4">
                                            <p:txEl>
                                              <p:pRg st="9" end="9"/>
                                            </p:txEl>
                                          </p:spTgt>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pt-BR" dirty="0"/>
              <a:t>Function: CQDELETE (F, R, Q, N)</a:t>
            </a:r>
            <a:endParaRPr lang="en-US" dirty="0"/>
          </a:p>
        </p:txBody>
      </p:sp>
      <p:sp>
        <p:nvSpPr>
          <p:cNvPr id="3" name="Content Placeholder 2"/>
          <p:cNvSpPr>
            <a:spLocks noGrp="1"/>
          </p:cNvSpPr>
          <p:nvPr>
            <p:ph idx="1"/>
          </p:nvPr>
        </p:nvSpPr>
        <p:spPr>
          <a:xfrm>
            <a:off x="131181" y="863444"/>
            <a:ext cx="9009122" cy="5590565"/>
          </a:xfrm>
        </p:spPr>
        <p:txBody>
          <a:bodyPr/>
          <a:lstStyle/>
          <a:p>
            <a:r>
              <a:rPr lang="en-IN" dirty="0"/>
              <a:t>This function </a:t>
            </a:r>
            <a:r>
              <a:rPr lang="en-IN" b="1" dirty="0">
                <a:solidFill>
                  <a:srgbClr val="C00000"/>
                </a:solidFill>
              </a:rPr>
              <a:t>deletes &amp; returns</a:t>
            </a:r>
            <a:r>
              <a:rPr lang="en-IN" b="1" dirty="0">
                <a:solidFill>
                  <a:srgbClr val="FF0000"/>
                </a:solidFill>
              </a:rPr>
              <a:t> </a:t>
            </a:r>
            <a:r>
              <a:rPr lang="en-IN" dirty="0"/>
              <a:t>an element </a:t>
            </a:r>
            <a:r>
              <a:rPr lang="en-IN" b="1" dirty="0">
                <a:solidFill>
                  <a:srgbClr val="C00000"/>
                </a:solidFill>
              </a:rPr>
              <a:t>from front end</a:t>
            </a:r>
            <a:r>
              <a:rPr lang="en-IN" b="1" dirty="0">
                <a:solidFill>
                  <a:srgbClr val="FF0000"/>
                </a:solidFill>
              </a:rPr>
              <a:t> </a:t>
            </a:r>
            <a:r>
              <a:rPr lang="en-IN" dirty="0"/>
              <a:t>of the Circular Queue.</a:t>
            </a:r>
          </a:p>
          <a:p>
            <a:pPr>
              <a:buClr>
                <a:schemeClr val="tx1"/>
              </a:buClr>
            </a:pPr>
            <a:r>
              <a:rPr lang="en-IN" b="1" dirty="0">
                <a:solidFill>
                  <a:srgbClr val="C00000"/>
                </a:solidFill>
              </a:rPr>
              <a:t>Queue</a:t>
            </a:r>
            <a:r>
              <a:rPr lang="en-IN" dirty="0">
                <a:solidFill>
                  <a:srgbClr val="C00000"/>
                </a:solidFill>
              </a:rPr>
              <a:t> </a:t>
            </a:r>
            <a:r>
              <a:rPr lang="en-IN" dirty="0"/>
              <a:t>is represented by a vector </a:t>
            </a:r>
            <a:r>
              <a:rPr lang="en-IN" b="1" dirty="0">
                <a:solidFill>
                  <a:srgbClr val="C00000"/>
                </a:solidFill>
              </a:rPr>
              <a:t>Q</a:t>
            </a:r>
            <a:r>
              <a:rPr lang="en-IN" dirty="0">
                <a:solidFill>
                  <a:srgbClr val="C00000"/>
                </a:solidFill>
              </a:rPr>
              <a:t> </a:t>
            </a:r>
            <a:r>
              <a:rPr lang="en-IN" dirty="0"/>
              <a:t>containing </a:t>
            </a:r>
            <a:r>
              <a:rPr lang="en-IN" b="1" dirty="0">
                <a:solidFill>
                  <a:srgbClr val="C00000"/>
                </a:solidFill>
              </a:rPr>
              <a:t>N</a:t>
            </a:r>
            <a:r>
              <a:rPr lang="en-IN" dirty="0">
                <a:solidFill>
                  <a:srgbClr val="C00000"/>
                </a:solidFill>
              </a:rPr>
              <a:t> </a:t>
            </a:r>
            <a:r>
              <a:rPr lang="en-IN" dirty="0"/>
              <a:t>elements.</a:t>
            </a:r>
          </a:p>
          <a:p>
            <a:pPr>
              <a:buClr>
                <a:schemeClr val="tx1"/>
              </a:buClr>
            </a:pPr>
            <a:r>
              <a:rPr lang="en-IN" b="1" dirty="0">
                <a:solidFill>
                  <a:srgbClr val="C00000"/>
                </a:solidFill>
              </a:rPr>
              <a:t>F</a:t>
            </a:r>
            <a:r>
              <a:rPr lang="en-IN" dirty="0">
                <a:solidFill>
                  <a:srgbClr val="C00000"/>
                </a:solidFill>
              </a:rPr>
              <a:t> </a:t>
            </a:r>
            <a:r>
              <a:rPr lang="en-IN" dirty="0"/>
              <a:t>is pointer to the </a:t>
            </a:r>
            <a:r>
              <a:rPr lang="en-IN" b="1" dirty="0">
                <a:solidFill>
                  <a:srgbClr val="C00000"/>
                </a:solidFill>
              </a:rPr>
              <a:t>front</a:t>
            </a:r>
            <a:r>
              <a:rPr lang="en-IN" b="1" dirty="0">
                <a:solidFill>
                  <a:srgbClr val="FF0000"/>
                </a:solidFill>
              </a:rPr>
              <a:t> </a:t>
            </a:r>
            <a:r>
              <a:rPr lang="en-IN" dirty="0"/>
              <a:t>element of a queue.</a:t>
            </a:r>
          </a:p>
          <a:p>
            <a:pPr>
              <a:buClr>
                <a:schemeClr val="tx1"/>
              </a:buClr>
            </a:pPr>
            <a:r>
              <a:rPr lang="en-IN" b="1" dirty="0">
                <a:solidFill>
                  <a:srgbClr val="C00000"/>
                </a:solidFill>
              </a:rPr>
              <a:t>R</a:t>
            </a:r>
            <a:r>
              <a:rPr lang="en-IN" dirty="0">
                <a:solidFill>
                  <a:srgbClr val="C00000"/>
                </a:solidFill>
              </a:rPr>
              <a:t> </a:t>
            </a:r>
            <a:r>
              <a:rPr lang="en-IN" dirty="0"/>
              <a:t>is pointer to the </a:t>
            </a:r>
            <a:r>
              <a:rPr lang="en-IN" b="1" dirty="0">
                <a:solidFill>
                  <a:srgbClr val="C00000"/>
                </a:solidFill>
              </a:rPr>
              <a:t>rear</a:t>
            </a:r>
            <a:r>
              <a:rPr lang="en-IN" dirty="0">
                <a:solidFill>
                  <a:srgbClr val="C00000"/>
                </a:solidFill>
              </a:rPr>
              <a:t> </a:t>
            </a:r>
            <a:r>
              <a:rPr lang="en-IN" dirty="0"/>
              <a:t>element of a queue.</a:t>
            </a:r>
            <a:endParaRPr lang="en-US" dirty="0"/>
          </a:p>
          <a:p>
            <a:pPr marL="0" indent="0">
              <a:buNone/>
            </a:pPr>
            <a:endParaRPr lang="en-US" dirty="0"/>
          </a:p>
        </p:txBody>
      </p:sp>
      <p:sp>
        <p:nvSpPr>
          <p:cNvPr id="4" name="TextBox 3"/>
          <p:cNvSpPr txBox="1"/>
          <p:nvPr/>
        </p:nvSpPr>
        <p:spPr>
          <a:xfrm>
            <a:off x="-36333" y="3373446"/>
            <a:ext cx="5070788" cy="3477875"/>
          </a:xfrm>
          <a:prstGeom prst="rect">
            <a:avLst/>
          </a:prstGeom>
          <a:solidFill>
            <a:schemeClr val="bg1">
              <a:lumMod val="95000"/>
            </a:schemeClr>
          </a:solidFill>
        </p:spPr>
        <p:style>
          <a:lnRef idx="0">
            <a:scrgbClr r="0" g="0" b="0"/>
          </a:lnRef>
          <a:fillRef idx="1001">
            <a:schemeClr val="lt2"/>
          </a:fillRef>
          <a:effectRef idx="0">
            <a:scrgbClr r="0" g="0" b="0"/>
          </a:effectRef>
          <a:fontRef idx="major"/>
        </p:style>
        <p:txBody>
          <a:bodyPr wrap="square" rtlCol="0">
            <a:spAutoFit/>
          </a:bodyPr>
          <a:lstStyle/>
          <a:p>
            <a:r>
              <a:rPr lang="en-IN" sz="2000" b="1" dirty="0">
                <a:solidFill>
                  <a:schemeClr val="tx2"/>
                </a:solidFill>
                <a:latin typeface="Consolas" pitchFamily="49" charset="0"/>
                <a:cs typeface="Consolas" pitchFamily="49" charset="0"/>
              </a:rPr>
              <a:t>1. [Underflow?]</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If</a:t>
            </a:r>
            <a:r>
              <a:rPr lang="en-IN"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rPr>
              <a:t>	  F = 0 </a:t>
            </a:r>
          </a:p>
          <a:p>
            <a:r>
              <a:rPr lang="en-IN" dirty="0">
                <a:latin typeface="Consolas" pitchFamily="49" charset="0"/>
                <a:cs typeface="Consolas" pitchFamily="49" charset="0"/>
              </a:rPr>
              <a:t>   </a:t>
            </a:r>
            <a:r>
              <a:rPr lang="en-IN" b="1" dirty="0">
                <a:solidFill>
                  <a:schemeClr val="tx2">
                    <a:lumMod val="75000"/>
                  </a:schemeClr>
                </a:solidFill>
                <a:latin typeface="Consolas" pitchFamily="49" charset="0"/>
                <a:cs typeface="Consolas" pitchFamily="49" charset="0"/>
              </a:rPr>
              <a:t>Then</a:t>
            </a:r>
            <a:r>
              <a:rPr lang="en-IN" dirty="0">
                <a:latin typeface="Consolas" pitchFamily="49" charset="0"/>
                <a:cs typeface="Consolas" pitchFamily="49" charset="0"/>
              </a:rPr>
              <a:t>  Write(‘Underflow’)</a:t>
            </a:r>
          </a:p>
          <a:p>
            <a:r>
              <a:rPr lang="en-IN" dirty="0">
                <a:latin typeface="Consolas" pitchFamily="49" charset="0"/>
                <a:cs typeface="Consolas" pitchFamily="49" charset="0"/>
              </a:rPr>
              <a:t>         Return(0)</a:t>
            </a:r>
          </a:p>
          <a:p>
            <a:endParaRPr lang="en-IN" dirty="0">
              <a:latin typeface="Consolas" pitchFamily="49" charset="0"/>
              <a:cs typeface="Consolas" pitchFamily="49" charset="0"/>
            </a:endParaRPr>
          </a:p>
          <a:p>
            <a:r>
              <a:rPr lang="en-IN" sz="2000" b="1" dirty="0">
                <a:solidFill>
                  <a:schemeClr val="tx2"/>
                </a:solidFill>
                <a:latin typeface="Consolas" pitchFamily="49" charset="0"/>
                <a:cs typeface="Consolas" pitchFamily="49" charset="0"/>
              </a:rPr>
              <a:t>2. [Delete Element]</a:t>
            </a:r>
          </a:p>
          <a:p>
            <a:r>
              <a:rPr lang="en-IN" b="1" dirty="0">
                <a:latin typeface="Consolas" pitchFamily="49" charset="0"/>
                <a:cs typeface="Consolas" pitchFamily="49" charset="0"/>
              </a:rPr>
              <a:t>    </a:t>
            </a:r>
            <a:r>
              <a:rPr lang="en-IN" dirty="0">
                <a:latin typeface="Consolas" pitchFamily="49" charset="0"/>
                <a:cs typeface="Consolas" pitchFamily="49" charset="0"/>
              </a:rPr>
              <a:t>Y </a:t>
            </a:r>
            <a:r>
              <a:rPr lang="en-IN" dirty="0">
                <a:latin typeface="Consolas" pitchFamily="49" charset="0"/>
                <a:cs typeface="Consolas" pitchFamily="49" charset="0"/>
                <a:sym typeface="Wingdings" pitchFamily="2" charset="2"/>
              </a:rPr>
              <a:t> Q[F]</a:t>
            </a:r>
          </a:p>
          <a:p>
            <a:r>
              <a:rPr lang="en-IN" dirty="0">
                <a:latin typeface="Consolas" pitchFamily="49" charset="0"/>
                <a:cs typeface="Consolas" pitchFamily="49" charset="0"/>
                <a:sym typeface="Wingdings" pitchFamily="2" charset="2"/>
              </a:rPr>
              <a:t>   </a:t>
            </a:r>
            <a:r>
              <a:rPr lang="en-IN" b="1" dirty="0">
                <a:solidFill>
                  <a:schemeClr val="tx2">
                    <a:lumMod val="75000"/>
                  </a:schemeClr>
                </a:solidFill>
                <a:latin typeface="Consolas" pitchFamily="49" charset="0"/>
                <a:cs typeface="Consolas" pitchFamily="49" charset="0"/>
              </a:rPr>
              <a:t>If  F = R</a:t>
            </a:r>
          </a:p>
          <a:p>
            <a:r>
              <a:rPr lang="en-IN" b="1" dirty="0">
                <a:solidFill>
                  <a:schemeClr val="tx2">
                    <a:lumMod val="75000"/>
                  </a:schemeClr>
                </a:solidFill>
                <a:latin typeface="Consolas" pitchFamily="49" charset="0"/>
                <a:cs typeface="Consolas" pitchFamily="49" charset="0"/>
              </a:rPr>
              <a:t>       </a:t>
            </a:r>
            <a:r>
              <a:rPr lang="en-IN" dirty="0">
                <a:latin typeface="Consolas" pitchFamily="49" charset="0"/>
                <a:cs typeface="Consolas" pitchFamily="49" charset="0"/>
                <a:sym typeface="Wingdings" pitchFamily="2" charset="2"/>
              </a:rPr>
              <a:t>F  R  0</a:t>
            </a:r>
            <a:endParaRPr lang="en-IN" b="1" dirty="0">
              <a:solidFill>
                <a:schemeClr val="tx2">
                  <a:lumMod val="75000"/>
                </a:schemeClr>
              </a:solidFill>
              <a:latin typeface="Consolas" pitchFamily="49" charset="0"/>
              <a:cs typeface="Consolas" pitchFamily="49" charset="0"/>
            </a:endParaRPr>
          </a:p>
          <a:p>
            <a:r>
              <a:rPr lang="en-IN" dirty="0">
                <a:latin typeface="Consolas" pitchFamily="49" charset="0"/>
                <a:cs typeface="Consolas" pitchFamily="49" charset="0"/>
                <a:sym typeface="Wingdings" pitchFamily="2" charset="2"/>
              </a:rPr>
              <a:t>   </a:t>
            </a:r>
            <a:r>
              <a:rPr lang="en-IN" b="1" dirty="0">
                <a:solidFill>
                  <a:schemeClr val="tx2">
                    <a:lumMod val="75000"/>
                  </a:schemeClr>
                </a:solidFill>
                <a:latin typeface="Consolas" pitchFamily="49" charset="0"/>
                <a:cs typeface="Consolas" pitchFamily="49" charset="0"/>
                <a:sym typeface="Wingdings" pitchFamily="2" charset="2"/>
              </a:rPr>
              <a:t>Else</a:t>
            </a:r>
          </a:p>
          <a:p>
            <a:r>
              <a:rPr lang="en-IN" dirty="0">
                <a:latin typeface="Consolas" pitchFamily="49" charset="0"/>
                <a:cs typeface="Consolas" pitchFamily="49" charset="0"/>
                <a:sym typeface="Wingdings" pitchFamily="2" charset="2"/>
              </a:rPr>
              <a:t>       F  (F+1)%N</a:t>
            </a:r>
          </a:p>
          <a:p>
            <a:r>
              <a:rPr lang="en-IN" dirty="0">
                <a:latin typeface="Consolas" pitchFamily="49" charset="0"/>
                <a:cs typeface="Consolas" pitchFamily="49" charset="0"/>
                <a:sym typeface="Wingdings" pitchFamily="2" charset="2"/>
              </a:rPr>
              <a:t>   Return (Y)</a:t>
            </a:r>
          </a:p>
        </p:txBody>
      </p:sp>
      <p:grpSp>
        <p:nvGrpSpPr>
          <p:cNvPr id="37" name="Group 36"/>
          <p:cNvGrpSpPr/>
          <p:nvPr/>
        </p:nvGrpSpPr>
        <p:grpSpPr>
          <a:xfrm>
            <a:off x="9668038" y="865429"/>
            <a:ext cx="2109964" cy="1471788"/>
            <a:chOff x="9226890" y="1588093"/>
            <a:chExt cx="2109964" cy="1471788"/>
          </a:xfrm>
        </p:grpSpPr>
        <p:grpSp>
          <p:nvGrpSpPr>
            <p:cNvPr id="57" name="Group 56"/>
            <p:cNvGrpSpPr/>
            <p:nvPr/>
          </p:nvGrpSpPr>
          <p:grpSpPr>
            <a:xfrm>
              <a:off x="9226890" y="1588093"/>
              <a:ext cx="2109964" cy="1471788"/>
              <a:chOff x="6324600" y="2457490"/>
              <a:chExt cx="2286000" cy="1321098"/>
            </a:xfrm>
          </p:grpSpPr>
          <p:grpSp>
            <p:nvGrpSpPr>
              <p:cNvPr id="58" name="Group 57"/>
              <p:cNvGrpSpPr/>
              <p:nvPr/>
            </p:nvGrpSpPr>
            <p:grpSpPr>
              <a:xfrm>
                <a:off x="6585858" y="3168988"/>
                <a:ext cx="1828800" cy="381000"/>
                <a:chOff x="381000" y="1219200"/>
                <a:chExt cx="1828800" cy="381000"/>
              </a:xfrm>
            </p:grpSpPr>
            <p:sp>
              <p:nvSpPr>
                <p:cNvPr id="70" name="Rectangle 69"/>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1" name="Rectangle 70"/>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6</a:t>
                  </a:r>
                  <a:endParaRPr lang="en-US" b="1" dirty="0"/>
                </a:p>
              </p:txBody>
            </p:sp>
            <p:sp>
              <p:nvSpPr>
                <p:cNvPr id="72" name="Rectangle 71"/>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73" name="Rectangle 72"/>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grpSp>
          <p:cxnSp>
            <p:nvCxnSpPr>
              <p:cNvPr id="59" name="Straight Connector 58"/>
              <p:cNvCxnSpPr>
                <a:stCxn id="73" idx="3"/>
              </p:cNvCxnSpPr>
              <p:nvPr/>
            </p:nvCxnSpPr>
            <p:spPr>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0" name="Straight Connector 59"/>
              <p:cNvCxnSpPr/>
              <p:nvPr/>
            </p:nvCxnSpPr>
            <p:spPr>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1" name="Straight Connector 60"/>
              <p:cNvCxnSpPr/>
              <p:nvPr/>
            </p:nvCxnSpPr>
            <p:spPr>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62" name="Straight Connector 61"/>
              <p:cNvCxnSpPr/>
              <p:nvPr/>
            </p:nvCxnSpPr>
            <p:spPr>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63" name="Straight Arrow Connector 62"/>
              <p:cNvCxnSpPr>
                <a:endCxn id="70" idx="1"/>
              </p:cNvCxnSpPr>
              <p:nvPr/>
            </p:nvCxnSpPr>
            <p:spPr>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sp>
            <p:nvSpPr>
              <p:cNvPr id="68" name="TextBox 67"/>
              <p:cNvSpPr txBox="1"/>
              <p:nvPr/>
            </p:nvSpPr>
            <p:spPr>
              <a:xfrm>
                <a:off x="6981351" y="2457490"/>
                <a:ext cx="307460" cy="331517"/>
              </a:xfrm>
              <a:prstGeom prst="rect">
                <a:avLst/>
              </a:prstGeom>
              <a:noFill/>
            </p:spPr>
            <p:txBody>
              <a:bodyPr wrap="square" rtlCol="0">
                <a:spAutoFit/>
              </a:bodyPr>
              <a:lstStyle/>
              <a:p>
                <a:r>
                  <a:rPr lang="en-IN" b="1" dirty="0">
                    <a:solidFill>
                      <a:srgbClr val="FF0000"/>
                    </a:solidFill>
                  </a:rPr>
                  <a:t>F</a:t>
                </a:r>
                <a:endParaRPr lang="en-US" b="1" dirty="0">
                  <a:solidFill>
                    <a:srgbClr val="FF0000"/>
                  </a:solidFill>
                </a:endParaRPr>
              </a:p>
            </p:txBody>
          </p:sp>
          <p:sp>
            <p:nvSpPr>
              <p:cNvPr id="66" name="TextBox 65"/>
              <p:cNvSpPr txBox="1"/>
              <p:nvPr/>
            </p:nvSpPr>
            <p:spPr>
              <a:xfrm>
                <a:off x="7236808" y="2457490"/>
                <a:ext cx="309999" cy="331529"/>
              </a:xfrm>
              <a:prstGeom prst="rect">
                <a:avLst/>
              </a:prstGeom>
              <a:noFill/>
            </p:spPr>
            <p:txBody>
              <a:bodyPr wrap="square" rtlCol="0">
                <a:spAutoFit/>
              </a:bodyPr>
              <a:lstStyle/>
              <a:p>
                <a:pPr algn="ctr"/>
                <a:r>
                  <a:rPr lang="en-IN" b="1" dirty="0">
                    <a:solidFill>
                      <a:srgbClr val="FF0000"/>
                    </a:solidFill>
                  </a:rPr>
                  <a:t>R</a:t>
                </a:r>
                <a:endParaRPr lang="en-US" b="1" dirty="0">
                  <a:solidFill>
                    <a:srgbClr val="FF0000"/>
                  </a:solidFill>
                </a:endParaRPr>
              </a:p>
            </p:txBody>
          </p:sp>
        </p:grpSp>
        <p:cxnSp>
          <p:nvCxnSpPr>
            <p:cNvPr id="30" name="Straight Arrow Connector 29"/>
            <p:cNvCxnSpPr>
              <a:stCxn id="68" idx="2"/>
            </p:cNvCxnSpPr>
            <p:nvPr/>
          </p:nvCxnSpPr>
          <p:spPr>
            <a:xfrm>
              <a:off x="9974959" y="1957432"/>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cxnSp>
          <p:nvCxnSpPr>
            <p:cNvPr id="74" name="Straight Arrow Connector 73"/>
            <p:cNvCxnSpPr>
              <a:stCxn id="66" idx="2"/>
            </p:cNvCxnSpPr>
            <p:nvPr/>
          </p:nvCxnSpPr>
          <p:spPr>
            <a:xfrm>
              <a:off x="10211916" y="1957445"/>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79" name="Group 78"/>
          <p:cNvGrpSpPr/>
          <p:nvPr/>
        </p:nvGrpSpPr>
        <p:grpSpPr>
          <a:xfrm>
            <a:off x="9668038" y="2511716"/>
            <a:ext cx="2109964" cy="1488676"/>
            <a:chOff x="9266248" y="3461060"/>
            <a:chExt cx="2109964" cy="1488676"/>
          </a:xfrm>
        </p:grpSpPr>
        <p:grpSp>
          <p:nvGrpSpPr>
            <p:cNvPr id="6" name="Group 5"/>
            <p:cNvGrpSpPr/>
            <p:nvPr/>
          </p:nvGrpSpPr>
          <p:grpSpPr>
            <a:xfrm>
              <a:off x="9266248" y="4270599"/>
              <a:ext cx="2109964" cy="679137"/>
              <a:chOff x="6324600" y="3168988"/>
              <a:chExt cx="2286000" cy="609601"/>
            </a:xfrm>
          </p:grpSpPr>
          <p:grpSp>
            <p:nvGrpSpPr>
              <p:cNvPr id="7" name="Group 6"/>
              <p:cNvGrpSpPr/>
              <p:nvPr/>
            </p:nvGrpSpPr>
            <p:grpSpPr>
              <a:xfrm>
                <a:off x="6585858" y="3168988"/>
                <a:ext cx="1828800" cy="381000"/>
                <a:chOff x="381000" y="1219200"/>
                <a:chExt cx="1828800" cy="381000"/>
              </a:xfrm>
            </p:grpSpPr>
            <p:sp>
              <p:nvSpPr>
                <p:cNvPr id="19" name="Rectangle 18"/>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2</a:t>
                  </a:r>
                  <a:endParaRPr lang="en-US" b="1" dirty="0"/>
                </a:p>
              </p:txBody>
            </p:sp>
            <p:sp>
              <p:nvSpPr>
                <p:cNvPr id="20" name="Rectangle 19"/>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6</a:t>
                  </a:r>
                  <a:endParaRPr lang="en-US" b="1" dirty="0"/>
                </a:p>
              </p:txBody>
            </p:sp>
            <p:sp>
              <p:nvSpPr>
                <p:cNvPr id="21" name="Rectangle 20"/>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22" name="Rectangle 21"/>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4</a:t>
                  </a:r>
                  <a:endParaRPr lang="en-US" b="1" dirty="0"/>
                </a:p>
              </p:txBody>
            </p:sp>
          </p:grpSp>
          <p:cxnSp>
            <p:nvCxnSpPr>
              <p:cNvPr id="8" name="Straight Connector 7"/>
              <p:cNvCxnSpPr>
                <a:stCxn id="22" idx="3"/>
              </p:cNvCxnSpPr>
              <p:nvPr/>
            </p:nvCxnSpPr>
            <p:spPr>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9" name="Straight Connector 8"/>
              <p:cNvCxnSpPr/>
              <p:nvPr/>
            </p:nvCxnSpPr>
            <p:spPr>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flipV="1">
                <a:off x="6324600" y="3359489"/>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12" name="Straight Arrow Connector 11"/>
              <p:cNvCxnSpPr/>
              <p:nvPr/>
            </p:nvCxnSpPr>
            <p:spPr>
              <a:xfrm>
                <a:off x="6324600" y="3359489"/>
                <a:ext cx="261259"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grpSp>
          <p:nvGrpSpPr>
            <p:cNvPr id="39" name="Group 38"/>
            <p:cNvGrpSpPr/>
            <p:nvPr/>
          </p:nvGrpSpPr>
          <p:grpSpPr>
            <a:xfrm>
              <a:off x="10818097" y="3461060"/>
              <a:ext cx="283784" cy="800288"/>
              <a:chOff x="8932592" y="3377871"/>
              <a:chExt cx="283784" cy="800288"/>
            </a:xfrm>
          </p:grpSpPr>
          <p:sp>
            <p:nvSpPr>
              <p:cNvPr id="75" name="TextBox 74"/>
              <p:cNvSpPr txBox="1"/>
              <p:nvPr/>
            </p:nvSpPr>
            <p:spPr>
              <a:xfrm>
                <a:off x="8932592" y="3377871"/>
                <a:ext cx="283784" cy="369331"/>
              </a:xfrm>
              <a:prstGeom prst="rect">
                <a:avLst/>
              </a:prstGeom>
              <a:noFill/>
            </p:spPr>
            <p:txBody>
              <a:bodyPr wrap="square" rtlCol="0">
                <a:spAutoFit/>
              </a:bodyPr>
              <a:lstStyle/>
              <a:p>
                <a:r>
                  <a:rPr lang="en-IN" b="1" dirty="0">
                    <a:solidFill>
                      <a:srgbClr val="FF0000"/>
                    </a:solidFill>
                  </a:rPr>
                  <a:t>F</a:t>
                </a:r>
                <a:endParaRPr lang="en-US" b="1" dirty="0">
                  <a:solidFill>
                    <a:srgbClr val="FF0000"/>
                  </a:solidFill>
                </a:endParaRPr>
              </a:p>
            </p:txBody>
          </p:sp>
          <p:cxnSp>
            <p:nvCxnSpPr>
              <p:cNvPr id="77" name="Straight Arrow Connector 76"/>
              <p:cNvCxnSpPr>
                <a:stCxn id="75" idx="2"/>
              </p:cNvCxnSpPr>
              <p:nvPr/>
            </p:nvCxnSpPr>
            <p:spPr>
              <a:xfrm>
                <a:off x="9074484" y="3747210"/>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38" name="Group 37"/>
            <p:cNvGrpSpPr/>
            <p:nvPr/>
          </p:nvGrpSpPr>
          <p:grpSpPr>
            <a:xfrm>
              <a:off x="9997537" y="3461060"/>
              <a:ext cx="286127" cy="797968"/>
              <a:chOff x="9168377" y="3377871"/>
              <a:chExt cx="286127" cy="797968"/>
            </a:xfrm>
          </p:grpSpPr>
          <p:sp>
            <p:nvSpPr>
              <p:cNvPr id="76" name="TextBox 75"/>
              <p:cNvSpPr txBox="1"/>
              <p:nvPr/>
            </p:nvSpPr>
            <p:spPr>
              <a:xfrm>
                <a:off x="9168377" y="3377871"/>
                <a:ext cx="286127" cy="369345"/>
              </a:xfrm>
              <a:prstGeom prst="rect">
                <a:avLst/>
              </a:prstGeom>
              <a:noFill/>
            </p:spPr>
            <p:txBody>
              <a:bodyPr wrap="square" rtlCol="0">
                <a:spAutoFit/>
              </a:bodyPr>
              <a:lstStyle/>
              <a:p>
                <a:pPr algn="ctr"/>
                <a:r>
                  <a:rPr lang="en-IN" b="1" dirty="0">
                    <a:solidFill>
                      <a:srgbClr val="FF0000"/>
                    </a:solidFill>
                  </a:rPr>
                  <a:t>R</a:t>
                </a:r>
                <a:endParaRPr lang="en-US" b="1" dirty="0">
                  <a:solidFill>
                    <a:srgbClr val="FF0000"/>
                  </a:solidFill>
                </a:endParaRPr>
              </a:p>
            </p:txBody>
          </p:sp>
          <p:cxnSp>
            <p:nvCxnSpPr>
              <p:cNvPr id="78" name="Straight Arrow Connector 77"/>
              <p:cNvCxnSpPr>
                <a:stCxn id="76" idx="2"/>
              </p:cNvCxnSpPr>
              <p:nvPr/>
            </p:nvCxnSpPr>
            <p:spPr>
              <a:xfrm>
                <a:off x="9311441" y="3747223"/>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grpSp>
        <p:nvGrpSpPr>
          <p:cNvPr id="86" name="Group 85"/>
          <p:cNvGrpSpPr/>
          <p:nvPr/>
        </p:nvGrpSpPr>
        <p:grpSpPr>
          <a:xfrm>
            <a:off x="9668038" y="4174891"/>
            <a:ext cx="2109964" cy="1473687"/>
            <a:chOff x="9266248" y="4604386"/>
            <a:chExt cx="2109964" cy="1473687"/>
          </a:xfrm>
        </p:grpSpPr>
        <p:grpSp>
          <p:nvGrpSpPr>
            <p:cNvPr id="40" name="Group 39"/>
            <p:cNvGrpSpPr/>
            <p:nvPr/>
          </p:nvGrpSpPr>
          <p:grpSpPr>
            <a:xfrm>
              <a:off x="9266248" y="5398937"/>
              <a:ext cx="2109964" cy="679136"/>
              <a:chOff x="6324600" y="3168988"/>
              <a:chExt cx="2286000" cy="609600"/>
            </a:xfrm>
          </p:grpSpPr>
          <p:grpSp>
            <p:nvGrpSpPr>
              <p:cNvPr id="41" name="Group 40"/>
              <p:cNvGrpSpPr/>
              <p:nvPr/>
            </p:nvGrpSpPr>
            <p:grpSpPr>
              <a:xfrm>
                <a:off x="6585858" y="3168988"/>
                <a:ext cx="1828800" cy="381000"/>
                <a:chOff x="381000" y="1219200"/>
                <a:chExt cx="1828800" cy="381000"/>
              </a:xfrm>
            </p:grpSpPr>
            <p:sp>
              <p:nvSpPr>
                <p:cNvPr id="53" name="Rectangle 52"/>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p>
              </p:txBody>
            </p:sp>
            <p:sp>
              <p:nvSpPr>
                <p:cNvPr id="54" name="Rectangle 53"/>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6</a:t>
                  </a:r>
                  <a:endParaRPr lang="en-US" b="1" dirty="0"/>
                </a:p>
              </p:txBody>
            </p:sp>
            <p:sp>
              <p:nvSpPr>
                <p:cNvPr id="55" name="Rectangle 54"/>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8</a:t>
                  </a:r>
                  <a:endParaRPr lang="en-US" b="1" dirty="0"/>
                </a:p>
              </p:txBody>
            </p:sp>
            <p:sp>
              <p:nvSpPr>
                <p:cNvPr id="56" name="Rectangle 55"/>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4</a:t>
                  </a:r>
                  <a:endParaRPr lang="en-US" b="1" dirty="0"/>
                </a:p>
              </p:txBody>
            </p:sp>
          </p:grpSp>
          <p:cxnSp>
            <p:nvCxnSpPr>
              <p:cNvPr id="42" name="Straight Connector 41"/>
              <p:cNvCxnSpPr>
                <a:stCxn id="56" idx="3"/>
              </p:cNvCxnSpPr>
              <p:nvPr/>
            </p:nvCxnSpPr>
            <p:spPr>
              <a:xfrm>
                <a:off x="8414658" y="3359488"/>
                <a:ext cx="1905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3" name="Straight Connector 42"/>
              <p:cNvCxnSpPr/>
              <p:nvPr/>
            </p:nvCxnSpPr>
            <p:spPr>
              <a:xfrm>
                <a:off x="8599716"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4" name="Straight Connector 43"/>
              <p:cNvCxnSpPr/>
              <p:nvPr/>
            </p:nvCxnSpPr>
            <p:spPr>
              <a:xfrm flipH="1">
                <a:off x="6324600" y="3778588"/>
                <a:ext cx="2286000" cy="0"/>
              </a:xfrm>
              <a:prstGeom prst="line">
                <a:avLst/>
              </a:prstGeom>
              <a:ln w="28575"/>
            </p:spPr>
            <p:style>
              <a:lnRef idx="2">
                <a:schemeClr val="dk1"/>
              </a:lnRef>
              <a:fillRef idx="0">
                <a:schemeClr val="dk1"/>
              </a:fillRef>
              <a:effectRef idx="1">
                <a:schemeClr val="dk1"/>
              </a:effectRef>
              <a:fontRef idx="minor">
                <a:schemeClr val="tx1"/>
              </a:fontRef>
            </p:style>
          </p:cxnSp>
          <p:cxnSp>
            <p:nvCxnSpPr>
              <p:cNvPr id="45" name="Straight Connector 44"/>
              <p:cNvCxnSpPr/>
              <p:nvPr/>
            </p:nvCxnSpPr>
            <p:spPr>
              <a:xfrm flipV="1">
                <a:off x="6324600" y="3359488"/>
                <a:ext cx="0" cy="419100"/>
              </a:xfrm>
              <a:prstGeom prst="line">
                <a:avLst/>
              </a:prstGeom>
              <a:ln w="28575"/>
            </p:spPr>
            <p:style>
              <a:lnRef idx="2">
                <a:schemeClr val="dk1"/>
              </a:lnRef>
              <a:fillRef idx="0">
                <a:schemeClr val="dk1"/>
              </a:fillRef>
              <a:effectRef idx="1">
                <a:schemeClr val="dk1"/>
              </a:effectRef>
              <a:fontRef idx="minor">
                <a:schemeClr val="tx1"/>
              </a:fontRef>
            </p:style>
          </p:cxnSp>
          <p:cxnSp>
            <p:nvCxnSpPr>
              <p:cNvPr id="46" name="Straight Arrow Connector 45"/>
              <p:cNvCxnSpPr>
                <a:endCxn id="53" idx="1"/>
              </p:cNvCxnSpPr>
              <p:nvPr/>
            </p:nvCxnSpPr>
            <p:spPr>
              <a:xfrm>
                <a:off x="6324600" y="3359488"/>
                <a:ext cx="261258" cy="0"/>
              </a:xfrm>
              <a:prstGeom prst="straightConnector1">
                <a:avLst/>
              </a:prstGeom>
              <a:ln w="28575">
                <a:tailEnd type="arrow"/>
              </a:ln>
            </p:spPr>
            <p:style>
              <a:lnRef idx="2">
                <a:schemeClr val="dk1"/>
              </a:lnRef>
              <a:fillRef idx="0">
                <a:schemeClr val="dk1"/>
              </a:fillRef>
              <a:effectRef idx="1">
                <a:schemeClr val="dk1"/>
              </a:effectRef>
              <a:fontRef idx="minor">
                <a:schemeClr val="tx1"/>
              </a:fontRef>
            </p:style>
          </p:cxnSp>
        </p:grpSp>
        <p:grpSp>
          <p:nvGrpSpPr>
            <p:cNvPr id="85" name="Group 84"/>
            <p:cNvGrpSpPr/>
            <p:nvPr/>
          </p:nvGrpSpPr>
          <p:grpSpPr>
            <a:xfrm>
              <a:off x="9985235" y="4606306"/>
              <a:ext cx="283784" cy="800288"/>
              <a:chOff x="9833067" y="4719218"/>
              <a:chExt cx="283784" cy="800288"/>
            </a:xfrm>
          </p:grpSpPr>
          <p:sp>
            <p:nvSpPr>
              <p:cNvPr id="80" name="TextBox 79"/>
              <p:cNvSpPr txBox="1"/>
              <p:nvPr/>
            </p:nvSpPr>
            <p:spPr>
              <a:xfrm>
                <a:off x="9833067" y="4719218"/>
                <a:ext cx="283784" cy="369331"/>
              </a:xfrm>
              <a:prstGeom prst="rect">
                <a:avLst/>
              </a:prstGeom>
              <a:noFill/>
            </p:spPr>
            <p:txBody>
              <a:bodyPr wrap="square" rtlCol="0">
                <a:spAutoFit/>
              </a:bodyPr>
              <a:lstStyle/>
              <a:p>
                <a:r>
                  <a:rPr lang="en-IN" b="1" dirty="0">
                    <a:solidFill>
                      <a:srgbClr val="FF0000"/>
                    </a:solidFill>
                  </a:rPr>
                  <a:t>F</a:t>
                </a:r>
                <a:endParaRPr lang="en-US" b="1" dirty="0">
                  <a:solidFill>
                    <a:srgbClr val="FF0000"/>
                  </a:solidFill>
                </a:endParaRPr>
              </a:p>
            </p:txBody>
          </p:sp>
          <p:cxnSp>
            <p:nvCxnSpPr>
              <p:cNvPr id="82" name="Straight Arrow Connector 81"/>
              <p:cNvCxnSpPr>
                <a:stCxn id="80" idx="2"/>
              </p:cNvCxnSpPr>
              <p:nvPr/>
            </p:nvCxnSpPr>
            <p:spPr>
              <a:xfrm>
                <a:off x="9974959" y="5088557"/>
                <a:ext cx="0" cy="430949"/>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nvGrpSpPr>
            <p:cNvPr id="84" name="Group 83"/>
            <p:cNvGrpSpPr/>
            <p:nvPr/>
          </p:nvGrpSpPr>
          <p:grpSpPr>
            <a:xfrm>
              <a:off x="10841299" y="4604386"/>
              <a:ext cx="286127" cy="797968"/>
              <a:chOff x="10068852" y="4719218"/>
              <a:chExt cx="286127" cy="797968"/>
            </a:xfrm>
          </p:grpSpPr>
          <p:sp>
            <p:nvSpPr>
              <p:cNvPr id="81" name="TextBox 80"/>
              <p:cNvSpPr txBox="1"/>
              <p:nvPr/>
            </p:nvSpPr>
            <p:spPr>
              <a:xfrm>
                <a:off x="10068852" y="4719218"/>
                <a:ext cx="286127" cy="369345"/>
              </a:xfrm>
              <a:prstGeom prst="rect">
                <a:avLst/>
              </a:prstGeom>
              <a:noFill/>
            </p:spPr>
            <p:txBody>
              <a:bodyPr wrap="square" rtlCol="0">
                <a:spAutoFit/>
              </a:bodyPr>
              <a:lstStyle/>
              <a:p>
                <a:pPr algn="ctr"/>
                <a:r>
                  <a:rPr lang="en-IN" b="1" dirty="0">
                    <a:solidFill>
                      <a:srgbClr val="FF0000"/>
                    </a:solidFill>
                  </a:rPr>
                  <a:t>R</a:t>
                </a:r>
                <a:endParaRPr lang="en-US" b="1" dirty="0">
                  <a:solidFill>
                    <a:srgbClr val="FF0000"/>
                  </a:solidFill>
                </a:endParaRPr>
              </a:p>
            </p:txBody>
          </p:sp>
          <p:cxnSp>
            <p:nvCxnSpPr>
              <p:cNvPr id="83" name="Straight Arrow Connector 82"/>
              <p:cNvCxnSpPr>
                <a:stCxn id="81" idx="2"/>
              </p:cNvCxnSpPr>
              <p:nvPr/>
            </p:nvCxnSpPr>
            <p:spPr>
              <a:xfrm>
                <a:off x="10211916" y="5088570"/>
                <a:ext cx="0" cy="428616"/>
              </a:xfrm>
              <a:prstGeom prst="straightConnector1">
                <a:avLst/>
              </a:prstGeom>
              <a:ln w="28575">
                <a:solidFill>
                  <a:srgbClr val="B84742"/>
                </a:solidFill>
                <a:headEnd w="lg" len="lg"/>
                <a:tailEnd type="stealth" w="lg" len="lg"/>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754553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6" end="6"/>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
                                            <p:txEl>
                                              <p:pRg st="7" end="7"/>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
                                            <p:txEl>
                                              <p:pRg st="9" end="9"/>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7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Title 1"/>
          <p:cNvSpPr>
            <a:spLocks noGrp="1"/>
          </p:cNvSpPr>
          <p:nvPr>
            <p:ph type="title"/>
          </p:nvPr>
        </p:nvSpPr>
        <p:spPr/>
        <p:txBody>
          <a:bodyPr/>
          <a:lstStyle/>
          <a:p>
            <a:r>
              <a:rPr lang="en-IN" dirty="0"/>
              <a:t>Example of </a:t>
            </a:r>
            <a:r>
              <a:rPr lang="en-IN" dirty="0" err="1"/>
              <a:t>CQueue</a:t>
            </a:r>
            <a:r>
              <a:rPr lang="en-IN" dirty="0"/>
              <a:t> Insert / Delete</a:t>
            </a:r>
            <a:endParaRPr lang="en-US" dirty="0"/>
          </a:p>
        </p:txBody>
      </p:sp>
      <p:grpSp>
        <p:nvGrpSpPr>
          <p:cNvPr id="139" name="Group 138"/>
          <p:cNvGrpSpPr/>
          <p:nvPr/>
        </p:nvGrpSpPr>
        <p:grpSpPr>
          <a:xfrm>
            <a:off x="2286000" y="2209800"/>
            <a:ext cx="1828800" cy="381000"/>
            <a:chOff x="381000" y="1219200"/>
            <a:chExt cx="1828800" cy="381000"/>
          </a:xfrm>
        </p:grpSpPr>
        <p:sp>
          <p:nvSpPr>
            <p:cNvPr id="140" name="Rectangle 139"/>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1" name="Rectangle 140"/>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2" name="Rectangle 141"/>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3" name="Rectangle 142"/>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4" name="Group 143"/>
          <p:cNvGrpSpPr/>
          <p:nvPr/>
        </p:nvGrpSpPr>
        <p:grpSpPr>
          <a:xfrm>
            <a:off x="2286000" y="3733018"/>
            <a:ext cx="1828800" cy="381000"/>
            <a:chOff x="381000" y="1219200"/>
            <a:chExt cx="1828800" cy="381000"/>
          </a:xfrm>
        </p:grpSpPr>
        <p:sp>
          <p:nvSpPr>
            <p:cNvPr id="145" name="Rectangle 144"/>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6" name="Rectangle 145"/>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7" name="Rectangle 146"/>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8" name="Rectangle 147"/>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9" name="Group 148"/>
          <p:cNvGrpSpPr/>
          <p:nvPr/>
        </p:nvGrpSpPr>
        <p:grpSpPr>
          <a:xfrm>
            <a:off x="2286000" y="5351111"/>
            <a:ext cx="1828800" cy="381000"/>
            <a:chOff x="381000" y="1219200"/>
            <a:chExt cx="1828800" cy="381000"/>
          </a:xfrm>
        </p:grpSpPr>
        <p:sp>
          <p:nvSpPr>
            <p:cNvPr id="150" name="Rectangle 149"/>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1" name="Rectangle 150"/>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2" name="Rectangle 151"/>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3" name="Rectangle 152"/>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4" name="Group 153"/>
          <p:cNvGrpSpPr/>
          <p:nvPr/>
        </p:nvGrpSpPr>
        <p:grpSpPr>
          <a:xfrm>
            <a:off x="8534400" y="3777344"/>
            <a:ext cx="1828800" cy="381000"/>
            <a:chOff x="381000" y="1219200"/>
            <a:chExt cx="1828800" cy="381000"/>
          </a:xfrm>
        </p:grpSpPr>
        <p:sp>
          <p:nvSpPr>
            <p:cNvPr id="155" name="Rectangle 154"/>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6" name="Rectangle 155"/>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7" name="Rectangle 156"/>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8" name="Rectangle 157"/>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9" name="Group 158"/>
          <p:cNvGrpSpPr/>
          <p:nvPr/>
        </p:nvGrpSpPr>
        <p:grpSpPr>
          <a:xfrm>
            <a:off x="1598597" y="2684112"/>
            <a:ext cx="293670" cy="592488"/>
            <a:chOff x="774733" y="1681844"/>
            <a:chExt cx="293670" cy="592488"/>
          </a:xfrm>
        </p:grpSpPr>
        <p:sp>
          <p:nvSpPr>
            <p:cNvPr id="160" name="TextBox 159"/>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61" name="Straight Arrow Connector 160"/>
            <p:cNvCxnSpPr>
              <a:stCxn id="16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62" name="Group 161"/>
          <p:cNvGrpSpPr/>
          <p:nvPr/>
        </p:nvGrpSpPr>
        <p:grpSpPr>
          <a:xfrm>
            <a:off x="1796146" y="2684112"/>
            <a:ext cx="314510" cy="592488"/>
            <a:chOff x="764313" y="1681844"/>
            <a:chExt cx="314510" cy="592488"/>
          </a:xfrm>
        </p:grpSpPr>
        <p:sp>
          <p:nvSpPr>
            <p:cNvPr id="163" name="TextBox 162"/>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64" name="Straight Arrow Connector 163"/>
            <p:cNvCxnSpPr>
              <a:stCxn id="16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66" name="TextBox 165"/>
          <p:cNvSpPr txBox="1"/>
          <p:nvPr/>
        </p:nvSpPr>
        <p:spPr>
          <a:xfrm>
            <a:off x="2286000" y="1752600"/>
            <a:ext cx="1828800" cy="369332"/>
          </a:xfrm>
          <a:prstGeom prst="rect">
            <a:avLst/>
          </a:prstGeom>
          <a:noFill/>
        </p:spPr>
        <p:txBody>
          <a:bodyPr wrap="square" rtlCol="0">
            <a:spAutoFit/>
          </a:bodyPr>
          <a:lstStyle/>
          <a:p>
            <a:pPr algn="ctr"/>
            <a:r>
              <a:rPr lang="en-IN" b="1" dirty="0"/>
              <a:t>Empty Queue</a:t>
            </a:r>
            <a:endParaRPr lang="en-US" b="1" dirty="0"/>
          </a:p>
        </p:txBody>
      </p:sp>
      <p:sp>
        <p:nvSpPr>
          <p:cNvPr id="167" name="TextBox 166"/>
          <p:cNvSpPr txBox="1"/>
          <p:nvPr/>
        </p:nvSpPr>
        <p:spPr>
          <a:xfrm>
            <a:off x="1600200" y="2200479"/>
            <a:ext cx="301686" cy="369332"/>
          </a:xfrm>
          <a:prstGeom prst="rect">
            <a:avLst/>
          </a:prstGeom>
          <a:noFill/>
        </p:spPr>
        <p:txBody>
          <a:bodyPr wrap="none" rtlCol="0">
            <a:spAutoFit/>
          </a:bodyPr>
          <a:lstStyle/>
          <a:p>
            <a:pPr algn="ctr"/>
            <a:r>
              <a:rPr lang="en-IN" b="1" dirty="0"/>
              <a:t>0</a:t>
            </a:r>
            <a:endParaRPr lang="en-US" b="1" dirty="0"/>
          </a:p>
        </p:txBody>
      </p:sp>
      <p:sp>
        <p:nvSpPr>
          <p:cNvPr id="168" name="TextBox 167"/>
          <p:cNvSpPr txBox="1"/>
          <p:nvPr/>
        </p:nvSpPr>
        <p:spPr>
          <a:xfrm>
            <a:off x="1807030" y="2200479"/>
            <a:ext cx="301686" cy="369332"/>
          </a:xfrm>
          <a:prstGeom prst="rect">
            <a:avLst/>
          </a:prstGeom>
          <a:noFill/>
        </p:spPr>
        <p:txBody>
          <a:bodyPr wrap="none" rtlCol="0">
            <a:spAutoFit/>
          </a:bodyPr>
          <a:lstStyle/>
          <a:p>
            <a:pPr algn="ctr"/>
            <a:r>
              <a:rPr lang="en-IN" b="1" dirty="0"/>
              <a:t>0</a:t>
            </a:r>
            <a:endParaRPr lang="en-US" b="1" dirty="0"/>
          </a:p>
        </p:txBody>
      </p:sp>
      <p:cxnSp>
        <p:nvCxnSpPr>
          <p:cNvPr id="169" name="Straight Connector 168"/>
          <p:cNvCxnSpPr/>
          <p:nvPr/>
        </p:nvCxnSpPr>
        <p:spPr>
          <a:xfrm>
            <a:off x="1600200" y="3276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70" name="TextBox 169"/>
          <p:cNvSpPr txBox="1"/>
          <p:nvPr/>
        </p:nvSpPr>
        <p:spPr>
          <a:xfrm>
            <a:off x="2286000" y="3363686"/>
            <a:ext cx="1828800" cy="369332"/>
          </a:xfrm>
          <a:prstGeom prst="rect">
            <a:avLst/>
          </a:prstGeom>
          <a:noFill/>
        </p:spPr>
        <p:txBody>
          <a:bodyPr wrap="square" rtlCol="0">
            <a:spAutoFit/>
          </a:bodyPr>
          <a:lstStyle/>
          <a:p>
            <a:pPr algn="ctr"/>
            <a:r>
              <a:rPr lang="en-IN" b="1" dirty="0"/>
              <a:t>Insert ‘A’</a:t>
            </a:r>
            <a:endParaRPr lang="en-US" b="1" dirty="0"/>
          </a:p>
        </p:txBody>
      </p:sp>
      <p:grpSp>
        <p:nvGrpSpPr>
          <p:cNvPr id="171" name="Group 170"/>
          <p:cNvGrpSpPr/>
          <p:nvPr/>
        </p:nvGrpSpPr>
        <p:grpSpPr>
          <a:xfrm>
            <a:off x="1576827" y="4125687"/>
            <a:ext cx="293670" cy="592488"/>
            <a:chOff x="774733" y="1681844"/>
            <a:chExt cx="293670" cy="592488"/>
          </a:xfrm>
        </p:grpSpPr>
        <p:sp>
          <p:nvSpPr>
            <p:cNvPr id="172" name="TextBox 171"/>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73" name="Straight Arrow Connector 172"/>
            <p:cNvCxnSpPr>
              <a:stCxn id="172"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74" name="Group 173"/>
          <p:cNvGrpSpPr/>
          <p:nvPr/>
        </p:nvGrpSpPr>
        <p:grpSpPr>
          <a:xfrm>
            <a:off x="1752600" y="4131912"/>
            <a:ext cx="314510" cy="592488"/>
            <a:chOff x="764313" y="1681844"/>
            <a:chExt cx="314510" cy="592488"/>
          </a:xfrm>
        </p:grpSpPr>
        <p:sp>
          <p:nvSpPr>
            <p:cNvPr id="175" name="TextBox 174"/>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76" name="Straight Arrow Connector 175"/>
            <p:cNvCxnSpPr>
              <a:stCxn id="175"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77" name="TextBox 176"/>
          <p:cNvSpPr txBox="1"/>
          <p:nvPr/>
        </p:nvSpPr>
        <p:spPr>
          <a:xfrm>
            <a:off x="1600200" y="3406447"/>
            <a:ext cx="542136" cy="369332"/>
          </a:xfrm>
          <a:prstGeom prst="rect">
            <a:avLst/>
          </a:prstGeom>
          <a:noFill/>
        </p:spPr>
        <p:txBody>
          <a:bodyPr wrap="none" rtlCol="0">
            <a:spAutoFit/>
          </a:bodyPr>
          <a:lstStyle/>
          <a:p>
            <a:r>
              <a:rPr lang="en-IN" b="1" dirty="0">
                <a:solidFill>
                  <a:schemeClr val="accent3">
                    <a:lumMod val="75000"/>
                  </a:schemeClr>
                </a:solidFill>
              </a:rPr>
              <a:t>R=1</a:t>
            </a:r>
            <a:endParaRPr lang="en-US" b="1" dirty="0">
              <a:solidFill>
                <a:schemeClr val="accent3">
                  <a:lumMod val="75000"/>
                </a:schemeClr>
              </a:solidFill>
            </a:endParaRPr>
          </a:p>
        </p:txBody>
      </p:sp>
      <p:sp>
        <p:nvSpPr>
          <p:cNvPr id="178" name="TextBox 177"/>
          <p:cNvSpPr txBox="1"/>
          <p:nvPr/>
        </p:nvSpPr>
        <p:spPr>
          <a:xfrm>
            <a:off x="1600200" y="3744686"/>
            <a:ext cx="542136" cy="369332"/>
          </a:xfrm>
          <a:prstGeom prst="rect">
            <a:avLst/>
          </a:prstGeom>
          <a:noFill/>
        </p:spPr>
        <p:txBody>
          <a:bodyPr wrap="none" rtlCol="0">
            <a:spAutoFit/>
          </a:bodyPr>
          <a:lstStyle/>
          <a:p>
            <a:r>
              <a:rPr lang="en-IN" b="1" dirty="0">
                <a:solidFill>
                  <a:schemeClr val="accent3">
                    <a:lumMod val="75000"/>
                  </a:schemeClr>
                </a:solidFill>
              </a:rPr>
              <a:t>F=1</a:t>
            </a:r>
            <a:endParaRPr lang="en-US" b="1" dirty="0">
              <a:solidFill>
                <a:schemeClr val="accent3">
                  <a:lumMod val="75000"/>
                </a:schemeClr>
              </a:solidFill>
            </a:endParaRPr>
          </a:p>
        </p:txBody>
      </p:sp>
      <p:sp>
        <p:nvSpPr>
          <p:cNvPr id="179" name="TextBox 178"/>
          <p:cNvSpPr txBox="1"/>
          <p:nvPr/>
        </p:nvSpPr>
        <p:spPr>
          <a:xfrm>
            <a:off x="2286000" y="3721349"/>
            <a:ext cx="457200" cy="400110"/>
          </a:xfrm>
          <a:prstGeom prst="rect">
            <a:avLst/>
          </a:prstGeom>
          <a:noFill/>
        </p:spPr>
        <p:txBody>
          <a:bodyPr wrap="square" rtlCol="0">
            <a:spAutoFit/>
          </a:bodyPr>
          <a:lstStyle/>
          <a:p>
            <a:pPr algn="ctr"/>
            <a:r>
              <a:rPr lang="en-IN" sz="2000" b="1" dirty="0">
                <a:solidFill>
                  <a:schemeClr val="bg1"/>
                </a:solidFill>
              </a:rPr>
              <a:t>A</a:t>
            </a:r>
            <a:endParaRPr lang="en-US" sz="2000" b="1" dirty="0">
              <a:solidFill>
                <a:schemeClr val="bg1"/>
              </a:solidFill>
            </a:endParaRPr>
          </a:p>
        </p:txBody>
      </p:sp>
      <p:cxnSp>
        <p:nvCxnSpPr>
          <p:cNvPr id="180" name="Straight Connector 179"/>
          <p:cNvCxnSpPr/>
          <p:nvPr/>
        </p:nvCxnSpPr>
        <p:spPr>
          <a:xfrm>
            <a:off x="16002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181" name="TextBox 180"/>
          <p:cNvSpPr txBox="1"/>
          <p:nvPr/>
        </p:nvSpPr>
        <p:spPr>
          <a:xfrm>
            <a:off x="2286000" y="4876800"/>
            <a:ext cx="1828800" cy="369332"/>
          </a:xfrm>
          <a:prstGeom prst="rect">
            <a:avLst/>
          </a:prstGeom>
          <a:noFill/>
        </p:spPr>
        <p:txBody>
          <a:bodyPr wrap="square" rtlCol="0">
            <a:spAutoFit/>
          </a:bodyPr>
          <a:lstStyle/>
          <a:p>
            <a:pPr algn="ctr"/>
            <a:r>
              <a:rPr lang="en-IN" b="1" dirty="0"/>
              <a:t>Insert ‘B’</a:t>
            </a:r>
            <a:endParaRPr lang="en-US" b="1" dirty="0"/>
          </a:p>
        </p:txBody>
      </p:sp>
      <p:grpSp>
        <p:nvGrpSpPr>
          <p:cNvPr id="182" name="Group 181"/>
          <p:cNvGrpSpPr/>
          <p:nvPr/>
        </p:nvGrpSpPr>
        <p:grpSpPr>
          <a:xfrm>
            <a:off x="5339565" y="2611024"/>
            <a:ext cx="293670" cy="592488"/>
            <a:chOff x="774733" y="1681844"/>
            <a:chExt cx="293670" cy="592488"/>
          </a:xfrm>
        </p:grpSpPr>
        <p:sp>
          <p:nvSpPr>
            <p:cNvPr id="183" name="TextBox 182"/>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184" name="Straight Arrow Connector 183"/>
            <p:cNvCxnSpPr>
              <a:stCxn id="18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185" name="Group 184"/>
          <p:cNvGrpSpPr/>
          <p:nvPr/>
        </p:nvGrpSpPr>
        <p:grpSpPr>
          <a:xfrm>
            <a:off x="2426377" y="5742998"/>
            <a:ext cx="314510" cy="592488"/>
            <a:chOff x="764313" y="1681844"/>
            <a:chExt cx="314510" cy="592488"/>
          </a:xfrm>
        </p:grpSpPr>
        <p:sp>
          <p:nvSpPr>
            <p:cNvPr id="186" name="TextBox 185"/>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187" name="Straight Arrow Connector 186"/>
            <p:cNvCxnSpPr>
              <a:stCxn id="186"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188" name="TextBox 187"/>
          <p:cNvSpPr txBox="1"/>
          <p:nvPr/>
        </p:nvSpPr>
        <p:spPr>
          <a:xfrm>
            <a:off x="2293436" y="5335998"/>
            <a:ext cx="457200" cy="400110"/>
          </a:xfrm>
          <a:prstGeom prst="rect">
            <a:avLst/>
          </a:prstGeom>
          <a:noFill/>
        </p:spPr>
        <p:txBody>
          <a:bodyPr wrap="square" rtlCol="0">
            <a:spAutoFit/>
          </a:bodyPr>
          <a:lstStyle/>
          <a:p>
            <a:pPr algn="ctr"/>
            <a:r>
              <a:rPr lang="en-IN" sz="2000" b="1" dirty="0">
                <a:solidFill>
                  <a:schemeClr val="bg1"/>
                </a:solidFill>
              </a:rPr>
              <a:t>A</a:t>
            </a:r>
            <a:endParaRPr lang="en-US" sz="2000" b="1" dirty="0">
              <a:solidFill>
                <a:schemeClr val="bg1"/>
              </a:solidFill>
            </a:endParaRPr>
          </a:p>
        </p:txBody>
      </p:sp>
      <p:sp>
        <p:nvSpPr>
          <p:cNvPr id="189" name="TextBox 188"/>
          <p:cNvSpPr txBox="1"/>
          <p:nvPr/>
        </p:nvSpPr>
        <p:spPr>
          <a:xfrm>
            <a:off x="1654629" y="5134180"/>
            <a:ext cx="546945" cy="646331"/>
          </a:xfrm>
          <a:prstGeom prst="rect">
            <a:avLst/>
          </a:prstGeom>
          <a:noFill/>
        </p:spPr>
        <p:txBody>
          <a:bodyPr wrap="none" rtlCol="0">
            <a:spAutoFit/>
          </a:bodyPr>
          <a:lstStyle/>
          <a:p>
            <a:r>
              <a:rPr lang="en-IN" b="1" dirty="0">
                <a:solidFill>
                  <a:schemeClr val="accent3">
                    <a:lumMod val="75000"/>
                  </a:schemeClr>
                </a:solidFill>
              </a:rPr>
              <a:t>R=2</a:t>
            </a:r>
          </a:p>
          <a:p>
            <a:r>
              <a:rPr lang="en-IN" b="1" dirty="0">
                <a:solidFill>
                  <a:schemeClr val="accent3">
                    <a:lumMod val="75000"/>
                  </a:schemeClr>
                </a:solidFill>
              </a:rPr>
              <a:t>F=1</a:t>
            </a:r>
            <a:endParaRPr lang="en-US" b="1" dirty="0">
              <a:solidFill>
                <a:schemeClr val="accent3">
                  <a:lumMod val="75000"/>
                </a:schemeClr>
              </a:solidFill>
            </a:endParaRPr>
          </a:p>
        </p:txBody>
      </p:sp>
      <p:sp>
        <p:nvSpPr>
          <p:cNvPr id="190" name="TextBox 189"/>
          <p:cNvSpPr txBox="1"/>
          <p:nvPr/>
        </p:nvSpPr>
        <p:spPr>
          <a:xfrm>
            <a:off x="2743200" y="5351111"/>
            <a:ext cx="457200" cy="400110"/>
          </a:xfrm>
          <a:prstGeom prst="rect">
            <a:avLst/>
          </a:prstGeom>
          <a:noFill/>
        </p:spPr>
        <p:txBody>
          <a:bodyPr wrap="square" rtlCol="0">
            <a:spAutoFit/>
          </a:bodyPr>
          <a:lstStyle/>
          <a:p>
            <a:pPr algn="ctr"/>
            <a:r>
              <a:rPr lang="en-IN" sz="2000" b="1" dirty="0">
                <a:solidFill>
                  <a:schemeClr val="bg1"/>
                </a:solidFill>
              </a:rPr>
              <a:t>B</a:t>
            </a:r>
            <a:endParaRPr lang="en-US" sz="2000" b="1" dirty="0">
              <a:solidFill>
                <a:schemeClr val="bg1"/>
              </a:solidFill>
            </a:endParaRPr>
          </a:p>
        </p:txBody>
      </p:sp>
      <p:cxnSp>
        <p:nvCxnSpPr>
          <p:cNvPr id="191" name="Straight Connector 190"/>
          <p:cNvCxnSpPr/>
          <p:nvPr/>
        </p:nvCxnSpPr>
        <p:spPr>
          <a:xfrm>
            <a:off x="4572000" y="1752600"/>
            <a:ext cx="0" cy="4572000"/>
          </a:xfrm>
          <a:prstGeom prst="line">
            <a:avLst/>
          </a:prstGeom>
        </p:spPr>
        <p:style>
          <a:lnRef idx="2">
            <a:schemeClr val="dk1"/>
          </a:lnRef>
          <a:fillRef idx="0">
            <a:schemeClr val="dk1"/>
          </a:fillRef>
          <a:effectRef idx="1">
            <a:schemeClr val="dk1"/>
          </a:effectRef>
          <a:fontRef idx="minor">
            <a:schemeClr val="tx1"/>
          </a:fontRef>
        </p:style>
      </p:cxnSp>
      <p:sp>
        <p:nvSpPr>
          <p:cNvPr id="192" name="TextBox 191"/>
          <p:cNvSpPr txBox="1"/>
          <p:nvPr/>
        </p:nvSpPr>
        <p:spPr>
          <a:xfrm>
            <a:off x="5257800" y="1752600"/>
            <a:ext cx="1828800" cy="369332"/>
          </a:xfrm>
          <a:prstGeom prst="rect">
            <a:avLst/>
          </a:prstGeom>
          <a:noFill/>
        </p:spPr>
        <p:txBody>
          <a:bodyPr wrap="square" rtlCol="0">
            <a:spAutoFit/>
          </a:bodyPr>
          <a:lstStyle/>
          <a:p>
            <a:pPr algn="ctr"/>
            <a:r>
              <a:rPr lang="en-IN" b="1" dirty="0"/>
              <a:t>Insert ‘C’</a:t>
            </a:r>
            <a:endParaRPr lang="en-US" b="1" dirty="0"/>
          </a:p>
        </p:txBody>
      </p:sp>
      <p:cxnSp>
        <p:nvCxnSpPr>
          <p:cNvPr id="193" name="Straight Connector 192"/>
          <p:cNvCxnSpPr/>
          <p:nvPr/>
        </p:nvCxnSpPr>
        <p:spPr>
          <a:xfrm>
            <a:off x="4572000" y="3276600"/>
            <a:ext cx="2971800" cy="0"/>
          </a:xfrm>
          <a:prstGeom prst="line">
            <a:avLst/>
          </a:prstGeom>
        </p:spPr>
        <p:style>
          <a:lnRef idx="2">
            <a:schemeClr val="dk1"/>
          </a:lnRef>
          <a:fillRef idx="0">
            <a:schemeClr val="dk1"/>
          </a:fillRef>
          <a:effectRef idx="1">
            <a:schemeClr val="dk1"/>
          </a:effectRef>
          <a:fontRef idx="minor">
            <a:schemeClr val="tx1"/>
          </a:fontRef>
        </p:style>
      </p:cxnSp>
      <p:cxnSp>
        <p:nvCxnSpPr>
          <p:cNvPr id="194" name="Straight Connector 193"/>
          <p:cNvCxnSpPr/>
          <p:nvPr/>
        </p:nvCxnSpPr>
        <p:spPr>
          <a:xfrm>
            <a:off x="7543800" y="1752600"/>
            <a:ext cx="0" cy="4572000"/>
          </a:xfrm>
          <a:prstGeom prst="line">
            <a:avLst/>
          </a:prstGeom>
        </p:spPr>
        <p:style>
          <a:lnRef idx="2">
            <a:schemeClr val="dk1"/>
          </a:lnRef>
          <a:fillRef idx="0">
            <a:schemeClr val="dk1"/>
          </a:fillRef>
          <a:effectRef idx="1">
            <a:schemeClr val="dk1"/>
          </a:effectRef>
          <a:fontRef idx="minor">
            <a:schemeClr val="tx1"/>
          </a:fontRef>
        </p:style>
      </p:cxnSp>
      <p:cxnSp>
        <p:nvCxnSpPr>
          <p:cNvPr id="195" name="Straight Connector 194"/>
          <p:cNvCxnSpPr/>
          <p:nvPr/>
        </p:nvCxnSpPr>
        <p:spPr>
          <a:xfrm>
            <a:off x="7543800" y="3276600"/>
            <a:ext cx="2971800" cy="0"/>
          </a:xfrm>
          <a:prstGeom prst="line">
            <a:avLst/>
          </a:prstGeom>
        </p:spPr>
        <p:style>
          <a:lnRef idx="2">
            <a:schemeClr val="dk1"/>
          </a:lnRef>
          <a:fillRef idx="0">
            <a:schemeClr val="dk1"/>
          </a:fillRef>
          <a:effectRef idx="1">
            <a:schemeClr val="dk1"/>
          </a:effectRef>
          <a:fontRef idx="minor">
            <a:schemeClr val="tx1"/>
          </a:fontRef>
        </p:style>
      </p:cxnSp>
      <p:grpSp>
        <p:nvGrpSpPr>
          <p:cNvPr id="196" name="Group 195"/>
          <p:cNvGrpSpPr/>
          <p:nvPr/>
        </p:nvGrpSpPr>
        <p:grpSpPr>
          <a:xfrm>
            <a:off x="5257800" y="2209800"/>
            <a:ext cx="1828800" cy="381000"/>
            <a:chOff x="381000" y="1219200"/>
            <a:chExt cx="1828800" cy="381000"/>
          </a:xfrm>
        </p:grpSpPr>
        <p:sp>
          <p:nvSpPr>
            <p:cNvPr id="197" name="Rectangle 196"/>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8" name="Rectangle 197"/>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9" name="Rectangle 198"/>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0" name="Rectangle 199"/>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1" name="TextBox 200"/>
          <p:cNvSpPr txBox="1"/>
          <p:nvPr/>
        </p:nvSpPr>
        <p:spPr>
          <a:xfrm>
            <a:off x="5257800" y="2209800"/>
            <a:ext cx="457200" cy="400110"/>
          </a:xfrm>
          <a:prstGeom prst="rect">
            <a:avLst/>
          </a:prstGeom>
          <a:noFill/>
        </p:spPr>
        <p:txBody>
          <a:bodyPr wrap="square" rtlCol="0">
            <a:spAutoFit/>
          </a:bodyPr>
          <a:lstStyle/>
          <a:p>
            <a:pPr algn="ctr"/>
            <a:r>
              <a:rPr lang="en-IN" sz="2000" b="1" dirty="0">
                <a:solidFill>
                  <a:schemeClr val="bg1"/>
                </a:solidFill>
              </a:rPr>
              <a:t>A</a:t>
            </a:r>
            <a:endParaRPr lang="en-US" sz="2000" b="1" dirty="0">
              <a:solidFill>
                <a:schemeClr val="bg1"/>
              </a:solidFill>
            </a:endParaRPr>
          </a:p>
        </p:txBody>
      </p:sp>
      <p:sp>
        <p:nvSpPr>
          <p:cNvPr id="202" name="TextBox 201"/>
          <p:cNvSpPr txBox="1"/>
          <p:nvPr/>
        </p:nvSpPr>
        <p:spPr>
          <a:xfrm>
            <a:off x="5715000" y="2209800"/>
            <a:ext cx="457200" cy="400110"/>
          </a:xfrm>
          <a:prstGeom prst="rect">
            <a:avLst/>
          </a:prstGeom>
          <a:noFill/>
        </p:spPr>
        <p:txBody>
          <a:bodyPr wrap="square" rtlCol="0">
            <a:spAutoFit/>
          </a:bodyPr>
          <a:lstStyle/>
          <a:p>
            <a:pPr algn="ctr"/>
            <a:r>
              <a:rPr lang="en-IN" sz="2000" b="1" dirty="0">
                <a:solidFill>
                  <a:schemeClr val="bg1"/>
                </a:solidFill>
              </a:rPr>
              <a:t>B</a:t>
            </a:r>
            <a:endParaRPr lang="en-US" sz="2000" b="1" dirty="0">
              <a:solidFill>
                <a:schemeClr val="bg1"/>
              </a:solidFill>
            </a:endParaRPr>
          </a:p>
        </p:txBody>
      </p:sp>
      <p:grpSp>
        <p:nvGrpSpPr>
          <p:cNvPr id="203" name="Group 202"/>
          <p:cNvGrpSpPr/>
          <p:nvPr/>
        </p:nvGrpSpPr>
        <p:grpSpPr>
          <a:xfrm>
            <a:off x="2262623" y="5750755"/>
            <a:ext cx="293670" cy="572201"/>
            <a:chOff x="774733" y="1681843"/>
            <a:chExt cx="293670" cy="629422"/>
          </a:xfrm>
        </p:grpSpPr>
        <p:sp>
          <p:nvSpPr>
            <p:cNvPr id="204" name="TextBox 203"/>
            <p:cNvSpPr txBox="1"/>
            <p:nvPr/>
          </p:nvSpPr>
          <p:spPr>
            <a:xfrm>
              <a:off x="774733" y="1905000"/>
              <a:ext cx="293670" cy="406265"/>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05" name="Straight Arrow Connector 204"/>
            <p:cNvCxnSpPr>
              <a:stCxn id="204" idx="0"/>
            </p:cNvCxnSpPr>
            <p:nvPr/>
          </p:nvCxnSpPr>
          <p:spPr>
            <a:xfrm flipV="1">
              <a:off x="921568" y="1681843"/>
              <a:ext cx="0" cy="22315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06" name="Group 205"/>
          <p:cNvGrpSpPr/>
          <p:nvPr/>
        </p:nvGrpSpPr>
        <p:grpSpPr>
          <a:xfrm>
            <a:off x="5804399" y="2612573"/>
            <a:ext cx="314510" cy="592488"/>
            <a:chOff x="764313" y="1681844"/>
            <a:chExt cx="314510" cy="592488"/>
          </a:xfrm>
        </p:grpSpPr>
        <p:sp>
          <p:nvSpPr>
            <p:cNvPr id="207" name="TextBox 206"/>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08" name="Straight Arrow Connector 207"/>
            <p:cNvCxnSpPr>
              <a:stCxn id="207"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09" name="TextBox 208"/>
          <p:cNvSpPr txBox="1"/>
          <p:nvPr/>
        </p:nvSpPr>
        <p:spPr>
          <a:xfrm>
            <a:off x="4615544" y="1796145"/>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F=1</a:t>
            </a:r>
          </a:p>
        </p:txBody>
      </p:sp>
      <p:sp>
        <p:nvSpPr>
          <p:cNvPr id="210" name="TextBox 209"/>
          <p:cNvSpPr txBox="1"/>
          <p:nvPr/>
        </p:nvSpPr>
        <p:spPr>
          <a:xfrm>
            <a:off x="6172200" y="2209800"/>
            <a:ext cx="457200"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grpSp>
        <p:nvGrpSpPr>
          <p:cNvPr id="211" name="Group 210"/>
          <p:cNvGrpSpPr/>
          <p:nvPr/>
        </p:nvGrpSpPr>
        <p:grpSpPr>
          <a:xfrm>
            <a:off x="5257800" y="3775779"/>
            <a:ext cx="1828800" cy="381000"/>
            <a:chOff x="381000" y="1219200"/>
            <a:chExt cx="1828800" cy="381000"/>
          </a:xfrm>
        </p:grpSpPr>
        <p:sp>
          <p:nvSpPr>
            <p:cNvPr id="212" name="Rectangle 211"/>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Rectangle 212"/>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4" name="Rectangle 213"/>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5" name="Rectangle 214"/>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6" name="TextBox 215"/>
          <p:cNvSpPr txBox="1"/>
          <p:nvPr/>
        </p:nvSpPr>
        <p:spPr>
          <a:xfrm>
            <a:off x="5246914" y="3406447"/>
            <a:ext cx="1828800" cy="369332"/>
          </a:xfrm>
          <a:prstGeom prst="rect">
            <a:avLst/>
          </a:prstGeom>
          <a:noFill/>
        </p:spPr>
        <p:txBody>
          <a:bodyPr wrap="square" rtlCol="0">
            <a:spAutoFit/>
          </a:bodyPr>
          <a:lstStyle/>
          <a:p>
            <a:pPr algn="ctr"/>
            <a:r>
              <a:rPr lang="en-IN" b="1" dirty="0"/>
              <a:t>Delete ‘A’</a:t>
            </a:r>
            <a:endParaRPr lang="en-US" b="1" dirty="0"/>
          </a:p>
        </p:txBody>
      </p:sp>
      <p:sp>
        <p:nvSpPr>
          <p:cNvPr id="217" name="TextBox 216"/>
          <p:cNvSpPr txBox="1"/>
          <p:nvPr/>
        </p:nvSpPr>
        <p:spPr>
          <a:xfrm>
            <a:off x="5246914" y="3766456"/>
            <a:ext cx="457200" cy="400110"/>
          </a:xfrm>
          <a:prstGeom prst="rect">
            <a:avLst/>
          </a:prstGeom>
          <a:noFill/>
        </p:spPr>
        <p:txBody>
          <a:bodyPr wrap="square" rtlCol="0">
            <a:spAutoFit/>
          </a:bodyPr>
          <a:lstStyle/>
          <a:p>
            <a:pPr algn="ctr"/>
            <a:r>
              <a:rPr lang="en-IN" sz="2000" b="1" dirty="0">
                <a:solidFill>
                  <a:schemeClr val="bg1"/>
                </a:solidFill>
              </a:rPr>
              <a:t>A</a:t>
            </a:r>
            <a:endParaRPr lang="en-US" sz="2000" b="1" dirty="0">
              <a:solidFill>
                <a:schemeClr val="bg1"/>
              </a:solidFill>
            </a:endParaRPr>
          </a:p>
        </p:txBody>
      </p:sp>
      <p:sp>
        <p:nvSpPr>
          <p:cNvPr id="218" name="TextBox 217"/>
          <p:cNvSpPr txBox="1"/>
          <p:nvPr/>
        </p:nvSpPr>
        <p:spPr>
          <a:xfrm>
            <a:off x="5715000" y="3766458"/>
            <a:ext cx="457200" cy="400110"/>
          </a:xfrm>
          <a:prstGeom prst="rect">
            <a:avLst/>
          </a:prstGeom>
          <a:noFill/>
        </p:spPr>
        <p:txBody>
          <a:bodyPr wrap="square" rtlCol="0">
            <a:spAutoFit/>
          </a:bodyPr>
          <a:lstStyle/>
          <a:p>
            <a:pPr algn="ctr"/>
            <a:r>
              <a:rPr lang="en-IN" sz="2000" b="1" dirty="0">
                <a:solidFill>
                  <a:schemeClr val="bg1"/>
                </a:solidFill>
              </a:rPr>
              <a:t>B</a:t>
            </a:r>
            <a:endParaRPr lang="en-US" sz="2000" b="1" dirty="0">
              <a:solidFill>
                <a:schemeClr val="bg1"/>
              </a:solidFill>
            </a:endParaRPr>
          </a:p>
        </p:txBody>
      </p:sp>
      <p:sp>
        <p:nvSpPr>
          <p:cNvPr id="219" name="TextBox 218"/>
          <p:cNvSpPr txBox="1"/>
          <p:nvPr/>
        </p:nvSpPr>
        <p:spPr>
          <a:xfrm>
            <a:off x="6172200" y="3766458"/>
            <a:ext cx="457200"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grpSp>
        <p:nvGrpSpPr>
          <p:cNvPr id="220" name="Group 219"/>
          <p:cNvGrpSpPr/>
          <p:nvPr/>
        </p:nvGrpSpPr>
        <p:grpSpPr>
          <a:xfrm>
            <a:off x="5332397" y="4175454"/>
            <a:ext cx="293670" cy="592488"/>
            <a:chOff x="774733" y="1681844"/>
            <a:chExt cx="293670" cy="592488"/>
          </a:xfrm>
        </p:grpSpPr>
        <p:sp>
          <p:nvSpPr>
            <p:cNvPr id="221" name="TextBox 220"/>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22" name="Straight Arrow Connector 221"/>
            <p:cNvCxnSpPr>
              <a:stCxn id="221"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23" name="Group 222"/>
          <p:cNvGrpSpPr/>
          <p:nvPr/>
        </p:nvGrpSpPr>
        <p:grpSpPr>
          <a:xfrm>
            <a:off x="6250713" y="4191001"/>
            <a:ext cx="314510" cy="592488"/>
            <a:chOff x="764313" y="1681844"/>
            <a:chExt cx="314510" cy="592488"/>
          </a:xfrm>
        </p:grpSpPr>
        <p:sp>
          <p:nvSpPr>
            <p:cNvPr id="224" name="TextBox 223"/>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25" name="Straight Arrow Connector 224"/>
            <p:cNvCxnSpPr>
              <a:stCxn id="224"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26" name="TextBox 225"/>
          <p:cNvSpPr txBox="1"/>
          <p:nvPr/>
        </p:nvSpPr>
        <p:spPr>
          <a:xfrm>
            <a:off x="4615544" y="3320965"/>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F=2</a:t>
            </a:r>
          </a:p>
        </p:txBody>
      </p:sp>
      <p:cxnSp>
        <p:nvCxnSpPr>
          <p:cNvPr id="227" name="Straight Connector 226"/>
          <p:cNvCxnSpPr/>
          <p:nvPr/>
        </p:nvCxnSpPr>
        <p:spPr>
          <a:xfrm>
            <a:off x="45720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228" name="TextBox 227"/>
          <p:cNvSpPr txBox="1"/>
          <p:nvPr/>
        </p:nvSpPr>
        <p:spPr>
          <a:xfrm>
            <a:off x="5341168" y="4876800"/>
            <a:ext cx="1828800" cy="369332"/>
          </a:xfrm>
          <a:prstGeom prst="rect">
            <a:avLst/>
          </a:prstGeom>
          <a:noFill/>
        </p:spPr>
        <p:txBody>
          <a:bodyPr wrap="square" rtlCol="0">
            <a:spAutoFit/>
          </a:bodyPr>
          <a:lstStyle/>
          <a:p>
            <a:pPr algn="ctr"/>
            <a:r>
              <a:rPr lang="en-IN" b="1" dirty="0"/>
              <a:t>Delete ‘B’</a:t>
            </a:r>
            <a:endParaRPr lang="en-US" b="1" dirty="0"/>
          </a:p>
        </p:txBody>
      </p:sp>
      <p:grpSp>
        <p:nvGrpSpPr>
          <p:cNvPr id="229" name="Group 228"/>
          <p:cNvGrpSpPr/>
          <p:nvPr/>
        </p:nvGrpSpPr>
        <p:grpSpPr>
          <a:xfrm>
            <a:off x="5341168" y="5335998"/>
            <a:ext cx="1828800" cy="381000"/>
            <a:chOff x="381000" y="1219200"/>
            <a:chExt cx="1828800" cy="381000"/>
          </a:xfrm>
        </p:grpSpPr>
        <p:sp>
          <p:nvSpPr>
            <p:cNvPr id="230" name="Rectangle 229"/>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1" name="Rectangle 230"/>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2" name="Rectangle 231"/>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3" name="Rectangle 232"/>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4" name="TextBox 233"/>
          <p:cNvSpPr txBox="1"/>
          <p:nvPr/>
        </p:nvSpPr>
        <p:spPr>
          <a:xfrm>
            <a:off x="5793514" y="5334002"/>
            <a:ext cx="451169" cy="400110"/>
          </a:xfrm>
          <a:prstGeom prst="rect">
            <a:avLst/>
          </a:prstGeom>
          <a:noFill/>
        </p:spPr>
        <p:txBody>
          <a:bodyPr wrap="square" rtlCol="0">
            <a:spAutoFit/>
          </a:bodyPr>
          <a:lstStyle/>
          <a:p>
            <a:pPr algn="ctr"/>
            <a:r>
              <a:rPr lang="en-IN" sz="2000" b="1" dirty="0">
                <a:solidFill>
                  <a:schemeClr val="bg1"/>
                </a:solidFill>
              </a:rPr>
              <a:t>B</a:t>
            </a:r>
            <a:endParaRPr lang="en-US" sz="2000" b="1" dirty="0">
              <a:solidFill>
                <a:schemeClr val="bg1"/>
              </a:solidFill>
            </a:endParaRPr>
          </a:p>
        </p:txBody>
      </p:sp>
      <p:sp>
        <p:nvSpPr>
          <p:cNvPr id="235" name="TextBox 234"/>
          <p:cNvSpPr txBox="1"/>
          <p:nvPr/>
        </p:nvSpPr>
        <p:spPr>
          <a:xfrm>
            <a:off x="6250714" y="5324081"/>
            <a:ext cx="451169"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grpSp>
        <p:nvGrpSpPr>
          <p:cNvPr id="236" name="Group 235"/>
          <p:cNvGrpSpPr/>
          <p:nvPr/>
        </p:nvGrpSpPr>
        <p:grpSpPr>
          <a:xfrm>
            <a:off x="6423294" y="5724191"/>
            <a:ext cx="314510" cy="592488"/>
            <a:chOff x="764313" y="1681844"/>
            <a:chExt cx="314510" cy="592488"/>
          </a:xfrm>
        </p:grpSpPr>
        <p:sp>
          <p:nvSpPr>
            <p:cNvPr id="237" name="TextBox 236"/>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38" name="Straight Arrow Connector 237"/>
            <p:cNvCxnSpPr>
              <a:stCxn id="237"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39" name="Group 238"/>
          <p:cNvGrpSpPr/>
          <p:nvPr/>
        </p:nvGrpSpPr>
        <p:grpSpPr>
          <a:xfrm>
            <a:off x="5877820" y="5725886"/>
            <a:ext cx="293670" cy="592488"/>
            <a:chOff x="774733" y="1681844"/>
            <a:chExt cx="293670" cy="592488"/>
          </a:xfrm>
        </p:grpSpPr>
        <p:sp>
          <p:nvSpPr>
            <p:cNvPr id="240" name="TextBox 239"/>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41" name="Straight Arrow Connector 240"/>
            <p:cNvCxnSpPr>
              <a:stCxn id="24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42" name="TextBox 241"/>
          <p:cNvSpPr txBox="1"/>
          <p:nvPr/>
        </p:nvSpPr>
        <p:spPr>
          <a:xfrm>
            <a:off x="4648200" y="4840070"/>
            <a:ext cx="542136" cy="646331"/>
          </a:xfrm>
          <a:prstGeom prst="rect">
            <a:avLst/>
          </a:prstGeom>
          <a:noFill/>
        </p:spPr>
        <p:txBody>
          <a:bodyPr wrap="none" rtlCol="0">
            <a:spAutoFit/>
          </a:bodyPr>
          <a:lstStyle/>
          <a:p>
            <a:r>
              <a:rPr lang="en-IN" b="1" dirty="0">
                <a:solidFill>
                  <a:schemeClr val="accent3">
                    <a:lumMod val="75000"/>
                  </a:schemeClr>
                </a:solidFill>
              </a:rPr>
              <a:t>R=3</a:t>
            </a:r>
          </a:p>
          <a:p>
            <a:r>
              <a:rPr lang="en-IN" b="1" dirty="0">
                <a:solidFill>
                  <a:schemeClr val="accent3">
                    <a:lumMod val="75000"/>
                  </a:schemeClr>
                </a:solidFill>
              </a:rPr>
              <a:t>F=3</a:t>
            </a:r>
          </a:p>
        </p:txBody>
      </p:sp>
      <p:sp>
        <p:nvSpPr>
          <p:cNvPr id="243" name="TextBox 242"/>
          <p:cNvSpPr txBox="1"/>
          <p:nvPr/>
        </p:nvSpPr>
        <p:spPr>
          <a:xfrm>
            <a:off x="8382000" y="1752600"/>
            <a:ext cx="1828800" cy="369332"/>
          </a:xfrm>
          <a:prstGeom prst="rect">
            <a:avLst/>
          </a:prstGeom>
          <a:noFill/>
        </p:spPr>
        <p:txBody>
          <a:bodyPr wrap="square" rtlCol="0">
            <a:spAutoFit/>
          </a:bodyPr>
          <a:lstStyle/>
          <a:p>
            <a:pPr algn="ctr"/>
            <a:r>
              <a:rPr lang="en-IN" b="1" dirty="0"/>
              <a:t>Insert ‘D’</a:t>
            </a:r>
            <a:endParaRPr lang="en-US" b="1" dirty="0"/>
          </a:p>
        </p:txBody>
      </p:sp>
      <p:grpSp>
        <p:nvGrpSpPr>
          <p:cNvPr id="244" name="Group 243"/>
          <p:cNvGrpSpPr/>
          <p:nvPr/>
        </p:nvGrpSpPr>
        <p:grpSpPr>
          <a:xfrm>
            <a:off x="8458200" y="2188811"/>
            <a:ext cx="1828800" cy="381000"/>
            <a:chOff x="381000" y="1219200"/>
            <a:chExt cx="1828800" cy="381000"/>
          </a:xfrm>
        </p:grpSpPr>
        <p:sp>
          <p:nvSpPr>
            <p:cNvPr id="245" name="Rectangle 244"/>
            <p:cNvSpPr/>
            <p:nvPr/>
          </p:nvSpPr>
          <p:spPr>
            <a:xfrm>
              <a:off x="3810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Rectangle 245"/>
            <p:cNvSpPr/>
            <p:nvPr/>
          </p:nvSpPr>
          <p:spPr>
            <a:xfrm>
              <a:off x="8382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Rectangle 246"/>
            <p:cNvSpPr/>
            <p:nvPr/>
          </p:nvSpPr>
          <p:spPr>
            <a:xfrm>
              <a:off x="12954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8" name="Rectangle 247"/>
            <p:cNvSpPr/>
            <p:nvPr/>
          </p:nvSpPr>
          <p:spPr>
            <a:xfrm>
              <a:off x="1752600" y="12192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49" name="Group 248"/>
          <p:cNvGrpSpPr/>
          <p:nvPr/>
        </p:nvGrpSpPr>
        <p:grpSpPr>
          <a:xfrm>
            <a:off x="9349226" y="2572535"/>
            <a:ext cx="293670" cy="592488"/>
            <a:chOff x="774733" y="1681844"/>
            <a:chExt cx="293670" cy="592488"/>
          </a:xfrm>
        </p:grpSpPr>
        <p:sp>
          <p:nvSpPr>
            <p:cNvPr id="250" name="TextBox 249"/>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51" name="Straight Arrow Connector 250"/>
            <p:cNvCxnSpPr>
              <a:stCxn id="25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52" name="Group 251"/>
          <p:cNvGrpSpPr/>
          <p:nvPr/>
        </p:nvGrpSpPr>
        <p:grpSpPr>
          <a:xfrm>
            <a:off x="9556521" y="2575254"/>
            <a:ext cx="314510" cy="592488"/>
            <a:chOff x="764313" y="1681844"/>
            <a:chExt cx="314510" cy="592488"/>
          </a:xfrm>
        </p:grpSpPr>
        <p:sp>
          <p:nvSpPr>
            <p:cNvPr id="253" name="TextBox 252"/>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54" name="Straight Arrow Connector 253"/>
            <p:cNvCxnSpPr>
              <a:stCxn id="25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55" name="TextBox 254"/>
          <p:cNvSpPr txBox="1"/>
          <p:nvPr/>
        </p:nvSpPr>
        <p:spPr>
          <a:xfrm>
            <a:off x="9372600" y="2188811"/>
            <a:ext cx="457200"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sp>
        <p:nvSpPr>
          <p:cNvPr id="256" name="TextBox 255"/>
          <p:cNvSpPr txBox="1"/>
          <p:nvPr/>
        </p:nvSpPr>
        <p:spPr>
          <a:xfrm>
            <a:off x="7620000" y="1769907"/>
            <a:ext cx="542136" cy="646331"/>
          </a:xfrm>
          <a:prstGeom prst="rect">
            <a:avLst/>
          </a:prstGeom>
          <a:noFill/>
        </p:spPr>
        <p:txBody>
          <a:bodyPr wrap="none" rtlCol="0">
            <a:spAutoFit/>
          </a:bodyPr>
          <a:lstStyle/>
          <a:p>
            <a:r>
              <a:rPr lang="en-IN" b="1" dirty="0">
                <a:solidFill>
                  <a:schemeClr val="accent3">
                    <a:lumMod val="75000"/>
                  </a:schemeClr>
                </a:solidFill>
              </a:rPr>
              <a:t>R=4</a:t>
            </a:r>
          </a:p>
          <a:p>
            <a:r>
              <a:rPr lang="en-IN" b="1" dirty="0">
                <a:solidFill>
                  <a:schemeClr val="accent3">
                    <a:lumMod val="75000"/>
                  </a:schemeClr>
                </a:solidFill>
              </a:rPr>
              <a:t>F=3</a:t>
            </a:r>
          </a:p>
        </p:txBody>
      </p:sp>
      <p:sp>
        <p:nvSpPr>
          <p:cNvPr id="257" name="TextBox 256"/>
          <p:cNvSpPr txBox="1"/>
          <p:nvPr/>
        </p:nvSpPr>
        <p:spPr>
          <a:xfrm>
            <a:off x="9829800" y="2188811"/>
            <a:ext cx="457200" cy="400110"/>
          </a:xfrm>
          <a:prstGeom prst="rect">
            <a:avLst/>
          </a:prstGeom>
          <a:noFill/>
        </p:spPr>
        <p:txBody>
          <a:bodyPr wrap="square" rtlCol="0">
            <a:spAutoFit/>
          </a:bodyPr>
          <a:lstStyle/>
          <a:p>
            <a:pPr algn="ctr"/>
            <a:r>
              <a:rPr lang="en-IN" sz="2000" b="1" dirty="0">
                <a:solidFill>
                  <a:schemeClr val="bg1"/>
                </a:solidFill>
              </a:rPr>
              <a:t>D</a:t>
            </a:r>
            <a:endParaRPr lang="en-US" sz="2000" b="1" dirty="0">
              <a:solidFill>
                <a:schemeClr val="bg1"/>
              </a:solidFill>
            </a:endParaRPr>
          </a:p>
        </p:txBody>
      </p:sp>
      <p:sp>
        <p:nvSpPr>
          <p:cNvPr id="258" name="TextBox 257"/>
          <p:cNvSpPr txBox="1"/>
          <p:nvPr/>
        </p:nvSpPr>
        <p:spPr>
          <a:xfrm>
            <a:off x="8476522" y="3405424"/>
            <a:ext cx="1828800" cy="369332"/>
          </a:xfrm>
          <a:prstGeom prst="rect">
            <a:avLst/>
          </a:prstGeom>
          <a:noFill/>
        </p:spPr>
        <p:txBody>
          <a:bodyPr wrap="square" rtlCol="0">
            <a:spAutoFit/>
          </a:bodyPr>
          <a:lstStyle/>
          <a:p>
            <a:pPr algn="ctr"/>
            <a:r>
              <a:rPr lang="en-IN" b="1" dirty="0"/>
              <a:t>Insert ‘E’</a:t>
            </a:r>
            <a:endParaRPr lang="en-US" b="1" dirty="0"/>
          </a:p>
        </p:txBody>
      </p:sp>
      <p:grpSp>
        <p:nvGrpSpPr>
          <p:cNvPr id="259" name="Group 258"/>
          <p:cNvGrpSpPr/>
          <p:nvPr/>
        </p:nvGrpSpPr>
        <p:grpSpPr>
          <a:xfrm>
            <a:off x="9972490" y="4175454"/>
            <a:ext cx="314510" cy="592488"/>
            <a:chOff x="764313" y="1681844"/>
            <a:chExt cx="314510" cy="592488"/>
          </a:xfrm>
        </p:grpSpPr>
        <p:sp>
          <p:nvSpPr>
            <p:cNvPr id="260" name="TextBox 259"/>
            <p:cNvSpPr txBox="1"/>
            <p:nvPr/>
          </p:nvSpPr>
          <p:spPr>
            <a:xfrm>
              <a:off x="764313" y="1905000"/>
              <a:ext cx="314510" cy="369332"/>
            </a:xfrm>
            <a:prstGeom prst="rect">
              <a:avLst/>
            </a:prstGeom>
            <a:noFill/>
          </p:spPr>
          <p:txBody>
            <a:bodyPr wrap="none" rtlCol="0">
              <a:spAutoFit/>
            </a:bodyPr>
            <a:lstStyle/>
            <a:p>
              <a:pPr algn="ctr"/>
              <a:r>
                <a:rPr lang="en-IN" b="1" dirty="0">
                  <a:solidFill>
                    <a:srgbClr val="C00000"/>
                  </a:solidFill>
                </a:rPr>
                <a:t>R</a:t>
              </a:r>
              <a:endParaRPr lang="en-US" b="1" dirty="0">
                <a:solidFill>
                  <a:srgbClr val="C00000"/>
                </a:solidFill>
              </a:endParaRPr>
            </a:p>
          </p:txBody>
        </p:sp>
        <p:cxnSp>
          <p:nvCxnSpPr>
            <p:cNvPr id="261" name="Straight Arrow Connector 260"/>
            <p:cNvCxnSpPr>
              <a:stCxn id="260"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262" name="Group 261"/>
          <p:cNvGrpSpPr/>
          <p:nvPr/>
        </p:nvGrpSpPr>
        <p:grpSpPr>
          <a:xfrm>
            <a:off x="9525710" y="4180114"/>
            <a:ext cx="293670" cy="592488"/>
            <a:chOff x="774733" y="1681844"/>
            <a:chExt cx="293670" cy="592488"/>
          </a:xfrm>
        </p:grpSpPr>
        <p:sp>
          <p:nvSpPr>
            <p:cNvPr id="263" name="TextBox 262"/>
            <p:cNvSpPr txBox="1"/>
            <p:nvPr/>
          </p:nvSpPr>
          <p:spPr>
            <a:xfrm>
              <a:off x="774733" y="1905000"/>
              <a:ext cx="293670" cy="369332"/>
            </a:xfrm>
            <a:prstGeom prst="rect">
              <a:avLst/>
            </a:prstGeom>
            <a:noFill/>
          </p:spPr>
          <p:txBody>
            <a:bodyPr wrap="none" rtlCol="0">
              <a:spAutoFit/>
            </a:bodyPr>
            <a:lstStyle/>
            <a:p>
              <a:pPr algn="ctr"/>
              <a:r>
                <a:rPr lang="en-IN" b="1" dirty="0">
                  <a:solidFill>
                    <a:srgbClr val="C00000"/>
                  </a:solidFill>
                </a:rPr>
                <a:t>F</a:t>
              </a:r>
              <a:endParaRPr lang="en-US" b="1" dirty="0">
                <a:solidFill>
                  <a:srgbClr val="C00000"/>
                </a:solidFill>
              </a:endParaRPr>
            </a:p>
          </p:txBody>
        </p:sp>
        <p:cxnSp>
          <p:nvCxnSpPr>
            <p:cNvPr id="264" name="Straight Arrow Connector 263"/>
            <p:cNvCxnSpPr>
              <a:stCxn id="263" idx="0"/>
            </p:cNvCxnSpPr>
            <p:nvPr/>
          </p:nvCxnSpPr>
          <p:spPr>
            <a:xfrm flipV="1">
              <a:off x="921568" y="1681844"/>
              <a:ext cx="0" cy="22315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65" name="TextBox 264"/>
          <p:cNvSpPr txBox="1"/>
          <p:nvPr/>
        </p:nvSpPr>
        <p:spPr>
          <a:xfrm>
            <a:off x="9459686" y="3777344"/>
            <a:ext cx="457200" cy="400110"/>
          </a:xfrm>
          <a:prstGeom prst="rect">
            <a:avLst/>
          </a:prstGeom>
          <a:noFill/>
        </p:spPr>
        <p:txBody>
          <a:bodyPr wrap="square" rtlCol="0">
            <a:spAutoFit/>
          </a:bodyPr>
          <a:lstStyle/>
          <a:p>
            <a:pPr algn="ctr"/>
            <a:r>
              <a:rPr lang="en-IN" sz="2000" b="1" dirty="0">
                <a:solidFill>
                  <a:schemeClr val="bg1"/>
                </a:solidFill>
              </a:rPr>
              <a:t>C</a:t>
            </a:r>
            <a:endParaRPr lang="en-US" sz="2000" b="1" dirty="0">
              <a:solidFill>
                <a:schemeClr val="bg1"/>
              </a:solidFill>
            </a:endParaRPr>
          </a:p>
        </p:txBody>
      </p:sp>
      <p:sp>
        <p:nvSpPr>
          <p:cNvPr id="266" name="TextBox 265"/>
          <p:cNvSpPr txBox="1"/>
          <p:nvPr/>
        </p:nvSpPr>
        <p:spPr>
          <a:xfrm>
            <a:off x="9906000" y="3777344"/>
            <a:ext cx="457200" cy="400110"/>
          </a:xfrm>
          <a:prstGeom prst="rect">
            <a:avLst/>
          </a:prstGeom>
          <a:noFill/>
        </p:spPr>
        <p:txBody>
          <a:bodyPr wrap="square" rtlCol="0">
            <a:spAutoFit/>
          </a:bodyPr>
          <a:lstStyle/>
          <a:p>
            <a:pPr algn="ctr"/>
            <a:r>
              <a:rPr lang="en-IN" sz="2000" b="1" dirty="0">
                <a:solidFill>
                  <a:schemeClr val="bg1"/>
                </a:solidFill>
              </a:rPr>
              <a:t>D</a:t>
            </a:r>
            <a:endParaRPr lang="en-US" sz="2000" b="1" dirty="0">
              <a:solidFill>
                <a:schemeClr val="bg1"/>
              </a:solidFill>
            </a:endParaRPr>
          </a:p>
        </p:txBody>
      </p:sp>
      <p:sp>
        <p:nvSpPr>
          <p:cNvPr id="267" name="TextBox 266"/>
          <p:cNvSpPr txBox="1"/>
          <p:nvPr/>
        </p:nvSpPr>
        <p:spPr>
          <a:xfrm>
            <a:off x="7620000" y="3392270"/>
            <a:ext cx="542136" cy="646331"/>
          </a:xfrm>
          <a:prstGeom prst="rect">
            <a:avLst/>
          </a:prstGeom>
          <a:noFill/>
        </p:spPr>
        <p:txBody>
          <a:bodyPr wrap="none" rtlCol="0">
            <a:spAutoFit/>
          </a:bodyPr>
          <a:lstStyle/>
          <a:p>
            <a:r>
              <a:rPr lang="en-IN" b="1" dirty="0">
                <a:solidFill>
                  <a:schemeClr val="accent3">
                    <a:lumMod val="75000"/>
                  </a:schemeClr>
                </a:solidFill>
              </a:rPr>
              <a:t>R=1</a:t>
            </a:r>
          </a:p>
          <a:p>
            <a:r>
              <a:rPr lang="en-IN" b="1" dirty="0">
                <a:solidFill>
                  <a:schemeClr val="accent3">
                    <a:lumMod val="75000"/>
                  </a:schemeClr>
                </a:solidFill>
              </a:rPr>
              <a:t>F=3</a:t>
            </a:r>
          </a:p>
        </p:txBody>
      </p:sp>
      <p:cxnSp>
        <p:nvCxnSpPr>
          <p:cNvPr id="270" name="Straight Connector 269"/>
          <p:cNvCxnSpPr/>
          <p:nvPr/>
        </p:nvCxnSpPr>
        <p:spPr>
          <a:xfrm>
            <a:off x="7543800" y="4800600"/>
            <a:ext cx="2971800" cy="0"/>
          </a:xfrm>
          <a:prstGeom prst="line">
            <a:avLst/>
          </a:prstGeom>
        </p:spPr>
        <p:style>
          <a:lnRef idx="2">
            <a:schemeClr val="dk1"/>
          </a:lnRef>
          <a:fillRef idx="0">
            <a:schemeClr val="dk1"/>
          </a:fillRef>
          <a:effectRef idx="1">
            <a:schemeClr val="dk1"/>
          </a:effectRef>
          <a:fontRef idx="minor">
            <a:schemeClr val="tx1"/>
          </a:fontRef>
        </p:style>
      </p:cxnSp>
      <p:sp>
        <p:nvSpPr>
          <p:cNvPr id="272" name="TextBox 271"/>
          <p:cNvSpPr txBox="1"/>
          <p:nvPr/>
        </p:nvSpPr>
        <p:spPr>
          <a:xfrm>
            <a:off x="8534400" y="3758234"/>
            <a:ext cx="475522" cy="400110"/>
          </a:xfrm>
          <a:prstGeom prst="rect">
            <a:avLst/>
          </a:prstGeom>
          <a:noFill/>
        </p:spPr>
        <p:txBody>
          <a:bodyPr wrap="square" rtlCol="0">
            <a:spAutoFit/>
          </a:bodyPr>
          <a:lstStyle/>
          <a:p>
            <a:pPr algn="ctr"/>
            <a:r>
              <a:rPr lang="en-IN" sz="2000" b="1" dirty="0">
                <a:solidFill>
                  <a:schemeClr val="bg1"/>
                </a:solidFill>
              </a:rPr>
              <a:t>E</a:t>
            </a:r>
            <a:endParaRPr lang="en-US" sz="2000" b="1" dirty="0">
              <a:solidFill>
                <a:schemeClr val="bg1"/>
              </a:solidFill>
            </a:endParaRPr>
          </a:p>
        </p:txBody>
      </p:sp>
      <p:sp>
        <p:nvSpPr>
          <p:cNvPr id="135" name="TextBox 134"/>
          <p:cNvSpPr txBox="1"/>
          <p:nvPr/>
        </p:nvSpPr>
        <p:spPr>
          <a:xfrm>
            <a:off x="1749016" y="856335"/>
            <a:ext cx="8693968" cy="646331"/>
          </a:xfrm>
          <a:prstGeom prst="rect">
            <a:avLst/>
          </a:prstGeom>
        </p:spPr>
        <p:style>
          <a:lnRef idx="1">
            <a:schemeClr val="accent1"/>
          </a:lnRef>
          <a:fillRef idx="2">
            <a:schemeClr val="accent1"/>
          </a:fillRef>
          <a:effectRef idx="1">
            <a:schemeClr val="accent1"/>
          </a:effectRef>
          <a:fontRef idx="minor">
            <a:schemeClr val="dk1"/>
          </a:fontRef>
        </p:style>
        <p:txBody>
          <a:bodyPr wrap="square" rtlCol="0">
            <a:spAutoFit/>
          </a:bodyPr>
          <a:lstStyle/>
          <a:p>
            <a:pPr algn="ctr"/>
            <a:r>
              <a:rPr lang="en-IN" dirty="0"/>
              <a:t>Perform following operations on Circular queue with size 4 &amp; draw queue after each operation</a:t>
            </a:r>
          </a:p>
          <a:p>
            <a:pPr algn="ctr"/>
            <a:r>
              <a:rPr lang="en-IN" dirty="0"/>
              <a:t>Insert ‘A’ | Insert ‘B’ | Insert ‘C’ | Delete ‘A’ | Delete ‘B’ | Insert ‘D’ | Insert ‘E’ </a:t>
            </a:r>
            <a:endParaRPr lang="en-US" dirty="0"/>
          </a:p>
        </p:txBody>
      </p:sp>
    </p:spTree>
    <p:extLst>
      <p:ext uri="{BB962C8B-B14F-4D97-AF65-F5344CB8AC3E}">
        <p14:creationId xmlns:p14="http://schemas.microsoft.com/office/powerpoint/2010/main" val="237588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6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0"/>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4"/>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7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63" presetClass="path" presetSubtype="0" accel="50000" decel="50000" fill="hold" nodeType="clickEffect">
                                  <p:stCondLst>
                                    <p:cond delay="0"/>
                                  </p:stCondLst>
                                  <p:childTnLst>
                                    <p:animMotion origin="layout" path="M 4.16667E-7 -1.85185E-6 L 0.05794 -1.85185E-6 " pathEditMode="relative" rAng="0" ptsTypes="AA">
                                      <p:cBhvr>
                                        <p:cTn id="48" dur="2000" fill="hold"/>
                                        <p:tgtEl>
                                          <p:spTgt spid="174"/>
                                        </p:tgtEl>
                                        <p:attrNameLst>
                                          <p:attrName>ppt_x</p:attrName>
                                          <p:attrName>ppt_y</p:attrName>
                                        </p:attrNameLst>
                                      </p:cBhvr>
                                      <p:rCtr x="2930" y="0"/>
                                    </p:animMotion>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77"/>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79"/>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63" presetClass="path" presetSubtype="0" accel="50000" decel="50000" fill="hold" nodeType="clickEffect">
                                  <p:stCondLst>
                                    <p:cond delay="0"/>
                                  </p:stCondLst>
                                  <p:childTnLst>
                                    <p:animMotion origin="layout" path="M 3.75E-6 4.07407E-6 L 0.05507 4.07407E-6 " pathEditMode="relative" rAng="0" ptsTypes="AA">
                                      <p:cBhvr>
                                        <p:cTn id="60" dur="2000" fill="hold"/>
                                        <p:tgtEl>
                                          <p:spTgt spid="171"/>
                                        </p:tgtEl>
                                        <p:attrNameLst>
                                          <p:attrName>ppt_x</p:attrName>
                                          <p:attrName>ppt_y</p:attrName>
                                        </p:attrNameLst>
                                      </p:cBhvr>
                                      <p:rCtr x="2747" y="0"/>
                                    </p:animMotion>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7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80"/>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8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49"/>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188"/>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203"/>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8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63" presetClass="path" presetSubtype="0" accel="50000" decel="50000" fill="hold" nodeType="clickEffect">
                                  <p:stCondLst>
                                    <p:cond delay="0"/>
                                  </p:stCondLst>
                                  <p:childTnLst>
                                    <p:animMotion origin="layout" path="M 1.04167E-6 4.44444E-6 L 0.03164 4.44444E-6 " pathEditMode="relative" rAng="0" ptsTypes="AA">
                                      <p:cBhvr>
                                        <p:cTn id="86" dur="2000" fill="hold"/>
                                        <p:tgtEl>
                                          <p:spTgt spid="185"/>
                                        </p:tgtEl>
                                        <p:attrNameLst>
                                          <p:attrName>ppt_x</p:attrName>
                                          <p:attrName>ppt_y</p:attrName>
                                        </p:attrNameLst>
                                      </p:cBhvr>
                                      <p:rCtr x="1576" y="0"/>
                                    </p:animMotion>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89"/>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9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19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192"/>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201"/>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02"/>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196"/>
                                        </p:tgtEl>
                                        <p:attrNameLst>
                                          <p:attrName>style.visibility</p:attrName>
                                        </p:attrNameLst>
                                      </p:cBhvr>
                                      <p:to>
                                        <p:strVal val="visible"/>
                                      </p:to>
                                    </p:set>
                                  </p:childTnLst>
                                </p:cTn>
                              </p:par>
                              <p:par>
                                <p:cTn id="111" presetID="1" presetClass="entr" presetSubtype="0" fill="hold" nodeType="withEffect">
                                  <p:stCondLst>
                                    <p:cond delay="0"/>
                                  </p:stCondLst>
                                  <p:childTnLst>
                                    <p:set>
                                      <p:cBhvr>
                                        <p:cTn id="112" dur="1" fill="hold">
                                          <p:stCondLst>
                                            <p:cond delay="0"/>
                                          </p:stCondLst>
                                        </p:cTn>
                                        <p:tgtEl>
                                          <p:spTgt spid="182"/>
                                        </p:tgtEl>
                                        <p:attrNameLst>
                                          <p:attrName>style.visibility</p:attrName>
                                        </p:attrNameLst>
                                      </p:cBhvr>
                                      <p:to>
                                        <p:strVal val="visible"/>
                                      </p:to>
                                    </p:set>
                                  </p:childTnLst>
                                </p:cTn>
                              </p:par>
                              <p:par>
                                <p:cTn id="113" presetID="1" presetClass="entr" presetSubtype="0" fill="hold" nodeType="withEffect">
                                  <p:stCondLst>
                                    <p:cond delay="0"/>
                                  </p:stCondLst>
                                  <p:childTnLst>
                                    <p:set>
                                      <p:cBhvr>
                                        <p:cTn id="114" dur="1" fill="hold">
                                          <p:stCondLst>
                                            <p:cond delay="0"/>
                                          </p:stCondLst>
                                        </p:cTn>
                                        <p:tgtEl>
                                          <p:spTgt spid="206"/>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63" presetClass="path" presetSubtype="0" accel="50000" decel="50000" fill="hold" nodeType="clickEffect">
                                  <p:stCondLst>
                                    <p:cond delay="0"/>
                                  </p:stCondLst>
                                  <p:childTnLst>
                                    <p:animMotion origin="layout" path="M -1.04167E-6 -4.07407E-6 L 0.03633 -4.07407E-6 " pathEditMode="relative" rAng="0" ptsTypes="AA">
                                      <p:cBhvr>
                                        <p:cTn id="118" dur="2000" fill="hold"/>
                                        <p:tgtEl>
                                          <p:spTgt spid="206"/>
                                        </p:tgtEl>
                                        <p:attrNameLst>
                                          <p:attrName>ppt_x</p:attrName>
                                          <p:attrName>ppt_y</p:attrName>
                                        </p:attrNameLst>
                                      </p:cBhvr>
                                      <p:rCtr x="1849" y="0"/>
                                    </p:animMotion>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09"/>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210">
                                            <p:txEl>
                                              <p:pRg st="0" end="0"/>
                                            </p:txEl>
                                          </p:spTgt>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nodeType="clickEffect">
                                  <p:stCondLst>
                                    <p:cond delay="0"/>
                                  </p:stCondLst>
                                  <p:childTnLst>
                                    <p:set>
                                      <p:cBhvr>
                                        <p:cTn id="130" dur="1" fill="hold">
                                          <p:stCondLst>
                                            <p:cond delay="0"/>
                                          </p:stCondLst>
                                        </p:cTn>
                                        <p:tgtEl>
                                          <p:spTgt spid="193"/>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grpId="0" nodeType="clickEffect">
                                  <p:stCondLst>
                                    <p:cond delay="0"/>
                                  </p:stCondLst>
                                  <p:childTnLst>
                                    <p:set>
                                      <p:cBhvr>
                                        <p:cTn id="134" dur="1" fill="hold">
                                          <p:stCondLst>
                                            <p:cond delay="0"/>
                                          </p:stCondLst>
                                        </p:cTn>
                                        <p:tgtEl>
                                          <p:spTgt spid="216"/>
                                        </p:tgtEl>
                                        <p:attrNameLst>
                                          <p:attrName>style.visibility</p:attrName>
                                        </p:attrNameLst>
                                      </p:cBhvr>
                                      <p:to>
                                        <p:strVal val="visible"/>
                                      </p:to>
                                    </p:set>
                                  </p:childTnLst>
                                </p:cTn>
                              </p:par>
                            </p:childTnLst>
                          </p:cTn>
                        </p:par>
                      </p:childTnLst>
                    </p:cTn>
                  </p:par>
                  <p:par>
                    <p:cTn id="135" fill="hold">
                      <p:stCondLst>
                        <p:cond delay="indefinite"/>
                      </p:stCondLst>
                      <p:childTnLst>
                        <p:par>
                          <p:cTn id="136" fill="hold">
                            <p:stCondLst>
                              <p:cond delay="0"/>
                            </p:stCondLst>
                            <p:childTnLst>
                              <p:par>
                                <p:cTn id="137" presetID="1" presetClass="entr" presetSubtype="0" fill="hold" grpId="0" nodeType="clickEffect">
                                  <p:stCondLst>
                                    <p:cond delay="0"/>
                                  </p:stCondLst>
                                  <p:childTnLst>
                                    <p:set>
                                      <p:cBhvr>
                                        <p:cTn id="138" dur="1" fill="hold">
                                          <p:stCondLst>
                                            <p:cond delay="0"/>
                                          </p:stCondLst>
                                        </p:cTn>
                                        <p:tgtEl>
                                          <p:spTgt spid="217"/>
                                        </p:tgtEl>
                                        <p:attrNameLst>
                                          <p:attrName>style.visibility</p:attrName>
                                        </p:attrNameLst>
                                      </p:cBhvr>
                                      <p:to>
                                        <p:strVal val="visible"/>
                                      </p:to>
                                    </p:set>
                                  </p:childTnLst>
                                </p:cTn>
                              </p:par>
                              <p:par>
                                <p:cTn id="139" presetID="1" presetClass="entr" presetSubtype="0" fill="hold" grpId="0" nodeType="withEffect">
                                  <p:stCondLst>
                                    <p:cond delay="0"/>
                                  </p:stCondLst>
                                  <p:childTnLst>
                                    <p:set>
                                      <p:cBhvr>
                                        <p:cTn id="140" dur="1" fill="hold">
                                          <p:stCondLst>
                                            <p:cond delay="0"/>
                                          </p:stCondLst>
                                        </p:cTn>
                                        <p:tgtEl>
                                          <p:spTgt spid="218"/>
                                        </p:tgtEl>
                                        <p:attrNameLst>
                                          <p:attrName>style.visibility</p:attrName>
                                        </p:attrNameLst>
                                      </p:cBhvr>
                                      <p:to>
                                        <p:strVal val="visible"/>
                                      </p:to>
                                    </p:set>
                                  </p:childTnLst>
                                </p:cTn>
                              </p:par>
                              <p:par>
                                <p:cTn id="141" presetID="1" presetClass="entr" presetSubtype="0" fill="hold" grpId="0" nodeType="withEffect">
                                  <p:stCondLst>
                                    <p:cond delay="0"/>
                                  </p:stCondLst>
                                  <p:childTnLst>
                                    <p:set>
                                      <p:cBhvr>
                                        <p:cTn id="142" dur="1" fill="hold">
                                          <p:stCondLst>
                                            <p:cond delay="0"/>
                                          </p:stCondLst>
                                        </p:cTn>
                                        <p:tgtEl>
                                          <p:spTgt spid="219"/>
                                        </p:tgtEl>
                                        <p:attrNameLst>
                                          <p:attrName>style.visibility</p:attrName>
                                        </p:attrNameLst>
                                      </p:cBhvr>
                                      <p:to>
                                        <p:strVal val="visible"/>
                                      </p:to>
                                    </p:set>
                                  </p:childTnLst>
                                </p:cTn>
                              </p:par>
                              <p:par>
                                <p:cTn id="143" presetID="1" presetClass="entr" presetSubtype="0" fill="hold" nodeType="withEffect">
                                  <p:stCondLst>
                                    <p:cond delay="0"/>
                                  </p:stCondLst>
                                  <p:childTnLst>
                                    <p:set>
                                      <p:cBhvr>
                                        <p:cTn id="144" dur="1" fill="hold">
                                          <p:stCondLst>
                                            <p:cond delay="0"/>
                                          </p:stCondLst>
                                        </p:cTn>
                                        <p:tgtEl>
                                          <p:spTgt spid="211"/>
                                        </p:tgtEl>
                                        <p:attrNameLst>
                                          <p:attrName>style.visibility</p:attrName>
                                        </p:attrNameLst>
                                      </p:cBhvr>
                                      <p:to>
                                        <p:strVal val="visible"/>
                                      </p:to>
                                    </p:set>
                                  </p:childTnLst>
                                </p:cTn>
                              </p:par>
                              <p:par>
                                <p:cTn id="145" presetID="1" presetClass="entr" presetSubtype="0" fill="hold" nodeType="withEffect">
                                  <p:stCondLst>
                                    <p:cond delay="0"/>
                                  </p:stCondLst>
                                  <p:childTnLst>
                                    <p:set>
                                      <p:cBhvr>
                                        <p:cTn id="146" dur="1" fill="hold">
                                          <p:stCondLst>
                                            <p:cond delay="0"/>
                                          </p:stCondLst>
                                        </p:cTn>
                                        <p:tgtEl>
                                          <p:spTgt spid="220"/>
                                        </p:tgtEl>
                                        <p:attrNameLst>
                                          <p:attrName>style.visibility</p:attrName>
                                        </p:attrNameLst>
                                      </p:cBhvr>
                                      <p:to>
                                        <p:strVal val="visible"/>
                                      </p:to>
                                    </p:set>
                                  </p:childTnLst>
                                </p:cTn>
                              </p:par>
                              <p:par>
                                <p:cTn id="147" presetID="1" presetClass="entr" presetSubtype="0" fill="hold" nodeType="withEffect">
                                  <p:stCondLst>
                                    <p:cond delay="0"/>
                                  </p:stCondLst>
                                  <p:childTnLst>
                                    <p:set>
                                      <p:cBhvr>
                                        <p:cTn id="148" dur="1" fill="hold">
                                          <p:stCondLst>
                                            <p:cond delay="0"/>
                                          </p:stCondLst>
                                        </p:cTn>
                                        <p:tgtEl>
                                          <p:spTgt spid="223"/>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presetID="63" presetClass="path" presetSubtype="0" accel="50000" decel="50000" fill="hold" nodeType="clickEffect">
                                  <p:stCondLst>
                                    <p:cond delay="0"/>
                                  </p:stCondLst>
                                  <p:childTnLst>
                                    <p:animMotion origin="layout" path="M 1.04167E-6 -1.85185E-6 L 0.03867 -1.85185E-6 " pathEditMode="relative" rAng="0" ptsTypes="AA">
                                      <p:cBhvr>
                                        <p:cTn id="152" dur="2000" fill="hold"/>
                                        <p:tgtEl>
                                          <p:spTgt spid="220"/>
                                        </p:tgtEl>
                                        <p:attrNameLst>
                                          <p:attrName>ppt_x</p:attrName>
                                          <p:attrName>ppt_y</p:attrName>
                                        </p:attrNameLst>
                                      </p:cBhvr>
                                      <p:rCtr x="1927" y="0"/>
                                    </p:animMotion>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26"/>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xit" presetSubtype="0" fill="hold" grpId="1" nodeType="clickEffect">
                                  <p:stCondLst>
                                    <p:cond delay="0"/>
                                  </p:stCondLst>
                                  <p:childTnLst>
                                    <p:set>
                                      <p:cBhvr>
                                        <p:cTn id="160" dur="1" fill="hold">
                                          <p:stCondLst>
                                            <p:cond delay="0"/>
                                          </p:stCondLst>
                                        </p:cTn>
                                        <p:tgtEl>
                                          <p:spTgt spid="217"/>
                                        </p:tgtEl>
                                        <p:attrNameLst>
                                          <p:attrName>style.visibility</p:attrName>
                                        </p:attrNameLst>
                                      </p:cBhvr>
                                      <p:to>
                                        <p:strVal val="hidden"/>
                                      </p:to>
                                    </p:set>
                                  </p:childTnLst>
                                </p:cTn>
                              </p:par>
                            </p:childTnLst>
                          </p:cTn>
                        </p:par>
                      </p:childTnLst>
                    </p:cTn>
                  </p:par>
                  <p:par>
                    <p:cTn id="161" fill="hold">
                      <p:stCondLst>
                        <p:cond delay="indefinite"/>
                      </p:stCondLst>
                      <p:childTnLst>
                        <p:par>
                          <p:cTn id="162" fill="hold">
                            <p:stCondLst>
                              <p:cond delay="0"/>
                            </p:stCondLst>
                            <p:childTnLst>
                              <p:par>
                                <p:cTn id="163" presetID="1" presetClass="entr" presetSubtype="0" fill="hold" nodeType="clickEffect">
                                  <p:stCondLst>
                                    <p:cond delay="0"/>
                                  </p:stCondLst>
                                  <p:childTnLst>
                                    <p:set>
                                      <p:cBhvr>
                                        <p:cTn id="164" dur="1" fill="hold">
                                          <p:stCondLst>
                                            <p:cond delay="0"/>
                                          </p:stCondLst>
                                        </p:cTn>
                                        <p:tgtEl>
                                          <p:spTgt spid="227"/>
                                        </p:tgtEl>
                                        <p:attrNameLst>
                                          <p:attrName>style.visibility</p:attrName>
                                        </p:attrNameLst>
                                      </p:cBhvr>
                                      <p:to>
                                        <p:strVal val="visible"/>
                                      </p:to>
                                    </p:se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228"/>
                                        </p:tgtEl>
                                        <p:attrNameLst>
                                          <p:attrName>style.visibility</p:attrName>
                                        </p:attrNameLst>
                                      </p:cBhvr>
                                      <p:to>
                                        <p:strVal val="visible"/>
                                      </p:to>
                                    </p:set>
                                  </p:childTnLst>
                                </p:cTn>
                              </p:par>
                            </p:childTnLst>
                          </p:cTn>
                        </p:par>
                      </p:childTnLst>
                    </p:cTn>
                  </p:par>
                  <p:par>
                    <p:cTn id="169" fill="hold">
                      <p:stCondLst>
                        <p:cond delay="indefinite"/>
                      </p:stCondLst>
                      <p:childTnLst>
                        <p:par>
                          <p:cTn id="170" fill="hold">
                            <p:stCondLst>
                              <p:cond delay="0"/>
                            </p:stCondLst>
                            <p:childTnLst>
                              <p:par>
                                <p:cTn id="171" presetID="1" presetClass="entr" presetSubtype="0" fill="hold" nodeType="clickEffect">
                                  <p:stCondLst>
                                    <p:cond delay="0"/>
                                  </p:stCondLst>
                                  <p:childTnLst>
                                    <p:set>
                                      <p:cBhvr>
                                        <p:cTn id="172" dur="1" fill="hold">
                                          <p:stCondLst>
                                            <p:cond delay="0"/>
                                          </p:stCondLst>
                                        </p:cTn>
                                        <p:tgtEl>
                                          <p:spTgt spid="229"/>
                                        </p:tgtEl>
                                        <p:attrNameLst>
                                          <p:attrName>style.visibility</p:attrName>
                                        </p:attrNameLst>
                                      </p:cBhvr>
                                      <p:to>
                                        <p:strVal val="visible"/>
                                      </p:to>
                                    </p:set>
                                  </p:childTnLst>
                                </p:cTn>
                              </p:par>
                              <p:par>
                                <p:cTn id="173" presetID="1" presetClass="entr" presetSubtype="0" fill="hold" grpId="0" nodeType="withEffect">
                                  <p:stCondLst>
                                    <p:cond delay="0"/>
                                  </p:stCondLst>
                                  <p:childTnLst>
                                    <p:set>
                                      <p:cBhvr>
                                        <p:cTn id="174" dur="1" fill="hold">
                                          <p:stCondLst>
                                            <p:cond delay="0"/>
                                          </p:stCondLst>
                                        </p:cTn>
                                        <p:tgtEl>
                                          <p:spTgt spid="234"/>
                                        </p:tgtEl>
                                        <p:attrNameLst>
                                          <p:attrName>style.visibility</p:attrName>
                                        </p:attrNameLst>
                                      </p:cBhvr>
                                      <p:to>
                                        <p:strVal val="visible"/>
                                      </p:to>
                                    </p:set>
                                  </p:childTnLst>
                                </p:cTn>
                              </p:par>
                              <p:par>
                                <p:cTn id="175" presetID="1" presetClass="entr" presetSubtype="0" fill="hold" grpId="0" nodeType="withEffect">
                                  <p:stCondLst>
                                    <p:cond delay="0"/>
                                  </p:stCondLst>
                                  <p:childTnLst>
                                    <p:set>
                                      <p:cBhvr>
                                        <p:cTn id="176" dur="1" fill="hold">
                                          <p:stCondLst>
                                            <p:cond delay="0"/>
                                          </p:stCondLst>
                                        </p:cTn>
                                        <p:tgtEl>
                                          <p:spTgt spid="235"/>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239"/>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236"/>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63" presetClass="path" presetSubtype="0" accel="50000" decel="50000" fill="hold" nodeType="clickEffect">
                                  <p:stCondLst>
                                    <p:cond delay="0"/>
                                  </p:stCondLst>
                                  <p:childTnLst>
                                    <p:animMotion origin="layout" path="M -6.25E-7 7.40741E-7 L 0.03086 7.40741E-7 " pathEditMode="relative" rAng="0" ptsTypes="AA">
                                      <p:cBhvr>
                                        <p:cTn id="184" dur="2000" fill="hold"/>
                                        <p:tgtEl>
                                          <p:spTgt spid="239"/>
                                        </p:tgtEl>
                                        <p:attrNameLst>
                                          <p:attrName>ppt_x</p:attrName>
                                          <p:attrName>ppt_y</p:attrName>
                                        </p:attrNameLst>
                                      </p:cBhvr>
                                      <p:rCtr x="1536" y="0"/>
                                    </p:animMotion>
                                  </p:childTnLst>
                                </p:cTn>
                              </p:par>
                            </p:childTnLst>
                          </p:cTn>
                        </p:par>
                      </p:childTnLst>
                    </p:cTn>
                  </p:par>
                  <p:par>
                    <p:cTn id="185" fill="hold">
                      <p:stCondLst>
                        <p:cond delay="indefinite"/>
                      </p:stCondLst>
                      <p:childTnLst>
                        <p:par>
                          <p:cTn id="186" fill="hold">
                            <p:stCondLst>
                              <p:cond delay="0"/>
                            </p:stCondLst>
                            <p:childTnLst>
                              <p:par>
                                <p:cTn id="187" presetID="1" presetClass="entr" presetSubtype="0" fill="hold" grpId="0" nodeType="clickEffect">
                                  <p:stCondLst>
                                    <p:cond delay="0"/>
                                  </p:stCondLst>
                                  <p:childTnLst>
                                    <p:set>
                                      <p:cBhvr>
                                        <p:cTn id="188" dur="1" fill="hold">
                                          <p:stCondLst>
                                            <p:cond delay="0"/>
                                          </p:stCondLst>
                                        </p:cTn>
                                        <p:tgtEl>
                                          <p:spTgt spid="242"/>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xit" presetSubtype="0" fill="hold" grpId="1" nodeType="clickEffect">
                                  <p:stCondLst>
                                    <p:cond delay="0"/>
                                  </p:stCondLst>
                                  <p:childTnLst>
                                    <p:set>
                                      <p:cBhvr>
                                        <p:cTn id="192" dur="1" fill="hold">
                                          <p:stCondLst>
                                            <p:cond delay="0"/>
                                          </p:stCondLst>
                                        </p:cTn>
                                        <p:tgtEl>
                                          <p:spTgt spid="234"/>
                                        </p:tgtEl>
                                        <p:attrNameLst>
                                          <p:attrName>style.visibility</p:attrName>
                                        </p:attrNameLst>
                                      </p:cBhvr>
                                      <p:to>
                                        <p:strVal val="hidden"/>
                                      </p:to>
                                    </p:set>
                                  </p:childTnLst>
                                </p:cTn>
                              </p:par>
                            </p:childTnLst>
                          </p:cTn>
                        </p:par>
                      </p:childTnLst>
                    </p:cTn>
                  </p:par>
                  <p:par>
                    <p:cTn id="193" fill="hold">
                      <p:stCondLst>
                        <p:cond delay="indefinite"/>
                      </p:stCondLst>
                      <p:childTnLst>
                        <p:par>
                          <p:cTn id="194" fill="hold">
                            <p:stCondLst>
                              <p:cond delay="0"/>
                            </p:stCondLst>
                            <p:childTnLst>
                              <p:par>
                                <p:cTn id="195" presetID="1" presetClass="entr" presetSubtype="0" fill="hold" nodeType="clickEffect">
                                  <p:stCondLst>
                                    <p:cond delay="0"/>
                                  </p:stCondLst>
                                  <p:childTnLst>
                                    <p:set>
                                      <p:cBhvr>
                                        <p:cTn id="196" dur="1" fill="hold">
                                          <p:stCondLst>
                                            <p:cond delay="0"/>
                                          </p:stCondLst>
                                        </p:cTn>
                                        <p:tgtEl>
                                          <p:spTgt spid="194"/>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presetID="1" presetClass="entr" presetSubtype="0" fill="hold" grpId="0" nodeType="clickEffect">
                                  <p:stCondLst>
                                    <p:cond delay="0"/>
                                  </p:stCondLst>
                                  <p:childTnLst>
                                    <p:set>
                                      <p:cBhvr>
                                        <p:cTn id="200" dur="1" fill="hold">
                                          <p:stCondLst>
                                            <p:cond delay="0"/>
                                          </p:stCondLst>
                                        </p:cTn>
                                        <p:tgtEl>
                                          <p:spTgt spid="243"/>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1" presetClass="entr" presetSubtype="0" fill="hold" nodeType="clickEffect">
                                  <p:stCondLst>
                                    <p:cond delay="0"/>
                                  </p:stCondLst>
                                  <p:childTnLst>
                                    <p:set>
                                      <p:cBhvr>
                                        <p:cTn id="204" dur="1" fill="hold">
                                          <p:stCondLst>
                                            <p:cond delay="0"/>
                                          </p:stCondLst>
                                        </p:cTn>
                                        <p:tgtEl>
                                          <p:spTgt spid="244"/>
                                        </p:tgtEl>
                                        <p:attrNameLst>
                                          <p:attrName>style.visibility</p:attrName>
                                        </p:attrNameLst>
                                      </p:cBhvr>
                                      <p:to>
                                        <p:strVal val="visible"/>
                                      </p:to>
                                    </p:set>
                                  </p:childTnLst>
                                </p:cTn>
                              </p:par>
                              <p:par>
                                <p:cTn id="205" presetID="1" presetClass="entr" presetSubtype="0" fill="hold" grpId="0" nodeType="withEffect">
                                  <p:stCondLst>
                                    <p:cond delay="0"/>
                                  </p:stCondLst>
                                  <p:childTnLst>
                                    <p:set>
                                      <p:cBhvr>
                                        <p:cTn id="206" dur="1" fill="hold">
                                          <p:stCondLst>
                                            <p:cond delay="0"/>
                                          </p:stCondLst>
                                        </p:cTn>
                                        <p:tgtEl>
                                          <p:spTgt spid="255"/>
                                        </p:tgtEl>
                                        <p:attrNameLst>
                                          <p:attrName>style.visibility</p:attrName>
                                        </p:attrNameLst>
                                      </p:cBhvr>
                                      <p:to>
                                        <p:strVal val="visible"/>
                                      </p:to>
                                    </p:set>
                                  </p:childTnLst>
                                </p:cTn>
                              </p:par>
                              <p:par>
                                <p:cTn id="207" presetID="1" presetClass="entr" presetSubtype="0" fill="hold" nodeType="withEffect">
                                  <p:stCondLst>
                                    <p:cond delay="0"/>
                                  </p:stCondLst>
                                  <p:childTnLst>
                                    <p:set>
                                      <p:cBhvr>
                                        <p:cTn id="208" dur="1" fill="hold">
                                          <p:stCondLst>
                                            <p:cond delay="0"/>
                                          </p:stCondLst>
                                        </p:cTn>
                                        <p:tgtEl>
                                          <p:spTgt spid="249"/>
                                        </p:tgtEl>
                                        <p:attrNameLst>
                                          <p:attrName>style.visibility</p:attrName>
                                        </p:attrNameLst>
                                      </p:cBhvr>
                                      <p:to>
                                        <p:strVal val="visible"/>
                                      </p:to>
                                    </p:set>
                                  </p:childTnLst>
                                </p:cTn>
                              </p:par>
                              <p:par>
                                <p:cTn id="209" presetID="1" presetClass="entr" presetSubtype="0" fill="hold" nodeType="withEffect">
                                  <p:stCondLst>
                                    <p:cond delay="0"/>
                                  </p:stCondLst>
                                  <p:childTnLst>
                                    <p:set>
                                      <p:cBhvr>
                                        <p:cTn id="210" dur="1" fill="hold">
                                          <p:stCondLst>
                                            <p:cond delay="0"/>
                                          </p:stCondLst>
                                        </p:cTn>
                                        <p:tgtEl>
                                          <p:spTgt spid="252"/>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presetID="63" presetClass="path" presetSubtype="0" accel="50000" decel="50000" fill="hold" nodeType="clickEffect">
                                  <p:stCondLst>
                                    <p:cond delay="0"/>
                                  </p:stCondLst>
                                  <p:childTnLst>
                                    <p:animMotion origin="layout" path="M -4.79167E-6 1.48148E-6 L 0.02865 1.48148E-6 " pathEditMode="relative" rAng="0" ptsTypes="AA">
                                      <p:cBhvr>
                                        <p:cTn id="214" dur="2000" fill="hold"/>
                                        <p:tgtEl>
                                          <p:spTgt spid="252"/>
                                        </p:tgtEl>
                                        <p:attrNameLst>
                                          <p:attrName>ppt_x</p:attrName>
                                          <p:attrName>ppt_y</p:attrName>
                                        </p:attrNameLst>
                                      </p:cBhvr>
                                      <p:rCtr x="1432" y="0"/>
                                    </p:animMotion>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256"/>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1" presetClass="entr" presetSubtype="0" fill="hold" grpId="0" nodeType="clickEffect">
                                  <p:stCondLst>
                                    <p:cond delay="0"/>
                                  </p:stCondLst>
                                  <p:childTnLst>
                                    <p:set>
                                      <p:cBhvr>
                                        <p:cTn id="222" dur="1" fill="hold">
                                          <p:stCondLst>
                                            <p:cond delay="0"/>
                                          </p:stCondLst>
                                        </p:cTn>
                                        <p:tgtEl>
                                          <p:spTgt spid="257"/>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presetID="1" presetClass="entr" presetSubtype="0" fill="hold" nodeType="clickEffect">
                                  <p:stCondLst>
                                    <p:cond delay="0"/>
                                  </p:stCondLst>
                                  <p:childTnLst>
                                    <p:set>
                                      <p:cBhvr>
                                        <p:cTn id="226" dur="1" fill="hold">
                                          <p:stCondLst>
                                            <p:cond delay="0"/>
                                          </p:stCondLst>
                                        </p:cTn>
                                        <p:tgtEl>
                                          <p:spTgt spid="195"/>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presetID="1" presetClass="entr" presetSubtype="0" fill="hold" grpId="0" nodeType="clickEffect">
                                  <p:stCondLst>
                                    <p:cond delay="0"/>
                                  </p:stCondLst>
                                  <p:childTnLst>
                                    <p:set>
                                      <p:cBhvr>
                                        <p:cTn id="230" dur="1" fill="hold">
                                          <p:stCondLst>
                                            <p:cond delay="0"/>
                                          </p:stCondLst>
                                        </p:cTn>
                                        <p:tgtEl>
                                          <p:spTgt spid="258"/>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presetID="1" presetClass="entr" presetSubtype="0" fill="hold" nodeType="clickEffect">
                                  <p:stCondLst>
                                    <p:cond delay="0"/>
                                  </p:stCondLst>
                                  <p:childTnLst>
                                    <p:set>
                                      <p:cBhvr>
                                        <p:cTn id="234" dur="1" fill="hold">
                                          <p:stCondLst>
                                            <p:cond delay="0"/>
                                          </p:stCondLst>
                                        </p:cTn>
                                        <p:tgtEl>
                                          <p:spTgt spid="154"/>
                                        </p:tgtEl>
                                        <p:attrNameLst>
                                          <p:attrName>style.visibility</p:attrName>
                                        </p:attrNameLst>
                                      </p:cBhvr>
                                      <p:to>
                                        <p:strVal val="visible"/>
                                      </p:to>
                                    </p:set>
                                  </p:childTnLst>
                                </p:cTn>
                              </p:par>
                              <p:par>
                                <p:cTn id="235" presetID="1" presetClass="entr" presetSubtype="0" fill="hold" grpId="0" nodeType="withEffect">
                                  <p:stCondLst>
                                    <p:cond delay="0"/>
                                  </p:stCondLst>
                                  <p:childTnLst>
                                    <p:set>
                                      <p:cBhvr>
                                        <p:cTn id="236" dur="1" fill="hold">
                                          <p:stCondLst>
                                            <p:cond delay="0"/>
                                          </p:stCondLst>
                                        </p:cTn>
                                        <p:tgtEl>
                                          <p:spTgt spid="265"/>
                                        </p:tgtEl>
                                        <p:attrNameLst>
                                          <p:attrName>style.visibility</p:attrName>
                                        </p:attrNameLst>
                                      </p:cBhvr>
                                      <p:to>
                                        <p:strVal val="visible"/>
                                      </p:to>
                                    </p:set>
                                  </p:childTnLst>
                                </p:cTn>
                              </p:par>
                              <p:par>
                                <p:cTn id="237" presetID="1" presetClass="entr" presetSubtype="0" fill="hold" grpId="0" nodeType="withEffect">
                                  <p:stCondLst>
                                    <p:cond delay="0"/>
                                  </p:stCondLst>
                                  <p:childTnLst>
                                    <p:set>
                                      <p:cBhvr>
                                        <p:cTn id="238" dur="1" fill="hold">
                                          <p:stCondLst>
                                            <p:cond delay="0"/>
                                          </p:stCondLst>
                                        </p:cTn>
                                        <p:tgtEl>
                                          <p:spTgt spid="266"/>
                                        </p:tgtEl>
                                        <p:attrNameLst>
                                          <p:attrName>style.visibility</p:attrName>
                                        </p:attrNameLst>
                                      </p:cBhvr>
                                      <p:to>
                                        <p:strVal val="visible"/>
                                      </p:to>
                                    </p:set>
                                  </p:childTnLst>
                                </p:cTn>
                              </p:par>
                              <p:par>
                                <p:cTn id="239" presetID="1" presetClass="entr" presetSubtype="0" fill="hold" nodeType="withEffect">
                                  <p:stCondLst>
                                    <p:cond delay="0"/>
                                  </p:stCondLst>
                                  <p:childTnLst>
                                    <p:set>
                                      <p:cBhvr>
                                        <p:cTn id="240" dur="1" fill="hold">
                                          <p:stCondLst>
                                            <p:cond delay="0"/>
                                          </p:stCondLst>
                                        </p:cTn>
                                        <p:tgtEl>
                                          <p:spTgt spid="262"/>
                                        </p:tgtEl>
                                        <p:attrNameLst>
                                          <p:attrName>style.visibility</p:attrName>
                                        </p:attrNameLst>
                                      </p:cBhvr>
                                      <p:to>
                                        <p:strVal val="visible"/>
                                      </p:to>
                                    </p:set>
                                  </p:childTnLst>
                                </p:cTn>
                              </p:par>
                              <p:par>
                                <p:cTn id="241" presetID="1" presetClass="entr" presetSubtype="0" fill="hold" nodeType="withEffect">
                                  <p:stCondLst>
                                    <p:cond delay="0"/>
                                  </p:stCondLst>
                                  <p:childTnLst>
                                    <p:set>
                                      <p:cBhvr>
                                        <p:cTn id="242" dur="1" fill="hold">
                                          <p:stCondLst>
                                            <p:cond delay="0"/>
                                          </p:stCondLst>
                                        </p:cTn>
                                        <p:tgtEl>
                                          <p:spTgt spid="259"/>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presetID="35" presetClass="path" presetSubtype="0" accel="50000" decel="50000" fill="hold" nodeType="clickEffect">
                                  <p:stCondLst>
                                    <p:cond delay="0"/>
                                  </p:stCondLst>
                                  <p:childTnLst>
                                    <p:animMotion origin="layout" path="M 6.25E-7 -1.85185E-6 L -0.11211 -1.85185E-6 " pathEditMode="relative" rAng="0" ptsTypes="AA">
                                      <p:cBhvr>
                                        <p:cTn id="246" dur="2000" fill="hold"/>
                                        <p:tgtEl>
                                          <p:spTgt spid="259"/>
                                        </p:tgtEl>
                                        <p:attrNameLst>
                                          <p:attrName>ppt_x</p:attrName>
                                          <p:attrName>ppt_y</p:attrName>
                                        </p:attrNameLst>
                                      </p:cBhvr>
                                      <p:rCtr x="-5612" y="0"/>
                                    </p:animMotion>
                                  </p:childTnLst>
                                </p:cTn>
                              </p:par>
                            </p:childTnLst>
                          </p:cTn>
                        </p:par>
                      </p:childTnLst>
                    </p:cTn>
                  </p:par>
                  <p:par>
                    <p:cTn id="247" fill="hold">
                      <p:stCondLst>
                        <p:cond delay="indefinite"/>
                      </p:stCondLst>
                      <p:childTnLst>
                        <p:par>
                          <p:cTn id="248" fill="hold">
                            <p:stCondLst>
                              <p:cond delay="0"/>
                            </p:stCondLst>
                            <p:childTnLst>
                              <p:par>
                                <p:cTn id="249" presetID="1" presetClass="entr" presetSubtype="0" fill="hold" grpId="0" nodeType="clickEffect">
                                  <p:stCondLst>
                                    <p:cond delay="0"/>
                                  </p:stCondLst>
                                  <p:childTnLst>
                                    <p:set>
                                      <p:cBhvr>
                                        <p:cTn id="250" dur="1" fill="hold">
                                          <p:stCondLst>
                                            <p:cond delay="0"/>
                                          </p:stCondLst>
                                        </p:cTn>
                                        <p:tgtEl>
                                          <p:spTgt spid="267"/>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presetID="1" presetClass="entr" presetSubtype="0" fill="hold" nodeType="clickEffect">
                                  <p:stCondLst>
                                    <p:cond delay="0"/>
                                  </p:stCondLst>
                                  <p:childTnLst>
                                    <p:set>
                                      <p:cBhvr>
                                        <p:cTn id="254" dur="1" fill="hold">
                                          <p:stCondLst>
                                            <p:cond delay="0"/>
                                          </p:stCondLst>
                                        </p:cTn>
                                        <p:tgtEl>
                                          <p:spTgt spid="272">
                                            <p:txEl>
                                              <p:pRg st="0" end="0"/>
                                            </p:txEl>
                                          </p:spTgt>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presetID="1" presetClass="entr" presetSubtype="0" fill="hold" nodeType="clickEffect">
                                  <p:stCondLst>
                                    <p:cond delay="0"/>
                                  </p:stCondLst>
                                  <p:childTnLst>
                                    <p:set>
                                      <p:cBhvr>
                                        <p:cTn id="258" dur="1" fill="hold">
                                          <p:stCondLst>
                                            <p:cond delay="0"/>
                                          </p:stCondLst>
                                        </p:cTn>
                                        <p:tgtEl>
                                          <p:spTgt spid="2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6" grpId="0"/>
      <p:bldP spid="167" grpId="0"/>
      <p:bldP spid="168" grpId="0"/>
      <p:bldP spid="170" grpId="0"/>
      <p:bldP spid="177" grpId="0"/>
      <p:bldP spid="178" grpId="0"/>
      <p:bldP spid="179" grpId="0"/>
      <p:bldP spid="181" grpId="0"/>
      <p:bldP spid="188" grpId="0"/>
      <p:bldP spid="189" grpId="0"/>
      <p:bldP spid="190" grpId="0"/>
      <p:bldP spid="192" grpId="0"/>
      <p:bldP spid="201" grpId="0"/>
      <p:bldP spid="202" grpId="0"/>
      <p:bldP spid="209" grpId="0"/>
      <p:bldP spid="216" grpId="0"/>
      <p:bldP spid="217" grpId="0"/>
      <p:bldP spid="217" grpId="1"/>
      <p:bldP spid="218" grpId="0"/>
      <p:bldP spid="219" grpId="0"/>
      <p:bldP spid="226" grpId="0"/>
      <p:bldP spid="228" grpId="0"/>
      <p:bldP spid="234" grpId="0"/>
      <p:bldP spid="234" grpId="1"/>
      <p:bldP spid="235" grpId="0"/>
      <p:bldP spid="242" grpId="0"/>
      <p:bldP spid="243" grpId="0"/>
      <p:bldP spid="255" grpId="0"/>
      <p:bldP spid="256" grpId="0"/>
      <p:bldP spid="257" grpId="0"/>
      <p:bldP spid="258" grpId="0"/>
      <p:bldP spid="265" grpId="0"/>
      <p:bldP spid="266" grpId="0"/>
      <p:bldP spid="267" grpId="0"/>
      <p:bldP spid="135"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95807-8A93-439D-B053-2723AB06F1DA}"/>
              </a:ext>
            </a:extLst>
          </p:cNvPr>
          <p:cNvSpPr>
            <a:spLocks noGrp="1"/>
          </p:cNvSpPr>
          <p:nvPr>
            <p:ph type="title"/>
          </p:nvPr>
        </p:nvSpPr>
        <p:spPr/>
        <p:txBody>
          <a:bodyPr/>
          <a:lstStyle/>
          <a:p>
            <a:r>
              <a:rPr lang="en-US" altLang="en-US" dirty="0"/>
              <a:t>The Double-Ended Queue</a:t>
            </a:r>
            <a:endParaRPr lang="en-IN" dirty="0"/>
          </a:p>
        </p:txBody>
      </p:sp>
      <p:sp>
        <p:nvSpPr>
          <p:cNvPr id="3" name="Content Placeholder 2">
            <a:extLst>
              <a:ext uri="{FF2B5EF4-FFF2-40B4-BE49-F238E27FC236}">
                <a16:creationId xmlns:a16="http://schemas.microsoft.com/office/drawing/2014/main" id="{77C8A089-5C38-464C-A2DA-0B1A78926630}"/>
              </a:ext>
            </a:extLst>
          </p:cNvPr>
          <p:cNvSpPr>
            <a:spLocks noGrp="1"/>
          </p:cNvSpPr>
          <p:nvPr>
            <p:ph idx="1"/>
          </p:nvPr>
        </p:nvSpPr>
        <p:spPr/>
        <p:txBody>
          <a:bodyPr/>
          <a:lstStyle/>
          <a:p>
            <a:r>
              <a:rPr lang="en-US" dirty="0"/>
              <a:t>Double Ended Queue is a type of queue in which insertion and removal of elements can either be performed from the front or the rear. Thus, it does not follow FIFO rule (First In First Out).</a:t>
            </a:r>
          </a:p>
          <a:p>
            <a:endParaRPr lang="en-US" dirty="0"/>
          </a:p>
          <a:p>
            <a:endParaRPr lang="en-US" dirty="0"/>
          </a:p>
          <a:p>
            <a:endParaRPr lang="en-US" dirty="0"/>
          </a:p>
          <a:p>
            <a:pPr marL="0" indent="0" algn="l">
              <a:buNone/>
            </a:pPr>
            <a:r>
              <a:rPr lang="en-US" b="1" i="0" dirty="0">
                <a:solidFill>
                  <a:srgbClr val="25265E"/>
                </a:solidFill>
                <a:effectLst/>
                <a:latin typeface="euclid_circular_a"/>
              </a:rPr>
              <a:t>Types of Deque</a:t>
            </a:r>
          </a:p>
          <a:p>
            <a:pPr algn="l">
              <a:buFont typeface="Arial" panose="020B0604020202020204" pitchFamily="34" charset="0"/>
              <a:buChar char="•"/>
            </a:pPr>
            <a:r>
              <a:rPr lang="en-US" b="1" i="0" dirty="0">
                <a:effectLst/>
                <a:latin typeface="euclid_circular_a"/>
              </a:rPr>
              <a:t>Input Restricted Deque: </a:t>
            </a:r>
            <a:r>
              <a:rPr lang="en-US" b="0" i="0" dirty="0">
                <a:effectLst/>
                <a:latin typeface="euclid_circular_a"/>
              </a:rPr>
              <a:t>In this deque, input is restricted at a single end but allows deletion at both the ends.</a:t>
            </a:r>
          </a:p>
          <a:p>
            <a:pPr algn="l">
              <a:buFont typeface="Arial" panose="020B0604020202020204" pitchFamily="34" charset="0"/>
              <a:buChar char="•"/>
            </a:pPr>
            <a:r>
              <a:rPr lang="en-US" b="1" i="0" dirty="0">
                <a:effectLst/>
                <a:latin typeface="euclid_circular_a"/>
              </a:rPr>
              <a:t>Output Restricted Deque: </a:t>
            </a:r>
            <a:r>
              <a:rPr lang="en-US" b="0" i="0" dirty="0">
                <a:effectLst/>
                <a:latin typeface="euclid_circular_a"/>
              </a:rPr>
              <a:t>In this deque, output is restricted at a single end but allows insertion at both the ends.</a:t>
            </a:r>
          </a:p>
          <a:p>
            <a:endParaRPr lang="en-IN" dirty="0"/>
          </a:p>
        </p:txBody>
      </p:sp>
      <p:pic>
        <p:nvPicPr>
          <p:cNvPr id="5" name="Picture 4">
            <a:extLst>
              <a:ext uri="{FF2B5EF4-FFF2-40B4-BE49-F238E27FC236}">
                <a16:creationId xmlns:a16="http://schemas.microsoft.com/office/drawing/2014/main" id="{9B29E35E-5C99-4BCE-8A3C-9A93B173264A}"/>
              </a:ext>
            </a:extLst>
          </p:cNvPr>
          <p:cNvPicPr>
            <a:picLocks noChangeAspect="1"/>
          </p:cNvPicPr>
          <p:nvPr/>
        </p:nvPicPr>
        <p:blipFill>
          <a:blip r:embed="rId2"/>
          <a:stretch>
            <a:fillRect/>
          </a:stretch>
        </p:blipFill>
        <p:spPr>
          <a:xfrm>
            <a:off x="1669356" y="2192159"/>
            <a:ext cx="8530535" cy="813800"/>
          </a:xfrm>
          <a:prstGeom prst="rect">
            <a:avLst/>
          </a:prstGeom>
        </p:spPr>
      </p:pic>
    </p:spTree>
    <p:extLst>
      <p:ext uri="{BB962C8B-B14F-4D97-AF65-F5344CB8AC3E}">
        <p14:creationId xmlns:p14="http://schemas.microsoft.com/office/powerpoint/2010/main" val="286435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C1C17-3699-4B59-9739-CC4F21A63911}"/>
              </a:ext>
            </a:extLst>
          </p:cNvPr>
          <p:cNvSpPr>
            <a:spLocks noGrp="1"/>
          </p:cNvSpPr>
          <p:nvPr>
            <p:ph type="title"/>
          </p:nvPr>
        </p:nvSpPr>
        <p:spPr/>
        <p:txBody>
          <a:bodyPr/>
          <a:lstStyle/>
          <a:p>
            <a:r>
              <a:rPr lang="en-US" altLang="en-US" dirty="0"/>
              <a:t>Implementing Stacks and Queues with Deques</a:t>
            </a:r>
            <a:endParaRPr lang="en-IN" dirty="0"/>
          </a:p>
        </p:txBody>
      </p:sp>
      <p:sp>
        <p:nvSpPr>
          <p:cNvPr id="3" name="Content Placeholder 2">
            <a:extLst>
              <a:ext uri="{FF2B5EF4-FFF2-40B4-BE49-F238E27FC236}">
                <a16:creationId xmlns:a16="http://schemas.microsoft.com/office/drawing/2014/main" id="{DF83F671-5E7E-482A-A64D-2B0BB5931CD4}"/>
              </a:ext>
            </a:extLst>
          </p:cNvPr>
          <p:cNvSpPr>
            <a:spLocks noGrp="1"/>
          </p:cNvSpPr>
          <p:nvPr>
            <p:ph idx="1"/>
          </p:nvPr>
        </p:nvSpPr>
        <p:spPr/>
        <p:txBody>
          <a:bodyPr/>
          <a:lstStyle/>
          <a:p>
            <a:endParaRPr lang="en-IN" dirty="0"/>
          </a:p>
        </p:txBody>
      </p:sp>
      <p:sp>
        <p:nvSpPr>
          <p:cNvPr id="4" name="Rectangle 3">
            <a:extLst>
              <a:ext uri="{FF2B5EF4-FFF2-40B4-BE49-F238E27FC236}">
                <a16:creationId xmlns:a16="http://schemas.microsoft.com/office/drawing/2014/main" id="{93907405-C31C-44AB-8DB3-89012476A741}"/>
              </a:ext>
            </a:extLst>
          </p:cNvPr>
          <p:cNvSpPr>
            <a:spLocks noChangeArrowheads="1"/>
          </p:cNvSpPr>
          <p:nvPr/>
        </p:nvSpPr>
        <p:spPr bwMode="auto">
          <a:xfrm>
            <a:off x="1500351" y="2069067"/>
            <a:ext cx="3049953" cy="461665"/>
          </a:xfrm>
          <a:prstGeom prst="rect">
            <a:avLst/>
          </a:prstGeom>
          <a:noFill/>
          <a:ln w="9525">
            <a:noFill/>
            <a:miter lim="800000"/>
          </a:ln>
          <a:effectLst/>
        </p:spPr>
        <p:txBody>
          <a:bodyPr wrap="square">
            <a:spAutoFit/>
          </a:bodyPr>
          <a:lstStyle/>
          <a:p>
            <a:r>
              <a:rPr lang="en-US" altLang="en-US" sz="2400" b="1" dirty="0">
                <a:solidFill>
                  <a:srgbClr val="356E3D"/>
                </a:solidFill>
              </a:rPr>
              <a:t>Stacks with Deques:</a:t>
            </a:r>
            <a:endParaRPr lang="en-US" altLang="en-US" sz="2400" dirty="0"/>
          </a:p>
        </p:txBody>
      </p:sp>
      <p:sp>
        <p:nvSpPr>
          <p:cNvPr id="5" name="Rectangle 4">
            <a:extLst>
              <a:ext uri="{FF2B5EF4-FFF2-40B4-BE49-F238E27FC236}">
                <a16:creationId xmlns:a16="http://schemas.microsoft.com/office/drawing/2014/main" id="{4162BBC0-5E6C-44CB-8F66-5113DC1E72C3}"/>
              </a:ext>
            </a:extLst>
          </p:cNvPr>
          <p:cNvSpPr>
            <a:spLocks noChangeArrowheads="1"/>
          </p:cNvSpPr>
          <p:nvPr/>
        </p:nvSpPr>
        <p:spPr bwMode="auto">
          <a:xfrm>
            <a:off x="1372911" y="4514192"/>
            <a:ext cx="3177393" cy="461665"/>
          </a:xfrm>
          <a:prstGeom prst="rect">
            <a:avLst/>
          </a:prstGeom>
          <a:noFill/>
          <a:ln w="9525">
            <a:noFill/>
            <a:miter lim="800000"/>
          </a:ln>
          <a:effectLst/>
        </p:spPr>
        <p:txBody>
          <a:bodyPr wrap="square">
            <a:spAutoFit/>
          </a:bodyPr>
          <a:lstStyle/>
          <a:p>
            <a:r>
              <a:rPr lang="en-US" altLang="en-US" sz="2400" b="1" dirty="0">
                <a:solidFill>
                  <a:srgbClr val="9E222D"/>
                </a:solidFill>
              </a:rPr>
              <a:t>Queues with Deques:</a:t>
            </a:r>
            <a:endParaRPr lang="en-US" altLang="en-US" sz="2400" dirty="0"/>
          </a:p>
        </p:txBody>
      </p:sp>
      <p:pic>
        <p:nvPicPr>
          <p:cNvPr id="6" name="Picture 5">
            <a:extLst>
              <a:ext uri="{FF2B5EF4-FFF2-40B4-BE49-F238E27FC236}">
                <a16:creationId xmlns:a16="http://schemas.microsoft.com/office/drawing/2014/main" id="{C9C3EE6D-6461-444F-9ADB-45689FD4E100}"/>
              </a:ext>
            </a:extLst>
          </p:cNvPr>
          <p:cNvPicPr>
            <a:picLocks noChangeAspect="1" noChangeArrowheads="1"/>
          </p:cNvPicPr>
          <p:nvPr/>
        </p:nvPicPr>
        <p:blipFill>
          <a:blip r:embed="rId2"/>
          <a:srcRect/>
          <a:stretch>
            <a:fillRect/>
          </a:stretch>
        </p:blipFill>
        <p:spPr bwMode="auto">
          <a:xfrm>
            <a:off x="4742793" y="711201"/>
            <a:ext cx="4978130" cy="2967420"/>
          </a:xfrm>
          <a:prstGeom prst="rect">
            <a:avLst/>
          </a:prstGeom>
          <a:noFill/>
          <a:ln w="9525">
            <a:noFill/>
            <a:miter lim="800000"/>
            <a:headEnd/>
            <a:tailEnd/>
          </a:ln>
          <a:effectLst/>
        </p:spPr>
      </p:pic>
      <p:pic>
        <p:nvPicPr>
          <p:cNvPr id="7" name="Picture 6">
            <a:extLst>
              <a:ext uri="{FF2B5EF4-FFF2-40B4-BE49-F238E27FC236}">
                <a16:creationId xmlns:a16="http://schemas.microsoft.com/office/drawing/2014/main" id="{B84834B1-0067-4FCF-BC5C-F08AB31E7043}"/>
              </a:ext>
            </a:extLst>
          </p:cNvPr>
          <p:cNvPicPr>
            <a:picLocks noChangeAspect="1" noChangeArrowheads="1"/>
          </p:cNvPicPr>
          <p:nvPr/>
        </p:nvPicPr>
        <p:blipFill>
          <a:blip r:embed="rId3"/>
          <a:srcRect/>
          <a:stretch>
            <a:fillRect/>
          </a:stretch>
        </p:blipFill>
        <p:spPr bwMode="auto">
          <a:xfrm>
            <a:off x="4874172" y="3828613"/>
            <a:ext cx="4848855" cy="2876987"/>
          </a:xfrm>
          <a:prstGeom prst="rect">
            <a:avLst/>
          </a:prstGeom>
          <a:noFill/>
          <a:ln w="9525">
            <a:noFill/>
            <a:miter lim="800000"/>
            <a:headEnd/>
            <a:tailEnd/>
          </a:ln>
          <a:effectLst/>
        </p:spPr>
      </p:pic>
    </p:spTree>
    <p:extLst>
      <p:ext uri="{BB962C8B-B14F-4D97-AF65-F5344CB8AC3E}">
        <p14:creationId xmlns:p14="http://schemas.microsoft.com/office/powerpoint/2010/main" val="28053036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dissolv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dissolv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utoUpdateAnimBg="0"/>
      <p:bldP spid="5"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6A3D4C-67FB-400A-B22E-0CD2C50A9C4F}"/>
              </a:ext>
            </a:extLst>
          </p:cNvPr>
          <p:cNvSpPr>
            <a:spLocks noGrp="1"/>
          </p:cNvSpPr>
          <p:nvPr>
            <p:ph type="title"/>
          </p:nvPr>
        </p:nvSpPr>
        <p:spPr/>
        <p:txBody>
          <a:bodyPr/>
          <a:lstStyle/>
          <a:p>
            <a:r>
              <a:rPr lang="en-IN" dirty="0"/>
              <a:t>Dequeue Summary</a:t>
            </a:r>
          </a:p>
        </p:txBody>
      </p:sp>
      <p:sp>
        <p:nvSpPr>
          <p:cNvPr id="3" name="Content Placeholder 2">
            <a:extLst>
              <a:ext uri="{FF2B5EF4-FFF2-40B4-BE49-F238E27FC236}">
                <a16:creationId xmlns:a16="http://schemas.microsoft.com/office/drawing/2014/main" id="{70CC29D4-402B-4593-918E-2E14A646D540}"/>
              </a:ext>
            </a:extLst>
          </p:cNvPr>
          <p:cNvSpPr>
            <a:spLocks noGrp="1"/>
          </p:cNvSpPr>
          <p:nvPr>
            <p:ph idx="1"/>
          </p:nvPr>
        </p:nvSpPr>
        <p:spPr/>
        <p:txBody>
          <a:bodyPr/>
          <a:lstStyle/>
          <a:p>
            <a:endParaRPr lang="en-IN"/>
          </a:p>
        </p:txBody>
      </p:sp>
      <p:graphicFrame>
        <p:nvGraphicFramePr>
          <p:cNvPr id="4" name="Table 3">
            <a:extLst>
              <a:ext uri="{FF2B5EF4-FFF2-40B4-BE49-F238E27FC236}">
                <a16:creationId xmlns:a16="http://schemas.microsoft.com/office/drawing/2014/main" id="{CE42F378-97B1-4A94-872F-431998231B1D}"/>
              </a:ext>
            </a:extLst>
          </p:cNvPr>
          <p:cNvGraphicFramePr>
            <a:graphicFrameLocks noGrp="1"/>
          </p:cNvGraphicFramePr>
          <p:nvPr>
            <p:extLst>
              <p:ext uri="{D42A27DB-BD31-4B8C-83A1-F6EECF244321}">
                <p14:modId xmlns:p14="http://schemas.microsoft.com/office/powerpoint/2010/main" val="959533547"/>
              </p:ext>
            </p:extLst>
          </p:nvPr>
        </p:nvGraphicFramePr>
        <p:xfrm>
          <a:off x="922282" y="1425415"/>
          <a:ext cx="10176640" cy="4765178"/>
        </p:xfrm>
        <a:graphic>
          <a:graphicData uri="http://schemas.openxmlformats.org/drawingml/2006/table">
            <a:tbl>
              <a:tblPr/>
              <a:tblGrid>
                <a:gridCol w="2092393">
                  <a:extLst>
                    <a:ext uri="{9D8B030D-6E8A-4147-A177-3AD203B41FA5}">
                      <a16:colId xmlns:a16="http://schemas.microsoft.com/office/drawing/2014/main" val="20000"/>
                    </a:ext>
                  </a:extLst>
                </a:gridCol>
                <a:gridCol w="1436540">
                  <a:extLst>
                    <a:ext uri="{9D8B030D-6E8A-4147-A177-3AD203B41FA5}">
                      <a16:colId xmlns:a16="http://schemas.microsoft.com/office/drawing/2014/main" val="20001"/>
                    </a:ext>
                  </a:extLst>
                </a:gridCol>
                <a:gridCol w="3108472">
                  <a:extLst>
                    <a:ext uri="{9D8B030D-6E8A-4147-A177-3AD203B41FA5}">
                      <a16:colId xmlns:a16="http://schemas.microsoft.com/office/drawing/2014/main" val="20002"/>
                    </a:ext>
                  </a:extLst>
                </a:gridCol>
                <a:gridCol w="1734150">
                  <a:extLst>
                    <a:ext uri="{9D8B030D-6E8A-4147-A177-3AD203B41FA5}">
                      <a16:colId xmlns:a16="http://schemas.microsoft.com/office/drawing/2014/main" val="20003"/>
                    </a:ext>
                  </a:extLst>
                </a:gridCol>
                <a:gridCol w="1805085">
                  <a:extLst>
                    <a:ext uri="{9D8B030D-6E8A-4147-A177-3AD203B41FA5}">
                      <a16:colId xmlns:a16="http://schemas.microsoft.com/office/drawing/2014/main" val="20004"/>
                    </a:ext>
                  </a:extLst>
                </a:gridCol>
              </a:tblGrid>
              <a:tr h="1087371">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endPar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dirty="0">
                          <a:ln>
                            <a:noFill/>
                          </a:ln>
                          <a:solidFill>
                            <a:srgbClr val="FFFFFF"/>
                          </a:solidFill>
                          <a:effectLst/>
                          <a:latin typeface="Arial" panose="020B0604020202020204" pitchFamily="34" charset="0"/>
                          <a:ea typeface="MS PGothic" panose="020B0600070205080204" charset="-128"/>
                        </a:rPr>
                        <a:t>Array </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dirty="0">
                          <a:ln>
                            <a:noFill/>
                          </a:ln>
                          <a:solidFill>
                            <a:srgbClr val="FFFFFF"/>
                          </a:solidFill>
                          <a:effectLst/>
                          <a:latin typeface="Arial" panose="020B0604020202020204" pitchFamily="34" charset="0"/>
                          <a:ea typeface="MS PGothic" panose="020B0600070205080204" charset="-128"/>
                        </a:rPr>
                        <a:t>Fixed-Size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Array</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Expandable (doubling strategy)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List</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Singly-Linked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List </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1" i="0" u="none" strike="noStrike" cap="none" normalizeH="0" baseline="0">
                          <a:ln>
                            <a:noFill/>
                          </a:ln>
                          <a:solidFill>
                            <a:srgbClr val="FFFFFF"/>
                          </a:solidFill>
                          <a:effectLst/>
                          <a:latin typeface="Arial" panose="020B0604020202020204" pitchFamily="34" charset="0"/>
                          <a:ea typeface="MS PGothic" panose="020B0600070205080204" charset="-128"/>
                        </a:rPr>
                        <a:t>Doubly-Linked</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rgbClr val="2D2DB9"/>
                    </a:solidFill>
                  </a:tcPr>
                </a:tc>
                <a:extLst>
                  <a:ext uri="{0D108BD9-81ED-4DB2-BD59-A6C34878D82A}">
                    <a16:rowId xmlns:a16="http://schemas.microsoft.com/office/drawing/2014/main" val="10000"/>
                  </a:ext>
                </a:extLst>
              </a:tr>
              <a:tr h="1272375">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removeFirst(), removeLast()</a:t>
                      </a:r>
                    </a:p>
                    <a:p>
                      <a:pPr marL="0" marR="0" lvl="0" indent="0" algn="l" defTabSz="4572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 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extLst>
                  <a:ext uri="{0D108BD9-81ED-4DB2-BD59-A6C34878D82A}">
                    <a16:rowId xmlns:a16="http://schemas.microsoft.com/office/drawing/2014/main" val="10001"/>
                  </a:ext>
                </a:extLst>
              </a:tr>
              <a:tr h="1087371">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insertFirst(o), InsertLast(o)</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O(n) Worst Case</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 Best Case</a:t>
                      </a:r>
                    </a:p>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 Average Case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extLst>
                  <a:ext uri="{0D108BD9-81ED-4DB2-BD59-A6C34878D82A}">
                    <a16:rowId xmlns:a16="http://schemas.microsoft.com/office/drawing/2014/main" val="10002"/>
                  </a:ext>
                </a:extLst>
              </a:tr>
              <a:tr h="556901">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first(), last()</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CDCDE6"/>
                    </a:solidFill>
                  </a:tcPr>
                </a:tc>
                <a:extLst>
                  <a:ext uri="{0D108BD9-81ED-4DB2-BD59-A6C34878D82A}">
                    <a16:rowId xmlns:a16="http://schemas.microsoft.com/office/drawing/2014/main" val="10003"/>
                  </a:ext>
                </a:extLst>
              </a:tr>
              <a:tr h="761160">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Size(), isEmpty()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tc>
                  <a:txBody>
                    <a:bodyPr/>
                    <a:lstStyle>
                      <a:lvl1pPr>
                        <a:spcBef>
                          <a:spcPts val="600"/>
                        </a:spcBef>
                        <a:defRPr sz="2000">
                          <a:solidFill>
                            <a:schemeClr val="accent2"/>
                          </a:solidFill>
                          <a:latin typeface="Arial" panose="020B0604020202020204" pitchFamily="34" charset="0"/>
                          <a:ea typeface="MS PGothic" panose="020B0600070205080204" charset="-128"/>
                        </a:defRPr>
                      </a:lvl1pPr>
                      <a:lvl2pPr marL="37931725" indent="-37474525">
                        <a:buClr>
                          <a:srgbClr val="000066"/>
                        </a:buClr>
                        <a:defRPr>
                          <a:solidFill>
                            <a:schemeClr val="accent2"/>
                          </a:solidFill>
                          <a:latin typeface="Arial" panose="020B0604020202020204" pitchFamily="34" charset="0"/>
                          <a:ea typeface="MS PGothic" panose="020B0600070205080204" charset="-128"/>
                        </a:defRPr>
                      </a:lvl2pPr>
                      <a:lvl3pPr>
                        <a:spcBef>
                          <a:spcPts val="450"/>
                        </a:spcBef>
                        <a:defRPr sz="1600">
                          <a:solidFill>
                            <a:schemeClr val="accent2"/>
                          </a:solidFill>
                          <a:latin typeface="Arial" panose="020B0604020202020204" pitchFamily="34" charset="0"/>
                          <a:ea typeface="MS PGothic" panose="020B0600070205080204" charset="-128"/>
                        </a:defRPr>
                      </a:lvl3pPr>
                      <a:lvl4pPr>
                        <a:spcBef>
                          <a:spcPts val="450"/>
                        </a:spcBef>
                        <a:defRPr sz="1600">
                          <a:solidFill>
                            <a:schemeClr val="accent2"/>
                          </a:solidFill>
                          <a:latin typeface="Arial" panose="020B0604020202020204" pitchFamily="34" charset="0"/>
                          <a:ea typeface="MS PGothic" panose="020B0600070205080204" charset="-128"/>
                        </a:defRPr>
                      </a:lvl4pPr>
                      <a:lvl5pPr>
                        <a:spcBef>
                          <a:spcPts val="450"/>
                        </a:spcBef>
                        <a:defRPr sz="1600">
                          <a:solidFill>
                            <a:schemeClr val="accent2"/>
                          </a:solidFill>
                          <a:latin typeface="Arial" panose="020B0604020202020204" pitchFamily="34" charset="0"/>
                          <a:ea typeface="MS PGothic" panose="020B0600070205080204" charset="-128"/>
                        </a:defRPr>
                      </a:lvl5pPr>
                      <a:lvl6pPr marL="4572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6pPr>
                      <a:lvl7pPr marL="9144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7pPr>
                      <a:lvl8pPr marL="13716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8pPr>
                      <a:lvl9pPr marL="1828800" eaLnBrk="0" fontAlgn="base" hangingPunct="0">
                        <a:lnSpc>
                          <a:spcPct val="93000"/>
                        </a:lnSpc>
                        <a:spcBef>
                          <a:spcPts val="450"/>
                        </a:spcBef>
                        <a:spcAft>
                          <a:spcPct val="0"/>
                        </a:spcAft>
                        <a:defRPr sz="1600">
                          <a:solidFill>
                            <a:schemeClr val="accent2"/>
                          </a:solidFill>
                          <a:latin typeface="Arial" panose="020B0604020202020204" pitchFamily="34" charset="0"/>
                          <a:ea typeface="MS PGothic" panose="020B0600070205080204" charset="-128"/>
                        </a:defRPr>
                      </a:lvl9pPr>
                    </a:lstStyle>
                    <a:p>
                      <a:pPr marL="0" marR="0" lvl="0" indent="0" algn="l" defTabSz="457200" rtl="0" eaLnBrk="1" fontAlgn="base" latinLnBrk="0" hangingPunct="1">
                        <a:lnSpc>
                          <a:spcPct val="100000"/>
                        </a:lnSpc>
                        <a:spcBef>
                          <a:spcPct val="0"/>
                        </a:spcBef>
                        <a:spcAft>
                          <a:spcPct val="0"/>
                        </a:spcAft>
                        <a:buClrTx/>
                        <a:buSzTx/>
                        <a:buFontTx/>
                        <a:buNone/>
                      </a:pPr>
                      <a:r>
                        <a:rPr kumimoji="0" lang="en-US" altLang="en-US" sz="1800" b="0" i="0" u="none" strike="noStrike" cap="none" normalizeH="0" baseline="0" dirty="0">
                          <a:ln>
                            <a:noFill/>
                          </a:ln>
                          <a:solidFill>
                            <a:srgbClr val="000000"/>
                          </a:solidFill>
                          <a:effectLst/>
                          <a:latin typeface="Arial" panose="020B0604020202020204" pitchFamily="34" charset="0"/>
                          <a:ea typeface="MS PGothic" panose="020B0600070205080204" charset="-128"/>
                        </a:rPr>
                        <a:t>O(1)</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8E8F3"/>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778352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a:t>
            </a:r>
          </a:p>
        </p:txBody>
      </p:sp>
      <p:sp>
        <p:nvSpPr>
          <p:cNvPr id="3" name="Content Placeholder 2"/>
          <p:cNvSpPr>
            <a:spLocks noGrp="1"/>
          </p:cNvSpPr>
          <p:nvPr>
            <p:ph idx="1"/>
          </p:nvPr>
        </p:nvSpPr>
        <p:spPr/>
        <p:txBody>
          <a:bodyPr/>
          <a:lstStyle/>
          <a:p>
            <a:r>
              <a:rPr lang="en-IN" dirty="0"/>
              <a:t>A queue in which we are able to </a:t>
            </a:r>
            <a:r>
              <a:rPr lang="en-IN" b="1" dirty="0">
                <a:solidFill>
                  <a:srgbClr val="C00000"/>
                </a:solidFill>
              </a:rPr>
              <a:t>insert &amp; remove items</a:t>
            </a:r>
            <a:r>
              <a:rPr lang="en-IN" b="1" dirty="0">
                <a:solidFill>
                  <a:srgbClr val="FF0000"/>
                </a:solidFill>
              </a:rPr>
              <a:t> </a:t>
            </a:r>
            <a:r>
              <a:rPr lang="en-IN" dirty="0"/>
              <a:t>from </a:t>
            </a:r>
            <a:r>
              <a:rPr lang="en-IN" b="1" dirty="0">
                <a:solidFill>
                  <a:srgbClr val="C00000"/>
                </a:solidFill>
              </a:rPr>
              <a:t>any position based on </a:t>
            </a:r>
            <a:r>
              <a:rPr lang="en-IN" dirty="0"/>
              <a:t>some property (such as </a:t>
            </a:r>
            <a:r>
              <a:rPr lang="en-IN" b="1" dirty="0">
                <a:solidFill>
                  <a:srgbClr val="C00000"/>
                </a:solidFill>
              </a:rPr>
              <a:t>priority</a:t>
            </a:r>
            <a:r>
              <a:rPr lang="en-IN" dirty="0">
                <a:solidFill>
                  <a:srgbClr val="FF0000"/>
                </a:solidFill>
              </a:rPr>
              <a:t> </a:t>
            </a:r>
            <a:r>
              <a:rPr lang="en-IN" dirty="0"/>
              <a:t>of the task to be processed) is often referred as </a:t>
            </a:r>
            <a:r>
              <a:rPr lang="en-IN" b="1" dirty="0">
                <a:solidFill>
                  <a:srgbClr val="C00000"/>
                </a:solidFill>
              </a:rPr>
              <a:t>priority queue</a:t>
            </a:r>
            <a:r>
              <a:rPr lang="en-IN" dirty="0"/>
              <a:t>.</a:t>
            </a:r>
          </a:p>
          <a:p>
            <a:r>
              <a:rPr lang="en-IN" dirty="0"/>
              <a:t>Below fig. represent a priority queue of jobs waiting to use a computer.</a:t>
            </a:r>
          </a:p>
          <a:p>
            <a:r>
              <a:rPr lang="en-IN" dirty="0"/>
              <a:t>Priorities are attached with each Job</a:t>
            </a:r>
          </a:p>
          <a:p>
            <a:pPr lvl="1">
              <a:buClr>
                <a:schemeClr val="tx1"/>
              </a:buClr>
            </a:pPr>
            <a:r>
              <a:rPr lang="en-IN" b="1" dirty="0">
                <a:solidFill>
                  <a:srgbClr val="C00000"/>
                </a:solidFill>
              </a:rPr>
              <a:t>Priority 1</a:t>
            </a:r>
            <a:r>
              <a:rPr lang="en-IN" dirty="0">
                <a:solidFill>
                  <a:srgbClr val="C00000"/>
                </a:solidFill>
              </a:rPr>
              <a:t> </a:t>
            </a:r>
            <a:r>
              <a:rPr lang="en-IN" dirty="0"/>
              <a:t>indicates </a:t>
            </a:r>
            <a:r>
              <a:rPr lang="en-IN" b="1" dirty="0">
                <a:solidFill>
                  <a:srgbClr val="C00000"/>
                </a:solidFill>
              </a:rPr>
              <a:t>Real Time Job</a:t>
            </a:r>
          </a:p>
          <a:p>
            <a:pPr lvl="1">
              <a:buClr>
                <a:schemeClr val="tx1"/>
              </a:buClr>
            </a:pPr>
            <a:r>
              <a:rPr lang="en-IN" b="1" dirty="0">
                <a:solidFill>
                  <a:srgbClr val="C00000"/>
                </a:solidFill>
              </a:rPr>
              <a:t>Priority 2</a:t>
            </a:r>
            <a:r>
              <a:rPr lang="en-IN" dirty="0"/>
              <a:t> indicates </a:t>
            </a:r>
            <a:r>
              <a:rPr lang="en-IN" b="1" dirty="0">
                <a:solidFill>
                  <a:srgbClr val="C00000"/>
                </a:solidFill>
              </a:rPr>
              <a:t>Online Job</a:t>
            </a:r>
          </a:p>
          <a:p>
            <a:pPr lvl="1">
              <a:buClr>
                <a:schemeClr val="tx1"/>
              </a:buClr>
            </a:pPr>
            <a:r>
              <a:rPr lang="en-IN" b="1" dirty="0">
                <a:solidFill>
                  <a:srgbClr val="C00000"/>
                </a:solidFill>
              </a:rPr>
              <a:t>Priority 3</a:t>
            </a:r>
            <a:r>
              <a:rPr lang="en-IN" dirty="0"/>
              <a:t> indicates </a:t>
            </a:r>
            <a:r>
              <a:rPr lang="en-IN" b="1" dirty="0">
                <a:solidFill>
                  <a:srgbClr val="C00000"/>
                </a:solidFill>
              </a:rPr>
              <a:t>Batch Processing Job</a:t>
            </a:r>
          </a:p>
          <a:p>
            <a:r>
              <a:rPr lang="en-IN" dirty="0"/>
              <a:t>Therefore if a job is initiated with priority i, it is inserted immediately at the end of list of other jobs with priorities i. </a:t>
            </a:r>
          </a:p>
          <a:p>
            <a:r>
              <a:rPr lang="en-IN" dirty="0"/>
              <a:t>Here jobs are always removed from the front of queue.</a:t>
            </a:r>
          </a:p>
          <a:p>
            <a:pPr lvl="1"/>
            <a:endParaRPr lang="en-US" dirty="0"/>
          </a:p>
        </p:txBody>
      </p:sp>
    </p:spTree>
    <p:extLst>
      <p:ext uri="{BB962C8B-B14F-4D97-AF65-F5344CB8AC3E}">
        <p14:creationId xmlns:p14="http://schemas.microsoft.com/office/powerpoint/2010/main" val="11033230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Priority Queue </a:t>
            </a:r>
            <a:r>
              <a:rPr lang="en-US" dirty="0" err="1"/>
              <a:t>Cont</a:t>
            </a:r>
            <a:r>
              <a:rPr lang="en-US" dirty="0"/>
              <a:t>…</a:t>
            </a:r>
          </a:p>
        </p:txBody>
      </p:sp>
      <p:graphicFrame>
        <p:nvGraphicFramePr>
          <p:cNvPr id="4" name="Table 3"/>
          <p:cNvGraphicFramePr>
            <a:graphicFrameLocks noGrp="1"/>
          </p:cNvGraphicFramePr>
          <p:nvPr>
            <p:extLst>
              <p:ext uri="{D42A27DB-BD31-4B8C-83A1-F6EECF244321}">
                <p14:modId xmlns:p14="http://schemas.microsoft.com/office/powerpoint/2010/main" val="2493539932"/>
              </p:ext>
            </p:extLst>
          </p:nvPr>
        </p:nvGraphicFramePr>
        <p:xfrm>
          <a:off x="2514596" y="950793"/>
          <a:ext cx="7924804" cy="750332"/>
        </p:xfrm>
        <a:graphic>
          <a:graphicData uri="http://schemas.openxmlformats.org/drawingml/2006/table">
            <a:tbl>
              <a:tblPr firstRow="1" firstCol="1" bandRow="1">
                <a:tableStyleId>{3B4B98B0-60AC-42C2-AFA5-B58CD77FA1E5}</a:tableStyleId>
              </a:tblPr>
              <a:tblGrid>
                <a:gridCol w="573922">
                  <a:extLst>
                    <a:ext uri="{9D8B030D-6E8A-4147-A177-3AD203B41FA5}">
                      <a16:colId xmlns:a16="http://schemas.microsoft.com/office/drawing/2014/main" val="20000"/>
                    </a:ext>
                  </a:extLst>
                </a:gridCol>
                <a:gridCol w="573922">
                  <a:extLst>
                    <a:ext uri="{9D8B030D-6E8A-4147-A177-3AD203B41FA5}">
                      <a16:colId xmlns:a16="http://schemas.microsoft.com/office/drawing/2014/main" val="20001"/>
                    </a:ext>
                  </a:extLst>
                </a:gridCol>
                <a:gridCol w="531657">
                  <a:extLst>
                    <a:ext uri="{9D8B030D-6E8A-4147-A177-3AD203B41FA5}">
                      <a16:colId xmlns:a16="http://schemas.microsoft.com/office/drawing/2014/main" val="20002"/>
                    </a:ext>
                  </a:extLst>
                </a:gridCol>
                <a:gridCol w="657342">
                  <a:extLst>
                    <a:ext uri="{9D8B030D-6E8A-4147-A177-3AD203B41FA5}">
                      <a16:colId xmlns:a16="http://schemas.microsoft.com/office/drawing/2014/main" val="20003"/>
                    </a:ext>
                  </a:extLst>
                </a:gridCol>
                <a:gridCol w="603954">
                  <a:extLst>
                    <a:ext uri="{9D8B030D-6E8A-4147-A177-3AD203B41FA5}">
                      <a16:colId xmlns:a16="http://schemas.microsoft.com/office/drawing/2014/main" val="20004"/>
                    </a:ext>
                  </a:extLst>
                </a:gridCol>
                <a:gridCol w="603954">
                  <a:extLst>
                    <a:ext uri="{9D8B030D-6E8A-4147-A177-3AD203B41FA5}">
                      <a16:colId xmlns:a16="http://schemas.microsoft.com/office/drawing/2014/main" val="20005"/>
                    </a:ext>
                  </a:extLst>
                </a:gridCol>
                <a:gridCol w="531657">
                  <a:extLst>
                    <a:ext uri="{9D8B030D-6E8A-4147-A177-3AD203B41FA5}">
                      <a16:colId xmlns:a16="http://schemas.microsoft.com/office/drawing/2014/main" val="20006"/>
                    </a:ext>
                  </a:extLst>
                </a:gridCol>
                <a:gridCol w="688485">
                  <a:extLst>
                    <a:ext uri="{9D8B030D-6E8A-4147-A177-3AD203B41FA5}">
                      <a16:colId xmlns:a16="http://schemas.microsoft.com/office/drawing/2014/main" val="20007"/>
                    </a:ext>
                  </a:extLst>
                </a:gridCol>
                <a:gridCol w="828629">
                  <a:extLst>
                    <a:ext uri="{9D8B030D-6E8A-4147-A177-3AD203B41FA5}">
                      <a16:colId xmlns:a16="http://schemas.microsoft.com/office/drawing/2014/main" val="20008"/>
                    </a:ext>
                  </a:extLst>
                </a:gridCol>
                <a:gridCol w="575035">
                  <a:extLst>
                    <a:ext uri="{9D8B030D-6E8A-4147-A177-3AD203B41FA5}">
                      <a16:colId xmlns:a16="http://schemas.microsoft.com/office/drawing/2014/main" val="20009"/>
                    </a:ext>
                  </a:extLst>
                </a:gridCol>
                <a:gridCol w="531657">
                  <a:extLst>
                    <a:ext uri="{9D8B030D-6E8A-4147-A177-3AD203B41FA5}">
                      <a16:colId xmlns:a16="http://schemas.microsoft.com/office/drawing/2014/main" val="20010"/>
                    </a:ext>
                  </a:extLst>
                </a:gridCol>
                <a:gridCol w="692933">
                  <a:extLst>
                    <a:ext uri="{9D8B030D-6E8A-4147-A177-3AD203B41FA5}">
                      <a16:colId xmlns:a16="http://schemas.microsoft.com/office/drawing/2014/main" val="20011"/>
                    </a:ext>
                  </a:extLst>
                </a:gridCol>
                <a:gridCol w="531657">
                  <a:extLst>
                    <a:ext uri="{9D8B030D-6E8A-4147-A177-3AD203B41FA5}">
                      <a16:colId xmlns:a16="http://schemas.microsoft.com/office/drawing/2014/main" val="20012"/>
                    </a:ext>
                  </a:extLst>
                </a:gridCol>
              </a:tblGrid>
              <a:tr h="375166">
                <a:tc>
                  <a:txBody>
                    <a:bodyPr/>
                    <a:lstStyle/>
                    <a:p>
                      <a:pPr algn="ctr">
                        <a:lnSpc>
                          <a:spcPct val="115000"/>
                        </a:lnSpc>
                        <a:spcAft>
                          <a:spcPts val="0"/>
                        </a:spcAft>
                      </a:pPr>
                      <a:r>
                        <a:rPr lang="en-US" sz="1900" dirty="0">
                          <a:effectLst/>
                        </a:rPr>
                        <a:t>R</a:t>
                      </a:r>
                      <a:r>
                        <a:rPr lang="en-US" sz="1900" baseline="-25000" dirty="0">
                          <a:effectLst/>
                        </a:rPr>
                        <a:t>1</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R</a:t>
                      </a:r>
                      <a:r>
                        <a:rPr lang="en-US" sz="1900" baseline="-25000" dirty="0">
                          <a:effectLst/>
                        </a:rPr>
                        <a:t>2</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R</a:t>
                      </a:r>
                      <a:r>
                        <a:rPr lang="en-US" sz="1900" baseline="-25000" dirty="0">
                          <a:effectLst/>
                        </a:rPr>
                        <a:t>i-1</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dirty="0">
                          <a:effectLst/>
                        </a:rPr>
                        <a:t>O</a:t>
                      </a:r>
                      <a:r>
                        <a:rPr lang="en-US" sz="1900" baseline="-25000" dirty="0">
                          <a:effectLst/>
                        </a:rPr>
                        <a:t>1</a:t>
                      </a:r>
                      <a:endParaRPr lang="en-US" sz="1900" dirty="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tc>
                  <a:txBody>
                    <a:bodyPr/>
                    <a:lstStyle/>
                    <a:p>
                      <a:pPr algn="ctr">
                        <a:lnSpc>
                          <a:spcPct val="115000"/>
                        </a:lnSpc>
                        <a:spcAft>
                          <a:spcPts val="0"/>
                        </a:spcAft>
                      </a:pPr>
                      <a:r>
                        <a:rPr lang="en-US" sz="1900" dirty="0">
                          <a:effectLst/>
                        </a:rPr>
                        <a:t>O</a:t>
                      </a:r>
                      <a:r>
                        <a:rPr lang="en-US" sz="1900" baseline="-25000" dirty="0">
                          <a:effectLst/>
                        </a:rPr>
                        <a:t>2</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O</a:t>
                      </a:r>
                      <a:r>
                        <a:rPr lang="en-US" sz="1900" baseline="-25000" dirty="0">
                          <a:effectLst/>
                        </a:rPr>
                        <a:t>j-1</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a:effectLst/>
                        </a:rPr>
                        <a:t>B</a:t>
                      </a:r>
                      <a:r>
                        <a:rPr lang="en-US" sz="1900" baseline="-25000">
                          <a:effectLst/>
                        </a:rPr>
                        <a:t>1</a:t>
                      </a:r>
                      <a:endParaRPr lang="en-US" sz="190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tc>
                  <a:txBody>
                    <a:bodyPr/>
                    <a:lstStyle/>
                    <a:p>
                      <a:pPr algn="ctr">
                        <a:lnSpc>
                          <a:spcPct val="115000"/>
                        </a:lnSpc>
                        <a:spcAft>
                          <a:spcPts val="0"/>
                        </a:spcAft>
                      </a:pPr>
                      <a:r>
                        <a:rPr lang="en-US" sz="1900">
                          <a:effectLst/>
                        </a:rPr>
                        <a:t>B</a:t>
                      </a:r>
                      <a:r>
                        <a:rPr lang="en-US" sz="1900" baseline="-25000">
                          <a:effectLst/>
                        </a:rPr>
                        <a:t>2</a:t>
                      </a:r>
                      <a:endParaRPr lang="en-US" sz="1900">
                        <a:effectLst/>
                        <a:latin typeface="Calibri"/>
                        <a:ea typeface="Calibri"/>
                        <a:cs typeface="Shruti"/>
                      </a:endParaRPr>
                    </a:p>
                  </a:txBody>
                  <a:tcPr marL="64906" marR="64906" marT="0" marB="0"/>
                </a:tc>
                <a:tc>
                  <a:txBody>
                    <a:bodyPr/>
                    <a:lstStyle/>
                    <a:p>
                      <a:pPr algn="ctr">
                        <a:lnSpc>
                          <a:spcPct val="115000"/>
                        </a:lnSpc>
                        <a:spcAft>
                          <a:spcPts val="0"/>
                        </a:spcAft>
                      </a:pPr>
                      <a:r>
                        <a:rPr lang="en-US" sz="1900">
                          <a:effectLst/>
                        </a:rPr>
                        <a:t>…</a:t>
                      </a:r>
                      <a:endParaRPr lang="en-US" sz="190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B</a:t>
                      </a:r>
                      <a:r>
                        <a:rPr lang="en-US" sz="1900" baseline="-25000" dirty="0">
                          <a:effectLst/>
                        </a:rPr>
                        <a:t>k-1</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a:effectLst/>
                        </a:rPr>
                        <a:t>…</a:t>
                      </a:r>
                      <a:endParaRPr lang="en-US" sz="190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0"/>
                  </a:ext>
                </a:extLst>
              </a:tr>
              <a:tr h="375166">
                <a:tc>
                  <a:txBody>
                    <a:bodyPr/>
                    <a:lstStyle/>
                    <a:p>
                      <a:pPr algn="ctr">
                        <a:lnSpc>
                          <a:spcPct val="115000"/>
                        </a:lnSpc>
                        <a:spcAft>
                          <a:spcPts val="0"/>
                        </a:spcAft>
                      </a:pPr>
                      <a:r>
                        <a:rPr lang="en-US" sz="1900" dirty="0">
                          <a:effectLst/>
                        </a:rPr>
                        <a:t>1</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1</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1</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a:effectLst/>
                        </a:rPr>
                        <a:t>2</a:t>
                      </a:r>
                      <a:endParaRPr lang="en-US" sz="190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tc>
                  <a:txBody>
                    <a:bodyPr/>
                    <a:lstStyle/>
                    <a:p>
                      <a:pPr algn="ctr">
                        <a:lnSpc>
                          <a:spcPct val="115000"/>
                        </a:lnSpc>
                        <a:spcAft>
                          <a:spcPts val="0"/>
                        </a:spcAft>
                      </a:pPr>
                      <a:r>
                        <a:rPr lang="en-US" sz="1900">
                          <a:effectLst/>
                        </a:rPr>
                        <a:t>2</a:t>
                      </a:r>
                      <a:endParaRPr lang="en-US" sz="190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2</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dirty="0">
                          <a:effectLst/>
                        </a:rPr>
                        <a:t>3</a:t>
                      </a:r>
                      <a:endParaRPr lang="en-US" sz="1900" dirty="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tc>
                  <a:txBody>
                    <a:bodyPr/>
                    <a:lstStyle/>
                    <a:p>
                      <a:pPr algn="ctr">
                        <a:lnSpc>
                          <a:spcPct val="115000"/>
                        </a:lnSpc>
                        <a:spcAft>
                          <a:spcPts val="0"/>
                        </a:spcAft>
                      </a:pPr>
                      <a:r>
                        <a:rPr lang="en-US" sz="1900" dirty="0">
                          <a:effectLst/>
                        </a:rPr>
                        <a:t>3</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tc>
                <a:tc>
                  <a:txBody>
                    <a:bodyPr/>
                    <a:lstStyle/>
                    <a:p>
                      <a:pPr algn="ctr">
                        <a:lnSpc>
                          <a:spcPct val="115000"/>
                        </a:lnSpc>
                        <a:spcAft>
                          <a:spcPts val="0"/>
                        </a:spcAft>
                      </a:pPr>
                      <a:r>
                        <a:rPr lang="en-US" sz="1900" dirty="0">
                          <a:effectLst/>
                        </a:rPr>
                        <a:t>3</a:t>
                      </a:r>
                      <a:endParaRPr lang="en-US" sz="1900" dirty="0">
                        <a:effectLst/>
                        <a:latin typeface="Calibri"/>
                        <a:ea typeface="Calibri"/>
                        <a:cs typeface="Shruti"/>
                      </a:endParaRPr>
                    </a:p>
                  </a:txBody>
                  <a:tcPr marL="64906" marR="64906" marT="0" marB="0">
                    <a:lnR w="12700" cap="flat" cmpd="sng" algn="ctr">
                      <a:solidFill>
                        <a:schemeClr val="tx1"/>
                      </a:solidFill>
                      <a:prstDash val="solid"/>
                      <a:round/>
                      <a:headEnd type="none" w="med" len="med"/>
                      <a:tailEnd type="none" w="med" len="med"/>
                    </a:lnR>
                  </a:tcPr>
                </a:tc>
                <a:tc>
                  <a:txBody>
                    <a:bodyPr/>
                    <a:lstStyle/>
                    <a:p>
                      <a:pPr algn="ctr">
                        <a:lnSpc>
                          <a:spcPct val="115000"/>
                        </a:lnSpc>
                        <a:spcAft>
                          <a:spcPts val="0"/>
                        </a:spcAft>
                      </a:pPr>
                      <a:r>
                        <a:rPr lang="en-US" sz="1900" dirty="0">
                          <a:effectLst/>
                        </a:rPr>
                        <a:t>…</a:t>
                      </a:r>
                      <a:endParaRPr lang="en-US" sz="1900" dirty="0">
                        <a:effectLst/>
                        <a:latin typeface="Calibri"/>
                        <a:ea typeface="Calibri"/>
                        <a:cs typeface="Shruti"/>
                      </a:endParaRPr>
                    </a:p>
                  </a:txBody>
                  <a:tcPr marL="64906" marR="64906" marT="0" marB="0">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bl>
          </a:graphicData>
        </a:graphic>
      </p:graphicFrame>
      <p:sp>
        <p:nvSpPr>
          <p:cNvPr id="5" name="TextBox 4"/>
          <p:cNvSpPr txBox="1"/>
          <p:nvPr/>
        </p:nvSpPr>
        <p:spPr>
          <a:xfrm>
            <a:off x="1578578" y="1331793"/>
            <a:ext cx="896399" cy="369332"/>
          </a:xfrm>
          <a:prstGeom prst="rect">
            <a:avLst/>
          </a:prstGeom>
          <a:noFill/>
        </p:spPr>
        <p:txBody>
          <a:bodyPr wrap="none" rtlCol="0">
            <a:spAutoFit/>
          </a:bodyPr>
          <a:lstStyle/>
          <a:p>
            <a:r>
              <a:rPr lang="en-IN" b="1" dirty="0">
                <a:solidFill>
                  <a:srgbClr val="C00000"/>
                </a:solidFill>
              </a:rPr>
              <a:t>Priority</a:t>
            </a:r>
            <a:endParaRPr lang="en-US" b="1" dirty="0">
              <a:solidFill>
                <a:srgbClr val="C00000"/>
              </a:solidFill>
            </a:endParaRPr>
          </a:p>
        </p:txBody>
      </p:sp>
      <p:sp>
        <p:nvSpPr>
          <p:cNvPr id="6" name="TextBox 5"/>
          <p:cNvSpPr txBox="1"/>
          <p:nvPr/>
        </p:nvSpPr>
        <p:spPr>
          <a:xfrm>
            <a:off x="1600201" y="935553"/>
            <a:ext cx="633507" cy="369332"/>
          </a:xfrm>
          <a:prstGeom prst="rect">
            <a:avLst/>
          </a:prstGeom>
          <a:noFill/>
        </p:spPr>
        <p:txBody>
          <a:bodyPr wrap="none" rtlCol="0">
            <a:spAutoFit/>
          </a:bodyPr>
          <a:lstStyle/>
          <a:p>
            <a:r>
              <a:rPr lang="en-IN" b="1" dirty="0">
                <a:solidFill>
                  <a:srgbClr val="C00000"/>
                </a:solidFill>
              </a:rPr>
              <a:t>Task</a:t>
            </a:r>
            <a:endParaRPr lang="en-US" b="1" dirty="0">
              <a:solidFill>
                <a:srgbClr val="C00000"/>
              </a:solidFill>
            </a:endParaRPr>
          </a:p>
        </p:txBody>
      </p:sp>
      <p:sp>
        <p:nvSpPr>
          <p:cNvPr id="7" name="TextBox 6"/>
          <p:cNvSpPr txBox="1"/>
          <p:nvPr/>
        </p:nvSpPr>
        <p:spPr>
          <a:xfrm>
            <a:off x="4371418" y="2169993"/>
            <a:ext cx="352982" cy="369332"/>
          </a:xfrm>
          <a:prstGeom prst="rect">
            <a:avLst/>
          </a:prstGeom>
          <a:noFill/>
        </p:spPr>
        <p:txBody>
          <a:bodyPr wrap="none" rtlCol="0">
            <a:spAutoFit/>
          </a:bodyPr>
          <a:lstStyle/>
          <a:p>
            <a:r>
              <a:rPr lang="en-IN" b="1" dirty="0" err="1">
                <a:solidFill>
                  <a:srgbClr val="C00000"/>
                </a:solidFill>
              </a:rPr>
              <a:t>R</a:t>
            </a:r>
            <a:r>
              <a:rPr lang="en-IN" b="1" baseline="-25000" dirty="0" err="1">
                <a:solidFill>
                  <a:srgbClr val="C00000"/>
                </a:solidFill>
              </a:rPr>
              <a:t>i</a:t>
            </a:r>
            <a:endParaRPr lang="en-US" b="1" baseline="-25000" dirty="0">
              <a:solidFill>
                <a:srgbClr val="C00000"/>
              </a:solidFill>
            </a:endParaRPr>
          </a:p>
        </p:txBody>
      </p:sp>
      <p:cxnSp>
        <p:nvCxnSpPr>
          <p:cNvPr id="9" name="Straight Arrow Connector 8"/>
          <p:cNvCxnSpPr>
            <a:stCxn id="7" idx="0"/>
          </p:cNvCxnSpPr>
          <p:nvPr/>
        </p:nvCxnSpPr>
        <p:spPr>
          <a:xfrm flipV="1">
            <a:off x="4547909" y="1701125"/>
            <a:ext cx="0" cy="46886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0" name="TextBox 9"/>
          <p:cNvSpPr txBox="1"/>
          <p:nvPr/>
        </p:nvSpPr>
        <p:spPr>
          <a:xfrm>
            <a:off x="6809818" y="2181661"/>
            <a:ext cx="362600" cy="369332"/>
          </a:xfrm>
          <a:prstGeom prst="rect">
            <a:avLst/>
          </a:prstGeom>
          <a:noFill/>
        </p:spPr>
        <p:txBody>
          <a:bodyPr wrap="none" rtlCol="0">
            <a:spAutoFit/>
          </a:bodyPr>
          <a:lstStyle/>
          <a:p>
            <a:r>
              <a:rPr lang="en-IN" b="1" dirty="0" err="1">
                <a:solidFill>
                  <a:srgbClr val="C00000"/>
                </a:solidFill>
              </a:rPr>
              <a:t>O</a:t>
            </a:r>
            <a:r>
              <a:rPr lang="en-IN" b="1" baseline="-25000" dirty="0" err="1">
                <a:solidFill>
                  <a:srgbClr val="C00000"/>
                </a:solidFill>
              </a:rPr>
              <a:t>j</a:t>
            </a:r>
            <a:endParaRPr lang="en-US" b="1" baseline="-25000" dirty="0">
              <a:solidFill>
                <a:srgbClr val="C00000"/>
              </a:solidFill>
            </a:endParaRPr>
          </a:p>
        </p:txBody>
      </p:sp>
      <p:sp>
        <p:nvSpPr>
          <p:cNvPr id="12" name="TextBox 11"/>
          <p:cNvSpPr txBox="1"/>
          <p:nvPr/>
        </p:nvSpPr>
        <p:spPr>
          <a:xfrm>
            <a:off x="9449568" y="2181661"/>
            <a:ext cx="388248" cy="369332"/>
          </a:xfrm>
          <a:prstGeom prst="rect">
            <a:avLst/>
          </a:prstGeom>
          <a:noFill/>
        </p:spPr>
        <p:txBody>
          <a:bodyPr wrap="none" rtlCol="0">
            <a:spAutoFit/>
          </a:bodyPr>
          <a:lstStyle/>
          <a:p>
            <a:r>
              <a:rPr lang="en-IN" b="1" dirty="0" err="1">
                <a:solidFill>
                  <a:srgbClr val="C00000"/>
                </a:solidFill>
              </a:rPr>
              <a:t>B</a:t>
            </a:r>
            <a:r>
              <a:rPr lang="en-IN" b="1" baseline="-25000" dirty="0" err="1">
                <a:solidFill>
                  <a:srgbClr val="C00000"/>
                </a:solidFill>
              </a:rPr>
              <a:t>k</a:t>
            </a:r>
            <a:endParaRPr lang="en-US" b="1" baseline="-25000" dirty="0">
              <a:solidFill>
                <a:srgbClr val="C00000"/>
              </a:solidFill>
            </a:endParaRPr>
          </a:p>
        </p:txBody>
      </p:sp>
      <p:cxnSp>
        <p:nvCxnSpPr>
          <p:cNvPr id="15" name="Straight Arrow Connector 14"/>
          <p:cNvCxnSpPr>
            <a:stCxn id="10" idx="0"/>
          </p:cNvCxnSpPr>
          <p:nvPr/>
        </p:nvCxnSpPr>
        <p:spPr>
          <a:xfrm flipV="1">
            <a:off x="6991118" y="1701125"/>
            <a:ext cx="8816" cy="4805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 name="Straight Arrow Connector 16"/>
          <p:cNvCxnSpPr>
            <a:stCxn id="12" idx="0"/>
          </p:cNvCxnSpPr>
          <p:nvPr/>
        </p:nvCxnSpPr>
        <p:spPr>
          <a:xfrm flipV="1">
            <a:off x="9643692" y="1701125"/>
            <a:ext cx="0" cy="4805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8" name="TextBox 17"/>
          <p:cNvSpPr txBox="1"/>
          <p:nvPr/>
        </p:nvSpPr>
        <p:spPr>
          <a:xfrm>
            <a:off x="2416948" y="2627193"/>
            <a:ext cx="7358104" cy="369332"/>
          </a:xfrm>
          <a:prstGeom prst="rect">
            <a:avLst/>
          </a:prstGeom>
          <a:noFill/>
        </p:spPr>
        <p:txBody>
          <a:bodyPr wrap="none" rtlCol="0">
            <a:spAutoFit/>
          </a:bodyPr>
          <a:lstStyle/>
          <a:p>
            <a:pPr algn="ctr"/>
            <a:r>
              <a:rPr lang="en-IN" b="1" dirty="0"/>
              <a:t>Priority Queue viewed as a single queue with insertion allowed at any position</a:t>
            </a:r>
            <a:endParaRPr lang="en-US" b="1" dirty="0"/>
          </a:p>
        </p:txBody>
      </p:sp>
      <p:graphicFrame>
        <p:nvGraphicFramePr>
          <p:cNvPr id="19" name="Table 18"/>
          <p:cNvGraphicFramePr>
            <a:graphicFrameLocks noGrp="1"/>
          </p:cNvGraphicFramePr>
          <p:nvPr>
            <p:extLst>
              <p:ext uri="{D42A27DB-BD31-4B8C-83A1-F6EECF244321}">
                <p14:modId xmlns:p14="http://schemas.microsoft.com/office/powerpoint/2010/main" val="3860557681"/>
              </p:ext>
            </p:extLst>
          </p:nvPr>
        </p:nvGraphicFramePr>
        <p:xfrm>
          <a:off x="2971800" y="3514161"/>
          <a:ext cx="2336843" cy="375166"/>
        </p:xfrm>
        <a:graphic>
          <a:graphicData uri="http://schemas.openxmlformats.org/drawingml/2006/table">
            <a:tbl>
              <a:tblPr firstRow="1" firstCol="1" bandRow="1">
                <a:tableStyleId>{BC89EF96-8CEA-46FF-86C4-4CE0E7609802}</a:tableStyleId>
              </a:tblPr>
              <a:tblGrid>
                <a:gridCol w="573922">
                  <a:extLst>
                    <a:ext uri="{9D8B030D-6E8A-4147-A177-3AD203B41FA5}">
                      <a16:colId xmlns:a16="http://schemas.microsoft.com/office/drawing/2014/main" val="20000"/>
                    </a:ext>
                  </a:extLst>
                </a:gridCol>
                <a:gridCol w="573922">
                  <a:extLst>
                    <a:ext uri="{9D8B030D-6E8A-4147-A177-3AD203B41FA5}">
                      <a16:colId xmlns:a16="http://schemas.microsoft.com/office/drawing/2014/main" val="20001"/>
                    </a:ext>
                  </a:extLst>
                </a:gridCol>
                <a:gridCol w="531657">
                  <a:extLst>
                    <a:ext uri="{9D8B030D-6E8A-4147-A177-3AD203B41FA5}">
                      <a16:colId xmlns:a16="http://schemas.microsoft.com/office/drawing/2014/main" val="20002"/>
                    </a:ext>
                  </a:extLst>
                </a:gridCol>
                <a:gridCol w="657342">
                  <a:extLst>
                    <a:ext uri="{9D8B030D-6E8A-4147-A177-3AD203B41FA5}">
                      <a16:colId xmlns:a16="http://schemas.microsoft.com/office/drawing/2014/main" val="20003"/>
                    </a:ext>
                  </a:extLst>
                </a:gridCol>
              </a:tblGrid>
              <a:tr h="375166">
                <a:tc>
                  <a:txBody>
                    <a:bodyPr/>
                    <a:lstStyle/>
                    <a:p>
                      <a:pPr algn="ctr">
                        <a:lnSpc>
                          <a:spcPct val="115000"/>
                        </a:lnSpc>
                        <a:spcAft>
                          <a:spcPts val="0"/>
                        </a:spcAft>
                      </a:pPr>
                      <a:r>
                        <a:rPr lang="en-US" sz="2100" dirty="0">
                          <a:effectLst/>
                        </a:rPr>
                        <a:t>R</a:t>
                      </a:r>
                      <a:r>
                        <a:rPr lang="en-US" sz="2100" baseline="-25000" dirty="0">
                          <a:effectLst/>
                        </a:rPr>
                        <a:t>1</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R</a:t>
                      </a:r>
                      <a:r>
                        <a:rPr lang="en-US" sz="2100" baseline="-25000" dirty="0">
                          <a:effectLst/>
                        </a:rPr>
                        <a:t>2</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R</a:t>
                      </a:r>
                      <a:r>
                        <a:rPr lang="en-US" sz="2100" baseline="-25000" dirty="0">
                          <a:effectLst/>
                        </a:rPr>
                        <a:t>i-1</a:t>
                      </a:r>
                      <a:endParaRPr lang="en-US" sz="2100" dirty="0">
                        <a:effectLst/>
                        <a:latin typeface="Calibri"/>
                        <a:ea typeface="Calibri"/>
                        <a:cs typeface="Shruti"/>
                      </a:endParaRPr>
                    </a:p>
                  </a:txBody>
                  <a:tcPr marL="64906" marR="64906" marT="0" marB="0"/>
                </a:tc>
                <a:extLst>
                  <a:ext uri="{0D108BD9-81ED-4DB2-BD59-A6C34878D82A}">
                    <a16:rowId xmlns:a16="http://schemas.microsoft.com/office/drawing/2014/main" val="10000"/>
                  </a:ext>
                </a:extLst>
              </a:tr>
            </a:tbl>
          </a:graphicData>
        </a:graphic>
      </p:graphicFrame>
      <p:graphicFrame>
        <p:nvGraphicFramePr>
          <p:cNvPr id="20" name="Table 19"/>
          <p:cNvGraphicFramePr>
            <a:graphicFrameLocks noGrp="1"/>
          </p:cNvGraphicFramePr>
          <p:nvPr>
            <p:extLst>
              <p:ext uri="{D42A27DB-BD31-4B8C-83A1-F6EECF244321}">
                <p14:modId xmlns:p14="http://schemas.microsoft.com/office/powerpoint/2010/main" val="1526859453"/>
              </p:ext>
            </p:extLst>
          </p:nvPr>
        </p:nvGraphicFramePr>
        <p:xfrm>
          <a:off x="2971800" y="4074993"/>
          <a:ext cx="2350877" cy="375166"/>
        </p:xfrm>
        <a:graphic>
          <a:graphicData uri="http://schemas.openxmlformats.org/drawingml/2006/table">
            <a:tbl>
              <a:tblPr firstRow="1" firstCol="1" bandRow="1">
                <a:tableStyleId>{BC89EF96-8CEA-46FF-86C4-4CE0E7609802}</a:tableStyleId>
              </a:tblPr>
              <a:tblGrid>
                <a:gridCol w="584758">
                  <a:extLst>
                    <a:ext uri="{9D8B030D-6E8A-4147-A177-3AD203B41FA5}">
                      <a16:colId xmlns:a16="http://schemas.microsoft.com/office/drawing/2014/main" val="20000"/>
                    </a:ext>
                  </a:extLst>
                </a:gridCol>
                <a:gridCol w="584758">
                  <a:extLst>
                    <a:ext uri="{9D8B030D-6E8A-4147-A177-3AD203B41FA5}">
                      <a16:colId xmlns:a16="http://schemas.microsoft.com/office/drawing/2014/main" val="20001"/>
                    </a:ext>
                  </a:extLst>
                </a:gridCol>
                <a:gridCol w="514759">
                  <a:extLst>
                    <a:ext uri="{9D8B030D-6E8A-4147-A177-3AD203B41FA5}">
                      <a16:colId xmlns:a16="http://schemas.microsoft.com/office/drawing/2014/main" val="20002"/>
                    </a:ext>
                  </a:extLst>
                </a:gridCol>
                <a:gridCol w="666602">
                  <a:extLst>
                    <a:ext uri="{9D8B030D-6E8A-4147-A177-3AD203B41FA5}">
                      <a16:colId xmlns:a16="http://schemas.microsoft.com/office/drawing/2014/main" val="20003"/>
                    </a:ext>
                  </a:extLst>
                </a:gridCol>
              </a:tblGrid>
              <a:tr h="375166">
                <a:tc>
                  <a:txBody>
                    <a:bodyPr/>
                    <a:lstStyle/>
                    <a:p>
                      <a:pPr algn="ctr">
                        <a:lnSpc>
                          <a:spcPct val="115000"/>
                        </a:lnSpc>
                        <a:spcAft>
                          <a:spcPts val="0"/>
                        </a:spcAft>
                      </a:pPr>
                      <a:r>
                        <a:rPr lang="en-US" sz="2100" dirty="0">
                          <a:effectLst/>
                        </a:rPr>
                        <a:t>O</a:t>
                      </a:r>
                      <a:r>
                        <a:rPr lang="en-US" sz="2100" baseline="-25000" dirty="0">
                          <a:effectLst/>
                        </a:rPr>
                        <a:t>1</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O</a:t>
                      </a:r>
                      <a:r>
                        <a:rPr lang="en-US" sz="2100" baseline="-25000" dirty="0">
                          <a:effectLst/>
                        </a:rPr>
                        <a:t>2</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O</a:t>
                      </a:r>
                      <a:r>
                        <a:rPr lang="en-US" sz="2100" baseline="-25000" dirty="0">
                          <a:effectLst/>
                        </a:rPr>
                        <a:t>j-1</a:t>
                      </a:r>
                      <a:endParaRPr lang="en-US" sz="2100" dirty="0">
                        <a:effectLst/>
                        <a:latin typeface="Calibri"/>
                        <a:ea typeface="Calibri"/>
                        <a:cs typeface="Shruti"/>
                      </a:endParaRPr>
                    </a:p>
                  </a:txBody>
                  <a:tcPr marL="64906" marR="64906" marT="0" marB="0"/>
                </a:tc>
                <a:extLst>
                  <a:ext uri="{0D108BD9-81ED-4DB2-BD59-A6C34878D82A}">
                    <a16:rowId xmlns:a16="http://schemas.microsoft.com/office/drawing/2014/main" val="10000"/>
                  </a:ext>
                </a:extLst>
              </a:tr>
            </a:tbl>
          </a:graphicData>
        </a:graphic>
      </p:graphicFrame>
      <p:graphicFrame>
        <p:nvGraphicFramePr>
          <p:cNvPr id="21" name="Table 20"/>
          <p:cNvGraphicFramePr>
            <a:graphicFrameLocks noGrp="1"/>
          </p:cNvGraphicFramePr>
          <p:nvPr>
            <p:extLst>
              <p:ext uri="{D42A27DB-BD31-4B8C-83A1-F6EECF244321}">
                <p14:modId xmlns:p14="http://schemas.microsoft.com/office/powerpoint/2010/main" val="3661543834"/>
              </p:ext>
            </p:extLst>
          </p:nvPr>
        </p:nvGraphicFramePr>
        <p:xfrm>
          <a:off x="2971800" y="4678759"/>
          <a:ext cx="2358180" cy="375166"/>
        </p:xfrm>
        <a:graphic>
          <a:graphicData uri="http://schemas.openxmlformats.org/drawingml/2006/table">
            <a:tbl>
              <a:tblPr firstRow="1" firstCol="1" bandRow="1">
                <a:tableStyleId>{BC89EF96-8CEA-46FF-86C4-4CE0E7609802}</a:tableStyleId>
              </a:tblPr>
              <a:tblGrid>
                <a:gridCol w="546959">
                  <a:extLst>
                    <a:ext uri="{9D8B030D-6E8A-4147-A177-3AD203B41FA5}">
                      <a16:colId xmlns:a16="http://schemas.microsoft.com/office/drawing/2014/main" val="20000"/>
                    </a:ext>
                  </a:extLst>
                </a:gridCol>
                <a:gridCol w="546959">
                  <a:extLst>
                    <a:ext uri="{9D8B030D-6E8A-4147-A177-3AD203B41FA5}">
                      <a16:colId xmlns:a16="http://schemas.microsoft.com/office/drawing/2014/main" val="20001"/>
                    </a:ext>
                  </a:extLst>
                </a:gridCol>
                <a:gridCol w="478589">
                  <a:extLst>
                    <a:ext uri="{9D8B030D-6E8A-4147-A177-3AD203B41FA5}">
                      <a16:colId xmlns:a16="http://schemas.microsoft.com/office/drawing/2014/main" val="20002"/>
                    </a:ext>
                  </a:extLst>
                </a:gridCol>
                <a:gridCol w="785673">
                  <a:extLst>
                    <a:ext uri="{9D8B030D-6E8A-4147-A177-3AD203B41FA5}">
                      <a16:colId xmlns:a16="http://schemas.microsoft.com/office/drawing/2014/main" val="20003"/>
                    </a:ext>
                  </a:extLst>
                </a:gridCol>
              </a:tblGrid>
              <a:tr h="375166">
                <a:tc>
                  <a:txBody>
                    <a:bodyPr/>
                    <a:lstStyle/>
                    <a:p>
                      <a:pPr algn="ctr">
                        <a:lnSpc>
                          <a:spcPct val="115000"/>
                        </a:lnSpc>
                        <a:spcAft>
                          <a:spcPts val="0"/>
                        </a:spcAft>
                      </a:pPr>
                      <a:r>
                        <a:rPr lang="en-US" sz="2100" dirty="0">
                          <a:effectLst/>
                        </a:rPr>
                        <a:t>B</a:t>
                      </a:r>
                      <a:r>
                        <a:rPr lang="en-US" sz="2100" baseline="-25000" dirty="0">
                          <a:effectLst/>
                        </a:rPr>
                        <a:t>1</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B</a:t>
                      </a:r>
                      <a:r>
                        <a:rPr lang="en-US" sz="2100" baseline="-25000" dirty="0">
                          <a:effectLst/>
                        </a:rPr>
                        <a:t>2</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a:t>
                      </a:r>
                      <a:endParaRPr lang="en-US" sz="2100" dirty="0">
                        <a:effectLst/>
                        <a:latin typeface="Calibri"/>
                        <a:ea typeface="Calibri"/>
                        <a:cs typeface="Shruti"/>
                      </a:endParaRPr>
                    </a:p>
                  </a:txBody>
                  <a:tcPr marL="64906" marR="64906" marT="0" marB="0"/>
                </a:tc>
                <a:tc>
                  <a:txBody>
                    <a:bodyPr/>
                    <a:lstStyle/>
                    <a:p>
                      <a:pPr algn="ctr">
                        <a:lnSpc>
                          <a:spcPct val="115000"/>
                        </a:lnSpc>
                        <a:spcAft>
                          <a:spcPts val="0"/>
                        </a:spcAft>
                      </a:pPr>
                      <a:r>
                        <a:rPr lang="en-US" sz="2100" dirty="0">
                          <a:effectLst/>
                        </a:rPr>
                        <a:t>B</a:t>
                      </a:r>
                      <a:r>
                        <a:rPr lang="en-US" sz="2100" baseline="-25000" dirty="0">
                          <a:effectLst/>
                        </a:rPr>
                        <a:t>k-1</a:t>
                      </a:r>
                      <a:endParaRPr lang="en-US" sz="2100" dirty="0">
                        <a:effectLst/>
                        <a:latin typeface="Calibri"/>
                        <a:ea typeface="Calibri"/>
                        <a:cs typeface="Shruti"/>
                      </a:endParaRPr>
                    </a:p>
                  </a:txBody>
                  <a:tcPr marL="64906" marR="64906" marT="0" marB="0"/>
                </a:tc>
                <a:extLst>
                  <a:ext uri="{0D108BD9-81ED-4DB2-BD59-A6C34878D82A}">
                    <a16:rowId xmlns:a16="http://schemas.microsoft.com/office/drawing/2014/main" val="10000"/>
                  </a:ext>
                </a:extLst>
              </a:tr>
            </a:tbl>
          </a:graphicData>
        </a:graphic>
      </p:graphicFrame>
      <p:sp>
        <p:nvSpPr>
          <p:cNvPr id="22" name="TextBox 21"/>
          <p:cNvSpPr txBox="1"/>
          <p:nvPr/>
        </p:nvSpPr>
        <p:spPr>
          <a:xfrm>
            <a:off x="1743169" y="3513637"/>
            <a:ext cx="1242648" cy="369332"/>
          </a:xfrm>
          <a:prstGeom prst="rect">
            <a:avLst/>
          </a:prstGeom>
          <a:noFill/>
        </p:spPr>
        <p:txBody>
          <a:bodyPr wrap="none" rtlCol="0">
            <a:spAutoFit/>
          </a:bodyPr>
          <a:lstStyle/>
          <a:p>
            <a:r>
              <a:rPr lang="en-IN" b="1" dirty="0">
                <a:solidFill>
                  <a:srgbClr val="C00000"/>
                </a:solidFill>
              </a:rPr>
              <a:t>Priority  - 1</a:t>
            </a:r>
            <a:endParaRPr lang="en-US" b="1" dirty="0">
              <a:solidFill>
                <a:srgbClr val="C00000"/>
              </a:solidFill>
            </a:endParaRPr>
          </a:p>
        </p:txBody>
      </p:sp>
      <p:sp>
        <p:nvSpPr>
          <p:cNvPr id="23" name="TextBox 22"/>
          <p:cNvSpPr txBox="1"/>
          <p:nvPr/>
        </p:nvSpPr>
        <p:spPr>
          <a:xfrm>
            <a:off x="1743169" y="4074993"/>
            <a:ext cx="1189749" cy="369332"/>
          </a:xfrm>
          <a:prstGeom prst="rect">
            <a:avLst/>
          </a:prstGeom>
          <a:noFill/>
        </p:spPr>
        <p:txBody>
          <a:bodyPr wrap="none" rtlCol="0">
            <a:spAutoFit/>
          </a:bodyPr>
          <a:lstStyle/>
          <a:p>
            <a:r>
              <a:rPr lang="en-IN" b="1" dirty="0">
                <a:solidFill>
                  <a:srgbClr val="C00000"/>
                </a:solidFill>
              </a:rPr>
              <a:t>Priority - 2</a:t>
            </a:r>
            <a:endParaRPr lang="en-US" b="1" dirty="0">
              <a:solidFill>
                <a:srgbClr val="C00000"/>
              </a:solidFill>
            </a:endParaRPr>
          </a:p>
        </p:txBody>
      </p:sp>
      <p:sp>
        <p:nvSpPr>
          <p:cNvPr id="24" name="TextBox 23"/>
          <p:cNvSpPr txBox="1"/>
          <p:nvPr/>
        </p:nvSpPr>
        <p:spPr>
          <a:xfrm>
            <a:off x="1743169" y="4684069"/>
            <a:ext cx="1189749" cy="369332"/>
          </a:xfrm>
          <a:prstGeom prst="rect">
            <a:avLst/>
          </a:prstGeom>
          <a:noFill/>
        </p:spPr>
        <p:txBody>
          <a:bodyPr wrap="none" rtlCol="0">
            <a:spAutoFit/>
          </a:bodyPr>
          <a:lstStyle/>
          <a:p>
            <a:r>
              <a:rPr lang="en-IN" b="1" dirty="0">
                <a:solidFill>
                  <a:srgbClr val="C00000"/>
                </a:solidFill>
              </a:rPr>
              <a:t>Priority - 3</a:t>
            </a:r>
            <a:endParaRPr lang="en-US" b="1" dirty="0">
              <a:solidFill>
                <a:srgbClr val="C00000"/>
              </a:solidFill>
            </a:endParaRPr>
          </a:p>
        </p:txBody>
      </p:sp>
      <p:sp>
        <p:nvSpPr>
          <p:cNvPr id="25" name="TextBox 24"/>
          <p:cNvSpPr txBox="1"/>
          <p:nvPr/>
        </p:nvSpPr>
        <p:spPr>
          <a:xfrm>
            <a:off x="7366562" y="3513637"/>
            <a:ext cx="352982" cy="369332"/>
          </a:xfrm>
          <a:prstGeom prst="rect">
            <a:avLst/>
          </a:prstGeom>
          <a:noFill/>
        </p:spPr>
        <p:txBody>
          <a:bodyPr wrap="none" rtlCol="0">
            <a:spAutoFit/>
          </a:bodyPr>
          <a:lstStyle/>
          <a:p>
            <a:r>
              <a:rPr lang="en-IN" b="1" dirty="0" err="1">
                <a:solidFill>
                  <a:srgbClr val="C00000"/>
                </a:solidFill>
              </a:rPr>
              <a:t>R</a:t>
            </a:r>
            <a:r>
              <a:rPr lang="en-IN" b="1" baseline="-25000" dirty="0" err="1">
                <a:solidFill>
                  <a:srgbClr val="C00000"/>
                </a:solidFill>
              </a:rPr>
              <a:t>i</a:t>
            </a:r>
            <a:endParaRPr lang="en-US" b="1" baseline="-25000" dirty="0">
              <a:solidFill>
                <a:srgbClr val="C00000"/>
              </a:solidFill>
            </a:endParaRPr>
          </a:p>
        </p:txBody>
      </p:sp>
      <p:sp>
        <p:nvSpPr>
          <p:cNvPr id="26" name="TextBox 25"/>
          <p:cNvSpPr txBox="1"/>
          <p:nvPr/>
        </p:nvSpPr>
        <p:spPr>
          <a:xfrm>
            <a:off x="7361753" y="4056181"/>
            <a:ext cx="362600" cy="369332"/>
          </a:xfrm>
          <a:prstGeom prst="rect">
            <a:avLst/>
          </a:prstGeom>
          <a:noFill/>
        </p:spPr>
        <p:txBody>
          <a:bodyPr wrap="none" rtlCol="0">
            <a:spAutoFit/>
          </a:bodyPr>
          <a:lstStyle/>
          <a:p>
            <a:r>
              <a:rPr lang="en-IN" b="1" dirty="0" err="1">
                <a:solidFill>
                  <a:srgbClr val="C00000"/>
                </a:solidFill>
              </a:rPr>
              <a:t>O</a:t>
            </a:r>
            <a:r>
              <a:rPr lang="en-IN" b="1" baseline="-25000" dirty="0" err="1">
                <a:solidFill>
                  <a:srgbClr val="C00000"/>
                </a:solidFill>
              </a:rPr>
              <a:t>j</a:t>
            </a:r>
            <a:endParaRPr lang="en-US" b="1" baseline="-25000" dirty="0">
              <a:solidFill>
                <a:srgbClr val="C00000"/>
              </a:solidFill>
            </a:endParaRPr>
          </a:p>
        </p:txBody>
      </p:sp>
      <p:sp>
        <p:nvSpPr>
          <p:cNvPr id="27" name="TextBox 26"/>
          <p:cNvSpPr txBox="1"/>
          <p:nvPr/>
        </p:nvSpPr>
        <p:spPr>
          <a:xfrm>
            <a:off x="7348929" y="4671484"/>
            <a:ext cx="388248" cy="369332"/>
          </a:xfrm>
          <a:prstGeom prst="rect">
            <a:avLst/>
          </a:prstGeom>
          <a:noFill/>
        </p:spPr>
        <p:txBody>
          <a:bodyPr wrap="none" rtlCol="0">
            <a:spAutoFit/>
          </a:bodyPr>
          <a:lstStyle/>
          <a:p>
            <a:r>
              <a:rPr lang="en-IN" b="1" dirty="0" err="1">
                <a:solidFill>
                  <a:srgbClr val="C00000"/>
                </a:solidFill>
              </a:rPr>
              <a:t>B</a:t>
            </a:r>
            <a:r>
              <a:rPr lang="en-IN" b="1" baseline="-25000" dirty="0" err="1">
                <a:solidFill>
                  <a:srgbClr val="C00000"/>
                </a:solidFill>
              </a:rPr>
              <a:t>k</a:t>
            </a:r>
            <a:endParaRPr lang="en-US" b="1" baseline="-25000" dirty="0">
              <a:solidFill>
                <a:srgbClr val="C00000"/>
              </a:solidFill>
            </a:endParaRPr>
          </a:p>
        </p:txBody>
      </p:sp>
      <p:cxnSp>
        <p:nvCxnSpPr>
          <p:cNvPr id="30" name="Straight Arrow Connector 29"/>
          <p:cNvCxnSpPr/>
          <p:nvPr/>
        </p:nvCxnSpPr>
        <p:spPr>
          <a:xfrm flipH="1">
            <a:off x="5482380" y="4248337"/>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3" name="Straight Arrow Connector 32"/>
          <p:cNvCxnSpPr/>
          <p:nvPr/>
        </p:nvCxnSpPr>
        <p:spPr>
          <a:xfrm flipH="1">
            <a:off x="5482379" y="4856151"/>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5" name="Straight Arrow Connector 34"/>
          <p:cNvCxnSpPr/>
          <p:nvPr/>
        </p:nvCxnSpPr>
        <p:spPr>
          <a:xfrm flipH="1">
            <a:off x="5486401" y="3690553"/>
            <a:ext cx="1860071" cy="34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6" name="TextBox 35"/>
          <p:cNvSpPr txBox="1"/>
          <p:nvPr/>
        </p:nvSpPr>
        <p:spPr>
          <a:xfrm>
            <a:off x="3502726" y="5370393"/>
            <a:ext cx="5186548" cy="369332"/>
          </a:xfrm>
          <a:prstGeom prst="rect">
            <a:avLst/>
          </a:prstGeom>
          <a:noFill/>
        </p:spPr>
        <p:txBody>
          <a:bodyPr wrap="none" rtlCol="0">
            <a:spAutoFit/>
          </a:bodyPr>
          <a:lstStyle/>
          <a:p>
            <a:pPr algn="ctr"/>
            <a:r>
              <a:rPr lang="en-IN" b="1" dirty="0"/>
              <a:t>Priority Queue viewed as a Viewed as a set of queue</a:t>
            </a:r>
            <a:endParaRPr lang="en-US" b="1" dirty="0"/>
          </a:p>
        </p:txBody>
      </p:sp>
      <p:cxnSp>
        <p:nvCxnSpPr>
          <p:cNvPr id="38" name="Straight Connector 37"/>
          <p:cNvCxnSpPr/>
          <p:nvPr/>
        </p:nvCxnSpPr>
        <p:spPr>
          <a:xfrm>
            <a:off x="1709785" y="3160593"/>
            <a:ext cx="8772431" cy="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0890923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grpId="0" nodeType="clickEffect">
                                  <p:stCondLst>
                                    <p:cond delay="0"/>
                                  </p:stCondLst>
                                  <p:childTnLst>
                                    <p:set>
                                      <p:cBhvr>
                                        <p:cTn id="6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10" grpId="0"/>
      <p:bldP spid="12" grpId="0"/>
      <p:bldP spid="18" grpId="0"/>
      <p:bldP spid="22" grpId="0"/>
      <p:bldP spid="23" grpId="0"/>
      <p:bldP spid="24" grpId="0"/>
      <p:bldP spid="25" grpId="0"/>
      <p:bldP spid="26" grpId="0"/>
      <p:bldP spid="27" grpId="0"/>
      <p:bldP spid="3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81E21-00DB-4CE0-B630-02BD5B3BF84C}"/>
              </a:ext>
            </a:extLst>
          </p:cNvPr>
          <p:cNvSpPr>
            <a:spLocks noGrp="1"/>
          </p:cNvSpPr>
          <p:nvPr>
            <p:ph type="title"/>
          </p:nvPr>
        </p:nvSpPr>
        <p:spPr/>
        <p:txBody>
          <a:bodyPr/>
          <a:lstStyle/>
          <a:p>
            <a:endParaRPr lang="en-IN"/>
          </a:p>
        </p:txBody>
      </p:sp>
      <p:pic>
        <p:nvPicPr>
          <p:cNvPr id="5" name="Picture 4">
            <a:extLst>
              <a:ext uri="{FF2B5EF4-FFF2-40B4-BE49-F238E27FC236}">
                <a16:creationId xmlns:a16="http://schemas.microsoft.com/office/drawing/2014/main" id="{A9511411-21EB-4009-944B-E8A82C316C15}"/>
              </a:ext>
            </a:extLst>
          </p:cNvPr>
          <p:cNvPicPr>
            <a:picLocks noChangeAspect="1"/>
          </p:cNvPicPr>
          <p:nvPr/>
        </p:nvPicPr>
        <p:blipFill>
          <a:blip r:embed="rId2"/>
          <a:stretch>
            <a:fillRect/>
          </a:stretch>
        </p:blipFill>
        <p:spPr>
          <a:xfrm>
            <a:off x="2882735" y="711201"/>
            <a:ext cx="8814588" cy="3214014"/>
          </a:xfrm>
          <a:prstGeom prst="rect">
            <a:avLst/>
          </a:prstGeom>
        </p:spPr>
      </p:pic>
      <p:pic>
        <p:nvPicPr>
          <p:cNvPr id="7" name="Picture 6">
            <a:extLst>
              <a:ext uri="{FF2B5EF4-FFF2-40B4-BE49-F238E27FC236}">
                <a16:creationId xmlns:a16="http://schemas.microsoft.com/office/drawing/2014/main" id="{D506A2C3-F467-4775-837F-A730DEAF172C}"/>
              </a:ext>
            </a:extLst>
          </p:cNvPr>
          <p:cNvPicPr>
            <a:picLocks noChangeAspect="1"/>
          </p:cNvPicPr>
          <p:nvPr/>
        </p:nvPicPr>
        <p:blipFill>
          <a:blip r:embed="rId3"/>
          <a:stretch>
            <a:fillRect/>
          </a:stretch>
        </p:blipFill>
        <p:spPr>
          <a:xfrm>
            <a:off x="2882735" y="4078015"/>
            <a:ext cx="8814588" cy="2529488"/>
          </a:xfrm>
          <a:prstGeom prst="rect">
            <a:avLst/>
          </a:prstGeom>
        </p:spPr>
      </p:pic>
    </p:spTree>
    <p:extLst>
      <p:ext uri="{BB962C8B-B14F-4D97-AF65-F5344CB8AC3E}">
        <p14:creationId xmlns:p14="http://schemas.microsoft.com/office/powerpoint/2010/main" val="22529302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66959-C3A8-4F8C-8898-7B20B02F7354}"/>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01E577A0-8A6B-4EA3-A21A-174FD5CEE4FA}"/>
              </a:ext>
            </a:extLst>
          </p:cNvPr>
          <p:cNvPicPr>
            <a:picLocks noChangeAspect="1"/>
          </p:cNvPicPr>
          <p:nvPr/>
        </p:nvPicPr>
        <p:blipFill>
          <a:blip r:embed="rId2"/>
          <a:stretch>
            <a:fillRect/>
          </a:stretch>
        </p:blipFill>
        <p:spPr>
          <a:xfrm>
            <a:off x="664779" y="1560785"/>
            <a:ext cx="10034093" cy="1707931"/>
          </a:xfrm>
          <a:prstGeom prst="rect">
            <a:avLst/>
          </a:prstGeom>
        </p:spPr>
      </p:pic>
    </p:spTree>
    <p:extLst>
      <p:ext uri="{BB962C8B-B14F-4D97-AF65-F5344CB8AC3E}">
        <p14:creationId xmlns:p14="http://schemas.microsoft.com/office/powerpoint/2010/main" val="4052471467"/>
      </p:ext>
    </p:extLst>
  </p:cSld>
  <p:clrMapOvr>
    <a:masterClrMapping/>
  </p:clrMapOvr>
</p:sld>
</file>

<file path=ppt/theme/theme1.xml><?xml version="1.0" encoding="utf-8"?>
<a:theme xmlns:a="http://schemas.openxmlformats.org/drawing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
        <a:cs typeface=""/>
      </a:majorFont>
      <a:minorFont>
        <a:latin typeface="Roboto Condense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4569</TotalTime>
  <Words>2206</Words>
  <Application>Microsoft Office PowerPoint</Application>
  <PresentationFormat>Widescreen</PresentationFormat>
  <Paragraphs>473</Paragraphs>
  <Slides>22</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vt:i4>
      </vt:variant>
    </vt:vector>
  </HeadingPairs>
  <TitlesOfParts>
    <vt:vector size="33" baseType="lpstr">
      <vt:lpstr>Roboto Condensed</vt:lpstr>
      <vt:lpstr>Calibri</vt:lpstr>
      <vt:lpstr>Roboto Condensed Light</vt:lpstr>
      <vt:lpstr>Wingdings</vt:lpstr>
      <vt:lpstr>Consolas</vt:lpstr>
      <vt:lpstr>Arial</vt:lpstr>
      <vt:lpstr>Times New Roman</vt:lpstr>
      <vt:lpstr>Courier New</vt:lpstr>
      <vt:lpstr>Wingdings 3</vt:lpstr>
      <vt:lpstr>euclid_circular_a</vt:lpstr>
      <vt:lpstr>Office Theme</vt:lpstr>
      <vt:lpstr> Linear Data Structure Queue</vt:lpstr>
      <vt:lpstr>Queue</vt:lpstr>
      <vt:lpstr>Applications of Queue</vt:lpstr>
      <vt:lpstr>Procedure: Enqueue (Q, F, R, N,Y)</vt:lpstr>
      <vt:lpstr>Function:  Dequeue (Q, F, R)</vt:lpstr>
      <vt:lpstr>Example of Queue Insert / Delete</vt:lpstr>
      <vt:lpstr>In C programming where index starts from 0</vt:lpstr>
      <vt:lpstr>Performance and Limitations</vt:lpstr>
      <vt:lpstr>Queue with a Singly Linked List</vt:lpstr>
      <vt:lpstr>Queue: Linklist</vt:lpstr>
      <vt:lpstr>Queue Summary</vt:lpstr>
      <vt:lpstr>Circular Queue</vt:lpstr>
      <vt:lpstr>Procedure: CQINSERT (F, R, Q, N, Y)</vt:lpstr>
      <vt:lpstr>Function: CQDELETE (F, R, Q, N)</vt:lpstr>
      <vt:lpstr>Example of CQueue Insert / Delete</vt:lpstr>
      <vt:lpstr>The Double-Ended Queue</vt:lpstr>
      <vt:lpstr>Implementing Stacks and Queues with Deques</vt:lpstr>
      <vt:lpstr>Dequeue Summary</vt:lpstr>
      <vt:lpstr>Priority Queue</vt:lpstr>
      <vt:lpstr>Priority Queue Cont…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Queue - Linear Data Structure</dc:title>
  <dc:creator>ADMIN</dc:creator>
  <cp:lastModifiedBy>CSE-30</cp:lastModifiedBy>
  <cp:revision>407</cp:revision>
  <dcterms:created xsi:type="dcterms:W3CDTF">2020-05-01T05:09:15Z</dcterms:created>
  <dcterms:modified xsi:type="dcterms:W3CDTF">2025-08-26T03:59:48Z</dcterms:modified>
</cp:coreProperties>
</file>