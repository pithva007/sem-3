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63" r:id="rId5"/>
    <p:sldId id="264" r:id="rId6"/>
    <p:sldId id="265" r:id="rId7"/>
    <p:sldId id="261" r:id="rId8"/>
    <p:sldId id="266" r:id="rId9"/>
    <p:sldId id="267" r:id="rId10"/>
    <p:sldId id="269" r:id="rId11"/>
    <p:sldId id="270" r:id="rId12"/>
    <p:sldId id="271" r:id="rId13"/>
    <p:sldId id="274" r:id="rId14"/>
    <p:sldId id="273" r:id="rId15"/>
    <p:sldId id="276" r:id="rId16"/>
    <p:sldId id="275" r:id="rId17"/>
    <p:sldId id="277"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63" d="100"/>
          <a:sy n="63" d="100"/>
        </p:scale>
        <p:origin x="732"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A7853D0-13B4-454F-89C1-25848C6FD71E}" type="datetimeFigureOut">
              <a:rPr lang="en-IN" smtClean="0"/>
              <a:t>06-07-2025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E751291-8128-4432-B26C-537E08DEF213}"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751703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A7853D0-13B4-454F-89C1-25848C6FD71E}" type="datetimeFigureOut">
              <a:rPr lang="en-IN" smtClean="0"/>
              <a:t>06-07-2025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E751291-8128-4432-B26C-537E08DEF213}" type="slidenum">
              <a:rPr lang="en-IN" smtClean="0"/>
              <a:t>‹#›</a:t>
            </a:fld>
            <a:endParaRPr lang="en-IN"/>
          </a:p>
        </p:txBody>
      </p:sp>
    </p:spTree>
    <p:extLst>
      <p:ext uri="{BB962C8B-B14F-4D97-AF65-F5344CB8AC3E}">
        <p14:creationId xmlns:p14="http://schemas.microsoft.com/office/powerpoint/2010/main" val="25312016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A7853D0-13B4-454F-89C1-25848C6FD71E}" type="datetimeFigureOut">
              <a:rPr lang="en-IN" smtClean="0"/>
              <a:t>06-07-2025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E751291-8128-4432-B26C-537E08DEF213}"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921114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A7853D0-13B4-454F-89C1-25848C6FD71E}" type="datetimeFigureOut">
              <a:rPr lang="en-IN" smtClean="0"/>
              <a:t>06-07-2025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E751291-8128-4432-B26C-537E08DEF213}" type="slidenum">
              <a:rPr lang="en-IN" smtClean="0"/>
              <a:t>‹#›</a:t>
            </a:fld>
            <a:endParaRPr lang="en-IN"/>
          </a:p>
        </p:txBody>
      </p:sp>
    </p:spTree>
    <p:extLst>
      <p:ext uri="{BB962C8B-B14F-4D97-AF65-F5344CB8AC3E}">
        <p14:creationId xmlns:p14="http://schemas.microsoft.com/office/powerpoint/2010/main" val="37708491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A7853D0-13B4-454F-89C1-25848C6FD71E}" type="datetimeFigureOut">
              <a:rPr lang="en-IN" smtClean="0"/>
              <a:t>06-07-2025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EE751291-8128-4432-B26C-537E08DEF213}" type="slidenum">
              <a:rPr lang="en-IN" smtClean="0"/>
              <a:t>‹#›</a:t>
            </a:fld>
            <a:endParaRPr lang="en-IN"/>
          </a:p>
        </p:txBody>
      </p:sp>
    </p:spTree>
    <p:extLst>
      <p:ext uri="{BB962C8B-B14F-4D97-AF65-F5344CB8AC3E}">
        <p14:creationId xmlns:p14="http://schemas.microsoft.com/office/powerpoint/2010/main" val="2405977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A7853D0-13B4-454F-89C1-25848C6FD71E}" type="datetimeFigureOut">
              <a:rPr lang="en-IN" smtClean="0"/>
              <a:t>06-07-2025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EE751291-8128-4432-B26C-537E08DEF213}" type="slidenum">
              <a:rPr lang="en-IN" smtClean="0"/>
              <a:t>‹#›</a:t>
            </a:fld>
            <a:endParaRPr lang="en-IN"/>
          </a:p>
        </p:txBody>
      </p:sp>
    </p:spTree>
    <p:extLst>
      <p:ext uri="{BB962C8B-B14F-4D97-AF65-F5344CB8AC3E}">
        <p14:creationId xmlns:p14="http://schemas.microsoft.com/office/powerpoint/2010/main" val="16662044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4A7853D0-13B4-454F-89C1-25848C6FD71E}" type="datetimeFigureOut">
              <a:rPr lang="en-IN" smtClean="0"/>
              <a:t>06-07-2025</a:t>
            </a:fld>
            <a:endParaRPr lang="en-IN"/>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IN"/>
          </a:p>
        </p:txBody>
      </p:sp>
      <p:sp>
        <p:nvSpPr>
          <p:cNvPr id="9" name="Slide Number Placeholder 8"/>
          <p:cNvSpPr>
            <a:spLocks noGrp="1"/>
          </p:cNvSpPr>
          <p:nvPr>
            <p:ph type="sldNum" sz="quarter" idx="12"/>
          </p:nvPr>
        </p:nvSpPr>
        <p:spPr/>
        <p:txBody>
          <a:bodyPr/>
          <a:lstStyle/>
          <a:p>
            <a:fld id="{EE751291-8128-4432-B26C-537E08DEF213}" type="slidenum">
              <a:rPr lang="en-IN" smtClean="0"/>
              <a:t>‹#›</a:t>
            </a:fld>
            <a:endParaRPr lang="en-IN"/>
          </a:p>
        </p:txBody>
      </p:sp>
    </p:spTree>
    <p:extLst>
      <p:ext uri="{BB962C8B-B14F-4D97-AF65-F5344CB8AC3E}">
        <p14:creationId xmlns:p14="http://schemas.microsoft.com/office/powerpoint/2010/main" val="13051885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4A7853D0-13B4-454F-89C1-25848C6FD71E}" type="datetimeFigureOut">
              <a:rPr lang="en-IN" smtClean="0"/>
              <a:t>06-07-2025</a:t>
            </a:fld>
            <a:endParaRPr lang="en-IN"/>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IN"/>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EE751291-8128-4432-B26C-537E08DEF213}" type="slidenum">
              <a:rPr lang="en-IN" smtClean="0"/>
              <a:t>‹#›</a:t>
            </a:fld>
            <a:endParaRPr lang="en-IN"/>
          </a:p>
        </p:txBody>
      </p:sp>
    </p:spTree>
    <p:extLst>
      <p:ext uri="{BB962C8B-B14F-4D97-AF65-F5344CB8AC3E}">
        <p14:creationId xmlns:p14="http://schemas.microsoft.com/office/powerpoint/2010/main" val="7175614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A7853D0-13B4-454F-89C1-25848C6FD71E}" type="datetimeFigureOut">
              <a:rPr lang="en-IN" smtClean="0"/>
              <a:t>06-07-2025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E751291-8128-4432-B26C-537E08DEF213}" type="slidenum">
              <a:rPr lang="en-IN" smtClean="0"/>
              <a:t>‹#›</a:t>
            </a:fld>
            <a:endParaRPr lang="en-IN"/>
          </a:p>
        </p:txBody>
      </p:sp>
    </p:spTree>
    <p:extLst>
      <p:ext uri="{BB962C8B-B14F-4D97-AF65-F5344CB8AC3E}">
        <p14:creationId xmlns:p14="http://schemas.microsoft.com/office/powerpoint/2010/main" val="5257854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A7853D0-13B4-454F-89C1-25848C6FD71E}" type="datetimeFigureOut">
              <a:rPr lang="en-IN" smtClean="0"/>
              <a:t>06-07-2025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E751291-8128-4432-B26C-537E08DEF213}" type="slidenum">
              <a:rPr lang="en-IN" smtClean="0"/>
              <a:t>‹#›</a:t>
            </a:fld>
            <a:endParaRPr lang="en-IN"/>
          </a:p>
        </p:txBody>
      </p:sp>
    </p:spTree>
    <p:extLst>
      <p:ext uri="{BB962C8B-B14F-4D97-AF65-F5344CB8AC3E}">
        <p14:creationId xmlns:p14="http://schemas.microsoft.com/office/powerpoint/2010/main" val="4560915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A7853D0-13B4-454F-89C1-25848C6FD71E}" type="datetimeFigureOut">
              <a:rPr lang="en-IN" smtClean="0"/>
              <a:t>06-07-2025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E751291-8128-4432-B26C-537E08DEF213}" type="slidenum">
              <a:rPr lang="en-IN" smtClean="0"/>
              <a:t>‹#›</a:t>
            </a:fld>
            <a:endParaRPr lang="en-IN"/>
          </a:p>
        </p:txBody>
      </p:sp>
    </p:spTree>
    <p:extLst>
      <p:ext uri="{BB962C8B-B14F-4D97-AF65-F5344CB8AC3E}">
        <p14:creationId xmlns:p14="http://schemas.microsoft.com/office/powerpoint/2010/main" val="26242948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4A7853D0-13B4-454F-89C1-25848C6FD71E}" type="datetimeFigureOut">
              <a:rPr lang="en-IN" smtClean="0"/>
              <a:t>06-07-2025</a:t>
            </a:fld>
            <a:endParaRPr lang="en-IN"/>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IN"/>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EE751291-8128-4432-B26C-537E08DEF213}" type="slidenum">
              <a:rPr lang="en-IN" smtClean="0"/>
              <a:t>‹#›</a:t>
            </a:fld>
            <a:endParaRPr lang="en-IN"/>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4825826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A3DE5A-E1AD-4C7C-B837-B4D0B2033724}"/>
              </a:ext>
            </a:extLst>
          </p:cNvPr>
          <p:cNvSpPr>
            <a:spLocks noGrp="1"/>
          </p:cNvSpPr>
          <p:nvPr>
            <p:ph type="ctrTitle"/>
          </p:nvPr>
        </p:nvSpPr>
        <p:spPr/>
        <p:txBody>
          <a:bodyPr/>
          <a:lstStyle/>
          <a:p>
            <a:pPr algn="ctr"/>
            <a:r>
              <a:rPr lang="en-IN" dirty="0"/>
              <a:t>Chapter - 2</a:t>
            </a:r>
          </a:p>
        </p:txBody>
      </p:sp>
      <p:sp>
        <p:nvSpPr>
          <p:cNvPr id="3" name="Subtitle 2">
            <a:extLst>
              <a:ext uri="{FF2B5EF4-FFF2-40B4-BE49-F238E27FC236}">
                <a16:creationId xmlns:a16="http://schemas.microsoft.com/office/drawing/2014/main" id="{C362762D-AAB7-47FB-9F8A-330B95219882}"/>
              </a:ext>
            </a:extLst>
          </p:cNvPr>
          <p:cNvSpPr>
            <a:spLocks noGrp="1"/>
          </p:cNvSpPr>
          <p:nvPr>
            <p:ph type="subTitle" idx="1"/>
          </p:nvPr>
        </p:nvSpPr>
        <p:spPr/>
        <p:txBody>
          <a:bodyPr/>
          <a:lstStyle/>
          <a:p>
            <a:pPr algn="ctr"/>
            <a:r>
              <a:rPr lang="en-IN" dirty="0"/>
              <a:t>Principles of Object Oriented Programming</a:t>
            </a:r>
          </a:p>
        </p:txBody>
      </p:sp>
    </p:spTree>
    <p:extLst>
      <p:ext uri="{BB962C8B-B14F-4D97-AF65-F5344CB8AC3E}">
        <p14:creationId xmlns:p14="http://schemas.microsoft.com/office/powerpoint/2010/main" val="33919686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97568C-9ADC-4098-9268-C82C2D377886}"/>
              </a:ext>
            </a:extLst>
          </p:cNvPr>
          <p:cNvSpPr>
            <a:spLocks noGrp="1"/>
          </p:cNvSpPr>
          <p:nvPr>
            <p:ph type="title"/>
          </p:nvPr>
        </p:nvSpPr>
        <p:spPr>
          <a:xfrm>
            <a:off x="1097280" y="286603"/>
            <a:ext cx="10058400" cy="702303"/>
          </a:xfrm>
        </p:spPr>
        <p:txBody>
          <a:bodyPr>
            <a:normAutofit/>
          </a:bodyPr>
          <a:lstStyle/>
          <a:p>
            <a:r>
              <a:rPr lang="en-IN" sz="3600" dirty="0">
                <a:latin typeface="+mn-lt"/>
              </a:rPr>
              <a:t>2.1 What is C++?</a:t>
            </a:r>
          </a:p>
        </p:txBody>
      </p:sp>
      <p:sp>
        <p:nvSpPr>
          <p:cNvPr id="3" name="Content Placeholder 2">
            <a:extLst>
              <a:ext uri="{FF2B5EF4-FFF2-40B4-BE49-F238E27FC236}">
                <a16:creationId xmlns:a16="http://schemas.microsoft.com/office/drawing/2014/main" id="{CA53BBCC-EA59-4850-919E-43686330BC71}"/>
              </a:ext>
            </a:extLst>
          </p:cNvPr>
          <p:cNvSpPr>
            <a:spLocks noGrp="1"/>
          </p:cNvSpPr>
          <p:nvPr>
            <p:ph idx="1"/>
          </p:nvPr>
        </p:nvSpPr>
        <p:spPr/>
        <p:txBody>
          <a:bodyPr>
            <a:normAutofit/>
          </a:bodyPr>
          <a:lstStyle/>
          <a:p>
            <a:pPr algn="just">
              <a:lnSpc>
                <a:spcPct val="150000"/>
              </a:lnSpc>
              <a:buFont typeface="Wingdings" panose="05000000000000000000" pitchFamily="2" charset="2"/>
              <a:buChar char="§"/>
            </a:pPr>
            <a:r>
              <a:rPr lang="en-US" sz="2200" dirty="0"/>
              <a:t>C++ is a object-oriented programming language. It was developed by </a:t>
            </a:r>
            <a:r>
              <a:rPr lang="en-US" sz="2200" b="1" dirty="0"/>
              <a:t>Bjarne Stroustrup</a:t>
            </a:r>
            <a:r>
              <a:rPr lang="en-US" sz="2200" dirty="0"/>
              <a:t> at AT&amp;T Bell Laboratories in Murray Hill, New Jersey, USA, in the early 1580’s. </a:t>
            </a:r>
          </a:p>
          <a:p>
            <a:pPr algn="just">
              <a:lnSpc>
                <a:spcPct val="150000"/>
              </a:lnSpc>
              <a:buFont typeface="Wingdings" panose="05000000000000000000" pitchFamily="2" charset="2"/>
              <a:buChar char="§"/>
            </a:pPr>
            <a:endParaRPr lang="en-US" sz="2200" dirty="0"/>
          </a:p>
          <a:p>
            <a:pPr algn="just">
              <a:lnSpc>
                <a:spcPct val="150000"/>
              </a:lnSpc>
            </a:pPr>
            <a:endParaRPr lang="en-IN" sz="2200" dirty="0"/>
          </a:p>
        </p:txBody>
      </p:sp>
    </p:spTree>
    <p:extLst>
      <p:ext uri="{BB962C8B-B14F-4D97-AF65-F5344CB8AC3E}">
        <p14:creationId xmlns:p14="http://schemas.microsoft.com/office/powerpoint/2010/main" val="14325535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303494-94E2-4753-BA2A-98DB7B6B2D74}"/>
              </a:ext>
            </a:extLst>
          </p:cNvPr>
          <p:cNvSpPr>
            <a:spLocks noGrp="1"/>
          </p:cNvSpPr>
          <p:nvPr>
            <p:ph type="title"/>
          </p:nvPr>
        </p:nvSpPr>
        <p:spPr>
          <a:xfrm>
            <a:off x="1097280" y="286603"/>
            <a:ext cx="10058400" cy="800517"/>
          </a:xfrm>
        </p:spPr>
        <p:txBody>
          <a:bodyPr>
            <a:normAutofit/>
          </a:bodyPr>
          <a:lstStyle/>
          <a:p>
            <a:r>
              <a:rPr lang="en-IN" sz="4000" b="1" dirty="0"/>
              <a:t>2.2 Applications of C++</a:t>
            </a:r>
          </a:p>
        </p:txBody>
      </p:sp>
      <p:sp>
        <p:nvSpPr>
          <p:cNvPr id="3" name="Content Placeholder 2">
            <a:extLst>
              <a:ext uri="{FF2B5EF4-FFF2-40B4-BE49-F238E27FC236}">
                <a16:creationId xmlns:a16="http://schemas.microsoft.com/office/drawing/2014/main" id="{7C7CF2B7-7B35-4839-B1B5-10752D6D39E5}"/>
              </a:ext>
            </a:extLst>
          </p:cNvPr>
          <p:cNvSpPr>
            <a:spLocks noGrp="1"/>
          </p:cNvSpPr>
          <p:nvPr>
            <p:ph idx="1"/>
          </p:nvPr>
        </p:nvSpPr>
        <p:spPr/>
        <p:txBody>
          <a:bodyPr>
            <a:normAutofit/>
          </a:bodyPr>
          <a:lstStyle/>
          <a:p>
            <a:pPr algn="just">
              <a:buFont typeface="Wingdings" panose="05000000000000000000" pitchFamily="2" charset="2"/>
              <a:buChar char="§"/>
            </a:pPr>
            <a:r>
              <a:rPr lang="en-US" sz="2200" dirty="0"/>
              <a:t> Since C++ allows us to create hierarchy-related objects, we can build special object-oriented libraries which can be used later by many programmers. </a:t>
            </a:r>
          </a:p>
          <a:p>
            <a:pPr algn="just">
              <a:buFont typeface="Wingdings" panose="05000000000000000000" pitchFamily="2" charset="2"/>
              <a:buChar char="§"/>
            </a:pPr>
            <a:r>
              <a:rPr lang="en-US" sz="2200" dirty="0"/>
              <a:t> While C++ is able to map the real-world problems.</a:t>
            </a:r>
          </a:p>
          <a:p>
            <a:pPr algn="just">
              <a:buFont typeface="Wingdings" panose="05000000000000000000" pitchFamily="2" charset="2"/>
              <a:buChar char="§"/>
            </a:pPr>
            <a:r>
              <a:rPr lang="en-US" sz="2200" dirty="0"/>
              <a:t>C++ programs are easily maintainable and expandable.</a:t>
            </a:r>
          </a:p>
          <a:p>
            <a:pPr algn="just">
              <a:buFont typeface="Wingdings" panose="05000000000000000000" pitchFamily="2" charset="2"/>
              <a:buChar char="§"/>
            </a:pPr>
            <a:r>
              <a:rPr lang="en-US" sz="2200" dirty="0"/>
              <a:t>It is expected that C++ will replace C as a general-purpose language in the near future. </a:t>
            </a:r>
            <a:endParaRPr lang="en-IN" sz="2200" dirty="0"/>
          </a:p>
        </p:txBody>
      </p:sp>
    </p:spTree>
    <p:extLst>
      <p:ext uri="{BB962C8B-B14F-4D97-AF65-F5344CB8AC3E}">
        <p14:creationId xmlns:p14="http://schemas.microsoft.com/office/powerpoint/2010/main" val="11159183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2ED70C-9336-AD68-1716-396B5E16163E}"/>
              </a:ext>
            </a:extLst>
          </p:cNvPr>
          <p:cNvSpPr>
            <a:spLocks noGrp="1"/>
          </p:cNvSpPr>
          <p:nvPr>
            <p:ph type="title"/>
          </p:nvPr>
        </p:nvSpPr>
        <p:spPr>
          <a:xfrm>
            <a:off x="1097280" y="111760"/>
            <a:ext cx="10210800" cy="1249680"/>
          </a:xfrm>
        </p:spPr>
        <p:txBody>
          <a:bodyPr>
            <a:normAutofit fontScale="90000"/>
          </a:bodyPr>
          <a:lstStyle/>
          <a:p>
            <a:r>
              <a:rPr lang="en-US" dirty="0"/>
              <a:t>A Simple C++ Program</a:t>
            </a:r>
            <a:br>
              <a:rPr lang="en-US" dirty="0"/>
            </a:br>
            <a:endParaRPr lang="en-IN" dirty="0"/>
          </a:p>
        </p:txBody>
      </p:sp>
      <p:sp>
        <p:nvSpPr>
          <p:cNvPr id="3" name="Content Placeholder 2">
            <a:extLst>
              <a:ext uri="{FF2B5EF4-FFF2-40B4-BE49-F238E27FC236}">
                <a16:creationId xmlns:a16="http://schemas.microsoft.com/office/drawing/2014/main" id="{1940EE26-20FC-3C71-5F52-8DF5237B3AF4}"/>
              </a:ext>
            </a:extLst>
          </p:cNvPr>
          <p:cNvSpPr>
            <a:spLocks noGrp="1"/>
          </p:cNvSpPr>
          <p:nvPr>
            <p:ph idx="1"/>
          </p:nvPr>
        </p:nvSpPr>
        <p:spPr>
          <a:xfrm>
            <a:off x="1097280" y="1737360"/>
            <a:ext cx="10058400" cy="4236720"/>
          </a:xfrm>
        </p:spPr>
        <p:txBody>
          <a:bodyPr>
            <a:normAutofit fontScale="92500" lnSpcReduction="10000"/>
          </a:bodyPr>
          <a:lstStyle/>
          <a:p>
            <a:pPr>
              <a:lnSpc>
                <a:spcPct val="110000"/>
              </a:lnSpc>
            </a:pPr>
            <a:r>
              <a:rPr lang="en-US" dirty="0"/>
              <a:t>#include &lt;iostream&gt; //include header file</a:t>
            </a:r>
          </a:p>
          <a:p>
            <a:pPr>
              <a:lnSpc>
                <a:spcPct val="110000"/>
              </a:lnSpc>
            </a:pPr>
            <a:r>
              <a:rPr lang="en-US" dirty="0"/>
              <a:t>using namespace std;</a:t>
            </a:r>
          </a:p>
          <a:p>
            <a:pPr>
              <a:lnSpc>
                <a:spcPct val="110000"/>
              </a:lnSpc>
            </a:pPr>
            <a:r>
              <a:rPr lang="en-US" dirty="0"/>
              <a:t>int main()</a:t>
            </a:r>
          </a:p>
          <a:p>
            <a:pPr>
              <a:lnSpc>
                <a:spcPct val="110000"/>
              </a:lnSpc>
            </a:pPr>
            <a:r>
              <a:rPr lang="en-US" dirty="0"/>
              <a:t>{</a:t>
            </a:r>
          </a:p>
          <a:p>
            <a:pPr>
              <a:lnSpc>
                <a:spcPct val="110000"/>
              </a:lnSpc>
            </a:pPr>
            <a:r>
              <a:rPr lang="en-US" dirty="0"/>
              <a:t> </a:t>
            </a:r>
            <a:r>
              <a:rPr lang="en-US" dirty="0" err="1"/>
              <a:t>cout</a:t>
            </a:r>
            <a:r>
              <a:rPr lang="en-US" dirty="0"/>
              <a:t> &lt;&lt; "Hello World"; // C++ statement </a:t>
            </a:r>
          </a:p>
          <a:p>
            <a:pPr>
              <a:lnSpc>
                <a:spcPct val="110000"/>
              </a:lnSpc>
            </a:pPr>
            <a:r>
              <a:rPr lang="en-US" dirty="0"/>
              <a:t>return 0;</a:t>
            </a:r>
          </a:p>
          <a:p>
            <a:pPr>
              <a:lnSpc>
                <a:spcPct val="110000"/>
              </a:lnSpc>
            </a:pPr>
            <a:r>
              <a:rPr lang="en-US" dirty="0"/>
              <a:t>}</a:t>
            </a:r>
          </a:p>
          <a:p>
            <a:pPr marL="382588" lvl="1" indent="-382588">
              <a:buFont typeface="Wingdings" panose="05000000000000000000" pitchFamily="2" charset="2"/>
              <a:buChar char="§"/>
            </a:pPr>
            <a:r>
              <a:rPr lang="en-US" b="1" dirty="0">
                <a:solidFill>
                  <a:srgbClr val="FF0000"/>
                </a:solidFill>
              </a:rPr>
              <a:t>iostream</a:t>
            </a:r>
            <a:r>
              <a:rPr lang="en-US" dirty="0"/>
              <a:t> is just like we include </a:t>
            </a:r>
            <a:r>
              <a:rPr lang="en-US" b="1" dirty="0" err="1">
                <a:solidFill>
                  <a:srgbClr val="FF0000"/>
                </a:solidFill>
              </a:rPr>
              <a:t>stdio.h</a:t>
            </a:r>
            <a:r>
              <a:rPr lang="en-US" b="1" dirty="0">
                <a:solidFill>
                  <a:srgbClr val="FF0000"/>
                </a:solidFill>
              </a:rPr>
              <a:t> </a:t>
            </a:r>
            <a:r>
              <a:rPr lang="en-US" dirty="0"/>
              <a:t>in c program. </a:t>
            </a:r>
          </a:p>
          <a:p>
            <a:pPr marL="382588" lvl="1" indent="-382588">
              <a:buFont typeface="Wingdings" panose="05000000000000000000" pitchFamily="2" charset="2"/>
              <a:buChar char="§"/>
            </a:pPr>
            <a:r>
              <a:rPr lang="en-US" dirty="0"/>
              <a:t>It contains declarations for the identifier </a:t>
            </a:r>
            <a:r>
              <a:rPr lang="en-US" b="1" dirty="0" err="1">
                <a:solidFill>
                  <a:srgbClr val="FF0000"/>
                </a:solidFill>
              </a:rPr>
              <a:t>cout</a:t>
            </a:r>
            <a:r>
              <a:rPr lang="en-US" b="1" dirty="0"/>
              <a:t> </a:t>
            </a:r>
            <a:r>
              <a:rPr lang="en-US" dirty="0"/>
              <a:t>and the insertion operator </a:t>
            </a:r>
            <a:r>
              <a:rPr lang="en-US" b="1" dirty="0"/>
              <a:t>&lt;&lt;</a:t>
            </a:r>
            <a:r>
              <a:rPr lang="en-US" dirty="0"/>
              <a:t>. </a:t>
            </a:r>
          </a:p>
          <a:p>
            <a:pPr marL="382588" lvl="1" indent="-382588">
              <a:buFont typeface="Wingdings" panose="05000000000000000000" pitchFamily="2" charset="2"/>
              <a:buChar char="§"/>
            </a:pPr>
            <a:r>
              <a:rPr lang="en-US" b="1" dirty="0">
                <a:solidFill>
                  <a:srgbClr val="FF0000"/>
                </a:solidFill>
              </a:rPr>
              <a:t>iostream</a:t>
            </a:r>
            <a:r>
              <a:rPr lang="en-US" dirty="0"/>
              <a:t> should be included at the beginning of all programs that use input/output statements.</a:t>
            </a:r>
            <a:endParaRPr lang="en-IN" dirty="0"/>
          </a:p>
        </p:txBody>
      </p:sp>
    </p:spTree>
    <p:extLst>
      <p:ext uri="{BB962C8B-B14F-4D97-AF65-F5344CB8AC3E}">
        <p14:creationId xmlns:p14="http://schemas.microsoft.com/office/powerpoint/2010/main" val="679619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32CEBA-1B4A-FCE7-D0C0-E721DDE81FF7}"/>
              </a:ext>
            </a:extLst>
          </p:cNvPr>
          <p:cNvSpPr>
            <a:spLocks noGrp="1"/>
          </p:cNvSpPr>
          <p:nvPr>
            <p:ph type="title"/>
          </p:nvPr>
        </p:nvSpPr>
        <p:spPr/>
        <p:txBody>
          <a:bodyPr/>
          <a:lstStyle/>
          <a:p>
            <a:r>
              <a:rPr lang="en-US" dirty="0"/>
              <a:t>A Simple C++ Program (</a:t>
            </a:r>
            <a:r>
              <a:rPr lang="en-US" dirty="0" err="1"/>
              <a:t>Cont</a:t>
            </a:r>
            <a:r>
              <a:rPr lang="en-US" dirty="0"/>
              <a:t>…)</a:t>
            </a:r>
            <a:endParaRPr lang="en-IN" dirty="0"/>
          </a:p>
        </p:txBody>
      </p:sp>
      <p:sp>
        <p:nvSpPr>
          <p:cNvPr id="3" name="Content Placeholder 2">
            <a:extLst>
              <a:ext uri="{FF2B5EF4-FFF2-40B4-BE49-F238E27FC236}">
                <a16:creationId xmlns:a16="http://schemas.microsoft.com/office/drawing/2014/main" id="{84BE8C21-E3D2-4768-1272-D0E018835917}"/>
              </a:ext>
            </a:extLst>
          </p:cNvPr>
          <p:cNvSpPr>
            <a:spLocks noGrp="1"/>
          </p:cNvSpPr>
          <p:nvPr>
            <p:ph idx="1"/>
          </p:nvPr>
        </p:nvSpPr>
        <p:spPr/>
        <p:txBody>
          <a:bodyPr>
            <a:normAutofit/>
          </a:bodyPr>
          <a:lstStyle/>
          <a:p>
            <a:pPr>
              <a:buFont typeface="Wingdings" panose="05000000000000000000" pitchFamily="2" charset="2"/>
              <a:buChar char="§"/>
            </a:pPr>
            <a:r>
              <a:rPr lang="en-US" sz="2800" dirty="0"/>
              <a:t>A namespace is a declarative region. </a:t>
            </a:r>
          </a:p>
          <a:p>
            <a:pPr>
              <a:buFont typeface="Wingdings" panose="05000000000000000000" pitchFamily="2" charset="2"/>
              <a:buChar char="§"/>
            </a:pPr>
            <a:r>
              <a:rPr lang="en-US" sz="2800" dirty="0"/>
              <a:t>A </a:t>
            </a:r>
            <a:r>
              <a:rPr lang="en-US" sz="2800" dirty="0">
                <a:solidFill>
                  <a:srgbClr val="FF0000"/>
                </a:solidFill>
              </a:rPr>
              <a:t>namespace</a:t>
            </a:r>
            <a:r>
              <a:rPr lang="en-US" sz="2800" dirty="0"/>
              <a:t> is a part of the program in which certain names are recognized; outside of the namespace they're unknown. </a:t>
            </a:r>
          </a:p>
          <a:p>
            <a:pPr>
              <a:buFont typeface="Wingdings" panose="05000000000000000000" pitchFamily="2" charset="2"/>
              <a:buChar char="§"/>
            </a:pPr>
            <a:r>
              <a:rPr lang="en-US" sz="2800" dirty="0"/>
              <a:t>namespace defines a scope for the identifies that are used in a program.</a:t>
            </a:r>
          </a:p>
          <a:p>
            <a:pPr>
              <a:buFont typeface="Wingdings" panose="05000000000000000000" pitchFamily="2" charset="2"/>
              <a:buChar char="§"/>
            </a:pPr>
            <a:r>
              <a:rPr lang="en-US" sz="2800" dirty="0">
                <a:solidFill>
                  <a:srgbClr val="FF0000"/>
                </a:solidFill>
              </a:rPr>
              <a:t>using </a:t>
            </a:r>
            <a:r>
              <a:rPr lang="en-US" sz="2800" dirty="0"/>
              <a:t>and </a:t>
            </a:r>
            <a:r>
              <a:rPr lang="en-US" sz="2800" dirty="0">
                <a:solidFill>
                  <a:srgbClr val="FF0000"/>
                </a:solidFill>
              </a:rPr>
              <a:t>namespace </a:t>
            </a:r>
            <a:r>
              <a:rPr lang="en-US" sz="2800" dirty="0"/>
              <a:t>are the keywords of C++.</a:t>
            </a:r>
            <a:endParaRPr lang="en-IN" sz="2800" dirty="0"/>
          </a:p>
        </p:txBody>
      </p:sp>
    </p:spTree>
    <p:extLst>
      <p:ext uri="{BB962C8B-B14F-4D97-AF65-F5344CB8AC3E}">
        <p14:creationId xmlns:p14="http://schemas.microsoft.com/office/powerpoint/2010/main" val="9133454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E99EDC-F670-8A06-EE3E-1C36FEACE4CD}"/>
              </a:ext>
            </a:extLst>
          </p:cNvPr>
          <p:cNvSpPr>
            <a:spLocks noGrp="1"/>
          </p:cNvSpPr>
          <p:nvPr>
            <p:ph type="title"/>
          </p:nvPr>
        </p:nvSpPr>
        <p:spPr/>
        <p:txBody>
          <a:bodyPr/>
          <a:lstStyle/>
          <a:p>
            <a:r>
              <a:rPr lang="en-US" dirty="0"/>
              <a:t>A Simple C++ Program (</a:t>
            </a:r>
            <a:r>
              <a:rPr lang="en-US" dirty="0" err="1"/>
              <a:t>Cont</a:t>
            </a:r>
            <a:r>
              <a:rPr lang="en-US" dirty="0"/>
              <a:t>…)</a:t>
            </a:r>
            <a:endParaRPr lang="en-IN" dirty="0"/>
          </a:p>
        </p:txBody>
      </p:sp>
      <p:sp>
        <p:nvSpPr>
          <p:cNvPr id="3" name="Content Placeholder 2">
            <a:extLst>
              <a:ext uri="{FF2B5EF4-FFF2-40B4-BE49-F238E27FC236}">
                <a16:creationId xmlns:a16="http://schemas.microsoft.com/office/drawing/2014/main" id="{3465B00F-47E1-9F5A-FD61-5879736F4F14}"/>
              </a:ext>
            </a:extLst>
          </p:cNvPr>
          <p:cNvSpPr>
            <a:spLocks noGrp="1"/>
          </p:cNvSpPr>
          <p:nvPr>
            <p:ph idx="1"/>
          </p:nvPr>
        </p:nvSpPr>
        <p:spPr/>
        <p:txBody>
          <a:bodyPr>
            <a:normAutofit/>
          </a:bodyPr>
          <a:lstStyle/>
          <a:p>
            <a:pPr>
              <a:buFont typeface="Wingdings" panose="05000000000000000000" pitchFamily="2" charset="2"/>
              <a:buChar char="§"/>
            </a:pPr>
            <a:r>
              <a:rPr lang="en-US" sz="2800" dirty="0">
                <a:solidFill>
                  <a:srgbClr val="FF0000"/>
                </a:solidFill>
              </a:rPr>
              <a:t>std</a:t>
            </a:r>
            <a:r>
              <a:rPr lang="en-US" sz="2800" dirty="0"/>
              <a:t> is the namespace where ANSI C++ standard class libraries are defined.</a:t>
            </a:r>
          </a:p>
          <a:p>
            <a:pPr>
              <a:buFont typeface="Wingdings" panose="05000000000000000000" pitchFamily="2" charset="2"/>
              <a:buChar char="§"/>
            </a:pPr>
            <a:r>
              <a:rPr lang="en-US" sz="2800" dirty="0"/>
              <a:t>Various program components such as </a:t>
            </a:r>
            <a:r>
              <a:rPr lang="en-US" sz="2800" dirty="0" err="1">
                <a:solidFill>
                  <a:srgbClr val="FF0000"/>
                </a:solidFill>
              </a:rPr>
              <a:t>cout</a:t>
            </a:r>
            <a:r>
              <a:rPr lang="en-US" sz="2800" dirty="0">
                <a:solidFill>
                  <a:srgbClr val="FF0000"/>
                </a:solidFill>
              </a:rPr>
              <a:t>, </a:t>
            </a:r>
            <a:r>
              <a:rPr lang="en-US" sz="2800" dirty="0" err="1">
                <a:solidFill>
                  <a:srgbClr val="FF0000"/>
                </a:solidFill>
              </a:rPr>
              <a:t>cin</a:t>
            </a:r>
            <a:r>
              <a:rPr lang="en-US" sz="2800" dirty="0">
                <a:solidFill>
                  <a:srgbClr val="FF0000"/>
                </a:solidFill>
              </a:rPr>
              <a:t>, </a:t>
            </a:r>
            <a:r>
              <a:rPr lang="en-US" sz="2800" dirty="0" err="1">
                <a:solidFill>
                  <a:srgbClr val="FF0000"/>
                </a:solidFill>
              </a:rPr>
              <a:t>endl</a:t>
            </a:r>
            <a:r>
              <a:rPr lang="en-US" sz="2800" dirty="0">
                <a:solidFill>
                  <a:srgbClr val="FF0000"/>
                </a:solidFill>
              </a:rPr>
              <a:t> </a:t>
            </a:r>
            <a:r>
              <a:rPr lang="en-US" sz="2800" dirty="0"/>
              <a:t>are defined within std namespace.</a:t>
            </a:r>
          </a:p>
          <a:p>
            <a:pPr>
              <a:buFont typeface="Wingdings" panose="05000000000000000000" pitchFamily="2" charset="2"/>
              <a:buChar char="§"/>
            </a:pPr>
            <a:r>
              <a:rPr lang="en-US" sz="2800" dirty="0"/>
              <a:t>If we don't use the using directive at top, we have to add the std followed by in the program before identifier.</a:t>
            </a:r>
          </a:p>
          <a:p>
            <a:r>
              <a:rPr lang="en-US" sz="2800" dirty="0">
                <a:solidFill>
                  <a:srgbClr val="FF0000"/>
                </a:solidFill>
              </a:rPr>
              <a:t>std</a:t>
            </a:r>
            <a:r>
              <a:rPr lang="en-US" sz="2800" dirty="0"/>
              <a:t>::</a:t>
            </a:r>
            <a:r>
              <a:rPr lang="en-US" sz="2800" dirty="0" err="1">
                <a:solidFill>
                  <a:srgbClr val="FF0000"/>
                </a:solidFill>
              </a:rPr>
              <a:t>cout</a:t>
            </a:r>
            <a:r>
              <a:rPr lang="en-US" sz="2800" dirty="0"/>
              <a:t> &lt;&lt; "Hello World";</a:t>
            </a:r>
          </a:p>
        </p:txBody>
      </p:sp>
    </p:spTree>
    <p:extLst>
      <p:ext uri="{BB962C8B-B14F-4D97-AF65-F5344CB8AC3E}">
        <p14:creationId xmlns:p14="http://schemas.microsoft.com/office/powerpoint/2010/main" val="16229282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213F84-233F-D463-C51A-2974613173F3}"/>
              </a:ext>
            </a:extLst>
          </p:cNvPr>
          <p:cNvSpPr>
            <a:spLocks noGrp="1"/>
          </p:cNvSpPr>
          <p:nvPr>
            <p:ph type="title"/>
          </p:nvPr>
        </p:nvSpPr>
        <p:spPr/>
        <p:txBody>
          <a:bodyPr/>
          <a:lstStyle/>
          <a:p>
            <a:r>
              <a:rPr lang="en-US" dirty="0"/>
              <a:t>A Simple C++ Program (</a:t>
            </a:r>
            <a:r>
              <a:rPr lang="en-US" dirty="0" err="1"/>
              <a:t>Cont</a:t>
            </a:r>
            <a:r>
              <a:rPr lang="en-US" dirty="0"/>
              <a:t>…)</a:t>
            </a:r>
            <a:endParaRPr lang="en-IN" dirty="0"/>
          </a:p>
        </p:txBody>
      </p:sp>
      <p:sp>
        <p:nvSpPr>
          <p:cNvPr id="3" name="Content Placeholder 2">
            <a:extLst>
              <a:ext uri="{FF2B5EF4-FFF2-40B4-BE49-F238E27FC236}">
                <a16:creationId xmlns:a16="http://schemas.microsoft.com/office/drawing/2014/main" id="{F76298CF-04DB-4D55-A862-5BAF6B6B7F3F}"/>
              </a:ext>
            </a:extLst>
          </p:cNvPr>
          <p:cNvSpPr>
            <a:spLocks noGrp="1"/>
          </p:cNvSpPr>
          <p:nvPr>
            <p:ph idx="1"/>
          </p:nvPr>
        </p:nvSpPr>
        <p:spPr/>
        <p:txBody>
          <a:bodyPr>
            <a:normAutofit/>
          </a:bodyPr>
          <a:lstStyle/>
          <a:p>
            <a:pPr algn="just"/>
            <a:r>
              <a:rPr lang="en-US" sz="2800" dirty="0"/>
              <a:t>In C++, </a:t>
            </a:r>
            <a:r>
              <a:rPr lang="en-US" sz="2800" dirty="0">
                <a:solidFill>
                  <a:srgbClr val="FF0000"/>
                </a:solidFill>
              </a:rPr>
              <a:t>main () </a:t>
            </a:r>
            <a:r>
              <a:rPr lang="en-US" sz="2800" dirty="0"/>
              <a:t>returns an integer type value to operating system.</a:t>
            </a:r>
          </a:p>
          <a:p>
            <a:pPr algn="just"/>
            <a:r>
              <a:rPr lang="en-US" sz="2800" dirty="0"/>
              <a:t>Therefore, every </a:t>
            </a:r>
            <a:r>
              <a:rPr lang="en-US" sz="2800" dirty="0">
                <a:solidFill>
                  <a:srgbClr val="FF0000"/>
                </a:solidFill>
              </a:rPr>
              <a:t>main() </a:t>
            </a:r>
            <a:r>
              <a:rPr lang="en-US" sz="2800" dirty="0"/>
              <a:t>in C++ should end with a </a:t>
            </a:r>
            <a:r>
              <a:rPr lang="en-US" sz="2800" dirty="0">
                <a:solidFill>
                  <a:srgbClr val="FF0000"/>
                </a:solidFill>
              </a:rPr>
              <a:t>return 0</a:t>
            </a:r>
            <a:r>
              <a:rPr lang="en-US" sz="2800" dirty="0"/>
              <a:t>; statement; otherwise, error will occur.</a:t>
            </a:r>
          </a:p>
          <a:p>
            <a:pPr algn="just"/>
            <a:r>
              <a:rPr lang="en-US" sz="2800" dirty="0"/>
              <a:t>The return value from the </a:t>
            </a:r>
            <a:r>
              <a:rPr lang="en-US" sz="2800" dirty="0">
                <a:solidFill>
                  <a:srgbClr val="FF0000"/>
                </a:solidFill>
              </a:rPr>
              <a:t>main() </a:t>
            </a:r>
            <a:r>
              <a:rPr lang="en-US" sz="2800" dirty="0"/>
              <a:t>function is used by the runtime library as the exit code for the process.</a:t>
            </a:r>
            <a:endParaRPr lang="en-IN" sz="2800" dirty="0"/>
          </a:p>
          <a:p>
            <a:pPr algn="just"/>
            <a:endParaRPr lang="en-IN" sz="2800" dirty="0"/>
          </a:p>
        </p:txBody>
      </p:sp>
    </p:spTree>
    <p:extLst>
      <p:ext uri="{BB962C8B-B14F-4D97-AF65-F5344CB8AC3E}">
        <p14:creationId xmlns:p14="http://schemas.microsoft.com/office/powerpoint/2010/main" val="26013382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F2B94C-E87E-CC49-80FF-E419A1E06B6D}"/>
              </a:ext>
            </a:extLst>
          </p:cNvPr>
          <p:cNvSpPr>
            <a:spLocks noGrp="1"/>
          </p:cNvSpPr>
          <p:nvPr>
            <p:ph type="title"/>
          </p:nvPr>
        </p:nvSpPr>
        <p:spPr/>
        <p:txBody>
          <a:bodyPr/>
          <a:lstStyle/>
          <a:p>
            <a:r>
              <a:rPr lang="en-IN" dirty="0"/>
              <a:t>Insertion Operator &lt;&lt;</a:t>
            </a:r>
          </a:p>
        </p:txBody>
      </p:sp>
      <p:sp>
        <p:nvSpPr>
          <p:cNvPr id="3" name="Content Placeholder 2">
            <a:extLst>
              <a:ext uri="{FF2B5EF4-FFF2-40B4-BE49-F238E27FC236}">
                <a16:creationId xmlns:a16="http://schemas.microsoft.com/office/drawing/2014/main" id="{3F1E746D-DBBE-14DD-EC45-2E4093433C28}"/>
              </a:ext>
            </a:extLst>
          </p:cNvPr>
          <p:cNvSpPr>
            <a:spLocks noGrp="1"/>
          </p:cNvSpPr>
          <p:nvPr>
            <p:ph idx="1"/>
          </p:nvPr>
        </p:nvSpPr>
        <p:spPr/>
        <p:txBody>
          <a:bodyPr>
            <a:normAutofit/>
          </a:bodyPr>
          <a:lstStyle/>
          <a:p>
            <a:pPr algn="ctr"/>
            <a:r>
              <a:rPr lang="en-US" b="1" dirty="0" err="1">
                <a:solidFill>
                  <a:srgbClr val="FF0000"/>
                </a:solidFill>
              </a:rPr>
              <a:t>cout</a:t>
            </a:r>
            <a:r>
              <a:rPr lang="en-US" b="1" dirty="0">
                <a:solidFill>
                  <a:srgbClr val="FF0000"/>
                </a:solidFill>
              </a:rPr>
              <a:t> &lt;&lt; "Hello World";</a:t>
            </a:r>
          </a:p>
          <a:p>
            <a:pPr>
              <a:buFont typeface="Wingdings" panose="05000000000000000000" pitchFamily="2" charset="2"/>
              <a:buChar char="§"/>
            </a:pPr>
            <a:r>
              <a:rPr lang="en-US" dirty="0"/>
              <a:t>The operator &lt;&lt; is called the insertion operator. </a:t>
            </a:r>
          </a:p>
          <a:p>
            <a:pPr>
              <a:buFont typeface="Wingdings" panose="05000000000000000000" pitchFamily="2" charset="2"/>
              <a:buChar char="§"/>
            </a:pPr>
            <a:r>
              <a:rPr lang="en-US" dirty="0"/>
              <a:t>It inserts the contents of the variable on its right to the object on its left. </a:t>
            </a:r>
          </a:p>
          <a:p>
            <a:pPr>
              <a:buFont typeface="Wingdings" panose="05000000000000000000" pitchFamily="2" charset="2"/>
              <a:buChar char="§"/>
            </a:pPr>
            <a:r>
              <a:rPr lang="en-US" dirty="0"/>
              <a:t>The identifier </a:t>
            </a:r>
            <a:r>
              <a:rPr lang="en-US" b="1" dirty="0" err="1">
                <a:solidFill>
                  <a:srgbClr val="FF0000"/>
                </a:solidFill>
              </a:rPr>
              <a:t>cout</a:t>
            </a:r>
            <a:r>
              <a:rPr lang="en-US" dirty="0"/>
              <a:t> is a predefined object </a:t>
            </a:r>
            <a:r>
              <a:rPr lang="en-US" dirty="0" err="1"/>
              <a:t>object</a:t>
            </a:r>
            <a:r>
              <a:rPr lang="en-US" dirty="0"/>
              <a:t> that represents standard output stream in C++.</a:t>
            </a:r>
          </a:p>
          <a:p>
            <a:pPr>
              <a:buFont typeface="Wingdings" panose="05000000000000000000" pitchFamily="2" charset="2"/>
              <a:buChar char="§"/>
            </a:pPr>
            <a:r>
              <a:rPr lang="en-US" dirty="0"/>
              <a:t>Here, Screen represents the output. We can also redirect the output to other output devices.</a:t>
            </a:r>
          </a:p>
          <a:p>
            <a:pPr>
              <a:buFont typeface="Wingdings" panose="05000000000000000000" pitchFamily="2" charset="2"/>
              <a:buChar char="§"/>
            </a:pPr>
            <a:r>
              <a:rPr lang="en-US" dirty="0"/>
              <a:t>The operator &lt;&lt; is used as bitwise left shift operator also.</a:t>
            </a:r>
          </a:p>
        </p:txBody>
      </p:sp>
      <p:pic>
        <p:nvPicPr>
          <p:cNvPr id="5" name="Picture 4">
            <a:extLst>
              <a:ext uri="{FF2B5EF4-FFF2-40B4-BE49-F238E27FC236}">
                <a16:creationId xmlns:a16="http://schemas.microsoft.com/office/drawing/2014/main" id="{6EFC2D6C-DB82-2793-AB0C-6A784A563F0B}"/>
              </a:ext>
            </a:extLst>
          </p:cNvPr>
          <p:cNvPicPr>
            <a:picLocks noChangeAspect="1"/>
          </p:cNvPicPr>
          <p:nvPr/>
        </p:nvPicPr>
        <p:blipFill>
          <a:blip r:embed="rId2"/>
          <a:stretch>
            <a:fillRect/>
          </a:stretch>
        </p:blipFill>
        <p:spPr>
          <a:xfrm>
            <a:off x="7366000" y="4186676"/>
            <a:ext cx="2987039" cy="1949964"/>
          </a:xfrm>
          <a:prstGeom prst="rect">
            <a:avLst/>
          </a:prstGeom>
        </p:spPr>
      </p:pic>
    </p:spTree>
    <p:extLst>
      <p:ext uri="{BB962C8B-B14F-4D97-AF65-F5344CB8AC3E}">
        <p14:creationId xmlns:p14="http://schemas.microsoft.com/office/powerpoint/2010/main" val="7979157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C6D8F5-E82B-8C14-7DD2-2B912D680DC5}"/>
              </a:ext>
            </a:extLst>
          </p:cNvPr>
          <p:cNvSpPr>
            <a:spLocks noGrp="1"/>
          </p:cNvSpPr>
          <p:nvPr>
            <p:ph type="title"/>
          </p:nvPr>
        </p:nvSpPr>
        <p:spPr/>
        <p:txBody>
          <a:bodyPr/>
          <a:lstStyle/>
          <a:p>
            <a:r>
              <a:rPr lang="en-IN" dirty="0"/>
              <a:t>Extraction Operator &gt;&gt;</a:t>
            </a:r>
          </a:p>
        </p:txBody>
      </p:sp>
      <p:sp>
        <p:nvSpPr>
          <p:cNvPr id="3" name="Content Placeholder 2">
            <a:extLst>
              <a:ext uri="{FF2B5EF4-FFF2-40B4-BE49-F238E27FC236}">
                <a16:creationId xmlns:a16="http://schemas.microsoft.com/office/drawing/2014/main" id="{66CB96E1-371E-FFF6-02CD-DD9B311A0698}"/>
              </a:ext>
            </a:extLst>
          </p:cNvPr>
          <p:cNvSpPr>
            <a:spLocks noGrp="1"/>
          </p:cNvSpPr>
          <p:nvPr>
            <p:ph idx="1"/>
          </p:nvPr>
        </p:nvSpPr>
        <p:spPr/>
        <p:txBody>
          <a:bodyPr>
            <a:normAutofit/>
          </a:bodyPr>
          <a:lstStyle/>
          <a:p>
            <a:pPr marL="0" indent="0" algn="ctr">
              <a:buNone/>
            </a:pPr>
            <a:r>
              <a:rPr lang="en-US" b="1" dirty="0" err="1">
                <a:solidFill>
                  <a:srgbClr val="FF0000"/>
                </a:solidFill>
              </a:rPr>
              <a:t>cin</a:t>
            </a:r>
            <a:r>
              <a:rPr lang="en-US" b="1" dirty="0">
                <a:solidFill>
                  <a:srgbClr val="FF0000"/>
                </a:solidFill>
              </a:rPr>
              <a:t> &gt;&gt; number1</a:t>
            </a:r>
          </a:p>
          <a:p>
            <a:pPr>
              <a:buFont typeface="Wingdings" panose="05000000000000000000" pitchFamily="2" charset="2"/>
              <a:buChar char="§"/>
            </a:pPr>
            <a:r>
              <a:rPr lang="en-US" dirty="0"/>
              <a:t>The operator &gt;&gt; is called the extraction operator.</a:t>
            </a:r>
          </a:p>
          <a:p>
            <a:pPr>
              <a:buFont typeface="Wingdings" panose="05000000000000000000" pitchFamily="2" charset="2"/>
              <a:buChar char="§"/>
            </a:pPr>
            <a:r>
              <a:rPr lang="en-US" dirty="0"/>
              <a:t>It extracts (or takes) the value from keyboard and assigns it to the variable on its right.</a:t>
            </a:r>
          </a:p>
          <a:p>
            <a:pPr>
              <a:buFont typeface="Wingdings" panose="05000000000000000000" pitchFamily="2" charset="2"/>
              <a:buChar char="§"/>
            </a:pPr>
            <a:r>
              <a:rPr lang="en-US" dirty="0"/>
              <a:t>The identifier </a:t>
            </a:r>
            <a:r>
              <a:rPr lang="en-US" dirty="0" err="1"/>
              <a:t>cin</a:t>
            </a:r>
            <a:r>
              <a:rPr lang="en-US" dirty="0"/>
              <a:t> is a predefined object that represents standard input stream in C++.</a:t>
            </a:r>
          </a:p>
          <a:p>
            <a:pPr>
              <a:buFont typeface="Wingdings" panose="05000000000000000000" pitchFamily="2" charset="2"/>
              <a:buChar char="§"/>
            </a:pPr>
            <a:r>
              <a:rPr lang="en-US" dirty="0"/>
              <a:t>Here, standard input stream represents the Keyboard.</a:t>
            </a:r>
          </a:p>
          <a:p>
            <a:pPr>
              <a:buFont typeface="Wingdings" panose="05000000000000000000" pitchFamily="2" charset="2"/>
              <a:buChar char="§"/>
            </a:pPr>
            <a:r>
              <a:rPr lang="en-US" dirty="0"/>
              <a:t>The operator &gt;&gt; is used as bitwise right shift operator also.</a:t>
            </a:r>
          </a:p>
        </p:txBody>
      </p:sp>
      <p:pic>
        <p:nvPicPr>
          <p:cNvPr id="5" name="Picture 4">
            <a:extLst>
              <a:ext uri="{FF2B5EF4-FFF2-40B4-BE49-F238E27FC236}">
                <a16:creationId xmlns:a16="http://schemas.microsoft.com/office/drawing/2014/main" id="{6AA0A9CD-25A4-436C-DADF-D60D50D7279B}"/>
              </a:ext>
            </a:extLst>
          </p:cNvPr>
          <p:cNvPicPr>
            <a:picLocks noChangeAspect="1"/>
          </p:cNvPicPr>
          <p:nvPr/>
        </p:nvPicPr>
        <p:blipFill>
          <a:blip r:embed="rId2"/>
          <a:stretch>
            <a:fillRect/>
          </a:stretch>
        </p:blipFill>
        <p:spPr>
          <a:xfrm>
            <a:off x="7779316" y="3795994"/>
            <a:ext cx="3813243" cy="2181473"/>
          </a:xfrm>
          <a:prstGeom prst="rect">
            <a:avLst/>
          </a:prstGeom>
        </p:spPr>
      </p:pic>
    </p:spTree>
    <p:extLst>
      <p:ext uri="{BB962C8B-B14F-4D97-AF65-F5344CB8AC3E}">
        <p14:creationId xmlns:p14="http://schemas.microsoft.com/office/powerpoint/2010/main" val="39362875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2AB631-46C8-CC3E-726D-F658BB4A01E3}"/>
              </a:ext>
            </a:extLst>
          </p:cNvPr>
          <p:cNvSpPr>
            <a:spLocks noGrp="1"/>
          </p:cNvSpPr>
          <p:nvPr>
            <p:ph type="title"/>
          </p:nvPr>
        </p:nvSpPr>
        <p:spPr>
          <a:xfrm>
            <a:off x="1097280" y="286603"/>
            <a:ext cx="10058400" cy="902117"/>
          </a:xfrm>
        </p:spPr>
        <p:txBody>
          <a:bodyPr>
            <a:normAutofit/>
          </a:bodyPr>
          <a:lstStyle/>
          <a:p>
            <a:r>
              <a:rPr lang="en-IN" sz="4000" dirty="0"/>
              <a:t>More C++ Statement</a:t>
            </a:r>
          </a:p>
        </p:txBody>
      </p:sp>
      <p:sp>
        <p:nvSpPr>
          <p:cNvPr id="3" name="Content Placeholder 2">
            <a:extLst>
              <a:ext uri="{FF2B5EF4-FFF2-40B4-BE49-F238E27FC236}">
                <a16:creationId xmlns:a16="http://schemas.microsoft.com/office/drawing/2014/main" id="{FA6ACC7D-4EF7-642F-B95D-CF5429A39C54}"/>
              </a:ext>
            </a:extLst>
          </p:cNvPr>
          <p:cNvSpPr>
            <a:spLocks noGrp="1"/>
          </p:cNvSpPr>
          <p:nvPr>
            <p:ph sz="half" idx="1"/>
          </p:nvPr>
        </p:nvSpPr>
        <p:spPr/>
        <p:txBody>
          <a:bodyPr>
            <a:normAutofit fontScale="92500" lnSpcReduction="20000"/>
          </a:bodyPr>
          <a:lstStyle/>
          <a:p>
            <a:r>
              <a:rPr lang="en-IN" sz="2300" b="1" dirty="0">
                <a:solidFill>
                  <a:srgbClr val="FF0000"/>
                </a:solidFill>
              </a:rPr>
              <a:t>Average of Two Numbers</a:t>
            </a:r>
          </a:p>
          <a:p>
            <a:pPr>
              <a:lnSpc>
                <a:spcPct val="110000"/>
              </a:lnSpc>
            </a:pPr>
            <a:r>
              <a:rPr lang="en-US" sz="2200" dirty="0"/>
              <a:t>#include &lt;iostream&gt; </a:t>
            </a:r>
          </a:p>
          <a:p>
            <a:pPr>
              <a:lnSpc>
                <a:spcPct val="110000"/>
              </a:lnSpc>
            </a:pPr>
            <a:r>
              <a:rPr lang="en-US" sz="2200" dirty="0"/>
              <a:t>using namespace std;</a:t>
            </a:r>
          </a:p>
          <a:p>
            <a:pPr>
              <a:lnSpc>
                <a:spcPct val="110000"/>
              </a:lnSpc>
            </a:pPr>
            <a:r>
              <a:rPr lang="en-US" sz="2200" dirty="0"/>
              <a:t>int main()</a:t>
            </a:r>
          </a:p>
          <a:p>
            <a:pPr>
              <a:lnSpc>
                <a:spcPct val="110000"/>
              </a:lnSpc>
            </a:pPr>
            <a:r>
              <a:rPr lang="en-US" sz="2200" dirty="0"/>
              <a:t>{</a:t>
            </a:r>
          </a:p>
          <a:p>
            <a:pPr>
              <a:lnSpc>
                <a:spcPct val="110000"/>
              </a:lnSpc>
            </a:pPr>
            <a:r>
              <a:rPr lang="en-US" sz="2200" dirty="0"/>
              <a:t>Float number1, number2, sum, average;</a:t>
            </a:r>
          </a:p>
          <a:p>
            <a:pPr>
              <a:lnSpc>
                <a:spcPct val="110000"/>
              </a:lnSpc>
            </a:pPr>
            <a:r>
              <a:rPr lang="en-US" sz="2200" dirty="0"/>
              <a:t> </a:t>
            </a:r>
            <a:r>
              <a:rPr lang="en-US" sz="2200" dirty="0" err="1"/>
              <a:t>cout</a:t>
            </a:r>
            <a:r>
              <a:rPr lang="en-US" sz="2200" dirty="0"/>
              <a:t> &lt;&lt; “Enter the two numbers:"; </a:t>
            </a:r>
          </a:p>
          <a:p>
            <a:pPr>
              <a:lnSpc>
                <a:spcPct val="110000"/>
              </a:lnSpc>
            </a:pPr>
            <a:r>
              <a:rPr lang="en-US" sz="2200" dirty="0"/>
              <a:t> </a:t>
            </a:r>
            <a:r>
              <a:rPr lang="en-US" sz="2200" dirty="0" err="1"/>
              <a:t>cin</a:t>
            </a:r>
            <a:r>
              <a:rPr lang="en-US" sz="2200" dirty="0"/>
              <a:t> &gt;&gt; number1     //Read from the keyboard</a:t>
            </a:r>
          </a:p>
          <a:p>
            <a:pPr>
              <a:lnSpc>
                <a:spcPct val="110000"/>
              </a:lnSpc>
            </a:pPr>
            <a:r>
              <a:rPr lang="en-US" sz="2200" dirty="0"/>
              <a:t> </a:t>
            </a:r>
            <a:r>
              <a:rPr lang="en-US" sz="2200" dirty="0" err="1"/>
              <a:t>cin</a:t>
            </a:r>
            <a:r>
              <a:rPr lang="en-US" sz="2200" dirty="0"/>
              <a:t> &gt;&gt; number2</a:t>
            </a:r>
          </a:p>
          <a:p>
            <a:endParaRPr lang="en-IN" dirty="0"/>
          </a:p>
        </p:txBody>
      </p:sp>
      <p:sp>
        <p:nvSpPr>
          <p:cNvPr id="4" name="Content Placeholder 3">
            <a:extLst>
              <a:ext uri="{FF2B5EF4-FFF2-40B4-BE49-F238E27FC236}">
                <a16:creationId xmlns:a16="http://schemas.microsoft.com/office/drawing/2014/main" id="{D5F5BE98-0833-7727-DBB7-4CFCD86AD91B}"/>
              </a:ext>
            </a:extLst>
          </p:cNvPr>
          <p:cNvSpPr>
            <a:spLocks noGrp="1"/>
          </p:cNvSpPr>
          <p:nvPr>
            <p:ph sz="half" idx="2"/>
          </p:nvPr>
        </p:nvSpPr>
        <p:spPr/>
        <p:txBody>
          <a:bodyPr>
            <a:normAutofit fontScale="92500" lnSpcReduction="20000"/>
          </a:bodyPr>
          <a:lstStyle/>
          <a:p>
            <a:pPr>
              <a:lnSpc>
                <a:spcPct val="100000"/>
              </a:lnSpc>
            </a:pPr>
            <a:r>
              <a:rPr lang="en-US" sz="2200" dirty="0"/>
              <a:t>sum = number1 + number2;</a:t>
            </a:r>
          </a:p>
          <a:p>
            <a:pPr>
              <a:lnSpc>
                <a:spcPct val="100000"/>
              </a:lnSpc>
            </a:pPr>
            <a:r>
              <a:rPr lang="en-US" sz="2200" dirty="0"/>
              <a:t>average = sum/2;</a:t>
            </a:r>
          </a:p>
          <a:p>
            <a:pPr>
              <a:lnSpc>
                <a:spcPct val="100000"/>
              </a:lnSpc>
            </a:pPr>
            <a:r>
              <a:rPr lang="en-US" sz="2200" dirty="0" err="1"/>
              <a:t>cout</a:t>
            </a:r>
            <a:r>
              <a:rPr lang="en-US" sz="2200" dirty="0"/>
              <a:t> &lt;&lt; “Sum = ”  &lt;&lt; sum &lt;&lt; “\n”;</a:t>
            </a:r>
          </a:p>
          <a:p>
            <a:pPr>
              <a:lnSpc>
                <a:spcPct val="100000"/>
              </a:lnSpc>
            </a:pPr>
            <a:r>
              <a:rPr lang="en-US" sz="2200" dirty="0" err="1"/>
              <a:t>cout</a:t>
            </a:r>
            <a:r>
              <a:rPr lang="en-US" sz="2200" dirty="0"/>
              <a:t> &lt;&lt; “Average = ”  &lt;&lt; average &lt;&lt; “\n”;</a:t>
            </a:r>
          </a:p>
          <a:p>
            <a:pPr>
              <a:lnSpc>
                <a:spcPct val="100000"/>
              </a:lnSpc>
            </a:pPr>
            <a:r>
              <a:rPr lang="en-US" sz="2200" dirty="0"/>
              <a:t>return 0;</a:t>
            </a:r>
          </a:p>
          <a:p>
            <a:pPr>
              <a:lnSpc>
                <a:spcPct val="100000"/>
              </a:lnSpc>
            </a:pPr>
            <a:r>
              <a:rPr lang="en-US" sz="2200" dirty="0"/>
              <a:t>}</a:t>
            </a:r>
          </a:p>
          <a:p>
            <a:r>
              <a:rPr lang="en-IN" dirty="0">
                <a:solidFill>
                  <a:srgbClr val="FF0000"/>
                </a:solidFill>
              </a:rPr>
              <a:t>Output</a:t>
            </a:r>
          </a:p>
          <a:p>
            <a:r>
              <a:rPr lang="en-IN" dirty="0">
                <a:solidFill>
                  <a:srgbClr val="FF0000"/>
                </a:solidFill>
              </a:rPr>
              <a:t>Enter the two numbers:     6.5     7.5</a:t>
            </a:r>
          </a:p>
          <a:p>
            <a:r>
              <a:rPr lang="en-IN" dirty="0">
                <a:solidFill>
                  <a:srgbClr val="FF0000"/>
                </a:solidFill>
              </a:rPr>
              <a:t>Sum = 14</a:t>
            </a:r>
          </a:p>
          <a:p>
            <a:r>
              <a:rPr lang="en-IN">
                <a:solidFill>
                  <a:srgbClr val="FF0000"/>
                </a:solidFill>
              </a:rPr>
              <a:t>Average = 7</a:t>
            </a:r>
            <a:endParaRPr lang="en-IN" dirty="0">
              <a:solidFill>
                <a:srgbClr val="FF0000"/>
              </a:solidFill>
            </a:endParaRPr>
          </a:p>
        </p:txBody>
      </p:sp>
    </p:spTree>
    <p:extLst>
      <p:ext uri="{BB962C8B-B14F-4D97-AF65-F5344CB8AC3E}">
        <p14:creationId xmlns:p14="http://schemas.microsoft.com/office/powerpoint/2010/main" val="4901064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3C423C-CF86-2808-CF70-4C357783304F}"/>
              </a:ext>
            </a:extLst>
          </p:cNvPr>
          <p:cNvSpPr>
            <a:spLocks noGrp="1"/>
          </p:cNvSpPr>
          <p:nvPr>
            <p:ph type="title"/>
          </p:nvPr>
        </p:nvSpPr>
        <p:spPr/>
        <p:txBody>
          <a:bodyPr/>
          <a:lstStyle/>
          <a:p>
            <a:r>
              <a:rPr lang="en-US" dirty="0"/>
              <a:t>Cascading of 1/0 Operators</a:t>
            </a:r>
            <a:br>
              <a:rPr lang="en-US" dirty="0"/>
            </a:br>
            <a:endParaRPr lang="en-IN" dirty="0"/>
          </a:p>
        </p:txBody>
      </p:sp>
      <p:sp>
        <p:nvSpPr>
          <p:cNvPr id="3" name="Content Placeholder 2">
            <a:extLst>
              <a:ext uri="{FF2B5EF4-FFF2-40B4-BE49-F238E27FC236}">
                <a16:creationId xmlns:a16="http://schemas.microsoft.com/office/drawing/2014/main" id="{6580306E-8DA3-46A3-CF9B-7AA2A5D683B3}"/>
              </a:ext>
            </a:extLst>
          </p:cNvPr>
          <p:cNvSpPr>
            <a:spLocks noGrp="1"/>
          </p:cNvSpPr>
          <p:nvPr>
            <p:ph idx="1"/>
          </p:nvPr>
        </p:nvSpPr>
        <p:spPr/>
        <p:txBody>
          <a:bodyPr>
            <a:normAutofit/>
          </a:bodyPr>
          <a:lstStyle/>
          <a:p>
            <a:r>
              <a:rPr lang="en-US" sz="2400" dirty="0"/>
              <a:t>If we use insertion operator &lt;&lt; repeatedly in the statements for printing results.</a:t>
            </a:r>
          </a:p>
          <a:p>
            <a:r>
              <a:rPr lang="en-US" sz="2400" dirty="0"/>
              <a:t>For example, The statement like this</a:t>
            </a:r>
          </a:p>
          <a:p>
            <a:r>
              <a:rPr lang="en-US" sz="2400" dirty="0" err="1"/>
              <a:t>cout</a:t>
            </a:r>
            <a:r>
              <a:rPr lang="en-US" sz="2400" dirty="0"/>
              <a:t> &lt;&lt; "Sum” &lt;&lt; sum &lt;&lt;"\n";</a:t>
            </a:r>
          </a:p>
          <a:p>
            <a:pPr>
              <a:buFont typeface="Wingdings" panose="05000000000000000000" pitchFamily="2" charset="2"/>
              <a:buChar char="§"/>
            </a:pPr>
            <a:r>
              <a:rPr lang="en-US" sz="2400" dirty="0"/>
              <a:t> First sends the string "Sum" to </a:t>
            </a:r>
            <a:r>
              <a:rPr lang="en-US" sz="2400" dirty="0" err="1"/>
              <a:t>cout</a:t>
            </a:r>
            <a:r>
              <a:rPr lang="en-US" sz="2400" dirty="0"/>
              <a:t> and then sends the value of sum. Finally, it sends the newline character so that the next output will be in the new line.  </a:t>
            </a:r>
          </a:p>
          <a:p>
            <a:pPr>
              <a:buFont typeface="Wingdings" panose="05000000000000000000" pitchFamily="2" charset="2"/>
              <a:buChar char="§"/>
            </a:pPr>
            <a:r>
              <a:rPr lang="en-US" sz="2400" dirty="0"/>
              <a:t>The multiple use of &lt;&lt; in one statement is called cascading. </a:t>
            </a:r>
            <a:endParaRPr lang="en-IN" sz="2400" dirty="0"/>
          </a:p>
        </p:txBody>
      </p:sp>
    </p:spTree>
    <p:extLst>
      <p:ext uri="{BB962C8B-B14F-4D97-AF65-F5344CB8AC3E}">
        <p14:creationId xmlns:p14="http://schemas.microsoft.com/office/powerpoint/2010/main" val="28907255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EEC3A0-D00E-42F0-A593-01F71E0A6A7D}"/>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405F8C8C-5B10-968B-49C3-1F355E1401A3}"/>
              </a:ext>
            </a:extLst>
          </p:cNvPr>
          <p:cNvSpPr>
            <a:spLocks noGrp="1"/>
          </p:cNvSpPr>
          <p:nvPr>
            <p:ph idx="1"/>
          </p:nvPr>
        </p:nvSpPr>
        <p:spPr/>
        <p:txBody>
          <a:bodyPr>
            <a:normAutofit/>
          </a:bodyPr>
          <a:lstStyle/>
          <a:p>
            <a:pPr marL="0" indent="0">
              <a:buNone/>
            </a:pPr>
            <a:r>
              <a:rPr lang="en-US" dirty="0"/>
              <a:t>Two statements can be combined as follows:</a:t>
            </a:r>
          </a:p>
          <a:p>
            <a:pPr marL="0" indent="0">
              <a:buNone/>
            </a:pPr>
            <a:r>
              <a:rPr lang="en-US" dirty="0" err="1"/>
              <a:t>cout</a:t>
            </a:r>
            <a:r>
              <a:rPr lang="en-US" dirty="0"/>
              <a:t>&lt;&lt;"Sum = ” &lt;&lt;sum "\n"</a:t>
            </a:r>
          </a:p>
          <a:p>
            <a:pPr marL="0" indent="0">
              <a:buNone/>
            </a:pPr>
            <a:r>
              <a:rPr lang="en-US" dirty="0"/>
              <a:t>&lt;&lt; "Average </a:t>
            </a:r>
            <a:r>
              <a:rPr lang="en-US" dirty="0" err="1"/>
              <a:t>average</a:t>
            </a:r>
            <a:r>
              <a:rPr lang="en-US" dirty="0"/>
              <a:t> &lt;&lt; "\n";</a:t>
            </a:r>
          </a:p>
          <a:p>
            <a:pPr marL="0" indent="0">
              <a:buNone/>
            </a:pPr>
            <a:r>
              <a:rPr lang="en-US" dirty="0"/>
              <a:t>This is one statement but provides two lines of output. If you want only one line of output,</a:t>
            </a:r>
          </a:p>
          <a:p>
            <a:pPr marL="0" indent="0">
              <a:buNone/>
            </a:pPr>
            <a:r>
              <a:rPr lang="en-US" dirty="0"/>
              <a:t>the statement will be:</a:t>
            </a:r>
          </a:p>
          <a:p>
            <a:pPr marL="0" indent="0">
              <a:buNone/>
            </a:pPr>
            <a:r>
              <a:rPr lang="en-US" dirty="0" err="1"/>
              <a:t>cout</a:t>
            </a:r>
            <a:r>
              <a:rPr lang="en-US" dirty="0"/>
              <a:t> &lt;&lt; "Sum = “ &lt;&lt; sum “, ”</a:t>
            </a:r>
          </a:p>
          <a:p>
            <a:pPr marL="0" indent="0">
              <a:buNone/>
            </a:pPr>
            <a:r>
              <a:rPr lang="en-US" dirty="0"/>
              <a:t>&lt;&lt; "Average &lt;&lt; average &lt;&lt; "\n";</a:t>
            </a:r>
          </a:p>
          <a:p>
            <a:pPr marL="0" indent="0">
              <a:buNone/>
            </a:pPr>
            <a:r>
              <a:rPr lang="en-US" dirty="0"/>
              <a:t>We can also cascade input operator as follows</a:t>
            </a:r>
          </a:p>
          <a:p>
            <a:pPr marL="0" indent="0">
              <a:buNone/>
            </a:pPr>
            <a:r>
              <a:rPr lang="en-US" dirty="0" err="1"/>
              <a:t>cin</a:t>
            </a:r>
            <a:r>
              <a:rPr lang="en-US" dirty="0"/>
              <a:t> &gt;&gt; number1 &gt;&gt; number2 ; </a:t>
            </a:r>
            <a:endParaRPr lang="en-IN" dirty="0"/>
          </a:p>
        </p:txBody>
      </p:sp>
    </p:spTree>
    <p:extLst>
      <p:ext uri="{BB962C8B-B14F-4D97-AF65-F5344CB8AC3E}">
        <p14:creationId xmlns:p14="http://schemas.microsoft.com/office/powerpoint/2010/main" val="37579874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071620-5B6C-5FE7-ED5F-82C1D8266FCC}"/>
              </a:ext>
            </a:extLst>
          </p:cNvPr>
          <p:cNvSpPr>
            <a:spLocks noGrp="1"/>
          </p:cNvSpPr>
          <p:nvPr>
            <p:ph type="title"/>
          </p:nvPr>
        </p:nvSpPr>
        <p:spPr>
          <a:xfrm>
            <a:off x="1097280" y="245963"/>
            <a:ext cx="10058400" cy="1054517"/>
          </a:xfrm>
        </p:spPr>
        <p:txBody>
          <a:bodyPr>
            <a:noAutofit/>
          </a:bodyPr>
          <a:lstStyle/>
          <a:p>
            <a:pPr algn="just"/>
            <a:r>
              <a:rPr lang="en-US" sz="2000" b="1" dirty="0"/>
              <a:t>Table provides lists of C++ standard library header files that may be needed in C++ programs. The header files with .h extension are "old style" flies which should be used with old compilers. Table  also gives the version of these files that should be used with the ANSI standard compilers.</a:t>
            </a:r>
            <a:endParaRPr lang="en-IN" sz="2000" b="1" dirty="0"/>
          </a:p>
        </p:txBody>
      </p:sp>
      <p:graphicFrame>
        <p:nvGraphicFramePr>
          <p:cNvPr id="5" name="Content Placeholder 4">
            <a:extLst>
              <a:ext uri="{FF2B5EF4-FFF2-40B4-BE49-F238E27FC236}">
                <a16:creationId xmlns:a16="http://schemas.microsoft.com/office/drawing/2014/main" id="{17E494FA-8F07-67B4-F149-6048D7503F8E}"/>
              </a:ext>
            </a:extLst>
          </p:cNvPr>
          <p:cNvGraphicFramePr>
            <a:graphicFrameLocks noGrp="1"/>
          </p:cNvGraphicFramePr>
          <p:nvPr>
            <p:ph idx="1"/>
            <p:extLst>
              <p:ext uri="{D42A27DB-BD31-4B8C-83A1-F6EECF244321}">
                <p14:modId xmlns:p14="http://schemas.microsoft.com/office/powerpoint/2010/main" val="1857004353"/>
              </p:ext>
            </p:extLst>
          </p:nvPr>
        </p:nvGraphicFramePr>
        <p:xfrm>
          <a:off x="1097280" y="1737360"/>
          <a:ext cx="10576560" cy="4460239"/>
        </p:xfrm>
        <a:graphic>
          <a:graphicData uri="http://schemas.openxmlformats.org/drawingml/2006/table">
            <a:tbl>
              <a:tblPr/>
              <a:tblGrid>
                <a:gridCol w="5288280">
                  <a:extLst>
                    <a:ext uri="{9D8B030D-6E8A-4147-A177-3AD203B41FA5}">
                      <a16:colId xmlns:a16="http://schemas.microsoft.com/office/drawing/2014/main" val="3182912969"/>
                    </a:ext>
                  </a:extLst>
                </a:gridCol>
                <a:gridCol w="5288280">
                  <a:extLst>
                    <a:ext uri="{9D8B030D-6E8A-4147-A177-3AD203B41FA5}">
                      <a16:colId xmlns:a16="http://schemas.microsoft.com/office/drawing/2014/main" val="1062594895"/>
                    </a:ext>
                  </a:extLst>
                </a:gridCol>
              </a:tblGrid>
              <a:tr h="262367">
                <a:tc>
                  <a:txBody>
                    <a:bodyPr/>
                    <a:lstStyle/>
                    <a:p>
                      <a:pPr>
                        <a:buNone/>
                      </a:pPr>
                      <a:r>
                        <a:rPr lang="en-US" sz="1200" b="1" dirty="0"/>
                        <a:t>Old C Header File (C-style)</a:t>
                      </a:r>
                      <a:endParaRPr lang="en-US" sz="1200" dirty="0"/>
                    </a:p>
                  </a:txBody>
                  <a:tcPr marL="59158" marR="59158" marT="29579" marB="29579" anchor="ctr">
                    <a:lnL>
                      <a:noFill/>
                    </a:lnL>
                    <a:lnR>
                      <a:noFill/>
                    </a:lnR>
                    <a:lnT>
                      <a:noFill/>
                    </a:lnT>
                    <a:lnB>
                      <a:noFill/>
                    </a:lnB>
                    <a:noFill/>
                  </a:tcPr>
                </a:tc>
                <a:tc>
                  <a:txBody>
                    <a:bodyPr/>
                    <a:lstStyle/>
                    <a:p>
                      <a:pPr>
                        <a:buNone/>
                      </a:pPr>
                      <a:r>
                        <a:rPr lang="en-US" sz="1200" b="1" dirty="0"/>
                        <a:t>New C++ Header File (C++-style)</a:t>
                      </a:r>
                      <a:endParaRPr lang="en-US" sz="1200" dirty="0"/>
                    </a:p>
                  </a:txBody>
                  <a:tcPr marL="59158" marR="59158" marT="29579" marB="29579" anchor="ctr">
                    <a:lnL>
                      <a:noFill/>
                    </a:lnL>
                    <a:lnR>
                      <a:noFill/>
                    </a:lnR>
                    <a:lnT>
                      <a:noFill/>
                    </a:lnT>
                    <a:lnB>
                      <a:noFill/>
                    </a:lnB>
                    <a:noFill/>
                  </a:tcPr>
                </a:tc>
                <a:extLst>
                  <a:ext uri="{0D108BD9-81ED-4DB2-BD59-A6C34878D82A}">
                    <a16:rowId xmlns:a16="http://schemas.microsoft.com/office/drawing/2014/main" val="2945865587"/>
                  </a:ext>
                </a:extLst>
              </a:tr>
              <a:tr h="262367">
                <a:tc>
                  <a:txBody>
                    <a:bodyPr/>
                    <a:lstStyle/>
                    <a:p>
                      <a:pPr>
                        <a:buNone/>
                      </a:pPr>
                      <a:r>
                        <a:rPr lang="en-IN" sz="1200"/>
                        <a:t>#include &lt;stdio.h&gt;</a:t>
                      </a:r>
                    </a:p>
                  </a:txBody>
                  <a:tcPr marL="59158" marR="59158" marT="29579" marB="29579" anchor="ctr">
                    <a:lnL>
                      <a:noFill/>
                    </a:lnL>
                    <a:lnR>
                      <a:noFill/>
                    </a:lnR>
                    <a:lnT>
                      <a:noFill/>
                    </a:lnT>
                    <a:lnB>
                      <a:noFill/>
                    </a:lnB>
                    <a:noFill/>
                  </a:tcPr>
                </a:tc>
                <a:tc>
                  <a:txBody>
                    <a:bodyPr/>
                    <a:lstStyle/>
                    <a:p>
                      <a:pPr>
                        <a:buNone/>
                      </a:pPr>
                      <a:r>
                        <a:rPr lang="en-IN" sz="1200" dirty="0"/>
                        <a:t>#include &lt;</a:t>
                      </a:r>
                      <a:r>
                        <a:rPr lang="en-IN" sz="1200" dirty="0" err="1"/>
                        <a:t>cstdio</a:t>
                      </a:r>
                      <a:r>
                        <a:rPr lang="en-IN" sz="1200" dirty="0"/>
                        <a:t>&gt;</a:t>
                      </a:r>
                    </a:p>
                  </a:txBody>
                  <a:tcPr marL="59158" marR="59158" marT="29579" marB="29579" anchor="ctr">
                    <a:lnL>
                      <a:noFill/>
                    </a:lnL>
                    <a:lnR>
                      <a:noFill/>
                    </a:lnR>
                    <a:lnT>
                      <a:noFill/>
                    </a:lnT>
                    <a:lnB>
                      <a:noFill/>
                    </a:lnB>
                    <a:noFill/>
                  </a:tcPr>
                </a:tc>
                <a:extLst>
                  <a:ext uri="{0D108BD9-81ED-4DB2-BD59-A6C34878D82A}">
                    <a16:rowId xmlns:a16="http://schemas.microsoft.com/office/drawing/2014/main" val="1338935125"/>
                  </a:ext>
                </a:extLst>
              </a:tr>
              <a:tr h="262367">
                <a:tc>
                  <a:txBody>
                    <a:bodyPr/>
                    <a:lstStyle/>
                    <a:p>
                      <a:pPr>
                        <a:buNone/>
                      </a:pPr>
                      <a:r>
                        <a:rPr lang="en-IN" sz="1200"/>
                        <a:t>#include &lt;stdlib.h&gt;</a:t>
                      </a:r>
                    </a:p>
                  </a:txBody>
                  <a:tcPr marL="59158" marR="59158" marT="29579" marB="29579" anchor="ctr">
                    <a:lnL>
                      <a:noFill/>
                    </a:lnL>
                    <a:lnR>
                      <a:noFill/>
                    </a:lnR>
                    <a:lnT>
                      <a:noFill/>
                    </a:lnT>
                    <a:lnB>
                      <a:noFill/>
                    </a:lnB>
                    <a:noFill/>
                  </a:tcPr>
                </a:tc>
                <a:tc>
                  <a:txBody>
                    <a:bodyPr/>
                    <a:lstStyle/>
                    <a:p>
                      <a:pPr>
                        <a:buNone/>
                      </a:pPr>
                      <a:r>
                        <a:rPr lang="en-IN" sz="1200" dirty="0"/>
                        <a:t>#include &lt;</a:t>
                      </a:r>
                      <a:r>
                        <a:rPr lang="en-IN" sz="1200" dirty="0" err="1"/>
                        <a:t>cstdlib</a:t>
                      </a:r>
                      <a:r>
                        <a:rPr lang="en-IN" sz="1200" dirty="0"/>
                        <a:t>&gt;</a:t>
                      </a:r>
                    </a:p>
                  </a:txBody>
                  <a:tcPr marL="59158" marR="59158" marT="29579" marB="29579" anchor="ctr">
                    <a:lnL>
                      <a:noFill/>
                    </a:lnL>
                    <a:lnR>
                      <a:noFill/>
                    </a:lnR>
                    <a:lnT>
                      <a:noFill/>
                    </a:lnT>
                    <a:lnB>
                      <a:noFill/>
                    </a:lnB>
                    <a:noFill/>
                  </a:tcPr>
                </a:tc>
                <a:extLst>
                  <a:ext uri="{0D108BD9-81ED-4DB2-BD59-A6C34878D82A}">
                    <a16:rowId xmlns:a16="http://schemas.microsoft.com/office/drawing/2014/main" val="1837662173"/>
                  </a:ext>
                </a:extLst>
              </a:tr>
              <a:tr h="262367">
                <a:tc>
                  <a:txBody>
                    <a:bodyPr/>
                    <a:lstStyle/>
                    <a:p>
                      <a:pPr>
                        <a:buNone/>
                      </a:pPr>
                      <a:r>
                        <a:rPr lang="en-IN" sz="1200"/>
                        <a:t>#include &lt;string.h&gt;</a:t>
                      </a:r>
                      <a:endParaRPr lang="en-IN" sz="1200" dirty="0"/>
                    </a:p>
                  </a:txBody>
                  <a:tcPr marL="59158" marR="59158" marT="29579" marB="29579" anchor="ctr">
                    <a:lnL>
                      <a:noFill/>
                    </a:lnL>
                    <a:lnR>
                      <a:noFill/>
                    </a:lnR>
                    <a:lnT>
                      <a:noFill/>
                    </a:lnT>
                    <a:lnB>
                      <a:noFill/>
                    </a:lnB>
                    <a:noFill/>
                  </a:tcPr>
                </a:tc>
                <a:tc>
                  <a:txBody>
                    <a:bodyPr/>
                    <a:lstStyle/>
                    <a:p>
                      <a:pPr>
                        <a:buNone/>
                      </a:pPr>
                      <a:r>
                        <a:rPr lang="en-IN" sz="1200" dirty="0"/>
                        <a:t>#include &lt;</a:t>
                      </a:r>
                      <a:r>
                        <a:rPr lang="en-IN" sz="1200" dirty="0" err="1"/>
                        <a:t>cstring</a:t>
                      </a:r>
                      <a:r>
                        <a:rPr lang="en-IN" sz="1200" dirty="0"/>
                        <a:t>&gt;</a:t>
                      </a:r>
                    </a:p>
                  </a:txBody>
                  <a:tcPr marL="59158" marR="59158" marT="29579" marB="29579" anchor="ctr">
                    <a:lnL>
                      <a:noFill/>
                    </a:lnL>
                    <a:lnR>
                      <a:noFill/>
                    </a:lnR>
                    <a:lnT>
                      <a:noFill/>
                    </a:lnT>
                    <a:lnB>
                      <a:noFill/>
                    </a:lnB>
                    <a:noFill/>
                  </a:tcPr>
                </a:tc>
                <a:extLst>
                  <a:ext uri="{0D108BD9-81ED-4DB2-BD59-A6C34878D82A}">
                    <a16:rowId xmlns:a16="http://schemas.microsoft.com/office/drawing/2014/main" val="4266220350"/>
                  </a:ext>
                </a:extLst>
              </a:tr>
              <a:tr h="262367">
                <a:tc>
                  <a:txBody>
                    <a:bodyPr/>
                    <a:lstStyle/>
                    <a:p>
                      <a:pPr>
                        <a:buNone/>
                      </a:pPr>
                      <a:r>
                        <a:rPr lang="en-IN" sz="1200" dirty="0"/>
                        <a:t>#include &lt;</a:t>
                      </a:r>
                      <a:r>
                        <a:rPr lang="en-IN" sz="1200" dirty="0" err="1"/>
                        <a:t>math.h</a:t>
                      </a:r>
                      <a:r>
                        <a:rPr lang="en-IN" sz="1200" dirty="0"/>
                        <a:t>&gt;</a:t>
                      </a:r>
                    </a:p>
                  </a:txBody>
                  <a:tcPr marL="59158" marR="59158" marT="29579" marB="29579" anchor="ctr">
                    <a:lnL>
                      <a:noFill/>
                    </a:lnL>
                    <a:lnR>
                      <a:noFill/>
                    </a:lnR>
                    <a:lnT>
                      <a:noFill/>
                    </a:lnT>
                    <a:lnB>
                      <a:noFill/>
                    </a:lnB>
                    <a:noFill/>
                  </a:tcPr>
                </a:tc>
                <a:tc>
                  <a:txBody>
                    <a:bodyPr/>
                    <a:lstStyle/>
                    <a:p>
                      <a:pPr>
                        <a:buNone/>
                      </a:pPr>
                      <a:r>
                        <a:rPr lang="en-IN" sz="1200"/>
                        <a:t>#include &lt;cmath&gt;</a:t>
                      </a:r>
                    </a:p>
                  </a:txBody>
                  <a:tcPr marL="59158" marR="59158" marT="29579" marB="29579" anchor="ctr">
                    <a:lnL>
                      <a:noFill/>
                    </a:lnL>
                    <a:lnR>
                      <a:noFill/>
                    </a:lnR>
                    <a:lnT>
                      <a:noFill/>
                    </a:lnT>
                    <a:lnB>
                      <a:noFill/>
                    </a:lnB>
                    <a:noFill/>
                  </a:tcPr>
                </a:tc>
                <a:extLst>
                  <a:ext uri="{0D108BD9-81ED-4DB2-BD59-A6C34878D82A}">
                    <a16:rowId xmlns:a16="http://schemas.microsoft.com/office/drawing/2014/main" val="1196684506"/>
                  </a:ext>
                </a:extLst>
              </a:tr>
              <a:tr h="262367">
                <a:tc>
                  <a:txBody>
                    <a:bodyPr/>
                    <a:lstStyle/>
                    <a:p>
                      <a:pPr>
                        <a:buNone/>
                      </a:pPr>
                      <a:r>
                        <a:rPr lang="en-IN" sz="1200" dirty="0"/>
                        <a:t>#include &lt;</a:t>
                      </a:r>
                      <a:r>
                        <a:rPr lang="en-IN" sz="1200" dirty="0" err="1"/>
                        <a:t>time.h</a:t>
                      </a:r>
                      <a:r>
                        <a:rPr lang="en-IN" sz="1200" dirty="0"/>
                        <a:t>&gt;</a:t>
                      </a:r>
                    </a:p>
                  </a:txBody>
                  <a:tcPr marL="59158" marR="59158" marT="29579" marB="29579" anchor="ctr">
                    <a:lnL>
                      <a:noFill/>
                    </a:lnL>
                    <a:lnR>
                      <a:noFill/>
                    </a:lnR>
                    <a:lnT>
                      <a:noFill/>
                    </a:lnT>
                    <a:lnB>
                      <a:noFill/>
                    </a:lnB>
                    <a:noFill/>
                  </a:tcPr>
                </a:tc>
                <a:tc>
                  <a:txBody>
                    <a:bodyPr/>
                    <a:lstStyle/>
                    <a:p>
                      <a:pPr>
                        <a:buNone/>
                      </a:pPr>
                      <a:r>
                        <a:rPr lang="en-IN" sz="1200"/>
                        <a:t>#include &lt;ctime&gt;</a:t>
                      </a:r>
                    </a:p>
                  </a:txBody>
                  <a:tcPr marL="59158" marR="59158" marT="29579" marB="29579" anchor="ctr">
                    <a:lnL>
                      <a:noFill/>
                    </a:lnL>
                    <a:lnR>
                      <a:noFill/>
                    </a:lnR>
                    <a:lnT>
                      <a:noFill/>
                    </a:lnT>
                    <a:lnB>
                      <a:noFill/>
                    </a:lnB>
                    <a:noFill/>
                  </a:tcPr>
                </a:tc>
                <a:extLst>
                  <a:ext uri="{0D108BD9-81ED-4DB2-BD59-A6C34878D82A}">
                    <a16:rowId xmlns:a16="http://schemas.microsoft.com/office/drawing/2014/main" val="1996063888"/>
                  </a:ext>
                </a:extLst>
              </a:tr>
              <a:tr h="262367">
                <a:tc>
                  <a:txBody>
                    <a:bodyPr/>
                    <a:lstStyle/>
                    <a:p>
                      <a:pPr>
                        <a:buNone/>
                      </a:pPr>
                      <a:r>
                        <a:rPr lang="en-IN" sz="1200" dirty="0"/>
                        <a:t>#include &lt;</a:t>
                      </a:r>
                      <a:r>
                        <a:rPr lang="en-IN" sz="1200" dirty="0" err="1"/>
                        <a:t>ctype.h</a:t>
                      </a:r>
                      <a:r>
                        <a:rPr lang="en-IN" sz="1200" dirty="0"/>
                        <a:t>&gt;</a:t>
                      </a:r>
                    </a:p>
                  </a:txBody>
                  <a:tcPr marL="59158" marR="59158" marT="29579" marB="29579" anchor="ctr">
                    <a:lnL>
                      <a:noFill/>
                    </a:lnL>
                    <a:lnR>
                      <a:noFill/>
                    </a:lnR>
                    <a:lnT>
                      <a:noFill/>
                    </a:lnT>
                    <a:lnB>
                      <a:noFill/>
                    </a:lnB>
                    <a:noFill/>
                  </a:tcPr>
                </a:tc>
                <a:tc>
                  <a:txBody>
                    <a:bodyPr/>
                    <a:lstStyle/>
                    <a:p>
                      <a:pPr>
                        <a:buNone/>
                      </a:pPr>
                      <a:r>
                        <a:rPr lang="en-IN" sz="1200" dirty="0"/>
                        <a:t>#include &lt;</a:t>
                      </a:r>
                      <a:r>
                        <a:rPr lang="en-IN" sz="1200" dirty="0" err="1"/>
                        <a:t>cctype</a:t>
                      </a:r>
                      <a:r>
                        <a:rPr lang="en-IN" sz="1200" dirty="0"/>
                        <a:t>&gt;</a:t>
                      </a:r>
                    </a:p>
                  </a:txBody>
                  <a:tcPr marL="59158" marR="59158" marT="29579" marB="29579" anchor="ctr">
                    <a:lnL>
                      <a:noFill/>
                    </a:lnL>
                    <a:lnR>
                      <a:noFill/>
                    </a:lnR>
                    <a:lnT>
                      <a:noFill/>
                    </a:lnT>
                    <a:lnB>
                      <a:noFill/>
                    </a:lnB>
                    <a:noFill/>
                  </a:tcPr>
                </a:tc>
                <a:extLst>
                  <a:ext uri="{0D108BD9-81ED-4DB2-BD59-A6C34878D82A}">
                    <a16:rowId xmlns:a16="http://schemas.microsoft.com/office/drawing/2014/main" val="2453793988"/>
                  </a:ext>
                </a:extLst>
              </a:tr>
              <a:tr h="262367">
                <a:tc>
                  <a:txBody>
                    <a:bodyPr/>
                    <a:lstStyle/>
                    <a:p>
                      <a:pPr>
                        <a:buNone/>
                      </a:pPr>
                      <a:r>
                        <a:rPr lang="en-IN" sz="1200" dirty="0"/>
                        <a:t>#include &lt;</a:t>
                      </a:r>
                      <a:r>
                        <a:rPr lang="en-IN" sz="1200" dirty="0" err="1"/>
                        <a:t>errno.h</a:t>
                      </a:r>
                      <a:r>
                        <a:rPr lang="en-IN" sz="1200" dirty="0"/>
                        <a:t>&gt;</a:t>
                      </a:r>
                    </a:p>
                  </a:txBody>
                  <a:tcPr marL="59158" marR="59158" marT="29579" marB="29579" anchor="ctr">
                    <a:lnL>
                      <a:noFill/>
                    </a:lnL>
                    <a:lnR>
                      <a:noFill/>
                    </a:lnR>
                    <a:lnT>
                      <a:noFill/>
                    </a:lnT>
                    <a:lnB>
                      <a:noFill/>
                    </a:lnB>
                    <a:noFill/>
                  </a:tcPr>
                </a:tc>
                <a:tc>
                  <a:txBody>
                    <a:bodyPr/>
                    <a:lstStyle/>
                    <a:p>
                      <a:pPr>
                        <a:buNone/>
                      </a:pPr>
                      <a:r>
                        <a:rPr lang="en-IN" sz="1200"/>
                        <a:t>#include &lt;cerrno&gt;</a:t>
                      </a:r>
                    </a:p>
                  </a:txBody>
                  <a:tcPr marL="59158" marR="59158" marT="29579" marB="29579" anchor="ctr">
                    <a:lnL>
                      <a:noFill/>
                    </a:lnL>
                    <a:lnR>
                      <a:noFill/>
                    </a:lnR>
                    <a:lnT>
                      <a:noFill/>
                    </a:lnT>
                    <a:lnB>
                      <a:noFill/>
                    </a:lnB>
                    <a:noFill/>
                  </a:tcPr>
                </a:tc>
                <a:extLst>
                  <a:ext uri="{0D108BD9-81ED-4DB2-BD59-A6C34878D82A}">
                    <a16:rowId xmlns:a16="http://schemas.microsoft.com/office/drawing/2014/main" val="866809258"/>
                  </a:ext>
                </a:extLst>
              </a:tr>
              <a:tr h="262367">
                <a:tc>
                  <a:txBody>
                    <a:bodyPr/>
                    <a:lstStyle/>
                    <a:p>
                      <a:pPr>
                        <a:buNone/>
                      </a:pPr>
                      <a:r>
                        <a:rPr lang="en-IN" sz="1200" dirty="0"/>
                        <a:t>#include &lt;</a:t>
                      </a:r>
                      <a:r>
                        <a:rPr lang="en-IN" sz="1200" dirty="0" err="1"/>
                        <a:t>float.h</a:t>
                      </a:r>
                      <a:r>
                        <a:rPr lang="en-IN" sz="1200" dirty="0"/>
                        <a:t>&gt;</a:t>
                      </a:r>
                    </a:p>
                  </a:txBody>
                  <a:tcPr marL="59158" marR="59158" marT="29579" marB="29579" anchor="ctr">
                    <a:lnL>
                      <a:noFill/>
                    </a:lnL>
                    <a:lnR>
                      <a:noFill/>
                    </a:lnR>
                    <a:lnT>
                      <a:noFill/>
                    </a:lnT>
                    <a:lnB>
                      <a:noFill/>
                    </a:lnB>
                    <a:noFill/>
                  </a:tcPr>
                </a:tc>
                <a:tc>
                  <a:txBody>
                    <a:bodyPr/>
                    <a:lstStyle/>
                    <a:p>
                      <a:pPr>
                        <a:buNone/>
                      </a:pPr>
                      <a:r>
                        <a:rPr lang="en-IN" sz="1200"/>
                        <a:t>#include &lt;cfloat&gt;</a:t>
                      </a:r>
                    </a:p>
                  </a:txBody>
                  <a:tcPr marL="59158" marR="59158" marT="29579" marB="29579" anchor="ctr">
                    <a:lnL>
                      <a:noFill/>
                    </a:lnL>
                    <a:lnR>
                      <a:noFill/>
                    </a:lnR>
                    <a:lnT>
                      <a:noFill/>
                    </a:lnT>
                    <a:lnB>
                      <a:noFill/>
                    </a:lnB>
                    <a:noFill/>
                  </a:tcPr>
                </a:tc>
                <a:extLst>
                  <a:ext uri="{0D108BD9-81ED-4DB2-BD59-A6C34878D82A}">
                    <a16:rowId xmlns:a16="http://schemas.microsoft.com/office/drawing/2014/main" val="73129189"/>
                  </a:ext>
                </a:extLst>
              </a:tr>
              <a:tr h="262367">
                <a:tc>
                  <a:txBody>
                    <a:bodyPr/>
                    <a:lstStyle/>
                    <a:p>
                      <a:pPr>
                        <a:buNone/>
                      </a:pPr>
                      <a:r>
                        <a:rPr lang="en-IN" sz="1200" dirty="0"/>
                        <a:t>#include &lt;</a:t>
                      </a:r>
                      <a:r>
                        <a:rPr lang="en-IN" sz="1200" dirty="0" err="1"/>
                        <a:t>limits.h</a:t>
                      </a:r>
                      <a:r>
                        <a:rPr lang="en-IN" sz="1200" dirty="0"/>
                        <a:t>&gt;</a:t>
                      </a:r>
                    </a:p>
                  </a:txBody>
                  <a:tcPr marL="59158" marR="59158" marT="29579" marB="29579" anchor="ctr">
                    <a:lnL>
                      <a:noFill/>
                    </a:lnL>
                    <a:lnR>
                      <a:noFill/>
                    </a:lnR>
                    <a:lnT>
                      <a:noFill/>
                    </a:lnT>
                    <a:lnB>
                      <a:noFill/>
                    </a:lnB>
                    <a:noFill/>
                  </a:tcPr>
                </a:tc>
                <a:tc>
                  <a:txBody>
                    <a:bodyPr/>
                    <a:lstStyle/>
                    <a:p>
                      <a:pPr>
                        <a:buNone/>
                      </a:pPr>
                      <a:r>
                        <a:rPr lang="en-IN" sz="1200"/>
                        <a:t>#include &lt;climits&gt;</a:t>
                      </a:r>
                    </a:p>
                  </a:txBody>
                  <a:tcPr marL="59158" marR="59158" marT="29579" marB="29579" anchor="ctr">
                    <a:lnL>
                      <a:noFill/>
                    </a:lnL>
                    <a:lnR>
                      <a:noFill/>
                    </a:lnR>
                    <a:lnT>
                      <a:noFill/>
                    </a:lnT>
                    <a:lnB>
                      <a:noFill/>
                    </a:lnB>
                    <a:noFill/>
                  </a:tcPr>
                </a:tc>
                <a:extLst>
                  <a:ext uri="{0D108BD9-81ED-4DB2-BD59-A6C34878D82A}">
                    <a16:rowId xmlns:a16="http://schemas.microsoft.com/office/drawing/2014/main" val="1768942760"/>
                  </a:ext>
                </a:extLst>
              </a:tr>
              <a:tr h="262367">
                <a:tc>
                  <a:txBody>
                    <a:bodyPr/>
                    <a:lstStyle/>
                    <a:p>
                      <a:pPr>
                        <a:buNone/>
                      </a:pPr>
                      <a:r>
                        <a:rPr lang="en-IN" sz="1200" dirty="0"/>
                        <a:t>#include &lt;</a:t>
                      </a:r>
                      <a:r>
                        <a:rPr lang="en-IN" sz="1200" dirty="0" err="1"/>
                        <a:t>assert.h</a:t>
                      </a:r>
                      <a:r>
                        <a:rPr lang="en-IN" sz="1200" dirty="0"/>
                        <a:t>&gt;</a:t>
                      </a:r>
                    </a:p>
                  </a:txBody>
                  <a:tcPr marL="59158" marR="59158" marT="29579" marB="29579" anchor="ctr">
                    <a:lnL>
                      <a:noFill/>
                    </a:lnL>
                    <a:lnR>
                      <a:noFill/>
                    </a:lnR>
                    <a:lnT>
                      <a:noFill/>
                    </a:lnT>
                    <a:lnB>
                      <a:noFill/>
                    </a:lnB>
                    <a:noFill/>
                  </a:tcPr>
                </a:tc>
                <a:tc>
                  <a:txBody>
                    <a:bodyPr/>
                    <a:lstStyle/>
                    <a:p>
                      <a:pPr>
                        <a:buNone/>
                      </a:pPr>
                      <a:r>
                        <a:rPr lang="en-IN" sz="1200"/>
                        <a:t>#include &lt;cassert&gt;</a:t>
                      </a:r>
                    </a:p>
                  </a:txBody>
                  <a:tcPr marL="59158" marR="59158" marT="29579" marB="29579" anchor="ctr">
                    <a:lnL>
                      <a:noFill/>
                    </a:lnL>
                    <a:lnR>
                      <a:noFill/>
                    </a:lnR>
                    <a:lnT>
                      <a:noFill/>
                    </a:lnT>
                    <a:lnB>
                      <a:noFill/>
                    </a:lnB>
                    <a:noFill/>
                  </a:tcPr>
                </a:tc>
                <a:extLst>
                  <a:ext uri="{0D108BD9-81ED-4DB2-BD59-A6C34878D82A}">
                    <a16:rowId xmlns:a16="http://schemas.microsoft.com/office/drawing/2014/main" val="748601210"/>
                  </a:ext>
                </a:extLst>
              </a:tr>
              <a:tr h="262367">
                <a:tc>
                  <a:txBody>
                    <a:bodyPr/>
                    <a:lstStyle/>
                    <a:p>
                      <a:pPr>
                        <a:buNone/>
                      </a:pPr>
                      <a:r>
                        <a:rPr lang="en-IN" sz="1200" dirty="0"/>
                        <a:t>#include &lt;</a:t>
                      </a:r>
                      <a:r>
                        <a:rPr lang="en-IN" sz="1200" dirty="0" err="1"/>
                        <a:t>signal.h</a:t>
                      </a:r>
                      <a:r>
                        <a:rPr lang="en-IN" sz="1200" dirty="0"/>
                        <a:t>&gt;</a:t>
                      </a:r>
                    </a:p>
                  </a:txBody>
                  <a:tcPr marL="59158" marR="59158" marT="29579" marB="29579" anchor="ctr">
                    <a:lnL>
                      <a:noFill/>
                    </a:lnL>
                    <a:lnR>
                      <a:noFill/>
                    </a:lnR>
                    <a:lnT>
                      <a:noFill/>
                    </a:lnT>
                    <a:lnB>
                      <a:noFill/>
                    </a:lnB>
                    <a:noFill/>
                  </a:tcPr>
                </a:tc>
                <a:tc>
                  <a:txBody>
                    <a:bodyPr/>
                    <a:lstStyle/>
                    <a:p>
                      <a:pPr>
                        <a:buNone/>
                      </a:pPr>
                      <a:r>
                        <a:rPr lang="en-IN" sz="1200"/>
                        <a:t>#include &lt;csignal&gt;</a:t>
                      </a:r>
                    </a:p>
                  </a:txBody>
                  <a:tcPr marL="59158" marR="59158" marT="29579" marB="29579" anchor="ctr">
                    <a:lnL>
                      <a:noFill/>
                    </a:lnL>
                    <a:lnR>
                      <a:noFill/>
                    </a:lnR>
                    <a:lnT>
                      <a:noFill/>
                    </a:lnT>
                    <a:lnB>
                      <a:noFill/>
                    </a:lnB>
                    <a:noFill/>
                  </a:tcPr>
                </a:tc>
                <a:extLst>
                  <a:ext uri="{0D108BD9-81ED-4DB2-BD59-A6C34878D82A}">
                    <a16:rowId xmlns:a16="http://schemas.microsoft.com/office/drawing/2014/main" val="1844569452"/>
                  </a:ext>
                </a:extLst>
              </a:tr>
              <a:tr h="262367">
                <a:tc>
                  <a:txBody>
                    <a:bodyPr/>
                    <a:lstStyle/>
                    <a:p>
                      <a:pPr>
                        <a:buNone/>
                      </a:pPr>
                      <a:r>
                        <a:rPr lang="en-IN" sz="1200" dirty="0"/>
                        <a:t>#include &lt;</a:t>
                      </a:r>
                      <a:r>
                        <a:rPr lang="en-IN" sz="1200" dirty="0" err="1"/>
                        <a:t>stdarg.h</a:t>
                      </a:r>
                      <a:r>
                        <a:rPr lang="en-IN" sz="1200" dirty="0"/>
                        <a:t>&gt;</a:t>
                      </a:r>
                    </a:p>
                  </a:txBody>
                  <a:tcPr marL="59158" marR="59158" marT="29579" marB="29579" anchor="ctr">
                    <a:lnL>
                      <a:noFill/>
                    </a:lnL>
                    <a:lnR>
                      <a:noFill/>
                    </a:lnR>
                    <a:lnT>
                      <a:noFill/>
                    </a:lnT>
                    <a:lnB>
                      <a:noFill/>
                    </a:lnB>
                    <a:noFill/>
                  </a:tcPr>
                </a:tc>
                <a:tc>
                  <a:txBody>
                    <a:bodyPr/>
                    <a:lstStyle/>
                    <a:p>
                      <a:pPr>
                        <a:buNone/>
                      </a:pPr>
                      <a:r>
                        <a:rPr lang="en-IN" sz="1200"/>
                        <a:t>#include &lt;cstdarg&gt;</a:t>
                      </a:r>
                    </a:p>
                  </a:txBody>
                  <a:tcPr marL="59158" marR="59158" marT="29579" marB="29579" anchor="ctr">
                    <a:lnL>
                      <a:noFill/>
                    </a:lnL>
                    <a:lnR>
                      <a:noFill/>
                    </a:lnR>
                    <a:lnT>
                      <a:noFill/>
                    </a:lnT>
                    <a:lnB>
                      <a:noFill/>
                    </a:lnB>
                    <a:noFill/>
                  </a:tcPr>
                </a:tc>
                <a:extLst>
                  <a:ext uri="{0D108BD9-81ED-4DB2-BD59-A6C34878D82A}">
                    <a16:rowId xmlns:a16="http://schemas.microsoft.com/office/drawing/2014/main" val="2218344"/>
                  </a:ext>
                </a:extLst>
              </a:tr>
              <a:tr h="262367">
                <a:tc>
                  <a:txBody>
                    <a:bodyPr/>
                    <a:lstStyle/>
                    <a:p>
                      <a:pPr>
                        <a:buNone/>
                      </a:pPr>
                      <a:r>
                        <a:rPr lang="en-IN" sz="1200" dirty="0"/>
                        <a:t>#include &lt;</a:t>
                      </a:r>
                      <a:r>
                        <a:rPr lang="en-IN" sz="1200" dirty="0" err="1"/>
                        <a:t>stddef.h</a:t>
                      </a:r>
                      <a:r>
                        <a:rPr lang="en-IN" sz="1200" dirty="0"/>
                        <a:t>&gt;</a:t>
                      </a:r>
                    </a:p>
                  </a:txBody>
                  <a:tcPr marL="59158" marR="59158" marT="29579" marB="29579" anchor="ctr">
                    <a:lnL>
                      <a:noFill/>
                    </a:lnL>
                    <a:lnR>
                      <a:noFill/>
                    </a:lnR>
                    <a:lnT>
                      <a:noFill/>
                    </a:lnT>
                    <a:lnB>
                      <a:noFill/>
                    </a:lnB>
                    <a:noFill/>
                  </a:tcPr>
                </a:tc>
                <a:tc>
                  <a:txBody>
                    <a:bodyPr/>
                    <a:lstStyle/>
                    <a:p>
                      <a:pPr>
                        <a:buNone/>
                      </a:pPr>
                      <a:r>
                        <a:rPr lang="en-IN" sz="1200"/>
                        <a:t>#include &lt;cstddef&gt;</a:t>
                      </a:r>
                    </a:p>
                  </a:txBody>
                  <a:tcPr marL="59158" marR="59158" marT="29579" marB="29579" anchor="ctr">
                    <a:lnL>
                      <a:noFill/>
                    </a:lnL>
                    <a:lnR>
                      <a:noFill/>
                    </a:lnR>
                    <a:lnT>
                      <a:noFill/>
                    </a:lnT>
                    <a:lnB>
                      <a:noFill/>
                    </a:lnB>
                    <a:noFill/>
                  </a:tcPr>
                </a:tc>
                <a:extLst>
                  <a:ext uri="{0D108BD9-81ED-4DB2-BD59-A6C34878D82A}">
                    <a16:rowId xmlns:a16="http://schemas.microsoft.com/office/drawing/2014/main" val="1187637265"/>
                  </a:ext>
                </a:extLst>
              </a:tr>
              <a:tr h="262367">
                <a:tc>
                  <a:txBody>
                    <a:bodyPr/>
                    <a:lstStyle/>
                    <a:p>
                      <a:pPr>
                        <a:buNone/>
                      </a:pPr>
                      <a:r>
                        <a:rPr lang="en-IN" sz="1200" dirty="0"/>
                        <a:t>#include &lt;</a:t>
                      </a:r>
                      <a:r>
                        <a:rPr lang="en-IN" sz="1200" dirty="0" err="1"/>
                        <a:t>stdint.h</a:t>
                      </a:r>
                      <a:r>
                        <a:rPr lang="en-IN" sz="1200" dirty="0"/>
                        <a:t>&gt;</a:t>
                      </a:r>
                    </a:p>
                  </a:txBody>
                  <a:tcPr marL="59158" marR="59158" marT="29579" marB="29579" anchor="ctr">
                    <a:lnL>
                      <a:noFill/>
                    </a:lnL>
                    <a:lnR>
                      <a:noFill/>
                    </a:lnR>
                    <a:lnT>
                      <a:noFill/>
                    </a:lnT>
                    <a:lnB>
                      <a:noFill/>
                    </a:lnB>
                    <a:noFill/>
                  </a:tcPr>
                </a:tc>
                <a:tc>
                  <a:txBody>
                    <a:bodyPr/>
                    <a:lstStyle/>
                    <a:p>
                      <a:pPr>
                        <a:buNone/>
                      </a:pPr>
                      <a:r>
                        <a:rPr lang="en-IN" sz="1200"/>
                        <a:t>#include &lt;cstdint&gt;</a:t>
                      </a:r>
                    </a:p>
                  </a:txBody>
                  <a:tcPr marL="59158" marR="59158" marT="29579" marB="29579" anchor="ctr">
                    <a:lnL>
                      <a:noFill/>
                    </a:lnL>
                    <a:lnR>
                      <a:noFill/>
                    </a:lnR>
                    <a:lnT>
                      <a:noFill/>
                    </a:lnT>
                    <a:lnB>
                      <a:noFill/>
                    </a:lnB>
                    <a:noFill/>
                  </a:tcPr>
                </a:tc>
                <a:extLst>
                  <a:ext uri="{0D108BD9-81ED-4DB2-BD59-A6C34878D82A}">
                    <a16:rowId xmlns:a16="http://schemas.microsoft.com/office/drawing/2014/main" val="2791793703"/>
                  </a:ext>
                </a:extLst>
              </a:tr>
              <a:tr h="262367">
                <a:tc>
                  <a:txBody>
                    <a:bodyPr/>
                    <a:lstStyle/>
                    <a:p>
                      <a:pPr>
                        <a:buNone/>
                      </a:pPr>
                      <a:r>
                        <a:rPr lang="en-IN" sz="1200" dirty="0"/>
                        <a:t>#include &lt;</a:t>
                      </a:r>
                      <a:r>
                        <a:rPr lang="en-IN" sz="1200" dirty="0" err="1"/>
                        <a:t>locale.h</a:t>
                      </a:r>
                      <a:r>
                        <a:rPr lang="en-IN" sz="1200" dirty="0"/>
                        <a:t>&gt;</a:t>
                      </a:r>
                    </a:p>
                  </a:txBody>
                  <a:tcPr marL="59158" marR="59158" marT="29579" marB="29579" anchor="ctr">
                    <a:lnL>
                      <a:noFill/>
                    </a:lnL>
                    <a:lnR>
                      <a:noFill/>
                    </a:lnR>
                    <a:lnT>
                      <a:noFill/>
                    </a:lnT>
                    <a:lnB>
                      <a:noFill/>
                    </a:lnB>
                    <a:noFill/>
                  </a:tcPr>
                </a:tc>
                <a:tc>
                  <a:txBody>
                    <a:bodyPr/>
                    <a:lstStyle/>
                    <a:p>
                      <a:pPr>
                        <a:buNone/>
                      </a:pPr>
                      <a:r>
                        <a:rPr lang="en-IN" sz="1200"/>
                        <a:t>#include &lt;clocale&gt;</a:t>
                      </a:r>
                    </a:p>
                  </a:txBody>
                  <a:tcPr marL="59158" marR="59158" marT="29579" marB="29579" anchor="ctr">
                    <a:lnL>
                      <a:noFill/>
                    </a:lnL>
                    <a:lnR>
                      <a:noFill/>
                    </a:lnR>
                    <a:lnT>
                      <a:noFill/>
                    </a:lnT>
                    <a:lnB>
                      <a:noFill/>
                    </a:lnB>
                    <a:noFill/>
                  </a:tcPr>
                </a:tc>
                <a:extLst>
                  <a:ext uri="{0D108BD9-81ED-4DB2-BD59-A6C34878D82A}">
                    <a16:rowId xmlns:a16="http://schemas.microsoft.com/office/drawing/2014/main" val="2128550952"/>
                  </a:ext>
                </a:extLst>
              </a:tr>
              <a:tr h="262367">
                <a:tc>
                  <a:txBody>
                    <a:bodyPr/>
                    <a:lstStyle/>
                    <a:p>
                      <a:pPr>
                        <a:buNone/>
                      </a:pPr>
                      <a:r>
                        <a:rPr lang="en-IN" sz="1200" dirty="0"/>
                        <a:t>#include &lt;</a:t>
                      </a:r>
                      <a:r>
                        <a:rPr lang="en-IN" sz="1200" dirty="0" err="1"/>
                        <a:t>setjmp.h</a:t>
                      </a:r>
                      <a:r>
                        <a:rPr lang="en-IN" sz="1200" dirty="0"/>
                        <a:t>&gt;</a:t>
                      </a:r>
                    </a:p>
                  </a:txBody>
                  <a:tcPr marL="59158" marR="59158" marT="29579" marB="29579" anchor="ctr">
                    <a:lnL>
                      <a:noFill/>
                    </a:lnL>
                    <a:lnR>
                      <a:noFill/>
                    </a:lnR>
                    <a:lnT>
                      <a:noFill/>
                    </a:lnT>
                    <a:lnB>
                      <a:noFill/>
                    </a:lnB>
                    <a:noFill/>
                  </a:tcPr>
                </a:tc>
                <a:tc>
                  <a:txBody>
                    <a:bodyPr/>
                    <a:lstStyle/>
                    <a:p>
                      <a:pPr>
                        <a:buNone/>
                      </a:pPr>
                      <a:r>
                        <a:rPr lang="en-IN" sz="1200" dirty="0"/>
                        <a:t>#include &lt;</a:t>
                      </a:r>
                      <a:r>
                        <a:rPr lang="en-IN" sz="1200" dirty="0" err="1"/>
                        <a:t>csetjmp</a:t>
                      </a:r>
                      <a:r>
                        <a:rPr lang="en-IN" sz="1200" dirty="0"/>
                        <a:t>&gt;</a:t>
                      </a:r>
                    </a:p>
                  </a:txBody>
                  <a:tcPr marL="59158" marR="59158" marT="29579" marB="29579" anchor="ctr">
                    <a:lnL>
                      <a:noFill/>
                    </a:lnL>
                    <a:lnR>
                      <a:noFill/>
                    </a:lnR>
                    <a:lnT>
                      <a:noFill/>
                    </a:lnT>
                    <a:lnB>
                      <a:noFill/>
                    </a:lnB>
                    <a:noFill/>
                  </a:tcPr>
                </a:tc>
                <a:extLst>
                  <a:ext uri="{0D108BD9-81ED-4DB2-BD59-A6C34878D82A}">
                    <a16:rowId xmlns:a16="http://schemas.microsoft.com/office/drawing/2014/main" val="1756841741"/>
                  </a:ext>
                </a:extLst>
              </a:tr>
            </a:tbl>
          </a:graphicData>
        </a:graphic>
      </p:graphicFrame>
    </p:spTree>
    <p:extLst>
      <p:ext uri="{BB962C8B-B14F-4D97-AF65-F5344CB8AC3E}">
        <p14:creationId xmlns:p14="http://schemas.microsoft.com/office/powerpoint/2010/main" val="4998807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2ABA83-7FF4-34D5-08D6-187E04669F9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605A6C-9C40-9AC2-F9D1-FC9A79CA58C6}"/>
              </a:ext>
            </a:extLst>
          </p:cNvPr>
          <p:cNvSpPr>
            <a:spLocks noGrp="1"/>
          </p:cNvSpPr>
          <p:nvPr>
            <p:ph type="title"/>
          </p:nvPr>
        </p:nvSpPr>
        <p:spPr>
          <a:xfrm>
            <a:off x="1097280" y="286603"/>
            <a:ext cx="10058400" cy="902117"/>
          </a:xfrm>
        </p:spPr>
        <p:txBody>
          <a:bodyPr>
            <a:normAutofit/>
          </a:bodyPr>
          <a:lstStyle/>
          <a:p>
            <a:r>
              <a:rPr lang="en-IN" sz="4000" dirty="0"/>
              <a:t>C++  Program with class</a:t>
            </a:r>
          </a:p>
        </p:txBody>
      </p:sp>
      <p:sp>
        <p:nvSpPr>
          <p:cNvPr id="3" name="Content Placeholder 2">
            <a:extLst>
              <a:ext uri="{FF2B5EF4-FFF2-40B4-BE49-F238E27FC236}">
                <a16:creationId xmlns:a16="http://schemas.microsoft.com/office/drawing/2014/main" id="{EADF5E29-AA39-8640-EFCC-BCECA4239A2C}"/>
              </a:ext>
            </a:extLst>
          </p:cNvPr>
          <p:cNvSpPr>
            <a:spLocks noGrp="1"/>
          </p:cNvSpPr>
          <p:nvPr>
            <p:ph sz="half" idx="1"/>
          </p:nvPr>
        </p:nvSpPr>
        <p:spPr/>
        <p:txBody>
          <a:bodyPr>
            <a:normAutofit fontScale="77500" lnSpcReduction="20000"/>
          </a:bodyPr>
          <a:lstStyle/>
          <a:p>
            <a:r>
              <a:rPr lang="en-IN" sz="2100" dirty="0"/>
              <a:t>#include </a:t>
            </a:r>
            <a:r>
              <a:rPr lang="en-IN" sz="2100" dirty="0" err="1"/>
              <a:t>siostream</a:t>
            </a:r>
            <a:endParaRPr lang="en-IN" sz="2100" dirty="0"/>
          </a:p>
          <a:p>
            <a:r>
              <a:rPr lang="en-IN" sz="2100" dirty="0"/>
              <a:t>using namespace std;</a:t>
            </a:r>
          </a:p>
          <a:p>
            <a:r>
              <a:rPr lang="en-IN" sz="2100" dirty="0"/>
              <a:t>class person</a:t>
            </a:r>
          </a:p>
          <a:p>
            <a:r>
              <a:rPr lang="en-IN" sz="2100" dirty="0"/>
              <a:t>{</a:t>
            </a:r>
          </a:p>
          <a:p>
            <a:r>
              <a:rPr lang="en-IN" sz="2100" dirty="0"/>
              <a:t>char name(30):</a:t>
            </a:r>
          </a:p>
          <a:p>
            <a:pPr marL="0" indent="0">
              <a:buNone/>
            </a:pPr>
            <a:r>
              <a:rPr lang="en-IN" sz="2100" dirty="0"/>
              <a:t>  int age; </a:t>
            </a:r>
          </a:p>
          <a:p>
            <a:pPr marL="0" indent="0">
              <a:buNone/>
            </a:pPr>
            <a:r>
              <a:rPr lang="en-IN" sz="2100" dirty="0"/>
              <a:t>  public:</a:t>
            </a:r>
          </a:p>
          <a:p>
            <a:r>
              <a:rPr lang="en-IN" sz="2100" dirty="0"/>
              <a:t>void </a:t>
            </a:r>
            <a:r>
              <a:rPr lang="en-IN" sz="2100" dirty="0" err="1"/>
              <a:t>getdata</a:t>
            </a:r>
            <a:r>
              <a:rPr lang="en-IN" sz="2100" dirty="0"/>
              <a:t> (void); </a:t>
            </a:r>
          </a:p>
          <a:p>
            <a:r>
              <a:rPr lang="en-IN" sz="2100" dirty="0"/>
              <a:t>void display (void);</a:t>
            </a:r>
          </a:p>
          <a:p>
            <a:r>
              <a:rPr lang="en-IN" sz="2100" dirty="0"/>
              <a:t>};</a:t>
            </a:r>
          </a:p>
          <a:p>
            <a:endParaRPr lang="en-IN" dirty="0"/>
          </a:p>
        </p:txBody>
      </p:sp>
      <p:sp>
        <p:nvSpPr>
          <p:cNvPr id="4" name="Content Placeholder 3">
            <a:extLst>
              <a:ext uri="{FF2B5EF4-FFF2-40B4-BE49-F238E27FC236}">
                <a16:creationId xmlns:a16="http://schemas.microsoft.com/office/drawing/2014/main" id="{D4EDC5ED-9C8B-C2E5-CE2E-E5F71CB4D65C}"/>
              </a:ext>
            </a:extLst>
          </p:cNvPr>
          <p:cNvSpPr>
            <a:spLocks noGrp="1"/>
          </p:cNvSpPr>
          <p:nvPr>
            <p:ph sz="half" idx="2"/>
          </p:nvPr>
        </p:nvSpPr>
        <p:spPr/>
        <p:txBody>
          <a:bodyPr>
            <a:normAutofit fontScale="77500" lnSpcReduction="20000"/>
          </a:bodyPr>
          <a:lstStyle/>
          <a:p>
            <a:r>
              <a:rPr lang="en-IN" dirty="0"/>
              <a:t>void person :: </a:t>
            </a:r>
            <a:r>
              <a:rPr lang="en-IN" dirty="0" err="1"/>
              <a:t>getdata</a:t>
            </a:r>
            <a:r>
              <a:rPr lang="en-IN" dirty="0"/>
              <a:t>(void) // Scope resolution operator</a:t>
            </a:r>
          </a:p>
          <a:p>
            <a:r>
              <a:rPr lang="en-IN" dirty="0"/>
              <a:t>{</a:t>
            </a:r>
          </a:p>
          <a:p>
            <a:r>
              <a:rPr lang="en-IN" dirty="0" err="1"/>
              <a:t>cout</a:t>
            </a:r>
            <a:r>
              <a:rPr lang="en-IN" dirty="0"/>
              <a:t> &lt;&lt; "Enter Name:”</a:t>
            </a:r>
          </a:p>
          <a:p>
            <a:r>
              <a:rPr lang="en-IN" dirty="0" err="1"/>
              <a:t>cin</a:t>
            </a:r>
            <a:r>
              <a:rPr lang="en-IN" dirty="0"/>
              <a:t> &gt;&gt; name;</a:t>
            </a:r>
          </a:p>
          <a:p>
            <a:r>
              <a:rPr lang="en-IN" dirty="0" err="1"/>
              <a:t>cout</a:t>
            </a:r>
            <a:r>
              <a:rPr lang="en-IN" dirty="0"/>
              <a:t> &lt;&lt; "Enter Age:"</a:t>
            </a:r>
          </a:p>
          <a:p>
            <a:r>
              <a:rPr lang="en-IN" dirty="0" err="1"/>
              <a:t>cin</a:t>
            </a:r>
            <a:r>
              <a:rPr lang="en-IN" dirty="0"/>
              <a:t> &gt;&gt; age;</a:t>
            </a:r>
          </a:p>
          <a:p>
            <a:r>
              <a:rPr lang="en-IN" dirty="0"/>
              <a:t>}</a:t>
            </a:r>
          </a:p>
          <a:p>
            <a:r>
              <a:rPr lang="en-IN" dirty="0"/>
              <a:t>void person :: display(void)</a:t>
            </a:r>
          </a:p>
          <a:p>
            <a:r>
              <a:rPr lang="en-IN" dirty="0"/>
              <a:t>{</a:t>
            </a:r>
          </a:p>
          <a:p>
            <a:r>
              <a:rPr lang="en-IN" dirty="0" err="1"/>
              <a:t>cout</a:t>
            </a:r>
            <a:r>
              <a:rPr lang="en-IN" dirty="0"/>
              <a:t>&lt;&lt;“Name : “ &lt;&lt; name</a:t>
            </a:r>
          </a:p>
          <a:p>
            <a:r>
              <a:rPr lang="en-IN" dirty="0" err="1"/>
              <a:t>cout</a:t>
            </a:r>
            <a:r>
              <a:rPr lang="en-IN" dirty="0"/>
              <a:t>&lt;&lt;“ Age : &lt;&lt; age }</a:t>
            </a:r>
          </a:p>
          <a:p>
            <a:endParaRPr lang="en-IN" dirty="0"/>
          </a:p>
        </p:txBody>
      </p:sp>
    </p:spTree>
    <p:extLst>
      <p:ext uri="{BB962C8B-B14F-4D97-AF65-F5344CB8AC3E}">
        <p14:creationId xmlns:p14="http://schemas.microsoft.com/office/powerpoint/2010/main" val="1362541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ECBB59-60E5-DE73-9D13-E45520A797CD}"/>
              </a:ext>
            </a:extLst>
          </p:cNvPr>
          <p:cNvSpPr>
            <a:spLocks noGrp="1"/>
          </p:cNvSpPr>
          <p:nvPr>
            <p:ph type="title"/>
          </p:nvPr>
        </p:nvSpPr>
        <p:spPr/>
        <p:txBody>
          <a:bodyPr/>
          <a:lstStyle/>
          <a:p>
            <a:r>
              <a:rPr lang="en-IN" dirty="0"/>
              <a:t>C++  Program with class (</a:t>
            </a:r>
            <a:r>
              <a:rPr lang="en-IN" dirty="0" err="1"/>
              <a:t>Cont</a:t>
            </a:r>
            <a:r>
              <a:rPr lang="en-IN" dirty="0"/>
              <a:t>…)</a:t>
            </a:r>
          </a:p>
        </p:txBody>
      </p:sp>
      <p:sp>
        <p:nvSpPr>
          <p:cNvPr id="3" name="Content Placeholder 2">
            <a:extLst>
              <a:ext uri="{FF2B5EF4-FFF2-40B4-BE49-F238E27FC236}">
                <a16:creationId xmlns:a16="http://schemas.microsoft.com/office/drawing/2014/main" id="{85F3758F-EE8F-B196-681A-88FB559B075B}"/>
              </a:ext>
            </a:extLst>
          </p:cNvPr>
          <p:cNvSpPr>
            <a:spLocks noGrp="1"/>
          </p:cNvSpPr>
          <p:nvPr>
            <p:ph sz="half" idx="1"/>
          </p:nvPr>
        </p:nvSpPr>
        <p:spPr/>
        <p:txBody>
          <a:bodyPr/>
          <a:lstStyle/>
          <a:p>
            <a:r>
              <a:rPr lang="en-IN" dirty="0"/>
              <a:t>int main ()</a:t>
            </a:r>
          </a:p>
          <a:p>
            <a:r>
              <a:rPr lang="en-IN" dirty="0"/>
              <a:t>{</a:t>
            </a:r>
          </a:p>
          <a:p>
            <a:r>
              <a:rPr lang="en-IN" dirty="0"/>
              <a:t>person  p;</a:t>
            </a:r>
          </a:p>
          <a:p>
            <a:r>
              <a:rPr lang="en-IN" dirty="0" err="1"/>
              <a:t>p.getdata</a:t>
            </a:r>
            <a:r>
              <a:rPr lang="en-IN" dirty="0"/>
              <a:t>();</a:t>
            </a:r>
          </a:p>
          <a:p>
            <a:r>
              <a:rPr lang="en-IN" dirty="0" err="1"/>
              <a:t>p.display</a:t>
            </a:r>
            <a:r>
              <a:rPr lang="en-IN" dirty="0"/>
              <a:t>();</a:t>
            </a:r>
          </a:p>
          <a:p>
            <a:r>
              <a:rPr lang="en-IN" dirty="0"/>
              <a:t>return 0;</a:t>
            </a:r>
          </a:p>
          <a:p>
            <a:r>
              <a:rPr lang="en-IN" dirty="0"/>
              <a:t>}</a:t>
            </a:r>
          </a:p>
          <a:p>
            <a:endParaRPr lang="en-IN" dirty="0"/>
          </a:p>
        </p:txBody>
      </p:sp>
      <p:sp>
        <p:nvSpPr>
          <p:cNvPr id="4" name="Content Placeholder 3">
            <a:extLst>
              <a:ext uri="{FF2B5EF4-FFF2-40B4-BE49-F238E27FC236}">
                <a16:creationId xmlns:a16="http://schemas.microsoft.com/office/drawing/2014/main" id="{AB69EBCC-8438-7CB7-244A-6E951FAD8E72}"/>
              </a:ext>
            </a:extLst>
          </p:cNvPr>
          <p:cNvSpPr>
            <a:spLocks noGrp="1"/>
          </p:cNvSpPr>
          <p:nvPr>
            <p:ph sz="half" idx="2"/>
          </p:nvPr>
        </p:nvSpPr>
        <p:spPr/>
        <p:txBody>
          <a:bodyPr/>
          <a:lstStyle/>
          <a:p>
            <a:r>
              <a:rPr lang="en-IN" dirty="0"/>
              <a:t>Output:</a:t>
            </a:r>
          </a:p>
          <a:p>
            <a:r>
              <a:rPr lang="en-IN" dirty="0"/>
              <a:t>Enter name:   NN</a:t>
            </a:r>
          </a:p>
          <a:p>
            <a:r>
              <a:rPr lang="en-IN" dirty="0"/>
              <a:t>Enter age:  15</a:t>
            </a:r>
          </a:p>
          <a:p>
            <a:r>
              <a:rPr lang="en-IN" dirty="0"/>
              <a:t>Name: NN</a:t>
            </a:r>
          </a:p>
          <a:p>
            <a:r>
              <a:rPr lang="en-IN" dirty="0"/>
              <a:t>Age: 15</a:t>
            </a:r>
          </a:p>
          <a:p>
            <a:endParaRPr lang="en-IN" dirty="0"/>
          </a:p>
        </p:txBody>
      </p:sp>
    </p:spTree>
    <p:extLst>
      <p:ext uri="{BB962C8B-B14F-4D97-AF65-F5344CB8AC3E}">
        <p14:creationId xmlns:p14="http://schemas.microsoft.com/office/powerpoint/2010/main" val="346827883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874322-3C52-DD6C-6A4D-23B9F1FFFBA3}"/>
              </a:ext>
            </a:extLst>
          </p:cNvPr>
          <p:cNvSpPr>
            <a:spLocks noGrp="1"/>
          </p:cNvSpPr>
          <p:nvPr>
            <p:ph type="title"/>
          </p:nvPr>
        </p:nvSpPr>
        <p:spPr>
          <a:xfrm>
            <a:off x="1097280" y="286603"/>
            <a:ext cx="10058400" cy="810677"/>
          </a:xfrm>
        </p:spPr>
        <p:txBody>
          <a:bodyPr>
            <a:normAutofit/>
          </a:bodyPr>
          <a:lstStyle/>
          <a:p>
            <a:pPr algn="just"/>
            <a:r>
              <a:rPr lang="en-IN" sz="4000" dirty="0"/>
              <a:t>Structure of C++ Program</a:t>
            </a:r>
          </a:p>
        </p:txBody>
      </p:sp>
      <p:pic>
        <p:nvPicPr>
          <p:cNvPr id="5" name="Content Placeholder 4">
            <a:extLst>
              <a:ext uri="{FF2B5EF4-FFF2-40B4-BE49-F238E27FC236}">
                <a16:creationId xmlns:a16="http://schemas.microsoft.com/office/drawing/2014/main" id="{96E7AC72-ACE1-5A16-EA8F-5F160068C73F}"/>
              </a:ext>
            </a:extLst>
          </p:cNvPr>
          <p:cNvPicPr>
            <a:picLocks noGrp="1" noChangeAspect="1"/>
          </p:cNvPicPr>
          <p:nvPr>
            <p:ph sz="half" idx="1"/>
          </p:nvPr>
        </p:nvPicPr>
        <p:blipFill>
          <a:blip r:embed="rId2"/>
          <a:stretch>
            <a:fillRect/>
          </a:stretch>
        </p:blipFill>
        <p:spPr>
          <a:xfrm>
            <a:off x="3464560" y="1910080"/>
            <a:ext cx="5811520" cy="3576320"/>
          </a:xfrm>
        </p:spPr>
      </p:pic>
    </p:spTree>
    <p:extLst>
      <p:ext uri="{BB962C8B-B14F-4D97-AF65-F5344CB8AC3E}">
        <p14:creationId xmlns:p14="http://schemas.microsoft.com/office/powerpoint/2010/main" val="163279540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19D425-37BB-BF30-1572-809B9973A158}"/>
              </a:ext>
            </a:extLst>
          </p:cNvPr>
          <p:cNvSpPr>
            <a:spLocks noGrp="1"/>
          </p:cNvSpPr>
          <p:nvPr>
            <p:ph type="title"/>
          </p:nvPr>
        </p:nvSpPr>
        <p:spPr/>
        <p:txBody>
          <a:bodyPr/>
          <a:lstStyle/>
          <a:p>
            <a:r>
              <a:rPr lang="en-IN" dirty="0"/>
              <a:t>Creating the Source File</a:t>
            </a:r>
          </a:p>
        </p:txBody>
      </p:sp>
      <p:sp>
        <p:nvSpPr>
          <p:cNvPr id="3" name="Content Placeholder 2">
            <a:extLst>
              <a:ext uri="{FF2B5EF4-FFF2-40B4-BE49-F238E27FC236}">
                <a16:creationId xmlns:a16="http://schemas.microsoft.com/office/drawing/2014/main" id="{3C4144E1-F17A-2EA7-DB59-BEE80377F119}"/>
              </a:ext>
            </a:extLst>
          </p:cNvPr>
          <p:cNvSpPr>
            <a:spLocks noGrp="1"/>
          </p:cNvSpPr>
          <p:nvPr>
            <p:ph sz="half" idx="1"/>
          </p:nvPr>
        </p:nvSpPr>
        <p:spPr>
          <a:xfrm>
            <a:off x="1097278" y="1845734"/>
            <a:ext cx="10058399" cy="4023360"/>
          </a:xfrm>
        </p:spPr>
        <p:txBody>
          <a:bodyPr>
            <a:normAutofit/>
          </a:bodyPr>
          <a:lstStyle/>
          <a:p>
            <a:pPr algn="just">
              <a:buFont typeface="Wingdings" panose="05000000000000000000" pitchFamily="2" charset="2"/>
              <a:buChar char="§"/>
            </a:pPr>
            <a:r>
              <a:rPr lang="en-US" sz="2200" dirty="0"/>
              <a:t>Like C programs, C++ program can be created any text editor. For example, on LINIX, we can use vi or ed text </a:t>
            </a:r>
            <a:r>
              <a:rPr lang="en-US" sz="2200" dirty="0" err="1"/>
              <a:t>erlitor</a:t>
            </a:r>
            <a:r>
              <a:rPr lang="en-US" sz="2200" dirty="0"/>
              <a:t> for creating and editing the source code. On the DOS system, we can use </a:t>
            </a:r>
            <a:r>
              <a:rPr lang="en-US" sz="2200" dirty="0" err="1"/>
              <a:t>edlin</a:t>
            </a:r>
            <a:r>
              <a:rPr lang="en-US" sz="2200" dirty="0"/>
              <a:t> or any other editor or word processor system.</a:t>
            </a:r>
          </a:p>
          <a:p>
            <a:pPr algn="just">
              <a:buFont typeface="Wingdings" panose="05000000000000000000" pitchFamily="2" charset="2"/>
              <a:buChar char="§"/>
            </a:pPr>
            <a:r>
              <a:rPr lang="en-US" sz="2200" dirty="0"/>
              <a:t>Some systems such as Turbo C++ provide an integrated environment for developing and editing programs. </a:t>
            </a:r>
          </a:p>
          <a:p>
            <a:pPr algn="just">
              <a:buFont typeface="Wingdings" panose="05000000000000000000" pitchFamily="2" charset="2"/>
              <a:buChar char="§"/>
            </a:pPr>
            <a:r>
              <a:rPr lang="en-US" sz="2200" dirty="0"/>
              <a:t>The file name should have a proper file </a:t>
            </a:r>
            <a:r>
              <a:rPr lang="en-US" sz="2200" dirty="0" err="1"/>
              <a:t>exstension</a:t>
            </a:r>
            <a:r>
              <a:rPr lang="en-US" sz="2200" dirty="0"/>
              <a:t> to indicate that it is a C++ program.. C++ implementations use extensions such as .c .C,  .cc, .</a:t>
            </a:r>
            <a:r>
              <a:rPr lang="en-US" sz="2200" dirty="0" err="1"/>
              <a:t>cpp</a:t>
            </a:r>
            <a:r>
              <a:rPr lang="en-US" sz="2200" dirty="0"/>
              <a:t> and .cxx. Turbo C++ and Borland C++ use .c for C programs and .</a:t>
            </a:r>
            <a:r>
              <a:rPr lang="en-US" sz="2200" dirty="0" err="1"/>
              <a:t>cpp</a:t>
            </a:r>
            <a:r>
              <a:rPr lang="en-US" sz="2200" dirty="0"/>
              <a:t> for C++ programs. </a:t>
            </a:r>
            <a:r>
              <a:rPr lang="en-US" sz="2200" dirty="0" err="1"/>
              <a:t>Zortech</a:t>
            </a:r>
            <a:r>
              <a:rPr lang="en-US" sz="2200" dirty="0"/>
              <a:t> C++ system uses .cxx while UNIX AT&amp;T version uses .cc and  .C . The operating system </a:t>
            </a:r>
            <a:r>
              <a:rPr lang="en-US" sz="2200" dirty="0" err="1"/>
              <a:t>manuala</a:t>
            </a:r>
            <a:r>
              <a:rPr lang="en-US" sz="2200" dirty="0"/>
              <a:t> should be consulted to determine the proper file name extensions to be used.</a:t>
            </a:r>
            <a:endParaRPr lang="en-IN" sz="2200" dirty="0"/>
          </a:p>
        </p:txBody>
      </p:sp>
    </p:spTree>
    <p:extLst>
      <p:ext uri="{BB962C8B-B14F-4D97-AF65-F5344CB8AC3E}">
        <p14:creationId xmlns:p14="http://schemas.microsoft.com/office/powerpoint/2010/main" val="922558276"/>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docProps/app.xml><?xml version="1.0" encoding="utf-8"?>
<Properties xmlns="http://schemas.openxmlformats.org/officeDocument/2006/extended-properties" xmlns:vt="http://schemas.openxmlformats.org/officeDocument/2006/docPropsVTypes">
  <Template>Retrospect</Template>
  <TotalTime>780</TotalTime>
  <Words>1403</Words>
  <Application>Microsoft Office PowerPoint</Application>
  <PresentationFormat>Widescreen</PresentationFormat>
  <Paragraphs>158</Paragraphs>
  <Slides>17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Calibri</vt:lpstr>
      <vt:lpstr>Calibri Light</vt:lpstr>
      <vt:lpstr>Wingdings</vt:lpstr>
      <vt:lpstr>Retrospect</vt:lpstr>
      <vt:lpstr>Chapter - 2</vt:lpstr>
      <vt:lpstr>2.1 What is C++?</vt:lpstr>
      <vt:lpstr>2.2 Applications of C++</vt:lpstr>
      <vt:lpstr>A Simple C++ Program </vt:lpstr>
      <vt:lpstr>A Simple C++ Program (Cont…)</vt:lpstr>
      <vt:lpstr>A Simple C++ Program (Cont…)</vt:lpstr>
      <vt:lpstr>A Simple C++ Program (Cont…)</vt:lpstr>
      <vt:lpstr>Insertion Operator &lt;&lt;</vt:lpstr>
      <vt:lpstr>Extraction Operator &gt;&gt;</vt:lpstr>
      <vt:lpstr>More C++ Statement</vt:lpstr>
      <vt:lpstr>Cascading of 1/0 Operators </vt:lpstr>
      <vt:lpstr>PowerPoint Presentation</vt:lpstr>
      <vt:lpstr>Table provides lists of C++ standard library header files that may be needed in C++ programs. The header files with .h extension are "old style" flies which should be used with old compilers. Table  also gives the version of these files that should be used with the ANSI standard compilers.</vt:lpstr>
      <vt:lpstr>C++  Program with class</vt:lpstr>
      <vt:lpstr>C++  Program with class (Cont…)</vt:lpstr>
      <vt:lpstr>Structure of C++ Program</vt:lpstr>
      <vt:lpstr>Creating the Source File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- 1</dc:title>
  <dc:creator>CSE-10</dc:creator>
  <cp:lastModifiedBy>SOMENATH BERA</cp:lastModifiedBy>
  <cp:revision>22</cp:revision>
  <dcterms:created xsi:type="dcterms:W3CDTF">2025-07-02T05:47:51Z</dcterms:created>
  <dcterms:modified xsi:type="dcterms:W3CDTF">2025-07-06T13:34:48Z</dcterms:modified>
</cp:coreProperties>
</file>