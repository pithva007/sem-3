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7"/>
  </p:notesMasterIdLst>
  <p:sldIdLst>
    <p:sldId id="310" r:id="rId2"/>
    <p:sldId id="446" r:id="rId3"/>
    <p:sldId id="447" r:id="rId4"/>
    <p:sldId id="448" r:id="rId5"/>
    <p:sldId id="449" r:id="rId6"/>
    <p:sldId id="450" r:id="rId7"/>
    <p:sldId id="451" r:id="rId8"/>
    <p:sldId id="458" r:id="rId9"/>
    <p:sldId id="452" r:id="rId10"/>
    <p:sldId id="294" r:id="rId11"/>
    <p:sldId id="295" r:id="rId12"/>
    <p:sldId id="296" r:id="rId13"/>
    <p:sldId id="297" r:id="rId14"/>
    <p:sldId id="459" r:id="rId15"/>
    <p:sldId id="460" r:id="rId16"/>
    <p:sldId id="298" r:id="rId17"/>
    <p:sldId id="455" r:id="rId18"/>
    <p:sldId id="461" r:id="rId19"/>
    <p:sldId id="317" r:id="rId20"/>
    <p:sldId id="318" r:id="rId21"/>
    <p:sldId id="319" r:id="rId22"/>
    <p:sldId id="320" r:id="rId23"/>
    <p:sldId id="321" r:id="rId24"/>
    <p:sldId id="322" r:id="rId25"/>
    <p:sldId id="349" r:id="rId26"/>
    <p:sldId id="350" r:id="rId27"/>
    <p:sldId id="351" r:id="rId28"/>
    <p:sldId id="323" r:id="rId29"/>
    <p:sldId id="324" r:id="rId30"/>
    <p:sldId id="325" r:id="rId31"/>
    <p:sldId id="326" r:id="rId32"/>
    <p:sldId id="327" r:id="rId33"/>
    <p:sldId id="328" r:id="rId34"/>
    <p:sldId id="329" r:id="rId35"/>
    <p:sldId id="330" r:id="rId36"/>
    <p:sldId id="331" r:id="rId37"/>
    <p:sldId id="332" r:id="rId38"/>
    <p:sldId id="333" r:id="rId39"/>
    <p:sldId id="334" r:id="rId40"/>
    <p:sldId id="335" r:id="rId41"/>
    <p:sldId id="336" r:id="rId42"/>
    <p:sldId id="337" r:id="rId43"/>
    <p:sldId id="338" r:id="rId44"/>
    <p:sldId id="339" r:id="rId45"/>
    <p:sldId id="44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 autoAdjust="0"/>
    <p:restoredTop sz="94695"/>
  </p:normalViewPr>
  <p:slideViewPr>
    <p:cSldViewPr snapToGrid="0">
      <p:cViewPr varScale="1">
        <p:scale>
          <a:sx n="113" d="100"/>
          <a:sy n="113" d="100"/>
        </p:scale>
        <p:origin x="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331E1-0269-43F9-A95C-0F36EF3F2B33}" type="datetimeFigureOut">
              <a:rPr lang="en-IN" smtClean="0"/>
              <a:t>30/10/25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1565A-A1D7-4086-8B68-043E74E605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74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A48CF-0175-F65F-C79C-CC9B468F7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6577DF-B80B-E597-26B5-6E531F894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38DCA-648B-7284-7383-C64E5C412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30/10/25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680DB-0A2E-F351-A6F8-17C633774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4C6F8-0EB3-659C-D527-F8C55912D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88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A9D6D-89A1-23C2-A6D3-B4E696F5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7700D-24AF-C2D3-0929-DC5CA9DF3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CD25E-A28F-5974-54C3-4A539DD95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30/10/25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EE8A8-6202-CA64-4737-8AD35614E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97C18-E6EE-C1BE-8643-3F9080D4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218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10438-B862-9FEA-DB21-06247F563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BB30A-2149-8363-B949-EDA2696FC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C3681-8A6E-0211-ED16-D03212FB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30/10/25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8A75B-9C17-8EEC-11A1-A2C0137F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3D8A2-5311-4A5D-B17C-8ED3071F6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0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AD564-F96F-4944-67E2-65DEBF44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12A7D-05EE-468D-7F37-AF17B98B16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94DF0-E802-D3ED-73F8-EBCD7662E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FCE31-4851-CD6E-0119-F636B0488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30/10/25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646AE-0781-4F56-C5BE-C0E3A0577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08E6E-42BF-E437-BE5E-8DCBEAA03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228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86566-E28D-325E-1A3D-A1E9EA36E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77892-B683-A37F-EE6D-59CCA04A7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74D4AC-B76C-3E0F-F00C-4C7E7B766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B87F3-2E1F-453F-1626-2E9178BA7F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90A5EF-6513-5F28-698D-5510ED2A74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B54F75-4911-8A26-BE3A-46FEFDDC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30/10/25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98F2E4-8B06-4363-6FEB-B07F79720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82CEF0-4D1A-C820-6912-FD85746B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864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3AC64-C545-91E7-FEDC-E655B75F9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A68C84-7F86-8B63-D534-482514B88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30/10/25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AF32B1-6F81-3DBA-3C10-DA5A05E15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8B8C1-664A-8316-CE94-FABF06A2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13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33010-EAC7-6FD7-CF39-34351E372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30/10/25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591542-7CFF-C983-6EED-1A8A18D09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4F29B-D5A9-CFA0-A287-CF4407CA1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590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8DBA8-ED9A-2025-E6E9-900A62414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F6AC3-27F3-815C-3CD2-D9D3C12CB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CA7C5-085A-A637-CD89-5E3EF6844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9D2F7-454A-046C-43C0-95EAA965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30/10/25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941F3-CD68-6E16-F2E7-BA7747B13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E3784-E993-9548-13EB-DDD6F4B18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05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37593-C7FC-1A7E-0E5C-986B3E69C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CB6BFD-1D88-4383-AB9A-F2BD2E6E6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3F586-04A8-D209-3020-646507876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FEFD6-0AC6-008C-8662-681444CA9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30/10/25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C457B-7508-8A06-AD62-6FD39FBC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C68EE-67A6-7955-614C-7A0FB9DC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367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3D703-7938-5EEF-D723-401F26AB1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9E773-F6F4-5932-1EBB-6512F289D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E59E9-2C59-9950-1197-5C67ABD2B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30/10/25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11E78-0AD2-D7D1-FA67-6674FDAF4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C720D-9C08-C8A3-4867-4097E8305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191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92EE6-1267-9B9C-B12B-DCF051644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98E47-23CB-157F-753F-A2D7D0855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0B030-9878-810A-E11A-E16C8BBD1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53D0-13B4-454F-89C1-25848C6FD71E}" type="datetimeFigureOut">
              <a:rPr lang="en-IN" smtClean="0"/>
              <a:t>30/10/25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BFA83-CB28-A246-5A9B-9128DD1DD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D164F-901E-7A08-5ADD-3DBAD6348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927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026" y="871611"/>
            <a:ext cx="11990070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5</a:t>
            </a:r>
            <a:r>
              <a:rPr spc="-30" dirty="0"/>
              <a:t> </a:t>
            </a:r>
            <a:r>
              <a:rPr dirty="0"/>
              <a:t>March</a:t>
            </a:r>
            <a:r>
              <a:rPr spc="-30" dirty="0"/>
              <a:t> </a:t>
            </a:r>
            <a:r>
              <a:rPr dirty="0"/>
              <a:t>2025|</a:t>
            </a:r>
            <a:r>
              <a:rPr spc="-30" dirty="0"/>
              <a:t> </a:t>
            </a:r>
            <a:r>
              <a:rPr dirty="0"/>
              <a:t>U</a:t>
            </a:r>
            <a:r>
              <a:rPr spc="-25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P</a:t>
            </a:r>
            <a:r>
              <a:rPr spc="-30" dirty="0"/>
              <a:t> </a:t>
            </a:r>
            <a:r>
              <a:rPr dirty="0"/>
              <a:t>U.</a:t>
            </a:r>
            <a:r>
              <a:rPr spc="-25" dirty="0"/>
              <a:t> </a:t>
            </a:r>
            <a:r>
              <a:rPr spc="-10" dirty="0"/>
              <a:t>Patel</a:t>
            </a:r>
            <a:r>
              <a:rPr spc="-30" dirty="0"/>
              <a:t> </a:t>
            </a: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9230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9A54FA-61F2-CAEF-4AD9-53421D5E0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AC761-DB65-BF2C-776D-CD228CFF9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430B3-3BD2-395A-ACC5-5B1881525A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7853D0-13B4-454F-89C1-25848C6FD71E}" type="datetimeFigureOut">
              <a:rPr lang="en-IN" smtClean="0"/>
              <a:t>30/10/25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5FCE3-9A3B-F3DC-61FF-7F13023B3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795FB-B1D2-FD26-539F-C76FF8C71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51291-8128-4432-B26C-537E08DEF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619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jp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3DE5A-E1AD-4C7C-B837-B4D0B2033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1605" y="992777"/>
            <a:ext cx="6858000" cy="1790700"/>
          </a:xfrm>
        </p:spPr>
        <p:txBody>
          <a:bodyPr>
            <a:normAutofit/>
          </a:bodyPr>
          <a:lstStyle/>
          <a:p>
            <a:pPr algn="ctr"/>
            <a:r>
              <a:rPr lang="en-IN" sz="5400" dirty="0"/>
              <a:t>Chapter - 9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2762D-AAB7-47FB-9F8A-330B95219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1605" y="2832702"/>
            <a:ext cx="6858000" cy="1241822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  <a:buSzPts val="2400"/>
            </a:pPr>
            <a:r>
              <a:rPr lang="en-IN" sz="3200" dirty="0"/>
              <a:t>Pointers, Virtual Functions and Polymorphism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D0442E1-2488-11B8-6434-55EA5CC31A3B}"/>
              </a:ext>
            </a:extLst>
          </p:cNvPr>
          <p:cNvSpPr txBox="1">
            <a:spLocks/>
          </p:cNvSpPr>
          <p:nvPr/>
        </p:nvSpPr>
        <p:spPr>
          <a:xfrm>
            <a:off x="2031380" y="3940707"/>
            <a:ext cx="8396868" cy="1790699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/>
              <a:t>Book Referred: Object-Oriented Programming with C++ by E Balaguruswamy </a:t>
            </a:r>
          </a:p>
          <a:p>
            <a:r>
              <a:rPr lang="en-IN" sz="1800" dirty="0"/>
              <a:t>(8</a:t>
            </a:r>
            <a:r>
              <a:rPr lang="en-IN" sz="1800" baseline="30000" dirty="0"/>
              <a:t>th</a:t>
            </a:r>
            <a:r>
              <a:rPr lang="en-IN" sz="1800" dirty="0"/>
              <a:t> Edition) – Chapter 9</a:t>
            </a:r>
          </a:p>
          <a:p>
            <a:endParaRPr lang="en-IN" sz="1800" dirty="0"/>
          </a:p>
          <a:p>
            <a:r>
              <a:rPr lang="en-IN" sz="1800" dirty="0"/>
              <a:t>Prepared By: Dr. Anuja Nair, Assistant Professor, </a:t>
            </a:r>
          </a:p>
          <a:p>
            <a:r>
              <a:rPr lang="en-IN" sz="1800" dirty="0"/>
              <a:t>                            CSE Department, Nirma University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683798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6D7B-6F97-3008-A621-5055BB241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Included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AB582-0A64-708B-8F46-C99B3C6D3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  <a:p>
            <a:r>
              <a:rPr lang="en-US" dirty="0"/>
              <a:t>Pointers</a:t>
            </a:r>
          </a:p>
          <a:p>
            <a:r>
              <a:rPr lang="en-US" dirty="0"/>
              <a:t>Pointers to objects</a:t>
            </a:r>
          </a:p>
          <a:p>
            <a:r>
              <a:rPr lang="en-US" dirty="0">
                <a:highlight>
                  <a:srgbClr val="FFFF00"/>
                </a:highlight>
              </a:rPr>
              <a:t>this pointer</a:t>
            </a:r>
          </a:p>
          <a:p>
            <a:r>
              <a:rPr lang="en-US" dirty="0"/>
              <a:t>Pointers to derived classes</a:t>
            </a:r>
          </a:p>
          <a:p>
            <a:r>
              <a:rPr lang="en-US" dirty="0"/>
              <a:t>Virtual functions</a:t>
            </a:r>
          </a:p>
          <a:p>
            <a:r>
              <a:rPr lang="en-US" dirty="0"/>
              <a:t>Pure virtual function</a:t>
            </a:r>
          </a:p>
        </p:txBody>
      </p:sp>
    </p:spTree>
    <p:extLst>
      <p:ext uri="{BB962C8B-B14F-4D97-AF65-F5344CB8AC3E}">
        <p14:creationId xmlns:p14="http://schemas.microsoft.com/office/powerpoint/2010/main" val="3519319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F47AA-CB81-7CD2-7856-B0B3E9B8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pic>
        <p:nvPicPr>
          <p:cNvPr id="4" name="object 7">
            <a:extLst>
              <a:ext uri="{FF2B5EF4-FFF2-40B4-BE49-F238E27FC236}">
                <a16:creationId xmlns:a16="http://schemas.microsoft.com/office/drawing/2014/main" id="{8FCBC73A-652F-7435-DABA-8A2A304215C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2" y="1690688"/>
            <a:ext cx="9968087" cy="3733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EAAC71-0DD0-5903-E111-645FC429DA31}"/>
              </a:ext>
            </a:extLst>
          </p:cNvPr>
          <p:cNvSpPr txBox="1"/>
          <p:nvPr/>
        </p:nvSpPr>
        <p:spPr>
          <a:xfrm>
            <a:off x="1241778" y="5689600"/>
            <a:ext cx="9403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Compile time polymorphism </a:t>
            </a:r>
            <a:r>
              <a:rPr lang="en-US" dirty="0">
                <a:sym typeface="Wingdings" pitchFamily="2" charset="2"/>
              </a:rPr>
              <a:t> early binding/static binding/static linking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Run time polymorphism  late binding/dynamic binding  requires pointers to objects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12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11F6E-7D9E-FCB1-F86D-6C3B2423F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B6EC4-5579-55AF-5D7A-8A6594B44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Declaring and initializing pointers</a:t>
            </a:r>
          </a:p>
          <a:p>
            <a:r>
              <a:rPr lang="en-US" dirty="0"/>
              <a:t>Manipulation of pointers</a:t>
            </a:r>
          </a:p>
          <a:p>
            <a:r>
              <a:rPr lang="en-US" dirty="0"/>
              <a:t>Pointer expressions and pointer arithmetic</a:t>
            </a:r>
          </a:p>
        </p:txBody>
      </p:sp>
    </p:spTree>
    <p:extLst>
      <p:ext uri="{BB962C8B-B14F-4D97-AF65-F5344CB8AC3E}">
        <p14:creationId xmlns:p14="http://schemas.microsoft.com/office/powerpoint/2010/main" val="253392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E1DC2-967B-95E3-D9CC-C6837BBCA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pointers with Arrays and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F82D8-9D19-735E-B55E-F8383CDD5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declare the pointers to arrays as follows:</a:t>
            </a:r>
          </a:p>
          <a:p>
            <a:pPr lvl="1"/>
            <a:r>
              <a:rPr lang="en-US" dirty="0"/>
              <a:t>int *</a:t>
            </a:r>
            <a:r>
              <a:rPr lang="en-US" dirty="0" err="1"/>
              <a:t>ptr</a:t>
            </a:r>
            <a:r>
              <a:rPr lang="en-US" dirty="0"/>
              <a:t>; </a:t>
            </a:r>
          </a:p>
          <a:p>
            <a:pPr lvl="1"/>
            <a:r>
              <a:rPr lang="en-US" dirty="0" err="1"/>
              <a:t>ptr</a:t>
            </a:r>
            <a:r>
              <a:rPr lang="en-US" dirty="0"/>
              <a:t> = number[0];  OR</a:t>
            </a:r>
          </a:p>
          <a:p>
            <a:pPr lvl="1"/>
            <a:r>
              <a:rPr lang="en-US" dirty="0" err="1"/>
              <a:t>ptr</a:t>
            </a:r>
            <a:r>
              <a:rPr lang="en-US" dirty="0"/>
              <a:t> = number;</a:t>
            </a:r>
          </a:p>
          <a:p>
            <a:pPr lvl="1"/>
            <a:r>
              <a:rPr lang="en-US" dirty="0"/>
              <a:t>Here, </a:t>
            </a:r>
            <a:r>
              <a:rPr lang="en-US" dirty="0" err="1"/>
              <a:t>ptr</a:t>
            </a:r>
            <a:r>
              <a:rPr lang="en-US" dirty="0"/>
              <a:t> points to the first element of the integer array, number[0].</a:t>
            </a:r>
          </a:p>
          <a:p>
            <a:pPr lvl="1"/>
            <a:r>
              <a:rPr lang="en-US" dirty="0" err="1"/>
              <a:t>ptr</a:t>
            </a:r>
            <a:r>
              <a:rPr lang="en-US" dirty="0"/>
              <a:t>++; or ++</a:t>
            </a:r>
            <a:r>
              <a:rPr lang="en-US" dirty="0" err="1"/>
              <a:t>ptr</a:t>
            </a:r>
            <a:r>
              <a:rPr lang="en-US" dirty="0"/>
              <a:t>; or </a:t>
            </a:r>
            <a:r>
              <a:rPr lang="en-US" dirty="0" err="1"/>
              <a:t>ptr</a:t>
            </a:r>
            <a:r>
              <a:rPr lang="en-US" dirty="0"/>
              <a:t>--; or --</a:t>
            </a:r>
            <a:r>
              <a:rPr lang="en-US" dirty="0" err="1"/>
              <a:t>ptr</a:t>
            </a:r>
            <a:r>
              <a:rPr lang="en-US" dirty="0"/>
              <a:t>;</a:t>
            </a:r>
          </a:p>
          <a:p>
            <a:pPr algn="just"/>
            <a:r>
              <a:rPr lang="en-IN" dirty="0"/>
              <a:t>In C++, there is no automatic array bounds checking.</a:t>
            </a:r>
          </a:p>
          <a:p>
            <a:pPr algn="just"/>
            <a:r>
              <a:rPr lang="en-IN" dirty="0"/>
              <a:t>Suppose we declare an array of size 25. The compiler issues no warnings if we attempt to access 26th location. It is the programmer's task to check the array limits.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5B744-4414-F88F-B51D-86EBB1202DA0}"/>
              </a:ext>
            </a:extLst>
          </p:cNvPr>
          <p:cNvSpPr txBox="1"/>
          <p:nvPr/>
        </p:nvSpPr>
        <p:spPr>
          <a:xfrm>
            <a:off x="9053689" y="2686756"/>
            <a:ext cx="215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9a.cpp</a:t>
            </a:r>
          </a:p>
        </p:txBody>
      </p:sp>
    </p:spTree>
    <p:extLst>
      <p:ext uri="{BB962C8B-B14F-4D97-AF65-F5344CB8AC3E}">
        <p14:creationId xmlns:p14="http://schemas.microsoft.com/office/powerpoint/2010/main" val="2745712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2C948-04A3-FAC0-D563-A3A1544FB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3557C-81B8-C2B2-AFAF-615332A73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Similar to other variables, we can create an array of pointers in C++.</a:t>
            </a:r>
          </a:p>
          <a:p>
            <a:pPr algn="just"/>
            <a:r>
              <a:rPr lang="en-US" dirty="0"/>
              <a:t>The array of pointers represents a collection of addresses. By declaring array of pointers, we can save substantial amount of memory space.</a:t>
            </a:r>
          </a:p>
          <a:p>
            <a:pPr algn="just"/>
            <a:r>
              <a:rPr lang="en-US" dirty="0"/>
              <a:t>An array of pointers point to an array of data items.</a:t>
            </a:r>
          </a:p>
          <a:p>
            <a:pPr algn="just"/>
            <a:r>
              <a:rPr lang="en-US" dirty="0"/>
              <a:t>Each element of the pointer array points to an item of the data array. Data items can be accessed either directly or by dereferencing the elements of pointer array. </a:t>
            </a:r>
          </a:p>
          <a:p>
            <a:pPr algn="just"/>
            <a:r>
              <a:rPr lang="en-US" dirty="0"/>
              <a:t>We can declare an array of pointers as follows:</a:t>
            </a:r>
          </a:p>
          <a:p>
            <a:pPr lvl="1" algn="just"/>
            <a:r>
              <a:rPr lang="en-US" dirty="0"/>
              <a:t>int *</a:t>
            </a:r>
            <a:r>
              <a:rPr lang="en-US" dirty="0" err="1"/>
              <a:t>inarray</a:t>
            </a:r>
            <a:r>
              <a:rPr lang="en-US" dirty="0"/>
              <a:t>[10];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0AFC1-0C31-29C4-C062-85A929169E79}"/>
              </a:ext>
            </a:extLst>
          </p:cNvPr>
          <p:cNvSpPr txBox="1"/>
          <p:nvPr/>
        </p:nvSpPr>
        <p:spPr>
          <a:xfrm>
            <a:off x="9482667" y="5181600"/>
            <a:ext cx="1501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9b.cpp</a:t>
            </a:r>
          </a:p>
        </p:txBody>
      </p:sp>
    </p:spTree>
    <p:extLst>
      <p:ext uri="{BB962C8B-B14F-4D97-AF65-F5344CB8AC3E}">
        <p14:creationId xmlns:p14="http://schemas.microsoft.com/office/powerpoint/2010/main" val="2673053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91C80-7128-0E39-6BFD-31B71BC4F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and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1945D-739D-D319-EC83-A9732FA0A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IN" dirty="0"/>
              <a:t>In C++, a string (C-style string) is stored as an array of characters ending with a null character '\0'. </a:t>
            </a:r>
          </a:p>
          <a:p>
            <a:pPr lvl="1"/>
            <a:r>
              <a:rPr lang="en-IN" dirty="0"/>
              <a:t>char str[] = "hello";</a:t>
            </a:r>
          </a:p>
          <a:p>
            <a:r>
              <a:rPr lang="en-IN" dirty="0"/>
              <a:t>Memory Representation:</a:t>
            </a:r>
          </a:p>
          <a:p>
            <a:pPr lvl="1"/>
            <a:r>
              <a:rPr lang="en-IN" dirty="0"/>
              <a:t>h   e   l   l   o   \0</a:t>
            </a:r>
          </a:p>
          <a:p>
            <a:r>
              <a:rPr lang="en-IN" dirty="0"/>
              <a:t>A pointer can be used to point to a string because a string’s name itself acts like an address of the first character.</a:t>
            </a:r>
          </a:p>
          <a:p>
            <a:pPr marL="0" indent="0">
              <a:buNone/>
            </a:pPr>
            <a:r>
              <a:rPr lang="en-IN" dirty="0"/>
              <a:t>1. Pointer to a String Literal</a:t>
            </a:r>
          </a:p>
          <a:p>
            <a:r>
              <a:rPr lang="en-IN" dirty="0"/>
              <a:t>char *p = "hello";</a:t>
            </a:r>
          </a:p>
          <a:p>
            <a:pPr lvl="1"/>
            <a:r>
              <a:rPr lang="en-IN" dirty="0"/>
              <a:t>"hello" is stored in read-only memory</a:t>
            </a:r>
          </a:p>
          <a:p>
            <a:pPr lvl="1"/>
            <a:r>
              <a:rPr lang="en-IN" dirty="0"/>
              <a:t>p stores the address of 'h'</a:t>
            </a:r>
          </a:p>
          <a:p>
            <a:r>
              <a:rPr lang="en-IN" dirty="0"/>
              <a:t>So, p points to the whole string.</a:t>
            </a:r>
          </a:p>
          <a:p>
            <a:pPr lvl="1"/>
            <a:r>
              <a:rPr lang="en-IN" dirty="0"/>
              <a:t>p → h e l l o \0</a:t>
            </a:r>
          </a:p>
          <a:p>
            <a:r>
              <a:rPr lang="en-IN" dirty="0"/>
              <a:t>But we should not modify this string, because it's read-only:</a:t>
            </a:r>
          </a:p>
          <a:p>
            <a:pPr lvl="1"/>
            <a:r>
              <a:rPr lang="en-IN" dirty="0"/>
              <a:t>p[0] = 'H';   // Error (undefined </a:t>
            </a:r>
            <a:r>
              <a:rPr lang="en-IN" dirty="0" err="1"/>
              <a:t>behavior</a:t>
            </a:r>
            <a:r>
              <a:rPr lang="en-IN" dirty="0"/>
              <a:t>)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574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3A9F5-3004-5F6B-E30F-19DE4FAF6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8CC92-ECAB-FAD6-6026-72E73955F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and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E4FB7-7B11-F04A-2283-484B5E540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2. Pointer to a Character Array</a:t>
            </a:r>
          </a:p>
          <a:p>
            <a:pPr lvl="1"/>
            <a:r>
              <a:rPr lang="en-IN" dirty="0"/>
              <a:t>char str[] = "hello";</a:t>
            </a:r>
          </a:p>
          <a:p>
            <a:pPr lvl="1"/>
            <a:r>
              <a:rPr lang="en-IN" dirty="0"/>
              <a:t>char *p = str;</a:t>
            </a:r>
          </a:p>
          <a:p>
            <a:r>
              <a:rPr lang="en-IN" dirty="0"/>
              <a:t>Here,</a:t>
            </a:r>
          </a:p>
          <a:p>
            <a:pPr lvl="1"/>
            <a:r>
              <a:rPr lang="en-IN" dirty="0"/>
              <a:t>str is an actual </a:t>
            </a:r>
            <a:r>
              <a:rPr lang="en-IN" b="1" dirty="0"/>
              <a:t>mutable array</a:t>
            </a:r>
            <a:r>
              <a:rPr lang="en-IN" dirty="0"/>
              <a:t> in memory.</a:t>
            </a:r>
          </a:p>
          <a:p>
            <a:pPr lvl="1"/>
            <a:r>
              <a:rPr lang="en-IN" dirty="0"/>
              <a:t>p points to the </a:t>
            </a:r>
            <a:r>
              <a:rPr lang="en-IN" b="1" dirty="0"/>
              <a:t>same array</a:t>
            </a:r>
            <a:r>
              <a:rPr lang="en-IN" dirty="0"/>
              <a:t>, so modification is allowed.</a:t>
            </a:r>
          </a:p>
          <a:p>
            <a:r>
              <a:rPr lang="en-IN" dirty="0"/>
              <a:t>p[0] = 'H';  // Valid</a:t>
            </a:r>
          </a:p>
          <a:p>
            <a:r>
              <a:rPr lang="en-IN" dirty="0"/>
              <a:t>str → H e l l o \0</a:t>
            </a:r>
          </a:p>
          <a:p>
            <a:pPr marL="0" indent="0">
              <a:buNone/>
            </a:pPr>
            <a:r>
              <a:rPr lang="en-IN" dirty="0"/>
              <a:t>  p  ───┘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4436CE-31BC-7F26-C486-2D4ACF83C50C}"/>
              </a:ext>
            </a:extLst>
          </p:cNvPr>
          <p:cNvSpPr txBox="1"/>
          <p:nvPr/>
        </p:nvSpPr>
        <p:spPr>
          <a:xfrm>
            <a:off x="8387644" y="1825625"/>
            <a:ext cx="2596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9c.cpp</a:t>
            </a:r>
          </a:p>
        </p:txBody>
      </p:sp>
    </p:spTree>
    <p:extLst>
      <p:ext uri="{BB962C8B-B14F-4D97-AF65-F5344CB8AC3E}">
        <p14:creationId xmlns:p14="http://schemas.microsoft.com/office/powerpoint/2010/main" val="1981054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739B1-4356-41E4-34B8-8C257A803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5DC1D-9491-194F-4B69-B884C1BBB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Just like we can store the address of a variable in a pointer,</a:t>
            </a:r>
            <a:br>
              <a:rPr lang="en-IN" dirty="0"/>
            </a:br>
            <a:r>
              <a:rPr lang="en-IN" dirty="0"/>
              <a:t>we can also store the address of a function in a pointer.</a:t>
            </a:r>
          </a:p>
          <a:p>
            <a:r>
              <a:rPr lang="en-IN" dirty="0"/>
              <a:t>This lets us:</a:t>
            </a:r>
          </a:p>
          <a:p>
            <a:pPr lvl="1"/>
            <a:r>
              <a:rPr lang="en-IN" dirty="0"/>
              <a:t>Call a function using a pointer</a:t>
            </a:r>
          </a:p>
          <a:p>
            <a:pPr lvl="1"/>
            <a:r>
              <a:rPr lang="en-IN" dirty="0"/>
              <a:t>Pass functions as arguments to other functions</a:t>
            </a:r>
          </a:p>
          <a:p>
            <a:r>
              <a:rPr lang="en-IN" dirty="0"/>
              <a:t>Syntax: </a:t>
            </a:r>
            <a:r>
              <a:rPr lang="en-IN" dirty="0" err="1"/>
              <a:t>return_type</a:t>
            </a:r>
            <a:r>
              <a:rPr lang="en-IN" dirty="0"/>
              <a:t> (*</a:t>
            </a:r>
            <a:r>
              <a:rPr lang="en-IN" dirty="0" err="1"/>
              <a:t>pointer_name</a:t>
            </a:r>
            <a:r>
              <a:rPr lang="en-IN" dirty="0"/>
              <a:t>)(</a:t>
            </a:r>
            <a:r>
              <a:rPr lang="en-IN" dirty="0" err="1"/>
              <a:t>parameter_list</a:t>
            </a:r>
            <a:r>
              <a:rPr lang="en-IN" dirty="0"/>
              <a:t>);</a:t>
            </a:r>
          </a:p>
          <a:p>
            <a:r>
              <a:rPr lang="en-IN" dirty="0"/>
              <a:t>Example: int (*p)(int, int);</a:t>
            </a:r>
          </a:p>
          <a:p>
            <a:pPr algn="just"/>
            <a:r>
              <a:rPr lang="en-IN" dirty="0"/>
              <a:t>This means p is a pointer pointing to a function that returns int and takes two integers as parameters.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4CEC89-3997-31DF-74C3-BA1126E94950}"/>
              </a:ext>
            </a:extLst>
          </p:cNvPr>
          <p:cNvSpPr txBox="1"/>
          <p:nvPr/>
        </p:nvSpPr>
        <p:spPr>
          <a:xfrm>
            <a:off x="8743951" y="6057899"/>
            <a:ext cx="2271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9d.cpp and 9e.cpp</a:t>
            </a:r>
          </a:p>
        </p:txBody>
      </p:sp>
    </p:spTree>
    <p:extLst>
      <p:ext uri="{BB962C8B-B14F-4D97-AF65-F5344CB8AC3E}">
        <p14:creationId xmlns:p14="http://schemas.microsoft.com/office/powerpoint/2010/main" val="991455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Pointer</a:t>
            </a:r>
            <a:r>
              <a:rPr spc="-10" dirty="0"/>
              <a:t> </a:t>
            </a:r>
            <a:r>
              <a:rPr dirty="0"/>
              <a:t>to</a:t>
            </a:r>
            <a:r>
              <a:rPr spc="-10" dirty="0"/>
              <a:t> object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137678" y="6458502"/>
            <a:ext cx="428879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/>
              <a:t>5</a:t>
            </a:r>
            <a:r>
              <a:rPr lang="en-IN" spc="-30"/>
              <a:t> </a:t>
            </a:r>
            <a:r>
              <a:rPr lang="en-IN"/>
              <a:t>March</a:t>
            </a:r>
            <a:r>
              <a:rPr lang="en-IN" spc="-30"/>
              <a:t> </a:t>
            </a:r>
            <a:r>
              <a:rPr lang="en-IN"/>
              <a:t>2025|</a:t>
            </a:r>
            <a:r>
              <a:rPr lang="en-IN" spc="-30"/>
              <a:t> </a:t>
            </a:r>
            <a:r>
              <a:rPr lang="en-IN"/>
              <a:t>U</a:t>
            </a:r>
            <a:r>
              <a:rPr lang="en-IN" spc="-25"/>
              <a:t> </a:t>
            </a:r>
            <a:r>
              <a:rPr lang="en-IN"/>
              <a:t>&amp;</a:t>
            </a:r>
            <a:r>
              <a:rPr lang="en-IN" spc="-30"/>
              <a:t> </a:t>
            </a:r>
            <a:r>
              <a:rPr lang="en-IN"/>
              <a:t>P</a:t>
            </a:r>
            <a:r>
              <a:rPr lang="en-IN" spc="-30"/>
              <a:t> </a:t>
            </a:r>
            <a:r>
              <a:rPr lang="en-IN"/>
              <a:t>U.</a:t>
            </a:r>
            <a:r>
              <a:rPr lang="en-IN" spc="-25"/>
              <a:t> </a:t>
            </a:r>
            <a:r>
              <a:rPr lang="en-IN" spc="-10"/>
              <a:t>Patel</a:t>
            </a:r>
            <a:r>
              <a:rPr lang="en-IN" spc="-30"/>
              <a:t> </a:t>
            </a:r>
            <a:r>
              <a:rPr lang="en-IN"/>
              <a:t>Department</a:t>
            </a:r>
            <a:r>
              <a:rPr lang="en-IN" spc="-30"/>
              <a:t> </a:t>
            </a:r>
            <a:r>
              <a:rPr lang="en-IN"/>
              <a:t>of</a:t>
            </a:r>
            <a:r>
              <a:rPr lang="en-IN" spc="-25"/>
              <a:t> </a:t>
            </a:r>
            <a:r>
              <a:rPr lang="en-IN" spc="-10"/>
              <a:t>Computer</a:t>
            </a:r>
            <a:r>
              <a:rPr lang="en-IN" spc="-30"/>
              <a:t> </a:t>
            </a:r>
            <a:r>
              <a:rPr lang="en-IN" spc="-10"/>
              <a:t>Engineering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2827056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508000" marR="5080" indent="-361315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508000" algn="l"/>
              </a:tabLst>
            </a:pPr>
            <a:r>
              <a:rPr spc="-20" dirty="0"/>
              <a:t>A</a:t>
            </a:r>
            <a:r>
              <a:rPr spc="-135" dirty="0"/>
              <a:t> </a:t>
            </a:r>
            <a:r>
              <a:rPr dirty="0">
                <a:latin typeface="Times New Roman"/>
                <a:cs typeface="Times New Roman"/>
              </a:rPr>
              <a:t>pointer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object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pointer</a:t>
            </a:r>
            <a:r>
              <a:rPr spc="-15" dirty="0"/>
              <a:t> </a:t>
            </a:r>
            <a:r>
              <a:rPr dirty="0"/>
              <a:t>that</a:t>
            </a:r>
            <a:r>
              <a:rPr spc="-20" dirty="0"/>
              <a:t> </a:t>
            </a:r>
            <a:r>
              <a:rPr dirty="0"/>
              <a:t>holds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memory</a:t>
            </a:r>
            <a:r>
              <a:rPr spc="-15" dirty="0"/>
              <a:t> </a:t>
            </a:r>
            <a:r>
              <a:rPr dirty="0"/>
              <a:t>address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an</a:t>
            </a:r>
            <a:r>
              <a:rPr spc="-15" dirty="0"/>
              <a:t> </a:t>
            </a:r>
            <a:r>
              <a:rPr dirty="0"/>
              <a:t>object.</a:t>
            </a:r>
            <a:r>
              <a:rPr spc="-15" dirty="0"/>
              <a:t> </a:t>
            </a:r>
            <a:r>
              <a:rPr spc="-10" dirty="0"/>
              <a:t>Using </a:t>
            </a:r>
            <a:r>
              <a:rPr dirty="0"/>
              <a:t>pointers</a:t>
            </a:r>
            <a:r>
              <a:rPr spc="-2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objects</a:t>
            </a:r>
            <a:r>
              <a:rPr spc="-20" dirty="0"/>
              <a:t> </a:t>
            </a:r>
            <a:r>
              <a:rPr dirty="0"/>
              <a:t>allows</a:t>
            </a:r>
            <a:r>
              <a:rPr spc="-20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dirty="0"/>
              <a:t>dynamic</a:t>
            </a:r>
            <a:r>
              <a:rPr spc="-20" dirty="0"/>
              <a:t> </a:t>
            </a:r>
            <a:r>
              <a:rPr dirty="0"/>
              <a:t>memory</a:t>
            </a:r>
            <a:r>
              <a:rPr spc="-15" dirty="0"/>
              <a:t> </a:t>
            </a:r>
            <a:r>
              <a:rPr dirty="0"/>
              <a:t>allocation,</a:t>
            </a:r>
            <a:r>
              <a:rPr spc="-15" dirty="0"/>
              <a:t> </a:t>
            </a:r>
            <a:r>
              <a:rPr dirty="0"/>
              <a:t>polymorphism,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efficient </a:t>
            </a:r>
            <a:r>
              <a:rPr dirty="0"/>
              <a:t>manipulation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objects</a:t>
            </a:r>
            <a:r>
              <a:rPr spc="-15" dirty="0"/>
              <a:t> </a:t>
            </a:r>
            <a:r>
              <a:rPr dirty="0"/>
              <a:t>in</a:t>
            </a:r>
            <a:r>
              <a:rPr spc="-10" dirty="0"/>
              <a:t> programs.</a:t>
            </a:r>
          </a:p>
          <a:p>
            <a:pPr marL="101600">
              <a:lnSpc>
                <a:spcPct val="100000"/>
              </a:lnSpc>
              <a:spcBef>
                <a:spcPts val="680"/>
              </a:spcBef>
            </a:pPr>
            <a:r>
              <a:rPr b="1" spc="-10" dirty="0">
                <a:latin typeface="Times New Roman"/>
                <a:cs typeface="Times New Roman"/>
              </a:rPr>
              <a:t>Syntax:</a:t>
            </a:r>
          </a:p>
          <a:p>
            <a:pPr marL="558800" lvl="1">
              <a:lnSpc>
                <a:spcPct val="100000"/>
              </a:lnSpc>
              <a:spcBef>
                <a:spcPts val="710"/>
              </a:spcBef>
            </a:pPr>
            <a:r>
              <a:rPr dirty="0"/>
              <a:t>ClassName* </a:t>
            </a:r>
            <a:r>
              <a:rPr spc="-20" dirty="0"/>
              <a:t>ptr;</a:t>
            </a:r>
          </a:p>
          <a:p>
            <a:pPr marL="558800" lvl="1">
              <a:lnSpc>
                <a:spcPct val="100000"/>
              </a:lnSpc>
              <a:spcBef>
                <a:spcPts val="715"/>
              </a:spcBef>
            </a:pPr>
            <a:r>
              <a:rPr dirty="0"/>
              <a:t>ptr</a:t>
            </a:r>
            <a:r>
              <a:rPr spc="-2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pointer</a:t>
            </a:r>
            <a:r>
              <a:rPr spc="-20" dirty="0"/>
              <a:t> </a:t>
            </a:r>
            <a:r>
              <a:rPr dirty="0"/>
              <a:t>that</a:t>
            </a:r>
            <a:r>
              <a:rPr spc="-20" dirty="0"/>
              <a:t> </a:t>
            </a:r>
            <a:r>
              <a:rPr dirty="0"/>
              <a:t>can</a:t>
            </a:r>
            <a:r>
              <a:rPr spc="-15" dirty="0"/>
              <a:t> </a:t>
            </a:r>
            <a:r>
              <a:rPr dirty="0"/>
              <a:t>store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address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an</a:t>
            </a:r>
            <a:r>
              <a:rPr spc="-15" dirty="0"/>
              <a:t> </a:t>
            </a:r>
            <a:r>
              <a:rPr dirty="0"/>
              <a:t>object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type</a:t>
            </a:r>
            <a:r>
              <a:rPr spc="-20" dirty="0"/>
              <a:t> </a:t>
            </a:r>
            <a:r>
              <a:rPr spc="-10" dirty="0"/>
              <a:t>ClassName.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670F0-59EE-4CE9-6300-FEC787FFE04A}"/>
              </a:ext>
            </a:extLst>
          </p:cNvPr>
          <p:cNvSpPr txBox="1"/>
          <p:nvPr/>
        </p:nvSpPr>
        <p:spPr>
          <a:xfrm>
            <a:off x="8556978" y="5215467"/>
            <a:ext cx="2314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9f.cpp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4352" y="1605749"/>
            <a:ext cx="11123295" cy="4229735"/>
            <a:chOff x="136644" y="1899260"/>
            <a:chExt cx="11123295" cy="42297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644" y="1899260"/>
              <a:ext cx="8027200" cy="42291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1417" y="3413670"/>
              <a:ext cx="5767978" cy="57466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137678" y="6458502"/>
            <a:ext cx="428879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/>
              <a:t>5</a:t>
            </a:r>
            <a:r>
              <a:rPr lang="en-IN" spc="-30"/>
              <a:t> </a:t>
            </a:r>
            <a:r>
              <a:rPr lang="en-IN"/>
              <a:t>March</a:t>
            </a:r>
            <a:r>
              <a:rPr lang="en-IN" spc="-30"/>
              <a:t> </a:t>
            </a:r>
            <a:r>
              <a:rPr lang="en-IN"/>
              <a:t>2025|</a:t>
            </a:r>
            <a:r>
              <a:rPr lang="en-IN" spc="-30"/>
              <a:t> </a:t>
            </a:r>
            <a:r>
              <a:rPr lang="en-IN"/>
              <a:t>U</a:t>
            </a:r>
            <a:r>
              <a:rPr lang="en-IN" spc="-25"/>
              <a:t> </a:t>
            </a:r>
            <a:r>
              <a:rPr lang="en-IN"/>
              <a:t>&amp;</a:t>
            </a:r>
            <a:r>
              <a:rPr lang="en-IN" spc="-30"/>
              <a:t> </a:t>
            </a:r>
            <a:r>
              <a:rPr lang="en-IN"/>
              <a:t>P</a:t>
            </a:r>
            <a:r>
              <a:rPr lang="en-IN" spc="-30"/>
              <a:t> </a:t>
            </a:r>
            <a:r>
              <a:rPr lang="en-IN"/>
              <a:t>U.</a:t>
            </a:r>
            <a:r>
              <a:rPr lang="en-IN" spc="-25"/>
              <a:t> </a:t>
            </a:r>
            <a:r>
              <a:rPr lang="en-IN" spc="-10"/>
              <a:t>Patel</a:t>
            </a:r>
            <a:r>
              <a:rPr lang="en-IN" spc="-30"/>
              <a:t> </a:t>
            </a:r>
            <a:r>
              <a:rPr lang="en-IN"/>
              <a:t>Department</a:t>
            </a:r>
            <a:r>
              <a:rPr lang="en-IN" spc="-30"/>
              <a:t> </a:t>
            </a:r>
            <a:r>
              <a:rPr lang="en-IN"/>
              <a:t>of</a:t>
            </a:r>
            <a:r>
              <a:rPr lang="en-IN" spc="-25"/>
              <a:t> </a:t>
            </a:r>
            <a:r>
              <a:rPr lang="en-IN" spc="-10"/>
              <a:t>Computer</a:t>
            </a:r>
            <a:r>
              <a:rPr lang="en-IN" spc="-30"/>
              <a:t> </a:t>
            </a:r>
            <a:r>
              <a:rPr lang="en-IN" spc="-10"/>
              <a:t>Engineering</a:t>
            </a:r>
            <a:endParaRPr spc="-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</a:t>
            </a:r>
            <a:r>
              <a:rPr spc="-30" dirty="0"/>
              <a:t> </a:t>
            </a:r>
            <a:r>
              <a:rPr dirty="0"/>
              <a:t>Memory</a:t>
            </a:r>
            <a:r>
              <a:rPr spc="-315" dirty="0"/>
              <a:t> </a:t>
            </a:r>
            <a:r>
              <a:rPr dirty="0"/>
              <a:t>Allocation</a:t>
            </a:r>
            <a:r>
              <a:rPr spc="-20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spc="-10" dirty="0"/>
              <a:t>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257" y="1743596"/>
            <a:ext cx="109112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Pointers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dynamically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allocate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memory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new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keyword.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262" y="2441252"/>
            <a:ext cx="5732395" cy="37971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55987" y="3808281"/>
            <a:ext cx="2165534" cy="43727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5</a:t>
            </a:r>
            <a:r>
              <a:rPr spc="-30" dirty="0"/>
              <a:t> </a:t>
            </a:r>
            <a:r>
              <a:rPr dirty="0"/>
              <a:t>March</a:t>
            </a:r>
            <a:r>
              <a:rPr spc="-30" dirty="0"/>
              <a:t> </a:t>
            </a:r>
            <a:r>
              <a:rPr dirty="0"/>
              <a:t>2025|</a:t>
            </a:r>
            <a:r>
              <a:rPr spc="-30" dirty="0"/>
              <a:t> </a:t>
            </a:r>
            <a:r>
              <a:rPr dirty="0"/>
              <a:t>U</a:t>
            </a:r>
            <a:r>
              <a:rPr spc="-25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P</a:t>
            </a:r>
            <a:r>
              <a:rPr spc="-30" dirty="0"/>
              <a:t> </a:t>
            </a:r>
            <a:r>
              <a:rPr dirty="0"/>
              <a:t>U.</a:t>
            </a:r>
            <a:r>
              <a:rPr spc="-25" dirty="0"/>
              <a:t> </a:t>
            </a:r>
            <a:r>
              <a:rPr spc="-10" dirty="0"/>
              <a:t>Patel</a:t>
            </a:r>
            <a:r>
              <a:rPr spc="-30" dirty="0"/>
              <a:t> </a:t>
            </a:r>
            <a:r>
              <a:rPr dirty="0"/>
              <a:t>Department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Computer</a:t>
            </a:r>
            <a:r>
              <a:rPr spc="-30" dirty="0"/>
              <a:t> </a:t>
            </a:r>
            <a:r>
              <a:rPr spc="-10" dirty="0"/>
              <a:t>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378" y="694229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t</a:t>
            </a:r>
            <a:r>
              <a:rPr dirty="0"/>
              <a:t>his</a:t>
            </a:r>
            <a:r>
              <a:rPr spc="-5" dirty="0"/>
              <a:t> </a:t>
            </a:r>
            <a:r>
              <a:rPr spc="-10" dirty="0"/>
              <a:t>pointer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137678" y="6458502"/>
            <a:ext cx="428879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/>
              <a:t>5</a:t>
            </a:r>
            <a:r>
              <a:rPr lang="en-IN" spc="-30"/>
              <a:t> </a:t>
            </a:r>
            <a:r>
              <a:rPr lang="en-IN"/>
              <a:t>March</a:t>
            </a:r>
            <a:r>
              <a:rPr lang="en-IN" spc="-30"/>
              <a:t> </a:t>
            </a:r>
            <a:r>
              <a:rPr lang="en-IN"/>
              <a:t>2025|</a:t>
            </a:r>
            <a:r>
              <a:rPr lang="en-IN" spc="-30"/>
              <a:t> </a:t>
            </a:r>
            <a:r>
              <a:rPr lang="en-IN"/>
              <a:t>U</a:t>
            </a:r>
            <a:r>
              <a:rPr lang="en-IN" spc="-25"/>
              <a:t> </a:t>
            </a:r>
            <a:r>
              <a:rPr lang="en-IN"/>
              <a:t>&amp;</a:t>
            </a:r>
            <a:r>
              <a:rPr lang="en-IN" spc="-30"/>
              <a:t> </a:t>
            </a:r>
            <a:r>
              <a:rPr lang="en-IN"/>
              <a:t>P</a:t>
            </a:r>
            <a:r>
              <a:rPr lang="en-IN" spc="-30"/>
              <a:t> </a:t>
            </a:r>
            <a:r>
              <a:rPr lang="en-IN"/>
              <a:t>U.</a:t>
            </a:r>
            <a:r>
              <a:rPr lang="en-IN" spc="-25"/>
              <a:t> </a:t>
            </a:r>
            <a:r>
              <a:rPr lang="en-IN" spc="-10"/>
              <a:t>Patel</a:t>
            </a:r>
            <a:r>
              <a:rPr lang="en-IN" spc="-30"/>
              <a:t> </a:t>
            </a:r>
            <a:r>
              <a:rPr lang="en-IN"/>
              <a:t>Department</a:t>
            </a:r>
            <a:r>
              <a:rPr lang="en-IN" spc="-30"/>
              <a:t> </a:t>
            </a:r>
            <a:r>
              <a:rPr lang="en-IN"/>
              <a:t>of</a:t>
            </a:r>
            <a:r>
              <a:rPr lang="en-IN" spc="-25"/>
              <a:t> </a:t>
            </a:r>
            <a:r>
              <a:rPr lang="en-IN" spc="-10"/>
              <a:t>Computer</a:t>
            </a:r>
            <a:r>
              <a:rPr lang="en-IN" spc="-30"/>
              <a:t> </a:t>
            </a:r>
            <a:r>
              <a:rPr lang="en-IN" spc="-10"/>
              <a:t>Engineering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88480" y="1883208"/>
            <a:ext cx="11536045" cy="344004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19100" marR="5080" indent="-406400" algn="just">
              <a:lnSpc>
                <a:spcPts val="2590"/>
              </a:lnSpc>
              <a:spcBef>
                <a:spcPts val="425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implicit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available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non-</a:t>
            </a:r>
            <a:r>
              <a:rPr sz="2400" dirty="0">
                <a:latin typeface="Times New Roman"/>
                <a:cs typeface="Times New Roman"/>
              </a:rPr>
              <a:t>static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 </a:t>
            </a:r>
            <a:r>
              <a:rPr sz="2400" dirty="0">
                <a:latin typeface="Times New Roman"/>
                <a:cs typeface="Times New Roman"/>
              </a:rPr>
              <a:t>points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called.</a:t>
            </a:r>
            <a:endParaRPr sz="2400" dirty="0">
              <a:latin typeface="Times New Roman"/>
              <a:cs typeface="Times New Roman"/>
            </a:endParaRPr>
          </a:p>
          <a:p>
            <a:pPr marL="419100" marR="229235" indent="-406400" algn="just">
              <a:lnSpc>
                <a:spcPts val="2590"/>
              </a:lnSpc>
              <a:spcBef>
                <a:spcPts val="1005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particularly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useful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current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object,</a:t>
            </a:r>
            <a:r>
              <a:rPr sz="2400" spc="-10" dirty="0">
                <a:latin typeface="Times New Roman"/>
                <a:cs typeface="Times New Roman"/>
              </a:rPr>
              <a:t> especially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distinguishing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parameters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name.</a:t>
            </a:r>
            <a:endParaRPr sz="2400" dirty="0">
              <a:latin typeface="Times New Roman"/>
              <a:cs typeface="Times New Roman"/>
            </a:endParaRPr>
          </a:p>
          <a:p>
            <a:pPr marL="419100" marR="376555" indent="-406400" algn="just">
              <a:lnSpc>
                <a:spcPts val="2590"/>
              </a:lnSpc>
              <a:spcBef>
                <a:spcPts val="1005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Times New Roman"/>
                <a:cs typeface="Times New Roman"/>
              </a:rPr>
              <a:t>Scope: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available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non-</a:t>
            </a:r>
            <a:r>
              <a:rPr sz="2400" dirty="0">
                <a:latin typeface="Times New Roman"/>
                <a:cs typeface="Times New Roman"/>
              </a:rPr>
              <a:t>static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functions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do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access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because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object.</a:t>
            </a:r>
            <a:endParaRPr sz="2400" dirty="0">
              <a:latin typeface="Times New Roman"/>
              <a:cs typeface="Times New Roman"/>
            </a:endParaRPr>
          </a:p>
          <a:p>
            <a:pPr marL="419100" marR="197485" indent="-406400" algn="just">
              <a:lnSpc>
                <a:spcPts val="2590"/>
              </a:lnSpc>
              <a:spcBef>
                <a:spcPts val="1005"/>
              </a:spcBef>
              <a:buFont typeface="Arial" panose="020B0604020202020204" pitchFamily="34" charset="0"/>
              <a:buChar char="•"/>
            </a:pPr>
            <a:r>
              <a:rPr sz="2400" spc="-25" dirty="0">
                <a:latin typeface="Times New Roman"/>
                <a:cs typeface="Times New Roman"/>
              </a:rPr>
              <a:t>Type: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(ClassName*),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points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memory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invoking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member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function.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F10E-25BC-E97E-2B66-FC833B76D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77783-27FE-040E-B6EE-8631081B8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803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IN" sz="2000" dirty="0"/>
              <a:t>In C++, every object has its own address in memory.</a:t>
            </a:r>
            <a:br>
              <a:rPr lang="en-IN" sz="2000" dirty="0"/>
            </a:br>
            <a:r>
              <a:rPr lang="en-IN" sz="2000" dirty="0"/>
              <a:t>Inside a member function, the keyword this stores the address of the object that is calling the function.</a:t>
            </a:r>
          </a:p>
          <a:p>
            <a:pPr lvl="1"/>
            <a:r>
              <a:rPr lang="en-IN" sz="1800" dirty="0"/>
              <a:t>this → pointer to the current object</a:t>
            </a:r>
          </a:p>
          <a:p>
            <a:r>
              <a:rPr lang="en-IN" sz="2000" dirty="0"/>
              <a:t>It is automatically provided by the compiler - you do not need to declare it.</a:t>
            </a:r>
          </a:p>
          <a:p>
            <a:r>
              <a:rPr lang="en-IN" sz="2000" dirty="0"/>
              <a:t>To distinguish between:</a:t>
            </a:r>
          </a:p>
          <a:p>
            <a:pPr lvl="1"/>
            <a:r>
              <a:rPr lang="en-IN" sz="1800" dirty="0"/>
              <a:t>Member variables (data members)</a:t>
            </a:r>
          </a:p>
          <a:p>
            <a:pPr lvl="1"/>
            <a:r>
              <a:rPr lang="en-IN" sz="1800" dirty="0"/>
              <a:t>Local variables or function parameters with same names</a:t>
            </a: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391C2B-FC3A-D2F3-C121-DD116C84F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73" y="4206875"/>
            <a:ext cx="5371394" cy="228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A82EEB-4A14-4863-B192-806BCA421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206875"/>
            <a:ext cx="5709356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70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13FAF-F067-83F2-7DDA-7070C015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97AE4-42D6-0E42-98C4-FF6903251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One another important application of the pointer this is to return the object it points to. For example, the statement</a:t>
            </a:r>
          </a:p>
          <a:p>
            <a:pPr lvl="1" algn="just"/>
            <a:r>
              <a:rPr lang="en-US" dirty="0"/>
              <a:t>return *this;</a:t>
            </a:r>
          </a:p>
          <a:p>
            <a:pPr algn="just"/>
            <a:r>
              <a:rPr lang="en-US" dirty="0"/>
              <a:t>inside a member function will return the object that invoked the function. This statement assumes importance when we want to compare two or more objects inside a member function and return the invoking object as a result.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FF6ED-B273-CDD7-E957-111C97553119}"/>
              </a:ext>
            </a:extLst>
          </p:cNvPr>
          <p:cNvSpPr txBox="1"/>
          <p:nvPr/>
        </p:nvSpPr>
        <p:spPr>
          <a:xfrm>
            <a:off x="7834489" y="5452533"/>
            <a:ext cx="2381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 9g.cpp and 9h.cpp</a:t>
            </a:r>
          </a:p>
        </p:txBody>
      </p:sp>
    </p:spTree>
    <p:extLst>
      <p:ext uri="{BB962C8B-B14F-4D97-AF65-F5344CB8AC3E}">
        <p14:creationId xmlns:p14="http://schemas.microsoft.com/office/powerpoint/2010/main" val="3238373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2982" y="633920"/>
            <a:ext cx="11571605" cy="1431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995"/>
              </a:lnSpc>
              <a:spcBef>
                <a:spcPts val="100"/>
              </a:spcBef>
            </a:pPr>
            <a:r>
              <a:rPr dirty="0"/>
              <a:t>Accessing</a:t>
            </a:r>
            <a:r>
              <a:rPr spc="-25" dirty="0"/>
              <a:t> </a:t>
            </a:r>
            <a:r>
              <a:rPr dirty="0"/>
              <a:t>Members</a:t>
            </a:r>
            <a:r>
              <a:rPr spc="-20" dirty="0"/>
              <a:t> </a:t>
            </a:r>
            <a:r>
              <a:rPr dirty="0"/>
              <a:t>using</a:t>
            </a:r>
            <a:r>
              <a:rPr spc="-25" dirty="0"/>
              <a:t> </a:t>
            </a:r>
            <a:r>
              <a:rPr dirty="0"/>
              <a:t>this</a:t>
            </a:r>
            <a:r>
              <a:rPr spc="-20" dirty="0"/>
              <a:t> </a:t>
            </a:r>
            <a:r>
              <a:rPr spc="-10" dirty="0"/>
              <a:t>pointer</a:t>
            </a:r>
            <a:br>
              <a:rPr lang="en-US" spc="-10" dirty="0"/>
            </a:b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this</a:t>
            </a:r>
            <a:r>
              <a:rPr sz="2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pointer</a:t>
            </a:r>
            <a:r>
              <a:rPr sz="2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allows</a:t>
            </a:r>
            <a:r>
              <a:rPr sz="2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access</a:t>
            </a:r>
            <a:r>
              <a:rPr sz="2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sz="2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invoking</a:t>
            </a:r>
            <a:r>
              <a:rPr sz="2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object's</a:t>
            </a:r>
            <a:r>
              <a:rPr sz="240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members</a:t>
            </a:r>
            <a:r>
              <a:rPr sz="24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Times New Roman"/>
                <a:cs typeface="Times New Roman"/>
              </a:rPr>
              <a:t>directly.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468" y="2241452"/>
            <a:ext cx="6783815" cy="41016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4719" y="3111930"/>
            <a:ext cx="4263103" cy="15643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137678" y="6458502"/>
            <a:ext cx="428879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IN"/>
              <a:t>5</a:t>
            </a:r>
            <a:r>
              <a:rPr lang="en-IN" spc="-30"/>
              <a:t> </a:t>
            </a:r>
            <a:r>
              <a:rPr lang="en-IN"/>
              <a:t>March</a:t>
            </a:r>
            <a:r>
              <a:rPr lang="en-IN" spc="-30"/>
              <a:t> </a:t>
            </a:r>
            <a:r>
              <a:rPr lang="en-IN"/>
              <a:t>2025|</a:t>
            </a:r>
            <a:r>
              <a:rPr lang="en-IN" spc="-30"/>
              <a:t> </a:t>
            </a:r>
            <a:r>
              <a:rPr lang="en-IN"/>
              <a:t>U</a:t>
            </a:r>
            <a:r>
              <a:rPr lang="en-IN" spc="-25"/>
              <a:t> </a:t>
            </a:r>
            <a:r>
              <a:rPr lang="en-IN"/>
              <a:t>&amp;</a:t>
            </a:r>
            <a:r>
              <a:rPr lang="en-IN" spc="-30"/>
              <a:t> </a:t>
            </a:r>
            <a:r>
              <a:rPr lang="en-IN"/>
              <a:t>P</a:t>
            </a:r>
            <a:r>
              <a:rPr lang="en-IN" spc="-30"/>
              <a:t> </a:t>
            </a:r>
            <a:r>
              <a:rPr lang="en-IN"/>
              <a:t>U.</a:t>
            </a:r>
            <a:r>
              <a:rPr lang="en-IN" spc="-25"/>
              <a:t> </a:t>
            </a:r>
            <a:r>
              <a:rPr lang="en-IN" spc="-10"/>
              <a:t>Patel</a:t>
            </a:r>
            <a:r>
              <a:rPr lang="en-IN" spc="-30"/>
              <a:t> </a:t>
            </a:r>
            <a:r>
              <a:rPr lang="en-IN"/>
              <a:t>Department</a:t>
            </a:r>
            <a:r>
              <a:rPr lang="en-IN" spc="-30"/>
              <a:t> </a:t>
            </a:r>
            <a:r>
              <a:rPr lang="en-IN"/>
              <a:t>of</a:t>
            </a:r>
            <a:r>
              <a:rPr lang="en-IN" spc="-25"/>
              <a:t> </a:t>
            </a:r>
            <a:r>
              <a:rPr lang="en-IN" spc="-10"/>
              <a:t>Computer</a:t>
            </a:r>
            <a:r>
              <a:rPr lang="en-IN" spc="-30"/>
              <a:t> </a:t>
            </a:r>
            <a:r>
              <a:rPr lang="en-IN" spc="-10"/>
              <a:t>Engineering</a:t>
            </a:r>
            <a:endParaRPr spc="-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34359-C0E6-2481-A7BB-835C8FCE5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Derived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3B724-E78B-E248-8D17-3F3140EDA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If class D is derived from class B, then:</a:t>
            </a:r>
          </a:p>
          <a:p>
            <a:pPr lvl="1"/>
            <a:r>
              <a:rPr lang="en-IN" dirty="0"/>
              <a:t>B *</a:t>
            </a:r>
            <a:r>
              <a:rPr lang="en-IN" dirty="0" err="1"/>
              <a:t>ptr</a:t>
            </a:r>
            <a:r>
              <a:rPr lang="en-IN" dirty="0"/>
              <a:t>;   // pointer of base class</a:t>
            </a:r>
          </a:p>
          <a:p>
            <a:pPr lvl="1"/>
            <a:r>
              <a:rPr lang="en-IN" dirty="0"/>
              <a:t>D d;      // object of derived class</a:t>
            </a:r>
          </a:p>
          <a:p>
            <a:pPr lvl="1"/>
            <a:r>
              <a:rPr lang="en-IN" dirty="0" err="1"/>
              <a:t>ptr</a:t>
            </a:r>
            <a:r>
              <a:rPr lang="en-IN" dirty="0"/>
              <a:t> = &amp;d; // base class pointer can point to derived object</a:t>
            </a:r>
          </a:p>
          <a:p>
            <a:r>
              <a:rPr lang="en-IN" dirty="0"/>
              <a:t>This is allowed because a derived object contains all members of the base class.</a:t>
            </a:r>
          </a:p>
          <a:p>
            <a:r>
              <a:rPr lang="en-IN" u="sng" dirty="0">
                <a:solidFill>
                  <a:srgbClr val="FF0000"/>
                </a:solidFill>
              </a:rPr>
              <a:t>But there is a limitation.</a:t>
            </a:r>
          </a:p>
          <a:p>
            <a:r>
              <a:rPr lang="en-IN" dirty="0"/>
              <a:t>When we use a base class pointer (B*) to refer to a derived object (D):</a:t>
            </a:r>
          </a:p>
          <a:p>
            <a:pPr lvl="1"/>
            <a:r>
              <a:rPr lang="en-IN" dirty="0"/>
              <a:t>We can access only the base class members</a:t>
            </a:r>
          </a:p>
          <a:p>
            <a:pPr lvl="1"/>
            <a:r>
              <a:rPr lang="en-IN" dirty="0"/>
              <a:t>We cannot access the members added in the derived class</a:t>
            </a:r>
          </a:p>
          <a:p>
            <a:pPr algn="just"/>
            <a:r>
              <a:rPr lang="en-IN" dirty="0"/>
              <a:t>Why? Because the type of the pointer decides what members are accessible, not the object it points to.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0958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223F5-222D-34E6-B975-2AD44B86B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8CC91-2FA4-E6E0-F71B-839241544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Derived Classes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25672F-D455-C0BA-4C98-0894B9B044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4457" y="1524793"/>
            <a:ext cx="6315320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D08779-D83A-21D7-F1A4-59CAA16E01C3}"/>
              </a:ext>
            </a:extLst>
          </p:cNvPr>
          <p:cNvSpPr txBox="1"/>
          <p:nvPr/>
        </p:nvSpPr>
        <p:spPr>
          <a:xfrm>
            <a:off x="282223" y="2067808"/>
            <a:ext cx="52493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Even though d has </a:t>
            </a:r>
            <a:r>
              <a:rPr lang="en-IN" dirty="0" err="1"/>
              <a:t>showDerived</a:t>
            </a:r>
            <a:r>
              <a:rPr lang="en-IN" dirty="0"/>
              <a:t>(), we cannot call it using B* pointer.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So to access derived class members, we must use a derived class pointer: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 *</a:t>
            </a:r>
            <a:r>
              <a:rPr lang="en-IN" dirty="0" err="1"/>
              <a:t>dp</a:t>
            </a:r>
            <a:r>
              <a:rPr lang="en-IN" dirty="0"/>
              <a:t> = &amp;d;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dp</a:t>
            </a:r>
            <a:r>
              <a:rPr lang="en-IN" dirty="0"/>
              <a:t>-&gt;</a:t>
            </a:r>
            <a:r>
              <a:rPr lang="en-IN" dirty="0" err="1"/>
              <a:t>showDerived</a:t>
            </a:r>
            <a:r>
              <a:rPr lang="en-IN" dirty="0"/>
              <a:t>();   // 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9442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75731" y="11880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305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155" dirty="0"/>
              <a:t> </a:t>
            </a:r>
            <a:r>
              <a:rPr spc="-10" dirty="0"/>
              <a:t>Functions</a:t>
            </a:r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1536700" y="6524398"/>
            <a:ext cx="8916670" cy="214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2700" spc="-15" baseline="-21604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2700" spc="-75" baseline="-216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baseline="-21604" dirty="0">
                <a:solidFill>
                  <a:srgbClr val="FFFFFF"/>
                </a:solidFill>
                <a:latin typeface="Calibri"/>
                <a:cs typeface="Calibri"/>
              </a:rPr>
              <a:t>By:</a:t>
            </a:r>
            <a:r>
              <a:rPr sz="2700" spc="-37" baseline="-216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baseline="-21604" dirty="0">
                <a:solidFill>
                  <a:srgbClr val="FFFFFF"/>
                </a:solidFill>
                <a:latin typeface="Calibri"/>
                <a:cs typeface="Calibri"/>
              </a:rPr>
              <a:t>Nishat</a:t>
            </a:r>
            <a:r>
              <a:rPr sz="2700" spc="-44" baseline="-216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2" baseline="-21604" dirty="0">
                <a:solidFill>
                  <a:srgbClr val="FFFFFF"/>
                </a:solidFill>
                <a:latin typeface="Calibri"/>
                <a:cs typeface="Calibri"/>
              </a:rPr>
              <a:t>Shaik</a:t>
            </a:r>
            <a:r>
              <a:rPr sz="2700" spc="-106387" baseline="-21604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Uni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t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Operator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Overloading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606940" y="6499686"/>
            <a:ext cx="5320512" cy="3946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29209">
              <a:lnSpc>
                <a:spcPts val="1810"/>
              </a:lnSpc>
            </a:pPr>
            <a:r>
              <a:rPr lang="en-IN" spc="-10"/>
              <a:t>Prepared</a:t>
            </a:r>
            <a:r>
              <a:rPr lang="en-IN" spc="-65"/>
              <a:t> </a:t>
            </a:r>
            <a:r>
              <a:rPr lang="en-IN"/>
              <a:t>By:</a:t>
            </a:r>
            <a:r>
              <a:rPr lang="en-IN" spc="-55"/>
              <a:t> </a:t>
            </a:r>
            <a:r>
              <a:rPr lang="en-IN" spc="-25"/>
              <a:t>Prof.</a:t>
            </a:r>
            <a:r>
              <a:rPr lang="en-IN" spc="-50"/>
              <a:t> </a:t>
            </a:r>
            <a:r>
              <a:rPr lang="en-IN"/>
              <a:t>Nishat</a:t>
            </a:r>
            <a:r>
              <a:rPr lang="en-IN" spc="-55"/>
              <a:t> </a:t>
            </a:r>
            <a:r>
              <a:rPr lang="en-IN"/>
              <a:t>Shaikh</a:t>
            </a:r>
            <a:r>
              <a:rPr lang="en-IN" spc="-50"/>
              <a:t> </a:t>
            </a:r>
            <a:r>
              <a:rPr lang="en-IN"/>
              <a:t>&amp;</a:t>
            </a:r>
            <a:r>
              <a:rPr lang="en-IN" spc="-55"/>
              <a:t> </a:t>
            </a:r>
            <a:r>
              <a:rPr lang="en-IN" spc="-60"/>
              <a:t>Dr.</a:t>
            </a:r>
            <a:r>
              <a:rPr lang="en-IN" spc="-45"/>
              <a:t> </a:t>
            </a:r>
            <a:r>
              <a:rPr lang="en-IN"/>
              <a:t>Aayushi</a:t>
            </a:r>
            <a:r>
              <a:rPr lang="en-IN" spc="-50"/>
              <a:t> </a:t>
            </a:r>
            <a:r>
              <a:rPr lang="en-IN" spc="-10"/>
              <a:t>Chaudhari</a:t>
            </a:r>
            <a:endParaRPr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575732" y="925576"/>
            <a:ext cx="10515599" cy="52219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5459" marR="24765" indent="-492759" algn="just">
              <a:spcBef>
                <a:spcPts val="100"/>
              </a:spcBef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There</a:t>
            </a:r>
            <a:r>
              <a:rPr sz="2800" spc="2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2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3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necessity</a:t>
            </a:r>
            <a:r>
              <a:rPr sz="2800" spc="2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3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</a:t>
            </a:r>
            <a:r>
              <a:rPr sz="2800" spc="2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325" dirty="0"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single</a:t>
            </a:r>
            <a:r>
              <a:rPr sz="2800" b="1" spc="29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pointer</a:t>
            </a:r>
            <a:r>
              <a:rPr sz="2800" b="1" spc="30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0070C0"/>
                </a:solidFill>
                <a:latin typeface="Arial"/>
                <a:cs typeface="Arial"/>
              </a:rPr>
              <a:t>to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refer</a:t>
            </a:r>
            <a:r>
              <a:rPr sz="2800" b="1" spc="-7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to</a:t>
            </a:r>
            <a:r>
              <a:rPr sz="2800" b="1" spc="-6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all</a:t>
            </a:r>
            <a:r>
              <a:rPr sz="2800" b="1" spc="-7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the</a:t>
            </a:r>
            <a:r>
              <a:rPr sz="2800" b="1" spc="-6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objects</a:t>
            </a:r>
            <a:r>
              <a:rPr sz="2800" b="1" spc="-6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of</a:t>
            </a:r>
            <a:r>
              <a:rPr sz="2800" b="1" spc="-7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the</a:t>
            </a:r>
            <a:r>
              <a:rPr sz="2800" b="1" spc="-6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different</a:t>
            </a:r>
            <a:r>
              <a:rPr sz="2800" b="1" spc="-7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Arial"/>
                <a:cs typeface="Arial"/>
              </a:rPr>
              <a:t>classes.</a:t>
            </a:r>
            <a:endParaRPr sz="2800" dirty="0">
              <a:latin typeface="Arial"/>
              <a:cs typeface="Arial"/>
            </a:endParaRPr>
          </a:p>
          <a:p>
            <a:pPr>
              <a:spcBef>
                <a:spcPts val="140"/>
              </a:spcBef>
              <a:buFont typeface="Lucida Sans Unicode"/>
              <a:buChar char="□"/>
            </a:pPr>
            <a:endParaRPr sz="2800" dirty="0">
              <a:latin typeface="Arial"/>
              <a:cs typeface="Arial"/>
            </a:endParaRPr>
          </a:p>
          <a:p>
            <a:pPr marL="505459" marR="6350" indent="-492759" algn="just"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So,</a:t>
            </a:r>
            <a:r>
              <a:rPr sz="2800" spc="5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</a:t>
            </a:r>
            <a:r>
              <a:rPr sz="2800" spc="5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create</a:t>
            </a:r>
            <a:r>
              <a:rPr sz="2800" spc="5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5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pointer</a:t>
            </a:r>
            <a:r>
              <a:rPr sz="2800" spc="5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5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5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base</a:t>
            </a:r>
            <a:r>
              <a:rPr sz="2800" spc="5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56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that </a:t>
            </a:r>
            <a:r>
              <a:rPr sz="2800" dirty="0">
                <a:latin typeface="Arial MT"/>
                <a:cs typeface="Arial MT"/>
              </a:rPr>
              <a:t>refers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all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derived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objects.</a:t>
            </a:r>
            <a:endParaRPr sz="2800" dirty="0">
              <a:latin typeface="Arial MT"/>
              <a:cs typeface="Arial MT"/>
            </a:endParaRPr>
          </a:p>
          <a:p>
            <a:pPr>
              <a:spcBef>
                <a:spcPts val="140"/>
              </a:spcBef>
              <a:buFont typeface="Lucida Sans Unicode"/>
              <a:buChar char="□"/>
            </a:pPr>
            <a:endParaRPr sz="2800" dirty="0">
              <a:latin typeface="Arial MT"/>
              <a:cs typeface="Arial MT"/>
            </a:endParaRPr>
          </a:p>
          <a:p>
            <a:pPr marL="505459" marR="6985" indent="-492759" algn="just"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But,</a:t>
            </a:r>
            <a:r>
              <a:rPr sz="2800" spc="26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when</a:t>
            </a:r>
            <a:r>
              <a:rPr sz="2800" spc="270" dirty="0">
                <a:latin typeface="Arial MT"/>
                <a:cs typeface="Arial MT"/>
              </a:rPr>
              <a:t>  </a:t>
            </a:r>
            <a:r>
              <a:rPr sz="2800" b="1" dirty="0">
                <a:latin typeface="Arial"/>
                <a:cs typeface="Arial"/>
              </a:rPr>
              <a:t>base</a:t>
            </a:r>
            <a:r>
              <a:rPr sz="2800" b="1" spc="265" dirty="0">
                <a:latin typeface="Arial"/>
                <a:cs typeface="Arial"/>
              </a:rPr>
              <a:t>  </a:t>
            </a:r>
            <a:r>
              <a:rPr sz="2800" b="1" dirty="0">
                <a:latin typeface="Arial"/>
                <a:cs typeface="Arial"/>
              </a:rPr>
              <a:t>class</a:t>
            </a:r>
            <a:r>
              <a:rPr sz="2800" b="1" spc="260" dirty="0">
                <a:latin typeface="Arial"/>
                <a:cs typeface="Arial"/>
              </a:rPr>
              <a:t>  </a:t>
            </a:r>
            <a:r>
              <a:rPr sz="2800" b="1" dirty="0">
                <a:latin typeface="Arial"/>
                <a:cs typeface="Arial"/>
              </a:rPr>
              <a:t>pointer</a:t>
            </a:r>
            <a:r>
              <a:rPr sz="2800" b="1" spc="265" dirty="0">
                <a:latin typeface="Arial"/>
                <a:cs typeface="Arial"/>
              </a:rPr>
              <a:t>  </a:t>
            </a:r>
            <a:r>
              <a:rPr sz="2800" b="1" dirty="0">
                <a:latin typeface="Arial"/>
                <a:cs typeface="Arial"/>
              </a:rPr>
              <a:t>contains</a:t>
            </a:r>
            <a:r>
              <a:rPr sz="2800" b="1" spc="260" dirty="0">
                <a:latin typeface="Arial"/>
                <a:cs typeface="Arial"/>
              </a:rPr>
              <a:t>  </a:t>
            </a:r>
            <a:r>
              <a:rPr sz="2800" b="1" spc="-25" dirty="0">
                <a:latin typeface="Arial"/>
                <a:cs typeface="Arial"/>
              </a:rPr>
              <a:t>the </a:t>
            </a:r>
            <a:r>
              <a:rPr sz="2800" b="1" dirty="0">
                <a:latin typeface="Arial"/>
                <a:cs typeface="Arial"/>
              </a:rPr>
              <a:t>address</a:t>
            </a:r>
            <a:r>
              <a:rPr sz="2800" b="1" spc="110" dirty="0">
                <a:latin typeface="Arial"/>
                <a:cs typeface="Arial"/>
              </a:rPr>
              <a:t>  </a:t>
            </a:r>
            <a:r>
              <a:rPr sz="2800" b="1" dirty="0">
                <a:latin typeface="Arial"/>
                <a:cs typeface="Arial"/>
              </a:rPr>
              <a:t>of</a:t>
            </a:r>
            <a:r>
              <a:rPr sz="2800" b="1" spc="114" dirty="0">
                <a:latin typeface="Arial"/>
                <a:cs typeface="Arial"/>
              </a:rPr>
              <a:t>  </a:t>
            </a:r>
            <a:r>
              <a:rPr sz="2800" b="1" dirty="0">
                <a:latin typeface="Arial"/>
                <a:cs typeface="Arial"/>
              </a:rPr>
              <a:t>the</a:t>
            </a:r>
            <a:r>
              <a:rPr sz="2800" b="1" spc="114" dirty="0">
                <a:latin typeface="Arial"/>
                <a:cs typeface="Arial"/>
              </a:rPr>
              <a:t>  </a:t>
            </a:r>
            <a:r>
              <a:rPr sz="2800" b="1" dirty="0">
                <a:latin typeface="Arial"/>
                <a:cs typeface="Arial"/>
              </a:rPr>
              <a:t>derived</a:t>
            </a:r>
            <a:r>
              <a:rPr sz="2800" b="1" spc="110" dirty="0">
                <a:latin typeface="Arial"/>
                <a:cs typeface="Arial"/>
              </a:rPr>
              <a:t>  </a:t>
            </a:r>
            <a:r>
              <a:rPr sz="2800" b="1" dirty="0">
                <a:latin typeface="Arial"/>
                <a:cs typeface="Arial"/>
              </a:rPr>
              <a:t>class</a:t>
            </a:r>
            <a:r>
              <a:rPr sz="2800" b="1" spc="114" dirty="0">
                <a:latin typeface="Arial"/>
                <a:cs typeface="Arial"/>
              </a:rPr>
              <a:t>  </a:t>
            </a:r>
            <a:r>
              <a:rPr sz="2800" b="1" dirty="0">
                <a:latin typeface="Arial"/>
                <a:cs typeface="Arial"/>
              </a:rPr>
              <a:t>object,</a:t>
            </a:r>
            <a:r>
              <a:rPr sz="2800" b="1" spc="114" dirty="0">
                <a:latin typeface="Arial"/>
                <a:cs typeface="Arial"/>
              </a:rPr>
              <a:t>  </a:t>
            </a:r>
            <a:r>
              <a:rPr sz="2800" b="1" spc="-10" dirty="0">
                <a:latin typeface="Arial"/>
                <a:cs typeface="Arial"/>
              </a:rPr>
              <a:t>always </a:t>
            </a:r>
            <a:r>
              <a:rPr sz="2800" b="1" dirty="0">
                <a:latin typeface="Arial"/>
                <a:cs typeface="Arial"/>
              </a:rPr>
              <a:t>executes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the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base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class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function.</a:t>
            </a:r>
            <a:endParaRPr sz="2800" dirty="0">
              <a:latin typeface="Arial"/>
              <a:cs typeface="Arial"/>
            </a:endParaRPr>
          </a:p>
          <a:p>
            <a:pPr>
              <a:spcBef>
                <a:spcPts val="140"/>
              </a:spcBef>
              <a:buFont typeface="Lucida Sans Unicode"/>
              <a:buChar char="□"/>
            </a:pPr>
            <a:endParaRPr sz="2800" dirty="0">
              <a:latin typeface="Arial"/>
              <a:cs typeface="Arial"/>
            </a:endParaRPr>
          </a:p>
          <a:p>
            <a:pPr marL="504825" indent="-492125">
              <a:buFont typeface="Lucida Sans Unicode"/>
              <a:buChar char="□"/>
              <a:tabLst>
                <a:tab pos="504825" algn="l"/>
                <a:tab pos="1419860" algn="l"/>
                <a:tab pos="2492375" algn="l"/>
                <a:tab pos="3308350" algn="l"/>
                <a:tab pos="4203700" algn="l"/>
                <a:tab pos="4841875" algn="l"/>
                <a:tab pos="6428740" algn="l"/>
                <a:tab pos="7047230" algn="l"/>
                <a:tab pos="8139430" algn="l"/>
              </a:tabLst>
            </a:pPr>
            <a:r>
              <a:rPr sz="2800" spc="-20" dirty="0">
                <a:latin typeface="Arial MT"/>
                <a:cs typeface="Arial MT"/>
              </a:rPr>
              <a:t>This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issue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can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0" dirty="0">
                <a:latin typeface="Arial MT"/>
                <a:cs typeface="Arial MT"/>
              </a:rPr>
              <a:t>only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be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resolved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by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Arial MT"/>
                <a:cs typeface="Arial MT"/>
              </a:rPr>
              <a:t>using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Arial MT"/>
                <a:cs typeface="Arial MT"/>
              </a:rPr>
              <a:t>the</a:t>
            </a:r>
            <a:endParaRPr sz="2800" dirty="0">
              <a:latin typeface="Arial MT"/>
              <a:cs typeface="Arial MT"/>
            </a:endParaRPr>
          </a:p>
          <a:p>
            <a:pPr marL="505459"/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'virtual'</a:t>
            </a:r>
            <a:r>
              <a:rPr sz="2800" b="1" spc="-14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Arial"/>
                <a:cs typeface="Arial"/>
              </a:rPr>
              <a:t>function.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09396" y="844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305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155" dirty="0"/>
              <a:t> </a:t>
            </a:r>
            <a:r>
              <a:rPr spc="-10" dirty="0"/>
              <a:t>Functions</a:t>
            </a:r>
            <a:endParaRPr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606940" y="6499686"/>
            <a:ext cx="5320512" cy="3946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29209">
              <a:lnSpc>
                <a:spcPts val="1810"/>
              </a:lnSpc>
            </a:pPr>
            <a:r>
              <a:rPr lang="en-IN" spc="-10"/>
              <a:t>Prepared</a:t>
            </a:r>
            <a:r>
              <a:rPr lang="en-IN" spc="-65"/>
              <a:t> </a:t>
            </a:r>
            <a:r>
              <a:rPr lang="en-IN"/>
              <a:t>By:</a:t>
            </a:r>
            <a:r>
              <a:rPr lang="en-IN" spc="-55"/>
              <a:t> </a:t>
            </a:r>
            <a:r>
              <a:rPr lang="en-IN" spc="-25"/>
              <a:t>Prof.</a:t>
            </a:r>
            <a:r>
              <a:rPr lang="en-IN" spc="-50"/>
              <a:t> </a:t>
            </a:r>
            <a:r>
              <a:rPr lang="en-IN"/>
              <a:t>Nishat</a:t>
            </a:r>
            <a:r>
              <a:rPr lang="en-IN" spc="-55"/>
              <a:t> </a:t>
            </a:r>
            <a:r>
              <a:rPr lang="en-IN"/>
              <a:t>Shaikh</a:t>
            </a:r>
            <a:r>
              <a:rPr lang="en-IN" spc="-50"/>
              <a:t> </a:t>
            </a:r>
            <a:r>
              <a:rPr lang="en-IN"/>
              <a:t>&amp;</a:t>
            </a:r>
            <a:r>
              <a:rPr lang="en-IN" spc="-55"/>
              <a:t> </a:t>
            </a:r>
            <a:r>
              <a:rPr lang="en-IN" spc="-60"/>
              <a:t>Dr.</a:t>
            </a:r>
            <a:r>
              <a:rPr lang="en-IN" spc="-45"/>
              <a:t> </a:t>
            </a:r>
            <a:r>
              <a:rPr lang="en-IN"/>
              <a:t>Aayushi</a:t>
            </a:r>
            <a:r>
              <a:rPr lang="en-IN" spc="-50"/>
              <a:t> </a:t>
            </a:r>
            <a:r>
              <a:rPr lang="en-IN" spc="-10"/>
              <a:t>Chaudhari</a:t>
            </a:r>
            <a:endParaRPr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912097" y="944727"/>
            <a:ext cx="10433235" cy="52142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2284" marR="7620" indent="-490220" algn="just">
              <a:spcBef>
                <a:spcPts val="100"/>
              </a:spcBef>
              <a:buFont typeface="Lucida Sans Unicode"/>
              <a:buChar char="□"/>
              <a:tabLst>
                <a:tab pos="502284" algn="l"/>
              </a:tabLst>
            </a:pPr>
            <a:r>
              <a:rPr sz="2600" dirty="0">
                <a:latin typeface="Arial MT"/>
                <a:cs typeface="Arial MT"/>
              </a:rPr>
              <a:t>Virtual</a:t>
            </a:r>
            <a:r>
              <a:rPr sz="2600" spc="1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function</a:t>
            </a:r>
            <a:r>
              <a:rPr sz="2600" spc="1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1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1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member</a:t>
            </a:r>
            <a:r>
              <a:rPr sz="2600" spc="1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function</a:t>
            </a:r>
            <a:r>
              <a:rPr sz="2600" spc="1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1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1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base</a:t>
            </a:r>
            <a:r>
              <a:rPr sz="2600" spc="1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class </a:t>
            </a:r>
            <a:r>
              <a:rPr sz="2600" dirty="0">
                <a:latin typeface="Arial MT"/>
                <a:cs typeface="Arial MT"/>
              </a:rPr>
              <a:t>that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you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redefine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derived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class.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It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declared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using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virtual</a:t>
            </a:r>
            <a:r>
              <a:rPr sz="2600" b="1" spc="-8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0070C0"/>
                </a:solidFill>
                <a:latin typeface="Arial"/>
                <a:cs typeface="Arial"/>
              </a:rPr>
              <a:t>keyword</a:t>
            </a:r>
            <a:r>
              <a:rPr sz="2600" spc="-10" dirty="0">
                <a:latin typeface="Arial MT"/>
                <a:cs typeface="Arial MT"/>
              </a:rPr>
              <a:t>.</a:t>
            </a:r>
            <a:endParaRPr sz="2600" dirty="0">
              <a:latin typeface="Arial MT"/>
              <a:cs typeface="Arial MT"/>
            </a:endParaRPr>
          </a:p>
          <a:p>
            <a:pPr marL="502284" marR="8890" indent="-490220" algn="just">
              <a:buFont typeface="Lucida Sans Unicode"/>
              <a:buChar char="□"/>
              <a:tabLst>
                <a:tab pos="502284" algn="l"/>
              </a:tabLst>
            </a:pPr>
            <a:r>
              <a:rPr sz="2600" dirty="0">
                <a:latin typeface="Arial MT"/>
                <a:cs typeface="Arial MT"/>
              </a:rPr>
              <a:t>A</a:t>
            </a:r>
            <a:r>
              <a:rPr sz="2600" spc="-1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'virtual'</a:t>
            </a:r>
            <a:r>
              <a:rPr sz="2600" spc="-10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keyword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preceding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normal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declaration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function.</a:t>
            </a:r>
            <a:endParaRPr sz="2600" dirty="0">
              <a:latin typeface="Arial MT"/>
              <a:cs typeface="Arial MT"/>
            </a:endParaRPr>
          </a:p>
          <a:p>
            <a:pPr marL="502284" marR="37465" indent="-490220" algn="just">
              <a:buFont typeface="Lucida Sans Unicode"/>
              <a:buChar char="□"/>
              <a:tabLst>
                <a:tab pos="502284" algn="l"/>
              </a:tabLst>
            </a:pPr>
            <a:r>
              <a:rPr sz="2600" dirty="0">
                <a:latin typeface="Arial MT"/>
                <a:cs typeface="Arial MT"/>
              </a:rPr>
              <a:t>It</a:t>
            </a:r>
            <a:r>
              <a:rPr sz="2600" spc="4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4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used</a:t>
            </a:r>
            <a:r>
              <a:rPr sz="2600" spc="470" dirty="0"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to</a:t>
            </a:r>
            <a:r>
              <a:rPr sz="2600" b="1" spc="459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tell</a:t>
            </a:r>
            <a:r>
              <a:rPr sz="2600" b="1" spc="45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the</a:t>
            </a:r>
            <a:r>
              <a:rPr sz="2600" b="1" spc="45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compiler</a:t>
            </a:r>
            <a:r>
              <a:rPr sz="2600" b="1" spc="459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to</a:t>
            </a:r>
            <a:r>
              <a:rPr sz="2600" b="1" spc="45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perform</a:t>
            </a:r>
            <a:r>
              <a:rPr sz="2600" b="1" spc="45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0070C0"/>
                </a:solidFill>
                <a:latin typeface="Arial"/>
                <a:cs typeface="Arial"/>
              </a:rPr>
              <a:t>dynamic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linkage</a:t>
            </a:r>
            <a:r>
              <a:rPr sz="2600" b="1" spc="-6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or</a:t>
            </a:r>
            <a:r>
              <a:rPr sz="2600" b="1" spc="-6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late</a:t>
            </a:r>
            <a:r>
              <a:rPr sz="2600" b="1" spc="-6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binding</a:t>
            </a:r>
            <a:r>
              <a:rPr sz="2600" b="1" spc="-6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on</a:t>
            </a:r>
            <a:r>
              <a:rPr sz="2600" b="1" spc="-5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the</a:t>
            </a:r>
            <a:r>
              <a:rPr sz="2600" b="1" spc="-6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0070C0"/>
                </a:solidFill>
                <a:latin typeface="Arial"/>
                <a:cs typeface="Arial"/>
              </a:rPr>
              <a:t>function</a:t>
            </a:r>
            <a:r>
              <a:rPr sz="2600" spc="-10" dirty="0">
                <a:latin typeface="Arial MT"/>
                <a:cs typeface="Arial MT"/>
              </a:rPr>
              <a:t>.</a:t>
            </a:r>
            <a:endParaRPr sz="2600" dirty="0">
              <a:latin typeface="Arial MT"/>
              <a:cs typeface="Arial MT"/>
            </a:endParaRPr>
          </a:p>
          <a:p>
            <a:pPr marL="502284" marR="5080" indent="-490220" algn="just">
              <a:buFont typeface="Lucida Sans Unicode"/>
              <a:buChar char="□"/>
              <a:tabLst>
                <a:tab pos="502284" algn="l"/>
              </a:tabLst>
            </a:pPr>
            <a:r>
              <a:rPr sz="2600" dirty="0">
                <a:latin typeface="Arial MT"/>
                <a:cs typeface="Arial MT"/>
              </a:rPr>
              <a:t>When</a:t>
            </a:r>
            <a:r>
              <a:rPr sz="2600" spc="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10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function</a:t>
            </a:r>
            <a:r>
              <a:rPr sz="2600" spc="10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10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made</a:t>
            </a:r>
            <a:r>
              <a:rPr sz="2600" spc="10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virtual,</a:t>
            </a:r>
            <a:r>
              <a:rPr sz="2600" spc="10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C++</a:t>
            </a:r>
            <a:r>
              <a:rPr sz="2600" spc="5" dirty="0">
                <a:latin typeface="Arial MT"/>
                <a:cs typeface="Arial MT"/>
              </a:rPr>
              <a:t>  </a:t>
            </a:r>
            <a:r>
              <a:rPr sz="2600" spc="-10" dirty="0">
                <a:latin typeface="Arial MT"/>
                <a:cs typeface="Arial MT"/>
              </a:rPr>
              <a:t>determines </a:t>
            </a:r>
            <a:r>
              <a:rPr sz="2600" dirty="0">
                <a:latin typeface="Arial MT"/>
                <a:cs typeface="Arial MT"/>
              </a:rPr>
              <a:t>which</a:t>
            </a:r>
            <a:r>
              <a:rPr sz="2600" spc="1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function</a:t>
            </a:r>
            <a:r>
              <a:rPr sz="2600" spc="1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1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165" dirty="0"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be</a:t>
            </a:r>
            <a:r>
              <a:rPr sz="2600" b="1" spc="15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invoked</a:t>
            </a:r>
            <a:r>
              <a:rPr sz="2600" b="1" spc="15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at</a:t>
            </a:r>
            <a:r>
              <a:rPr sz="2600" b="1" spc="15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the</a:t>
            </a:r>
            <a:r>
              <a:rPr sz="2600" b="1" spc="15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runtime</a:t>
            </a:r>
            <a:r>
              <a:rPr sz="2600" b="1" spc="17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spc="-10" dirty="0">
                <a:latin typeface="Arial MT"/>
                <a:cs typeface="Arial MT"/>
              </a:rPr>
              <a:t>based </a:t>
            </a:r>
            <a:r>
              <a:rPr sz="2600" dirty="0">
                <a:latin typeface="Arial MT"/>
                <a:cs typeface="Arial MT"/>
              </a:rPr>
              <a:t>on</a:t>
            </a:r>
            <a:r>
              <a:rPr sz="2600" spc="3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385" dirty="0">
                <a:latin typeface="Arial MT"/>
                <a:cs typeface="Arial MT"/>
              </a:rPr>
              <a:t> </a:t>
            </a:r>
            <a:r>
              <a:rPr sz="2600" b="1" dirty="0">
                <a:latin typeface="Arial"/>
                <a:cs typeface="Arial"/>
              </a:rPr>
              <a:t>type</a:t>
            </a:r>
            <a:r>
              <a:rPr sz="2600" b="1" spc="37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of</a:t>
            </a:r>
            <a:r>
              <a:rPr sz="2600" b="1" spc="37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the</a:t>
            </a:r>
            <a:r>
              <a:rPr sz="2600" b="1" spc="37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object</a:t>
            </a:r>
            <a:r>
              <a:rPr sz="2600" b="1" spc="390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pointed</a:t>
            </a:r>
            <a:r>
              <a:rPr sz="2600" spc="3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by</a:t>
            </a:r>
            <a:r>
              <a:rPr sz="2600" spc="3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3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base</a:t>
            </a:r>
            <a:r>
              <a:rPr sz="2600" spc="37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class </a:t>
            </a:r>
            <a:r>
              <a:rPr sz="2600" dirty="0">
                <a:latin typeface="Arial MT"/>
                <a:cs typeface="Arial MT"/>
              </a:rPr>
              <a:t>pointer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b="1" dirty="0">
                <a:latin typeface="Arial"/>
                <a:cs typeface="Arial"/>
              </a:rPr>
              <a:t>not</a:t>
            </a:r>
            <a:r>
              <a:rPr sz="2600" b="1" spc="-40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by</a:t>
            </a:r>
            <a:r>
              <a:rPr sz="2600" b="1" spc="-3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the</a:t>
            </a:r>
            <a:r>
              <a:rPr sz="2600" b="1" spc="-40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type</a:t>
            </a:r>
            <a:r>
              <a:rPr sz="2600" b="1" spc="-3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of</a:t>
            </a:r>
            <a:r>
              <a:rPr sz="2600" b="1" spc="-3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the</a:t>
            </a:r>
            <a:r>
              <a:rPr sz="2600" b="1" spc="-40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pointer.</a:t>
            </a:r>
            <a:endParaRPr sz="2600" dirty="0">
              <a:latin typeface="Arial"/>
              <a:cs typeface="Arial"/>
            </a:endParaRPr>
          </a:p>
          <a:p>
            <a:pPr marL="502284" marR="5080" indent="-490220" algn="just">
              <a:buFont typeface="Lucida Sans Unicode"/>
              <a:buChar char="□"/>
              <a:tabLst>
                <a:tab pos="502284" algn="l"/>
              </a:tabLst>
            </a:pPr>
            <a:r>
              <a:rPr sz="2600" dirty="0">
                <a:latin typeface="Arial MT"/>
                <a:cs typeface="Arial MT"/>
              </a:rPr>
              <a:t>In</a:t>
            </a:r>
            <a:r>
              <a:rPr sz="2600" spc="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late</a:t>
            </a:r>
            <a:r>
              <a:rPr sz="2600" spc="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binding</a:t>
            </a:r>
            <a:r>
              <a:rPr sz="2600" spc="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function</a:t>
            </a:r>
            <a:r>
              <a:rPr sz="2600" spc="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call</a:t>
            </a:r>
            <a:r>
              <a:rPr sz="2600" spc="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resolved</a:t>
            </a:r>
            <a:r>
              <a:rPr sz="2600" spc="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during</a:t>
            </a:r>
            <a:r>
              <a:rPr sz="2600" spc="120" dirty="0">
                <a:latin typeface="Arial MT"/>
                <a:cs typeface="Arial MT"/>
              </a:rPr>
              <a:t> </a:t>
            </a:r>
            <a:r>
              <a:rPr sz="2600" b="1" spc="-10" dirty="0">
                <a:solidFill>
                  <a:srgbClr val="0070C0"/>
                </a:solidFill>
                <a:latin typeface="Arial"/>
                <a:cs typeface="Arial"/>
              </a:rPr>
              <a:t>runtime</a:t>
            </a:r>
            <a:r>
              <a:rPr sz="2600" spc="-10" dirty="0">
                <a:latin typeface="Arial MT"/>
                <a:cs typeface="Arial MT"/>
              </a:rPr>
              <a:t>. </a:t>
            </a:r>
            <a:r>
              <a:rPr sz="2600" dirty="0">
                <a:latin typeface="Arial MT"/>
                <a:cs typeface="Arial MT"/>
              </a:rPr>
              <a:t>Therefore</a:t>
            </a:r>
            <a:r>
              <a:rPr sz="2600" spc="-30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compiler</a:t>
            </a:r>
            <a:r>
              <a:rPr sz="2600" spc="-2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determines</a:t>
            </a:r>
            <a:r>
              <a:rPr sz="2600" spc="-2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type</a:t>
            </a:r>
            <a:r>
              <a:rPr sz="2600" spc="-2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2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object</a:t>
            </a:r>
            <a:r>
              <a:rPr sz="2600" spc="-30" dirty="0">
                <a:latin typeface="Arial MT"/>
                <a:cs typeface="Arial MT"/>
              </a:rPr>
              <a:t>  </a:t>
            </a:r>
            <a:r>
              <a:rPr sz="2600" spc="-25" dirty="0">
                <a:latin typeface="Arial MT"/>
                <a:cs typeface="Arial MT"/>
              </a:rPr>
              <a:t>at </a:t>
            </a:r>
            <a:r>
              <a:rPr sz="2600" dirty="0">
                <a:latin typeface="Arial MT"/>
                <a:cs typeface="Arial MT"/>
              </a:rPr>
              <a:t>runtime,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then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binds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function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call.</a:t>
            </a:r>
            <a:endParaRPr sz="2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2600" y="925094"/>
            <a:ext cx="8915399" cy="5504280"/>
            <a:chOff x="228600" y="925094"/>
            <a:chExt cx="8915399" cy="55042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" y="990600"/>
              <a:ext cx="3971924" cy="54387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6700" y="925094"/>
              <a:ext cx="5067299" cy="38755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86782" y="4821399"/>
              <a:ext cx="2761817" cy="1607155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20423" y="8366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305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155" dirty="0"/>
              <a:t> </a:t>
            </a:r>
            <a:r>
              <a:rPr spc="-10" dirty="0"/>
              <a:t>Functions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54962" y="24038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305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155" dirty="0"/>
              <a:t> </a:t>
            </a:r>
            <a:r>
              <a:rPr spc="-10" dirty="0"/>
              <a:t>Functions</a:t>
            </a: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771015" y="1438019"/>
            <a:ext cx="8649970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algn="ctr"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NOTE:</a:t>
            </a:r>
            <a:endParaRPr sz="2800" dirty="0">
              <a:latin typeface="Arial"/>
              <a:cs typeface="Arial"/>
            </a:endParaRPr>
          </a:p>
          <a:p>
            <a:pPr marL="505459" marR="5080" indent="-492759" algn="just"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Run</a:t>
            </a:r>
            <a:r>
              <a:rPr sz="2800" spc="4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time</a:t>
            </a:r>
            <a:r>
              <a:rPr sz="2800" spc="5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polymorphism</a:t>
            </a:r>
            <a:r>
              <a:rPr sz="2800" spc="5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4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achieved</a:t>
            </a:r>
            <a:r>
              <a:rPr sz="2800" spc="5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only</a:t>
            </a:r>
            <a:r>
              <a:rPr sz="2800" spc="5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when</a:t>
            </a:r>
            <a:r>
              <a:rPr sz="2800" spc="49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a </a:t>
            </a:r>
            <a:r>
              <a:rPr sz="2800" dirty="0">
                <a:latin typeface="Arial MT"/>
                <a:cs typeface="Arial MT"/>
              </a:rPr>
              <a:t>virtual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accessed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through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pointer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base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class.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689" y="22657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6987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Rules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Virtual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Function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6222" y="1049743"/>
            <a:ext cx="11119555" cy="56143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3890" indent="-631190" algn="just">
              <a:spcBef>
                <a:spcPts val="100"/>
              </a:spcBef>
              <a:buAutoNum type="arabicPeriod"/>
              <a:tabLst>
                <a:tab pos="643890" algn="l"/>
              </a:tabLst>
            </a:pPr>
            <a:r>
              <a:rPr sz="2800" dirty="0">
                <a:latin typeface="Arial MT"/>
                <a:cs typeface="Arial MT"/>
              </a:rPr>
              <a:t>Virtual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must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"/>
                <a:cs typeface="Arial"/>
              </a:rPr>
              <a:t>members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some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class.</a:t>
            </a:r>
            <a:endParaRPr sz="2800" dirty="0">
              <a:latin typeface="Arial MT"/>
              <a:cs typeface="Arial MT"/>
            </a:endParaRPr>
          </a:p>
          <a:p>
            <a:pPr marL="643890" indent="-631190" algn="just">
              <a:buAutoNum type="arabicPeriod"/>
              <a:tabLst>
                <a:tab pos="643890" algn="l"/>
              </a:tabLst>
            </a:pPr>
            <a:r>
              <a:rPr sz="2800" dirty="0">
                <a:latin typeface="Arial MT"/>
                <a:cs typeface="Arial MT"/>
              </a:rPr>
              <a:t>Virtual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"/>
                <a:cs typeface="Arial"/>
              </a:rPr>
              <a:t>cannot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static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 MT"/>
                <a:cs typeface="Arial MT"/>
              </a:rPr>
              <a:t>members.</a:t>
            </a:r>
            <a:endParaRPr sz="2800" dirty="0">
              <a:latin typeface="Arial MT"/>
              <a:cs typeface="Arial MT"/>
            </a:endParaRPr>
          </a:p>
          <a:p>
            <a:pPr marL="645160" indent="-632460">
              <a:buAutoNum type="arabicPeriod"/>
              <a:tabLst>
                <a:tab pos="645160" algn="l"/>
              </a:tabLst>
            </a:pPr>
            <a:r>
              <a:rPr sz="2800" dirty="0">
                <a:latin typeface="Arial MT"/>
                <a:cs typeface="Arial MT"/>
              </a:rPr>
              <a:t>They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"/>
                <a:cs typeface="Arial"/>
              </a:rPr>
              <a:t>accessed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through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object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pointers</a:t>
            </a:r>
            <a:r>
              <a:rPr sz="2800" spc="-10" dirty="0">
                <a:latin typeface="Arial MT"/>
                <a:cs typeface="Arial MT"/>
              </a:rPr>
              <a:t>.</a:t>
            </a:r>
            <a:endParaRPr sz="2800" dirty="0">
              <a:latin typeface="Arial MT"/>
              <a:cs typeface="Arial MT"/>
            </a:endParaRPr>
          </a:p>
          <a:p>
            <a:pPr marL="645160" indent="-632460">
              <a:buAutoNum type="arabicPeriod"/>
              <a:tabLst>
                <a:tab pos="645160" algn="l"/>
              </a:tabLst>
            </a:pPr>
            <a:r>
              <a:rPr sz="2800" dirty="0">
                <a:latin typeface="Arial MT"/>
                <a:cs typeface="Arial MT"/>
              </a:rPr>
              <a:t>They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"/>
                <a:cs typeface="Arial"/>
              </a:rPr>
              <a:t>can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friend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another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class</a:t>
            </a:r>
            <a:r>
              <a:rPr sz="2800" spc="-10" dirty="0">
                <a:latin typeface="Arial MT"/>
                <a:cs typeface="Arial MT"/>
              </a:rPr>
              <a:t>.</a:t>
            </a:r>
            <a:endParaRPr sz="2800" dirty="0">
              <a:latin typeface="Arial MT"/>
              <a:cs typeface="Arial MT"/>
            </a:endParaRPr>
          </a:p>
          <a:p>
            <a:pPr marL="645160" marR="52705" indent="-633095">
              <a:buAutoNum type="arabicPeriod"/>
              <a:tabLst>
                <a:tab pos="645160" algn="l"/>
              </a:tabLst>
            </a:pPr>
            <a:r>
              <a:rPr sz="2800" dirty="0">
                <a:latin typeface="Arial MT"/>
                <a:cs typeface="Arial MT"/>
              </a:rPr>
              <a:t>A</a:t>
            </a:r>
            <a:r>
              <a:rPr sz="2800" spc="140" dirty="0">
                <a:latin typeface="Arial MT"/>
                <a:cs typeface="Arial MT"/>
              </a:rPr>
              <a:t> </a:t>
            </a:r>
            <a:r>
              <a:rPr sz="2800" dirty="0">
                <a:latin typeface="Arial"/>
                <a:cs typeface="Arial"/>
              </a:rPr>
              <a:t>virtual</a:t>
            </a:r>
            <a:r>
              <a:rPr sz="2800" spc="2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function</a:t>
            </a:r>
            <a:r>
              <a:rPr sz="2800" spc="2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must</a:t>
            </a:r>
            <a:r>
              <a:rPr sz="2800" spc="2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</a:t>
            </a:r>
            <a:r>
              <a:rPr sz="2800" spc="2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defined</a:t>
            </a:r>
            <a:r>
              <a:rPr sz="2800" spc="2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</a:t>
            </a:r>
            <a:r>
              <a:rPr sz="2800" spc="2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28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base </a:t>
            </a:r>
            <a:r>
              <a:rPr sz="2800" dirty="0">
                <a:latin typeface="Arial"/>
                <a:cs typeface="Arial"/>
              </a:rPr>
              <a:t>class</a:t>
            </a:r>
            <a:r>
              <a:rPr sz="2800" dirty="0">
                <a:latin typeface="Arial MT"/>
                <a:cs typeface="Arial MT"/>
              </a:rPr>
              <a:t>,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even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though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used.</a:t>
            </a:r>
            <a:endParaRPr sz="2800" dirty="0">
              <a:latin typeface="Arial MT"/>
              <a:cs typeface="Arial MT"/>
            </a:endParaRPr>
          </a:p>
          <a:p>
            <a:pPr marL="643255" marR="5080" indent="-631190" algn="just">
              <a:buAutoNum type="arabicPeriod"/>
              <a:tabLst>
                <a:tab pos="645160" algn="l"/>
              </a:tabLst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6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prototypes</a:t>
            </a:r>
            <a:r>
              <a:rPr sz="2800" spc="6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6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6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virtual</a:t>
            </a:r>
            <a:r>
              <a:rPr sz="2800" spc="6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</a:t>
            </a:r>
            <a:r>
              <a:rPr sz="2800" spc="6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6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67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base 	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all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derived</a:t>
            </a:r>
            <a:r>
              <a:rPr sz="2800" spc="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classes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must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identical. 	</a:t>
            </a:r>
            <a:r>
              <a:rPr sz="2800" dirty="0">
                <a:latin typeface="Arial MT"/>
                <a:cs typeface="Arial MT"/>
              </a:rPr>
              <a:t>If</a:t>
            </a:r>
            <a:r>
              <a:rPr sz="2800" spc="18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18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two</a:t>
            </a:r>
            <a:r>
              <a:rPr sz="2800" spc="18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functions</a:t>
            </a:r>
            <a:r>
              <a:rPr sz="2800" spc="18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18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18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same</a:t>
            </a:r>
            <a:r>
              <a:rPr sz="2800" spc="18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name</a:t>
            </a:r>
            <a:r>
              <a:rPr sz="2800" spc="180" dirty="0">
                <a:latin typeface="Arial MT"/>
                <a:cs typeface="Arial MT"/>
              </a:rPr>
              <a:t>  </a:t>
            </a:r>
            <a:r>
              <a:rPr sz="2800" spc="-25" dirty="0">
                <a:latin typeface="Arial MT"/>
                <a:cs typeface="Arial MT"/>
              </a:rPr>
              <a:t>but 	</a:t>
            </a:r>
            <a:r>
              <a:rPr sz="2800" dirty="0">
                <a:latin typeface="Arial MT"/>
                <a:cs typeface="Arial MT"/>
              </a:rPr>
              <a:t>different</a:t>
            </a:r>
            <a:r>
              <a:rPr sz="2800" spc="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prototypes,</a:t>
            </a:r>
            <a:r>
              <a:rPr sz="2800" spc="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C++</a:t>
            </a:r>
            <a:r>
              <a:rPr sz="2800" spc="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will</a:t>
            </a:r>
            <a:r>
              <a:rPr sz="2800" spc="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consider</a:t>
            </a:r>
            <a:r>
              <a:rPr sz="2800" spc="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them</a:t>
            </a:r>
            <a:r>
              <a:rPr sz="2800" spc="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9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	</a:t>
            </a:r>
            <a:r>
              <a:rPr sz="2800" dirty="0">
                <a:latin typeface="Arial"/>
                <a:cs typeface="Arial"/>
              </a:rPr>
              <a:t>overloaded</a:t>
            </a:r>
            <a:r>
              <a:rPr sz="2800" spc="6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functions</a:t>
            </a:r>
            <a:r>
              <a:rPr sz="2800" spc="66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6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635" dirty="0">
                <a:latin typeface="Arial MT"/>
                <a:cs typeface="Arial MT"/>
              </a:rPr>
              <a:t> </a:t>
            </a:r>
            <a:r>
              <a:rPr sz="2800" dirty="0">
                <a:latin typeface="Arial"/>
                <a:cs typeface="Arial"/>
              </a:rPr>
              <a:t>virtual</a:t>
            </a:r>
            <a:r>
              <a:rPr sz="2800" spc="6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function 	mechanism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ignored</a:t>
            </a:r>
            <a:endParaRPr sz="2800" dirty="0">
              <a:latin typeface="Arial"/>
              <a:cs typeface="Arial"/>
            </a:endParaRPr>
          </a:p>
          <a:p>
            <a:pPr marL="643890" indent="-631190" algn="just">
              <a:buAutoNum type="arabicPeriod"/>
              <a:tabLst>
                <a:tab pos="643890" algn="l"/>
              </a:tabLst>
            </a:pPr>
            <a:r>
              <a:rPr sz="2800" dirty="0">
                <a:latin typeface="Arial MT"/>
                <a:cs typeface="Arial MT"/>
              </a:rPr>
              <a:t>We</a:t>
            </a:r>
            <a:r>
              <a:rPr sz="2800" spc="2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cannot</a:t>
            </a:r>
            <a:r>
              <a:rPr sz="2800" spc="2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have</a:t>
            </a:r>
            <a:r>
              <a:rPr sz="2800" spc="2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2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virtual</a:t>
            </a:r>
            <a:r>
              <a:rPr sz="2800" spc="2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constructor,</a:t>
            </a:r>
            <a:r>
              <a:rPr sz="2800" spc="2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but</a:t>
            </a:r>
            <a:r>
              <a:rPr sz="2800" spc="2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</a:t>
            </a:r>
            <a:r>
              <a:rPr sz="2800" spc="28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can</a:t>
            </a:r>
            <a:r>
              <a:rPr lang="en-US" sz="2800" spc="-25" dirty="0">
                <a:latin typeface="Arial MT"/>
                <a:cs typeface="Arial MT"/>
              </a:rPr>
              <a:t> virtual destructors.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606940" y="6499686"/>
            <a:ext cx="5320512" cy="3946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43180">
              <a:lnSpc>
                <a:spcPts val="1810"/>
              </a:lnSpc>
            </a:pPr>
            <a:r>
              <a:rPr lang="en-IN" spc="-10"/>
              <a:t>Prepared</a:t>
            </a:r>
            <a:r>
              <a:rPr lang="en-IN" spc="-65"/>
              <a:t> </a:t>
            </a:r>
            <a:r>
              <a:rPr lang="en-IN"/>
              <a:t>By:</a:t>
            </a:r>
            <a:r>
              <a:rPr lang="en-IN" spc="-55"/>
              <a:t> </a:t>
            </a:r>
            <a:r>
              <a:rPr lang="en-IN" spc="-25"/>
              <a:t>Prof.</a:t>
            </a:r>
            <a:r>
              <a:rPr lang="en-IN" spc="-50"/>
              <a:t> </a:t>
            </a:r>
            <a:r>
              <a:rPr lang="en-IN"/>
              <a:t>Nishat</a:t>
            </a:r>
            <a:r>
              <a:rPr lang="en-IN" spc="-55"/>
              <a:t> </a:t>
            </a:r>
            <a:r>
              <a:rPr lang="en-IN"/>
              <a:t>Shaikh</a:t>
            </a:r>
            <a:r>
              <a:rPr lang="en-IN" spc="-50"/>
              <a:t> </a:t>
            </a:r>
            <a:r>
              <a:rPr lang="en-IN"/>
              <a:t>&amp;</a:t>
            </a:r>
            <a:r>
              <a:rPr lang="en-IN" spc="-55"/>
              <a:t> </a:t>
            </a:r>
            <a:r>
              <a:rPr lang="en-IN" spc="-60"/>
              <a:t>Dr.</a:t>
            </a:r>
            <a:r>
              <a:rPr lang="en-IN" spc="-45"/>
              <a:t> </a:t>
            </a:r>
            <a:r>
              <a:rPr lang="en-IN"/>
              <a:t>Aayushi</a:t>
            </a:r>
            <a:r>
              <a:rPr lang="en-IN" spc="-50"/>
              <a:t> </a:t>
            </a:r>
            <a:r>
              <a:rPr lang="en-IN" spc="-10"/>
              <a:t>Chaudhari</a:t>
            </a:r>
            <a:endParaRPr spc="-1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9396" y="133303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6987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Rules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Virtual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Function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0485" y="962385"/>
            <a:ext cx="11153422" cy="3459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3255" marR="6350" indent="-631190" algn="just">
              <a:spcBef>
                <a:spcPts val="100"/>
              </a:spcBef>
              <a:buAutoNum type="arabicPeriod" startAt="8"/>
              <a:tabLst>
                <a:tab pos="645160" algn="l"/>
              </a:tabLst>
            </a:pPr>
            <a:r>
              <a:rPr sz="2800" dirty="0">
                <a:latin typeface="Arial MT"/>
                <a:cs typeface="Arial MT"/>
              </a:rPr>
              <a:t>While</a:t>
            </a:r>
            <a:r>
              <a:rPr sz="2800" spc="3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3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base</a:t>
            </a:r>
            <a:r>
              <a:rPr sz="2800" spc="3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pointer</a:t>
            </a:r>
            <a:r>
              <a:rPr sz="2800" spc="3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3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point</a:t>
            </a:r>
            <a:r>
              <a:rPr sz="2800" spc="3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3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any</a:t>
            </a:r>
            <a:r>
              <a:rPr sz="2800" spc="3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type</a:t>
            </a:r>
            <a:r>
              <a:rPr sz="2800" spc="3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30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derived</a:t>
            </a:r>
            <a:r>
              <a:rPr sz="2800" spc="1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object</a:t>
            </a:r>
            <a:r>
              <a:rPr sz="2800" dirty="0">
                <a:latin typeface="Arial"/>
                <a:cs typeface="Arial"/>
              </a:rPr>
              <a:t>,</a:t>
            </a:r>
            <a:r>
              <a:rPr sz="2800" spc="1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1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reverse</a:t>
            </a:r>
            <a:r>
              <a:rPr sz="2800" spc="1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1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not</a:t>
            </a:r>
            <a:r>
              <a:rPr sz="2800" spc="1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true</a:t>
            </a:r>
            <a:r>
              <a:rPr sz="2800" dirty="0">
                <a:latin typeface="Arial MT"/>
                <a:cs typeface="Arial MT"/>
              </a:rPr>
              <a:t>.</a:t>
            </a:r>
            <a:r>
              <a:rPr sz="2800" spc="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1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16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say,</a:t>
            </a:r>
            <a:r>
              <a:rPr sz="2800" spc="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</a:t>
            </a:r>
            <a:r>
              <a:rPr sz="2800" spc="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not</a:t>
            </a:r>
            <a:r>
              <a:rPr sz="2800" spc="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</a:t>
            </a:r>
            <a:r>
              <a:rPr sz="2800" spc="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pointer</a:t>
            </a:r>
            <a:r>
              <a:rPr sz="2800" spc="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derived</a:t>
            </a:r>
            <a:r>
              <a:rPr sz="2800" spc="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6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access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object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base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type</a:t>
            </a:r>
            <a:endParaRPr sz="2800" dirty="0">
              <a:latin typeface="Arial MT"/>
              <a:cs typeface="Arial MT"/>
            </a:endParaRPr>
          </a:p>
          <a:p>
            <a:pPr marL="643255" marR="5080" indent="-631190" algn="just">
              <a:buAutoNum type="arabicPeriod" startAt="8"/>
              <a:tabLst>
                <a:tab pos="645160" algn="l"/>
              </a:tabLst>
            </a:pPr>
            <a:r>
              <a:rPr sz="2800" dirty="0">
                <a:latin typeface="Arial MT"/>
                <a:cs typeface="Arial MT"/>
              </a:rPr>
              <a:t>When</a:t>
            </a:r>
            <a:r>
              <a:rPr lang="en-US" sz="2800" spc="6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lang="en-US" sz="2800" spc="6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base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pointer</a:t>
            </a:r>
            <a:r>
              <a:rPr lang="en-US"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points</a:t>
            </a:r>
            <a:r>
              <a:rPr lang="en-US"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lang="en-US" sz="2800" spc="6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derived</a:t>
            </a:r>
            <a:r>
              <a:rPr sz="2800" spc="6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class, 	</a:t>
            </a:r>
            <a:r>
              <a:rPr sz="2800" dirty="0">
                <a:latin typeface="Arial"/>
                <a:cs typeface="Arial"/>
              </a:rPr>
              <a:t>incrementing</a:t>
            </a:r>
            <a:r>
              <a:rPr sz="2800" spc="3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or</a:t>
            </a:r>
            <a:r>
              <a:rPr sz="2800" spc="3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decrementing</a:t>
            </a:r>
            <a:r>
              <a:rPr sz="2800" spc="3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it</a:t>
            </a:r>
            <a:r>
              <a:rPr sz="2800" spc="3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will</a:t>
            </a:r>
            <a:r>
              <a:rPr sz="2800" spc="3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not</a:t>
            </a:r>
            <a:r>
              <a:rPr sz="2800" spc="30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make </a:t>
            </a:r>
            <a:r>
              <a:rPr sz="2800" dirty="0">
                <a:latin typeface="Arial"/>
                <a:cs typeface="Arial"/>
              </a:rPr>
              <a:t>it</a:t>
            </a:r>
            <a:r>
              <a:rPr sz="2800" spc="15" dirty="0">
                <a:latin typeface="Arial"/>
                <a:cs typeface="Arial"/>
              </a:rPr>
              <a:t> 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15" dirty="0">
                <a:latin typeface="Arial"/>
                <a:cs typeface="Arial"/>
              </a:rPr>
              <a:t>  </a:t>
            </a:r>
            <a:r>
              <a:rPr sz="2800" dirty="0">
                <a:latin typeface="Arial"/>
                <a:cs typeface="Arial"/>
              </a:rPr>
              <a:t>point</a:t>
            </a:r>
            <a:r>
              <a:rPr sz="2800" spc="15" dirty="0">
                <a:latin typeface="Arial"/>
                <a:cs typeface="Arial"/>
              </a:rPr>
              <a:t> 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15" dirty="0">
                <a:latin typeface="Arial"/>
                <a:cs typeface="Arial"/>
              </a:rPr>
              <a:t> 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15" dirty="0">
                <a:latin typeface="Arial"/>
                <a:cs typeface="Arial"/>
              </a:rPr>
              <a:t>  </a:t>
            </a:r>
            <a:r>
              <a:rPr sz="2800" dirty="0">
                <a:latin typeface="Arial"/>
                <a:cs typeface="Arial"/>
              </a:rPr>
              <a:t>next</a:t>
            </a:r>
            <a:r>
              <a:rPr sz="2800" spc="20" dirty="0">
                <a:latin typeface="Arial"/>
                <a:cs typeface="Arial"/>
              </a:rPr>
              <a:t>  </a:t>
            </a:r>
            <a:r>
              <a:rPr sz="2800" dirty="0">
                <a:latin typeface="Arial"/>
                <a:cs typeface="Arial"/>
              </a:rPr>
              <a:t>object</a:t>
            </a:r>
            <a:r>
              <a:rPr sz="2800" spc="15" dirty="0">
                <a:latin typeface="Arial"/>
                <a:cs typeface="Arial"/>
              </a:rPr>
              <a:t> 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15" dirty="0">
                <a:latin typeface="Arial"/>
                <a:cs typeface="Arial"/>
              </a:rPr>
              <a:t> 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20" dirty="0">
                <a:latin typeface="Arial"/>
                <a:cs typeface="Arial"/>
              </a:rPr>
              <a:t>  </a:t>
            </a:r>
            <a:r>
              <a:rPr sz="2800" spc="-10" dirty="0">
                <a:latin typeface="Arial"/>
                <a:cs typeface="Arial"/>
              </a:rPr>
              <a:t>derived </a:t>
            </a:r>
            <a:r>
              <a:rPr sz="2800" dirty="0">
                <a:latin typeface="Arial"/>
                <a:cs typeface="Arial"/>
              </a:rPr>
              <a:t>class</a:t>
            </a:r>
            <a:r>
              <a:rPr sz="2800" dirty="0">
                <a:latin typeface="Arial MT"/>
                <a:cs typeface="Arial MT"/>
              </a:rPr>
              <a:t>.</a:t>
            </a:r>
            <a:r>
              <a:rPr sz="2800" spc="1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1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1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incremented</a:t>
            </a:r>
            <a:r>
              <a:rPr sz="2800" spc="19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19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decremented</a:t>
            </a:r>
            <a:r>
              <a:rPr sz="2800" spc="195" dirty="0">
                <a:latin typeface="Arial MT"/>
                <a:cs typeface="Arial MT"/>
              </a:rPr>
              <a:t>  </a:t>
            </a:r>
            <a:r>
              <a:rPr sz="2800" spc="-20" dirty="0">
                <a:latin typeface="Arial MT"/>
                <a:cs typeface="Arial MT"/>
              </a:rPr>
              <a:t>only </a:t>
            </a:r>
            <a:r>
              <a:rPr sz="2800" dirty="0">
                <a:latin typeface="Arial MT"/>
                <a:cs typeface="Arial MT"/>
              </a:rPr>
              <a:t>relative</a:t>
            </a:r>
            <a:r>
              <a:rPr sz="2800" spc="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1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it’s</a:t>
            </a:r>
            <a:r>
              <a:rPr sz="2800" spc="1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base</a:t>
            </a:r>
            <a:r>
              <a:rPr sz="2800" spc="1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type.</a:t>
            </a:r>
            <a:r>
              <a:rPr sz="2800" spc="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Therefore,</a:t>
            </a:r>
            <a:r>
              <a:rPr sz="2800" spc="1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</a:t>
            </a:r>
            <a:r>
              <a:rPr sz="2800" spc="1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should</a:t>
            </a:r>
            <a:r>
              <a:rPr sz="2800" spc="13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not </a:t>
            </a:r>
            <a:r>
              <a:rPr sz="2800" dirty="0">
                <a:latin typeface="Arial MT"/>
                <a:cs typeface="Arial MT"/>
              </a:rPr>
              <a:t>use</a:t>
            </a:r>
            <a:r>
              <a:rPr sz="2800" spc="5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this</a:t>
            </a:r>
            <a:r>
              <a:rPr sz="2800" spc="509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method</a:t>
            </a:r>
            <a:r>
              <a:rPr sz="2800" spc="509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509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move</a:t>
            </a:r>
            <a:r>
              <a:rPr sz="2800" spc="509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509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pointer</a:t>
            </a:r>
            <a:r>
              <a:rPr sz="2800" spc="509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509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509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next </a:t>
            </a:r>
            <a:r>
              <a:rPr sz="2800" spc="-10" dirty="0">
                <a:latin typeface="Arial MT"/>
                <a:cs typeface="Arial MT"/>
              </a:rPr>
              <a:t>object.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8352" y="255491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305">
              <a:lnSpc>
                <a:spcPct val="100000"/>
              </a:lnSpc>
              <a:spcBef>
                <a:spcPts val="100"/>
              </a:spcBef>
            </a:pPr>
            <a:r>
              <a:rPr dirty="0"/>
              <a:t>Virtual</a:t>
            </a:r>
            <a:r>
              <a:rPr spc="-155" dirty="0"/>
              <a:t> </a:t>
            </a:r>
            <a:r>
              <a:rPr spc="-10" dirty="0"/>
              <a:t>Destructors</a:t>
            </a:r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8325" y="4027259"/>
            <a:ext cx="442701" cy="4166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790059" y="1001776"/>
            <a:ext cx="8590915" cy="3439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5459" marR="5080" indent="-492759" algn="just">
              <a:spcBef>
                <a:spcPts val="100"/>
              </a:spcBef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virtual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destructor</a:t>
            </a:r>
            <a:r>
              <a:rPr sz="2800" b="1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ensures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correct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destructor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1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the</a:t>
            </a:r>
            <a:r>
              <a:rPr sz="2800" b="1" spc="1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derived</a:t>
            </a:r>
            <a:r>
              <a:rPr sz="2800" b="1" spc="1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class</a:t>
            </a:r>
            <a:r>
              <a:rPr sz="2800" b="1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when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object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deleted through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base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class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pointer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505459" marR="17780" indent="-492759" algn="just"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Calibri"/>
                <a:cs typeface="Calibri"/>
              </a:rPr>
              <a:t>Without</a:t>
            </a:r>
            <a:r>
              <a:rPr sz="2800" spc="229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29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virtual</a:t>
            </a:r>
            <a:r>
              <a:rPr sz="2800" spc="229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destructor,</a:t>
            </a:r>
            <a:r>
              <a:rPr sz="2800" spc="254" dirty="0"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only</a:t>
            </a:r>
            <a:r>
              <a:rPr sz="2800" b="1" spc="229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2800" b="1" spc="229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base</a:t>
            </a:r>
            <a:r>
              <a:rPr sz="2800" b="1" spc="229" dirty="0">
                <a:solidFill>
                  <a:srgbClr val="0070C0"/>
                </a:solidFill>
                <a:latin typeface="Calibri"/>
                <a:cs typeface="Calibri"/>
              </a:rPr>
              <a:t> 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class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destructor</a:t>
            </a:r>
            <a:r>
              <a:rPr sz="2800" b="1" spc="1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runs,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lead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resource</a:t>
            </a:r>
            <a:r>
              <a:rPr sz="2800" b="1" spc="1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leaks</a:t>
            </a:r>
            <a:r>
              <a:rPr sz="2800" b="1" spc="1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or </a:t>
            </a:r>
            <a:r>
              <a:rPr sz="2800" b="1" spc="-10" dirty="0">
                <a:latin typeface="Calibri"/>
                <a:cs typeface="Calibri"/>
              </a:rPr>
              <a:t>incomplete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destruction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derived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objects.</a:t>
            </a:r>
            <a:endParaRPr sz="2800">
              <a:latin typeface="Calibri"/>
              <a:cs typeface="Calibri"/>
            </a:endParaRPr>
          </a:p>
          <a:p>
            <a:pPr marL="570865">
              <a:spcBef>
                <a:spcPts val="3359"/>
              </a:spcBef>
            </a:pP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Rule</a:t>
            </a:r>
            <a:r>
              <a:rPr sz="2800" b="1" spc="-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70C0"/>
                </a:solidFill>
                <a:latin typeface="Calibri"/>
                <a:cs typeface="Calibri"/>
              </a:rPr>
              <a:t>of</a:t>
            </a:r>
            <a:r>
              <a:rPr sz="2800" b="1" spc="-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Calibri"/>
                <a:cs typeface="Calibri"/>
              </a:rPr>
              <a:t>Thumb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25624" y="4415535"/>
            <a:ext cx="77812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24180" algn="l"/>
                <a:tab pos="1292225" algn="l"/>
                <a:tab pos="2186305" algn="l"/>
                <a:tab pos="2896870" algn="l"/>
                <a:tab pos="4068445" algn="l"/>
                <a:tab pos="5749290" algn="l"/>
                <a:tab pos="6964045" algn="l"/>
              </a:tabLst>
            </a:pPr>
            <a:r>
              <a:rPr sz="2800" spc="-25" dirty="0">
                <a:latin typeface="Calibri"/>
                <a:cs typeface="Calibri"/>
              </a:rPr>
              <a:t>If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your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class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has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b="1" spc="-10" dirty="0">
                <a:latin typeface="Calibri"/>
                <a:cs typeface="Calibri"/>
              </a:rPr>
              <a:t>virtual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10" dirty="0">
                <a:latin typeface="Calibri"/>
                <a:cs typeface="Calibri"/>
              </a:rPr>
              <a:t>functions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b="1" spc="-10" dirty="0">
                <a:latin typeface="Calibri"/>
                <a:cs typeface="Calibri"/>
              </a:rPr>
              <a:t>always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20" dirty="0">
                <a:latin typeface="Calibri"/>
                <a:cs typeface="Calibri"/>
              </a:rPr>
              <a:t>make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94545" y="4415535"/>
            <a:ext cx="51815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spc="-25" dirty="0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25624" y="4842255"/>
            <a:ext cx="72694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spc="-10" dirty="0">
                <a:latin typeface="Calibri"/>
                <a:cs typeface="Calibri"/>
              </a:rPr>
              <a:t>destructor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virtual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especially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 </a:t>
            </a:r>
            <a:r>
              <a:rPr sz="2800" b="1" spc="-10" dirty="0">
                <a:latin typeface="Calibri"/>
                <a:cs typeface="Calibri"/>
              </a:rPr>
              <a:t>inherited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2605" y="126124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305">
              <a:lnSpc>
                <a:spcPct val="100000"/>
              </a:lnSpc>
              <a:spcBef>
                <a:spcPts val="100"/>
              </a:spcBef>
            </a:pPr>
            <a:r>
              <a:rPr dirty="0"/>
              <a:t>Without</a:t>
            </a:r>
            <a:r>
              <a:rPr spc="-170" dirty="0"/>
              <a:t> </a:t>
            </a:r>
            <a:r>
              <a:rPr dirty="0"/>
              <a:t>Virtual</a:t>
            </a:r>
            <a:r>
              <a:rPr spc="-170" dirty="0"/>
              <a:t> </a:t>
            </a:r>
            <a:r>
              <a:rPr spc="-10" dirty="0"/>
              <a:t>Destructors</a:t>
            </a:r>
            <a:endParaRPr dirty="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547" y="1001295"/>
            <a:ext cx="5113462" cy="52688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0181" y="2827304"/>
            <a:ext cx="2383751" cy="90494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176696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305">
              <a:lnSpc>
                <a:spcPct val="100000"/>
              </a:lnSpc>
              <a:spcBef>
                <a:spcPts val="100"/>
              </a:spcBef>
            </a:pPr>
            <a:r>
              <a:rPr dirty="0"/>
              <a:t>With</a:t>
            </a:r>
            <a:r>
              <a:rPr spc="-135" dirty="0"/>
              <a:t> </a:t>
            </a:r>
            <a:r>
              <a:rPr dirty="0"/>
              <a:t>Virtual</a:t>
            </a:r>
            <a:r>
              <a:rPr spc="-130" dirty="0"/>
              <a:t> </a:t>
            </a:r>
            <a:r>
              <a:rPr spc="-10" dirty="0"/>
              <a:t>Destructors</a:t>
            </a:r>
            <a:endParaRPr dirty="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547" y="994232"/>
            <a:ext cx="5572770" cy="534210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41602" y="2866520"/>
            <a:ext cx="1995972" cy="101681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16656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698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Practical</a:t>
            </a:r>
            <a:r>
              <a:rPr spc="-135" dirty="0"/>
              <a:t> </a:t>
            </a:r>
            <a:r>
              <a:rPr dirty="0"/>
              <a:t>:</a:t>
            </a:r>
            <a:r>
              <a:rPr spc="-130" dirty="0"/>
              <a:t> </a:t>
            </a:r>
            <a:r>
              <a:rPr dirty="0"/>
              <a:t>Virtual</a:t>
            </a:r>
            <a:r>
              <a:rPr spc="-130" dirty="0"/>
              <a:t> </a:t>
            </a:r>
            <a:r>
              <a:rPr spc="-10" dirty="0"/>
              <a:t>function</a:t>
            </a:r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825625" y="975293"/>
            <a:ext cx="8614410" cy="551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Create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class</a:t>
            </a:r>
            <a:r>
              <a:rPr sz="2400" b="1" spc="1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Media</a:t>
            </a:r>
            <a:r>
              <a:rPr sz="2400" b="1" spc="1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stores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70C0"/>
                </a:solidFill>
                <a:latin typeface="Arial"/>
                <a:cs typeface="Arial"/>
              </a:rPr>
              <a:t>title</a:t>
            </a:r>
            <a:r>
              <a:rPr sz="2400" b="1" spc="15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(a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string)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165" dirty="0">
                <a:latin typeface="Arial MT"/>
                <a:cs typeface="Arial MT"/>
              </a:rPr>
              <a:t> </a:t>
            </a:r>
            <a:r>
              <a:rPr sz="2400" b="1" spc="-10" dirty="0">
                <a:solidFill>
                  <a:srgbClr val="0070C0"/>
                </a:solidFill>
                <a:latin typeface="Arial"/>
                <a:cs typeface="Arial"/>
              </a:rPr>
              <a:t>price </a:t>
            </a:r>
            <a:r>
              <a:rPr sz="2400" dirty="0">
                <a:latin typeface="Arial MT"/>
                <a:cs typeface="Arial MT"/>
              </a:rPr>
              <a:t>(float).</a:t>
            </a:r>
            <a:r>
              <a:rPr sz="2400" spc="4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5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Media</a:t>
            </a:r>
            <a:r>
              <a:rPr sz="2400" spc="5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5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5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argument</a:t>
            </a:r>
            <a:r>
              <a:rPr sz="2400" spc="75" dirty="0">
                <a:latin typeface="Arial MT"/>
                <a:cs typeface="Arial MT"/>
              </a:rPr>
              <a:t>  </a:t>
            </a:r>
            <a:r>
              <a:rPr sz="2400" b="1" dirty="0">
                <a:solidFill>
                  <a:srgbClr val="0070C0"/>
                </a:solidFill>
                <a:latin typeface="Arial"/>
                <a:cs typeface="Arial"/>
              </a:rPr>
              <a:t>constructor</a:t>
            </a:r>
            <a:r>
              <a:rPr sz="2400" b="1" spc="50" dirty="0">
                <a:solidFill>
                  <a:srgbClr val="0070C0"/>
                </a:solidFill>
                <a:latin typeface="Arial"/>
                <a:cs typeface="Arial"/>
              </a:rPr>
              <a:t>  </a:t>
            </a:r>
            <a:r>
              <a:rPr sz="2400" spc="-10" dirty="0">
                <a:latin typeface="Arial MT"/>
                <a:cs typeface="Arial MT"/>
              </a:rPr>
              <a:t>which </a:t>
            </a:r>
            <a:r>
              <a:rPr sz="2400" dirty="0">
                <a:latin typeface="Arial MT"/>
                <a:cs typeface="Arial MT"/>
              </a:rPr>
              <a:t>initializes</a:t>
            </a:r>
            <a:r>
              <a:rPr sz="2400" spc="1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members</a:t>
            </a:r>
            <a:r>
              <a:rPr sz="2400" spc="1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1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Media.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declare</a:t>
            </a:r>
            <a:r>
              <a:rPr sz="2400" spc="1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virtual </a:t>
            </a:r>
            <a:r>
              <a:rPr sz="2400" dirty="0">
                <a:latin typeface="Arial MT"/>
                <a:cs typeface="Arial MT"/>
              </a:rPr>
              <a:t>function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70C0"/>
                </a:solidFill>
                <a:latin typeface="Arial"/>
                <a:cs typeface="Arial"/>
              </a:rPr>
              <a:t>display</a:t>
            </a:r>
            <a:r>
              <a:rPr sz="2400" b="1" spc="-5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()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Media.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Media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derive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classes:</a:t>
            </a:r>
            <a:r>
              <a:rPr sz="2400" spc="285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Class</a:t>
            </a:r>
            <a:r>
              <a:rPr sz="2400" b="1" spc="2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book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contains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member</a:t>
            </a:r>
            <a:r>
              <a:rPr sz="2400" spc="285" dirty="0">
                <a:latin typeface="Arial MT"/>
                <a:cs typeface="Arial MT"/>
              </a:rPr>
              <a:t> </a:t>
            </a:r>
            <a:r>
              <a:rPr sz="2400" b="1" spc="-20" dirty="0">
                <a:solidFill>
                  <a:srgbClr val="0070C0"/>
                </a:solidFill>
                <a:latin typeface="Arial"/>
                <a:cs typeface="Arial"/>
              </a:rPr>
              <a:t>page </a:t>
            </a:r>
            <a:r>
              <a:rPr sz="2400" b="1" dirty="0">
                <a:solidFill>
                  <a:srgbClr val="0070C0"/>
                </a:solidFill>
                <a:latin typeface="Arial"/>
                <a:cs typeface="Arial"/>
              </a:rPr>
              <a:t>count</a:t>
            </a:r>
            <a:r>
              <a:rPr sz="2400" b="1" spc="10" dirty="0">
                <a:solidFill>
                  <a:srgbClr val="0070C0"/>
                </a:solidFill>
                <a:latin typeface="Arial"/>
                <a:cs typeface="Arial"/>
              </a:rPr>
              <a:t>  </a:t>
            </a:r>
            <a:r>
              <a:rPr sz="2400" dirty="0">
                <a:latin typeface="Arial MT"/>
                <a:cs typeface="Arial MT"/>
              </a:rPr>
              <a:t>(int):</a:t>
            </a:r>
            <a:r>
              <a:rPr sz="2400" spc="1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25" dirty="0">
                <a:latin typeface="Arial MT"/>
                <a:cs typeface="Arial MT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Class</a:t>
            </a:r>
            <a:r>
              <a:rPr sz="2400" b="1" spc="1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tape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1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1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contains</a:t>
            </a:r>
            <a:r>
              <a:rPr sz="2400" spc="1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10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member </a:t>
            </a:r>
            <a:r>
              <a:rPr sz="2400" b="1" dirty="0">
                <a:solidFill>
                  <a:srgbClr val="0070C0"/>
                </a:solidFill>
                <a:latin typeface="Arial"/>
                <a:cs typeface="Arial"/>
              </a:rPr>
              <a:t>playing</a:t>
            </a:r>
            <a:r>
              <a:rPr sz="2400" b="1" spc="47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70C0"/>
                </a:solidFill>
                <a:latin typeface="Arial"/>
                <a:cs typeface="Arial"/>
              </a:rPr>
              <a:t>time</a:t>
            </a:r>
            <a:r>
              <a:rPr sz="2400" b="1" spc="50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4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minutes</a:t>
            </a:r>
            <a:r>
              <a:rPr sz="2400" spc="4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(float).</a:t>
            </a:r>
            <a:r>
              <a:rPr sz="2400" spc="4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Both</a:t>
            </a:r>
            <a:r>
              <a:rPr sz="2400" spc="4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4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book</a:t>
            </a:r>
            <a:r>
              <a:rPr sz="2400" spc="4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4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Class </a:t>
            </a:r>
            <a:r>
              <a:rPr sz="2400" dirty="0">
                <a:latin typeface="Arial MT"/>
                <a:cs typeface="Arial MT"/>
              </a:rPr>
              <a:t>tape</a:t>
            </a:r>
            <a:r>
              <a:rPr sz="2400" spc="3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3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3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409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70C0"/>
                </a:solidFill>
                <a:latin typeface="Arial"/>
                <a:cs typeface="Arial"/>
              </a:rPr>
              <a:t>constructor</a:t>
            </a:r>
            <a:r>
              <a:rPr sz="2400" b="1" spc="39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3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initializes</a:t>
            </a:r>
            <a:r>
              <a:rPr sz="2400" spc="3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</a:t>
            </a:r>
            <a:r>
              <a:rPr sz="2400" spc="3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class </a:t>
            </a:r>
            <a:r>
              <a:rPr sz="2400" dirty="0">
                <a:latin typeface="Arial MT"/>
                <a:cs typeface="Arial MT"/>
              </a:rPr>
              <a:t>constructor</a:t>
            </a:r>
            <a:r>
              <a:rPr sz="2400" spc="2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2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well</a:t>
            </a:r>
            <a:r>
              <a:rPr sz="2400" spc="2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2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2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own</a:t>
            </a:r>
            <a:r>
              <a:rPr sz="2400" spc="2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2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members</a:t>
            </a:r>
            <a:r>
              <a:rPr sz="2400" spc="2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300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70C0"/>
                </a:solidFill>
                <a:latin typeface="Arial"/>
                <a:cs typeface="Arial"/>
              </a:rPr>
              <a:t>display</a:t>
            </a:r>
            <a:r>
              <a:rPr sz="2400" b="1" spc="28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spc="27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) </a:t>
            </a:r>
            <a:r>
              <a:rPr sz="2400" dirty="0">
                <a:latin typeface="Arial MT"/>
                <a:cs typeface="Arial MT"/>
              </a:rPr>
              <a:t>function</a:t>
            </a:r>
            <a:r>
              <a:rPr sz="2400" spc="47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4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displays</a:t>
            </a:r>
            <a:r>
              <a:rPr sz="2400" spc="4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book</a:t>
            </a:r>
            <a:r>
              <a:rPr sz="2400" spc="4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details</a:t>
            </a:r>
            <a:r>
              <a:rPr sz="2400" spc="4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47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tape</a:t>
            </a:r>
            <a:r>
              <a:rPr sz="2400" spc="480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details </a:t>
            </a:r>
            <a:r>
              <a:rPr sz="2400" dirty="0">
                <a:latin typeface="Arial MT"/>
                <a:cs typeface="Arial MT"/>
              </a:rPr>
              <a:t>respectively.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Write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test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book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tape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classes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by </a:t>
            </a:r>
            <a:r>
              <a:rPr sz="2400" dirty="0">
                <a:latin typeface="Arial MT"/>
                <a:cs typeface="Arial MT"/>
              </a:rPr>
              <a:t>creating</a:t>
            </a:r>
            <a:r>
              <a:rPr sz="2400" spc="5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instances</a:t>
            </a:r>
            <a:r>
              <a:rPr sz="2400" spc="5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5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them,</a:t>
            </a:r>
            <a:r>
              <a:rPr sz="2400" spc="5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asking</a:t>
            </a:r>
            <a:r>
              <a:rPr sz="2400" spc="5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</a:t>
            </a:r>
            <a:r>
              <a:rPr sz="2400" spc="5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5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fill</a:t>
            </a:r>
            <a:r>
              <a:rPr sz="2400" spc="5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5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displaying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them.</a:t>
            </a:r>
            <a:endParaRPr sz="2400" dirty="0">
              <a:latin typeface="Arial MT"/>
              <a:cs typeface="Arial MT"/>
            </a:endParaRPr>
          </a:p>
          <a:p>
            <a:pPr>
              <a:spcBef>
                <a:spcPts val="120"/>
              </a:spcBef>
            </a:pPr>
            <a:endParaRPr sz="2400" dirty="0">
              <a:latin typeface="Arial MT"/>
              <a:cs typeface="Arial MT"/>
            </a:endParaRPr>
          </a:p>
          <a:p>
            <a:pPr marL="12700" algn="just"/>
            <a:r>
              <a:rPr sz="2400" dirty="0">
                <a:latin typeface="Arial MT"/>
                <a:cs typeface="Arial MT"/>
              </a:rPr>
              <a:t>Use</a:t>
            </a:r>
            <a:r>
              <a:rPr sz="2400" spc="5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concept</a:t>
            </a:r>
            <a:r>
              <a:rPr sz="2400" spc="5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70" dirty="0">
                <a:latin typeface="Arial MT"/>
                <a:cs typeface="Arial MT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Virtual</a:t>
            </a:r>
            <a:r>
              <a:rPr sz="2400" b="1" spc="5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function</a:t>
            </a:r>
            <a:r>
              <a:rPr sz="2400" b="1" spc="5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400" b="1" spc="5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Constructor</a:t>
            </a:r>
            <a:r>
              <a:rPr sz="2400" b="1" spc="5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400" b="1" spc="-25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4962" y="11880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698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Practical</a:t>
            </a:r>
            <a:r>
              <a:rPr spc="-135" dirty="0"/>
              <a:t> </a:t>
            </a:r>
            <a:r>
              <a:rPr dirty="0"/>
              <a:t>:</a:t>
            </a:r>
            <a:r>
              <a:rPr spc="-130" dirty="0"/>
              <a:t> </a:t>
            </a:r>
            <a:r>
              <a:rPr dirty="0"/>
              <a:t>Virtual</a:t>
            </a:r>
            <a:r>
              <a:rPr spc="-130" dirty="0"/>
              <a:t> </a:t>
            </a:r>
            <a:r>
              <a:rPr spc="-10" dirty="0"/>
              <a:t>function</a:t>
            </a:r>
            <a:endParaRPr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2137" y="808732"/>
            <a:ext cx="6829424" cy="538688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547" y="944069"/>
            <a:ext cx="6969252" cy="545607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04938" y="112889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698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Practical</a:t>
            </a:r>
            <a:r>
              <a:rPr spc="-135" dirty="0"/>
              <a:t> </a:t>
            </a:r>
            <a:r>
              <a:rPr dirty="0"/>
              <a:t>:</a:t>
            </a:r>
            <a:r>
              <a:rPr spc="-130" dirty="0"/>
              <a:t> </a:t>
            </a:r>
            <a:r>
              <a:rPr dirty="0"/>
              <a:t>Virtual</a:t>
            </a:r>
            <a:r>
              <a:rPr spc="-130" dirty="0"/>
              <a:t> </a:t>
            </a:r>
            <a:r>
              <a:rPr spc="-10" dirty="0"/>
              <a:t>function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0650" y="11880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698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Practical</a:t>
            </a:r>
            <a:r>
              <a:rPr spc="-135" dirty="0"/>
              <a:t> </a:t>
            </a:r>
            <a:r>
              <a:rPr dirty="0"/>
              <a:t>:</a:t>
            </a:r>
            <a:r>
              <a:rPr spc="-130" dirty="0"/>
              <a:t> </a:t>
            </a:r>
            <a:r>
              <a:rPr dirty="0"/>
              <a:t>Virtual</a:t>
            </a:r>
            <a:r>
              <a:rPr spc="-130" dirty="0"/>
              <a:t> </a:t>
            </a:r>
            <a:r>
              <a:rPr spc="-10" dirty="0"/>
              <a:t>function</a:t>
            </a:r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1752600" y="1000126"/>
            <a:ext cx="8444356" cy="5463049"/>
            <a:chOff x="228600" y="1000125"/>
            <a:chExt cx="8444356" cy="546304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" y="1000125"/>
              <a:ext cx="6095999" cy="54630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97625" y="1371600"/>
              <a:ext cx="2275331" cy="41008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2" y="162472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69875">
              <a:lnSpc>
                <a:spcPct val="100000"/>
              </a:lnSpc>
              <a:spcBef>
                <a:spcPts val="100"/>
              </a:spcBef>
            </a:pPr>
            <a:r>
              <a:rPr dirty="0"/>
              <a:t>Size</a:t>
            </a:r>
            <a:r>
              <a:rPr spc="-110" dirty="0"/>
              <a:t> </a:t>
            </a:r>
            <a:r>
              <a:rPr dirty="0"/>
              <a:t>of</a:t>
            </a:r>
            <a:r>
              <a:rPr spc="-110" dirty="0"/>
              <a:t> </a:t>
            </a:r>
            <a:r>
              <a:rPr dirty="0"/>
              <a:t>Virtual</a:t>
            </a:r>
            <a:r>
              <a:rPr spc="-110" dirty="0"/>
              <a:t> </a:t>
            </a:r>
            <a:r>
              <a:rPr spc="-10" dirty="0"/>
              <a:t>function</a:t>
            </a:r>
            <a:endParaRPr dirty="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6173" y="1013912"/>
            <a:ext cx="2806827" cy="491394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11926" y="1013912"/>
            <a:ext cx="2819399" cy="524827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8751" y="18018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69875">
              <a:lnSpc>
                <a:spcPct val="100000"/>
              </a:lnSpc>
              <a:spcBef>
                <a:spcPts val="100"/>
              </a:spcBef>
            </a:pPr>
            <a:r>
              <a:rPr dirty="0"/>
              <a:t>Size</a:t>
            </a:r>
            <a:r>
              <a:rPr spc="-110" dirty="0"/>
              <a:t> </a:t>
            </a:r>
            <a:r>
              <a:rPr dirty="0"/>
              <a:t>of</a:t>
            </a:r>
            <a:r>
              <a:rPr spc="-110" dirty="0"/>
              <a:t> </a:t>
            </a:r>
            <a:r>
              <a:rPr dirty="0"/>
              <a:t>Virtual</a:t>
            </a:r>
            <a:r>
              <a:rPr spc="-110" dirty="0"/>
              <a:t> </a:t>
            </a:r>
            <a:r>
              <a:rPr spc="-10" dirty="0"/>
              <a:t>function</a:t>
            </a:r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793241" y="1034695"/>
            <a:ext cx="8618855" cy="5256530"/>
            <a:chOff x="269240" y="1034695"/>
            <a:chExt cx="8618855" cy="52565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240" y="1034695"/>
              <a:ext cx="8618363" cy="32325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2600" y="4295344"/>
              <a:ext cx="5619945" cy="19954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9396" y="207472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Abstract</a:t>
            </a:r>
            <a:r>
              <a:rPr spc="-120" dirty="0"/>
              <a:t> </a:t>
            </a:r>
            <a:r>
              <a:rPr dirty="0"/>
              <a:t>class</a:t>
            </a:r>
            <a:r>
              <a:rPr spc="-114" dirty="0"/>
              <a:t> </a:t>
            </a:r>
            <a:r>
              <a:rPr dirty="0"/>
              <a:t>&amp;</a:t>
            </a:r>
            <a:r>
              <a:rPr spc="-120" dirty="0"/>
              <a:t> </a:t>
            </a:r>
            <a:r>
              <a:rPr dirty="0"/>
              <a:t>Pure</a:t>
            </a:r>
            <a:r>
              <a:rPr spc="-114" dirty="0"/>
              <a:t> </a:t>
            </a:r>
            <a:r>
              <a:rPr dirty="0"/>
              <a:t>Virtual</a:t>
            </a:r>
            <a:r>
              <a:rPr spc="-120" dirty="0"/>
              <a:t> </a:t>
            </a:r>
            <a:r>
              <a:rPr spc="-10" dirty="0"/>
              <a:t>Functions</a:t>
            </a: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3341155" y="4456519"/>
            <a:ext cx="473709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95"/>
              </a:lnSpc>
            </a:pPr>
            <a:r>
              <a:rPr sz="2800" spc="-25" dirty="0">
                <a:latin typeface="Arial MT"/>
                <a:cs typeface="Arial MT"/>
              </a:rPr>
              <a:t>ns.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0088" y="996375"/>
            <a:ext cx="11044237" cy="39036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5459" marR="6350" indent="-492759" algn="just">
              <a:spcBef>
                <a:spcPts val="100"/>
              </a:spcBef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It</a:t>
            </a:r>
            <a:r>
              <a:rPr sz="2800" spc="6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6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normal</a:t>
            </a:r>
            <a:r>
              <a:rPr sz="2800" spc="6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practice</a:t>
            </a:r>
            <a:r>
              <a:rPr sz="2800" spc="6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6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declare</a:t>
            </a:r>
            <a:r>
              <a:rPr sz="2800" spc="6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6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</a:t>
            </a:r>
            <a:r>
              <a:rPr sz="2800" spc="61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virtual </a:t>
            </a:r>
            <a:r>
              <a:rPr sz="2800" dirty="0">
                <a:latin typeface="Arial MT"/>
                <a:cs typeface="Arial MT"/>
              </a:rPr>
              <a:t>inside</a:t>
            </a:r>
            <a:r>
              <a:rPr sz="2800" spc="1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1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base</a:t>
            </a:r>
            <a:r>
              <a:rPr sz="2800" spc="1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1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1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redefine</a:t>
            </a:r>
            <a:r>
              <a:rPr sz="2800" spc="1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1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1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1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derived classes.</a:t>
            </a:r>
            <a:endParaRPr sz="2800" dirty="0">
              <a:latin typeface="Arial MT"/>
              <a:cs typeface="Arial MT"/>
            </a:endParaRPr>
          </a:p>
          <a:p>
            <a:pPr marL="505459" marR="6985" indent="-492759" algn="just"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Such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function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inside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base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not</a:t>
            </a:r>
            <a:r>
              <a:rPr sz="2800" spc="-2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used</a:t>
            </a:r>
            <a:r>
              <a:rPr sz="2800" spc="-15" dirty="0">
                <a:latin typeface="Arial MT"/>
                <a:cs typeface="Arial MT"/>
              </a:rPr>
              <a:t>  </a:t>
            </a:r>
            <a:r>
              <a:rPr sz="2800" spc="-25" dirty="0">
                <a:latin typeface="Arial MT"/>
                <a:cs typeface="Arial MT"/>
              </a:rPr>
              <a:t>for </a:t>
            </a:r>
            <a:r>
              <a:rPr sz="2800" dirty="0">
                <a:latin typeface="Arial MT"/>
                <a:cs typeface="Arial MT"/>
              </a:rPr>
              <a:t>performing</a:t>
            </a:r>
            <a:r>
              <a:rPr sz="2800" spc="68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any</a:t>
            </a:r>
            <a:r>
              <a:rPr sz="2800" spc="68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task,</a:t>
            </a:r>
            <a:r>
              <a:rPr sz="2800" spc="68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68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only</a:t>
            </a:r>
            <a:r>
              <a:rPr sz="2800" spc="68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serves</a:t>
            </a:r>
            <a:r>
              <a:rPr sz="2800" spc="68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685" dirty="0">
                <a:latin typeface="Arial MT"/>
                <a:cs typeface="Arial MT"/>
              </a:rPr>
              <a:t>  </a:t>
            </a:r>
            <a:r>
              <a:rPr sz="2800" spc="-50" dirty="0">
                <a:latin typeface="Arial MT"/>
                <a:cs typeface="Arial MT"/>
              </a:rPr>
              <a:t>a </a:t>
            </a:r>
            <a:r>
              <a:rPr sz="2800" spc="-10" dirty="0">
                <a:latin typeface="Arial MT"/>
                <a:cs typeface="Arial MT"/>
              </a:rPr>
              <a:t>placeholder.</a:t>
            </a:r>
            <a:endParaRPr sz="2800" dirty="0">
              <a:latin typeface="Arial MT"/>
              <a:cs typeface="Arial MT"/>
            </a:endParaRPr>
          </a:p>
          <a:p>
            <a:pPr marL="505459" marR="5080" indent="-492759" algn="just"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ex,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display() function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 class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Media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 </a:t>
            </a:r>
            <a:r>
              <a:rPr sz="2800" spc="-10" dirty="0">
                <a:latin typeface="Arial MT"/>
                <a:cs typeface="Arial MT"/>
              </a:rPr>
              <a:t>previous </a:t>
            </a:r>
            <a:r>
              <a:rPr sz="2800" dirty="0">
                <a:latin typeface="Arial MT"/>
                <a:cs typeface="Arial MT"/>
              </a:rPr>
              <a:t>example.</a:t>
            </a:r>
            <a:r>
              <a:rPr sz="2800" spc="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Such</a:t>
            </a:r>
            <a:r>
              <a:rPr sz="2800" spc="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functions</a:t>
            </a:r>
            <a:r>
              <a:rPr sz="2800" spc="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4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called</a:t>
            </a:r>
            <a:r>
              <a:rPr sz="2800" spc="35" dirty="0">
                <a:latin typeface="Arial MT"/>
                <a:cs typeface="Arial MT"/>
              </a:rPr>
              <a:t>  </a:t>
            </a:r>
            <a:r>
              <a:rPr sz="2800" spc="-20" dirty="0">
                <a:latin typeface="Arial MT"/>
                <a:cs typeface="Arial MT"/>
              </a:rPr>
              <a:t>“do-</a:t>
            </a:r>
            <a:r>
              <a:rPr sz="2800" spc="-10" dirty="0">
                <a:latin typeface="Arial MT"/>
                <a:cs typeface="Arial MT"/>
              </a:rPr>
              <a:t>nothing” functio</a:t>
            </a:r>
            <a:endParaRPr sz="2800" dirty="0">
              <a:latin typeface="Arial MT"/>
              <a:cs typeface="Arial MT"/>
            </a:endParaRPr>
          </a:p>
          <a:p>
            <a:pPr marL="505459" indent="-492759" algn="just"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A</a:t>
            </a:r>
            <a:r>
              <a:rPr sz="2800" spc="-19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“</a:t>
            </a:r>
            <a:r>
              <a:rPr sz="2800" b="1" spc="-25" dirty="0">
                <a:solidFill>
                  <a:srgbClr val="0070C0"/>
                </a:solidFill>
                <a:latin typeface="Arial"/>
                <a:cs typeface="Arial"/>
              </a:rPr>
              <a:t>do-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nothing</a:t>
            </a:r>
            <a:r>
              <a:rPr sz="2800" dirty="0">
                <a:latin typeface="Arial MT"/>
                <a:cs typeface="Arial MT"/>
              </a:rPr>
              <a:t>”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may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defined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follows:</a:t>
            </a:r>
            <a:endParaRPr sz="2800" dirty="0">
              <a:latin typeface="Arial MT"/>
              <a:cs typeface="Arial MT"/>
            </a:endParaRPr>
          </a:p>
          <a:p>
            <a:pPr>
              <a:spcBef>
                <a:spcPts val="140"/>
              </a:spcBef>
              <a:buFont typeface="Lucida Sans Unicode"/>
              <a:buChar char="□"/>
            </a:pPr>
            <a:endParaRPr sz="2800" dirty="0">
              <a:latin typeface="Arial MT"/>
              <a:cs typeface="Arial MT"/>
            </a:endParaRPr>
          </a:p>
          <a:p>
            <a:pPr marL="505459" indent="-492759" algn="just"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Such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called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pure</a:t>
            </a:r>
            <a:r>
              <a:rPr sz="2800" b="1" spc="-9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virtual</a:t>
            </a:r>
            <a:r>
              <a:rPr sz="2800" b="1" spc="-9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Arial"/>
                <a:cs typeface="Arial"/>
              </a:rPr>
              <a:t>functions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1" y="4482849"/>
            <a:ext cx="5186363" cy="47015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9396" y="299534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Abstract</a:t>
            </a:r>
            <a:r>
              <a:rPr spc="-120" dirty="0"/>
              <a:t> </a:t>
            </a:r>
            <a:r>
              <a:rPr dirty="0"/>
              <a:t>class</a:t>
            </a:r>
            <a:r>
              <a:rPr spc="-114" dirty="0"/>
              <a:t> </a:t>
            </a:r>
            <a:r>
              <a:rPr dirty="0"/>
              <a:t>&amp;</a:t>
            </a:r>
            <a:r>
              <a:rPr spc="-120" dirty="0"/>
              <a:t> </a:t>
            </a:r>
            <a:r>
              <a:rPr dirty="0"/>
              <a:t>Pure</a:t>
            </a:r>
            <a:r>
              <a:rPr spc="-114" dirty="0"/>
              <a:t> </a:t>
            </a:r>
            <a:r>
              <a:rPr dirty="0"/>
              <a:t>Virtual</a:t>
            </a:r>
            <a:r>
              <a:rPr spc="-120" dirty="0"/>
              <a:t> </a:t>
            </a:r>
            <a:r>
              <a:rPr spc="-10" dirty="0"/>
              <a:t>Functions</a:t>
            </a: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800100" y="996376"/>
            <a:ext cx="10358438" cy="39164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5459" marR="36830" indent="-492759" algn="just">
              <a:spcBef>
                <a:spcPts val="100"/>
              </a:spcBef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A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pure</a:t>
            </a:r>
            <a:r>
              <a:rPr sz="2800" b="1" spc="11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virtual</a:t>
            </a:r>
            <a:r>
              <a:rPr sz="2800" b="1" spc="10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function</a:t>
            </a:r>
            <a:r>
              <a:rPr sz="2800" b="1" spc="15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</a:t>
            </a:r>
            <a:r>
              <a:rPr sz="2800" spc="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declared</a:t>
            </a:r>
            <a:r>
              <a:rPr sz="2800" spc="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11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a </a:t>
            </a:r>
            <a:r>
              <a:rPr sz="2800" dirty="0">
                <a:latin typeface="Arial MT"/>
                <a:cs typeface="Arial MT"/>
              </a:rPr>
              <a:t>base</a:t>
            </a:r>
            <a:r>
              <a:rPr sz="2800" spc="4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4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4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has</a:t>
            </a:r>
            <a:r>
              <a:rPr sz="2800" spc="509" dirty="0">
                <a:latin typeface="Arial MT"/>
                <a:cs typeface="Arial MT"/>
              </a:rPr>
              <a:t> </a:t>
            </a:r>
            <a:r>
              <a:rPr sz="2800" b="1" dirty="0">
                <a:latin typeface="Arial"/>
                <a:cs typeface="Arial"/>
              </a:rPr>
              <a:t>no</a:t>
            </a:r>
            <a:r>
              <a:rPr sz="2800" b="1" spc="49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definition</a:t>
            </a:r>
            <a:r>
              <a:rPr sz="2800" b="1" spc="52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relative</a:t>
            </a:r>
            <a:r>
              <a:rPr sz="2800" spc="4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49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base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class.</a:t>
            </a:r>
            <a:endParaRPr sz="2800" dirty="0">
              <a:latin typeface="Arial MT"/>
              <a:cs typeface="Arial MT"/>
            </a:endParaRPr>
          </a:p>
          <a:p>
            <a:pPr>
              <a:spcBef>
                <a:spcPts val="140"/>
              </a:spcBef>
              <a:buFont typeface="Lucida Sans Unicode"/>
              <a:buChar char="□"/>
            </a:pPr>
            <a:endParaRPr sz="2800" dirty="0">
              <a:latin typeface="Arial MT"/>
              <a:cs typeface="Arial MT"/>
            </a:endParaRPr>
          </a:p>
          <a:p>
            <a:pPr marL="505459" marR="5080" indent="-492759" algn="just"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In</a:t>
            </a:r>
            <a:r>
              <a:rPr sz="2800" spc="2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such</a:t>
            </a:r>
            <a:r>
              <a:rPr sz="2800" spc="2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case</a:t>
            </a:r>
            <a:r>
              <a:rPr sz="2800" spc="2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compiler</a:t>
            </a:r>
            <a:r>
              <a:rPr sz="2800" spc="2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requires</a:t>
            </a:r>
            <a:r>
              <a:rPr sz="2800" spc="2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2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derived</a:t>
            </a:r>
            <a:r>
              <a:rPr sz="2800" spc="2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class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either</a:t>
            </a:r>
            <a:r>
              <a:rPr sz="2800" spc="6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define</a:t>
            </a:r>
            <a:r>
              <a:rPr sz="2800" spc="6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</a:t>
            </a:r>
            <a:r>
              <a:rPr sz="2800" spc="6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6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redeclare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</a:t>
            </a:r>
            <a:r>
              <a:rPr sz="2800" spc="6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62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a </a:t>
            </a:r>
            <a:r>
              <a:rPr sz="2800" dirty="0">
                <a:latin typeface="Arial MT"/>
                <a:cs typeface="Arial MT"/>
              </a:rPr>
              <a:t>pure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virtual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function.</a:t>
            </a:r>
            <a:endParaRPr sz="2800" dirty="0">
              <a:latin typeface="Arial MT"/>
              <a:cs typeface="Arial MT"/>
            </a:endParaRPr>
          </a:p>
          <a:p>
            <a:pPr>
              <a:spcBef>
                <a:spcPts val="140"/>
              </a:spcBef>
              <a:buFont typeface="Lucida Sans Unicode"/>
              <a:buChar char="□"/>
            </a:pPr>
            <a:endParaRPr sz="2800" dirty="0">
              <a:latin typeface="Arial MT"/>
              <a:cs typeface="Arial MT"/>
            </a:endParaRPr>
          </a:p>
          <a:p>
            <a:pPr marL="505459" marR="6985" indent="-492759" algn="just">
              <a:buFont typeface="Lucida Sans Unicode"/>
              <a:buChar char="□"/>
              <a:tabLst>
                <a:tab pos="505459" algn="l"/>
              </a:tabLst>
            </a:pP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5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containing</a:t>
            </a:r>
            <a:r>
              <a:rPr sz="2800" spc="5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pure</a:t>
            </a:r>
            <a:r>
              <a:rPr sz="2800" spc="5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virtual</a:t>
            </a:r>
            <a:r>
              <a:rPr sz="2800" spc="5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functions</a:t>
            </a:r>
            <a:r>
              <a:rPr sz="2800" spc="5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cannot</a:t>
            </a:r>
            <a:r>
              <a:rPr sz="2800" spc="51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be </a:t>
            </a:r>
            <a:r>
              <a:rPr sz="2800" dirty="0">
                <a:latin typeface="Arial MT"/>
                <a:cs typeface="Arial MT"/>
              </a:rPr>
              <a:t>used</a:t>
            </a:r>
            <a:r>
              <a:rPr sz="2800" spc="509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5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declare</a:t>
            </a:r>
            <a:r>
              <a:rPr sz="2800" spc="5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any</a:t>
            </a:r>
            <a:r>
              <a:rPr sz="2800" spc="509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objects</a:t>
            </a:r>
            <a:r>
              <a:rPr sz="2800" spc="5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5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its</a:t>
            </a:r>
            <a:r>
              <a:rPr sz="2800" spc="5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own</a:t>
            </a:r>
            <a:r>
              <a:rPr sz="2800" spc="509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51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such </a:t>
            </a:r>
            <a:r>
              <a:rPr sz="2800" dirty="0">
                <a:latin typeface="Arial MT"/>
                <a:cs typeface="Arial MT"/>
              </a:rPr>
              <a:t>classes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called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abstract</a:t>
            </a:r>
            <a:r>
              <a:rPr sz="2800" b="1" spc="-9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70C0"/>
                </a:solidFill>
                <a:latin typeface="Arial"/>
                <a:cs typeface="Arial"/>
              </a:rPr>
              <a:t>base</a:t>
            </a:r>
            <a:r>
              <a:rPr sz="2800" b="1" spc="-9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070C0"/>
                </a:solidFill>
                <a:latin typeface="Arial"/>
                <a:cs typeface="Arial"/>
              </a:rPr>
              <a:t>classes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0637" y="156281"/>
            <a:ext cx="10515600" cy="67454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81305">
              <a:lnSpc>
                <a:spcPct val="100000"/>
              </a:lnSpc>
              <a:spcBef>
                <a:spcPts val="100"/>
              </a:spcBef>
            </a:pPr>
            <a:r>
              <a:rPr sz="4300" spc="-10" dirty="0"/>
              <a:t>Abstract</a:t>
            </a:r>
            <a:r>
              <a:rPr sz="4300" spc="-120" dirty="0"/>
              <a:t> </a:t>
            </a:r>
            <a:r>
              <a:rPr sz="4300" dirty="0"/>
              <a:t>class</a:t>
            </a:r>
            <a:r>
              <a:rPr sz="4300" spc="-120" dirty="0"/>
              <a:t> </a:t>
            </a:r>
            <a:r>
              <a:rPr sz="4300" dirty="0"/>
              <a:t>&amp;</a:t>
            </a:r>
            <a:r>
              <a:rPr sz="4300" spc="-120" dirty="0"/>
              <a:t> </a:t>
            </a:r>
            <a:r>
              <a:rPr sz="4300" dirty="0"/>
              <a:t>Pure</a:t>
            </a:r>
            <a:r>
              <a:rPr sz="4300" spc="-120" dirty="0"/>
              <a:t> </a:t>
            </a:r>
            <a:r>
              <a:rPr sz="4300" dirty="0"/>
              <a:t>Virtual</a:t>
            </a:r>
            <a:r>
              <a:rPr sz="4300" spc="-120" dirty="0"/>
              <a:t> </a:t>
            </a:r>
            <a:r>
              <a:rPr sz="4300" spc="-10" dirty="0"/>
              <a:t>Functions</a:t>
            </a:r>
            <a:endParaRPr sz="4300" dirty="0"/>
          </a:p>
        </p:txBody>
      </p:sp>
      <p:grpSp>
        <p:nvGrpSpPr>
          <p:cNvPr id="9" name="object 9"/>
          <p:cNvGrpSpPr/>
          <p:nvPr/>
        </p:nvGrpSpPr>
        <p:grpSpPr>
          <a:xfrm>
            <a:off x="1714500" y="1028701"/>
            <a:ext cx="8235950" cy="5038725"/>
            <a:chOff x="190500" y="1028700"/>
            <a:chExt cx="8235950" cy="50387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1028700"/>
              <a:ext cx="6667499" cy="50387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8797" y="4343400"/>
              <a:ext cx="4057655" cy="3381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26650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Abstract</a:t>
            </a:r>
            <a:r>
              <a:rPr spc="-120" dirty="0"/>
              <a:t> </a:t>
            </a:r>
            <a:r>
              <a:rPr dirty="0"/>
              <a:t>class</a:t>
            </a:r>
            <a:r>
              <a:rPr spc="-114" dirty="0"/>
              <a:t> </a:t>
            </a:r>
            <a:r>
              <a:rPr dirty="0"/>
              <a:t>&amp;</a:t>
            </a:r>
            <a:r>
              <a:rPr spc="-120" dirty="0"/>
              <a:t> </a:t>
            </a:r>
            <a:r>
              <a:rPr dirty="0"/>
              <a:t>Pure</a:t>
            </a:r>
            <a:r>
              <a:rPr spc="-114" dirty="0"/>
              <a:t> </a:t>
            </a:r>
            <a:r>
              <a:rPr dirty="0"/>
              <a:t>Virtual</a:t>
            </a:r>
            <a:r>
              <a:rPr spc="-120" dirty="0"/>
              <a:t> </a:t>
            </a:r>
            <a:r>
              <a:rPr spc="-10" dirty="0"/>
              <a:t>Functions</a:t>
            </a: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671849" y="1077976"/>
            <a:ext cx="866965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6525" algn="ctr"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Arial"/>
                <a:cs typeface="Arial"/>
              </a:rPr>
              <a:t>NOTE:</a:t>
            </a:r>
            <a:endParaRPr sz="2800">
              <a:latin typeface="Arial"/>
              <a:cs typeface="Arial"/>
            </a:endParaRPr>
          </a:p>
          <a:p>
            <a:pPr marL="645160" marR="5080" indent="-633095">
              <a:tabLst>
                <a:tab pos="645160" algn="l"/>
                <a:tab pos="1050925" algn="l"/>
                <a:tab pos="2103120" algn="l"/>
                <a:tab pos="2561590" algn="l"/>
                <a:tab pos="4107179" algn="l"/>
                <a:tab pos="4486275" algn="l"/>
                <a:tab pos="4866005" algn="l"/>
                <a:tab pos="5640705" algn="l"/>
                <a:tab pos="6118860" algn="l"/>
                <a:tab pos="7091680" algn="l"/>
                <a:tab pos="7886065" algn="l"/>
              </a:tabLst>
            </a:pPr>
            <a:r>
              <a:rPr sz="2800" b="1" spc="-25" dirty="0">
                <a:latin typeface="Arial"/>
                <a:cs typeface="Arial"/>
              </a:rPr>
              <a:t>1.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50" dirty="0">
                <a:latin typeface="Arial"/>
                <a:cs typeface="Arial"/>
              </a:rPr>
              <a:t>A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10" dirty="0">
                <a:latin typeface="Arial"/>
                <a:cs typeface="Arial"/>
              </a:rPr>
              <a:t>class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25" dirty="0">
                <a:latin typeface="Arial"/>
                <a:cs typeface="Arial"/>
              </a:rPr>
              <a:t>is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10" dirty="0">
                <a:latin typeface="Arial"/>
                <a:cs typeface="Arial"/>
              </a:rPr>
              <a:t>abstract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25" dirty="0">
                <a:latin typeface="Arial"/>
                <a:cs typeface="Arial"/>
              </a:rPr>
              <a:t>if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25" dirty="0">
                <a:latin typeface="Arial"/>
                <a:cs typeface="Arial"/>
              </a:rPr>
              <a:t>it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25" dirty="0">
                <a:latin typeface="Arial"/>
                <a:cs typeface="Arial"/>
              </a:rPr>
              <a:t>has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25" dirty="0">
                <a:latin typeface="Arial"/>
                <a:cs typeface="Arial"/>
              </a:rPr>
              <a:t>at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10" dirty="0">
                <a:latin typeface="Arial"/>
                <a:cs typeface="Arial"/>
              </a:rPr>
              <a:t>least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25" dirty="0">
                <a:latin typeface="Arial"/>
                <a:cs typeface="Arial"/>
              </a:rPr>
              <a:t>one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20" dirty="0">
                <a:latin typeface="Arial"/>
                <a:cs typeface="Arial"/>
              </a:rPr>
              <a:t>pure </a:t>
            </a:r>
            <a:r>
              <a:rPr sz="2800" b="1" dirty="0">
                <a:latin typeface="Arial"/>
                <a:cs typeface="Arial"/>
              </a:rPr>
              <a:t>virtual</a:t>
            </a:r>
            <a:r>
              <a:rPr sz="2800" b="1" spc="-12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function.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1" y="2505075"/>
            <a:ext cx="3124199" cy="377457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24451" y="3314701"/>
            <a:ext cx="5314949" cy="133349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97026" y="950825"/>
            <a:ext cx="1199007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Abstract</a:t>
            </a:r>
            <a:r>
              <a:rPr sz="4400" spc="-120" dirty="0"/>
              <a:t> </a:t>
            </a:r>
            <a:r>
              <a:rPr sz="4400" dirty="0"/>
              <a:t>class</a:t>
            </a:r>
            <a:r>
              <a:rPr sz="4400" spc="-114" dirty="0"/>
              <a:t> </a:t>
            </a:r>
            <a:r>
              <a:rPr sz="4400" dirty="0"/>
              <a:t>&amp;</a:t>
            </a:r>
            <a:r>
              <a:rPr sz="4400" spc="-120" dirty="0"/>
              <a:t> </a:t>
            </a:r>
            <a:r>
              <a:rPr sz="4400" dirty="0"/>
              <a:t>Pure</a:t>
            </a:r>
            <a:r>
              <a:rPr sz="4400" spc="-114" dirty="0"/>
              <a:t> </a:t>
            </a:r>
            <a:r>
              <a:rPr sz="4400" dirty="0"/>
              <a:t>Virtual</a:t>
            </a:r>
            <a:r>
              <a:rPr sz="4400" spc="-120" dirty="0"/>
              <a:t> </a:t>
            </a:r>
            <a:r>
              <a:rPr sz="4400" spc="-10" dirty="0"/>
              <a:t>Functions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891931" y="2369717"/>
            <a:ext cx="7234527" cy="3997060"/>
            <a:chOff x="381000" y="2479939"/>
            <a:chExt cx="7234527" cy="39970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" y="2479939"/>
              <a:ext cx="4610099" cy="39970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1089" y="4129283"/>
              <a:ext cx="1214438" cy="37689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790573" y="1077976"/>
            <a:ext cx="855662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  <a:tabLst>
                <a:tab pos="610870" algn="l"/>
                <a:tab pos="1440180" algn="l"/>
                <a:tab pos="2354580" algn="l"/>
                <a:tab pos="3467735" algn="l"/>
                <a:tab pos="5172710" algn="l"/>
                <a:tab pos="6106160" algn="l"/>
                <a:tab pos="8207375" algn="l"/>
              </a:tabLst>
            </a:pPr>
            <a:r>
              <a:rPr sz="2800" b="1" spc="-25" dirty="0">
                <a:latin typeface="Arial"/>
                <a:cs typeface="Arial"/>
              </a:rPr>
              <a:t>2.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25" dirty="0">
                <a:latin typeface="Arial"/>
                <a:cs typeface="Arial"/>
              </a:rPr>
              <a:t>We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25" dirty="0">
                <a:latin typeface="Arial"/>
                <a:cs typeface="Arial"/>
              </a:rPr>
              <a:t>can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20" dirty="0">
                <a:latin typeface="Arial"/>
                <a:cs typeface="Arial"/>
              </a:rPr>
              <a:t>have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10" dirty="0">
                <a:latin typeface="Arial"/>
                <a:cs typeface="Arial"/>
              </a:rPr>
              <a:t>pointers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25" dirty="0">
                <a:latin typeface="Arial"/>
                <a:cs typeface="Arial"/>
              </a:rPr>
              <a:t>and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10" dirty="0">
                <a:latin typeface="Arial"/>
                <a:cs typeface="Arial"/>
              </a:rPr>
              <a:t>references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25" dirty="0">
                <a:latin typeface="Arial"/>
                <a:cs typeface="Arial"/>
              </a:rPr>
              <a:t>of </a:t>
            </a:r>
            <a:r>
              <a:rPr sz="2800" b="1" dirty="0">
                <a:latin typeface="Arial"/>
                <a:cs typeface="Arial"/>
              </a:rPr>
              <a:t>abstract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class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type.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97026" y="950825"/>
            <a:ext cx="1199007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Abstract</a:t>
            </a:r>
            <a:r>
              <a:rPr sz="4400" spc="-120" dirty="0"/>
              <a:t> </a:t>
            </a:r>
            <a:r>
              <a:rPr sz="4400" dirty="0"/>
              <a:t>class</a:t>
            </a:r>
            <a:r>
              <a:rPr sz="4400" spc="-114" dirty="0"/>
              <a:t> </a:t>
            </a:r>
            <a:r>
              <a:rPr sz="4400" dirty="0"/>
              <a:t>&amp;</a:t>
            </a:r>
            <a:r>
              <a:rPr sz="4400" spc="-120" dirty="0"/>
              <a:t> </a:t>
            </a:r>
            <a:r>
              <a:rPr sz="4400" dirty="0"/>
              <a:t>Pure</a:t>
            </a:r>
            <a:r>
              <a:rPr sz="4400" spc="-114" dirty="0"/>
              <a:t> </a:t>
            </a:r>
            <a:r>
              <a:rPr sz="4400" dirty="0"/>
              <a:t>Virtual</a:t>
            </a:r>
            <a:r>
              <a:rPr sz="4400" spc="-120" dirty="0"/>
              <a:t> </a:t>
            </a:r>
            <a:r>
              <a:rPr sz="4400" spc="-10" dirty="0"/>
              <a:t>Functions</a:t>
            </a:r>
            <a:endParaRPr sz="4400"/>
          </a:p>
        </p:txBody>
      </p:sp>
      <p:sp>
        <p:nvSpPr>
          <p:cNvPr id="9" name="object 9"/>
          <p:cNvSpPr txBox="1"/>
          <p:nvPr/>
        </p:nvSpPr>
        <p:spPr>
          <a:xfrm>
            <a:off x="1790573" y="1077976"/>
            <a:ext cx="855789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3.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If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we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do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not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override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the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pure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virtual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function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in </a:t>
            </a:r>
            <a:r>
              <a:rPr sz="2800" b="1" dirty="0">
                <a:latin typeface="Arial"/>
                <a:cs typeface="Arial"/>
              </a:rPr>
              <a:t>derived</a:t>
            </a:r>
            <a:r>
              <a:rPr sz="2800" b="1" spc="59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class,</a:t>
            </a:r>
            <a:r>
              <a:rPr sz="2800" b="1" spc="59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then</a:t>
            </a:r>
            <a:r>
              <a:rPr sz="2800" b="1" spc="59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derived</a:t>
            </a:r>
            <a:r>
              <a:rPr sz="2800" b="1" spc="59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class</a:t>
            </a:r>
            <a:r>
              <a:rPr sz="2800" b="1" spc="59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also</a:t>
            </a:r>
            <a:r>
              <a:rPr sz="2800" b="1" spc="59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becomes </a:t>
            </a:r>
            <a:r>
              <a:rPr sz="2800" b="1" dirty="0">
                <a:latin typeface="Arial"/>
                <a:cs typeface="Arial"/>
              </a:rPr>
              <a:t>abstract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class.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28800" y="2514601"/>
            <a:ext cx="8839200" cy="3795395"/>
            <a:chOff x="304800" y="2514600"/>
            <a:chExt cx="8839200" cy="379539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2514600"/>
              <a:ext cx="4038599" cy="379508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8525" y="4857750"/>
              <a:ext cx="5705474" cy="10858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97026" y="950825"/>
            <a:ext cx="1199007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Abstract</a:t>
            </a:r>
            <a:r>
              <a:rPr sz="4400" spc="-120" dirty="0"/>
              <a:t> </a:t>
            </a:r>
            <a:r>
              <a:rPr sz="4400" dirty="0"/>
              <a:t>class</a:t>
            </a:r>
            <a:r>
              <a:rPr sz="4400" spc="-114" dirty="0"/>
              <a:t> </a:t>
            </a:r>
            <a:r>
              <a:rPr sz="4400" dirty="0"/>
              <a:t>&amp;</a:t>
            </a:r>
            <a:r>
              <a:rPr sz="4400" spc="-120" dirty="0"/>
              <a:t> </a:t>
            </a:r>
            <a:r>
              <a:rPr sz="4400" dirty="0"/>
              <a:t>Pure</a:t>
            </a:r>
            <a:r>
              <a:rPr sz="4400" spc="-114" dirty="0"/>
              <a:t> </a:t>
            </a:r>
            <a:r>
              <a:rPr sz="4400" dirty="0"/>
              <a:t>Virtual</a:t>
            </a:r>
            <a:r>
              <a:rPr sz="4400" spc="-120" dirty="0"/>
              <a:t> </a:t>
            </a:r>
            <a:r>
              <a:rPr sz="4400" spc="-10" dirty="0"/>
              <a:t>Functions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816100" y="1682585"/>
            <a:ext cx="8839199" cy="4495799"/>
            <a:chOff x="304800" y="1905000"/>
            <a:chExt cx="8839199" cy="449579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1905000"/>
              <a:ext cx="5943599" cy="44957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95975" y="1905000"/>
              <a:ext cx="3248024" cy="20573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4998" y="4479755"/>
              <a:ext cx="2791548" cy="94343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790572" y="1077976"/>
            <a:ext cx="73367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4.</a:t>
            </a:r>
            <a:r>
              <a:rPr sz="2800" b="1" spc="-1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An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abstract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class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can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have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constructors.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36700" y="6524398"/>
            <a:ext cx="8916670" cy="2148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25"/>
              </a:lnSpc>
            </a:pPr>
            <a:r>
              <a:rPr sz="2700" spc="-15" baseline="-21604" dirty="0">
                <a:solidFill>
                  <a:srgbClr val="FFFFFF"/>
                </a:solidFill>
                <a:latin typeface="Calibri"/>
                <a:cs typeface="Calibri"/>
              </a:rPr>
              <a:t>Prepared</a:t>
            </a:r>
            <a:r>
              <a:rPr sz="2700" spc="-82" baseline="-216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baseline="-21604" dirty="0">
                <a:solidFill>
                  <a:srgbClr val="FFFFFF"/>
                </a:solidFill>
                <a:latin typeface="Calibri"/>
                <a:cs typeface="Calibri"/>
              </a:rPr>
              <a:t>By:</a:t>
            </a:r>
            <a:r>
              <a:rPr sz="2700" spc="-52" baseline="-216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baseline="-21604" dirty="0">
                <a:solidFill>
                  <a:srgbClr val="FFFFFF"/>
                </a:solidFill>
                <a:latin typeface="Calibri"/>
                <a:cs typeface="Calibri"/>
              </a:rPr>
              <a:t>Nishat</a:t>
            </a:r>
            <a:r>
              <a:rPr sz="2700" spc="-44" baseline="-216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22" baseline="-21604" dirty="0">
                <a:solidFill>
                  <a:srgbClr val="FFFFFF"/>
                </a:solidFill>
                <a:latin typeface="Calibri"/>
                <a:cs typeface="Calibri"/>
              </a:rPr>
              <a:t>Shaik</a:t>
            </a:r>
            <a:r>
              <a:rPr sz="2700" spc="-106387" baseline="-21604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Uni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t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Pointers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Virtual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Functions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5562600" y="6371909"/>
            <a:ext cx="4114800" cy="334009"/>
          </a:xfrm>
          <a:prstGeom prst="rect">
            <a:avLst/>
          </a:prstGeom>
        </p:spPr>
        <p:txBody>
          <a:bodyPr vert="horz" wrap="square" lIns="0" tIns="119070" rIns="0" bIns="0" rtlCol="0" anchor="ctr">
            <a:spAutoFit/>
          </a:bodyPr>
          <a:lstStyle/>
          <a:p>
            <a:pPr marL="43180">
              <a:lnSpc>
                <a:spcPts val="1810"/>
              </a:lnSpc>
            </a:pPr>
            <a:r>
              <a:rPr spc="-10" dirty="0"/>
              <a:t>Prepared</a:t>
            </a:r>
            <a:r>
              <a:rPr spc="-65" dirty="0"/>
              <a:t> </a:t>
            </a:r>
            <a:r>
              <a:rPr dirty="0"/>
              <a:t>By:</a:t>
            </a:r>
            <a:r>
              <a:rPr spc="-55" dirty="0"/>
              <a:t> </a:t>
            </a:r>
            <a:r>
              <a:rPr spc="-25" dirty="0"/>
              <a:t>Prof.</a:t>
            </a:r>
            <a:r>
              <a:rPr spc="-50" dirty="0"/>
              <a:t> </a:t>
            </a:r>
            <a:r>
              <a:rPr dirty="0"/>
              <a:t>Nishat</a:t>
            </a:r>
            <a:r>
              <a:rPr spc="-55" dirty="0"/>
              <a:t> </a:t>
            </a:r>
            <a:r>
              <a:rPr dirty="0"/>
              <a:t>Shaikh</a:t>
            </a:r>
            <a:r>
              <a:rPr spc="-50" dirty="0"/>
              <a:t>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60" dirty="0"/>
              <a:t>Dr.</a:t>
            </a:r>
            <a:r>
              <a:rPr spc="-45" dirty="0"/>
              <a:t> </a:t>
            </a:r>
            <a:r>
              <a:rPr dirty="0"/>
              <a:t>Aayushi</a:t>
            </a:r>
            <a:r>
              <a:rPr spc="-50" dirty="0"/>
              <a:t> </a:t>
            </a:r>
            <a:r>
              <a:rPr spc="-10" dirty="0"/>
              <a:t>Chaudhari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424151"/>
            <a:ext cx="10515600" cy="53604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3400" dirty="0"/>
              <a:t>Practical</a:t>
            </a:r>
            <a:r>
              <a:rPr sz="3400" spc="-95" dirty="0"/>
              <a:t> </a:t>
            </a:r>
            <a:r>
              <a:rPr sz="3400" dirty="0"/>
              <a:t>:Abstract</a:t>
            </a:r>
            <a:r>
              <a:rPr sz="3400" spc="-95" dirty="0"/>
              <a:t> </a:t>
            </a:r>
            <a:r>
              <a:rPr sz="3400" dirty="0"/>
              <a:t>class</a:t>
            </a:r>
            <a:r>
              <a:rPr sz="3400" spc="-90" dirty="0"/>
              <a:t> </a:t>
            </a:r>
            <a:r>
              <a:rPr sz="3400" dirty="0"/>
              <a:t>&amp;</a:t>
            </a:r>
            <a:r>
              <a:rPr sz="3400" spc="-95" dirty="0"/>
              <a:t> </a:t>
            </a:r>
            <a:r>
              <a:rPr sz="3400" dirty="0"/>
              <a:t>Pure</a:t>
            </a:r>
            <a:r>
              <a:rPr sz="3400" spc="-95" dirty="0"/>
              <a:t> </a:t>
            </a:r>
            <a:r>
              <a:rPr sz="3400" dirty="0"/>
              <a:t>Virtual</a:t>
            </a:r>
            <a:r>
              <a:rPr sz="3400" spc="-90" dirty="0"/>
              <a:t> </a:t>
            </a:r>
            <a:r>
              <a:rPr sz="3400" spc="-10" dirty="0"/>
              <a:t>Functions</a:t>
            </a:r>
            <a:endParaRPr sz="3400" dirty="0"/>
          </a:p>
        </p:txBody>
      </p:sp>
      <p:sp>
        <p:nvSpPr>
          <p:cNvPr id="9" name="object 9"/>
          <p:cNvSpPr txBox="1"/>
          <p:nvPr/>
        </p:nvSpPr>
        <p:spPr>
          <a:xfrm>
            <a:off x="1790572" y="1078991"/>
            <a:ext cx="8641080" cy="359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875" algn="just">
              <a:spcBef>
                <a:spcPts val="100"/>
              </a:spcBef>
            </a:pPr>
            <a:r>
              <a:rPr sz="2600" dirty="0">
                <a:latin typeface="Arial MT"/>
                <a:cs typeface="Arial MT"/>
              </a:rPr>
              <a:t>Create</a:t>
            </a:r>
            <a:r>
              <a:rPr sz="2600" spc="1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 Abstract</a:t>
            </a:r>
            <a:r>
              <a:rPr sz="2600" spc="1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class</a:t>
            </a:r>
            <a:r>
              <a:rPr sz="2600" spc="150" dirty="0"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vehicle</a:t>
            </a:r>
            <a:r>
              <a:rPr sz="2600" b="1" spc="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having</a:t>
            </a:r>
            <a:r>
              <a:rPr sz="2600" spc="135" dirty="0"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average</a:t>
            </a:r>
            <a:r>
              <a:rPr sz="2600" b="1" spc="1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as</a:t>
            </a:r>
            <a:r>
              <a:rPr sz="2600" spc="12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data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2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pure</a:t>
            </a:r>
            <a:r>
              <a:rPr sz="2600" spc="2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virtual</a:t>
            </a:r>
            <a:r>
              <a:rPr sz="2600" spc="2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function</a:t>
            </a:r>
            <a:r>
              <a:rPr sz="2600" spc="290" dirty="0"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getdata()</a:t>
            </a:r>
            <a:r>
              <a:rPr sz="2600" b="1" spc="28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285" dirty="0"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putdata().</a:t>
            </a:r>
            <a:r>
              <a:rPr sz="2600" b="1" spc="30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spc="-10" dirty="0">
                <a:latin typeface="Arial MT"/>
                <a:cs typeface="Arial MT"/>
              </a:rPr>
              <a:t>Derive </a:t>
            </a:r>
            <a:r>
              <a:rPr sz="2600" dirty="0">
                <a:latin typeface="Arial MT"/>
                <a:cs typeface="Arial MT"/>
              </a:rPr>
              <a:t>class</a:t>
            </a:r>
            <a:r>
              <a:rPr sz="2600" spc="175" dirty="0">
                <a:latin typeface="Arial MT"/>
                <a:cs typeface="Arial MT"/>
              </a:rPr>
              <a:t> 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car</a:t>
            </a:r>
            <a:r>
              <a:rPr sz="2600" b="1" spc="17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175" dirty="0">
                <a:latin typeface="Arial MT"/>
                <a:cs typeface="Arial MT"/>
              </a:rPr>
              <a:t> 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truck</a:t>
            </a:r>
            <a:r>
              <a:rPr sz="2600" b="1" spc="175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600" dirty="0">
                <a:latin typeface="Arial MT"/>
                <a:cs typeface="Arial MT"/>
              </a:rPr>
              <a:t>from</a:t>
            </a:r>
            <a:r>
              <a:rPr sz="2600" spc="17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class</a:t>
            </a:r>
            <a:r>
              <a:rPr sz="2600" spc="17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vehicle</a:t>
            </a:r>
            <a:r>
              <a:rPr sz="2600" spc="17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having</a:t>
            </a:r>
            <a:r>
              <a:rPr sz="2600" spc="175" dirty="0">
                <a:latin typeface="Arial MT"/>
                <a:cs typeface="Arial MT"/>
              </a:rPr>
              <a:t>  </a:t>
            </a:r>
            <a:r>
              <a:rPr sz="2600" spc="-20" dirty="0">
                <a:latin typeface="Arial MT"/>
                <a:cs typeface="Arial MT"/>
              </a:rPr>
              <a:t>data </a:t>
            </a:r>
            <a:r>
              <a:rPr sz="2600" dirty="0">
                <a:latin typeface="Arial MT"/>
                <a:cs typeface="Arial MT"/>
              </a:rPr>
              <a:t>members:</a:t>
            </a:r>
            <a:r>
              <a:rPr sz="2600" spc="100" dirty="0">
                <a:latin typeface="Arial MT"/>
                <a:cs typeface="Arial MT"/>
              </a:rPr>
              <a:t> 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fuel</a:t>
            </a:r>
            <a:r>
              <a:rPr sz="2600" b="1" spc="95" dirty="0">
                <a:solidFill>
                  <a:srgbClr val="0070C0"/>
                </a:solidFill>
                <a:latin typeface="Arial"/>
                <a:cs typeface="Arial"/>
              </a:rPr>
              <a:t> 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type</a:t>
            </a:r>
            <a:r>
              <a:rPr sz="2600" b="1" spc="100" dirty="0">
                <a:solidFill>
                  <a:srgbClr val="0070C0"/>
                </a:solidFill>
                <a:latin typeface="Arial"/>
                <a:cs typeface="Arial"/>
              </a:rPr>
              <a:t>  </a:t>
            </a:r>
            <a:r>
              <a:rPr sz="2600" dirty="0">
                <a:latin typeface="Arial MT"/>
                <a:cs typeface="Arial MT"/>
              </a:rPr>
              <a:t>(petrol,</a:t>
            </a:r>
            <a:r>
              <a:rPr sz="2600" spc="100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diesel,</a:t>
            </a:r>
            <a:r>
              <a:rPr sz="2600" spc="9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CNG)</a:t>
            </a:r>
            <a:r>
              <a:rPr sz="2600" spc="9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114" dirty="0">
                <a:latin typeface="Arial MT"/>
                <a:cs typeface="Arial MT"/>
              </a:rPr>
              <a:t> 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no</a:t>
            </a:r>
            <a:r>
              <a:rPr sz="2600" b="1" spc="95" dirty="0">
                <a:solidFill>
                  <a:srgbClr val="0070C0"/>
                </a:solidFill>
                <a:latin typeface="Arial"/>
                <a:cs typeface="Arial"/>
              </a:rPr>
              <a:t>  </a:t>
            </a:r>
            <a:r>
              <a:rPr sz="2600" b="1" spc="-25" dirty="0">
                <a:solidFill>
                  <a:srgbClr val="0070C0"/>
                </a:solidFill>
                <a:latin typeface="Arial"/>
                <a:cs typeface="Arial"/>
              </a:rPr>
              <a:t>of </a:t>
            </a:r>
            <a:r>
              <a:rPr sz="2600" b="1" dirty="0">
                <a:solidFill>
                  <a:srgbClr val="0070C0"/>
                </a:solidFill>
                <a:latin typeface="Arial"/>
                <a:cs typeface="Arial"/>
              </a:rPr>
              <a:t>wheels</a:t>
            </a:r>
            <a:r>
              <a:rPr sz="2600" b="1" spc="15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respectively.</a:t>
            </a:r>
            <a:r>
              <a:rPr sz="2600" spc="1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Write</a:t>
            </a:r>
            <a:r>
              <a:rPr sz="2600" spc="1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1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main</a:t>
            </a:r>
            <a:r>
              <a:rPr sz="2600" spc="1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(</a:t>
            </a:r>
            <a:r>
              <a:rPr sz="2600" spc="1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)</a:t>
            </a:r>
            <a:r>
              <a:rPr sz="2600" spc="1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that</a:t>
            </a:r>
            <a:r>
              <a:rPr sz="2600" spc="1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enters</a:t>
            </a:r>
            <a:r>
              <a:rPr sz="2600" spc="1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15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data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two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cars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truck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display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details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them.</a:t>
            </a:r>
            <a:endParaRPr sz="2600">
              <a:latin typeface="Arial MT"/>
              <a:cs typeface="Arial MT"/>
            </a:endParaRPr>
          </a:p>
          <a:p>
            <a:pPr>
              <a:spcBef>
                <a:spcPts val="130"/>
              </a:spcBef>
            </a:pPr>
            <a:endParaRPr sz="2600">
              <a:latin typeface="Arial MT"/>
              <a:cs typeface="Arial MT"/>
            </a:endParaRPr>
          </a:p>
          <a:p>
            <a:pPr marL="12700" marR="5080" algn="just"/>
            <a:r>
              <a:rPr sz="2600" dirty="0">
                <a:latin typeface="Arial MT"/>
                <a:cs typeface="Arial MT"/>
              </a:rPr>
              <a:t>Use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concept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Abstract</a:t>
            </a:r>
            <a:r>
              <a:rPr sz="26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Base</a:t>
            </a:r>
            <a:r>
              <a:rPr sz="26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class</a:t>
            </a:r>
            <a:r>
              <a:rPr sz="26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Pure</a:t>
            </a:r>
            <a:r>
              <a:rPr sz="26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Arial"/>
                <a:cs typeface="Arial"/>
              </a:rPr>
              <a:t>Virtual functions.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335760"/>
            <a:ext cx="10515600" cy="53604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3400" dirty="0"/>
              <a:t>Practical</a:t>
            </a:r>
            <a:r>
              <a:rPr sz="3400" spc="-95" dirty="0"/>
              <a:t> </a:t>
            </a:r>
            <a:r>
              <a:rPr sz="3400" dirty="0"/>
              <a:t>:Abstract</a:t>
            </a:r>
            <a:r>
              <a:rPr sz="3400" spc="-95" dirty="0"/>
              <a:t> </a:t>
            </a:r>
            <a:r>
              <a:rPr sz="3400" dirty="0"/>
              <a:t>class</a:t>
            </a:r>
            <a:r>
              <a:rPr sz="3400" spc="-90" dirty="0"/>
              <a:t> </a:t>
            </a:r>
            <a:r>
              <a:rPr sz="3400" dirty="0"/>
              <a:t>&amp;</a:t>
            </a:r>
            <a:r>
              <a:rPr sz="3400" spc="-95" dirty="0"/>
              <a:t> </a:t>
            </a:r>
            <a:r>
              <a:rPr sz="3400" dirty="0"/>
              <a:t>Pure</a:t>
            </a:r>
            <a:r>
              <a:rPr sz="3400" spc="-95" dirty="0"/>
              <a:t> </a:t>
            </a:r>
            <a:r>
              <a:rPr sz="3400" dirty="0"/>
              <a:t>Virtual</a:t>
            </a:r>
            <a:r>
              <a:rPr sz="3400" spc="-90" dirty="0"/>
              <a:t> </a:t>
            </a:r>
            <a:r>
              <a:rPr sz="3400" spc="-10" dirty="0"/>
              <a:t>Functions</a:t>
            </a:r>
            <a:endParaRPr sz="340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4025" y="990600"/>
            <a:ext cx="6734174" cy="548639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4962" y="326235"/>
            <a:ext cx="10515600" cy="53604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3400" dirty="0"/>
              <a:t>Practical</a:t>
            </a:r>
            <a:r>
              <a:rPr sz="3400" spc="-95" dirty="0"/>
              <a:t> </a:t>
            </a:r>
            <a:r>
              <a:rPr sz="3400" dirty="0"/>
              <a:t>:Abstract</a:t>
            </a:r>
            <a:r>
              <a:rPr sz="3400" spc="-95" dirty="0"/>
              <a:t> </a:t>
            </a:r>
            <a:r>
              <a:rPr sz="3400" dirty="0"/>
              <a:t>class</a:t>
            </a:r>
            <a:r>
              <a:rPr sz="3400" spc="-90" dirty="0"/>
              <a:t> </a:t>
            </a:r>
            <a:r>
              <a:rPr sz="3400" dirty="0"/>
              <a:t>&amp;</a:t>
            </a:r>
            <a:r>
              <a:rPr sz="3400" spc="-95" dirty="0"/>
              <a:t> </a:t>
            </a:r>
            <a:r>
              <a:rPr sz="3400" dirty="0"/>
              <a:t>Pure</a:t>
            </a:r>
            <a:r>
              <a:rPr sz="3400" spc="-95" dirty="0"/>
              <a:t> </a:t>
            </a:r>
            <a:r>
              <a:rPr sz="3400" dirty="0"/>
              <a:t>Virtual</a:t>
            </a:r>
            <a:r>
              <a:rPr sz="3400" spc="-90" dirty="0"/>
              <a:t> </a:t>
            </a:r>
            <a:r>
              <a:rPr sz="3400" spc="-10" dirty="0"/>
              <a:t>Functions</a:t>
            </a:r>
            <a:endParaRPr sz="340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1662" y="1070729"/>
            <a:ext cx="6400799" cy="546103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4962" y="318624"/>
            <a:ext cx="10515600" cy="53604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3400" dirty="0"/>
              <a:t>Practical</a:t>
            </a:r>
            <a:r>
              <a:rPr sz="3400" spc="-95" dirty="0"/>
              <a:t> </a:t>
            </a:r>
            <a:r>
              <a:rPr sz="3400" dirty="0"/>
              <a:t>:Abstract</a:t>
            </a:r>
            <a:r>
              <a:rPr sz="3400" spc="-95" dirty="0"/>
              <a:t> </a:t>
            </a:r>
            <a:r>
              <a:rPr sz="3400" dirty="0"/>
              <a:t>class</a:t>
            </a:r>
            <a:r>
              <a:rPr sz="3400" spc="-90" dirty="0"/>
              <a:t> </a:t>
            </a:r>
            <a:r>
              <a:rPr sz="3400" dirty="0"/>
              <a:t>&amp;</a:t>
            </a:r>
            <a:r>
              <a:rPr sz="3400" spc="-95" dirty="0"/>
              <a:t> </a:t>
            </a:r>
            <a:r>
              <a:rPr sz="3400" dirty="0"/>
              <a:t>Pure</a:t>
            </a:r>
            <a:r>
              <a:rPr sz="3400" spc="-95" dirty="0"/>
              <a:t> </a:t>
            </a:r>
            <a:r>
              <a:rPr sz="3400" dirty="0"/>
              <a:t>Virtual</a:t>
            </a:r>
            <a:r>
              <a:rPr sz="3400" spc="-90" dirty="0"/>
              <a:t> </a:t>
            </a:r>
            <a:r>
              <a:rPr sz="3400" spc="-10" dirty="0"/>
              <a:t>Functions</a:t>
            </a:r>
            <a:endParaRPr sz="3400" dirty="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1" y="1066801"/>
            <a:ext cx="5238749" cy="4648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9000" y="1447801"/>
            <a:ext cx="3200400" cy="388619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7E4505-20F8-4ECD-AF57-75C8DE38C3F1}"/>
              </a:ext>
            </a:extLst>
          </p:cNvPr>
          <p:cNvSpPr/>
          <p:nvPr/>
        </p:nvSpPr>
        <p:spPr>
          <a:xfrm>
            <a:off x="3368234" y="2398007"/>
            <a:ext cx="545553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0590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10119</TotalTime>
  <Words>2434</Words>
  <Application>Microsoft Macintosh PowerPoint</Application>
  <PresentationFormat>Widescreen</PresentationFormat>
  <Paragraphs>208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Aptos</vt:lpstr>
      <vt:lpstr>Aptos Display</vt:lpstr>
      <vt:lpstr>Arial</vt:lpstr>
      <vt:lpstr>Arial MT</vt:lpstr>
      <vt:lpstr>Calibri</vt:lpstr>
      <vt:lpstr>Lucida Sans Unicode</vt:lpstr>
      <vt:lpstr>Times New Roman</vt:lpstr>
      <vt:lpstr>Wingdings</vt:lpstr>
      <vt:lpstr>Office Theme</vt:lpstr>
      <vt:lpstr>Chapter - 9</vt:lpstr>
      <vt:lpstr>Concepts Included</vt:lpstr>
      <vt:lpstr>Polymorphism</vt:lpstr>
      <vt:lpstr>Pointers</vt:lpstr>
      <vt:lpstr>Using pointers with Arrays and Strings</vt:lpstr>
      <vt:lpstr>Array of Pointers</vt:lpstr>
      <vt:lpstr>Pointers and Strings</vt:lpstr>
      <vt:lpstr>Pointers and Strings</vt:lpstr>
      <vt:lpstr>Pointers to Functions</vt:lpstr>
      <vt:lpstr>Pointer to object</vt:lpstr>
      <vt:lpstr>Example</vt:lpstr>
      <vt:lpstr>Dynamic Memory Allocation for Objects</vt:lpstr>
      <vt:lpstr>this pointer</vt:lpstr>
      <vt:lpstr>this pointer</vt:lpstr>
      <vt:lpstr>this pointer</vt:lpstr>
      <vt:lpstr>Accessing Members using this pointer The this pointer allows access to the invoking object's members directly.</vt:lpstr>
      <vt:lpstr>Pointers to Derived Classes</vt:lpstr>
      <vt:lpstr>Pointers to Derived Classes</vt:lpstr>
      <vt:lpstr>Virtual Functions</vt:lpstr>
      <vt:lpstr>Virtual Functions</vt:lpstr>
      <vt:lpstr>Virtual Functions</vt:lpstr>
      <vt:lpstr>Virtual Functions</vt:lpstr>
      <vt:lpstr>Rules of Virtual Function</vt:lpstr>
      <vt:lpstr>Rules of Virtual Function</vt:lpstr>
      <vt:lpstr>Virtual Destructors</vt:lpstr>
      <vt:lpstr>Without Virtual Destructors</vt:lpstr>
      <vt:lpstr>With Virtual Destructors</vt:lpstr>
      <vt:lpstr>Practical : Virtual function</vt:lpstr>
      <vt:lpstr>Practical : Virtual function</vt:lpstr>
      <vt:lpstr>Practical : Virtual function</vt:lpstr>
      <vt:lpstr>Practical : Virtual function</vt:lpstr>
      <vt:lpstr>Size of Virtual function</vt:lpstr>
      <vt:lpstr>Size of Virtual function</vt:lpstr>
      <vt:lpstr>Abstract class &amp; Pure Virtual Functions</vt:lpstr>
      <vt:lpstr>Abstract class &amp; Pure Virtual Functions</vt:lpstr>
      <vt:lpstr>Abstract class &amp; Pure Virtual Functions</vt:lpstr>
      <vt:lpstr>Abstract class &amp; Pure Virtual Functions</vt:lpstr>
      <vt:lpstr>Abstract class &amp; Pure Virtual Functions</vt:lpstr>
      <vt:lpstr>Abstract class &amp; Pure Virtual Functions</vt:lpstr>
      <vt:lpstr>Abstract class &amp; Pure Virtual Functions</vt:lpstr>
      <vt:lpstr>Practical :Abstract class &amp; Pure Virtual Functions</vt:lpstr>
      <vt:lpstr>Practical :Abstract class &amp; Pure Virtual Functions</vt:lpstr>
      <vt:lpstr>Practical :Abstract class &amp; Pure Virtual Functions</vt:lpstr>
      <vt:lpstr>Practical :Abstract class &amp; Pure Virtual Functions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- 1</dc:title>
  <dc:creator>CSE-10</dc:creator>
  <cp:lastModifiedBy>Anuja Menon</cp:lastModifiedBy>
  <cp:revision>808</cp:revision>
  <dcterms:created xsi:type="dcterms:W3CDTF">2025-07-02T05:47:51Z</dcterms:created>
  <dcterms:modified xsi:type="dcterms:W3CDTF">2025-10-30T06:42:27Z</dcterms:modified>
</cp:coreProperties>
</file>