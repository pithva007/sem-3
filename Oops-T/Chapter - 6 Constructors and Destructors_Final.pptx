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56" r:id="rId2"/>
    <p:sldId id="269" r:id="rId3"/>
    <p:sldId id="257" r:id="rId4"/>
    <p:sldId id="270" r:id="rId5"/>
    <p:sldId id="258" r:id="rId6"/>
    <p:sldId id="271" r:id="rId7"/>
    <p:sldId id="272" r:id="rId8"/>
    <p:sldId id="259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260" r:id="rId24"/>
    <p:sldId id="287" r:id="rId25"/>
    <p:sldId id="288" r:id="rId26"/>
    <p:sldId id="289" r:id="rId27"/>
    <p:sldId id="290" r:id="rId28"/>
    <p:sldId id="291" r:id="rId29"/>
    <p:sldId id="292" r:id="rId30"/>
    <p:sldId id="293" r:id="rId31"/>
    <p:sldId id="294" r:id="rId32"/>
    <p:sldId id="295" r:id="rId33"/>
    <p:sldId id="296" r:id="rId34"/>
    <p:sldId id="297" r:id="rId35"/>
    <p:sldId id="298" r:id="rId36"/>
    <p:sldId id="265" r:id="rId37"/>
    <p:sldId id="299" r:id="rId38"/>
    <p:sldId id="300" r:id="rId39"/>
    <p:sldId id="301" r:id="rId40"/>
    <p:sldId id="302" r:id="rId41"/>
    <p:sldId id="303" r:id="rId42"/>
    <p:sldId id="304" r:id="rId43"/>
    <p:sldId id="305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68549D-FAF0-4A69-993D-D7C0861DAE05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07BC52-0F29-4B3E-83B8-0B9667C60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5034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6DEFF-254A-4C3D-996D-F417BB63CB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C40200-9D14-4EC2-8099-BD230007D7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CABD0-A7AA-4809-BEB1-5AD80A349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5465B-93C3-47BC-8656-0218BBA8B9BD}" type="datetime1">
              <a:rPr lang="en-IN" smtClean="0"/>
              <a:t>16-09-2025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A3E3E-EE84-4FAC-B883-B679B6E19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50E113-5DC0-42BA-89BF-D172EA121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25AD-A2AA-4ED0-9A62-5B76F9A1CF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1357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0CE69-D29A-4DE4-8BBA-E2E13054D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AAE91-7913-453B-B480-87AD17335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D2508-08B7-45E2-B114-D46921986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8C06C-878B-4126-A529-6F3BD9382E2F}" type="datetime1">
              <a:rPr lang="en-IN" smtClean="0"/>
              <a:t>16-09-2025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C1CED9-7AE4-473A-B98A-D5EAD708A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1D6BA8-8D01-4246-BCA9-C28975EA3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25AD-A2AA-4ED0-9A62-5B76F9A1CF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6017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430A3-2710-4C21-A64D-296E284F2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42E275-9CED-4A8E-89AB-AD8B56FD8E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DF430-C061-4023-8E82-E1B0AA6A5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6B9E9-46D2-4F8E-BD1D-F4F3160D2346}" type="datetime1">
              <a:rPr lang="en-IN" smtClean="0"/>
              <a:t>16-09-2025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66F3E-0C14-4FE0-845D-C6E1707C7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405A6-A2E4-4597-A9E6-269EDEF88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25AD-A2AA-4ED0-9A62-5B76F9A1CF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202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DBCF7-36E7-4D3A-B397-FEB70DC05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68368-75E5-4A71-9189-2CCF845F2A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CDE6DB-8E3F-4FF6-982F-BDA7978A20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F037D7-DC37-42AA-A632-6AA5871D7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3B9A1-6439-441D-B70A-7743D7C9B9D8}" type="datetime1">
              <a:rPr lang="en-IN" smtClean="0"/>
              <a:t>16-09-2025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F08FDC-0228-4184-9F7D-1712EC26C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0DE57F-B6E8-4A13-9761-128F47255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25AD-A2AA-4ED0-9A62-5B76F9A1CF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850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E7736-9C6C-464D-B472-37F692F6E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9F942C-F4E5-4BB6-B8D1-78419C915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CFC339-DE94-42DF-83A0-3E367691A5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884108-7351-4DB8-92D0-6CE3A37CF1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A09FBA-4D87-49DE-94EC-8FE551A307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076566-8E09-408B-9CB2-93CF4E83E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14046-7B4E-4EBF-A5CD-DA505D40A5FB}" type="datetime1">
              <a:rPr lang="en-IN" smtClean="0"/>
              <a:t>16-09-2025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DF4A49-E756-4FC9-B9DE-3212F5653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9BF859-677E-4E73-A375-852CBC0F5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25AD-A2AA-4ED0-9A62-5B76F9A1CF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659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0CEA5-1CC5-44E0-933A-6F939DB94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A08911-089E-45D1-8138-083C6D0E7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57DFA-7A7E-49BA-9026-EE678E098233}" type="datetime1">
              <a:rPr lang="en-IN" smtClean="0"/>
              <a:t>16-09-2025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0053EF-242E-40C0-ADC5-BA23FAEEF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89C373-BE4C-435E-8B6C-837B669C1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25AD-A2AA-4ED0-9A62-5B76F9A1CF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3538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6E9750-81D3-4611-BF5E-24C575624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377FB-3D9B-4923-AFF3-11F207AB515E}" type="datetime1">
              <a:rPr lang="en-IN" smtClean="0"/>
              <a:t>16-09-2025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216260-A860-4A82-B75B-5066B5DBA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28B04-5FD2-492B-8B22-3CE7B42BC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25AD-A2AA-4ED0-9A62-5B76F9A1CF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8498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A7431-A5AB-4CCD-B56D-EBECE2033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2B05F-A24D-4D84-927A-5E08B3784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BB6219-7F82-4656-9319-8D8DEBE083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75A69-F989-4551-A3DC-A43B5A1F9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EBD41-8B39-42E0-ADE0-8F9E52B8B67F}" type="datetime1">
              <a:rPr lang="en-IN" smtClean="0"/>
              <a:t>16-09-2025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035844-5402-4150-BEC0-463504621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45C687-BE9D-422B-B8C4-FDCCD87D7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25AD-A2AA-4ED0-9A62-5B76F9A1CF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043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248FB-953B-48A4-9126-050BFF694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8A37EC-5F1B-4A32-96B0-D472221C5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A3C9DA-9407-4B41-BD7C-253C7FA126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8019DE-3987-42D4-BAF8-BB5491CE8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3D005-688D-4A67-BEE3-C0A64EE06A66}" type="datetime1">
              <a:rPr lang="en-IN" smtClean="0"/>
              <a:t>16-09-2025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284CE7-AD92-4D39-88A4-48A71FCB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BC753-8D22-4318-B3EB-7FDD5C5C3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25AD-A2AA-4ED0-9A62-5B76F9A1CF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1233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7DF97-AE64-4D63-A0AE-ECC033FAC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B5055F-4C5B-493A-BA60-55ACAE8E96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002BFA-1D2B-472C-9575-1EBCA3BFA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BCB06-85BF-4A37-B361-70CAC17E2705}" type="datetime1">
              <a:rPr lang="en-IN" smtClean="0"/>
              <a:t>16-09-2025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3C234-B984-49FB-AA63-239A7E928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81D5F-0B98-4BE4-845D-D90458FD7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25AD-A2AA-4ED0-9A62-5B76F9A1CF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761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456DA-E2A2-4A20-9F75-656EF16E25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2C9B3A-0095-429D-AFE8-625806EE4A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0A9D27-2B69-4399-9A70-8156808FF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AE96F-9712-41D2-BC44-600DE77C7DF1}" type="datetime1">
              <a:rPr lang="en-IN" smtClean="0"/>
              <a:t>16-09-2025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E3C91-28ED-41F8-9DE0-242C8B0DA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06927-9444-49B4-9BD1-BE7BB48B4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25AD-A2AA-4ED0-9A62-5B76F9A1CF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0112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A2E414-808E-48CC-BAAE-323BC1F1B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C4F0CD-F8B1-4BB4-84D5-B7021671A8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2AAA5A-FD72-4DC7-8ECE-41C5110103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40752E-522E-4B92-97E8-4758E79C35CA}" type="datetime1">
              <a:rPr lang="en-IN" smtClean="0"/>
              <a:t>16-09-2025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2BE591-475F-4F5B-B3D7-A816C3BD4E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95A6FD-6A95-4B4D-BA90-D0E5EB71DC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6E25AD-A2AA-4ED0-9A62-5B76F9A1CF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987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51A4E-F220-4B8B-9824-4E9F56680E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Chapter - 6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8541B6-C3E5-461A-839E-1315CD6501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5400" dirty="0">
                <a:solidFill>
                  <a:srgbClr val="0000FF"/>
                </a:solidFill>
              </a:rPr>
              <a:t>Constructors and Destructors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B2F826-A3EF-4199-93CC-A8357B90B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25AD-A2AA-4ED0-9A62-5B76F9A1CF4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5407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90DDB-7001-405D-80EE-094A60EDB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00FF"/>
                </a:solidFill>
              </a:rPr>
              <a:t>Key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67C01-49F7-42F8-9380-9B169E0F27E1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rgbClr val="0000FF"/>
            </a:solidFill>
          </a:ln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• Constructing objects</a:t>
            </a:r>
          </a:p>
          <a:p>
            <a:pPr marL="0" indent="0">
              <a:buNone/>
            </a:pPr>
            <a:r>
              <a:rPr lang="en-IN" dirty="0"/>
              <a:t>• Constructors</a:t>
            </a:r>
          </a:p>
          <a:p>
            <a:pPr marL="0" indent="0">
              <a:buNone/>
            </a:pPr>
            <a:r>
              <a:rPr lang="en-IN" dirty="0"/>
              <a:t>• Constructor overloading</a:t>
            </a:r>
          </a:p>
          <a:p>
            <a:pPr marL="0" indent="0">
              <a:buNone/>
            </a:pPr>
            <a:r>
              <a:rPr lang="en-IN" dirty="0"/>
              <a:t>• Default argument constructor</a:t>
            </a:r>
          </a:p>
          <a:p>
            <a:pPr marL="0" indent="0">
              <a:buNone/>
            </a:pPr>
            <a:r>
              <a:rPr lang="en-IN" dirty="0"/>
              <a:t>• Copy constructor</a:t>
            </a:r>
          </a:p>
          <a:p>
            <a:pPr marL="0" indent="0">
              <a:buNone/>
            </a:pPr>
            <a:r>
              <a:rPr lang="en-IN" dirty="0"/>
              <a:t>• Constructing matrix objects</a:t>
            </a:r>
          </a:p>
          <a:p>
            <a:pPr marL="0" indent="0">
              <a:buNone/>
            </a:pPr>
            <a:r>
              <a:rPr lang="en-IN" dirty="0"/>
              <a:t>• Automatic initialization</a:t>
            </a:r>
          </a:p>
          <a:p>
            <a:pPr marL="0" indent="0">
              <a:buNone/>
            </a:pPr>
            <a:r>
              <a:rPr lang="en-IN" dirty="0"/>
              <a:t>• Parameterized constructors</a:t>
            </a:r>
          </a:p>
          <a:p>
            <a:pPr marL="0" indent="0">
              <a:buNone/>
            </a:pPr>
            <a:r>
              <a:rPr lang="en-IN" dirty="0"/>
              <a:t>• Default constructors</a:t>
            </a:r>
          </a:p>
          <a:p>
            <a:pPr marL="0" indent="0">
              <a:buNone/>
            </a:pPr>
            <a:r>
              <a:rPr lang="en-IN" dirty="0"/>
              <a:t>• Dynamic initialization</a:t>
            </a:r>
          </a:p>
          <a:p>
            <a:pPr marL="0" indent="0">
              <a:buNone/>
            </a:pPr>
            <a:r>
              <a:rPr lang="en-IN" dirty="0"/>
              <a:t>• Dynamic constructor</a:t>
            </a:r>
          </a:p>
          <a:p>
            <a:pPr marL="0" indent="0">
              <a:buNone/>
            </a:pPr>
            <a:r>
              <a:rPr lang="en-IN" dirty="0"/>
              <a:t>• Destructors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198E58-6EF6-4B82-A376-39703BD7D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25AD-A2AA-4ED0-9A62-5B76F9A1CF4B}" type="slidenum">
              <a:rPr lang="en-IN" b="1" smtClean="0">
                <a:solidFill>
                  <a:srgbClr val="0000FF"/>
                </a:solidFill>
              </a:rPr>
              <a:t>2</a:t>
            </a:fld>
            <a:endParaRPr lang="en-IN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408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8622C-D161-4C21-8FE5-0795988CD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00FF"/>
                </a:solidFill>
              </a:rPr>
              <a:t>6.1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6276B-8F8F-4259-8691-E0E888CF702C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rgbClr val="0000FF"/>
            </a:solidFill>
          </a:ln>
        </p:spPr>
        <p:txBody>
          <a:bodyPr/>
          <a:lstStyle/>
          <a:p>
            <a:r>
              <a:rPr lang="en-US" dirty="0"/>
              <a:t>Member functions such as </a:t>
            </a:r>
            <a:r>
              <a:rPr lang="en-US" dirty="0" err="1"/>
              <a:t>putdata</a:t>
            </a:r>
            <a:r>
              <a:rPr lang="en-US" dirty="0"/>
              <a:t>() and </a:t>
            </a:r>
            <a:r>
              <a:rPr lang="en-US" dirty="0" err="1"/>
              <a:t>setdata</a:t>
            </a:r>
            <a:r>
              <a:rPr lang="en-US" dirty="0"/>
              <a:t>() provide initial values to private member variables.</a:t>
            </a:r>
          </a:p>
          <a:p>
            <a:r>
              <a:rPr lang="en-US" dirty="0"/>
              <a:t>Example: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A.input</a:t>
            </a:r>
            <a:r>
              <a:rPr lang="en-US" dirty="0"/>
              <a:t>() assigns values to data members.</a:t>
            </a:r>
          </a:p>
          <a:p>
            <a:r>
              <a:rPr lang="en-US" dirty="0"/>
              <a:t>Example: </a:t>
            </a:r>
          </a:p>
          <a:p>
            <a:pPr marL="0" indent="0">
              <a:buNone/>
            </a:pPr>
            <a:r>
              <a:rPr lang="en-US" dirty="0"/>
              <a:t>           </a:t>
            </a:r>
            <a:r>
              <a:rPr lang="en-US" dirty="0" err="1"/>
              <a:t>x.getdata</a:t>
            </a:r>
            <a:r>
              <a:rPr lang="en-US" dirty="0"/>
              <a:t>(100, 299.95) passes initial values as arguments to set data in objects.</a:t>
            </a:r>
          </a:p>
          <a:p>
            <a:r>
              <a:rPr lang="en-US" dirty="0"/>
              <a:t>These functions cannot initialize member variables at object creation.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71C447-64FC-48B1-8EE2-969806936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25AD-A2AA-4ED0-9A62-5B76F9A1CF4B}" type="slidenum">
              <a:rPr lang="en-IN" b="1" smtClean="0">
                <a:solidFill>
                  <a:srgbClr val="0000FF"/>
                </a:solidFill>
              </a:rPr>
              <a:t>3</a:t>
            </a:fld>
            <a:endParaRPr lang="en-IN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1772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7E593-100E-4FA8-A9E4-C3CC7BF75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B050"/>
                </a:solidFill>
              </a:rPr>
              <a:t>Philosophy of C++ Initialization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1FDC0-CC6C-46BF-8009-EA4FF866C095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rgbClr val="0000FF"/>
            </a:solidFill>
          </a:ln>
        </p:spPr>
        <p:txBody>
          <a:bodyPr/>
          <a:lstStyle/>
          <a:p>
            <a:r>
              <a:rPr lang="en-US" dirty="0"/>
              <a:t>C++ allows user-defined data types (classes) similar to built-in types.</a:t>
            </a:r>
          </a:p>
          <a:p>
            <a:r>
              <a:rPr lang="en-US" dirty="0"/>
              <a:t>A class type variable should be initialized when declared, like built-in types.</a:t>
            </a:r>
          </a:p>
          <a:p>
            <a:pPr marL="0" indent="0">
              <a:buNone/>
            </a:pPr>
            <a:r>
              <a:rPr lang="en-US" dirty="0"/>
              <a:t>   Example: int m = 20; float x = 5.75;</a:t>
            </a:r>
          </a:p>
          <a:p>
            <a:r>
              <a:rPr lang="en-US" dirty="0"/>
              <a:t>Destructor automatically deletes objects after scope ends.</a:t>
            </a:r>
          </a:p>
          <a:p>
            <a:r>
              <a:rPr lang="en-US" dirty="0"/>
              <a:t>Special member functions:</a:t>
            </a:r>
          </a:p>
          <a:p>
            <a:pPr marL="0" indent="0">
              <a:buNone/>
            </a:pPr>
            <a:r>
              <a:rPr lang="en-US" dirty="0"/>
              <a:t>        Constructor: Initializes objects at creation.</a:t>
            </a:r>
          </a:p>
          <a:p>
            <a:pPr marL="0" indent="0">
              <a:buNone/>
            </a:pPr>
            <a:r>
              <a:rPr lang="en-US" dirty="0"/>
              <a:t>        Destructor: Destroys objects when no longer required.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A6EA6F-C2E0-4CCB-9CD1-01B0ECCF7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25AD-A2AA-4ED0-9A62-5B76F9A1CF4B}" type="slidenum">
              <a:rPr lang="en-IN" b="1" smtClean="0">
                <a:solidFill>
                  <a:srgbClr val="0000FF"/>
                </a:solidFill>
              </a:rPr>
              <a:t>4</a:t>
            </a:fld>
            <a:endParaRPr lang="en-IN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854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C980C-39A8-42A9-83E4-10D1E8FFE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617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0000FF"/>
                </a:solidFill>
              </a:rPr>
              <a:t>6.2 Constructors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00D70-2306-49F5-B482-7BD497C04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6038"/>
            <a:ext cx="10515600" cy="4790925"/>
          </a:xfrm>
          <a:ln>
            <a:solidFill>
              <a:srgbClr val="0000FF"/>
            </a:solidFill>
          </a:ln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3800" dirty="0"/>
              <a:t>• A constructor is a special member function used to initialize objects of its class.</a:t>
            </a:r>
          </a:p>
          <a:p>
            <a:pPr marL="0" indent="0">
              <a:buNone/>
            </a:pPr>
            <a:r>
              <a:rPr lang="en-US" sz="3800" dirty="0"/>
              <a:t>• It has the same name as the class.</a:t>
            </a:r>
          </a:p>
          <a:p>
            <a:pPr marL="0" indent="0">
              <a:buNone/>
            </a:pPr>
            <a:r>
              <a:rPr lang="en-US" sz="3800" dirty="0"/>
              <a:t>• Automatically invoked when an object of the class is created.</a:t>
            </a:r>
          </a:p>
          <a:p>
            <a:pPr marL="0" indent="0">
              <a:buNone/>
            </a:pPr>
            <a:r>
              <a:rPr lang="en-US" sz="3800" dirty="0"/>
              <a:t>• Called constructor because it constructs the values of data members.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3800" b="1" dirty="0"/>
              <a:t>Example:</a:t>
            </a:r>
          </a:p>
          <a:p>
            <a:pPr marL="0" indent="0">
              <a:buNone/>
            </a:pPr>
            <a:r>
              <a:rPr lang="en-US" sz="3800" dirty="0"/>
              <a:t>class integer {</a:t>
            </a:r>
          </a:p>
          <a:p>
            <a:pPr marL="0" indent="0">
              <a:buNone/>
            </a:pPr>
            <a:r>
              <a:rPr lang="en-US" sz="3800" dirty="0"/>
              <a:t>   int m, n;</a:t>
            </a:r>
          </a:p>
          <a:p>
            <a:pPr marL="0" indent="0">
              <a:buNone/>
            </a:pPr>
            <a:r>
              <a:rPr lang="en-US" sz="3800" dirty="0"/>
              <a:t>public:</a:t>
            </a:r>
          </a:p>
          <a:p>
            <a:pPr marL="0" indent="0">
              <a:buNone/>
            </a:pPr>
            <a:r>
              <a:rPr lang="en-US" sz="3800" dirty="0"/>
              <a:t>   integer(void);   // constructor declared</a:t>
            </a:r>
          </a:p>
          <a:p>
            <a:pPr marL="0" indent="0">
              <a:buNone/>
            </a:pPr>
            <a:r>
              <a:rPr lang="en-US" sz="3800" dirty="0"/>
              <a:t>};</a:t>
            </a:r>
          </a:p>
          <a:p>
            <a:pPr marL="0" indent="0">
              <a:buNone/>
            </a:pPr>
            <a:endParaRPr lang="en-US" sz="3800" dirty="0"/>
          </a:p>
          <a:p>
            <a:pPr marL="0" indent="0">
              <a:buNone/>
            </a:pPr>
            <a:r>
              <a:rPr lang="en-US" sz="3800" dirty="0"/>
              <a:t>integer::integer(void) {   // constructor defined</a:t>
            </a:r>
          </a:p>
          <a:p>
            <a:pPr marL="0" indent="0">
              <a:buNone/>
            </a:pPr>
            <a:r>
              <a:rPr lang="en-US" sz="3800" dirty="0"/>
              <a:t>   m = 0; n = 0;</a:t>
            </a:r>
          </a:p>
          <a:p>
            <a:pPr marL="0" indent="0">
              <a:buNone/>
            </a:pPr>
            <a:r>
              <a:rPr lang="en-US" sz="3800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92C03E-931B-4908-87E0-6A0B79F8B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25AD-A2AA-4ED0-9A62-5B76F9A1CF4B}" type="slidenum">
              <a:rPr lang="en-IN" b="1" smtClean="0">
                <a:solidFill>
                  <a:srgbClr val="0000FF"/>
                </a:solidFill>
              </a:rPr>
              <a:t>5</a:t>
            </a:fld>
            <a:endParaRPr lang="en-IN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606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D949-86ED-463A-BD7C-221EBB94F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741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00B050"/>
                </a:solidFill>
              </a:rPr>
              <a:t>Default Constructor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9BD80-1642-4936-865B-A0FF1263A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59"/>
            <a:ext cx="10515600" cy="4351338"/>
          </a:xfrm>
          <a:ln>
            <a:solidFill>
              <a:srgbClr val="0000FF"/>
            </a:solidFill>
          </a:ln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• When a class contains a constructor, any object created will be initialized    </a:t>
            </a:r>
          </a:p>
          <a:p>
            <a:pPr marL="0" indent="0">
              <a:buNone/>
            </a:pPr>
            <a:r>
              <a:rPr lang="en-US" dirty="0"/>
              <a:t>   automatically.</a:t>
            </a:r>
          </a:p>
          <a:p>
            <a:pPr marL="0" indent="0">
              <a:buNone/>
            </a:pPr>
            <a:r>
              <a:rPr lang="en-US" b="1" dirty="0"/>
              <a:t>   Example:</a:t>
            </a:r>
          </a:p>
          <a:p>
            <a:pPr marL="0" indent="0">
              <a:buNone/>
            </a:pPr>
            <a:r>
              <a:rPr lang="en-US" dirty="0"/>
              <a:t>    integer int1;   // object int1 created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This initializes data members (m, n) to zero without explicit function call.</a:t>
            </a:r>
          </a:p>
          <a:p>
            <a:pPr marL="0" indent="0">
              <a:buNone/>
            </a:pPr>
            <a:r>
              <a:rPr lang="en-US" dirty="0"/>
              <a:t>• A constructor with no parameters is called the default constructor.</a:t>
            </a:r>
          </a:p>
          <a:p>
            <a:pPr marL="0" indent="0">
              <a:buNone/>
            </a:pPr>
            <a:r>
              <a:rPr lang="en-US" dirty="0"/>
              <a:t>• Default constructor for class A is A::A().</a:t>
            </a:r>
          </a:p>
          <a:p>
            <a:pPr marL="0" indent="0">
              <a:buNone/>
            </a:pPr>
            <a:r>
              <a:rPr lang="en-US" dirty="0"/>
              <a:t>• If no constructor is defined, the compiler supplies a default constructor.</a:t>
            </a:r>
          </a:p>
          <a:p>
            <a:pPr marL="0" indent="0">
              <a:buNone/>
            </a:pPr>
            <a:r>
              <a:rPr lang="en-US" dirty="0"/>
              <a:t>• Example:</a:t>
            </a:r>
          </a:p>
          <a:p>
            <a:pPr marL="0" indent="0">
              <a:buNone/>
            </a:pPr>
            <a:r>
              <a:rPr lang="en-US" dirty="0"/>
              <a:t>    A </a:t>
            </a:r>
            <a:r>
              <a:rPr lang="en-US" dirty="0" err="1"/>
              <a:t>a</a:t>
            </a:r>
            <a:r>
              <a:rPr lang="en-US" dirty="0"/>
              <a:t>;   // invokes default constructor to create object a.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B4177-1087-451E-8B6B-B84C3F4D8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25AD-A2AA-4ED0-9A62-5B76F9A1CF4B}" type="slidenum">
              <a:rPr lang="en-IN" b="1" smtClean="0">
                <a:solidFill>
                  <a:srgbClr val="0000FF"/>
                </a:solidFill>
              </a:rPr>
              <a:t>6</a:t>
            </a:fld>
            <a:endParaRPr lang="en-IN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088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ED8C9-CA49-4CCB-9C97-4DF474729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B050"/>
                </a:solidFill>
              </a:rPr>
              <a:t>Characteristics of Constructors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049EDD-E0D1-4334-A8B0-91640D227DF6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rgbClr val="0000FF"/>
            </a:solidFill>
          </a:ln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• Declared in the public section of a class.</a:t>
            </a:r>
          </a:p>
          <a:p>
            <a:pPr marL="0" indent="0">
              <a:buNone/>
            </a:pPr>
            <a:r>
              <a:rPr lang="en-US" dirty="0"/>
              <a:t>• Invoked automatically when objects are created.</a:t>
            </a:r>
          </a:p>
          <a:p>
            <a:pPr marL="0" indent="0">
              <a:buNone/>
            </a:pPr>
            <a:r>
              <a:rPr lang="en-US" dirty="0"/>
              <a:t>• Do not have return types, not even void.</a:t>
            </a:r>
          </a:p>
          <a:p>
            <a:pPr marL="0" indent="0">
              <a:buNone/>
            </a:pPr>
            <a:r>
              <a:rPr lang="en-US" dirty="0"/>
              <a:t>• Cannot be inherited (though derived class can call base class constructor).</a:t>
            </a:r>
          </a:p>
          <a:p>
            <a:pPr marL="0" indent="0">
              <a:buNone/>
            </a:pPr>
            <a:r>
              <a:rPr lang="en-US" dirty="0"/>
              <a:t>• Can have default arguments.</a:t>
            </a:r>
          </a:p>
          <a:p>
            <a:pPr marL="0" indent="0">
              <a:buNone/>
            </a:pPr>
            <a:r>
              <a:rPr lang="en-US" dirty="0"/>
              <a:t>• Constructors cannot be virtual.</a:t>
            </a:r>
          </a:p>
          <a:p>
            <a:pPr marL="0" indent="0">
              <a:buNone/>
            </a:pPr>
            <a:r>
              <a:rPr lang="en-US" dirty="0"/>
              <a:t>• Cannot refer to their addresses.</a:t>
            </a:r>
          </a:p>
          <a:p>
            <a:pPr marL="0" indent="0">
              <a:buNone/>
            </a:pPr>
            <a:r>
              <a:rPr lang="en-US" dirty="0"/>
              <a:t>• Object with constructor/destructor cannot be a union member.</a:t>
            </a:r>
          </a:p>
          <a:p>
            <a:pPr marL="0" indent="0">
              <a:buNone/>
            </a:pPr>
            <a:r>
              <a:rPr lang="en-US" dirty="0"/>
              <a:t>• Implicitly call operators new and delete for memory allocation.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Note: Declaring a constructor makes object initialization mandatory.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96C796-91E7-454C-BD29-E7778C598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25AD-A2AA-4ED0-9A62-5B76F9A1CF4B}" type="slidenum">
              <a:rPr lang="en-IN" b="1" smtClean="0">
                <a:solidFill>
                  <a:srgbClr val="0000FF"/>
                </a:solidFill>
              </a:rPr>
              <a:t>7</a:t>
            </a:fld>
            <a:endParaRPr lang="en-IN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0476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D8924-BDD3-488B-89F0-3BA8AA86D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00FF"/>
                </a:solidFill>
              </a:rPr>
              <a:t>6.3 Parameterized Constructors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FF07C-44C6-4B48-8937-86CB15A295F3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rgbClr val="0000FF"/>
            </a:solidFill>
          </a:ln>
        </p:spPr>
        <p:txBody>
          <a:bodyPr>
            <a:normAutofit fontScale="85000" lnSpcReduction="20000"/>
          </a:bodyPr>
          <a:lstStyle/>
          <a:p>
            <a:r>
              <a:rPr lang="en-US" dirty="0"/>
              <a:t>A constructor initializes data members of objects.</a:t>
            </a:r>
          </a:p>
          <a:p>
            <a:endParaRPr lang="en-US" dirty="0"/>
          </a:p>
          <a:p>
            <a:r>
              <a:rPr lang="en-US" dirty="0"/>
              <a:t>Default constructor initializes all data members to zero.</a:t>
            </a:r>
          </a:p>
          <a:p>
            <a:endParaRPr lang="en-US" dirty="0"/>
          </a:p>
          <a:p>
            <a:r>
              <a:rPr lang="en-US" dirty="0"/>
              <a:t>In practice, objects may need different initial values.</a:t>
            </a:r>
          </a:p>
          <a:p>
            <a:endParaRPr lang="en-US" dirty="0"/>
          </a:p>
          <a:p>
            <a:r>
              <a:rPr lang="en-US" dirty="0"/>
              <a:t>C++ allows passing arguments to constructors.</a:t>
            </a:r>
          </a:p>
          <a:p>
            <a:endParaRPr lang="en-US" dirty="0"/>
          </a:p>
          <a:p>
            <a:r>
              <a:rPr lang="en-US" dirty="0"/>
              <a:t>This enables initialization of objects with different values.</a:t>
            </a:r>
          </a:p>
          <a:p>
            <a:endParaRPr lang="en-US" dirty="0"/>
          </a:p>
          <a:p>
            <a:r>
              <a:rPr lang="en-US" dirty="0"/>
              <a:t>Such constructors are called parameterized constructors.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BBB5C6C-8890-4F57-9D8A-0D0D63E98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25AD-A2AA-4ED0-9A62-5B76F9A1CF4B}" type="slidenum">
              <a:rPr lang="en-IN" b="1" smtClean="0">
                <a:solidFill>
                  <a:srgbClr val="0000FF"/>
                </a:solidFill>
              </a:rPr>
              <a:t>8</a:t>
            </a:fld>
            <a:endParaRPr lang="en-IN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29421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C9A4C-66D8-4D20-80F2-6334533F0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6"/>
                </a:solidFill>
              </a:rPr>
              <a:t>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33AEFD-10A5-4DD2-9C60-290C5F2D71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41929" y="1981755"/>
            <a:ext cx="6606332" cy="3966658"/>
          </a:xfrm>
          <a:ln>
            <a:solidFill>
              <a:srgbClr val="0000FF"/>
            </a:solidFill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AC12D-7AB4-49B9-82E6-35EE4F4CB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25AD-A2AA-4ED0-9A62-5B76F9A1CF4B}" type="slidenum">
              <a:rPr lang="en-IN" b="1" smtClean="0">
                <a:solidFill>
                  <a:srgbClr val="0000FF"/>
                </a:solidFill>
              </a:rPr>
              <a:t>9</a:t>
            </a:fld>
            <a:endParaRPr lang="en-IN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34396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95392-9483-4134-8B7E-BF05FDF14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4029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6"/>
                </a:solidFill>
              </a:rPr>
              <a:t>Object Creation with Parameterized Constructors</a:t>
            </a:r>
            <a:endParaRPr lang="en-IN" sz="4000" b="1" dirty="0">
              <a:solidFill>
                <a:schemeClr val="accent6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F5584B-0F08-443D-942B-D523FF172B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103546"/>
            <a:ext cx="7287642" cy="1895740"/>
          </a:xfrm>
          <a:ln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4A2DB4-D6F3-4A0A-9039-A75684AA1D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0990" y="3053678"/>
            <a:ext cx="6887536" cy="178142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B7C1AC-0BC4-4A8F-8891-925131540B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0990" y="4827883"/>
            <a:ext cx="5463068" cy="173379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504F8AB-A452-4221-B45C-04A2B56A7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25AD-A2AA-4ED0-9A62-5B76F9A1CF4B}" type="slidenum">
              <a:rPr lang="en-IN" b="1" smtClean="0">
                <a:solidFill>
                  <a:srgbClr val="0000FF"/>
                </a:solidFill>
              </a:rPr>
              <a:t>10</a:t>
            </a:fld>
            <a:endParaRPr lang="en-IN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88367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4A64D-BA92-4D39-8916-FEA90547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6"/>
                </a:solidFill>
              </a:rPr>
              <a:t>Continue…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5D87E4-5E6C-4047-866C-E1F0D7AE12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4420" y="1525241"/>
            <a:ext cx="9583159" cy="1325562"/>
          </a:xfrm>
          <a:ln>
            <a:solidFill>
              <a:srgbClr val="0000FF"/>
            </a:solidFill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AFEB0-47B1-42B1-B85C-7E7444578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25AD-A2AA-4ED0-9A62-5B76F9A1CF4B}" type="slidenum">
              <a:rPr lang="en-IN" b="1" smtClean="0">
                <a:solidFill>
                  <a:srgbClr val="0000FF"/>
                </a:solidFill>
              </a:rPr>
              <a:t>11</a:t>
            </a:fld>
            <a:endParaRPr lang="en-IN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51872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B2FF2-F61D-41F6-AF16-F12981238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B050"/>
                </a:solidFill>
              </a:rPr>
              <a:t>Continue…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32C1B02-DFDE-4DDC-B602-E25DACCB35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0694" y="1972394"/>
            <a:ext cx="8023601" cy="3619884"/>
          </a:xfrm>
          <a:ln>
            <a:solidFill>
              <a:srgbClr val="0000FF"/>
            </a:solidFill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3ADB81-8F10-4CD5-84C9-43339B40F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25AD-A2AA-4ED0-9A62-5B76F9A1CF4B}" type="slidenum">
              <a:rPr lang="en-IN" b="1" smtClean="0">
                <a:solidFill>
                  <a:srgbClr val="0000FF"/>
                </a:solidFill>
              </a:rPr>
              <a:t>12</a:t>
            </a:fld>
            <a:endParaRPr lang="en-IN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78015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48EDD-B4D9-4D8C-BC51-E5EA595A7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B050"/>
                </a:solidFill>
              </a:rPr>
              <a:t>Continue…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9397AEB-CEEF-4726-9AEE-031E36B3CC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4315" y="1694772"/>
            <a:ext cx="8575852" cy="3468456"/>
          </a:xfrm>
          <a:ln>
            <a:solidFill>
              <a:srgbClr val="0000FF"/>
            </a:solidFill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551266-20BC-49DF-B26E-7C2F6E5D7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25AD-A2AA-4ED0-9A62-5B76F9A1CF4B}" type="slidenum">
              <a:rPr lang="en-IN" b="1" smtClean="0">
                <a:solidFill>
                  <a:srgbClr val="0000FF"/>
                </a:solidFill>
              </a:rPr>
              <a:t>13</a:t>
            </a:fld>
            <a:endParaRPr lang="en-IN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4528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63C89-2ACF-4E1A-8C09-42FA3C6E0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B050"/>
                </a:solidFill>
              </a:rPr>
              <a:t>Continue…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0747378-47C7-4AB7-B915-9561DF0E87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8498" y="1690688"/>
            <a:ext cx="9555004" cy="3443754"/>
          </a:xfrm>
          <a:ln>
            <a:solidFill>
              <a:srgbClr val="0000FF"/>
            </a:solidFill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81AB12-DCA7-4E12-A5C9-FC375AD95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25AD-A2AA-4ED0-9A62-5B76F9A1CF4B}" type="slidenum">
              <a:rPr lang="en-IN" b="1" smtClean="0">
                <a:solidFill>
                  <a:srgbClr val="0000FF"/>
                </a:solidFill>
              </a:rPr>
              <a:t>14</a:t>
            </a:fld>
            <a:endParaRPr lang="en-IN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08917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00FF"/>
                </a:solidFill>
              </a:rPr>
              <a:t>6.4 Multiple Constructors in a Class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rgbClr val="0000FF"/>
            </a:solidFill>
          </a:ln>
        </p:spPr>
        <p:txBody>
          <a:bodyPr/>
          <a:lstStyle/>
          <a:p>
            <a:pPr marL="0" indent="0">
              <a:buNone/>
            </a:pPr>
            <a:r>
              <a:rPr dirty="0"/>
              <a:t>• Constructors are special functions used for object initialization.</a:t>
            </a:r>
          </a:p>
          <a:p>
            <a:pPr marL="0" indent="0">
              <a:buNone/>
            </a:pPr>
            <a:r>
              <a:rPr dirty="0"/>
              <a:t>• A class can have multiple constructors with different argument lists.</a:t>
            </a:r>
          </a:p>
          <a:p>
            <a:pPr marL="0" indent="0">
              <a:buNone/>
            </a:pPr>
            <a:r>
              <a:rPr dirty="0"/>
              <a:t>• This is called Constructor Overloading.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FE4D12-4389-4E23-A8F4-06B700515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25AD-A2AA-4ED0-9A62-5B76F9A1CF4B}" type="slidenum">
              <a:rPr lang="en-IN" b="1" smtClean="0">
                <a:solidFill>
                  <a:srgbClr val="0000FF"/>
                </a:solidFill>
              </a:rPr>
              <a:t>15</a:t>
            </a:fld>
            <a:endParaRPr lang="en-IN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>
                <a:solidFill>
                  <a:srgbClr val="00B050"/>
                </a:solidFill>
              </a:rPr>
              <a:t>Types of Constructors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rgbClr val="0000FF"/>
            </a:solidFill>
          </a:ln>
        </p:spPr>
        <p:txBody>
          <a:bodyPr/>
          <a:lstStyle/>
          <a:p>
            <a:pPr marL="0" indent="0">
              <a:buNone/>
            </a:pPr>
            <a:r>
              <a:rPr dirty="0"/>
              <a:t>1. Constructor with no arguments.</a:t>
            </a:r>
          </a:p>
          <a:p>
            <a:pPr marL="0" indent="0">
              <a:buNone/>
            </a:pPr>
            <a:r>
              <a:rPr dirty="0"/>
              <a:t>2. Constructor with two integer arguments.</a:t>
            </a:r>
          </a:p>
          <a:p>
            <a:pPr marL="0" indent="0">
              <a:buNone/>
            </a:pPr>
            <a:r>
              <a:rPr dirty="0"/>
              <a:t>3. Constructor with one object as argument (Copy Constructor).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BC4D5C-A503-4365-B702-5463B6D95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25AD-A2AA-4ED0-9A62-5B76F9A1CF4B}" type="slidenum">
              <a:rPr lang="en-IN" b="1" smtClean="0">
                <a:solidFill>
                  <a:srgbClr val="0000FF"/>
                </a:solidFill>
              </a:rPr>
              <a:t>16</a:t>
            </a:fld>
            <a:endParaRPr lang="en-IN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00B050"/>
                </a:solidFill>
              </a:rPr>
              <a:t>Example: </a:t>
            </a:r>
            <a:r>
              <a:rPr dirty="0"/>
              <a:t>Class integer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rgbClr val="0000FF"/>
            </a:solidFill>
          </a:ln>
        </p:spPr>
        <p:txBody>
          <a:bodyPr/>
          <a:lstStyle/>
          <a:p>
            <a:pPr marL="0" indent="0">
              <a:buNone/>
            </a:pPr>
            <a:r>
              <a:rPr dirty="0"/>
              <a:t>class integer {</a:t>
            </a:r>
          </a:p>
          <a:p>
            <a:pPr marL="0" indent="0">
              <a:buNone/>
            </a:pPr>
            <a:r>
              <a:rPr dirty="0"/>
              <a:t>   int m, n;</a:t>
            </a:r>
          </a:p>
          <a:p>
            <a:pPr marL="0" indent="0">
              <a:buNone/>
            </a:pPr>
            <a:r>
              <a:rPr dirty="0"/>
              <a:t>public:</a:t>
            </a:r>
          </a:p>
          <a:p>
            <a:pPr marL="0" indent="0">
              <a:buNone/>
            </a:pPr>
            <a:r>
              <a:rPr dirty="0"/>
              <a:t>   integer() {m=0; n=0;}       // Constructor 1</a:t>
            </a:r>
          </a:p>
          <a:p>
            <a:pPr marL="0" indent="0">
              <a:buNone/>
            </a:pPr>
            <a:r>
              <a:rPr dirty="0"/>
              <a:t>   integer(int a, int b) {m=a; n=b;}   // Constructor 2</a:t>
            </a:r>
          </a:p>
          <a:p>
            <a:pPr marL="0" indent="0">
              <a:buNone/>
            </a:pPr>
            <a:r>
              <a:rPr dirty="0"/>
              <a:t>   integer(integer &amp;</a:t>
            </a:r>
            <a:r>
              <a:rPr dirty="0" err="1"/>
              <a:t>i</a:t>
            </a:r>
            <a:r>
              <a:rPr dirty="0"/>
              <a:t>) {m=</a:t>
            </a:r>
            <a:r>
              <a:rPr dirty="0" err="1"/>
              <a:t>i.m</a:t>
            </a:r>
            <a:r>
              <a:rPr dirty="0"/>
              <a:t>; n=</a:t>
            </a:r>
            <a:r>
              <a:rPr dirty="0" err="1"/>
              <a:t>i.n</a:t>
            </a:r>
            <a:r>
              <a:rPr dirty="0"/>
              <a:t>;} // Constructor 3</a:t>
            </a:r>
          </a:p>
          <a:p>
            <a:pPr marL="0" indent="0">
              <a:buNone/>
            </a:pPr>
            <a:r>
              <a:rPr dirty="0"/>
              <a:t>};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D95BF-18B8-4514-B10C-0461D368A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25AD-A2AA-4ED0-9A62-5B76F9A1CF4B}" type="slidenum">
              <a:rPr lang="en-IN" b="1" smtClean="0">
                <a:solidFill>
                  <a:srgbClr val="0000FF"/>
                </a:solidFill>
              </a:rPr>
              <a:t>17</a:t>
            </a:fld>
            <a:endParaRPr lang="en-IN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00B050"/>
                </a:solidFill>
              </a:rPr>
              <a:t>Usage</a:t>
            </a:r>
            <a:r>
              <a:rPr dirty="0"/>
              <a:t>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rgbClr val="0000FF"/>
            </a:solidFill>
          </a:ln>
        </p:spPr>
        <p:txBody>
          <a:bodyPr/>
          <a:lstStyle/>
          <a:p>
            <a:pPr marL="0" indent="0">
              <a:buNone/>
            </a:pPr>
            <a:r>
              <a:rPr dirty="0"/>
              <a:t>• integer I1;        // Calls constructor 1 (m=0, n=0)</a:t>
            </a:r>
          </a:p>
          <a:p>
            <a:pPr marL="0" indent="0">
              <a:buNone/>
            </a:pPr>
            <a:r>
              <a:rPr dirty="0"/>
              <a:t>• integer I2(20,40); // Calls constructor 2 (m=20, n=40)</a:t>
            </a:r>
          </a:p>
          <a:p>
            <a:pPr marL="0" indent="0">
              <a:buNone/>
            </a:pPr>
            <a:r>
              <a:rPr dirty="0"/>
              <a:t>• integer I3(I2);    // Calls constructor 3 (copy constructor)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5771BA-E153-42B8-B1BF-53E88280F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25AD-A2AA-4ED0-9A62-5B76F9A1CF4B}" type="slidenum">
              <a:rPr lang="en-IN" b="1" smtClean="0">
                <a:solidFill>
                  <a:srgbClr val="0000FF"/>
                </a:solidFill>
              </a:rPr>
              <a:t>18</a:t>
            </a:fld>
            <a:endParaRPr lang="en-IN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>
                <a:solidFill>
                  <a:srgbClr val="00B050"/>
                </a:solidFill>
              </a:rPr>
              <a:t>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rgbClr val="0000FF"/>
            </a:solidFill>
          </a:ln>
        </p:spPr>
        <p:txBody>
          <a:bodyPr/>
          <a:lstStyle/>
          <a:p>
            <a:pPr marL="0" indent="0" algn="just">
              <a:buNone/>
            </a:pPr>
            <a:r>
              <a:rPr dirty="0"/>
              <a:t>• Constructor overloading allows multiple constructors in the same</a:t>
            </a:r>
            <a:endParaRPr lang="en-IN" dirty="0"/>
          </a:p>
          <a:p>
            <a:pPr marL="0" indent="0" algn="just">
              <a:buNone/>
            </a:pPr>
            <a:r>
              <a:rPr lang="en-IN" dirty="0"/>
              <a:t>   </a:t>
            </a:r>
            <a:r>
              <a:rPr dirty="0"/>
              <a:t> class.</a:t>
            </a:r>
          </a:p>
          <a:p>
            <a:pPr marL="0" indent="0" algn="just">
              <a:buNone/>
            </a:pPr>
            <a:r>
              <a:rPr dirty="0"/>
              <a:t>• The compiler chooses the constructor based on the arguments.</a:t>
            </a:r>
          </a:p>
          <a:p>
            <a:pPr marL="0" indent="0" algn="just">
              <a:buNone/>
            </a:pPr>
            <a:r>
              <a:rPr dirty="0"/>
              <a:t>• Copy constructor is used to create a new object as a copy of an</a:t>
            </a:r>
            <a:endParaRPr lang="en-IN" dirty="0"/>
          </a:p>
          <a:p>
            <a:pPr marL="0" indent="0" algn="just">
              <a:buNone/>
            </a:pPr>
            <a:r>
              <a:rPr lang="en-IN" dirty="0"/>
              <a:t>   </a:t>
            </a:r>
            <a:r>
              <a:rPr dirty="0"/>
              <a:t> existing one.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DD751-8053-444C-8D84-44324E2BC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25AD-A2AA-4ED0-9A62-5B76F9A1CF4B}" type="slidenum">
              <a:rPr lang="en-IN" b="1" smtClean="0">
                <a:solidFill>
                  <a:srgbClr val="0000FF"/>
                </a:solidFill>
              </a:rPr>
              <a:t>19</a:t>
            </a:fld>
            <a:endParaRPr lang="en-IN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00FF"/>
                </a:solidFill>
              </a:rPr>
              <a:t>6.5 Constructors with Default Arguments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rgbClr val="0000FF"/>
            </a:solidFill>
          </a:ln>
        </p:spPr>
        <p:txBody>
          <a:bodyPr/>
          <a:lstStyle/>
          <a:p>
            <a:pPr marL="0" indent="0">
              <a:buNone/>
            </a:pPr>
            <a:r>
              <a:rPr dirty="0"/>
              <a:t>• Constructors can have default arguments.</a:t>
            </a:r>
          </a:p>
          <a:p>
            <a:pPr marL="0" indent="0">
              <a:buNone/>
            </a:pPr>
            <a:r>
              <a:rPr dirty="0"/>
              <a:t>• Default values are used when arguments are not provided.</a:t>
            </a:r>
          </a:p>
          <a:p>
            <a:pPr marL="0" indent="0">
              <a:buNone/>
            </a:pPr>
            <a:r>
              <a:rPr dirty="0"/>
              <a:t>• Helps simplify object initialization.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07A445-B72B-4240-AA17-478A830E9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25AD-A2AA-4ED0-9A62-5B76F9A1CF4B}" type="slidenum">
              <a:rPr lang="en-IN" b="1" smtClean="0">
                <a:solidFill>
                  <a:srgbClr val="0000FF"/>
                </a:solidFill>
              </a:rPr>
              <a:t>20</a:t>
            </a:fld>
            <a:endParaRPr lang="en-IN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>
                <a:solidFill>
                  <a:srgbClr val="00B050"/>
                </a:solidFill>
              </a:rPr>
              <a:t>Example Declaration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rgbClr val="0000FF"/>
            </a:solidFill>
          </a:ln>
        </p:spPr>
        <p:txBody>
          <a:bodyPr/>
          <a:lstStyle/>
          <a:p>
            <a:pPr marL="0" indent="0">
              <a:buNone/>
            </a:pPr>
            <a:r>
              <a:rPr dirty="0"/>
              <a:t>complex(float real, float </a:t>
            </a:r>
            <a:r>
              <a:rPr dirty="0" err="1"/>
              <a:t>imag</a:t>
            </a:r>
            <a:r>
              <a:rPr dirty="0"/>
              <a:t> = 0);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• The default value of '</a:t>
            </a:r>
            <a:r>
              <a:rPr dirty="0" err="1"/>
              <a:t>imag</a:t>
            </a:r>
            <a:r>
              <a:rPr dirty="0"/>
              <a:t>' is 0.</a:t>
            </a:r>
          </a:p>
          <a:p>
            <a:pPr marL="0" indent="0">
              <a:buNone/>
            </a:pPr>
            <a:r>
              <a:rPr dirty="0"/>
              <a:t>• If only 'real' is provided, '</a:t>
            </a:r>
            <a:r>
              <a:rPr dirty="0" err="1"/>
              <a:t>imag</a:t>
            </a:r>
            <a:r>
              <a:rPr dirty="0"/>
              <a:t>' is automatically set to 0.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81B28C-8B22-4995-979F-E48247F26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25AD-A2AA-4ED0-9A62-5B76F9A1CF4B}" type="slidenum">
              <a:rPr lang="en-IN" b="1" smtClean="0">
                <a:solidFill>
                  <a:srgbClr val="0000FF"/>
                </a:solidFill>
              </a:rPr>
              <a:t>21</a:t>
            </a:fld>
            <a:endParaRPr lang="en-IN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>
                <a:solidFill>
                  <a:srgbClr val="00B050"/>
                </a:solidFill>
              </a:rPr>
              <a:t>Example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rgbClr val="0000FF"/>
            </a:solidFill>
          </a:ln>
        </p:spPr>
        <p:txBody>
          <a:bodyPr/>
          <a:lstStyle/>
          <a:p>
            <a:pPr marL="0" indent="0">
              <a:buNone/>
            </a:pPr>
            <a:r>
              <a:rPr dirty="0"/>
              <a:t>complex C(5.0);</a:t>
            </a:r>
          </a:p>
          <a:p>
            <a:pPr marL="0" indent="0">
              <a:buNone/>
            </a:pPr>
            <a:r>
              <a:rPr dirty="0"/>
              <a:t>→ real = 5.0, </a:t>
            </a:r>
            <a:r>
              <a:rPr dirty="0" err="1"/>
              <a:t>imag</a:t>
            </a:r>
            <a:r>
              <a:rPr dirty="0"/>
              <a:t> = 0.0 (default)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complex C(2.0, 3.0);</a:t>
            </a:r>
          </a:p>
          <a:p>
            <a:pPr marL="0" indent="0">
              <a:buNone/>
            </a:pPr>
            <a:r>
              <a:rPr dirty="0"/>
              <a:t>→ real = 2.0, </a:t>
            </a:r>
            <a:r>
              <a:rPr dirty="0" err="1"/>
              <a:t>imag</a:t>
            </a:r>
            <a:r>
              <a:rPr dirty="0"/>
              <a:t> = 3.0 (explicit values)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8371B9-AF9B-4B3A-95C6-AD81587C2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25AD-A2AA-4ED0-9A62-5B76F9A1CF4B}" type="slidenum">
              <a:rPr lang="en-IN" b="1" smtClean="0">
                <a:solidFill>
                  <a:srgbClr val="0000FF"/>
                </a:solidFill>
              </a:rPr>
              <a:t>22</a:t>
            </a:fld>
            <a:endParaRPr lang="en-IN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>
                <a:solidFill>
                  <a:srgbClr val="00B050"/>
                </a:solidFill>
              </a:rPr>
              <a:t>Key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rgbClr val="0000FF"/>
            </a:solidFill>
          </a:ln>
        </p:spPr>
        <p:txBody>
          <a:bodyPr/>
          <a:lstStyle/>
          <a:p>
            <a:pPr marL="0" indent="0">
              <a:buNone/>
            </a:pPr>
            <a:r>
              <a:rPr dirty="0"/>
              <a:t>• Default arguments must be trailing (from right to left).</a:t>
            </a:r>
          </a:p>
          <a:p>
            <a:pPr marL="0" indent="0">
              <a:buNone/>
            </a:pPr>
            <a:r>
              <a:rPr dirty="0"/>
              <a:t>• Missing arguments are replaced by their default values.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85869B-595B-453E-A4A1-CBC1A267A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25AD-A2AA-4ED0-9A62-5B76F9A1CF4B}" type="slidenum">
              <a:rPr lang="en-IN" b="1" smtClean="0">
                <a:solidFill>
                  <a:srgbClr val="0000FF"/>
                </a:solidFill>
              </a:rPr>
              <a:t>23</a:t>
            </a:fld>
            <a:endParaRPr lang="en-IN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>
                <a:solidFill>
                  <a:srgbClr val="00B050"/>
                </a:solidFill>
              </a:rPr>
              <a:t>Default Constructor </a:t>
            </a:r>
            <a:r>
              <a:rPr b="1" dirty="0">
                <a:solidFill>
                  <a:srgbClr val="FF0000"/>
                </a:solidFill>
              </a:rPr>
              <a:t>vs</a:t>
            </a:r>
            <a:r>
              <a:rPr b="1" dirty="0">
                <a:solidFill>
                  <a:srgbClr val="00B050"/>
                </a:solidFill>
              </a:rPr>
              <a:t> Default Argument Constructor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rgbClr val="0000FF"/>
            </a:solidFill>
          </a:ln>
        </p:spPr>
        <p:txBody>
          <a:bodyPr/>
          <a:lstStyle/>
          <a:p>
            <a:pPr marL="0" indent="0">
              <a:buNone/>
            </a:pPr>
            <a:r>
              <a:rPr dirty="0"/>
              <a:t>• Default Constructor: A::A()</a:t>
            </a:r>
          </a:p>
          <a:p>
            <a:pPr marL="0" indent="0">
              <a:buNone/>
            </a:pPr>
            <a:r>
              <a:rPr dirty="0"/>
              <a:t>• Default Argument Constructor: A::A(int = 0)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Ambiguity arises when both are defined in the same class:</a:t>
            </a:r>
          </a:p>
          <a:p>
            <a:pPr marL="0" indent="0">
              <a:buNone/>
            </a:pPr>
            <a:r>
              <a:rPr dirty="0"/>
              <a:t>   A </a:t>
            </a:r>
            <a:r>
              <a:rPr dirty="0" err="1"/>
              <a:t>a</a:t>
            </a:r>
            <a:r>
              <a:rPr dirty="0"/>
              <a:t>; // Compiler confusion: call A::A() or A::A(int=0)?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579571-329F-4735-A5C5-7C16A49C7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25AD-A2AA-4ED0-9A62-5B76F9A1CF4B}" type="slidenum">
              <a:rPr lang="en-IN" b="1" smtClean="0">
                <a:solidFill>
                  <a:srgbClr val="0000FF"/>
                </a:solidFill>
              </a:rPr>
              <a:t>24</a:t>
            </a:fld>
            <a:endParaRPr lang="en-IN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00FF"/>
                </a:solidFill>
              </a:rPr>
              <a:t>6.6 Dynamic Initialization of Objects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rgbClr val="0000FF"/>
            </a:solidFill>
          </a:ln>
        </p:spPr>
        <p:txBody>
          <a:bodyPr/>
          <a:lstStyle/>
          <a:p>
            <a:pPr marL="0" indent="0">
              <a:buNone/>
            </a:pPr>
            <a:r>
              <a:rPr dirty="0"/>
              <a:t>• Class objects can be initialized dynamically.</a:t>
            </a:r>
          </a:p>
          <a:p>
            <a:pPr marL="0" indent="0">
              <a:buNone/>
            </a:pPr>
            <a:r>
              <a:rPr dirty="0"/>
              <a:t>• Initial value of an object may be provided during run time.</a:t>
            </a:r>
          </a:p>
          <a:p>
            <a:pPr marL="0" indent="0">
              <a:buNone/>
            </a:pPr>
            <a:r>
              <a:rPr dirty="0"/>
              <a:t>• Advantage: Provides various initialization formats using overloaded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</a:t>
            </a:r>
            <a:r>
              <a:rPr dirty="0"/>
              <a:t> constructors.</a:t>
            </a:r>
          </a:p>
          <a:p>
            <a:pPr marL="0" indent="0">
              <a:buNone/>
            </a:pPr>
            <a:r>
              <a:rPr dirty="0"/>
              <a:t>• Flexibility: Different formats of data can be used at run time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</a:t>
            </a:r>
            <a:r>
              <a:rPr dirty="0"/>
              <a:t> depending on the situation.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692093-1D1F-40D1-8AC5-732E27725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25AD-A2AA-4ED0-9A62-5B76F9A1CF4B}" type="slidenum">
              <a:rPr lang="en-IN" b="1" smtClean="0">
                <a:solidFill>
                  <a:srgbClr val="0000FF"/>
                </a:solidFill>
              </a:rPr>
              <a:t>25</a:t>
            </a:fld>
            <a:endParaRPr lang="en-IN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00B050"/>
                </a:solidFill>
              </a:rPr>
              <a:t>Example</a:t>
            </a:r>
            <a:r>
              <a:rPr dirty="0"/>
              <a:t>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rgbClr val="0000FF"/>
            </a:solidFill>
          </a:ln>
        </p:spPr>
        <p:txBody>
          <a:bodyPr/>
          <a:lstStyle/>
          <a:p>
            <a:pPr marL="0" indent="0">
              <a:buNone/>
            </a:pPr>
            <a:r>
              <a:rPr dirty="0"/>
              <a:t>• Consider long term deposit schemes in commercial banks.</a:t>
            </a:r>
          </a:p>
          <a:p>
            <a:pPr marL="0" indent="0">
              <a:buNone/>
            </a:pPr>
            <a:r>
              <a:rPr dirty="0"/>
              <a:t>• Banks provide different interest rates for different schemes.</a:t>
            </a:r>
          </a:p>
          <a:p>
            <a:pPr marL="0" indent="0">
              <a:buNone/>
            </a:pPr>
            <a:r>
              <a:rPr dirty="0"/>
              <a:t>• Rates vary for different periods of investment.</a:t>
            </a:r>
          </a:p>
          <a:p>
            <a:pPr marL="0" indent="0">
              <a:buNone/>
            </a:pPr>
            <a:r>
              <a:rPr dirty="0"/>
              <a:t>• Program 6.3 illustrates the use of class variables for account details.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8C82F2-8BDD-407D-B43C-557AA8BB4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25AD-A2AA-4ED0-9A62-5B76F9A1CF4B}" type="slidenum">
              <a:rPr lang="en-IN" b="1" smtClean="0">
                <a:solidFill>
                  <a:srgbClr val="0000FF"/>
                </a:solidFill>
              </a:rPr>
              <a:t>26</a:t>
            </a:fld>
            <a:endParaRPr lang="en-IN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00B050"/>
                </a:solidFill>
              </a:rPr>
              <a:t>Dynamic Initialization </a:t>
            </a:r>
            <a:r>
              <a:rPr dirty="0"/>
              <a:t>in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rgbClr val="0000FF"/>
            </a:solidFill>
          </a:ln>
        </p:spPr>
        <p:txBody>
          <a:bodyPr/>
          <a:lstStyle/>
          <a:p>
            <a:pPr marL="0" indent="0">
              <a:buNone/>
            </a:pPr>
            <a:r>
              <a:rPr dirty="0"/>
              <a:t>• Class variables can hold account details.</a:t>
            </a:r>
          </a:p>
          <a:p>
            <a:pPr marL="0" indent="0">
              <a:buNone/>
            </a:pPr>
            <a:r>
              <a:rPr dirty="0"/>
              <a:t>• Constructors dynamically initialize variables during run time.</a:t>
            </a:r>
          </a:p>
          <a:p>
            <a:pPr marL="0" indent="0">
              <a:buNone/>
            </a:pPr>
            <a:r>
              <a:rPr dirty="0"/>
              <a:t>• Flexibility for different schemes and investment durations.</a:t>
            </a:r>
          </a:p>
          <a:p>
            <a:pPr marL="0" indent="0">
              <a:buNone/>
            </a:pPr>
            <a:r>
              <a:rPr dirty="0"/>
              <a:t>• Demonstrates practical use of object-oriented programming in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</a:t>
            </a:r>
            <a:r>
              <a:rPr dirty="0"/>
              <a:t> banking applications.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3BBBB5-C1F1-4AFE-BCF7-B85E41DE7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25AD-A2AA-4ED0-9A62-5B76F9A1CF4B}" type="slidenum">
              <a:rPr lang="en-IN" b="1" smtClean="0">
                <a:solidFill>
                  <a:srgbClr val="0000FF"/>
                </a:solidFill>
              </a:rPr>
              <a:t>27</a:t>
            </a:fld>
            <a:endParaRPr lang="en-IN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00FF"/>
                </a:solidFill>
              </a:rPr>
              <a:t>6.7 Copy Constructor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rgbClr val="0000FF"/>
            </a:solidFill>
          </a:ln>
        </p:spPr>
        <p:txBody>
          <a:bodyPr/>
          <a:lstStyle/>
          <a:p>
            <a:pPr marL="0" indent="0">
              <a:buNone/>
            </a:pPr>
            <a:r>
              <a:rPr dirty="0"/>
              <a:t>• Copy constructor is used to declare and initialize an object from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</a:t>
            </a:r>
            <a:r>
              <a:rPr dirty="0"/>
              <a:t> another object.</a:t>
            </a:r>
          </a:p>
          <a:p>
            <a:pPr marL="0" indent="0">
              <a:buNone/>
            </a:pPr>
            <a:r>
              <a:rPr dirty="0"/>
              <a:t>• Syntax: integer(integer &amp;</a:t>
            </a:r>
            <a:r>
              <a:rPr dirty="0" err="1"/>
              <a:t>i</a:t>
            </a:r>
            <a:r>
              <a:rPr dirty="0"/>
              <a:t>);</a:t>
            </a:r>
          </a:p>
          <a:p>
            <a:pPr marL="0" indent="0">
              <a:buNone/>
            </a:pPr>
            <a:r>
              <a:rPr dirty="0"/>
              <a:t>• It is one of the overloaded constructors.</a:t>
            </a:r>
          </a:p>
          <a:p>
            <a:pPr marL="0" indent="0">
              <a:buNone/>
            </a:pPr>
            <a:r>
              <a:rPr dirty="0"/>
              <a:t>• Provides a way to duplicate objects during creation.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42C5B6-FE61-4926-AE08-4BD620D76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25AD-A2AA-4ED0-9A62-5B76F9A1CF4B}" type="slidenum">
              <a:rPr lang="en-IN" b="1" smtClean="0">
                <a:solidFill>
                  <a:srgbClr val="0000FF"/>
                </a:solidFill>
              </a:rPr>
              <a:t>28</a:t>
            </a:fld>
            <a:endParaRPr lang="en-IN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00B050"/>
                </a:solidFill>
              </a:rPr>
              <a:t>Example</a:t>
            </a:r>
            <a:r>
              <a:rPr dirty="0"/>
              <a:t> of Copy Constructor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rgbClr val="0000FF"/>
            </a:solidFill>
          </a:ln>
        </p:spPr>
        <p:txBody>
          <a:bodyPr/>
          <a:lstStyle/>
          <a:p>
            <a:pPr marL="0" indent="0">
              <a:buNone/>
            </a:pPr>
            <a:r>
              <a:rPr dirty="0"/>
              <a:t>• Example statement:</a:t>
            </a:r>
          </a:p>
          <a:p>
            <a:pPr marL="0" indent="0">
              <a:buNone/>
            </a:pPr>
            <a:r>
              <a:rPr dirty="0"/>
              <a:t>    integer I2(I1);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• This defines the object I2 and initializes it to the values of I1.</a:t>
            </a:r>
          </a:p>
          <a:p>
            <a:pPr marL="0" indent="0">
              <a:buNone/>
            </a:pPr>
            <a:r>
              <a:rPr dirty="0"/>
              <a:t>• Another form:</a:t>
            </a:r>
          </a:p>
          <a:p>
            <a:pPr marL="0" indent="0">
              <a:buNone/>
            </a:pPr>
            <a:r>
              <a:rPr dirty="0"/>
              <a:t>    integer I2 = I1;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4C8E61-518C-4265-9C1A-01416E92C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25AD-A2AA-4ED0-9A62-5B76F9A1CF4B}" type="slidenum">
              <a:rPr lang="en-IN" b="1" smtClean="0">
                <a:solidFill>
                  <a:srgbClr val="0000FF"/>
                </a:solidFill>
              </a:rPr>
              <a:t>29</a:t>
            </a:fld>
            <a:endParaRPr lang="en-IN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>
                <a:solidFill>
                  <a:srgbClr val="00B050"/>
                </a:solidFill>
              </a:rPr>
              <a:t>Copy Initialization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rgbClr val="0000FF"/>
            </a:solidFill>
          </a:ln>
        </p:spPr>
        <p:txBody>
          <a:bodyPr/>
          <a:lstStyle/>
          <a:p>
            <a:pPr marL="0" indent="0">
              <a:buNone/>
            </a:pPr>
            <a:r>
              <a:rPr dirty="0"/>
              <a:t>• The process of initializing through a copy constructor is called copy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</a:t>
            </a:r>
            <a:r>
              <a:rPr dirty="0"/>
              <a:t> initialization.</a:t>
            </a:r>
          </a:p>
          <a:p>
            <a:pPr marL="0" indent="0">
              <a:buNone/>
            </a:pPr>
            <a:r>
              <a:rPr dirty="0"/>
              <a:t>• Example:</a:t>
            </a:r>
          </a:p>
          <a:p>
            <a:pPr marL="0" indent="0">
              <a:buNone/>
            </a:pPr>
            <a:r>
              <a:rPr dirty="0"/>
              <a:t>    I2 = I1;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• Ensures new object is initialized with values of an existing object.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43D9B4-9DFC-44BA-ABFB-94AD76B0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25AD-A2AA-4ED0-9A62-5B76F9A1CF4B}" type="slidenum">
              <a:rPr lang="en-IN" b="1" smtClean="0">
                <a:solidFill>
                  <a:srgbClr val="0000FF"/>
                </a:solidFill>
              </a:rPr>
              <a:t>30</a:t>
            </a:fld>
            <a:endParaRPr lang="en-IN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>
                <a:solidFill>
                  <a:srgbClr val="00B050"/>
                </a:solidFill>
              </a:rPr>
              <a:t>Assignment </a:t>
            </a:r>
            <a:r>
              <a:rPr b="1" dirty="0">
                <a:solidFill>
                  <a:srgbClr val="FF0000"/>
                </a:solidFill>
              </a:rPr>
              <a:t>vs</a:t>
            </a:r>
            <a:r>
              <a:rPr b="1" dirty="0">
                <a:solidFill>
                  <a:srgbClr val="00B050"/>
                </a:solidFill>
              </a:rPr>
              <a:t> Copy Constructor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rgbClr val="0000FF"/>
            </a:solidFill>
          </a:ln>
        </p:spPr>
        <p:txBody>
          <a:bodyPr/>
          <a:lstStyle/>
          <a:p>
            <a:pPr marL="0" indent="0">
              <a:buNone/>
            </a:pPr>
            <a:r>
              <a:rPr dirty="0"/>
              <a:t>• Statement I2 = I1 does not invoke the copy constructor.</a:t>
            </a:r>
          </a:p>
          <a:p>
            <a:pPr marL="0" indent="0">
              <a:buNone/>
            </a:pPr>
            <a:r>
              <a:rPr dirty="0"/>
              <a:t>• Instead, it assigns values of I1 to I2, member-by-member.</a:t>
            </a:r>
          </a:p>
          <a:p>
            <a:pPr marL="0" indent="0">
              <a:buNone/>
            </a:pPr>
            <a:r>
              <a:rPr dirty="0"/>
              <a:t>• This is handled by the overloaded assignment operator (=).</a:t>
            </a:r>
          </a:p>
          <a:p>
            <a:pPr marL="0" indent="0">
              <a:buNone/>
            </a:pPr>
            <a:r>
              <a:rPr dirty="0"/>
              <a:t>• Copy constructor is invoked only when a new object is created from an existing object.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A0DEF3-8147-458C-A512-8A29BD352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25AD-A2AA-4ED0-9A62-5B76F9A1CF4B}" type="slidenum">
              <a:rPr lang="en-IN" b="1" smtClean="0">
                <a:solidFill>
                  <a:srgbClr val="0000FF"/>
                </a:solidFill>
              </a:rPr>
              <a:t>31</a:t>
            </a:fld>
            <a:endParaRPr lang="en-IN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>
                <a:solidFill>
                  <a:srgbClr val="00B050"/>
                </a:solidFill>
              </a:rPr>
              <a:t>Copy Constructor Argument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rgbClr val="0000FF"/>
            </a:solidFill>
          </a:ln>
        </p:spPr>
        <p:txBody>
          <a:bodyPr/>
          <a:lstStyle/>
          <a:p>
            <a:pPr marL="0" indent="0">
              <a:buNone/>
            </a:pPr>
            <a:r>
              <a:rPr dirty="0"/>
              <a:t>• A copy constructor takes a reference to an object of the same class.</a:t>
            </a:r>
          </a:p>
          <a:p>
            <a:pPr marL="0" indent="0">
              <a:buNone/>
            </a:pPr>
            <a:r>
              <a:rPr dirty="0"/>
              <a:t>• Syntax example:</a:t>
            </a:r>
          </a:p>
          <a:p>
            <a:pPr marL="0" indent="0">
              <a:buNone/>
            </a:pPr>
            <a:r>
              <a:rPr dirty="0"/>
              <a:t>    </a:t>
            </a:r>
            <a:r>
              <a:rPr dirty="0" err="1"/>
              <a:t>ClassName</a:t>
            </a:r>
            <a:r>
              <a:rPr dirty="0"/>
              <a:t>(const </a:t>
            </a:r>
            <a:r>
              <a:rPr dirty="0" err="1"/>
              <a:t>ClassName</a:t>
            </a:r>
            <a:r>
              <a:rPr dirty="0"/>
              <a:t> &amp;obj);</a:t>
            </a:r>
          </a:p>
          <a:p>
            <a:pPr marL="0" indent="0">
              <a:buNone/>
            </a:pPr>
            <a:r>
              <a:rPr dirty="0"/>
              <a:t>• Ensures that an object can be initialized from another object of the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</a:t>
            </a:r>
            <a:r>
              <a:rPr dirty="0"/>
              <a:t> same class.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A88CF8-4A35-4BAF-B525-1E152662C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25AD-A2AA-4ED0-9A62-5B76F9A1CF4B}" type="slidenum">
              <a:rPr lang="en-IN" b="1" smtClean="0">
                <a:solidFill>
                  <a:srgbClr val="0000FF"/>
                </a:solidFill>
              </a:rPr>
              <a:t>32</a:t>
            </a:fld>
            <a:endParaRPr lang="en-IN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00B050"/>
                </a:solidFill>
              </a:rPr>
              <a:t>Example</a:t>
            </a:r>
            <a:r>
              <a:rPr dirty="0"/>
              <a:t> Preview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rgbClr val="0000FF"/>
            </a:solidFill>
          </a:ln>
        </p:spPr>
        <p:txBody>
          <a:bodyPr/>
          <a:lstStyle/>
          <a:p>
            <a:pPr marL="0" indent="0">
              <a:buNone/>
            </a:pPr>
            <a:r>
              <a:rPr dirty="0"/>
              <a:t>• Program demonstrates constructing and using a copy constructor.</a:t>
            </a:r>
          </a:p>
          <a:p>
            <a:pPr marL="0" indent="0">
              <a:buNone/>
            </a:pPr>
            <a:r>
              <a:rPr dirty="0"/>
              <a:t>• Shows how objects are copied safely.</a:t>
            </a:r>
          </a:p>
          <a:p>
            <a:pPr marL="0" indent="0">
              <a:buNone/>
            </a:pPr>
            <a:r>
              <a:rPr dirty="0"/>
              <a:t>• Important for managing resources and avoiding shallow copies.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55150B-B8C4-460B-AF97-432E0C69B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25AD-A2AA-4ED0-9A62-5B76F9A1CF4B}" type="slidenum">
              <a:rPr lang="en-IN" b="1" smtClean="0">
                <a:solidFill>
                  <a:srgbClr val="0000FF"/>
                </a:solidFill>
              </a:rPr>
              <a:t>33</a:t>
            </a:fld>
            <a:endParaRPr lang="en-IN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00FF"/>
                </a:solidFill>
              </a:rPr>
              <a:t>6.8 Dynamic Constructors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rgbClr val="0000FF"/>
            </a:solidFill>
          </a:ln>
        </p:spPr>
        <p:txBody>
          <a:bodyPr/>
          <a:lstStyle/>
          <a:p>
            <a:pPr marL="0" indent="0">
              <a:buNone/>
            </a:pPr>
            <a:r>
              <a:rPr dirty="0"/>
              <a:t>• Constructors can be used to allocate memory while creating objects.</a:t>
            </a:r>
          </a:p>
          <a:p>
            <a:pPr marL="0" indent="0">
              <a:buNone/>
            </a:pPr>
            <a:r>
              <a:rPr dirty="0"/>
              <a:t>• Ensures the system allocates the right amount of memory for each object.</a:t>
            </a:r>
          </a:p>
          <a:p>
            <a:pPr marL="0" indent="0">
              <a:buNone/>
            </a:pPr>
            <a:r>
              <a:rPr dirty="0"/>
              <a:t>• Useful when objects are not of the same size, saving memory.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71B12B-78BC-4A0A-8EFD-13A663190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25AD-A2AA-4ED0-9A62-5B76F9A1CF4B}" type="slidenum">
              <a:rPr lang="en-IN" b="1" smtClean="0">
                <a:solidFill>
                  <a:srgbClr val="0000FF"/>
                </a:solidFill>
              </a:rPr>
              <a:t>34</a:t>
            </a:fld>
            <a:endParaRPr lang="en-IN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Dynamic Construction of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rgbClr val="0000FF"/>
            </a:solidFill>
          </a:ln>
        </p:spPr>
        <p:txBody>
          <a:bodyPr/>
          <a:lstStyle/>
          <a:p>
            <a:pPr marL="0" indent="0">
              <a:buNone/>
            </a:pPr>
            <a:r>
              <a:rPr dirty="0"/>
              <a:t>• Allocation of memory to objects at the time of their construction.</a:t>
            </a:r>
          </a:p>
          <a:p>
            <a:pPr marL="0" indent="0">
              <a:buNone/>
            </a:pPr>
            <a:r>
              <a:rPr dirty="0"/>
              <a:t>• Known as dynamic construction of objects.</a:t>
            </a:r>
          </a:p>
          <a:p>
            <a:pPr marL="0" indent="0">
              <a:buNone/>
            </a:pPr>
            <a:r>
              <a:rPr dirty="0"/>
              <a:t>• Memory is allocated using the 'new' operator.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5AB02-CCBD-4F88-BC95-A38920DB3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25AD-A2AA-4ED0-9A62-5B76F9A1CF4B}" type="slidenum">
              <a:rPr lang="en-IN" b="1" smtClean="0">
                <a:solidFill>
                  <a:srgbClr val="0000FF"/>
                </a:solidFill>
              </a:rPr>
              <a:t>35</a:t>
            </a:fld>
            <a:endParaRPr lang="en-IN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1AFCD-36FF-4D8E-A86B-43FF1C7E4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rgbClr val="0000FF"/>
                </a:solidFill>
              </a:rPr>
              <a:t>6.9 Constructing Two Dimensional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C90AA-369A-4AAB-BD8A-96817D3DCB9A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rgbClr val="0000FF"/>
            </a:solidFill>
          </a:ln>
        </p:spPr>
        <p:txBody>
          <a:bodyPr/>
          <a:lstStyle/>
          <a:p>
            <a:r>
              <a:rPr lang="en-IN" dirty="0"/>
              <a:t>Only program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CEEB4E-B4F4-48A7-97E2-A4B78588A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25AD-A2AA-4ED0-9A62-5B76F9A1CF4B}" type="slidenum">
              <a:rPr lang="en-IN" b="1" smtClean="0">
                <a:solidFill>
                  <a:srgbClr val="0000FF"/>
                </a:solidFill>
              </a:rPr>
              <a:t>36</a:t>
            </a:fld>
            <a:endParaRPr lang="en-IN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10793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00FF"/>
                </a:solidFill>
              </a:rPr>
              <a:t>6.10 </a:t>
            </a:r>
            <a:r>
              <a:rPr lang="en-IN" b="1" dirty="0" err="1">
                <a:solidFill>
                  <a:srgbClr val="0000FF"/>
                </a:solidFill>
              </a:rPr>
              <a:t>const</a:t>
            </a:r>
            <a:r>
              <a:rPr lang="en-IN" b="1" dirty="0">
                <a:solidFill>
                  <a:srgbClr val="0000FF"/>
                </a:solidFill>
              </a:rPr>
              <a:t> Objects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rgbClr val="0000FF"/>
            </a:solidFill>
          </a:ln>
        </p:spPr>
        <p:txBody>
          <a:bodyPr>
            <a:normAutofit/>
          </a:bodyPr>
          <a:lstStyle/>
          <a:p>
            <a:r>
              <a:rPr lang="en-IN" dirty="0"/>
              <a:t>We may create and use constant objects using the </a:t>
            </a:r>
            <a:r>
              <a:rPr lang="en-IN" b="1" dirty="0" err="1"/>
              <a:t>const</a:t>
            </a:r>
            <a:r>
              <a:rPr lang="en-IN" dirty="0"/>
              <a:t> keyword before object declaration.</a:t>
            </a:r>
          </a:p>
          <a:p>
            <a:r>
              <a:rPr lang="en-IN" dirty="0" err="1"/>
              <a:t>Eg</a:t>
            </a:r>
            <a:r>
              <a:rPr lang="en-IN" dirty="0"/>
              <a:t>: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const</a:t>
            </a:r>
            <a:r>
              <a:rPr lang="en-IN" dirty="0"/>
              <a:t> matrix X(</a:t>
            </a:r>
            <a:r>
              <a:rPr lang="en-IN" dirty="0" err="1"/>
              <a:t>m,n</a:t>
            </a:r>
            <a:r>
              <a:rPr lang="en-IN" dirty="0"/>
              <a:t>); // object X is constant</a:t>
            </a:r>
          </a:p>
          <a:p>
            <a:r>
              <a:rPr lang="en-IN" dirty="0"/>
              <a:t>Any attempt made to modify the values of m and n will generate compile-time error.</a:t>
            </a:r>
          </a:p>
          <a:p>
            <a:r>
              <a:rPr lang="en-IN" dirty="0"/>
              <a:t>A </a:t>
            </a:r>
            <a:r>
              <a:rPr lang="en-IN" b="1" dirty="0" err="1"/>
              <a:t>const</a:t>
            </a:r>
            <a:r>
              <a:rPr lang="en-IN" dirty="0"/>
              <a:t> object can only call </a:t>
            </a:r>
            <a:r>
              <a:rPr lang="en-IN" b="1" dirty="0" err="1"/>
              <a:t>const</a:t>
            </a:r>
            <a:r>
              <a:rPr lang="en-IN" dirty="0"/>
              <a:t> member functions</a:t>
            </a:r>
          </a:p>
          <a:p>
            <a:r>
              <a:rPr lang="en-IN" dirty="0"/>
              <a:t>Whenever </a:t>
            </a:r>
            <a:r>
              <a:rPr lang="en-IN" dirty="0" err="1"/>
              <a:t>const</a:t>
            </a:r>
            <a:r>
              <a:rPr lang="en-IN" dirty="0"/>
              <a:t> objects try to invoke non-</a:t>
            </a:r>
            <a:r>
              <a:rPr lang="en-IN" dirty="0" err="1"/>
              <a:t>const</a:t>
            </a:r>
            <a:r>
              <a:rPr lang="en-IN" dirty="0"/>
              <a:t> member functions, the compiler generates an error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0BA0F1-90E2-4016-922C-7000F8F93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25AD-A2AA-4ED0-9A62-5B76F9A1CF4B}" type="slidenum">
              <a:rPr lang="en-IN" b="1" smtClean="0">
                <a:solidFill>
                  <a:srgbClr val="0000FF"/>
                </a:solidFill>
              </a:rPr>
              <a:t>37</a:t>
            </a:fld>
            <a:endParaRPr lang="en-IN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Properties of Const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rgbClr val="0000FF"/>
            </a:solidFill>
          </a:ln>
        </p:spPr>
        <p:txBody>
          <a:bodyPr/>
          <a:lstStyle/>
          <a:p>
            <a:pPr marL="0" indent="0">
              <a:buNone/>
            </a:pPr>
            <a:r>
              <a:rPr dirty="0"/>
              <a:t>• Attempting to modify values of a const object generates compile-time error.</a:t>
            </a:r>
          </a:p>
          <a:p>
            <a:pPr marL="0" indent="0">
              <a:buNone/>
            </a:pPr>
            <a:r>
              <a:rPr dirty="0"/>
              <a:t>• A const object can call only const member functions.</a:t>
            </a:r>
          </a:p>
          <a:p>
            <a:pPr marL="0" indent="0">
              <a:buNone/>
            </a:pPr>
            <a:r>
              <a:rPr dirty="0"/>
              <a:t>• A const member is a function where 'const' appears after the function's signature.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1C8504-576A-4726-A744-28D117BC5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25AD-A2AA-4ED0-9A62-5B76F9A1CF4B}" type="slidenum">
              <a:rPr lang="en-IN" b="1" smtClean="0">
                <a:solidFill>
                  <a:srgbClr val="0000FF"/>
                </a:solidFill>
              </a:rPr>
              <a:t>38</a:t>
            </a:fld>
            <a:endParaRPr lang="en-IN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Restrictions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rgbClr val="0000FF"/>
            </a:solidFill>
          </a:ln>
        </p:spPr>
        <p:txBody>
          <a:bodyPr/>
          <a:lstStyle/>
          <a:p>
            <a:pPr marL="0" indent="0">
              <a:buNone/>
            </a:pPr>
            <a:r>
              <a:rPr dirty="0"/>
              <a:t>• Const objects cannot modify data members.</a:t>
            </a:r>
          </a:p>
          <a:p>
            <a:pPr marL="0" indent="0">
              <a:buNone/>
            </a:pPr>
            <a:r>
              <a:rPr dirty="0"/>
              <a:t>• Const objects cannot invoke non-const member functions.</a:t>
            </a:r>
          </a:p>
          <a:p>
            <a:pPr marL="0" indent="0">
              <a:buNone/>
            </a:pPr>
            <a:r>
              <a:rPr dirty="0"/>
              <a:t>• Compiler generates errors when non-const functions are called.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03302C-917F-4CC5-A755-0E117C41D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25AD-A2AA-4ED0-9A62-5B76F9A1CF4B}" type="slidenum">
              <a:rPr lang="en-IN" b="1" smtClean="0">
                <a:solidFill>
                  <a:srgbClr val="0000FF"/>
                </a:solidFill>
              </a:rPr>
              <a:t>39</a:t>
            </a:fld>
            <a:endParaRPr lang="en-IN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00FF"/>
                </a:solidFill>
              </a:rPr>
              <a:t>6.11 Destructors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rgbClr val="0000FF"/>
            </a:solidFill>
          </a:ln>
        </p:spPr>
        <p:txBody>
          <a:bodyPr/>
          <a:lstStyle/>
          <a:p>
            <a:pPr marL="0" indent="0">
              <a:buNone/>
            </a:pPr>
            <a:r>
              <a:rPr dirty="0"/>
              <a:t>• A destructor is used to destroy objects created by a constructor.</a:t>
            </a:r>
          </a:p>
          <a:p>
            <a:pPr marL="0" indent="0">
              <a:buNone/>
            </a:pPr>
            <a:r>
              <a:rPr dirty="0"/>
              <a:t>• Destructor is a member function with the same name as the class but preceded by a tilde (~).</a:t>
            </a:r>
          </a:p>
          <a:p>
            <a:pPr marL="0" indent="0">
              <a:buNone/>
            </a:pPr>
            <a:r>
              <a:rPr dirty="0"/>
              <a:t>• Example: ~integer() { 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F550E3-3070-41CD-8AD5-5922D2EA4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25AD-A2AA-4ED0-9A62-5B76F9A1CF4B}" type="slidenum">
              <a:rPr lang="en-IN" b="1" smtClean="0">
                <a:solidFill>
                  <a:srgbClr val="0000FF"/>
                </a:solidFill>
              </a:rPr>
              <a:t>40</a:t>
            </a:fld>
            <a:endParaRPr lang="en-IN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Properties of Destructors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rgbClr val="0000FF"/>
            </a:solidFill>
          </a:ln>
        </p:spPr>
        <p:txBody>
          <a:bodyPr/>
          <a:lstStyle/>
          <a:p>
            <a:pPr marL="0" indent="0">
              <a:buNone/>
            </a:pPr>
            <a:r>
              <a:rPr dirty="0"/>
              <a:t>• Destructor never takes arguments nor returns values.</a:t>
            </a:r>
          </a:p>
          <a:p>
            <a:pPr marL="0" indent="0">
              <a:buNone/>
            </a:pPr>
            <a:r>
              <a:rPr dirty="0"/>
              <a:t>• Automatically invoked by the compiler when the program exits or objects go out of scope.</a:t>
            </a:r>
          </a:p>
          <a:p>
            <a:pPr marL="0" indent="0">
              <a:buNone/>
            </a:pPr>
            <a:r>
              <a:rPr dirty="0"/>
              <a:t>• Good practice to declare destructors to release memory for future use.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3FB72E-760C-4EB5-9F2D-1D1F19A77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25AD-A2AA-4ED0-9A62-5B76F9A1CF4B}" type="slidenum">
              <a:rPr lang="en-IN" b="1" smtClean="0">
                <a:solidFill>
                  <a:srgbClr val="0000FF"/>
                </a:solidFill>
              </a:rPr>
              <a:t>41</a:t>
            </a:fld>
            <a:endParaRPr lang="en-IN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Memory Management with Destructors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rgbClr val="0000FF"/>
            </a:solidFill>
          </a:ln>
        </p:spPr>
        <p:txBody>
          <a:bodyPr/>
          <a:lstStyle/>
          <a:p>
            <a:pPr marL="0" indent="0">
              <a:buNone/>
            </a:pPr>
            <a:r>
              <a:rPr dirty="0"/>
              <a:t>• When 'new' is used to allocate memory in constructors, 'delete' should be used in destructors.</a:t>
            </a:r>
          </a:p>
          <a:p>
            <a:pPr marL="0" indent="0">
              <a:buNone/>
            </a:pPr>
            <a:r>
              <a:rPr dirty="0"/>
              <a:t>• Example (Matrix class):</a:t>
            </a:r>
          </a:p>
          <a:p>
            <a:pPr marL="0" indent="0">
              <a:buNone/>
            </a:pPr>
            <a:r>
              <a:rPr dirty="0"/>
              <a:t>   matrix :: ~matrix() {</a:t>
            </a:r>
          </a:p>
          <a:p>
            <a:pPr marL="0" indent="0">
              <a:buNone/>
            </a:pPr>
            <a:r>
              <a:rPr dirty="0"/>
              <a:t>       for(int </a:t>
            </a:r>
            <a:r>
              <a:rPr dirty="0" err="1"/>
              <a:t>i</a:t>
            </a:r>
            <a:r>
              <a:rPr dirty="0"/>
              <a:t>=0; </a:t>
            </a:r>
            <a:r>
              <a:rPr dirty="0" err="1"/>
              <a:t>i</a:t>
            </a:r>
            <a:r>
              <a:rPr dirty="0"/>
              <a:t>&lt;d1; </a:t>
            </a:r>
            <a:r>
              <a:rPr dirty="0" err="1"/>
              <a:t>i</a:t>
            </a:r>
            <a:r>
              <a:rPr dirty="0"/>
              <a:t>++)</a:t>
            </a:r>
          </a:p>
          <a:p>
            <a:pPr marL="0" indent="0">
              <a:buNone/>
            </a:pPr>
            <a:r>
              <a:rPr dirty="0"/>
              <a:t>           delete p[</a:t>
            </a:r>
            <a:r>
              <a:rPr dirty="0" err="1"/>
              <a:t>i</a:t>
            </a:r>
            <a:r>
              <a:rPr dirty="0"/>
              <a:t>];</a:t>
            </a:r>
          </a:p>
          <a:p>
            <a:pPr marL="0" indent="0">
              <a:buNone/>
            </a:pPr>
            <a:r>
              <a:rPr dirty="0"/>
              <a:t>       delete p;</a:t>
            </a:r>
          </a:p>
          <a:p>
            <a:pPr marL="0" indent="0">
              <a:buNone/>
            </a:pPr>
            <a:r>
              <a:rPr dirty="0"/>
              <a:t>   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6161F0-9AE7-4825-9F4F-ADBA8638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25AD-A2AA-4ED0-9A62-5B76F9A1CF4B}" type="slidenum">
              <a:rPr lang="en-IN" b="1" smtClean="0">
                <a:solidFill>
                  <a:srgbClr val="0000FF"/>
                </a:solidFill>
              </a:rPr>
              <a:t>42</a:t>
            </a:fld>
            <a:endParaRPr lang="en-IN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rgbClr val="0000FF"/>
            </a:solidFill>
          </a:ln>
        </p:spPr>
        <p:txBody>
          <a:bodyPr/>
          <a:lstStyle/>
          <a:p>
            <a:pPr marL="0" indent="0">
              <a:buNone/>
            </a:pPr>
            <a:r>
              <a:rPr dirty="0"/>
              <a:t>• Destructors are invoked implicitly.</a:t>
            </a:r>
          </a:p>
          <a:p>
            <a:pPr marL="0" indent="0">
              <a:buNone/>
            </a:pPr>
            <a:r>
              <a:rPr dirty="0"/>
              <a:t>• Important for cleaning up dynamically allocated memory.</a:t>
            </a:r>
          </a:p>
          <a:p>
            <a:pPr marL="0" indent="0">
              <a:buNone/>
            </a:pPr>
            <a:r>
              <a:rPr dirty="0"/>
              <a:t>• Ensures efficient memory management by freeing unused resources.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38ABE4-D9C4-4B3E-8AB6-D392EADFA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25AD-A2AA-4ED0-9A62-5B76F9A1CF4B}" type="slidenum">
              <a:rPr lang="en-IN" b="1" smtClean="0">
                <a:solidFill>
                  <a:srgbClr val="0000FF"/>
                </a:solidFill>
              </a:rPr>
              <a:t>43</a:t>
            </a:fld>
            <a:endParaRPr lang="en-IN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433</TotalTime>
  <Words>1814</Words>
  <Application>Microsoft Office PowerPoint</Application>
  <PresentationFormat>Widescreen</PresentationFormat>
  <Paragraphs>279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7" baseType="lpstr">
      <vt:lpstr>Arial</vt:lpstr>
      <vt:lpstr>Calibri</vt:lpstr>
      <vt:lpstr>Calibri Light</vt:lpstr>
      <vt:lpstr>Office Theme</vt:lpstr>
      <vt:lpstr>Chapter - 6</vt:lpstr>
      <vt:lpstr>Key Concepts</vt:lpstr>
      <vt:lpstr>6.1 Introduction</vt:lpstr>
      <vt:lpstr>Philosophy of C++ Initialization</vt:lpstr>
      <vt:lpstr>6.2 Constructors</vt:lpstr>
      <vt:lpstr>Default Constructor</vt:lpstr>
      <vt:lpstr>Characteristics of Constructors</vt:lpstr>
      <vt:lpstr>6.3 Parameterized Constructors</vt:lpstr>
      <vt:lpstr>Example</vt:lpstr>
      <vt:lpstr>Object Creation with Parameterized Constructors</vt:lpstr>
      <vt:lpstr>Continue…</vt:lpstr>
      <vt:lpstr>Continue…</vt:lpstr>
      <vt:lpstr>Continue…</vt:lpstr>
      <vt:lpstr>Continue…</vt:lpstr>
      <vt:lpstr>6.4 Multiple Constructors in a Class</vt:lpstr>
      <vt:lpstr>Types of Constructors</vt:lpstr>
      <vt:lpstr>Example: Class integer</vt:lpstr>
      <vt:lpstr>Usage Examples</vt:lpstr>
      <vt:lpstr>Key Points</vt:lpstr>
      <vt:lpstr>6.5 Constructors with Default Arguments</vt:lpstr>
      <vt:lpstr>Example Declaration</vt:lpstr>
      <vt:lpstr>Example Usage</vt:lpstr>
      <vt:lpstr>Key Rule</vt:lpstr>
      <vt:lpstr>Default Constructor vs Default Argument Constructor</vt:lpstr>
      <vt:lpstr>6.6 Dynamic Initialization of Objects</vt:lpstr>
      <vt:lpstr>Example Context</vt:lpstr>
      <vt:lpstr>Dynamic Initialization in Practice</vt:lpstr>
      <vt:lpstr>6.7 Copy Constructor</vt:lpstr>
      <vt:lpstr>Example of Copy Constructor</vt:lpstr>
      <vt:lpstr>Copy Initialization</vt:lpstr>
      <vt:lpstr>Assignment vs Copy Constructor</vt:lpstr>
      <vt:lpstr>Copy Constructor Argument</vt:lpstr>
      <vt:lpstr>Example Preview</vt:lpstr>
      <vt:lpstr>6.8 Dynamic Constructors</vt:lpstr>
      <vt:lpstr>Dynamic Construction of Objects</vt:lpstr>
      <vt:lpstr>6.9 Constructing Two Dimensional Arrays</vt:lpstr>
      <vt:lpstr>6.10 const Objects</vt:lpstr>
      <vt:lpstr>Properties of Const Objects</vt:lpstr>
      <vt:lpstr>Restrictions</vt:lpstr>
      <vt:lpstr>6.11 Destructors</vt:lpstr>
      <vt:lpstr>Properties of Destructors</vt:lpstr>
      <vt:lpstr>Memory Management with Destructors</vt:lpstr>
      <vt:lpstr>Key Notes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- 6</dc:title>
  <dc:creator>Devendrasinh Vashi</dc:creator>
  <cp:lastModifiedBy>CSE-10</cp:lastModifiedBy>
  <cp:revision>53</cp:revision>
  <dcterms:created xsi:type="dcterms:W3CDTF">2025-09-03T11:48:38Z</dcterms:created>
  <dcterms:modified xsi:type="dcterms:W3CDTF">2025-09-16T02:41:18Z</dcterms:modified>
</cp:coreProperties>
</file>